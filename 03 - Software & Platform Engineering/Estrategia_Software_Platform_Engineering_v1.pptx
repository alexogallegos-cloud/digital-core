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9" r:id="rId8"/>
    <p:sldId id="263" r:id="rId9"/>
    <p:sldId id="265" r:id="rId10"/>
    <p:sldId id="272" r:id="rId11"/>
    <p:sldId id="274" r:id="rId12"/>
    <p:sldId id="27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B21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71E5EB-D6B8-4124-9304-EAE702C91CDD}" v="2" dt="2026-06-02T12:21:34.3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362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llegos, Alejandro" userId="7a0a55fa-7938-462f-86a3-ee9e344a5cc2" providerId="ADAL" clId="{78F901EC-5879-4A32-9A3E-0F0D8701D1BA}"/>
    <pc:docChg chg="undo custSel delSld modSld sldOrd">
      <pc:chgData name="Gallegos, Alejandro" userId="7a0a55fa-7938-462f-86a3-ee9e344a5cc2" providerId="ADAL" clId="{78F901EC-5879-4A32-9A3E-0F0D8701D1BA}" dt="2026-06-02T16:07:15.675" v="1148" actId="478"/>
      <pc:docMkLst>
        <pc:docMk/>
      </pc:docMkLst>
      <pc:sldChg chg="modSp mod">
        <pc:chgData name="Gallegos, Alejandro" userId="7a0a55fa-7938-462f-86a3-ee9e344a5cc2" providerId="ADAL" clId="{78F901EC-5879-4A32-9A3E-0F0D8701D1BA}" dt="2026-06-02T01:41:15.086" v="261" actId="403"/>
        <pc:sldMkLst>
          <pc:docMk/>
          <pc:sldMk cId="0" sldId="256"/>
        </pc:sldMkLst>
        <pc:spChg chg="mod">
          <ac:chgData name="Gallegos, Alejandro" userId="7a0a55fa-7938-462f-86a3-ee9e344a5cc2" providerId="ADAL" clId="{78F901EC-5879-4A32-9A3E-0F0D8701D1BA}" dt="2026-06-01T20:40:56.248" v="0" actId="14100"/>
          <ac:spMkLst>
            <pc:docMk/>
            <pc:sldMk cId="0" sldId="256"/>
            <ac:spMk id="4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1T20:41:33.701" v="4" actId="14100"/>
          <ac:spMkLst>
            <pc:docMk/>
            <pc:sldMk cId="0" sldId="256"/>
            <ac:spMk id="11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1:33:27.524" v="183" actId="20577"/>
          <ac:spMkLst>
            <pc:docMk/>
            <pc:sldMk cId="0" sldId="256"/>
            <ac:spMk id="12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1:41:15.086" v="261" actId="403"/>
          <ac:spMkLst>
            <pc:docMk/>
            <pc:sldMk cId="0" sldId="256"/>
            <ac:spMk id="13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1T20:41:33.701" v="4" actId="14100"/>
          <ac:spMkLst>
            <pc:docMk/>
            <pc:sldMk cId="0" sldId="256"/>
            <ac:spMk id="14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1:29:50.681" v="45" actId="14100"/>
          <ac:spMkLst>
            <pc:docMk/>
            <pc:sldMk cId="0" sldId="256"/>
            <ac:spMk id="15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1:41:15.086" v="261" actId="403"/>
          <ac:spMkLst>
            <pc:docMk/>
            <pc:sldMk cId="0" sldId="256"/>
            <ac:spMk id="16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1T20:41:33.701" v="4" actId="14100"/>
          <ac:spMkLst>
            <pc:docMk/>
            <pc:sldMk cId="0" sldId="256"/>
            <ac:spMk id="17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1:33:05.019" v="167" actId="404"/>
          <ac:spMkLst>
            <pc:docMk/>
            <pc:sldMk cId="0" sldId="256"/>
            <ac:spMk id="18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1:41:15.086" v="261" actId="403"/>
          <ac:spMkLst>
            <pc:docMk/>
            <pc:sldMk cId="0" sldId="256"/>
            <ac:spMk id="19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1T20:41:33.701" v="4" actId="14100"/>
          <ac:spMkLst>
            <pc:docMk/>
            <pc:sldMk cId="0" sldId="256"/>
            <ac:spMk id="20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1:39:11.097" v="236" actId="14100"/>
          <ac:spMkLst>
            <pc:docMk/>
            <pc:sldMk cId="0" sldId="256"/>
            <ac:spMk id="21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1:41:15.086" v="261" actId="403"/>
          <ac:spMkLst>
            <pc:docMk/>
            <pc:sldMk cId="0" sldId="256"/>
            <ac:spMk id="22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1T20:41:33.701" v="4" actId="14100"/>
          <ac:spMkLst>
            <pc:docMk/>
            <pc:sldMk cId="0" sldId="256"/>
            <ac:spMk id="23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1:40:28.253" v="260" actId="404"/>
          <ac:spMkLst>
            <pc:docMk/>
            <pc:sldMk cId="0" sldId="256"/>
            <ac:spMk id="24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1:41:15.086" v="261" actId="403"/>
          <ac:spMkLst>
            <pc:docMk/>
            <pc:sldMk cId="0" sldId="256"/>
            <ac:spMk id="25" creationId="{00000000-0000-0000-0000-000000000000}"/>
          </ac:spMkLst>
        </pc:spChg>
      </pc:sldChg>
      <pc:sldChg chg="delSp modSp mod">
        <pc:chgData name="Gallegos, Alejandro" userId="7a0a55fa-7938-462f-86a3-ee9e344a5cc2" providerId="ADAL" clId="{78F901EC-5879-4A32-9A3E-0F0D8701D1BA}" dt="2026-06-02T01:43:30.427" v="287" actId="1076"/>
        <pc:sldMkLst>
          <pc:docMk/>
          <pc:sldMk cId="0" sldId="257"/>
        </pc:sldMkLst>
        <pc:spChg chg="del mod">
          <ac:chgData name="Gallegos, Alejandro" userId="7a0a55fa-7938-462f-86a3-ee9e344a5cc2" providerId="ADAL" clId="{78F901EC-5879-4A32-9A3E-0F0D8701D1BA}" dt="2026-06-02T01:43:23.115" v="286" actId="478"/>
          <ac:spMkLst>
            <pc:docMk/>
            <pc:sldMk cId="0" sldId="257"/>
            <ac:spMk id="2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1:43:09.726" v="283" actId="20577"/>
          <ac:spMkLst>
            <pc:docMk/>
            <pc:sldMk cId="0" sldId="257"/>
            <ac:spMk id="6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1:43:30.427" v="287" actId="107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1:43:30.427" v="287" actId="107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1:43:30.427" v="287" actId="1076"/>
          <ac:spMkLst>
            <pc:docMk/>
            <pc:sldMk cId="0" sldId="257"/>
            <ac:spMk id="17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1:43:30.427" v="287" actId="1076"/>
          <ac:spMkLst>
            <pc:docMk/>
            <pc:sldMk cId="0" sldId="257"/>
            <ac:spMk id="19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1:43:30.427" v="287" actId="1076"/>
          <ac:spMkLst>
            <pc:docMk/>
            <pc:sldMk cId="0" sldId="257"/>
            <ac:spMk id="23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1:43:30.427" v="287" actId="1076"/>
          <ac:spMkLst>
            <pc:docMk/>
            <pc:sldMk cId="0" sldId="257"/>
            <ac:spMk id="28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1:43:30.427" v="287" actId="1076"/>
          <ac:spMkLst>
            <pc:docMk/>
            <pc:sldMk cId="0" sldId="257"/>
            <ac:spMk id="29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1:43:30.427" v="287" actId="1076"/>
          <ac:spMkLst>
            <pc:docMk/>
            <pc:sldMk cId="0" sldId="257"/>
            <ac:spMk id="33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1:43:30.427" v="287" actId="1076"/>
          <ac:spMkLst>
            <pc:docMk/>
            <pc:sldMk cId="0" sldId="257"/>
            <ac:spMk id="36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1:43:30.427" v="287" actId="1076"/>
          <ac:spMkLst>
            <pc:docMk/>
            <pc:sldMk cId="0" sldId="257"/>
            <ac:spMk id="39" creationId="{00000000-0000-0000-0000-000000000000}"/>
          </ac:spMkLst>
        </pc:spChg>
      </pc:sldChg>
      <pc:sldChg chg="delSp modSp mod">
        <pc:chgData name="Gallegos, Alejandro" userId="7a0a55fa-7938-462f-86a3-ee9e344a5cc2" providerId="ADAL" clId="{78F901EC-5879-4A32-9A3E-0F0D8701D1BA}" dt="2026-06-02T02:01:44.939" v="330" actId="20577"/>
        <pc:sldMkLst>
          <pc:docMk/>
          <pc:sldMk cId="0" sldId="258"/>
        </pc:sldMkLst>
        <pc:spChg chg="del">
          <ac:chgData name="Gallegos, Alejandro" userId="7a0a55fa-7938-462f-86a3-ee9e344a5cc2" providerId="ADAL" clId="{78F901EC-5879-4A32-9A3E-0F0D8701D1BA}" dt="2026-06-02T01:54:00.111" v="319" actId="478"/>
          <ac:spMkLst>
            <pc:docMk/>
            <pc:sldMk cId="0" sldId="258"/>
            <ac:spMk id="2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2:01:44.939" v="330" actId="20577"/>
          <ac:spMkLst>
            <pc:docMk/>
            <pc:sldMk cId="0" sldId="258"/>
            <ac:spMk id="14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1:46:28.968" v="304" actId="20577"/>
          <ac:spMkLst>
            <pc:docMk/>
            <pc:sldMk cId="0" sldId="258"/>
            <ac:spMk id="20" creationId="{00000000-0000-0000-0000-000000000000}"/>
          </ac:spMkLst>
        </pc:spChg>
      </pc:sldChg>
      <pc:sldChg chg="del">
        <pc:chgData name="Gallegos, Alejandro" userId="7a0a55fa-7938-462f-86a3-ee9e344a5cc2" providerId="ADAL" clId="{78F901EC-5879-4A32-9A3E-0F0D8701D1BA}" dt="2026-06-02T01:48:13.765" v="305" actId="47"/>
        <pc:sldMkLst>
          <pc:docMk/>
          <pc:sldMk cId="0" sldId="259"/>
        </pc:sldMkLst>
      </pc:sldChg>
      <pc:sldChg chg="delSp modSp mod">
        <pc:chgData name="Gallegos, Alejandro" userId="7a0a55fa-7938-462f-86a3-ee9e344a5cc2" providerId="ADAL" clId="{78F901EC-5879-4A32-9A3E-0F0D8701D1BA}" dt="2026-06-02T01:55:45.792" v="321" actId="20577"/>
        <pc:sldMkLst>
          <pc:docMk/>
          <pc:sldMk cId="0" sldId="260"/>
        </pc:sldMkLst>
        <pc:spChg chg="del mod">
          <ac:chgData name="Gallegos, Alejandro" userId="7a0a55fa-7938-462f-86a3-ee9e344a5cc2" providerId="ADAL" clId="{78F901EC-5879-4A32-9A3E-0F0D8701D1BA}" dt="2026-06-02T01:53:55.358" v="318" actId="478"/>
          <ac:spMkLst>
            <pc:docMk/>
            <pc:sldMk cId="0" sldId="260"/>
            <ac:spMk id="2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1:52:29.213" v="314" actId="20577"/>
          <ac:spMkLst>
            <pc:docMk/>
            <pc:sldMk cId="0" sldId="260"/>
            <ac:spMk id="6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1:52:08.292" v="308" actId="20577"/>
          <ac:spMkLst>
            <pc:docMk/>
            <pc:sldMk cId="0" sldId="260"/>
            <ac:spMk id="9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1:55:45.792" v="321" actId="20577"/>
          <ac:spMkLst>
            <pc:docMk/>
            <pc:sldMk cId="0" sldId="260"/>
            <ac:spMk id="10" creationId="{00000000-0000-0000-0000-000000000000}"/>
          </ac:spMkLst>
        </pc:spChg>
      </pc:sldChg>
      <pc:sldChg chg="del">
        <pc:chgData name="Gallegos, Alejandro" userId="7a0a55fa-7938-462f-86a3-ee9e344a5cc2" providerId="ADAL" clId="{78F901EC-5879-4A32-9A3E-0F0D8701D1BA}" dt="2026-06-02T02:01:49.065" v="331" actId="47"/>
        <pc:sldMkLst>
          <pc:docMk/>
          <pc:sldMk cId="0" sldId="264"/>
        </pc:sldMkLst>
      </pc:sldChg>
      <pc:sldChg chg="delSp modSp mod">
        <pc:chgData name="Gallegos, Alejandro" userId="7a0a55fa-7938-462f-86a3-ee9e344a5cc2" providerId="ADAL" clId="{78F901EC-5879-4A32-9A3E-0F0D8701D1BA}" dt="2026-06-02T02:02:16.312" v="335" actId="1076"/>
        <pc:sldMkLst>
          <pc:docMk/>
          <pc:sldMk cId="0" sldId="265"/>
        </pc:sldMkLst>
        <pc:spChg chg="del mod">
          <ac:chgData name="Gallegos, Alejandro" userId="7a0a55fa-7938-462f-86a3-ee9e344a5cc2" providerId="ADAL" clId="{78F901EC-5879-4A32-9A3E-0F0D8701D1BA}" dt="2026-06-02T02:02:03.417" v="333" actId="478"/>
          <ac:spMkLst>
            <pc:docMk/>
            <pc:sldMk cId="0" sldId="265"/>
            <ac:spMk id="2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2:02:09.906" v="334" actId="1076"/>
          <ac:spMkLst>
            <pc:docMk/>
            <pc:sldMk cId="0" sldId="265"/>
            <ac:spMk id="6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2:02:16.312" v="335" actId="1076"/>
          <ac:spMkLst>
            <pc:docMk/>
            <pc:sldMk cId="0" sldId="265"/>
            <ac:spMk id="13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2:02:16.312" v="335" actId="1076"/>
          <ac:spMkLst>
            <pc:docMk/>
            <pc:sldMk cId="0" sldId="265"/>
            <ac:spMk id="14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2:02:16.312" v="335" actId="1076"/>
          <ac:spMkLst>
            <pc:docMk/>
            <pc:sldMk cId="0" sldId="265"/>
            <ac:spMk id="15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2:02:16.312" v="335" actId="1076"/>
          <ac:spMkLst>
            <pc:docMk/>
            <pc:sldMk cId="0" sldId="265"/>
            <ac:spMk id="16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2:02:16.312" v="335" actId="1076"/>
          <ac:spMkLst>
            <pc:docMk/>
            <pc:sldMk cId="0" sldId="265"/>
            <ac:spMk id="21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2:02:16.312" v="335" actId="1076"/>
          <ac:spMkLst>
            <pc:docMk/>
            <pc:sldMk cId="0" sldId="265"/>
            <ac:spMk id="22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2:02:16.312" v="335" actId="1076"/>
          <ac:spMkLst>
            <pc:docMk/>
            <pc:sldMk cId="0" sldId="265"/>
            <ac:spMk id="23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02:02:16.312" v="335" actId="1076"/>
          <ac:spMkLst>
            <pc:docMk/>
            <pc:sldMk cId="0" sldId="265"/>
            <ac:spMk id="24" creationId="{00000000-0000-0000-0000-000000000000}"/>
          </ac:spMkLst>
        </pc:spChg>
      </pc:sldChg>
      <pc:sldChg chg="del">
        <pc:chgData name="Gallegos, Alejandro" userId="7a0a55fa-7938-462f-86a3-ee9e344a5cc2" providerId="ADAL" clId="{78F901EC-5879-4A32-9A3E-0F0D8701D1BA}" dt="2026-06-02T02:02:33.932" v="336" actId="47"/>
        <pc:sldMkLst>
          <pc:docMk/>
          <pc:sldMk cId="0" sldId="266"/>
        </pc:sldMkLst>
      </pc:sldChg>
      <pc:sldChg chg="del">
        <pc:chgData name="Gallegos, Alejandro" userId="7a0a55fa-7938-462f-86a3-ee9e344a5cc2" providerId="ADAL" clId="{78F901EC-5879-4A32-9A3E-0F0D8701D1BA}" dt="2026-06-02T02:03:10.277" v="337" actId="47"/>
        <pc:sldMkLst>
          <pc:docMk/>
          <pc:sldMk cId="0" sldId="267"/>
        </pc:sldMkLst>
      </pc:sldChg>
      <pc:sldChg chg="del">
        <pc:chgData name="Gallegos, Alejandro" userId="7a0a55fa-7938-462f-86a3-ee9e344a5cc2" providerId="ADAL" clId="{78F901EC-5879-4A32-9A3E-0F0D8701D1BA}" dt="2026-06-02T12:46:13.346" v="1146" actId="47"/>
        <pc:sldMkLst>
          <pc:docMk/>
          <pc:sldMk cId="0" sldId="268"/>
        </pc:sldMkLst>
      </pc:sldChg>
      <pc:sldChg chg="addSp delSp modSp mod ord">
        <pc:chgData name="Gallegos, Alejandro" userId="7a0a55fa-7938-462f-86a3-ee9e344a5cc2" providerId="ADAL" clId="{78F901EC-5879-4A32-9A3E-0F0D8701D1BA}" dt="2026-06-02T16:07:15.675" v="1148" actId="478"/>
        <pc:sldMkLst>
          <pc:docMk/>
          <pc:sldMk cId="0" sldId="269"/>
        </pc:sldMkLst>
        <pc:spChg chg="del mod">
          <ac:chgData name="Gallegos, Alejandro" userId="7a0a55fa-7938-462f-86a3-ee9e344a5cc2" providerId="ADAL" clId="{78F901EC-5879-4A32-9A3E-0F0D8701D1BA}" dt="2026-06-02T12:12:09.566" v="353" actId="478"/>
          <ac:spMkLst>
            <pc:docMk/>
            <pc:sldMk cId="0" sldId="269"/>
            <ac:spMk id="2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12:11:00.383" v="348" actId="20577"/>
          <ac:spMkLst>
            <pc:docMk/>
            <pc:sldMk cId="0" sldId="269"/>
            <ac:spMk id="5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6-02T12:11:04.095" v="349" actId="1076"/>
          <ac:spMkLst>
            <pc:docMk/>
            <pc:sldMk cId="0" sldId="269"/>
            <ac:spMk id="6" creationId="{00000000-0000-0000-0000-000000000000}"/>
          </ac:spMkLst>
        </pc:spChg>
        <pc:spChg chg="del mod">
          <ac:chgData name="Gallegos, Alejandro" userId="7a0a55fa-7938-462f-86a3-ee9e344a5cc2" providerId="ADAL" clId="{78F901EC-5879-4A32-9A3E-0F0D8701D1BA}" dt="2026-06-02T16:07:06.218" v="1147" actId="478"/>
          <ac:spMkLst>
            <pc:docMk/>
            <pc:sldMk cId="0" sldId="269"/>
            <ac:spMk id="7" creationId="{00000000-0000-0000-0000-000000000000}"/>
          </ac:spMkLst>
        </pc:spChg>
        <pc:spChg chg="del mod">
          <ac:chgData name="Gallegos, Alejandro" userId="7a0a55fa-7938-462f-86a3-ee9e344a5cc2" providerId="ADAL" clId="{78F901EC-5879-4A32-9A3E-0F0D8701D1BA}" dt="2026-06-02T16:07:15.675" v="1148" actId="478"/>
          <ac:spMkLst>
            <pc:docMk/>
            <pc:sldMk cId="0" sldId="269"/>
            <ac:spMk id="8" creationId="{00000000-0000-0000-0000-000000000000}"/>
          </ac:spMkLst>
        </pc:spChg>
        <pc:spChg chg="del mod">
          <ac:chgData name="Gallegos, Alejandro" userId="7a0a55fa-7938-462f-86a3-ee9e344a5cc2" providerId="ADAL" clId="{78F901EC-5879-4A32-9A3E-0F0D8701D1BA}" dt="2026-06-02T16:07:15.675" v="1148" actId="478"/>
          <ac:spMkLst>
            <pc:docMk/>
            <pc:sldMk cId="0" sldId="269"/>
            <ac:spMk id="9" creationId="{00000000-0000-0000-0000-000000000000}"/>
          </ac:spMkLst>
        </pc:spChg>
        <pc:spChg chg="del mod">
          <ac:chgData name="Gallegos, Alejandro" userId="7a0a55fa-7938-462f-86a3-ee9e344a5cc2" providerId="ADAL" clId="{78F901EC-5879-4A32-9A3E-0F0D8701D1BA}" dt="2026-06-02T16:07:15.675" v="1148" actId="478"/>
          <ac:spMkLst>
            <pc:docMk/>
            <pc:sldMk cId="0" sldId="269"/>
            <ac:spMk id="12" creationId="{00000000-0000-0000-0000-000000000000}"/>
          </ac:spMkLst>
        </pc:spChg>
        <pc:spChg chg="del mod">
          <ac:chgData name="Gallegos, Alejandro" userId="7a0a55fa-7938-462f-86a3-ee9e344a5cc2" providerId="ADAL" clId="{78F901EC-5879-4A32-9A3E-0F0D8701D1BA}" dt="2026-06-02T16:07:15.675" v="1148" actId="478"/>
          <ac:spMkLst>
            <pc:docMk/>
            <pc:sldMk cId="0" sldId="269"/>
            <ac:spMk id="16" creationId="{00000000-0000-0000-0000-000000000000}"/>
          </ac:spMkLst>
        </pc:spChg>
        <pc:spChg chg="del mod">
          <ac:chgData name="Gallegos, Alejandro" userId="7a0a55fa-7938-462f-86a3-ee9e344a5cc2" providerId="ADAL" clId="{78F901EC-5879-4A32-9A3E-0F0D8701D1BA}" dt="2026-06-02T16:07:15.675" v="1148" actId="478"/>
          <ac:spMkLst>
            <pc:docMk/>
            <pc:sldMk cId="0" sldId="269"/>
            <ac:spMk id="26" creationId="{00000000-0000-0000-0000-000000000000}"/>
          </ac:spMkLst>
        </pc:spChg>
        <pc:spChg chg="del mod">
          <ac:chgData name="Gallegos, Alejandro" userId="7a0a55fa-7938-462f-86a3-ee9e344a5cc2" providerId="ADAL" clId="{78F901EC-5879-4A32-9A3E-0F0D8701D1BA}" dt="2026-06-02T16:07:15.675" v="1148" actId="478"/>
          <ac:spMkLst>
            <pc:docMk/>
            <pc:sldMk cId="0" sldId="269"/>
            <ac:spMk id="27" creationId="{00000000-0000-0000-0000-000000000000}"/>
          </ac:spMkLst>
        </pc:spChg>
        <pc:spChg chg="del mod">
          <ac:chgData name="Gallegos, Alejandro" userId="7a0a55fa-7938-462f-86a3-ee9e344a5cc2" providerId="ADAL" clId="{78F901EC-5879-4A32-9A3E-0F0D8701D1BA}" dt="2026-06-02T16:07:15.675" v="1148" actId="478"/>
          <ac:spMkLst>
            <pc:docMk/>
            <pc:sldMk cId="0" sldId="269"/>
            <ac:spMk id="28" creationId="{00000000-0000-0000-0000-000000000000}"/>
          </ac:spMkLst>
        </pc:spChg>
        <pc:spChg chg="del mod">
          <ac:chgData name="Gallegos, Alejandro" userId="7a0a55fa-7938-462f-86a3-ee9e344a5cc2" providerId="ADAL" clId="{78F901EC-5879-4A32-9A3E-0F0D8701D1BA}" dt="2026-06-02T16:07:15.675" v="1148" actId="478"/>
          <ac:spMkLst>
            <pc:docMk/>
            <pc:sldMk cId="0" sldId="269"/>
            <ac:spMk id="29" creationId="{00000000-0000-0000-0000-000000000000}"/>
          </ac:spMkLst>
        </pc:spChg>
        <pc:spChg chg="del mod">
          <ac:chgData name="Gallegos, Alejandro" userId="7a0a55fa-7938-462f-86a3-ee9e344a5cc2" providerId="ADAL" clId="{78F901EC-5879-4A32-9A3E-0F0D8701D1BA}" dt="2026-06-02T16:07:15.675" v="1148" actId="478"/>
          <ac:spMkLst>
            <pc:docMk/>
            <pc:sldMk cId="0" sldId="269"/>
            <ac:spMk id="31" creationId="{00000000-0000-0000-0000-000000000000}"/>
          </ac:spMkLst>
        </pc:spChg>
        <pc:spChg chg="del mod">
          <ac:chgData name="Gallegos, Alejandro" userId="7a0a55fa-7938-462f-86a3-ee9e344a5cc2" providerId="ADAL" clId="{78F901EC-5879-4A32-9A3E-0F0D8701D1BA}" dt="2026-06-02T16:07:15.675" v="1148" actId="478"/>
          <ac:spMkLst>
            <pc:docMk/>
            <pc:sldMk cId="0" sldId="269"/>
            <ac:spMk id="32" creationId="{00000000-0000-0000-0000-000000000000}"/>
          </ac:spMkLst>
        </pc:spChg>
        <pc:graphicFrameChg chg="add mod modGraphic">
          <ac:chgData name="Gallegos, Alejandro" userId="7a0a55fa-7938-462f-86a3-ee9e344a5cc2" providerId="ADAL" clId="{78F901EC-5879-4A32-9A3E-0F0D8701D1BA}" dt="2026-06-02T12:45:01.649" v="1140" actId="20577"/>
          <ac:graphicFrameMkLst>
            <pc:docMk/>
            <pc:sldMk cId="0" sldId="269"/>
            <ac:graphicFrameMk id="37" creationId="{51BA6958-EF1B-23DF-5992-5C4F3583C7BB}"/>
          </ac:graphicFrameMkLst>
        </pc:graphicFrameChg>
      </pc:sldChg>
      <pc:sldChg chg="del">
        <pc:chgData name="Gallegos, Alejandro" userId="7a0a55fa-7938-462f-86a3-ee9e344a5cc2" providerId="ADAL" clId="{78F901EC-5879-4A32-9A3E-0F0D8701D1BA}" dt="2026-06-02T12:11:27.069" v="350" actId="47"/>
        <pc:sldMkLst>
          <pc:docMk/>
          <pc:sldMk cId="0" sldId="270"/>
        </pc:sldMkLst>
      </pc:sldChg>
      <pc:sldChg chg="del">
        <pc:chgData name="Gallegos, Alejandro" userId="7a0a55fa-7938-462f-86a3-ee9e344a5cc2" providerId="ADAL" clId="{78F901EC-5879-4A32-9A3E-0F0D8701D1BA}" dt="2026-06-02T12:11:32.078" v="351" actId="47"/>
        <pc:sldMkLst>
          <pc:docMk/>
          <pc:sldMk cId="0" sldId="271"/>
        </pc:sldMkLst>
      </pc:sldChg>
      <pc:sldChg chg="del">
        <pc:chgData name="Gallegos, Alejandro" userId="7a0a55fa-7938-462f-86a3-ee9e344a5cc2" providerId="ADAL" clId="{78F901EC-5879-4A32-9A3E-0F0D8701D1BA}" dt="2026-06-02T12:46:04.384" v="1145" actId="47"/>
        <pc:sldMkLst>
          <pc:docMk/>
          <pc:sldMk cId="0" sldId="27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0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370832"/>
            <a:ext cx="12191695" cy="2487168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274320"/>
            <a:ext cx="2743200" cy="11430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A100FF"/>
                </a:solidFill>
                <a:latin typeface="Arial Black"/>
              </a:rPr>
              <a:t>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100584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dirty="0">
                <a:solidFill>
                  <a:srgbClr val="C084FC"/>
                </a:solidFill>
                <a:latin typeface="Calibri"/>
              </a:rPr>
              <a:t>SOFTWARE &amp; PLATFORM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789920" cy="18288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600" b="1" i="0" dirty="0">
                <a:solidFill>
                  <a:srgbClr val="FFFFFF"/>
                </a:solidFill>
                <a:latin typeface="Georgia"/>
              </a:rPr>
              <a:t>We rebuild the engine —</a:t>
            </a:r>
          </a:p>
          <a:p>
            <a:pPr algn="l">
              <a:lnSpc>
                <a:spcPct val="102000"/>
              </a:lnSpc>
            </a:pPr>
            <a:r>
              <a:rPr sz="3600" b="1" i="0" dirty="0" err="1">
                <a:solidFill>
                  <a:srgbClr val="FFFFFF"/>
                </a:solidFill>
                <a:latin typeface="Georgia"/>
              </a:rPr>
              <a:t>reinventando</a:t>
            </a:r>
            <a:r>
              <a:rPr sz="3600" b="1" i="0" dirty="0">
                <a:solidFill>
                  <a:srgbClr val="FFFFFF"/>
                </a:solidFill>
                <a:latin typeface="Georgia"/>
              </a:rPr>
              <a:t> </a:t>
            </a:r>
            <a:r>
              <a:rPr sz="3600" b="1" i="0" dirty="0" err="1">
                <a:solidFill>
                  <a:srgbClr val="FFFFFF"/>
                </a:solidFill>
                <a:latin typeface="Georgia"/>
              </a:rPr>
              <a:t>cómo</a:t>
            </a:r>
            <a:r>
              <a:rPr sz="3600" b="1" i="0" dirty="0">
                <a:solidFill>
                  <a:srgbClr val="FFFFFF"/>
                </a:solidFill>
                <a:latin typeface="Georgia"/>
              </a:rPr>
              <a:t> se </a:t>
            </a:r>
            <a:r>
              <a:rPr sz="3600" b="1" i="0" dirty="0" err="1">
                <a:solidFill>
                  <a:srgbClr val="FFFFFF"/>
                </a:solidFill>
                <a:latin typeface="Georgia"/>
              </a:rPr>
              <a:t>construye</a:t>
            </a:r>
            <a:endParaRPr sz="3600" b="1" i="0" dirty="0">
              <a:solidFill>
                <a:srgbClr val="FFFFFF"/>
              </a:solidFill>
              <a:latin typeface="Georgia"/>
            </a:endParaRPr>
          </a:p>
          <a:p>
            <a:pPr algn="l">
              <a:lnSpc>
                <a:spcPct val="102000"/>
              </a:lnSpc>
            </a:pPr>
            <a:r>
              <a:rPr sz="3600" b="1" i="0" dirty="0" err="1">
                <a:solidFill>
                  <a:srgbClr val="FFFFFF"/>
                </a:solidFill>
                <a:latin typeface="Georgia"/>
              </a:rPr>
              <a:t>el</a:t>
            </a:r>
            <a:r>
              <a:rPr sz="3600" b="1" i="0" dirty="0">
                <a:solidFill>
                  <a:srgbClr val="FFFFFF"/>
                </a:solidFill>
                <a:latin typeface="Georgia"/>
              </a:rPr>
              <a:t> software </a:t>
            </a:r>
            <a:r>
              <a:rPr sz="3600" b="1" i="0" dirty="0" err="1">
                <a:solidFill>
                  <a:srgbClr val="FFFFFF"/>
                </a:solidFill>
                <a:latin typeface="Georgia"/>
              </a:rPr>
              <a:t>en</a:t>
            </a:r>
            <a:r>
              <a:rPr sz="3600" b="1" i="0" dirty="0">
                <a:solidFill>
                  <a:srgbClr val="FFFFFF"/>
                </a:solidFill>
                <a:latin typeface="Georgia"/>
              </a:rPr>
              <a:t> la era de la 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11880"/>
            <a:ext cx="10058400" cy="3200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084FC"/>
                </a:solidFill>
                <a:latin typeface="Calibri"/>
              </a:rPr>
              <a:t>Estrategia México · FY27  ·  Digital 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886200"/>
            <a:ext cx="100584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0E0E0"/>
                </a:solidFill>
                <a:latin typeface="Calibri"/>
              </a:rPr>
              <a:t>Evolución del DevOps Classic a Agentic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07992"/>
            <a:ext cx="100584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100FF"/>
                </a:solidFill>
                <a:latin typeface="Calibri"/>
              </a:rPr>
              <a:t>LA PROMESA AL CLIENTE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892040"/>
            <a:ext cx="2052000" cy="1417320"/>
          </a:xfrm>
          <a:prstGeom prst="rect">
            <a:avLst/>
          </a:prstGeom>
          <a:solidFill>
            <a:srgbClr val="3B0764"/>
          </a:solidFill>
          <a:ln w="12700">
            <a:solidFill>
              <a:srgbClr val="6B21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5020056"/>
            <a:ext cx="2052000" cy="420628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i="0" dirty="0">
                <a:solidFill>
                  <a:srgbClr val="A100FF"/>
                </a:solidFill>
              </a:rPr>
              <a:t>− </a:t>
            </a:r>
            <a:r>
              <a:rPr sz="2400" b="1" i="0" dirty="0">
                <a:solidFill>
                  <a:srgbClr val="A100FF"/>
                </a:solidFill>
              </a:rPr>
              <a:t>50%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5787107"/>
            <a:ext cx="1911268" cy="359073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 dirty="0">
                <a:solidFill>
                  <a:srgbClr val="E0E0E0"/>
                </a:solidFill>
                <a:latin typeface="Calibri"/>
              </a:rPr>
              <a:t>Time-to-market</a:t>
            </a:r>
          </a:p>
          <a:p>
            <a:pPr algn="ctr">
              <a:lnSpc>
                <a:spcPct val="100000"/>
              </a:lnSpc>
            </a:pPr>
            <a:r>
              <a:rPr sz="1000" b="0" i="0" dirty="0">
                <a:solidFill>
                  <a:srgbClr val="E0E0E0"/>
                </a:solidFill>
                <a:latin typeface="Calibri"/>
              </a:rPr>
              <a:t>(Half the time)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98648" y="4892040"/>
            <a:ext cx="2052000" cy="1417320"/>
          </a:xfrm>
          <a:prstGeom prst="rect">
            <a:avLst/>
          </a:prstGeom>
          <a:solidFill>
            <a:srgbClr val="3B0764"/>
          </a:solidFill>
          <a:ln w="12700">
            <a:solidFill>
              <a:srgbClr val="6B21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43250" y="5020056"/>
            <a:ext cx="1623060" cy="666849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A100FF"/>
                </a:solidFill>
              </a:rPr>
              <a:t>Fraction of the cost</a:t>
            </a:r>
            <a:endParaRPr sz="2000" b="1" i="0" dirty="0">
              <a:solidFill>
                <a:srgbClr val="A100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71800" y="5787107"/>
            <a:ext cx="1905000" cy="205184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E0E0E0"/>
                </a:solidFill>
                <a:latin typeface="Calibri"/>
              </a:rPr>
              <a:t>Technical debt and TCO reduction </a:t>
            </a:r>
            <a:endParaRPr sz="1000" b="0" i="0" dirty="0">
              <a:solidFill>
                <a:srgbClr val="E0E0E0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111496" y="4892040"/>
            <a:ext cx="2052000" cy="1417320"/>
          </a:xfrm>
          <a:prstGeom prst="rect">
            <a:avLst/>
          </a:prstGeom>
          <a:solidFill>
            <a:srgbClr val="3B0764"/>
          </a:solidFill>
          <a:ln w="12700">
            <a:solidFill>
              <a:srgbClr val="6B21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11496" y="5020056"/>
            <a:ext cx="2052000" cy="359073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A100FF"/>
                </a:solidFill>
              </a:rPr>
              <a:t>Better quality</a:t>
            </a:r>
            <a:endParaRPr sz="2000" b="1" i="0" dirty="0">
              <a:solidFill>
                <a:srgbClr val="A100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184648" y="5787107"/>
            <a:ext cx="1903025" cy="205184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E0E0E0"/>
                </a:solidFill>
                <a:latin typeface="Calibri"/>
              </a:rPr>
              <a:t>Shift Left, SAST SCA, DAST</a:t>
            </a:r>
            <a:endParaRPr sz="1000" b="0" i="0" dirty="0">
              <a:solidFill>
                <a:srgbClr val="E0E0E0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324344" y="4892040"/>
            <a:ext cx="2052000" cy="1417320"/>
          </a:xfrm>
          <a:prstGeom prst="rect">
            <a:avLst/>
          </a:prstGeom>
          <a:solidFill>
            <a:srgbClr val="3B0764"/>
          </a:solidFill>
          <a:ln w="12700">
            <a:solidFill>
              <a:srgbClr val="6B21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80488" y="5020056"/>
            <a:ext cx="1768145" cy="666849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ctr"/>
            <a:r>
              <a:rPr lang="en-US" sz="2000" b="1" dirty="0">
                <a:solidFill>
                  <a:srgbClr val="A100FF"/>
                </a:solidFill>
              </a:rPr>
              <a:t>AI-native delivery</a:t>
            </a:r>
            <a:endParaRPr sz="2000" b="1" dirty="0">
              <a:solidFill>
                <a:srgbClr val="A100FF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97496" y="5787107"/>
            <a:ext cx="1895856" cy="359073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 dirty="0">
                <a:solidFill>
                  <a:srgbClr val="E0E0E0"/>
                </a:solidFill>
                <a:latin typeface="Calibri"/>
              </a:rPr>
              <a:t>Workforce agentic-AI</a:t>
            </a:r>
          </a:p>
          <a:p>
            <a:pPr algn="ctr">
              <a:lnSpc>
                <a:spcPct val="100000"/>
              </a:lnSpc>
            </a:pPr>
            <a:r>
              <a:rPr sz="1000" b="0" i="0" dirty="0">
                <a:solidFill>
                  <a:srgbClr val="E0E0E0"/>
                </a:solidFill>
                <a:latin typeface="Calibri"/>
              </a:rPr>
              <a:t>capable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37192" y="4892040"/>
            <a:ext cx="2052000" cy="1417320"/>
          </a:xfrm>
          <a:prstGeom prst="rect">
            <a:avLst/>
          </a:prstGeom>
          <a:solidFill>
            <a:srgbClr val="3B0764"/>
          </a:solidFill>
          <a:ln w="12700">
            <a:solidFill>
              <a:srgbClr val="6B21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37192" y="5020056"/>
            <a:ext cx="2052000" cy="359073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A100FF"/>
                </a:solidFill>
              </a:rPr>
              <a:t>A</a:t>
            </a:r>
            <a:r>
              <a:rPr lang="en-US" sz="2000" b="1" i="0" dirty="0">
                <a:solidFill>
                  <a:srgbClr val="A100FF"/>
                </a:solidFill>
              </a:rPr>
              <a:t>gent first</a:t>
            </a:r>
            <a:endParaRPr sz="2000" b="1" i="0" dirty="0">
              <a:solidFill>
                <a:srgbClr val="A100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610344" y="5787107"/>
            <a:ext cx="1895856" cy="359073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 dirty="0">
                <a:solidFill>
                  <a:srgbClr val="E0E0E0"/>
                </a:solidFill>
                <a:latin typeface="Calibri"/>
              </a:rPr>
              <a:t>Engineering con</a:t>
            </a:r>
          </a:p>
          <a:p>
            <a:pPr algn="ctr">
              <a:lnSpc>
                <a:spcPct val="100000"/>
              </a:lnSpc>
            </a:pPr>
            <a:r>
              <a:rPr sz="1000" b="0" i="0" dirty="0">
                <a:solidFill>
                  <a:srgbClr val="E0E0E0"/>
                </a:solidFill>
                <a:latin typeface="Calibri"/>
              </a:rPr>
              <a:t>Human in the Lead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473952"/>
            <a:ext cx="100584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Junio 2026   ·   Confidencial — Uso Interno Accenture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48640" y="475488"/>
            <a:ext cx="91440" cy="310896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475488"/>
            <a:ext cx="10515600" cy="292608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100FF"/>
                </a:solidFill>
                <a:latin typeface="Calibri"/>
              </a:rPr>
              <a:t>EL ORIGEN  ·  HILO 1 — LAS DOLENCIAS DEL CLIENTE Y QUÉ CAMBIAMOS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2E"/>
                </a:solidFill>
                <a:latin typeface="Georgia"/>
              </a:rPr>
              <a:t>Why AI-Native Engineering?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" y="1536192"/>
            <a:ext cx="11064240" cy="462884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300" b="0" i="0" dirty="0">
                <a:solidFill>
                  <a:srgbClr val="4A4A5E"/>
                </a:solidFill>
                <a:latin typeface="Calibri"/>
              </a:rPr>
              <a:t>Este offering </a:t>
            </a:r>
            <a:r>
              <a:rPr lang="en-US" sz="1300" b="0" i="0" dirty="0" err="1">
                <a:solidFill>
                  <a:srgbClr val="4A4A5E"/>
                </a:solidFill>
                <a:latin typeface="Calibri"/>
              </a:rPr>
              <a:t>nació</a:t>
            </a:r>
            <a:r>
              <a:rPr lang="en-US" sz="1300" b="0" i="0" dirty="0">
                <a:solidFill>
                  <a:srgbClr val="4A4A5E"/>
                </a:solidFill>
                <a:latin typeface="Calibri"/>
              </a:rPr>
              <a:t> 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de las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dolencias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que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el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CIO/CTO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vive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con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el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software custom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tradicional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. Por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cada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dolencia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,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una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transformación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concreta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— no un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mensaje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de marketing.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8" y="2011680"/>
            <a:ext cx="2670048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21208" y="2011680"/>
            <a:ext cx="2670048" cy="5486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157984"/>
            <a:ext cx="914400" cy="41148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A100FF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78608"/>
            <a:ext cx="2340864" cy="5486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 i="0">
                <a:solidFill>
                  <a:srgbClr val="1A1A2E"/>
                </a:solidFill>
                <a:latin typeface="Calibri"/>
              </a:rPr>
              <a:t>Technology debt &amp; legacy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90671"/>
            <a:ext cx="2340864" cy="10515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4A4A5E"/>
                </a:solidFill>
                <a:latin typeface="Calibri"/>
              </a:rPr>
              <a:t>Legacy inflexible y deuda técnica creciendo en silencio. Cada cambio cuesta y rompe más.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142232"/>
            <a:ext cx="2340864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4233672"/>
            <a:ext cx="2340864" cy="237744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666666"/>
                </a:solidFill>
                <a:latin typeface="Calibri"/>
              </a:rPr>
              <a:t>LO QUE CAMBIAMOS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526280"/>
            <a:ext cx="2340864" cy="5486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 i="0">
                <a:solidFill>
                  <a:srgbClr val="6B21A8"/>
                </a:solidFill>
                <a:latin typeface="Calibri"/>
              </a:rPr>
              <a:t>→ Core evolucionable; deuda visible y gestionada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55848" y="2011680"/>
            <a:ext cx="2670048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55848" y="2011680"/>
            <a:ext cx="2670048" cy="5486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20440" y="2157984"/>
            <a:ext cx="914400" cy="41148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A100FF"/>
                </a:solidFill>
                <a:latin typeface="Georgia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578608"/>
            <a:ext cx="2340864" cy="5486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 i="0">
                <a:solidFill>
                  <a:srgbClr val="1A1A2E"/>
                </a:solidFill>
                <a:latin typeface="Calibri"/>
              </a:rPr>
              <a:t>Vendor lock-in &amp; soberanía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090671"/>
            <a:ext cx="2340864" cy="10515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4A4A5E"/>
                </a:solidFill>
                <a:latin typeface="Calibri"/>
              </a:rPr>
              <a:t>Dependencias propietarias y restricciones de soberanía. El costo de salida crece año con año.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4142232"/>
            <a:ext cx="2340864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20440" y="4233672"/>
            <a:ext cx="2340864" cy="237744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666666"/>
                </a:solidFill>
                <a:latin typeface="Calibri"/>
              </a:rPr>
              <a:t>LO QUE CAMBIAMOS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4526280"/>
            <a:ext cx="2340864" cy="5486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 i="0">
                <a:solidFill>
                  <a:srgbClr val="6B21A8"/>
                </a:solidFill>
                <a:latin typeface="Calibri"/>
              </a:rPr>
              <a:t>→ Portabilidad y soberanía de datos por diseño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0488" y="2011680"/>
            <a:ext cx="2670048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90488" y="2011680"/>
            <a:ext cx="2670048" cy="5486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5080" y="2157984"/>
            <a:ext cx="914400" cy="41148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A100FF"/>
                </a:solidFill>
                <a:latin typeface="Georgia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578608"/>
            <a:ext cx="2340864" cy="5486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 i="0">
                <a:solidFill>
                  <a:srgbClr val="1A1A2E"/>
                </a:solidFill>
                <a:latin typeface="Calibri"/>
              </a:rPr>
              <a:t>Presión OPEX, cero innovación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090671"/>
            <a:ext cx="2340864" cy="10515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4A4A5E"/>
                </a:solidFill>
                <a:latin typeface="Calibri"/>
              </a:rPr>
              <a:t>El run consume el presupuesto. El CFO solo ve costo — el modelo de horas refuerza esa lectura.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4142232"/>
            <a:ext cx="2340864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55080" y="4233672"/>
            <a:ext cx="2340864" cy="237744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666666"/>
                </a:solidFill>
                <a:latin typeface="Calibri"/>
              </a:rPr>
              <a:t>LO QUE CAMBIAMOS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4526280"/>
            <a:ext cx="2340864" cy="5486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 i="0">
                <a:solidFill>
                  <a:srgbClr val="6B21A8"/>
                </a:solidFill>
                <a:latin typeface="Calibri"/>
              </a:rPr>
              <a:t>→ Capital liberado para innovar, no solo mantener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25128" y="2011680"/>
            <a:ext cx="2670048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025128" y="2011680"/>
            <a:ext cx="2670048" cy="5486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89720" y="2157984"/>
            <a:ext cx="914400" cy="41148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A100FF"/>
                </a:solidFill>
                <a:latin typeface="Georgia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2578608"/>
            <a:ext cx="2340864" cy="5486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 i="0">
                <a:solidFill>
                  <a:srgbClr val="1A1A2E"/>
                </a:solidFill>
                <a:latin typeface="Calibri"/>
              </a:rPr>
              <a:t>SDLC lento + SaaS restrictivo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0" y="3090671"/>
            <a:ext cx="2340864" cy="10515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4A4A5E"/>
                </a:solidFill>
                <a:latin typeface="Calibri"/>
              </a:rPr>
              <a:t>Time-to-market largo; paquetes/SaaS caros y rígidos. El negocio espera meses por features.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89720" y="4142232"/>
            <a:ext cx="2340864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89720" y="4233672"/>
            <a:ext cx="2340864" cy="237744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666666"/>
                </a:solidFill>
                <a:latin typeface="Calibri"/>
              </a:rPr>
              <a:t>LO QUE CAMBIAMOS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4526280"/>
            <a:ext cx="2340864" cy="5486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 i="0">
                <a:solidFill>
                  <a:srgbClr val="6B21A8"/>
                </a:solidFill>
                <a:latin typeface="Calibri"/>
              </a:rPr>
              <a:t>→ Time-to-market en días; build a la medida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1208" y="5349240"/>
            <a:ext cx="11091672" cy="566928"/>
          </a:xfrm>
          <a:prstGeom prst="rect">
            <a:avLst/>
          </a:prstGeom>
          <a:solidFill>
            <a:srgbClr val="EDE9FE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04088" y="5458968"/>
            <a:ext cx="10789920" cy="36576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6B21A8"/>
                </a:solidFill>
                <a:latin typeface="Calibri"/>
              </a:rPr>
              <a:t>Las frustraciones del CIO con el software custom se convierten en la tesis de una nueva forma de construir: half the time, fraction of the cost, better quality.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Accenture  |  Software &amp; Platform Engineering — Estrategia FY27 México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24160" y="6473952"/>
            <a:ext cx="11887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48640" y="475488"/>
            <a:ext cx="91440" cy="310896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475488"/>
            <a:ext cx="10515600" cy="292608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100FF"/>
                </a:solidFill>
                <a:latin typeface="Calibri"/>
              </a:rPr>
              <a:t>VISIÓN DEL ABORDAJE  ·  HILO 2 — CAMBIAR LA UNIDAD DE MEDIDA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 dirty="0">
                <a:solidFill>
                  <a:srgbClr val="1A1A2E"/>
                </a:solidFill>
                <a:latin typeface="Georgia"/>
              </a:rPr>
              <a:t>No se </a:t>
            </a:r>
            <a:r>
              <a:rPr sz="2800" b="1" i="0" dirty="0" err="1">
                <a:solidFill>
                  <a:srgbClr val="1A1A2E"/>
                </a:solidFill>
                <a:latin typeface="Georgia"/>
              </a:rPr>
              <a:t>gana</a:t>
            </a:r>
            <a:r>
              <a:rPr sz="2800" b="1" i="0" dirty="0">
                <a:solidFill>
                  <a:srgbClr val="1A1A2E"/>
                </a:solidFill>
                <a:latin typeface="Georgia"/>
              </a:rPr>
              <a:t> </a:t>
            </a:r>
            <a:r>
              <a:rPr sz="2800" b="1" i="0" dirty="0" err="1">
                <a:solidFill>
                  <a:srgbClr val="1A1A2E"/>
                </a:solidFill>
                <a:latin typeface="Georgia"/>
              </a:rPr>
              <a:t>reescribiendo</a:t>
            </a:r>
            <a:r>
              <a:rPr sz="2800" b="1" i="0" dirty="0">
                <a:solidFill>
                  <a:srgbClr val="1A1A2E"/>
                </a:solidFill>
                <a:latin typeface="Georgia"/>
              </a:rPr>
              <a:t> </a:t>
            </a:r>
            <a:r>
              <a:rPr sz="2800" b="1" i="0" dirty="0" err="1">
                <a:solidFill>
                  <a:srgbClr val="1A1A2E"/>
                </a:solidFill>
                <a:latin typeface="Georgia"/>
              </a:rPr>
              <a:t>más</a:t>
            </a:r>
            <a:r>
              <a:rPr sz="2800" b="1" i="0" dirty="0">
                <a:solidFill>
                  <a:srgbClr val="1A1A2E"/>
                </a:solidFill>
                <a:latin typeface="Georgia"/>
              </a:rPr>
              <a:t> </a:t>
            </a:r>
            <a:r>
              <a:rPr sz="2800" b="1" i="0" dirty="0" err="1">
                <a:solidFill>
                  <a:srgbClr val="1A1A2E"/>
                </a:solidFill>
                <a:latin typeface="Georgia"/>
              </a:rPr>
              <a:t>rápido</a:t>
            </a:r>
            <a:r>
              <a:rPr sz="2800" b="1" i="0" dirty="0">
                <a:solidFill>
                  <a:srgbClr val="1A1A2E"/>
                </a:solidFill>
                <a:latin typeface="Georgia"/>
              </a:rPr>
              <a:t> con las </a:t>
            </a:r>
            <a:r>
              <a:rPr sz="2800" b="1" i="0" dirty="0" err="1">
                <a:solidFill>
                  <a:srgbClr val="1A1A2E"/>
                </a:solidFill>
                <a:latin typeface="Georgia"/>
              </a:rPr>
              <a:t>reglas</a:t>
            </a:r>
            <a:r>
              <a:rPr sz="2800" b="1" i="0" dirty="0">
                <a:solidFill>
                  <a:srgbClr val="1A1A2E"/>
                </a:solidFill>
                <a:latin typeface="Georgia"/>
              </a:rPr>
              <a:t> del </a:t>
            </a:r>
            <a:r>
              <a:rPr sz="2800" b="1" i="0" dirty="0" err="1">
                <a:solidFill>
                  <a:srgbClr val="1A1A2E"/>
                </a:solidFill>
                <a:latin typeface="Georgia"/>
              </a:rPr>
              <a:t>bodyshop</a:t>
            </a:r>
            <a:endParaRPr sz="2800" b="1" i="0" dirty="0">
              <a:solidFill>
                <a:srgbClr val="1A1A2E"/>
              </a:solidFill>
              <a:latin typeface="Georg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810512"/>
            <a:ext cx="11064240" cy="5486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4A4A5E"/>
                </a:solidFill>
                <a:latin typeface="Calibri"/>
              </a:rPr>
              <a:t>Mientras nos midan en AHR — horas facturadas — estaremos atrapados en la guerra de precio. El salto es cambiar la unidad de medida: de esfuerzo a valor.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5212080" cy="10515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395728"/>
            <a:ext cx="9144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66666"/>
                </a:solidFill>
                <a:latin typeface="Georgia"/>
              </a:rPr>
              <a:t>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4846320" cy="5486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A1A2E"/>
                </a:solidFill>
                <a:latin typeface="Calibri"/>
              </a:rPr>
              <a:t>AHR — horas facturadas</a:t>
            </a:r>
          </a:p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A1A2E"/>
                </a:solidFill>
                <a:latin typeface="Calibri"/>
              </a:rPr>
              <a:t>(Average Hourly Rate)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2606040"/>
            <a:ext cx="64008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06440" y="2606040"/>
            <a:ext cx="822960" cy="41148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A100FF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2286000"/>
            <a:ext cx="5193792" cy="1051560"/>
          </a:xfrm>
          <a:prstGeom prst="rect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9400" y="2395728"/>
            <a:ext cx="27432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084FC"/>
                </a:solidFill>
                <a:latin typeface="Georgia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697480"/>
            <a:ext cx="4846320" cy="259045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350" b="1" i="0" dirty="0">
                <a:solidFill>
                  <a:srgbClr val="FFFFFF"/>
                </a:solidFill>
                <a:latin typeface="Calibri"/>
              </a:rPr>
              <a:t>MTTR </a:t>
            </a:r>
            <a:r>
              <a:rPr sz="1350" b="1" i="0" dirty="0" err="1">
                <a:solidFill>
                  <a:srgbClr val="FFFFFF"/>
                </a:solidFill>
                <a:latin typeface="Calibri"/>
              </a:rPr>
              <a:t>Estabilidad</a:t>
            </a:r>
            <a:r>
              <a:rPr sz="135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1350" b="1" i="0" dirty="0" err="1">
                <a:solidFill>
                  <a:srgbClr val="FFFFFF"/>
                </a:solidFill>
                <a:latin typeface="Calibri"/>
              </a:rPr>
              <a:t>Operativa</a:t>
            </a:r>
            <a:r>
              <a:rPr lang="en-US" sz="135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50" b="1" i="0" dirty="0">
                <a:solidFill>
                  <a:srgbClr val="FFFFFF"/>
                </a:solidFill>
                <a:latin typeface="Calibri"/>
              </a:rPr>
              <a:t>· KPIs · Innovation</a:t>
            </a:r>
            <a:r>
              <a:rPr lang="en-US" sz="135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50" b="1" i="0" dirty="0">
                <a:solidFill>
                  <a:srgbClr val="FFFFFF"/>
                </a:solidFill>
                <a:latin typeface="Calibri"/>
              </a:rPr>
              <a:t>· </a:t>
            </a:r>
            <a:r>
              <a:rPr lang="en-US" sz="1350" b="1" dirty="0">
                <a:solidFill>
                  <a:srgbClr val="FFFFFF"/>
                </a:solidFill>
                <a:latin typeface="Calibri"/>
              </a:rPr>
              <a:t>T</a:t>
            </a:r>
            <a:r>
              <a:rPr sz="1350" b="1" i="0" dirty="0">
                <a:solidFill>
                  <a:srgbClr val="FFFFFF"/>
                </a:solidFill>
                <a:latin typeface="Calibri"/>
              </a:rPr>
              <a:t>ime-to-market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20440"/>
            <a:ext cx="109728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100FF"/>
                </a:solidFill>
                <a:latin typeface="Calibri"/>
              </a:rPr>
              <a:t>LA VISIÓN SE EJECUTA CON TRES DECISIONES SIMULTÁNEAS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886200"/>
            <a:ext cx="36118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3886200"/>
            <a:ext cx="3611880" cy="5486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4032504"/>
            <a:ext cx="914400" cy="41148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A100FF"/>
                </a:solidFill>
                <a:latin typeface="Georgia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4453128"/>
            <a:ext cx="3282696" cy="566928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200" b="1" i="0">
                <a:solidFill>
                  <a:srgbClr val="1A1A2E"/>
                </a:solidFill>
                <a:latin typeface="Calibri"/>
              </a:rPr>
              <a:t>Cambiar la unidad de medida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020056"/>
            <a:ext cx="3282696" cy="492058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0" i="0" dirty="0">
                <a:solidFill>
                  <a:srgbClr val="4A4A5E"/>
                </a:solidFill>
                <a:latin typeface="Calibri"/>
              </a:rPr>
              <a:t>De AHR (horas) a </a:t>
            </a:r>
            <a:r>
              <a:rPr sz="930" b="0" i="0" dirty="0" err="1">
                <a:solidFill>
                  <a:srgbClr val="4A4A5E"/>
                </a:solidFill>
                <a:latin typeface="Calibri"/>
              </a:rPr>
              <a:t>estabilidad</a:t>
            </a:r>
            <a:r>
              <a:rPr sz="930" b="0" i="0" dirty="0">
                <a:solidFill>
                  <a:srgbClr val="4A4A5E"/>
                </a:solidFill>
                <a:latin typeface="Calibri"/>
              </a:rPr>
              <a:t>, KPIs e </a:t>
            </a:r>
            <a:r>
              <a:rPr sz="930" b="0" i="0" dirty="0" err="1">
                <a:solidFill>
                  <a:srgbClr val="4A4A5E"/>
                </a:solidFill>
                <a:latin typeface="Calibri"/>
              </a:rPr>
              <a:t>innovación</a:t>
            </a:r>
            <a:r>
              <a:rPr sz="930" b="0" i="0" dirty="0">
                <a:solidFill>
                  <a:srgbClr val="4A4A5E"/>
                </a:solidFill>
                <a:latin typeface="Calibri"/>
              </a:rPr>
              <a:t>. La </a:t>
            </a:r>
            <a:r>
              <a:rPr sz="930" b="0" i="0" dirty="0" err="1">
                <a:solidFill>
                  <a:srgbClr val="4A4A5E"/>
                </a:solidFill>
                <a:latin typeface="Calibri"/>
              </a:rPr>
              <a:t>velocidad</a:t>
            </a:r>
            <a:r>
              <a:rPr sz="930" b="0" i="0" dirty="0">
                <a:solidFill>
                  <a:srgbClr val="4A4A5E"/>
                </a:solidFill>
                <a:latin typeface="Calibri"/>
              </a:rPr>
              <a:t> </a:t>
            </a:r>
            <a:r>
              <a:rPr sz="930" b="0" i="0" dirty="0" err="1">
                <a:solidFill>
                  <a:srgbClr val="4A4A5E"/>
                </a:solidFill>
                <a:latin typeface="Calibri"/>
              </a:rPr>
              <a:t>sostenible</a:t>
            </a:r>
            <a:r>
              <a:rPr sz="930" b="0" i="0" dirty="0">
                <a:solidFill>
                  <a:srgbClr val="4A4A5E"/>
                </a:solidFill>
                <a:latin typeface="Calibri"/>
              </a:rPr>
              <a:t> con </a:t>
            </a:r>
            <a:r>
              <a:rPr sz="930" b="0" i="0" dirty="0" err="1">
                <a:solidFill>
                  <a:srgbClr val="4A4A5E"/>
                </a:solidFill>
                <a:latin typeface="Calibri"/>
              </a:rPr>
              <a:t>calidad</a:t>
            </a:r>
            <a:r>
              <a:rPr sz="930" b="0" i="0" dirty="0">
                <a:solidFill>
                  <a:srgbClr val="4A4A5E"/>
                </a:solidFill>
                <a:latin typeface="Calibri"/>
              </a:rPr>
              <a:t> </a:t>
            </a:r>
            <a:r>
              <a:rPr sz="930" b="0" i="0" dirty="0" err="1">
                <a:solidFill>
                  <a:srgbClr val="4A4A5E"/>
                </a:solidFill>
                <a:latin typeface="Calibri"/>
              </a:rPr>
              <a:t>probada</a:t>
            </a:r>
            <a:r>
              <a:rPr sz="930" b="0" i="0" dirty="0">
                <a:solidFill>
                  <a:srgbClr val="4A4A5E"/>
                </a:solidFill>
                <a:latin typeface="Calibri"/>
              </a:rPr>
              <a:t> </a:t>
            </a:r>
            <a:r>
              <a:rPr sz="930" b="0" i="0" dirty="0" err="1">
                <a:solidFill>
                  <a:srgbClr val="4A4A5E"/>
                </a:solidFill>
                <a:latin typeface="Calibri"/>
              </a:rPr>
              <a:t>en</a:t>
            </a:r>
            <a:r>
              <a:rPr sz="930" b="0" i="0" dirty="0">
                <a:solidFill>
                  <a:srgbClr val="4A4A5E"/>
                </a:solidFill>
                <a:latin typeface="Calibri"/>
              </a:rPr>
              <a:t> valor </a:t>
            </a:r>
            <a:r>
              <a:rPr sz="930" b="0" i="0" dirty="0" err="1">
                <a:solidFill>
                  <a:srgbClr val="4A4A5E"/>
                </a:solidFill>
                <a:latin typeface="Calibri"/>
              </a:rPr>
              <a:t>entregado</a:t>
            </a:r>
            <a:r>
              <a:rPr sz="930" b="0" i="0" dirty="0">
                <a:solidFill>
                  <a:srgbClr val="4A4A5E"/>
                </a:solidFill>
                <a:latin typeface="Calibri"/>
              </a:rPr>
              <a:t>, no </a:t>
            </a:r>
            <a:r>
              <a:rPr sz="930" b="0" i="0" dirty="0" err="1">
                <a:solidFill>
                  <a:srgbClr val="4A4A5E"/>
                </a:solidFill>
                <a:latin typeface="Calibri"/>
              </a:rPr>
              <a:t>en</a:t>
            </a:r>
            <a:r>
              <a:rPr sz="930" b="0" i="0" dirty="0">
                <a:solidFill>
                  <a:srgbClr val="4A4A5E"/>
                </a:solidFill>
                <a:latin typeface="Calibri"/>
              </a:rPr>
              <a:t> </a:t>
            </a:r>
            <a:r>
              <a:rPr sz="930" b="0" i="0" dirty="0" err="1">
                <a:solidFill>
                  <a:srgbClr val="4A4A5E"/>
                </a:solidFill>
                <a:latin typeface="Calibri"/>
              </a:rPr>
              <a:t>esfuerzo</a:t>
            </a:r>
            <a:r>
              <a:rPr sz="930" b="0" i="0" dirty="0">
                <a:solidFill>
                  <a:srgbClr val="4A4A5E"/>
                </a:solidFill>
                <a:latin typeface="Calibri"/>
              </a:rPr>
              <a:t> </a:t>
            </a:r>
            <a:r>
              <a:rPr sz="930" b="0" i="0" dirty="0" err="1">
                <a:solidFill>
                  <a:srgbClr val="4A4A5E"/>
                </a:solidFill>
                <a:latin typeface="Calibri"/>
              </a:rPr>
              <a:t>facturado</a:t>
            </a:r>
            <a:r>
              <a:rPr sz="930" b="0" i="0" dirty="0">
                <a:solidFill>
                  <a:srgbClr val="4A4A5E"/>
                </a:solidFill>
                <a:latin typeface="Calibri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742432"/>
            <a:ext cx="3282696" cy="292608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A100FF"/>
                </a:solidFill>
                <a:latin typeface="Calibri"/>
              </a:rPr>
              <a:t>Premium defendible +25%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79392" y="3886200"/>
            <a:ext cx="36118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79392" y="3886200"/>
            <a:ext cx="3611880" cy="5486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43983" y="4032504"/>
            <a:ext cx="914400" cy="41148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A100FF"/>
                </a:solidFill>
                <a:latin typeface="Georgia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3983" y="4453128"/>
            <a:ext cx="3282696" cy="566928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200" b="1" i="0">
                <a:solidFill>
                  <a:srgbClr val="1A1A2E"/>
                </a:solidFill>
                <a:latin typeface="Calibri"/>
              </a:rPr>
              <a:t>Integrar capacidades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983" y="5020056"/>
            <a:ext cx="3282696" cy="722376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0" i="0" dirty="0">
                <a:solidFill>
                  <a:srgbClr val="4A4A5E"/>
                </a:solidFill>
                <a:latin typeface="Calibri"/>
              </a:rPr>
              <a:t>Una </a:t>
            </a:r>
            <a:r>
              <a:rPr sz="930" b="0" i="0" dirty="0" err="1">
                <a:solidFill>
                  <a:srgbClr val="4A4A5E"/>
                </a:solidFill>
                <a:latin typeface="Calibri"/>
              </a:rPr>
              <a:t>orquesta</a:t>
            </a:r>
            <a:r>
              <a:rPr sz="930" b="0" i="0" dirty="0">
                <a:solidFill>
                  <a:srgbClr val="4A4A5E"/>
                </a:solidFill>
                <a:latin typeface="Calibri"/>
              </a:rPr>
              <a:t>: Architects + Full-Stack Engineers + Agent Engineers (FDEs) + GenWizard + Reference Architecture + DevSecOps — </a:t>
            </a:r>
            <a:r>
              <a:rPr sz="930" b="0" i="0" dirty="0" err="1">
                <a:solidFill>
                  <a:srgbClr val="4A4A5E"/>
                </a:solidFill>
                <a:latin typeface="Calibri"/>
              </a:rPr>
              <a:t>alineados</a:t>
            </a:r>
            <a:r>
              <a:rPr sz="930" b="0" i="0" dirty="0">
                <a:solidFill>
                  <a:srgbClr val="4A4A5E"/>
                </a:solidFill>
                <a:latin typeface="Calibri"/>
              </a:rPr>
              <a:t> a un </a:t>
            </a:r>
            <a:r>
              <a:rPr sz="930" b="0" i="0" dirty="0" err="1">
                <a:solidFill>
                  <a:srgbClr val="4A4A5E"/>
                </a:solidFill>
                <a:latin typeface="Calibri"/>
              </a:rPr>
              <a:t>mismo</a:t>
            </a:r>
            <a:r>
              <a:rPr sz="930" b="0" i="0" dirty="0">
                <a:solidFill>
                  <a:srgbClr val="4A4A5E"/>
                </a:solidFill>
                <a:latin typeface="Calibri"/>
              </a:rPr>
              <a:t> </a:t>
            </a:r>
            <a:r>
              <a:rPr sz="930" b="0" i="0" dirty="0" err="1">
                <a:solidFill>
                  <a:srgbClr val="4A4A5E"/>
                </a:solidFill>
                <a:latin typeface="Calibri"/>
              </a:rPr>
              <a:t>producto</a:t>
            </a:r>
            <a:r>
              <a:rPr sz="930" b="0" i="0" dirty="0">
                <a:solidFill>
                  <a:srgbClr val="4A4A5E"/>
                </a:solidFill>
                <a:latin typeface="Calibri"/>
              </a:rPr>
              <a:t> de </a:t>
            </a:r>
            <a:r>
              <a:rPr sz="930" b="0" i="0" dirty="0" err="1">
                <a:solidFill>
                  <a:srgbClr val="4A4A5E"/>
                </a:solidFill>
                <a:latin typeface="Calibri"/>
              </a:rPr>
              <a:t>negocio</a:t>
            </a:r>
            <a:r>
              <a:rPr sz="930" b="0" i="0" dirty="0">
                <a:solidFill>
                  <a:srgbClr val="4A4A5E"/>
                </a:solidFill>
                <a:latin typeface="Calibri"/>
              </a:rPr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43983" y="5742432"/>
            <a:ext cx="3282696" cy="292608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A100FF"/>
                </a:solidFill>
                <a:latin typeface="Calibri"/>
              </a:rPr>
              <a:t>Ningún bodyshop integra esto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10144" y="3886200"/>
            <a:ext cx="36118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10144" y="3886200"/>
            <a:ext cx="3611880" cy="5486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74736" y="4032504"/>
            <a:ext cx="914400" cy="41148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A100FF"/>
                </a:solidFill>
                <a:latin typeface="Georgia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4736" y="4453128"/>
            <a:ext cx="3282696" cy="566928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200" b="1" i="0">
                <a:solidFill>
                  <a:srgbClr val="1A1A2E"/>
                </a:solidFill>
                <a:latin typeface="Calibri"/>
              </a:rPr>
              <a:t>Comprometer la calidad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4736" y="5020056"/>
            <a:ext cx="3282696" cy="722376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0" i="0" dirty="0">
                <a:solidFill>
                  <a:srgbClr val="4A4A5E"/>
                </a:solidFill>
                <a:latin typeface="Calibri"/>
              </a:rPr>
              <a:t>El </a:t>
            </a:r>
            <a:r>
              <a:rPr sz="930" b="0" i="0" dirty="0" err="1">
                <a:solidFill>
                  <a:srgbClr val="4A4A5E"/>
                </a:solidFill>
                <a:latin typeface="Calibri"/>
              </a:rPr>
              <a:t>último</a:t>
            </a:r>
            <a:r>
              <a:rPr sz="930" b="0" i="0" dirty="0">
                <a:solidFill>
                  <a:srgbClr val="4A4A5E"/>
                </a:solidFill>
                <a:latin typeface="Calibri"/>
              </a:rPr>
              <a:t> 10% — observabilidad, runbook, rollback </a:t>
            </a:r>
            <a:r>
              <a:rPr sz="930" b="0" i="0" dirty="0" err="1">
                <a:solidFill>
                  <a:srgbClr val="4A4A5E"/>
                </a:solidFill>
                <a:latin typeface="Calibri"/>
              </a:rPr>
              <a:t>probado</a:t>
            </a:r>
            <a:r>
              <a:rPr sz="930" b="0" i="0" dirty="0">
                <a:solidFill>
                  <a:srgbClr val="4A4A5E"/>
                </a:solidFill>
                <a:latin typeface="Calibri"/>
              </a:rPr>
              <a:t>, on-call — es </a:t>
            </a:r>
            <a:r>
              <a:rPr sz="930" b="0" i="0" dirty="0" err="1">
                <a:solidFill>
                  <a:srgbClr val="4A4A5E"/>
                </a:solidFill>
                <a:latin typeface="Calibri"/>
              </a:rPr>
              <a:t>el</a:t>
            </a:r>
            <a:r>
              <a:rPr sz="930" b="0" i="0" dirty="0">
                <a:solidFill>
                  <a:srgbClr val="4A4A5E"/>
                </a:solidFill>
                <a:latin typeface="Calibri"/>
              </a:rPr>
              <a:t> 50% del valor. "Un </a:t>
            </a:r>
            <a:r>
              <a:rPr sz="930" b="0" i="0" dirty="0" err="1">
                <a:solidFill>
                  <a:srgbClr val="4A4A5E"/>
                </a:solidFill>
                <a:latin typeface="Calibri"/>
              </a:rPr>
              <a:t>componente</a:t>
            </a:r>
            <a:r>
              <a:rPr sz="930" b="0" i="0" dirty="0">
                <a:solidFill>
                  <a:srgbClr val="4A4A5E"/>
                </a:solidFill>
                <a:latin typeface="Calibri"/>
              </a:rPr>
              <a:t> </a:t>
            </a:r>
            <a:r>
              <a:rPr sz="930" b="0" i="0" dirty="0" err="1">
                <a:solidFill>
                  <a:srgbClr val="4A4A5E"/>
                </a:solidFill>
                <a:latin typeface="Calibri"/>
              </a:rPr>
              <a:t>casi</a:t>
            </a:r>
            <a:r>
              <a:rPr sz="930" b="0" i="0" dirty="0">
                <a:solidFill>
                  <a:srgbClr val="4A4A5E"/>
                </a:solidFill>
                <a:latin typeface="Calibri"/>
              </a:rPr>
              <a:t> </a:t>
            </a:r>
            <a:r>
              <a:rPr sz="930" b="0" i="0" dirty="0" err="1">
                <a:solidFill>
                  <a:srgbClr val="4A4A5E"/>
                </a:solidFill>
                <a:latin typeface="Calibri"/>
              </a:rPr>
              <a:t>en</a:t>
            </a:r>
            <a:r>
              <a:rPr sz="930" b="0" i="0" dirty="0">
                <a:solidFill>
                  <a:srgbClr val="4A4A5E"/>
                </a:solidFill>
                <a:latin typeface="Calibri"/>
              </a:rPr>
              <a:t> </a:t>
            </a:r>
            <a:r>
              <a:rPr sz="930" b="0" i="0" dirty="0" err="1">
                <a:solidFill>
                  <a:srgbClr val="4A4A5E"/>
                </a:solidFill>
                <a:latin typeface="Calibri"/>
              </a:rPr>
              <a:t>producción</a:t>
            </a:r>
            <a:r>
              <a:rPr sz="930" b="0" i="0" dirty="0">
                <a:solidFill>
                  <a:srgbClr val="4A4A5E"/>
                </a:solidFill>
                <a:latin typeface="Calibri"/>
              </a:rPr>
              <a:t> no </a:t>
            </a:r>
            <a:r>
              <a:rPr sz="930" b="0" i="0" dirty="0" err="1">
                <a:solidFill>
                  <a:srgbClr val="4A4A5E"/>
                </a:solidFill>
                <a:latin typeface="Calibri"/>
              </a:rPr>
              <a:t>existe</a:t>
            </a:r>
            <a:r>
              <a:rPr sz="930" b="0" i="0" dirty="0">
                <a:solidFill>
                  <a:srgbClr val="4A4A5E"/>
                </a:solidFill>
                <a:latin typeface="Calibri"/>
              </a:rPr>
              <a:t>."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74736" y="5742432"/>
            <a:ext cx="3282696" cy="292608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A100FF"/>
                </a:solidFill>
                <a:latin typeface="Calibri"/>
              </a:rPr>
              <a:t>DoD completo, no negociable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Accenture  |  Software &amp; Platform Engineering — Estrategia FY27 México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473952"/>
            <a:ext cx="11887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48640" y="475488"/>
            <a:ext cx="91440" cy="310896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475488"/>
            <a:ext cx="10515600" cy="292608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100FF"/>
                </a:solidFill>
                <a:latin typeface="Calibri"/>
              </a:rPr>
              <a:t>02  ·  POR QUÉ EVOLUCIONAR AHORA  ·  HILO 3 — CRECIMIENTO EN EL TAM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2E"/>
                </a:solidFill>
                <a:latin typeface="Georgia"/>
              </a:rPr>
              <a:t>El mercado de software se reinventa con la IA, no solo se opera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10512"/>
            <a:ext cx="11064240" cy="462884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 dirty="0">
                <a:solidFill>
                  <a:srgbClr val="4A4A5E"/>
                </a:solidFill>
                <a:latin typeface="Calibri"/>
              </a:rPr>
              <a:t>Software Engineering Services: TAM $</a:t>
            </a:r>
            <a:r>
              <a:rPr lang="en-US" sz="1300" b="0" i="0" dirty="0">
                <a:solidFill>
                  <a:srgbClr val="4A4A5E"/>
                </a:solidFill>
                <a:latin typeface="Calibri"/>
              </a:rPr>
              <a:t>5.8 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B+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en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202</a:t>
            </a:r>
            <a:r>
              <a:rPr lang="en-US" sz="1300" b="0" i="0" dirty="0">
                <a:solidFill>
                  <a:srgbClr val="4A4A5E"/>
                </a:solidFill>
                <a:latin typeface="Calibri"/>
              </a:rPr>
              <a:t>6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creciendo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+</a:t>
            </a:r>
            <a:r>
              <a:rPr lang="en-US" sz="1300" b="0" i="0" dirty="0">
                <a:solidFill>
                  <a:srgbClr val="4A4A5E"/>
                </a:solidFill>
                <a:latin typeface="Calibri"/>
              </a:rPr>
              <a:t>9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% CAGR. La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oferta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crece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ganando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share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en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un mercado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en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expansión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, no solo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defendiendo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cuentas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3611880" cy="1828800"/>
          </a:xfrm>
          <a:prstGeom prst="rect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329184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084FC"/>
                </a:solidFill>
                <a:latin typeface="Calibri"/>
              </a:rPr>
              <a:t>TAM SOFTWARE ENG.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3291840" cy="666849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dirty="0">
                <a:solidFill>
                  <a:srgbClr val="FFFFFF"/>
                </a:solidFill>
                <a:latin typeface="Georgia"/>
              </a:rPr>
              <a:t>$</a:t>
            </a:r>
            <a:r>
              <a:rPr lang="en-US" sz="4000" b="1" i="0" dirty="0">
                <a:solidFill>
                  <a:srgbClr val="FFFFFF"/>
                </a:solidFill>
                <a:latin typeface="Georgia"/>
              </a:rPr>
              <a:t>5.8</a:t>
            </a:r>
            <a:r>
              <a:rPr sz="4000" b="1" i="0" dirty="0">
                <a:solidFill>
                  <a:srgbClr val="FFFFFF"/>
                </a:solidFill>
                <a:latin typeface="Georgia"/>
              </a:rPr>
              <a:t>B+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3291840" cy="381386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 dirty="0" err="1">
                <a:solidFill>
                  <a:srgbClr val="E0E0E0"/>
                </a:solidFill>
                <a:latin typeface="Calibri"/>
              </a:rPr>
              <a:t>en</a:t>
            </a:r>
            <a:r>
              <a:rPr sz="1000" b="0" i="0" dirty="0">
                <a:solidFill>
                  <a:srgbClr val="E0E0E0"/>
                </a:solidFill>
                <a:latin typeface="Calibri"/>
              </a:rPr>
              <a:t> 202</a:t>
            </a:r>
            <a:r>
              <a:rPr lang="en-US" sz="1000" b="0" i="0" dirty="0">
                <a:solidFill>
                  <a:srgbClr val="E0E0E0"/>
                </a:solidFill>
                <a:latin typeface="Calibri"/>
              </a:rPr>
              <a:t>6</a:t>
            </a:r>
            <a:r>
              <a:rPr sz="1000" b="0" i="0" dirty="0">
                <a:solidFill>
                  <a:srgbClr val="E0E0E0"/>
                </a:solidFill>
                <a:latin typeface="Calibri"/>
              </a:rPr>
              <a:t>  ·  +</a:t>
            </a:r>
            <a:r>
              <a:rPr lang="en-US" sz="1000" b="0" i="0" dirty="0">
                <a:solidFill>
                  <a:srgbClr val="E0E0E0"/>
                </a:solidFill>
                <a:latin typeface="Calibri"/>
              </a:rPr>
              <a:t>9</a:t>
            </a:r>
            <a:r>
              <a:rPr sz="1000" b="0" i="0" dirty="0">
                <a:solidFill>
                  <a:srgbClr val="E0E0E0"/>
                </a:solidFill>
                <a:latin typeface="Calibri"/>
              </a:rPr>
              <a:t>% CAGR</a:t>
            </a:r>
          </a:p>
          <a:p>
            <a:pPr algn="l">
              <a:lnSpc>
                <a:spcPct val="110000"/>
              </a:lnSpc>
            </a:pPr>
            <a:r>
              <a:rPr sz="1000" b="0" i="0" dirty="0" err="1">
                <a:solidFill>
                  <a:srgbClr val="E0E0E0"/>
                </a:solidFill>
                <a:latin typeface="Calibri"/>
              </a:rPr>
              <a:t>Ambición</a:t>
            </a:r>
            <a:r>
              <a:rPr sz="1000" b="0" i="0" dirty="0">
                <a:solidFill>
                  <a:srgbClr val="E0E0E0"/>
                </a:solidFill>
                <a:latin typeface="Calibri"/>
              </a:rPr>
              <a:t> Accenture ~</a:t>
            </a:r>
            <a:r>
              <a:rPr lang="en-US" sz="1000" b="0" i="0" dirty="0">
                <a:solidFill>
                  <a:srgbClr val="E0E0E0"/>
                </a:solidFill>
                <a:latin typeface="Calibri"/>
              </a:rPr>
              <a:t>5</a:t>
            </a:r>
            <a:r>
              <a:rPr sz="1000" b="0" i="0" dirty="0">
                <a:solidFill>
                  <a:srgbClr val="E0E0E0"/>
                </a:solidFill>
                <a:latin typeface="Calibri"/>
              </a:rPr>
              <a:t>% rev CAGR / 5FY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331720"/>
            <a:ext cx="73152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100FF"/>
                </a:solidFill>
                <a:latin typeface="Calibri"/>
              </a:rPr>
              <a:t>LO QUE EL CIO/CTO ESTÁ HACIENDO HOY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2697480"/>
            <a:ext cx="23317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2697480"/>
            <a:ext cx="2331720" cy="5486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07992" y="2843784"/>
            <a:ext cx="914400" cy="41148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A100FF"/>
                </a:solidFill>
                <a:latin typeface="Georgia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3264408"/>
            <a:ext cx="2002536" cy="566928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200" b="1" i="0">
                <a:solidFill>
                  <a:srgbClr val="1A1A2E"/>
                </a:solidFill>
                <a:latin typeface="Calibri"/>
              </a:rPr>
              <a:t>Consolida proveedores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3831336"/>
            <a:ext cx="2002536" cy="2020824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0" i="0">
                <a:solidFill>
                  <a:srgbClr val="4A4A5E"/>
                </a:solidFill>
                <a:latin typeface="Calibri"/>
              </a:rPr>
              <a:t>Reduce socios; las plataformas absorben nicho. Sin diferenciador de ingeniería, el proveedor enfrenta presión de precio y desplazamiento.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12280" y="2697480"/>
            <a:ext cx="23317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12280" y="2697480"/>
            <a:ext cx="2331720" cy="5486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76872" y="2843784"/>
            <a:ext cx="914400" cy="41148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A100FF"/>
                </a:solidFill>
                <a:latin typeface="Georgia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6872" y="3264408"/>
            <a:ext cx="2002536" cy="566928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200" b="1" i="0">
                <a:solidFill>
                  <a:srgbClr val="1A1A2E"/>
                </a:solidFill>
                <a:latin typeface="Calibri"/>
              </a:rPr>
              <a:t>Exige ROI antes de escalar 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76872" y="3831336"/>
            <a:ext cx="2002536" cy="2020824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0" i="0">
                <a:solidFill>
                  <a:srgbClr val="4A4A5E"/>
                </a:solidFill>
                <a:latin typeface="Calibri"/>
              </a:rPr>
              <a:t>Percibe la IA como caja negra. Quiere casos con métricas desde la fase 1 — velocidad, calidad y costo medibles, no promesas.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81160" y="2697480"/>
            <a:ext cx="23317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281160" y="2697480"/>
            <a:ext cx="2331720" cy="5486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45752" y="2843784"/>
            <a:ext cx="914400" cy="41148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A100FF"/>
                </a:solidFill>
                <a:latin typeface="Georgia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5752" y="3264408"/>
            <a:ext cx="2002536" cy="566928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200" b="1" i="0">
                <a:solidFill>
                  <a:srgbClr val="1A1A2E"/>
                </a:solidFill>
                <a:latin typeface="Calibri"/>
              </a:rPr>
              <a:t>Presión sobre TCO/OPEX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45752" y="3831336"/>
            <a:ext cx="2002536" cy="2020824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30" b="0" i="0">
                <a:solidFill>
                  <a:srgbClr val="4A4A5E"/>
                </a:solidFill>
                <a:latin typeface="Calibri"/>
              </a:rPr>
              <a:t>El run consume el presupuesto. La oportunidad real está en modernización + AI-native engineering que libera capital de innovación.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486400"/>
            <a:ext cx="3611880" cy="502920"/>
          </a:xfrm>
          <a:prstGeom prst="rect">
            <a:avLst/>
          </a:prstGeom>
          <a:solidFill>
            <a:srgbClr val="EDE9FE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" y="5559552"/>
            <a:ext cx="3383280" cy="36576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6B21A8"/>
                </a:solidFill>
                <a:latin typeface="Calibri"/>
              </a:rPr>
              <a:t>Contexto MX (IDC): [DATO-REQUERIDO]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Accenture  |  Software &amp; Platform Engineering — Estrategia FY27 México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473952"/>
            <a:ext cx="11887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5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91440" cy="310896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475488"/>
            <a:ext cx="10515600" cy="292608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100FF"/>
                </a:solidFill>
                <a:latin typeface="Calibri"/>
              </a:rPr>
              <a:t>03  ·  EVOLUCIÓN DE LA OFERTA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2E"/>
                </a:solidFill>
                <a:latin typeface="Georgia"/>
              </a:rPr>
              <a:t>De DevOps Classic a AI-Native &amp; Agentic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10512"/>
            <a:ext cx="11064240" cy="5486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4A4A5E"/>
                </a:solidFill>
                <a:latin typeface="Calibri"/>
              </a:rPr>
              <a:t>Mismo ADN — velocidad sostenible, calidad probada, reference architecture — ahora con Agent-First y GenWizard como motor del Build+Reinvent simultáneo.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5440680" cy="38404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50292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66666"/>
                </a:solidFill>
                <a:latin typeface="Georgia"/>
              </a:rPr>
              <a:t>FY26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24912"/>
            <a:ext cx="502920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1A2E"/>
                </a:solidFill>
                <a:latin typeface="Georgia"/>
              </a:rPr>
              <a:t>DevOps Classic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46120"/>
            <a:ext cx="2743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66666"/>
                </a:solidFill>
                <a:latin typeface="Calibr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46120"/>
            <a:ext cx="475488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4A5E"/>
                </a:solidFill>
                <a:latin typeface="Calibri"/>
              </a:rPr>
              <a:t>Reference Architecture + ADRs canónicos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30168"/>
            <a:ext cx="2743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66666"/>
                </a:solidFill>
                <a:latin typeface="Calibri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630168"/>
            <a:ext cx="475488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4A5E"/>
                </a:solidFill>
                <a:latin typeface="Calibri"/>
              </a:rPr>
              <a:t>CI/CD con target DORA Elite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014215"/>
            <a:ext cx="2743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66666"/>
                </a:solidFill>
                <a:latin typeface="Calibr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014215"/>
            <a:ext cx="475488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4A5E"/>
                </a:solidFill>
                <a:latin typeface="Calibri"/>
              </a:rPr>
              <a:t>Contract-First (OpenAPI 3.1 / AsyncAPI 2.6)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398264"/>
            <a:ext cx="2743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66666"/>
                </a:solidFill>
                <a:latin typeface="Calibr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398264"/>
            <a:ext cx="475488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4A5E"/>
                </a:solidFill>
                <a:latin typeface="Calibri"/>
              </a:rPr>
              <a:t>DevSecOps shift-left (SAST/SCA/secrets)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782312"/>
            <a:ext cx="2743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66666"/>
                </a:solidFill>
                <a:latin typeface="Calibr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782312"/>
            <a:ext cx="475488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4A5E"/>
                </a:solidFill>
                <a:latin typeface="Calibri"/>
              </a:rPr>
              <a:t>Observabilidad OTEL + SLOs declarados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166360"/>
            <a:ext cx="2743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66666"/>
                </a:solidFill>
                <a:latin typeface="Calibr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166360"/>
            <a:ext cx="475488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4A5E"/>
                </a:solidFill>
                <a:latin typeface="Calibri"/>
              </a:rPr>
              <a:t>Backstage IDP + golden paths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550408"/>
            <a:ext cx="2743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66666"/>
                </a:solidFill>
                <a:latin typeface="Calibri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550408"/>
            <a:ext cx="475488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4A5E"/>
                </a:solidFill>
                <a:latin typeface="Calibri"/>
              </a:rPr>
              <a:t>Trunk-Based + Conventional Commits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2286000"/>
            <a:ext cx="5468112" cy="3840480"/>
          </a:xfrm>
          <a:prstGeom prst="rect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2423160"/>
            <a:ext cx="50292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084FC"/>
                </a:solidFill>
                <a:latin typeface="Georgia"/>
              </a:rPr>
              <a:t>FY27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724912"/>
            <a:ext cx="502920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AI-Native &amp; Agentic Engineering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246120"/>
            <a:ext cx="2743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100FF"/>
                </a:solidFill>
                <a:latin typeface="Calibr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3246120"/>
            <a:ext cx="475488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0E0E0"/>
                </a:solidFill>
                <a:latin typeface="Calibri"/>
              </a:rPr>
              <a:t>Agent-First SDLC con Human in the Lead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611879"/>
            <a:ext cx="2743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100FF"/>
                </a:solidFill>
                <a:latin typeface="Calibr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3611879"/>
            <a:ext cx="475488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0E0E0"/>
                </a:solidFill>
                <a:latin typeface="Calibri"/>
              </a:rPr>
              <a:t>90% workforce agentic-AI capable (FY27)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977639"/>
            <a:ext cx="2743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100FF"/>
                </a:solidFill>
                <a:latin typeface="Calibri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3977639"/>
            <a:ext cx="475488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0E0E0"/>
                </a:solidFill>
                <a:latin typeface="Calibri"/>
              </a:rPr>
              <a:t>Agent Engineers / FDEs &gt; 25% headcount (FY28)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343400"/>
            <a:ext cx="2743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100FF"/>
                </a:solidFill>
                <a:latin typeface="Calibri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4343400"/>
            <a:ext cx="475488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0E0E0"/>
                </a:solidFill>
                <a:latin typeface="Calibri"/>
              </a:rPr>
              <a:t>GenWizard across el SDLC completo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709160"/>
            <a:ext cx="2743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100FF"/>
                </a:solidFill>
                <a:latin typeface="Calibri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4709160"/>
            <a:ext cx="475488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0E0E0"/>
                </a:solidFill>
                <a:latin typeface="Calibri"/>
              </a:rPr>
              <a:t>Frictionless SDLC (Grow the New)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074920"/>
            <a:ext cx="2743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100FF"/>
                </a:solidFill>
                <a:latin typeface="Calibri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5074920"/>
            <a:ext cx="475488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0E0E0"/>
                </a:solidFill>
                <a:latin typeface="Calibri"/>
              </a:rPr>
              <a:t>Autonomous Engineering Operations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5440680"/>
            <a:ext cx="2743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100FF"/>
                </a:solidFill>
                <a:latin typeface="Calibri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5440680"/>
            <a:ext cx="475488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0E0E0"/>
                </a:solidFill>
                <a:latin typeface="Calibri"/>
              </a:rPr>
              <a:t>Agentic Architectures + Silicon Engineering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5806440"/>
            <a:ext cx="2743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100FF"/>
                </a:solidFill>
                <a:latin typeface="Calibri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5806440"/>
            <a:ext cx="475488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0E0E0"/>
                </a:solidFill>
                <a:latin typeface="Calibri"/>
              </a:rPr>
              <a:t>Pricing por outcome / autonomía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Accenture  |  Software &amp; Platform Engineering — Estrategia FY27 México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24160" y="6473952"/>
            <a:ext cx="11887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6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91440" cy="310896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475488"/>
            <a:ext cx="10515600" cy="292608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100FF"/>
                </a:solidFill>
                <a:latin typeface="Calibri"/>
              </a:rPr>
              <a:t>04  ·  ARQUITECTURA DE LA OFERTA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2E"/>
                </a:solidFill>
                <a:latin typeface="Georgia"/>
              </a:rPr>
              <a:t>5 sub-ofertas para defender el core y conquistar lo nuevo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10512"/>
            <a:ext cx="11064240" cy="5486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4A4A5E"/>
                </a:solidFill>
                <a:latin typeface="Calibri"/>
              </a:rPr>
              <a:t>Marco global, ejecución local. Expand the Core sobre lo construido en DevOps Classic; Grow the New en frentes agentic. Así crecemos en el TAM: defender el core + conquistar lo nuevo.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217627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2331720"/>
            <a:ext cx="2176272" cy="310896"/>
          </a:xfrm>
          <a:prstGeom prst="rect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368296"/>
            <a:ext cx="1993391" cy="256032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EXPAND THE 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15768"/>
            <a:ext cx="91440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6B21A8"/>
                </a:solidFill>
                <a:latin typeface="Georgia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118103"/>
            <a:ext cx="1901952" cy="64008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1" i="0">
                <a:solidFill>
                  <a:srgbClr val="1A1A2E"/>
                </a:solidFill>
                <a:latin typeface="Calibri"/>
              </a:rPr>
              <a:t>High Velocity</a:t>
            </a:r>
          </a:p>
          <a:p>
            <a:pPr algn="l">
              <a:lnSpc>
                <a:spcPct val="95000"/>
              </a:lnSpc>
            </a:pPr>
            <a:r>
              <a:rPr sz="1200" b="1" i="0">
                <a:solidFill>
                  <a:srgbClr val="1A1A2E"/>
                </a:solidFill>
                <a:latin typeface="Calibri"/>
              </a:rPr>
              <a:t>Modernization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94760"/>
            <a:ext cx="1901952" cy="11887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 i="0">
                <a:solidFill>
                  <a:srgbClr val="4A4A5E"/>
                </a:solidFill>
                <a:latin typeface="Calibri"/>
              </a:rPr>
              <a:t>Modernización acelerada de legacy con Strangler-Fig y reverse engineering asistido por IA. Reúsa patrones probados.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70632" y="2331720"/>
            <a:ext cx="217627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70632" y="2331720"/>
            <a:ext cx="2176272" cy="310896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62072" y="2368296"/>
            <a:ext cx="1993391" cy="256032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GROW THE NEW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7791" y="2715768"/>
            <a:ext cx="91440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A100FF"/>
                </a:solidFill>
                <a:latin typeface="Georgia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7791" y="3118103"/>
            <a:ext cx="1901952" cy="64008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1" i="0">
                <a:solidFill>
                  <a:srgbClr val="1A1A2E"/>
                </a:solidFill>
                <a:latin typeface="Calibri"/>
              </a:rPr>
              <a:t>Frictionless</a:t>
            </a:r>
          </a:p>
          <a:p>
            <a:pPr algn="l">
              <a:lnSpc>
                <a:spcPct val="95000"/>
              </a:lnSpc>
            </a:pPr>
            <a:r>
              <a:rPr sz="1200" b="1" i="0">
                <a:solidFill>
                  <a:srgbClr val="1A1A2E"/>
                </a:solidFill>
                <a:latin typeface="Calibri"/>
              </a:rPr>
              <a:t>SDLC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07791" y="3794760"/>
            <a:ext cx="1901952" cy="11887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 i="0">
                <a:solidFill>
                  <a:srgbClr val="4A4A5E"/>
                </a:solidFill>
                <a:latin typeface="Calibri"/>
              </a:rPr>
              <a:t>Transformación del SDLC AI-first: golden paths, Backstage IDP, DORA Elite como estándar — no aspiración.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92623" y="2331720"/>
            <a:ext cx="217627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992623" y="2331720"/>
            <a:ext cx="2176272" cy="310896"/>
          </a:xfrm>
          <a:prstGeom prst="rect">
            <a:avLst/>
          </a:prstGeom>
          <a:solidFill>
            <a:srgbClr val="3B0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84063" y="2368296"/>
            <a:ext cx="1993391" cy="256032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MIXTO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3" y="2715768"/>
            <a:ext cx="91440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3B0764"/>
                </a:solidFill>
                <a:latin typeface="Georgia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3" y="3118103"/>
            <a:ext cx="1901952" cy="64008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1" i="0">
                <a:solidFill>
                  <a:srgbClr val="1A1A2E"/>
                </a:solidFill>
                <a:latin typeface="Calibri"/>
              </a:rPr>
              <a:t>AI-Native Custom</a:t>
            </a:r>
          </a:p>
          <a:p>
            <a:pPr algn="l">
              <a:lnSpc>
                <a:spcPct val="95000"/>
              </a:lnSpc>
            </a:pPr>
            <a:r>
              <a:rPr sz="1200" b="1" i="0">
                <a:solidFill>
                  <a:srgbClr val="1A1A2E"/>
                </a:solidFill>
                <a:latin typeface="Calibri"/>
              </a:rPr>
              <a:t>Engineering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3" y="3794760"/>
            <a:ext cx="1901952" cy="11887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 i="0">
                <a:solidFill>
                  <a:srgbClr val="4A4A5E"/>
                </a:solidFill>
                <a:latin typeface="Calibri"/>
              </a:rPr>
              <a:t>Reemplazo de SaaS/paquete restrictivo (P&amp;PE) + Silicon Engineering. Build a la medida, agentic por diseño.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14615" y="2331720"/>
            <a:ext cx="217627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214615" y="2331720"/>
            <a:ext cx="2176272" cy="310896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06055" y="2368296"/>
            <a:ext cx="1993391" cy="256032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GROW THE NEW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51775" y="2715768"/>
            <a:ext cx="91440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A100FF"/>
                </a:solidFill>
                <a:latin typeface="Georgia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1775" y="3118103"/>
            <a:ext cx="1901952" cy="64008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1" i="0">
                <a:solidFill>
                  <a:srgbClr val="1A1A2E"/>
                </a:solidFill>
                <a:latin typeface="Calibri"/>
              </a:rPr>
              <a:t>Autonomous</a:t>
            </a:r>
          </a:p>
          <a:p>
            <a:pPr algn="l">
              <a:lnSpc>
                <a:spcPct val="95000"/>
              </a:lnSpc>
            </a:pPr>
            <a:r>
              <a:rPr sz="1200" b="1" i="0">
                <a:solidFill>
                  <a:srgbClr val="1A1A2E"/>
                </a:solidFill>
                <a:latin typeface="Calibri"/>
              </a:rPr>
              <a:t>Engineering Ops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51775" y="3794760"/>
            <a:ext cx="1901952" cy="11887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 i="0">
                <a:solidFill>
                  <a:srgbClr val="4A4A5E"/>
                </a:solidFill>
                <a:latin typeface="Calibri"/>
              </a:rPr>
              <a:t>Operación de ingeniería agentic: agentes ejecutan el toil del SDLC, humanos lideran las decisiones.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36607" y="2331720"/>
            <a:ext cx="217627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436607" y="2331720"/>
            <a:ext cx="2176272" cy="310896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528047" y="2368296"/>
            <a:ext cx="1993391" cy="256032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GROW THE NEW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73767" y="2715768"/>
            <a:ext cx="91440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A100FF"/>
                </a:solidFill>
                <a:latin typeface="Georgia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73767" y="3118103"/>
            <a:ext cx="1901952" cy="64008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1" i="0">
                <a:solidFill>
                  <a:srgbClr val="1A1A2E"/>
                </a:solidFill>
                <a:latin typeface="Calibri"/>
              </a:rPr>
              <a:t>Software Architecture</a:t>
            </a:r>
          </a:p>
          <a:p>
            <a:pPr algn="l">
              <a:lnSpc>
                <a:spcPct val="95000"/>
              </a:lnSpc>
            </a:pPr>
            <a:r>
              <a:rPr sz="1200" b="1" i="0">
                <a:solidFill>
                  <a:srgbClr val="1A1A2E"/>
                </a:solidFill>
                <a:latin typeface="Calibri"/>
              </a:rPr>
              <a:t>Foundation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73767" y="3794760"/>
            <a:ext cx="1901952" cy="11887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 i="0">
                <a:solidFill>
                  <a:srgbClr val="4A4A5E"/>
                </a:solidFill>
                <a:latin typeface="Calibri"/>
              </a:rPr>
              <a:t>Agentic Architectures + digitalmente resiliente y soberano. La base arquitectónica de todo lo demás.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349240"/>
            <a:ext cx="11091672" cy="7772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" y="5449824"/>
            <a:ext cx="2194560" cy="54864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A100FF"/>
                </a:solidFill>
                <a:latin typeface="Georgia"/>
              </a:rPr>
              <a:t>MOTOR</a:t>
            </a:r>
          </a:p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A100FF"/>
                </a:solidFill>
                <a:latin typeface="Georgia"/>
              </a:rPr>
              <a:t>TRANSVERSAL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5449824"/>
            <a:ext cx="8778240" cy="566928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E0E0E0"/>
                </a:solidFill>
                <a:latin typeface="Calibri"/>
              </a:rPr>
              <a:t>GenWizard · Reinvention.AI · Reference Architecture viva (ADRs · C4 · Twelve-Factor) · Backstage IDP · CNCF landscape · DevSecOps toolchain · CCM v1.8 (estimación calibrada)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Accenture  |  Software &amp; Platform Engineering — Estrategia FY27 México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60" y="6473952"/>
            <a:ext cx="11887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7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48640" y="475488"/>
            <a:ext cx="91440" cy="310896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475488"/>
            <a:ext cx="10515600" cy="292608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100FF"/>
                </a:solidFill>
                <a:latin typeface="Calibri"/>
              </a:rPr>
              <a:t>REALITY CHECK  ·  CUENTAS Y PIPELINE FY27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482183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 dirty="0">
                <a:solidFill>
                  <a:srgbClr val="1A1A2E"/>
                </a:solidFill>
                <a:latin typeface="Georgia"/>
              </a:rPr>
              <a:t>Cuentas core y pipeline a </a:t>
            </a:r>
            <a:r>
              <a:rPr lang="en-US" sz="2800" b="1" i="0" dirty="0" err="1">
                <a:solidFill>
                  <a:srgbClr val="1A1A2E"/>
                </a:solidFill>
                <a:latin typeface="Georgia"/>
              </a:rPr>
              <a:t>priorizar</a:t>
            </a:r>
            <a:r>
              <a:rPr sz="2800" b="1" i="0" dirty="0">
                <a:solidFill>
                  <a:srgbClr val="1A1A2E"/>
                </a:solidFill>
                <a:latin typeface="Georgia"/>
              </a:rPr>
              <a:t> para FY27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1393065"/>
            <a:ext cx="11064240" cy="5486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 dirty="0">
                <a:solidFill>
                  <a:srgbClr val="4A4A5E"/>
                </a:solidFill>
                <a:latin typeface="Calibri"/>
              </a:rPr>
              <a:t>La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estrategia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FY27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ancla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en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las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industrias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prioritarias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del offering y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traslada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el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pipeline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calificado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como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base. Los gaps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por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cuenta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requieren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consolidación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Accenture  |  Software &amp; Platform Engineering — Estrategia FY27 México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6473952"/>
            <a:ext cx="11887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14 / 20</a:t>
            </a: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51BA6958-EF1B-23DF-5992-5C4F3583C7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302464"/>
              </p:ext>
            </p:extLst>
          </p:nvPr>
        </p:nvGraphicFramePr>
        <p:xfrm>
          <a:off x="749808" y="1734311"/>
          <a:ext cx="10080948" cy="466344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520237">
                  <a:extLst>
                    <a:ext uri="{9D8B030D-6E8A-4147-A177-3AD203B41FA5}">
                      <a16:colId xmlns:a16="http://schemas.microsoft.com/office/drawing/2014/main" val="354519814"/>
                    </a:ext>
                  </a:extLst>
                </a:gridCol>
                <a:gridCol w="2520237">
                  <a:extLst>
                    <a:ext uri="{9D8B030D-6E8A-4147-A177-3AD203B41FA5}">
                      <a16:colId xmlns:a16="http://schemas.microsoft.com/office/drawing/2014/main" val="1274239331"/>
                    </a:ext>
                  </a:extLst>
                </a:gridCol>
                <a:gridCol w="2581362">
                  <a:extLst>
                    <a:ext uri="{9D8B030D-6E8A-4147-A177-3AD203B41FA5}">
                      <a16:colId xmlns:a16="http://schemas.microsoft.com/office/drawing/2014/main" val="952470766"/>
                    </a:ext>
                  </a:extLst>
                </a:gridCol>
                <a:gridCol w="2459112">
                  <a:extLst>
                    <a:ext uri="{9D8B030D-6E8A-4147-A177-3AD203B41FA5}">
                      <a16:colId xmlns:a16="http://schemas.microsoft.com/office/drawing/2014/main" val="397920090"/>
                    </a:ext>
                  </a:extLst>
                </a:gridCol>
              </a:tblGrid>
              <a:tr h="125873">
                <a:tc>
                  <a:txBody>
                    <a:bodyPr/>
                    <a:lstStyle/>
                    <a:p>
                      <a:r>
                        <a:rPr lang="en-US" sz="1100" dirty="0"/>
                        <a:t>Banking</a:t>
                      </a:r>
                    </a:p>
                  </a:txBody>
                  <a:tcPr>
                    <a:solidFill>
                      <a:srgbClr val="6B21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Name</a:t>
                      </a:r>
                    </a:p>
                  </a:txBody>
                  <a:tcPr>
                    <a:solidFill>
                      <a:srgbClr val="6B21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Qualified</a:t>
                      </a:r>
                    </a:p>
                  </a:txBody>
                  <a:tcPr>
                    <a:solidFill>
                      <a:srgbClr val="6B21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Revenues</a:t>
                      </a:r>
                    </a:p>
                  </a:txBody>
                  <a:tcPr>
                    <a:solidFill>
                      <a:srgbClr val="6B21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8373936"/>
                  </a:ext>
                </a:extLst>
              </a:tr>
              <a:tr h="125873">
                <a:tc>
                  <a:txBody>
                    <a:bodyPr/>
                    <a:lstStyle/>
                    <a:p>
                      <a:r>
                        <a:rPr lang="en-US" sz="1100" dirty="0"/>
                        <a:t>BBVA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OpenPay</a:t>
                      </a:r>
                      <a:r>
                        <a:rPr lang="en-US" sz="1100" dirty="0"/>
                        <a:t> Foundations Modernization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1.5 MDD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126070"/>
                  </a:ext>
                </a:extLst>
              </a:tr>
              <a:tr h="125873">
                <a:tc>
                  <a:txBody>
                    <a:bodyPr/>
                    <a:lstStyle/>
                    <a:p>
                      <a:r>
                        <a:rPr lang="en-US" sz="1100" dirty="0"/>
                        <a:t>BBVA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OpenPay</a:t>
                      </a:r>
                      <a:r>
                        <a:rPr lang="en-US" sz="1100" dirty="0"/>
                        <a:t> Business Modernization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3.2 MDD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4834266"/>
                  </a:ext>
                </a:extLst>
              </a:tr>
              <a:tr h="125873">
                <a:tc>
                  <a:txBody>
                    <a:bodyPr/>
                    <a:lstStyle/>
                    <a:p>
                      <a:r>
                        <a:rPr lang="en-US" sz="1100" dirty="0"/>
                        <a:t>BBVA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Application Modernization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3.2 MDD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887819"/>
                  </a:ext>
                </a:extLst>
              </a:tr>
              <a:tr h="125873">
                <a:tc>
                  <a:txBody>
                    <a:bodyPr/>
                    <a:lstStyle/>
                    <a:p>
                      <a:r>
                        <a:rPr lang="en-US" sz="1100" dirty="0"/>
                        <a:t>BBVA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Open Banking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1.2 MDD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674601"/>
                  </a:ext>
                </a:extLst>
              </a:tr>
              <a:tr h="125873">
                <a:tc>
                  <a:txBody>
                    <a:bodyPr/>
                    <a:lstStyle/>
                    <a:p>
                      <a:r>
                        <a:rPr lang="en-US" sz="1100" dirty="0"/>
                        <a:t>Banorte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Software Factory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TBD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0161090"/>
                  </a:ext>
                </a:extLst>
              </a:tr>
              <a:tr h="125873">
                <a:tc>
                  <a:txBody>
                    <a:bodyPr/>
                    <a:lstStyle/>
                    <a:p>
                      <a:r>
                        <a:rPr lang="en-US" sz="1100" dirty="0"/>
                        <a:t>Actinver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BEM Digital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 MDD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67297"/>
                  </a:ext>
                </a:extLst>
              </a:tr>
              <a:tr h="125873">
                <a:tc>
                  <a:txBody>
                    <a:bodyPr/>
                    <a:lstStyle/>
                    <a:p>
                      <a:r>
                        <a:rPr lang="en-US" sz="1100" dirty="0"/>
                        <a:t>Banamex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ServiceNow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600K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875824"/>
                  </a:ext>
                </a:extLst>
              </a:tr>
              <a:tr h="125873">
                <a:tc>
                  <a:txBody>
                    <a:bodyPr/>
                    <a:lstStyle/>
                    <a:p>
                      <a:r>
                        <a:rPr lang="en-US" sz="1100" dirty="0"/>
                        <a:t>Banamex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Reverse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1.8 MDD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8442868"/>
                  </a:ext>
                </a:extLst>
              </a:tr>
              <a:tr h="125873">
                <a:tc>
                  <a:txBody>
                    <a:bodyPr/>
                    <a:lstStyle/>
                    <a:p>
                      <a:r>
                        <a:rPr lang="en-US" sz="1100" dirty="0"/>
                        <a:t>BanCoppel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Application Modernization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3.2 MDD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1176001"/>
                  </a:ext>
                </a:extLst>
              </a:tr>
              <a:tr h="125873">
                <a:tc>
                  <a:txBody>
                    <a:bodyPr/>
                    <a:lstStyle/>
                    <a:p>
                      <a:r>
                        <a:rPr lang="en-US" sz="1100" dirty="0"/>
                        <a:t>BanCoppel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Plan Director </a:t>
                      </a:r>
                      <a:r>
                        <a:rPr lang="en-US" sz="1100" dirty="0" err="1"/>
                        <a:t>Remediación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800 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967289"/>
                  </a:ext>
                </a:extLst>
              </a:tr>
              <a:tr h="125873">
                <a:tc>
                  <a:txBody>
                    <a:bodyPr/>
                    <a:lstStyle/>
                    <a:p>
                      <a:r>
                        <a:rPr lang="en-US" sz="1100" dirty="0"/>
                        <a:t>Scotia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Wealth Transformation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4 MDD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0072395"/>
                  </a:ext>
                </a:extLst>
              </a:tr>
              <a:tr h="125873">
                <a:tc>
                  <a:txBody>
                    <a:bodyPr/>
                    <a:lstStyle/>
                    <a:p>
                      <a:r>
                        <a:rPr lang="en-US" sz="1100" dirty="0"/>
                        <a:t>Posadas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Tech Debt Reduction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1.2 MDD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0521622"/>
                  </a:ext>
                </a:extLst>
              </a:tr>
              <a:tr h="125873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50997"/>
                  </a:ext>
                </a:extLst>
              </a:tr>
              <a:tr h="125873">
                <a:tc>
                  <a:txBody>
                    <a:bodyPr/>
                    <a:lstStyle/>
                    <a:p>
                      <a:r>
                        <a:rPr lang="en-US" sz="1100" dirty="0" err="1"/>
                        <a:t>Gentera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Nuevo Modelo de Datos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6 MDD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3884466"/>
                  </a:ext>
                </a:extLst>
              </a:tr>
              <a:tr h="125873">
                <a:tc>
                  <a:txBody>
                    <a:bodyPr/>
                    <a:lstStyle/>
                    <a:p>
                      <a:r>
                        <a:rPr lang="en-US" sz="1100" dirty="0"/>
                        <a:t>AXA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Atlas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400 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7011615"/>
                  </a:ext>
                </a:extLst>
              </a:tr>
              <a:tr h="125873">
                <a:tc>
                  <a:txBody>
                    <a:bodyPr/>
                    <a:lstStyle/>
                    <a:p>
                      <a:r>
                        <a:rPr lang="en-US" sz="1100" dirty="0"/>
                        <a:t>Banamex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Data 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800 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8276924"/>
                  </a:ext>
                </a:extLst>
              </a:tr>
              <a:tr h="125873">
                <a:tc>
                  <a:txBody>
                    <a:bodyPr/>
                    <a:lstStyle/>
                    <a:p>
                      <a:r>
                        <a:rPr lang="en-US" sz="1100" dirty="0"/>
                        <a:t>Volaris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Agentic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200 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287043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91440" cy="310896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475488"/>
            <a:ext cx="10515600" cy="292608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100FF"/>
                </a:solidFill>
                <a:latin typeface="Calibri"/>
              </a:rPr>
              <a:t>05  ·  PROPUESTA DE VALOR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2E"/>
                </a:solidFill>
                <a:latin typeface="Georgia"/>
              </a:rPr>
              <a:t>Cinco pilares de ingeniería — el 6º es el cambio de 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10512"/>
            <a:ext cx="11064240" cy="5486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4A4A5E"/>
                </a:solidFill>
                <a:latin typeface="Calibri"/>
              </a:rPr>
              <a:t>El valor no está en escribir código rápido, sino en cerrar gates con disciplina. La velocidad sostenible viene de no saltarlos.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2377440"/>
            <a:ext cx="54864" cy="17830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496312"/>
            <a:ext cx="914400" cy="3200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100FF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523744"/>
            <a:ext cx="283464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1A2E"/>
                </a:solidFill>
                <a:latin typeface="Calibri"/>
              </a:rPr>
              <a:t>Velocidad sostenible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44368"/>
            <a:ext cx="3246120" cy="8229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930" b="0" i="0">
                <a:solidFill>
                  <a:srgbClr val="4A4A5E"/>
                </a:solidFill>
                <a:latin typeface="Calibri"/>
              </a:rPr>
              <a:t>Target DORA Elite: deploy varias veces/día, lead time &lt; 1 día, CFR &lt; 5%, MTTR &lt; 1 hora.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31335"/>
            <a:ext cx="32461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A100FF"/>
                </a:solidFill>
                <a:latin typeface="Calibri"/>
              </a:rPr>
              <a:t>DORA Elite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9392" y="2377440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79392" y="2377440"/>
            <a:ext cx="54864" cy="17830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62272" y="2496312"/>
            <a:ext cx="914400" cy="3200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100FF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9472" y="2523744"/>
            <a:ext cx="283464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1A2E"/>
                </a:solidFill>
                <a:latin typeface="Calibri"/>
              </a:rPr>
              <a:t>Contract-First / API-First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944368"/>
            <a:ext cx="3246120" cy="8229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930" b="0" i="0">
                <a:solidFill>
                  <a:srgbClr val="4A4A5E"/>
                </a:solidFill>
                <a:latin typeface="Calibri"/>
              </a:rPr>
              <a:t>OpenAPI 3.1 y AsyncAPI 2.6 escritos antes del primer endpoint. Contract tests bloqueantes en CI.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3831335"/>
            <a:ext cx="32461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A100FF"/>
                </a:solidFill>
                <a:latin typeface="Calibri"/>
              </a:rPr>
              <a:t>Pact bloqueante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0144" y="2377440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10144" y="2377440"/>
            <a:ext cx="54864" cy="17830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93023" y="2496312"/>
            <a:ext cx="914400" cy="3200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100FF"/>
                </a:solidFill>
                <a:latin typeface="Georgia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0224" y="2523744"/>
            <a:ext cx="283464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1A2E"/>
                </a:solidFill>
                <a:latin typeface="Calibri"/>
              </a:rPr>
              <a:t>Seguridad shift-left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3023" y="2944368"/>
            <a:ext cx="3246120" cy="8229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930" b="0" i="0">
                <a:solidFill>
                  <a:srgbClr val="4A4A5E"/>
                </a:solidFill>
                <a:latin typeface="Calibri"/>
              </a:rPr>
              <a:t>DevSecOps: SAST + SCA + secrets + container scan verdes y bloqueantes desde el primer commit.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3" y="3831335"/>
            <a:ext cx="32461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A100FF"/>
                </a:solidFill>
                <a:latin typeface="Calibri"/>
              </a:rPr>
              <a:t>0 High/Critical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325112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4325112"/>
            <a:ext cx="54864" cy="17830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4443984"/>
            <a:ext cx="914400" cy="3200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100FF"/>
                </a:solidFill>
                <a:latin typeface="Georgia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19" y="4471416"/>
            <a:ext cx="283464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1A2E"/>
                </a:solidFill>
                <a:latin typeface="Calibri"/>
              </a:rPr>
              <a:t>El último 10%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892040"/>
            <a:ext cx="3246120" cy="8229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930" b="0" i="0">
                <a:solidFill>
                  <a:srgbClr val="4A4A5E"/>
                </a:solidFill>
                <a:latin typeface="Calibri"/>
              </a:rPr>
              <a:t>Observabilidad + runbook + rollback probado + on-call. El 10% final es el 50% del valor.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779008"/>
            <a:ext cx="32461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A100FF"/>
                </a:solidFill>
                <a:latin typeface="Calibri"/>
              </a:rPr>
              <a:t>DoD completo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79392" y="4325112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279392" y="4325112"/>
            <a:ext cx="54864" cy="17830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62272" y="4443984"/>
            <a:ext cx="914400" cy="3200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100FF"/>
                </a:solidFill>
                <a:latin typeface="Georgia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19472" y="4471416"/>
            <a:ext cx="283464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1A2E"/>
                </a:solidFill>
                <a:latin typeface="Calibri"/>
              </a:rPr>
              <a:t>Service discoverability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62272" y="4892040"/>
            <a:ext cx="3246120" cy="8229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930" b="0" i="0">
                <a:solidFill>
                  <a:srgbClr val="4A4A5E"/>
                </a:solidFill>
                <a:latin typeface="Calibri"/>
              </a:rPr>
              <a:t>Backstage como default, catalog-info.yaml vivo en cada repo. Cero shadow services.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62272" y="5779008"/>
            <a:ext cx="32461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A100FF"/>
                </a:solidFill>
                <a:latin typeface="Calibri"/>
              </a:rPr>
              <a:t>Catalog vivo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10144" y="4325112"/>
            <a:ext cx="3611880" cy="1783080"/>
          </a:xfrm>
          <a:prstGeom prst="rect">
            <a:avLst/>
          </a:prstGeom>
          <a:solidFill>
            <a:srgbClr val="6B21A8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010144" y="4325112"/>
            <a:ext cx="54864" cy="1783080"/>
          </a:xfrm>
          <a:prstGeom prst="rect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93023" y="4443984"/>
            <a:ext cx="914400" cy="3200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084FC"/>
                </a:solidFill>
                <a:latin typeface="Georgia"/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50224" y="4471416"/>
            <a:ext cx="283464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Agent-First, Human in the Lead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93023" y="4892040"/>
            <a:ext cx="3246120" cy="8229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930" b="0" i="0">
                <a:solidFill>
                  <a:srgbClr val="E0E0E0"/>
                </a:solidFill>
                <a:latin typeface="Calibri"/>
              </a:rPr>
              <a:t>Agentes ejecutan el toil del SDLC; los ingenieros lideran arquitectura y decisiones.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3023" y="5779008"/>
            <a:ext cx="32461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C084FC"/>
                </a:solidFill>
                <a:latin typeface="Calibri"/>
              </a:rPr>
              <a:t>NUEVO FY27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Accenture  |  Software &amp; Platform Engineering — Estrategia FY27 México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24160" y="6473952"/>
            <a:ext cx="11887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48640" y="475488"/>
            <a:ext cx="91440" cy="310896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475488"/>
            <a:ext cx="10515600" cy="292608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100FF"/>
                </a:solidFill>
                <a:latin typeface="Calibri"/>
              </a:rPr>
              <a:t>07  ·  EQUIPOS DE ENTREGA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2E"/>
                </a:solidFill>
                <a:latin typeface="Georgia"/>
              </a:rPr>
              <a:t>Squads multidisciplinarios alineados a producto de negocio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3880" y="1537915"/>
            <a:ext cx="11064240" cy="5486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 dirty="0" err="1">
                <a:solidFill>
                  <a:srgbClr val="4A4A5E"/>
                </a:solidFill>
                <a:latin typeface="Calibri"/>
              </a:rPr>
              <a:t>Eliminamos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silos: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cada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squad es accountable end-to-end de un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producto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, con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arquitectura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,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ingeniería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full-stack y </a:t>
            </a:r>
            <a:r>
              <a:rPr sz="1300" b="0" i="0" dirty="0" err="1">
                <a:solidFill>
                  <a:srgbClr val="4A4A5E"/>
                </a:solidFill>
                <a:latin typeface="Calibri"/>
              </a:rPr>
              <a:t>capacidad</a:t>
            </a:r>
            <a:r>
              <a:rPr sz="1300" b="0" i="0" dirty="0">
                <a:solidFill>
                  <a:srgbClr val="4A4A5E"/>
                </a:solidFill>
                <a:latin typeface="Calibri"/>
              </a:rPr>
              <a:t> agentic juntas.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892040" y="2697480"/>
            <a:ext cx="2377440" cy="1280160"/>
          </a:xfrm>
          <a:prstGeom prst="rect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83480" y="2834640"/>
            <a:ext cx="2194560" cy="100584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Georgia"/>
              </a:rPr>
              <a:t>PRODUCTO</a:t>
            </a:r>
          </a:p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Georgia"/>
              </a:rPr>
              <a:t>DE NEGOCIO</a:t>
            </a:r>
          </a:p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Georgia"/>
              </a:rPr>
              <a:t>Squad e2e accountable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286000"/>
            <a:ext cx="160020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359152"/>
            <a:ext cx="1508760" cy="73152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1A1A2E"/>
                </a:solidFill>
                <a:latin typeface="Calibri"/>
              </a:rPr>
              <a:t>Architect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2286000"/>
            <a:ext cx="160020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88920" y="2359152"/>
            <a:ext cx="1508760" cy="73152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1A1A2E"/>
                </a:solidFill>
                <a:latin typeface="Calibri"/>
              </a:rPr>
              <a:t>Full-Stack</a:t>
            </a:r>
          </a:p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1A1A2E"/>
                </a:solidFill>
                <a:latin typeface="Calibri"/>
              </a:rPr>
              <a:t>Engineer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95699" y="2196283"/>
            <a:ext cx="160020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41419" y="2269435"/>
            <a:ext cx="1508760" cy="73152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1A1A2E"/>
                </a:solidFill>
                <a:latin typeface="Calibri"/>
              </a:rPr>
              <a:t>Agent Engineer</a:t>
            </a:r>
          </a:p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1A1A2E"/>
                </a:solidFill>
                <a:latin typeface="Calibri"/>
              </a:rPr>
              <a:t>(FDE)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15939" y="2196283"/>
            <a:ext cx="160020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61659" y="2269435"/>
            <a:ext cx="1508760" cy="73152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1A1A2E"/>
                </a:solidFill>
                <a:latin typeface="Calibri"/>
              </a:rPr>
              <a:t>QE / SDET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429000"/>
            <a:ext cx="160020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502152"/>
            <a:ext cx="1508760" cy="73152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1A1A2E"/>
                </a:solidFill>
                <a:latin typeface="Calibri"/>
              </a:rPr>
              <a:t>SW Engineering</a:t>
            </a:r>
          </a:p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1A1A2E"/>
                </a:solidFill>
                <a:latin typeface="Calibri"/>
              </a:rPr>
              <a:t>SME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3429000"/>
            <a:ext cx="160020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88920" y="3502152"/>
            <a:ext cx="1508760" cy="73152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1A1A2E"/>
                </a:solidFill>
                <a:latin typeface="Calibri"/>
              </a:rPr>
              <a:t>Security</a:t>
            </a:r>
          </a:p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1A1A2E"/>
                </a:solidFill>
                <a:latin typeface="Calibri"/>
              </a:rPr>
              <a:t>Specialist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95699" y="3339283"/>
            <a:ext cx="160020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41419" y="3412435"/>
            <a:ext cx="1508760" cy="73152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1A1A2E"/>
                </a:solidFill>
                <a:latin typeface="Calibri"/>
              </a:rPr>
              <a:t>SRE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15939" y="3339283"/>
            <a:ext cx="160020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761659" y="3412435"/>
            <a:ext cx="1508760" cy="73152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1A1A2E"/>
                </a:solidFill>
                <a:latin typeface="Calibri"/>
              </a:rPr>
              <a:t>Product</a:t>
            </a:r>
          </a:p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1A1A2E"/>
                </a:solidFill>
                <a:latin typeface="Calibri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526280"/>
            <a:ext cx="54864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100FF"/>
                </a:solidFill>
                <a:latin typeface="Calibri"/>
              </a:rPr>
              <a:t>AMBICIÓN DE TALENTO (CLAUDE.md offering)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846320"/>
            <a:ext cx="54864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A4A5E"/>
                </a:solidFill>
                <a:latin typeface="Calibri"/>
              </a:rPr>
              <a:t>•  90% de la fuerza S&amp;PE agentic-AI capable para FY27.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157216"/>
            <a:ext cx="54864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>
                <a:solidFill>
                  <a:srgbClr val="4A4A5E"/>
                </a:solidFill>
                <a:latin typeface="Calibri"/>
              </a:rPr>
              <a:t>•  Agent Engineers (incl. FDEs) &gt; 25% del headcount para FY28.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468112"/>
            <a:ext cx="54864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A4A5E"/>
                </a:solidFill>
                <a:latin typeface="Calibri"/>
              </a:rPr>
              <a:t>•  ~10% YoY de incremento en Architects y FSEs.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526280"/>
            <a:ext cx="54864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100FF"/>
                </a:solidFill>
                <a:latin typeface="Calibri"/>
              </a:rPr>
              <a:t>RESULTADOS ESPERADOS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4846320"/>
            <a:ext cx="164592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0" y="4956048"/>
            <a:ext cx="1645920" cy="4572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A100FF"/>
                </a:solidFill>
                <a:latin typeface="Georgia"/>
              </a:rPr>
              <a:t>−50%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440680"/>
            <a:ext cx="1554480" cy="4572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00" b="0" i="0">
                <a:solidFill>
                  <a:srgbClr val="4A4A5E"/>
                </a:solidFill>
                <a:latin typeface="Calibri"/>
              </a:rPr>
              <a:t>time-to-market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83879" y="4846320"/>
            <a:ext cx="164592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83879" y="4956048"/>
            <a:ext cx="1645920" cy="4572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A100FF"/>
                </a:solidFill>
                <a:latin typeface="Georgia"/>
              </a:rPr>
              <a:t>Fracción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5440680"/>
            <a:ext cx="1554480" cy="4572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00" b="0" i="0">
                <a:solidFill>
                  <a:srgbClr val="4A4A5E"/>
                </a:solidFill>
                <a:latin typeface="Calibri"/>
              </a:rPr>
              <a:t>del costo de build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966960" y="4846320"/>
            <a:ext cx="164592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966960" y="4956048"/>
            <a:ext cx="1645920" cy="4572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A100FF"/>
                </a:solidFill>
                <a:latin typeface="Georgia"/>
              </a:rPr>
              <a:t>DORA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12680" y="5440680"/>
            <a:ext cx="1554480" cy="4572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00" b="0" i="0">
                <a:solidFill>
                  <a:srgbClr val="4A4A5E"/>
                </a:solidFill>
                <a:latin typeface="Calibri"/>
              </a:rPr>
              <a:t>Elite quality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Accenture  |  Software &amp; Platform Engineering — Estrategia FY27 México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24160" y="6473952"/>
            <a:ext cx="11887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10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91440" cy="310896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475488"/>
            <a:ext cx="10515600" cy="292608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100FF"/>
                </a:solidFill>
                <a:latin typeface="Calibri"/>
              </a:rPr>
              <a:t>12  ·  ESTRUCTURA DE EJECUCIÓN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2E"/>
                </a:solidFill>
                <a:latin typeface="Georgia"/>
              </a:rPr>
              <a:t>Roles que ejecutan la estrategia S&amp;PE y con quién se conectan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10512"/>
            <a:ext cx="11064240" cy="5486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4A4A5E"/>
                </a:solidFill>
                <a:latin typeface="Calibri"/>
              </a:rPr>
              <a:t>Equipo S&amp;PE México con accountability E2E del business case + interlock con offerings Digital Core, engines y ecosistema. Nombres: [DATO-REQUERIDO].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4864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100FF"/>
                </a:solidFill>
                <a:latin typeface="Calibri"/>
              </a:rPr>
              <a:t>EQUIPO S&amp;PE MÉXICO  ·  CADENA DE ACCOUNTABILITY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51760"/>
            <a:ext cx="5486400" cy="640080"/>
          </a:xfrm>
          <a:prstGeom prst="rect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724912"/>
            <a:ext cx="5212080" cy="50292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S&amp;PE México Lead   ·   P&amp;L · Pipeline · Delivery · Cliente   ·   [DATO-REQ.]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429000"/>
            <a:ext cx="267004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3483864"/>
            <a:ext cx="2468880" cy="50292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950" b="1" i="0">
                <a:solidFill>
                  <a:srgbClr val="1A1A2E"/>
                </a:solidFill>
                <a:latin typeface="Calibri"/>
              </a:rPr>
              <a:t>Architecture Lead</a:t>
            </a:r>
          </a:p>
          <a:p>
            <a:pPr algn="l">
              <a:lnSpc>
                <a:spcPct val="92000"/>
              </a:lnSpc>
            </a:pPr>
            <a:r>
              <a:rPr sz="950" b="1" i="0">
                <a:solidFill>
                  <a:srgbClr val="1A1A2E"/>
                </a:solidFill>
                <a:latin typeface="Calibri"/>
              </a:rPr>
              <a:t>[DATO-REQ.]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3429000"/>
            <a:ext cx="267004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47288" y="3483864"/>
            <a:ext cx="2468880" cy="50292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950" b="1" i="0">
                <a:solidFill>
                  <a:srgbClr val="1A1A2E"/>
                </a:solidFill>
                <a:latin typeface="Calibri"/>
              </a:rPr>
              <a:t>Agent Engineer Lead</a:t>
            </a:r>
          </a:p>
          <a:p>
            <a:pPr algn="l">
              <a:lnSpc>
                <a:spcPct val="92000"/>
              </a:lnSpc>
            </a:pPr>
            <a:r>
              <a:rPr sz="950" b="1" i="0">
                <a:solidFill>
                  <a:srgbClr val="1A1A2E"/>
                </a:solidFill>
                <a:latin typeface="Calibri"/>
              </a:rPr>
              <a:t>[DATO-REQ.]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142232"/>
            <a:ext cx="267004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4197096"/>
            <a:ext cx="2468880" cy="50292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950" b="1" i="0">
                <a:solidFill>
                  <a:srgbClr val="1A1A2E"/>
                </a:solidFill>
                <a:latin typeface="Calibri"/>
              </a:rPr>
              <a:t>QE Lead</a:t>
            </a:r>
          </a:p>
          <a:p>
            <a:pPr algn="l">
              <a:lnSpc>
                <a:spcPct val="92000"/>
              </a:lnSpc>
            </a:pPr>
            <a:r>
              <a:rPr sz="950" b="1" i="0">
                <a:solidFill>
                  <a:srgbClr val="1A1A2E"/>
                </a:solidFill>
                <a:latin typeface="Calibri"/>
              </a:rPr>
              <a:t>[DATO-REQ.]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4142232"/>
            <a:ext cx="267004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47288" y="4197096"/>
            <a:ext cx="2468880" cy="50292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950" b="1" i="0">
                <a:solidFill>
                  <a:srgbClr val="1A1A2E"/>
                </a:solidFill>
                <a:latin typeface="Calibri"/>
              </a:rPr>
              <a:t>SRE / DevOps Lead</a:t>
            </a:r>
          </a:p>
          <a:p>
            <a:pPr algn="l">
              <a:lnSpc>
                <a:spcPct val="92000"/>
              </a:lnSpc>
            </a:pPr>
            <a:r>
              <a:rPr sz="950" b="1" i="0">
                <a:solidFill>
                  <a:srgbClr val="1A1A2E"/>
                </a:solidFill>
                <a:latin typeface="Calibri"/>
              </a:rPr>
              <a:t>[DATO-REQ.]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855464"/>
            <a:ext cx="267004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4910328"/>
            <a:ext cx="2468880" cy="50292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950" b="1" i="0">
                <a:solidFill>
                  <a:srgbClr val="1A1A2E"/>
                </a:solidFill>
                <a:latin typeface="Calibri"/>
              </a:rPr>
              <a:t>Solution Architect</a:t>
            </a:r>
          </a:p>
          <a:p>
            <a:pPr algn="l">
              <a:lnSpc>
                <a:spcPct val="92000"/>
              </a:lnSpc>
            </a:pPr>
            <a:r>
              <a:rPr sz="950" b="1" i="0">
                <a:solidFill>
                  <a:srgbClr val="1A1A2E"/>
                </a:solidFill>
                <a:latin typeface="Calibri"/>
              </a:rPr>
              <a:t>[DATO-REQ.]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37560" y="4855464"/>
            <a:ext cx="267004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47288" y="4910328"/>
            <a:ext cx="2468880" cy="50292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950" b="1" i="0">
                <a:solidFill>
                  <a:srgbClr val="1A1A2E"/>
                </a:solidFill>
                <a:latin typeface="Calibri"/>
              </a:rPr>
              <a:t>Industry SMEs</a:t>
            </a:r>
          </a:p>
          <a:p>
            <a:pPr algn="l">
              <a:lnSpc>
                <a:spcPct val="92000"/>
              </a:lnSpc>
            </a:pPr>
            <a:r>
              <a:rPr sz="950" b="1" i="0">
                <a:solidFill>
                  <a:srgbClr val="1A1A2E"/>
                </a:solidFill>
                <a:latin typeface="Calibri"/>
              </a:rPr>
              <a:t>[DATO-REQ.]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286000"/>
            <a:ext cx="54864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100FF"/>
                </a:solidFill>
                <a:latin typeface="Calibri"/>
              </a:rPr>
              <a:t>INTERLOCK  ·  CON QUIÉN SE CONECTAN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651760"/>
            <a:ext cx="5239512" cy="749808"/>
          </a:xfrm>
          <a:prstGeom prst="rect">
            <a:avLst/>
          </a:prstGeom>
          <a:solidFill>
            <a:srgbClr val="F9FAFB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37960" y="2724912"/>
            <a:ext cx="498348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6B21A8"/>
                </a:solidFill>
                <a:latin typeface="Calibri"/>
              </a:rPr>
              <a:t>OFFERINGS DIGITAL 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2999232"/>
            <a:ext cx="4983480" cy="384048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4A4A5E"/>
                </a:solidFill>
                <a:latin typeface="Calibri"/>
              </a:rPr>
              <a:t>01 TS&amp;T · 02 AI Enabled Enterprise · 05 Modern Data Platform · 04 Intelligent Infra · 07 AMS Reinvention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493008"/>
            <a:ext cx="5239512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37960" y="3566160"/>
            <a:ext cx="498348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6B21A8"/>
                </a:solidFill>
                <a:latin typeface="Calibri"/>
              </a:rPr>
              <a:t>ENGINES · ECOSYSTEM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840480"/>
            <a:ext cx="4983480" cy="384048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4A4A5E"/>
                </a:solidFill>
                <a:latin typeface="Calibri"/>
              </a:rPr>
              <a:t>GenWizard · Reinvention.AI · AWS / GCP / Azure / OCI · GitHub / GitLab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334256"/>
            <a:ext cx="5239512" cy="749808"/>
          </a:xfrm>
          <a:prstGeom prst="rect">
            <a:avLst/>
          </a:prstGeom>
          <a:solidFill>
            <a:srgbClr val="F9FAFB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37960" y="4407408"/>
            <a:ext cx="498348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6B21A8"/>
                </a:solidFill>
                <a:latin typeface="Calibri"/>
              </a:rPr>
              <a:t>DELIVERY SMEs (GenAI Projects)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681728"/>
            <a:ext cx="4983480" cy="384048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4A4A5E"/>
                </a:solidFill>
                <a:latin typeface="Calibri"/>
              </a:rPr>
              <a:t>Software Engineering · Interoperability · IT Operating Model · Cybersecurity · SRE &amp; AIOps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5175504"/>
            <a:ext cx="5239512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37960" y="5248656"/>
            <a:ext cx="498348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6B21A8"/>
                </a:solidFill>
                <a:latin typeface="Calibri"/>
              </a:rPr>
              <a:t>FUNCIONES · CLIENTE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5522976"/>
            <a:ext cx="4983480" cy="384048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4A4A5E"/>
                </a:solidFill>
                <a:latin typeface="Calibri"/>
              </a:rPr>
              <a:t>Pricing · Commercial · Legal  ·  C-Suite cliente: CIO / CTO / Product Owner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989320"/>
            <a:ext cx="11091672" cy="457200"/>
          </a:xfrm>
          <a:prstGeom prst="rect">
            <a:avLst/>
          </a:prstGeom>
          <a:solidFill>
            <a:srgbClr val="EDE9FE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5800" y="6044184"/>
            <a:ext cx="10972800" cy="347472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6B21A8"/>
                </a:solidFill>
                <a:latin typeface="Calibri"/>
              </a:rPr>
              <a:t>PRINCIPIO RECTOR:  squad accountable end-to-end del componente  ·  cero silos técnicos  ·  full-stack + agent engineers  ·  upskilling continuo en Agentic AI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Accenture  |  Software &amp; Platform Engineering — Estrategia FY27 México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6473952"/>
            <a:ext cx="11887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17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91440" cy="310896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475488"/>
            <a:ext cx="10515600" cy="292608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100FF"/>
                </a:solidFill>
                <a:latin typeface="Calibri"/>
              </a:rPr>
              <a:t>14  ·  RIESGOS Y DEPENDENCIAS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2E"/>
                </a:solidFill>
                <a:latin typeface="Georgia"/>
              </a:rPr>
              <a:t>Lo que debemos gobernar para que el plan se cumpla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10512"/>
            <a:ext cx="11064240" cy="5486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4A4A5E"/>
                </a:solidFill>
                <a:latin typeface="Calibri"/>
              </a:rPr>
              <a:t>El offering no entrega en aislamiento. Estas dependencias cross-offering y anti-patrones son los riesgos reales del plan FY27.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4864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100FF"/>
                </a:solidFill>
                <a:latin typeface="Calibri"/>
              </a:rPr>
              <a:t>DEPENDENCIAS CROSS-OFFERING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51760"/>
            <a:ext cx="5440680" cy="603504"/>
          </a:xfrm>
          <a:prstGeom prst="rect">
            <a:avLst/>
          </a:prstGeom>
          <a:solidFill>
            <a:srgbClr val="F9FAFB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706624"/>
            <a:ext cx="521208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21A8"/>
                </a:solidFill>
                <a:latin typeface="Calibri"/>
              </a:rPr>
              <a:t>04 Intelligent Infrastructure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71800"/>
            <a:ext cx="5212080" cy="256032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4A4A5E"/>
                </a:solidFill>
                <a:latin typeface="Calibri"/>
              </a:rPr>
              <a:t>Todo deploy requiere LZ + cluster + observability infra.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328415"/>
            <a:ext cx="544068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3383279"/>
            <a:ext cx="521208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21A8"/>
                </a:solidFill>
                <a:latin typeface="Calibri"/>
              </a:rPr>
              <a:t>05 Modern Data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648456"/>
            <a:ext cx="5212080" cy="256032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4A4A5E"/>
                </a:solidFill>
                <a:latin typeface="Calibri"/>
              </a:rPr>
              <a:t>Apps data-intensive requieren contrato de datos.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05072"/>
            <a:ext cx="5440680" cy="603504"/>
          </a:xfrm>
          <a:prstGeom prst="rect">
            <a:avLst/>
          </a:prstGeom>
          <a:solidFill>
            <a:srgbClr val="F9FAFB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4059935"/>
            <a:ext cx="521208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21A8"/>
                </a:solidFill>
                <a:latin typeface="Calibri"/>
              </a:rPr>
              <a:t>02 AI Enabled Enterprise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325112"/>
            <a:ext cx="5212080" cy="256032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4A4A5E"/>
                </a:solidFill>
                <a:latin typeface="Calibri"/>
              </a:rPr>
              <a:t>Apps con IA requieren endpoint + contract de modelo.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681727"/>
            <a:ext cx="544068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4736591"/>
            <a:ext cx="521208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21A8"/>
                </a:solidFill>
                <a:latin typeface="Calibri"/>
              </a:rPr>
              <a:t>07 AMS Reinvention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001767"/>
            <a:ext cx="5212080" cy="256032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4A4A5E"/>
                </a:solidFill>
                <a:latin typeface="Calibri"/>
              </a:rPr>
              <a:t>Toda app productiva requiere modelo AMS con runbooks.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358383"/>
            <a:ext cx="5440680" cy="603504"/>
          </a:xfrm>
          <a:prstGeom prst="rect">
            <a:avLst/>
          </a:prstGeom>
          <a:solidFill>
            <a:srgbClr val="F9FAFB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5413247"/>
            <a:ext cx="521208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21A8"/>
                </a:solidFill>
                <a:latin typeface="Calibri"/>
              </a:rPr>
              <a:t>01 TS&amp;T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678423"/>
            <a:ext cx="5212080" cy="256032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4A4A5E"/>
                </a:solidFill>
                <a:latin typeface="Calibri"/>
              </a:rPr>
              <a:t>Cambios a reference architecture requieren ADR previo.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286000"/>
            <a:ext cx="54864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100FF"/>
                </a:solidFill>
                <a:latin typeface="Calibri"/>
              </a:rPr>
              <a:t>ANTI-PATRONES QUE NUNCA HACEMOS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2651760"/>
            <a:ext cx="5376672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E3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2688336"/>
            <a:ext cx="365760" cy="41148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E350B"/>
                </a:solidFill>
                <a:latin typeface="Calibri"/>
              </a:rPr>
              <a:t>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2688336"/>
            <a:ext cx="4754880" cy="41148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4A4A5E"/>
                </a:solidFill>
                <a:latin typeface="Calibri"/>
              </a:rPr>
              <a:t>Lanzar sin runbook ni on-call — alguien es SPOF a las 3am.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218688"/>
            <a:ext cx="5376672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E3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3255264"/>
            <a:ext cx="365760" cy="41148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E350B"/>
                </a:solidFill>
                <a:latin typeface="Calibri"/>
              </a:rPr>
              <a:t>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3255264"/>
            <a:ext cx="4754880" cy="41148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4A4A5E"/>
                </a:solidFill>
                <a:latin typeface="Calibri"/>
              </a:rPr>
              <a:t>Rewrite-from-scratch sin Strangler-Fig — 90% fracasa bajo el 50%.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3785615"/>
            <a:ext cx="5376672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E3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0" y="3822191"/>
            <a:ext cx="365760" cy="41148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E350B"/>
                </a:solidFill>
                <a:latin typeface="Calibri"/>
              </a:rPr>
              <a:t>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3822191"/>
            <a:ext cx="4754880" cy="41148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4A4A5E"/>
                </a:solidFill>
                <a:latin typeface="Calibri"/>
              </a:rPr>
              <a:t>IDP sin demanda real de developers — nace muerto.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4352544"/>
            <a:ext cx="5376672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E3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0" y="4389120"/>
            <a:ext cx="365760" cy="41148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E350B"/>
                </a:solidFill>
                <a:latin typeface="Calibri"/>
              </a:rPr>
              <a:t>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4389120"/>
            <a:ext cx="4754880" cy="41148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4A4A5E"/>
                </a:solidFill>
                <a:latin typeface="Calibri"/>
              </a:rPr>
              <a:t>Saltarse security scans "porque es solo dev".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4919472"/>
            <a:ext cx="5376672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E3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0" y="4956048"/>
            <a:ext cx="365760" cy="41148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E350B"/>
                </a:solidFill>
                <a:latin typeface="Calibri"/>
              </a:rPr>
              <a:t>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280" y="4956048"/>
            <a:ext cx="4754880" cy="41148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4A4A5E"/>
                </a:solidFill>
                <a:latin typeface="Calibri"/>
              </a:rPr>
              <a:t>Estimar sin CCM v1.8 + SME — error sistemático de pricing.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5486400"/>
            <a:ext cx="5376672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E3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0" y="5522976"/>
            <a:ext cx="365760" cy="41148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E350B"/>
                </a:solidFill>
                <a:latin typeface="Calibri"/>
              </a:rPr>
              <a:t>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2280" y="5522976"/>
            <a:ext cx="4754880" cy="41148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4A4A5E"/>
                </a:solidFill>
                <a:latin typeface="Calibri"/>
              </a:rPr>
              <a:t>Vender velocidad sin discutir el costo AMS de 3 años.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Accenture  |  Software &amp; Platform Engineering — Estrategia FY27 México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24160" y="6473952"/>
            <a:ext cx="118872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19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0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26517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828800" cy="5486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A100FF"/>
                </a:solidFill>
                <a:latin typeface="Georgia"/>
              </a:rPr>
              <a:t>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34440"/>
            <a:ext cx="10972800" cy="19202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3400" b="1" i="0">
                <a:solidFill>
                  <a:srgbClr val="FFFFFF"/>
                </a:solidFill>
                <a:latin typeface="Georgia"/>
              </a:rPr>
              <a:t>EL SOFTWARE QUE</a:t>
            </a:r>
          </a:p>
          <a:p>
            <a:pPr algn="l">
              <a:lnSpc>
                <a:spcPct val="103000"/>
              </a:lnSpc>
            </a:pPr>
            <a:r>
              <a:rPr sz="3400" b="1" i="0">
                <a:solidFill>
                  <a:srgbClr val="FFFFFF"/>
                </a:solidFill>
                <a:latin typeface="Georgia"/>
              </a:rPr>
              <a:t>CONSTRUIMOS HOY DEFINE</a:t>
            </a:r>
          </a:p>
          <a:p>
            <a:pPr algn="l">
              <a:lnSpc>
                <a:spcPct val="103000"/>
              </a:lnSpc>
            </a:pPr>
            <a:r>
              <a:rPr sz="3400" b="1" i="0">
                <a:solidFill>
                  <a:srgbClr val="FFFFFF"/>
                </a:solidFill>
                <a:latin typeface="Georgia"/>
              </a:rPr>
              <a:t>EL CORE DE MAÑANA.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429000"/>
            <a:ext cx="10789920" cy="64008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E0E0E0"/>
                </a:solidFill>
                <a:latin typeface="Calibri"/>
              </a:rPr>
              <a:t>Cambiamos las dolencias del cliente, cambiamos la unidad de medida (de AHR a estabilidad, KPIs e innovación) y crecemos en un TAM de $250B+. La oportunidad es para quien construye half-the-time, fraction-of-cost, better-quality — con disciplina de ingeniería, no promesas. Nosotros lo hacemos.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434840"/>
            <a:ext cx="100584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100FF"/>
                </a:solidFill>
                <a:latin typeface="Calibri"/>
              </a:rPr>
              <a:t>PRÓXIMOS 30 DÍAS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800600"/>
            <a:ext cx="3474720" cy="1325880"/>
          </a:xfrm>
          <a:prstGeom prst="rect">
            <a:avLst/>
          </a:prstGeom>
          <a:solidFill>
            <a:srgbClr val="3B0764"/>
          </a:solidFill>
          <a:ln w="12700">
            <a:solidFill>
              <a:srgbClr val="6B21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4892040"/>
            <a:ext cx="91440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A100FF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5257800"/>
            <a:ext cx="32004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Conduct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5559552"/>
            <a:ext cx="3200400" cy="5486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E0E0E0"/>
                </a:solidFill>
                <a:latin typeface="Calibri"/>
              </a:rPr>
              <a:t>Taller ejecutivo con el equipo S&amp;PE MX para alinear pipeline FY27 y prioridades por industria.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4800600"/>
            <a:ext cx="3474720" cy="1325880"/>
          </a:xfrm>
          <a:prstGeom prst="rect">
            <a:avLst/>
          </a:prstGeom>
          <a:solidFill>
            <a:srgbClr val="3B0764"/>
          </a:solidFill>
          <a:ln w="12700">
            <a:solidFill>
              <a:srgbClr val="6B21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07992" y="4892040"/>
            <a:ext cx="91440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A100FF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5257800"/>
            <a:ext cx="32004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Assess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5559552"/>
            <a:ext cx="3200400" cy="5486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E0E0E0"/>
                </a:solidFill>
                <a:latin typeface="Calibri"/>
              </a:rPr>
              <a:t>Evaluación de madurez del SDLC + DORA en las cuentas core e identificación de uplift a AI-Native Engineering.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4800600"/>
            <a:ext cx="3474720" cy="1325880"/>
          </a:xfrm>
          <a:prstGeom prst="rect">
            <a:avLst/>
          </a:prstGeom>
          <a:solidFill>
            <a:srgbClr val="3B0764"/>
          </a:solidFill>
          <a:ln w="12700">
            <a:solidFill>
              <a:srgbClr val="6B21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65592" y="4892040"/>
            <a:ext cx="914400" cy="36576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A100FF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2" y="5257800"/>
            <a:ext cx="3200400" cy="274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2" y="5559552"/>
            <a:ext cx="3200400" cy="5486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E0E0E0"/>
                </a:solidFill>
                <a:latin typeface="Calibri"/>
              </a:rPr>
              <a:t>Sesión de soluciones e innovación: roadmap por cuenta con caso de negocio y showcase de modernización.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1371600"/>
            <a:ext cx="1463040" cy="5486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1">
                <a:solidFill>
                  <a:srgbClr val="C084FC"/>
                </a:solidFill>
                <a:latin typeface="Georgia"/>
              </a:rPr>
              <a:t>Gracias.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572</TotalTime>
  <Words>2175</Words>
  <Application>Microsoft Office PowerPoint</Application>
  <PresentationFormat>Widescreen</PresentationFormat>
  <Paragraphs>372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Gallegos, Alejandro</cp:lastModifiedBy>
  <cp:revision>1</cp:revision>
  <dcterms:created xsi:type="dcterms:W3CDTF">2013-01-27T09:14:16Z</dcterms:created>
  <dcterms:modified xsi:type="dcterms:W3CDTF">2026-06-02T16:07:15Z</dcterms:modified>
  <cp:category/>
</cp:coreProperties>
</file>