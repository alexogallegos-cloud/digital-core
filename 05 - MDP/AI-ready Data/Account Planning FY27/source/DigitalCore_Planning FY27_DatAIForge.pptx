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EC9C40-C8F0-434A-8930-9B8A797450D0}" v="13" dt="2026-07-10T01:22:50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3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llegos, Alejandro" userId="7a0a55fa-7938-462f-86a3-ee9e344a5cc2" providerId="ADAL" clId="{78F901EC-5879-4A32-9A3E-0F0D8701D1BA}"/>
    <pc:docChg chg="undo redo custSel modSld">
      <pc:chgData name="Gallegos, Alejandro" userId="7a0a55fa-7938-462f-86a3-ee9e344a5cc2" providerId="ADAL" clId="{78F901EC-5879-4A32-9A3E-0F0D8701D1BA}" dt="2026-07-10T01:32:34.465" v="279" actId="20577"/>
      <pc:docMkLst>
        <pc:docMk/>
      </pc:docMkLst>
      <pc:sldChg chg="modSp mod">
        <pc:chgData name="Gallegos, Alejandro" userId="7a0a55fa-7938-462f-86a3-ee9e344a5cc2" providerId="ADAL" clId="{78F901EC-5879-4A32-9A3E-0F0D8701D1BA}" dt="2026-07-10T01:32:34.465" v="279" actId="20577"/>
        <pc:sldMkLst>
          <pc:docMk/>
          <pc:sldMk cId="0" sldId="258"/>
        </pc:sldMkLst>
        <pc:spChg chg="mod">
          <ac:chgData name="Gallegos, Alejandro" userId="7a0a55fa-7938-462f-86a3-ee9e344a5cc2" providerId="ADAL" clId="{78F901EC-5879-4A32-9A3E-0F0D8701D1BA}" dt="2026-07-10T01:28:52.120" v="256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30:52.941" v="260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29:05.544" v="258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31:17.861" v="268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32:34.465" v="279" actId="20577"/>
          <ac:spMkLst>
            <pc:docMk/>
            <pc:sldMk cId="0" sldId="258"/>
            <ac:spMk id="26" creationId="{5E447418-B8AB-C969-8FE0-2CA8A2F13E0D}"/>
          </ac:spMkLst>
        </pc:spChg>
      </pc:sldChg>
      <pc:sldChg chg="addSp delSp modSp mod">
        <pc:chgData name="Gallegos, Alejandro" userId="7a0a55fa-7938-462f-86a3-ee9e344a5cc2" providerId="ADAL" clId="{78F901EC-5879-4A32-9A3E-0F0D8701D1BA}" dt="2026-07-10T01:14:42.641" v="54" actId="1076"/>
        <pc:sldMkLst>
          <pc:docMk/>
          <pc:sldMk cId="0" sldId="259"/>
        </pc:sldMkLst>
        <pc:spChg chg="del">
          <ac:chgData name="Gallegos, Alejandro" userId="7a0a55fa-7938-462f-86a3-ee9e344a5cc2" providerId="ADAL" clId="{78F901EC-5879-4A32-9A3E-0F0D8701D1BA}" dt="2026-07-10T01:09:59.727" v="35" actId="478"/>
          <ac:spMkLst>
            <pc:docMk/>
            <pc:sldMk cId="0" sldId="259"/>
            <ac:spMk id="8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06:15.177" v="21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06:20.297" v="22" actId="14100"/>
          <ac:spMkLst>
            <pc:docMk/>
            <pc:sldMk cId="0" sldId="259"/>
            <ac:spMk id="12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1:10:09.312" v="37" actId="478"/>
          <ac:spMkLst>
            <pc:docMk/>
            <pc:sldMk cId="0" sldId="259"/>
            <ac:spMk id="1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06:15.177" v="21" actId="25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06:04.155" v="20" actId="255"/>
          <ac:spMkLst>
            <pc:docMk/>
            <pc:sldMk cId="0" sldId="259"/>
            <ac:spMk id="19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1:10:14.764" v="39" actId="478"/>
          <ac:spMkLst>
            <pc:docMk/>
            <pc:sldMk cId="0" sldId="259"/>
            <ac:spMk id="2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06:15.177" v="21" actId="255"/>
          <ac:spMkLst>
            <pc:docMk/>
            <pc:sldMk cId="0" sldId="259"/>
            <ac:spMk id="2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06:25.847" v="23" actId="14100"/>
          <ac:spMkLst>
            <pc:docMk/>
            <pc:sldMk cId="0" sldId="259"/>
            <ac:spMk id="26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1:11:05.121" v="43" actId="478"/>
          <ac:spMkLst>
            <pc:docMk/>
            <pc:sldMk cId="0" sldId="259"/>
            <ac:spMk id="51" creationId="{85A0F230-1FDE-A222-D10B-5347F0DB8027}"/>
          </ac:spMkLst>
        </pc:spChg>
        <pc:spChg chg="mod">
          <ac:chgData name="Gallegos, Alejandro" userId="7a0a55fa-7938-462f-86a3-ee9e344a5cc2" providerId="ADAL" clId="{78F901EC-5879-4A32-9A3E-0F0D8701D1BA}" dt="2026-07-10T01:06:15.177" v="21" actId="255"/>
          <ac:spMkLst>
            <pc:docMk/>
            <pc:sldMk cId="0" sldId="259"/>
            <ac:spMk id="53" creationId="{DC354937-F1F2-406A-5313-9B34223ACDDB}"/>
          </ac:spMkLst>
        </pc:spChg>
        <pc:spChg chg="del">
          <ac:chgData name="Gallegos, Alejandro" userId="7a0a55fa-7938-462f-86a3-ee9e344a5cc2" providerId="ADAL" clId="{78F901EC-5879-4A32-9A3E-0F0D8701D1BA}" dt="2026-07-10T01:12:39.262" v="47" actId="478"/>
          <ac:spMkLst>
            <pc:docMk/>
            <pc:sldMk cId="0" sldId="259"/>
            <ac:spMk id="58" creationId="{C9D3AE0F-C51A-F08B-7398-D7DC7A9F9DB5}"/>
          </ac:spMkLst>
        </pc:spChg>
        <pc:spChg chg="mod">
          <ac:chgData name="Gallegos, Alejandro" userId="7a0a55fa-7938-462f-86a3-ee9e344a5cc2" providerId="ADAL" clId="{78F901EC-5879-4A32-9A3E-0F0D8701D1BA}" dt="2026-07-10T01:06:15.177" v="21" actId="255"/>
          <ac:spMkLst>
            <pc:docMk/>
            <pc:sldMk cId="0" sldId="259"/>
            <ac:spMk id="60" creationId="{E5DA7970-5765-FE77-C517-E05A7246362F}"/>
          </ac:spMkLst>
        </pc:spChg>
        <pc:spChg chg="mod">
          <ac:chgData name="Gallegos, Alejandro" userId="7a0a55fa-7938-462f-86a3-ee9e344a5cc2" providerId="ADAL" clId="{78F901EC-5879-4A32-9A3E-0F0D8701D1BA}" dt="2026-07-10T01:06:32.756" v="25" actId="313"/>
          <ac:spMkLst>
            <pc:docMk/>
            <pc:sldMk cId="0" sldId="259"/>
            <ac:spMk id="62" creationId="{D8E13365-5AE0-E90A-3721-3B23B1FDFDE6}"/>
          </ac:spMkLst>
        </pc:spChg>
        <pc:spChg chg="del">
          <ac:chgData name="Gallegos, Alejandro" userId="7a0a55fa-7938-462f-86a3-ee9e344a5cc2" providerId="ADAL" clId="{78F901EC-5879-4A32-9A3E-0F0D8701D1BA}" dt="2026-07-10T01:13:08.049" v="51" actId="478"/>
          <ac:spMkLst>
            <pc:docMk/>
            <pc:sldMk cId="0" sldId="259"/>
            <ac:spMk id="65" creationId="{AD48855B-7341-9847-5150-AA4CB0E44B72}"/>
          </ac:spMkLst>
        </pc:spChg>
        <pc:spChg chg="mod">
          <ac:chgData name="Gallegos, Alejandro" userId="7a0a55fa-7938-462f-86a3-ee9e344a5cc2" providerId="ADAL" clId="{78F901EC-5879-4A32-9A3E-0F0D8701D1BA}" dt="2026-07-10T01:06:15.177" v="21" actId="255"/>
          <ac:spMkLst>
            <pc:docMk/>
            <pc:sldMk cId="0" sldId="259"/>
            <ac:spMk id="67" creationId="{909BD393-EAF4-193A-C513-2DB3B6448F0E}"/>
          </ac:spMkLst>
        </pc:spChg>
        <pc:spChg chg="mod">
          <ac:chgData name="Gallegos, Alejandro" userId="7a0a55fa-7938-462f-86a3-ee9e344a5cc2" providerId="ADAL" clId="{78F901EC-5879-4A32-9A3E-0F0D8701D1BA}" dt="2026-07-10T01:06:36.224" v="33" actId="20577"/>
          <ac:spMkLst>
            <pc:docMk/>
            <pc:sldMk cId="0" sldId="259"/>
            <ac:spMk id="69" creationId="{1254E075-DA42-6AB5-D196-09E13F67620B}"/>
          </ac:spMkLst>
        </pc:spChg>
        <pc:spChg chg="mod">
          <ac:chgData name="Gallegos, Alejandro" userId="7a0a55fa-7938-462f-86a3-ee9e344a5cc2" providerId="ADAL" clId="{78F901EC-5879-4A32-9A3E-0F0D8701D1BA}" dt="2026-07-10T01:06:41.079" v="34" actId="1076"/>
          <ac:spMkLst>
            <pc:docMk/>
            <pc:sldMk cId="0" sldId="259"/>
            <ac:spMk id="70" creationId="{7248C8B6-DCF1-474E-C170-A5A98EAA2C68}"/>
          </ac:spMkLst>
        </pc:spChg>
        <pc:picChg chg="add mod">
          <ac:chgData name="Gallegos, Alejandro" userId="7a0a55fa-7938-462f-86a3-ee9e344a5cc2" providerId="ADAL" clId="{78F901EC-5879-4A32-9A3E-0F0D8701D1BA}" dt="2026-07-10T01:10:00.217" v="36"/>
          <ac:picMkLst>
            <pc:docMk/>
            <pc:sldMk cId="0" sldId="259"/>
            <ac:picMk id="27" creationId="{D88772B6-4814-FA21-E690-C5E2FD2BEFB8}"/>
          </ac:picMkLst>
        </pc:picChg>
        <pc:picChg chg="add mod">
          <ac:chgData name="Gallegos, Alejandro" userId="7a0a55fa-7938-462f-86a3-ee9e344a5cc2" providerId="ADAL" clId="{78F901EC-5879-4A32-9A3E-0F0D8701D1BA}" dt="2026-07-10T01:10:09.779" v="38"/>
          <ac:picMkLst>
            <pc:docMk/>
            <pc:sldMk cId="0" sldId="259"/>
            <ac:picMk id="28" creationId="{59FF235F-E020-FA81-DE13-7BA98ACBC031}"/>
          </ac:picMkLst>
        </pc:picChg>
        <pc:picChg chg="add mod">
          <ac:chgData name="Gallegos, Alejandro" userId="7a0a55fa-7938-462f-86a3-ee9e344a5cc2" providerId="ADAL" clId="{78F901EC-5879-4A32-9A3E-0F0D8701D1BA}" dt="2026-07-10T01:10:34.041" v="42" actId="1076"/>
          <ac:picMkLst>
            <pc:docMk/>
            <pc:sldMk cId="0" sldId="259"/>
            <ac:picMk id="29" creationId="{386F54CA-9344-54BF-E95B-BC27D7783465}"/>
          </ac:picMkLst>
        </pc:picChg>
        <pc:picChg chg="add mod">
          <ac:chgData name="Gallegos, Alejandro" userId="7a0a55fa-7938-462f-86a3-ee9e344a5cc2" providerId="ADAL" clId="{78F901EC-5879-4A32-9A3E-0F0D8701D1BA}" dt="2026-07-10T01:10:30.150" v="41" actId="1076"/>
          <ac:picMkLst>
            <pc:docMk/>
            <pc:sldMk cId="0" sldId="259"/>
            <ac:picMk id="30" creationId="{4F585BD5-918C-39EC-DAE2-E1A4AF25863C}"/>
          </ac:picMkLst>
        </pc:picChg>
        <pc:picChg chg="add mod">
          <ac:chgData name="Gallegos, Alejandro" userId="7a0a55fa-7938-462f-86a3-ee9e344a5cc2" providerId="ADAL" clId="{78F901EC-5879-4A32-9A3E-0F0D8701D1BA}" dt="2026-07-10T01:12:36.983" v="46" actId="1076"/>
          <ac:picMkLst>
            <pc:docMk/>
            <pc:sldMk cId="0" sldId="259"/>
            <ac:picMk id="32" creationId="{44A6012F-A257-FA7A-A7E8-7C7072F74311}"/>
          </ac:picMkLst>
        </pc:picChg>
        <pc:picChg chg="add mod">
          <ac:chgData name="Gallegos, Alejandro" userId="7a0a55fa-7938-462f-86a3-ee9e344a5cc2" providerId="ADAL" clId="{78F901EC-5879-4A32-9A3E-0F0D8701D1BA}" dt="2026-07-10T01:13:05.791" v="50" actId="1076"/>
          <ac:picMkLst>
            <pc:docMk/>
            <pc:sldMk cId="0" sldId="259"/>
            <ac:picMk id="1026" creationId="{7C894377-39EB-7FDE-37F2-768692BB2333}"/>
          </ac:picMkLst>
        </pc:picChg>
        <pc:picChg chg="add mod">
          <ac:chgData name="Gallegos, Alejandro" userId="7a0a55fa-7938-462f-86a3-ee9e344a5cc2" providerId="ADAL" clId="{78F901EC-5879-4A32-9A3E-0F0D8701D1BA}" dt="2026-07-10T01:14:42.641" v="54" actId="1076"/>
          <ac:picMkLst>
            <pc:docMk/>
            <pc:sldMk cId="0" sldId="259"/>
            <ac:picMk id="1028" creationId="{7E3A0152-4B0D-5F01-F704-9CA89BF77FFD}"/>
          </ac:picMkLst>
        </pc:picChg>
      </pc:sldChg>
      <pc:sldChg chg="addSp delSp modSp mod">
        <pc:chgData name="Gallegos, Alejandro" userId="7a0a55fa-7938-462f-86a3-ee9e344a5cc2" providerId="ADAL" clId="{78F901EC-5879-4A32-9A3E-0F0D8701D1BA}" dt="2026-07-10T01:17:24.125" v="69" actId="207"/>
        <pc:sldMkLst>
          <pc:docMk/>
          <pc:sldMk cId="0" sldId="260"/>
        </pc:sldMkLst>
        <pc:spChg chg="add mod">
          <ac:chgData name="Gallegos, Alejandro" userId="7a0a55fa-7938-462f-86a3-ee9e344a5cc2" providerId="ADAL" clId="{78F901EC-5879-4A32-9A3E-0F0D8701D1BA}" dt="2026-07-10T01:16:02.263" v="61"/>
          <ac:spMkLst>
            <pc:docMk/>
            <pc:sldMk cId="0" sldId="260"/>
            <ac:spMk id="4" creationId="{E06E803D-50F8-8338-84CF-917CAE6E6FC1}"/>
          </ac:spMkLst>
        </pc:spChg>
        <pc:spChg chg="mod">
          <ac:chgData name="Gallegos, Alejandro" userId="7a0a55fa-7938-462f-86a3-ee9e344a5cc2" providerId="ADAL" clId="{78F901EC-5879-4A32-9A3E-0F0D8701D1BA}" dt="2026-07-10T01:16:13.163" v="62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16:13.163" v="62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16:13.163" v="62" actId="1076"/>
          <ac:spMkLst>
            <pc:docMk/>
            <pc:sldMk cId="0" sldId="260"/>
            <ac:spMk id="8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1:16:01.614" v="60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1:16:01.614" v="60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1:16:01.614" v="60" actId="478"/>
          <ac:spMkLst>
            <pc:docMk/>
            <pc:sldMk cId="0" sldId="260"/>
            <ac:spMk id="11" creationId="{00000000-0000-0000-0000-000000000000}"/>
          </ac:spMkLst>
        </pc:spChg>
        <pc:spChg chg="add mod">
          <ac:chgData name="Gallegos, Alejandro" userId="7a0a55fa-7938-462f-86a3-ee9e344a5cc2" providerId="ADAL" clId="{78F901EC-5879-4A32-9A3E-0F0D8701D1BA}" dt="2026-07-10T01:16:02.263" v="61"/>
          <ac:spMkLst>
            <pc:docMk/>
            <pc:sldMk cId="0" sldId="260"/>
            <ac:spMk id="17" creationId="{54918453-FB48-8FE5-CBB0-AD5E0870386F}"/>
          </ac:spMkLst>
        </pc:spChg>
        <pc:spChg chg="add mod">
          <ac:chgData name="Gallegos, Alejandro" userId="7a0a55fa-7938-462f-86a3-ee9e344a5cc2" providerId="ADAL" clId="{78F901EC-5879-4A32-9A3E-0F0D8701D1BA}" dt="2026-07-10T01:17:24.125" v="69" actId="207"/>
          <ac:spMkLst>
            <pc:docMk/>
            <pc:sldMk cId="0" sldId="260"/>
            <ac:spMk id="18" creationId="{4F49E557-B2C9-3AF5-6018-6563E8FB3DE0}"/>
          </ac:spMkLst>
        </pc:spChg>
      </pc:sldChg>
      <pc:sldChg chg="addSp delSp modSp mod">
        <pc:chgData name="Gallegos, Alejandro" userId="7a0a55fa-7938-462f-86a3-ee9e344a5cc2" providerId="ADAL" clId="{78F901EC-5879-4A32-9A3E-0F0D8701D1BA}" dt="2026-07-10T01:23:18.926" v="253" actId="20577"/>
        <pc:sldMkLst>
          <pc:docMk/>
          <pc:sldMk cId="0" sldId="261"/>
        </pc:sldMkLst>
        <pc:spChg chg="del">
          <ac:chgData name="Gallegos, Alejandro" userId="7a0a55fa-7938-462f-86a3-ee9e344a5cc2" providerId="ADAL" clId="{78F901EC-5879-4A32-9A3E-0F0D8701D1BA}" dt="2026-07-10T01:21:46.073" v="175" actId="478"/>
          <ac:spMkLst>
            <pc:docMk/>
            <pc:sldMk cId="0" sldId="261"/>
            <ac:spMk id="7" creationId="{00000000-0000-0000-0000-000000000000}"/>
          </ac:spMkLst>
        </pc:spChg>
        <pc:spChg chg="add del">
          <ac:chgData name="Gallegos, Alejandro" userId="7a0a55fa-7938-462f-86a3-ee9e344a5cc2" providerId="ADAL" clId="{78F901EC-5879-4A32-9A3E-0F0D8701D1BA}" dt="2026-07-10T01:22:43.704" v="193" actId="478"/>
          <ac:spMkLst>
            <pc:docMk/>
            <pc:sldMk cId="0" sldId="261"/>
            <ac:spMk id="8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21:48.234" v="176" actId="14100"/>
          <ac:spMkLst>
            <pc:docMk/>
            <pc:sldMk cId="0" sldId="261"/>
            <ac:spMk id="9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1:21:51.195" v="177" actId="478"/>
          <ac:spMkLst>
            <pc:docMk/>
            <pc:sldMk cId="0" sldId="261"/>
            <ac:spMk id="11" creationId="{00000000-0000-0000-0000-000000000000}"/>
          </ac:spMkLst>
        </pc:spChg>
        <pc:spChg chg="add del">
          <ac:chgData name="Gallegos, Alejandro" userId="7a0a55fa-7938-462f-86a3-ee9e344a5cc2" providerId="ADAL" clId="{78F901EC-5879-4A32-9A3E-0F0D8701D1BA}" dt="2026-07-10T01:22:43.452" v="192" actId="478"/>
          <ac:spMkLst>
            <pc:docMk/>
            <pc:sldMk cId="0" sldId="261"/>
            <ac:spMk id="1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23:18.926" v="253" actId="20577"/>
          <ac:spMkLst>
            <pc:docMk/>
            <pc:sldMk cId="0" sldId="261"/>
            <ac:spMk id="13" creationId="{00000000-0000-0000-0000-000000000000}"/>
          </ac:spMkLst>
        </pc:spChg>
        <pc:spChg chg="add del">
          <ac:chgData name="Gallegos, Alejandro" userId="7a0a55fa-7938-462f-86a3-ee9e344a5cc2" providerId="ADAL" clId="{78F901EC-5879-4A32-9A3E-0F0D8701D1BA}" dt="2026-07-10T01:22:44.026" v="195" actId="478"/>
          <ac:spMkLst>
            <pc:docMk/>
            <pc:sldMk cId="0" sldId="261"/>
            <ac:spMk id="15" creationId="{00000000-0000-0000-0000-000000000000}"/>
          </ac:spMkLst>
        </pc:spChg>
        <pc:spChg chg="add del">
          <ac:chgData name="Gallegos, Alejandro" userId="7a0a55fa-7938-462f-86a3-ee9e344a5cc2" providerId="ADAL" clId="{78F901EC-5879-4A32-9A3E-0F0D8701D1BA}" dt="2026-07-10T01:22:43.870" v="194" actId="478"/>
          <ac:spMkLst>
            <pc:docMk/>
            <pc:sldMk cId="0" sldId="261"/>
            <ac:spMk id="1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22:44.420" v="197" actId="1076"/>
          <ac:spMkLst>
            <pc:docMk/>
            <pc:sldMk cId="0" sldId="261"/>
            <ac:spMk id="17" creationId="{00000000-0000-0000-0000-000000000000}"/>
          </ac:spMkLst>
        </pc:spChg>
        <pc:picChg chg="add mod">
          <ac:chgData name="Gallegos, Alejandro" userId="7a0a55fa-7938-462f-86a3-ee9e344a5cc2" providerId="ADAL" clId="{78F901EC-5879-4A32-9A3E-0F0D8701D1BA}" dt="2026-07-10T01:22:50.650" v="199" actId="1076"/>
          <ac:picMkLst>
            <pc:docMk/>
            <pc:sldMk cId="0" sldId="261"/>
            <ac:picMk id="4" creationId="{C1182028-1537-1089-E235-FA27EDD64DAE}"/>
          </ac:picMkLst>
        </pc:picChg>
        <pc:picChg chg="add mod">
          <ac:chgData name="Gallegos, Alejandro" userId="7a0a55fa-7938-462f-86a3-ee9e344a5cc2" providerId="ADAL" clId="{78F901EC-5879-4A32-9A3E-0F0D8701D1BA}" dt="2026-07-10T01:22:50.650" v="199" actId="1076"/>
          <ac:picMkLst>
            <pc:docMk/>
            <pc:sldMk cId="0" sldId="261"/>
            <ac:picMk id="20" creationId="{E829F383-F5F7-0A9E-6B8B-6BAFC169F817}"/>
          </ac:picMkLst>
        </pc:picChg>
        <pc:picChg chg="add mod">
          <ac:chgData name="Gallegos, Alejandro" userId="7a0a55fa-7938-462f-86a3-ee9e344a5cc2" providerId="ADAL" clId="{78F901EC-5879-4A32-9A3E-0F0D8701D1BA}" dt="2026-07-10T01:22:50.650" v="199" actId="1076"/>
          <ac:picMkLst>
            <pc:docMk/>
            <pc:sldMk cId="0" sldId="261"/>
            <ac:picMk id="21" creationId="{D905138E-6727-5CAC-EC28-C06411012967}"/>
          </ac:picMkLst>
        </pc:picChg>
      </pc:sldChg>
      <pc:sldChg chg="modSp mod">
        <pc:chgData name="Gallegos, Alejandro" userId="7a0a55fa-7938-462f-86a3-ee9e344a5cc2" providerId="ADAL" clId="{78F901EC-5879-4A32-9A3E-0F0D8701D1BA}" dt="2026-07-10T01:21:12.564" v="170" actId="20577"/>
        <pc:sldMkLst>
          <pc:docMk/>
          <pc:sldMk cId="0" sldId="262"/>
        </pc:sldMkLst>
        <pc:spChg chg="mod">
          <ac:chgData name="Gallegos, Alejandro" userId="7a0a55fa-7938-462f-86a3-ee9e344a5cc2" providerId="ADAL" clId="{78F901EC-5879-4A32-9A3E-0F0D8701D1BA}" dt="2026-07-10T01:19:07.210" v="122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19:41.145" v="129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20:32.767" v="159" actId="2057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21:12.564" v="170" actId="2057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20:52.160" v="160" actId="108"/>
          <ac:spMkLst>
            <pc:docMk/>
            <pc:sldMk cId="0" sldId="262"/>
            <ac:spMk id="24" creationId="{03FFEADA-D8BA-DC83-BFDF-BCBC0B19A42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ldpl3f6co76b.cloudfront.net/hvm/catalogo-patrones-cobol-springboot.html" TargetMode="External"/><Relationship Id="rId5" Type="http://schemas.openxmlformats.org/officeDocument/2006/relationships/hyperlink" Target="https://dxgn80khk27eu.cloudfront.net/interoperabilidad/index.html" TargetMode="External"/><Relationship Id="rId4" Type="http://schemas.openxmlformats.org/officeDocument/2006/relationships/hyperlink" Target="https://dldpl3f6co76b.cloudfront.net/agent-patterns/digital-core-patterns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iagonal_stri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0000" cy="5143500"/>
          </a:xfrm>
          <a:prstGeom prst="rect">
            <a:avLst/>
          </a:prstGeom>
          <a:solidFill>
            <a:srgbClr val="2E00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950000"/>
            <a:ext cx="53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Digital </a:t>
            </a:r>
            <a:r>
              <a:rPr sz="5400" b="1">
                <a:solidFill>
                  <a:srgbClr val="D8D0E8"/>
                </a:solidFill>
                <a:latin typeface="Arial"/>
              </a:rPr>
              <a:t>C</a:t>
            </a:r>
            <a:r>
              <a:rPr sz="5400" b="1">
                <a:solidFill>
                  <a:srgbClr val="FFFFFF"/>
                </a:solidFill>
                <a:latin typeface="Arial"/>
              </a:rPr>
              <a:t>&gt;</a:t>
            </a:r>
            <a:r>
              <a:rPr sz="5400" b="1">
                <a:solidFill>
                  <a:srgbClr val="D8D0E8"/>
                </a:solidFill>
                <a:latin typeface="Arial"/>
              </a:rPr>
              <a:t>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980000"/>
            <a:ext cx="53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 dirty="0">
                <a:solidFill>
                  <a:srgbClr val="D8D0E8"/>
                </a:solidFill>
                <a:latin typeface="Arial"/>
              </a:rPr>
              <a:t>FY27 Planning</a:t>
            </a:r>
            <a:endParaRPr sz="1600" b="0" i="0" dirty="0">
              <a:solidFill>
                <a:srgbClr val="D8D0E8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480" y="4340000"/>
            <a:ext cx="5100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0" i="0" dirty="0">
                <a:solidFill>
                  <a:srgbClr val="D8D0E8"/>
                </a:solidFill>
                <a:latin typeface="Arial"/>
              </a:rPr>
              <a:t>Alejandro Gallegos</a:t>
            </a:r>
            <a:endParaRPr sz="1300" b="0" i="0" dirty="0">
              <a:solidFill>
                <a:srgbClr val="D8D0E8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4900000"/>
            <a:ext cx="300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00" b="0" i="0" dirty="0">
                <a:solidFill>
                  <a:srgbClr val="D8D0E8"/>
                </a:solidFill>
                <a:latin typeface="Arial"/>
              </a:rPr>
              <a:t>July</a:t>
            </a:r>
            <a:r>
              <a:rPr sz="900" b="0" i="0" dirty="0">
                <a:solidFill>
                  <a:srgbClr val="D8D0E8"/>
                </a:solidFill>
                <a:latin typeface="Arial"/>
              </a:rPr>
              <a:t> </a:t>
            </a:r>
            <a:r>
              <a:rPr lang="en-US" sz="900" b="0" i="0" dirty="0">
                <a:solidFill>
                  <a:srgbClr val="D8D0E8"/>
                </a:solidFill>
                <a:latin typeface="Arial"/>
              </a:rPr>
              <a:t>2026</a:t>
            </a:r>
            <a:r>
              <a:rPr sz="900" b="0" i="0" dirty="0">
                <a:solidFill>
                  <a:srgbClr val="D8D0E8"/>
                </a:solidFill>
                <a:latin typeface="Arial"/>
              </a:rPr>
              <a:t>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0000" y="4900000"/>
            <a:ext cx="278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© 2026 Accenture.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F7C42A-A71B-AD3F-3562-1A687778B7E5}"/>
              </a:ext>
            </a:extLst>
          </p:cNvPr>
          <p:cNvSpPr txBox="1"/>
          <p:nvPr/>
        </p:nvSpPr>
        <p:spPr>
          <a:xfrm>
            <a:off x="611480" y="3870000"/>
            <a:ext cx="5100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Arial"/>
              </a:rPr>
              <a:t>Data &amp; AI - Forge</a:t>
            </a:r>
            <a:endParaRPr sz="2200" b="1" i="0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700000"/>
            <a:ext cx="300000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7500C0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2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000" y="1520000"/>
            <a:ext cx="75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rgbClr val="1A1A1A"/>
                </a:solidFill>
                <a:latin typeface="Arial"/>
              </a:rPr>
              <a:t>Financial Overview</a:t>
            </a:r>
            <a:endParaRPr sz="16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0000" y="2090000"/>
            <a:ext cx="8100000" cy="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0000" y="217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" y="2170000"/>
            <a:ext cx="7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Arial"/>
              </a:rPr>
              <a:t>Key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2740000"/>
            <a:ext cx="8100000" cy="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000" y="282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" y="2820000"/>
            <a:ext cx="7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Estrategia GTM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3390000"/>
            <a:ext cx="8100000" cy="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0000" y="347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" y="3470000"/>
            <a:ext cx="7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Competidores principales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4040000"/>
            <a:ext cx="8100000" cy="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000" y="412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" y="4120000"/>
            <a:ext cx="75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Arial"/>
              </a:rPr>
              <a:t>Challenges </a:t>
            </a:r>
            <a:r>
              <a:rPr lang="en-US" sz="1600" b="1" i="0" dirty="0">
                <a:solidFill>
                  <a:srgbClr val="1A1A1A"/>
                </a:solidFill>
                <a:latin typeface="Arial"/>
              </a:rPr>
              <a:t>&amp;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sz="1600" b="1" dirty="0">
                <a:solidFill>
                  <a:srgbClr val="1A1A1A"/>
                </a:solidFill>
                <a:latin typeface="Arial"/>
              </a:rPr>
              <a:t>A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Arial"/>
              </a:rPr>
              <a:t>© 2026 Accenture.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00000"/>
            <a:ext cx="7500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2800" b="1" i="0" noProof="0" dirty="0">
                <a:solidFill>
                  <a:srgbClr val="7500C0"/>
                </a:solidFill>
                <a:latin typeface="Arial"/>
              </a:rPr>
              <a:t>Financial </a:t>
            </a:r>
            <a:r>
              <a:rPr lang="es-MX" sz="2800" b="1" i="0" noProof="0" dirty="0" err="1">
                <a:solidFill>
                  <a:srgbClr val="7500C0"/>
                </a:solidFill>
                <a:latin typeface="Arial"/>
              </a:rPr>
              <a:t>Overview</a:t>
            </a:r>
            <a:endParaRPr lang="es-MX" sz="2800" b="1" i="0" noProof="0" dirty="0">
              <a:solidFill>
                <a:srgbClr val="7500C0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540000"/>
            <a:ext cx="2700000" cy="150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Rectangle 6"/>
          <p:cNvSpPr/>
          <p:nvPr/>
        </p:nvSpPr>
        <p:spPr>
          <a:xfrm>
            <a:off x="411480" y="1540000"/>
            <a:ext cx="90000" cy="9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11480" y="1580000"/>
            <a:ext cx="245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200" b="1" i="0" noProof="0" dirty="0">
                <a:solidFill>
                  <a:srgbClr val="6E6E6E"/>
                </a:solidFill>
                <a:latin typeface="Arial"/>
              </a:rPr>
              <a:t>SALES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480" y="1870000"/>
            <a:ext cx="245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3600" b="1" i="0" noProof="0" dirty="0">
                <a:solidFill>
                  <a:srgbClr val="A100FF"/>
                </a:solidFill>
                <a:latin typeface="Arial"/>
              </a:rPr>
              <a:t>$12M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480" y="1540000"/>
            <a:ext cx="2700000" cy="150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291480" y="1540000"/>
            <a:ext cx="90000" cy="9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3491480" y="1580000"/>
            <a:ext cx="245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200" b="1" i="0" noProof="0" dirty="0">
                <a:solidFill>
                  <a:srgbClr val="6E6E6E"/>
                </a:solidFill>
                <a:latin typeface="Arial"/>
              </a:rPr>
              <a:t>REVENUE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1480" y="1870000"/>
            <a:ext cx="245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3600" b="1" i="0" noProof="0" dirty="0">
                <a:solidFill>
                  <a:srgbClr val="7500C0"/>
                </a:solidFill>
                <a:latin typeface="Arial"/>
              </a:rPr>
              <a:t>$11.2M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480" y="2816085"/>
            <a:ext cx="245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dirty="0">
                <a:solidFill>
                  <a:srgbClr val="555555"/>
                </a:solidFill>
              </a:rPr>
              <a:t>B2B: </a:t>
            </a:r>
            <a:r>
              <a:rPr lang="en-US" sz="1100" dirty="0">
                <a:solidFill>
                  <a:srgbClr val="555555"/>
                </a:solidFill>
              </a:rPr>
              <a:t>1.0</a:t>
            </a:r>
            <a:endParaRPr sz="1100" dirty="0">
              <a:solidFill>
                <a:srgbClr val="555555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71480" y="1540000"/>
            <a:ext cx="2700000" cy="150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171480" y="1540000"/>
            <a:ext cx="90000" cy="90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371480" y="1580000"/>
            <a:ext cx="245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200" b="1" i="0" noProof="0" dirty="0">
                <a:solidFill>
                  <a:srgbClr val="6E6E6E"/>
                </a:solidFill>
                <a:latin typeface="Arial"/>
              </a:rPr>
              <a:t>CCI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1480" y="1870000"/>
            <a:ext cx="245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3600" b="1" i="0" noProof="0" dirty="0">
                <a:solidFill>
                  <a:srgbClr val="460073"/>
                </a:solidFill>
                <a:latin typeface="Arial"/>
              </a:rPr>
              <a:t>33.8%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320000"/>
            <a:ext cx="90000" cy="9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611480" y="3320000"/>
            <a:ext cx="78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300" b="1" i="0" noProof="0" dirty="0">
                <a:solidFill>
                  <a:srgbClr val="7500C0"/>
                </a:solidFill>
                <a:latin typeface="Arial"/>
              </a:rPr>
              <a:t>Racional del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000" y="3585198"/>
            <a:ext cx="8300000" cy="7950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</a:pPr>
            <a:r>
              <a:rPr sz="900" b="0" dirty="0">
                <a:solidFill>
                  <a:srgbClr val="1A1A1A"/>
                </a:solidFill>
              </a:rPr>
              <a:t>• El target de </a:t>
            </a:r>
            <a:r>
              <a:rPr sz="900" b="0" dirty="0" err="1">
                <a:solidFill>
                  <a:srgbClr val="1A1A1A"/>
                </a:solidFill>
              </a:rPr>
              <a:t>ventas</a:t>
            </a:r>
            <a:r>
              <a:rPr sz="900" b="0" dirty="0">
                <a:solidFill>
                  <a:srgbClr val="1A1A1A"/>
                </a:solidFill>
              </a:rPr>
              <a:t> de $1</a:t>
            </a:r>
            <a:r>
              <a:rPr lang="en-US" sz="900" b="0" dirty="0">
                <a:solidFill>
                  <a:srgbClr val="1A1A1A"/>
                </a:solidFill>
              </a:rPr>
              <a:t>2</a:t>
            </a:r>
            <a:r>
              <a:rPr sz="900" b="0" dirty="0">
                <a:solidFill>
                  <a:srgbClr val="1A1A1A"/>
                </a:solidFill>
              </a:rPr>
              <a:t>M se </a:t>
            </a:r>
            <a:r>
              <a:rPr sz="900" b="0" dirty="0" err="1">
                <a:solidFill>
                  <a:srgbClr val="1A1A1A"/>
                </a:solidFill>
              </a:rPr>
              <a:t>sustenta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en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lang="en-US" sz="900" b="0" dirty="0">
                <a:solidFill>
                  <a:srgbClr val="1A1A1A"/>
                </a:solidFill>
              </a:rPr>
              <a:t>cross selling</a:t>
            </a:r>
            <a:r>
              <a:rPr sz="900" b="0" dirty="0">
                <a:solidFill>
                  <a:srgbClr val="1A1A1A"/>
                </a:solidFill>
              </a:rPr>
              <a:t> de </a:t>
            </a:r>
            <a:r>
              <a:rPr sz="900" b="0" dirty="0" err="1">
                <a:solidFill>
                  <a:srgbClr val="1A1A1A"/>
                </a:solidFill>
              </a:rPr>
              <a:t>contratos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activos</a:t>
            </a:r>
            <a:r>
              <a:rPr sz="900" b="0" dirty="0">
                <a:solidFill>
                  <a:srgbClr val="1A1A1A"/>
                </a:solidFill>
              </a:rPr>
              <a:t> (BanCoppel, Banorte, Coppel), </a:t>
            </a:r>
            <a:r>
              <a:rPr sz="900" b="0" dirty="0" err="1">
                <a:solidFill>
                  <a:srgbClr val="1A1A1A"/>
                </a:solidFill>
              </a:rPr>
              <a:t>cuentas</a:t>
            </a:r>
            <a:r>
              <a:rPr sz="900" b="0" dirty="0">
                <a:solidFill>
                  <a:srgbClr val="1A1A1A"/>
                </a:solidFill>
              </a:rPr>
              <a:t> greenfield (Actinver $1.2M, Arca $0.8M, Volaris $0.4M) y la </a:t>
            </a:r>
            <a:r>
              <a:rPr sz="900" b="0" dirty="0" err="1">
                <a:solidFill>
                  <a:srgbClr val="1A1A1A"/>
                </a:solidFill>
              </a:rPr>
              <a:t>separacion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corporativa</a:t>
            </a:r>
            <a:r>
              <a:rPr sz="900" b="0" dirty="0">
                <a:solidFill>
                  <a:srgbClr val="1A1A1A"/>
                </a:solidFill>
              </a:rPr>
              <a:t> Banamex — con deals </a:t>
            </a:r>
            <a:r>
              <a:rPr sz="900" b="0" dirty="0" err="1">
                <a:solidFill>
                  <a:srgbClr val="1A1A1A"/>
                </a:solidFill>
              </a:rPr>
              <a:t>concentrados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en</a:t>
            </a:r>
            <a:r>
              <a:rPr sz="900" b="0" dirty="0">
                <a:solidFill>
                  <a:srgbClr val="1A1A1A"/>
                </a:solidFill>
              </a:rPr>
              <a:t> Q1-Q2 para </a:t>
            </a:r>
            <a:r>
              <a:rPr sz="900" b="0" dirty="0" err="1">
                <a:solidFill>
                  <a:srgbClr val="1A1A1A"/>
                </a:solidFill>
              </a:rPr>
              <a:t>generar</a:t>
            </a:r>
            <a:r>
              <a:rPr sz="900" b="0" dirty="0">
                <a:solidFill>
                  <a:srgbClr val="1A1A1A"/>
                </a:solidFill>
              </a:rPr>
              <a:t> ramp </a:t>
            </a:r>
            <a:r>
              <a:rPr sz="900" b="0" dirty="0" err="1">
                <a:solidFill>
                  <a:srgbClr val="1A1A1A"/>
                </a:solidFill>
              </a:rPr>
              <a:t>creciente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hacia</a:t>
            </a:r>
            <a:r>
              <a:rPr sz="900" b="0" dirty="0">
                <a:solidFill>
                  <a:srgbClr val="1A1A1A"/>
                </a:solidFill>
              </a:rPr>
              <a:t> H2.</a:t>
            </a:r>
          </a:p>
          <a:p>
            <a:pPr>
              <a:spcBef>
                <a:spcPts val="400"/>
              </a:spcBef>
            </a:pPr>
            <a:r>
              <a:rPr sz="900" b="0" dirty="0">
                <a:solidFill>
                  <a:srgbClr val="1A1A1A"/>
                </a:solidFill>
              </a:rPr>
              <a:t>• El revenue target de $1</a:t>
            </a:r>
            <a:r>
              <a:rPr lang="en-US" sz="900" b="0" dirty="0">
                <a:solidFill>
                  <a:srgbClr val="1A1A1A"/>
                </a:solidFill>
              </a:rPr>
              <a:t>1</a:t>
            </a:r>
            <a:r>
              <a:rPr sz="900" b="0" dirty="0">
                <a:solidFill>
                  <a:srgbClr val="1A1A1A"/>
                </a:solidFill>
              </a:rPr>
              <a:t>M </a:t>
            </a:r>
            <a:r>
              <a:rPr sz="900" b="0" dirty="0" err="1">
                <a:solidFill>
                  <a:srgbClr val="1A1A1A"/>
                </a:solidFill>
              </a:rPr>
              <a:t>tiene</a:t>
            </a:r>
            <a:r>
              <a:rPr sz="900" b="0" dirty="0">
                <a:solidFill>
                  <a:srgbClr val="1A1A1A"/>
                </a:solidFill>
              </a:rPr>
              <a:t> bajo </a:t>
            </a:r>
            <a:r>
              <a:rPr sz="900" b="0" dirty="0" err="1">
                <a:solidFill>
                  <a:srgbClr val="1A1A1A"/>
                </a:solidFill>
              </a:rPr>
              <a:t>riesgo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en</a:t>
            </a:r>
            <a:r>
              <a:rPr sz="900" b="0" dirty="0">
                <a:solidFill>
                  <a:srgbClr val="1A1A1A"/>
                </a:solidFill>
              </a:rPr>
              <a:t> H1: </a:t>
            </a:r>
            <a:r>
              <a:rPr sz="900" b="0" dirty="0" err="1">
                <a:solidFill>
                  <a:srgbClr val="1A1A1A"/>
                </a:solidFill>
              </a:rPr>
              <a:t>el</a:t>
            </a:r>
            <a:r>
              <a:rPr sz="900" b="0" dirty="0">
                <a:solidFill>
                  <a:srgbClr val="1A1A1A"/>
                </a:solidFill>
              </a:rPr>
              <a:t> backlog </a:t>
            </a:r>
            <a:r>
              <a:rPr sz="900" b="0" dirty="0" err="1">
                <a:solidFill>
                  <a:srgbClr val="1A1A1A"/>
                </a:solidFill>
              </a:rPr>
              <a:t>ya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contratado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cubre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el</a:t>
            </a:r>
            <a:r>
              <a:rPr sz="900" b="0" dirty="0">
                <a:solidFill>
                  <a:srgbClr val="1A1A1A"/>
                </a:solidFill>
              </a:rPr>
              <a:t> 65% de la meta ($7.9M </a:t>
            </a:r>
            <a:r>
              <a:rPr sz="900" b="0" dirty="0" err="1">
                <a:solidFill>
                  <a:srgbClr val="1A1A1A"/>
                </a:solidFill>
              </a:rPr>
              <a:t>asegurados</a:t>
            </a:r>
            <a:r>
              <a:rPr sz="900" b="0" dirty="0">
                <a:solidFill>
                  <a:srgbClr val="1A1A1A"/>
                </a:solidFill>
              </a:rPr>
              <a:t>), con </a:t>
            </a:r>
            <a:r>
              <a:rPr sz="900" b="0" dirty="0" err="1">
                <a:solidFill>
                  <a:srgbClr val="1A1A1A"/>
                </a:solidFill>
              </a:rPr>
              <a:t>perfil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creciente</a:t>
            </a:r>
            <a:r>
              <a:rPr sz="900" b="0" dirty="0">
                <a:solidFill>
                  <a:srgbClr val="1A1A1A"/>
                </a:solidFill>
              </a:rPr>
              <a:t> de $2.25M </a:t>
            </a:r>
            <a:r>
              <a:rPr sz="900" b="0" dirty="0" err="1">
                <a:solidFill>
                  <a:srgbClr val="1A1A1A"/>
                </a:solidFill>
              </a:rPr>
              <a:t>en</a:t>
            </a:r>
            <a:r>
              <a:rPr sz="900" b="0" dirty="0">
                <a:solidFill>
                  <a:srgbClr val="1A1A1A"/>
                </a:solidFill>
              </a:rPr>
              <a:t> Q1 a $3.67M </a:t>
            </a:r>
            <a:r>
              <a:rPr sz="900" b="0" dirty="0" err="1">
                <a:solidFill>
                  <a:srgbClr val="1A1A1A"/>
                </a:solidFill>
              </a:rPr>
              <a:t>en</a:t>
            </a:r>
            <a:r>
              <a:rPr sz="900" b="0" dirty="0">
                <a:solidFill>
                  <a:srgbClr val="1A1A1A"/>
                </a:solidFill>
              </a:rPr>
              <a:t> Q4.</a:t>
            </a:r>
          </a:p>
          <a:p>
            <a:pPr>
              <a:spcBef>
                <a:spcPts val="400"/>
              </a:spcBef>
            </a:pPr>
            <a:r>
              <a:rPr sz="900" b="0" dirty="0">
                <a:solidFill>
                  <a:srgbClr val="1A1A1A"/>
                </a:solidFill>
              </a:rPr>
              <a:t>• El CCI target de 33.8% </a:t>
            </a:r>
            <a:r>
              <a:rPr sz="900" b="0" dirty="0" err="1">
                <a:solidFill>
                  <a:srgbClr val="1A1A1A"/>
                </a:solidFill>
              </a:rPr>
              <a:t>refleja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una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mejora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significativa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frente</a:t>
            </a:r>
            <a:r>
              <a:rPr sz="900" b="0" dirty="0">
                <a:solidFill>
                  <a:srgbClr val="1A1A1A"/>
                </a:solidFill>
              </a:rPr>
              <a:t> al </a:t>
            </a:r>
            <a:r>
              <a:rPr sz="900" b="0" dirty="0" err="1">
                <a:solidFill>
                  <a:srgbClr val="1A1A1A"/>
                </a:solidFill>
              </a:rPr>
              <a:t>promedio</a:t>
            </a:r>
            <a:r>
              <a:rPr sz="900" b="0" dirty="0">
                <a:solidFill>
                  <a:srgbClr val="1A1A1A"/>
                </a:solidFill>
              </a:rPr>
              <a:t> actual de la practica DATA (21.2%), </a:t>
            </a:r>
            <a:r>
              <a:rPr sz="900" b="0" dirty="0" err="1">
                <a:solidFill>
                  <a:srgbClr val="1A1A1A"/>
                </a:solidFill>
              </a:rPr>
              <a:t>impulsada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por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cuentas</a:t>
            </a:r>
            <a:r>
              <a:rPr sz="900" b="0" dirty="0">
                <a:solidFill>
                  <a:srgbClr val="1A1A1A"/>
                </a:solidFill>
              </a:rPr>
              <a:t> greenfield de alto </a:t>
            </a:r>
            <a:r>
              <a:rPr sz="900" b="0" dirty="0" err="1">
                <a:solidFill>
                  <a:srgbClr val="1A1A1A"/>
                </a:solidFill>
              </a:rPr>
              <a:t>margen</a:t>
            </a:r>
            <a:r>
              <a:rPr sz="900" b="0" dirty="0">
                <a:solidFill>
                  <a:srgbClr val="1A1A1A"/>
                </a:solidFill>
              </a:rPr>
              <a:t> (Actinver 41%, </a:t>
            </a:r>
            <a:r>
              <a:rPr lang="en-US" sz="900" b="0" dirty="0" err="1">
                <a:solidFill>
                  <a:srgbClr val="1A1A1A"/>
                </a:solidFill>
              </a:rPr>
              <a:t>Gentera</a:t>
            </a:r>
            <a:r>
              <a:rPr sz="900" b="0" dirty="0">
                <a:solidFill>
                  <a:srgbClr val="1A1A1A"/>
                </a:solidFill>
              </a:rPr>
              <a:t> 41%) y </a:t>
            </a:r>
            <a:r>
              <a:rPr sz="900" b="0" dirty="0" err="1">
                <a:solidFill>
                  <a:srgbClr val="1A1A1A"/>
                </a:solidFill>
              </a:rPr>
              <a:t>disciplina</a:t>
            </a:r>
            <a:r>
              <a:rPr sz="900" b="0" dirty="0">
                <a:solidFill>
                  <a:srgbClr val="1A1A1A"/>
                </a:solidFill>
              </a:rPr>
              <a:t> de pricing </a:t>
            </a:r>
            <a:r>
              <a:rPr sz="900" b="0" dirty="0" err="1">
                <a:solidFill>
                  <a:srgbClr val="1A1A1A"/>
                </a:solidFill>
              </a:rPr>
              <a:t>en</a:t>
            </a:r>
            <a:r>
              <a:rPr sz="900" b="0" dirty="0">
                <a:solidFill>
                  <a:srgbClr val="1A1A1A"/>
                </a:solidFill>
              </a:rPr>
              <a:t> </a:t>
            </a:r>
            <a:r>
              <a:rPr sz="900" b="0" dirty="0" err="1">
                <a:solidFill>
                  <a:srgbClr val="1A1A1A"/>
                </a:solidFill>
              </a:rPr>
              <a:t>nuevos</a:t>
            </a:r>
            <a:r>
              <a:rPr sz="900" b="0" dirty="0">
                <a:solidFill>
                  <a:srgbClr val="1A1A1A"/>
                </a:solidFill>
              </a:rPr>
              <a:t> deals SI.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© 2026 Accenture.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All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rights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reserved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447418-B8AB-C969-8FE0-2CA8A2F13E0D}"/>
              </a:ext>
            </a:extLst>
          </p:cNvPr>
          <p:cNvSpPr txBox="1"/>
          <p:nvPr/>
        </p:nvSpPr>
        <p:spPr>
          <a:xfrm>
            <a:off x="3593880" y="2822400"/>
            <a:ext cx="245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dirty="0">
                <a:solidFill>
                  <a:srgbClr val="555555"/>
                </a:solidFill>
              </a:rPr>
              <a:t>GILC:  </a:t>
            </a:r>
            <a:r>
              <a:rPr lang="en-US" sz="1100" dirty="0">
                <a:solidFill>
                  <a:srgbClr val="555555"/>
                </a:solidFill>
              </a:rPr>
              <a:t>+1.37</a:t>
            </a:r>
            <a:endParaRPr sz="1100" dirty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00621"/>
            <a:ext cx="75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2800" b="1" i="0" noProof="0" dirty="0">
                <a:solidFill>
                  <a:srgbClr val="7500C0"/>
                </a:solidFill>
                <a:latin typeface="Arial"/>
              </a:rPr>
              <a:t>Key </a:t>
            </a:r>
            <a:r>
              <a:rPr lang="es-MX" sz="2800" b="1" i="0" noProof="0" dirty="0" err="1">
                <a:solidFill>
                  <a:srgbClr val="7500C0"/>
                </a:solidFill>
                <a:latin typeface="Arial"/>
              </a:rPr>
              <a:t>clients</a:t>
            </a:r>
            <a:endParaRPr lang="es-MX" sz="2800" b="1" i="0" noProof="0" dirty="0">
              <a:solidFill>
                <a:srgbClr val="7500C0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38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Rectangle 6"/>
          <p:cNvSpPr/>
          <p:nvPr/>
        </p:nvSpPr>
        <p:spPr>
          <a:xfrm>
            <a:off x="411480" y="138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91480" y="171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B0099"/>
                </a:solidFill>
              </a:rPr>
              <a:t>Data Modernization — Informix SPL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480" y="1900000"/>
            <a:ext cx="24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900" noProof="0" dirty="0"/>
              <a:t>Modernización de core bancario, Plan Director y Proyecto de Value 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571" y="225285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850" b="1" i="0" noProof="0" dirty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570" y="2428120"/>
            <a:ext cx="2353909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s-MX" sz="900" noProof="0" dirty="0"/>
              <a:t>Células de modernización de datos para el Proyecto de Atlas </a:t>
            </a:r>
          </a:p>
          <a:p>
            <a:r>
              <a:rPr lang="es-MX" sz="900" noProof="0" dirty="0"/>
              <a:t>Must Win: 600K Q2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480" y="138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Rectangle 13"/>
          <p:cNvSpPr/>
          <p:nvPr/>
        </p:nvSpPr>
        <p:spPr>
          <a:xfrm>
            <a:off x="3291480" y="138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3471480" y="171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B0099"/>
                </a:solidFill>
              </a:rPr>
              <a:t>Corporate Data Separation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1480" y="1900000"/>
            <a:ext cx="240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900" noProof="0" dirty="0"/>
              <a:t>Cloud readiness, Mainframe Reverse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1480" y="225285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850" b="1" i="0" noProof="0" dirty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1480" y="2428120"/>
            <a:ext cx="24000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s-MX" sz="900" noProof="0" dirty="0"/>
              <a:t>Migración de datos corporativos, Mainframe Modernization</a:t>
            </a:r>
          </a:p>
          <a:p>
            <a:r>
              <a:rPr lang="es-MX" sz="900" noProof="0" dirty="0"/>
              <a:t>Must Win: 1.2M Q3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1480" y="138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1" name="Rectangle 20"/>
          <p:cNvSpPr/>
          <p:nvPr/>
        </p:nvSpPr>
        <p:spPr>
          <a:xfrm>
            <a:off x="6171480" y="138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351480" y="171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7B0099"/>
                </a:solidFill>
              </a:rPr>
              <a:t>Data Modernization — Wealth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480" y="1900000"/>
            <a:ext cx="240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s-MX" sz="900" noProof="0" dirty="0"/>
              <a:t>Core Banking Modernization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480" y="225285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850" b="1" i="0" noProof="0" dirty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3880" y="2428120"/>
            <a:ext cx="23676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s-MX" sz="900" noProof="0" dirty="0"/>
              <a:t>Greenfield DM&amp;M: modernización data and Governance</a:t>
            </a:r>
          </a:p>
          <a:p>
            <a:r>
              <a:rPr lang="es-MX" sz="900" noProof="0" dirty="0"/>
              <a:t>Must Win:2.4M Q2 (Gentera)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27E8B-956D-C2FE-A6AE-B4C640B0F8EA}"/>
              </a:ext>
            </a:extLst>
          </p:cNvPr>
          <p:cNvSpPr/>
          <p:nvPr/>
        </p:nvSpPr>
        <p:spPr>
          <a:xfrm>
            <a:off x="413880" y="3188264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BDFD0FF-D290-E791-F93F-0CD17DBB2537}"/>
              </a:ext>
            </a:extLst>
          </p:cNvPr>
          <p:cNvSpPr/>
          <p:nvPr/>
        </p:nvSpPr>
        <p:spPr>
          <a:xfrm>
            <a:off x="413880" y="3188264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E0E61C-8465-0251-BB68-536A7DDBA33B}"/>
              </a:ext>
            </a:extLst>
          </p:cNvPr>
          <p:cNvSpPr txBox="1"/>
          <p:nvPr/>
        </p:nvSpPr>
        <p:spPr>
          <a:xfrm>
            <a:off x="593880" y="3518264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850" b="1" i="0" noProof="0" dirty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354937-F1F2-406A-5313-9B34223ACDDB}"/>
              </a:ext>
            </a:extLst>
          </p:cNvPr>
          <p:cNvSpPr txBox="1"/>
          <p:nvPr/>
        </p:nvSpPr>
        <p:spPr>
          <a:xfrm>
            <a:off x="593880" y="3708264"/>
            <a:ext cx="240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900" noProof="0" dirty="0"/>
              <a:t>AMS de SAP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6100AB-9309-7663-125D-C96713A1C6ED}"/>
              </a:ext>
            </a:extLst>
          </p:cNvPr>
          <p:cNvSpPr txBox="1"/>
          <p:nvPr/>
        </p:nvSpPr>
        <p:spPr>
          <a:xfrm>
            <a:off x="607571" y="407438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850" b="1" i="0" noProof="0" dirty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90DA78C-A89E-E39A-FB09-C4B91C277B5A}"/>
              </a:ext>
            </a:extLst>
          </p:cNvPr>
          <p:cNvSpPr/>
          <p:nvPr/>
        </p:nvSpPr>
        <p:spPr>
          <a:xfrm>
            <a:off x="3293880" y="3188264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53F7BA1-1366-A4A1-F5AE-9785EE373B08}"/>
              </a:ext>
            </a:extLst>
          </p:cNvPr>
          <p:cNvSpPr/>
          <p:nvPr/>
        </p:nvSpPr>
        <p:spPr>
          <a:xfrm>
            <a:off x="3293880" y="3188264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F7F1A6-8759-6622-6A60-AB916A8A2C4A}"/>
              </a:ext>
            </a:extLst>
          </p:cNvPr>
          <p:cNvSpPr txBox="1"/>
          <p:nvPr/>
        </p:nvSpPr>
        <p:spPr>
          <a:xfrm>
            <a:off x="3473880" y="3518264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850" b="1" i="0" noProof="0" dirty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DA7970-5765-FE77-C517-E05A7246362F}"/>
              </a:ext>
            </a:extLst>
          </p:cNvPr>
          <p:cNvSpPr txBox="1"/>
          <p:nvPr/>
        </p:nvSpPr>
        <p:spPr>
          <a:xfrm>
            <a:off x="3473880" y="3708264"/>
            <a:ext cx="240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900" noProof="0" dirty="0"/>
              <a:t>Cloud readiness, Mainframe Reverse Engineering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D091F6-91D2-6F75-E1CF-0B2CDD3BBC99}"/>
              </a:ext>
            </a:extLst>
          </p:cNvPr>
          <p:cNvSpPr txBox="1"/>
          <p:nvPr/>
        </p:nvSpPr>
        <p:spPr>
          <a:xfrm>
            <a:off x="3473880" y="407438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850" b="1" i="0" noProof="0" dirty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E13365-5AE0-E90A-3721-3B23B1FDFDE6}"/>
              </a:ext>
            </a:extLst>
          </p:cNvPr>
          <p:cNvSpPr txBox="1"/>
          <p:nvPr/>
        </p:nvSpPr>
        <p:spPr>
          <a:xfrm>
            <a:off x="3473880" y="4246970"/>
            <a:ext cx="24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s-MX" sz="900" noProof="0" dirty="0"/>
              <a:t>Migración de datos corporativos, Mainframe Modernization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B5B8007-08BA-C479-B3D9-E9941DF86D56}"/>
              </a:ext>
            </a:extLst>
          </p:cNvPr>
          <p:cNvSpPr/>
          <p:nvPr/>
        </p:nvSpPr>
        <p:spPr>
          <a:xfrm>
            <a:off x="6173880" y="3188264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C5995CE-AF2B-71D9-1BAA-381A4BA289AE}"/>
              </a:ext>
            </a:extLst>
          </p:cNvPr>
          <p:cNvSpPr/>
          <p:nvPr/>
        </p:nvSpPr>
        <p:spPr>
          <a:xfrm>
            <a:off x="6173880" y="3188264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746732-A8EA-E2AD-F9E5-5654761A0D43}"/>
              </a:ext>
            </a:extLst>
          </p:cNvPr>
          <p:cNvSpPr txBox="1"/>
          <p:nvPr/>
        </p:nvSpPr>
        <p:spPr>
          <a:xfrm>
            <a:off x="6353880" y="3518264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850" b="1" i="0" noProof="0" dirty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9BD393-EAF4-193A-C513-2DB3B6448F0E}"/>
              </a:ext>
            </a:extLst>
          </p:cNvPr>
          <p:cNvSpPr txBox="1"/>
          <p:nvPr/>
        </p:nvSpPr>
        <p:spPr>
          <a:xfrm>
            <a:off x="6353880" y="3708264"/>
            <a:ext cx="240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s-MX" sz="900" noProof="0" dirty="0"/>
              <a:t>Fábricas de Desarrollo y celular de datos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FAAEB5-9A60-78EF-7C7C-58C4EC7936A7}"/>
              </a:ext>
            </a:extLst>
          </p:cNvPr>
          <p:cNvSpPr txBox="1"/>
          <p:nvPr/>
        </p:nvSpPr>
        <p:spPr>
          <a:xfrm>
            <a:off x="6353880" y="407438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850" b="1" i="0" noProof="0" dirty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54E075-DA42-6AB5-D196-09E13F67620B}"/>
              </a:ext>
            </a:extLst>
          </p:cNvPr>
          <p:cNvSpPr txBox="1"/>
          <p:nvPr/>
        </p:nvSpPr>
        <p:spPr>
          <a:xfrm>
            <a:off x="6351480" y="4249975"/>
            <a:ext cx="24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s-MX" sz="900" noProof="0" dirty="0"/>
              <a:t>Extensiones de células de datos relacionados a su estrategia de Snowflake y otros: Must Win 400K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48C8B6-DCF1-474E-C170-A5A98EAA2C68}"/>
              </a:ext>
            </a:extLst>
          </p:cNvPr>
          <p:cNvSpPr txBox="1"/>
          <p:nvPr/>
        </p:nvSpPr>
        <p:spPr>
          <a:xfrm>
            <a:off x="591480" y="4274380"/>
            <a:ext cx="24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s-MX" sz="900" noProof="0" dirty="0"/>
              <a:t>Células de datos para la habilitación de su estrategia de AI: 400K Q2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88772B6-4814-FA21-E690-C5E2FD2BE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80" y="1413304"/>
            <a:ext cx="746588" cy="166469"/>
          </a:xfrm>
          <a:prstGeom prst="rect">
            <a:avLst/>
          </a:prstGeom>
        </p:spPr>
      </p:pic>
      <p:pic>
        <p:nvPicPr>
          <p:cNvPr id="28" name="Picture 6" descr="Citibanamex Logo, symbol, meaning, history, PNG, brand">
            <a:extLst>
              <a:ext uri="{FF2B5EF4-FFF2-40B4-BE49-F238E27FC236}">
                <a16:creationId xmlns:a16="http://schemas.microsoft.com/office/drawing/2014/main" id="{59FF235F-E020-FA81-DE13-7BA98ACBC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794" y="1328000"/>
            <a:ext cx="694686" cy="39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86F54CA-9344-54BF-E95B-BC27D77834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552" y="1436049"/>
            <a:ext cx="608708" cy="176634"/>
          </a:xfrm>
          <a:prstGeom prst="rect">
            <a:avLst/>
          </a:prstGeom>
        </p:spPr>
      </p:pic>
      <p:pic>
        <p:nvPicPr>
          <p:cNvPr id="30" name="Picture 12" descr="Logo de Gentera, S.A.B. de C.V. aux formats PNG transparent et SVG ...">
            <a:extLst>
              <a:ext uri="{FF2B5EF4-FFF2-40B4-BE49-F238E27FC236}">
                <a16:creationId xmlns:a16="http://schemas.microsoft.com/office/drawing/2014/main" id="{4F585BD5-918C-39EC-DAE2-E1A4AF258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040" y="1429366"/>
            <a:ext cx="591480" cy="14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4A6012F-A257-FA7A-A7E8-7C7072F743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561" y="3180855"/>
            <a:ext cx="599838" cy="337409"/>
          </a:xfrm>
          <a:prstGeom prst="rect">
            <a:avLst/>
          </a:prstGeom>
        </p:spPr>
      </p:pic>
      <p:pic>
        <p:nvPicPr>
          <p:cNvPr id="1026" name="Picture 2" descr="Arca Continental - Wikipedia">
            <a:extLst>
              <a:ext uri="{FF2B5EF4-FFF2-40B4-BE49-F238E27FC236}">
                <a16:creationId xmlns:a16="http://schemas.microsoft.com/office/drawing/2014/main" id="{7C894377-39EB-7FDE-37F2-768692BB2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197" y="3188264"/>
            <a:ext cx="455282" cy="30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antander Logo: valor, história, PNG">
            <a:extLst>
              <a:ext uri="{FF2B5EF4-FFF2-40B4-BE49-F238E27FC236}">
                <a16:creationId xmlns:a16="http://schemas.microsoft.com/office/drawing/2014/main" id="{7E3A0152-4B0D-5F01-F704-9CA89BF77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480" y="3123028"/>
            <a:ext cx="702642" cy="395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00000"/>
            <a:ext cx="75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2800" b="1" i="0" noProof="0" dirty="0">
                <a:solidFill>
                  <a:srgbClr val="7500C0"/>
                </a:solidFill>
                <a:latin typeface="Arial"/>
              </a:rPr>
              <a:t>Estrategia GTM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7942" y="1371336"/>
            <a:ext cx="70000" cy="7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17942" y="1357336"/>
            <a:ext cx="83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Foros internos y externos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42" y="1591339"/>
            <a:ext cx="820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dirty="0">
                <a:solidFill>
                  <a:srgbClr val="1A1A1A"/>
                </a:solidFill>
              </a:rPr>
              <a:t>Thought leadership: </a:t>
            </a:r>
            <a:r>
              <a:rPr sz="900" b="0" dirty="0">
                <a:solidFill>
                  <a:srgbClr val="555555"/>
                </a:solidFill>
              </a:rPr>
              <a:t>"No </a:t>
            </a:r>
            <a:r>
              <a:rPr sz="900" b="0" dirty="0" err="1">
                <a:solidFill>
                  <a:srgbClr val="555555"/>
                </a:solidFill>
              </a:rPr>
              <a:t>migramos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datos</a:t>
            </a:r>
            <a:r>
              <a:rPr sz="900" b="0" dirty="0">
                <a:solidFill>
                  <a:srgbClr val="555555"/>
                </a:solidFill>
              </a:rPr>
              <a:t>. </a:t>
            </a:r>
            <a:r>
              <a:rPr sz="900" b="0" dirty="0" err="1">
                <a:solidFill>
                  <a:srgbClr val="555555"/>
                </a:solidFill>
              </a:rPr>
              <a:t>Hacemos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el</a:t>
            </a:r>
            <a:r>
              <a:rPr sz="900" b="0" dirty="0">
                <a:solidFill>
                  <a:srgbClr val="555555"/>
                </a:solidFill>
              </a:rPr>
              <a:t> data estate AI-ready." Demos de </a:t>
            </a:r>
            <a:r>
              <a:rPr sz="900" b="0" dirty="0" err="1">
                <a:solidFill>
                  <a:srgbClr val="555555"/>
                </a:solidFill>
              </a:rPr>
              <a:t>BCOPCore</a:t>
            </a:r>
            <a:r>
              <a:rPr sz="900" b="0" dirty="0">
                <a:solidFill>
                  <a:srgbClr val="555555"/>
                </a:solidFill>
              </a:rPr>
              <a:t> / Gemelo </a:t>
            </a:r>
            <a:r>
              <a:rPr sz="900" b="0" dirty="0" err="1">
                <a:solidFill>
                  <a:srgbClr val="555555"/>
                </a:solidFill>
              </a:rPr>
              <a:t>Cognitivo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en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cuentas</a:t>
            </a:r>
            <a:r>
              <a:rPr sz="900" b="0" dirty="0">
                <a:solidFill>
                  <a:srgbClr val="555555"/>
                </a:solidFill>
              </a:rPr>
              <a:t> banca </a:t>
            </a:r>
            <a:endParaRPr lang="en-US" sz="900" b="0" dirty="0">
              <a:solidFill>
                <a:srgbClr val="555555"/>
              </a:solidFill>
            </a:endParaRPr>
          </a:p>
          <a:p>
            <a:r>
              <a:rPr sz="900" b="0" dirty="0">
                <a:solidFill>
                  <a:srgbClr val="555555"/>
                </a:solidFill>
              </a:rPr>
              <a:t>Tier 1.  </a:t>
            </a:r>
            <a:r>
              <a:rPr sz="900" b="1" dirty="0">
                <a:solidFill>
                  <a:srgbClr val="1A1A1A"/>
                </a:solidFill>
              </a:rPr>
              <a:t>Account-Based Marketing (ABM): </a:t>
            </a:r>
            <a:r>
              <a:rPr sz="900" b="0" dirty="0">
                <a:solidFill>
                  <a:srgbClr val="555555"/>
                </a:solidFill>
              </a:rPr>
              <a:t>Executive briefing C-Level (CFO, CTO, CDO, CIO) </a:t>
            </a:r>
            <a:r>
              <a:rPr sz="900" b="0" dirty="0" err="1">
                <a:solidFill>
                  <a:srgbClr val="555555"/>
                </a:solidFill>
              </a:rPr>
              <a:t>en</a:t>
            </a:r>
            <a:r>
              <a:rPr sz="900" b="0" dirty="0">
                <a:solidFill>
                  <a:srgbClr val="555555"/>
                </a:solidFill>
              </a:rPr>
              <a:t> Actinver, Arca y Banorte antes de Q1.  </a:t>
            </a:r>
            <a:endParaRPr lang="en-US" sz="900" b="0" dirty="0">
              <a:solidFill>
                <a:srgbClr val="555555"/>
              </a:solidFill>
            </a:endParaRPr>
          </a:p>
          <a:p>
            <a:r>
              <a:rPr sz="900" b="1" dirty="0">
                <a:solidFill>
                  <a:srgbClr val="1A1A1A"/>
                </a:solidFill>
              </a:rPr>
              <a:t>Comunidad y </a:t>
            </a:r>
            <a:r>
              <a:rPr sz="900" b="1" dirty="0" err="1">
                <a:solidFill>
                  <a:srgbClr val="1A1A1A"/>
                </a:solidFill>
              </a:rPr>
              <a:t>ecosistema</a:t>
            </a:r>
            <a:r>
              <a:rPr sz="900" b="1" dirty="0">
                <a:solidFill>
                  <a:srgbClr val="1A1A1A"/>
                </a:solidFill>
              </a:rPr>
              <a:t>: </a:t>
            </a:r>
            <a:r>
              <a:rPr sz="900" b="0" dirty="0">
                <a:solidFill>
                  <a:srgbClr val="555555"/>
                </a:solidFill>
              </a:rPr>
              <a:t>Co-sell con AWS y Microsoft </a:t>
            </a:r>
            <a:r>
              <a:rPr sz="900" b="0" dirty="0" err="1">
                <a:solidFill>
                  <a:srgbClr val="555555"/>
                </a:solidFill>
              </a:rPr>
              <a:t>en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cuentas</a:t>
            </a:r>
            <a:r>
              <a:rPr sz="900" b="0" dirty="0">
                <a:solidFill>
                  <a:srgbClr val="555555"/>
                </a:solidFill>
              </a:rPr>
              <a:t> target. </a:t>
            </a:r>
            <a:endParaRPr lang="en-US" sz="900" b="0" dirty="0">
              <a:solidFill>
                <a:srgbClr val="555555"/>
              </a:solidFill>
            </a:endParaRPr>
          </a:p>
          <a:p>
            <a:r>
              <a:rPr sz="900" b="0" dirty="0">
                <a:solidFill>
                  <a:srgbClr val="555555"/>
                </a:solidFill>
              </a:rPr>
              <a:t>Presencia </a:t>
            </a:r>
            <a:r>
              <a:rPr sz="900" b="0" dirty="0" err="1">
                <a:solidFill>
                  <a:srgbClr val="555555"/>
                </a:solidFill>
              </a:rPr>
              <a:t>en</a:t>
            </a:r>
            <a:r>
              <a:rPr sz="900" b="0" dirty="0">
                <a:solidFill>
                  <a:srgbClr val="555555"/>
                </a:solidFill>
              </a:rPr>
              <a:t> FinTech Summit MX, CIO Forum y </a:t>
            </a:r>
            <a:r>
              <a:rPr sz="900" b="0" dirty="0" err="1">
                <a:solidFill>
                  <a:srgbClr val="555555"/>
                </a:solidFill>
              </a:rPr>
              <a:t>eventos</a:t>
            </a:r>
            <a:r>
              <a:rPr sz="900" b="0" dirty="0">
                <a:solidFill>
                  <a:srgbClr val="555555"/>
                </a:solidFill>
              </a:rPr>
              <a:t> CNBV de </a:t>
            </a:r>
            <a:r>
              <a:rPr sz="900" b="0" dirty="0" err="1">
                <a:solidFill>
                  <a:srgbClr val="555555"/>
                </a:solidFill>
              </a:rPr>
              <a:t>modernizacion</a:t>
            </a:r>
            <a:r>
              <a:rPr sz="900" b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398885"/>
            <a:ext cx="70000" cy="7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611480" y="3384885"/>
            <a:ext cx="83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Big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480" y="3661336"/>
            <a:ext cx="82000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spcAft>
                <a:spcPts val="600"/>
              </a:spcAft>
            </a:pPr>
            <a:r>
              <a:rPr sz="900" b="1" dirty="0">
                <a:solidFill>
                  <a:srgbClr val="7B0099"/>
                </a:solidFill>
              </a:rPr>
              <a:t>01  </a:t>
            </a:r>
            <a:r>
              <a:rPr sz="900" b="1" dirty="0">
                <a:solidFill>
                  <a:srgbClr val="1A1A1A"/>
                </a:solidFill>
              </a:rPr>
              <a:t>Gemelo </a:t>
            </a:r>
            <a:r>
              <a:rPr sz="900" b="1" dirty="0" err="1">
                <a:solidFill>
                  <a:srgbClr val="1A1A1A"/>
                </a:solidFill>
              </a:rPr>
              <a:t>Cognitivo</a:t>
            </a:r>
            <a:r>
              <a:rPr sz="900" b="1" dirty="0">
                <a:solidFill>
                  <a:srgbClr val="1A1A1A"/>
                </a:solidFill>
              </a:rPr>
              <a:t> del Sistema — </a:t>
            </a:r>
            <a:r>
              <a:rPr sz="900" b="0" dirty="0" err="1">
                <a:solidFill>
                  <a:srgbClr val="555555"/>
                </a:solidFill>
              </a:rPr>
              <a:t>Metodologia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propia</a:t>
            </a:r>
            <a:r>
              <a:rPr sz="900" b="0" dirty="0">
                <a:solidFill>
                  <a:srgbClr val="555555"/>
                </a:solidFill>
              </a:rPr>
              <a:t> para </a:t>
            </a:r>
            <a:r>
              <a:rPr sz="900" b="0" dirty="0" err="1">
                <a:solidFill>
                  <a:srgbClr val="555555"/>
                </a:solidFill>
              </a:rPr>
              <a:t>mapear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aplicaciones</a:t>
            </a:r>
            <a:r>
              <a:rPr sz="900" b="0" dirty="0">
                <a:solidFill>
                  <a:srgbClr val="555555"/>
                </a:solidFill>
              </a:rPr>
              <a:t> legacy a data estate modernizable. Knowledge base auditable </a:t>
            </a:r>
            <a:r>
              <a:rPr sz="900" b="0" dirty="0" err="1">
                <a:solidFill>
                  <a:srgbClr val="555555"/>
                </a:solidFill>
              </a:rPr>
              <a:t>lista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en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semanas</a:t>
            </a:r>
            <a:r>
              <a:rPr sz="900" b="0" dirty="0">
                <a:solidFill>
                  <a:srgbClr val="555555"/>
                </a:solidFill>
              </a:rPr>
              <a:t>, no meses. </a:t>
            </a:r>
            <a:r>
              <a:rPr sz="900" b="0" dirty="0" err="1">
                <a:solidFill>
                  <a:srgbClr val="555555"/>
                </a:solidFill>
              </a:rPr>
              <a:t>Convierte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el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codigo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en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conocimiento</a:t>
            </a:r>
            <a:r>
              <a:rPr sz="900" b="0" dirty="0">
                <a:solidFill>
                  <a:srgbClr val="555555"/>
                </a:solidFill>
              </a:rPr>
              <a:t> consultable </a:t>
            </a:r>
            <a:r>
              <a:rPr sz="900" b="0" dirty="0" err="1">
                <a:solidFill>
                  <a:srgbClr val="555555"/>
                </a:solidFill>
              </a:rPr>
              <a:t>por</a:t>
            </a:r>
            <a:r>
              <a:rPr sz="900" b="0" dirty="0">
                <a:solidFill>
                  <a:srgbClr val="555555"/>
                </a:solidFill>
              </a:rPr>
              <a:t> AI.</a:t>
            </a:r>
          </a:p>
          <a:p>
            <a:pPr>
              <a:spcAft>
                <a:spcPts val="600"/>
              </a:spcAft>
            </a:pPr>
            <a:r>
              <a:rPr sz="900" b="1" dirty="0">
                <a:solidFill>
                  <a:srgbClr val="7B0099"/>
                </a:solidFill>
              </a:rPr>
              <a:t>02  </a:t>
            </a:r>
            <a:r>
              <a:rPr sz="900" b="1" dirty="0">
                <a:solidFill>
                  <a:srgbClr val="1A1A1A"/>
                </a:solidFill>
              </a:rPr>
              <a:t>Data Migration Factory con AI/</a:t>
            </a:r>
            <a:r>
              <a:rPr sz="900" b="1" dirty="0" err="1">
                <a:solidFill>
                  <a:srgbClr val="1A1A1A"/>
                </a:solidFill>
              </a:rPr>
              <a:t>Agentes</a:t>
            </a:r>
            <a:r>
              <a:rPr sz="900" b="1" dirty="0">
                <a:solidFill>
                  <a:srgbClr val="1A1A1A"/>
                </a:solidFill>
              </a:rPr>
              <a:t> — </a:t>
            </a:r>
            <a:r>
              <a:rPr sz="900" b="0" dirty="0">
                <a:solidFill>
                  <a:srgbClr val="555555"/>
                </a:solidFill>
              </a:rPr>
              <a:t>Reduce </a:t>
            </a:r>
            <a:r>
              <a:rPr sz="900" b="0" dirty="0" err="1">
                <a:solidFill>
                  <a:srgbClr val="555555"/>
                </a:solidFill>
              </a:rPr>
              <a:t>el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tiempo</a:t>
            </a:r>
            <a:r>
              <a:rPr sz="900" b="0" dirty="0">
                <a:solidFill>
                  <a:srgbClr val="555555"/>
                </a:solidFill>
              </a:rPr>
              <a:t> de </a:t>
            </a:r>
            <a:r>
              <a:rPr sz="900" b="0" dirty="0" err="1">
                <a:solidFill>
                  <a:srgbClr val="555555"/>
                </a:solidFill>
              </a:rPr>
              <a:t>migracion</a:t>
            </a:r>
            <a:r>
              <a:rPr sz="900" b="0" dirty="0">
                <a:solidFill>
                  <a:srgbClr val="555555"/>
                </a:solidFill>
              </a:rPr>
              <a:t> Informix/COBOL a cloud hasta 40% </a:t>
            </a:r>
            <a:r>
              <a:rPr sz="900" b="0" dirty="0" err="1">
                <a:solidFill>
                  <a:srgbClr val="555555"/>
                </a:solidFill>
              </a:rPr>
              <a:t>usando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agentes</a:t>
            </a:r>
            <a:r>
              <a:rPr sz="900" b="0" dirty="0">
                <a:solidFill>
                  <a:srgbClr val="555555"/>
                </a:solidFill>
              </a:rPr>
              <a:t> de </a:t>
            </a:r>
            <a:r>
              <a:rPr sz="900" b="0" dirty="0" err="1">
                <a:solidFill>
                  <a:srgbClr val="555555"/>
                </a:solidFill>
              </a:rPr>
              <a:t>extraccion</a:t>
            </a:r>
            <a:r>
              <a:rPr sz="900" b="0" dirty="0">
                <a:solidFill>
                  <a:srgbClr val="555555"/>
                </a:solidFill>
              </a:rPr>
              <a:t>, </a:t>
            </a:r>
            <a:r>
              <a:rPr sz="900" b="0" dirty="0" err="1">
                <a:solidFill>
                  <a:srgbClr val="555555"/>
                </a:solidFill>
              </a:rPr>
              <a:t>transformacion</a:t>
            </a:r>
            <a:r>
              <a:rPr sz="900" b="0" dirty="0">
                <a:solidFill>
                  <a:srgbClr val="555555"/>
                </a:solidFill>
              </a:rPr>
              <a:t> y </a:t>
            </a:r>
            <a:r>
              <a:rPr sz="900" b="0" dirty="0" err="1">
                <a:solidFill>
                  <a:srgbClr val="555555"/>
                </a:solidFill>
              </a:rPr>
              <a:t>validacion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automatizados</a:t>
            </a:r>
            <a:r>
              <a:rPr sz="900" b="0" dirty="0">
                <a:solidFill>
                  <a:srgbClr val="555555"/>
                </a:solidFill>
              </a:rPr>
              <a:t>. </a:t>
            </a:r>
            <a:r>
              <a:rPr sz="900" b="0" dirty="0" err="1">
                <a:solidFill>
                  <a:srgbClr val="555555"/>
                </a:solidFill>
              </a:rPr>
              <a:t>Entregamos</a:t>
            </a:r>
            <a:r>
              <a:rPr sz="900" b="0" dirty="0">
                <a:solidFill>
                  <a:srgbClr val="555555"/>
                </a:solidFill>
              </a:rPr>
              <a:t> data products con </a:t>
            </a:r>
            <a:r>
              <a:rPr sz="900" b="0" dirty="0" err="1">
                <a:solidFill>
                  <a:srgbClr val="555555"/>
                </a:solidFill>
              </a:rPr>
              <a:t>contrato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desde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el</a:t>
            </a:r>
            <a:r>
              <a:rPr sz="900" b="0" dirty="0">
                <a:solidFill>
                  <a:srgbClr val="555555"/>
                </a:solidFill>
              </a:rPr>
              <a:t> primer sprint.</a:t>
            </a:r>
          </a:p>
          <a:p>
            <a:pPr>
              <a:spcAft>
                <a:spcPts val="600"/>
              </a:spcAft>
            </a:pPr>
            <a:r>
              <a:rPr sz="900" b="1" dirty="0">
                <a:solidFill>
                  <a:srgbClr val="7B0099"/>
                </a:solidFill>
              </a:rPr>
              <a:t>03  </a:t>
            </a:r>
            <a:r>
              <a:rPr sz="900" b="1" dirty="0">
                <a:solidFill>
                  <a:srgbClr val="1A1A1A"/>
                </a:solidFill>
              </a:rPr>
              <a:t>Regulatory Data Mesh para banca MX — </a:t>
            </a:r>
            <a:r>
              <a:rPr sz="900" b="0" dirty="0" err="1">
                <a:solidFill>
                  <a:srgbClr val="555555"/>
                </a:solidFill>
              </a:rPr>
              <a:t>Arquitectura</a:t>
            </a:r>
            <a:r>
              <a:rPr sz="900" b="0" dirty="0">
                <a:solidFill>
                  <a:srgbClr val="555555"/>
                </a:solidFill>
              </a:rPr>
              <a:t> para </a:t>
            </a:r>
            <a:r>
              <a:rPr sz="900" b="0" dirty="0" err="1">
                <a:solidFill>
                  <a:srgbClr val="555555"/>
                </a:solidFill>
              </a:rPr>
              <a:t>que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bancos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cumplan</a:t>
            </a:r>
            <a:r>
              <a:rPr sz="900" b="0" dirty="0">
                <a:solidFill>
                  <a:srgbClr val="555555"/>
                </a:solidFill>
              </a:rPr>
              <a:t> CNBV/Banxico con data products </a:t>
            </a:r>
            <a:r>
              <a:rPr sz="900" b="0" dirty="0" err="1">
                <a:solidFill>
                  <a:srgbClr val="555555"/>
                </a:solidFill>
              </a:rPr>
              <a:t>certificados</a:t>
            </a:r>
            <a:r>
              <a:rPr sz="900" b="0" dirty="0">
                <a:solidFill>
                  <a:srgbClr val="555555"/>
                </a:solidFill>
              </a:rPr>
              <a:t>, lineage </a:t>
            </a:r>
            <a:r>
              <a:rPr sz="900" b="0" dirty="0" err="1">
                <a:solidFill>
                  <a:srgbClr val="555555"/>
                </a:solidFill>
              </a:rPr>
              <a:t>trazable</a:t>
            </a:r>
            <a:r>
              <a:rPr sz="900" b="0" dirty="0">
                <a:solidFill>
                  <a:srgbClr val="555555"/>
                </a:solidFill>
              </a:rPr>
              <a:t> para auditoria y schemas </a:t>
            </a:r>
            <a:r>
              <a:rPr sz="900" b="0" dirty="0" err="1">
                <a:solidFill>
                  <a:srgbClr val="555555"/>
                </a:solidFill>
              </a:rPr>
              <a:t>versionados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que</a:t>
            </a:r>
            <a:r>
              <a:rPr sz="900" b="0" dirty="0">
                <a:solidFill>
                  <a:srgbClr val="555555"/>
                </a:solidFill>
              </a:rPr>
              <a:t> no </a:t>
            </a:r>
            <a:r>
              <a:rPr sz="900" b="0" dirty="0" err="1">
                <a:solidFill>
                  <a:srgbClr val="555555"/>
                </a:solidFill>
              </a:rPr>
              <a:t>rompen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reportes</a:t>
            </a:r>
            <a:r>
              <a:rPr sz="900" b="0" dirty="0">
                <a:solidFill>
                  <a:srgbClr val="555555"/>
                </a:solidFill>
              </a:rPr>
              <a:t> downstream.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© 2026 Accenture.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All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rights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reserved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6E803D-50F8-8338-84CF-917CAE6E6FC1}"/>
              </a:ext>
            </a:extLst>
          </p:cNvPr>
          <p:cNvSpPr/>
          <p:nvPr/>
        </p:nvSpPr>
        <p:spPr>
          <a:xfrm>
            <a:off x="417942" y="2425704"/>
            <a:ext cx="70000" cy="77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918453-FB48-8FE5-CBB0-AD5E0870386F}"/>
              </a:ext>
            </a:extLst>
          </p:cNvPr>
          <p:cNvSpPr txBox="1"/>
          <p:nvPr/>
        </p:nvSpPr>
        <p:spPr>
          <a:xfrm>
            <a:off x="617942" y="2301282"/>
            <a:ext cx="8300000" cy="253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Digital </a:t>
            </a:r>
            <a:r>
              <a:rPr lang="es-MX" sz="1500" b="1" i="0" noProof="0" dirty="0" err="1">
                <a:solidFill>
                  <a:srgbClr val="1A1A1A"/>
                </a:solidFill>
                <a:latin typeface="Arial"/>
              </a:rPr>
              <a:t>Twins</a:t>
            </a:r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 para la estrategia y Delivery - Posicionamiento en el mercado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49E557-B2C9-3AF5-6018-6563E8FB3DE0}"/>
              </a:ext>
            </a:extLst>
          </p:cNvPr>
          <p:cNvSpPr txBox="1"/>
          <p:nvPr/>
        </p:nvSpPr>
        <p:spPr>
          <a:xfrm>
            <a:off x="588862" y="2568908"/>
            <a:ext cx="820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b="0" noProof="0" dirty="0"/>
              <a:t>Desarrollaremos un espejo digital de nuestros clientes que nos permita mejorar nuestra estrategia de venta y traer soluciones diferenciales.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b="0" noProof="0" dirty="0"/>
              <a:t>Estrategia agentica por </a:t>
            </a:r>
            <a:r>
              <a:rPr lang="es-MX" sz="900" b="0" noProof="0" dirty="0" err="1"/>
              <a:t>sub-oferta</a:t>
            </a:r>
            <a:r>
              <a:rPr lang="es-MX" sz="900" dirty="0"/>
              <a:t> de las offerings </a:t>
            </a:r>
            <a:r>
              <a:rPr lang="es-MX" sz="9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Agentic </a:t>
            </a:r>
            <a:r>
              <a:rPr lang="es-MX" sz="9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Patterns</a:t>
            </a:r>
            <a:endParaRPr lang="es-MX" sz="900" b="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b="0" noProof="0" dirty="0"/>
              <a:t>Reconstruimos el motor de interoperabilidad para proyectos de transformación: </a:t>
            </a:r>
            <a:r>
              <a:rPr lang="es-MX" sz="900" b="0" noProof="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Interoperabilidad</a:t>
            </a:r>
            <a:endParaRPr lang="es-MX" sz="900" b="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noProof="0" dirty="0"/>
              <a:t>Desarrollar nuestra oferta de Mainframe Modernization acoplado al mercado mexicano tomando Darwin como parte de la solución: </a:t>
            </a:r>
            <a:r>
              <a:rPr lang="es-MX" sz="900" noProof="0" dirty="0">
                <a:solidFill>
                  <a:srgbClr val="0000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Mainframe </a:t>
            </a:r>
            <a:r>
              <a:rPr lang="es-MX" sz="900" noProof="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Modernization</a:t>
            </a:r>
            <a:endParaRPr lang="es-MX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00000"/>
            <a:ext cx="75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2800" b="1" i="0" noProof="0" dirty="0">
                <a:solidFill>
                  <a:srgbClr val="7500C0"/>
                </a:solidFill>
                <a:latin typeface="Arial"/>
              </a:rPr>
              <a:t>Competidores principales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60000"/>
            <a:ext cx="8300000" cy="78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23437" y="1802663"/>
            <a:ext cx="8029083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dirty="0">
                <a:solidFill>
                  <a:srgbClr val="1A1A1A"/>
                </a:solidFill>
              </a:rPr>
              <a:t>• </a:t>
            </a:r>
            <a:r>
              <a:rPr sz="800" dirty="0" err="1">
                <a:solidFill>
                  <a:srgbClr val="1A1A1A"/>
                </a:solidFill>
              </a:rPr>
              <a:t>Percepcion</a:t>
            </a:r>
            <a:r>
              <a:rPr sz="800" dirty="0">
                <a:solidFill>
                  <a:srgbClr val="1A1A1A"/>
                </a:solidFill>
              </a:rPr>
              <a:t> de </a:t>
            </a:r>
            <a:r>
              <a:rPr sz="800" dirty="0" err="1">
                <a:solidFill>
                  <a:srgbClr val="1A1A1A"/>
                </a:solidFill>
              </a:rPr>
              <a:t>solidez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tecnica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en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sistemas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legados</a:t>
            </a:r>
            <a:r>
              <a:rPr sz="800" dirty="0">
                <a:solidFill>
                  <a:srgbClr val="1A1A1A"/>
                </a:solidFill>
              </a:rPr>
              <a:t> y mainframe — </a:t>
            </a:r>
            <a:r>
              <a:rPr sz="800" dirty="0" err="1">
                <a:solidFill>
                  <a:srgbClr val="1A1A1A"/>
                </a:solidFill>
              </a:rPr>
              <a:t>dificil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desplazar</a:t>
            </a:r>
            <a:r>
              <a:rPr sz="800" dirty="0">
                <a:solidFill>
                  <a:srgbClr val="1A1A1A"/>
                </a:solidFill>
              </a:rPr>
              <a:t> sin </a:t>
            </a:r>
            <a:r>
              <a:rPr sz="800" dirty="0" err="1">
                <a:solidFill>
                  <a:srgbClr val="1A1A1A"/>
                </a:solidFill>
              </a:rPr>
              <a:t>evidencia</a:t>
            </a:r>
            <a:endParaRPr sz="800" dirty="0">
              <a:solidFill>
                <a:srgbClr val="1A1A1A"/>
              </a:solidFill>
            </a:endParaRPr>
          </a:p>
          <a:p>
            <a:r>
              <a:rPr sz="800" dirty="0">
                <a:solidFill>
                  <a:srgbClr val="1A1A1A"/>
                </a:solidFill>
              </a:rPr>
              <a:t>• </a:t>
            </a:r>
            <a:r>
              <a:rPr sz="800" dirty="0" err="1">
                <a:solidFill>
                  <a:srgbClr val="1A1A1A"/>
                </a:solidFill>
              </a:rPr>
              <a:t>Contratos</a:t>
            </a:r>
            <a:r>
              <a:rPr sz="800" dirty="0">
                <a:solidFill>
                  <a:srgbClr val="1A1A1A"/>
                </a:solidFill>
              </a:rPr>
              <a:t> de </a:t>
            </a:r>
            <a:r>
              <a:rPr sz="800" dirty="0" err="1">
                <a:solidFill>
                  <a:srgbClr val="1A1A1A"/>
                </a:solidFill>
              </a:rPr>
              <a:t>soporte</a:t>
            </a:r>
            <a:r>
              <a:rPr sz="800" dirty="0">
                <a:solidFill>
                  <a:srgbClr val="1A1A1A"/>
                </a:solidFill>
              </a:rPr>
              <a:t> de largo </a:t>
            </a:r>
            <a:r>
              <a:rPr sz="800" dirty="0" err="1">
                <a:solidFill>
                  <a:srgbClr val="1A1A1A"/>
                </a:solidFill>
              </a:rPr>
              <a:t>plazo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en</a:t>
            </a:r>
            <a:r>
              <a:rPr sz="800" dirty="0">
                <a:solidFill>
                  <a:srgbClr val="1A1A1A"/>
                </a:solidFill>
              </a:rPr>
              <a:t> banca Tier 1 MX (BBVA, Banamex, Santander)</a:t>
            </a:r>
          </a:p>
          <a:p>
            <a:r>
              <a:rPr sz="800" dirty="0">
                <a:solidFill>
                  <a:srgbClr val="1A1A1A"/>
                </a:solidFill>
              </a:rPr>
              <a:t>• </a:t>
            </a:r>
            <a:r>
              <a:rPr sz="800" dirty="0" err="1">
                <a:solidFill>
                  <a:srgbClr val="1A1A1A"/>
                </a:solidFill>
              </a:rPr>
              <a:t>watsonx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como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narrativa</a:t>
            </a:r>
            <a:r>
              <a:rPr sz="800" dirty="0">
                <a:solidFill>
                  <a:srgbClr val="1A1A1A"/>
                </a:solidFill>
              </a:rPr>
              <a:t> de IA </a:t>
            </a:r>
            <a:r>
              <a:rPr sz="800" dirty="0" err="1">
                <a:solidFill>
                  <a:srgbClr val="1A1A1A"/>
                </a:solidFill>
              </a:rPr>
              <a:t>integrada</a:t>
            </a:r>
            <a:r>
              <a:rPr sz="800" dirty="0">
                <a:solidFill>
                  <a:srgbClr val="1A1A1A"/>
                </a:solidFill>
              </a:rPr>
              <a:t> al </a:t>
            </a:r>
            <a:r>
              <a:rPr sz="800" dirty="0" err="1">
                <a:solidFill>
                  <a:srgbClr val="1A1A1A"/>
                </a:solidFill>
              </a:rPr>
              <a:t>dato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ganando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traccion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en</a:t>
            </a:r>
            <a:r>
              <a:rPr sz="800" dirty="0">
                <a:solidFill>
                  <a:srgbClr val="1A1A1A"/>
                </a:solidFill>
              </a:rPr>
              <a:t> BFSI</a:t>
            </a:r>
          </a:p>
          <a:p>
            <a:r>
              <a:rPr sz="800" dirty="0">
                <a:solidFill>
                  <a:srgbClr val="1A1A1A"/>
                </a:solidFill>
              </a:rPr>
              <a:t>• </a:t>
            </a:r>
            <a:r>
              <a:rPr sz="800" dirty="0" err="1">
                <a:solidFill>
                  <a:srgbClr val="1A1A1A"/>
                </a:solidFill>
              </a:rPr>
              <a:t>Ecosistema</a:t>
            </a:r>
            <a:r>
              <a:rPr sz="800" dirty="0">
                <a:solidFill>
                  <a:srgbClr val="1A1A1A"/>
                </a:solidFill>
              </a:rPr>
              <a:t> IBM Cloud Pak for Data </a:t>
            </a:r>
            <a:r>
              <a:rPr sz="800" dirty="0" err="1">
                <a:solidFill>
                  <a:srgbClr val="1A1A1A"/>
                </a:solidFill>
              </a:rPr>
              <a:t>como</a:t>
            </a:r>
            <a:r>
              <a:rPr sz="800" dirty="0">
                <a:solidFill>
                  <a:srgbClr val="1A1A1A"/>
                </a:solidFill>
              </a:rPr>
              <a:t> lock-in de </a:t>
            </a:r>
            <a:r>
              <a:rPr sz="800" dirty="0" err="1">
                <a:solidFill>
                  <a:srgbClr val="1A1A1A"/>
                </a:solidFill>
              </a:rPr>
              <a:t>plataforma</a:t>
            </a:r>
            <a:endParaRPr sz="800" dirty="0">
              <a:solidFill>
                <a:srgbClr val="1A1A1A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2540000"/>
            <a:ext cx="8300000" cy="78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23437" y="2742253"/>
            <a:ext cx="811160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dirty="0">
                <a:solidFill>
                  <a:srgbClr val="1A1A1A"/>
                </a:solidFill>
              </a:rPr>
              <a:t>• </a:t>
            </a:r>
            <a:r>
              <a:rPr sz="800" dirty="0" err="1">
                <a:solidFill>
                  <a:srgbClr val="1A1A1A"/>
                </a:solidFill>
              </a:rPr>
              <a:t>Propuesta</a:t>
            </a:r>
            <a:r>
              <a:rPr sz="800" dirty="0">
                <a:solidFill>
                  <a:srgbClr val="1A1A1A"/>
                </a:solidFill>
              </a:rPr>
              <a:t> E2E de consulting + tech + ops mas </a:t>
            </a:r>
            <a:r>
              <a:rPr sz="800" dirty="0" err="1">
                <a:solidFill>
                  <a:srgbClr val="1A1A1A"/>
                </a:solidFill>
              </a:rPr>
              <a:t>parecida</a:t>
            </a:r>
            <a:r>
              <a:rPr sz="800" dirty="0">
                <a:solidFill>
                  <a:srgbClr val="1A1A1A"/>
                </a:solidFill>
              </a:rPr>
              <a:t> a la </a:t>
            </a:r>
            <a:r>
              <a:rPr sz="800" dirty="0" err="1">
                <a:solidFill>
                  <a:srgbClr val="1A1A1A"/>
                </a:solidFill>
              </a:rPr>
              <a:t>nuestra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en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estructura</a:t>
            </a:r>
            <a:endParaRPr sz="800" dirty="0">
              <a:solidFill>
                <a:srgbClr val="1A1A1A"/>
              </a:solidFill>
            </a:endParaRPr>
          </a:p>
          <a:p>
            <a:r>
              <a:rPr sz="800" dirty="0">
                <a:solidFill>
                  <a:srgbClr val="1A1A1A"/>
                </a:solidFill>
              </a:rPr>
              <a:t>• </a:t>
            </a:r>
            <a:r>
              <a:rPr sz="800" dirty="0" err="1">
                <a:solidFill>
                  <a:srgbClr val="1A1A1A"/>
                </a:solidFill>
              </a:rPr>
              <a:t>Capacidad</a:t>
            </a:r>
            <a:r>
              <a:rPr sz="800" dirty="0">
                <a:solidFill>
                  <a:srgbClr val="1A1A1A"/>
                </a:solidFill>
              </a:rPr>
              <a:t> de absorber </a:t>
            </a:r>
            <a:r>
              <a:rPr sz="800" dirty="0" err="1">
                <a:solidFill>
                  <a:srgbClr val="1A1A1A"/>
                </a:solidFill>
              </a:rPr>
              <a:t>proyectos</a:t>
            </a:r>
            <a:r>
              <a:rPr sz="800" dirty="0">
                <a:solidFill>
                  <a:srgbClr val="1A1A1A"/>
                </a:solidFill>
              </a:rPr>
              <a:t> de </a:t>
            </a:r>
            <a:r>
              <a:rPr sz="800" dirty="0" err="1">
                <a:solidFill>
                  <a:srgbClr val="1A1A1A"/>
                </a:solidFill>
              </a:rPr>
              <a:t>migracion</a:t>
            </a:r>
            <a:r>
              <a:rPr sz="800" dirty="0">
                <a:solidFill>
                  <a:srgbClr val="1A1A1A"/>
                </a:solidFill>
              </a:rPr>
              <a:t> SAP S4/HANA de gran </a:t>
            </a:r>
            <a:r>
              <a:rPr sz="800" dirty="0" err="1">
                <a:solidFill>
                  <a:srgbClr val="1A1A1A"/>
                </a:solidFill>
              </a:rPr>
              <a:t>escala</a:t>
            </a:r>
            <a:r>
              <a:rPr lang="en-US" sz="800" dirty="0">
                <a:solidFill>
                  <a:srgbClr val="1A1A1A"/>
                </a:solidFill>
              </a:rPr>
              <a:t> y </a:t>
            </a:r>
            <a:r>
              <a:rPr lang="en-US" sz="800" dirty="0" err="1">
                <a:solidFill>
                  <a:srgbClr val="1A1A1A"/>
                </a:solidFill>
              </a:rPr>
              <a:t>capacidades</a:t>
            </a:r>
            <a:r>
              <a:rPr lang="en-US" sz="800" dirty="0">
                <a:solidFill>
                  <a:srgbClr val="1A1A1A"/>
                </a:solidFill>
              </a:rPr>
              <a:t> regionals de </a:t>
            </a:r>
            <a:r>
              <a:rPr lang="en-US" sz="800" dirty="0" err="1">
                <a:solidFill>
                  <a:srgbClr val="1A1A1A"/>
                </a:solidFill>
              </a:rPr>
              <a:t>migración</a:t>
            </a:r>
            <a:r>
              <a:rPr lang="en-US" sz="800" dirty="0">
                <a:solidFill>
                  <a:srgbClr val="1A1A1A"/>
                </a:solidFill>
              </a:rPr>
              <a:t> de Data de SAP</a:t>
            </a:r>
            <a:endParaRPr sz="800" dirty="0">
              <a:solidFill>
                <a:srgbClr val="1A1A1A"/>
              </a:solidFill>
            </a:endParaRPr>
          </a:p>
          <a:p>
            <a:r>
              <a:rPr sz="800" dirty="0">
                <a:solidFill>
                  <a:srgbClr val="1A1A1A"/>
                </a:solidFill>
              </a:rPr>
              <a:t>• Footprint </a:t>
            </a:r>
            <a:r>
              <a:rPr sz="800" dirty="0" err="1">
                <a:solidFill>
                  <a:srgbClr val="1A1A1A"/>
                </a:solidFill>
              </a:rPr>
              <a:t>en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multinacionales</a:t>
            </a:r>
            <a:r>
              <a:rPr sz="800" dirty="0">
                <a:solidFill>
                  <a:srgbClr val="1A1A1A"/>
                </a:solidFill>
              </a:rPr>
              <a:t> con </a:t>
            </a:r>
            <a:r>
              <a:rPr sz="800" dirty="0" err="1">
                <a:solidFill>
                  <a:srgbClr val="1A1A1A"/>
                </a:solidFill>
              </a:rPr>
              <a:t>presencia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en</a:t>
            </a:r>
            <a:r>
              <a:rPr sz="800" dirty="0">
                <a:solidFill>
                  <a:srgbClr val="1A1A1A"/>
                </a:solidFill>
              </a:rPr>
              <a:t> Mexico (Mondelez, Femsa, Arca)</a:t>
            </a:r>
          </a:p>
          <a:p>
            <a:r>
              <a:rPr sz="800" dirty="0">
                <a:solidFill>
                  <a:srgbClr val="1A1A1A"/>
                </a:solidFill>
              </a:rPr>
              <a:t>• </a:t>
            </a:r>
            <a:r>
              <a:rPr sz="800" dirty="0" err="1">
                <a:solidFill>
                  <a:srgbClr val="1A1A1A"/>
                </a:solidFill>
              </a:rPr>
              <a:t>Narrativa</a:t>
            </a:r>
            <a:r>
              <a:rPr sz="800" dirty="0">
                <a:solidFill>
                  <a:srgbClr val="1A1A1A"/>
                </a:solidFill>
              </a:rPr>
              <a:t> de GenAI </a:t>
            </a:r>
            <a:r>
              <a:rPr sz="800" dirty="0" err="1">
                <a:solidFill>
                  <a:srgbClr val="1A1A1A"/>
                </a:solidFill>
              </a:rPr>
              <a:t>aplicada</a:t>
            </a:r>
            <a:r>
              <a:rPr sz="800" dirty="0">
                <a:solidFill>
                  <a:srgbClr val="1A1A1A"/>
                </a:solidFill>
              </a:rPr>
              <a:t> a </a:t>
            </a:r>
            <a:r>
              <a:rPr sz="800" dirty="0" err="1">
                <a:solidFill>
                  <a:srgbClr val="1A1A1A"/>
                </a:solidFill>
              </a:rPr>
              <a:t>datos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activa</a:t>
            </a:r>
            <a:r>
              <a:rPr sz="800" dirty="0">
                <a:solidFill>
                  <a:srgbClr val="1A1A1A"/>
                </a:solidFill>
              </a:rPr>
              <a:t> y </a:t>
            </a:r>
            <a:r>
              <a:rPr sz="800" dirty="0" err="1">
                <a:solidFill>
                  <a:srgbClr val="1A1A1A"/>
                </a:solidFill>
              </a:rPr>
              <a:t>articulada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en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analistas</a:t>
            </a:r>
            <a:endParaRPr sz="800" dirty="0">
              <a:solidFill>
                <a:srgbClr val="1A1A1A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3520000"/>
            <a:ext cx="8300000" cy="78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23437" y="3713778"/>
            <a:ext cx="811160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dirty="0">
                <a:solidFill>
                  <a:srgbClr val="1A1A1A"/>
                </a:solidFill>
              </a:rPr>
              <a:t>• </a:t>
            </a:r>
            <a:r>
              <a:rPr sz="800" dirty="0" err="1">
                <a:solidFill>
                  <a:srgbClr val="1A1A1A"/>
                </a:solidFill>
              </a:rPr>
              <a:t>Precio</a:t>
            </a:r>
            <a:r>
              <a:rPr sz="800" dirty="0">
                <a:solidFill>
                  <a:srgbClr val="1A1A1A"/>
                </a:solidFill>
              </a:rPr>
              <a:t>: </a:t>
            </a:r>
            <a:r>
              <a:rPr sz="800" dirty="0" err="1">
                <a:solidFill>
                  <a:srgbClr val="1A1A1A"/>
                </a:solidFill>
              </a:rPr>
              <a:t>siempre</a:t>
            </a:r>
            <a:r>
              <a:rPr sz="800" dirty="0">
                <a:solidFill>
                  <a:srgbClr val="1A1A1A"/>
                </a:solidFill>
              </a:rPr>
              <a:t> mas </a:t>
            </a:r>
            <a:r>
              <a:rPr sz="800" dirty="0" err="1">
                <a:solidFill>
                  <a:srgbClr val="1A1A1A"/>
                </a:solidFill>
              </a:rPr>
              <a:t>barato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por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estructura</a:t>
            </a:r>
            <a:r>
              <a:rPr sz="800" dirty="0">
                <a:solidFill>
                  <a:srgbClr val="1A1A1A"/>
                </a:solidFill>
              </a:rPr>
              <a:t> de </a:t>
            </a:r>
            <a:r>
              <a:rPr sz="800" dirty="0" err="1">
                <a:solidFill>
                  <a:srgbClr val="1A1A1A"/>
                </a:solidFill>
              </a:rPr>
              <a:t>costos</a:t>
            </a:r>
            <a:r>
              <a:rPr sz="800" dirty="0">
                <a:solidFill>
                  <a:srgbClr val="1A1A1A"/>
                </a:solidFill>
              </a:rPr>
              <a:t> nearshore MX</a:t>
            </a:r>
          </a:p>
          <a:p>
            <a:r>
              <a:rPr sz="800" dirty="0">
                <a:solidFill>
                  <a:srgbClr val="1A1A1A"/>
                </a:solidFill>
              </a:rPr>
              <a:t>• </a:t>
            </a:r>
            <a:r>
              <a:rPr sz="800" dirty="0" err="1">
                <a:solidFill>
                  <a:srgbClr val="1A1A1A"/>
                </a:solidFill>
              </a:rPr>
              <a:t>Cercania</a:t>
            </a:r>
            <a:r>
              <a:rPr sz="800" dirty="0">
                <a:solidFill>
                  <a:srgbClr val="1A1A1A"/>
                </a:solidFill>
              </a:rPr>
              <a:t> y </a:t>
            </a:r>
            <a:r>
              <a:rPr sz="800" dirty="0" err="1">
                <a:solidFill>
                  <a:srgbClr val="1A1A1A"/>
                </a:solidFill>
              </a:rPr>
              <a:t>acceso</a:t>
            </a:r>
            <a:r>
              <a:rPr sz="800" dirty="0">
                <a:solidFill>
                  <a:srgbClr val="1A1A1A"/>
                </a:solidFill>
              </a:rPr>
              <a:t> a </a:t>
            </a:r>
            <a:r>
              <a:rPr sz="800" dirty="0" err="1">
                <a:solidFill>
                  <a:srgbClr val="1A1A1A"/>
                </a:solidFill>
              </a:rPr>
              <a:t>decisores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en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cuentas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donde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ya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tienen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incumbencia</a:t>
            </a:r>
            <a:endParaRPr sz="800" dirty="0">
              <a:solidFill>
                <a:srgbClr val="1A1A1A"/>
              </a:solidFill>
            </a:endParaRPr>
          </a:p>
          <a:p>
            <a:r>
              <a:rPr sz="800" dirty="0">
                <a:solidFill>
                  <a:srgbClr val="1A1A1A"/>
                </a:solidFill>
              </a:rPr>
              <a:t>• </a:t>
            </a:r>
            <a:r>
              <a:rPr sz="800" dirty="0" err="1">
                <a:solidFill>
                  <a:srgbClr val="1A1A1A"/>
                </a:solidFill>
              </a:rPr>
              <a:t>Renovaciones</a:t>
            </a:r>
            <a:r>
              <a:rPr sz="800" dirty="0">
                <a:solidFill>
                  <a:srgbClr val="1A1A1A"/>
                </a:solidFill>
              </a:rPr>
              <a:t> de </a:t>
            </a:r>
            <a:r>
              <a:rPr sz="800" dirty="0" err="1">
                <a:solidFill>
                  <a:srgbClr val="1A1A1A"/>
                </a:solidFill>
              </a:rPr>
              <a:t>contratos</a:t>
            </a:r>
            <a:r>
              <a:rPr sz="800" dirty="0">
                <a:solidFill>
                  <a:srgbClr val="1A1A1A"/>
                </a:solidFill>
              </a:rPr>
              <a:t> con </a:t>
            </a:r>
            <a:r>
              <a:rPr sz="800" dirty="0" err="1">
                <a:solidFill>
                  <a:srgbClr val="1A1A1A"/>
                </a:solidFill>
              </a:rPr>
              <a:t>relaciones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establecidas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en</a:t>
            </a:r>
            <a:r>
              <a:rPr sz="800" dirty="0">
                <a:solidFill>
                  <a:srgbClr val="1A1A1A"/>
                </a:solidFill>
              </a:rPr>
              <a:t> IT medio</a:t>
            </a:r>
          </a:p>
          <a:p>
            <a:r>
              <a:rPr sz="800" dirty="0">
                <a:solidFill>
                  <a:srgbClr val="1A1A1A"/>
                </a:solidFill>
              </a:rPr>
              <a:t>• </a:t>
            </a:r>
            <a:r>
              <a:rPr sz="800" dirty="0" err="1">
                <a:solidFill>
                  <a:srgbClr val="1A1A1A"/>
                </a:solidFill>
              </a:rPr>
              <a:t>Argumento</a:t>
            </a:r>
            <a:r>
              <a:rPr sz="800" dirty="0">
                <a:solidFill>
                  <a:srgbClr val="1A1A1A"/>
                </a:solidFill>
              </a:rPr>
              <a:t> politico de "</a:t>
            </a:r>
            <a:r>
              <a:rPr sz="800" dirty="0" err="1">
                <a:solidFill>
                  <a:srgbClr val="1A1A1A"/>
                </a:solidFill>
              </a:rPr>
              <a:t>proveedor</a:t>
            </a:r>
            <a:r>
              <a:rPr sz="800" dirty="0">
                <a:solidFill>
                  <a:srgbClr val="1A1A1A"/>
                </a:solidFill>
              </a:rPr>
              <a:t> local" </a:t>
            </a:r>
            <a:r>
              <a:rPr sz="800" dirty="0" err="1">
                <a:solidFill>
                  <a:srgbClr val="1A1A1A"/>
                </a:solidFill>
              </a:rPr>
              <a:t>en</a:t>
            </a:r>
            <a:r>
              <a:rPr sz="800" dirty="0">
                <a:solidFill>
                  <a:srgbClr val="1A1A1A"/>
                </a:solidFill>
              </a:rPr>
              <a:t> </a:t>
            </a:r>
            <a:r>
              <a:rPr sz="800" dirty="0" err="1">
                <a:solidFill>
                  <a:srgbClr val="1A1A1A"/>
                </a:solidFill>
              </a:rPr>
              <a:t>licitaciones</a:t>
            </a:r>
            <a:r>
              <a:rPr sz="800" dirty="0">
                <a:solidFill>
                  <a:srgbClr val="1A1A1A"/>
                </a:solidFill>
              </a:rPr>
              <a:t> y </a:t>
            </a:r>
            <a:r>
              <a:rPr sz="800" dirty="0" err="1">
                <a:solidFill>
                  <a:srgbClr val="1A1A1A"/>
                </a:solidFill>
              </a:rPr>
              <a:t>paraestatales</a:t>
            </a:r>
            <a:endParaRPr sz="800" dirty="0">
              <a:solidFill>
                <a:srgbClr val="1A1A1A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© 2026 Accenture.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All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rights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reserved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.</a:t>
            </a:r>
          </a:p>
        </p:txBody>
      </p:sp>
      <p:pic>
        <p:nvPicPr>
          <p:cNvPr id="4" name="Picture 2" descr="IBM logo PNG">
            <a:extLst>
              <a:ext uri="{FF2B5EF4-FFF2-40B4-BE49-F238E27FC236}">
                <a16:creationId xmlns:a16="http://schemas.microsoft.com/office/drawing/2014/main" id="{C1182028-1537-1089-E235-FA27EDD64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32" y="1501863"/>
            <a:ext cx="378739" cy="16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Capgemini Logo, symbol, meaning, history, PNG, brand">
            <a:extLst>
              <a:ext uri="{FF2B5EF4-FFF2-40B4-BE49-F238E27FC236}">
                <a16:creationId xmlns:a16="http://schemas.microsoft.com/office/drawing/2014/main" id="{E829F383-F5F7-0A9E-6B8B-6BAFC169F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11" y="2478859"/>
            <a:ext cx="468255" cy="26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Softtek recibe la primera certificación Rapid Deployment Solution de ...">
            <a:extLst>
              <a:ext uri="{FF2B5EF4-FFF2-40B4-BE49-F238E27FC236}">
                <a16:creationId xmlns:a16="http://schemas.microsoft.com/office/drawing/2014/main" id="{D905138E-6727-5CAC-EC28-C06411012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93" y="3452419"/>
            <a:ext cx="362678" cy="221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00000"/>
            <a:ext cx="7500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2800" b="1" i="0" noProof="0" dirty="0" err="1">
                <a:solidFill>
                  <a:srgbClr val="7500C0"/>
                </a:solidFill>
                <a:latin typeface="Arial"/>
              </a:rPr>
              <a:t>Challenges</a:t>
            </a:r>
            <a:r>
              <a:rPr lang="es-MX" sz="2800" b="1" i="0" noProof="0" dirty="0">
                <a:solidFill>
                  <a:srgbClr val="7500C0"/>
                </a:solidFill>
                <a:latin typeface="Arial"/>
              </a:rPr>
              <a:t> &amp; </a:t>
            </a:r>
            <a:r>
              <a:rPr lang="es-MX" sz="2800" b="1" i="0" noProof="0" dirty="0" err="1">
                <a:solidFill>
                  <a:srgbClr val="7500C0"/>
                </a:solidFill>
                <a:latin typeface="Arial"/>
              </a:rPr>
              <a:t>Asks</a:t>
            </a:r>
            <a:endParaRPr lang="es-MX" sz="2800" b="1" i="0" noProof="0" dirty="0">
              <a:solidFill>
                <a:srgbClr val="7500C0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535000"/>
            <a:ext cx="90000" cy="9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81480" y="1520000"/>
            <a:ext cx="383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400" b="1" i="0" noProof="0" dirty="0" err="1">
                <a:solidFill>
                  <a:srgbClr val="7500C0"/>
                </a:solidFill>
                <a:latin typeface="Arial"/>
              </a:rPr>
              <a:t>Challenges</a:t>
            </a:r>
            <a:endParaRPr lang="es-MX" sz="1400" b="1" i="0" noProof="0" dirty="0">
              <a:solidFill>
                <a:srgbClr val="7500C0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950000"/>
            <a:ext cx="60000" cy="6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21480" y="1881446"/>
            <a:ext cx="38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dirty="0" err="1">
                <a:solidFill>
                  <a:srgbClr val="1A1A1A"/>
                </a:solidFill>
              </a:rPr>
              <a:t>Concentracion</a:t>
            </a:r>
            <a:r>
              <a:rPr sz="900" b="1" dirty="0">
                <a:solidFill>
                  <a:srgbClr val="1A1A1A"/>
                </a:solidFill>
              </a:rPr>
              <a:t> </a:t>
            </a:r>
            <a:r>
              <a:rPr sz="900" b="1" dirty="0" err="1">
                <a:solidFill>
                  <a:srgbClr val="1A1A1A"/>
                </a:solidFill>
              </a:rPr>
              <a:t>en</a:t>
            </a:r>
            <a:r>
              <a:rPr sz="900" b="1" dirty="0">
                <a:solidFill>
                  <a:srgbClr val="1A1A1A"/>
                </a:solidFill>
              </a:rPr>
              <a:t> Newmont</a:t>
            </a:r>
            <a:r>
              <a:rPr lang="en-US" sz="900" b="1" dirty="0">
                <a:solidFill>
                  <a:srgbClr val="1A1A1A"/>
                </a:solidFill>
              </a:rPr>
              <a:t>, Liverpool y </a:t>
            </a:r>
            <a:r>
              <a:rPr lang="en-US" sz="900" b="1" dirty="0" err="1">
                <a:solidFill>
                  <a:srgbClr val="1A1A1A"/>
                </a:solidFill>
              </a:rPr>
              <a:t>otros</a:t>
            </a:r>
            <a:r>
              <a:rPr lang="en-US" sz="900" b="1" dirty="0">
                <a:solidFill>
                  <a:srgbClr val="1A1A1A"/>
                </a:solidFill>
              </a:rPr>
              <a:t> </a:t>
            </a:r>
            <a:r>
              <a:rPr lang="en-US" sz="900" b="1" dirty="0" err="1">
                <a:solidFill>
                  <a:srgbClr val="1A1A1A"/>
                </a:solidFill>
              </a:rPr>
              <a:t>donde</a:t>
            </a:r>
            <a:r>
              <a:rPr lang="en-US" sz="900" b="1" dirty="0">
                <a:solidFill>
                  <a:srgbClr val="1A1A1A"/>
                </a:solidFill>
              </a:rPr>
              <a:t> Podemos </a:t>
            </a:r>
            <a:r>
              <a:rPr lang="en-US" sz="900" b="1" dirty="0" err="1">
                <a:solidFill>
                  <a:srgbClr val="1A1A1A"/>
                </a:solidFill>
              </a:rPr>
              <a:t>ampliar</a:t>
            </a:r>
            <a:r>
              <a:rPr lang="en-US" sz="900" b="1" dirty="0">
                <a:solidFill>
                  <a:srgbClr val="1A1A1A"/>
                </a:solidFill>
              </a:rPr>
              <a:t> la </a:t>
            </a:r>
            <a:r>
              <a:rPr lang="en-US" sz="900" b="1" dirty="0" err="1">
                <a:solidFill>
                  <a:srgbClr val="1A1A1A"/>
                </a:solidFill>
              </a:rPr>
              <a:t>oferta</a:t>
            </a:r>
            <a:r>
              <a:rPr sz="900" b="1" dirty="0">
                <a:solidFill>
                  <a:srgbClr val="1A1A1A"/>
                </a:solidFill>
              </a:rPr>
              <a:t>: </a:t>
            </a:r>
            <a:r>
              <a:rPr sz="900" b="0" dirty="0">
                <a:solidFill>
                  <a:srgbClr val="555555"/>
                </a:solidFill>
              </a:rPr>
              <a:t>$677K de backlog SI se </a:t>
            </a:r>
            <a:r>
              <a:rPr sz="900" b="0" dirty="0" err="1">
                <a:solidFill>
                  <a:srgbClr val="555555"/>
                </a:solidFill>
              </a:rPr>
              <a:t>cae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completamente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en</a:t>
            </a:r>
            <a:r>
              <a:rPr sz="900" b="0" dirty="0">
                <a:solidFill>
                  <a:srgbClr val="555555"/>
                </a:solidFill>
              </a:rPr>
              <a:t> Q3-Q4 sin </a:t>
            </a:r>
            <a:r>
              <a:rPr sz="900" b="0" dirty="0" err="1">
                <a:solidFill>
                  <a:srgbClr val="555555"/>
                </a:solidFill>
              </a:rPr>
              <a:t>renovacion</a:t>
            </a:r>
            <a:r>
              <a:rPr sz="900" b="0" dirty="0">
                <a:solidFill>
                  <a:srgbClr val="555555"/>
                </a:solidFill>
              </a:rPr>
              <a:t>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710382"/>
            <a:ext cx="60000" cy="6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591480" y="2640000"/>
            <a:ext cx="38000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dirty="0">
                <a:solidFill>
                  <a:srgbClr val="1A1A1A"/>
                </a:solidFill>
              </a:rPr>
              <a:t>Deals </a:t>
            </a:r>
            <a:r>
              <a:rPr sz="900" b="1" dirty="0" err="1">
                <a:solidFill>
                  <a:srgbClr val="1A1A1A"/>
                </a:solidFill>
              </a:rPr>
              <a:t>grandes</a:t>
            </a:r>
            <a:r>
              <a:rPr sz="900" b="1" dirty="0">
                <a:solidFill>
                  <a:srgbClr val="1A1A1A"/>
                </a:solidFill>
              </a:rPr>
              <a:t> </a:t>
            </a:r>
            <a:r>
              <a:rPr lang="en-US" sz="900" b="1" dirty="0" err="1">
                <a:solidFill>
                  <a:srgbClr val="1A1A1A"/>
                </a:solidFill>
              </a:rPr>
              <a:t>en</a:t>
            </a:r>
            <a:r>
              <a:rPr lang="en-US" sz="900" b="1" dirty="0">
                <a:solidFill>
                  <a:srgbClr val="1A1A1A"/>
                </a:solidFill>
              </a:rPr>
              <a:t> H2</a:t>
            </a:r>
            <a:r>
              <a:rPr sz="900" b="1" dirty="0">
                <a:solidFill>
                  <a:srgbClr val="1A1A1A"/>
                </a:solidFill>
              </a:rPr>
              <a:t>: </a:t>
            </a:r>
            <a:r>
              <a:rPr sz="900" b="0" dirty="0">
                <a:solidFill>
                  <a:srgbClr val="555555"/>
                </a:solidFill>
              </a:rPr>
              <a:t>Banamex ($</a:t>
            </a:r>
            <a:r>
              <a:rPr lang="en-US" sz="900" b="0" dirty="0">
                <a:solidFill>
                  <a:srgbClr val="555555"/>
                </a:solidFill>
              </a:rPr>
              <a:t>2</a:t>
            </a:r>
            <a:r>
              <a:rPr sz="900" b="0" dirty="0">
                <a:solidFill>
                  <a:srgbClr val="555555"/>
                </a:solidFill>
              </a:rPr>
              <a:t>.2M) y buffer </a:t>
            </a:r>
            <a:r>
              <a:rPr sz="900" b="0" dirty="0" err="1">
                <a:solidFill>
                  <a:srgbClr val="555555"/>
                </a:solidFill>
              </a:rPr>
              <a:t>Otros</a:t>
            </a:r>
            <a:r>
              <a:rPr sz="900" b="0" dirty="0">
                <a:solidFill>
                  <a:srgbClr val="555555"/>
                </a:solidFill>
              </a:rPr>
              <a:t> ($</a:t>
            </a:r>
            <a:r>
              <a:rPr lang="en-US" sz="900" b="0" dirty="0">
                <a:solidFill>
                  <a:srgbClr val="555555"/>
                </a:solidFill>
              </a:rPr>
              <a:t>3</a:t>
            </a:r>
            <a:r>
              <a:rPr sz="900" b="0" dirty="0">
                <a:solidFill>
                  <a:srgbClr val="555555"/>
                </a:solidFill>
              </a:rPr>
              <a:t>.8M) </a:t>
            </a:r>
            <a:r>
              <a:rPr sz="900" b="0" dirty="0" err="1">
                <a:solidFill>
                  <a:srgbClr val="555555"/>
                </a:solidFill>
              </a:rPr>
              <a:t>representan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el</a:t>
            </a:r>
            <a:r>
              <a:rPr sz="900" b="0" dirty="0">
                <a:solidFill>
                  <a:srgbClr val="555555"/>
                </a:solidFill>
              </a:rPr>
              <a:t> 50% del revenue de H2. Un </a:t>
            </a:r>
            <a:r>
              <a:rPr sz="900" b="0" dirty="0" err="1">
                <a:solidFill>
                  <a:srgbClr val="555555"/>
                </a:solidFill>
              </a:rPr>
              <a:t>retraso</a:t>
            </a:r>
            <a:r>
              <a:rPr sz="900" b="0" dirty="0">
                <a:solidFill>
                  <a:srgbClr val="555555"/>
                </a:solidFill>
              </a:rPr>
              <a:t> de un quarter </a:t>
            </a:r>
            <a:r>
              <a:rPr sz="900" b="0" dirty="0" err="1">
                <a:solidFill>
                  <a:srgbClr val="555555"/>
                </a:solidFill>
              </a:rPr>
              <a:t>en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cualquiera</a:t>
            </a:r>
            <a:r>
              <a:rPr sz="900" b="0" dirty="0">
                <a:solidFill>
                  <a:srgbClr val="555555"/>
                </a:solidFill>
              </a:rPr>
              <a:t> de </a:t>
            </a:r>
            <a:r>
              <a:rPr sz="900" b="0" dirty="0" err="1">
                <a:solidFill>
                  <a:srgbClr val="555555"/>
                </a:solidFill>
              </a:rPr>
              <a:t>estos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impacta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materialmente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el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anio</a:t>
            </a:r>
            <a:r>
              <a:rPr sz="900" b="0" dirty="0">
                <a:solidFill>
                  <a:srgbClr val="555555"/>
                </a:solidFill>
              </a:rPr>
              <a:t> fiscal.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522529"/>
            <a:ext cx="60000" cy="6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81480" y="3464338"/>
            <a:ext cx="38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rgbClr val="1A1A1A"/>
                </a:solidFill>
              </a:rPr>
              <a:t>Cierre </a:t>
            </a:r>
            <a:r>
              <a:rPr lang="en-US" sz="900" b="1" dirty="0" err="1">
                <a:solidFill>
                  <a:srgbClr val="1A1A1A"/>
                </a:solidFill>
              </a:rPr>
              <a:t>importante</a:t>
            </a:r>
            <a:r>
              <a:rPr lang="en-US" sz="900" b="1" dirty="0">
                <a:solidFill>
                  <a:srgbClr val="1A1A1A"/>
                </a:solidFill>
              </a:rPr>
              <a:t> </a:t>
            </a:r>
            <a:r>
              <a:rPr lang="en-US" sz="900" b="1" dirty="0" err="1">
                <a:solidFill>
                  <a:srgbClr val="1A1A1A"/>
                </a:solidFill>
              </a:rPr>
              <a:t>en</a:t>
            </a:r>
            <a:r>
              <a:rPr lang="en-US" sz="900" b="1" dirty="0">
                <a:solidFill>
                  <a:srgbClr val="1A1A1A"/>
                </a:solidFill>
              </a:rPr>
              <a:t> </a:t>
            </a:r>
            <a:r>
              <a:rPr lang="en-US" sz="900" b="1" dirty="0" err="1">
                <a:solidFill>
                  <a:srgbClr val="1A1A1A"/>
                </a:solidFill>
              </a:rPr>
              <a:t>el</a:t>
            </a:r>
            <a:r>
              <a:rPr lang="en-US" sz="900" b="1" dirty="0">
                <a:solidFill>
                  <a:srgbClr val="1A1A1A"/>
                </a:solidFill>
              </a:rPr>
              <a:t> </a:t>
            </a:r>
            <a:r>
              <a:rPr sz="900" b="1" dirty="0">
                <a:solidFill>
                  <a:srgbClr val="1A1A1A"/>
                </a:solidFill>
              </a:rPr>
              <a:t>Q1: </a:t>
            </a:r>
            <a:r>
              <a:rPr sz="900" b="0" dirty="0">
                <a:solidFill>
                  <a:srgbClr val="555555"/>
                </a:solidFill>
              </a:rPr>
              <a:t>Actinver ($1.2M) y Arca ($0.8M) son </a:t>
            </a:r>
            <a:r>
              <a:rPr sz="900" b="0" dirty="0" err="1">
                <a:solidFill>
                  <a:srgbClr val="555555"/>
                </a:solidFill>
              </a:rPr>
              <a:t>los</a:t>
            </a:r>
            <a:r>
              <a:rPr sz="900" b="0" dirty="0">
                <a:solidFill>
                  <a:srgbClr val="555555"/>
                </a:solidFill>
              </a:rPr>
              <a:t> deals mas </a:t>
            </a:r>
            <a:r>
              <a:rPr sz="900" b="0" dirty="0" err="1">
                <a:solidFill>
                  <a:srgbClr val="555555"/>
                </a:solidFill>
              </a:rPr>
              <a:t>grandes</a:t>
            </a:r>
            <a:r>
              <a:rPr sz="900" b="0" dirty="0">
                <a:solidFill>
                  <a:srgbClr val="555555"/>
                </a:solidFill>
              </a:rPr>
              <a:t> de Q1.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1480" y="1535000"/>
            <a:ext cx="90000" cy="9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921480" y="1520000"/>
            <a:ext cx="383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400" b="1" i="0" noProof="0" dirty="0" err="1">
                <a:solidFill>
                  <a:srgbClr val="7500C0"/>
                </a:solidFill>
                <a:latin typeface="Arial"/>
              </a:rPr>
              <a:t>Asks</a:t>
            </a:r>
            <a:endParaRPr lang="es-MX" sz="1400" b="1" i="0" noProof="0" dirty="0">
              <a:solidFill>
                <a:srgbClr val="7500C0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51480" y="1950000"/>
            <a:ext cx="60000" cy="6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4931480" y="1850887"/>
            <a:ext cx="38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dirty="0" err="1">
                <a:solidFill>
                  <a:srgbClr val="7B0099"/>
                </a:solidFill>
              </a:rPr>
              <a:t>Soporte</a:t>
            </a:r>
            <a:r>
              <a:rPr sz="900" b="1" dirty="0">
                <a:solidFill>
                  <a:srgbClr val="7B0099"/>
                </a:solidFill>
              </a:rPr>
              <a:t> </a:t>
            </a:r>
            <a:r>
              <a:rPr sz="900" b="1" dirty="0" err="1">
                <a:solidFill>
                  <a:srgbClr val="7B0099"/>
                </a:solidFill>
              </a:rPr>
              <a:t>ejecutivo</a:t>
            </a:r>
            <a:r>
              <a:rPr sz="900" b="1" dirty="0">
                <a:solidFill>
                  <a:srgbClr val="7B0099"/>
                </a:solidFill>
              </a:rPr>
              <a:t> (MD/DL): </a:t>
            </a:r>
            <a:r>
              <a:rPr sz="900" b="0" dirty="0">
                <a:solidFill>
                  <a:srgbClr val="555555"/>
                </a:solidFill>
              </a:rPr>
              <a:t>para apertura con CDO/CIO </a:t>
            </a:r>
            <a:r>
              <a:rPr sz="900" b="0" dirty="0" err="1">
                <a:solidFill>
                  <a:srgbClr val="555555"/>
                </a:solidFill>
              </a:rPr>
              <a:t>en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lang="en-US" sz="900" b="0" dirty="0" err="1">
                <a:solidFill>
                  <a:srgbClr val="555555"/>
                </a:solidFill>
              </a:rPr>
              <a:t>Gentera</a:t>
            </a:r>
            <a:r>
              <a:rPr lang="en-US" sz="900" b="0" dirty="0">
                <a:solidFill>
                  <a:srgbClr val="555555"/>
                </a:solidFill>
              </a:rPr>
              <a:t>, </a:t>
            </a:r>
            <a:r>
              <a:rPr sz="900" b="0" dirty="0">
                <a:solidFill>
                  <a:srgbClr val="555555"/>
                </a:solidFill>
              </a:rPr>
              <a:t>Actinver y Arca antes de </a:t>
            </a:r>
            <a:r>
              <a:rPr sz="900" b="0" dirty="0" err="1">
                <a:solidFill>
                  <a:srgbClr val="555555"/>
                </a:solidFill>
              </a:rPr>
              <a:t>sep</a:t>
            </a:r>
            <a:r>
              <a:rPr sz="900" b="0" dirty="0">
                <a:solidFill>
                  <a:srgbClr val="555555"/>
                </a:solidFill>
              </a:rPr>
              <a:t> 2026.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1480" y="2330000"/>
            <a:ext cx="60000" cy="6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4921480" y="2320000"/>
            <a:ext cx="380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sz="900" b="1">
                <a:solidFill>
                  <a:srgbClr val="7B0099"/>
                </a:solidFill>
              </a:rPr>
              <a:t>Inversion en pre-sales: </a:t>
            </a:r>
            <a:r>
              <a:rPr sz="900" b="0">
                <a:solidFill>
                  <a:srgbClr val="555555"/>
                </a:solidFill>
              </a:rPr>
              <a:t>2 FTEs (Data Architect + Solution Lead) en H1 FY27. El pipeline Q1-Q2 tiene 5+ propuestas en paralelo que exceden la capacidad actual del equipo.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1480" y="3014614"/>
            <a:ext cx="60000" cy="6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921480" y="2956221"/>
            <a:ext cx="38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sz="900" b="1" dirty="0" err="1">
                <a:solidFill>
                  <a:srgbClr val="7B0099"/>
                </a:solidFill>
              </a:rPr>
              <a:t>Activacion</a:t>
            </a:r>
            <a:r>
              <a:rPr sz="900" b="1" dirty="0">
                <a:solidFill>
                  <a:srgbClr val="7B0099"/>
                </a:solidFill>
              </a:rPr>
              <a:t> account lead Newmont: </a:t>
            </a:r>
            <a:r>
              <a:rPr sz="900" b="0" dirty="0">
                <a:solidFill>
                  <a:srgbClr val="555555"/>
                </a:solidFill>
              </a:rPr>
              <a:t>antes de Q2 para </a:t>
            </a:r>
            <a:r>
              <a:rPr sz="900" b="0" dirty="0" err="1">
                <a:solidFill>
                  <a:srgbClr val="555555"/>
                </a:solidFill>
              </a:rPr>
              <a:t>explorar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renovacion</a:t>
            </a:r>
            <a:r>
              <a:rPr sz="900" b="0" dirty="0">
                <a:solidFill>
                  <a:srgbClr val="555555"/>
                </a:solidFill>
              </a:rPr>
              <a:t> del </a:t>
            </a:r>
            <a:r>
              <a:rPr sz="900" b="0" dirty="0" err="1">
                <a:solidFill>
                  <a:srgbClr val="555555"/>
                </a:solidFill>
              </a:rPr>
              <a:t>contrato</a:t>
            </a:r>
            <a:r>
              <a:rPr sz="900" b="0" dirty="0">
                <a:solidFill>
                  <a:srgbClr val="555555"/>
                </a:solidFill>
              </a:rPr>
              <a:t> Digital &amp; Data. Sin </a:t>
            </a:r>
            <a:r>
              <a:rPr sz="900" b="0" dirty="0" err="1">
                <a:solidFill>
                  <a:srgbClr val="555555"/>
                </a:solidFill>
              </a:rPr>
              <a:t>accion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en</a:t>
            </a:r>
            <a:r>
              <a:rPr sz="900" b="0" dirty="0">
                <a:solidFill>
                  <a:srgbClr val="555555"/>
                </a:solidFill>
              </a:rPr>
              <a:t> Q1, </a:t>
            </a:r>
            <a:r>
              <a:rPr sz="900" b="0" dirty="0" err="1">
                <a:solidFill>
                  <a:srgbClr val="555555"/>
                </a:solidFill>
              </a:rPr>
              <a:t>el</a:t>
            </a:r>
            <a:r>
              <a:rPr sz="900" b="0" dirty="0">
                <a:solidFill>
                  <a:srgbClr val="555555"/>
                </a:solidFill>
              </a:rPr>
              <a:t> </a:t>
            </a:r>
            <a:r>
              <a:rPr sz="900" b="0" dirty="0" err="1">
                <a:solidFill>
                  <a:srgbClr val="555555"/>
                </a:solidFill>
              </a:rPr>
              <a:t>hueco</a:t>
            </a:r>
            <a:r>
              <a:rPr sz="900" b="0" dirty="0">
                <a:solidFill>
                  <a:srgbClr val="555555"/>
                </a:solidFill>
              </a:rPr>
              <a:t> de $1.3M </a:t>
            </a:r>
            <a:r>
              <a:rPr sz="900" b="0" dirty="0" err="1">
                <a:solidFill>
                  <a:srgbClr val="555555"/>
                </a:solidFill>
              </a:rPr>
              <a:t>en</a:t>
            </a:r>
            <a:r>
              <a:rPr sz="900" b="0" dirty="0">
                <a:solidFill>
                  <a:srgbClr val="555555"/>
                </a:solidFill>
              </a:rPr>
              <a:t> H2 FY27 es inevitable.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© 2026 Accenture.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All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rights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reserved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7ADC9-440E-D968-42CA-770D469DBD01}"/>
              </a:ext>
            </a:extLst>
          </p:cNvPr>
          <p:cNvSpPr/>
          <p:nvPr/>
        </p:nvSpPr>
        <p:spPr>
          <a:xfrm>
            <a:off x="4751480" y="3522731"/>
            <a:ext cx="60000" cy="6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FFEADA-D8BA-DC83-BFDF-BCBC0B19A42C}"/>
              </a:ext>
            </a:extLst>
          </p:cNvPr>
          <p:cNvSpPr txBox="1"/>
          <p:nvPr/>
        </p:nvSpPr>
        <p:spPr>
          <a:xfrm>
            <a:off x="4931480" y="3464338"/>
            <a:ext cx="380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s-MX" sz="900" dirty="0">
                <a:solidFill>
                  <a:srgbClr val="555555"/>
                </a:solidFill>
              </a:rPr>
              <a:t>100k de inversión para activar modelos de IA en la nube de AWS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iagonal_stripes_fli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94000" y="0"/>
            <a:ext cx="5850000" cy="5143500"/>
          </a:xfrm>
          <a:prstGeom prst="rect">
            <a:avLst/>
          </a:prstGeom>
          <a:solidFill>
            <a:srgbClr val="2E004F"/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480" y="220000"/>
            <a:ext cx="940000" cy="248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05480" y="1950000"/>
            <a:ext cx="5300000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5480" y="2780000"/>
            <a:ext cx="53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8D0E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Let there be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5480" y="3700000"/>
            <a:ext cx="51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Together Reinventing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480" y="4900000"/>
            <a:ext cx="308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Accenture.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1078</Words>
  <Application>Microsoft Office PowerPoint</Application>
  <PresentationFormat>On-screen Show (16:9)</PresentationFormat>
  <Paragraphs>110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Villegas, Elizabeth</dc:creator>
  <cp:keywords/>
  <dc:description>generated using python-pptx</dc:description>
  <cp:lastModifiedBy>Gallegos, Alejandro</cp:lastModifiedBy>
  <cp:revision>7</cp:revision>
  <dcterms:created xsi:type="dcterms:W3CDTF">2013-01-27T09:14:16Z</dcterms:created>
  <dcterms:modified xsi:type="dcterms:W3CDTF">2026-07-10T01:32:43Z</dcterms:modified>
  <cp:category/>
</cp:coreProperties>
</file>