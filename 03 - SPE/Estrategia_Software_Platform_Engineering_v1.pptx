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9" r:id="rId8"/>
    <p:sldId id="263" r:id="rId9"/>
    <p:sldId id="265" r:id="rId10"/>
    <p:sldId id="272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2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43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legos, Alejandro" userId="7a0a55fa-7938-462f-86a3-ee9e344a5cc2" providerId="ADAL" clId="{78F901EC-5879-4A32-9A3E-0F0D8701D1BA}"/>
    <pc:docChg chg="undo custSel delSld modSld sldOrd">
      <pc:chgData name="Gallegos, Alejandro" userId="7a0a55fa-7938-462f-86a3-ee9e344a5cc2" providerId="ADAL" clId="{78F901EC-5879-4A32-9A3E-0F0D8701D1BA}" dt="2026-06-12T16:40:17.583" v="1249" actId="14100"/>
      <pc:docMkLst>
        <pc:docMk/>
      </pc:docMkLst>
      <pc:sldChg chg="modSp mod">
        <pc:chgData name="Gallegos, Alejandro" userId="7a0a55fa-7938-462f-86a3-ee9e344a5cc2" providerId="ADAL" clId="{78F901EC-5879-4A32-9A3E-0F0D8701D1BA}" dt="2026-06-02T01:41:15.086" v="261" actId="403"/>
        <pc:sldMkLst>
          <pc:docMk/>
          <pc:sldMk cId="0" sldId="256"/>
        </pc:sldMkLst>
        <pc:spChg chg="mod">
          <ac:chgData name="Gallegos, Alejandro" userId="7a0a55fa-7938-462f-86a3-ee9e344a5cc2" providerId="ADAL" clId="{78F901EC-5879-4A32-9A3E-0F0D8701D1BA}" dt="2026-06-01T20:40:56.248" v="0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33:27.524" v="183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29:50.681" v="45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1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33:05.019" v="167" actId="404"/>
          <ac:spMkLst>
            <pc:docMk/>
            <pc:sldMk cId="0" sldId="256"/>
            <ac:spMk id="1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1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39:11.097" v="236" actId="1410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2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0:28.253" v="260" actId="404"/>
          <ac:spMkLst>
            <pc:docMk/>
            <pc:sldMk cId="0" sldId="256"/>
            <ac:spMk id="2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25" creationId="{00000000-0000-0000-0000-000000000000}"/>
          </ac:spMkLst>
        </pc:spChg>
      </pc:sldChg>
      <pc:sldChg chg="delSp modSp mod">
        <pc:chgData name="Gallegos, Alejandro" userId="7a0a55fa-7938-462f-86a3-ee9e344a5cc2" providerId="ADAL" clId="{78F901EC-5879-4A32-9A3E-0F0D8701D1BA}" dt="2026-06-02T01:43:30.427" v="287" actId="1076"/>
        <pc:sldMkLst>
          <pc:docMk/>
          <pc:sldMk cId="0" sldId="257"/>
        </pc:sldMkLst>
        <pc:spChg chg="mod">
          <ac:chgData name="Gallegos, Alejandro" userId="7a0a55fa-7938-462f-86a3-ee9e344a5cc2" providerId="ADAL" clId="{78F901EC-5879-4A32-9A3E-0F0D8701D1BA}" dt="2026-06-02T01:43:09.726" v="28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39" creationId="{00000000-0000-0000-0000-000000000000}"/>
          </ac:spMkLst>
        </pc:spChg>
      </pc:sldChg>
      <pc:sldChg chg="delSp modSp mod">
        <pc:chgData name="Gallegos, Alejandro" userId="7a0a55fa-7938-462f-86a3-ee9e344a5cc2" providerId="ADAL" clId="{78F901EC-5879-4A32-9A3E-0F0D8701D1BA}" dt="2026-06-02T02:01:44.939" v="330" actId="20577"/>
        <pc:sldMkLst>
          <pc:docMk/>
          <pc:sldMk cId="0" sldId="258"/>
        </pc:sldMkLst>
        <pc:spChg chg="mod">
          <ac:chgData name="Gallegos, Alejandro" userId="7a0a55fa-7938-462f-86a3-ee9e344a5cc2" providerId="ADAL" clId="{78F901EC-5879-4A32-9A3E-0F0D8701D1BA}" dt="2026-06-02T02:01:44.939" v="33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6:28.968" v="304" actId="20577"/>
          <ac:spMkLst>
            <pc:docMk/>
            <pc:sldMk cId="0" sldId="258"/>
            <ac:spMk id="20" creationId="{00000000-0000-0000-0000-000000000000}"/>
          </ac:spMkLst>
        </pc:spChg>
      </pc:sldChg>
      <pc:sldChg chg="delSp modSp mod">
        <pc:chgData name="Gallegos, Alejandro" userId="7a0a55fa-7938-462f-86a3-ee9e344a5cc2" providerId="ADAL" clId="{78F901EC-5879-4A32-9A3E-0F0D8701D1BA}" dt="2026-06-02T01:55:45.792" v="321" actId="20577"/>
        <pc:sldMkLst>
          <pc:docMk/>
          <pc:sldMk cId="0" sldId="260"/>
        </pc:sldMkLst>
        <pc:spChg chg="mod">
          <ac:chgData name="Gallegos, Alejandro" userId="7a0a55fa-7938-462f-86a3-ee9e344a5cc2" providerId="ADAL" clId="{78F901EC-5879-4A32-9A3E-0F0D8701D1BA}" dt="2026-06-02T01:52:29.213" v="314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52:08.292" v="308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55:45.792" v="321" actId="20577"/>
          <ac:spMkLst>
            <pc:docMk/>
            <pc:sldMk cId="0" sldId="260"/>
            <ac:spMk id="10" creationId="{00000000-0000-0000-0000-000000000000}"/>
          </ac:spMkLst>
        </pc:spChg>
      </pc:sldChg>
      <pc:sldChg chg="delSp modSp mod">
        <pc:chgData name="Gallegos, Alejandro" userId="7a0a55fa-7938-462f-86a3-ee9e344a5cc2" providerId="ADAL" clId="{78F901EC-5879-4A32-9A3E-0F0D8701D1BA}" dt="2026-06-02T02:02:16.312" v="335" actId="1076"/>
        <pc:sldMkLst>
          <pc:docMk/>
          <pc:sldMk cId="0" sldId="265"/>
        </pc:sldMkLst>
        <pc:spChg chg="mod">
          <ac:chgData name="Gallegos, Alejandro" userId="7a0a55fa-7938-462f-86a3-ee9e344a5cc2" providerId="ADAL" clId="{78F901EC-5879-4A32-9A3E-0F0D8701D1BA}" dt="2026-06-02T02:02:09.906" v="334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24" creationId="{00000000-0000-0000-0000-000000000000}"/>
          </ac:spMkLst>
        </pc:spChg>
      </pc:sldChg>
      <pc:sldChg chg="addSp delSp modSp mod ord">
        <pc:chgData name="Gallegos, Alejandro" userId="7a0a55fa-7938-462f-86a3-ee9e344a5cc2" providerId="ADAL" clId="{78F901EC-5879-4A32-9A3E-0F0D8701D1BA}" dt="2026-06-12T16:40:17.583" v="1249" actId="14100"/>
        <pc:sldMkLst>
          <pc:docMk/>
          <pc:sldMk cId="0" sldId="269"/>
        </pc:sldMkLst>
        <pc:spChg chg="mod">
          <ac:chgData name="Gallegos, Alejandro" userId="7a0a55fa-7938-462f-86a3-ee9e344a5cc2" providerId="ADAL" clId="{78F901EC-5879-4A32-9A3E-0F0D8701D1BA}" dt="2026-06-12T16:39:45.480" v="1212" actId="20577"/>
          <ac:spMkLst>
            <pc:docMk/>
            <pc:sldMk cId="0" sldId="269"/>
            <ac:spMk id="5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12T16:39:15.052" v="1164" actId="478"/>
          <ac:spMkLst>
            <pc:docMk/>
            <pc:sldMk cId="0" sldId="269"/>
            <ac:spMk id="6" creationId="{00000000-0000-0000-0000-000000000000}"/>
          </ac:spMkLst>
        </pc:spChg>
        <pc:graphicFrameChg chg="add mod modGraphic">
          <ac:chgData name="Gallegos, Alejandro" userId="7a0a55fa-7938-462f-86a3-ee9e344a5cc2" providerId="ADAL" clId="{78F901EC-5879-4A32-9A3E-0F0D8701D1BA}" dt="2026-06-12T16:40:17.583" v="1249" actId="14100"/>
          <ac:graphicFrameMkLst>
            <pc:docMk/>
            <pc:sldMk cId="0" sldId="269"/>
            <ac:graphicFrameMk id="37" creationId="{51BA6958-EF1B-23DF-5992-5C4F3583C7B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370832"/>
            <a:ext cx="12191695" cy="248716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2743200" cy="1143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A100FF"/>
                </a:solidFill>
                <a:latin typeface="Arial Black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C084FC"/>
                </a:solidFill>
                <a:latin typeface="Calibri"/>
              </a:rPr>
              <a:t>SOFTWARE &amp; PLATFORM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789920" cy="18288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 dirty="0">
                <a:solidFill>
                  <a:srgbClr val="FFFFFF"/>
                </a:solidFill>
                <a:latin typeface="Georgia"/>
              </a:rPr>
              <a:t>We rebuild the engine —</a:t>
            </a:r>
          </a:p>
          <a:p>
            <a:pPr algn="l">
              <a:lnSpc>
                <a:spcPct val="102000"/>
              </a:lnSpc>
            </a:pPr>
            <a:r>
              <a:rPr sz="3600" b="1" i="0" dirty="0" err="1">
                <a:solidFill>
                  <a:srgbClr val="FFFFFF"/>
                </a:solidFill>
                <a:latin typeface="Georgia"/>
              </a:rPr>
              <a:t>reinventando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600" b="1" i="0" dirty="0" err="1">
                <a:solidFill>
                  <a:srgbClr val="FFFFFF"/>
                </a:solidFill>
                <a:latin typeface="Georgia"/>
              </a:rPr>
              <a:t>cómo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se </a:t>
            </a:r>
            <a:r>
              <a:rPr sz="3600" b="1" i="0" dirty="0" err="1">
                <a:solidFill>
                  <a:srgbClr val="FFFFFF"/>
                </a:solidFill>
                <a:latin typeface="Georgia"/>
              </a:rPr>
              <a:t>construye</a:t>
            </a:r>
            <a:endParaRPr sz="3600" b="1" i="0" dirty="0">
              <a:solidFill>
                <a:srgbClr val="FFFFFF"/>
              </a:solidFill>
              <a:latin typeface="Georgia"/>
            </a:endParaRPr>
          </a:p>
          <a:p>
            <a:pPr algn="l">
              <a:lnSpc>
                <a:spcPct val="102000"/>
              </a:lnSpc>
            </a:pPr>
            <a:r>
              <a:rPr sz="3600" b="1" i="0" dirty="0" err="1">
                <a:solidFill>
                  <a:srgbClr val="FFFFFF"/>
                </a:solidFill>
                <a:latin typeface="Georgia"/>
              </a:rPr>
              <a:t>el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software </a:t>
            </a:r>
            <a:r>
              <a:rPr sz="3600" b="1" i="0" dirty="0" err="1">
                <a:solidFill>
                  <a:srgbClr val="FFFFFF"/>
                </a:solidFill>
                <a:latin typeface="Georgia"/>
              </a:rPr>
              <a:t>en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la era de la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10058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4FC"/>
                </a:solidFill>
                <a:latin typeface="Calibri"/>
              </a:rPr>
              <a:t>Estrategia México · FY27  ·  Digital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0E0"/>
                </a:solidFill>
                <a:latin typeface="Calibri"/>
              </a:rPr>
              <a:t>Evolución del DevOps Classic a Agentic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LA PROMESA AL CLIENTE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020056"/>
            <a:ext cx="2052000" cy="4206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i="0" dirty="0">
                <a:solidFill>
                  <a:srgbClr val="A100FF"/>
                </a:solidFill>
              </a:rPr>
              <a:t>− </a:t>
            </a:r>
            <a:r>
              <a:rPr sz="2400" b="1" i="0" dirty="0">
                <a:solidFill>
                  <a:srgbClr val="A100FF"/>
                </a:solidFill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787107"/>
            <a:ext cx="1911268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Time-to-market</a:t>
            </a:r>
          </a:p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(Half the time)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8648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43250" y="5020056"/>
            <a:ext cx="1623060" cy="666849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A100FF"/>
                </a:solidFill>
              </a:rPr>
              <a:t>Fraction of the cost</a:t>
            </a:r>
            <a:endParaRPr sz="2000" b="1" i="0" dirty="0">
              <a:solidFill>
                <a:srgbClr val="A1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71800" y="5787107"/>
            <a:ext cx="1905000" cy="20518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E0E0E0"/>
                </a:solidFill>
                <a:latin typeface="Calibri"/>
              </a:rPr>
              <a:t>Technical debt and TCO reduction </a:t>
            </a:r>
            <a:endParaRPr sz="1000" b="0" i="0" dirty="0">
              <a:solidFill>
                <a:srgbClr val="E0E0E0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11496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11496" y="5020056"/>
            <a:ext cx="2052000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A100FF"/>
                </a:solidFill>
              </a:rPr>
              <a:t>Better quality</a:t>
            </a:r>
            <a:endParaRPr sz="2000" b="1" i="0" dirty="0">
              <a:solidFill>
                <a:srgbClr val="A1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84648" y="5787107"/>
            <a:ext cx="1903025" cy="20518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E0E0E0"/>
                </a:solidFill>
                <a:latin typeface="Calibri"/>
              </a:rPr>
              <a:t>Shift Left, SAST SCA, DAST</a:t>
            </a:r>
            <a:endParaRPr sz="1000" b="0" i="0" dirty="0">
              <a:solidFill>
                <a:srgbClr val="E0E0E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24344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80488" y="5020056"/>
            <a:ext cx="1768145" cy="666849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/>
            <a:r>
              <a:rPr lang="en-US" sz="2000" b="1" dirty="0">
                <a:solidFill>
                  <a:srgbClr val="A100FF"/>
                </a:solidFill>
              </a:rPr>
              <a:t>AI-native delivery</a:t>
            </a:r>
            <a:endParaRPr sz="2000" b="1" dirty="0">
              <a:solidFill>
                <a:srgbClr val="A1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97496" y="5787107"/>
            <a:ext cx="1895856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Workforce agentic-AI</a:t>
            </a:r>
          </a:p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capable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37192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37192" y="5020056"/>
            <a:ext cx="2052000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A100FF"/>
                </a:solidFill>
              </a:rPr>
              <a:t>A</a:t>
            </a:r>
            <a:r>
              <a:rPr lang="en-US" sz="2000" b="1" i="0" dirty="0">
                <a:solidFill>
                  <a:srgbClr val="A100FF"/>
                </a:solidFill>
              </a:rPr>
              <a:t>gent first</a:t>
            </a:r>
            <a:endParaRPr sz="2000" b="1" i="0" dirty="0">
              <a:solidFill>
                <a:srgbClr val="A1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10344" y="5787107"/>
            <a:ext cx="1895856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Engineering con</a:t>
            </a:r>
          </a:p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Human in the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Junio 2026   ·   Confidencial — Uso Interno Accenture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EL ORIGEN  ·  HILO 1 — LAS DOLENCIAS DEL CLIENTE Y QUÉ CAMBIAMOS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Why AI-Native Engineering?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536192"/>
            <a:ext cx="11064240" cy="46288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Este offering </a:t>
            </a:r>
            <a:r>
              <a:rPr lang="en-US" sz="1300" b="0" i="0" dirty="0" err="1">
                <a:solidFill>
                  <a:srgbClr val="4A4A5E"/>
                </a:solidFill>
                <a:latin typeface="Calibri"/>
              </a:rPr>
              <a:t>nació</a:t>
            </a: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de las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dolencias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CIO/CTO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vive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con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software custom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tradicional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. Por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cada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dolencia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una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transformación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concreta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— no un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mensaje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de marketing.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" y="201168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1208" y="2011680"/>
            <a:ext cx="267004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579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1A1A2E"/>
                </a:solidFill>
                <a:latin typeface="Calibri"/>
              </a:rPr>
              <a:t>Technology debt &amp; legacy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0671"/>
            <a:ext cx="2340864" cy="10515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Legacy inflexible y deuda técnica creciendo en silencio. Cada cambio cuesta y rompe más.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142232"/>
            <a:ext cx="234086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233672"/>
            <a:ext cx="2340864" cy="23774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666666"/>
                </a:solidFill>
                <a:latin typeface="Calibri"/>
              </a:rPr>
              <a:t>LO QUE CAMBIAMOS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B21A8"/>
                </a:solidFill>
                <a:latin typeface="Calibri"/>
              </a:rPr>
              <a:t>→ Core evolucionable; deuda visible y gestionada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201168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55848" y="2011680"/>
            <a:ext cx="267004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21579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78608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1A1A2E"/>
                </a:solidFill>
                <a:latin typeface="Calibri"/>
              </a:rPr>
              <a:t>Vendor lock-in &amp; soberanía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90671"/>
            <a:ext cx="2340864" cy="10515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Dependencias propietarias y restricciones de soberanía. El costo de salida crece año con año.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4142232"/>
            <a:ext cx="234086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4233672"/>
            <a:ext cx="2340864" cy="23774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666666"/>
                </a:solidFill>
                <a:latin typeface="Calibri"/>
              </a:rPr>
              <a:t>LO QUE CAMBIAMOS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526280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B21A8"/>
                </a:solidFill>
                <a:latin typeface="Calibri"/>
              </a:rPr>
              <a:t>→ Portabilidad y soberanía de datos por diseño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201168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0488" y="2011680"/>
            <a:ext cx="267004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1579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578608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1A1A2E"/>
                </a:solidFill>
                <a:latin typeface="Calibri"/>
              </a:rPr>
              <a:t>Presión OPEX, cero innovación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90671"/>
            <a:ext cx="2340864" cy="10515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El run consume el presupuesto. El CFO solo ve costo — el modelo de horas refuerza esa lectura.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142232"/>
            <a:ext cx="234086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4233672"/>
            <a:ext cx="2340864" cy="23774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666666"/>
                </a:solidFill>
                <a:latin typeface="Calibri"/>
              </a:rPr>
              <a:t>LO QUE CAMBIAMOS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526280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B21A8"/>
                </a:solidFill>
                <a:latin typeface="Calibri"/>
              </a:rPr>
              <a:t>→ Capital liberado para innovar, no solo mantener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5128" y="201168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25128" y="2011680"/>
            <a:ext cx="267004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9720" y="21579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578608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1A1A2E"/>
                </a:solidFill>
                <a:latin typeface="Calibri"/>
              </a:rPr>
              <a:t>SDLC lento + SaaS restrictivo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090671"/>
            <a:ext cx="2340864" cy="10515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Time-to-market largo; paquetes/SaaS caros y rígidos. El negocio espera meses por features.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4142232"/>
            <a:ext cx="234086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9720" y="4233672"/>
            <a:ext cx="2340864" cy="23774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666666"/>
                </a:solidFill>
                <a:latin typeface="Calibri"/>
              </a:rPr>
              <a:t>LO QUE CAMBIAMOS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526280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B21A8"/>
                </a:solidFill>
                <a:latin typeface="Calibri"/>
              </a:rPr>
              <a:t>→ Time-to-market en días; build a la medida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" y="5349240"/>
            <a:ext cx="11091672" cy="566928"/>
          </a:xfrm>
          <a:prstGeom prst="rect">
            <a:avLst/>
          </a:prstGeom>
          <a:solidFill>
            <a:srgbClr val="EDE9FE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" y="5458968"/>
            <a:ext cx="10789920" cy="36576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21A8"/>
                </a:solidFill>
                <a:latin typeface="Calibri"/>
              </a:rPr>
              <a:t>Las frustraciones del CIO con el software custom se convierten en la tesis de una nueva forma de construir: half the time, fraction of the cost, better quality.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VISIÓN DEL ABORDAJE  ·  HILO 2 — CAMBIAR LA UNIDAD DE MEDIDA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1A1A2E"/>
                </a:solidFill>
                <a:latin typeface="Georgia"/>
              </a:rPr>
              <a:t>No se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gana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reescribiendo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más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rápido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con las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reglas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del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bodyshop</a:t>
            </a:r>
            <a:endParaRPr sz="2800" b="1" i="0" dirty="0">
              <a:solidFill>
                <a:srgbClr val="1A1A2E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Mientras nos midan en AHR — horas facturadas — estaremos atrapados en la guerra de precio. El salto es cambiar la unidad de medida: de esfuerzo a valor.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21208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914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Georgia"/>
              </a:rPr>
              <a:t>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4632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2E"/>
                </a:solidFill>
                <a:latin typeface="Calibri"/>
              </a:rPr>
              <a:t>AHR — horas facturadas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2E"/>
                </a:solidFill>
                <a:latin typeface="Calibri"/>
              </a:rPr>
              <a:t>(Average Hourly Rate)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606040"/>
            <a:ext cx="6400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06440" y="2606040"/>
            <a:ext cx="82296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A100F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286000"/>
            <a:ext cx="5193792" cy="105156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395728"/>
            <a:ext cx="27432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4FC"/>
                </a:solidFill>
                <a:latin typeface="Georgi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97480"/>
            <a:ext cx="4846320" cy="259045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i="0" dirty="0">
                <a:solidFill>
                  <a:srgbClr val="FFFFFF"/>
                </a:solidFill>
                <a:latin typeface="Calibri"/>
              </a:rPr>
              <a:t>MTTR </a:t>
            </a:r>
            <a:r>
              <a:rPr sz="1350" b="1" i="0" dirty="0" err="1">
                <a:solidFill>
                  <a:srgbClr val="FFFFFF"/>
                </a:solidFill>
                <a:latin typeface="Calibri"/>
              </a:rPr>
              <a:t>Estabilidad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350" b="1" i="0" dirty="0" err="1">
                <a:solidFill>
                  <a:srgbClr val="FFFFFF"/>
                </a:solidFill>
                <a:latin typeface="Calibri"/>
              </a:rPr>
              <a:t>Operativa</a:t>
            </a:r>
            <a:r>
              <a:rPr lang="en-US"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· KPIs · Innovation</a:t>
            </a:r>
            <a:r>
              <a:rPr lang="en-US"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· </a:t>
            </a:r>
            <a:r>
              <a:rPr lang="en-US" sz="1350" b="1" dirty="0">
                <a:solidFill>
                  <a:srgbClr val="FFFFFF"/>
                </a:solidFill>
                <a:latin typeface="Calibri"/>
              </a:rPr>
              <a:t>T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ime-to-market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LA VISIÓN SE EJECUTA CON TRES DECISIONES SIMULTÁNEAS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03250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453128"/>
            <a:ext cx="328269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Cambiar la unidad de medida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020056"/>
            <a:ext cx="3282696" cy="49205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 dirty="0">
                <a:solidFill>
                  <a:srgbClr val="4A4A5E"/>
                </a:solidFill>
                <a:latin typeface="Calibri"/>
              </a:rPr>
              <a:t>De AHR (horas) a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estabilidad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, KPIs e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innovación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. La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velocidad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sostenible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con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calidad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probada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valor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entregado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, no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esfuerzo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facturado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742432"/>
            <a:ext cx="3282696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Premium defendible +25%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8862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79392" y="388620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43983" y="403250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4453128"/>
            <a:ext cx="328269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Integrar capacidades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5020056"/>
            <a:ext cx="3282696" cy="722376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 dirty="0">
                <a:solidFill>
                  <a:srgbClr val="4A4A5E"/>
                </a:solidFill>
                <a:latin typeface="Calibri"/>
              </a:rPr>
              <a:t>Una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orquesta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: Architects + Full-Stack Engineers + Agent Engineers (FDEs) + GenWizard + Reference Architecture + DevSecOps —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alineados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a un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mismo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producto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de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negocio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5742432"/>
            <a:ext cx="3282696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Ningún bodyshop integra esto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0144" y="38862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10144" y="388620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74736" y="403250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453128"/>
            <a:ext cx="328269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Comprometer la calidad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5020056"/>
            <a:ext cx="3282696" cy="722376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 dirty="0">
                <a:solidFill>
                  <a:srgbClr val="4A4A5E"/>
                </a:solidFill>
                <a:latin typeface="Calibri"/>
              </a:rPr>
              <a:t>El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último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10% — observabilidad, runbook, rollback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probado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, on-call — es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el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50% del valor. "Un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componente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casi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producción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no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existe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5742432"/>
            <a:ext cx="3282696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DoD completo, no negociable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02  ·  POR QUÉ EVOLUCIONAR AHORA  ·  HILO 3 — CRECIMIENTO EN EL 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El mercado de software se reinventa con la IA, no solo se opera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46288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>
                <a:solidFill>
                  <a:srgbClr val="4A4A5E"/>
                </a:solidFill>
                <a:latin typeface="Calibri"/>
              </a:rPr>
              <a:t>Software Engineering Services: TAM $</a:t>
            </a: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5.8 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B+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202</a:t>
            </a: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6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creciendo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+</a:t>
            </a: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9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% CAGR. La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oferta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crece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ganando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share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un mercado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expansión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, no solo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defendiendo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cuentas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611880" cy="18288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29184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084FC"/>
                </a:solidFill>
                <a:latin typeface="Calibri"/>
              </a:rPr>
              <a:t>TAM SOFTWARE ENG.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91840" cy="666849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FFFFFF"/>
                </a:solidFill>
                <a:latin typeface="Georgia"/>
              </a:rPr>
              <a:t>$</a:t>
            </a:r>
            <a:r>
              <a:rPr lang="en-US" sz="4000" b="1" i="0" dirty="0">
                <a:solidFill>
                  <a:srgbClr val="FFFFFF"/>
                </a:solidFill>
                <a:latin typeface="Georgia"/>
              </a:rPr>
              <a:t>5.8</a:t>
            </a:r>
            <a:r>
              <a:rPr sz="4000" b="1" i="0" dirty="0">
                <a:solidFill>
                  <a:srgbClr val="FFFFFF"/>
                </a:solidFill>
                <a:latin typeface="Georgia"/>
              </a:rPr>
              <a:t>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291840" cy="381386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dirty="0" err="1">
                <a:solidFill>
                  <a:srgbClr val="E0E0E0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 202</a:t>
            </a:r>
            <a:r>
              <a:rPr lang="en-US" sz="1000" b="0" i="0" dirty="0">
                <a:solidFill>
                  <a:srgbClr val="E0E0E0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  ·  +</a:t>
            </a:r>
            <a:r>
              <a:rPr lang="en-US" sz="1000" b="0" i="0" dirty="0">
                <a:solidFill>
                  <a:srgbClr val="E0E0E0"/>
                </a:solidFill>
                <a:latin typeface="Calibri"/>
              </a:rPr>
              <a:t>9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% CAGR</a:t>
            </a:r>
          </a:p>
          <a:p>
            <a:pPr algn="l">
              <a:lnSpc>
                <a:spcPct val="110000"/>
              </a:lnSpc>
            </a:pPr>
            <a:r>
              <a:rPr sz="1000" b="0" i="0" dirty="0" err="1">
                <a:solidFill>
                  <a:srgbClr val="E0E0E0"/>
                </a:solidFill>
                <a:latin typeface="Calibri"/>
              </a:rPr>
              <a:t>Ambición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 Accenture ~</a:t>
            </a:r>
            <a:r>
              <a:rPr lang="en-US" sz="1000" b="0" i="0" dirty="0">
                <a:solidFill>
                  <a:srgbClr val="E0E0E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% rev CAGR / 5FY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73152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LO QUE EL CIO/CTO ESTÁ HACIENDO HOY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697480"/>
            <a:ext cx="2331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697480"/>
            <a:ext cx="233172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28437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264408"/>
            <a:ext cx="200253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Consolida proveedores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831336"/>
            <a:ext cx="2002536" cy="202082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Reduce socios; las plataformas absorben nicho. Sin diferenciador de ingeniería, el proveedor enfrenta presión de precio y desplazamiento.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697480"/>
            <a:ext cx="2331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2697480"/>
            <a:ext cx="233172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76872" y="28437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264408"/>
            <a:ext cx="200253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Exige ROI antes de escalar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3831336"/>
            <a:ext cx="2002536" cy="202082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Percibe la IA como caja negra. Quiere casos con métricas desde la fase 1 — velocidad, calidad y costo medibles, no promesas.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2697480"/>
            <a:ext cx="2331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60" y="2697480"/>
            <a:ext cx="233172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45752" y="28437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3264408"/>
            <a:ext cx="200253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Presión sobre TCO/OPEX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3831336"/>
            <a:ext cx="2002536" cy="202082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El run consume el presupuesto. La oportunidad real está en modernización + AI-native engineering que libera capital de innovación.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36118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559552"/>
            <a:ext cx="3383280" cy="36576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Contexto MX (IDC): [DATO-REQUERIDO]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03  ·  EVOLUCIÓN DE LA 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De DevOps Classic a AI-Native &amp; Agentic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Mismo ADN — velocidad sostenible, calidad probada, reference architecture — ahora con Agent-First y GenWizard como motor del Build+Reinvent simultáneo.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4068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Georgia"/>
              </a:rPr>
              <a:t>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50292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Georgia"/>
              </a:rPr>
              <a:t>DevOps Classic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Reference Architecture + ADRs canónicos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30168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CI/CD con target DORA Elite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14215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14215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Contract-First (OpenAPI 3.1 / AsyncAPI 2.6)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98264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DevSecOps shift-left (SAST/SCA/secrets)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82312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82312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Observabilidad OTEL + SLOs declarados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Backstage IDP + golden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50408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50408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Trunk-Based + Conventional Commits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286000"/>
            <a:ext cx="5468112" cy="384048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4FC"/>
                </a:solidFill>
                <a:latin typeface="Georgia"/>
              </a:rPr>
              <a:t>FY27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24912"/>
            <a:ext cx="50292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AI-Native &amp; Agentic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4612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24612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Agent-First SDLC con Human in the 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11879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611879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90% workforce agentic-AI capable (FY27)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77639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977639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Agent Engineers / FDEs &gt; 25% headcount (FY28)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34340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GenWizard across el SDLC completo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70916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70916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Frictionless SDLC (Grow the New)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7492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07492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Autonomous Engineering 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44068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44068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Agentic Architectures + Silicon Engineering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80644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80644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Pricing por outcome / autonomía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04  ·  ARQUITECTURA DE LA 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5 sub-ofertas para defender el core y conquistar lo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Marco global, ejecución local. Expand the Core sobre lo construido en DevOps Classic; Grow the New en frentes agentic. Así crecemos en el TAM: defender el core + conquistar lo nuevo.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2176272" cy="310896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EXPAND THE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B21A8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High Velocity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Modernization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Modernización acelerada de legacy con Strangler-Fig y reverse engineering asistido por IA. Reúsa patrones probados.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70632" y="2331720"/>
            <a:ext cx="2176272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GROW THE 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1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Frictionless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SDLC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1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Transformación del SDLC AI-first: golden paths, Backstage IDP, DORA Elite como estándar — no aspiración.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92623" y="2331720"/>
            <a:ext cx="2176272" cy="310896"/>
          </a:xfrm>
          <a:prstGeom prst="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84063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MIXTO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3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B0764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3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AI-Native Custom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3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Reemplazo de SaaS/paquete restrictivo (P&amp;PE) + Silicon Engineering. Build a la medida, agentic por diseño.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14615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14615" y="2331720"/>
            <a:ext cx="2176272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06055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GROW THE 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5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Autonomous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Engineering 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5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Operación de ingeniería agentic: agentes ejecutan el toil del SDLC, humanos lideran las decisiones.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36607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36607" y="2331720"/>
            <a:ext cx="2176272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28047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GROW THE 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7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7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Software Architecture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Foundation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7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Agentic Architectures + digitalmente resiliente y soberano. La base arquitectónica de todo lo demás.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449824"/>
            <a:ext cx="2194560" cy="54864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A100FF"/>
                </a:solidFill>
                <a:latin typeface="Georgia"/>
              </a:rPr>
              <a:t>MOTOR</a:t>
            </a:r>
          </a:p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A100FF"/>
                </a:solidFill>
                <a:latin typeface="Georgia"/>
              </a:rPr>
              <a:t>TRANSVERSAL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449824"/>
            <a:ext cx="8778240" cy="566928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GenWizard · Reinvention.AI · Reference Architecture viva (ADRs · C4 · Twelve-Factor) · Backstage IDP · CNCF landscape · DevSecOps toolchain · CCM v1.8 (estimación calibrada)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REALITY CHECK  ·  CUENTAS Y PIPELINE FY27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48218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0" dirty="0">
                <a:solidFill>
                  <a:srgbClr val="1A1A2E"/>
                </a:solidFill>
                <a:latin typeface="Georgia"/>
              </a:rPr>
              <a:t>Pipeline actual FY26 /FY27</a:t>
            </a:r>
            <a:endParaRPr sz="2800" b="1" i="0" dirty="0">
              <a:solidFill>
                <a:srgbClr val="1A1A2E"/>
              </a:solidFill>
              <a:latin typeface="Georgi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14 / 20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1BA6958-EF1B-23DF-5992-5C4F3583C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728381"/>
              </p:ext>
            </p:extLst>
          </p:nvPr>
        </p:nvGraphicFramePr>
        <p:xfrm>
          <a:off x="749807" y="1405427"/>
          <a:ext cx="10714311" cy="492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678578">
                  <a:extLst>
                    <a:ext uri="{9D8B030D-6E8A-4147-A177-3AD203B41FA5}">
                      <a16:colId xmlns:a16="http://schemas.microsoft.com/office/drawing/2014/main" val="354519814"/>
                    </a:ext>
                  </a:extLst>
                </a:gridCol>
                <a:gridCol w="2678578">
                  <a:extLst>
                    <a:ext uri="{9D8B030D-6E8A-4147-A177-3AD203B41FA5}">
                      <a16:colId xmlns:a16="http://schemas.microsoft.com/office/drawing/2014/main" val="1274239331"/>
                    </a:ext>
                  </a:extLst>
                </a:gridCol>
                <a:gridCol w="2743543">
                  <a:extLst>
                    <a:ext uri="{9D8B030D-6E8A-4147-A177-3AD203B41FA5}">
                      <a16:colId xmlns:a16="http://schemas.microsoft.com/office/drawing/2014/main" val="952470766"/>
                    </a:ext>
                  </a:extLst>
                </a:gridCol>
                <a:gridCol w="2613612">
                  <a:extLst>
                    <a:ext uri="{9D8B030D-6E8A-4147-A177-3AD203B41FA5}">
                      <a16:colId xmlns:a16="http://schemas.microsoft.com/office/drawing/2014/main" val="397920090"/>
                    </a:ext>
                  </a:extLst>
                </a:gridCol>
              </a:tblGrid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Banking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Name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Qualified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Revenues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373936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BBVA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OpenPay</a:t>
                      </a:r>
                      <a:r>
                        <a:rPr lang="en-US" sz="1100" dirty="0"/>
                        <a:t> Foundations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1.5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26070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BBVA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OpenPay</a:t>
                      </a:r>
                      <a:r>
                        <a:rPr lang="en-US" sz="1100" dirty="0"/>
                        <a:t> Business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834266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BBVA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Application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887819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BBVA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Open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674601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Banorte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Software Factory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61090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Actinver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BEM 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67297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Banamex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ServiceNow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75824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Banamex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Reverse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1.8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442868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BanCoppel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Application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176001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BanCoppel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Plan Director </a:t>
                      </a:r>
                      <a:r>
                        <a:rPr lang="en-US" sz="1100" dirty="0" err="1"/>
                        <a:t>Remediación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67289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Scotia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Wealth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72395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Posadas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Tech Debt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521622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50997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 err="1"/>
                        <a:t>Gentera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Nuevo Modelo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84466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AXA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Atlas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400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011615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Banamex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Data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276924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/>
                        <a:t>Volaris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Agentic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870434"/>
                  </a:ext>
                </a:extLst>
              </a:tr>
              <a:tr h="213545">
                <a:tc>
                  <a:txBody>
                    <a:bodyPr/>
                    <a:lstStyle/>
                    <a:p>
                      <a:r>
                        <a:rPr lang="en-US" sz="1100" dirty="0" err="1"/>
                        <a:t>Innovasport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Data Migration a Snowflake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868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05  ·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Cinco pilares de ingeniería — el 6º es el cambio de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El valor no está en escribir código rápido, sino en cerrar gates con disciplina. La velocidad sostenible viene de no saltarlos.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23744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Velocidad sostenible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Target DORA Elite: deploy varias veces/día, lead time &lt; 1 día, CFR &lt; 5%, MTTR &lt; 1 hora.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31335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DORA Elite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3774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2377440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2496312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523744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Contract-First / API-First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944368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OpenAPI 3.1 y AsyncAPI 2.6 escritos antes del primer endpoint. Contract tests bloqueantes en 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831335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Pact bloqueante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23774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10144" y="2377440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3023" y="2496312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523744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Seguridad shift-left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2944368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DevSecOps: SAST + SCA + secrets + container scan verdes y bloqueantes desde el primer commit.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3831335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0 High/Critical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2511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325112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443984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19" y="4471416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El último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Observabilidad + runbook + rollback probado + on-call. El 10% final es el 50% del valor.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79008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DoD completo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432511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79392" y="4325112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4443984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4471416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Service discoverability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892040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Backstage como default, catalog-info.yaml vivo en cada repo. Cero shadow services.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5779008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Catalog vivo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0144" y="4325112"/>
            <a:ext cx="3611880" cy="1783080"/>
          </a:xfrm>
          <a:prstGeom prst="rect">
            <a:avLst/>
          </a:prstGeom>
          <a:solidFill>
            <a:srgbClr val="6B21A8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10144" y="4325112"/>
            <a:ext cx="54864" cy="178308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3" y="4443984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084FC"/>
                </a:solidFill>
                <a:latin typeface="Georgia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0224" y="4471416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Agent-First, Human in the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4892040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E0E0E0"/>
                </a:solidFill>
                <a:latin typeface="Calibri"/>
              </a:rPr>
              <a:t>Agentes ejecutan el toil del SDLC; los ingenieros lideran arquitectura y decisiones.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5779008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C084FC"/>
                </a:solidFill>
                <a:latin typeface="Calibri"/>
              </a:rPr>
              <a:t>NUEVO FY27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07  ·  EQUIPOS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Squads multidisciplinarios alineados a producto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880" y="1537915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 err="1">
                <a:solidFill>
                  <a:srgbClr val="4A4A5E"/>
                </a:solidFill>
                <a:latin typeface="Calibri"/>
              </a:rPr>
              <a:t>Eliminamos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silos: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cada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squad es accountable end-to-end de un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producto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, con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arquitectura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ingeniería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full-stack y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capacidad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agentic juntas.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2697480"/>
            <a:ext cx="2377440" cy="128016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2834640"/>
            <a:ext cx="2194560" cy="100584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Georgia"/>
              </a:rPr>
              <a:t>PRODUCTO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Georgia"/>
              </a:rPr>
              <a:t>DE NEGOCIO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Georgia"/>
              </a:rPr>
              <a:t>Squad e2e accountable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Architect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28600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2359152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Full-Stack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Engineer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5699" y="2196283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41419" y="2269435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Agent Engineer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(FDE)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15939" y="2196283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61659" y="2269435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QE / SDET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42900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502152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SW Engineering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42900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3502152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Security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Specialist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95699" y="3339283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41419" y="3412435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15939" y="3339283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61659" y="3412435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Product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AMBICIÓN DE TALENTO (CLAUDE.md offering)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4A5E"/>
                </a:solidFill>
                <a:latin typeface="Calibri"/>
              </a:rPr>
              <a:t>•  90% de la fuerza S&amp;PE agentic-AI capable para FY27.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57216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4A4A5E"/>
                </a:solidFill>
                <a:latin typeface="Calibri"/>
              </a:rPr>
              <a:t>•  Agent Engineers (incl. FDEs) &gt; 25% del headcount para FY28.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68112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4A5E"/>
                </a:solidFill>
                <a:latin typeface="Calibri"/>
              </a:rPr>
              <a:t>•  ~10% YoY de incremento en Architects y FSEs.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RESULTADOS ESPERADOS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8463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4956048"/>
            <a:ext cx="164592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A100FF"/>
                </a:solidFill>
                <a:latin typeface="Georgia"/>
              </a:rPr>
              <a:t>−50%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40680"/>
            <a:ext cx="155448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time-to-market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48463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79" y="4956048"/>
            <a:ext cx="164592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A100FF"/>
                </a:solidFill>
                <a:latin typeface="Georgia"/>
              </a:rPr>
              <a:t>Fracción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440680"/>
            <a:ext cx="155448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del costo de build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48463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66960" y="4956048"/>
            <a:ext cx="164592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A100FF"/>
                </a:solidFill>
                <a:latin typeface="Georgia"/>
              </a:rPr>
              <a:t>DORA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5440680"/>
            <a:ext cx="155448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Elite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12  ·  ESTRUCTURA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Roles que ejecutan la estrategia S&amp;PE y con quién se conectan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Equipo S&amp;PE México con accountability E2E del business case + interlock con offerings Digital Core, engines y ecosistema. Nombres: [DATO-REQUERIDO].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EQUIPO S&amp;PE MÉXICO  ·  CADENA DE ACCOUNTABILITY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5486400" cy="64008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52120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S&amp;PE México Lead   ·   P&amp;L · Pipeline · Delivery · Cliente   ·   [DATO-REQ.]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483864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Architecture Lead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429000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3483864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Agent Engineer Lead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42232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197096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QE Lead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4142232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7288" y="4197096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SRE / DevOps Lead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55464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910328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Solution Architect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4855464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47288" y="4910328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Industry SMEs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INTERLOCK  ·  CON QUIÉN SE CONECTAN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51760"/>
            <a:ext cx="5239512" cy="749808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724912"/>
            <a:ext cx="49834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OFFERINGS DIGITAL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999232"/>
            <a:ext cx="4983480" cy="38404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01 TS&amp;T · 02 AI Enabled Enterprise · 05 Modern Data Platform · 04 Intelligent Infra · 07 AMS Reinvention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93008"/>
            <a:ext cx="523951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3566160"/>
            <a:ext cx="49834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ENGINES · 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40480"/>
            <a:ext cx="4983480" cy="38404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GenWizard · Reinvention.AI · AWS / GCP / Azure / OCI · GitHub / GitLab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34256"/>
            <a:ext cx="5239512" cy="749808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4407408"/>
            <a:ext cx="49834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DELIVERY SMEs (GenAI Projects)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81728"/>
            <a:ext cx="4983480" cy="38404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Software Engineering · Interoperability · IT Operating Model · Cybersecurity · SRE &amp; AIOps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175504"/>
            <a:ext cx="523951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248656"/>
            <a:ext cx="49834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FUNCIONES · CLIENTE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522976"/>
            <a:ext cx="4983480" cy="38404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Pricing · Commercial · Legal  ·  C-Suite cliente: CIO / CTO / Product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6044184"/>
            <a:ext cx="10972800" cy="34747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PRINCIPIO RECTOR:  squad accountable end-to-end del componente  ·  cero silos técnicos  ·  full-stack + agent engineers  ·  upskilling continuo en Agentic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14  ·  RIESGOS Y DEPENDENCIAS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Lo que debemos gobernar para que el plan se cumpla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El offering no entrega en aislamiento. Estas dependencias cross-offering y anti-patrones son los riesgos reales del plan FY27.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DEPENDENCIAS CROSS-OFFERING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5440680" cy="603504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04 Intelligent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Todo deploy requiere LZ + cluster + observability infra.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28415"/>
            <a:ext cx="5440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79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05 Modern Data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48456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Apps data-intensive requieren contrato de datos.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05072"/>
            <a:ext cx="5440680" cy="603504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59935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02 AI Enabled 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25112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Apps con IA requieren endpoint + contract de modelo.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81727"/>
            <a:ext cx="5440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1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07 AMS Reinvention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01767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Toda app productiva requiere modelo AMS con runbooks.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58383"/>
            <a:ext cx="5440680" cy="603504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413247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01 TS&amp;T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78423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Cambios a reference architecture requieren ADR previo.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ANTI-PATRONES QUE NUNCA HACEMOS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651760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2688336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688336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Lanzar sin runbook ni on-call — alguien es SPOF a las 3am.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218688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255264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255264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Rewrite-from-scratch sin Strangler-Fig — 90% fracasa bajo el 50%.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85615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822191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822191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IDP sin demanda real de developers — nace muerto.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352544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389120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89120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Saltarse security scans "porque es solo dev".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919472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956048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956048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Estimar sin CCM v1.8 + SME — error sistemático de pricing.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486400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5522976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522976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Vender velocidad sin discutir el costo AMS de 3 años.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82880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A100FF"/>
                </a:solidFill>
                <a:latin typeface="Georgia"/>
              </a:rPr>
              <a:t>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972800" cy="19202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EL SOFTWARE QUE</a:t>
            </a:r>
          </a:p>
          <a:p>
            <a:pPr algn="l">
              <a:lnSpc>
                <a:spcPct val="103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CONSTRUIMOS HOY DEFINE</a:t>
            </a:r>
          </a:p>
          <a:p>
            <a:pPr algn="l">
              <a:lnSpc>
                <a:spcPct val="103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EL CORE DE MAÑANA.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10789920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0E0E0"/>
                </a:solidFill>
                <a:latin typeface="Calibri"/>
              </a:rPr>
              <a:t>Cambiamos las dolencias del cliente, cambiamos la unidad de medida (de AHR a estabilidad, KPIs e innovación) y crecemos en un TAM de $250B+. La oportunidad es para quien construye half-the-time, fraction-of-cost, better-quality — con disciplina de ingeniería, no promesas. Nosotros lo hacemos.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34840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PRÓXIMOS 30 DÍAS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00600"/>
            <a:ext cx="3474720" cy="132588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4892040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5257800"/>
            <a:ext cx="3200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59552"/>
            <a:ext cx="320040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E0E0E0"/>
                </a:solidFill>
                <a:latin typeface="Calibri"/>
              </a:rPr>
              <a:t>Taller ejecutivo con el equipo S&amp;PE MX para alinear pipeline FY27 y prioridades por industria.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800600"/>
            <a:ext cx="3474720" cy="132588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4892040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5257800"/>
            <a:ext cx="3200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Assess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5559552"/>
            <a:ext cx="320040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E0E0E0"/>
                </a:solidFill>
                <a:latin typeface="Calibri"/>
              </a:rPr>
              <a:t>Evaluación de madurez del SDLC + DORA en las cuentas core e identificación de uplift a AI-Native Engineering.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4800600"/>
            <a:ext cx="3474720" cy="132588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4892040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5257800"/>
            <a:ext cx="3200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5559552"/>
            <a:ext cx="320040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E0E0E0"/>
                </a:solidFill>
                <a:latin typeface="Calibri"/>
              </a:rPr>
              <a:t>Sesión de soluciones e innovación: roadmap por cuenta con caso de negocio y showcase de modernización.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1371600"/>
            <a:ext cx="14630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C084FC"/>
                </a:solidFill>
                <a:latin typeface="Georgia"/>
              </a:rPr>
              <a:t>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2155</Words>
  <Application>Microsoft Office PowerPoint</Application>
  <PresentationFormat>Widescreen</PresentationFormat>
  <Paragraphs>375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Gallegos, Alejandro</cp:lastModifiedBy>
  <cp:revision>1</cp:revision>
  <dcterms:created xsi:type="dcterms:W3CDTF">2013-01-27T09:14:16Z</dcterms:created>
  <dcterms:modified xsi:type="dcterms:W3CDTF">2026-06-12T16:40:19Z</dcterms:modified>
  <cp:category/>
</cp:coreProperties>
</file>