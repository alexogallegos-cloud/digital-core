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7" r:id="rId12"/>
    <p:sldId id="263" r:id="rId13"/>
    <p:sldId id="264" r:id="rId14"/>
    <p:sldId id="265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B157A-B18A-9C40-8026-ACE7D6CAA3F4}" v="1" dt="2026-08-17T23:32:54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llena, Jose" userId="S::jose.villena.martin@accenture.com::eadb7e09-7b37-48d9-b51e-4fa15d8fe010" providerId="AD" clId="Web-{376B157A-B18A-9C40-8026-ACE7D6CAA3F4}"/>
    <pc:docChg chg="addSld">
      <pc:chgData name="Villena, Jose" userId="S::jose.villena.martin@accenture.com::eadb7e09-7b37-48d9-b51e-4fa15d8fe010" providerId="AD" clId="Web-{376B157A-B18A-9C40-8026-ACE7D6CAA3F4}" dt="2026-08-17T23:32:54.157" v="0"/>
      <pc:docMkLst>
        <pc:docMk/>
      </pc:docMkLst>
      <pc:sldChg chg="new">
        <pc:chgData name="Villena, Jose" userId="S::jose.villena.martin@accenture.com::eadb7e09-7b37-48d9-b51e-4fa15d8fe010" providerId="AD" clId="Web-{376B157A-B18A-9C40-8026-ACE7D6CAA3F4}" dt="2026-08-17T23:32:54.157" v="0"/>
        <pc:sldMkLst>
          <pc:docMk/>
          <pc:sldMk cId="1249711772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85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12161520" cy="192024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BanCoppel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Interoperabilidad de Aplicativos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– Análisis APO &amp; Estrategia de Arquitectura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Niveles: Dominio · Subdominio · Capacidad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2606040" cy="457200"/>
          </a:xfrm>
          <a:prstGeom prst="rect">
            <a:avLst/>
          </a:prstGeom>
          <a:solidFill>
            <a:srgbClr val="16A34A">
              <a:alpha val="6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51389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5120640"/>
            <a:ext cx="2606040" cy="457200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66160" y="51389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5120640"/>
            <a:ext cx="2606040" cy="457200"/>
          </a:xfrm>
          <a:prstGeom prst="rect">
            <a:avLst/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00" y="51389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(Transformar)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5120640"/>
            <a:ext cx="2606040" cy="457200"/>
          </a:xfrm>
          <a:prstGeom prst="rect">
            <a:avLst/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235440" y="51389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(Deprecar)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aplicativos · 13/8/2026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por Dominio de Interoperabilidad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– Dominio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43200" cy="292608"/>
          </a:xfrm>
          <a:prstGeom prst="rect">
            <a:avLst/>
          </a:prstGeom>
          <a:solidFill>
            <a:srgbClr val="4B5DA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709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Seguridad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53288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B5D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9164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74320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474720" y="1709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Observabilidad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0" y="253288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74320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355080" y="1709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Servicios de Gateway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253288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45236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2%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132588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9098280" y="1325880"/>
            <a:ext cx="274320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235440" y="1709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Orquestación de Servicios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35440" y="253288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1033272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274320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94360" y="40416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 Orquestación de procesos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486460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1691640" y="5074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2%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36576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337560" y="3657600"/>
            <a:ext cx="2743200" cy="2926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474720" y="40416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 Servicios Empresariales Comunes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474720" y="486460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4572000" y="5074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17%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6576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217920" y="3657600"/>
            <a:ext cx="2743200" cy="292608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355080" y="40416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 Entrega de Datos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55080" y="486460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7452360" y="5074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5%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98280" y="36576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9098280" y="3657600"/>
            <a:ext cx="2743200" cy="292608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9235440" y="40416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clasificar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235440" y="486460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10332720" y="5074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57%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de Estrategia Recomendada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Q – APO · Distribución global de los 129 aplicativos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03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64592" cy="19202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23134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estratégicos con potencial de innovación y modernización activa.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703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164592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617720" y="15087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17720" y="23134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743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funcionales que se mantienen en operación sin inversión adicional.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703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164592" cy="1920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458200" y="15087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8458200" y="23134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(Transformar)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2743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que requieren transformación tecnológica o funcional.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164592" cy="19202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7724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777240" y="45079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(Deprecar)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candidatos a retiro por obsolescencia o duplicidad funcional.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60720" y="352044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5760720" y="3520440"/>
            <a:ext cx="164592" cy="192024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08076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6080760" y="45079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estrategia definida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4937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pendientes de análisis y clasificación estratégica.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› Dominio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Seguridad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Invertir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34340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Tolerar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6364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Migrar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18388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7824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Eliminar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1041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6984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Sin def.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1993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clasificados en este dominio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502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2920" y="232257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304288"/>
            <a:ext cx="4389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051560" y="23225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Aplicativo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2304288"/>
            <a:ext cx="2103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486400" y="23225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304288"/>
            <a:ext cx="41148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635240" y="23225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Recomendada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1005840" y="260604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440680" y="260604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7589520" y="260604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02920" y="26334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69848" y="26334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 token (CAS)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04688" y="26334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35240" y="2633472"/>
            <a:ext cx="3977640" cy="20116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7680960" y="267004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836408" y="264261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(Transformar)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288036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1005840" y="288036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5440680" y="288036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7589520" y="288036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02920" y="29077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69848" y="29077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Autentificación RSA/Gemalto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04688" y="29077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35240" y="2907792"/>
            <a:ext cx="397764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7680960" y="294436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7836408" y="291693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315468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1005840" y="315468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5440680" y="315468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7589520" y="315468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502920" y="31821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69848" y="31821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Autentificación Token RSA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504688" y="31821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35240" y="3182112"/>
            <a:ext cx="39776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7680960" y="321868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7836408" y="319125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342900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1005840" y="342900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5440680" y="342900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7589520" y="342900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502920" y="34564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69848" y="345643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Central (Huellas)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504688" y="34564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635240" y="3456432"/>
            <a:ext cx="397764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7680960" y="349300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7836408" y="346557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370332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1005840" y="370332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Shape 71"/>
          <p:cNvSpPr/>
          <p:nvPr/>
        </p:nvSpPr>
        <p:spPr>
          <a:xfrm>
            <a:off x="5440680" y="370332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7589520" y="370332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502920" y="3730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069848" y="373075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Rostros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504688" y="373075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635240" y="3730752"/>
            <a:ext cx="397764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Shape 77"/>
          <p:cNvSpPr/>
          <p:nvPr/>
        </p:nvSpPr>
        <p:spPr>
          <a:xfrm>
            <a:off x="7680960" y="376732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7836408" y="373989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57200" y="397764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1005840" y="397764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Shape 81"/>
          <p:cNvSpPr/>
          <p:nvPr/>
        </p:nvSpPr>
        <p:spPr>
          <a:xfrm>
            <a:off x="5440680" y="397764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Shape 82"/>
          <p:cNvSpPr/>
          <p:nvPr/>
        </p:nvSpPr>
        <p:spPr>
          <a:xfrm>
            <a:off x="7589520" y="397764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Text 83"/>
          <p:cNvSpPr/>
          <p:nvPr/>
        </p:nvSpPr>
        <p:spPr>
          <a:xfrm>
            <a:off x="502920" y="40050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069848" y="40050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Huellas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5504688" y="40050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635240" y="4005072"/>
            <a:ext cx="397764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Shape 87"/>
          <p:cNvSpPr/>
          <p:nvPr/>
        </p:nvSpPr>
        <p:spPr>
          <a:xfrm>
            <a:off x="7680960" y="404164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0" name="Text 88"/>
          <p:cNvSpPr/>
          <p:nvPr/>
        </p:nvSpPr>
        <p:spPr>
          <a:xfrm>
            <a:off x="7836408" y="401421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57200" y="425196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Shape 90"/>
          <p:cNvSpPr/>
          <p:nvPr/>
        </p:nvSpPr>
        <p:spPr>
          <a:xfrm>
            <a:off x="1005840" y="425196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3" name="Shape 91"/>
          <p:cNvSpPr/>
          <p:nvPr/>
        </p:nvSpPr>
        <p:spPr>
          <a:xfrm>
            <a:off x="5440680" y="425196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7589520" y="425196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502920" y="42793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1069848" y="42793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App BanCoppel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5504688" y="42793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635240" y="427939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9" name="Text 97"/>
          <p:cNvSpPr/>
          <p:nvPr/>
        </p:nvSpPr>
        <p:spPr>
          <a:xfrm>
            <a:off x="7699248" y="42885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57200" y="452628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1" name="Shape 99"/>
          <p:cNvSpPr/>
          <p:nvPr/>
        </p:nvSpPr>
        <p:spPr>
          <a:xfrm>
            <a:off x="1005840" y="452628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2" name="Shape 100"/>
          <p:cNvSpPr/>
          <p:nvPr/>
        </p:nvSpPr>
        <p:spPr>
          <a:xfrm>
            <a:off x="5440680" y="452628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3" name="Shape 101"/>
          <p:cNvSpPr/>
          <p:nvPr/>
        </p:nvSpPr>
        <p:spPr>
          <a:xfrm>
            <a:off x="7589520" y="452628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Text 102"/>
          <p:cNvSpPr/>
          <p:nvPr/>
        </p:nvSpPr>
        <p:spPr>
          <a:xfrm>
            <a:off x="502920" y="45537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1069848" y="45537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BanCoppel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5504688" y="45537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635240" y="455371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8" name="Text 106"/>
          <p:cNvSpPr/>
          <p:nvPr/>
        </p:nvSpPr>
        <p:spPr>
          <a:xfrm>
            <a:off x="7699248" y="45628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457200" y="480060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Shape 108"/>
          <p:cNvSpPr/>
          <p:nvPr/>
        </p:nvSpPr>
        <p:spPr>
          <a:xfrm>
            <a:off x="1005840" y="480060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Shape 109"/>
          <p:cNvSpPr/>
          <p:nvPr/>
        </p:nvSpPr>
        <p:spPr>
          <a:xfrm>
            <a:off x="5440680" y="480060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2" name="Shape 110"/>
          <p:cNvSpPr/>
          <p:nvPr/>
        </p:nvSpPr>
        <p:spPr>
          <a:xfrm>
            <a:off x="7589520" y="480060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3" name="Text 111"/>
          <p:cNvSpPr/>
          <p:nvPr/>
        </p:nvSpPr>
        <p:spPr>
          <a:xfrm>
            <a:off x="502920" y="48280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1069848" y="482803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5504688" y="48280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7635240" y="482803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7" name="Text 115"/>
          <p:cNvSpPr/>
          <p:nvPr/>
        </p:nvSpPr>
        <p:spPr>
          <a:xfrm>
            <a:off x="7699248" y="48371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457200" y="507492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Shape 117"/>
          <p:cNvSpPr/>
          <p:nvPr/>
        </p:nvSpPr>
        <p:spPr>
          <a:xfrm>
            <a:off x="1005840" y="507492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0" name="Shape 118"/>
          <p:cNvSpPr/>
          <p:nvPr/>
        </p:nvSpPr>
        <p:spPr>
          <a:xfrm>
            <a:off x="5440680" y="507492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1" name="Shape 119"/>
          <p:cNvSpPr/>
          <p:nvPr/>
        </p:nvSpPr>
        <p:spPr>
          <a:xfrm>
            <a:off x="7589520" y="507492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2" name="Text 120"/>
          <p:cNvSpPr/>
          <p:nvPr/>
        </p:nvSpPr>
        <p:spPr>
          <a:xfrm>
            <a:off x="502920" y="51023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950" dirty="0"/>
          </a:p>
        </p:txBody>
      </p:sp>
      <p:sp>
        <p:nvSpPr>
          <p:cNvPr id="123" name="Text 121"/>
          <p:cNvSpPr/>
          <p:nvPr/>
        </p:nvSpPr>
        <p:spPr>
          <a:xfrm>
            <a:off x="1069848" y="510235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/ Active Directory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5504688" y="510235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7635240" y="510235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6" name="Text 124"/>
          <p:cNvSpPr/>
          <p:nvPr/>
        </p:nvSpPr>
        <p:spPr>
          <a:xfrm>
            <a:off x="7699248" y="51114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› Dominio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Observabilidad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Invertir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34340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Tolerar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6364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Migrar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18388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7824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Eliminar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1041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6984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Sin def.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1993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clasificados en este dominio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502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2920" y="232257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304288"/>
            <a:ext cx="4389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051560" y="23225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Aplicativo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2304288"/>
            <a:ext cx="2103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486400" y="23225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304288"/>
            <a:ext cx="41148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635240" y="23225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Recomendada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1005840" y="260604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440680" y="260604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7589520" y="260604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02920" y="26334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69848" y="26334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Operaciones BPI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04688" y="26334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35240" y="2633472"/>
            <a:ext cx="397764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7680960" y="267004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836408" y="264261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288036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1005840" y="288036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5440680" y="288036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7589520" y="288036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02920" y="29077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69848" y="29077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Monitor Transaccional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04688" y="29077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35240" y="2907792"/>
            <a:ext cx="39776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7680960" y="294436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7836408" y="291693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315468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1005840" y="315468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5440680" y="315468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7589520" y="315468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502920" y="31821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69848" y="31821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Netxms Monitor ATM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504688" y="31821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35240" y="3182112"/>
            <a:ext cx="39776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7680960" y="321868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7836408" y="319125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342900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1005840" y="342900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5440680" y="342900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7589520" y="342900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502920" y="34564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69848" y="345643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Audisoft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504688" y="34564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635240" y="3456432"/>
            <a:ext cx="39776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7680960" y="349300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7836408" y="346557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370332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1005840" y="370332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Shape 71"/>
          <p:cNvSpPr/>
          <p:nvPr/>
        </p:nvSpPr>
        <p:spPr>
          <a:xfrm>
            <a:off x="5440680" y="370332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7589520" y="370332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502920" y="3730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069848" y="373075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Web Interfaces Coppel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504688" y="373075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635240" y="373075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7"/>
          <p:cNvSpPr/>
          <p:nvPr/>
        </p:nvSpPr>
        <p:spPr>
          <a:xfrm>
            <a:off x="7699248" y="37398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57200" y="397764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Shape 79"/>
          <p:cNvSpPr/>
          <p:nvPr/>
        </p:nvSpPr>
        <p:spPr>
          <a:xfrm>
            <a:off x="1005840" y="397764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5440680" y="397764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Shape 81"/>
          <p:cNvSpPr/>
          <p:nvPr/>
        </p:nvSpPr>
        <p:spPr>
          <a:xfrm>
            <a:off x="7589520" y="397764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82"/>
          <p:cNvSpPr/>
          <p:nvPr/>
        </p:nvSpPr>
        <p:spPr>
          <a:xfrm>
            <a:off x="502920" y="40050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1069848" y="40050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Regulatorios (SPL)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504688" y="40050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635240" y="4005072"/>
            <a:ext cx="397764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8" name="Shape 86"/>
          <p:cNvSpPr/>
          <p:nvPr/>
        </p:nvSpPr>
        <p:spPr>
          <a:xfrm>
            <a:off x="7680960" y="404164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9" name="Text 87"/>
          <p:cNvSpPr/>
          <p:nvPr/>
        </p:nvSpPr>
        <p:spPr>
          <a:xfrm>
            <a:off x="7836408" y="401421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57200" y="425196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Shape 89"/>
          <p:cNvSpPr/>
          <p:nvPr/>
        </p:nvSpPr>
        <p:spPr>
          <a:xfrm>
            <a:off x="1005840" y="425196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Shape 90"/>
          <p:cNvSpPr/>
          <p:nvPr/>
        </p:nvSpPr>
        <p:spPr>
          <a:xfrm>
            <a:off x="5440680" y="425196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3" name="Shape 91"/>
          <p:cNvSpPr/>
          <p:nvPr/>
        </p:nvSpPr>
        <p:spPr>
          <a:xfrm>
            <a:off x="7589520" y="425196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Text 92"/>
          <p:cNvSpPr/>
          <p:nvPr/>
        </p:nvSpPr>
        <p:spPr>
          <a:xfrm>
            <a:off x="502920" y="42793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1069848" y="42793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(monitoreo)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5504688" y="42793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635240" y="427939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8" name="Text 96"/>
          <p:cNvSpPr/>
          <p:nvPr/>
        </p:nvSpPr>
        <p:spPr>
          <a:xfrm>
            <a:off x="7699248" y="42885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57200" y="452628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0" name="Shape 98"/>
          <p:cNvSpPr/>
          <p:nvPr/>
        </p:nvSpPr>
        <p:spPr>
          <a:xfrm>
            <a:off x="1005840" y="452628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1" name="Shape 99"/>
          <p:cNvSpPr/>
          <p:nvPr/>
        </p:nvSpPr>
        <p:spPr>
          <a:xfrm>
            <a:off x="5440680" y="452628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2" name="Shape 100"/>
          <p:cNvSpPr/>
          <p:nvPr/>
        </p:nvSpPr>
        <p:spPr>
          <a:xfrm>
            <a:off x="7589520" y="452628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3" name="Text 101"/>
          <p:cNvSpPr/>
          <p:nvPr/>
        </p:nvSpPr>
        <p:spPr>
          <a:xfrm>
            <a:off x="502920" y="45537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1069848" y="45537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 (monitoreo)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5504688" y="45537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7635240" y="455371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7" name="Text 105"/>
          <p:cNvSpPr/>
          <p:nvPr/>
        </p:nvSpPr>
        <p:spPr>
          <a:xfrm>
            <a:off x="7699248" y="45628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57200" y="480060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9" name="Shape 107"/>
          <p:cNvSpPr/>
          <p:nvPr/>
        </p:nvSpPr>
        <p:spPr>
          <a:xfrm>
            <a:off x="1005840" y="480060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Shape 108"/>
          <p:cNvSpPr/>
          <p:nvPr/>
        </p:nvSpPr>
        <p:spPr>
          <a:xfrm>
            <a:off x="5440680" y="480060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Shape 109"/>
          <p:cNvSpPr/>
          <p:nvPr/>
        </p:nvSpPr>
        <p:spPr>
          <a:xfrm>
            <a:off x="7589520" y="480060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2" name="Text 110"/>
          <p:cNvSpPr/>
          <p:nvPr/>
        </p:nvSpPr>
        <p:spPr>
          <a:xfrm>
            <a:off x="502920" y="48280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1069848" y="482803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Medallia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5504688" y="48280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635240" y="482803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Text 114"/>
          <p:cNvSpPr/>
          <p:nvPr/>
        </p:nvSpPr>
        <p:spPr>
          <a:xfrm>
            <a:off x="7699248" y="48371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› Dominio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 Servicios de Gateway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Invertir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34340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Tolerar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6364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Migrar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18388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7824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Eliminar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1041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6984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Sin def.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1993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clasificados en este dominio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502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2920" y="232257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304288"/>
            <a:ext cx="4389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051560" y="23225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Aplicativo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2304288"/>
            <a:ext cx="2103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486400" y="23225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304288"/>
            <a:ext cx="41148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635240" y="23225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Recomendada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1005840" y="260604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440680" y="260604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7589520" y="260604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02920" y="26334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69848" y="26334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OpenBanking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04688" y="26334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35240" y="2633472"/>
            <a:ext cx="397764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7680960" y="267004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836408" y="264261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288036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1005840" y="288036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5440680" y="288036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7589520" y="288036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02920" y="29077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69848" y="29077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servicios Coppel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04688" y="29077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35240" y="290779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7699248" y="29169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315468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1005840" y="315468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5440680" y="315468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7589520" y="315468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502920" y="31821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69848" y="31821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Market BanCoppel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504688" y="31821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635240" y="318211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7699248" y="31912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› Dominio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 Orquestación de Servicios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Invertir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34340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Tolerar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6364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Migrar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18388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7824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Eliminar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1041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6984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Sin def.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1993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clasificados en este dominio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502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2920" y="232257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304288"/>
            <a:ext cx="4389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051560" y="23225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Aplicativo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2304288"/>
            <a:ext cx="2103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486400" y="23225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304288"/>
            <a:ext cx="41148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635240" y="23225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Recomendada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1005840" y="260604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440680" y="260604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7589520" y="260604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02920" y="26334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69848" y="26334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Router (21)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04688" y="26334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35240" y="2633472"/>
            <a:ext cx="39776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7680960" y="267004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836408" y="264261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288036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1005840" y="288036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5440680" y="288036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7589520" y="288036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02920" y="29077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69848" y="29077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IBM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04688" y="29077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35240" y="2907792"/>
            <a:ext cx="3977640" cy="20116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7680960" y="294436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7836408" y="291693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(Transformar)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315468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1005840" y="315468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5440680" y="315468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7589520" y="315468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502920" y="31821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69848" y="31821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Inets (servicios Coppel)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504688" y="31821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35240" y="318211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7699248" y="31912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342900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59"/>
          <p:cNvSpPr/>
          <p:nvPr/>
        </p:nvSpPr>
        <p:spPr>
          <a:xfrm>
            <a:off x="1005840" y="342900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5440680" y="342900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7589520" y="342900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502920" y="34564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69848" y="345643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SECOBAN / Cecoban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504688" y="34564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635240" y="345643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7699248" y="34655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57200" y="370332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1005840" y="370332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Shape 69"/>
          <p:cNvSpPr/>
          <p:nvPr/>
        </p:nvSpPr>
        <p:spPr>
          <a:xfrm>
            <a:off x="5440680" y="370332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7589520" y="370332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502920" y="3730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069848" y="373075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Eglobal (switch interbancario)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504688" y="373075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635240" y="373075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5"/>
          <p:cNvSpPr/>
          <p:nvPr/>
        </p:nvSpPr>
        <p:spPr>
          <a:xfrm>
            <a:off x="7699248" y="37398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57200" y="397764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Shape 77"/>
          <p:cNvSpPr/>
          <p:nvPr/>
        </p:nvSpPr>
        <p:spPr>
          <a:xfrm>
            <a:off x="1005840" y="397764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Shape 78"/>
          <p:cNvSpPr/>
          <p:nvPr/>
        </p:nvSpPr>
        <p:spPr>
          <a:xfrm>
            <a:off x="5440680" y="397764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Shape 79"/>
          <p:cNvSpPr/>
          <p:nvPr/>
        </p:nvSpPr>
        <p:spPr>
          <a:xfrm>
            <a:off x="7589520" y="397764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Text 80"/>
          <p:cNvSpPr/>
          <p:nvPr/>
        </p:nvSpPr>
        <p:spPr>
          <a:xfrm>
            <a:off x="502920" y="40050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069848" y="40050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504688" y="40050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635240" y="400507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Text 84"/>
          <p:cNvSpPr/>
          <p:nvPr/>
        </p:nvSpPr>
        <p:spPr>
          <a:xfrm>
            <a:off x="7699248" y="401421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425196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8" name="Shape 86"/>
          <p:cNvSpPr/>
          <p:nvPr/>
        </p:nvSpPr>
        <p:spPr>
          <a:xfrm>
            <a:off x="1005840" y="425196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Shape 87"/>
          <p:cNvSpPr/>
          <p:nvPr/>
        </p:nvSpPr>
        <p:spPr>
          <a:xfrm>
            <a:off x="5440680" y="425196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7589520" y="425196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Text 89"/>
          <p:cNvSpPr/>
          <p:nvPr/>
        </p:nvSpPr>
        <p:spPr>
          <a:xfrm>
            <a:off x="502920" y="42793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069848" y="42793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 (SPEI/CoDI/DIMO)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5504688" y="42793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635240" y="427939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7699248" y="42885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711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› Dominio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 Orquestación de procesos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Invertir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34340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Tolerar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6364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Migrar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18388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7824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Eliminar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1041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6984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Sin def.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1993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clasificados en este dominio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502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2920" y="232257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304288"/>
            <a:ext cx="4389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051560" y="23225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Aplicativo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2304288"/>
            <a:ext cx="2103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486400" y="23225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304288"/>
            <a:ext cx="41148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635240" y="23225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Recomendada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1005840" y="260604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440680" y="260604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7589520" y="260604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02920" y="26334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69848" y="26334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(Robots)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04688" y="26334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35240" y="2633472"/>
            <a:ext cx="39776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7680960" y="267004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836408" y="264261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288036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1005840" y="288036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5440680" y="288036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7589520" y="288036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02920" y="29077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69848" y="29077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Control-M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04688" y="29077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35240" y="290779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7699248" y="29169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315468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1005840" y="315468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5440680" y="315468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7589520" y="315468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502920" y="31821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69848" y="31821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BluePrism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504688" y="31821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635240" y="318211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7699248" y="31912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› Dominio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 Servicios Empresariales Comunes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Invertir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34340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Tolerar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6364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Migrar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18388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7824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Eliminar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1041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6984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Sin def.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1993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clasificados en este dominio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502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2920" y="232257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304288"/>
            <a:ext cx="4389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051560" y="23225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Aplicativo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2304288"/>
            <a:ext cx="2103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486400" y="23225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304288"/>
            <a:ext cx="41148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635240" y="23225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Recomendada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1005840" y="260604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440680" y="260604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7589520" y="260604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02920" y="26334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69848" y="26334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INE 4.0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04688" y="26334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35240" y="2633472"/>
            <a:ext cx="3977640" cy="20116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7680960" y="267004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836408" y="264261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(Transformar)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288036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1005840" y="288036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5440680" y="288036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7589520" y="288036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02920" y="29077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69848" y="29077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04688" y="29077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35240" y="2907792"/>
            <a:ext cx="3977640" cy="20116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7680960" y="294436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7836408" y="291693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(Transformar)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315468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1005840" y="315468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5440680" y="315468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7589520" y="315468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502920" y="31821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69848" y="31821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Latinia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504688" y="31821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35240" y="3182112"/>
            <a:ext cx="397764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7680960" y="321868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7836408" y="319125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342900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1005840" y="342900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5440680" y="342900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7589520" y="342900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502920" y="34564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69848" y="345643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ARCO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504688" y="34564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635240" y="3456432"/>
            <a:ext cx="39776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7680960" y="349300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7836408" y="346557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370332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1005840" y="370332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Shape 71"/>
          <p:cNvSpPr/>
          <p:nvPr/>
        </p:nvSpPr>
        <p:spPr>
          <a:xfrm>
            <a:off x="5440680" y="370332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7589520" y="370332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502920" y="3730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069848" y="373075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Unilogic (Risk Logic)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504688" y="373075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635240" y="3730752"/>
            <a:ext cx="39776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Shape 77"/>
          <p:cNvSpPr/>
          <p:nvPr/>
        </p:nvSpPr>
        <p:spPr>
          <a:xfrm>
            <a:off x="7680960" y="376732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7836408" y="373989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57200" y="397764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1005840" y="397764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Shape 81"/>
          <p:cNvSpPr/>
          <p:nvPr/>
        </p:nvSpPr>
        <p:spPr>
          <a:xfrm>
            <a:off x="5440680" y="397764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Shape 82"/>
          <p:cNvSpPr/>
          <p:nvPr/>
        </p:nvSpPr>
        <p:spPr>
          <a:xfrm>
            <a:off x="7589520" y="397764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Text 83"/>
          <p:cNvSpPr/>
          <p:nvPr/>
        </p:nvSpPr>
        <p:spPr>
          <a:xfrm>
            <a:off x="502920" y="40050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069848" y="40050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Dictamen Unificado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5504688" y="40050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635240" y="400507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Text 87"/>
          <p:cNvSpPr/>
          <p:nvPr/>
        </p:nvSpPr>
        <p:spPr>
          <a:xfrm>
            <a:off x="7699248" y="401421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57200" y="425196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Shape 89"/>
          <p:cNvSpPr/>
          <p:nvPr/>
        </p:nvSpPr>
        <p:spPr>
          <a:xfrm>
            <a:off x="1005840" y="425196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Shape 90"/>
          <p:cNvSpPr/>
          <p:nvPr/>
        </p:nvSpPr>
        <p:spPr>
          <a:xfrm>
            <a:off x="5440680" y="425196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3" name="Shape 91"/>
          <p:cNvSpPr/>
          <p:nvPr/>
        </p:nvSpPr>
        <p:spPr>
          <a:xfrm>
            <a:off x="7589520" y="425196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Text 92"/>
          <p:cNvSpPr/>
          <p:nvPr/>
        </p:nvSpPr>
        <p:spPr>
          <a:xfrm>
            <a:off x="502920" y="42793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1069848" y="42793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Cuentas Remesas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5504688" y="42793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635240" y="427939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8" name="Text 96"/>
          <p:cNvSpPr/>
          <p:nvPr/>
        </p:nvSpPr>
        <p:spPr>
          <a:xfrm>
            <a:off x="7699248" y="42885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57200" y="452628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0" name="Shape 98"/>
          <p:cNvSpPr/>
          <p:nvPr/>
        </p:nvSpPr>
        <p:spPr>
          <a:xfrm>
            <a:off x="1005840" y="452628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1" name="Shape 99"/>
          <p:cNvSpPr/>
          <p:nvPr/>
        </p:nvSpPr>
        <p:spPr>
          <a:xfrm>
            <a:off x="5440680" y="452628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2" name="Shape 100"/>
          <p:cNvSpPr/>
          <p:nvPr/>
        </p:nvSpPr>
        <p:spPr>
          <a:xfrm>
            <a:off x="7589520" y="452628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3" name="Text 101"/>
          <p:cNvSpPr/>
          <p:nvPr/>
        </p:nvSpPr>
        <p:spPr>
          <a:xfrm>
            <a:off x="502920" y="45537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1069848" y="45537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RENAPO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5504688" y="45537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7635240" y="455371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7" name="Text 105"/>
          <p:cNvSpPr/>
          <p:nvPr/>
        </p:nvSpPr>
        <p:spPr>
          <a:xfrm>
            <a:off x="7699248" y="45628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57200" y="480060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9" name="Shape 107"/>
          <p:cNvSpPr/>
          <p:nvPr/>
        </p:nvSpPr>
        <p:spPr>
          <a:xfrm>
            <a:off x="1005840" y="480060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Shape 108"/>
          <p:cNvSpPr/>
          <p:nvPr/>
        </p:nvSpPr>
        <p:spPr>
          <a:xfrm>
            <a:off x="5440680" y="480060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Shape 109"/>
          <p:cNvSpPr/>
          <p:nvPr/>
        </p:nvSpPr>
        <p:spPr>
          <a:xfrm>
            <a:off x="7589520" y="480060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2" name="Text 110"/>
          <p:cNvSpPr/>
          <p:nvPr/>
        </p:nvSpPr>
        <p:spPr>
          <a:xfrm>
            <a:off x="502920" y="48280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1069848" y="482803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BancoppelSMS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5504688" y="48280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635240" y="4828032"/>
            <a:ext cx="3977640" cy="20116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Shape 114"/>
          <p:cNvSpPr/>
          <p:nvPr/>
        </p:nvSpPr>
        <p:spPr>
          <a:xfrm>
            <a:off x="7680960" y="486460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7" name="Text 115"/>
          <p:cNvSpPr/>
          <p:nvPr/>
        </p:nvSpPr>
        <p:spPr>
          <a:xfrm>
            <a:off x="7836408" y="483717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(Transformar)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457200" y="507492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Shape 117"/>
          <p:cNvSpPr/>
          <p:nvPr/>
        </p:nvSpPr>
        <p:spPr>
          <a:xfrm>
            <a:off x="1005840" y="507492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0" name="Shape 118"/>
          <p:cNvSpPr/>
          <p:nvPr/>
        </p:nvSpPr>
        <p:spPr>
          <a:xfrm>
            <a:off x="5440680" y="507492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1" name="Shape 119"/>
          <p:cNvSpPr/>
          <p:nvPr/>
        </p:nvSpPr>
        <p:spPr>
          <a:xfrm>
            <a:off x="7589520" y="507492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2" name="Text 120"/>
          <p:cNvSpPr/>
          <p:nvPr/>
        </p:nvSpPr>
        <p:spPr>
          <a:xfrm>
            <a:off x="502920" y="51023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50" dirty="0"/>
          </a:p>
        </p:txBody>
      </p:sp>
      <p:sp>
        <p:nvSpPr>
          <p:cNvPr id="123" name="Text 121"/>
          <p:cNvSpPr/>
          <p:nvPr/>
        </p:nvSpPr>
        <p:spPr>
          <a:xfrm>
            <a:off x="1069848" y="510235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Renapo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5504688" y="510235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7635240" y="5102352"/>
            <a:ext cx="3977640" cy="20116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6" name="Shape 124"/>
          <p:cNvSpPr/>
          <p:nvPr/>
        </p:nvSpPr>
        <p:spPr>
          <a:xfrm>
            <a:off x="7680960" y="513892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7" name="Text 125"/>
          <p:cNvSpPr/>
          <p:nvPr/>
        </p:nvSpPr>
        <p:spPr>
          <a:xfrm>
            <a:off x="7836408" y="511149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(Transformar)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457200" y="534924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9" name="Shape 127"/>
          <p:cNvSpPr/>
          <p:nvPr/>
        </p:nvSpPr>
        <p:spPr>
          <a:xfrm>
            <a:off x="1005840" y="534924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0" name="Shape 128"/>
          <p:cNvSpPr/>
          <p:nvPr/>
        </p:nvSpPr>
        <p:spPr>
          <a:xfrm>
            <a:off x="5440680" y="534924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1" name="Shape 129"/>
          <p:cNvSpPr/>
          <p:nvPr/>
        </p:nvSpPr>
        <p:spPr>
          <a:xfrm>
            <a:off x="7589520" y="534924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2" name="Text 130"/>
          <p:cNvSpPr/>
          <p:nvPr/>
        </p:nvSpPr>
        <p:spPr>
          <a:xfrm>
            <a:off x="502920" y="53766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1069848" y="53766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Strikeiron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5504688" y="53766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7635240" y="5376672"/>
            <a:ext cx="397764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6" name="Shape 134"/>
          <p:cNvSpPr/>
          <p:nvPr/>
        </p:nvSpPr>
        <p:spPr>
          <a:xfrm>
            <a:off x="7680960" y="5413248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7" name="Text 135"/>
          <p:cNvSpPr/>
          <p:nvPr/>
        </p:nvSpPr>
        <p:spPr>
          <a:xfrm>
            <a:off x="7836408" y="538581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(Deprecar)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457200" y="562356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9" name="Shape 137"/>
          <p:cNvSpPr/>
          <p:nvPr/>
        </p:nvSpPr>
        <p:spPr>
          <a:xfrm>
            <a:off x="1005840" y="562356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0" name="Shape 138"/>
          <p:cNvSpPr/>
          <p:nvPr/>
        </p:nvSpPr>
        <p:spPr>
          <a:xfrm>
            <a:off x="5440680" y="562356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1" name="Shape 139"/>
          <p:cNvSpPr/>
          <p:nvPr/>
        </p:nvSpPr>
        <p:spPr>
          <a:xfrm>
            <a:off x="7589520" y="562356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2" name="Text 140"/>
          <p:cNvSpPr/>
          <p:nvPr/>
        </p:nvSpPr>
        <p:spPr>
          <a:xfrm>
            <a:off x="502920" y="56509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50" dirty="0"/>
          </a:p>
        </p:txBody>
      </p:sp>
      <p:sp>
        <p:nvSpPr>
          <p:cNvPr id="143" name="Text 141"/>
          <p:cNvSpPr/>
          <p:nvPr/>
        </p:nvSpPr>
        <p:spPr>
          <a:xfrm>
            <a:off x="1069848" y="56509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Fraudes (PayTrue)</a:t>
            </a:r>
            <a:endParaRPr lang="en-US" sz="950" dirty="0"/>
          </a:p>
        </p:txBody>
      </p:sp>
      <p:sp>
        <p:nvSpPr>
          <p:cNvPr id="144" name="Text 142"/>
          <p:cNvSpPr/>
          <p:nvPr/>
        </p:nvSpPr>
        <p:spPr>
          <a:xfrm>
            <a:off x="5504688" y="56509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635240" y="565099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6" name="Text 144"/>
          <p:cNvSpPr/>
          <p:nvPr/>
        </p:nvSpPr>
        <p:spPr>
          <a:xfrm>
            <a:off x="7699248" y="56601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457200" y="589788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8" name="Shape 146"/>
          <p:cNvSpPr/>
          <p:nvPr/>
        </p:nvSpPr>
        <p:spPr>
          <a:xfrm>
            <a:off x="1005840" y="589788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9" name="Shape 147"/>
          <p:cNvSpPr/>
          <p:nvPr/>
        </p:nvSpPr>
        <p:spPr>
          <a:xfrm>
            <a:off x="5440680" y="589788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0" name="Shape 148"/>
          <p:cNvSpPr/>
          <p:nvPr/>
        </p:nvSpPr>
        <p:spPr>
          <a:xfrm>
            <a:off x="7589520" y="589788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1" name="Text 149"/>
          <p:cNvSpPr/>
          <p:nvPr/>
        </p:nvSpPr>
        <p:spPr>
          <a:xfrm>
            <a:off x="502920" y="59253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50" dirty="0"/>
          </a:p>
        </p:txBody>
      </p:sp>
      <p:sp>
        <p:nvSpPr>
          <p:cNvPr id="152" name="Text 150"/>
          <p:cNvSpPr/>
          <p:nvPr/>
        </p:nvSpPr>
        <p:spPr>
          <a:xfrm>
            <a:off x="1069848" y="59253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Evaluación de Crédito</a:t>
            </a:r>
            <a:endParaRPr lang="en-US" sz="950" dirty="0"/>
          </a:p>
        </p:txBody>
      </p:sp>
      <p:sp>
        <p:nvSpPr>
          <p:cNvPr id="153" name="Text 151"/>
          <p:cNvSpPr/>
          <p:nvPr/>
        </p:nvSpPr>
        <p:spPr>
          <a:xfrm>
            <a:off x="5504688" y="59253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7635240" y="5925312"/>
            <a:ext cx="39776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5" name="Shape 153"/>
          <p:cNvSpPr/>
          <p:nvPr/>
        </p:nvSpPr>
        <p:spPr>
          <a:xfrm>
            <a:off x="7680960" y="596188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6" name="Text 154"/>
          <p:cNvSpPr/>
          <p:nvPr/>
        </p:nvSpPr>
        <p:spPr>
          <a:xfrm>
            <a:off x="7836408" y="593445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950" dirty="0"/>
          </a:p>
        </p:txBody>
      </p:sp>
      <p:sp>
        <p:nvSpPr>
          <p:cNvPr id="157" name="Text 155"/>
          <p:cNvSpPr/>
          <p:nvPr/>
        </p:nvSpPr>
        <p:spPr>
          <a:xfrm>
            <a:off x="457200" y="640080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 aplicativos adicionales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› Dominio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11.0 Entrega de Datos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Invertir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34340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Tolerar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6364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Migrar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18388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7824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Eliminar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1170432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10412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698480" y="12984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Sin def.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1993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clasificados en este dominio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502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2920" y="232257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5840" y="2304288"/>
            <a:ext cx="4389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051560" y="23225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Aplicativo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2304288"/>
            <a:ext cx="21031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486400" y="23225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304288"/>
            <a:ext cx="41148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635240" y="23225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Recomendada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1005840" y="260604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440680" y="260604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7589520" y="260604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02920" y="26334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69848" y="26334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Empleados (INET)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04688" y="26334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35240" y="263347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7699248" y="264261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288036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1005840" y="288036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5440680" y="288036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7589520" y="288036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502920" y="29077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69848" y="29077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Replicadores Coppel/BanCoppel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04688" y="29077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635240" y="290779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7699248" y="29169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315468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1005840" y="315468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5440680" y="315468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7589520" y="315468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502920" y="31821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69848" y="31821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504688" y="31821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35240" y="318211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7699248" y="31912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342900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1005840" y="342900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5440680" y="342900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59"/>
          <p:cNvSpPr/>
          <p:nvPr/>
        </p:nvSpPr>
        <p:spPr>
          <a:xfrm>
            <a:off x="7589520" y="342900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502920" y="34564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069848" y="345643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BanCoppel (Neteeza)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504688" y="345643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635240" y="345643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7699248" y="34655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370332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Shape 66"/>
          <p:cNvSpPr/>
          <p:nvPr/>
        </p:nvSpPr>
        <p:spPr>
          <a:xfrm>
            <a:off x="1005840" y="370332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5440680" y="370332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7589520" y="370332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502920" y="3730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069848" y="373075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(Bitácora App)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504688" y="373075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635240" y="373075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7699248" y="37398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57200" y="397764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Shape 75"/>
          <p:cNvSpPr/>
          <p:nvPr/>
        </p:nvSpPr>
        <p:spPr>
          <a:xfrm>
            <a:off x="1005840" y="397764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5440680" y="397764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Shape 77"/>
          <p:cNvSpPr/>
          <p:nvPr/>
        </p:nvSpPr>
        <p:spPr>
          <a:xfrm>
            <a:off x="7589520" y="397764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502920" y="40050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1069848" y="400507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Filezilla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504688" y="40050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635240" y="400507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82"/>
          <p:cNvSpPr/>
          <p:nvPr/>
        </p:nvSpPr>
        <p:spPr>
          <a:xfrm>
            <a:off x="7699248" y="401421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57200" y="4251960"/>
            <a:ext cx="5029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1005840" y="4251960"/>
            <a:ext cx="4389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Shape 85"/>
          <p:cNvSpPr/>
          <p:nvPr/>
        </p:nvSpPr>
        <p:spPr>
          <a:xfrm>
            <a:off x="5440680" y="4251960"/>
            <a:ext cx="210312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8" name="Shape 86"/>
          <p:cNvSpPr/>
          <p:nvPr/>
        </p:nvSpPr>
        <p:spPr>
          <a:xfrm>
            <a:off x="7589520" y="4251960"/>
            <a:ext cx="4114800" cy="256032"/>
          </a:xfrm>
          <a:prstGeom prst="rect">
            <a:avLst/>
          </a:prstGeom>
          <a:solidFill>
            <a:srgbClr val="F8FAFD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Text 87"/>
          <p:cNvSpPr/>
          <p:nvPr/>
        </p:nvSpPr>
        <p:spPr>
          <a:xfrm>
            <a:off x="502920" y="42793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69848" y="427939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Imágenes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5504688" y="42793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635240" y="427939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3" name="Text 91"/>
          <p:cNvSpPr/>
          <p:nvPr/>
        </p:nvSpPr>
        <p:spPr>
          <a:xfrm>
            <a:off x="7699248" y="42885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7200" y="4526280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Shape 93"/>
          <p:cNvSpPr/>
          <p:nvPr/>
        </p:nvSpPr>
        <p:spPr>
          <a:xfrm>
            <a:off x="1005840" y="4526280"/>
            <a:ext cx="4389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6" name="Shape 94"/>
          <p:cNvSpPr/>
          <p:nvPr/>
        </p:nvSpPr>
        <p:spPr>
          <a:xfrm>
            <a:off x="5440680" y="452628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7" name="Shape 95"/>
          <p:cNvSpPr/>
          <p:nvPr/>
        </p:nvSpPr>
        <p:spPr>
          <a:xfrm>
            <a:off x="7589520" y="452628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8" name="Text 96"/>
          <p:cNvSpPr/>
          <p:nvPr/>
        </p:nvSpPr>
        <p:spPr>
          <a:xfrm>
            <a:off x="502920" y="455371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1069848" y="4553712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Infosphere DataStage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5504688" y="455371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7635240" y="4553712"/>
            <a:ext cx="397764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2" name="Text 100"/>
          <p:cNvSpPr/>
          <p:nvPr/>
        </p:nvSpPr>
        <p:spPr>
          <a:xfrm>
            <a:off x="7699248" y="45628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Estratégico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estrategias por dominio de interoperabilidad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1480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141732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754880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Invertir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141732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217920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Tolerar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35240" y="1371600"/>
            <a:ext cx="141732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680960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Migrar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98280" y="1371600"/>
            <a:ext cx="141732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144000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Eliminar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561320" y="1371600"/>
            <a:ext cx="123444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0607040" y="13898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S/D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1719072"/>
            <a:ext cx="411480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709160" y="1719072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172200" y="1719072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7635240" y="1719072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9098280" y="1719072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10561320" y="1719072"/>
            <a:ext cx="123444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40080" y="18288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Seguridad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1810512"/>
            <a:ext cx="320040" cy="3200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120640" y="1819656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181051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583680" y="1819656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1810512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046720" y="1819656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09760" y="184708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972800" y="1810512"/>
            <a:ext cx="320040" cy="3200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972800" y="1819656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2286000"/>
            <a:ext cx="411480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4709160" y="2286000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172200" y="2286000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7635240" y="2286000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9098280" y="2286000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10561320" y="2286000"/>
            <a:ext cx="123444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40080" y="23957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Observabilidad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20640" y="2377440"/>
            <a:ext cx="320040" cy="3200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5120640" y="2386584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23774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6583680" y="2386584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0" y="24140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509760" y="24140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972800" y="2377440"/>
            <a:ext cx="320040" cy="3200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10972800" y="2386584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2852928"/>
            <a:ext cx="411480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4709160" y="2852928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6172200" y="2852928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7635240" y="2852928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9098280" y="2852928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10561320" y="2852928"/>
            <a:ext cx="123444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640080" y="296265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Servicios de Gateway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120640" y="29809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583680" y="294436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6583680" y="2953512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46720" y="29809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509760" y="29809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0972800" y="2944368"/>
            <a:ext cx="320040" cy="3200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10972800" y="2953512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48640" y="3419856"/>
            <a:ext cx="411480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4709160" y="3419856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6172200" y="3419856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7635240" y="3419856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9098280" y="3419856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10561320" y="3419856"/>
            <a:ext cx="123444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640080" y="35295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Orquestación de Servicios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120640" y="3511296"/>
            <a:ext cx="320040" cy="3200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5120640" y="3520440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583680" y="3547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046720" y="3511296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8046720" y="3520440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509760" y="3547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0972800" y="3511296"/>
            <a:ext cx="320040" cy="3200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10972800" y="3520440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48640" y="3986784"/>
            <a:ext cx="411480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Shape 75"/>
          <p:cNvSpPr/>
          <p:nvPr/>
        </p:nvSpPr>
        <p:spPr>
          <a:xfrm>
            <a:off x="4709160" y="3986784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6172200" y="3986784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Shape 77"/>
          <p:cNvSpPr/>
          <p:nvPr/>
        </p:nvSpPr>
        <p:spPr>
          <a:xfrm>
            <a:off x="7635240" y="3986784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Shape 78"/>
          <p:cNvSpPr/>
          <p:nvPr/>
        </p:nvSpPr>
        <p:spPr>
          <a:xfrm>
            <a:off x="9098280" y="3986784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Shape 79"/>
          <p:cNvSpPr/>
          <p:nvPr/>
        </p:nvSpPr>
        <p:spPr>
          <a:xfrm>
            <a:off x="10561320" y="3986784"/>
            <a:ext cx="123444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Text 80"/>
          <p:cNvSpPr/>
          <p:nvPr/>
        </p:nvSpPr>
        <p:spPr>
          <a:xfrm>
            <a:off x="640080" y="40965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 Orquestación de procesos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5120640" y="4078224"/>
            <a:ext cx="320040" cy="3200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4" name="Text 82"/>
          <p:cNvSpPr/>
          <p:nvPr/>
        </p:nvSpPr>
        <p:spPr>
          <a:xfrm>
            <a:off x="5120640" y="408736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583680" y="41148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8046720" y="41148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9509760" y="41148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10972800" y="4078224"/>
            <a:ext cx="320040" cy="3200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9" name="Text 87"/>
          <p:cNvSpPr/>
          <p:nvPr/>
        </p:nvSpPr>
        <p:spPr>
          <a:xfrm>
            <a:off x="10972800" y="4087368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48640" y="4553712"/>
            <a:ext cx="411480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Shape 89"/>
          <p:cNvSpPr/>
          <p:nvPr/>
        </p:nvSpPr>
        <p:spPr>
          <a:xfrm>
            <a:off x="4709160" y="4553712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Shape 90"/>
          <p:cNvSpPr/>
          <p:nvPr/>
        </p:nvSpPr>
        <p:spPr>
          <a:xfrm>
            <a:off x="6172200" y="4553712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3" name="Shape 91"/>
          <p:cNvSpPr/>
          <p:nvPr/>
        </p:nvSpPr>
        <p:spPr>
          <a:xfrm>
            <a:off x="7635240" y="4553712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9098280" y="4553712"/>
            <a:ext cx="141732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Shape 93"/>
          <p:cNvSpPr/>
          <p:nvPr/>
        </p:nvSpPr>
        <p:spPr>
          <a:xfrm>
            <a:off x="10561320" y="4553712"/>
            <a:ext cx="1234440" cy="530352"/>
          </a:xfrm>
          <a:prstGeom prst="rect">
            <a:avLst/>
          </a:prstGeom>
          <a:solidFill>
            <a:srgbClr val="18255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6" name="Text 94"/>
          <p:cNvSpPr/>
          <p:nvPr/>
        </p:nvSpPr>
        <p:spPr>
          <a:xfrm>
            <a:off x="640080" y="4663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 Servicios Empresariales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5120640" y="4645152"/>
            <a:ext cx="320040" cy="3200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8" name="Text 96"/>
          <p:cNvSpPr/>
          <p:nvPr/>
        </p:nvSpPr>
        <p:spPr>
          <a:xfrm>
            <a:off x="5120640" y="4654296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6583680" y="464515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0" name="Text 98"/>
          <p:cNvSpPr/>
          <p:nvPr/>
        </p:nvSpPr>
        <p:spPr>
          <a:xfrm>
            <a:off x="6583680" y="4654296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8046720" y="4645152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2" name="Text 100"/>
          <p:cNvSpPr/>
          <p:nvPr/>
        </p:nvSpPr>
        <p:spPr>
          <a:xfrm>
            <a:off x="8046720" y="4654296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9509760" y="4645152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ext 102"/>
          <p:cNvSpPr/>
          <p:nvPr/>
        </p:nvSpPr>
        <p:spPr>
          <a:xfrm>
            <a:off x="9509760" y="4654296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10972800" y="4645152"/>
            <a:ext cx="320040" cy="3200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6" name="Text 104"/>
          <p:cNvSpPr/>
          <p:nvPr/>
        </p:nvSpPr>
        <p:spPr>
          <a:xfrm>
            <a:off x="10972800" y="4654296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48640" y="5120640"/>
            <a:ext cx="411480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8" name="Shape 106"/>
          <p:cNvSpPr/>
          <p:nvPr/>
        </p:nvSpPr>
        <p:spPr>
          <a:xfrm>
            <a:off x="4709160" y="5120640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9" name="Shape 107"/>
          <p:cNvSpPr/>
          <p:nvPr/>
        </p:nvSpPr>
        <p:spPr>
          <a:xfrm>
            <a:off x="6172200" y="5120640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Shape 108"/>
          <p:cNvSpPr/>
          <p:nvPr/>
        </p:nvSpPr>
        <p:spPr>
          <a:xfrm>
            <a:off x="7635240" y="5120640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Shape 109"/>
          <p:cNvSpPr/>
          <p:nvPr/>
        </p:nvSpPr>
        <p:spPr>
          <a:xfrm>
            <a:off x="9098280" y="5120640"/>
            <a:ext cx="141732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2" name="Shape 110"/>
          <p:cNvSpPr/>
          <p:nvPr/>
        </p:nvSpPr>
        <p:spPr>
          <a:xfrm>
            <a:off x="10561320" y="5120640"/>
            <a:ext cx="1234440" cy="53035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3" name="Text 111"/>
          <p:cNvSpPr/>
          <p:nvPr/>
        </p:nvSpPr>
        <p:spPr>
          <a:xfrm>
            <a:off x="640080" y="52303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 Entrega de Datos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5120640" y="52486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6583680" y="52486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8046720" y="52486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17" name="Text 115"/>
          <p:cNvSpPr/>
          <p:nvPr/>
        </p:nvSpPr>
        <p:spPr>
          <a:xfrm>
            <a:off x="9509760" y="52486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10972800" y="5212080"/>
            <a:ext cx="320040" cy="3200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9" name="Text 117"/>
          <p:cNvSpPr/>
          <p:nvPr/>
        </p:nvSpPr>
        <p:spPr>
          <a:xfrm>
            <a:off x="10972800" y="5221224"/>
            <a:ext cx="320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BanCoppel · Línea Base de Aplicativos – Anexo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A6B066-4E25-4FBB-8510-F5AB1C061319}">
  <ds:schemaRefs>
    <ds:schemaRef ds:uri="http://schemas.microsoft.com/office/2006/metadata/properties"/>
    <ds:schemaRef ds:uri="http://schemas.microsoft.com/office/infopath/2007/PartnerControls"/>
    <ds:schemaRef ds:uri="bcf21e1d-e7b2-4ba8-bb72-ca5e3ff425f9"/>
  </ds:schemaRefs>
</ds:datastoreItem>
</file>

<file path=customXml/itemProps2.xml><?xml version="1.0" encoding="utf-8"?>
<ds:datastoreItem xmlns:ds="http://schemas.openxmlformats.org/officeDocument/2006/customXml" ds:itemID="{BECDB719-CD6F-4F92-ACDC-207D385299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AABD77-AE3C-4D6F-A3FE-DB83A1A1D5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f21e1d-e7b2-4ba8-bb72-ca5e3ff42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1002</Words>
  <Application>Microsoft Office PowerPoint</Application>
  <PresentationFormat>Widescreen</PresentationFormat>
  <Paragraphs>460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Villena, Jose</cp:lastModifiedBy>
  <cp:revision>2</cp:revision>
  <dcterms:created xsi:type="dcterms:W3CDTF">2026-08-13T19:58:25Z</dcterms:created>
  <dcterms:modified xsi:type="dcterms:W3CDTF">2026-08-17T23:32:54Z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