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56" r:id="rId5"/>
    <p:sldId id="257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3CF481-4A5D-4FC4-909B-74C2EC6F6A62}" v="1" dt="2026-08-18T14:58:08.4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1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llena, Jose" userId="eadb7e09-7b37-48d9-b51e-4fa15d8fe010" providerId="ADAL" clId="{B3520F0D-3DEA-4580-B5AC-1B6B5994B701}"/>
    <pc:docChg chg="modSld">
      <pc:chgData name="Villena, Jose" userId="eadb7e09-7b37-48d9-b51e-4fa15d8fe010" providerId="ADAL" clId="{B3520F0D-3DEA-4580-B5AC-1B6B5994B701}" dt="2026-08-18T15:02:59.211" v="93" actId="790"/>
      <pc:docMkLst>
        <pc:docMk/>
      </pc:docMkLst>
      <pc:sldChg chg="addSp modSp mod">
        <pc:chgData name="Villena, Jose" userId="eadb7e09-7b37-48d9-b51e-4fa15d8fe010" providerId="ADAL" clId="{B3520F0D-3DEA-4580-B5AC-1B6B5994B701}" dt="2026-08-18T15:02:59.211" v="93" actId="790"/>
        <pc:sldMkLst>
          <pc:docMk/>
          <pc:sldMk cId="0" sldId="256"/>
        </pc:sldMkLst>
        <pc:spChg chg="mod">
          <ac:chgData name="Villena, Jose" userId="eadb7e09-7b37-48d9-b51e-4fa15d8fe010" providerId="ADAL" clId="{B3520F0D-3DEA-4580-B5AC-1B6B5994B701}" dt="2026-08-18T15:02:52.208" v="92" actId="790"/>
          <ac:spMkLst>
            <pc:docMk/>
            <pc:sldMk cId="0" sldId="256"/>
            <ac:spMk id="8" creationId="{00000000-0000-0000-0000-000000000000}"/>
          </ac:spMkLst>
        </pc:spChg>
        <pc:spChg chg="mod">
          <ac:chgData name="Villena, Jose" userId="eadb7e09-7b37-48d9-b51e-4fa15d8fe010" providerId="ADAL" clId="{B3520F0D-3DEA-4580-B5AC-1B6B5994B701}" dt="2026-08-18T15:02:59.211" v="93" actId="79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Villena, Jose" userId="eadb7e09-7b37-48d9-b51e-4fa15d8fe010" providerId="ADAL" clId="{B3520F0D-3DEA-4580-B5AC-1B6B5994B701}" dt="2026-08-18T15:02:31.802" v="91" actId="790"/>
          <ac:spMkLst>
            <pc:docMk/>
            <pc:sldMk cId="0" sldId="256"/>
            <ac:spMk id="20" creationId="{00000000-0000-0000-0000-000000000000}"/>
          </ac:spMkLst>
        </pc:spChg>
        <pc:spChg chg="mod">
          <ac:chgData name="Villena, Jose" userId="eadb7e09-7b37-48d9-b51e-4fa15d8fe010" providerId="ADAL" clId="{B3520F0D-3DEA-4580-B5AC-1B6B5994B701}" dt="2026-08-18T15:01:47.610" v="88" actId="790"/>
          <ac:spMkLst>
            <pc:docMk/>
            <pc:sldMk cId="0" sldId="256"/>
            <ac:spMk id="22" creationId="{00000000-0000-0000-0000-000000000000}"/>
          </ac:spMkLst>
        </pc:spChg>
        <pc:spChg chg="add mod">
          <ac:chgData name="Villena, Jose" userId="eadb7e09-7b37-48d9-b51e-4fa15d8fe010" providerId="ADAL" clId="{B3520F0D-3DEA-4580-B5AC-1B6B5994B701}" dt="2026-08-18T14:59:12.075" v="53" actId="1035"/>
          <ac:spMkLst>
            <pc:docMk/>
            <pc:sldMk cId="0" sldId="256"/>
            <ac:spMk id="23" creationId="{318DEA1F-13AB-1EC0-03A1-7250574BA1FD}"/>
          </ac:spMkLst>
        </pc:spChg>
      </pc:sldChg>
      <pc:sldChg chg="addSp modSp mod">
        <pc:chgData name="Villena, Jose" userId="eadb7e09-7b37-48d9-b51e-4fa15d8fe010" providerId="ADAL" clId="{B3520F0D-3DEA-4580-B5AC-1B6B5994B701}" dt="2026-08-18T15:00:09.215" v="86" actId="13926"/>
        <pc:sldMkLst>
          <pc:docMk/>
          <pc:sldMk cId="0" sldId="257"/>
        </pc:sldMkLst>
        <pc:spChg chg="mod">
          <ac:chgData name="Villena, Jose" userId="eadb7e09-7b37-48d9-b51e-4fa15d8fe010" providerId="ADAL" clId="{B3520F0D-3DEA-4580-B5AC-1B6B5994B701}" dt="2026-08-18T15:00:01.551" v="76" actId="1392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Villena, Jose" userId="eadb7e09-7b37-48d9-b51e-4fa15d8fe010" providerId="ADAL" clId="{B3520F0D-3DEA-4580-B5AC-1B6B5994B701}" dt="2026-08-18T15:00:09.215" v="86" actId="13926"/>
          <ac:spMkLst>
            <pc:docMk/>
            <pc:sldMk cId="0" sldId="257"/>
            <ac:spMk id="57" creationId="{00000000-0000-0000-0000-000000000000}"/>
          </ac:spMkLst>
        </pc:spChg>
        <pc:spChg chg="add">
          <ac:chgData name="Villena, Jose" userId="eadb7e09-7b37-48d9-b51e-4fa15d8fe010" providerId="ADAL" clId="{B3520F0D-3DEA-4580-B5AC-1B6B5994B701}" dt="2026-08-18T14:59:14.628" v="54" actId="22"/>
          <ac:spMkLst>
            <pc:docMk/>
            <pc:sldMk cId="0" sldId="257"/>
            <ac:spMk id="71" creationId="{D4E976BA-3719-77EC-D093-4E74FB2CE90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38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del API Management / Integración  —  As-Is → To-Be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10515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381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2651760" cy="64008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322576" cy="347472"/>
          </a:xfrm>
          <a:prstGeom prst="roundRect">
            <a:avLst>
              <a:gd name="adj" fmla="val 13158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 — Estado Actual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1545336"/>
            <a:ext cx="25146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4625" indent="-174625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Router 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(#15): </a:t>
            </a:r>
            <a:r>
              <a:rPr lang="es-E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todos los canales legados con los </a:t>
            </a:r>
            <a:r>
              <a:rPr lang="es-ES" sz="10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SPLs</a:t>
            </a:r>
            <a:r>
              <a:rPr lang="es-E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Informix. Técnicamente no es un API Gateway pero opera como tal para el universo legado.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4625" indent="-174625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IBM 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(#57): </a:t>
            </a:r>
            <a:r>
              <a:rPr lang="es-E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SIWEB y OFI con el </a:t>
            </a:r>
            <a:r>
              <a:rPr lang="es-ES" sz="10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r>
              <a:rPr lang="es-E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Al igual que </a:t>
            </a:r>
            <a:r>
              <a:rPr lang="es-ES" sz="10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</a:t>
            </a:r>
            <a:r>
              <a:rPr lang="es-E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es un </a:t>
            </a:r>
            <a:r>
              <a:rPr lang="es-ES" sz="10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r>
              <a:rPr lang="es-E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moderno sino una capa de mensajería propietaria.</a:t>
            </a:r>
          </a:p>
          <a:p>
            <a:pPr marL="174625" indent="-174625">
              <a:spcAft>
                <a:spcPts val="300"/>
              </a:spcAft>
              <a:buSzPct val="100000"/>
              <a:buChar char="•"/>
            </a:pPr>
            <a:r>
              <a:rPr lang="en-US" sz="1050" b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OpenBanking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(#10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s-E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único </a:t>
            </a:r>
            <a:r>
              <a:rPr lang="es-ES" sz="10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r>
              <a:rPr lang="es-E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 del As-</a:t>
            </a:r>
            <a:r>
              <a:rPr lang="es-ES" sz="10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r>
              <a:rPr lang="es-E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alcance limitado. No gestiona el tráfico interno entre canales y </a:t>
            </a:r>
            <a:r>
              <a:rPr lang="es-ES" sz="10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r>
              <a:rPr lang="es-E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174625" indent="-174625">
              <a:spcAft>
                <a:spcPts val="300"/>
              </a:spcAft>
              <a:buSzPct val="100000"/>
              <a:buChar char="•"/>
            </a:pPr>
            <a:r>
              <a:rPr lang="es-ES" sz="1000" b="1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API Gateway para algunas capas; no es punto único de entrada. </a:t>
            </a:r>
            <a:endParaRPr lang="es-ES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2889504" y="2450592"/>
            <a:ext cx="411480" cy="411480"/>
          </a:xfrm>
          <a:prstGeom prst="rightArrow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310128" y="10515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381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310128" y="1051560"/>
            <a:ext cx="2651760" cy="6400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474720" y="1143000"/>
            <a:ext cx="2322576" cy="347472"/>
          </a:xfrm>
          <a:prstGeom prst="roundRect">
            <a:avLst>
              <a:gd name="adj" fmla="val 13158"/>
            </a:avLst>
          </a:prstGeom>
          <a:solidFill>
            <a:srgbClr val="E8A8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474720" y="114300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COEXISTENCIA — Transición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2800" y="1545336"/>
            <a:ext cx="253593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4625" indent="-174625">
              <a:spcAft>
                <a:spcPts val="300"/>
              </a:spcAft>
              <a:buSzPct val="100000"/>
              <a:buChar char="•"/>
            </a:pPr>
            <a:r>
              <a:rPr lang="es-ES" sz="1050" b="1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</a:t>
            </a:r>
            <a:r>
              <a:rPr lang="es-ES" sz="1050" b="1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050" b="1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r>
              <a:rPr lang="es-ES" sz="1050" b="1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para nuevos productos UNITY: Apolo, TDC 4900, Crédito Simple Empresarial</a:t>
            </a:r>
            <a:endParaRPr lang="es-ES" sz="1000" noProof="0" dirty="0"/>
          </a:p>
          <a:p>
            <a:pPr marL="174625" indent="-174625">
              <a:spcAft>
                <a:spcPts val="300"/>
              </a:spcAft>
              <a:buSzPct val="100000"/>
              <a:buChar char="•"/>
            </a:pPr>
            <a:r>
              <a:rPr lang="es-ES" sz="1050" b="1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</a:t>
            </a:r>
            <a:r>
              <a:rPr lang="es-ES" sz="1050" b="1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50" b="1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r>
              <a:rPr lang="es-ES" sz="1050" b="1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Bus IBM 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siguen activos para canales y productos legados (8500, captación, crédito a plazo)</a:t>
            </a:r>
            <a:endParaRPr lang="es-ES" sz="1000" noProof="0" dirty="0"/>
          </a:p>
          <a:p>
            <a:pPr marL="174625" indent="-174625">
              <a:spcAft>
                <a:spcPts val="300"/>
              </a:spcAft>
              <a:buSzPct val="100000"/>
              <a:buChar char="•"/>
            </a:pPr>
            <a:r>
              <a:rPr lang="es-ES" sz="1050" b="1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bicapa</a:t>
            </a:r>
            <a:r>
              <a:rPr lang="es-ES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rutas por </a:t>
            </a:r>
            <a:r>
              <a:rPr lang="es-ES" sz="1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ES" sz="1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rutas legadas por </a:t>
            </a:r>
            <a:r>
              <a:rPr lang="es-ES" sz="1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/Bus IBM</a:t>
            </a:r>
            <a:endParaRPr lang="es-ES" sz="1000" noProof="0" dirty="0"/>
          </a:p>
          <a:p>
            <a:pPr marL="174625" indent="-174625">
              <a:spcAft>
                <a:spcPts val="300"/>
              </a:spcAft>
              <a:buSzPct val="100000"/>
              <a:buChar char="•"/>
            </a:pPr>
            <a:r>
              <a:rPr lang="es-ES" sz="1050" b="1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WebMethods</a:t>
            </a:r>
            <a:r>
              <a:rPr lang="es-ES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 como orquestador BPM/BRM para el flujo </a:t>
            </a:r>
            <a:r>
              <a:rPr lang="es-ES" sz="1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(Apolo)</a:t>
            </a:r>
            <a:endParaRPr lang="es-ES" sz="1050" noProof="0" dirty="0"/>
          </a:p>
        </p:txBody>
      </p:sp>
      <p:sp>
        <p:nvSpPr>
          <p:cNvPr id="15" name="Shape 13"/>
          <p:cNvSpPr/>
          <p:nvPr/>
        </p:nvSpPr>
        <p:spPr>
          <a:xfrm>
            <a:off x="5998464" y="2450592"/>
            <a:ext cx="411480" cy="411480"/>
          </a:xfrm>
          <a:prstGeom prst="rightArrow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419088" y="10515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38100" dir="27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419088" y="1051560"/>
            <a:ext cx="2651760" cy="640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583680" y="1143000"/>
            <a:ext cx="2322576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583680" y="114300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 — Modelo UNITY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9860" y="1545336"/>
            <a:ext cx="24612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4625" indent="-174625">
              <a:spcAft>
                <a:spcPts val="300"/>
              </a:spcAft>
              <a:buSzPct val="100000"/>
              <a:buChar char="•"/>
            </a:pPr>
            <a:r>
              <a:rPr lang="es-ES" sz="1050" b="1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r>
              <a:rPr lang="es-ES" sz="1050" b="1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ES" sz="1050" b="1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</a:t>
            </a:r>
            <a:r>
              <a:rPr lang="es-ES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(AWS): 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único de entrada; valida OAuth 2.0 vía Microsoft Entra y aplica Cloud Armor anti-</a:t>
            </a:r>
            <a:r>
              <a:rPr lang="es-ES" sz="1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s-ES" sz="1000" noProof="0" dirty="0">
              <a:solidFill>
                <a:srgbClr val="2C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4625" indent="-174625">
              <a:spcAft>
                <a:spcPts val="300"/>
              </a:spcAft>
              <a:buSzPct val="100000"/>
              <a:buChar char="•"/>
            </a:pPr>
            <a:r>
              <a:rPr lang="es-ES" sz="1050" b="1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r>
              <a:rPr lang="es-ES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(AWS): 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e integración interna; </a:t>
            </a:r>
            <a:r>
              <a:rPr lang="es-ES" sz="1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capas de negocio y dominio; conecta Informix, </a:t>
            </a:r>
            <a:r>
              <a:rPr lang="es-ES" sz="1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SmartVista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Temenos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OnBase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Yugabyte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s-ES" sz="1000" noProof="0" dirty="0"/>
          </a:p>
          <a:p>
            <a:pPr marL="174625" indent="-174625">
              <a:spcAft>
                <a:spcPts val="300"/>
              </a:spcAft>
              <a:buSzPct val="100000"/>
              <a:buChar char="•"/>
            </a:pPr>
            <a:r>
              <a:rPr lang="es-ES" sz="1050" b="1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WebMethods</a:t>
            </a:r>
            <a:r>
              <a:rPr lang="es-ES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(AWS): 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 BPM/BRM para ciclo de vida y reglas de negocio del proceso Apolo</a:t>
            </a:r>
            <a:endParaRPr lang="es-ES" sz="1000" noProof="0" dirty="0"/>
          </a:p>
          <a:p>
            <a:pPr marL="174625" indent="-174625">
              <a:spcAft>
                <a:spcPts val="300"/>
              </a:spcAft>
              <a:buSzPct val="100000"/>
              <a:buChar char="•"/>
            </a:pPr>
            <a:r>
              <a:rPr lang="es-ES" sz="1050" b="1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centralizado</a:t>
            </a:r>
            <a:r>
              <a:rPr lang="es-ES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S" sz="105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r>
              <a:rPr lang="es-ES" sz="105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ES" sz="1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r>
              <a:rPr lang="es-ES" sz="1000" noProof="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visibilidad unificada </a:t>
            </a:r>
            <a:r>
              <a:rPr lang="es-ES" sz="1000" noProof="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s-ES" sz="1050" noProof="0" dirty="0"/>
          </a:p>
        </p:txBody>
      </p:sp>
      <p:sp>
        <p:nvSpPr>
          <p:cNvPr id="21" name="Shape 19"/>
          <p:cNvSpPr/>
          <p:nvPr/>
        </p:nvSpPr>
        <p:spPr>
          <a:xfrm>
            <a:off x="228600" y="4379976"/>
            <a:ext cx="868680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84048" y="4416552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Lo que no cambia (</a:t>
            </a:r>
            <a:r>
              <a:rPr lang="es-ES" sz="1050" b="1" noProof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todavía</a:t>
            </a:r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Router y Bus IBM permanecen en operación para todos los canales y productos legados que no migran en este release. La unificación total será gradual conforme avance la migración del core.</a:t>
            </a:r>
            <a:endParaRPr lang="en-US" sz="10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8DEA1F-13AB-1EC0-03A1-7250574BA1FD}"/>
              </a:ext>
            </a:extLst>
          </p:cNvPr>
          <p:cNvSpPr/>
          <p:nvPr/>
        </p:nvSpPr>
        <p:spPr>
          <a:xfrm>
            <a:off x="-68580" y="388620"/>
            <a:ext cx="92400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Ejemplo</a:t>
            </a:r>
            <a:r>
              <a:rPr lang="en-US" sz="40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 </a:t>
            </a:r>
            <a:r>
              <a:rPr lang="en-US" sz="4000" b="1" cap="none" spc="0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ilustrativo</a:t>
            </a:r>
            <a:endParaRPr lang="en-US" sz="40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Real  —  As-Is vs. To-Be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28600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2860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005840"/>
            <a:ext cx="3063240" cy="384048"/>
          </a:xfrm>
          <a:prstGeom prst="rect">
            <a:avLst/>
          </a:prstGeom>
          <a:solidFill>
            <a:srgbClr val="B8504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560320" y="1005840"/>
            <a:ext cx="30632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AS-IS  —  Estado Actual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23560" y="1005840"/>
            <a:ext cx="32461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623560" y="1005840"/>
            <a:ext cx="32461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TO-BE  —  Modelo UNITY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22860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47472" y="1389888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389888"/>
            <a:ext cx="3063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651760" y="1559052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889504" y="1389888"/>
            <a:ext cx="266090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Múltiple: InterAct + Bus IBM + OpenBanking + MuleSoft parcial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23560" y="1389888"/>
            <a:ext cx="32461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5715000" y="1559052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952744" y="1389888"/>
            <a:ext cx="284378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Único: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/Apigee para todos los canales UNITY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1911096"/>
            <a:ext cx="2286000" cy="521208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47472" y="1911096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1911096"/>
            <a:ext cx="3063240" cy="521208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651760" y="2080260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2889504" y="1911096"/>
            <a:ext cx="266090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Propietaria por canal y sistema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23560" y="1911096"/>
            <a:ext cx="3246120" cy="521208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5715000" y="2080260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952744" y="1911096"/>
            <a:ext cx="284378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centralizado vía Microsoft Entra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2432304"/>
            <a:ext cx="22860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47472" y="2432304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interno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0" y="2432304"/>
            <a:ext cx="3063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2651760" y="2601468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2889504" y="2432304"/>
            <a:ext cx="266090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Tramas propietarias (InterAct) + mensajería IBM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23560" y="2432304"/>
            <a:ext cx="32461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5715000" y="2601468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952744" y="2432304"/>
            <a:ext cx="284378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REST/JSON sobre HTTPS con SSL en todos los saltos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2953512"/>
            <a:ext cx="2286000" cy="521208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347472" y="2953512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de APIs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0" y="2953512"/>
            <a:ext cx="3063240" cy="521208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2651760" y="3122676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2889504" y="2953512"/>
            <a:ext cx="266090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Inexistente para el core; solo para APIs públicas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23560" y="2953512"/>
            <a:ext cx="3246120" cy="521208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5715000" y="3122676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5952744" y="2953512"/>
            <a:ext cx="284378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Contratos, throttling, visibilidad y seguridad en Apigee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3474720"/>
            <a:ext cx="22860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347472" y="3474720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al core legado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560320" y="3474720"/>
            <a:ext cx="3063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2651760" y="3643884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2889504" y="3474720"/>
            <a:ext cx="266090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 vía SPLs (InterAct) o mensajería (Bus IBM)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623560" y="3474720"/>
            <a:ext cx="32461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5715000" y="3643884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5952744" y="3474720"/>
            <a:ext cx="284378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Mediada por MuleSoft con túnel VPN/Direct Connect a Informix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74320" y="3995928"/>
            <a:ext cx="2286000" cy="521208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347472" y="3995928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560320" y="3995928"/>
            <a:ext cx="3063240" cy="521208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2651760" y="4165092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2889504" y="3995928"/>
            <a:ext cx="266090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Fragmentado por sistema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623560" y="3995928"/>
            <a:ext cx="3246120" cy="521208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5715000" y="4165092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5952744" y="3995928"/>
            <a:ext cx="284378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Centralizado: </a:t>
            </a:r>
            <a:r>
              <a:rPr lang="en-US" sz="10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/Apigee + Elastic + Grafana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74320" y="4517136"/>
            <a:ext cx="22860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347472" y="4517136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560320" y="4517136"/>
            <a:ext cx="3063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Shape 59"/>
          <p:cNvSpPr/>
          <p:nvPr/>
        </p:nvSpPr>
        <p:spPr>
          <a:xfrm>
            <a:off x="2651760" y="4686300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2" name="Text 60"/>
          <p:cNvSpPr/>
          <p:nvPr/>
        </p:nvSpPr>
        <p:spPr>
          <a:xfrm>
            <a:off x="2889504" y="4517136"/>
            <a:ext cx="266090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canales legados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623560" y="4517136"/>
            <a:ext cx="32461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Shape 62"/>
          <p:cNvSpPr/>
          <p:nvPr/>
        </p:nvSpPr>
        <p:spPr>
          <a:xfrm>
            <a:off x="5715000" y="4686300"/>
            <a:ext cx="182880" cy="1828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/>
          <p:nvPr/>
        </p:nvSpPr>
        <p:spPr>
          <a:xfrm>
            <a:off x="5952744" y="4517136"/>
            <a:ext cx="284378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Legado + nuevos productos UNITY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74320" y="5294376"/>
            <a:ext cx="201168" cy="2011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530352" y="520293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As-Is: fragmentado, sin gobernanza unificada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114800" y="5294376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9" name="Text 67"/>
          <p:cNvSpPr/>
          <p:nvPr/>
        </p:nvSpPr>
        <p:spPr>
          <a:xfrm>
            <a:off x="4370832" y="520293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To-Be: unificado, centralizado, gobernado</a:t>
            </a:r>
            <a:endParaRPr lang="en-US" sz="10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4E976BA-3719-77EC-D093-4E74FB2CE90E}"/>
              </a:ext>
            </a:extLst>
          </p:cNvPr>
          <p:cNvSpPr/>
          <p:nvPr/>
        </p:nvSpPr>
        <p:spPr>
          <a:xfrm>
            <a:off x="-68580" y="388620"/>
            <a:ext cx="924001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Ejemplo</a:t>
            </a:r>
            <a:r>
              <a:rPr lang="en-US" sz="40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 </a:t>
            </a:r>
            <a:r>
              <a:rPr lang="en-US" sz="4000" b="1" cap="none" spc="0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ilustrativo</a:t>
            </a:r>
            <a:endParaRPr lang="en-US" sz="40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9D013E3A-9EDE-4115-A49A-2F4F45649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f21e1d-e7b2-4ba8-bb72-ca5e3ff425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03E8A0-8368-4680-82A8-845888710B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7D5C95-5124-4029-9BB7-9F15F730F877}">
  <ds:schemaRefs>
    <ds:schemaRef ds:uri="http://schemas.microsoft.com/office/2006/metadata/properties"/>
    <ds:schemaRef ds:uri="http://schemas.microsoft.com/office/infopath/2007/PartnerControls"/>
    <ds:schemaRef ds:uri="bcf21e1d-e7b2-4ba8-bb72-ca5e3ff425f9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484</Words>
  <Application>Microsoft Office PowerPoint</Application>
  <PresentationFormat>On-screen Show (16:9)</PresentationFormat>
  <Paragraphs>48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Villena, Jose</cp:lastModifiedBy>
  <cp:revision>2</cp:revision>
  <dcterms:created xsi:type="dcterms:W3CDTF">2026-08-18T14:05:03Z</dcterms:created>
  <dcterms:modified xsi:type="dcterms:W3CDTF">2026-08-18T15:03:01Z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