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Slides/notesSlide11.xml" ContentType="application/vnd.openxmlformats-officedocument.presentationml.notesSlide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Slides/notesSlide4.xml" ContentType="application/vnd.openxmlformats-officedocument.presentationml.notes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2813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8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11480" y="731520"/>
            <a:ext cx="8503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Apolo R3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11480" y="2011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7BA7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Mapa de Capacidades de Interoperabilidad BanCoppel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11480" y="2743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Análisis de cobertura Apolo R3 · 13 Dominios · 60 Sub-Dominios · 183 Capacidades L2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17220" y="3566160"/>
            <a:ext cx="1874520" cy="1234440"/>
          </a:xfrm>
          <a:prstGeom prst="rect">
            <a:avLst/>
          </a:prstGeom>
          <a:solidFill>
            <a:srgbClr val="0D1E38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17220" y="3639312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53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17220" y="43434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Cubierto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7220" y="457200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29%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28900" y="3566160"/>
            <a:ext cx="1874520" cy="1234440"/>
          </a:xfrm>
          <a:prstGeom prst="rect">
            <a:avLst/>
          </a:prstGeom>
          <a:solidFill>
            <a:srgbClr val="0D1E38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2628900" y="3639312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628900" y="43434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Parcial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28900" y="457200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40580" y="3566160"/>
            <a:ext cx="1874520" cy="1234440"/>
          </a:xfrm>
          <a:prstGeom prst="rect">
            <a:avLst/>
          </a:prstGeom>
          <a:solidFill>
            <a:srgbClr val="0D1E38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640580" y="3639312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4640580" y="43434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Planificado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40580" y="457200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52260" y="3566160"/>
            <a:ext cx="1874520" cy="1234440"/>
          </a:xfrm>
          <a:prstGeom prst="rect">
            <a:avLst/>
          </a:prstGeom>
          <a:solidFill>
            <a:srgbClr val="0D1E38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652260" y="3639312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88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652260" y="43434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identificado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52260" y="457200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48%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Resumen de Cobertura – 183 Capacidades L2 de Interoperabilidad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Distribución global del estado de cobertura Apolo R3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383436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23834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40636" y="1097280"/>
            <a:ext cx="1753849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840636" y="1097280"/>
            <a:ext cx="175384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94485" y="1097280"/>
            <a:ext cx="134911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729397" y="1097280"/>
            <a:ext cx="3957403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729397" y="1097280"/>
            <a:ext cx="395740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88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60934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03504" y="1572768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Cubierto  53 (29%)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06040" y="160934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2752344" y="1572768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🟡  Parcial  39 (21%)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609344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901184" y="1572768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🔵  Planificado  3 (2%)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03720" y="1609344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7050024" y="1572768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No identificado  88 (48%)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7220" y="2148840"/>
            <a:ext cx="187452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617220" y="224028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53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617220" y="30632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Cubierto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7220" y="341071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29% del total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7220" y="2148840"/>
            <a:ext cx="187452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2628900" y="2148840"/>
            <a:ext cx="187452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2628900" y="224028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</a:t>
            </a:r>
            <a:endParaRPr lang="en-US" sz="4600" dirty="0"/>
          </a:p>
        </p:txBody>
      </p:sp>
      <p:sp>
        <p:nvSpPr>
          <p:cNvPr id="27" name="Text 25"/>
          <p:cNvSpPr/>
          <p:nvPr/>
        </p:nvSpPr>
        <p:spPr>
          <a:xfrm>
            <a:off x="2628900" y="30632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Parcial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28900" y="341071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21% del total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628900" y="2148840"/>
            <a:ext cx="18745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4640580" y="2148840"/>
            <a:ext cx="187452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4640580" y="224028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4600" dirty="0"/>
          </a:p>
        </p:txBody>
      </p:sp>
      <p:sp>
        <p:nvSpPr>
          <p:cNvPr id="32" name="Text 30"/>
          <p:cNvSpPr/>
          <p:nvPr/>
        </p:nvSpPr>
        <p:spPr>
          <a:xfrm>
            <a:off x="4640580" y="30632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Planificado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40580" y="341071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2% del total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40580" y="2148840"/>
            <a:ext cx="187452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6652260" y="2148840"/>
            <a:ext cx="187452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6652260" y="224028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88</a:t>
            </a:r>
            <a:endParaRPr lang="en-US" sz="4600" dirty="0"/>
          </a:p>
        </p:txBody>
      </p:sp>
      <p:sp>
        <p:nvSpPr>
          <p:cNvPr id="37" name="Text 35"/>
          <p:cNvSpPr/>
          <p:nvPr/>
        </p:nvSpPr>
        <p:spPr>
          <a:xfrm>
            <a:off x="6652260" y="30632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 identificado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52260" y="341071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48% del total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652260" y="2148840"/>
            <a:ext cx="187452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porcentajes corresponden a las 183 capacidades L2 del Interoperability Capability Hierarchy analizadas contra Apolo R3.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228600" y="137160"/>
            <a:ext cx="475488" cy="475488"/>
          </a:xfrm>
          <a:prstGeom prst="rect">
            <a:avLst/>
          </a:prstGeom>
          <a:solidFill>
            <a:srgbClr val="0D1B34"/>
          </a:solidFill>
          <a:ln w="12700">
            <a:solidFill>
              <a:srgbClr val="3B5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28600" y="1371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BA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3657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493776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A9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L0 · Security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403336" y="182880"/>
            <a:ext cx="45720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403336" y="1828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91272" y="182880"/>
            <a:ext cx="457200" cy="384048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891272" y="1828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54D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79208" y="182880"/>
            <a:ext cx="45720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7379208" y="1828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" y="86868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8404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Cubierto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947672" y="86868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207568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Parcial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39312" y="86868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76732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Planificado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330952" y="86868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45896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identificado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56032" y="1069848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310896" y="1106424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310896" y="110642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96112" y="10698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de Identidad y Acceso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6032" y="134416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347472" y="1415034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75488" y="134416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1.1.1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152144" y="134416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Servicios de Autenticación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56032" y="1586484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347472" y="165735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475488" y="1586484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1.1.2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152144" y="1586484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Authorisation Services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56032" y="1828800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347472" y="189966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475488" y="1828800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1.1.3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152144" y="1828800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Token &amp; Single Sign-On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56032" y="2071116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Shape 36"/>
          <p:cNvSpPr/>
          <p:nvPr/>
        </p:nvSpPr>
        <p:spPr>
          <a:xfrm>
            <a:off x="347472" y="214198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475488" y="2071116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1.1.4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152144" y="2071116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Services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56032" y="2313432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Shape 40"/>
          <p:cNvSpPr/>
          <p:nvPr/>
        </p:nvSpPr>
        <p:spPr>
          <a:xfrm>
            <a:off x="347472" y="2384298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475488" y="2313432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1.1.5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1152144" y="2313432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Administración de Usuarios, Políticas y Credencia…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56032" y="2555748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Shape 44"/>
          <p:cNvSpPr/>
          <p:nvPr/>
        </p:nvSpPr>
        <p:spPr>
          <a:xfrm>
            <a:off x="310896" y="2592324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310896" y="259232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896112" y="25557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Servicios Criptográficos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56032" y="283006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Shape 48"/>
          <p:cNvSpPr/>
          <p:nvPr/>
        </p:nvSpPr>
        <p:spPr>
          <a:xfrm>
            <a:off x="347472" y="2900934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475488" y="283006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1.2.1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1152144" y="283006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Signature Operations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56032" y="3072384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Shape 52"/>
          <p:cNvSpPr/>
          <p:nvPr/>
        </p:nvSpPr>
        <p:spPr>
          <a:xfrm>
            <a:off x="347472" y="314325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Text 53"/>
          <p:cNvSpPr/>
          <p:nvPr/>
        </p:nvSpPr>
        <p:spPr>
          <a:xfrm>
            <a:off x="475488" y="3072384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1.2.2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152144" y="3072384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Encryption Operations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56032" y="3314700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Shape 56"/>
          <p:cNvSpPr/>
          <p:nvPr/>
        </p:nvSpPr>
        <p:spPr>
          <a:xfrm>
            <a:off x="347472" y="338556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Text 57"/>
          <p:cNvSpPr/>
          <p:nvPr/>
        </p:nvSpPr>
        <p:spPr>
          <a:xfrm>
            <a:off x="475488" y="3314700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1.2.3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1152144" y="3314700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Encryption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56032" y="3557016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2" name="Shape 60"/>
          <p:cNvSpPr/>
          <p:nvPr/>
        </p:nvSpPr>
        <p:spPr>
          <a:xfrm>
            <a:off x="347472" y="362788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Text 61"/>
          <p:cNvSpPr/>
          <p:nvPr/>
        </p:nvSpPr>
        <p:spPr>
          <a:xfrm>
            <a:off x="475488" y="3557016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1.2.4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1152144" y="3557016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Store &amp; HSM Management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56032" y="3799332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6" name="Shape 64"/>
          <p:cNvSpPr/>
          <p:nvPr/>
        </p:nvSpPr>
        <p:spPr>
          <a:xfrm>
            <a:off x="310896" y="3835908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7" name="Text 65"/>
          <p:cNvSpPr/>
          <p:nvPr/>
        </p:nvSpPr>
        <p:spPr>
          <a:xfrm>
            <a:off x="310896" y="383590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896112" y="37993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de Certificados y Secretos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56032" y="4073652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0" name="Shape 68"/>
          <p:cNvSpPr/>
          <p:nvPr/>
        </p:nvSpPr>
        <p:spPr>
          <a:xfrm>
            <a:off x="347472" y="4144518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1" name="Text 69"/>
          <p:cNvSpPr/>
          <p:nvPr/>
        </p:nvSpPr>
        <p:spPr>
          <a:xfrm>
            <a:off x="475488" y="4073652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1.3.1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1152144" y="4073652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Certificate Management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256032" y="431596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4" name="Shape 72"/>
          <p:cNvSpPr/>
          <p:nvPr/>
        </p:nvSpPr>
        <p:spPr>
          <a:xfrm>
            <a:off x="347472" y="438683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5" name="Text 73"/>
          <p:cNvSpPr/>
          <p:nvPr/>
        </p:nvSpPr>
        <p:spPr>
          <a:xfrm>
            <a:off x="475488" y="431596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1.3.2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1152144" y="431596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Secret Management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672584" y="1069848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8" name="Shape 76"/>
          <p:cNvSpPr/>
          <p:nvPr/>
        </p:nvSpPr>
        <p:spPr>
          <a:xfrm>
            <a:off x="4727448" y="1106424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9" name="Text 77"/>
          <p:cNvSpPr/>
          <p:nvPr/>
        </p:nvSpPr>
        <p:spPr>
          <a:xfrm>
            <a:off x="4727448" y="110642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5312664" y="10698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Protección contra Amenazas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4672584" y="134416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2" name="Shape 80"/>
          <p:cNvSpPr/>
          <p:nvPr/>
        </p:nvSpPr>
        <p:spPr>
          <a:xfrm>
            <a:off x="4764024" y="141503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3" name="Text 81"/>
          <p:cNvSpPr/>
          <p:nvPr/>
        </p:nvSpPr>
        <p:spPr>
          <a:xfrm>
            <a:off x="4892040" y="134416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1.4.1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5568696" y="134416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Security &amp; Injection Protection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4672584" y="1586484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6" name="Shape 84"/>
          <p:cNvSpPr/>
          <p:nvPr/>
        </p:nvSpPr>
        <p:spPr>
          <a:xfrm>
            <a:off x="4764024" y="165735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7" name="Text 85"/>
          <p:cNvSpPr/>
          <p:nvPr/>
        </p:nvSpPr>
        <p:spPr>
          <a:xfrm>
            <a:off x="4892040" y="1586484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1.4.2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5568696" y="1586484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Perimeter Threat Protection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4672584" y="1828800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0" name="Shape 88"/>
          <p:cNvSpPr/>
          <p:nvPr/>
        </p:nvSpPr>
        <p:spPr>
          <a:xfrm>
            <a:off x="4764024" y="189966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1" name="Text 89"/>
          <p:cNvSpPr/>
          <p:nvPr/>
        </p:nvSpPr>
        <p:spPr>
          <a:xfrm>
            <a:off x="4892040" y="1828800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1.4.3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5568696" y="1828800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Payload Protection &amp; Quota Enforcement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4672584" y="2071116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4" name="Shape 92"/>
          <p:cNvSpPr/>
          <p:nvPr/>
        </p:nvSpPr>
        <p:spPr>
          <a:xfrm>
            <a:off x="4764024" y="214198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5" name="Text 93"/>
          <p:cNvSpPr/>
          <p:nvPr/>
        </p:nvSpPr>
        <p:spPr>
          <a:xfrm>
            <a:off x="4892040" y="2071116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1.4.4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5568696" y="2071116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Container &amp; Streaming Security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4672584" y="2313432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8" name="Shape 96"/>
          <p:cNvSpPr/>
          <p:nvPr/>
        </p:nvSpPr>
        <p:spPr>
          <a:xfrm>
            <a:off x="4727448" y="2350008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9" name="Text 97"/>
          <p:cNvSpPr/>
          <p:nvPr/>
        </p:nvSpPr>
        <p:spPr>
          <a:xfrm>
            <a:off x="4727448" y="235000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5312664" y="23134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de Vulnerabilidades y Amenazas (VTM)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4672584" y="2587752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2" name="Shape 100"/>
          <p:cNvSpPr/>
          <p:nvPr/>
        </p:nvSpPr>
        <p:spPr>
          <a:xfrm>
            <a:off x="4764024" y="265861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3" name="Text 101"/>
          <p:cNvSpPr/>
          <p:nvPr/>
        </p:nvSpPr>
        <p:spPr>
          <a:xfrm>
            <a:off x="4892040" y="2587752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1.5.1</a:t>
            </a:r>
            <a:endParaRPr lang="en-US" sz="700" dirty="0"/>
          </a:p>
        </p:txBody>
      </p:sp>
      <p:sp>
        <p:nvSpPr>
          <p:cNvPr id="104" name="Text 102"/>
          <p:cNvSpPr/>
          <p:nvPr/>
        </p:nvSpPr>
        <p:spPr>
          <a:xfrm>
            <a:off x="5568696" y="2587752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Vulnerability Scanning &amp; Remediation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4672584" y="283006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6" name="Shape 104"/>
          <p:cNvSpPr/>
          <p:nvPr/>
        </p:nvSpPr>
        <p:spPr>
          <a:xfrm>
            <a:off x="4764024" y="2900934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7" name="Text 105"/>
          <p:cNvSpPr/>
          <p:nvPr/>
        </p:nvSpPr>
        <p:spPr>
          <a:xfrm>
            <a:off x="4892040" y="283006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1.5.2</a:t>
            </a:r>
            <a:endParaRPr lang="en-US" sz="700" dirty="0"/>
          </a:p>
        </p:txBody>
      </p:sp>
      <p:sp>
        <p:nvSpPr>
          <p:cNvPr id="108" name="Text 106"/>
          <p:cNvSpPr/>
          <p:nvPr/>
        </p:nvSpPr>
        <p:spPr>
          <a:xfrm>
            <a:off x="5568696" y="283006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Penetration Testing &amp; Adversarial Assessment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4672584" y="3072384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0" name="Shape 108"/>
          <p:cNvSpPr/>
          <p:nvPr/>
        </p:nvSpPr>
        <p:spPr>
          <a:xfrm>
            <a:off x="4764024" y="314325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1" name="Text 109"/>
          <p:cNvSpPr/>
          <p:nvPr/>
        </p:nvSpPr>
        <p:spPr>
          <a:xfrm>
            <a:off x="4892040" y="3072384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1.5.3</a:t>
            </a:r>
            <a:endParaRPr lang="en-US" sz="700" dirty="0"/>
          </a:p>
        </p:txBody>
      </p:sp>
      <p:sp>
        <p:nvSpPr>
          <p:cNvPr id="112" name="Text 110"/>
          <p:cNvSpPr/>
          <p:nvPr/>
        </p:nvSpPr>
        <p:spPr>
          <a:xfrm>
            <a:off x="5568696" y="3072384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Baseline &amp; Policy Enforcement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4672584" y="3314700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4" name="Shape 112"/>
          <p:cNvSpPr/>
          <p:nvPr/>
        </p:nvSpPr>
        <p:spPr>
          <a:xfrm>
            <a:off x="4727448" y="3351276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5" name="Text 113"/>
          <p:cNvSpPr/>
          <p:nvPr/>
        </p:nvSpPr>
        <p:spPr>
          <a:xfrm>
            <a:off x="4727448" y="335127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1.6</a:t>
            </a:r>
            <a:endParaRPr lang="en-US" sz="750" dirty="0"/>
          </a:p>
        </p:txBody>
      </p:sp>
      <p:sp>
        <p:nvSpPr>
          <p:cNvPr id="116" name="Text 114"/>
          <p:cNvSpPr/>
          <p:nvPr/>
        </p:nvSpPr>
        <p:spPr>
          <a:xfrm>
            <a:off x="5312664" y="331470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Observabilidad y Respuesta de Seguridad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4672584" y="3589020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8" name="Shape 116"/>
          <p:cNvSpPr/>
          <p:nvPr/>
        </p:nvSpPr>
        <p:spPr>
          <a:xfrm>
            <a:off x="4764024" y="365988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9" name="Text 117"/>
          <p:cNvSpPr/>
          <p:nvPr/>
        </p:nvSpPr>
        <p:spPr>
          <a:xfrm>
            <a:off x="4892040" y="3589020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1.6.1</a:t>
            </a:r>
            <a:endParaRPr lang="en-US" sz="700" dirty="0"/>
          </a:p>
        </p:txBody>
      </p:sp>
      <p:sp>
        <p:nvSpPr>
          <p:cNvPr id="120" name="Text 118"/>
          <p:cNvSpPr/>
          <p:nvPr/>
        </p:nvSpPr>
        <p:spPr>
          <a:xfrm>
            <a:off x="5568696" y="3589020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Alerting, Metrics &amp; Dashboards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4672584" y="3831336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2" name="Shape 120"/>
          <p:cNvSpPr/>
          <p:nvPr/>
        </p:nvSpPr>
        <p:spPr>
          <a:xfrm>
            <a:off x="4764024" y="390220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3" name="Text 121"/>
          <p:cNvSpPr/>
          <p:nvPr/>
        </p:nvSpPr>
        <p:spPr>
          <a:xfrm>
            <a:off x="4892040" y="3831336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1.6.2</a:t>
            </a:r>
            <a:endParaRPr lang="en-US" sz="700" dirty="0"/>
          </a:p>
        </p:txBody>
      </p:sp>
      <p:sp>
        <p:nvSpPr>
          <p:cNvPr id="124" name="Text 122"/>
          <p:cNvSpPr/>
          <p:nvPr/>
        </p:nvSpPr>
        <p:spPr>
          <a:xfrm>
            <a:off x="5568696" y="3831336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Incident Response Automation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228600" y="137160"/>
            <a:ext cx="475488" cy="475488"/>
          </a:xfrm>
          <a:prstGeom prst="rect">
            <a:avLst/>
          </a:prstGeom>
          <a:solidFill>
            <a:srgbClr val="0D1B34"/>
          </a:solidFill>
          <a:ln w="12700">
            <a:solidFill>
              <a:srgbClr val="3B5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28600" y="1371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BA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3657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Observabilidad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493776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A9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L0 · Observability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403336" y="182880"/>
            <a:ext cx="45720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403336" y="1828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91272" y="182880"/>
            <a:ext cx="45720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891272" y="1828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86868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8404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Cubierto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947672" y="86868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07568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Parcial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639312" y="86868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76732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Planificado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330952" y="86868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45896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identificado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56032" y="1069848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310896" y="1106424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310896" y="110642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96112" y="10698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Monitoreo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6032" y="134416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347472" y="1415034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475488" y="134416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2.1.1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152144" y="134416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Monitoreo de Salud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56032" y="1586484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347472" y="165735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475488" y="1586484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2.1.2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152144" y="1586484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Health &amp; Availability Monitoring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56032" y="1828800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347472" y="189966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475488" y="1828800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2.1.3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152144" y="1828800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Alerting &amp; Notification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56032" y="2071116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Shape 34"/>
          <p:cNvSpPr/>
          <p:nvPr/>
        </p:nvSpPr>
        <p:spPr>
          <a:xfrm>
            <a:off x="347472" y="214198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475488" y="2071116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2.1.4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152144" y="2071116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Capacity &amp; Event-Rate Monitoring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56032" y="2313432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Shape 38"/>
          <p:cNvSpPr/>
          <p:nvPr/>
        </p:nvSpPr>
        <p:spPr>
          <a:xfrm>
            <a:off x="310896" y="2350008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310896" y="235000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2.2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896112" y="23134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Registro de Logs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56032" y="2587752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Shape 42"/>
          <p:cNvSpPr/>
          <p:nvPr/>
        </p:nvSpPr>
        <p:spPr>
          <a:xfrm>
            <a:off x="347472" y="2658618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475488" y="2587752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2.2.1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1152144" y="2587752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Aggregation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56032" y="283006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Shape 46"/>
          <p:cNvSpPr/>
          <p:nvPr/>
        </p:nvSpPr>
        <p:spPr>
          <a:xfrm>
            <a:off x="347472" y="2900934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Text 47"/>
          <p:cNvSpPr/>
          <p:nvPr/>
        </p:nvSpPr>
        <p:spPr>
          <a:xfrm>
            <a:off x="475488" y="283006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2.2.2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1152144" y="283006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Log Services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56032" y="3072384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Shape 50"/>
          <p:cNvSpPr/>
          <p:nvPr/>
        </p:nvSpPr>
        <p:spPr>
          <a:xfrm>
            <a:off x="347472" y="314325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/>
          <p:nvPr/>
        </p:nvSpPr>
        <p:spPr>
          <a:xfrm>
            <a:off x="475488" y="3072384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2.2.3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152144" y="3072384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Registro de Auditoría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56032" y="3314700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Shape 54"/>
          <p:cNvSpPr/>
          <p:nvPr/>
        </p:nvSpPr>
        <p:spPr>
          <a:xfrm>
            <a:off x="347472" y="338556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Text 55"/>
          <p:cNvSpPr/>
          <p:nvPr/>
        </p:nvSpPr>
        <p:spPr>
          <a:xfrm>
            <a:off x="475488" y="3314700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2.2.4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1152144" y="3314700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Retention &amp; Rotation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56032" y="3557016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0" name="Shape 58"/>
          <p:cNvSpPr/>
          <p:nvPr/>
        </p:nvSpPr>
        <p:spPr>
          <a:xfrm>
            <a:off x="310896" y="3593592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Text 59"/>
          <p:cNvSpPr/>
          <p:nvPr/>
        </p:nvSpPr>
        <p:spPr>
          <a:xfrm>
            <a:off x="310896" y="359359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2.3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896112" y="355701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Trazabilidad Distribuida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56032" y="3831336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4" name="Shape 62"/>
          <p:cNvSpPr/>
          <p:nvPr/>
        </p:nvSpPr>
        <p:spPr>
          <a:xfrm>
            <a:off x="347472" y="390220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5" name="Text 63"/>
          <p:cNvSpPr/>
          <p:nvPr/>
        </p:nvSpPr>
        <p:spPr>
          <a:xfrm>
            <a:off x="475488" y="3831336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2.3.1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1152144" y="3831336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Trazado Distribuido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256032" y="4073652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8" name="Shape 66"/>
          <p:cNvSpPr/>
          <p:nvPr/>
        </p:nvSpPr>
        <p:spPr>
          <a:xfrm>
            <a:off x="347472" y="4144518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9" name="Text 67"/>
          <p:cNvSpPr/>
          <p:nvPr/>
        </p:nvSpPr>
        <p:spPr>
          <a:xfrm>
            <a:off x="475488" y="4073652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2.3.2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1152144" y="4073652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Tracing (Correlation Identity)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56032" y="4315968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2" name="Shape 70"/>
          <p:cNvSpPr/>
          <p:nvPr/>
        </p:nvSpPr>
        <p:spPr>
          <a:xfrm>
            <a:off x="310896" y="4352544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3" name="Text 71"/>
          <p:cNvSpPr/>
          <p:nvPr/>
        </p:nvSpPr>
        <p:spPr>
          <a:xfrm>
            <a:off x="310896" y="435254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2.4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896112" y="431596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Métricas, Analítica e Informes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256032" y="459028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6" name="Shape 74"/>
          <p:cNvSpPr/>
          <p:nvPr/>
        </p:nvSpPr>
        <p:spPr>
          <a:xfrm>
            <a:off x="347472" y="4661154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7" name="Text 75"/>
          <p:cNvSpPr/>
          <p:nvPr/>
        </p:nvSpPr>
        <p:spPr>
          <a:xfrm>
            <a:off x="475488" y="459028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2.4.1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1152144" y="459028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Metrics &amp; Analytics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672584" y="106984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0" name="Shape 78"/>
          <p:cNvSpPr/>
          <p:nvPr/>
        </p:nvSpPr>
        <p:spPr>
          <a:xfrm>
            <a:off x="4764024" y="1140714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1" name="Text 79"/>
          <p:cNvSpPr/>
          <p:nvPr/>
        </p:nvSpPr>
        <p:spPr>
          <a:xfrm>
            <a:off x="4892040" y="106984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2.4.2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5568696" y="106984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Reportes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4672584" y="1312164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4" name="Shape 82"/>
          <p:cNvSpPr/>
          <p:nvPr/>
        </p:nvSpPr>
        <p:spPr>
          <a:xfrm>
            <a:off x="4727448" y="1348740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5" name="Text 83"/>
          <p:cNvSpPr/>
          <p:nvPr/>
        </p:nvSpPr>
        <p:spPr>
          <a:xfrm>
            <a:off x="4727448" y="134874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2.5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5312664" y="13121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Paneles de Control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4672584" y="1586484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8" name="Shape 86"/>
          <p:cNvSpPr/>
          <p:nvPr/>
        </p:nvSpPr>
        <p:spPr>
          <a:xfrm>
            <a:off x="4764024" y="165735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9" name="Text 87"/>
          <p:cNvSpPr/>
          <p:nvPr/>
        </p:nvSpPr>
        <p:spPr>
          <a:xfrm>
            <a:off x="4892040" y="1586484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2.5.1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5568696" y="1586484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Paneles Técnicos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4672584" y="1828800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2" name="Shape 90"/>
          <p:cNvSpPr/>
          <p:nvPr/>
        </p:nvSpPr>
        <p:spPr>
          <a:xfrm>
            <a:off x="4764024" y="189966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3" name="Text 91"/>
          <p:cNvSpPr/>
          <p:nvPr/>
        </p:nvSpPr>
        <p:spPr>
          <a:xfrm>
            <a:off x="4892040" y="1828800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2.5.2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5568696" y="1828800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Paneles de Negocio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228600" y="137160"/>
            <a:ext cx="475488" cy="475488"/>
          </a:xfrm>
          <a:prstGeom prst="rect">
            <a:avLst/>
          </a:prstGeom>
          <a:solidFill>
            <a:srgbClr val="0D1B34"/>
          </a:solidFill>
          <a:ln w="12700">
            <a:solidFill>
              <a:srgbClr val="3B5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28600" y="1371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BA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3657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Operaciones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493776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A9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L0 · Operations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403336" y="182880"/>
            <a:ext cx="457200" cy="384048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403336" y="1828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54D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91272" y="182880"/>
            <a:ext cx="45720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891272" y="1828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86868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8404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Cubierto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947672" y="86868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07568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Parcial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639312" y="86868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76732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Planificado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330952" y="86868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45896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identificado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56032" y="1069848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310896" y="1106424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310896" y="110642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96112" y="10698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Operaciones de Folio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6032" y="134416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347472" y="1415034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475488" y="134416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3.1.1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152144" y="134416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Agrupación de Referencia de Negocio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56032" y="1586484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347472" y="165735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475488" y="1586484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3.1.2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152144" y="1586484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 y Reportes de Folio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56032" y="1828800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310896" y="1865376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310896" y="186537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3.2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96112" y="182880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de Banderas de Funcionalidad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56032" y="2103120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Shape 34"/>
          <p:cNvSpPr/>
          <p:nvPr/>
        </p:nvSpPr>
        <p:spPr>
          <a:xfrm>
            <a:off x="347472" y="217398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475488" y="2103120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3.2.1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152144" y="2103120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Configuración de Interruptores de Funcionalidad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56032" y="2345436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Shape 38"/>
          <p:cNvSpPr/>
          <p:nvPr/>
        </p:nvSpPr>
        <p:spPr>
          <a:xfrm>
            <a:off x="347472" y="241630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475488" y="2345436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3.2.2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152144" y="2345436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Exposición Progresiva y Control de Rollback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56032" y="2587752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Shape 42"/>
          <p:cNvSpPr/>
          <p:nvPr/>
        </p:nvSpPr>
        <p:spPr>
          <a:xfrm>
            <a:off x="310896" y="2624328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310896" y="262432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3.3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896112" y="258775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Servicios de UUID Distribuido y Correlación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56032" y="2862072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Shape 46"/>
          <p:cNvSpPr/>
          <p:nvPr/>
        </p:nvSpPr>
        <p:spPr>
          <a:xfrm>
            <a:off x="347472" y="293293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Text 47"/>
          <p:cNvSpPr/>
          <p:nvPr/>
        </p:nvSpPr>
        <p:spPr>
          <a:xfrm>
            <a:off x="475488" y="2862072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3.3.1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1152144" y="2862072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Generación de Identificadores Únicos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56032" y="310438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Shape 50"/>
          <p:cNvSpPr/>
          <p:nvPr/>
        </p:nvSpPr>
        <p:spPr>
          <a:xfrm>
            <a:off x="347472" y="317525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/>
          <p:nvPr/>
        </p:nvSpPr>
        <p:spPr>
          <a:xfrm>
            <a:off x="475488" y="310438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3.3.2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152144" y="310438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Propagación de Identificadores de Correlación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56032" y="3346704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Shape 54"/>
          <p:cNvSpPr/>
          <p:nvPr/>
        </p:nvSpPr>
        <p:spPr>
          <a:xfrm>
            <a:off x="310896" y="3383280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Text 55"/>
          <p:cNvSpPr/>
          <p:nvPr/>
        </p:nvSpPr>
        <p:spPr>
          <a:xfrm>
            <a:off x="310896" y="338328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3.4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896112" y="33467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Consolas de Administración de Plataforma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56032" y="3621024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0" name="Shape 58"/>
          <p:cNvSpPr/>
          <p:nvPr/>
        </p:nvSpPr>
        <p:spPr>
          <a:xfrm>
            <a:off x="347472" y="369189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Text 59"/>
          <p:cNvSpPr/>
          <p:nvPr/>
        </p:nvSpPr>
        <p:spPr>
          <a:xfrm>
            <a:off x="475488" y="3621024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3.4.1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1152144" y="3621024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Administración del Registro de Servicios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56032" y="3863340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4" name="Shape 62"/>
          <p:cNvSpPr/>
          <p:nvPr/>
        </p:nvSpPr>
        <p:spPr>
          <a:xfrm>
            <a:off x="347472" y="393420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5" name="Text 63"/>
          <p:cNvSpPr/>
          <p:nvPr/>
        </p:nvSpPr>
        <p:spPr>
          <a:xfrm>
            <a:off x="475488" y="3863340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3.4.2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1152144" y="3863340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Administración de Configuración en Tiempo de Ejec…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228600" y="137160"/>
            <a:ext cx="475488" cy="475488"/>
          </a:xfrm>
          <a:prstGeom prst="rect">
            <a:avLst/>
          </a:prstGeom>
          <a:solidFill>
            <a:srgbClr val="0D1B34"/>
          </a:solidFill>
          <a:ln w="12700">
            <a:solidFill>
              <a:srgbClr val="3B5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28600" y="1371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BA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3657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Servicios de Pasarela (Gateway)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493776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A9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L0 · Gateway Services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403336" y="182880"/>
            <a:ext cx="45720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403336" y="1828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91272" y="182880"/>
            <a:ext cx="457200" cy="384048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891272" y="1828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54D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79208" y="182880"/>
            <a:ext cx="45720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7379208" y="1828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" y="86868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8404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Cubierto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947672" y="86868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207568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Parcial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39312" y="86868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76732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Planificado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330952" y="86868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45896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identificado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56032" y="1069848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310896" y="1106424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310896" y="110642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4.1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96112" y="10698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Servicios de Pasarela de Entrada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6032" y="134416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347472" y="141503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75488" y="134416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4.1.1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152144" y="134416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Inbound API Gateway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56032" y="1586484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347472" y="165735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475488" y="1586484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4.1.2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152144" y="1586484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Pasarela de Archivos Entrantes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56032" y="1828800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347472" y="189966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475488" y="1828800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4.1.3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152144" y="1828800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Inbound EventHub Gateway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56032" y="2071116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Shape 36"/>
          <p:cNvSpPr/>
          <p:nvPr/>
        </p:nvSpPr>
        <p:spPr>
          <a:xfrm>
            <a:off x="347472" y="214198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475488" y="2071116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4.1.4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152144" y="2071116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Token Service (STS)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56032" y="2313432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Shape 40"/>
          <p:cNvSpPr/>
          <p:nvPr/>
        </p:nvSpPr>
        <p:spPr>
          <a:xfrm>
            <a:off x="310896" y="2350008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310896" y="235000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4.2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96112" y="23134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Servicios de Pasarela de Salida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56032" y="2587752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Shape 44"/>
          <p:cNvSpPr/>
          <p:nvPr/>
        </p:nvSpPr>
        <p:spPr>
          <a:xfrm>
            <a:off x="347472" y="265861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475488" y="2587752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4.2.1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1152144" y="2587752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Outbound API Gateway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56032" y="283006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Shape 48"/>
          <p:cNvSpPr/>
          <p:nvPr/>
        </p:nvSpPr>
        <p:spPr>
          <a:xfrm>
            <a:off x="347472" y="290093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475488" y="283006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4.2.2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1152144" y="283006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Pasarela de Archivos Salientes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56032" y="3072384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Shape 52"/>
          <p:cNvSpPr/>
          <p:nvPr/>
        </p:nvSpPr>
        <p:spPr>
          <a:xfrm>
            <a:off x="347472" y="314325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Text 53"/>
          <p:cNvSpPr/>
          <p:nvPr/>
        </p:nvSpPr>
        <p:spPr>
          <a:xfrm>
            <a:off x="475488" y="3072384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4.2.3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152144" y="3072384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Outbound EventHub Gateway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56032" y="3314700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Shape 56"/>
          <p:cNvSpPr/>
          <p:nvPr/>
        </p:nvSpPr>
        <p:spPr>
          <a:xfrm>
            <a:off x="347472" y="338556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Text 57"/>
          <p:cNvSpPr/>
          <p:nvPr/>
        </p:nvSpPr>
        <p:spPr>
          <a:xfrm>
            <a:off x="475488" y="3314700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4.2.4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1152144" y="3314700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Switching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56032" y="3557016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2" name="Shape 60"/>
          <p:cNvSpPr/>
          <p:nvPr/>
        </p:nvSpPr>
        <p:spPr>
          <a:xfrm>
            <a:off x="310896" y="3593592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Text 61"/>
          <p:cNvSpPr/>
          <p:nvPr/>
        </p:nvSpPr>
        <p:spPr>
          <a:xfrm>
            <a:off x="310896" y="359359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4.3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896112" y="355701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Ecosistema y Ventaja de Open Banking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56032" y="3831336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6" name="Shape 64"/>
          <p:cNvSpPr/>
          <p:nvPr/>
        </p:nvSpPr>
        <p:spPr>
          <a:xfrm>
            <a:off x="347472" y="390220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7" name="Text 65"/>
          <p:cNvSpPr/>
          <p:nvPr/>
        </p:nvSpPr>
        <p:spPr>
          <a:xfrm>
            <a:off x="475488" y="3831336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4.3.1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1152144" y="3831336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Borde de Open Banking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256032" y="4073652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0" name="Shape 68"/>
          <p:cNvSpPr/>
          <p:nvPr/>
        </p:nvSpPr>
        <p:spPr>
          <a:xfrm>
            <a:off x="347472" y="414451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1" name="Text 69"/>
          <p:cNvSpPr/>
          <p:nvPr/>
        </p:nvSpPr>
        <p:spPr>
          <a:xfrm>
            <a:off x="475488" y="4073652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4.3.2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1152144" y="4073652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Edge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256032" y="431596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4" name="Shape 72"/>
          <p:cNvSpPr/>
          <p:nvPr/>
        </p:nvSpPr>
        <p:spPr>
          <a:xfrm>
            <a:off x="347472" y="4386834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5" name="Text 73"/>
          <p:cNvSpPr/>
          <p:nvPr/>
        </p:nvSpPr>
        <p:spPr>
          <a:xfrm>
            <a:off x="475488" y="431596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4.3.3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1152144" y="431596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 Sandbox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256032" y="4558284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8" name="Shape 76"/>
          <p:cNvSpPr/>
          <p:nvPr/>
        </p:nvSpPr>
        <p:spPr>
          <a:xfrm>
            <a:off x="347472" y="462915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9" name="Text 77"/>
          <p:cNvSpPr/>
          <p:nvPr/>
        </p:nvSpPr>
        <p:spPr>
          <a:xfrm>
            <a:off x="475488" y="4558284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4.3.4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1152144" y="4558284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Marketplace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672584" y="1069848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2" name="Shape 80"/>
          <p:cNvSpPr/>
          <p:nvPr/>
        </p:nvSpPr>
        <p:spPr>
          <a:xfrm>
            <a:off x="4727448" y="1106424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3" name="Text 81"/>
          <p:cNvSpPr/>
          <p:nvPr/>
        </p:nvSpPr>
        <p:spPr>
          <a:xfrm>
            <a:off x="4727448" y="110642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4.4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5312664" y="10698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Zonificación de Perímetro y Conectividad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4672584" y="134416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6" name="Shape 84"/>
          <p:cNvSpPr/>
          <p:nvPr/>
        </p:nvSpPr>
        <p:spPr>
          <a:xfrm>
            <a:off x="4764024" y="141503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7" name="Text 85"/>
          <p:cNvSpPr/>
          <p:nvPr/>
        </p:nvSpPr>
        <p:spPr>
          <a:xfrm>
            <a:off x="4892040" y="134416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4.4.1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5568696" y="134416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 Zoning &amp; DMZ Exposure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4672584" y="1586484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0" name="Shape 88"/>
          <p:cNvSpPr/>
          <p:nvPr/>
        </p:nvSpPr>
        <p:spPr>
          <a:xfrm>
            <a:off x="4764024" y="165735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1" name="Text 89"/>
          <p:cNvSpPr/>
          <p:nvPr/>
        </p:nvSpPr>
        <p:spPr>
          <a:xfrm>
            <a:off x="4892040" y="1586484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4.4.2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5568696" y="1586484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Transport Security Termination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4672584" y="1828800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4" name="Shape 92"/>
          <p:cNvSpPr/>
          <p:nvPr/>
        </p:nvSpPr>
        <p:spPr>
          <a:xfrm>
            <a:off x="4764024" y="189966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5" name="Text 93"/>
          <p:cNvSpPr/>
          <p:nvPr/>
        </p:nvSpPr>
        <p:spPr>
          <a:xfrm>
            <a:off x="4892040" y="1828800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4.4.3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5568696" y="1828800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Connectivity Management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228600" y="137160"/>
            <a:ext cx="475488" cy="475488"/>
          </a:xfrm>
          <a:prstGeom prst="rect">
            <a:avLst/>
          </a:prstGeom>
          <a:solidFill>
            <a:srgbClr val="0D1B34"/>
          </a:solidFill>
          <a:ln w="12700">
            <a:solidFill>
              <a:srgbClr val="3B5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28600" y="1371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BA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3657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de APIs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493776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A9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L0 · API Management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403336" y="182880"/>
            <a:ext cx="45720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403336" y="1828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91272" y="182880"/>
            <a:ext cx="457200" cy="384048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891272" y="1828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54D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79208" y="182880"/>
            <a:ext cx="45720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7379208" y="1828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" y="86868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8404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Cubierto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947672" y="86868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207568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Parcial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39312" y="86868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76732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Planificado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330952" y="86868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45896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identificado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56032" y="1069848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310896" y="1106424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310896" y="110642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5.1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96112" y="10698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Pasarela de API y Mediación en Tiempo de Ejecución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6032" y="134416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347472" y="1415034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75488" y="134416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5.1.1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152144" y="134416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Enrutamiento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56032" y="1586484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347472" y="165735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475488" y="1586484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5.1.2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152144" y="1586484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Mediación y Transformación de Mensajes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56032" y="1828800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347472" y="189966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475488" y="1828800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5.1.3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152144" y="1828800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de Tráfico de API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56032" y="2071116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Shape 36"/>
          <p:cNvSpPr/>
          <p:nvPr/>
        </p:nvSpPr>
        <p:spPr>
          <a:xfrm>
            <a:off x="347472" y="214198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475488" y="2071116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5.1.4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152144" y="2071116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Validación de Mensajes y Protección de Payload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56032" y="2313432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Shape 40"/>
          <p:cNvSpPr/>
          <p:nvPr/>
        </p:nvSpPr>
        <p:spPr>
          <a:xfrm>
            <a:off x="347472" y="2384298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475488" y="2313432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5.1.5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1152144" y="2313432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Manejo de Errores y Normalización de Fallas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56032" y="2555748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Shape 44"/>
          <p:cNvSpPr/>
          <p:nvPr/>
        </p:nvSpPr>
        <p:spPr>
          <a:xfrm>
            <a:off x="310896" y="2592324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310896" y="259232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5.2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896112" y="25557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del Ciclo de Vida de APIs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56032" y="283006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Shape 48"/>
          <p:cNvSpPr/>
          <p:nvPr/>
        </p:nvSpPr>
        <p:spPr>
          <a:xfrm>
            <a:off x="347472" y="2900934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475488" y="283006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5.2.1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1152144" y="283006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Estándares de Diseño y Contrato de API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56032" y="3072384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Shape 52"/>
          <p:cNvSpPr/>
          <p:nvPr/>
        </p:nvSpPr>
        <p:spPr>
          <a:xfrm>
            <a:off x="347472" y="314325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Text 53"/>
          <p:cNvSpPr/>
          <p:nvPr/>
        </p:nvSpPr>
        <p:spPr>
          <a:xfrm>
            <a:off x="475488" y="3072384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5.2.2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152144" y="3072384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Versionamiento de API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56032" y="3314700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Shape 56"/>
          <p:cNvSpPr/>
          <p:nvPr/>
        </p:nvSpPr>
        <p:spPr>
          <a:xfrm>
            <a:off x="347472" y="338556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Text 57"/>
          <p:cNvSpPr/>
          <p:nvPr/>
        </p:nvSpPr>
        <p:spPr>
          <a:xfrm>
            <a:off x="475488" y="3314700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5.2.3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1152144" y="3314700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Publicación y Notificación de Cambios de API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56032" y="3557016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2" name="Shape 60"/>
          <p:cNvSpPr/>
          <p:nvPr/>
        </p:nvSpPr>
        <p:spPr>
          <a:xfrm>
            <a:off x="347472" y="362788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Text 61"/>
          <p:cNvSpPr/>
          <p:nvPr/>
        </p:nvSpPr>
        <p:spPr>
          <a:xfrm>
            <a:off x="475488" y="3557016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5.2.4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1152144" y="3557016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Deprecation &amp; Retirement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56032" y="3799332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6" name="Shape 64"/>
          <p:cNvSpPr/>
          <p:nvPr/>
        </p:nvSpPr>
        <p:spPr>
          <a:xfrm>
            <a:off x="310896" y="3835908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7" name="Text 65"/>
          <p:cNvSpPr/>
          <p:nvPr/>
        </p:nvSpPr>
        <p:spPr>
          <a:xfrm>
            <a:off x="310896" y="383590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5.3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896112" y="37993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Administración de la Plataforma API (API Manager)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56032" y="4073652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0" name="Shape 68"/>
          <p:cNvSpPr/>
          <p:nvPr/>
        </p:nvSpPr>
        <p:spPr>
          <a:xfrm>
            <a:off x="347472" y="4144518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1" name="Text 69"/>
          <p:cNvSpPr/>
          <p:nvPr/>
        </p:nvSpPr>
        <p:spPr>
          <a:xfrm>
            <a:off x="475488" y="4073652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5.3.1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1152144" y="4073652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Policy Administration &amp; Tracking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256032" y="431596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4" name="Shape 72"/>
          <p:cNvSpPr/>
          <p:nvPr/>
        </p:nvSpPr>
        <p:spPr>
          <a:xfrm>
            <a:off x="347472" y="4386834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5" name="Text 73"/>
          <p:cNvSpPr/>
          <p:nvPr/>
        </p:nvSpPr>
        <p:spPr>
          <a:xfrm>
            <a:off x="475488" y="431596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5.3.2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1152144" y="431596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Monitoring, Analytics &amp; Monetisation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256032" y="4558284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8" name="Shape 76"/>
          <p:cNvSpPr/>
          <p:nvPr/>
        </p:nvSpPr>
        <p:spPr>
          <a:xfrm>
            <a:off x="347472" y="462915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9" name="Text 77"/>
          <p:cNvSpPr/>
          <p:nvPr/>
        </p:nvSpPr>
        <p:spPr>
          <a:xfrm>
            <a:off x="475488" y="4558284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5.3.3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1152144" y="4558284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Deployment &amp; Operations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672584" y="1069848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2" name="Shape 80"/>
          <p:cNvSpPr/>
          <p:nvPr/>
        </p:nvSpPr>
        <p:spPr>
          <a:xfrm>
            <a:off x="4727448" y="1106424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3" name="Text 81"/>
          <p:cNvSpPr/>
          <p:nvPr/>
        </p:nvSpPr>
        <p:spPr>
          <a:xfrm>
            <a:off x="4727448" y="110642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5.4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5312664" y="10698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 de Desarrolladores y Catálogo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4672584" y="134416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6" name="Shape 84"/>
          <p:cNvSpPr/>
          <p:nvPr/>
        </p:nvSpPr>
        <p:spPr>
          <a:xfrm>
            <a:off x="4764024" y="141503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7" name="Text 85"/>
          <p:cNvSpPr/>
          <p:nvPr/>
        </p:nvSpPr>
        <p:spPr>
          <a:xfrm>
            <a:off x="4892040" y="134416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5.4.1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5568696" y="134416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Catalogue, Documentation &amp; Metadata Discovery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4672584" y="1586484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0" name="Shape 88"/>
          <p:cNvSpPr/>
          <p:nvPr/>
        </p:nvSpPr>
        <p:spPr>
          <a:xfrm>
            <a:off x="4764024" y="165735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1" name="Text 89"/>
          <p:cNvSpPr/>
          <p:nvPr/>
        </p:nvSpPr>
        <p:spPr>
          <a:xfrm>
            <a:off x="4892040" y="1586484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5.4.2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5568696" y="1586484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 Registration &amp; Self-Service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4672584" y="1828800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4" name="Shape 92"/>
          <p:cNvSpPr/>
          <p:nvPr/>
        </p:nvSpPr>
        <p:spPr>
          <a:xfrm>
            <a:off x="4764024" y="189966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5" name="Text 93"/>
          <p:cNvSpPr/>
          <p:nvPr/>
        </p:nvSpPr>
        <p:spPr>
          <a:xfrm>
            <a:off x="4892040" y="1828800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5.4.3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5568696" y="1828800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Collaboration, Community &amp; Self-Support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228600" y="137160"/>
            <a:ext cx="475488" cy="475488"/>
          </a:xfrm>
          <a:prstGeom prst="rect">
            <a:avLst/>
          </a:prstGeom>
          <a:solidFill>
            <a:srgbClr val="0D1B34"/>
          </a:solidFill>
          <a:ln w="12700">
            <a:solidFill>
              <a:srgbClr val="3B5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28600" y="1371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BA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3657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Componentes Omnicanal y de Caché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493776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A9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L0 · Omnichannel &amp; Caching Components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403336" y="182880"/>
            <a:ext cx="457200" cy="384048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403336" y="1828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54D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91272" y="182880"/>
            <a:ext cx="45720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891272" y="1828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86868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8404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Cubierto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947672" y="86868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07568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Parcial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639312" y="86868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76732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Planificado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330952" y="86868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45896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identificado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56032" y="1069848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310896" y="1106424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310896" y="110642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6.1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96112" y="10698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de Datos Omnicanal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6032" y="134416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347472" y="1415034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475488" y="134416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6.1.1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152144" y="134416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Almacén de Datos Omnicanal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56032" y="1586484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347472" y="165735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475488" y="1586484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6.1.2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152144" y="1586484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Servicios de Acceso a Datos Omnicanal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56032" y="1828800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347472" y="189966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475488" y="1828800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6.1.3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152144" y="1828800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Reanudación y Autocompletado del Recorrido del Cl…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56032" y="2071116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Shape 34"/>
          <p:cNvSpPr/>
          <p:nvPr/>
        </p:nvSpPr>
        <p:spPr>
          <a:xfrm>
            <a:off x="310896" y="2107692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310896" y="210769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6.2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96112" y="207111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Componentes de Caché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56032" y="2345436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Shape 38"/>
          <p:cNvSpPr/>
          <p:nvPr/>
        </p:nvSpPr>
        <p:spPr>
          <a:xfrm>
            <a:off x="347472" y="241630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475488" y="2345436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6.2.1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152144" y="2345436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Distributed / In-Memory Cache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56032" y="2587752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Shape 42"/>
          <p:cNvSpPr/>
          <p:nvPr/>
        </p:nvSpPr>
        <p:spPr>
          <a:xfrm>
            <a:off x="347472" y="2658618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475488" y="2587752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6.2.2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1152144" y="2587752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Invalidación de Caché y Control de Actualización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56032" y="283006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Shape 46"/>
          <p:cNvSpPr/>
          <p:nvPr/>
        </p:nvSpPr>
        <p:spPr>
          <a:xfrm>
            <a:off x="347472" y="290093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Text 47"/>
          <p:cNvSpPr/>
          <p:nvPr/>
        </p:nvSpPr>
        <p:spPr>
          <a:xfrm>
            <a:off x="475488" y="283006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6.2.3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1152144" y="283006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Content Acceleration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56032" y="3072384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Shape 50"/>
          <p:cNvSpPr/>
          <p:nvPr/>
        </p:nvSpPr>
        <p:spPr>
          <a:xfrm>
            <a:off x="310896" y="3108960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/>
          <p:nvPr/>
        </p:nvSpPr>
        <p:spPr>
          <a:xfrm>
            <a:off x="310896" y="310896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6.3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896112" y="30723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y Replicación de Sesiones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56032" y="3346704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Shape 54"/>
          <p:cNvSpPr/>
          <p:nvPr/>
        </p:nvSpPr>
        <p:spPr>
          <a:xfrm>
            <a:off x="347472" y="341757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Text 55"/>
          <p:cNvSpPr/>
          <p:nvPr/>
        </p:nvSpPr>
        <p:spPr>
          <a:xfrm>
            <a:off x="475488" y="3346704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6.3.1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1152144" y="3346704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Caché de Sesión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56032" y="3589020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0" name="Shape 58"/>
          <p:cNvSpPr/>
          <p:nvPr/>
        </p:nvSpPr>
        <p:spPr>
          <a:xfrm>
            <a:off x="347472" y="365988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Text 59"/>
          <p:cNvSpPr/>
          <p:nvPr/>
        </p:nvSpPr>
        <p:spPr>
          <a:xfrm>
            <a:off x="475488" y="3589020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6.3.2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1152144" y="3589020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Replicación de Sesión entre Dominios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56032" y="3831336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4" name="Shape 62"/>
          <p:cNvSpPr/>
          <p:nvPr/>
        </p:nvSpPr>
        <p:spPr>
          <a:xfrm>
            <a:off x="310896" y="3867912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5" name="Text 63"/>
          <p:cNvSpPr/>
          <p:nvPr/>
        </p:nvSpPr>
        <p:spPr>
          <a:xfrm>
            <a:off x="310896" y="386791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6.4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896112" y="383133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Caché Transaccional y Lectura de Baja Latencia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256032" y="4105656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8" name="Shape 66"/>
          <p:cNvSpPr/>
          <p:nvPr/>
        </p:nvSpPr>
        <p:spPr>
          <a:xfrm>
            <a:off x="347472" y="417652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9" name="Text 67"/>
          <p:cNvSpPr/>
          <p:nvPr/>
        </p:nvSpPr>
        <p:spPr>
          <a:xfrm>
            <a:off x="475488" y="4105656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6.4.1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1152144" y="4105656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In-Flight Transaction Caching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56032" y="4347972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2" name="Shape 70"/>
          <p:cNvSpPr/>
          <p:nvPr/>
        </p:nvSpPr>
        <p:spPr>
          <a:xfrm>
            <a:off x="347472" y="4418838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3" name="Text 71"/>
          <p:cNvSpPr/>
          <p:nvPr/>
        </p:nvSpPr>
        <p:spPr>
          <a:xfrm>
            <a:off x="475488" y="4347972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6.4.2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1152144" y="4347972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 de Lectura de Baja Latencia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56032" y="459028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6" name="Shape 74"/>
          <p:cNvSpPr/>
          <p:nvPr/>
        </p:nvSpPr>
        <p:spPr>
          <a:xfrm>
            <a:off x="347472" y="466115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7" name="Text 75"/>
          <p:cNvSpPr/>
          <p:nvPr/>
        </p:nvSpPr>
        <p:spPr>
          <a:xfrm>
            <a:off x="475488" y="459028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6.4.3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1152144" y="459028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de Consistencia de Lectura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228600" y="137160"/>
            <a:ext cx="475488" cy="475488"/>
          </a:xfrm>
          <a:prstGeom prst="rect">
            <a:avLst/>
          </a:prstGeom>
          <a:solidFill>
            <a:srgbClr val="0D1B34"/>
          </a:solidFill>
          <a:ln w="12700">
            <a:solidFill>
              <a:srgbClr val="3B5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28600" y="1371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BA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3657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Transacciones Distribuidas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493776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A9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L0 · Distributed Transactions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403336" y="182880"/>
            <a:ext cx="45720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403336" y="1828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91272" y="182880"/>
            <a:ext cx="45720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891272" y="1828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79208" y="182880"/>
            <a:ext cx="457200" cy="384048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7379208" y="1828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54D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67144" y="182880"/>
            <a:ext cx="45720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867144" y="1828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6032" y="86868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8404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Cubierto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947672" y="86868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207568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Parcial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639312" y="86868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76732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Planificado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330952" y="86868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545896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identificado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56032" y="1069848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310896" y="1106424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310896" y="110642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7.1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96112" y="10698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de Transacciones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56032" y="134416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347472" y="1415034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475488" y="134416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7.1.1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152144" y="134416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Coordinación Transaccional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56032" y="1586484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347472" y="165735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475488" y="1586484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7.1.2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152144" y="1586484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Ejecución de Compensación y Reverso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56032" y="1828800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Shape 34"/>
          <p:cNvSpPr/>
          <p:nvPr/>
        </p:nvSpPr>
        <p:spPr>
          <a:xfrm>
            <a:off x="347472" y="189966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475488" y="1828800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7.1.3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152144" y="1828800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Persistencia de Estado e Historial de Transaccion…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56032" y="2071116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Shape 38"/>
          <p:cNvSpPr/>
          <p:nvPr/>
        </p:nvSpPr>
        <p:spPr>
          <a:xfrm>
            <a:off x="347472" y="214198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475488" y="2071116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7.1.4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152144" y="2071116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Intercambio Confiable de Mensajes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56032" y="2313432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Shape 42"/>
          <p:cNvSpPr/>
          <p:nvPr/>
        </p:nvSpPr>
        <p:spPr>
          <a:xfrm>
            <a:off x="310896" y="2350008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310896" y="235000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7.2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896112" y="23134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Operaciones y Control Transaccional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56032" y="2587752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Shape 46"/>
          <p:cNvSpPr/>
          <p:nvPr/>
        </p:nvSpPr>
        <p:spPr>
          <a:xfrm>
            <a:off x="347472" y="265861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Text 47"/>
          <p:cNvSpPr/>
          <p:nvPr/>
        </p:nvSpPr>
        <p:spPr>
          <a:xfrm>
            <a:off x="475488" y="2587752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7.2.1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1152144" y="2587752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Consola Transaccional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56032" y="283006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Shape 50"/>
          <p:cNvSpPr/>
          <p:nvPr/>
        </p:nvSpPr>
        <p:spPr>
          <a:xfrm>
            <a:off x="347472" y="2900934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/>
          <p:nvPr/>
        </p:nvSpPr>
        <p:spPr>
          <a:xfrm>
            <a:off x="475488" y="283006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7.2.2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152144" y="283006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Operaciones de Reintento, Cancelación y Reverso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56032" y="3072384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Shape 54"/>
          <p:cNvSpPr/>
          <p:nvPr/>
        </p:nvSpPr>
        <p:spPr>
          <a:xfrm>
            <a:off x="347472" y="314325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Text 55"/>
          <p:cNvSpPr/>
          <p:nvPr/>
        </p:nvSpPr>
        <p:spPr>
          <a:xfrm>
            <a:off x="475488" y="3072384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7.2.3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1152144" y="3072384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Reportes de Transacciones y Soporte de Conciliaci…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56032" y="3314700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0" name="Shape 58"/>
          <p:cNvSpPr/>
          <p:nvPr/>
        </p:nvSpPr>
        <p:spPr>
          <a:xfrm>
            <a:off x="347472" y="338556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Text 59"/>
          <p:cNvSpPr/>
          <p:nvPr/>
        </p:nvSpPr>
        <p:spPr>
          <a:xfrm>
            <a:off x="475488" y="3314700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7.2.4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1152144" y="3314700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Monitoreo de Eventos Transaccionales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56032" y="3557016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4" name="Shape 62"/>
          <p:cNvSpPr/>
          <p:nvPr/>
        </p:nvSpPr>
        <p:spPr>
          <a:xfrm>
            <a:off x="310896" y="3593592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5" name="Text 63"/>
          <p:cNvSpPr/>
          <p:nvPr/>
        </p:nvSpPr>
        <p:spPr>
          <a:xfrm>
            <a:off x="310896" y="359359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7.3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896112" y="355701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Almacenar y Reenviar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256032" y="3831336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8" name="Shape 66"/>
          <p:cNvSpPr/>
          <p:nvPr/>
        </p:nvSpPr>
        <p:spPr>
          <a:xfrm>
            <a:off x="347472" y="390220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9" name="Text 67"/>
          <p:cNvSpPr/>
          <p:nvPr/>
        </p:nvSpPr>
        <p:spPr>
          <a:xfrm>
            <a:off x="475488" y="3831336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7.3.1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1152144" y="3831336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Gestor y Registro de Solicitudes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56032" y="4073652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2" name="Shape 70"/>
          <p:cNvSpPr/>
          <p:nvPr/>
        </p:nvSpPr>
        <p:spPr>
          <a:xfrm>
            <a:off x="347472" y="414451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3" name="Text 71"/>
          <p:cNvSpPr/>
          <p:nvPr/>
        </p:nvSpPr>
        <p:spPr>
          <a:xfrm>
            <a:off x="475488" y="4073652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7.3.2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1152144" y="4073652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Procesador de Solicitudes y Reglas de Reintento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56032" y="431596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6" name="Shape 74"/>
          <p:cNvSpPr/>
          <p:nvPr/>
        </p:nvSpPr>
        <p:spPr>
          <a:xfrm>
            <a:off x="347472" y="438683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7" name="Text 75"/>
          <p:cNvSpPr/>
          <p:nvPr/>
        </p:nvSpPr>
        <p:spPr>
          <a:xfrm>
            <a:off x="475488" y="431596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7.3.3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1152144" y="431596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Enrutador y Reenvío de Solicitudes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256032" y="4558284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0" name="Shape 78"/>
          <p:cNvSpPr/>
          <p:nvPr/>
        </p:nvSpPr>
        <p:spPr>
          <a:xfrm>
            <a:off x="347472" y="462915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1" name="Text 79"/>
          <p:cNvSpPr/>
          <p:nvPr/>
        </p:nvSpPr>
        <p:spPr>
          <a:xfrm>
            <a:off x="475488" y="4558284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7.3.4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1152144" y="4558284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Consola de Almacenar y Reenviar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4672584" y="1069848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4" name="Shape 82"/>
          <p:cNvSpPr/>
          <p:nvPr/>
        </p:nvSpPr>
        <p:spPr>
          <a:xfrm>
            <a:off x="4727448" y="1106424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5" name="Text 83"/>
          <p:cNvSpPr/>
          <p:nvPr/>
        </p:nvSpPr>
        <p:spPr>
          <a:xfrm>
            <a:off x="4727448" y="110642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7.4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5312664" y="10698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Administración de Servicios Transaccionales (Admin …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4672584" y="134416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8" name="Shape 86"/>
          <p:cNvSpPr/>
          <p:nvPr/>
        </p:nvSpPr>
        <p:spPr>
          <a:xfrm>
            <a:off x="4764024" y="1415034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9" name="Text 87"/>
          <p:cNvSpPr/>
          <p:nvPr/>
        </p:nvSpPr>
        <p:spPr>
          <a:xfrm>
            <a:off x="4892040" y="134416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7.4.1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5568696" y="134416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Configuración del Comportamiento del Servicio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4672584" y="1586484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2" name="Shape 90"/>
          <p:cNvSpPr/>
          <p:nvPr/>
        </p:nvSpPr>
        <p:spPr>
          <a:xfrm>
            <a:off x="4764024" y="165735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3" name="Text 91"/>
          <p:cNvSpPr/>
          <p:nvPr/>
        </p:nvSpPr>
        <p:spPr>
          <a:xfrm>
            <a:off x="4892040" y="1586484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7.4.2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5568696" y="1586484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Anulaciones y Controles Operativos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228600" y="137160"/>
            <a:ext cx="475488" cy="475488"/>
          </a:xfrm>
          <a:prstGeom prst="rect">
            <a:avLst/>
          </a:prstGeom>
          <a:solidFill>
            <a:srgbClr val="0D1B34"/>
          </a:solidFill>
          <a:ln w="12700">
            <a:solidFill>
              <a:srgbClr val="3B5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28600" y="1371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BA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3657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Orquestación de Servicios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493776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A9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L0 · Service Orchestration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403336" y="182880"/>
            <a:ext cx="45720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403336" y="1828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91272" y="182880"/>
            <a:ext cx="457200" cy="384048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891272" y="1828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54D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79208" y="182880"/>
            <a:ext cx="45720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7379208" y="1828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" y="86868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8404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Cubierto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947672" y="86868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207568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Parcial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39312" y="86868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76732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Planificado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330952" y="86868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45896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identificado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56032" y="1069848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310896" y="1106424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310896" y="110642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8.1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96112" y="10698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Orquestador de Servicios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6032" y="134416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347472" y="141503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75488" y="134416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8.1.1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152144" y="134416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Composición y Secuenciación de Servicios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56032" y="1586484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347472" y="165735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475488" y="1586484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8.1.2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152144" y="1586484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de Ejecución Paralela y Condicional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56032" y="1828800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347472" y="189966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475488" y="1828800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8.1.3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152144" y="1828800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de Invocaciones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56032" y="2071116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Shape 36"/>
          <p:cNvSpPr/>
          <p:nvPr/>
        </p:nvSpPr>
        <p:spPr>
          <a:xfrm>
            <a:off x="347472" y="214198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475488" y="2071116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8.1.4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152144" y="2071116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Monitoreo y Diagnóstico de Orquestación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56032" y="2313432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Shape 40"/>
          <p:cNvSpPr/>
          <p:nvPr/>
        </p:nvSpPr>
        <p:spPr>
          <a:xfrm>
            <a:off x="310896" y="2350008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310896" y="235000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8.2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96112" y="23134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Marco de Integración y Mediación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56032" y="2587752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Shape 44"/>
          <p:cNvSpPr/>
          <p:nvPr/>
        </p:nvSpPr>
        <p:spPr>
          <a:xfrm>
            <a:off x="347472" y="265861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475488" y="2587752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8.2.1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1152144" y="2587752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Transformación y Mapeo de Mensajes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56032" y="283006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Shape 48"/>
          <p:cNvSpPr/>
          <p:nvPr/>
        </p:nvSpPr>
        <p:spPr>
          <a:xfrm>
            <a:off x="347472" y="2900934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475488" y="283006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8.2.2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1152144" y="283006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Puente de Protocolos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56032" y="3072384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Shape 52"/>
          <p:cNvSpPr/>
          <p:nvPr/>
        </p:nvSpPr>
        <p:spPr>
          <a:xfrm>
            <a:off x="347472" y="314325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Text 53"/>
          <p:cNvSpPr/>
          <p:nvPr/>
        </p:nvSpPr>
        <p:spPr>
          <a:xfrm>
            <a:off x="475488" y="3072384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8.2.3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152144" y="3072384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Mapeo Dinámico de Datos y Gobernanza de Esquemas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56032" y="3314700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Shape 56"/>
          <p:cNvSpPr/>
          <p:nvPr/>
        </p:nvSpPr>
        <p:spPr>
          <a:xfrm>
            <a:off x="310896" y="3351276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Text 57"/>
          <p:cNvSpPr/>
          <p:nvPr/>
        </p:nvSpPr>
        <p:spPr>
          <a:xfrm>
            <a:off x="310896" y="335127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8.3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896112" y="331470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de Contexto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256032" y="3589020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2" name="Shape 60"/>
          <p:cNvSpPr/>
          <p:nvPr/>
        </p:nvSpPr>
        <p:spPr>
          <a:xfrm>
            <a:off x="347472" y="365988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Text 61"/>
          <p:cNvSpPr/>
          <p:nvPr/>
        </p:nvSpPr>
        <p:spPr>
          <a:xfrm>
            <a:off x="475488" y="3589020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8.3.1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1152144" y="3589020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Propagación de Contexto de Solicitud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56032" y="3831336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6" name="Shape 64"/>
          <p:cNvSpPr/>
          <p:nvPr/>
        </p:nvSpPr>
        <p:spPr>
          <a:xfrm>
            <a:off x="347472" y="390220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7" name="Text 65"/>
          <p:cNvSpPr/>
          <p:nvPr/>
        </p:nvSpPr>
        <p:spPr>
          <a:xfrm>
            <a:off x="475488" y="3831336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8.3.2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1152144" y="3831336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Registro de Servicios y Configuración de Reglas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256032" y="4073652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0" name="Shape 68"/>
          <p:cNvSpPr/>
          <p:nvPr/>
        </p:nvSpPr>
        <p:spPr>
          <a:xfrm>
            <a:off x="310896" y="4110228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1" name="Text 69"/>
          <p:cNvSpPr/>
          <p:nvPr/>
        </p:nvSpPr>
        <p:spPr>
          <a:xfrm>
            <a:off x="310896" y="411022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8.4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896112" y="407365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Adaptadores de Legado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256032" y="4347972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4" name="Shape 72"/>
          <p:cNvSpPr/>
          <p:nvPr/>
        </p:nvSpPr>
        <p:spPr>
          <a:xfrm>
            <a:off x="347472" y="441883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5" name="Text 73"/>
          <p:cNvSpPr/>
          <p:nvPr/>
        </p:nvSpPr>
        <p:spPr>
          <a:xfrm>
            <a:off x="475488" y="4347972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8.4.1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1152144" y="4347972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Envoltorios de Servicio y Exposición de Servicios…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256032" y="459028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8" name="Shape 76"/>
          <p:cNvSpPr/>
          <p:nvPr/>
        </p:nvSpPr>
        <p:spPr>
          <a:xfrm>
            <a:off x="347472" y="4661154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9" name="Text 77"/>
          <p:cNvSpPr/>
          <p:nvPr/>
        </p:nvSpPr>
        <p:spPr>
          <a:xfrm>
            <a:off x="475488" y="459028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8.4.2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1152144" y="459028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Adaptadores de Plataforma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672584" y="106984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2" name="Shape 80"/>
          <p:cNvSpPr/>
          <p:nvPr/>
        </p:nvSpPr>
        <p:spPr>
          <a:xfrm>
            <a:off x="4764024" y="1140714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3" name="Text 81"/>
          <p:cNvSpPr/>
          <p:nvPr/>
        </p:nvSpPr>
        <p:spPr>
          <a:xfrm>
            <a:off x="4892040" y="106984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8.4.3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5568696" y="106984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Interfaces Batch de Legado y Sincronización de Da…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4672584" y="1312164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6" name="Shape 84"/>
          <p:cNvSpPr/>
          <p:nvPr/>
        </p:nvSpPr>
        <p:spPr>
          <a:xfrm>
            <a:off x="4764024" y="138303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7" name="Text 85"/>
          <p:cNvSpPr/>
          <p:nvPr/>
        </p:nvSpPr>
        <p:spPr>
          <a:xfrm>
            <a:off x="4892040" y="1312164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8.4.4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5568696" y="1312164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Ciclo de Vida del Adaptador y Decomisión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228600" y="137160"/>
            <a:ext cx="475488" cy="475488"/>
          </a:xfrm>
          <a:prstGeom prst="rect">
            <a:avLst/>
          </a:prstGeom>
          <a:solidFill>
            <a:srgbClr val="0D1B34"/>
          </a:solidFill>
          <a:ln w="12700">
            <a:solidFill>
              <a:srgbClr val="3B5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28600" y="1371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BA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3657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Orquestación de Procesos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493776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A9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L0 · Process Orchestration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403336" y="182880"/>
            <a:ext cx="45720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403336" y="1828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91272" y="182880"/>
            <a:ext cx="457200" cy="384048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891272" y="1828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54D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86868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8404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Cubierto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947672" y="86868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07568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Parcial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639312" y="86868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76732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Planificado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330952" y="86868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45896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identificado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56032" y="1069848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310896" y="1106424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310896" y="110642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9.1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96112" y="10698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Servicios de Flujo de Trabajo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6032" y="134416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347472" y="141503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475488" y="134416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9.1.1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152144" y="134416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Definición y Versionamiento de Flujos de Trabajo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56032" y="1586484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347472" y="165735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475488" y="1586484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9.1.2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152144" y="1586484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Ejecución de Flujos de Trabajo y Coordinación de …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56032" y="1828800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347472" y="189966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475488" y="1828800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9.1.3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152144" y="1828800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Configuración de Reglas de Negocio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56032" y="2071116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Shape 34"/>
          <p:cNvSpPr/>
          <p:nvPr/>
        </p:nvSpPr>
        <p:spPr>
          <a:xfrm>
            <a:off x="310896" y="2107692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310896" y="210769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9.2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96112" y="207111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de Tareas Humanas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56032" y="2345436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Shape 38"/>
          <p:cNvSpPr/>
          <p:nvPr/>
        </p:nvSpPr>
        <p:spPr>
          <a:xfrm>
            <a:off x="347472" y="241630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475488" y="2345436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9.2.1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152144" y="2345436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Asignación de Tareas y Gestión de Lista de Trabajo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56032" y="2587752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Shape 42"/>
          <p:cNvSpPr/>
          <p:nvPr/>
        </p:nvSpPr>
        <p:spPr>
          <a:xfrm>
            <a:off x="347472" y="265861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475488" y="2587752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9.2.2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1152144" y="2587752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Intercepción y Reanudación de Tareas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56032" y="2830068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Shape 46"/>
          <p:cNvSpPr/>
          <p:nvPr/>
        </p:nvSpPr>
        <p:spPr>
          <a:xfrm>
            <a:off x="310896" y="2866644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Text 47"/>
          <p:cNvSpPr/>
          <p:nvPr/>
        </p:nvSpPr>
        <p:spPr>
          <a:xfrm>
            <a:off x="310896" y="286664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9.3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896112" y="283006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de Estado del Proceso y Excepciones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56032" y="310438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Shape 50"/>
          <p:cNvSpPr/>
          <p:nvPr/>
        </p:nvSpPr>
        <p:spPr>
          <a:xfrm>
            <a:off x="347472" y="3175254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/>
          <p:nvPr/>
        </p:nvSpPr>
        <p:spPr>
          <a:xfrm>
            <a:off x="475488" y="310438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9.3.1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152144" y="310438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Persistencia del Estado del Proceso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56032" y="3346704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Shape 54"/>
          <p:cNvSpPr/>
          <p:nvPr/>
        </p:nvSpPr>
        <p:spPr>
          <a:xfrm>
            <a:off x="347472" y="341757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Text 55"/>
          <p:cNvSpPr/>
          <p:nvPr/>
        </p:nvSpPr>
        <p:spPr>
          <a:xfrm>
            <a:off x="475488" y="3346704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9.3.2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1152144" y="3346704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Manejo de Escalaciones y Tiempos de Espera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56032" y="3589020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0" name="Shape 58"/>
          <p:cNvSpPr/>
          <p:nvPr/>
        </p:nvSpPr>
        <p:spPr>
          <a:xfrm>
            <a:off x="347472" y="365988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Text 59"/>
          <p:cNvSpPr/>
          <p:nvPr/>
        </p:nvSpPr>
        <p:spPr>
          <a:xfrm>
            <a:off x="475488" y="3589020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9.3.3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1152144" y="3589020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Manejo de Excepciones del Proceso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56032" y="3831336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4" name="Shape 62"/>
          <p:cNvSpPr/>
          <p:nvPr/>
        </p:nvSpPr>
        <p:spPr>
          <a:xfrm>
            <a:off x="310896" y="3867912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5" name="Text 63"/>
          <p:cNvSpPr/>
          <p:nvPr/>
        </p:nvSpPr>
        <p:spPr>
          <a:xfrm>
            <a:off x="310896" y="386791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9.4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896112" y="383133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Monitoreo y Administración de Procesos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256032" y="4105656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8" name="Shape 66"/>
          <p:cNvSpPr/>
          <p:nvPr/>
        </p:nvSpPr>
        <p:spPr>
          <a:xfrm>
            <a:off x="347472" y="417652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9" name="Text 67"/>
          <p:cNvSpPr/>
          <p:nvPr/>
        </p:nvSpPr>
        <p:spPr>
          <a:xfrm>
            <a:off x="475488" y="4105656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9.4.1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1152144" y="4105656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Monitoreo de Instancias de Proceso y Consola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56032" y="4347972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2" name="Shape 70"/>
          <p:cNvSpPr/>
          <p:nvPr/>
        </p:nvSpPr>
        <p:spPr>
          <a:xfrm>
            <a:off x="347472" y="441883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3" name="Text 71"/>
          <p:cNvSpPr/>
          <p:nvPr/>
        </p:nvSpPr>
        <p:spPr>
          <a:xfrm>
            <a:off x="475488" y="4347972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9.4.2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1152144" y="4347972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Reporte de Desempeño de Procesos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228600" y="137160"/>
            <a:ext cx="475488" cy="475488"/>
          </a:xfrm>
          <a:prstGeom prst="rect">
            <a:avLst/>
          </a:prstGeom>
          <a:solidFill>
            <a:srgbClr val="0D1B34"/>
          </a:solidFill>
          <a:ln w="12700">
            <a:solidFill>
              <a:srgbClr val="3B5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28600" y="1371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BA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3657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Servicios Empresariales Comunes (Coexistencia entre Dominios)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493776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A9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L0 · Common Business Services (Cross-Domain Coexistence Services)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403336" y="182880"/>
            <a:ext cx="45720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403336" y="1828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91272" y="182880"/>
            <a:ext cx="457200" cy="384048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891272" y="1828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54D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79208" y="182880"/>
            <a:ext cx="45720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7379208" y="1828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" y="86868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8404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Cubierto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947672" y="86868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207568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Parcial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39312" y="86868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76732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Planificado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330952" y="86868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45896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identificado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56032" y="1069848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310896" y="1106424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310896" y="110642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96112" y="10698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Servicios de Cliente y Partes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6032" y="134416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347472" y="1415034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75488" y="134416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10.1.1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152144" y="134416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Servicios de Datos de Clientes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56032" y="1586484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347472" y="165735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475488" y="1586484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10.1.2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152144" y="1586484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Servicios de Relaciones entre Partes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56032" y="1828800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310896" y="1865376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310896" y="186537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10.2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96112" y="182880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Servicios de Producto y Precios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56032" y="2103120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Shape 36"/>
          <p:cNvSpPr/>
          <p:nvPr/>
        </p:nvSpPr>
        <p:spPr>
          <a:xfrm>
            <a:off x="347472" y="217398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475488" y="2103120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10.2.1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152144" y="2103120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Servicios de Catálogo de Productos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56032" y="2345436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Shape 40"/>
          <p:cNvSpPr/>
          <p:nvPr/>
        </p:nvSpPr>
        <p:spPr>
          <a:xfrm>
            <a:off x="347472" y="241630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475488" y="2345436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10.2.2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1152144" y="2345436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Servicios de Tarifas y Precios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56032" y="2587752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Shape 44"/>
          <p:cNvSpPr/>
          <p:nvPr/>
        </p:nvSpPr>
        <p:spPr>
          <a:xfrm>
            <a:off x="310896" y="2624328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310896" y="262432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10.3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896112" y="258775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Servicios de Límites y Riesgo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56032" y="2862072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Shape 48"/>
          <p:cNvSpPr/>
          <p:nvPr/>
        </p:nvSpPr>
        <p:spPr>
          <a:xfrm>
            <a:off x="347472" y="2932938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475488" y="2862072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10.3.1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1152144" y="2862072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Servicios de Gestión de Límites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56032" y="310438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Shape 52"/>
          <p:cNvSpPr/>
          <p:nvPr/>
        </p:nvSpPr>
        <p:spPr>
          <a:xfrm>
            <a:off x="347472" y="317525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Text 53"/>
          <p:cNvSpPr/>
          <p:nvPr/>
        </p:nvSpPr>
        <p:spPr>
          <a:xfrm>
            <a:off x="475488" y="310438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10.3.2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152144" y="310438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Servicios de Puntuación de Riesgo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56032" y="3346704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Shape 56"/>
          <p:cNvSpPr/>
          <p:nvPr/>
        </p:nvSpPr>
        <p:spPr>
          <a:xfrm>
            <a:off x="310896" y="3383280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Text 57"/>
          <p:cNvSpPr/>
          <p:nvPr/>
        </p:nvSpPr>
        <p:spPr>
          <a:xfrm>
            <a:off x="310896" y="338328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10.4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896112" y="33467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Servicios Financieros y Contables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256032" y="3621024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2" name="Shape 60"/>
          <p:cNvSpPr/>
          <p:nvPr/>
        </p:nvSpPr>
        <p:spPr>
          <a:xfrm>
            <a:off x="347472" y="369189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Text 61"/>
          <p:cNvSpPr/>
          <p:nvPr/>
        </p:nvSpPr>
        <p:spPr>
          <a:xfrm>
            <a:off x="475488" y="3621024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10.4.1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1152144" y="3621024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Servicios de Contabilidad y Registro en Libro May…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56032" y="3863340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6" name="Shape 64"/>
          <p:cNvSpPr/>
          <p:nvPr/>
        </p:nvSpPr>
        <p:spPr>
          <a:xfrm>
            <a:off x="347472" y="393420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7" name="Text 65"/>
          <p:cNvSpPr/>
          <p:nvPr/>
        </p:nvSpPr>
        <p:spPr>
          <a:xfrm>
            <a:off x="475488" y="3863340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10.4.2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1152144" y="3863340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Servicios de Conversión de Divisas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256032" y="4105656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0" name="Shape 68"/>
          <p:cNvSpPr/>
          <p:nvPr/>
        </p:nvSpPr>
        <p:spPr>
          <a:xfrm>
            <a:off x="347472" y="417652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1" name="Text 69"/>
          <p:cNvSpPr/>
          <p:nvPr/>
        </p:nvSpPr>
        <p:spPr>
          <a:xfrm>
            <a:off x="475488" y="4105656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10.4.3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1152144" y="4105656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Servicios de Pago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256032" y="4347972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4" name="Shape 72"/>
          <p:cNvSpPr/>
          <p:nvPr/>
        </p:nvSpPr>
        <p:spPr>
          <a:xfrm>
            <a:off x="310896" y="4384548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5" name="Text 73"/>
          <p:cNvSpPr/>
          <p:nvPr/>
        </p:nvSpPr>
        <p:spPr>
          <a:xfrm>
            <a:off x="310896" y="438454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10.5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896112" y="434797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Servicios de Documentos y Contenidos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256032" y="4622292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8" name="Shape 76"/>
          <p:cNvSpPr/>
          <p:nvPr/>
        </p:nvSpPr>
        <p:spPr>
          <a:xfrm>
            <a:off x="347472" y="469315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9" name="Text 77"/>
          <p:cNvSpPr/>
          <p:nvPr/>
        </p:nvSpPr>
        <p:spPr>
          <a:xfrm>
            <a:off x="475488" y="4622292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10.5.1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1152144" y="4622292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Generación y Composición de Documentos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672584" y="106984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2" name="Shape 80"/>
          <p:cNvSpPr/>
          <p:nvPr/>
        </p:nvSpPr>
        <p:spPr>
          <a:xfrm>
            <a:off x="4764024" y="1140714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3" name="Text 81"/>
          <p:cNvSpPr/>
          <p:nvPr/>
        </p:nvSpPr>
        <p:spPr>
          <a:xfrm>
            <a:off x="4892040" y="106984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10.5.2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5568696" y="106984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Captura, Almacenamiento y Recuperación de Documen…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4672584" y="1312164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6" name="Shape 84"/>
          <p:cNvSpPr/>
          <p:nvPr/>
        </p:nvSpPr>
        <p:spPr>
          <a:xfrm>
            <a:off x="4727448" y="1348740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7" name="Text 85"/>
          <p:cNvSpPr/>
          <p:nvPr/>
        </p:nvSpPr>
        <p:spPr>
          <a:xfrm>
            <a:off x="4727448" y="134874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10.6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5312664" y="13121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Servicios de Control y Confianza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4672584" y="1586484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0" name="Shape 88"/>
          <p:cNvSpPr/>
          <p:nvPr/>
        </p:nvSpPr>
        <p:spPr>
          <a:xfrm>
            <a:off x="4764024" y="165735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1" name="Text 89"/>
          <p:cNvSpPr/>
          <p:nvPr/>
        </p:nvSpPr>
        <p:spPr>
          <a:xfrm>
            <a:off x="4892040" y="1586484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10.6.1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5568696" y="1586484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Servicios de Aprobación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4672584" y="1828800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4" name="Shape 92"/>
          <p:cNvSpPr/>
          <p:nvPr/>
        </p:nvSpPr>
        <p:spPr>
          <a:xfrm>
            <a:off x="4764024" y="189966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5" name="Text 93"/>
          <p:cNvSpPr/>
          <p:nvPr/>
        </p:nvSpPr>
        <p:spPr>
          <a:xfrm>
            <a:off x="4892040" y="1828800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10.6.2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5568696" y="1828800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Servicios de Firma y Verificación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228600" y="137160"/>
            <a:ext cx="475488" cy="475488"/>
          </a:xfrm>
          <a:prstGeom prst="rect">
            <a:avLst/>
          </a:prstGeom>
          <a:solidFill>
            <a:srgbClr val="0D1B34"/>
          </a:solidFill>
          <a:ln w="12700">
            <a:solidFill>
              <a:srgbClr val="3B5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28600" y="1371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BA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3657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Entrega de Datos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493776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A9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L0 · Data Delivery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403336" y="182880"/>
            <a:ext cx="45720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403336" y="1828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91272" y="182880"/>
            <a:ext cx="457200" cy="384048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891272" y="1828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54D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79208" y="182880"/>
            <a:ext cx="45720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7379208" y="1828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" y="86868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8404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Cubierto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947672" y="86868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207568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Parcial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39312" y="86868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76732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Planificado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330952" y="86868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45896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identificado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56032" y="1069848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310896" y="1106424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310896" y="110642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11.1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96112" y="10698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Catálogo de Datos y Modelado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6032" y="134416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347472" y="1415034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75488" y="134416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11.1.1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152144" y="134416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Catálogo e Inventario de Datos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56032" y="1586484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347472" y="165735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475488" y="1586484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11.1.2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152144" y="1586484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de Metadatos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56032" y="1828800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347472" y="189966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475488" y="1828800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11.1.3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152144" y="1828800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Linaje de Datos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56032" y="2071116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Shape 36"/>
          <p:cNvSpPr/>
          <p:nvPr/>
        </p:nvSpPr>
        <p:spPr>
          <a:xfrm>
            <a:off x="347472" y="214198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475488" y="2071116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11.1.4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152144" y="2071116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Graph &amp; Enrichment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56032" y="2313432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Shape 40"/>
          <p:cNvSpPr/>
          <p:nvPr/>
        </p:nvSpPr>
        <p:spPr>
          <a:xfrm>
            <a:off x="347472" y="238429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475488" y="2313432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11.1.5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1152144" y="2313432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Perfilamiento y Calidad de Datos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56032" y="255574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Shape 44"/>
          <p:cNvSpPr/>
          <p:nvPr/>
        </p:nvSpPr>
        <p:spPr>
          <a:xfrm>
            <a:off x="347472" y="2626614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475488" y="255574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11.1.6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1152144" y="255574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Gobernanza, Acceso y Privacidad de Datos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56032" y="2798064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Shape 48"/>
          <p:cNvSpPr/>
          <p:nvPr/>
        </p:nvSpPr>
        <p:spPr>
          <a:xfrm>
            <a:off x="310896" y="2834640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310896" y="283464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11.2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896112" y="27980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Pipelines y Entrega de Datos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56032" y="3072384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Shape 52"/>
          <p:cNvSpPr/>
          <p:nvPr/>
        </p:nvSpPr>
        <p:spPr>
          <a:xfrm>
            <a:off x="347472" y="314325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Text 53"/>
          <p:cNvSpPr/>
          <p:nvPr/>
        </p:nvSpPr>
        <p:spPr>
          <a:xfrm>
            <a:off x="475488" y="3072384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11.2.1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152144" y="3072384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Integración de Datos por Lotes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56032" y="3314700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Shape 56"/>
          <p:cNvSpPr/>
          <p:nvPr/>
        </p:nvSpPr>
        <p:spPr>
          <a:xfrm>
            <a:off x="347472" y="338556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Text 57"/>
          <p:cNvSpPr/>
          <p:nvPr/>
        </p:nvSpPr>
        <p:spPr>
          <a:xfrm>
            <a:off x="475488" y="3314700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11.2.2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1152144" y="3314700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Integración de Datos en Streaming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56032" y="3557016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2" name="Shape 60"/>
          <p:cNvSpPr/>
          <p:nvPr/>
        </p:nvSpPr>
        <p:spPr>
          <a:xfrm>
            <a:off x="347472" y="362788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Text 61"/>
          <p:cNvSpPr/>
          <p:nvPr/>
        </p:nvSpPr>
        <p:spPr>
          <a:xfrm>
            <a:off x="475488" y="3557016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11.2.3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1152144" y="3557016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Replicación de Datos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56032" y="3799332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6" name="Shape 64"/>
          <p:cNvSpPr/>
          <p:nvPr/>
        </p:nvSpPr>
        <p:spPr>
          <a:xfrm>
            <a:off x="347472" y="387019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7" name="Text 65"/>
          <p:cNvSpPr/>
          <p:nvPr/>
        </p:nvSpPr>
        <p:spPr>
          <a:xfrm>
            <a:off x="475488" y="3799332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11.2.4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1152144" y="3799332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Virtualización de Datos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256032" y="404164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0" name="Shape 68"/>
          <p:cNvSpPr/>
          <p:nvPr/>
        </p:nvSpPr>
        <p:spPr>
          <a:xfrm>
            <a:off x="347472" y="4112514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1" name="Text 69"/>
          <p:cNvSpPr/>
          <p:nvPr/>
        </p:nvSpPr>
        <p:spPr>
          <a:xfrm>
            <a:off x="475488" y="404164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11.2.5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1152144" y="404164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Orquestación y Monitoreo de Pipelines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256032" y="4283964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4" name="Shape 72"/>
          <p:cNvSpPr/>
          <p:nvPr/>
        </p:nvSpPr>
        <p:spPr>
          <a:xfrm>
            <a:off x="310896" y="4320540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5" name="Text 73"/>
          <p:cNvSpPr/>
          <p:nvPr/>
        </p:nvSpPr>
        <p:spPr>
          <a:xfrm>
            <a:off x="310896" y="432054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11.3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896112" y="42839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Almacén de Datos Operativo y Modelo Unificado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256032" y="4558284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8" name="Shape 76"/>
          <p:cNvSpPr/>
          <p:nvPr/>
        </p:nvSpPr>
        <p:spPr>
          <a:xfrm>
            <a:off x="347472" y="462915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9" name="Text 77"/>
          <p:cNvSpPr/>
          <p:nvPr/>
        </p:nvSpPr>
        <p:spPr>
          <a:xfrm>
            <a:off x="475488" y="4558284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11.3.1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1152144" y="4558284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 de Datos Unificado / Canónico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256032" y="4800600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2" name="Shape 80"/>
          <p:cNvSpPr/>
          <p:nvPr/>
        </p:nvSpPr>
        <p:spPr>
          <a:xfrm>
            <a:off x="347472" y="487146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3" name="Text 81"/>
          <p:cNvSpPr/>
          <p:nvPr/>
        </p:nvSpPr>
        <p:spPr>
          <a:xfrm>
            <a:off x="475488" y="4800600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11.3.2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1152144" y="4800600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Consolidación en Tiempo Real entre Núcleos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4672584" y="106984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6" name="Shape 84"/>
          <p:cNvSpPr/>
          <p:nvPr/>
        </p:nvSpPr>
        <p:spPr>
          <a:xfrm>
            <a:off x="4764024" y="1140714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7" name="Text 85"/>
          <p:cNvSpPr/>
          <p:nvPr/>
        </p:nvSpPr>
        <p:spPr>
          <a:xfrm>
            <a:off x="4892040" y="106984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11.3.3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5568696" y="106984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Motor de Entrega de Datos Multi-Velocidad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4672584" y="1312164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0" name="Shape 88"/>
          <p:cNvSpPr/>
          <p:nvPr/>
        </p:nvSpPr>
        <p:spPr>
          <a:xfrm>
            <a:off x="4764024" y="138303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1" name="Text 89"/>
          <p:cNvSpPr/>
          <p:nvPr/>
        </p:nvSpPr>
        <p:spPr>
          <a:xfrm>
            <a:off x="4892040" y="1312164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11.3.4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5568696" y="1312164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 del Almacén de Datos Operativo y Control…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4672584" y="1554480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4" name="Shape 92"/>
          <p:cNvSpPr/>
          <p:nvPr/>
        </p:nvSpPr>
        <p:spPr>
          <a:xfrm>
            <a:off x="4727448" y="1591056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5" name="Text 93"/>
          <p:cNvSpPr/>
          <p:nvPr/>
        </p:nvSpPr>
        <p:spPr>
          <a:xfrm>
            <a:off x="4727448" y="159105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11.4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5312664" y="15544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Servicios de Consumo de Datos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4672584" y="1828800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8" name="Shape 96"/>
          <p:cNvSpPr/>
          <p:nvPr/>
        </p:nvSpPr>
        <p:spPr>
          <a:xfrm>
            <a:off x="4764024" y="189966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9" name="Text 97"/>
          <p:cNvSpPr/>
          <p:nvPr/>
        </p:nvSpPr>
        <p:spPr>
          <a:xfrm>
            <a:off x="4892040" y="1828800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11.4.1</a:t>
            </a:r>
            <a:endParaRPr lang="en-US" sz="700" dirty="0"/>
          </a:p>
        </p:txBody>
      </p:sp>
      <p:sp>
        <p:nvSpPr>
          <p:cNvPr id="100" name="Text 98"/>
          <p:cNvSpPr/>
          <p:nvPr/>
        </p:nvSpPr>
        <p:spPr>
          <a:xfrm>
            <a:off x="5568696" y="1828800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APIs de Datos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4672584" y="2071116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2" name="Shape 100"/>
          <p:cNvSpPr/>
          <p:nvPr/>
        </p:nvSpPr>
        <p:spPr>
          <a:xfrm>
            <a:off x="4764024" y="214198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3" name="Text 101"/>
          <p:cNvSpPr/>
          <p:nvPr/>
        </p:nvSpPr>
        <p:spPr>
          <a:xfrm>
            <a:off x="4892040" y="2071116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11.4.2</a:t>
            </a:r>
            <a:endParaRPr lang="en-US" sz="700" dirty="0"/>
          </a:p>
        </p:txBody>
      </p:sp>
      <p:sp>
        <p:nvSpPr>
          <p:cNvPr id="104" name="Text 102"/>
          <p:cNvSpPr/>
          <p:nvPr/>
        </p:nvSpPr>
        <p:spPr>
          <a:xfrm>
            <a:off x="5568696" y="2071116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Feeds de Analítica y Reportes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4672584" y="2313432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6" name="Shape 104"/>
          <p:cNvSpPr/>
          <p:nvPr/>
        </p:nvSpPr>
        <p:spPr>
          <a:xfrm>
            <a:off x="4764024" y="238429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7" name="Text 105"/>
          <p:cNvSpPr/>
          <p:nvPr/>
        </p:nvSpPr>
        <p:spPr>
          <a:xfrm>
            <a:off x="4892040" y="2313432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11.4.3</a:t>
            </a:r>
            <a:endParaRPr lang="en-US" sz="700" dirty="0"/>
          </a:p>
        </p:txBody>
      </p:sp>
      <p:sp>
        <p:nvSpPr>
          <p:cNvPr id="108" name="Text 106"/>
          <p:cNvSpPr/>
          <p:nvPr/>
        </p:nvSpPr>
        <p:spPr>
          <a:xfrm>
            <a:off x="5568696" y="2313432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Sandbox Data Provisioning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228600" y="137160"/>
            <a:ext cx="475488" cy="475488"/>
          </a:xfrm>
          <a:prstGeom prst="rect">
            <a:avLst/>
          </a:prstGeom>
          <a:solidFill>
            <a:srgbClr val="0D1B34"/>
          </a:solidFill>
          <a:ln w="12700">
            <a:solidFill>
              <a:srgbClr val="3B5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28600" y="1371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BA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3657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Procesamiento de Eventos y Componentes Reactivos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493776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A9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L0 · Event Processing &amp; Reactive Components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403336" y="182880"/>
            <a:ext cx="45720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403336" y="1828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91272" y="182880"/>
            <a:ext cx="457200" cy="384048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891272" y="1828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54D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79208" y="182880"/>
            <a:ext cx="45720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7379208" y="1828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" y="86868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8404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Cubierto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947672" y="86868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207568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Parcial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39312" y="86868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76732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Planificado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330952" y="86868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45896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identificado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56032" y="1069848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310896" y="1106424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310896" y="110642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12.1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96112" y="10698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Mensajería de Eventos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6032" y="134416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347472" y="1415034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75488" y="134416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12.1.1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152144" y="134416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Mensajería Publicar / Suscribir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56032" y="1586484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347472" y="165735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475488" y="1586484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12.1.2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152144" y="1586484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Administración de Temas y Suscripciones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56032" y="1828800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347472" y="189966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475488" y="1828800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12.1.3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152144" y="1828800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Multi-protocol Messaging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56032" y="2071116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Shape 36"/>
          <p:cNvSpPr/>
          <p:nvPr/>
        </p:nvSpPr>
        <p:spPr>
          <a:xfrm>
            <a:off x="310896" y="2107692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310896" y="210769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12.2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96112" y="207111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Streaming de Eventos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56032" y="2345436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Shape 40"/>
          <p:cNvSpPr/>
          <p:nvPr/>
        </p:nvSpPr>
        <p:spPr>
          <a:xfrm>
            <a:off x="347472" y="241630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475488" y="2345436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12.2.1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1152144" y="2345436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 Ingestion &amp; Distribution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56032" y="2587752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Shape 44"/>
          <p:cNvSpPr/>
          <p:nvPr/>
        </p:nvSpPr>
        <p:spPr>
          <a:xfrm>
            <a:off x="347472" y="265861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475488" y="2587752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12.2.2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1152144" y="2587752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 Retention &amp; Replay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56032" y="283006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Shape 48"/>
          <p:cNvSpPr/>
          <p:nvPr/>
        </p:nvSpPr>
        <p:spPr>
          <a:xfrm>
            <a:off x="347472" y="2900934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475488" y="283006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12.2.3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1152144" y="283006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 Event Processing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56032" y="3072384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Shape 52"/>
          <p:cNvSpPr/>
          <p:nvPr/>
        </p:nvSpPr>
        <p:spPr>
          <a:xfrm>
            <a:off x="310896" y="3108960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Text 53"/>
          <p:cNvSpPr/>
          <p:nvPr/>
        </p:nvSpPr>
        <p:spPr>
          <a:xfrm>
            <a:off x="310896" y="310896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12.3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896112" y="30723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Entrega Garantizada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56032" y="3346704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Shape 56"/>
          <p:cNvSpPr/>
          <p:nvPr/>
        </p:nvSpPr>
        <p:spPr>
          <a:xfrm>
            <a:off x="347472" y="341757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Text 57"/>
          <p:cNvSpPr/>
          <p:nvPr/>
        </p:nvSpPr>
        <p:spPr>
          <a:xfrm>
            <a:off x="475488" y="3346704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12.3.1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1152144" y="3346704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Semántica de Entrega y Control de Idempotencia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56032" y="3589020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2" name="Shape 60"/>
          <p:cNvSpPr/>
          <p:nvPr/>
        </p:nvSpPr>
        <p:spPr>
          <a:xfrm>
            <a:off x="347472" y="365988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Text 61"/>
          <p:cNvSpPr/>
          <p:nvPr/>
        </p:nvSpPr>
        <p:spPr>
          <a:xfrm>
            <a:off x="475488" y="3589020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12.3.2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1152144" y="3589020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de Cola de Mensajes Fallidos (DLQ)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56032" y="3831336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6" name="Shape 64"/>
          <p:cNvSpPr/>
          <p:nvPr/>
        </p:nvSpPr>
        <p:spPr>
          <a:xfrm>
            <a:off x="347472" y="390220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7" name="Text 65"/>
          <p:cNvSpPr/>
          <p:nvPr/>
        </p:nvSpPr>
        <p:spPr>
          <a:xfrm>
            <a:off x="475488" y="3831336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12.3.3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1152144" y="3831336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Reportes de Aseguramiento de Entrega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256032" y="4073652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0" name="Shape 68"/>
          <p:cNvSpPr/>
          <p:nvPr/>
        </p:nvSpPr>
        <p:spPr>
          <a:xfrm>
            <a:off x="310896" y="4110228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1" name="Text 69"/>
          <p:cNvSpPr/>
          <p:nvPr/>
        </p:nvSpPr>
        <p:spPr>
          <a:xfrm>
            <a:off x="310896" y="411022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12.4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896112" y="407365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Registro de Eventos y Gobernanza de Contratos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256032" y="4347972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4" name="Shape 72"/>
          <p:cNvSpPr/>
          <p:nvPr/>
        </p:nvSpPr>
        <p:spPr>
          <a:xfrm>
            <a:off x="347472" y="441883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5" name="Text 73"/>
          <p:cNvSpPr/>
          <p:nvPr/>
        </p:nvSpPr>
        <p:spPr>
          <a:xfrm>
            <a:off x="475488" y="4347972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12.4.1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1152144" y="4347972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Definiciones de Eventos y Esquemas Canónicos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256032" y="459028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8" name="Shape 76"/>
          <p:cNvSpPr/>
          <p:nvPr/>
        </p:nvSpPr>
        <p:spPr>
          <a:xfrm>
            <a:off x="347472" y="466115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9" name="Text 77"/>
          <p:cNvSpPr/>
          <p:nvPr/>
        </p:nvSpPr>
        <p:spPr>
          <a:xfrm>
            <a:off x="475488" y="459028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12.4.2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1152144" y="459028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Versionamiento de Esquemas y Control de Compatibi…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672584" y="106984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2" name="Shape 80"/>
          <p:cNvSpPr/>
          <p:nvPr/>
        </p:nvSpPr>
        <p:spPr>
          <a:xfrm>
            <a:off x="4764024" y="1140714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3" name="Text 81"/>
          <p:cNvSpPr/>
          <p:nvPr/>
        </p:nvSpPr>
        <p:spPr>
          <a:xfrm>
            <a:off x="4892040" y="106984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12.4.3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5568696" y="106984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Catálogo de Eventos y Registro de Consumidores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4672584" y="1312164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6" name="Shape 84"/>
          <p:cNvSpPr/>
          <p:nvPr/>
        </p:nvSpPr>
        <p:spPr>
          <a:xfrm>
            <a:off x="4727448" y="1348740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7" name="Text 85"/>
          <p:cNvSpPr/>
          <p:nvPr/>
        </p:nvSpPr>
        <p:spPr>
          <a:xfrm>
            <a:off x="4727448" y="134874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12.5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5312664" y="13121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Malla de Eventos y Enrutamiento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4672584" y="1586484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0" name="Shape 88"/>
          <p:cNvSpPr/>
          <p:nvPr/>
        </p:nvSpPr>
        <p:spPr>
          <a:xfrm>
            <a:off x="4764024" y="165735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1" name="Text 89"/>
          <p:cNvSpPr/>
          <p:nvPr/>
        </p:nvSpPr>
        <p:spPr>
          <a:xfrm>
            <a:off x="4892040" y="1586484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12.5.1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5568696" y="1586484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Routing &amp; Clustering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4672584" y="1828800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4" name="Shape 92"/>
          <p:cNvSpPr/>
          <p:nvPr/>
        </p:nvSpPr>
        <p:spPr>
          <a:xfrm>
            <a:off x="4764024" y="189966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5" name="Text 93"/>
          <p:cNvSpPr/>
          <p:nvPr/>
        </p:nvSpPr>
        <p:spPr>
          <a:xfrm>
            <a:off x="4892040" y="1828800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12.5.2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5568696" y="1828800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Cross-Domain &amp; Cross-Region Distribution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4672584" y="2071116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8" name="Shape 96"/>
          <p:cNvSpPr/>
          <p:nvPr/>
        </p:nvSpPr>
        <p:spPr>
          <a:xfrm>
            <a:off x="4727448" y="2107692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9" name="Text 97"/>
          <p:cNvSpPr/>
          <p:nvPr/>
        </p:nvSpPr>
        <p:spPr>
          <a:xfrm>
            <a:off x="4727448" y="210769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12.6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5312664" y="207111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Monitoreo de Eventos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4672584" y="2345436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2" name="Shape 100"/>
          <p:cNvSpPr/>
          <p:nvPr/>
        </p:nvSpPr>
        <p:spPr>
          <a:xfrm>
            <a:off x="4764024" y="241630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3" name="Text 101"/>
          <p:cNvSpPr/>
          <p:nvPr/>
        </p:nvSpPr>
        <p:spPr>
          <a:xfrm>
            <a:off x="4892040" y="2345436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12.6.1</a:t>
            </a:r>
            <a:endParaRPr lang="en-US" sz="700" dirty="0"/>
          </a:p>
        </p:txBody>
      </p:sp>
      <p:sp>
        <p:nvSpPr>
          <p:cNvPr id="104" name="Text 102"/>
          <p:cNvSpPr/>
          <p:nvPr/>
        </p:nvSpPr>
        <p:spPr>
          <a:xfrm>
            <a:off x="5568696" y="2345436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Flow &amp; Consumer Lag Monitoring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4672584" y="2587752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6" name="Shape 104"/>
          <p:cNvSpPr/>
          <p:nvPr/>
        </p:nvSpPr>
        <p:spPr>
          <a:xfrm>
            <a:off x="4764024" y="265861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7" name="Text 105"/>
          <p:cNvSpPr/>
          <p:nvPr/>
        </p:nvSpPr>
        <p:spPr>
          <a:xfrm>
            <a:off x="4892040" y="2587752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12.6.2</a:t>
            </a:r>
            <a:endParaRPr lang="en-US" sz="700" dirty="0"/>
          </a:p>
        </p:txBody>
      </p:sp>
      <p:sp>
        <p:nvSpPr>
          <p:cNvPr id="108" name="Text 106"/>
          <p:cNvSpPr/>
          <p:nvPr/>
        </p:nvSpPr>
        <p:spPr>
          <a:xfrm>
            <a:off x="5568696" y="2587752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Auditoría y Trazabilidad de Eventos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228600" y="137160"/>
            <a:ext cx="475488" cy="475488"/>
          </a:xfrm>
          <a:prstGeom prst="rect">
            <a:avLst/>
          </a:prstGeom>
          <a:solidFill>
            <a:srgbClr val="0D1B34"/>
          </a:solidFill>
          <a:ln w="12700">
            <a:solidFill>
              <a:srgbClr val="3B5F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28600" y="1371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BA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3657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Infraestructura (Stack Tecnológico)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493776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A9C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L0 · Infrastructure (Tech Stack)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403336" y="182880"/>
            <a:ext cx="45720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403336" y="1828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91272" y="182880"/>
            <a:ext cx="457200" cy="384048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891272" y="1828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54D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79208" y="182880"/>
            <a:ext cx="45720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7379208" y="1828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" y="86868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8404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Cubierto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947672" y="86868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207568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Parcial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39312" y="86868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76732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Planificado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330952" y="86868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458968" y="84124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identificado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56032" y="1069848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310896" y="1106424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310896" y="110642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13.1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96112" y="10698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Marco de Microservicios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6032" y="134416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347472" y="1415034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75488" y="134416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13.1.1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152144" y="134416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Libraries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56032" y="1586484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347472" y="165735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475488" y="1586484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13.1.2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152144" y="1586484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 Runtimes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56032" y="1828800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347472" y="189966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475488" y="1828800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13.1.3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152144" y="1828800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Kernel Services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56032" y="2071116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Shape 36"/>
          <p:cNvSpPr/>
          <p:nvPr/>
        </p:nvSpPr>
        <p:spPr>
          <a:xfrm>
            <a:off x="347472" y="214198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475488" y="2071116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13.1.4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152144" y="2071116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Discovery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56032" y="2313432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Shape 40"/>
          <p:cNvSpPr/>
          <p:nvPr/>
        </p:nvSpPr>
        <p:spPr>
          <a:xfrm>
            <a:off x="347472" y="238429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475488" y="2313432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13.1.5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1152144" y="2313432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Malla de Servicios (Service Mesh)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56032" y="2555748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Shape 44"/>
          <p:cNvSpPr/>
          <p:nvPr/>
        </p:nvSpPr>
        <p:spPr>
          <a:xfrm>
            <a:off x="310896" y="2592324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310896" y="259232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13.2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896112" y="25557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Plataforma de Contenedores y Ejecución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56032" y="283006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Shape 48"/>
          <p:cNvSpPr/>
          <p:nvPr/>
        </p:nvSpPr>
        <p:spPr>
          <a:xfrm>
            <a:off x="347472" y="2900934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475488" y="283006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13.2.1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1152144" y="283006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Container Orchestration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56032" y="3072384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Shape 52"/>
          <p:cNvSpPr/>
          <p:nvPr/>
        </p:nvSpPr>
        <p:spPr>
          <a:xfrm>
            <a:off x="347472" y="314325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Text 53"/>
          <p:cNvSpPr/>
          <p:nvPr/>
        </p:nvSpPr>
        <p:spPr>
          <a:xfrm>
            <a:off x="475488" y="3072384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13.2.2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152144" y="3072384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Serverless Runtime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56032" y="3314700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Shape 56"/>
          <p:cNvSpPr/>
          <p:nvPr/>
        </p:nvSpPr>
        <p:spPr>
          <a:xfrm>
            <a:off x="347472" y="338556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Text 57"/>
          <p:cNvSpPr/>
          <p:nvPr/>
        </p:nvSpPr>
        <p:spPr>
          <a:xfrm>
            <a:off x="475488" y="3314700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13.2.3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1152144" y="3314700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 &amp; Artefact Management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56032" y="3557016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2" name="Shape 60"/>
          <p:cNvSpPr/>
          <p:nvPr/>
        </p:nvSpPr>
        <p:spPr>
          <a:xfrm>
            <a:off x="310896" y="3593592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Text 61"/>
          <p:cNvSpPr/>
          <p:nvPr/>
        </p:nvSpPr>
        <p:spPr>
          <a:xfrm>
            <a:off x="310896" y="359359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13.3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896112" y="355701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Automatización de Configuración de Plataforma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56032" y="3831336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6" name="Shape 64"/>
          <p:cNvSpPr/>
          <p:nvPr/>
        </p:nvSpPr>
        <p:spPr>
          <a:xfrm>
            <a:off x="347472" y="390220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7" name="Text 65"/>
          <p:cNvSpPr/>
          <p:nvPr/>
        </p:nvSpPr>
        <p:spPr>
          <a:xfrm>
            <a:off x="475488" y="3831336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13.3.1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1152144" y="3831336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&amp; Platform Provisioning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256032" y="4073652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0" name="Shape 68"/>
          <p:cNvSpPr/>
          <p:nvPr/>
        </p:nvSpPr>
        <p:spPr>
          <a:xfrm>
            <a:off x="347472" y="4144518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1" name="Text 69"/>
          <p:cNvSpPr/>
          <p:nvPr/>
        </p:nvSpPr>
        <p:spPr>
          <a:xfrm>
            <a:off x="475488" y="4073652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13.3.2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1152144" y="4073652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de Configuración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256032" y="431596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4" name="Shape 72"/>
          <p:cNvSpPr/>
          <p:nvPr/>
        </p:nvSpPr>
        <p:spPr>
          <a:xfrm>
            <a:off x="347472" y="4386834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5" name="Text 73"/>
          <p:cNvSpPr/>
          <p:nvPr/>
        </p:nvSpPr>
        <p:spPr>
          <a:xfrm>
            <a:off x="475488" y="431596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13.3.3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1152144" y="431596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Environment Management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672584" y="1069848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8" name="Shape 76"/>
          <p:cNvSpPr/>
          <p:nvPr/>
        </p:nvSpPr>
        <p:spPr>
          <a:xfrm>
            <a:off x="4727448" y="1106424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9" name="Text 77"/>
          <p:cNvSpPr/>
          <p:nvPr/>
        </p:nvSpPr>
        <p:spPr>
          <a:xfrm>
            <a:off x="4727448" y="110642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13.4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5312664" y="10698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Ingeniería de Despliegue y Release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4672584" y="1344168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2" name="Shape 80"/>
          <p:cNvSpPr/>
          <p:nvPr/>
        </p:nvSpPr>
        <p:spPr>
          <a:xfrm>
            <a:off x="4764024" y="1415034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3" name="Text 81"/>
          <p:cNvSpPr/>
          <p:nvPr/>
        </p:nvSpPr>
        <p:spPr>
          <a:xfrm>
            <a:off x="4892040" y="1344168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13.4.1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5568696" y="1344168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Strategies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4672584" y="1586484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6" name="Shape 84"/>
          <p:cNvSpPr/>
          <p:nvPr/>
        </p:nvSpPr>
        <p:spPr>
          <a:xfrm>
            <a:off x="4764024" y="165735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7" name="Text 85"/>
          <p:cNvSpPr/>
          <p:nvPr/>
        </p:nvSpPr>
        <p:spPr>
          <a:xfrm>
            <a:off x="4892040" y="1586484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13.4.2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5568696" y="1586484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Testing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4672584" y="1828800"/>
            <a:ext cx="4215384" cy="256032"/>
          </a:xfrm>
          <a:prstGeom prst="rect">
            <a:avLst/>
          </a:prstGeom>
          <a:solidFill>
            <a:srgbClr val="EAF0FB"/>
          </a:solidFill>
          <a:ln w="6350">
            <a:solidFill>
              <a:srgbClr val="C7D9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0" name="Shape 88"/>
          <p:cNvSpPr/>
          <p:nvPr/>
        </p:nvSpPr>
        <p:spPr>
          <a:xfrm>
            <a:off x="4727448" y="1865376"/>
            <a:ext cx="530352" cy="182880"/>
          </a:xfrm>
          <a:prstGeom prst="rect">
            <a:avLst/>
          </a:prstGeom>
          <a:solidFill>
            <a:srgbClr val="D5E4F7"/>
          </a:solidFill>
          <a:ln w="3810">
            <a:solidFill>
              <a:srgbClr val="A8C4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1" name="Text 89"/>
          <p:cNvSpPr/>
          <p:nvPr/>
        </p:nvSpPr>
        <p:spPr>
          <a:xfrm>
            <a:off x="4727448" y="186537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13.5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5312664" y="182880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Resiliencia de Infraestructura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4672584" y="2103120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4" name="Shape 92"/>
          <p:cNvSpPr/>
          <p:nvPr/>
        </p:nvSpPr>
        <p:spPr>
          <a:xfrm>
            <a:off x="4764024" y="217398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5" name="Text 93"/>
          <p:cNvSpPr/>
          <p:nvPr/>
        </p:nvSpPr>
        <p:spPr>
          <a:xfrm>
            <a:off x="4892040" y="2103120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13.5.1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5568696" y="2103120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Availability &amp; Failover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4672584" y="2345436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8" name="Shape 96"/>
          <p:cNvSpPr/>
          <p:nvPr/>
        </p:nvSpPr>
        <p:spPr>
          <a:xfrm>
            <a:off x="4764024" y="241630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9" name="Text 97"/>
          <p:cNvSpPr/>
          <p:nvPr/>
        </p:nvSpPr>
        <p:spPr>
          <a:xfrm>
            <a:off x="4892040" y="2345436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13.5.2</a:t>
            </a:r>
            <a:endParaRPr lang="en-US" sz="700" dirty="0"/>
          </a:p>
        </p:txBody>
      </p:sp>
      <p:sp>
        <p:nvSpPr>
          <p:cNvPr id="100" name="Text 98"/>
          <p:cNvSpPr/>
          <p:nvPr/>
        </p:nvSpPr>
        <p:spPr>
          <a:xfrm>
            <a:off x="5568696" y="2345436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Resilience Testing &amp; Failure Injection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4672584" y="2587752"/>
            <a:ext cx="4215384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2" name="Shape 100"/>
          <p:cNvSpPr/>
          <p:nvPr/>
        </p:nvSpPr>
        <p:spPr>
          <a:xfrm>
            <a:off x="4764024" y="265861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3" name="Text 101"/>
          <p:cNvSpPr/>
          <p:nvPr/>
        </p:nvSpPr>
        <p:spPr>
          <a:xfrm>
            <a:off x="4892040" y="2587752"/>
            <a:ext cx="6583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C4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13.5.3</a:t>
            </a:r>
            <a:endParaRPr lang="en-US" sz="700" dirty="0"/>
          </a:p>
        </p:txBody>
      </p:sp>
      <p:sp>
        <p:nvSpPr>
          <p:cNvPr id="104" name="Text 102"/>
          <p:cNvSpPr/>
          <p:nvPr/>
        </p:nvSpPr>
        <p:spPr>
          <a:xfrm>
            <a:off x="5568696" y="2587752"/>
            <a:ext cx="326440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Recovery Services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Leyenda – Semáforo de Cobertura Apolo R3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68680"/>
          </a:xfrm>
          <a:prstGeom prst="rect">
            <a:avLst/>
          </a:prstGeom>
          <a:solidFill>
            <a:srgbClr val="DCFCE7"/>
          </a:solidFill>
          <a:ln w="19050">
            <a:solidFill>
              <a:srgbClr val="22C55E"/>
            </a:solidFill>
            <a:prstDash val="solid"/>
          </a:ln>
          <a:effectLst>
            <a:outerShdw blurRad="635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73152" cy="8686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621792" y="10515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Cubierto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14173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capacidad está completamente cubierta por uno o más componentes de Apolo R3 documentados en el Documento de Arquitectura General.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868680"/>
          </a:xfrm>
          <a:prstGeom prst="rect">
            <a:avLst/>
          </a:prstGeom>
          <a:solidFill>
            <a:srgbClr val="FEF9C3"/>
          </a:solidFill>
          <a:ln w="19050">
            <a:solidFill>
              <a:srgbClr val="F59E0B"/>
            </a:solidFill>
            <a:prstDash val="solid"/>
          </a:ln>
          <a:effectLst>
            <a:outerShdw blurRad="635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7315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21792" y="205740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54D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🟡  Parcial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" y="2423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Existe cobertura básica pero con gaps: sin evidencia completa, sin herramienta dedicada o con limitaciones técnicas conocidas en Apolo R3.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229600" cy="868680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  <a:effectLst>
            <a:outerShdw blurRad="635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73152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21792" y="306324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🔵  Planificado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" y="3429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capacidad está identificada en el roadmap de Apolo R3 como acción futura o en proceso de implementación en iteraciones posteriores.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8229600" cy="868680"/>
          </a:xfrm>
          <a:prstGeom prst="rect">
            <a:avLst/>
          </a:prstGeom>
          <a:solidFill>
            <a:srgbClr val="FEE2E2"/>
          </a:solidFill>
          <a:ln w="19050">
            <a:solidFill>
              <a:srgbClr val="EF4444"/>
            </a:solidFill>
            <a:prstDash val="solid"/>
          </a:ln>
          <a:effectLst>
            <a:outerShdw blurRad="635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73152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21792" y="406908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No identificado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" y="44348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se identifica ningún componente Apolo R3 que cubra esta capacidad. Representa un gap explícito en el alcance actual de la solución.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Fuente: Documento de Arquitectura General de Solución Apolo R3 · BanCoppel · Junio 2025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2648767ADDAC4198CE9FAE936A0E2E" ma:contentTypeVersion="10" ma:contentTypeDescription="Create a new document." ma:contentTypeScope="" ma:versionID="bfce7f8d432cf4f2b54d649024185cc8">
  <xsd:schema xmlns:xsd="http://www.w3.org/2001/XMLSchema" xmlns:xs="http://www.w3.org/2001/XMLSchema" xmlns:p="http://schemas.microsoft.com/office/2006/metadata/properties" xmlns:ns2="bcf21e1d-e7b2-4ba8-bb72-ca5e3ff425f9" targetNamespace="http://schemas.microsoft.com/office/2006/metadata/properties" ma:root="true" ma:fieldsID="db0e3ff7a073da1765cf4c642dfd2d3e" ns2:_="">
    <xsd:import namespace="bcf21e1d-e7b2-4ba8-bb72-ca5e3ff425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f21e1d-e7b2-4ba8-bb72-ca5e3ff425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displayName="Image Tags_0" ma:hidden="true" ma:internalName="lcf76f155ced4ddcb4097134ff3c332f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cf21e1d-e7b2-4ba8-bb72-ca5e3ff425f9" xsi:nil="true"/>
  </documentManagement>
</p:properties>
</file>

<file path=customXml/itemProps1.xml><?xml version="1.0" encoding="utf-8"?>
<ds:datastoreItem xmlns:ds="http://schemas.openxmlformats.org/officeDocument/2006/customXml" ds:itemID="{F26E6221-C712-4C75-A59D-F1C5AA437011}"/>
</file>

<file path=customXml/itemProps2.xml><?xml version="1.0" encoding="utf-8"?>
<ds:datastoreItem xmlns:ds="http://schemas.openxmlformats.org/officeDocument/2006/customXml" ds:itemID="{B4F9CF0C-67EE-4AD2-ACAA-D9D6CAB8EA15}"/>
</file>

<file path=customXml/itemProps3.xml><?xml version="1.0" encoding="utf-8"?>
<ds:datastoreItem xmlns:ds="http://schemas.openxmlformats.org/officeDocument/2006/customXml" ds:itemID="{AD29A663-620B-48CE-9766-30B9BE0373DD}"/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1847</Words>
  <Application>Microsoft Office PowerPoint</Application>
  <PresentationFormat>On-screen Show (16:9)</PresentationFormat>
  <Paragraphs>676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Courier New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Villena, Jose</cp:lastModifiedBy>
  <cp:revision>1</cp:revision>
  <dcterms:created xsi:type="dcterms:W3CDTF">2026-08-15T00:18:49Z</dcterms:created>
  <dcterms:modified xsi:type="dcterms:W3CDTF">2026-08-15T00:29:22Z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0x010100CC2648767ADDAC4198CE9FAE936A0E2E</vt:lpwstr>
  </property>
</Properties>
</file>