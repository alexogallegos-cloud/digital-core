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Inter Light"/>
      <p:regular r:id="rId23"/>
      <p:bold r:id="rId24"/>
    </p:embeddedFont>
    <p:embeddedFont>
      <p:font typeface="Montserra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89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620">
          <p15:clr>
            <a:srgbClr val="747775"/>
          </p15:clr>
        </p15:guide>
        <p15:guide id="4" orient="horz" pos="1091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iT+lK6Tk3h5mJE9yAeMUDp11Bj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89" orient="horz"/>
        <p:guide pos="2880"/>
        <p:guide pos="1620" orient="horz"/>
        <p:guide pos="1091" orient="horz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Montserrat-bold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MontserratSemiBold-boldItalic.fntdata"/><Relationship Id="rId21" Type="http://schemas.openxmlformats.org/officeDocument/2006/relationships/font" Target="fonts/Roboto-italic.fntdata"/><Relationship Id="rId3" Type="http://schemas.openxmlformats.org/officeDocument/2006/relationships/presProps" Target="presProps.xml"/><Relationship Id="rId25" Type="http://schemas.openxmlformats.org/officeDocument/2006/relationships/font" Target="fonts/Montserrat-regular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MontserratSemiBold-italic.fntdata"/><Relationship Id="rId20" Type="http://schemas.openxmlformats.org/officeDocument/2006/relationships/font" Target="fonts/Roboto-bold.fntdata"/><Relationship Id="rId2" Type="http://schemas.openxmlformats.org/officeDocument/2006/relationships/viewProps" Target="viewProps.xml"/><Relationship Id="rId29" Type="http://customschemas.google.com/relationships/presentationmetadata" Target="metadata"/><Relationship Id="rId16" Type="http://schemas.openxmlformats.org/officeDocument/2006/relationships/font" Target="fonts/MontserratSemiBold-bold.fntdata"/><Relationship Id="rId24" Type="http://schemas.openxmlformats.org/officeDocument/2006/relationships/font" Target="fonts/InterLight-bold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customXml" Target="../customXml/item3.xml"/><Relationship Id="rId23" Type="http://schemas.openxmlformats.org/officeDocument/2006/relationships/font" Target="fonts/InterLight-regular.fntdata"/><Relationship Id="rId28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MontserratSemiBold-regular.fntdata"/><Relationship Id="rId10" Type="http://schemas.openxmlformats.org/officeDocument/2006/relationships/slide" Target="slides/slide5.xml"/><Relationship Id="rId19" Type="http://schemas.openxmlformats.org/officeDocument/2006/relationships/font" Target="fonts/Roboto-regular.fntdata"/><Relationship Id="rId31" Type="http://schemas.openxmlformats.org/officeDocument/2006/relationships/customXml" Target="../customXml/item2.xml"/><Relationship Id="rId22" Type="http://schemas.openxmlformats.org/officeDocument/2006/relationships/font" Target="fonts/Roboto-bold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db5afb49e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6db5afb49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e6b96c83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6e6b96c83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e6b96c83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e6b96c83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e6b96c83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6e6b96c83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e6b96c83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e6b96c83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e6b96c83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e6b96c83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e6b96c83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6e6b96c83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13;p10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10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0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0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10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/>
          <p:nvPr/>
        </p:nvSpPr>
        <p:spPr>
          <a:xfrm rot="5400000">
            <a:off x="-2457395" y="2453850"/>
            <a:ext cx="5143500" cy="23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32"/>
          <p:cNvGrpSpPr/>
          <p:nvPr/>
        </p:nvGrpSpPr>
        <p:grpSpPr>
          <a:xfrm rot="5400000">
            <a:off x="-1311077" y="3528539"/>
            <a:ext cx="2885489" cy="222599"/>
            <a:chOff x="260365" y="4876447"/>
            <a:chExt cx="3073266" cy="243411"/>
          </a:xfrm>
        </p:grpSpPr>
        <p:sp>
          <p:nvSpPr>
            <p:cNvPr id="22" name="Google Shape;22;p32"/>
            <p:cNvSpPr/>
            <p:nvPr/>
          </p:nvSpPr>
          <p:spPr>
            <a:xfrm>
              <a:off x="3114331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2"/>
            <p:cNvSpPr/>
            <p:nvPr/>
          </p:nvSpPr>
          <p:spPr>
            <a:xfrm rot="-6177018">
              <a:off x="2863993" y="489750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2"/>
            <p:cNvSpPr/>
            <p:nvPr/>
          </p:nvSpPr>
          <p:spPr>
            <a:xfrm>
              <a:off x="2597436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2"/>
            <p:cNvSpPr/>
            <p:nvPr/>
          </p:nvSpPr>
          <p:spPr>
            <a:xfrm rot="-6177018">
              <a:off x="2347096" y="489750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2"/>
            <p:cNvSpPr/>
            <p:nvPr/>
          </p:nvSpPr>
          <p:spPr>
            <a:xfrm>
              <a:off x="2080539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6177018">
              <a:off x="1830200" y="489750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2"/>
            <p:cNvSpPr/>
            <p:nvPr/>
          </p:nvSpPr>
          <p:spPr>
            <a:xfrm>
              <a:off x="1563644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2"/>
            <p:cNvSpPr/>
            <p:nvPr/>
          </p:nvSpPr>
          <p:spPr>
            <a:xfrm rot="-6177018">
              <a:off x="1313306" y="489750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2"/>
            <p:cNvSpPr/>
            <p:nvPr/>
          </p:nvSpPr>
          <p:spPr>
            <a:xfrm>
              <a:off x="1046749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2"/>
            <p:cNvSpPr/>
            <p:nvPr/>
          </p:nvSpPr>
          <p:spPr>
            <a:xfrm rot="-6177018">
              <a:off x="796411" y="489750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2"/>
            <p:cNvSpPr/>
            <p:nvPr/>
          </p:nvSpPr>
          <p:spPr>
            <a:xfrm>
              <a:off x="529852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2"/>
            <p:cNvSpPr/>
            <p:nvPr/>
          </p:nvSpPr>
          <p:spPr>
            <a:xfrm rot="-6177018">
              <a:off x="279514" y="489750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rgbClr val="C4E3E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6"/>
          <p:cNvSpPr/>
          <p:nvPr/>
        </p:nvSpPr>
        <p:spPr>
          <a:xfrm flipH="1" rot="-8298886">
            <a:off x="7283160" y="1664886"/>
            <a:ext cx="692007" cy="61624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6"/>
          <p:cNvSpPr/>
          <p:nvPr/>
        </p:nvSpPr>
        <p:spPr>
          <a:xfrm flipH="1" rot="-8298843">
            <a:off x="8010341" y="1933490"/>
            <a:ext cx="450077" cy="40081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6"/>
          <p:cNvSpPr/>
          <p:nvPr/>
        </p:nvSpPr>
        <p:spPr>
          <a:xfrm>
            <a:off x="7154707" y="-973076"/>
            <a:ext cx="2646900" cy="264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6"/>
          <p:cNvSpPr/>
          <p:nvPr/>
        </p:nvSpPr>
        <p:spPr>
          <a:xfrm>
            <a:off x="5810280" y="542676"/>
            <a:ext cx="1511400" cy="15114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87"/>
          <p:cNvPicPr preferRelativeResize="0"/>
          <p:nvPr/>
        </p:nvPicPr>
        <p:blipFill rotWithShape="1">
          <a:blip r:embed="rId2">
            <a:alphaModFix/>
          </a:blip>
          <a:srcRect b="0" l="12412" r="71062" t="41331"/>
          <a:stretch/>
        </p:blipFill>
        <p:spPr>
          <a:xfrm rot="5400000">
            <a:off x="8554423" y="4553926"/>
            <a:ext cx="503786" cy="67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346" y="52360"/>
            <a:ext cx="1034870" cy="493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87"/>
          <p:cNvPicPr preferRelativeResize="0"/>
          <p:nvPr/>
        </p:nvPicPr>
        <p:blipFill rotWithShape="1">
          <a:blip r:embed="rId2">
            <a:alphaModFix/>
          </a:blip>
          <a:srcRect b="0" l="12412" r="71062" t="41331"/>
          <a:stretch/>
        </p:blipFill>
        <p:spPr>
          <a:xfrm rot="-5400000">
            <a:off x="85793" y="-85793"/>
            <a:ext cx="503786" cy="67536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7"/>
          <p:cNvSpPr txBox="1"/>
          <p:nvPr>
            <p:ph type="title"/>
          </p:nvPr>
        </p:nvSpPr>
        <p:spPr>
          <a:xfrm>
            <a:off x="293427" y="117845"/>
            <a:ext cx="7960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00" u="none" cap="none" strike="noStrike">
                <a:solidFill>
                  <a:srgbClr val="335FA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8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275BA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bg>
      <p:bgPr>
        <a:solidFill>
          <a:schemeClr val="accen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8"/>
          <p:cNvSpPr/>
          <p:nvPr/>
        </p:nvSpPr>
        <p:spPr>
          <a:xfrm>
            <a:off x="7154707" y="-973076"/>
            <a:ext cx="2646900" cy="264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8"/>
          <p:cNvSpPr/>
          <p:nvPr/>
        </p:nvSpPr>
        <p:spPr>
          <a:xfrm>
            <a:off x="5810280" y="542676"/>
            <a:ext cx="1511400" cy="15114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88"/>
          <p:cNvCxnSpPr/>
          <p:nvPr/>
        </p:nvCxnSpPr>
        <p:spPr>
          <a:xfrm>
            <a:off x="8371719" y="4489970"/>
            <a:ext cx="0" cy="14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" name="Google Shape;50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9047" y="4493426"/>
            <a:ext cx="381422" cy="1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8"/>
          <p:cNvPicPr preferRelativeResize="0"/>
          <p:nvPr/>
        </p:nvPicPr>
        <p:blipFill rotWithShape="1">
          <a:blip r:embed="rId3">
            <a:alphaModFix/>
          </a:blip>
          <a:srcRect b="13111" l="0" r="0" t="13104"/>
          <a:stretch/>
        </p:blipFill>
        <p:spPr>
          <a:xfrm>
            <a:off x="7388458" y="4258579"/>
            <a:ext cx="125659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0"/>
          <p:cNvSpPr txBox="1"/>
          <p:nvPr>
            <p:ph type="title"/>
          </p:nvPr>
        </p:nvSpPr>
        <p:spPr>
          <a:xfrm>
            <a:off x="311705" y="4450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4" name="Google Shape;54;p90"/>
          <p:cNvSpPr/>
          <p:nvPr/>
        </p:nvSpPr>
        <p:spPr>
          <a:xfrm>
            <a:off x="105000" y="4502650"/>
            <a:ext cx="513300" cy="513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0"/>
          <p:cNvSpPr/>
          <p:nvPr/>
        </p:nvSpPr>
        <p:spPr>
          <a:xfrm rot="-7723832">
            <a:off x="419590" y="4064723"/>
            <a:ext cx="493400" cy="456059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0"/>
          <p:cNvSpPr/>
          <p:nvPr/>
        </p:nvSpPr>
        <p:spPr>
          <a:xfrm>
            <a:off x="105000" y="3791886"/>
            <a:ext cx="513300" cy="513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0"/>
          <p:cNvSpPr/>
          <p:nvPr/>
        </p:nvSpPr>
        <p:spPr>
          <a:xfrm rot="-1221696">
            <a:off x="128796" y="3241777"/>
            <a:ext cx="465592" cy="481920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0"/>
          <p:cNvSpPr/>
          <p:nvPr/>
        </p:nvSpPr>
        <p:spPr>
          <a:xfrm>
            <a:off x="8583084" y="1233133"/>
            <a:ext cx="513300" cy="513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0"/>
          <p:cNvSpPr/>
          <p:nvPr/>
        </p:nvSpPr>
        <p:spPr>
          <a:xfrm rot="9167033">
            <a:off x="8609479" y="732362"/>
            <a:ext cx="460481" cy="488120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1"/>
          <p:cNvSpPr txBox="1"/>
          <p:nvPr>
            <p:ph type="title"/>
          </p:nvPr>
        </p:nvSpPr>
        <p:spPr>
          <a:xfrm>
            <a:off x="490250" y="450152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875" lIns="58875" spcFirstLastPara="1" rIns="58875" wrap="square" tIns="588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62" name="Google Shape;62;p91"/>
          <p:cNvSpPr/>
          <p:nvPr/>
        </p:nvSpPr>
        <p:spPr>
          <a:xfrm>
            <a:off x="0" y="4852483"/>
            <a:ext cx="9144000" cy="291000"/>
          </a:xfrm>
          <a:prstGeom prst="rect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1"/>
          <p:cNvSpPr/>
          <p:nvPr/>
        </p:nvSpPr>
        <p:spPr>
          <a:xfrm>
            <a:off x="3114331" y="4888259"/>
            <a:ext cx="219300" cy="21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1"/>
          <p:cNvSpPr/>
          <p:nvPr/>
        </p:nvSpPr>
        <p:spPr>
          <a:xfrm rot="-6177018">
            <a:off x="2863967" y="4897395"/>
            <a:ext cx="203475" cy="201294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1"/>
          <p:cNvSpPr/>
          <p:nvPr/>
        </p:nvSpPr>
        <p:spPr>
          <a:xfrm>
            <a:off x="2597436" y="4888259"/>
            <a:ext cx="219300" cy="2193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1"/>
          <p:cNvSpPr/>
          <p:nvPr/>
        </p:nvSpPr>
        <p:spPr>
          <a:xfrm rot="-6177018">
            <a:off x="2347070" y="4897395"/>
            <a:ext cx="203475" cy="201294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1"/>
          <p:cNvSpPr/>
          <p:nvPr/>
        </p:nvSpPr>
        <p:spPr>
          <a:xfrm>
            <a:off x="2080539" y="4888259"/>
            <a:ext cx="219300" cy="21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1"/>
          <p:cNvSpPr/>
          <p:nvPr/>
        </p:nvSpPr>
        <p:spPr>
          <a:xfrm rot="-6177018">
            <a:off x="1830174" y="4897395"/>
            <a:ext cx="203475" cy="201294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1"/>
          <p:cNvSpPr/>
          <p:nvPr/>
        </p:nvSpPr>
        <p:spPr>
          <a:xfrm>
            <a:off x="1563644" y="4888259"/>
            <a:ext cx="219300" cy="2193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1"/>
          <p:cNvSpPr/>
          <p:nvPr/>
        </p:nvSpPr>
        <p:spPr>
          <a:xfrm rot="-6177018">
            <a:off x="1313280" y="4897395"/>
            <a:ext cx="203475" cy="201294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1"/>
          <p:cNvSpPr/>
          <p:nvPr/>
        </p:nvSpPr>
        <p:spPr>
          <a:xfrm>
            <a:off x="1046749" y="4888259"/>
            <a:ext cx="219300" cy="21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1"/>
          <p:cNvSpPr/>
          <p:nvPr/>
        </p:nvSpPr>
        <p:spPr>
          <a:xfrm rot="-6177018">
            <a:off x="796385" y="4897395"/>
            <a:ext cx="203475" cy="201294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1"/>
          <p:cNvSpPr/>
          <p:nvPr/>
        </p:nvSpPr>
        <p:spPr>
          <a:xfrm>
            <a:off x="529852" y="4888259"/>
            <a:ext cx="219300" cy="2193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1"/>
          <p:cNvSpPr/>
          <p:nvPr/>
        </p:nvSpPr>
        <p:spPr>
          <a:xfrm rot="-6177018">
            <a:off x="279488" y="4897395"/>
            <a:ext cx="203475" cy="201294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s Servicios Financieros">
  <p:cSld name="TITLE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2"/>
          <p:cNvSpPr/>
          <p:nvPr/>
        </p:nvSpPr>
        <p:spPr>
          <a:xfrm>
            <a:off x="7154707" y="-973076"/>
            <a:ext cx="2646900" cy="26469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2"/>
          <p:cNvSpPr/>
          <p:nvPr/>
        </p:nvSpPr>
        <p:spPr>
          <a:xfrm>
            <a:off x="5810280" y="542676"/>
            <a:ext cx="1511400" cy="15114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3"/>
          <p:cNvSpPr txBox="1"/>
          <p:nvPr>
            <p:ph type="title"/>
          </p:nvPr>
        </p:nvSpPr>
        <p:spPr>
          <a:xfrm>
            <a:off x="363950" y="166800"/>
            <a:ext cx="84267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0" name="Google Shape;80;p93"/>
          <p:cNvSpPr txBox="1"/>
          <p:nvPr>
            <p:ph idx="1" type="subTitle"/>
          </p:nvPr>
        </p:nvSpPr>
        <p:spPr>
          <a:xfrm>
            <a:off x="363950" y="485250"/>
            <a:ext cx="8416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4"/>
          <p:cNvSpPr/>
          <p:nvPr/>
        </p:nvSpPr>
        <p:spPr>
          <a:xfrm flipH="1" rot="-3422595">
            <a:off x="165511" y="3998576"/>
            <a:ext cx="382705" cy="36107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4"/>
          <p:cNvSpPr/>
          <p:nvPr/>
        </p:nvSpPr>
        <p:spPr>
          <a:xfrm flipH="1" rot="-3422683">
            <a:off x="585570" y="3547237"/>
            <a:ext cx="259063" cy="24578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4"/>
          <p:cNvSpPr/>
          <p:nvPr/>
        </p:nvSpPr>
        <p:spPr>
          <a:xfrm flipH="1" rot="-3422570">
            <a:off x="563959" y="4417161"/>
            <a:ext cx="504644" cy="47610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4"/>
          <p:cNvSpPr/>
          <p:nvPr/>
        </p:nvSpPr>
        <p:spPr>
          <a:xfrm flipH="1" rot="-3422683">
            <a:off x="8356503" y="362358"/>
            <a:ext cx="259063" cy="24578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4"/>
          <p:cNvSpPr/>
          <p:nvPr/>
        </p:nvSpPr>
        <p:spPr>
          <a:xfrm flipH="1" rot="-3422595">
            <a:off x="8588194" y="957973"/>
            <a:ext cx="382705" cy="36107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6"/>
          <p:cNvSpPr/>
          <p:nvPr/>
        </p:nvSpPr>
        <p:spPr>
          <a:xfrm>
            <a:off x="7404732" y="4371183"/>
            <a:ext cx="1549800" cy="59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4653" y="4211544"/>
            <a:ext cx="1151086" cy="43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6"/>
          <p:cNvSpPr/>
          <p:nvPr/>
        </p:nvSpPr>
        <p:spPr>
          <a:xfrm>
            <a:off x="7838913" y="-973075"/>
            <a:ext cx="2038800" cy="20388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6"/>
          <p:cNvSpPr/>
          <p:nvPr/>
        </p:nvSpPr>
        <p:spPr>
          <a:xfrm>
            <a:off x="8605745" y="1362325"/>
            <a:ext cx="1164300" cy="11643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6"/>
          <p:cNvSpPr/>
          <p:nvPr/>
        </p:nvSpPr>
        <p:spPr>
          <a:xfrm>
            <a:off x="8762011" y="1158994"/>
            <a:ext cx="192600" cy="1926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7"/>
          <p:cNvSpPr txBox="1"/>
          <p:nvPr>
            <p:ph type="title"/>
          </p:nvPr>
        </p:nvSpPr>
        <p:spPr>
          <a:xfrm>
            <a:off x="311705" y="4450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6" name="Google Shape;96;p97"/>
          <p:cNvSpPr/>
          <p:nvPr/>
        </p:nvSpPr>
        <p:spPr>
          <a:xfrm>
            <a:off x="105000" y="3791886"/>
            <a:ext cx="513300" cy="51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7"/>
          <p:cNvSpPr/>
          <p:nvPr/>
        </p:nvSpPr>
        <p:spPr>
          <a:xfrm rot="-1221696">
            <a:off x="128796" y="3241777"/>
            <a:ext cx="465592" cy="481920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7"/>
          <p:cNvSpPr/>
          <p:nvPr/>
        </p:nvSpPr>
        <p:spPr>
          <a:xfrm>
            <a:off x="8583084" y="1233133"/>
            <a:ext cx="513300" cy="513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7"/>
          <p:cNvSpPr/>
          <p:nvPr/>
        </p:nvSpPr>
        <p:spPr>
          <a:xfrm rot="9167033">
            <a:off x="8609479" y="732362"/>
            <a:ext cx="460481" cy="488120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58875" lIns="58875" spcFirstLastPara="1" rIns="58875" wrap="square" tIns="5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 1">
  <p:cSld name="3_Custom Layout 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98"/>
          <p:cNvPicPr preferRelativeResize="0"/>
          <p:nvPr/>
        </p:nvPicPr>
        <p:blipFill rotWithShape="1">
          <a:blip r:embed="rId2">
            <a:alphaModFix/>
          </a:blip>
          <a:srcRect b="0" l="12411" r="0" t="0"/>
          <a:stretch/>
        </p:blipFill>
        <p:spPr>
          <a:xfrm>
            <a:off x="0" y="1"/>
            <a:ext cx="3671456" cy="636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8"/>
          <p:cNvPicPr preferRelativeResize="0"/>
          <p:nvPr/>
        </p:nvPicPr>
        <p:blipFill rotWithShape="1">
          <a:blip r:embed="rId2">
            <a:alphaModFix/>
          </a:blip>
          <a:srcRect b="0" l="12411" r="0" t="0"/>
          <a:stretch/>
        </p:blipFill>
        <p:spPr>
          <a:xfrm rot="10800000">
            <a:off x="5472545" y="4506688"/>
            <a:ext cx="3671456" cy="636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98"/>
          <p:cNvGrpSpPr/>
          <p:nvPr/>
        </p:nvGrpSpPr>
        <p:grpSpPr>
          <a:xfrm>
            <a:off x="170582" y="501815"/>
            <a:ext cx="545806" cy="296999"/>
            <a:chOff x="227443" y="669088"/>
            <a:chExt cx="727741" cy="395998"/>
          </a:xfrm>
        </p:grpSpPr>
        <p:sp>
          <p:nvSpPr>
            <p:cNvPr id="105" name="Google Shape;105;p98"/>
            <p:cNvSpPr/>
            <p:nvPr/>
          </p:nvSpPr>
          <p:spPr>
            <a:xfrm>
              <a:off x="227443" y="669088"/>
              <a:ext cx="360000" cy="360000"/>
            </a:xfrm>
            <a:prstGeom prst="ellipse">
              <a:avLst/>
            </a:prstGeom>
            <a:solidFill>
              <a:srgbClr val="275BA7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98"/>
            <p:cNvSpPr/>
            <p:nvPr/>
          </p:nvSpPr>
          <p:spPr>
            <a:xfrm>
              <a:off x="739184" y="849086"/>
              <a:ext cx="216000" cy="216000"/>
            </a:xfrm>
            <a:prstGeom prst="ellipse">
              <a:avLst/>
            </a:prstGeom>
            <a:solidFill>
              <a:srgbClr val="FFE539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98"/>
          <p:cNvGrpSpPr/>
          <p:nvPr/>
        </p:nvGrpSpPr>
        <p:grpSpPr>
          <a:xfrm rot="10198353">
            <a:off x="7947839" y="4717034"/>
            <a:ext cx="545848" cy="297021"/>
            <a:chOff x="227443" y="669088"/>
            <a:chExt cx="727741" cy="395998"/>
          </a:xfrm>
        </p:grpSpPr>
        <p:sp>
          <p:nvSpPr>
            <p:cNvPr id="108" name="Google Shape;108;p98"/>
            <p:cNvSpPr/>
            <p:nvPr/>
          </p:nvSpPr>
          <p:spPr>
            <a:xfrm>
              <a:off x="227443" y="669088"/>
              <a:ext cx="360000" cy="360000"/>
            </a:xfrm>
            <a:prstGeom prst="ellipse">
              <a:avLst/>
            </a:prstGeom>
            <a:solidFill>
              <a:srgbClr val="275BA7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98"/>
            <p:cNvSpPr/>
            <p:nvPr/>
          </p:nvSpPr>
          <p:spPr>
            <a:xfrm>
              <a:off x="739184" y="849086"/>
              <a:ext cx="216000" cy="216000"/>
            </a:xfrm>
            <a:prstGeom prst="ellipse">
              <a:avLst/>
            </a:prstGeom>
            <a:solidFill>
              <a:srgbClr val="FFE539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99" y="4981500"/>
            <a:ext cx="350822" cy="161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LEBRATE">
  <p:cSld name="CELEBRAT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t/>
            </a:r>
            <a:endParaRPr b="0" i="0" sz="974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5" y="4450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5" y="115247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norm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○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■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○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■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○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■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31"/>
          <p:cNvPicPr preferRelativeResize="0"/>
          <p:nvPr/>
        </p:nvPicPr>
        <p:blipFill rotWithShape="1">
          <a:blip r:embed="rId1">
            <a:alphaModFix/>
          </a:blip>
          <a:srcRect b="19924" l="0" r="0" t="30050"/>
          <a:stretch/>
        </p:blipFill>
        <p:spPr>
          <a:xfrm>
            <a:off x="8453269" y="4946170"/>
            <a:ext cx="427525" cy="16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0947" y="4811857"/>
            <a:ext cx="698999" cy="431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31"/>
          <p:cNvCxnSpPr/>
          <p:nvPr/>
        </p:nvCxnSpPr>
        <p:spPr>
          <a:xfrm>
            <a:off x="8409818" y="4954094"/>
            <a:ext cx="0" cy="147300"/>
          </a:xfrm>
          <a:prstGeom prst="straightConnector1">
            <a:avLst/>
          </a:prstGeom>
          <a:noFill/>
          <a:ln cap="flat" cmpd="sng" w="9525">
            <a:solidFill>
              <a:srgbClr val="2F5D9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26db5afb49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5140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6db5afb49e_0_3"/>
          <p:cNvSpPr txBox="1"/>
          <p:nvPr/>
        </p:nvSpPr>
        <p:spPr>
          <a:xfrm>
            <a:off x="-2" y="1647425"/>
            <a:ext cx="9144001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Unity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26db5afb49e_0_3"/>
          <p:cNvSpPr txBox="1"/>
          <p:nvPr/>
        </p:nvSpPr>
        <p:spPr>
          <a:xfrm>
            <a:off x="-2" y="2494025"/>
            <a:ext cx="9144002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s" sz="2200">
                <a:solidFill>
                  <a:srgbClr val="FFDD30"/>
                </a:solidFill>
              </a:rPr>
              <a:t>Kick off</a:t>
            </a:r>
            <a:r>
              <a:rPr b="1" lang="es" sz="2200">
                <a:solidFill>
                  <a:srgbClr val="FFDD30"/>
                </a:solidFill>
              </a:rPr>
              <a:t>:</a:t>
            </a:r>
            <a:r>
              <a:rPr b="1" lang="es" sz="2200">
                <a:solidFill>
                  <a:srgbClr val="FFDD30"/>
                </a:solidFill>
              </a:rPr>
              <a:t> Inicio de Trabajos </a:t>
            </a:r>
            <a:endParaRPr b="1" sz="2200">
              <a:solidFill>
                <a:srgbClr val="FFDD3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s" sz="2200">
                <a:solidFill>
                  <a:srgbClr val="FFDD30"/>
                </a:solidFill>
              </a:rPr>
              <a:t>Producción Unity</a:t>
            </a:r>
            <a:endParaRPr b="1" i="0" sz="1600" u="none" cap="none" strike="noStrike">
              <a:solidFill>
                <a:srgbClr val="FFDD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26db5afb49e_0_3"/>
          <p:cNvPicPr preferRelativeResize="0"/>
          <p:nvPr/>
        </p:nvPicPr>
        <p:blipFill rotWithShape="1">
          <a:blip r:embed="rId4">
            <a:alphaModFix/>
          </a:blip>
          <a:srcRect b="24353" l="0" r="0" t="24353"/>
          <a:stretch/>
        </p:blipFill>
        <p:spPr>
          <a:xfrm>
            <a:off x="4245099" y="3744825"/>
            <a:ext cx="598050" cy="18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6db5afb49e_0_3"/>
          <p:cNvSpPr txBox="1"/>
          <p:nvPr/>
        </p:nvSpPr>
        <p:spPr>
          <a:xfrm>
            <a:off x="4668644" y="4615625"/>
            <a:ext cx="2773256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Abril 2024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e6b96c83f_0_119"/>
          <p:cNvSpPr/>
          <p:nvPr/>
        </p:nvSpPr>
        <p:spPr>
          <a:xfrm>
            <a:off x="945525" y="2912125"/>
            <a:ext cx="5365800" cy="20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6e6b96c83f_0_119"/>
          <p:cNvSpPr/>
          <p:nvPr/>
        </p:nvSpPr>
        <p:spPr>
          <a:xfrm>
            <a:off x="945525" y="2188225"/>
            <a:ext cx="5365800" cy="20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26e6b96c83f_0_119"/>
          <p:cNvSpPr/>
          <p:nvPr/>
        </p:nvSpPr>
        <p:spPr>
          <a:xfrm>
            <a:off x="945525" y="1464325"/>
            <a:ext cx="5365800" cy="20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26e6b96c83f_0_119"/>
          <p:cNvSpPr txBox="1"/>
          <p:nvPr/>
        </p:nvSpPr>
        <p:spPr>
          <a:xfrm>
            <a:off x="352038" y="247379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/>
          </a:p>
        </p:txBody>
      </p:sp>
      <p:sp>
        <p:nvSpPr>
          <p:cNvPr id="130" name="Google Shape;130;g26e6b96c83f_0_119"/>
          <p:cNvSpPr txBox="1"/>
          <p:nvPr/>
        </p:nvSpPr>
        <p:spPr>
          <a:xfrm>
            <a:off x="805825" y="1012075"/>
            <a:ext cx="7721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5BA7"/>
              </a:buClr>
              <a:buSzPts val="1200"/>
              <a:buAutoNum type="arabicPeriod"/>
            </a:pPr>
            <a:r>
              <a:rPr lang="es" sz="1200">
                <a:solidFill>
                  <a:srgbClr val="275BA7"/>
                </a:solidFill>
              </a:rPr>
              <a:t>Objetivo</a:t>
            </a:r>
            <a:endParaRPr sz="1200">
              <a:solidFill>
                <a:srgbClr val="275BA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5BA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5BA7"/>
              </a:buClr>
              <a:buSzPts val="1200"/>
              <a:buAutoNum type="arabicPeriod"/>
            </a:pPr>
            <a:r>
              <a:rPr lang="es" sz="1200">
                <a:solidFill>
                  <a:srgbClr val="275BA7"/>
                </a:solidFill>
              </a:rPr>
              <a:t>Antecedentes</a:t>
            </a:r>
            <a:endParaRPr sz="1200">
              <a:solidFill>
                <a:srgbClr val="275BA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5BA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5BA7"/>
              </a:buClr>
              <a:buSzPts val="1200"/>
              <a:buAutoNum type="arabicPeriod"/>
            </a:pPr>
            <a:r>
              <a:rPr lang="es" sz="1200">
                <a:solidFill>
                  <a:srgbClr val="275BA7"/>
                </a:solidFill>
              </a:rPr>
              <a:t>Equipo de Trabajo</a:t>
            </a:r>
            <a:endParaRPr sz="1200">
              <a:solidFill>
                <a:srgbClr val="275BA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5BA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5BA7"/>
              </a:buClr>
              <a:buSzPts val="1200"/>
              <a:buAutoNum type="arabicPeriod"/>
            </a:pPr>
            <a:r>
              <a:rPr lang="es" sz="1200">
                <a:solidFill>
                  <a:srgbClr val="275BA7"/>
                </a:solidFill>
              </a:rPr>
              <a:t>Mapa de </a:t>
            </a:r>
            <a:r>
              <a:rPr lang="es" sz="1200">
                <a:solidFill>
                  <a:srgbClr val="275BA7"/>
                </a:solidFill>
              </a:rPr>
              <a:t>Habilitación</a:t>
            </a:r>
            <a:endParaRPr sz="1200">
              <a:solidFill>
                <a:srgbClr val="275BA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5BA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5BA7"/>
              </a:buClr>
              <a:buSzPts val="1200"/>
              <a:buAutoNum type="arabicPeriod"/>
            </a:pPr>
            <a:r>
              <a:rPr lang="es" sz="1200">
                <a:solidFill>
                  <a:srgbClr val="275BA7"/>
                </a:solidFill>
              </a:rPr>
              <a:t>Roadmap</a:t>
            </a:r>
            <a:endParaRPr sz="1200">
              <a:solidFill>
                <a:srgbClr val="275BA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5BA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5BA7"/>
              </a:buClr>
              <a:buSzPts val="1200"/>
              <a:buAutoNum type="arabicPeriod"/>
            </a:pPr>
            <a:r>
              <a:rPr lang="es" sz="1200">
                <a:solidFill>
                  <a:srgbClr val="275BA7"/>
                </a:solidFill>
              </a:rPr>
              <a:t>Siguientes Pasos </a:t>
            </a:r>
            <a:endParaRPr sz="1200">
              <a:solidFill>
                <a:srgbClr val="275BA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5B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0"/>
          <p:cNvSpPr txBox="1"/>
          <p:nvPr/>
        </p:nvSpPr>
        <p:spPr>
          <a:xfrm>
            <a:off x="352038" y="247379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/>
          </a:p>
        </p:txBody>
      </p:sp>
      <p:sp>
        <p:nvSpPr>
          <p:cNvPr id="136" name="Google Shape;136;p100"/>
          <p:cNvSpPr txBox="1"/>
          <p:nvPr/>
        </p:nvSpPr>
        <p:spPr>
          <a:xfrm>
            <a:off x="615325" y="1782750"/>
            <a:ext cx="7276500" cy="15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Establecer la base para el despliegue de la infraestructura en producción</a:t>
            </a:r>
            <a:r>
              <a:rPr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identificando y comunicando todos los </a:t>
            </a:r>
            <a:r>
              <a:rPr b="1"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requisitos necesarios para construir la arquitectura</a:t>
            </a:r>
            <a:r>
              <a:rPr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esencial para la operación de producción. </a:t>
            </a:r>
            <a:endParaRPr sz="1200">
              <a:solidFill>
                <a:srgbClr val="2F5D9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1200">
              <a:solidFill>
                <a:srgbClr val="2F5D9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Nos enfocaremos en operar dos </a:t>
            </a:r>
            <a:r>
              <a:rPr b="1"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MVPs (CSE &amp; TDC)</a:t>
            </a:r>
            <a:r>
              <a:rPr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asegurando que comprendemos completamente los desafíos técnicos y operativos, y estableciendo un plan claro y detallado para su implementación exitosa. A través de este proceso, buscamos </a:t>
            </a:r>
            <a:r>
              <a:rPr b="1"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alinear a todos los equipos involucrados, garantizando una colaboración efectiva y el cumplimiento de los objetivos estratégicos del proyecto</a:t>
            </a:r>
            <a:r>
              <a:rPr lang="es" sz="1200">
                <a:solidFill>
                  <a:srgbClr val="2F5D9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2F5D9D"/>
              </a:solidFill>
            </a:endParaRPr>
          </a:p>
        </p:txBody>
      </p:sp>
      <p:pic>
        <p:nvPicPr>
          <p:cNvPr id="137" name="Google Shape;13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900" y="247375"/>
            <a:ext cx="1130075" cy="7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e6b96c83f_0_4"/>
          <p:cNvSpPr txBox="1"/>
          <p:nvPr/>
        </p:nvSpPr>
        <p:spPr>
          <a:xfrm>
            <a:off x="295238" y="35404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Antecedentes </a:t>
            </a:r>
            <a:endParaRPr/>
          </a:p>
        </p:txBody>
      </p:sp>
      <p:grpSp>
        <p:nvGrpSpPr>
          <p:cNvPr id="143" name="Google Shape;143;g26e6b96c83f_0_4"/>
          <p:cNvGrpSpPr/>
          <p:nvPr/>
        </p:nvGrpSpPr>
        <p:grpSpPr>
          <a:xfrm rot="5400000">
            <a:off x="4011554" y="-1906932"/>
            <a:ext cx="560396" cy="6494437"/>
            <a:chOff x="10560844" y="2887594"/>
            <a:chExt cx="741363" cy="6598026"/>
          </a:xfrm>
        </p:grpSpPr>
        <p:sp>
          <p:nvSpPr>
            <p:cNvPr id="144" name="Google Shape;144;g26e6b96c83f_0_4"/>
            <p:cNvSpPr/>
            <p:nvPr/>
          </p:nvSpPr>
          <p:spPr>
            <a:xfrm>
              <a:off x="10560844" y="2925667"/>
              <a:ext cx="741363" cy="256926"/>
            </a:xfrm>
            <a:custGeom>
              <a:rect b="b" l="l" r="r" t="t"/>
              <a:pathLst>
                <a:path extrusionOk="0" h="300" w="467">
                  <a:moveTo>
                    <a:pt x="0" y="300"/>
                  </a:moveTo>
                  <a:lnTo>
                    <a:pt x="0" y="259"/>
                  </a:lnTo>
                  <a:lnTo>
                    <a:pt x="234" y="0"/>
                  </a:lnTo>
                  <a:lnTo>
                    <a:pt x="467" y="260"/>
                  </a:lnTo>
                  <a:lnTo>
                    <a:pt x="467" y="300"/>
                  </a:lnTo>
                  <a:lnTo>
                    <a:pt x="0" y="300"/>
                  </a:lnTo>
                  <a:close/>
                </a:path>
              </a:pathLst>
            </a:custGeom>
            <a:solidFill>
              <a:srgbClr val="1C57AF"/>
            </a:solidFill>
            <a:ln>
              <a:noFill/>
            </a:ln>
          </p:spPr>
          <p:txBody>
            <a:bodyPr anchorCtr="0" anchor="t" bIns="60950" lIns="121925" spcFirstLastPara="1" rIns="121925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26e6b96c83f_0_4"/>
            <p:cNvSpPr/>
            <p:nvPr/>
          </p:nvSpPr>
          <p:spPr>
            <a:xfrm>
              <a:off x="10737057" y="3144520"/>
              <a:ext cx="388800" cy="6341100"/>
            </a:xfrm>
            <a:prstGeom prst="rect">
              <a:avLst/>
            </a:prstGeom>
            <a:gradFill>
              <a:gsLst>
                <a:gs pos="0">
                  <a:srgbClr val="0F3365"/>
                </a:gs>
                <a:gs pos="33000">
                  <a:srgbClr val="174D9D"/>
                </a:gs>
                <a:gs pos="65000">
                  <a:srgbClr val="1D5EBD"/>
                </a:gs>
                <a:gs pos="100000">
                  <a:srgbClr val="3C7EE0"/>
                </a:gs>
              </a:gsLst>
              <a:path path="circle">
                <a:fillToRect b="100%" l="100%"/>
              </a:path>
              <a:tileRect r="-100%" t="-100%"/>
            </a:gra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60950" lIns="121925" spcFirstLastPara="1" rIns="121925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26e6b96c83f_0_4"/>
            <p:cNvSpPr/>
            <p:nvPr/>
          </p:nvSpPr>
          <p:spPr>
            <a:xfrm>
              <a:off x="10560844" y="2887594"/>
              <a:ext cx="741363" cy="256925"/>
            </a:xfrm>
            <a:custGeom>
              <a:rect b="b" l="l" r="r" t="t"/>
              <a:pathLst>
                <a:path extrusionOk="0" h="299" w="467">
                  <a:moveTo>
                    <a:pt x="0" y="299"/>
                  </a:moveTo>
                  <a:lnTo>
                    <a:pt x="234" y="0"/>
                  </a:lnTo>
                  <a:lnTo>
                    <a:pt x="467" y="299"/>
                  </a:lnTo>
                  <a:lnTo>
                    <a:pt x="0" y="299"/>
                  </a:lnTo>
                  <a:close/>
                </a:path>
              </a:pathLst>
            </a:custGeom>
            <a:solidFill>
              <a:srgbClr val="0D3269"/>
            </a:solidFill>
            <a:ln>
              <a:noFill/>
            </a:ln>
          </p:spPr>
          <p:txBody>
            <a:bodyPr anchorCtr="0" anchor="t" bIns="60950" lIns="121925" spcFirstLastPara="1" rIns="121925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7" name="Google Shape;147;g26e6b96c83f_0_4"/>
          <p:cNvCxnSpPr/>
          <p:nvPr/>
        </p:nvCxnSpPr>
        <p:spPr>
          <a:xfrm flipH="1">
            <a:off x="2990104" y="1873518"/>
            <a:ext cx="5700" cy="2207100"/>
          </a:xfrm>
          <a:prstGeom prst="straightConnector1">
            <a:avLst/>
          </a:prstGeom>
          <a:noFill/>
          <a:ln cap="flat" cmpd="sng" w="9525">
            <a:solidFill>
              <a:srgbClr val="3DB9E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" name="Google Shape;148;g26e6b96c83f_0_4"/>
          <p:cNvCxnSpPr/>
          <p:nvPr/>
        </p:nvCxnSpPr>
        <p:spPr>
          <a:xfrm flipH="1">
            <a:off x="5022351" y="1873518"/>
            <a:ext cx="3900" cy="2175300"/>
          </a:xfrm>
          <a:prstGeom prst="straightConnector1">
            <a:avLst/>
          </a:prstGeom>
          <a:noFill/>
          <a:ln cap="flat" cmpd="sng" w="9525">
            <a:solidFill>
              <a:srgbClr val="3DB9E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9" name="Google Shape;149;g26e6b96c83f_0_4"/>
          <p:cNvSpPr/>
          <p:nvPr/>
        </p:nvSpPr>
        <p:spPr>
          <a:xfrm>
            <a:off x="1057031" y="1593756"/>
            <a:ext cx="1800000" cy="285300"/>
          </a:xfrm>
          <a:prstGeom prst="rect">
            <a:avLst/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Desarrollo</a:t>
            </a:r>
            <a:endParaRPr/>
          </a:p>
        </p:txBody>
      </p:sp>
      <p:sp>
        <p:nvSpPr>
          <p:cNvPr id="150" name="Google Shape;150;g26e6b96c83f_0_4"/>
          <p:cNvSpPr/>
          <p:nvPr/>
        </p:nvSpPr>
        <p:spPr>
          <a:xfrm>
            <a:off x="3111951" y="1593756"/>
            <a:ext cx="1800000" cy="285300"/>
          </a:xfrm>
          <a:prstGeom prst="rect">
            <a:avLst/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QA</a:t>
            </a:r>
            <a:endParaRPr/>
          </a:p>
        </p:txBody>
      </p:sp>
      <p:sp>
        <p:nvSpPr>
          <p:cNvPr id="151" name="Google Shape;151;g26e6b96c83f_0_4"/>
          <p:cNvSpPr/>
          <p:nvPr/>
        </p:nvSpPr>
        <p:spPr>
          <a:xfrm>
            <a:off x="5166866" y="1593756"/>
            <a:ext cx="1800000" cy="285300"/>
          </a:xfrm>
          <a:prstGeom prst="rect">
            <a:avLst/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Producción</a:t>
            </a:r>
            <a:endParaRPr/>
          </a:p>
        </p:txBody>
      </p:sp>
      <p:sp>
        <p:nvSpPr>
          <p:cNvPr id="152" name="Google Shape;152;g26e6b96c83f_0_4"/>
          <p:cNvSpPr/>
          <p:nvPr/>
        </p:nvSpPr>
        <p:spPr>
          <a:xfrm>
            <a:off x="1154950" y="4296425"/>
            <a:ext cx="6494400" cy="285300"/>
          </a:xfrm>
          <a:prstGeom prst="rect">
            <a:avLst/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DevSecOps / Monitoreo</a:t>
            </a:r>
            <a:endParaRPr b="0" i="0" sz="1050" u="none" cap="none" strike="noStrike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3" name="Google Shape;153;g26e6b96c83f_0_4"/>
          <p:cNvSpPr/>
          <p:nvPr/>
        </p:nvSpPr>
        <p:spPr>
          <a:xfrm>
            <a:off x="1154950" y="4684800"/>
            <a:ext cx="6494400" cy="285300"/>
          </a:xfrm>
          <a:prstGeom prst="rect">
            <a:avLst/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Calidad</a:t>
            </a:r>
            <a:endParaRPr/>
          </a:p>
        </p:txBody>
      </p:sp>
      <p:sp>
        <p:nvSpPr>
          <p:cNvPr id="154" name="Google Shape;154;g26e6b96c83f_0_4"/>
          <p:cNvSpPr txBox="1"/>
          <p:nvPr/>
        </p:nvSpPr>
        <p:spPr>
          <a:xfrm>
            <a:off x="1057031" y="1995288"/>
            <a:ext cx="1798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Apificación</a:t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Apolo</a:t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•"/>
            </a:pPr>
            <a:r>
              <a:rPr lang="es" sz="1000">
                <a:latin typeface="Inter Light"/>
                <a:ea typeface="Inter Light"/>
                <a:cs typeface="Inter Light"/>
                <a:sym typeface="Inter Light"/>
              </a:rPr>
              <a:t>DevSecOps</a:t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CBS </a:t>
            </a:r>
            <a:r>
              <a:rPr lang="es" sz="1000">
                <a:latin typeface="Inter Light"/>
                <a:ea typeface="Inter Light"/>
                <a:cs typeface="Inter Light"/>
                <a:sym typeface="Inter Light"/>
              </a:rPr>
              <a:t>1</a:t>
            </a:r>
            <a:endParaRPr/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CBS 2</a:t>
            </a:r>
            <a:endParaRPr/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CMS 1</a:t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•"/>
            </a:pPr>
            <a:r>
              <a:rPr lang="es" sz="1000">
                <a:latin typeface="Inter Light"/>
                <a:ea typeface="Inter Light"/>
                <a:cs typeface="Inter Light"/>
                <a:sym typeface="Inter Light"/>
              </a:rPr>
              <a:t>CMS 2</a:t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•"/>
            </a:pPr>
            <a:r>
              <a:rPr lang="es" sz="1000">
                <a:latin typeface="Inter Light"/>
                <a:ea typeface="Inter Light"/>
                <a:cs typeface="Inter Light"/>
                <a:sym typeface="Inter Light"/>
              </a:rPr>
              <a:t>TestQA</a:t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Legacy Desarrollo</a:t>
            </a:r>
            <a:endParaRPr/>
          </a:p>
        </p:txBody>
      </p:sp>
      <p:sp>
        <p:nvSpPr>
          <p:cNvPr id="155" name="Google Shape;155;g26e6b96c83f_0_4"/>
          <p:cNvSpPr txBox="1"/>
          <p:nvPr/>
        </p:nvSpPr>
        <p:spPr>
          <a:xfrm>
            <a:off x="3099183" y="1991900"/>
            <a:ext cx="1798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Apolo</a:t>
            </a:r>
            <a:endParaRPr/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CBS </a:t>
            </a:r>
            <a:endParaRPr/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Legacy Desarrollo</a:t>
            </a:r>
            <a:endParaRPr/>
          </a:p>
        </p:txBody>
      </p:sp>
      <p:sp>
        <p:nvSpPr>
          <p:cNvPr id="156" name="Google Shape;156;g26e6b96c83f_0_4"/>
          <p:cNvSpPr txBox="1"/>
          <p:nvPr/>
        </p:nvSpPr>
        <p:spPr>
          <a:xfrm>
            <a:off x="5167786" y="1913752"/>
            <a:ext cx="17982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Apolo</a:t>
            </a:r>
            <a:endParaRPr/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CBS </a:t>
            </a:r>
            <a:endParaRPr/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CMS</a:t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Inter Light"/>
              <a:ea typeface="Inter Light"/>
              <a:cs typeface="Inter Light"/>
              <a:sym typeface="Inter Light"/>
            </a:endParaRPr>
          </a:p>
          <a:p>
            <a:pPr indent="-285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300">
              <a:latin typeface="Inter Light"/>
              <a:ea typeface="Inter Light"/>
              <a:cs typeface="Inter Light"/>
              <a:sym typeface="Inter Light"/>
            </a:endParaRPr>
          </a:p>
          <a:p>
            <a:pPr indent="-92075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s" sz="1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Legacy Producción</a:t>
            </a:r>
            <a:endParaRPr/>
          </a:p>
        </p:txBody>
      </p:sp>
      <p:sp>
        <p:nvSpPr>
          <p:cNvPr id="157" name="Google Shape;157;g26e6b96c83f_0_4"/>
          <p:cNvSpPr/>
          <p:nvPr/>
        </p:nvSpPr>
        <p:spPr>
          <a:xfrm rot="10800000">
            <a:off x="2939283" y="901505"/>
            <a:ext cx="159900" cy="220200"/>
          </a:xfrm>
          <a:prstGeom prst="triangle">
            <a:avLst>
              <a:gd fmla="val 50000" name="adj"/>
            </a:avLst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6e6b96c83f_0_4"/>
          <p:cNvSpPr/>
          <p:nvPr/>
        </p:nvSpPr>
        <p:spPr>
          <a:xfrm rot="10800000">
            <a:off x="4939330" y="894441"/>
            <a:ext cx="159900" cy="220200"/>
          </a:xfrm>
          <a:prstGeom prst="triangle">
            <a:avLst>
              <a:gd fmla="val 50000" name="adj"/>
            </a:avLst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26e6b96c83f_0_4"/>
          <p:cNvSpPr/>
          <p:nvPr/>
        </p:nvSpPr>
        <p:spPr>
          <a:xfrm rot="10800000">
            <a:off x="6885326" y="902486"/>
            <a:ext cx="159900" cy="220200"/>
          </a:xfrm>
          <a:prstGeom prst="triangle">
            <a:avLst>
              <a:gd fmla="val 50000" name="adj"/>
            </a:avLst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6e6b96c83f_0_4"/>
          <p:cNvSpPr txBox="1"/>
          <p:nvPr/>
        </p:nvSpPr>
        <p:spPr>
          <a:xfrm>
            <a:off x="2532360" y="883583"/>
            <a:ext cx="57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Dic 23</a:t>
            </a:r>
            <a:endParaRPr/>
          </a:p>
        </p:txBody>
      </p:sp>
      <p:sp>
        <p:nvSpPr>
          <p:cNvPr id="161" name="Google Shape;161;g26e6b96c83f_0_4"/>
          <p:cNvSpPr txBox="1"/>
          <p:nvPr/>
        </p:nvSpPr>
        <p:spPr>
          <a:xfrm>
            <a:off x="4501060" y="883583"/>
            <a:ext cx="57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Inter Light"/>
                <a:ea typeface="Inter Light"/>
                <a:cs typeface="Inter Light"/>
                <a:sym typeface="Inter Light"/>
              </a:rPr>
              <a:t>Abr</a:t>
            </a:r>
            <a:r>
              <a:rPr b="1" i="0" lang="es" sz="8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24</a:t>
            </a:r>
            <a:endParaRPr/>
          </a:p>
        </p:txBody>
      </p:sp>
      <p:sp>
        <p:nvSpPr>
          <p:cNvPr id="162" name="Google Shape;162;g26e6b96c83f_0_4"/>
          <p:cNvSpPr txBox="1"/>
          <p:nvPr/>
        </p:nvSpPr>
        <p:spPr>
          <a:xfrm>
            <a:off x="6312424" y="904868"/>
            <a:ext cx="57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Inter Light"/>
                <a:ea typeface="Inter Light"/>
                <a:cs typeface="Inter Light"/>
                <a:sym typeface="Inter Light"/>
              </a:rPr>
              <a:t>Sep</a:t>
            </a:r>
            <a:r>
              <a:rPr b="1" i="0" lang="es" sz="8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24</a:t>
            </a:r>
            <a:endParaRPr/>
          </a:p>
        </p:txBody>
      </p:sp>
      <p:sp>
        <p:nvSpPr>
          <p:cNvPr id="163" name="Google Shape;163;g26e6b96c83f_0_4"/>
          <p:cNvSpPr txBox="1"/>
          <p:nvPr/>
        </p:nvSpPr>
        <p:spPr>
          <a:xfrm>
            <a:off x="346324" y="429025"/>
            <a:ext cx="75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Inter Light"/>
                <a:ea typeface="Inter Light"/>
                <a:cs typeface="Inter Light"/>
                <a:sym typeface="Inter Light"/>
              </a:rPr>
              <a:t>Durante la fases iniciales del proyecto, hemos logrado importantes avances que sientan las bases para el futuro:</a:t>
            </a:r>
            <a:endParaRPr sz="1300"/>
          </a:p>
        </p:txBody>
      </p:sp>
      <p:sp>
        <p:nvSpPr>
          <p:cNvPr id="164" name="Google Shape;164;g26e6b96c83f_0_4"/>
          <p:cNvSpPr txBox="1"/>
          <p:nvPr/>
        </p:nvSpPr>
        <p:spPr>
          <a:xfrm>
            <a:off x="4484275" y="1228195"/>
            <a:ext cx="108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Plan director</a:t>
            </a:r>
            <a:endParaRPr/>
          </a:p>
        </p:txBody>
      </p:sp>
      <p:sp>
        <p:nvSpPr>
          <p:cNvPr id="165" name="Google Shape;165;g26e6b96c83f_0_4"/>
          <p:cNvSpPr/>
          <p:nvPr/>
        </p:nvSpPr>
        <p:spPr>
          <a:xfrm>
            <a:off x="1154950" y="3932463"/>
            <a:ext cx="6494400" cy="285300"/>
          </a:xfrm>
          <a:prstGeom prst="rect">
            <a:avLst/>
          </a:prstGeom>
          <a:solidFill>
            <a:srgbClr val="3DB9E5"/>
          </a:solidFill>
          <a:ln cap="flat" cmpd="sng" w="25400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Seguridad</a:t>
            </a:r>
            <a:endParaRPr b="0" i="0" sz="1050" u="none" cap="none" strike="noStrike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66" name="Google Shape;166;g26e6b96c83f_0_4"/>
          <p:cNvPicPr preferRelativeResize="0"/>
          <p:nvPr/>
        </p:nvPicPr>
        <p:blipFill rotWithShape="1">
          <a:blip r:embed="rId3">
            <a:alphaModFix/>
          </a:blip>
          <a:srcRect b="10426" l="0" r="0" t="0"/>
          <a:stretch/>
        </p:blipFill>
        <p:spPr>
          <a:xfrm>
            <a:off x="8123800" y="85750"/>
            <a:ext cx="886850" cy="8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e6b96c83f_0_36"/>
          <p:cNvSpPr/>
          <p:nvPr/>
        </p:nvSpPr>
        <p:spPr>
          <a:xfrm>
            <a:off x="2433063" y="619050"/>
            <a:ext cx="3905400" cy="3905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6e6b96c83f_0_36"/>
          <p:cNvSpPr txBox="1"/>
          <p:nvPr/>
        </p:nvSpPr>
        <p:spPr>
          <a:xfrm>
            <a:off x="295238" y="35404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Equipo de Trabajo</a:t>
            </a: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pic>
        <p:nvPicPr>
          <p:cNvPr id="173" name="Google Shape;173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0725" y="686814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6e6b96c83f_0_36"/>
          <p:cNvSpPr txBox="1"/>
          <p:nvPr/>
        </p:nvSpPr>
        <p:spPr>
          <a:xfrm>
            <a:off x="2106075" y="661851"/>
            <a:ext cx="1332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Arquitectura Cloud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Eric Martinez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75" name="Google Shape;175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075" y="1577970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6e6b96c83f_0_36"/>
          <p:cNvSpPr txBox="1"/>
          <p:nvPr/>
        </p:nvSpPr>
        <p:spPr>
          <a:xfrm>
            <a:off x="800250" y="1595820"/>
            <a:ext cx="1713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Operación Nube </a:t>
            </a:r>
            <a:r>
              <a:rPr b="1" lang="es" sz="900">
                <a:solidFill>
                  <a:schemeClr val="dk2"/>
                </a:solidFill>
              </a:rPr>
              <a:t>Pública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Luis López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77" name="Google Shape;177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900" y="2534232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6e6b96c83f_0_36"/>
          <p:cNvSpPr txBox="1"/>
          <p:nvPr/>
        </p:nvSpPr>
        <p:spPr>
          <a:xfrm>
            <a:off x="971250" y="2552082"/>
            <a:ext cx="1332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Seguridad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Moises Benitez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79" name="Google Shape;179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075" y="3698226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6e6b96c83f_0_36"/>
          <p:cNvSpPr txBox="1"/>
          <p:nvPr/>
        </p:nvSpPr>
        <p:spPr>
          <a:xfrm>
            <a:off x="1297550" y="3716076"/>
            <a:ext cx="1621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DevSecOps / Monitoreo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Cesar Vazquez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81" name="Google Shape;181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012" y="3698226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6e6b96c83f_0_36"/>
          <p:cNvSpPr txBox="1"/>
          <p:nvPr/>
        </p:nvSpPr>
        <p:spPr>
          <a:xfrm>
            <a:off x="6244775" y="3670326"/>
            <a:ext cx="1573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Apolo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Rafael</a:t>
            </a:r>
            <a:r>
              <a:rPr lang="es" sz="900">
                <a:solidFill>
                  <a:schemeClr val="dk2"/>
                </a:solidFill>
              </a:rPr>
              <a:t> Elizalde /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Juan Manuel </a:t>
            </a:r>
            <a:r>
              <a:rPr lang="es" sz="900">
                <a:solidFill>
                  <a:schemeClr val="dk2"/>
                </a:solidFill>
              </a:rPr>
              <a:t>Calderón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83" name="Google Shape;183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850" y="2477082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6e6b96c83f_0_36"/>
          <p:cNvSpPr txBox="1"/>
          <p:nvPr/>
        </p:nvSpPr>
        <p:spPr>
          <a:xfrm>
            <a:off x="6742700" y="2494932"/>
            <a:ext cx="1332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CMS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Miguel Sanchez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85" name="Google Shape;185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225" y="1569045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6e6b96c83f_0_36"/>
          <p:cNvSpPr txBox="1"/>
          <p:nvPr/>
        </p:nvSpPr>
        <p:spPr>
          <a:xfrm>
            <a:off x="6425225" y="1586895"/>
            <a:ext cx="1332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2"/>
                </a:solidFill>
              </a:rPr>
              <a:t>CBS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Fernando Ibarria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87" name="Google Shape;187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100" y="644001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6e6b96c83f_0_36"/>
          <p:cNvSpPr txBox="1"/>
          <p:nvPr/>
        </p:nvSpPr>
        <p:spPr>
          <a:xfrm>
            <a:off x="5452000" y="661851"/>
            <a:ext cx="20817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Homologación de Ambientes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   Miguel Bucio / Armando Huerta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89" name="Google Shape;189;g26e6b96c83f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7937" y="1338213"/>
            <a:ext cx="2180888" cy="2180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26e6b96c83f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2141" y="133475"/>
            <a:ext cx="950885" cy="9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112" y="4366176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26e6b96c83f_0_36"/>
          <p:cNvSpPr txBox="1"/>
          <p:nvPr/>
        </p:nvSpPr>
        <p:spPr>
          <a:xfrm>
            <a:off x="5367875" y="4338276"/>
            <a:ext cx="1573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Apificación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Rodolfo Gómez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93" name="Google Shape;193;g26e6b96c8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150" y="4366176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6e6b96c83f_0_36"/>
          <p:cNvSpPr txBox="1"/>
          <p:nvPr/>
        </p:nvSpPr>
        <p:spPr>
          <a:xfrm>
            <a:off x="2159625" y="4384026"/>
            <a:ext cx="1621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2"/>
                </a:solidFill>
              </a:rPr>
              <a:t>Normatividad / CNBV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Brenda Pichardo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e6b96c83f_0_60"/>
          <p:cNvSpPr txBox="1"/>
          <p:nvPr/>
        </p:nvSpPr>
        <p:spPr>
          <a:xfrm>
            <a:off x="4414900" y="1968425"/>
            <a:ext cx="4038300" cy="36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Homologación de Ambientes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Operación Nube </a:t>
            </a:r>
            <a:r>
              <a:rPr lang="es" sz="500">
                <a:solidFill>
                  <a:schemeClr val="dk2"/>
                </a:solidFill>
              </a:rPr>
              <a:t>Pública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200" name="Google Shape;200;g26e6b96c83f_0_60"/>
          <p:cNvSpPr txBox="1"/>
          <p:nvPr/>
        </p:nvSpPr>
        <p:spPr>
          <a:xfrm>
            <a:off x="251588" y="194554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Mapa de habilitación</a:t>
            </a:r>
            <a:endParaRPr/>
          </a:p>
        </p:txBody>
      </p:sp>
      <p:sp>
        <p:nvSpPr>
          <p:cNvPr id="201" name="Google Shape;201;g26e6b96c83f_0_60"/>
          <p:cNvSpPr/>
          <p:nvPr/>
        </p:nvSpPr>
        <p:spPr>
          <a:xfrm>
            <a:off x="289388" y="1592050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Arquitectura Inicial / Sizing</a:t>
            </a:r>
            <a:endParaRPr sz="500"/>
          </a:p>
        </p:txBody>
      </p:sp>
      <p:sp>
        <p:nvSpPr>
          <p:cNvPr id="202" name="Google Shape;202;g26e6b96c83f_0_60"/>
          <p:cNvSpPr/>
          <p:nvPr/>
        </p:nvSpPr>
        <p:spPr>
          <a:xfrm>
            <a:off x="1122779" y="1592050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Sesión de Revisión Arq Inicial /Sizing</a:t>
            </a:r>
            <a:endParaRPr sz="500"/>
          </a:p>
        </p:txBody>
      </p:sp>
      <p:sp>
        <p:nvSpPr>
          <p:cNvPr id="203" name="Google Shape;203;g26e6b96c83f_0_60"/>
          <p:cNvSpPr/>
          <p:nvPr/>
        </p:nvSpPr>
        <p:spPr>
          <a:xfrm>
            <a:off x="1956190" y="1592050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Generación de Propuesta </a:t>
            </a:r>
            <a:r>
              <a:rPr lang="es" sz="500"/>
              <a:t>Arquitectura</a:t>
            </a:r>
            <a:r>
              <a:rPr lang="es" sz="500"/>
              <a:t> </a:t>
            </a:r>
            <a:endParaRPr sz="500"/>
          </a:p>
        </p:txBody>
      </p:sp>
      <p:sp>
        <p:nvSpPr>
          <p:cNvPr id="204" name="Google Shape;204;g26e6b96c83f_0_60"/>
          <p:cNvSpPr/>
          <p:nvPr/>
        </p:nvSpPr>
        <p:spPr>
          <a:xfrm>
            <a:off x="3633540" y="1578525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Kick Off de Arquitectura</a:t>
            </a:r>
            <a:endParaRPr sz="500"/>
          </a:p>
        </p:txBody>
      </p:sp>
      <p:sp>
        <p:nvSpPr>
          <p:cNvPr id="205" name="Google Shape;205;g26e6b96c83f_0_60"/>
          <p:cNvSpPr/>
          <p:nvPr/>
        </p:nvSpPr>
        <p:spPr>
          <a:xfrm>
            <a:off x="4466944" y="1578525"/>
            <a:ext cx="6102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Prerrequisitos / Actualización IaC</a:t>
            </a:r>
            <a:endParaRPr sz="500"/>
          </a:p>
        </p:txBody>
      </p:sp>
      <p:sp>
        <p:nvSpPr>
          <p:cNvPr id="206" name="Google Shape;206;g26e6b96c83f_0_60"/>
          <p:cNvSpPr/>
          <p:nvPr/>
        </p:nvSpPr>
        <p:spPr>
          <a:xfrm>
            <a:off x="5331227" y="1578525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Validación IaC</a:t>
            </a:r>
            <a:endParaRPr sz="500"/>
          </a:p>
        </p:txBody>
      </p:sp>
      <p:sp>
        <p:nvSpPr>
          <p:cNvPr id="207" name="Google Shape;207;g26e6b96c83f_0_60"/>
          <p:cNvSpPr/>
          <p:nvPr/>
        </p:nvSpPr>
        <p:spPr>
          <a:xfrm>
            <a:off x="6164646" y="1578525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Despliegue </a:t>
            </a:r>
            <a:r>
              <a:rPr lang="es" sz="500"/>
              <a:t>Región</a:t>
            </a:r>
            <a:r>
              <a:rPr lang="es" sz="500"/>
              <a:t> 1</a:t>
            </a:r>
            <a:endParaRPr sz="500"/>
          </a:p>
        </p:txBody>
      </p:sp>
      <p:sp>
        <p:nvSpPr>
          <p:cNvPr id="208" name="Google Shape;208;g26e6b96c83f_0_60"/>
          <p:cNvSpPr/>
          <p:nvPr/>
        </p:nvSpPr>
        <p:spPr>
          <a:xfrm>
            <a:off x="6998025" y="1578525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Despliegue Región 2</a:t>
            </a:r>
            <a:endParaRPr sz="500"/>
          </a:p>
        </p:txBody>
      </p:sp>
      <p:sp>
        <p:nvSpPr>
          <p:cNvPr id="209" name="Google Shape;209;g26e6b96c83f_0_60"/>
          <p:cNvSpPr/>
          <p:nvPr/>
        </p:nvSpPr>
        <p:spPr>
          <a:xfrm>
            <a:off x="6624860" y="2597550"/>
            <a:ext cx="6420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Configuración de Solución Region 1</a:t>
            </a:r>
            <a:endParaRPr sz="500"/>
          </a:p>
        </p:txBody>
      </p:sp>
      <p:sp>
        <p:nvSpPr>
          <p:cNvPr id="210" name="Google Shape;210;g26e6b96c83f_0_60"/>
          <p:cNvSpPr/>
          <p:nvPr/>
        </p:nvSpPr>
        <p:spPr>
          <a:xfrm>
            <a:off x="6527119" y="3417000"/>
            <a:ext cx="25710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Integraciones</a:t>
            </a:r>
            <a:endParaRPr sz="500"/>
          </a:p>
        </p:txBody>
      </p:sp>
      <p:sp>
        <p:nvSpPr>
          <p:cNvPr id="211" name="Google Shape;211;g26e6b96c83f_0_60"/>
          <p:cNvSpPr/>
          <p:nvPr/>
        </p:nvSpPr>
        <p:spPr>
          <a:xfrm>
            <a:off x="7831425" y="1578525"/>
            <a:ext cx="5793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Configuración</a:t>
            </a:r>
            <a:r>
              <a:rPr lang="es" sz="500"/>
              <a:t> HA/DRP</a:t>
            </a:r>
            <a:endParaRPr sz="500"/>
          </a:p>
        </p:txBody>
      </p:sp>
      <p:cxnSp>
        <p:nvCxnSpPr>
          <p:cNvPr id="212" name="Google Shape;212;g26e6b96c83f_0_60"/>
          <p:cNvCxnSpPr>
            <a:stCxn id="201" idx="3"/>
          </p:cNvCxnSpPr>
          <p:nvPr/>
        </p:nvCxnSpPr>
        <p:spPr>
          <a:xfrm>
            <a:off x="868688" y="1745500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" name="Google Shape;213;g26e6b96c83f_0_60"/>
          <p:cNvCxnSpPr/>
          <p:nvPr/>
        </p:nvCxnSpPr>
        <p:spPr>
          <a:xfrm>
            <a:off x="1702088" y="1744300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" name="Google Shape;214;g26e6b96c83f_0_60"/>
          <p:cNvCxnSpPr/>
          <p:nvPr/>
        </p:nvCxnSpPr>
        <p:spPr>
          <a:xfrm>
            <a:off x="2535488" y="1744300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" name="Google Shape;215;g26e6b96c83f_0_60"/>
          <p:cNvCxnSpPr/>
          <p:nvPr/>
        </p:nvCxnSpPr>
        <p:spPr>
          <a:xfrm>
            <a:off x="4212838" y="1730775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6" name="Google Shape;216;g26e6b96c83f_0_60"/>
          <p:cNvCxnSpPr/>
          <p:nvPr/>
        </p:nvCxnSpPr>
        <p:spPr>
          <a:xfrm>
            <a:off x="5077138" y="1730775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" name="Google Shape;217;g26e6b96c83f_0_60"/>
          <p:cNvCxnSpPr/>
          <p:nvPr/>
        </p:nvCxnSpPr>
        <p:spPr>
          <a:xfrm>
            <a:off x="5920038" y="1730775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" name="Google Shape;218;g26e6b96c83f_0_60"/>
          <p:cNvCxnSpPr/>
          <p:nvPr/>
        </p:nvCxnSpPr>
        <p:spPr>
          <a:xfrm>
            <a:off x="6743938" y="1730775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" name="Google Shape;219;g26e6b96c83f_0_60"/>
          <p:cNvCxnSpPr/>
          <p:nvPr/>
        </p:nvCxnSpPr>
        <p:spPr>
          <a:xfrm>
            <a:off x="7577338" y="1730775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" name="Google Shape;220;g26e6b96c83f_0_60"/>
          <p:cNvCxnSpPr>
            <a:stCxn id="207" idx="2"/>
            <a:endCxn id="209" idx="1"/>
          </p:cNvCxnSpPr>
          <p:nvPr/>
        </p:nvCxnSpPr>
        <p:spPr>
          <a:xfrm flipH="1" rot="-5400000">
            <a:off x="6106896" y="2232825"/>
            <a:ext cx="865500" cy="17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" name="Google Shape;221;g26e6b96c83f_0_60"/>
          <p:cNvCxnSpPr/>
          <p:nvPr/>
        </p:nvCxnSpPr>
        <p:spPr>
          <a:xfrm>
            <a:off x="8410738" y="1730775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2" name="Google Shape;222;g26e6b96c83f_0_60"/>
          <p:cNvSpPr/>
          <p:nvPr/>
        </p:nvSpPr>
        <p:spPr>
          <a:xfrm>
            <a:off x="7539260" y="2597550"/>
            <a:ext cx="6420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Configuración de Solución Region 2</a:t>
            </a:r>
            <a:endParaRPr sz="500"/>
          </a:p>
        </p:txBody>
      </p:sp>
      <p:cxnSp>
        <p:nvCxnSpPr>
          <p:cNvPr id="223" name="Google Shape;223;g26e6b96c83f_0_60"/>
          <p:cNvCxnSpPr/>
          <p:nvPr/>
        </p:nvCxnSpPr>
        <p:spPr>
          <a:xfrm flipH="1" rot="-5400000">
            <a:off x="7063100" y="2237100"/>
            <a:ext cx="854700" cy="173400"/>
          </a:xfrm>
          <a:prstGeom prst="bentConnector3">
            <a:avLst>
              <a:gd fmla="val 991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" name="Google Shape;224;g26e6b96c83f_0_60"/>
          <p:cNvCxnSpPr>
            <a:endCxn id="210" idx="1"/>
          </p:cNvCxnSpPr>
          <p:nvPr/>
        </p:nvCxnSpPr>
        <p:spPr>
          <a:xfrm flipH="1" rot="-5400000">
            <a:off x="5538169" y="2581500"/>
            <a:ext cx="1687800" cy="29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5" name="Google Shape;225;g26e6b96c83f_0_60"/>
          <p:cNvSpPr/>
          <p:nvPr/>
        </p:nvSpPr>
        <p:spPr>
          <a:xfrm>
            <a:off x="8664875" y="1462800"/>
            <a:ext cx="474300" cy="4671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/>
              <a:t>FIN</a:t>
            </a:r>
            <a:endParaRPr b="1" sz="500"/>
          </a:p>
        </p:txBody>
      </p:sp>
      <p:sp>
        <p:nvSpPr>
          <p:cNvPr id="226" name="Google Shape;226;g26e6b96c83f_0_60"/>
          <p:cNvSpPr txBox="1"/>
          <p:nvPr/>
        </p:nvSpPr>
        <p:spPr>
          <a:xfrm>
            <a:off x="251600" y="1981950"/>
            <a:ext cx="714300" cy="8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Líder</a:t>
            </a:r>
            <a:r>
              <a:rPr lang="es" sz="500">
                <a:solidFill>
                  <a:schemeClr val="dk2"/>
                </a:solidFill>
              </a:rPr>
              <a:t> de Iniciativa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Líder técnico de la solución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227" name="Google Shape;227;g26e6b96c83f_0_60"/>
          <p:cNvSpPr txBox="1"/>
          <p:nvPr/>
        </p:nvSpPr>
        <p:spPr>
          <a:xfrm>
            <a:off x="1046600" y="1981950"/>
            <a:ext cx="714300" cy="8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</a:t>
            </a:r>
            <a:r>
              <a:rPr lang="es" sz="500">
                <a:solidFill>
                  <a:schemeClr val="dk2"/>
                </a:solidFill>
              </a:rPr>
              <a:t>Homologación de Ambientes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Arquitectura Coppel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Líder de Iniciativa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228" name="Google Shape;228;g26e6b96c83f_0_60"/>
          <p:cNvSpPr txBox="1"/>
          <p:nvPr/>
        </p:nvSpPr>
        <p:spPr>
          <a:xfrm>
            <a:off x="1888700" y="1981950"/>
            <a:ext cx="714300" cy="8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Arquitectura Coppel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229" name="Google Shape;229;g26e6b96c83f_0_60"/>
          <p:cNvSpPr txBox="1"/>
          <p:nvPr/>
        </p:nvSpPr>
        <p:spPr>
          <a:xfrm>
            <a:off x="3566050" y="1968425"/>
            <a:ext cx="714300" cy="8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Homologación de Ambientes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Arquitectura Coppel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Líder de Iniciativa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</a:t>
            </a:r>
            <a:r>
              <a:rPr lang="es" sz="500">
                <a:solidFill>
                  <a:schemeClr val="dk2"/>
                </a:solidFill>
              </a:rPr>
              <a:t>Líder</a:t>
            </a:r>
            <a:r>
              <a:rPr lang="es" sz="500">
                <a:solidFill>
                  <a:schemeClr val="dk2"/>
                </a:solidFill>
              </a:rPr>
              <a:t> técnico de la solución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230" name="Google Shape;230;g26e6b96c83f_0_60"/>
          <p:cNvSpPr txBox="1"/>
          <p:nvPr/>
        </p:nvSpPr>
        <p:spPr>
          <a:xfrm>
            <a:off x="6624700" y="2948750"/>
            <a:ext cx="1632900" cy="36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Líder de Iniciativa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Líder técnico de la solución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231" name="Google Shape;231;g26e6b96c83f_0_60"/>
          <p:cNvSpPr txBox="1"/>
          <p:nvPr/>
        </p:nvSpPr>
        <p:spPr>
          <a:xfrm>
            <a:off x="6548500" y="3764050"/>
            <a:ext cx="2518500" cy="3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Homologación de Ambientes</a:t>
            </a:r>
            <a:endParaRPr sz="500">
              <a:solidFill>
                <a:schemeClr val="dk2"/>
              </a:solidFill>
            </a:endParaRPr>
          </a:p>
        </p:txBody>
      </p:sp>
      <p:pic>
        <p:nvPicPr>
          <p:cNvPr id="232" name="Google Shape;232;g26e6b96c83f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925" y="194550"/>
            <a:ext cx="838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26e6b96c83f_0_60"/>
          <p:cNvSpPr/>
          <p:nvPr/>
        </p:nvSpPr>
        <p:spPr>
          <a:xfrm>
            <a:off x="2790525" y="1592050"/>
            <a:ext cx="610200" cy="306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898D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/>
              <a:t>Validación y Aprobación de Presupuesto</a:t>
            </a:r>
            <a:endParaRPr sz="500"/>
          </a:p>
        </p:txBody>
      </p:sp>
      <p:cxnSp>
        <p:nvCxnSpPr>
          <p:cNvPr id="234" name="Google Shape;234;g26e6b96c83f_0_60"/>
          <p:cNvCxnSpPr/>
          <p:nvPr/>
        </p:nvCxnSpPr>
        <p:spPr>
          <a:xfrm>
            <a:off x="3401638" y="1744300"/>
            <a:ext cx="25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5" name="Google Shape;235;g26e6b96c83f_0_60"/>
          <p:cNvSpPr txBox="1"/>
          <p:nvPr/>
        </p:nvSpPr>
        <p:spPr>
          <a:xfrm>
            <a:off x="2723025" y="1981950"/>
            <a:ext cx="714300" cy="8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Responsables: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</a:t>
            </a:r>
            <a:r>
              <a:rPr lang="es" sz="500">
                <a:solidFill>
                  <a:schemeClr val="dk2"/>
                </a:solidFill>
              </a:rPr>
              <a:t>Normatividad / CNBV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chemeClr val="dk2"/>
                </a:solidFill>
              </a:rPr>
              <a:t>- Homologación de Ambienbte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e6b96c83f_0_104"/>
          <p:cNvSpPr/>
          <p:nvPr/>
        </p:nvSpPr>
        <p:spPr>
          <a:xfrm>
            <a:off x="7530400" y="4874275"/>
            <a:ext cx="798300" cy="298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6e6b96c83f_0_104"/>
          <p:cNvSpPr/>
          <p:nvPr/>
        </p:nvSpPr>
        <p:spPr>
          <a:xfrm>
            <a:off x="513025" y="2208250"/>
            <a:ext cx="7982100" cy="1164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6e6b96c83f_0_104"/>
          <p:cNvSpPr/>
          <p:nvPr/>
        </p:nvSpPr>
        <p:spPr>
          <a:xfrm>
            <a:off x="513025" y="1400850"/>
            <a:ext cx="7982100" cy="708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26e6b96c83f_0_104"/>
          <p:cNvSpPr txBox="1"/>
          <p:nvPr/>
        </p:nvSpPr>
        <p:spPr>
          <a:xfrm>
            <a:off x="351438" y="232629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/>
          </a:p>
        </p:txBody>
      </p:sp>
      <p:pic>
        <p:nvPicPr>
          <p:cNvPr id="244" name="Google Shape;244;g26e6b96c83f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174" y="57275"/>
            <a:ext cx="746749" cy="74674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26e6b96c83f_0_104"/>
          <p:cNvSpPr/>
          <p:nvPr/>
        </p:nvSpPr>
        <p:spPr>
          <a:xfrm>
            <a:off x="2046196" y="918086"/>
            <a:ext cx="917700" cy="222300"/>
          </a:xfrm>
          <a:prstGeom prst="rect">
            <a:avLst/>
          </a:prstGeom>
          <a:solidFill>
            <a:srgbClr val="0A5F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Abril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26e6b96c83f_0_104"/>
          <p:cNvSpPr/>
          <p:nvPr/>
        </p:nvSpPr>
        <p:spPr>
          <a:xfrm>
            <a:off x="2971190" y="918086"/>
            <a:ext cx="858300" cy="221700"/>
          </a:xfrm>
          <a:prstGeom prst="rect">
            <a:avLst/>
          </a:prstGeom>
          <a:solidFill>
            <a:srgbClr val="0A5F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Mayo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26e6b96c83f_0_104"/>
          <p:cNvSpPr/>
          <p:nvPr/>
        </p:nvSpPr>
        <p:spPr>
          <a:xfrm>
            <a:off x="3836440" y="918086"/>
            <a:ext cx="917700" cy="221700"/>
          </a:xfrm>
          <a:prstGeom prst="rect">
            <a:avLst/>
          </a:prstGeom>
          <a:solidFill>
            <a:srgbClr val="0A5F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Junio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6e6b96c83f_0_104"/>
          <p:cNvSpPr/>
          <p:nvPr/>
        </p:nvSpPr>
        <p:spPr>
          <a:xfrm>
            <a:off x="4770249" y="918086"/>
            <a:ext cx="928500" cy="219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Julio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6e6b96c83f_0_104"/>
          <p:cNvSpPr/>
          <p:nvPr/>
        </p:nvSpPr>
        <p:spPr>
          <a:xfrm>
            <a:off x="711950" y="1286358"/>
            <a:ext cx="7023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025" spcFirstLastPara="1" rIns="36025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1" i="1" lang="es" sz="800">
                <a:solidFill>
                  <a:srgbClr val="666666"/>
                </a:solidFill>
              </a:rPr>
              <a:t>Apolo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6e6b96c83f_0_104"/>
          <p:cNvSpPr/>
          <p:nvPr/>
        </p:nvSpPr>
        <p:spPr>
          <a:xfrm>
            <a:off x="711950" y="2309057"/>
            <a:ext cx="11127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025" spcFirstLastPara="1" rIns="36025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1" i="1" lang="es" sz="800">
                <a:solidFill>
                  <a:srgbClr val="666666"/>
                </a:solidFill>
              </a:rPr>
              <a:t>CMS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6e6b96c83f_0_104"/>
          <p:cNvSpPr/>
          <p:nvPr/>
        </p:nvSpPr>
        <p:spPr>
          <a:xfrm>
            <a:off x="496250" y="1392999"/>
            <a:ext cx="215700" cy="708900"/>
          </a:xfrm>
          <a:prstGeom prst="rect">
            <a:avLst/>
          </a:prstGeom>
          <a:solidFill>
            <a:srgbClr val="FFE4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6e6b96c83f_0_104"/>
          <p:cNvSpPr/>
          <p:nvPr/>
        </p:nvSpPr>
        <p:spPr>
          <a:xfrm>
            <a:off x="496250" y="2208200"/>
            <a:ext cx="215700" cy="1164300"/>
          </a:xfrm>
          <a:prstGeom prst="rect">
            <a:avLst/>
          </a:prstGeom>
          <a:solidFill>
            <a:srgbClr val="3DB9E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26e6b96c83f_0_104"/>
          <p:cNvSpPr/>
          <p:nvPr/>
        </p:nvSpPr>
        <p:spPr>
          <a:xfrm>
            <a:off x="1276620" y="913460"/>
            <a:ext cx="760500" cy="222300"/>
          </a:xfrm>
          <a:prstGeom prst="rect">
            <a:avLst/>
          </a:prstGeom>
          <a:solidFill>
            <a:srgbClr val="0A5F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Marzo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26e6b96c83f_0_104"/>
          <p:cNvSpPr txBox="1"/>
          <p:nvPr/>
        </p:nvSpPr>
        <p:spPr>
          <a:xfrm>
            <a:off x="1666175" y="1145083"/>
            <a:ext cx="9429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1" lang="es" sz="600" u="none" cap="none" strike="noStrike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rPr>
              <a:t>Kick off </a:t>
            </a:r>
            <a:endParaRPr b="0" i="1" sz="600" u="none" cap="none" strike="noStrike">
              <a:solidFill>
                <a:srgbClr val="0044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15 Abril </a:t>
            </a:r>
            <a:r>
              <a:rPr i="1" lang="es" sz="600">
                <a:solidFill>
                  <a:srgbClr val="004481"/>
                </a:solidFill>
              </a:rPr>
              <a:t>2024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55" name="Google Shape;255;g26e6b96c83f_0_104"/>
          <p:cNvSpPr/>
          <p:nvPr/>
        </p:nvSpPr>
        <p:spPr>
          <a:xfrm>
            <a:off x="3474400" y="1429225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26e6b96c83f_0_104"/>
          <p:cNvSpPr/>
          <p:nvPr/>
        </p:nvSpPr>
        <p:spPr>
          <a:xfrm>
            <a:off x="5712690" y="919286"/>
            <a:ext cx="928500" cy="219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Agosto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6e6b96c83f_0_104"/>
          <p:cNvSpPr/>
          <p:nvPr/>
        </p:nvSpPr>
        <p:spPr>
          <a:xfrm>
            <a:off x="6655130" y="919286"/>
            <a:ext cx="928500" cy="219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Septiembre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6e6b96c83f_0_104"/>
          <p:cNvSpPr/>
          <p:nvPr/>
        </p:nvSpPr>
        <p:spPr>
          <a:xfrm>
            <a:off x="7597580" y="914661"/>
            <a:ext cx="928500" cy="219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0" spcFirstLastPara="1" rIns="0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FFFFFF"/>
                </a:solidFill>
              </a:rPr>
              <a:t>Octubre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6e6b96c83f_0_104"/>
          <p:cNvSpPr txBox="1"/>
          <p:nvPr/>
        </p:nvSpPr>
        <p:spPr>
          <a:xfrm>
            <a:off x="3396195" y="1318325"/>
            <a:ext cx="1480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22/May Despliegue </a:t>
            </a:r>
            <a:r>
              <a:rPr i="1" lang="es" sz="600">
                <a:solidFill>
                  <a:srgbClr val="004481"/>
                </a:solidFill>
              </a:rPr>
              <a:t>Región</a:t>
            </a:r>
            <a:r>
              <a:rPr i="1" lang="es" sz="600">
                <a:solidFill>
                  <a:srgbClr val="004481"/>
                </a:solidFill>
              </a:rPr>
              <a:t> 1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60" name="Google Shape;260;g26e6b96c83f_0_104"/>
          <p:cNvSpPr/>
          <p:nvPr/>
        </p:nvSpPr>
        <p:spPr>
          <a:xfrm>
            <a:off x="3931600" y="1642302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6e6b96c83f_0_104"/>
          <p:cNvSpPr txBox="1"/>
          <p:nvPr/>
        </p:nvSpPr>
        <p:spPr>
          <a:xfrm>
            <a:off x="3796944" y="1511925"/>
            <a:ext cx="155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5 /Jun Despliegue Región 2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62" name="Google Shape;262;g26e6b96c83f_0_104"/>
          <p:cNvSpPr/>
          <p:nvPr/>
        </p:nvSpPr>
        <p:spPr>
          <a:xfrm>
            <a:off x="4572000" y="1829602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6e6b96c83f_0_104"/>
          <p:cNvSpPr txBox="1"/>
          <p:nvPr/>
        </p:nvSpPr>
        <p:spPr>
          <a:xfrm>
            <a:off x="4528745" y="1714700"/>
            <a:ext cx="1411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28/Jun Configuración HA/DRP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64" name="Google Shape;264;g26e6b96c83f_0_104"/>
          <p:cNvSpPr/>
          <p:nvPr/>
        </p:nvSpPr>
        <p:spPr>
          <a:xfrm>
            <a:off x="3931600" y="2201764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26e6b96c83f_0_104"/>
          <p:cNvSpPr txBox="1"/>
          <p:nvPr/>
        </p:nvSpPr>
        <p:spPr>
          <a:xfrm>
            <a:off x="3612091" y="2084713"/>
            <a:ext cx="187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13/Jun Despliegue Región 1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66" name="Google Shape;266;g26e6b96c83f_0_104"/>
          <p:cNvSpPr/>
          <p:nvPr/>
        </p:nvSpPr>
        <p:spPr>
          <a:xfrm>
            <a:off x="4604700" y="2651127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26e6b96c83f_0_104"/>
          <p:cNvSpPr txBox="1"/>
          <p:nvPr/>
        </p:nvSpPr>
        <p:spPr>
          <a:xfrm>
            <a:off x="4331491" y="2545213"/>
            <a:ext cx="180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25/Jun Despliegue Región 2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68" name="Google Shape;268;g26e6b96c83f_0_104"/>
          <p:cNvSpPr/>
          <p:nvPr/>
        </p:nvSpPr>
        <p:spPr>
          <a:xfrm>
            <a:off x="5441950" y="3142527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6e6b96c83f_0_104"/>
          <p:cNvSpPr txBox="1"/>
          <p:nvPr/>
        </p:nvSpPr>
        <p:spPr>
          <a:xfrm>
            <a:off x="5441946" y="3005725"/>
            <a:ext cx="1309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25/Jul Configuración HA/DRP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70" name="Google Shape;270;g26e6b96c83f_0_104"/>
          <p:cNvSpPr/>
          <p:nvPr/>
        </p:nvSpPr>
        <p:spPr>
          <a:xfrm>
            <a:off x="4057800" y="2370900"/>
            <a:ext cx="798300" cy="173700"/>
          </a:xfrm>
          <a:prstGeom prst="chevron">
            <a:avLst>
              <a:gd fmla="val 21992" name="adj"/>
            </a:avLst>
          </a:prstGeom>
          <a:solidFill>
            <a:srgbClr val="6898DD"/>
          </a:solidFill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" sz="600">
                <a:solidFill>
                  <a:srgbClr val="FFFFFF"/>
                </a:solidFill>
              </a:rPr>
              <a:t>Configuración R1</a:t>
            </a:r>
            <a:endParaRPr b="0" i="1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26e6b96c83f_0_104"/>
          <p:cNvSpPr/>
          <p:nvPr/>
        </p:nvSpPr>
        <p:spPr>
          <a:xfrm>
            <a:off x="4754150" y="2805775"/>
            <a:ext cx="798300" cy="173700"/>
          </a:xfrm>
          <a:prstGeom prst="chevron">
            <a:avLst>
              <a:gd fmla="val 21992" name="adj"/>
            </a:avLst>
          </a:prstGeom>
          <a:solidFill>
            <a:srgbClr val="6898DD"/>
          </a:solidFill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" sz="600">
                <a:solidFill>
                  <a:srgbClr val="FFFFFF"/>
                </a:solidFill>
              </a:rPr>
              <a:t>Configuración R2</a:t>
            </a:r>
            <a:endParaRPr b="0" i="1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6e6b96c83f_0_104"/>
          <p:cNvSpPr/>
          <p:nvPr/>
        </p:nvSpPr>
        <p:spPr>
          <a:xfrm>
            <a:off x="521400" y="3462950"/>
            <a:ext cx="7982100" cy="131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6e6b96c83f_0_104"/>
          <p:cNvSpPr/>
          <p:nvPr/>
        </p:nvSpPr>
        <p:spPr>
          <a:xfrm>
            <a:off x="720325" y="3639057"/>
            <a:ext cx="11127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025" spcFirstLastPara="1" rIns="36025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1" i="1" lang="es" sz="800">
                <a:solidFill>
                  <a:srgbClr val="666666"/>
                </a:solidFill>
              </a:rPr>
              <a:t>CBS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6e6b96c83f_0_104"/>
          <p:cNvSpPr/>
          <p:nvPr/>
        </p:nvSpPr>
        <p:spPr>
          <a:xfrm>
            <a:off x="504625" y="3470950"/>
            <a:ext cx="215700" cy="1307700"/>
          </a:xfrm>
          <a:prstGeom prst="rect">
            <a:avLst/>
          </a:prstGeom>
          <a:solidFill>
            <a:srgbClr val="6898D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FFFFFF"/>
                </a:solidFill>
              </a:rPr>
              <a:t>3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6e6b96c83f_0_104"/>
          <p:cNvSpPr/>
          <p:nvPr/>
        </p:nvSpPr>
        <p:spPr>
          <a:xfrm>
            <a:off x="4193800" y="3534014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6e6b96c83f_0_104"/>
          <p:cNvSpPr txBox="1"/>
          <p:nvPr/>
        </p:nvSpPr>
        <p:spPr>
          <a:xfrm>
            <a:off x="3873941" y="3397238"/>
            <a:ext cx="187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18/Jun Despliegue Región 1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77" name="Google Shape;277;g26e6b96c83f_0_104"/>
          <p:cNvSpPr/>
          <p:nvPr/>
        </p:nvSpPr>
        <p:spPr>
          <a:xfrm>
            <a:off x="4876700" y="3937752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6e6b96c83f_0_104"/>
          <p:cNvSpPr txBox="1"/>
          <p:nvPr/>
        </p:nvSpPr>
        <p:spPr>
          <a:xfrm>
            <a:off x="4571991" y="3800950"/>
            <a:ext cx="180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4/Jul Despliegue Región 2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79" name="Google Shape;279;g26e6b96c83f_0_104"/>
          <p:cNvSpPr/>
          <p:nvPr/>
        </p:nvSpPr>
        <p:spPr>
          <a:xfrm>
            <a:off x="6108100" y="4465177"/>
            <a:ext cx="137700" cy="1035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6e6b96c83f_0_104"/>
          <p:cNvSpPr txBox="1"/>
          <p:nvPr/>
        </p:nvSpPr>
        <p:spPr>
          <a:xfrm>
            <a:off x="6108096" y="4328375"/>
            <a:ext cx="1309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15/Ago Configuración HA/DRP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81" name="Google Shape;281;g26e6b96c83f_0_104"/>
          <p:cNvSpPr/>
          <p:nvPr/>
        </p:nvSpPr>
        <p:spPr>
          <a:xfrm>
            <a:off x="4279575" y="3669525"/>
            <a:ext cx="666600" cy="173700"/>
          </a:xfrm>
          <a:prstGeom prst="chevron">
            <a:avLst>
              <a:gd fmla="val 21992" name="adj"/>
            </a:avLst>
          </a:prstGeom>
          <a:solidFill>
            <a:srgbClr val="6898DD"/>
          </a:solidFill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" sz="600">
                <a:solidFill>
                  <a:srgbClr val="FFFFFF"/>
                </a:solidFill>
              </a:rPr>
              <a:t>Configuración R1</a:t>
            </a:r>
            <a:endParaRPr b="0" i="1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26e6b96c83f_0_104"/>
          <p:cNvSpPr/>
          <p:nvPr/>
        </p:nvSpPr>
        <p:spPr>
          <a:xfrm>
            <a:off x="4876700" y="4135775"/>
            <a:ext cx="798300" cy="173700"/>
          </a:xfrm>
          <a:prstGeom prst="chevron">
            <a:avLst>
              <a:gd fmla="val 21992" name="adj"/>
            </a:avLst>
          </a:prstGeom>
          <a:solidFill>
            <a:srgbClr val="6898DD"/>
          </a:solidFill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" sz="600">
                <a:solidFill>
                  <a:srgbClr val="FFFFFF"/>
                </a:solidFill>
              </a:rPr>
              <a:t>Configuración R2</a:t>
            </a:r>
            <a:endParaRPr b="0" i="1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g26e6b96c83f_0_104"/>
          <p:cNvCxnSpPr>
            <a:stCxn id="245" idx="2"/>
          </p:cNvCxnSpPr>
          <p:nvPr/>
        </p:nvCxnSpPr>
        <p:spPr>
          <a:xfrm>
            <a:off x="2505046" y="1140386"/>
            <a:ext cx="2400" cy="38229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284" name="Google Shape;284;g26e6b96c83f_0_104"/>
          <p:cNvSpPr/>
          <p:nvPr/>
        </p:nvSpPr>
        <p:spPr>
          <a:xfrm>
            <a:off x="2436189" y="1256955"/>
            <a:ext cx="137700" cy="103500"/>
          </a:xfrm>
          <a:prstGeom prst="triangle">
            <a:avLst>
              <a:gd fmla="val 50000" name="adj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34900" lIns="69825" spcFirstLastPara="1" rIns="69825" wrap="square" tIns="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26e6b96c83f_0_104"/>
          <p:cNvSpPr txBox="1"/>
          <p:nvPr/>
        </p:nvSpPr>
        <p:spPr>
          <a:xfrm>
            <a:off x="4528741" y="2269200"/>
            <a:ext cx="180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17-28 Jun Instalación Región 2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86" name="Google Shape;286;g26e6b96c83f_0_104"/>
          <p:cNvSpPr txBox="1"/>
          <p:nvPr/>
        </p:nvSpPr>
        <p:spPr>
          <a:xfrm>
            <a:off x="5273941" y="2705850"/>
            <a:ext cx="180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28/Jun - 12 Jul </a:t>
            </a:r>
            <a:r>
              <a:rPr i="1" lang="es" sz="600">
                <a:solidFill>
                  <a:srgbClr val="004481"/>
                </a:solidFill>
              </a:rPr>
              <a:t>Instalación</a:t>
            </a:r>
            <a:r>
              <a:rPr i="1" lang="es" sz="600">
                <a:solidFill>
                  <a:srgbClr val="004481"/>
                </a:solidFill>
              </a:rPr>
              <a:t> Región 2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87" name="Google Shape;287;g26e6b96c83f_0_104"/>
          <p:cNvSpPr txBox="1"/>
          <p:nvPr/>
        </p:nvSpPr>
        <p:spPr>
          <a:xfrm>
            <a:off x="4652241" y="3570750"/>
            <a:ext cx="180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20 Jun - 4 Jul </a:t>
            </a:r>
            <a:r>
              <a:rPr i="1" lang="es" sz="600">
                <a:solidFill>
                  <a:srgbClr val="004481"/>
                </a:solidFill>
              </a:rPr>
              <a:t>Instalación</a:t>
            </a:r>
            <a:r>
              <a:rPr i="1" lang="es" sz="600">
                <a:solidFill>
                  <a:srgbClr val="004481"/>
                </a:solidFill>
              </a:rPr>
              <a:t> Región 1</a:t>
            </a:r>
            <a:endParaRPr i="1" sz="600">
              <a:solidFill>
                <a:srgbClr val="004481"/>
              </a:solidFill>
            </a:endParaRPr>
          </a:p>
        </p:txBody>
      </p:sp>
      <p:sp>
        <p:nvSpPr>
          <p:cNvPr id="288" name="Google Shape;288;g26e6b96c83f_0_104"/>
          <p:cNvSpPr txBox="1"/>
          <p:nvPr/>
        </p:nvSpPr>
        <p:spPr>
          <a:xfrm>
            <a:off x="5347041" y="4017963"/>
            <a:ext cx="180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25" spcFirstLastPara="1" rIns="69825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i="1" sz="600">
              <a:solidFill>
                <a:srgbClr val="00448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s" sz="600">
                <a:solidFill>
                  <a:srgbClr val="004481"/>
                </a:solidFill>
              </a:rPr>
              <a:t>9 - 23 Jul </a:t>
            </a:r>
            <a:r>
              <a:rPr i="1" lang="es" sz="600">
                <a:solidFill>
                  <a:srgbClr val="004481"/>
                </a:solidFill>
              </a:rPr>
              <a:t>Instalación</a:t>
            </a:r>
            <a:r>
              <a:rPr i="1" lang="es" sz="600">
                <a:solidFill>
                  <a:srgbClr val="004481"/>
                </a:solidFill>
              </a:rPr>
              <a:t> Región 2</a:t>
            </a:r>
            <a:endParaRPr i="1" sz="600">
              <a:solidFill>
                <a:srgbClr val="004481"/>
              </a:solidFill>
            </a:endParaRPr>
          </a:p>
        </p:txBody>
      </p:sp>
      <p:cxnSp>
        <p:nvCxnSpPr>
          <p:cNvPr id="289" name="Google Shape;289;g26e6b96c83f_0_104"/>
          <p:cNvCxnSpPr/>
          <p:nvPr/>
        </p:nvCxnSpPr>
        <p:spPr>
          <a:xfrm>
            <a:off x="7729758" y="935061"/>
            <a:ext cx="16500" cy="4021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dot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6e6b96c83f_0_220"/>
          <p:cNvSpPr txBox="1"/>
          <p:nvPr/>
        </p:nvSpPr>
        <p:spPr>
          <a:xfrm>
            <a:off x="351438" y="232629"/>
            <a:ext cx="84399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875" lIns="58875" spcFirstLastPara="1" rIns="58875" wrap="square" tIns="58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s" sz="1800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Siguientes Pasos</a:t>
            </a:r>
            <a:endParaRPr/>
          </a:p>
        </p:txBody>
      </p:sp>
      <p:sp>
        <p:nvSpPr>
          <p:cNvPr id="295" name="Google Shape;295;g26e6b96c83f_0_220"/>
          <p:cNvSpPr txBox="1"/>
          <p:nvPr/>
        </p:nvSpPr>
        <p:spPr>
          <a:xfrm>
            <a:off x="812175" y="1399425"/>
            <a:ext cx="77217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A5FB4"/>
              </a:buClr>
              <a:buSzPts val="1200"/>
              <a:buAutoNum type="arabicPeriod"/>
            </a:pPr>
            <a:r>
              <a:rPr lang="es" sz="1200">
                <a:solidFill>
                  <a:srgbClr val="0A5FB4"/>
                </a:solidFill>
              </a:rPr>
              <a:t>Habilitación de Landing Zone y Connect Direct</a:t>
            </a:r>
            <a:endParaRPr sz="1200">
              <a:solidFill>
                <a:srgbClr val="0A5FB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5FB4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A5FB4"/>
              </a:buClr>
              <a:buSzPts val="1200"/>
              <a:buAutoNum type="arabicPeriod"/>
            </a:pPr>
            <a:r>
              <a:rPr lang="es" sz="1200">
                <a:solidFill>
                  <a:srgbClr val="0A5FB4"/>
                </a:solidFill>
              </a:rPr>
              <a:t>Sesiones de levantamientos de requerimientos</a:t>
            </a:r>
            <a:endParaRPr sz="1200">
              <a:solidFill>
                <a:srgbClr val="0A5FB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5FB4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A5FB4"/>
              </a:buClr>
              <a:buSzPts val="1200"/>
              <a:buAutoNum type="arabicPeriod"/>
            </a:pPr>
            <a:r>
              <a:rPr lang="es" sz="1200">
                <a:solidFill>
                  <a:srgbClr val="0A5FB4"/>
                </a:solidFill>
              </a:rPr>
              <a:t>Generación de Arquitectura Inicial y Sizing</a:t>
            </a:r>
            <a:endParaRPr sz="1200">
              <a:solidFill>
                <a:srgbClr val="0A5FB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5FB4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898DD"/>
              </a:buClr>
              <a:buSzPts val="1200"/>
              <a:buAutoNum type="arabicPeriod"/>
            </a:pPr>
            <a:r>
              <a:rPr lang="es" sz="1200">
                <a:solidFill>
                  <a:srgbClr val="6898DD"/>
                </a:solidFill>
              </a:rPr>
              <a:t>…</a:t>
            </a:r>
            <a:endParaRPr sz="1200">
              <a:solidFill>
                <a:srgbClr val="6898D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96" name="Google Shape;296;g26e6b96c83f_0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5300" y="124475"/>
            <a:ext cx="897875" cy="8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2"/>
          <p:cNvSpPr txBox="1"/>
          <p:nvPr/>
        </p:nvSpPr>
        <p:spPr>
          <a:xfrm>
            <a:off x="1783725" y="1953275"/>
            <a:ext cx="3595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2F5D9D"/>
                </a:solidFill>
              </a:rPr>
              <a:t>Gracias</a:t>
            </a:r>
            <a:endParaRPr sz="3500">
              <a:solidFill>
                <a:srgbClr val="2F5D9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olores Servicios Financieros">
  <a:themeElements>
    <a:clrScheme name="Simple Light">
      <a:dk1>
        <a:srgbClr val="FFFFFF"/>
      </a:dk1>
      <a:lt1>
        <a:srgbClr val="FFFFFF"/>
      </a:lt1>
      <a:dk2>
        <a:srgbClr val="595959"/>
      </a:dk2>
      <a:lt2>
        <a:srgbClr val="EEEEEE"/>
      </a:lt2>
      <a:accent1>
        <a:srgbClr val="265AA7"/>
      </a:accent1>
      <a:accent2>
        <a:srgbClr val="FFE400"/>
      </a:accent2>
      <a:accent3>
        <a:srgbClr val="3DB9E5"/>
      </a:accent3>
      <a:accent4>
        <a:srgbClr val="C4E3EF"/>
      </a:accent4>
      <a:accent5>
        <a:srgbClr val="FFCF36"/>
      </a:accent5>
      <a:accent6>
        <a:srgbClr val="87C544"/>
      </a:accent6>
      <a:hlink>
        <a:srgbClr val="DFE0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CA608380-05D8-4967-AAF4-8A4948C46DAD}"/>
</file>

<file path=customXml/itemProps2.xml><?xml version="1.0" encoding="utf-8"?>
<ds:datastoreItem xmlns:ds="http://schemas.openxmlformats.org/officeDocument/2006/customXml" ds:itemID="{98E1A2F2-70EC-495A-853A-BD42CE28E73B}"/>
</file>

<file path=customXml/itemProps3.xml><?xml version="1.0" encoding="utf-8"?>
<ds:datastoreItem xmlns:ds="http://schemas.openxmlformats.org/officeDocument/2006/customXml" ds:itemID="{C378F507-11A3-43EC-B322-3A3DF38D571E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Mauricio Lopez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  <property fmtid="{D5CDD505-2E9C-101B-9397-08002B2CF9AE}" pid="3" name="MediaServiceImageTags">
    <vt:lpwstr/>
  </property>
</Properties>
</file>