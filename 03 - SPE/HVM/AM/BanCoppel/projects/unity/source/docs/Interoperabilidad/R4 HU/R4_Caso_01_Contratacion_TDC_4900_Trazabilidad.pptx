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Contratacion_Deposito_Plazo_Trazabilidad.pptx: referencia visual y estructura de trazabilidad.
- Consolidacion y priorizacion_HUs_R4_v2.xlsx: historias de usuario R4 usadas para el caso. HUs: HDU-TDC-R4-01, 03-08, 10, 13-14, 16-21, 23-27, 34.
- Inventario de Integraciones_HUs_ R4_v1.0.xlsx: interfaces R4 documentadas y patrones de integración relacionados.
- Interoperability_Capability_Hierarchy_BanCoppel_Solutions.xlsx: jerarquía de capacidades de interoperabilidad.
- R4_Interoperability_Capabilities_Required.xlsx: baseline de capacidades de interoperabilidad requeridas para R4.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4752" y="128016"/>
            <a:ext cx="365760" cy="365760"/>
          </a:xfrm>
          <a:prstGeom prst="ellipse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1874520" y="109728"/>
            <a:ext cx="5577840" cy="438912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TDC 4900 R4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1261872" y="658368"/>
            <a:ext cx="6629400" cy="384048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habilitado por capacidades de interoperabilidad para formalizar una TDC originada en Apolo, crearla en SmartVista y dejar evidencia legal trazable.</a:t>
            </a:r>
            <a:endParaRPr lang="en-US" sz="690" dirty="0"/>
          </a:p>
        </p:txBody>
      </p:sp>
      <p:sp>
        <p:nvSpPr>
          <p:cNvPr id="5" name="Text 3"/>
          <p:cNvSpPr/>
          <p:nvPr/>
        </p:nvSpPr>
        <p:spPr>
          <a:xfrm>
            <a:off x="201168" y="1417320"/>
            <a:ext cx="1170432" cy="8869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265176" y="1554480"/>
            <a:ext cx="1042416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ORIGEN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móvil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502920" y="3913632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626864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Apolo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502920" y="5541264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254496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502920" y="7168896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7882128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Promotoría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502920" y="8796528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9509760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/ Email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764792" y="1325880"/>
            <a:ext cx="5257800" cy="310896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INTEROPERABILIDAD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251192" y="1325880"/>
            <a:ext cx="1554480" cy="384048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/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1371600" y="225856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764792" y="1810512"/>
            <a:ext cx="5257800" cy="896112"/>
          </a:xfrm>
          <a:prstGeom prst="roundRect">
            <a:avLst/>
          </a:prstGeom>
          <a:solidFill>
            <a:srgbClr val="EFF4FF"/>
          </a:solidFill>
          <a:ln w="11430">
            <a:solidFill>
              <a:srgbClr val="2D5A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D5A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APIs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“Validar”, “Firmar” y “Crear TDC”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Gobierno de APIs • Seguridad • Versionado • Monitorización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1371600" y="330098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64792" y="2852928"/>
            <a:ext cx="5257800" cy="896112"/>
          </a:xfrm>
          <a:prstGeom prst="roundRect">
            <a:avLst/>
          </a:prstGeom>
          <a:solidFill>
            <a:srgbClr val="EEF8F3"/>
          </a:solidFill>
          <a:ln w="11430">
            <a:solidFill>
              <a:srgbClr val="1790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90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cliente, canal, sesión, teléfono y consentimiento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E2E para retomar solicitud y auditar decisiones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1371600" y="434340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64792" y="3895344"/>
            <a:ext cx="5257800" cy="896112"/>
          </a:xfrm>
          <a:prstGeom prst="roundRect">
            <a:avLst/>
          </a:prstGeom>
          <a:solidFill>
            <a:srgbClr val="F5F0FF"/>
          </a:solidFill>
          <a:ln w="11430">
            <a:solidFill>
              <a:srgbClr val="7B4B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7B4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procesos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el journey de onboarding, lectura documental y firma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controlado con pasos, estados y excepciones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1371600" y="5385816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64792" y="4937760"/>
            <a:ext cx="5257800" cy="896112"/>
          </a:xfrm>
          <a:prstGeom prst="roundRect">
            <a:avLst/>
          </a:prstGeom>
          <a:solidFill>
            <a:srgbClr val="FFF4E3"/>
          </a:solidFill>
          <a:ln w="11430">
            <a:solidFill>
              <a:srgbClr val="E28A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SVC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oferta, PLD/PEP, OTP, alta de crédito y expediente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servicios sin acoplar Apolo a cada backend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1371600" y="6428232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764792" y="5980176"/>
            <a:ext cx="5257800" cy="896112"/>
          </a:xfrm>
          <a:prstGeom prst="roundRect">
            <a:avLst/>
          </a:prstGeom>
          <a:solidFill>
            <a:srgbClr val="FFF1E6"/>
          </a:solidFill>
          <a:ln w="11430">
            <a:solidFill>
              <a:srgbClr val="C46B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RSK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y cumplimiento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listas negras, PEP, referencia y uso de recursos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riesgo regulatorio y aplica KO de forma consistente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1371600" y="747064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764792" y="7022592"/>
            <a:ext cx="5257800" cy="896112"/>
          </a:xfrm>
          <a:prstGeom prst="roundRect">
            <a:avLst/>
          </a:prstGeom>
          <a:solidFill>
            <a:srgbClr val="FFF1F5"/>
          </a:solidFill>
          <a:ln w="11430">
            <a:solidFill>
              <a:srgbClr val="C33D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33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y firma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 contratos, registra lectura y firma electrónica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legal única y recuperable en expediente digital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1371600" y="851306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764792" y="8065008"/>
            <a:ext cx="5257800" cy="896112"/>
          </a:xfrm>
          <a:prstGeom prst="roundRect">
            <a:avLst/>
          </a:prstGeom>
          <a:solidFill>
            <a:srgbClr val="F0F4FF"/>
          </a:solidFill>
          <a:ln w="11430">
            <a:solidFill>
              <a:srgbClr val="2864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86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transaccional distribuida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 firma + alta SmartVista + OnBase + bienvenida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idempotencia, compensaciones y reintentos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1371600" y="955548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64792" y="9107424"/>
            <a:ext cx="5257800" cy="896112"/>
          </a:xfrm>
          <a:prstGeom prst="roundRect">
            <a:avLst/>
          </a:prstGeom>
          <a:solidFill>
            <a:srgbClr val="EFF8F2"/>
          </a:solidFill>
          <a:ln w="11430">
            <a:solidFill>
              <a:srgbClr val="168A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8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EVT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y entrega de datos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alta de cliente, TDC creada y expediente cerrado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Sincronización con canales, analítica, auditoría y soporte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7022592" y="2249424"/>
            <a:ext cx="182880" cy="0"/>
          </a:xfrm>
          <a:prstGeom prst="line">
            <a:avLst/>
          </a:prstGeom>
          <a:noFill/>
          <a:ln w="8890">
            <a:solidFill>
              <a:srgbClr val="2D5AE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251192" y="1865376"/>
            <a:ext cx="1554480" cy="768096"/>
          </a:xfrm>
          <a:prstGeom prst="roundRect">
            <a:avLst/>
          </a:prstGeom>
          <a:solidFill>
            <a:srgbClr val="EFF4FF"/>
          </a:solidFill>
          <a:ln w="10160">
            <a:solidFill>
              <a:srgbClr val="2D5A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APOLO / Modyo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 digital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UX Coltrane</a:t>
            </a:r>
            <a:endParaRPr lang="en-US" sz="555" dirty="0"/>
          </a:p>
        </p:txBody>
      </p:sp>
      <p:sp>
        <p:nvSpPr>
          <p:cNvPr id="37" name="Shape 35"/>
          <p:cNvSpPr/>
          <p:nvPr/>
        </p:nvSpPr>
        <p:spPr>
          <a:xfrm>
            <a:off x="7022592" y="3255264"/>
            <a:ext cx="182880" cy="0"/>
          </a:xfrm>
          <a:prstGeom prst="line">
            <a:avLst/>
          </a:prstGeom>
          <a:noFill/>
          <a:ln w="8890">
            <a:solidFill>
              <a:srgbClr val="17905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251192" y="2871216"/>
            <a:ext cx="1554480" cy="768096"/>
          </a:xfrm>
          <a:prstGeom prst="roundRect">
            <a:avLst/>
          </a:prstGeom>
          <a:solidFill>
            <a:srgbClr val="EEF8F3"/>
          </a:solidFill>
          <a:ln w="10160">
            <a:solidFill>
              <a:srgbClr val="17905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/ OTP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Teléfono, SMS,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titularidad y reuso</a:t>
            </a:r>
            <a:endParaRPr lang="en-US" sz="555" dirty="0"/>
          </a:p>
        </p:txBody>
      </p:sp>
      <p:sp>
        <p:nvSpPr>
          <p:cNvPr id="39" name="Shape 37"/>
          <p:cNvSpPr/>
          <p:nvPr/>
        </p:nvSpPr>
        <p:spPr>
          <a:xfrm>
            <a:off x="7022592" y="4261104"/>
            <a:ext cx="182880" cy="0"/>
          </a:xfrm>
          <a:prstGeom prst="line">
            <a:avLst/>
          </a:prstGeom>
          <a:noFill/>
          <a:ln w="8890">
            <a:solidFill>
              <a:srgbClr val="C46B0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251192" y="3877056"/>
            <a:ext cx="1554480" cy="76809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C46B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PLD / PEP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Matching,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 y reglas</a:t>
            </a:r>
            <a:endParaRPr lang="en-US" sz="555" dirty="0"/>
          </a:p>
        </p:txBody>
      </p:sp>
      <p:sp>
        <p:nvSpPr>
          <p:cNvPr id="41" name="Shape 39"/>
          <p:cNvSpPr/>
          <p:nvPr/>
        </p:nvSpPr>
        <p:spPr>
          <a:xfrm>
            <a:off x="7022592" y="5266944"/>
            <a:ext cx="182880" cy="0"/>
          </a:xfrm>
          <a:prstGeom prst="line">
            <a:avLst/>
          </a:prstGeom>
          <a:noFill/>
          <a:ln w="8890">
            <a:solidFill>
              <a:srgbClr val="C33D6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251192" y="4882896"/>
            <a:ext cx="1554480" cy="768096"/>
          </a:xfrm>
          <a:prstGeom prst="roundRect">
            <a:avLst/>
          </a:prstGeom>
          <a:solidFill>
            <a:srgbClr val="FFF1F5"/>
          </a:solidFill>
          <a:ln w="10160">
            <a:solidFill>
              <a:srgbClr val="C33D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electrónica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evidencias</a:t>
            </a:r>
            <a:endParaRPr lang="en-US" sz="555" dirty="0"/>
          </a:p>
        </p:txBody>
      </p:sp>
      <p:sp>
        <p:nvSpPr>
          <p:cNvPr id="43" name="Shape 41"/>
          <p:cNvSpPr/>
          <p:nvPr/>
        </p:nvSpPr>
        <p:spPr>
          <a:xfrm>
            <a:off x="7022592" y="6272784"/>
            <a:ext cx="182880" cy="0"/>
          </a:xfrm>
          <a:prstGeom prst="line">
            <a:avLst/>
          </a:prstGeom>
          <a:noFill/>
          <a:ln w="8890">
            <a:solidFill>
              <a:srgbClr val="E28A0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251192" y="5888736"/>
            <a:ext cx="1554480" cy="768096"/>
          </a:xfrm>
          <a:prstGeom prst="roundRect">
            <a:avLst/>
          </a:prstGeom>
          <a:solidFill>
            <a:srgbClr val="FFF4E3"/>
          </a:solidFill>
          <a:ln w="10160">
            <a:solidFill>
              <a:srgbClr val="E2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SMARTVISTA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de crédito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4900</a:t>
            </a:r>
            <a:endParaRPr lang="en-US" sz="555" dirty="0"/>
          </a:p>
        </p:txBody>
      </p:sp>
      <p:sp>
        <p:nvSpPr>
          <p:cNvPr id="45" name="Shape 43"/>
          <p:cNvSpPr/>
          <p:nvPr/>
        </p:nvSpPr>
        <p:spPr>
          <a:xfrm>
            <a:off x="7022592" y="7278624"/>
            <a:ext cx="182880" cy="0"/>
          </a:xfrm>
          <a:prstGeom prst="line">
            <a:avLst/>
          </a:prstGeom>
          <a:noFill/>
          <a:ln w="8890">
            <a:solidFill>
              <a:srgbClr val="C33D6B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251192" y="6894576"/>
            <a:ext cx="1554480" cy="768096"/>
          </a:xfrm>
          <a:prstGeom prst="roundRect">
            <a:avLst/>
          </a:prstGeom>
          <a:solidFill>
            <a:srgbClr val="FFF1F5"/>
          </a:solidFill>
          <a:ln w="10160">
            <a:solidFill>
              <a:srgbClr val="C33D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ONBASE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 digital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metadatos</a:t>
            </a:r>
            <a:endParaRPr lang="en-US" sz="555" dirty="0"/>
          </a:p>
        </p:txBody>
      </p:sp>
      <p:sp>
        <p:nvSpPr>
          <p:cNvPr id="47" name="Shape 45"/>
          <p:cNvSpPr/>
          <p:nvPr/>
        </p:nvSpPr>
        <p:spPr>
          <a:xfrm>
            <a:off x="7022592" y="8284464"/>
            <a:ext cx="182880" cy="0"/>
          </a:xfrm>
          <a:prstGeom prst="line">
            <a:avLst/>
          </a:prstGeom>
          <a:noFill/>
          <a:ln w="8890">
            <a:solidFill>
              <a:srgbClr val="168A5C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251192" y="7900416"/>
            <a:ext cx="1554480" cy="768096"/>
          </a:xfrm>
          <a:prstGeom prst="roundRect">
            <a:avLst/>
          </a:prstGeom>
          <a:solidFill>
            <a:srgbClr val="EFF8F2"/>
          </a:solidFill>
          <a:ln w="10160">
            <a:solidFill>
              <a:srgbClr val="168A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NOTIFICACIÓN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Kit,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y SMS</a:t>
            </a:r>
            <a:endParaRPr lang="en-US" sz="555" dirty="0"/>
          </a:p>
        </p:txBody>
      </p:sp>
      <p:sp>
        <p:nvSpPr>
          <p:cNvPr id="49" name="Shape 47"/>
          <p:cNvSpPr/>
          <p:nvPr/>
        </p:nvSpPr>
        <p:spPr>
          <a:xfrm>
            <a:off x="7022592" y="9290304"/>
            <a:ext cx="182880" cy="0"/>
          </a:xfrm>
          <a:prstGeom prst="line">
            <a:avLst/>
          </a:prstGeom>
          <a:noFill/>
          <a:ln w="8890">
            <a:solidFill>
              <a:srgbClr val="00A6C8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251192" y="8906256"/>
            <a:ext cx="1554480" cy="768096"/>
          </a:xfrm>
          <a:prstGeom prst="roundRect">
            <a:avLst/>
          </a:prstGeom>
          <a:solidFill>
            <a:srgbClr val="ECFAFD"/>
          </a:solidFill>
          <a:ln w="10160">
            <a:solidFill>
              <a:srgbClr val="00A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/ BI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Record,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y KPIs</a:t>
            </a:r>
            <a:endParaRPr lang="en-US" sz="555" dirty="0"/>
          </a:p>
        </p:txBody>
      </p:sp>
      <p:sp>
        <p:nvSpPr>
          <p:cNvPr id="51" name="Shape 49"/>
          <p:cNvSpPr/>
          <p:nvPr/>
        </p:nvSpPr>
        <p:spPr>
          <a:xfrm>
            <a:off x="4526280" y="10040112"/>
            <a:ext cx="0" cy="438912"/>
          </a:xfrm>
          <a:prstGeom prst="line">
            <a:avLst/>
          </a:prstGeom>
          <a:noFill/>
          <a:ln w="10160">
            <a:solidFill>
              <a:srgbClr val="C46B00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66928" y="10497312"/>
            <a:ext cx="8001000" cy="274320"/>
          </a:xfrm>
          <a:prstGeom prst="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DE EVENTOS / DATOS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6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Confirmaciones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alta</a:t>
            </a:r>
            <a:endParaRPr lang="en-US" sz="535" dirty="0"/>
          </a:p>
        </p:txBody>
      </p:sp>
      <p:sp>
        <p:nvSpPr>
          <p:cNvPr id="54" name="Text 52"/>
          <p:cNvSpPr/>
          <p:nvPr/>
        </p:nvSpPr>
        <p:spPr>
          <a:xfrm>
            <a:off x="1900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SmartVista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4900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activa</a:t>
            </a:r>
            <a:endParaRPr lang="en-US" sz="535" dirty="0"/>
          </a:p>
        </p:txBody>
      </p:sp>
      <p:sp>
        <p:nvSpPr>
          <p:cNvPr id="55" name="Text 53"/>
          <p:cNvSpPr/>
          <p:nvPr/>
        </p:nvSpPr>
        <p:spPr>
          <a:xfrm>
            <a:off x="3233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PLD / Riesgos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Alertas, reglas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535" dirty="0"/>
          </a:p>
        </p:txBody>
      </p:sp>
      <p:sp>
        <p:nvSpPr>
          <p:cNvPr id="56" name="Text 54"/>
          <p:cNvSpPr/>
          <p:nvPr/>
        </p:nvSpPr>
        <p:spPr>
          <a:xfrm>
            <a:off x="4567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Documental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535" dirty="0"/>
          </a:p>
        </p:txBody>
      </p:sp>
      <p:sp>
        <p:nvSpPr>
          <p:cNvPr id="57" name="Text 55"/>
          <p:cNvSpPr/>
          <p:nvPr/>
        </p:nvSpPr>
        <p:spPr>
          <a:xfrm>
            <a:off x="5900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/ BI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535" dirty="0"/>
          </a:p>
        </p:txBody>
      </p:sp>
      <p:sp>
        <p:nvSpPr>
          <p:cNvPr id="58" name="Text 56"/>
          <p:cNvSpPr/>
          <p:nvPr/>
        </p:nvSpPr>
        <p:spPr>
          <a:xfrm>
            <a:off x="7234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legal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operativa</a:t>
            </a:r>
            <a:endParaRPr lang="en-US" sz="535" dirty="0"/>
          </a:p>
        </p:txBody>
      </p:sp>
      <p:sp>
        <p:nvSpPr>
          <p:cNvPr id="59" name="Text 57"/>
          <p:cNvSpPr/>
          <p:nvPr/>
        </p:nvSpPr>
        <p:spPr>
          <a:xfrm>
            <a:off x="256032" y="11932920"/>
            <a:ext cx="309067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LEYENDA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Exposición de servicios        → Datos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Gestión de contexto             → Integración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Procesos y workflow             → Consistencia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Orquestación de servicios       → Eventos</a:t>
            </a:r>
            <a:endParaRPr lang="en-US" sz="570" dirty="0"/>
          </a:p>
        </p:txBody>
      </p:sp>
      <p:sp>
        <p:nvSpPr>
          <p:cNvPr id="60" name="Text 58"/>
          <p:cNvSpPr/>
          <p:nvPr/>
        </p:nvSpPr>
        <p:spPr>
          <a:xfrm>
            <a:off x="3529584" y="11932920"/>
            <a:ext cx="5349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61" name="Text 59"/>
          <p:cNvSpPr/>
          <p:nvPr/>
        </p:nvSpPr>
        <p:spPr>
          <a:xfrm>
            <a:off x="3566160" y="11960352"/>
            <a:ext cx="5230368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PARA EL NEGOCIO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3602736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Contratación digital con menos fricción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Cumplimiento PLD/KYC trazable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Alta de TDC sin reintroducir datos</a:t>
            </a:r>
            <a:endParaRPr lang="en-US" sz="615" dirty="0"/>
          </a:p>
        </p:txBody>
      </p:sp>
      <p:sp>
        <p:nvSpPr>
          <p:cNvPr id="63" name="Text 61"/>
          <p:cNvSpPr/>
          <p:nvPr/>
        </p:nvSpPr>
        <p:spPr>
          <a:xfrm>
            <a:off x="6126480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Menos operaciones parciales o duplicadas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Evidencia legal consistente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C46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Base preparada para migración y servicing</a:t>
            </a:r>
            <a:endParaRPr lang="en-US" sz="615" dirty="0"/>
          </a:p>
        </p:txBody>
      </p:sp>
      <p:sp>
        <p:nvSpPr>
          <p:cNvPr id="64" name="Shape 62"/>
          <p:cNvSpPr/>
          <p:nvPr/>
        </p:nvSpPr>
        <p:spPr>
          <a:xfrm>
            <a:off x="228600" y="13423392"/>
            <a:ext cx="8686800" cy="0"/>
          </a:xfrm>
          <a:prstGeom prst="line">
            <a:avLst/>
          </a:prstGeom>
          <a:noFill/>
          <a:ln w="7620">
            <a:solidFill>
              <a:srgbClr val="D7E2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13469112"/>
            <a:ext cx="8321040" cy="164592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Ejemplo editable de trazabilidad R4: historia de usuario → capacidades de interoperabilidad → plataformas/sistemas → consumidores | Caso 1 — Contratación TDC 4900</a:t>
            </a:r>
            <a:endParaRPr lang="en-US" sz="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3CB51708-FD0D-4DDB-9153-76E27EDE8B62}"/>
</file>

<file path=customXml/itemProps2.xml><?xml version="1.0" encoding="utf-8"?>
<ds:datastoreItem xmlns:ds="http://schemas.openxmlformats.org/officeDocument/2006/customXml" ds:itemID="{D63EDA67-12C9-4689-83CA-54D8A3359393}"/>
</file>

<file path=customXml/itemProps3.xml><?xml version="1.0" encoding="utf-8"?>
<ds:datastoreItem xmlns:ds="http://schemas.openxmlformats.org/officeDocument/2006/customXml" ds:itemID="{F037A152-9254-4032-8492-75DE57D373B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BanCoppel / 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UNITY R4 - Trazabilidad de capacidades de interoperabilidad</dc:subject>
  <dc:creator>OpenAI</dc:creator>
  <cp:lastModifiedBy>OpenAI</cp:lastModifiedBy>
  <cp:revision>1</cp:revision>
  <dcterms:created xsi:type="dcterms:W3CDTF">2026-08-06T12:05:43Z</dcterms:created>
  <dcterms:modified xsi:type="dcterms:W3CDTF">2026-08-06T12:05:43Z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