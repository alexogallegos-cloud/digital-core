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8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2220" y="-3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zyk, Lukasz" userId="3c523eea-d990-46ae-90d9-b9bf542e4057" providerId="ADAL" clId="{26BD416E-4D49-4ABD-8D8C-867EBA8C3D66}"/>
    <pc:docChg chg="modSld">
      <pc:chgData name="Pietrzyk, Lukasz" userId="3c523eea-d990-46ae-90d9-b9bf542e4057" providerId="ADAL" clId="{26BD416E-4D49-4ABD-8D8C-867EBA8C3D66}" dt="2026-08-05T16:52:17.581" v="7" actId="20577"/>
      <pc:docMkLst>
        <pc:docMk/>
      </pc:docMkLst>
      <pc:sldChg chg="modSp mod">
        <pc:chgData name="Pietrzyk, Lukasz" userId="3c523eea-d990-46ae-90d9-b9bf542e4057" providerId="ADAL" clId="{26BD416E-4D49-4ABD-8D8C-867EBA8C3D66}" dt="2026-08-05T16:52:17.581" v="7" actId="20577"/>
        <pc:sldMkLst>
          <pc:docMk/>
          <pc:sldMk cId="0" sldId="256"/>
        </pc:sldMkLst>
        <pc:spChg chg="mod">
          <ac:chgData name="Pietrzyk, Lukasz" userId="3c523eea-d990-46ae-90d9-b9bf542e4057" providerId="ADAL" clId="{26BD416E-4D49-4ABD-8D8C-867EBA8C3D66}" dt="2026-08-05T16:52:17.581" v="7" actId="20577"/>
          <ac:spMkLst>
            <pc:docMk/>
            <pc:sldMk cId="0" sldId="256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08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8760" y="109728"/>
            <a:ext cx="457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🏛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993392" y="128016"/>
            <a:ext cx="5897880" cy="438912"/>
          </a:xfrm>
          <a:prstGeom prst="roundRect">
            <a:avLst/>
          </a:prstGeom>
          <a:solidFill>
            <a:srgbClr val="143865"/>
          </a:solidFill>
          <a:ln w="10160">
            <a:solidFill>
              <a:srgbClr val="14386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084832" y="164592"/>
            <a:ext cx="571500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CONTRATACIÓN DE DEPÓSITO A PLAZO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3040" y="676656"/>
            <a:ext cx="6309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habilitado por capacidades de interoperabilidad para ejecutar de punta a punta la contratación de un depósito a plazo de forma segura, consistente y trazable.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7632" y="2194560"/>
            <a:ext cx="0" cy="7310628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1627632" y="2194560"/>
            <a:ext cx="219456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1627632" y="3227832"/>
            <a:ext cx="219456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1627632" y="4279392"/>
            <a:ext cx="219456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1627632" y="5513832"/>
            <a:ext cx="219456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1636776" y="6638544"/>
            <a:ext cx="210311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1636776" y="7562088"/>
            <a:ext cx="210312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1636776" y="8517636"/>
            <a:ext cx="210312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1636776" y="9505188"/>
            <a:ext cx="210312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7159752" y="2194560"/>
            <a:ext cx="246888" cy="0"/>
          </a:xfrm>
          <a:prstGeom prst="line">
            <a:avLst/>
          </a:prstGeom>
          <a:noFill/>
          <a:ln w="12700">
            <a:solidFill>
              <a:srgbClr val="2E5FA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7159752" y="3227832"/>
            <a:ext cx="246888" cy="18288"/>
          </a:xfrm>
          <a:prstGeom prst="line">
            <a:avLst/>
          </a:prstGeom>
          <a:noFill/>
          <a:ln w="12700">
            <a:solidFill>
              <a:srgbClr val="2C8B57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7159752" y="4279392"/>
            <a:ext cx="228600" cy="0"/>
          </a:xfrm>
          <a:prstGeom prst="line">
            <a:avLst/>
          </a:prstGeom>
          <a:noFill/>
          <a:ln w="12700">
            <a:solidFill>
              <a:srgbClr val="7B61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Shape 16"/>
          <p:cNvSpPr/>
          <p:nvPr/>
        </p:nvSpPr>
        <p:spPr>
          <a:xfrm flipV="1">
            <a:off x="7150607" y="5539550"/>
            <a:ext cx="228600" cy="18288"/>
          </a:xfrm>
          <a:prstGeom prst="line">
            <a:avLst/>
          </a:prstGeom>
          <a:noFill/>
          <a:ln w="12700">
            <a:solidFill>
              <a:srgbClr val="B37C13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7159752" y="6693409"/>
            <a:ext cx="246888" cy="0"/>
          </a:xfrm>
          <a:prstGeom prst="line">
            <a:avLst/>
          </a:prstGeom>
          <a:noFill/>
          <a:ln w="12700">
            <a:solidFill>
              <a:srgbClr val="0495A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 flipV="1">
            <a:off x="7159752" y="7527798"/>
            <a:ext cx="246888" cy="0"/>
          </a:xfrm>
          <a:prstGeom prst="line">
            <a:avLst/>
          </a:prstGeom>
          <a:noFill/>
          <a:ln w="12700">
            <a:solidFill>
              <a:srgbClr val="C84987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7132321" y="8535923"/>
            <a:ext cx="301738" cy="0"/>
          </a:xfrm>
          <a:prstGeom prst="line">
            <a:avLst/>
          </a:prstGeom>
          <a:noFill/>
          <a:ln w="12700">
            <a:solidFill>
              <a:srgbClr val="426FC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4503420" y="9985248"/>
            <a:ext cx="0" cy="576072"/>
          </a:xfrm>
          <a:prstGeom prst="line">
            <a:avLst/>
          </a:prstGeom>
          <a:noFill/>
          <a:ln w="10160">
            <a:solidFill>
              <a:srgbClr val="2F8C54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228600" y="1417320"/>
            <a:ext cx="1234440" cy="8915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C4D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274320" y="1536192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ORIGEN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1325880"/>
            <a:ext cx="5257800" cy="310896"/>
          </a:xfrm>
          <a:prstGeom prst="roundRect">
            <a:avLst/>
          </a:prstGeom>
          <a:solidFill>
            <a:srgbClr val="143865"/>
          </a:solidFill>
          <a:ln w="10160">
            <a:solidFill>
              <a:srgbClr val="14386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1874520" y="1353312"/>
            <a:ext cx="5257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INTEROPERABILIDAD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88352" y="1325880"/>
            <a:ext cx="1554480" cy="347472"/>
          </a:xfrm>
          <a:prstGeom prst="roundRect">
            <a:avLst/>
          </a:prstGeom>
          <a:solidFill>
            <a:srgbClr val="143865"/>
          </a:solidFill>
          <a:ln w="10160">
            <a:solidFill>
              <a:srgbClr val="14386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7406640" y="1353312"/>
            <a:ext cx="15179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2286000"/>
            <a:ext cx="685800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14386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" y="3035808"/>
            <a:ext cx="10881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Móvil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3886200"/>
            <a:ext cx="685800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14386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1752" y="4636008"/>
            <a:ext cx="10881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en Línea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5486400"/>
            <a:ext cx="685800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14386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" y="6236208"/>
            <a:ext cx="10881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7086600"/>
            <a:ext cx="685800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14386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" y="7836408"/>
            <a:ext cx="10881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8686800"/>
            <a:ext cx="685800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14386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" y="9436608"/>
            <a:ext cx="10881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 / ATM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74520" y="1700784"/>
            <a:ext cx="5257800" cy="987552"/>
          </a:xfrm>
          <a:prstGeom prst="roundRect">
            <a:avLst/>
          </a:prstGeom>
          <a:solidFill>
            <a:srgbClr val="F3F7FF"/>
          </a:solidFill>
          <a:ln w="10795">
            <a:solidFill>
              <a:srgbClr val="2E5F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Text 38"/>
          <p:cNvSpPr/>
          <p:nvPr/>
        </p:nvSpPr>
        <p:spPr>
          <a:xfrm>
            <a:off x="2039112" y="1851660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98648" y="1847088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Management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98648" y="2084832"/>
            <a:ext cx="2240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“Consultar productos”,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“Simular” y “Contratar”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03520" y="1801368"/>
            <a:ext cx="1664208" cy="786384"/>
          </a:xfrm>
          <a:prstGeom prst="roundRect">
            <a:avLst/>
          </a:prstGeom>
          <a:solidFill>
            <a:srgbClr val="F3F7FF"/>
          </a:solidFill>
          <a:ln w="8890">
            <a:solidFill>
              <a:srgbClr val="2E5F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4" name="Text 42"/>
          <p:cNvSpPr/>
          <p:nvPr/>
        </p:nvSpPr>
        <p:spPr>
          <a:xfrm>
            <a:off x="5367528" y="1837944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y gobierna APIs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76672" y="2084832"/>
            <a:ext cx="15179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Seguridad
• Throttling
• Versionado
• Monitoreo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74520" y="2761488"/>
            <a:ext cx="5257800" cy="932688"/>
          </a:xfrm>
          <a:prstGeom prst="roundRect">
            <a:avLst/>
          </a:prstGeom>
          <a:solidFill>
            <a:srgbClr val="F3FBF6"/>
          </a:solidFill>
          <a:ln w="10795">
            <a:solidFill>
              <a:srgbClr val="2C8B5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7" name="Text 45"/>
          <p:cNvSpPr/>
          <p:nvPr/>
        </p:nvSpPr>
        <p:spPr>
          <a:xfrm>
            <a:off x="2039112" y="2884932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8B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CTX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898648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Management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98648" y="3145536"/>
            <a:ext cx="2240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cliente, canal, sesión,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consentimiento y producto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2862072"/>
            <a:ext cx="1664208" cy="731520"/>
          </a:xfrm>
          <a:prstGeom prst="roundRect">
            <a:avLst/>
          </a:prstGeom>
          <a:solidFill>
            <a:srgbClr val="F3FBF6"/>
          </a:solidFill>
          <a:ln w="8890">
            <a:solidFill>
              <a:srgbClr val="2C8B5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1" name="Text 49"/>
          <p:cNvSpPr/>
          <p:nvPr/>
        </p:nvSpPr>
        <p:spPr>
          <a:xfrm>
            <a:off x="5367528" y="2898648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76672" y="3145536"/>
            <a:ext cx="15179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Identidad del cliente
• Canal y dispositivo
• Sesión y trazabilidad
• Consentimientos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74520" y="3767328"/>
            <a:ext cx="5257800" cy="1024128"/>
          </a:xfrm>
          <a:prstGeom prst="roundRect">
            <a:avLst/>
          </a:prstGeom>
          <a:solidFill>
            <a:srgbClr val="F8F4FF"/>
          </a:solidFill>
          <a:ln w="10795">
            <a:solidFill>
              <a:srgbClr val="7B61B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4" name="Text 52"/>
          <p:cNvSpPr/>
          <p:nvPr/>
        </p:nvSpPr>
        <p:spPr>
          <a:xfrm>
            <a:off x="2039112" y="3936492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898648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Orchestration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898648" y="4178808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Ejecuta el workflow de originación
• Ejecuta el workflow de aprobaciones aplicables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03520" y="3867912"/>
            <a:ext cx="1664208" cy="822960"/>
          </a:xfrm>
          <a:prstGeom prst="roundRect">
            <a:avLst/>
          </a:prstGeom>
          <a:solidFill>
            <a:srgbClr val="F8F4FF"/>
          </a:solidFill>
          <a:ln w="8890">
            <a:solidFill>
              <a:srgbClr val="7B61B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8" name="Text 56"/>
          <p:cNvSpPr/>
          <p:nvPr/>
        </p:nvSpPr>
        <p:spPr>
          <a:xfrm>
            <a:off x="5367528" y="3904488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B6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procesos y reglas de negocio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76672" y="4151376"/>
            <a:ext cx="1517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Modelado BPMN
• Reglas
• Tareas / Aprobaciones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874520" y="4864608"/>
            <a:ext cx="5257800" cy="1298448"/>
          </a:xfrm>
          <a:prstGeom prst="roundRect">
            <a:avLst/>
          </a:prstGeom>
          <a:solidFill>
            <a:srgbClr val="FFF8EA"/>
          </a:solidFill>
          <a:ln w="10795">
            <a:solidFill>
              <a:srgbClr val="B37C1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1" name="Text 59"/>
          <p:cNvSpPr/>
          <p:nvPr/>
        </p:nvSpPr>
        <p:spPr>
          <a:xfrm>
            <a:off x="2039112" y="5170932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7C1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7C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SVC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898648" y="5010912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Orchestration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898648" y="5276088"/>
            <a:ext cx="2148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Consulta perfil y elegibilidad
• Consulta catálogo, plazo y tasa
• Valida saldo disponible
• Registra el plazo
• Genera confirmación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03520" y="4965192"/>
            <a:ext cx="1664208" cy="1097280"/>
          </a:xfrm>
          <a:prstGeom prst="roundRect">
            <a:avLst/>
          </a:prstGeom>
          <a:solidFill>
            <a:srgbClr val="FFF8EA"/>
          </a:solidFill>
          <a:ln w="8890">
            <a:solidFill>
              <a:srgbClr val="B37C1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5" name="Text 63"/>
          <p:cNvSpPr/>
          <p:nvPr/>
        </p:nvSpPr>
        <p:spPr>
          <a:xfrm>
            <a:off x="5367528" y="5001768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37C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múltiples servicios y sistemas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76672" y="5248656"/>
            <a:ext cx="15179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Clientes
• Catálogo de productos
• Cuentas
• Depósitos a plazo
• Notificaciones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874520" y="6236208"/>
            <a:ext cx="5257800" cy="804672"/>
          </a:xfrm>
          <a:prstGeom prst="roundRect">
            <a:avLst/>
          </a:prstGeom>
          <a:solidFill>
            <a:srgbClr val="F0FBFD"/>
          </a:solidFill>
          <a:ln w="10795">
            <a:solidFill>
              <a:srgbClr val="0495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8" name="Text 66"/>
          <p:cNvSpPr/>
          <p:nvPr/>
        </p:nvSpPr>
        <p:spPr>
          <a:xfrm>
            <a:off x="2039112" y="6295644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495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9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898648" y="6382512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Delivery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898648" y="6620256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Replicación de datos de cliente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303520" y="6336792"/>
            <a:ext cx="1664208" cy="603504"/>
          </a:xfrm>
          <a:prstGeom prst="roundRect">
            <a:avLst/>
          </a:prstGeom>
          <a:solidFill>
            <a:srgbClr val="F0FBFD"/>
          </a:solidFill>
          <a:ln w="8890">
            <a:solidFill>
              <a:srgbClr val="0495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2" name="Text 70"/>
          <p:cNvSpPr/>
          <p:nvPr/>
        </p:nvSpPr>
        <p:spPr>
          <a:xfrm>
            <a:off x="5367528" y="6373368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9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Replicación y distribución de datos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76672" y="6620256"/>
            <a:ext cx="15179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Datos maestros
• Actualizaciones
• Sincronización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74520" y="7114032"/>
            <a:ext cx="5257800" cy="896112"/>
          </a:xfrm>
          <a:prstGeom prst="roundRect">
            <a:avLst/>
          </a:prstGeom>
          <a:solidFill>
            <a:srgbClr val="FFF2F8"/>
          </a:solidFill>
          <a:ln w="10795">
            <a:solidFill>
              <a:srgbClr val="C8498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5" name="Text 73"/>
          <p:cNvSpPr/>
          <p:nvPr/>
        </p:nvSpPr>
        <p:spPr>
          <a:xfrm>
            <a:off x="2039112" y="7219188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98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898648" y="7260336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Mapping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898648" y="7498080"/>
            <a:ext cx="2240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Traduce mensajes para core,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proveedor o custodio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303520" y="7214616"/>
            <a:ext cx="1664208" cy="694944"/>
          </a:xfrm>
          <a:prstGeom prst="roundRect">
            <a:avLst/>
          </a:prstGeom>
          <a:solidFill>
            <a:srgbClr val="FFF2F8"/>
          </a:solidFill>
          <a:ln w="8890">
            <a:solidFill>
              <a:srgbClr val="C8498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9" name="Text 77"/>
          <p:cNvSpPr/>
          <p:nvPr/>
        </p:nvSpPr>
        <p:spPr>
          <a:xfrm>
            <a:off x="5367528" y="7251192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84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Transformación y enriquecimiento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376672" y="7498080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Mapas de transformación
• Validaciones
• Enriquecimiento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874520" y="8083296"/>
            <a:ext cx="5257800" cy="868680"/>
          </a:xfrm>
          <a:prstGeom prst="roundRect">
            <a:avLst/>
          </a:prstGeom>
          <a:solidFill>
            <a:srgbClr val="F4F7FF"/>
          </a:solidFill>
          <a:ln w="10795">
            <a:solidFill>
              <a:srgbClr val="426FC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2" name="Text 80"/>
          <p:cNvSpPr/>
          <p:nvPr/>
        </p:nvSpPr>
        <p:spPr>
          <a:xfrm>
            <a:off x="2039112" y="8174736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6FC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26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898648" y="822960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Management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898648" y="8467344"/>
            <a:ext cx="2240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 cargo + contratación +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contabilización consistente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303520" y="8183880"/>
            <a:ext cx="1664208" cy="667512"/>
          </a:xfrm>
          <a:prstGeom prst="roundRect">
            <a:avLst/>
          </a:prstGeom>
          <a:solidFill>
            <a:srgbClr val="F4F7FF"/>
          </a:solidFill>
          <a:ln w="8890">
            <a:solidFill>
              <a:srgbClr val="426FC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6" name="Text 84"/>
          <p:cNvSpPr/>
          <p:nvPr/>
        </p:nvSpPr>
        <p:spPr>
          <a:xfrm>
            <a:off x="5367528" y="8220456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26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Atomicidad y consistencia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76672" y="8467344"/>
            <a:ext cx="15179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Transacciones ACID
• Compensaciones
• Reversas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874520" y="9025128"/>
            <a:ext cx="5257800" cy="960120"/>
          </a:xfrm>
          <a:prstGeom prst="roundRect">
            <a:avLst/>
          </a:prstGeom>
          <a:solidFill>
            <a:srgbClr val="F3FBF5"/>
          </a:solidFill>
          <a:ln w="10795">
            <a:solidFill>
              <a:srgbClr val="2F8C54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9" name="Text 87"/>
          <p:cNvSpPr/>
          <p:nvPr/>
        </p:nvSpPr>
        <p:spPr>
          <a:xfrm>
            <a:off x="2039112" y="9162288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8C5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EVT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2898648" y="9171432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Messaging (TBC)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898648" y="9409176"/>
            <a:ext cx="22402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contratación realizada,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 efectuado, vencimiento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actualización de posición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303520" y="9125712"/>
            <a:ext cx="1664208" cy="758952"/>
          </a:xfrm>
          <a:prstGeom prst="roundRect">
            <a:avLst/>
          </a:prstGeom>
          <a:solidFill>
            <a:srgbClr val="F3FBF5"/>
          </a:solidFill>
          <a:ln w="8890">
            <a:solidFill>
              <a:srgbClr val="2F8C54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3" name="Text 91"/>
          <p:cNvSpPr/>
          <p:nvPr/>
        </p:nvSpPr>
        <p:spPr>
          <a:xfrm>
            <a:off x="5367528" y="9162288"/>
            <a:ext cx="15361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para integración asíncrona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376672" y="9409176"/>
            <a:ext cx="15179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Contratación realizada
• Cargo efectuado
• Vencimiento
• Posición actualizada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388352" y="1764792"/>
            <a:ext cx="1554480" cy="9235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5F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6" name="Text 94"/>
          <p:cNvSpPr/>
          <p:nvPr/>
        </p:nvSpPr>
        <p:spPr>
          <a:xfrm>
            <a:off x="7434072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DIGITALES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461504" y="2267712"/>
            <a:ext cx="1408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App, Web, Call Center, Kioscos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388352" y="2798064"/>
            <a:ext cx="15544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8B5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9" name="Text 97"/>
          <p:cNvSpPr/>
          <p:nvPr/>
        </p:nvSpPr>
        <p:spPr>
          <a:xfrm>
            <a:off x="7434072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IDENTIDAD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CONSENTIMIENTOS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461504" y="3337560"/>
            <a:ext cx="1408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 / Consent Management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388352" y="3767328"/>
            <a:ext cx="15544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B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2" name="Text 100"/>
          <p:cNvSpPr/>
          <p:nvPr/>
        </p:nvSpPr>
        <p:spPr>
          <a:xfrm>
            <a:off x="7434072" y="4069080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 / REGLAS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461504" y="4356735"/>
            <a:ext cx="14081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Procesos y Reglas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388352" y="4890897"/>
            <a:ext cx="1554480" cy="1272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37C1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5" name="Text 103"/>
          <p:cNvSpPr/>
          <p:nvPr/>
        </p:nvSpPr>
        <p:spPr>
          <a:xfrm>
            <a:off x="7434072" y="4982337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DE NEGOCIO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461504" y="5393817"/>
            <a:ext cx="14081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CBS (Temenos)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</a:rPr>
              <a:t>PISA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Teller Multi 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Otros sistemas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388352" y="6225159"/>
            <a:ext cx="1554480" cy="81572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95A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8" name="Text 106"/>
          <p:cNvSpPr/>
          <p:nvPr/>
        </p:nvSpPr>
        <p:spPr>
          <a:xfrm>
            <a:off x="7434072" y="6316599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DATOS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461504" y="6632829"/>
            <a:ext cx="14081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/ Data Hub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Replicación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388352" y="7116318"/>
            <a:ext cx="1554480" cy="89382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498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1" name="Text 109"/>
          <p:cNvSpPr/>
          <p:nvPr/>
        </p:nvSpPr>
        <p:spPr>
          <a:xfrm>
            <a:off x="7434072" y="7207758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EXTERNOS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PROVEEDORES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461504" y="7428738"/>
            <a:ext cx="14081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Custodio, proveedor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tasas, buró, etc.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388352" y="8121015"/>
            <a:ext cx="1554480" cy="83096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26FC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4" name="Text 112"/>
          <p:cNvSpPr/>
          <p:nvPr/>
        </p:nvSpPr>
        <p:spPr>
          <a:xfrm>
            <a:off x="7434072" y="8212455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CONTABLE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461504" y="8462010"/>
            <a:ext cx="1408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 General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Auxiliar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94360" y="10625328"/>
            <a:ext cx="80467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C4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7" name="Shape 115"/>
          <p:cNvSpPr/>
          <p:nvPr/>
        </p:nvSpPr>
        <p:spPr>
          <a:xfrm>
            <a:off x="594360" y="10625328"/>
            <a:ext cx="8046720" cy="237744"/>
          </a:xfrm>
          <a:prstGeom prst="rect">
            <a:avLst/>
          </a:prstGeom>
          <a:solidFill>
            <a:srgbClr val="143865"/>
          </a:solidFill>
          <a:ln w="10160">
            <a:solidFill>
              <a:srgbClr val="14386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8" name="Text 116"/>
          <p:cNvSpPr/>
          <p:nvPr/>
        </p:nvSpPr>
        <p:spPr>
          <a:xfrm>
            <a:off x="594360" y="10643616"/>
            <a:ext cx="8046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DE EVENTOS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2179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66751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Asientos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movimientos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935480" y="10872216"/>
            <a:ext cx="0" cy="832104"/>
          </a:xfrm>
          <a:prstGeom prst="line">
            <a:avLst/>
          </a:prstGeom>
          <a:noFill/>
          <a:ln w="762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2" name="Text 120"/>
          <p:cNvSpPr/>
          <p:nvPr/>
        </p:nvSpPr>
        <p:spPr>
          <a:xfrm>
            <a:off x="196291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200863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Regulatorios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gestión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276600" y="10872216"/>
            <a:ext cx="0" cy="832104"/>
          </a:xfrm>
          <a:prstGeom prst="line">
            <a:avLst/>
          </a:prstGeom>
          <a:noFill/>
          <a:ln w="762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5" name="Text 123"/>
          <p:cNvSpPr/>
          <p:nvPr/>
        </p:nvSpPr>
        <p:spPr>
          <a:xfrm>
            <a:off x="330403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/ Canales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334975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Notificaciones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confirmaciones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4617720" y="10872216"/>
            <a:ext cx="0" cy="832104"/>
          </a:xfrm>
          <a:prstGeom prst="line">
            <a:avLst/>
          </a:prstGeom>
          <a:noFill/>
          <a:ln w="762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8" name="Text 126"/>
          <p:cNvSpPr/>
          <p:nvPr/>
        </p:nvSpPr>
        <p:spPr>
          <a:xfrm>
            <a:off x="464515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469087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Monitoreo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5958840" y="10872216"/>
            <a:ext cx="0" cy="832104"/>
          </a:xfrm>
          <a:prstGeom prst="line">
            <a:avLst/>
          </a:prstGeom>
          <a:noFill/>
          <a:ln w="762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1" name="Text 129"/>
          <p:cNvSpPr/>
          <p:nvPr/>
        </p:nvSpPr>
        <p:spPr>
          <a:xfrm>
            <a:off x="598627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/ BI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603199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299960" y="10872216"/>
            <a:ext cx="0" cy="832104"/>
          </a:xfrm>
          <a:prstGeom prst="line">
            <a:avLst/>
          </a:prstGeom>
          <a:noFill/>
          <a:ln w="762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4" name="Text 132"/>
          <p:cNvSpPr/>
          <p:nvPr/>
        </p:nvSpPr>
        <p:spPr>
          <a:xfrm>
            <a:off x="7327392" y="10963656"/>
            <a:ext cx="1286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7373112" y="11219688"/>
            <a:ext cx="1194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228600" y="11932920"/>
            <a:ext cx="32461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C4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7" name="Text 135"/>
          <p:cNvSpPr/>
          <p:nvPr/>
        </p:nvSpPr>
        <p:spPr>
          <a:xfrm>
            <a:off x="502920" y="12060936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LEYENDA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502920" y="12289536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85800" y="12298680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de servicios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502920" y="12490704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685800" y="12499848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502920" y="12691872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6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685800" y="12701016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502920" y="12893040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37C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85800" y="12902184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y servicios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2075688" y="12289536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9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2258568" y="12298680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2075688" y="12490704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4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2258568" y="12499848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2075688" y="12691872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6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2258568" y="12701016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2075688" y="12893040"/>
            <a:ext cx="1645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2258568" y="12902184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3703320" y="11932920"/>
            <a:ext cx="52120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C4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5" name="Text 153"/>
          <p:cNvSpPr/>
          <p:nvPr/>
        </p:nvSpPr>
        <p:spPr>
          <a:xfrm>
            <a:off x="3977640" y="12060936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3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PARA EL NEGOCIO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3986784" y="12316968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4187952" y="12307824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omnicanal fluida y consistente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3986784" y="12554712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4187952" y="12545568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Agilidad para lanzar productos y modificar reglas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3986784" y="12792456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4187952" y="12783312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estándar y escalable con ecosistema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6473952" y="12316968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675120" y="12307824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trazabilidad y control operativo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6473952" y="12554712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6675120" y="12545568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transaccional y reducción de errores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6473952" y="12792456"/>
            <a:ext cx="1463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C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67" name="Text 165"/>
          <p:cNvSpPr/>
          <p:nvPr/>
        </p:nvSpPr>
        <p:spPr>
          <a:xfrm>
            <a:off x="6675120" y="12783312"/>
            <a:ext cx="21762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2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 regulatorio y seguridad end-to-end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228600" y="13487400"/>
            <a:ext cx="8686800" cy="0"/>
          </a:xfrm>
          <a:prstGeom prst="line">
            <a:avLst/>
          </a:prstGeom>
          <a:noFill/>
          <a:ln w="6350">
            <a:solidFill>
              <a:srgbClr val="D7DD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9" name="Text 167"/>
          <p:cNvSpPr/>
          <p:nvPr/>
        </p:nvSpPr>
        <p:spPr>
          <a:xfrm>
            <a:off x="320040" y="13514832"/>
            <a:ext cx="8503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866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Ejemplo editable de trazabilidad: capacidad de negocio → capacidades de interoperabilidad → plataformas/sistemas → consumidores</a:t>
            </a:r>
            <a:endParaRPr lang="en-US" sz="700" dirty="0"/>
          </a:p>
        </p:txBody>
      </p:sp>
      <p:sp>
        <p:nvSpPr>
          <p:cNvPr id="1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sz="1400" b="0"/>
              <a:t>1</a:t>
            </a:fld>
            <a:endParaRPr lang="en-US" sz="1400"/>
          </a:p>
        </p:txBody>
      </p:sp>
      <p:sp>
        <p:nvSpPr>
          <p:cNvPr id="172" name="Shape 8">
            <a:extLst>
              <a:ext uri="{FF2B5EF4-FFF2-40B4-BE49-F238E27FC236}">
                <a16:creationId xmlns:a16="http://schemas.microsoft.com/office/drawing/2014/main" id="{7C86016E-3607-DB05-E272-F865DF4FF1AC}"/>
              </a:ext>
            </a:extLst>
          </p:cNvPr>
          <p:cNvSpPr/>
          <p:nvPr/>
        </p:nvSpPr>
        <p:spPr>
          <a:xfrm>
            <a:off x="1463040" y="5749359"/>
            <a:ext cx="155448" cy="0"/>
          </a:xfrm>
          <a:prstGeom prst="line">
            <a:avLst/>
          </a:prstGeom>
          <a:noFill/>
          <a:ln w="12700">
            <a:solidFill>
              <a:srgbClr val="143865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00D9D2D2-78CA-4FC4-A05A-900323E4586A}"/>
</file>

<file path=customXml/itemProps2.xml><?xml version="1.0" encoding="utf-8"?>
<ds:datastoreItem xmlns:ds="http://schemas.openxmlformats.org/officeDocument/2006/customXml" ds:itemID="{DDB4698E-7B6A-4DEF-9FC0-FD6CB5F31006}"/>
</file>

<file path=customXml/itemProps3.xml><?xml version="1.0" encoding="utf-8"?>
<ds:datastoreItem xmlns:ds="http://schemas.openxmlformats.org/officeDocument/2006/customXml" ds:itemID="{29FE9C92-1338-48A4-A2A7-CCDDB67270E4}"/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503</Words>
  <Application>Microsoft Office PowerPoint</Application>
  <PresentationFormat>Custom</PresentationFormat>
  <Paragraphs>137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Contratacion de Deposito a Plazo - Trazabilidad de Interoperabilidad</dc:title>
  <dc:subject>Trazabilidad editable de capacidades de interoperabilidad para Contratacion de Deposito a Plazo</dc:subject>
  <dc:creator>OpenAI</dc:creator>
  <cp:lastModifiedBy>Pietrzyk, Lukasz</cp:lastModifiedBy>
  <cp:revision>2</cp:revision>
  <dcterms:created xsi:type="dcterms:W3CDTF">2026-08-05T14:29:20Z</dcterms:created>
  <dcterms:modified xsi:type="dcterms:W3CDTF">2026-08-05T16:52:24Z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