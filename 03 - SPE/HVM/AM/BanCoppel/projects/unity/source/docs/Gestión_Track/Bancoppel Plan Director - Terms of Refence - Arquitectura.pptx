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4" r:id="rId5"/>
  </p:sldMasterIdLst>
  <p:notesMasterIdLst>
    <p:notesMasterId r:id="rId12"/>
  </p:notesMasterIdLst>
  <p:sldIdLst>
    <p:sldId id="302" r:id="rId6"/>
    <p:sldId id="308" r:id="rId7"/>
    <p:sldId id="309" r:id="rId8"/>
    <p:sldId id="310" r:id="rId9"/>
    <p:sldId id="259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1EF508A-9677-489E-A412-50CAE7511AA6}">
          <p14:sldIdLst>
            <p14:sldId id="302"/>
          </p14:sldIdLst>
        </p14:section>
        <p14:section name="Arquitectura" id="{16B5CE96-0659-48D5-9A8E-0231511A6272}">
          <p14:sldIdLst>
            <p14:sldId id="308"/>
            <p14:sldId id="309"/>
            <p14:sldId id="310"/>
            <p14:sldId id="259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D4007A"/>
    <a:srgbClr val="E9EBF5"/>
    <a:srgbClr val="F2F2F2"/>
    <a:srgbClr val="CFD5EA"/>
    <a:srgbClr val="FFFFFF"/>
    <a:srgbClr val="F0D224"/>
    <a:srgbClr val="D4DEFF"/>
    <a:srgbClr val="99CCFF"/>
    <a:srgbClr val="C5E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0BE60B-0B98-4EED-9E07-6786326D1AE7}" v="1" dt="2026-07-22T13:37:19.649"/>
    <p1510:client id="{9EE57397-3F04-476C-8146-6B7120604A45}" v="4" dt="2026-07-22T01:26:17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35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Pichardo, Joaquín Ernesto" userId="c87ddcfd-47b6-4d33-88ec-183604329254" providerId="ADAL" clId="{FEED0C0E-EE09-4E8C-9317-9489866A5FB2}"/>
    <pc:docChg chg="undo custSel delSld modSld delMainMaster delSection modSection">
      <pc:chgData name="Antonio Pichardo, Joaquín Ernesto" userId="c87ddcfd-47b6-4d33-88ec-183604329254" providerId="ADAL" clId="{FEED0C0E-EE09-4E8C-9317-9489866A5FB2}" dt="2026-07-22T20:08:24.661" v="29" actId="13926"/>
      <pc:docMkLst>
        <pc:docMk/>
      </pc:docMkLst>
      <pc:sldChg chg="del">
        <pc:chgData name="Antonio Pichardo, Joaquín Ernesto" userId="c87ddcfd-47b6-4d33-88ec-183604329254" providerId="ADAL" clId="{FEED0C0E-EE09-4E8C-9317-9489866A5FB2}" dt="2026-07-22T01:35:05.816" v="0" actId="18676"/>
        <pc:sldMkLst>
          <pc:docMk/>
          <pc:sldMk cId="0" sldId="256"/>
        </pc:sldMkLst>
      </pc:sldChg>
      <pc:sldChg chg="del">
        <pc:chgData name="Antonio Pichardo, Joaquín Ernesto" userId="c87ddcfd-47b6-4d33-88ec-183604329254" providerId="ADAL" clId="{FEED0C0E-EE09-4E8C-9317-9489866A5FB2}" dt="2026-07-22T01:35:05.816" v="0" actId="18676"/>
        <pc:sldMkLst>
          <pc:docMk/>
          <pc:sldMk cId="0" sldId="257"/>
        </pc:sldMkLst>
      </pc:sldChg>
      <pc:sldChg chg="del">
        <pc:chgData name="Antonio Pichardo, Joaquín Ernesto" userId="c87ddcfd-47b6-4d33-88ec-183604329254" providerId="ADAL" clId="{FEED0C0E-EE09-4E8C-9317-9489866A5FB2}" dt="2026-07-22T01:35:05.816" v="0" actId="18676"/>
        <pc:sldMkLst>
          <pc:docMk/>
          <pc:sldMk cId="0" sldId="258"/>
        </pc:sldMkLst>
      </pc:sldChg>
      <pc:sldChg chg="modSp mod">
        <pc:chgData name="Antonio Pichardo, Joaquín Ernesto" userId="c87ddcfd-47b6-4d33-88ec-183604329254" providerId="ADAL" clId="{FEED0C0E-EE09-4E8C-9317-9489866A5FB2}" dt="2026-07-22T13:37:21.221" v="11" actId="108"/>
        <pc:sldMkLst>
          <pc:docMk/>
          <pc:sldMk cId="0" sldId="259"/>
        </pc:sldMkLst>
        <pc:graphicFrameChg chg="mod modGraphic">
          <ac:chgData name="Antonio Pichardo, Joaquín Ernesto" userId="c87ddcfd-47b6-4d33-88ec-183604329254" providerId="ADAL" clId="{FEED0C0E-EE09-4E8C-9317-9489866A5FB2}" dt="2026-07-22T13:37:21.221" v="11" actId="108"/>
          <ac:graphicFrameMkLst>
            <pc:docMk/>
            <pc:sldMk cId="0" sldId="259"/>
            <ac:graphicFrameMk id="380" creationId="{CF5CA2EA-0E10-EECD-6208-7B3A173854FC}"/>
          </ac:graphicFrameMkLst>
        </pc:graphicFrameChg>
      </pc:sldChg>
      <pc:sldChg chg="del">
        <pc:chgData name="Antonio Pichardo, Joaquín Ernesto" userId="c87ddcfd-47b6-4d33-88ec-183604329254" providerId="ADAL" clId="{FEED0C0E-EE09-4E8C-9317-9489866A5FB2}" dt="2026-07-22T01:35:15.898" v="2" actId="18676"/>
        <pc:sldMkLst>
          <pc:docMk/>
          <pc:sldMk cId="3616034649" sldId="265"/>
        </pc:sldMkLst>
      </pc:sldChg>
      <pc:sldChg chg="del">
        <pc:chgData name="Antonio Pichardo, Joaquín Ernesto" userId="c87ddcfd-47b6-4d33-88ec-183604329254" providerId="ADAL" clId="{FEED0C0E-EE09-4E8C-9317-9489866A5FB2}" dt="2026-07-22T01:35:12.843" v="1" actId="18676"/>
        <pc:sldMkLst>
          <pc:docMk/>
          <pc:sldMk cId="4108790198" sldId="267"/>
        </pc:sldMkLst>
      </pc:sldChg>
      <pc:sldChg chg="del">
        <pc:chgData name="Antonio Pichardo, Joaquín Ernesto" userId="c87ddcfd-47b6-4d33-88ec-183604329254" providerId="ADAL" clId="{FEED0C0E-EE09-4E8C-9317-9489866A5FB2}" dt="2026-07-22T01:35:05.816" v="0" actId="18676"/>
        <pc:sldMkLst>
          <pc:docMk/>
          <pc:sldMk cId="2652451111" sldId="305"/>
        </pc:sldMkLst>
      </pc:sldChg>
      <pc:sldChg chg="del">
        <pc:chgData name="Antonio Pichardo, Joaquín Ernesto" userId="c87ddcfd-47b6-4d33-88ec-183604329254" providerId="ADAL" clId="{FEED0C0E-EE09-4E8C-9317-9489866A5FB2}" dt="2026-07-22T01:35:05.816" v="0" actId="18676"/>
        <pc:sldMkLst>
          <pc:docMk/>
          <pc:sldMk cId="0" sldId="307"/>
        </pc:sldMkLst>
      </pc:sldChg>
      <pc:sldChg chg="modSp mod">
        <pc:chgData name="Antonio Pichardo, Joaquín Ernesto" userId="c87ddcfd-47b6-4d33-88ec-183604329254" providerId="ADAL" clId="{FEED0C0E-EE09-4E8C-9317-9489866A5FB2}" dt="2026-07-22T20:08:24.661" v="29" actId="13926"/>
        <pc:sldMkLst>
          <pc:docMk/>
          <pc:sldMk cId="0" sldId="309"/>
        </pc:sldMkLst>
        <pc:spChg chg="mod">
          <ac:chgData name="Antonio Pichardo, Joaquín Ernesto" userId="c87ddcfd-47b6-4d33-88ec-183604329254" providerId="ADAL" clId="{FEED0C0E-EE09-4E8C-9317-9489866A5FB2}" dt="2026-07-22T20:08:24.661" v="29" actId="13926"/>
          <ac:spMkLst>
            <pc:docMk/>
            <pc:sldMk cId="0" sldId="309"/>
            <ac:spMk id="15" creationId="{00000000-0000-0000-0000-000000000000}"/>
          </ac:spMkLst>
        </pc:spChg>
      </pc:sldChg>
      <pc:sldChg chg="del">
        <pc:chgData name="Antonio Pichardo, Joaquín Ernesto" userId="c87ddcfd-47b6-4d33-88ec-183604329254" providerId="ADAL" clId="{FEED0C0E-EE09-4E8C-9317-9489866A5FB2}" dt="2026-07-22T01:35:12.843" v="1" actId="18676"/>
        <pc:sldMkLst>
          <pc:docMk/>
          <pc:sldMk cId="0" sldId="311"/>
        </pc:sldMkLst>
      </pc:sldChg>
      <pc:sldChg chg="del">
        <pc:chgData name="Antonio Pichardo, Joaquín Ernesto" userId="c87ddcfd-47b6-4d33-88ec-183604329254" providerId="ADAL" clId="{FEED0C0E-EE09-4E8C-9317-9489866A5FB2}" dt="2026-07-22T01:35:12.843" v="1" actId="18676"/>
        <pc:sldMkLst>
          <pc:docMk/>
          <pc:sldMk cId="0" sldId="312"/>
        </pc:sldMkLst>
      </pc:sldChg>
      <pc:sldChg chg="del">
        <pc:chgData name="Antonio Pichardo, Joaquín Ernesto" userId="c87ddcfd-47b6-4d33-88ec-183604329254" providerId="ADAL" clId="{FEED0C0E-EE09-4E8C-9317-9489866A5FB2}" dt="2026-07-22T01:35:12.843" v="1" actId="18676"/>
        <pc:sldMkLst>
          <pc:docMk/>
          <pc:sldMk cId="0" sldId="313"/>
        </pc:sldMkLst>
      </pc:sldChg>
      <pc:sldChg chg="del">
        <pc:chgData name="Antonio Pichardo, Joaquín Ernesto" userId="c87ddcfd-47b6-4d33-88ec-183604329254" providerId="ADAL" clId="{FEED0C0E-EE09-4E8C-9317-9489866A5FB2}" dt="2026-07-22T01:35:05.816" v="0" actId="18676"/>
        <pc:sldMkLst>
          <pc:docMk/>
          <pc:sldMk cId="656839958" sldId="315"/>
        </pc:sldMkLst>
      </pc:sldChg>
      <pc:sldChg chg="del">
        <pc:chgData name="Antonio Pichardo, Joaquín Ernesto" userId="c87ddcfd-47b6-4d33-88ec-183604329254" providerId="ADAL" clId="{FEED0C0E-EE09-4E8C-9317-9489866A5FB2}" dt="2026-07-22T01:35:12.843" v="1" actId="18676"/>
        <pc:sldMkLst>
          <pc:docMk/>
          <pc:sldMk cId="4176735781" sldId="317"/>
        </pc:sldMkLst>
      </pc:sldChg>
      <pc:sldChg chg="del">
        <pc:chgData name="Antonio Pichardo, Joaquín Ernesto" userId="c87ddcfd-47b6-4d33-88ec-183604329254" providerId="ADAL" clId="{FEED0C0E-EE09-4E8C-9317-9489866A5FB2}" dt="2026-07-22T01:35:15.898" v="2" actId="18676"/>
        <pc:sldMkLst>
          <pc:docMk/>
          <pc:sldMk cId="0" sldId="318"/>
        </pc:sldMkLst>
      </pc:sldChg>
      <pc:sldChg chg="del">
        <pc:chgData name="Antonio Pichardo, Joaquín Ernesto" userId="c87ddcfd-47b6-4d33-88ec-183604329254" providerId="ADAL" clId="{FEED0C0E-EE09-4E8C-9317-9489866A5FB2}" dt="2026-07-22T01:35:15.898" v="2" actId="18676"/>
        <pc:sldMkLst>
          <pc:docMk/>
          <pc:sldMk cId="0" sldId="319"/>
        </pc:sldMkLst>
      </pc:sldChg>
      <pc:sldChg chg="del">
        <pc:chgData name="Antonio Pichardo, Joaquín Ernesto" userId="c87ddcfd-47b6-4d33-88ec-183604329254" providerId="ADAL" clId="{FEED0C0E-EE09-4E8C-9317-9489866A5FB2}" dt="2026-07-22T01:35:15.898" v="2" actId="18676"/>
        <pc:sldMkLst>
          <pc:docMk/>
          <pc:sldMk cId="0" sldId="320"/>
        </pc:sldMkLst>
      </pc:sldChg>
      <pc:sldChg chg="del">
        <pc:chgData name="Antonio Pichardo, Joaquín Ernesto" userId="c87ddcfd-47b6-4d33-88ec-183604329254" providerId="ADAL" clId="{FEED0C0E-EE09-4E8C-9317-9489866A5FB2}" dt="2026-07-22T01:35:12.843" v="1" actId="18676"/>
        <pc:sldMkLst>
          <pc:docMk/>
          <pc:sldMk cId="2054425460" sldId="321"/>
        </pc:sldMkLst>
      </pc:sldChg>
      <pc:sldChg chg="del">
        <pc:chgData name="Antonio Pichardo, Joaquín Ernesto" userId="c87ddcfd-47b6-4d33-88ec-183604329254" providerId="ADAL" clId="{FEED0C0E-EE09-4E8C-9317-9489866A5FB2}" dt="2026-07-22T01:35:12.843" v="1" actId="18676"/>
        <pc:sldMkLst>
          <pc:docMk/>
          <pc:sldMk cId="669622364" sldId="323"/>
        </pc:sldMkLst>
      </pc:sldChg>
      <pc:sldMasterChg chg="delSldLayout">
        <pc:chgData name="Antonio Pichardo, Joaquín Ernesto" userId="c87ddcfd-47b6-4d33-88ec-183604329254" providerId="ADAL" clId="{FEED0C0E-EE09-4E8C-9317-9489866A5FB2}" dt="2026-07-22T01:35:05.816" v="0" actId="18676"/>
        <pc:sldMasterMkLst>
          <pc:docMk/>
          <pc:sldMasterMk cId="3031042010" sldId="2147483664"/>
        </pc:sldMasterMkLst>
        <pc:sldLayoutChg chg="del">
          <pc:chgData name="Antonio Pichardo, Joaquín Ernesto" userId="c87ddcfd-47b6-4d33-88ec-183604329254" providerId="ADAL" clId="{FEED0C0E-EE09-4E8C-9317-9489866A5FB2}" dt="2026-07-22T01:35:05.816" v="0" actId="18676"/>
          <pc:sldLayoutMkLst>
            <pc:docMk/>
            <pc:sldMasterMk cId="3031042010" sldId="2147483664"/>
            <pc:sldLayoutMk cId="1886952722" sldId="2147483666"/>
          </pc:sldLayoutMkLst>
        </pc:sldLayoutChg>
      </pc:sldMasterChg>
      <pc:sldMasterChg chg="del delSldLayout">
        <pc:chgData name="Antonio Pichardo, Joaquín Ernesto" userId="c87ddcfd-47b6-4d33-88ec-183604329254" providerId="ADAL" clId="{FEED0C0E-EE09-4E8C-9317-9489866A5FB2}" dt="2026-07-22T01:35:12.843" v="1" actId="18676"/>
        <pc:sldMasterMkLst>
          <pc:docMk/>
          <pc:sldMasterMk cId="1714483661" sldId="2147483667"/>
        </pc:sldMasterMkLst>
        <pc:sldLayoutChg chg="del">
          <pc:chgData name="Antonio Pichardo, Joaquín Ernesto" userId="c87ddcfd-47b6-4d33-88ec-183604329254" providerId="ADAL" clId="{FEED0C0E-EE09-4E8C-9317-9489866A5FB2}" dt="2026-07-22T01:35:12.843" v="1" actId="18676"/>
          <pc:sldLayoutMkLst>
            <pc:docMk/>
            <pc:sldMasterMk cId="1714483661" sldId="2147483667"/>
            <pc:sldLayoutMk cId="1625366229" sldId="2147483668"/>
          </pc:sldLayoutMkLst>
        </pc:sldLayoutChg>
        <pc:sldLayoutChg chg="del">
          <pc:chgData name="Antonio Pichardo, Joaquín Ernesto" userId="c87ddcfd-47b6-4d33-88ec-183604329254" providerId="ADAL" clId="{FEED0C0E-EE09-4E8C-9317-9489866A5FB2}" dt="2026-07-22T01:35:12.843" v="1" actId="18676"/>
          <pc:sldLayoutMkLst>
            <pc:docMk/>
            <pc:sldMasterMk cId="1714483661" sldId="2147483667"/>
            <pc:sldLayoutMk cId="3956392007" sldId="2147483669"/>
          </pc:sldLayoutMkLst>
        </pc:sldLayoutChg>
        <pc:sldLayoutChg chg="del">
          <pc:chgData name="Antonio Pichardo, Joaquín Ernesto" userId="c87ddcfd-47b6-4d33-88ec-183604329254" providerId="ADAL" clId="{FEED0C0E-EE09-4E8C-9317-9489866A5FB2}" dt="2026-07-22T01:35:12.843" v="1" actId="18676"/>
          <pc:sldLayoutMkLst>
            <pc:docMk/>
            <pc:sldMasterMk cId="1714483661" sldId="2147483667"/>
            <pc:sldLayoutMk cId="373936300" sldId="2147483670"/>
          </pc:sldLayoutMkLst>
        </pc:sldLayoutChg>
        <pc:sldLayoutChg chg="del">
          <pc:chgData name="Antonio Pichardo, Joaquín Ernesto" userId="c87ddcfd-47b6-4d33-88ec-183604329254" providerId="ADAL" clId="{FEED0C0E-EE09-4E8C-9317-9489866A5FB2}" dt="2026-07-22T01:35:12.843" v="1" actId="18676"/>
          <pc:sldLayoutMkLst>
            <pc:docMk/>
            <pc:sldMasterMk cId="1714483661" sldId="2147483667"/>
            <pc:sldLayoutMk cId="3344402631" sldId="2147483671"/>
          </pc:sldLayoutMkLst>
        </pc:sldLayoutChg>
      </pc:sldMasterChg>
      <pc:sldMasterChg chg="del delSldLayout">
        <pc:chgData name="Antonio Pichardo, Joaquín Ernesto" userId="c87ddcfd-47b6-4d33-88ec-183604329254" providerId="ADAL" clId="{FEED0C0E-EE09-4E8C-9317-9489866A5FB2}" dt="2026-07-22T01:35:15.898" v="2" actId="18676"/>
        <pc:sldMasterMkLst>
          <pc:docMk/>
          <pc:sldMasterMk cId="4191200723" sldId="2147483672"/>
        </pc:sldMasterMkLst>
        <pc:sldLayoutChg chg="del">
          <pc:chgData name="Antonio Pichardo, Joaquín Ernesto" userId="c87ddcfd-47b6-4d33-88ec-183604329254" providerId="ADAL" clId="{FEED0C0E-EE09-4E8C-9317-9489866A5FB2}" dt="2026-07-22T01:35:15.898" v="2" actId="18676"/>
          <pc:sldLayoutMkLst>
            <pc:docMk/>
            <pc:sldMasterMk cId="4191200723" sldId="2147483672"/>
            <pc:sldLayoutMk cId="2996587172" sldId="2147483673"/>
          </pc:sldLayoutMkLst>
        </pc:sldLayoutChg>
        <pc:sldLayoutChg chg="del">
          <pc:chgData name="Antonio Pichardo, Joaquín Ernesto" userId="c87ddcfd-47b6-4d33-88ec-183604329254" providerId="ADAL" clId="{FEED0C0E-EE09-4E8C-9317-9489866A5FB2}" dt="2026-07-22T01:35:15.898" v="2" actId="18676"/>
          <pc:sldLayoutMkLst>
            <pc:docMk/>
            <pc:sldMasterMk cId="4191200723" sldId="2147483672"/>
            <pc:sldLayoutMk cId="1464356864" sldId="2147483674"/>
          </pc:sldLayoutMkLst>
        </pc:sldLayoutChg>
        <pc:sldLayoutChg chg="del">
          <pc:chgData name="Antonio Pichardo, Joaquín Ernesto" userId="c87ddcfd-47b6-4d33-88ec-183604329254" providerId="ADAL" clId="{FEED0C0E-EE09-4E8C-9317-9489866A5FB2}" dt="2026-07-22T01:35:15.898" v="2" actId="18676"/>
          <pc:sldLayoutMkLst>
            <pc:docMk/>
            <pc:sldMasterMk cId="4191200723" sldId="2147483672"/>
            <pc:sldLayoutMk cId="1585030196" sldId="2147483675"/>
          </pc:sldLayoutMkLst>
        </pc:sldLayoutChg>
        <pc:sldLayoutChg chg="del">
          <pc:chgData name="Antonio Pichardo, Joaquín Ernesto" userId="c87ddcfd-47b6-4d33-88ec-183604329254" providerId="ADAL" clId="{FEED0C0E-EE09-4E8C-9317-9489866A5FB2}" dt="2026-07-22T01:35:15.898" v="2" actId="18676"/>
          <pc:sldLayoutMkLst>
            <pc:docMk/>
            <pc:sldMasterMk cId="4191200723" sldId="2147483672"/>
            <pc:sldLayoutMk cId="1629685588" sldId="214748367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50472F-312E-4A82-A41F-1B260DC59553}" type="datetimeFigureOut">
              <a:rPr lang="es-MX" smtClean="0"/>
              <a:t>21/07/2026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118D75-A0EB-4718-969A-772AD7B277E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2637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45D3C-F161-8A8C-2467-756C635AB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013B3-37C2-B988-17C1-2FC6A2650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CF8026-0390-7692-62E8-280F2FCFA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5520B-C42D-B2D5-D3D9-19BF70E876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03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erson using a touch screen device&#10;&#10;AI-generated content may be incorrect.">
            <a:extLst>
              <a:ext uri="{FF2B5EF4-FFF2-40B4-BE49-F238E27FC236}">
                <a16:creationId xmlns:a16="http://schemas.microsoft.com/office/drawing/2014/main" id="{BAE2F574-6D9D-D170-7CC9-D5369BF9F7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5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B259214-9187-BC39-B7CE-21BF4286F559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 flip="none" rotWithShape="1">
            <a:gsLst>
              <a:gs pos="56000">
                <a:schemeClr val="bg1">
                  <a:alpha val="0"/>
                </a:schemeClr>
              </a:gs>
              <a:gs pos="99000">
                <a:schemeClr val="bg1">
                  <a:alpha val="50224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algn="ctr"/>
            <a:endParaRPr lang="en-MX" sz="1799" err="1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7524701-2790-4705-8FD4-F1B02CBB78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1090024" y="2737373"/>
            <a:ext cx="10027921" cy="1459477"/>
          </a:xfrm>
        </p:spPr>
        <p:txBody>
          <a:bodyPr anchor="b"/>
          <a:lstStyle>
            <a:lvl1pPr algn="l">
              <a:lnSpc>
                <a:spcPct val="90000"/>
              </a:lnSpc>
              <a:defRPr sz="4799" b="1">
                <a:solidFill>
                  <a:schemeClr val="tx1"/>
                </a:solidFill>
                <a:latin typeface="Graphik (Body)"/>
              </a:defRPr>
            </a:lvl1pPr>
          </a:lstStyle>
          <a:p>
            <a:r>
              <a:rPr lang="en-US"/>
              <a:t>Place title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2B04ECA-6F5D-4ABE-B739-A5A4917247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90024" y="4355303"/>
            <a:ext cx="10027921" cy="481496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1200"/>
              </a:spcAft>
              <a:buNone/>
              <a:defRPr sz="1999" b="0" i="0" spc="0">
                <a:solidFill>
                  <a:schemeClr val="tx1"/>
                </a:solidFill>
                <a:latin typeface="Graphik" panose="020B0503030202060203" pitchFamily="34" charset="0"/>
              </a:defRPr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pPr marL="0" lvl="0" indent="0" algn="l" defTabSz="91412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20pt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A0B5E4-5205-03DD-3E5C-7072165945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941" y="419615"/>
            <a:ext cx="2934341" cy="33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868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98CCB9B-96E8-04A3-7D20-5CE363AC85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0823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8CCB9B-96E8-04A3-7D20-5CE363AC85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B7CF7BC-FF1E-5B4B-9A83-BFEA75EC2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49" y="245794"/>
            <a:ext cx="11143252" cy="954708"/>
          </a:xfrm>
        </p:spPr>
        <p:txBody>
          <a:bodyPr vert="horz" anchor="ctr">
            <a:normAutofit/>
          </a:bodyPr>
          <a:lstStyle>
            <a:lvl1pPr>
              <a:defRPr sz="3199" b="1"/>
            </a:lvl1pPr>
          </a:lstStyle>
          <a:p>
            <a:r>
              <a:rPr lang="es-MX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D2119-EBE8-FD44-BEB1-EBA89E658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1001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3655263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617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Same Side Corner Rectangle 4">
            <a:extLst>
              <a:ext uri="{FF2B5EF4-FFF2-40B4-BE49-F238E27FC236}">
                <a16:creationId xmlns:a16="http://schemas.microsoft.com/office/drawing/2014/main" id="{EAFB520D-C066-8D1A-E67B-BDB98A0C7486}"/>
              </a:ext>
            </a:extLst>
          </p:cNvPr>
          <p:cNvSpPr/>
          <p:nvPr userDrawn="1"/>
        </p:nvSpPr>
        <p:spPr>
          <a:xfrm rot="16200000">
            <a:off x="9717391" y="4285642"/>
            <a:ext cx="352494" cy="45967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algn="ctr"/>
            <a:endParaRPr lang="en-MX" sz="1799" err="1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CE4BEC9-9890-3349-9E67-823D9343ABD2}"/>
              </a:ext>
            </a:extLst>
          </p:cNvPr>
          <p:cNvGraphicFramePr>
            <a:graphicFrameLocks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977923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4" progId="TCLayout.ActiveDocument.1">
                  <p:embed/>
                </p:oleObj>
              </mc:Choice>
              <mc:Fallback>
                <p:oleObj name="think-cell Slide" r:id="rId6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E4BEC9-9890-3349-9E67-823D9343AB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E722738-7C96-E8CF-04DC-3D2F9296DDD7}"/>
              </a:ext>
            </a:extLst>
          </p:cNvPr>
          <p:cNvSpPr txBox="1"/>
          <p:nvPr userDrawn="1"/>
        </p:nvSpPr>
        <p:spPr>
          <a:xfrm>
            <a:off x="7744022" y="6536348"/>
            <a:ext cx="3706394" cy="1293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5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2026 Accenture. All rights reserved. For internal use only</a:t>
            </a:r>
            <a:endParaRPr lang="en-US" sz="800" b="0" i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F41F2D-1C50-0F94-9101-DA1CBDA3D526}"/>
              </a:ext>
            </a:extLst>
          </p:cNvPr>
          <p:cNvSpPr/>
          <p:nvPr userDrawn="1"/>
        </p:nvSpPr>
        <p:spPr>
          <a:xfrm>
            <a:off x="11458506" y="6407759"/>
            <a:ext cx="352495" cy="3524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algn="ctr"/>
            <a:endParaRPr lang="en-MX" sz="1799" err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10547A-D4D8-E0AE-BA2C-9B1BBFB7EB0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37056" y="6437765"/>
            <a:ext cx="1969699" cy="227899"/>
          </a:xfrm>
          <a:prstGeom prst="rect">
            <a:avLst/>
          </a:prstGeom>
        </p:spPr>
      </p:pic>
      <p:sp>
        <p:nvSpPr>
          <p:cNvPr id="8" name="Round Same Side Corner Rectangle 7">
            <a:extLst>
              <a:ext uri="{FF2B5EF4-FFF2-40B4-BE49-F238E27FC236}">
                <a16:creationId xmlns:a16="http://schemas.microsoft.com/office/drawing/2014/main" id="{9C5277BC-A3BB-C054-BC04-1BAEC5D46FF6}"/>
              </a:ext>
            </a:extLst>
          </p:cNvPr>
          <p:cNvSpPr/>
          <p:nvPr userDrawn="1"/>
        </p:nvSpPr>
        <p:spPr>
          <a:xfrm rot="16200000">
            <a:off x="11752405" y="125600"/>
            <a:ext cx="381000" cy="498191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algn="ctr"/>
            <a:endParaRPr lang="en-MX" sz="1799" err="1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243CD3F4-7A2D-EAA7-4585-CFC2755F3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2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49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126" rtl="0" eaLnBrk="1" latinLnBrk="0" hangingPunct="1">
        <a:lnSpc>
          <a:spcPct val="80000"/>
        </a:lnSpc>
        <a:spcBef>
          <a:spcPct val="0"/>
        </a:spcBef>
        <a:buNone/>
        <a:defRPr sz="3599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22853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999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indent="-228531" algn="l" defTabSz="22853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1999" kern="1200">
          <a:solidFill>
            <a:schemeClr val="tx1"/>
          </a:solidFill>
          <a:latin typeface="+mn-lt"/>
          <a:ea typeface="+mn-ea"/>
          <a:cs typeface="+mn-cs"/>
        </a:defRPr>
      </a:lvl2pPr>
      <a:lvl3pPr marL="685594" indent="-228531" algn="l" defTabSz="22853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914126" indent="-228531" algn="l" defTabSz="22853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142657" indent="-228531" algn="l" defTabSz="22853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11110" indent="0" algn="l" defTabSz="228531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31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31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31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D8F32D0-EFA0-64E7-EF51-C128C626318E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697751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8F32D0-EFA0-64E7-EF51-C128C62631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1042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7A885-D988-C757-513F-B91DFE7D9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s-MX" sz="2400"/>
              <a:t>ACELERACIÓN PLAN DIRECTOR | WORKSTREAMS DE TRABAJO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84A19C4E-3069-57F3-99C6-EF51D46EB546}"/>
              </a:ext>
            </a:extLst>
          </p:cNvPr>
          <p:cNvSpPr/>
          <p:nvPr/>
        </p:nvSpPr>
        <p:spPr>
          <a:xfrm>
            <a:off x="9114855" y="1596054"/>
            <a:ext cx="2808000" cy="4104426"/>
          </a:xfrm>
          <a:prstGeom prst="homePlate">
            <a:avLst>
              <a:gd name="adj" fmla="val 0"/>
            </a:avLst>
          </a:prstGeom>
          <a:solidFill>
            <a:srgbClr val="F0D224"/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32" tIns="91416" rIns="91416" bIns="91416" numCol="1" rtlCol="0" anchor="t"/>
          <a:lstStyle/>
          <a:p>
            <a:pPr defTabSz="914126" fontAlgn="base">
              <a:spcBef>
                <a:spcPts val="200"/>
              </a:spcBef>
              <a:spcAft>
                <a:spcPts val="200"/>
              </a:spcAft>
              <a:defRPr/>
            </a:pPr>
            <a:r>
              <a:rPr lang="es-MX" sz="1400" b="1">
                <a:solidFill>
                  <a:srgbClr val="000000"/>
                </a:solidFill>
                <a:latin typeface="Graphik"/>
              </a:rPr>
              <a:t>Acompañamiento Técnico a la Entrega</a:t>
            </a:r>
          </a:p>
          <a:p>
            <a:pPr marL="91413" indent="-91413" defTabSz="914126" fontAlgn="base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s-ES" sz="1000" i="1">
                <a:solidFill>
                  <a:srgbClr val="000000"/>
                </a:solidFill>
                <a:latin typeface="Graphik Light"/>
              </a:rPr>
              <a:t>Fortalecimiento de metodologías y validación de planes y estrategias en alcance</a:t>
            </a:r>
          </a:p>
          <a:p>
            <a:pPr marL="91413" indent="-91413" defTabSz="914126" fontAlgn="base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s-ES" sz="1000" i="1">
                <a:solidFill>
                  <a:srgbClr val="000000"/>
                </a:solidFill>
                <a:latin typeface="Graphik Light"/>
              </a:rPr>
              <a:t>Equipo con cobertura E2E técnica para acompañamiento con foco en R4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9D72F808-B802-0C12-D495-3C607D6DB0F9}"/>
              </a:ext>
            </a:extLst>
          </p:cNvPr>
          <p:cNvSpPr/>
          <p:nvPr/>
        </p:nvSpPr>
        <p:spPr>
          <a:xfrm>
            <a:off x="6146578" y="1596055"/>
            <a:ext cx="2808000" cy="1494179"/>
          </a:xfrm>
          <a:prstGeom prst="chevron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0" rIns="91416" bIns="91416" numCol="1" rtlCol="0" anchor="ctr"/>
          <a:lstStyle/>
          <a:p>
            <a:pPr defTabSz="914126" fontAlgn="base">
              <a:defRPr/>
            </a:pPr>
            <a:r>
              <a:rPr lang="es-MX" sz="1400" b="1">
                <a:solidFill>
                  <a:srgbClr val="000000"/>
                </a:solidFill>
                <a:latin typeface="Graphik"/>
              </a:rPr>
              <a:t>Reingeniería de definiciones estratégicas de entrega</a:t>
            </a:r>
            <a:r>
              <a:rPr lang="es-MX" sz="1400" b="1" baseline="30000">
                <a:solidFill>
                  <a:srgbClr val="000000"/>
                </a:solidFill>
                <a:latin typeface="Graphik"/>
              </a:rPr>
              <a:t>1</a:t>
            </a:r>
            <a:r>
              <a:rPr lang="es-MX" sz="1400" b="1">
                <a:solidFill>
                  <a:srgbClr val="000000"/>
                </a:solidFill>
                <a:latin typeface="Graphik"/>
              </a:rPr>
              <a:t> </a:t>
            </a:r>
          </a:p>
          <a:p>
            <a:pPr marL="91413" indent="-91413" defTabSz="914126" fontAlgn="base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s-MX" sz="1000" i="1">
                <a:solidFill>
                  <a:srgbClr val="000000"/>
                </a:solidFill>
                <a:latin typeface="Graphik Light" panose="020B0403030202060203" pitchFamily="34" charset="0"/>
              </a:rPr>
              <a:t>Construcción de planes de trabajo para capacidades fundacionales de entrega</a:t>
            </a:r>
          </a:p>
          <a:p>
            <a:pPr marL="91413" indent="-91413" defTabSz="914126" fontAlgn="base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s-MX" sz="1000" i="1">
                <a:solidFill>
                  <a:srgbClr val="000000"/>
                </a:solidFill>
                <a:latin typeface="Graphik Light" panose="020B0403030202060203" pitchFamily="34" charset="0"/>
              </a:rPr>
              <a:t>Enfoque en remediación de hallazgos críticos y ajustes a plan necesarios de acuerdo a replanteamientos de UNITY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EC00DACE-7DCA-981C-A38D-A421F4692A6E}"/>
              </a:ext>
            </a:extLst>
          </p:cNvPr>
          <p:cNvSpPr/>
          <p:nvPr/>
        </p:nvSpPr>
        <p:spPr>
          <a:xfrm>
            <a:off x="210026" y="3994638"/>
            <a:ext cx="2808000" cy="1079489"/>
          </a:xfrm>
          <a:prstGeom prst="homePlat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32" tIns="91416" rIns="91416" bIns="91416" numCol="1" rtlCol="0" anchor="ctr"/>
          <a:lstStyle/>
          <a:p>
            <a:pPr defTabSz="914126" fontAlgn="base">
              <a:spcBef>
                <a:spcPts val="200"/>
              </a:spcBef>
              <a:spcAft>
                <a:spcPts val="200"/>
              </a:spcAft>
              <a:defRPr/>
            </a:pPr>
            <a:r>
              <a:rPr lang="es-ES" sz="1400" b="1">
                <a:solidFill>
                  <a:srgbClr val="000000"/>
                </a:solidFill>
                <a:latin typeface="Graphik"/>
              </a:rPr>
              <a:t>Complemento a la PM Office</a:t>
            </a:r>
          </a:p>
          <a:p>
            <a:pPr marL="91413" indent="-91413" defTabSz="914126" fontAlgn="base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s-ES" sz="1000" i="1">
                <a:solidFill>
                  <a:srgbClr val="000000"/>
                </a:solidFill>
                <a:latin typeface="Graphik Light"/>
              </a:rPr>
              <a:t>Construcción de un marco de gobierno UNITY con seguimiento a artefactos vivos de gestión, participación en foros definidos con seguimiento al plan consolidado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77B4E6C3-013E-783C-4693-EC199B6AEDB4}"/>
              </a:ext>
            </a:extLst>
          </p:cNvPr>
          <p:cNvSpPr/>
          <p:nvPr/>
        </p:nvSpPr>
        <p:spPr>
          <a:xfrm>
            <a:off x="210026" y="1596055"/>
            <a:ext cx="2808000" cy="1267215"/>
          </a:xfrm>
          <a:prstGeom prst="homePlat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91416" rIns="91416" bIns="91416" numCol="1" rtlCol="0" anchor="ctr"/>
          <a:lstStyle/>
          <a:p>
            <a:pPr defTabSz="914126" fontAlgn="base">
              <a:spcBef>
                <a:spcPts val="200"/>
              </a:spcBef>
              <a:spcAft>
                <a:spcPts val="200"/>
              </a:spcAft>
              <a:defRPr/>
            </a:pPr>
            <a:r>
              <a:rPr lang="es-MX" sz="1400" b="1">
                <a:solidFill>
                  <a:srgbClr val="000000"/>
                </a:solidFill>
                <a:latin typeface="Graphik"/>
              </a:rPr>
              <a:t>Fundaciones del Modelo Operativo y Gobierno</a:t>
            </a:r>
          </a:p>
          <a:p>
            <a:pPr marL="91413" indent="-91413" defTabSz="914126" fontAlgn="base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s-ES" sz="1000" i="1">
                <a:solidFill>
                  <a:srgbClr val="000000"/>
                </a:solidFill>
                <a:latin typeface="Graphik Light"/>
              </a:rPr>
              <a:t>Cierre de definiciones del Modelo Operativo Unity y de gobierno</a:t>
            </a:r>
          </a:p>
          <a:p>
            <a:pPr marL="91413" indent="-91413" defTabSz="914126" fontAlgn="base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s-ES" sz="1000" i="1">
                <a:solidFill>
                  <a:srgbClr val="000000"/>
                </a:solidFill>
                <a:latin typeface="Graphik Light"/>
              </a:rPr>
              <a:t>Apoyo en cierre de Estructura Organizacional de la Dir. de Transformación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13CFC51D-4B04-D4AB-782D-E9E0CDC452EB}"/>
              </a:ext>
            </a:extLst>
          </p:cNvPr>
          <p:cNvSpPr/>
          <p:nvPr/>
        </p:nvSpPr>
        <p:spPr>
          <a:xfrm>
            <a:off x="210026" y="2932340"/>
            <a:ext cx="2808000" cy="993226"/>
          </a:xfrm>
          <a:prstGeom prst="chevron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91416" rIns="91416" bIns="91416" numCol="1" rtlCol="0" anchor="ctr"/>
          <a:lstStyle/>
          <a:p>
            <a:pPr defTabSz="914126" fontAlgn="base">
              <a:defRPr/>
            </a:pPr>
            <a:r>
              <a:rPr lang="es-MX" sz="1400" b="1">
                <a:solidFill>
                  <a:srgbClr val="000000"/>
                </a:solidFill>
                <a:latin typeface="Graphik"/>
              </a:rPr>
              <a:t>Business Case UNITY</a:t>
            </a:r>
          </a:p>
          <a:p>
            <a:pPr marL="91413" indent="-91413" defTabSz="914126" fontAlgn="base">
              <a:buFont typeface="Arial" panose="020B0604020202020204" pitchFamily="34" charset="0"/>
              <a:buChar char="•"/>
              <a:defRPr/>
            </a:pPr>
            <a:r>
              <a:rPr lang="es-MX" sz="1000" i="1">
                <a:solidFill>
                  <a:srgbClr val="000000"/>
                </a:solidFill>
                <a:latin typeface="Graphik Light" panose="020B0403030202060203" pitchFamily="34" charset="0"/>
              </a:rPr>
              <a:t>Consolidación del Caso de Negocio con granularidad para monitorear </a:t>
            </a:r>
            <a:br>
              <a:rPr lang="es-MX" sz="1000" i="1">
                <a:solidFill>
                  <a:srgbClr val="000000"/>
                </a:solidFill>
                <a:latin typeface="Graphik Light" panose="020B0403030202060203" pitchFamily="34" charset="0"/>
              </a:rPr>
            </a:br>
            <a:r>
              <a:rPr lang="es-MX" sz="1000" i="1">
                <a:solidFill>
                  <a:srgbClr val="000000"/>
                </a:solidFill>
                <a:latin typeface="Graphik Light" panose="020B0403030202060203" pitchFamily="34" charset="0"/>
              </a:rPr>
              <a:t>el valor generado atado a los </a:t>
            </a:r>
            <a:r>
              <a:rPr lang="es-MX" sz="1000" i="1" err="1">
                <a:solidFill>
                  <a:srgbClr val="000000"/>
                </a:solidFill>
                <a:latin typeface="Graphik Light" panose="020B0403030202060203" pitchFamily="34" charset="0"/>
              </a:rPr>
              <a:t>releases</a:t>
            </a:r>
            <a:r>
              <a:rPr lang="es-MX" sz="1000" i="1">
                <a:solidFill>
                  <a:srgbClr val="000000"/>
                </a:solidFill>
                <a:latin typeface="Graphik Light" panose="020B0403030202060203" pitchFamily="34" charset="0"/>
              </a:rPr>
              <a:t> del roadmap y las proyecciones de costos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618B84D2-929F-AF01-18FC-CFA44E51C412}"/>
              </a:ext>
            </a:extLst>
          </p:cNvPr>
          <p:cNvSpPr/>
          <p:nvPr/>
        </p:nvSpPr>
        <p:spPr>
          <a:xfrm>
            <a:off x="6146578" y="3136654"/>
            <a:ext cx="2808000" cy="1168103"/>
          </a:xfrm>
          <a:prstGeom prst="chevron">
            <a:avLst>
              <a:gd name="adj" fmla="val 0"/>
            </a:avLst>
          </a:prstGeom>
          <a:solidFill>
            <a:srgbClr val="F9EDA7"/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91416" rIns="91416" bIns="91416" numCol="1" rtlCol="0" anchor="ctr"/>
          <a:lstStyle/>
          <a:p>
            <a:pPr defTabSz="914126" fontAlgn="base">
              <a:defRPr/>
            </a:pPr>
            <a:r>
              <a:rPr lang="es-MX" sz="1400" b="1">
                <a:solidFill>
                  <a:srgbClr val="000000"/>
                </a:solidFill>
                <a:latin typeface="Graphik"/>
              </a:rPr>
              <a:t>Roadmap Integrado </a:t>
            </a:r>
            <a:r>
              <a:rPr lang="es-MX" sz="1400" i="1">
                <a:solidFill>
                  <a:srgbClr val="000000"/>
                </a:solidFill>
                <a:latin typeface="Graphik"/>
              </a:rPr>
              <a:t>Refinación</a:t>
            </a:r>
            <a:endParaRPr lang="es-MX" sz="1400" b="1">
              <a:solidFill>
                <a:srgbClr val="000000"/>
              </a:solidFill>
              <a:latin typeface="Graphik"/>
            </a:endParaRPr>
          </a:p>
          <a:p>
            <a:pPr marL="91413" indent="-91413" defTabSz="914126" fontAlgn="base">
              <a:buFont typeface="Arial" panose="020B0604020202020204" pitchFamily="34" charset="0"/>
              <a:buChar char="•"/>
              <a:defRPr/>
            </a:pPr>
            <a:r>
              <a:rPr lang="es-MX" sz="1000" i="1">
                <a:solidFill>
                  <a:srgbClr val="000000"/>
                </a:solidFill>
                <a:latin typeface="Graphik Light" panose="020B0403030202060203" pitchFamily="34" charset="0"/>
              </a:rPr>
              <a:t>Estabilización y refinación del roadmap, validando dependencias </a:t>
            </a:r>
            <a:br>
              <a:rPr lang="es-MX" sz="1000" i="1">
                <a:solidFill>
                  <a:srgbClr val="000000"/>
                </a:solidFill>
                <a:latin typeface="Graphik Light" panose="020B0403030202060203" pitchFamily="34" charset="0"/>
              </a:rPr>
            </a:br>
            <a:r>
              <a:rPr lang="es-MX" sz="1000" i="1">
                <a:solidFill>
                  <a:srgbClr val="000000"/>
                </a:solidFill>
                <a:latin typeface="Graphik Light" panose="020B0403030202060203" pitchFamily="34" charset="0"/>
              </a:rPr>
              <a:t>y robusteciendo supuestos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B08A03-C467-2ACB-C915-36D5A2A1EEE9}"/>
              </a:ext>
            </a:extLst>
          </p:cNvPr>
          <p:cNvSpPr txBox="1"/>
          <p:nvPr/>
        </p:nvSpPr>
        <p:spPr>
          <a:xfrm>
            <a:off x="845203" y="988873"/>
            <a:ext cx="1908000" cy="461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126"/>
            <a:r>
              <a:rPr lang="es-MX" sz="1200" b="1">
                <a:solidFill>
                  <a:srgbClr val="000000"/>
                </a:solidFill>
                <a:latin typeface="Graphik"/>
              </a:rPr>
              <a:t>PM OFFICE y MODELO OPERATIVO</a:t>
            </a:r>
            <a:endParaRPr lang="es-MX" sz="1200">
              <a:solidFill>
                <a:srgbClr val="000000"/>
              </a:solidFill>
              <a:latin typeface="Graphik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FEB27DEA-F77B-88B4-9637-B3A90F721254}"/>
              </a:ext>
            </a:extLst>
          </p:cNvPr>
          <p:cNvSpPr/>
          <p:nvPr/>
        </p:nvSpPr>
        <p:spPr>
          <a:xfrm>
            <a:off x="3178302" y="1596054"/>
            <a:ext cx="2808000" cy="4104426"/>
          </a:xfrm>
          <a:prstGeom prst="chevron">
            <a:avLst>
              <a:gd name="adj" fmla="val 0"/>
            </a:avLst>
          </a:prstGeom>
          <a:solidFill>
            <a:schemeClr val="accent5">
              <a:lumMod val="60000"/>
              <a:lumOff val="4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91416" rIns="91416" bIns="91416" numCol="1" rtlCol="0" anchor="t"/>
          <a:lstStyle/>
          <a:p>
            <a:pPr defTabSz="914126" fontAlgn="base">
              <a:defRPr/>
            </a:pPr>
            <a:r>
              <a:rPr lang="es-MX" sz="1400" b="1">
                <a:solidFill>
                  <a:srgbClr val="000000"/>
                </a:solidFill>
                <a:latin typeface="Graphik"/>
              </a:rPr>
              <a:t>Análisis de Ecosistema existente y Arquitectura</a:t>
            </a:r>
          </a:p>
          <a:p>
            <a:pPr defTabSz="914126" fontAlgn="base">
              <a:defRPr/>
            </a:pPr>
            <a:endParaRPr lang="es-MX" sz="1400" b="1">
              <a:solidFill>
                <a:srgbClr val="000000"/>
              </a:solidFill>
              <a:latin typeface="Graphik"/>
            </a:endParaRPr>
          </a:p>
          <a:p>
            <a:pPr marL="91413" indent="-91413" defTabSz="914126" fontAlgn="base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s-MX" sz="1000" i="1">
                <a:solidFill>
                  <a:srgbClr val="000000"/>
                </a:solidFill>
                <a:latin typeface="Graphik Light" panose="020B0403030202060203" pitchFamily="34" charset="0"/>
              </a:rPr>
              <a:t>Análisis para mapeo de arquitectura legado e identificar decomisos,</a:t>
            </a:r>
            <a:br>
              <a:rPr lang="es-MX" sz="1000" i="1">
                <a:solidFill>
                  <a:srgbClr val="000000"/>
                </a:solidFill>
                <a:latin typeface="Graphik Light" panose="020B0403030202060203" pitchFamily="34" charset="0"/>
              </a:rPr>
            </a:br>
            <a:r>
              <a:rPr lang="es-MX" sz="1000" i="1">
                <a:solidFill>
                  <a:srgbClr val="000000"/>
                </a:solidFill>
                <a:latin typeface="Graphik Light" panose="020B0403030202060203" pitchFamily="34" charset="0"/>
              </a:rPr>
              <a:t> coexistencias entre legado-Unity, y vías para minimizar nuevos desarrollos</a:t>
            </a:r>
          </a:p>
          <a:p>
            <a:pPr marL="91413" indent="-91413" defTabSz="914126" fontAlgn="base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s-MX" sz="1000" i="1">
              <a:solidFill>
                <a:srgbClr val="000000"/>
              </a:solidFill>
              <a:latin typeface="Graphik Light" panose="020B0403030202060203" pitchFamily="34" charset="0"/>
            </a:endParaRPr>
          </a:p>
          <a:p>
            <a:pPr marL="91413" indent="-91413" defTabSz="914126" fontAlgn="base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s-MX" sz="1000" i="1">
                <a:solidFill>
                  <a:srgbClr val="000000"/>
                </a:solidFill>
                <a:latin typeface="Graphik Light" panose="020B0403030202060203" pitchFamily="34" charset="0"/>
              </a:rPr>
              <a:t>Definición de estrategia de interoperabilidad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D849DA-398A-94FE-C852-E0E08431124C}"/>
              </a:ext>
            </a:extLst>
          </p:cNvPr>
          <p:cNvSpPr txBox="1"/>
          <p:nvPr/>
        </p:nvSpPr>
        <p:spPr>
          <a:xfrm>
            <a:off x="3872771" y="988873"/>
            <a:ext cx="1908000" cy="27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126"/>
            <a:r>
              <a:rPr lang="es-MX" sz="1200" b="1">
                <a:solidFill>
                  <a:srgbClr val="000000"/>
                </a:solidFill>
                <a:latin typeface="Graphik"/>
              </a:rPr>
              <a:t>ARQUITECTURA</a:t>
            </a:r>
            <a:endParaRPr lang="es-MX" sz="1200">
              <a:solidFill>
                <a:srgbClr val="000000"/>
              </a:solidFill>
              <a:latin typeface="Graphik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CF0177-94D8-1D74-20D7-814C94E60659}"/>
              </a:ext>
            </a:extLst>
          </p:cNvPr>
          <p:cNvSpPr txBox="1"/>
          <p:nvPr/>
        </p:nvSpPr>
        <p:spPr>
          <a:xfrm>
            <a:off x="6900339" y="988873"/>
            <a:ext cx="1908000" cy="461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126"/>
            <a:r>
              <a:rPr lang="es-MX" sz="1200" b="1">
                <a:solidFill>
                  <a:srgbClr val="000000"/>
                </a:solidFill>
                <a:latin typeface="Graphik"/>
              </a:rPr>
              <a:t>ENTREGA TÉCNICA UNITY INTEGRAL</a:t>
            </a:r>
            <a:endParaRPr lang="es-MX" sz="1200">
              <a:solidFill>
                <a:srgbClr val="000000"/>
              </a:solidFill>
              <a:latin typeface="Graphik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B971AD-C508-4F0E-D28E-3E4F9145818F}"/>
              </a:ext>
            </a:extLst>
          </p:cNvPr>
          <p:cNvSpPr txBox="1"/>
          <p:nvPr/>
        </p:nvSpPr>
        <p:spPr>
          <a:xfrm>
            <a:off x="9927908" y="988873"/>
            <a:ext cx="190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126"/>
            <a:r>
              <a:rPr lang="es-MX" sz="1200" b="1">
                <a:solidFill>
                  <a:srgbClr val="000000"/>
                </a:solidFill>
                <a:latin typeface="Graphik"/>
              </a:rPr>
              <a:t>ASEGURAMIENTO Y RIESGOS R4 (ESTABILIZACIÓN R3)</a:t>
            </a:r>
            <a:endParaRPr lang="es-MX" sz="1200">
              <a:solidFill>
                <a:srgbClr val="000000"/>
              </a:solidFill>
              <a:latin typeface="Graphik"/>
            </a:endParaRP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01BF0B18-5D02-B88E-44DC-82D1407F8E8E}"/>
              </a:ext>
            </a:extLst>
          </p:cNvPr>
          <p:cNvSpPr/>
          <p:nvPr/>
        </p:nvSpPr>
        <p:spPr>
          <a:xfrm>
            <a:off x="6146578" y="4351176"/>
            <a:ext cx="2808000" cy="1362783"/>
          </a:xfrm>
          <a:prstGeom prst="chevron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0" rIns="91416" bIns="91416" numCol="1" rtlCol="0" anchor="ctr"/>
          <a:lstStyle/>
          <a:p>
            <a:pPr defTabSz="914126" fontAlgn="base">
              <a:lnSpc>
                <a:spcPct val="90000"/>
              </a:lnSpc>
              <a:defRPr/>
            </a:pPr>
            <a:endParaRPr lang="es-MX" sz="1400" b="1">
              <a:solidFill>
                <a:srgbClr val="000000"/>
              </a:solidFill>
              <a:latin typeface="Graphik"/>
            </a:endParaRPr>
          </a:p>
          <a:p>
            <a:pPr defTabSz="914126" fontAlgn="base">
              <a:lnSpc>
                <a:spcPct val="90000"/>
              </a:lnSpc>
              <a:defRPr/>
            </a:pPr>
            <a:r>
              <a:rPr lang="es-MX" sz="1400" b="1">
                <a:solidFill>
                  <a:srgbClr val="000000"/>
                </a:solidFill>
                <a:latin typeface="Graphik"/>
              </a:rPr>
              <a:t>Visión integral del programa</a:t>
            </a:r>
            <a:br>
              <a:rPr lang="es-MX" sz="1400" b="1">
                <a:solidFill>
                  <a:srgbClr val="000000"/>
                </a:solidFill>
                <a:latin typeface="Graphik"/>
              </a:rPr>
            </a:br>
            <a:endParaRPr lang="es-MX" sz="1400" b="1">
              <a:solidFill>
                <a:srgbClr val="000000"/>
              </a:solidFill>
              <a:latin typeface="Graphik"/>
            </a:endParaRPr>
          </a:p>
          <a:p>
            <a:pPr marL="91413" indent="-91413" defTabSz="914126" fontAlgn="base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s-MX" sz="1000" i="1">
                <a:solidFill>
                  <a:srgbClr val="000000"/>
                </a:solidFill>
                <a:latin typeface="Graphik Light" panose="020B0403030202060203" pitchFamily="34" charset="0"/>
              </a:rPr>
              <a:t>Identificación de dependencias, alcances y riesgos, para ser integrados en el RAID </a:t>
            </a:r>
          </a:p>
          <a:p>
            <a:pPr marL="91413" indent="-91413" defTabSz="914126" fontAlgn="base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s-MX" sz="1000" i="1">
                <a:solidFill>
                  <a:srgbClr val="000000"/>
                </a:solidFill>
                <a:latin typeface="Graphik Light" panose="020B0403030202060203" pitchFamily="34" charset="0"/>
              </a:rPr>
              <a:t>Identificación de criterios de aceptación para gestionar en repositorio central</a:t>
            </a:r>
          </a:p>
          <a:p>
            <a:pPr marL="91413" indent="-91413" defTabSz="914126" fontAlgn="base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s-MX" sz="1000" i="1">
              <a:solidFill>
                <a:srgbClr val="000000"/>
              </a:solidFill>
              <a:latin typeface="Graphik Light" panose="020B0403030202060203" pitchFamily="34" charset="0"/>
            </a:endParaRPr>
          </a:p>
          <a:p>
            <a:pPr defTabSz="914126" fontAlgn="base">
              <a:defRPr/>
            </a:pPr>
            <a:endParaRPr lang="es-MX" sz="1000">
              <a:solidFill>
                <a:srgbClr val="000000"/>
              </a:solidFill>
              <a:latin typeface="Graphik Light" panose="020B0403030202060203" pitchFamily="34" charset="0"/>
            </a:endParaRP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D340A24D-B18B-8B7C-3C5F-D0CCD7548386}"/>
              </a:ext>
            </a:extLst>
          </p:cNvPr>
          <p:cNvSpPr/>
          <p:nvPr/>
        </p:nvSpPr>
        <p:spPr>
          <a:xfrm>
            <a:off x="210026" y="5143199"/>
            <a:ext cx="2808000" cy="557281"/>
          </a:xfrm>
          <a:prstGeom prst="chevron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91416" rIns="91416" bIns="91416" numCol="1" rtlCol="0" anchor="ctr"/>
          <a:lstStyle/>
          <a:p>
            <a:pPr defTabSz="914126" fontAlgn="base">
              <a:defRPr/>
            </a:pPr>
            <a:r>
              <a:rPr lang="es-MX" sz="1400" b="1" err="1">
                <a:solidFill>
                  <a:srgbClr val="000000"/>
                </a:solidFill>
                <a:latin typeface="Graphik"/>
              </a:rPr>
              <a:t>Readiness</a:t>
            </a:r>
            <a:r>
              <a:rPr lang="es-MX" sz="1400" b="1">
                <a:solidFill>
                  <a:srgbClr val="000000"/>
                </a:solidFill>
                <a:latin typeface="Graphik"/>
              </a:rPr>
              <a:t> de negocio</a:t>
            </a:r>
          </a:p>
          <a:p>
            <a:pPr marL="91413" indent="-91413" defTabSz="914126" fontAlgn="base">
              <a:buFont typeface="Arial" panose="020B0604020202020204" pitchFamily="34" charset="0"/>
              <a:buChar char="•"/>
              <a:defRPr/>
            </a:pPr>
            <a:r>
              <a:rPr lang="es-MX" sz="1000" i="1" err="1">
                <a:solidFill>
                  <a:srgbClr val="000000"/>
                </a:solidFill>
                <a:latin typeface="Graphik Light" panose="020B0403030202060203" pitchFamily="34" charset="0"/>
              </a:rPr>
              <a:t>Assessment</a:t>
            </a:r>
            <a:r>
              <a:rPr lang="es-MX" sz="1000" i="1">
                <a:solidFill>
                  <a:srgbClr val="000000"/>
                </a:solidFill>
                <a:latin typeface="Graphik Light" panose="020B0403030202060203" pitchFamily="34" charset="0"/>
              </a:rPr>
              <a:t> de como el negocio anticipa las entregas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C078B38-3592-7643-05BB-85028DCA13BC}"/>
              </a:ext>
            </a:extLst>
          </p:cNvPr>
          <p:cNvSpPr/>
          <p:nvPr/>
        </p:nvSpPr>
        <p:spPr>
          <a:xfrm>
            <a:off x="210027" y="1018679"/>
            <a:ext cx="467183" cy="4019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91416" rIns="91416" bIns="91416" numCol="1" rtlCol="0" anchor="ctr"/>
          <a:lstStyle/>
          <a:p>
            <a:pPr algn="ctr" defTabSz="914126" fontAlgn="base">
              <a:spcBef>
                <a:spcPts val="200"/>
              </a:spcBef>
              <a:spcAft>
                <a:spcPts val="200"/>
              </a:spcAft>
              <a:defRPr/>
            </a:pPr>
            <a:r>
              <a:rPr lang="es-MX" sz="1400" b="1">
                <a:solidFill>
                  <a:srgbClr val="000000"/>
                </a:solidFill>
                <a:latin typeface="Graphik"/>
              </a:rPr>
              <a:t>A</a:t>
            </a:r>
            <a:endParaRPr lang="es-ES" sz="1000" i="1">
              <a:solidFill>
                <a:srgbClr val="000000"/>
              </a:solidFill>
              <a:latin typeface="Graphik Light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4B5050C-F614-1C26-9951-2D8674AA27B6}"/>
              </a:ext>
            </a:extLst>
          </p:cNvPr>
          <p:cNvSpPr/>
          <p:nvPr/>
        </p:nvSpPr>
        <p:spPr>
          <a:xfrm>
            <a:off x="3185242" y="1018679"/>
            <a:ext cx="467183" cy="401930"/>
          </a:xfrm>
          <a:prstGeom prst="roundRect">
            <a:avLst/>
          </a:prstGeom>
          <a:solidFill>
            <a:schemeClr val="accent5"/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91416" rIns="91416" bIns="91416" numCol="1" rtlCol="0" anchor="ctr"/>
          <a:lstStyle/>
          <a:p>
            <a:pPr algn="ctr" defTabSz="914126" fontAlgn="base">
              <a:spcBef>
                <a:spcPts val="200"/>
              </a:spcBef>
              <a:spcAft>
                <a:spcPts val="200"/>
              </a:spcAft>
              <a:defRPr/>
            </a:pPr>
            <a:r>
              <a:rPr lang="es-MX" sz="1400" b="1">
                <a:solidFill>
                  <a:srgbClr val="000000"/>
                </a:solidFill>
                <a:latin typeface="Graphik"/>
              </a:rPr>
              <a:t>B</a:t>
            </a:r>
            <a:endParaRPr lang="es-ES" sz="1000" i="1">
              <a:solidFill>
                <a:srgbClr val="000000"/>
              </a:solidFill>
              <a:latin typeface="Graphik Light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C52EE72-9BC4-71A3-FDC8-C33EBED15C25}"/>
              </a:ext>
            </a:extLst>
          </p:cNvPr>
          <p:cNvSpPr/>
          <p:nvPr/>
        </p:nvSpPr>
        <p:spPr>
          <a:xfrm>
            <a:off x="6160457" y="1018679"/>
            <a:ext cx="467183" cy="40193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91416" rIns="91416" bIns="91416" numCol="1" rtlCol="0" anchor="ctr"/>
          <a:lstStyle/>
          <a:p>
            <a:pPr algn="ctr" defTabSz="914126" fontAlgn="base">
              <a:spcBef>
                <a:spcPts val="200"/>
              </a:spcBef>
              <a:spcAft>
                <a:spcPts val="200"/>
              </a:spcAft>
              <a:defRPr/>
            </a:pPr>
            <a:r>
              <a:rPr lang="es-MX" sz="1400" b="1">
                <a:solidFill>
                  <a:srgbClr val="000000"/>
                </a:solidFill>
                <a:latin typeface="Graphik"/>
              </a:rPr>
              <a:t>C</a:t>
            </a:r>
            <a:endParaRPr lang="es-ES" sz="1000" i="1">
              <a:solidFill>
                <a:srgbClr val="000000"/>
              </a:solidFill>
              <a:latin typeface="Graphik Light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0D23EC4-D1C8-625A-C61C-8BA6EB6E3358}"/>
              </a:ext>
            </a:extLst>
          </p:cNvPr>
          <p:cNvSpPr/>
          <p:nvPr/>
        </p:nvSpPr>
        <p:spPr>
          <a:xfrm>
            <a:off x="9135671" y="1018679"/>
            <a:ext cx="467183" cy="401930"/>
          </a:xfrm>
          <a:prstGeom prst="roundRect">
            <a:avLst/>
          </a:prstGeom>
          <a:solidFill>
            <a:srgbClr val="F0D224"/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91416" rIns="91416" bIns="91416" numCol="1" rtlCol="0" anchor="ctr"/>
          <a:lstStyle/>
          <a:p>
            <a:pPr algn="ctr" defTabSz="914126" fontAlgn="base">
              <a:spcBef>
                <a:spcPts val="200"/>
              </a:spcBef>
              <a:spcAft>
                <a:spcPts val="200"/>
              </a:spcAft>
              <a:defRPr/>
            </a:pPr>
            <a:r>
              <a:rPr lang="es-MX" sz="1400" b="1">
                <a:solidFill>
                  <a:srgbClr val="000000"/>
                </a:solidFill>
                <a:latin typeface="Graphik"/>
              </a:rPr>
              <a:t>D</a:t>
            </a:r>
            <a:endParaRPr lang="es-ES" sz="1000">
              <a:solidFill>
                <a:srgbClr val="000000"/>
              </a:solidFill>
              <a:latin typeface="Graphik Ligh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9DC8C5-AE5F-BA3C-3176-34E0A686CE1E}"/>
              </a:ext>
            </a:extLst>
          </p:cNvPr>
          <p:cNvSpPr/>
          <p:nvPr/>
        </p:nvSpPr>
        <p:spPr>
          <a:xfrm>
            <a:off x="210026" y="5769551"/>
            <a:ext cx="2808000" cy="3838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algn="ctr" defTabSz="914126"/>
            <a:r>
              <a:rPr lang="es-MX" sz="1000" i="1">
                <a:solidFill>
                  <a:srgbClr val="000000"/>
                </a:solidFill>
                <a:latin typeface="Graphik"/>
              </a:rPr>
              <a:t>Tere Gonzalez, Rodrigo Kennedy, Pablo Madinaveitia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F72EA8-B014-FC4D-B6C1-0A428A22FD5E}"/>
              </a:ext>
            </a:extLst>
          </p:cNvPr>
          <p:cNvSpPr/>
          <p:nvPr/>
        </p:nvSpPr>
        <p:spPr>
          <a:xfrm>
            <a:off x="3178302" y="5769551"/>
            <a:ext cx="2808000" cy="3838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algn="ctr" defTabSz="914126"/>
            <a:r>
              <a:rPr lang="es-MX" sz="1000" i="1">
                <a:solidFill>
                  <a:srgbClr val="000000"/>
                </a:solidFill>
                <a:latin typeface="Graphik"/>
              </a:rPr>
              <a:t>Edgar Mejia, Arturo Pérez, </a:t>
            </a:r>
          </a:p>
          <a:p>
            <a:pPr algn="ctr" defTabSz="914126"/>
            <a:r>
              <a:rPr lang="es-MX" sz="1000" i="1">
                <a:solidFill>
                  <a:srgbClr val="000000"/>
                </a:solidFill>
                <a:latin typeface="Graphik"/>
              </a:rPr>
              <a:t>Arcadio Delgado (confirmar)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C0FEEE-92F3-63B5-6F44-CD4803E28E0E}"/>
              </a:ext>
            </a:extLst>
          </p:cNvPr>
          <p:cNvSpPr/>
          <p:nvPr/>
        </p:nvSpPr>
        <p:spPr>
          <a:xfrm>
            <a:off x="6146578" y="5769551"/>
            <a:ext cx="2808000" cy="3838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algn="ctr" defTabSz="914126"/>
            <a:r>
              <a:rPr lang="es-MX" sz="1000" i="1">
                <a:solidFill>
                  <a:srgbClr val="000000"/>
                </a:solidFill>
                <a:latin typeface="Graphik"/>
              </a:rPr>
              <a:t>Pablo </a:t>
            </a:r>
            <a:r>
              <a:rPr lang="es-MX" sz="1000" i="1" err="1">
                <a:solidFill>
                  <a:srgbClr val="000000"/>
                </a:solidFill>
                <a:latin typeface="Graphik"/>
              </a:rPr>
              <a:t>Madinavieita</a:t>
            </a:r>
            <a:r>
              <a:rPr lang="es-MX" sz="1000" i="1">
                <a:solidFill>
                  <a:srgbClr val="000000"/>
                </a:solidFill>
                <a:latin typeface="Graphik"/>
              </a:rPr>
              <a:t>, Christian Zazueta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25763D-4AE6-AD49-E0BE-83B5BA7742EA}"/>
              </a:ext>
            </a:extLst>
          </p:cNvPr>
          <p:cNvSpPr/>
          <p:nvPr/>
        </p:nvSpPr>
        <p:spPr>
          <a:xfrm>
            <a:off x="9114855" y="5769551"/>
            <a:ext cx="2808000" cy="3838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algn="ctr" defTabSz="914126"/>
            <a:r>
              <a:rPr lang="es-MX" sz="1000" i="1">
                <a:solidFill>
                  <a:srgbClr val="000000"/>
                </a:solidFill>
                <a:latin typeface="Graphik"/>
              </a:rPr>
              <a:t>Fernanda Barbosa</a:t>
            </a:r>
          </a:p>
        </p:txBody>
      </p:sp>
    </p:spTree>
    <p:extLst>
      <p:ext uri="{BB962C8B-B14F-4D97-AF65-F5344CB8AC3E}">
        <p14:creationId xmlns:p14="http://schemas.microsoft.com/office/powerpoint/2010/main" val="2731081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8" y="0"/>
            <a:ext cx="4846320" cy="6858000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821372" y="4754880"/>
            <a:ext cx="4023360" cy="4023360"/>
          </a:xfrm>
          <a:prstGeom prst="ellipse">
            <a:avLst/>
          </a:prstGeom>
          <a:solidFill>
            <a:srgbClr val="081754"/>
          </a:solidFill>
          <a:ln w="12700">
            <a:solidFill>
              <a:srgbClr val="081754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607628" y="-1097280"/>
            <a:ext cx="2834640" cy="2834640"/>
          </a:xfrm>
          <a:prstGeom prst="ellipse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38180" y="0"/>
            <a:ext cx="109728" cy="6858000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3068" y="2560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>
                <a:solidFill>
                  <a:srgbClr val="F0D224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&gt;</a:t>
            </a: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89140" y="274320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Accenture</a:t>
            </a:r>
            <a:endParaRPr lang="en-US" sz="17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3068" y="969264"/>
            <a:ext cx="4114800" cy="0"/>
          </a:xfrm>
          <a:prstGeom prst="line">
            <a:avLst/>
          </a:prstGeom>
          <a:noFill/>
          <a:ln w="10160">
            <a:solidFill>
              <a:srgbClr val="D2D9FA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3068" y="10789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kern="0" spc="250">
                <a:solidFill>
                  <a:srgbClr val="D2D9FA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PROGRAMME DOCUMENT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3068" y="146304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20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Unity</a:t>
            </a:r>
            <a:endParaRPr lang="en-US" sz="5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3068" y="2432304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>
                <a:solidFill>
                  <a:srgbClr val="D2D9FA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Programme</a:t>
            </a: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3068" y="320040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Terms of Reference</a:t>
            </a: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3068" y="3785616"/>
            <a:ext cx="4251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>
                <a:solidFill>
                  <a:srgbClr val="D2D9FA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Accenture Delivery  ·  BanCoppel</a:t>
            </a:r>
            <a:endParaRPr lang="en-US" sz="11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3068" y="4206240"/>
            <a:ext cx="4114800" cy="0"/>
          </a:xfrm>
          <a:prstGeom prst="line">
            <a:avLst/>
          </a:prstGeom>
          <a:noFill/>
          <a:ln w="10160">
            <a:solidFill>
              <a:srgbClr val="D2D9FA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3068" y="4315968"/>
            <a:ext cx="4251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>
                <a:solidFill>
                  <a:srgbClr val="D2D9FA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Version: v0.1   |   Date: 09 JUL 2026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3068" y="4791456"/>
            <a:ext cx="1920240" cy="34747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3068" y="47914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kern="0" spc="20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CONFIDENTIAL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31956" y="438912"/>
            <a:ext cx="6656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200">
                <a:solidFill>
                  <a:srgbClr val="05287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WORKSTREAM DETAILS</a:t>
            </a:r>
            <a:endParaRPr lang="en-US" sz="11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231956" y="731520"/>
            <a:ext cx="6656832" cy="0"/>
          </a:xfrm>
          <a:prstGeom prst="line">
            <a:avLst/>
          </a:prstGeom>
          <a:noFill/>
          <a:ln w="1524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231956" y="786384"/>
            <a:ext cx="1691640" cy="438912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323396" y="786384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ExCo Lead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941884" y="786384"/>
            <a:ext cx="5065776" cy="438912"/>
          </a:xfrm>
          <a:prstGeom prst="rect">
            <a:avLst/>
          </a:prstGeom>
          <a:solidFill>
            <a:srgbClr val="EEF4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42468" y="786384"/>
            <a:ext cx="4901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>
                <a:solidFill>
                  <a:srgbClr val="99AABB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Salomon Monroy</a:t>
            </a:r>
            <a:endParaRPr lang="en-US" sz="1050">
              <a:solidFill>
                <a:prstClr val="black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231956" y="1261872"/>
            <a:ext cx="1691640" cy="438912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323396" y="1261872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Programme Lead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941884" y="1261872"/>
            <a:ext cx="506577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42468" y="1261872"/>
            <a:ext cx="4901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>
                <a:solidFill>
                  <a:srgbClr val="99AABB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Rui </a:t>
            </a:r>
            <a:r>
              <a:rPr lang="en-US" sz="1050" i="1" err="1">
                <a:solidFill>
                  <a:srgbClr val="99AABB"/>
                </a:solidFill>
                <a:latin typeface="Graphik" pitchFamily="34" charset="0"/>
              </a:rPr>
              <a:t>Vieiria</a:t>
            </a:r>
            <a:r>
              <a:rPr lang="en-US" sz="1050" i="1">
                <a:solidFill>
                  <a:srgbClr val="99AABB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 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231956" y="1737360"/>
            <a:ext cx="1691640" cy="438912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323396" y="173736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Workstream Lead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941884" y="1737360"/>
            <a:ext cx="5065776" cy="438912"/>
          </a:xfrm>
          <a:prstGeom prst="rect">
            <a:avLst/>
          </a:prstGeom>
          <a:solidFill>
            <a:srgbClr val="EEF4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042468" y="1737360"/>
            <a:ext cx="4901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>
                <a:solidFill>
                  <a:srgbClr val="99AABB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Joaquin Antonio Pichardo (Accenture)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231956" y="2212848"/>
            <a:ext cx="1691640" cy="438912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23396" y="2212848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End Date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941884" y="2212848"/>
            <a:ext cx="506577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042468" y="2212848"/>
            <a:ext cx="4901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>
                <a:solidFill>
                  <a:srgbClr val="99AABB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11 / 09 / 2026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231956" y="2688336"/>
            <a:ext cx="1691640" cy="438912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323396" y="2688336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Budget (Mandays)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941884" y="2688336"/>
            <a:ext cx="5065776" cy="438912"/>
          </a:xfrm>
          <a:prstGeom prst="rect">
            <a:avLst/>
          </a:prstGeom>
          <a:solidFill>
            <a:srgbClr val="EEF4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42468" y="2688336"/>
            <a:ext cx="4901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>
                <a:solidFill>
                  <a:srgbClr val="99AABB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N/A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231956" y="3163824"/>
            <a:ext cx="6656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200">
                <a:solidFill>
                  <a:srgbClr val="05287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BUSINESS IMPACT</a:t>
            </a:r>
            <a:endParaRPr lang="en-US" sz="11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231956" y="3438144"/>
            <a:ext cx="3959352" cy="0"/>
          </a:xfrm>
          <a:prstGeom prst="line">
            <a:avLst/>
          </a:prstGeom>
          <a:noFill/>
          <a:ln w="1524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231956" y="3474720"/>
            <a:ext cx="1307592" cy="347472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268532" y="3474720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err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Arquitectura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231956" y="3840480"/>
            <a:ext cx="1307592" cy="347472"/>
          </a:xfrm>
          <a:prstGeom prst="rect">
            <a:avLst/>
          </a:prstGeom>
          <a:solidFill>
            <a:srgbClr val="EEF4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268532" y="3840480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>
                <a:solidFill>
                  <a:srgbClr val="99AABB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[ ]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557836" y="3474720"/>
            <a:ext cx="1307592" cy="347472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594412" y="3474720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IT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557836" y="3840480"/>
            <a:ext cx="13075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594412" y="3840480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>
                <a:solidFill>
                  <a:srgbClr val="99AABB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[ ]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883716" y="3474720"/>
            <a:ext cx="1307592" cy="347472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920292" y="3474720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err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Transformación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883716" y="3840480"/>
            <a:ext cx="1307592" cy="347472"/>
          </a:xfrm>
          <a:prstGeom prst="rect">
            <a:avLst/>
          </a:prstGeom>
          <a:solidFill>
            <a:srgbClr val="EEF4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920292" y="3840480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>
                <a:solidFill>
                  <a:srgbClr val="99AABB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[ ]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246172" y="3474720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Area TBI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588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75908" y="6665976"/>
            <a:ext cx="11247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Accenture Confidential  |  Unity Programme – Terms of Reference</a:t>
            </a:r>
            <a:endParaRPr lang="en-US"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1431588" y="6501384"/>
            <a:ext cx="310896" cy="310896"/>
          </a:xfrm>
          <a:prstGeom prst="ellipse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11431588" y="6537960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1A1A2E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1</a:t>
            </a:r>
            <a:endParaRPr lang="en-US" sz="9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4"/>
          <p:cNvSpPr/>
          <p:nvPr/>
        </p:nvSpPr>
        <p:spPr>
          <a:xfrm>
            <a:off x="257620" y="3756105"/>
            <a:ext cx="11676888" cy="1067772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Shape 0"/>
          <p:cNvSpPr/>
          <p:nvPr/>
        </p:nvSpPr>
        <p:spPr>
          <a:xfrm>
            <a:off x="1588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66180" y="36576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>
                <a:solidFill>
                  <a:srgbClr val="F0D224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&gt;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7076" y="36576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Unity Programme  |  Terms of Reference</a:t>
            </a:r>
            <a:endParaRPr lang="en-US" sz="1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48308" y="36576"/>
            <a:ext cx="36210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50">
                <a:solidFill>
                  <a:srgbClr val="D2D9FA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WORKSTREAM SCOPE &amp; CONTENT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7620" y="603504"/>
            <a:ext cx="11676888" cy="38404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/tmp/tor_icons/FaBullseye_0528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84" y="64008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6532" y="603504"/>
            <a:ext cx="11164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Description / Target State</a:t>
            </a:r>
            <a:endParaRPr lang="en-US" sz="11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57620" y="987552"/>
            <a:ext cx="11676888" cy="804672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77076" y="1042416"/>
            <a:ext cx="11320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buSzPct val="100000"/>
            </a:pPr>
            <a:r>
              <a:rPr lang="es-MX" sz="1050" i="1">
                <a:solidFill>
                  <a:srgbClr val="59595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El objetivo es establecer una visión integrada de la arquitectura que permita analizar la relación entre Unity y los sistemas legados de BanCoppel, abarcando el mapeo de integraciones, identificación de componentes candidatos a decomiso y detección de capacidades reutilizables. Como resultado, se definirá una estrategia de interoperabilidad que establezca los lineamientos de coexistencia durante la transición y un modelo de dependencias que soporte las decisiones de implementación.</a:t>
            </a:r>
            <a:endParaRPr lang="en-US" sz="1050" i="1">
              <a:solidFill>
                <a:srgbClr val="595959"/>
              </a:solidFill>
              <a:latin typeface="Graphik" pitchFamily="34" charset="0"/>
              <a:ea typeface="Graphik" pitchFamily="34" charset="-122"/>
              <a:cs typeface="Graphik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57620" y="1952244"/>
            <a:ext cx="11676888" cy="38404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1" descr="/tmp/tor_icons/FaTasks_0528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84" y="2030385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6532" y="1993809"/>
            <a:ext cx="11164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Overview of Key Activities</a:t>
            </a:r>
            <a:endParaRPr lang="en-US" sz="11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257620" y="2352918"/>
            <a:ext cx="1167688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86220" y="2304705"/>
            <a:ext cx="11320272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FontTx/>
              <a:buChar char="•"/>
            </a:pPr>
            <a:r>
              <a:rPr lang="es-MX" sz="1050" i="1" noProof="0" dirty="0">
                <a:solidFill>
                  <a:srgbClr val="59595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Documentar arquitectura </a:t>
            </a:r>
            <a:r>
              <a:rPr lang="es-MX" sz="1050" i="1" noProof="0" dirty="0" err="1">
                <a:solidFill>
                  <a:srgbClr val="59595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AsIs</a:t>
            </a:r>
            <a:r>
              <a:rPr lang="es-MX" sz="1050" i="1" noProof="0" dirty="0">
                <a:solidFill>
                  <a:srgbClr val="59595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 de los sistemas legados (Vistas: Capacidades de Negocio y Arquitectura aplicativa de 1er y </a:t>
            </a:r>
            <a:r>
              <a:rPr lang="es-MX" sz="1050" i="1" noProof="0" dirty="0">
                <a:solidFill>
                  <a:srgbClr val="595959"/>
                </a:solidFill>
                <a:highlight>
                  <a:srgbClr val="FFFF00"/>
                </a:highlight>
                <a:latin typeface="Graphik" pitchFamily="34" charset="0"/>
                <a:ea typeface="Graphik" pitchFamily="34" charset="-122"/>
                <a:cs typeface="Graphik" pitchFamily="34" charset="-120"/>
              </a:rPr>
              <a:t>2do Nivel</a:t>
            </a:r>
            <a:r>
              <a:rPr lang="es-MX" sz="1050" i="1" noProof="0" dirty="0">
                <a:solidFill>
                  <a:srgbClr val="59595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)</a:t>
            </a:r>
            <a:endParaRPr lang="es-MX" sz="1050" noProof="0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>
              <a:lnSpc>
                <a:spcPct val="120000"/>
              </a:lnSpc>
              <a:buSzPct val="100000"/>
              <a:buFontTx/>
              <a:buChar char="•"/>
            </a:pPr>
            <a:r>
              <a:rPr lang="es-MX" sz="1050" i="1" noProof="0" dirty="0">
                <a:solidFill>
                  <a:srgbClr val="59595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Generar Arquitecturas de coexistencia de las iniciativas de TDC, N4 y N2 (Vista: Arquitectura aplicativa 1er y 2do Nivel)</a:t>
            </a:r>
            <a:endParaRPr lang="es-MX" sz="1050" noProof="0" dirty="0">
              <a:solidFill>
                <a:prstClr val="black"/>
              </a:solidFill>
              <a:highlight>
                <a:srgbClr val="FFFF00"/>
              </a:highlight>
              <a:latin typeface="Calibri" panose="020F0502020204030204"/>
            </a:endParaRPr>
          </a:p>
          <a:p>
            <a:pPr marL="342900" indent="-342900">
              <a:lnSpc>
                <a:spcPct val="120000"/>
              </a:lnSpc>
              <a:buSzPct val="100000"/>
              <a:buFontTx/>
              <a:buChar char="•"/>
            </a:pPr>
            <a:r>
              <a:rPr lang="es-MX" sz="1050" i="1" noProof="0" dirty="0">
                <a:solidFill>
                  <a:srgbClr val="595959"/>
                </a:solidFill>
                <a:latin typeface="Graphik" pitchFamily="34" charset="0"/>
              </a:rPr>
              <a:t>Definir proceso de </a:t>
            </a:r>
            <a:r>
              <a:rPr lang="es-MX" sz="1050" i="1" noProof="0" dirty="0" err="1">
                <a:solidFill>
                  <a:srgbClr val="595959"/>
                </a:solidFill>
                <a:latin typeface="Graphik" pitchFamily="34" charset="0"/>
              </a:rPr>
              <a:t>Design</a:t>
            </a:r>
            <a:r>
              <a:rPr lang="es-MX" sz="1050" i="1" noProof="0" dirty="0">
                <a:solidFill>
                  <a:srgbClr val="595959"/>
                </a:solidFill>
                <a:latin typeface="Graphik" pitchFamily="34" charset="0"/>
              </a:rPr>
              <a:t> </a:t>
            </a:r>
            <a:r>
              <a:rPr lang="es-MX" sz="1050" i="1" noProof="0" dirty="0" err="1">
                <a:solidFill>
                  <a:srgbClr val="595959"/>
                </a:solidFill>
                <a:latin typeface="Graphik" pitchFamily="34" charset="0"/>
              </a:rPr>
              <a:t>Authority</a:t>
            </a:r>
            <a:r>
              <a:rPr lang="es-MX" sz="1050" i="1" noProof="0" dirty="0">
                <a:solidFill>
                  <a:srgbClr val="595959"/>
                </a:solidFill>
                <a:latin typeface="Graphik" pitchFamily="34" charset="0"/>
              </a:rPr>
              <a:t> para decisiones de arquitectura</a:t>
            </a:r>
          </a:p>
          <a:p>
            <a:pPr marL="342900" indent="-342900">
              <a:lnSpc>
                <a:spcPct val="120000"/>
              </a:lnSpc>
              <a:buSzPct val="100000"/>
              <a:buFontTx/>
              <a:buChar char="•"/>
            </a:pPr>
            <a:r>
              <a:rPr lang="es-MX" sz="1050" i="1" noProof="0" dirty="0">
                <a:solidFill>
                  <a:srgbClr val="59595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Definir los bloques que componen la estrategia de interoperabilidad en la arquitectura tecnológica futura </a:t>
            </a:r>
          </a:p>
          <a:p>
            <a:pPr marL="342900" indent="-342900">
              <a:lnSpc>
                <a:spcPct val="120000"/>
              </a:lnSpc>
              <a:buSzPct val="100000"/>
              <a:buFontTx/>
              <a:buChar char="•"/>
            </a:pPr>
            <a:r>
              <a:rPr lang="es-MX" sz="1050" i="1" noProof="0" dirty="0">
                <a:solidFill>
                  <a:srgbClr val="595959"/>
                </a:solidFill>
                <a:latin typeface="Graphik" pitchFamily="34" charset="0"/>
              </a:rPr>
              <a:t>Análisis de componentes críticos con identificación preliminar de qué se conserva, que se reduce su uso y que se decomisa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257620" y="3463497"/>
            <a:ext cx="11676888" cy="38404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7" name="Image 2" descr="/tmp/tor_icons/FaStar_05287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84" y="3530553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6532" y="3493977"/>
            <a:ext cx="11164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Benefits and Critical Success Factors (CSFs)</a:t>
            </a:r>
            <a:endParaRPr lang="en-US" sz="11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77076" y="3810969"/>
            <a:ext cx="11320272" cy="10129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FontTx/>
              <a:buChar char="•"/>
            </a:pPr>
            <a:r>
              <a:rPr lang="es-MX" sz="1050" i="1" noProof="0">
                <a:solidFill>
                  <a:srgbClr val="59595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Benefit 1: Visión unificada de la arquitectura legada + Unity que permita tomar decisiones de implementaciones fundamentadas</a:t>
            </a:r>
            <a:endParaRPr lang="es-MX" sz="1050" noProof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>
              <a:lnSpc>
                <a:spcPct val="120000"/>
              </a:lnSpc>
              <a:buSzPct val="100000"/>
              <a:buFontTx/>
              <a:buChar char="•"/>
            </a:pPr>
            <a:r>
              <a:rPr lang="es-MX" sz="1050" i="1" noProof="0">
                <a:solidFill>
                  <a:srgbClr val="59595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Benefit 2: </a:t>
            </a:r>
            <a:r>
              <a:rPr lang="es-MX" sz="1050" i="1" noProof="0">
                <a:solidFill>
                  <a:srgbClr val="595959"/>
                </a:solidFill>
                <a:latin typeface="Graphik" pitchFamily="34" charset="0"/>
              </a:rPr>
              <a:t>Estrategia de interoperabilidad documentada que establece los patrones y estándares de integración entre Unity y el ecosistema legado</a:t>
            </a:r>
          </a:p>
          <a:p>
            <a:pPr marL="342900" indent="-342900">
              <a:lnSpc>
                <a:spcPct val="120000"/>
              </a:lnSpc>
              <a:buSzPct val="100000"/>
              <a:buFontTx/>
              <a:buChar char="•"/>
            </a:pPr>
            <a:r>
              <a:rPr lang="es-MX" sz="1050" i="1" noProof="0">
                <a:solidFill>
                  <a:srgbClr val="59595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CSF 1: </a:t>
            </a:r>
            <a:r>
              <a:rPr lang="es-MX" sz="1050" i="1" noProof="0">
                <a:solidFill>
                  <a:srgbClr val="595959"/>
                </a:solidFill>
                <a:latin typeface="Graphik" pitchFamily="34" charset="0"/>
              </a:rPr>
              <a:t>Acceso oportuno a la documentación técnica existente de los sistemas, como insumo indispensable para el análisis y diagramado de componentes</a:t>
            </a:r>
          </a:p>
          <a:p>
            <a:pPr marL="342900" indent="-342900">
              <a:lnSpc>
                <a:spcPct val="120000"/>
              </a:lnSpc>
              <a:buSzPct val="100000"/>
              <a:buFontTx/>
              <a:buChar char="•"/>
            </a:pPr>
            <a:r>
              <a:rPr lang="es-MX" sz="1050" i="1" noProof="0">
                <a:solidFill>
                  <a:srgbClr val="59595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CSF 2: Adopción formal del proceso de </a:t>
            </a:r>
            <a:r>
              <a:rPr lang="es-MX" sz="1050" i="1" noProof="0" err="1">
                <a:solidFill>
                  <a:srgbClr val="59595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Design</a:t>
            </a:r>
            <a:r>
              <a:rPr lang="es-MX" sz="1050" i="1" noProof="0">
                <a:solidFill>
                  <a:srgbClr val="59595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 </a:t>
            </a:r>
            <a:r>
              <a:rPr lang="es-MX" sz="1050" i="1" noProof="0" err="1">
                <a:solidFill>
                  <a:srgbClr val="59595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Authority</a:t>
            </a:r>
            <a:r>
              <a:rPr lang="es-MX" sz="1050" i="1" noProof="0">
                <a:solidFill>
                  <a:srgbClr val="59595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 como mecanismo de gobierno para la toma de decisiones de arquitectura, con respaldo explícito de la Dirección de TI</a:t>
            </a:r>
            <a:endParaRPr lang="es-MX" sz="1050" noProof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275908" y="4970181"/>
            <a:ext cx="11676888" cy="38404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2" name="Image 3" descr="/tmp/tor_icons/FaExclamationCircle_0528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772" y="5006757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4820" y="4970181"/>
            <a:ext cx="11164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Waivers</a:t>
            </a:r>
            <a:endParaRPr lang="en-US" sz="11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275908" y="5354229"/>
            <a:ext cx="1167688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495364" y="5409093"/>
            <a:ext cx="113202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FontTx/>
              <a:buChar char="•"/>
            </a:pPr>
            <a:r>
              <a:rPr lang="en-US" sz="1050" i="1">
                <a:solidFill>
                  <a:srgbClr val="59595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NA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11751628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1588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275908" y="6665976"/>
            <a:ext cx="11247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Accenture Confidential  |  Unity Programme – Terms of Reference</a:t>
            </a:r>
            <a:endParaRPr lang="en-US"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11431588" y="6501384"/>
            <a:ext cx="310896" cy="310896"/>
          </a:xfrm>
          <a:prstGeom prst="ellipse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11431588" y="6537960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1A1A2E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2</a:t>
            </a:r>
            <a:endParaRPr lang="en-US" sz="9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28">
            <a:extLst>
              <a:ext uri="{FF2B5EF4-FFF2-40B4-BE49-F238E27FC236}">
                <a16:creationId xmlns:a16="http://schemas.microsoft.com/office/drawing/2014/main" id="{A08D4DBD-E3C5-7230-39A0-58FCFC145359}"/>
              </a:ext>
            </a:extLst>
          </p:cNvPr>
          <p:cNvSpPr/>
          <p:nvPr/>
        </p:nvSpPr>
        <p:spPr>
          <a:xfrm>
            <a:off x="3156268" y="2555748"/>
            <a:ext cx="2834640" cy="804672"/>
          </a:xfrm>
          <a:prstGeom prst="rect">
            <a:avLst/>
          </a:prstGeom>
          <a:solidFill>
            <a:srgbClr val="EBF2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Shape 0"/>
          <p:cNvSpPr/>
          <p:nvPr/>
        </p:nvSpPr>
        <p:spPr>
          <a:xfrm>
            <a:off x="1588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66180" y="36576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>
                <a:solidFill>
                  <a:srgbClr val="F0D224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&gt;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7076" y="36576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Unity Programme  |  Terms of Reference</a:t>
            </a:r>
            <a:endParaRPr lang="en-US" sz="1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48308" y="36576"/>
            <a:ext cx="36210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50">
                <a:solidFill>
                  <a:srgbClr val="D2D9FA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PROJECT TEAM &amp; GOVERNANCE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7620" y="603504"/>
            <a:ext cx="11676888" cy="38404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/tmp/tor_icons/FaUsers_0528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84" y="64008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6532" y="603504"/>
            <a:ext cx="11164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Project Team</a:t>
            </a:r>
            <a:endParaRPr lang="en-US" sz="11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57620" y="1097280"/>
            <a:ext cx="11676888" cy="256032"/>
          </a:xfrm>
          <a:prstGeom prst="rect">
            <a:avLst/>
          </a:prstGeom>
          <a:solidFill>
            <a:srgbClr val="EEF2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85636" y="1097280"/>
            <a:ext cx="11494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>
                <a:solidFill>
                  <a:srgbClr val="05287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&gt; Accenture Team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57620" y="1371600"/>
            <a:ext cx="2834640" cy="804672"/>
          </a:xfrm>
          <a:prstGeom prst="rect">
            <a:avLst/>
          </a:prstGeom>
          <a:solidFill>
            <a:srgbClr val="EEF2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57620" y="1371600"/>
            <a:ext cx="2834640" cy="23774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156268" y="1371600"/>
            <a:ext cx="2834640" cy="804672"/>
          </a:xfrm>
          <a:prstGeom prst="rect">
            <a:avLst/>
          </a:prstGeom>
          <a:solidFill>
            <a:srgbClr val="EEF2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156268" y="1371600"/>
            <a:ext cx="2834640" cy="23774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262948" y="1559052"/>
            <a:ext cx="2670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050" b="1" dirty="0">
                <a:solidFill>
                  <a:srgbClr val="1A1A2E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Joaquin E. Antonio Pichardo</a:t>
            </a:r>
            <a:endParaRPr lang="en-US" sz="1050" b="1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lnSpc>
                <a:spcPct val="125000"/>
              </a:lnSpc>
            </a:pPr>
            <a:r>
              <a:rPr lang="es-MX" sz="1050" noProof="0" dirty="0">
                <a:solidFill>
                  <a:srgbClr val="1A1A2E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Arquitecto de Solución</a:t>
            </a:r>
            <a:endParaRPr lang="es-MX" sz="1050" noProof="0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1A1A2E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e_jeantonio@bancoppel.com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054916" y="1371600"/>
            <a:ext cx="2834640" cy="804672"/>
          </a:xfrm>
          <a:prstGeom prst="rect">
            <a:avLst/>
          </a:prstGeom>
          <a:solidFill>
            <a:srgbClr val="EEF2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054916" y="1371600"/>
            <a:ext cx="2834640" cy="23774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953564" y="1371600"/>
            <a:ext cx="2834640" cy="804672"/>
          </a:xfrm>
          <a:prstGeom prst="rect">
            <a:avLst/>
          </a:prstGeom>
          <a:solidFill>
            <a:srgbClr val="EEF2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8953564" y="1371600"/>
            <a:ext cx="2834640" cy="23774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257620" y="2286000"/>
            <a:ext cx="11676888" cy="256032"/>
          </a:xfrm>
          <a:prstGeom prst="rect">
            <a:avLst/>
          </a:prstGeom>
          <a:solidFill>
            <a:srgbClr val="EBF2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85636" y="2286000"/>
            <a:ext cx="11494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>
                <a:solidFill>
                  <a:srgbClr val="1C41E8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&gt; BanCoppel Team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257620" y="2560320"/>
            <a:ext cx="2834640" cy="804672"/>
          </a:xfrm>
          <a:prstGeom prst="rect">
            <a:avLst/>
          </a:prstGeom>
          <a:solidFill>
            <a:srgbClr val="EBF2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257620" y="2560320"/>
            <a:ext cx="2834640" cy="237744"/>
          </a:xfrm>
          <a:prstGeom prst="rect">
            <a:avLst/>
          </a:prstGeom>
          <a:solidFill>
            <a:srgbClr val="1C41E8"/>
          </a:solidFill>
          <a:ln w="12700">
            <a:solidFill>
              <a:srgbClr val="1C41E8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156268" y="2560320"/>
            <a:ext cx="2834640" cy="237744"/>
          </a:xfrm>
          <a:prstGeom prst="rect">
            <a:avLst/>
          </a:prstGeom>
          <a:solidFill>
            <a:srgbClr val="1C41E8"/>
          </a:solidFill>
          <a:ln w="12700">
            <a:solidFill>
              <a:srgbClr val="1C41E8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85636" y="2749296"/>
            <a:ext cx="2670048" cy="6512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s-MX" sz="1050" b="1" noProof="0">
                <a:solidFill>
                  <a:srgbClr val="1A1A2E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Edgar Mejia Almaguer</a:t>
            </a:r>
            <a:endParaRPr lang="es-MX" sz="1050" b="1" noProof="0">
              <a:solidFill>
                <a:prstClr val="black"/>
              </a:solidFill>
              <a:latin typeface="Calibri" panose="020F0502020204030204"/>
            </a:endParaRPr>
          </a:p>
          <a:p>
            <a:pPr>
              <a:lnSpc>
                <a:spcPct val="125000"/>
              </a:lnSpc>
            </a:pPr>
            <a:r>
              <a:rPr lang="es-MX" sz="1050" noProof="0">
                <a:solidFill>
                  <a:srgbClr val="1A1A2E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Head Arquitectura TI</a:t>
            </a:r>
            <a:endParaRPr lang="es-MX" sz="1050" noProof="0">
              <a:solidFill>
                <a:prstClr val="black"/>
              </a:solidFill>
              <a:latin typeface="Calibri" panose="020F0502020204030204"/>
            </a:endParaRPr>
          </a:p>
          <a:p>
            <a:pPr>
              <a:lnSpc>
                <a:spcPct val="125000"/>
              </a:lnSpc>
            </a:pPr>
            <a:r>
              <a:rPr lang="es-MX" sz="1050" noProof="0">
                <a:solidFill>
                  <a:srgbClr val="1A1A2E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emejia@bancoppel.com</a:t>
            </a:r>
            <a:endParaRPr lang="es-MX" sz="1050" noProof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054916" y="2560320"/>
            <a:ext cx="2834640" cy="804672"/>
          </a:xfrm>
          <a:prstGeom prst="rect">
            <a:avLst/>
          </a:prstGeom>
          <a:solidFill>
            <a:srgbClr val="EBF2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054916" y="2560320"/>
            <a:ext cx="2834640" cy="237744"/>
          </a:xfrm>
          <a:prstGeom prst="rect">
            <a:avLst/>
          </a:prstGeom>
          <a:solidFill>
            <a:srgbClr val="1C41E8"/>
          </a:solidFill>
          <a:ln w="12700">
            <a:solidFill>
              <a:srgbClr val="1C41E8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8953564" y="2560320"/>
            <a:ext cx="2834640" cy="804672"/>
          </a:xfrm>
          <a:prstGeom prst="rect">
            <a:avLst/>
          </a:prstGeom>
          <a:solidFill>
            <a:srgbClr val="EBF2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8953564" y="2560320"/>
            <a:ext cx="2834640" cy="237744"/>
          </a:xfrm>
          <a:prstGeom prst="rect">
            <a:avLst/>
          </a:prstGeom>
          <a:solidFill>
            <a:srgbClr val="1C41E8"/>
          </a:solidFill>
          <a:ln w="12700">
            <a:solidFill>
              <a:srgbClr val="1C41E8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Shape 56"/>
          <p:cNvSpPr/>
          <p:nvPr/>
        </p:nvSpPr>
        <p:spPr>
          <a:xfrm>
            <a:off x="257620" y="3482916"/>
            <a:ext cx="5715000" cy="347472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1" name="Image 2" descr="/tmp/tor_icons/FaLink_0528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84" y="3519492"/>
            <a:ext cx="274320" cy="274320"/>
          </a:xfrm>
          <a:prstGeom prst="rect">
            <a:avLst/>
          </a:prstGeom>
        </p:spPr>
      </p:pic>
      <p:sp>
        <p:nvSpPr>
          <p:cNvPr id="62" name="Text 57"/>
          <p:cNvSpPr/>
          <p:nvPr/>
        </p:nvSpPr>
        <p:spPr>
          <a:xfrm>
            <a:off x="659956" y="3482916"/>
            <a:ext cx="5239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Assumptions and Dependencies</a:t>
            </a:r>
            <a:endParaRPr lang="en-US" sz="11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Shape 58"/>
          <p:cNvSpPr/>
          <p:nvPr/>
        </p:nvSpPr>
        <p:spPr>
          <a:xfrm>
            <a:off x="257620" y="3848676"/>
            <a:ext cx="5715000" cy="2689284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 59"/>
          <p:cNvSpPr/>
          <p:nvPr/>
        </p:nvSpPr>
        <p:spPr>
          <a:xfrm>
            <a:off x="403924" y="3829398"/>
            <a:ext cx="5495544" cy="2790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s-MX" sz="1000" b="1" dirty="0" err="1">
                <a:latin typeface="Graphik" panose="020B0503030202060203" pitchFamily="34" charset="0"/>
              </a:rPr>
              <a:t>Assumption</a:t>
            </a:r>
            <a:r>
              <a:rPr lang="es-MX" sz="1000" b="1" dirty="0">
                <a:latin typeface="Graphik" panose="020B0503030202060203" pitchFamily="34" charset="0"/>
              </a:rPr>
              <a:t> 1:</a:t>
            </a:r>
            <a:r>
              <a:rPr lang="es-MX" sz="1000" dirty="0">
                <a:latin typeface="Graphik" panose="020B0503030202060203" pitchFamily="34" charset="0"/>
              </a:rPr>
              <a:t> El proceso de </a:t>
            </a:r>
            <a:r>
              <a:rPr lang="es-MX" sz="1000" dirty="0" err="1">
                <a:latin typeface="Graphik" panose="020B0503030202060203" pitchFamily="34" charset="0"/>
              </a:rPr>
              <a:t>Design</a:t>
            </a:r>
            <a:r>
              <a:rPr lang="es-MX" sz="1000" dirty="0">
                <a:latin typeface="Graphik" panose="020B0503030202060203" pitchFamily="34" charset="0"/>
              </a:rPr>
              <a:t> </a:t>
            </a:r>
            <a:r>
              <a:rPr lang="es-MX" sz="1000" dirty="0" err="1">
                <a:latin typeface="Graphik" panose="020B0503030202060203" pitchFamily="34" charset="0"/>
              </a:rPr>
              <a:t>Authority</a:t>
            </a:r>
            <a:r>
              <a:rPr lang="es-MX" sz="1000" dirty="0">
                <a:latin typeface="Graphik" panose="020B0503030202060203" pitchFamily="34" charset="0"/>
              </a:rPr>
              <a:t> será adoptado como mecanismo formal de gobierno, con capacidad de decisión reconocida por el equipo de arquitectura</a:t>
            </a:r>
          </a:p>
          <a:p>
            <a:pPr>
              <a:spcBef>
                <a:spcPts val="600"/>
              </a:spcBef>
            </a:pPr>
            <a:r>
              <a:rPr lang="es-MX" sz="1000" b="1" dirty="0" err="1">
                <a:latin typeface="Graphik" panose="020B0503030202060203" pitchFamily="34" charset="0"/>
              </a:rPr>
              <a:t>Assumption</a:t>
            </a:r>
            <a:r>
              <a:rPr lang="es-MX" sz="1000" b="1" dirty="0">
                <a:latin typeface="Graphik" panose="020B0503030202060203" pitchFamily="34" charset="0"/>
              </a:rPr>
              <a:t> 2:</a:t>
            </a:r>
            <a:r>
              <a:rPr lang="es-MX" sz="1000" dirty="0">
                <a:latin typeface="Graphik" panose="020B0503030202060203" pitchFamily="34" charset="0"/>
              </a:rPr>
              <a:t> Las iniciativas de TDC, N4 y N2 mantienen su alcance y diseño durante el período de análisis de coexistencia;</a:t>
            </a:r>
          </a:p>
          <a:p>
            <a:pPr>
              <a:spcBef>
                <a:spcPts val="600"/>
              </a:spcBef>
            </a:pPr>
            <a:r>
              <a:rPr lang="es-MX" sz="1000" b="1" dirty="0" err="1">
                <a:latin typeface="Graphik" panose="020B0503030202060203" pitchFamily="34" charset="0"/>
              </a:rPr>
              <a:t>Assumption</a:t>
            </a:r>
            <a:r>
              <a:rPr lang="es-MX" sz="1000" b="1" dirty="0">
                <a:latin typeface="Graphik" panose="020B0503030202060203" pitchFamily="34" charset="0"/>
              </a:rPr>
              <a:t> 3:</a:t>
            </a:r>
            <a:r>
              <a:rPr lang="es-MX" sz="1000" dirty="0">
                <a:latin typeface="Graphik" panose="020B0503030202060203" pitchFamily="34" charset="0"/>
              </a:rPr>
              <a:t> Los componentes de Unity (</a:t>
            </a:r>
            <a:r>
              <a:rPr lang="es-MX" sz="1000" dirty="0" err="1">
                <a:latin typeface="Graphik" panose="020B0503030202060203" pitchFamily="34" charset="0"/>
              </a:rPr>
              <a:t>Transact</a:t>
            </a:r>
            <a:r>
              <a:rPr lang="es-MX" sz="1000" dirty="0">
                <a:latin typeface="Graphik" panose="020B0503030202060203" pitchFamily="34" charset="0"/>
              </a:rPr>
              <a:t>, Apolo, </a:t>
            </a:r>
            <a:r>
              <a:rPr lang="es-MX" sz="1000" dirty="0" err="1">
                <a:latin typeface="Graphik" panose="020B0503030202060203" pitchFamily="34" charset="0"/>
              </a:rPr>
              <a:t>SmartVista</a:t>
            </a:r>
            <a:r>
              <a:rPr lang="es-MX" sz="1000" dirty="0">
                <a:latin typeface="Graphik" panose="020B0503030202060203" pitchFamily="34" charset="0"/>
              </a:rPr>
              <a:t> y canales) cuentan con un nivel de definición arquitectónica suficiente para sustentar el análisis de interoperabilidad.</a:t>
            </a:r>
          </a:p>
          <a:p>
            <a:pPr>
              <a:spcBef>
                <a:spcPts val="600"/>
              </a:spcBef>
            </a:pPr>
            <a:r>
              <a:rPr lang="es-MX" sz="1000" b="1" dirty="0" err="1">
                <a:latin typeface="Graphik" panose="020B0503030202060203" pitchFamily="34" charset="0"/>
              </a:rPr>
              <a:t>Dependency</a:t>
            </a:r>
            <a:r>
              <a:rPr lang="es-MX" sz="1000" b="1" dirty="0">
                <a:latin typeface="Graphik" panose="020B0503030202060203" pitchFamily="34" charset="0"/>
              </a:rPr>
              <a:t> 1:</a:t>
            </a:r>
            <a:r>
              <a:rPr lang="es-MX" sz="1000" dirty="0">
                <a:latin typeface="Graphik" panose="020B0503030202060203" pitchFamily="34" charset="0"/>
              </a:rPr>
              <a:t> Disponibilidad de la documentación técnica de los sistemas legados (interfaces, integraciones, flujos y dependencias entre aplicaciones).</a:t>
            </a:r>
          </a:p>
          <a:p>
            <a:pPr>
              <a:spcBef>
                <a:spcPts val="600"/>
              </a:spcBef>
            </a:pPr>
            <a:r>
              <a:rPr lang="es-MX" sz="1000" b="1" dirty="0" err="1">
                <a:latin typeface="Graphik" panose="020B0503030202060203" pitchFamily="34" charset="0"/>
              </a:rPr>
              <a:t>Dependency</a:t>
            </a:r>
            <a:r>
              <a:rPr lang="es-MX" sz="1000" b="1" dirty="0">
                <a:latin typeface="Graphik" panose="020B0503030202060203" pitchFamily="34" charset="0"/>
              </a:rPr>
              <a:t> 2:</a:t>
            </a:r>
            <a:r>
              <a:rPr lang="es-MX" sz="1000" dirty="0">
                <a:latin typeface="Graphik" panose="020B0503030202060203" pitchFamily="34" charset="0"/>
              </a:rPr>
              <a:t> Disponibilidad de la documentación técnica y arquitectónica de los componentes de Unity — </a:t>
            </a:r>
            <a:r>
              <a:rPr lang="es-MX" sz="1000" dirty="0" err="1">
                <a:latin typeface="Graphik" panose="020B0503030202060203" pitchFamily="34" charset="0"/>
              </a:rPr>
              <a:t>Transact</a:t>
            </a:r>
            <a:r>
              <a:rPr lang="es-MX" sz="1000" dirty="0">
                <a:latin typeface="Graphik" panose="020B0503030202060203" pitchFamily="34" charset="0"/>
              </a:rPr>
              <a:t>, Apolo, </a:t>
            </a:r>
            <a:r>
              <a:rPr lang="es-MX" sz="1000" dirty="0" err="1">
                <a:latin typeface="Graphik" panose="020B0503030202060203" pitchFamily="34" charset="0"/>
              </a:rPr>
              <a:t>SmartVista</a:t>
            </a:r>
            <a:r>
              <a:rPr lang="es-MX" sz="1000" dirty="0">
                <a:latin typeface="Graphik" panose="020B0503030202060203" pitchFamily="34" charset="0"/>
              </a:rPr>
              <a:t> y canales legados conectados.</a:t>
            </a:r>
          </a:p>
          <a:p>
            <a:pPr>
              <a:spcBef>
                <a:spcPts val="600"/>
              </a:spcBef>
            </a:pPr>
            <a:r>
              <a:rPr lang="es-MX" sz="1000" b="1" dirty="0" err="1">
                <a:latin typeface="Graphik" panose="020B0503030202060203" pitchFamily="34" charset="0"/>
              </a:rPr>
              <a:t>Dependency</a:t>
            </a:r>
            <a:r>
              <a:rPr lang="es-MX" sz="1000" b="1" dirty="0">
                <a:latin typeface="Graphik" panose="020B0503030202060203" pitchFamily="34" charset="0"/>
              </a:rPr>
              <a:t> 3:</a:t>
            </a:r>
            <a:r>
              <a:rPr lang="es-MX" sz="1000" dirty="0">
                <a:latin typeface="Graphik" panose="020B0503030202060203" pitchFamily="34" charset="0"/>
              </a:rPr>
              <a:t> Participación activa y oportuna de los referentes técnicos de BanCoppel para validar el mapeo AS-IS y los criterios de clasificación de componentes (conservar, reducir, </a:t>
            </a:r>
            <a:r>
              <a:rPr lang="es-MX" sz="1000" dirty="0" err="1">
                <a:latin typeface="Graphik" panose="020B0503030202060203" pitchFamily="34" charset="0"/>
              </a:rPr>
              <a:t>decomisаr</a:t>
            </a:r>
            <a:r>
              <a:rPr lang="es-MX" sz="1000" dirty="0">
                <a:latin typeface="Graphik" panose="020B0503030202060203" pitchFamily="34" charset="0"/>
              </a:rPr>
              <a:t>).</a:t>
            </a:r>
          </a:p>
          <a:p>
            <a:endParaRPr lang="es-MX" sz="1050" dirty="0"/>
          </a:p>
        </p:txBody>
      </p:sp>
      <p:sp>
        <p:nvSpPr>
          <p:cNvPr id="65" name="Shape 60"/>
          <p:cNvSpPr/>
          <p:nvPr/>
        </p:nvSpPr>
        <p:spPr>
          <a:xfrm>
            <a:off x="6109780" y="3482916"/>
            <a:ext cx="5824728" cy="347472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6" name="Image 3" descr="/tmp/tor_icons/FaBan_05287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4644" y="3519492"/>
            <a:ext cx="274320" cy="274320"/>
          </a:xfrm>
          <a:prstGeom prst="rect">
            <a:avLst/>
          </a:prstGeom>
        </p:spPr>
      </p:pic>
      <p:sp>
        <p:nvSpPr>
          <p:cNvPr id="67" name="Text 61"/>
          <p:cNvSpPr/>
          <p:nvPr/>
        </p:nvSpPr>
        <p:spPr>
          <a:xfrm>
            <a:off x="6512116" y="3482916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Out of Scope</a:t>
            </a:r>
            <a:endParaRPr lang="en-US" sz="11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Shape 62"/>
          <p:cNvSpPr/>
          <p:nvPr/>
        </p:nvSpPr>
        <p:spPr>
          <a:xfrm>
            <a:off x="6109780" y="3848676"/>
            <a:ext cx="5824728" cy="2689284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3"/>
          <p:cNvSpPr/>
          <p:nvPr/>
        </p:nvSpPr>
        <p:spPr>
          <a:xfrm>
            <a:off x="6256084" y="3903540"/>
            <a:ext cx="5605272" cy="8677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FontTx/>
              <a:buChar char="•"/>
            </a:pPr>
            <a:r>
              <a:rPr lang="es-MX" sz="1050" i="1" noProof="0">
                <a:solidFill>
                  <a:srgbClr val="59595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Definición de arquitecturas de solución específicas de alguna iniciativa o Plataforma.</a:t>
            </a:r>
          </a:p>
          <a:p>
            <a:pPr marL="342900" indent="-342900">
              <a:lnSpc>
                <a:spcPct val="130000"/>
              </a:lnSpc>
              <a:buSzPct val="100000"/>
              <a:buFontTx/>
              <a:buChar char="•"/>
            </a:pPr>
            <a:r>
              <a:rPr lang="es-MX" sz="1050" i="1" noProof="0">
                <a:solidFill>
                  <a:srgbClr val="595959"/>
                </a:solidFill>
                <a:latin typeface="Graphik" pitchFamily="34" charset="0"/>
              </a:rPr>
              <a:t>Gestión del cambio para la adopción del proceso de </a:t>
            </a:r>
            <a:r>
              <a:rPr lang="es-MX" sz="1050" i="1" noProof="0" err="1">
                <a:solidFill>
                  <a:srgbClr val="595959"/>
                </a:solidFill>
                <a:latin typeface="Graphik" pitchFamily="34" charset="0"/>
              </a:rPr>
              <a:t>Design</a:t>
            </a:r>
            <a:r>
              <a:rPr lang="es-MX" sz="1050" i="1" noProof="0">
                <a:solidFill>
                  <a:srgbClr val="595959"/>
                </a:solidFill>
                <a:latin typeface="Graphik" pitchFamily="34" charset="0"/>
              </a:rPr>
              <a:t> </a:t>
            </a:r>
            <a:r>
              <a:rPr lang="es-MX" sz="1050" i="1" noProof="0" err="1">
                <a:solidFill>
                  <a:srgbClr val="595959"/>
                </a:solidFill>
                <a:latin typeface="Graphik" pitchFamily="34" charset="0"/>
              </a:rPr>
              <a:t>Authority</a:t>
            </a:r>
            <a:r>
              <a:rPr lang="es-MX" sz="1050" i="1" noProof="0">
                <a:solidFill>
                  <a:srgbClr val="595959"/>
                </a:solidFill>
                <a:latin typeface="Graphik" pitchFamily="34" charset="0"/>
              </a:rPr>
              <a:t> </a:t>
            </a:r>
            <a:endParaRPr lang="es-MX" sz="1050" noProof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>
              <a:lnSpc>
                <a:spcPct val="130000"/>
              </a:lnSpc>
              <a:buSzPct val="100000"/>
              <a:buFontTx/>
              <a:buChar char="•"/>
            </a:pPr>
            <a:r>
              <a:rPr lang="es-MX" sz="1050" i="1" noProof="0">
                <a:solidFill>
                  <a:srgbClr val="59595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Diagramas de arquitectura de infraestructura</a:t>
            </a:r>
            <a:endParaRPr lang="es-MX" sz="1050" noProof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Shape 64"/>
          <p:cNvSpPr/>
          <p:nvPr/>
        </p:nvSpPr>
        <p:spPr>
          <a:xfrm>
            <a:off x="11751628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Shape 65"/>
          <p:cNvSpPr/>
          <p:nvPr/>
        </p:nvSpPr>
        <p:spPr>
          <a:xfrm>
            <a:off x="1588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66"/>
          <p:cNvSpPr/>
          <p:nvPr/>
        </p:nvSpPr>
        <p:spPr>
          <a:xfrm>
            <a:off x="275908" y="6665976"/>
            <a:ext cx="11247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Accenture Confidential  |  Unity Programme – Terms of Reference</a:t>
            </a:r>
            <a:endParaRPr lang="en-US"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Shape 67"/>
          <p:cNvSpPr/>
          <p:nvPr/>
        </p:nvSpPr>
        <p:spPr>
          <a:xfrm>
            <a:off x="11431588" y="6501384"/>
            <a:ext cx="310896" cy="310896"/>
          </a:xfrm>
          <a:prstGeom prst="ellipse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68"/>
          <p:cNvSpPr/>
          <p:nvPr/>
        </p:nvSpPr>
        <p:spPr>
          <a:xfrm>
            <a:off x="11431588" y="6537960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1A1A2E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3</a:t>
            </a:r>
            <a:endParaRPr lang="en-US" sz="9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Text 27">
            <a:extLst>
              <a:ext uri="{FF2B5EF4-FFF2-40B4-BE49-F238E27FC236}">
                <a16:creationId xmlns:a16="http://schemas.microsoft.com/office/drawing/2014/main" id="{A310BF94-5261-27C2-968B-48404927FA7F}"/>
              </a:ext>
            </a:extLst>
          </p:cNvPr>
          <p:cNvSpPr/>
          <p:nvPr/>
        </p:nvSpPr>
        <p:spPr>
          <a:xfrm>
            <a:off x="3220276" y="2726436"/>
            <a:ext cx="2670048" cy="719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s-MX" sz="1050" b="1" noProof="0">
                <a:solidFill>
                  <a:srgbClr val="1A1A2E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Arturo Pérez Quevedo</a:t>
            </a:r>
            <a:endParaRPr lang="es-MX" sz="1050" b="1" noProof="0">
              <a:solidFill>
                <a:prstClr val="black"/>
              </a:solidFill>
              <a:latin typeface="Calibri" panose="020F0502020204030204"/>
            </a:endParaRPr>
          </a:p>
          <a:p>
            <a:pPr>
              <a:lnSpc>
                <a:spcPct val="125000"/>
              </a:lnSpc>
            </a:pPr>
            <a:r>
              <a:rPr lang="es-MX" sz="1050" noProof="0">
                <a:solidFill>
                  <a:srgbClr val="1A1A2E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Operaciones TI</a:t>
            </a:r>
            <a:endParaRPr lang="es-MX" sz="1050" noProof="0">
              <a:solidFill>
                <a:prstClr val="black"/>
              </a:solidFill>
              <a:latin typeface="Calibri" panose="020F0502020204030204"/>
            </a:endParaRPr>
          </a:p>
          <a:p>
            <a:pPr>
              <a:lnSpc>
                <a:spcPct val="125000"/>
              </a:lnSpc>
            </a:pPr>
            <a:r>
              <a:rPr lang="es-MX" sz="1050">
                <a:solidFill>
                  <a:srgbClr val="1A1A2E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aquevedop@bancoppel.com</a:t>
            </a:r>
            <a:endParaRPr lang="es-MX" sz="1050" noProof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Text 13">
            <a:extLst>
              <a:ext uri="{FF2B5EF4-FFF2-40B4-BE49-F238E27FC236}">
                <a16:creationId xmlns:a16="http://schemas.microsoft.com/office/drawing/2014/main" id="{5E4E4356-480A-0E1A-9FAD-8BCCAD09E934}"/>
              </a:ext>
            </a:extLst>
          </p:cNvPr>
          <p:cNvSpPr/>
          <p:nvPr/>
        </p:nvSpPr>
        <p:spPr>
          <a:xfrm>
            <a:off x="364300" y="1565148"/>
            <a:ext cx="2670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050" b="1" dirty="0">
                <a:solidFill>
                  <a:srgbClr val="1A1A2E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Francisco López-Cantarero</a:t>
            </a:r>
            <a:endParaRPr lang="en-US" sz="1050" b="1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lnSpc>
                <a:spcPct val="125000"/>
              </a:lnSpc>
            </a:pPr>
            <a:r>
              <a:rPr lang="es-MX" sz="1050" noProof="0" dirty="0">
                <a:solidFill>
                  <a:srgbClr val="1A1A2E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Arquitecto</a:t>
            </a:r>
            <a:r>
              <a:rPr lang="en-US" sz="1050" dirty="0">
                <a:solidFill>
                  <a:srgbClr val="1A1A2E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 de Empresarial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1A1A2E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f.lopez-cantarero@accenture.com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Text 13">
            <a:extLst>
              <a:ext uri="{FF2B5EF4-FFF2-40B4-BE49-F238E27FC236}">
                <a16:creationId xmlns:a16="http://schemas.microsoft.com/office/drawing/2014/main" id="{08DE1177-E713-8694-6D2E-3069164719DA}"/>
              </a:ext>
            </a:extLst>
          </p:cNvPr>
          <p:cNvSpPr/>
          <p:nvPr/>
        </p:nvSpPr>
        <p:spPr>
          <a:xfrm>
            <a:off x="6160008" y="1557528"/>
            <a:ext cx="2670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050" b="1" dirty="0">
                <a:latin typeface="Graphik" pitchFamily="34" charset="0"/>
                <a:ea typeface="Graphik" pitchFamily="34" charset="-122"/>
                <a:cs typeface="Graphik" pitchFamily="34" charset="-120"/>
              </a:rPr>
              <a:t>Lukasz Pietrzyk</a:t>
            </a:r>
            <a:endParaRPr lang="en-US" sz="1050" b="1" dirty="0">
              <a:latin typeface="Calibri" panose="020F0502020204030204"/>
            </a:endParaRPr>
          </a:p>
          <a:p>
            <a:pPr>
              <a:lnSpc>
                <a:spcPct val="125000"/>
              </a:lnSpc>
            </a:pPr>
            <a:r>
              <a:rPr lang="es-MX" sz="1050" noProof="0" dirty="0">
                <a:latin typeface="Graphik" pitchFamily="34" charset="0"/>
                <a:ea typeface="Graphik" pitchFamily="34" charset="-122"/>
                <a:cs typeface="Graphik" pitchFamily="34" charset="-120"/>
              </a:rPr>
              <a:t>Líder de Arquitectura</a:t>
            </a:r>
            <a:endParaRPr lang="es-MX" sz="1050" noProof="0" dirty="0">
              <a:latin typeface="Calibri" panose="020F0502020204030204"/>
            </a:endParaRPr>
          </a:p>
          <a:p>
            <a:pPr>
              <a:lnSpc>
                <a:spcPct val="125000"/>
              </a:lnSpc>
            </a:pPr>
            <a:r>
              <a:rPr lang="en-US" sz="1050" dirty="0">
                <a:latin typeface="Graphik" pitchFamily="34" charset="0"/>
                <a:ea typeface="Graphik" pitchFamily="34" charset="-122"/>
                <a:cs typeface="Graphik" pitchFamily="34" charset="-120"/>
              </a:rPr>
              <a:t>j.villenas@accenture.com</a:t>
            </a:r>
            <a:endParaRPr lang="en-US" sz="1050" dirty="0">
              <a:latin typeface="Calibri" panose="020F0502020204030204"/>
            </a:endParaRPr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B7653325-6896-B2E8-4FEA-0E28969BFB81}"/>
              </a:ext>
            </a:extLst>
          </p:cNvPr>
          <p:cNvSpPr/>
          <p:nvPr/>
        </p:nvSpPr>
        <p:spPr>
          <a:xfrm>
            <a:off x="8994648" y="1554480"/>
            <a:ext cx="2670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050" b="1" dirty="0">
                <a:latin typeface="Graphik" pitchFamily="34" charset="0"/>
                <a:ea typeface="Graphik" pitchFamily="34" charset="-122"/>
                <a:cs typeface="Graphik" pitchFamily="34" charset="-120"/>
              </a:rPr>
              <a:t>José Villenas</a:t>
            </a:r>
            <a:endParaRPr lang="en-US" sz="1050" b="1" dirty="0">
              <a:latin typeface="Calibri" panose="020F0502020204030204"/>
            </a:endParaRPr>
          </a:p>
          <a:p>
            <a:pPr>
              <a:lnSpc>
                <a:spcPct val="125000"/>
              </a:lnSpc>
            </a:pPr>
            <a:r>
              <a:rPr lang="es-MX" sz="1050" noProof="0" dirty="0">
                <a:latin typeface="Graphik" pitchFamily="34" charset="0"/>
                <a:ea typeface="Graphik" pitchFamily="34" charset="-122"/>
                <a:cs typeface="Graphik" pitchFamily="34" charset="-120"/>
              </a:rPr>
              <a:t>Arquitecto de Integración</a:t>
            </a:r>
            <a:endParaRPr lang="es-MX" sz="1050" noProof="0" dirty="0">
              <a:latin typeface="Calibri" panose="020F0502020204030204"/>
            </a:endParaRPr>
          </a:p>
          <a:p>
            <a:pPr>
              <a:lnSpc>
                <a:spcPct val="125000"/>
              </a:lnSpc>
            </a:pPr>
            <a:r>
              <a:rPr lang="en-US" sz="1050" dirty="0">
                <a:latin typeface="Graphik" pitchFamily="34" charset="0"/>
                <a:ea typeface="Graphik" pitchFamily="34" charset="-122"/>
                <a:cs typeface="Graphik" pitchFamily="34" charset="-120"/>
              </a:rPr>
              <a:t>j.villenas@accenture.com</a:t>
            </a:r>
            <a:endParaRPr lang="en-US" sz="1050" dirty="0"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0" name="Table 379">
            <a:extLst>
              <a:ext uri="{FF2B5EF4-FFF2-40B4-BE49-F238E27FC236}">
                <a16:creationId xmlns:a16="http://schemas.microsoft.com/office/drawing/2014/main" id="{CF5CA2EA-0E10-EECD-6208-7B3A17385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026569"/>
              </p:ext>
            </p:extLst>
          </p:nvPr>
        </p:nvGraphicFramePr>
        <p:xfrm>
          <a:off x="166180" y="648520"/>
          <a:ext cx="11826532" cy="582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812">
                  <a:extLst>
                    <a:ext uri="{9D8B030D-6E8A-4147-A177-3AD203B41FA5}">
                      <a16:colId xmlns:a16="http://schemas.microsoft.com/office/drawing/2014/main" val="904598393"/>
                    </a:ext>
                  </a:extLst>
                </a:gridCol>
                <a:gridCol w="2664070">
                  <a:extLst>
                    <a:ext uri="{9D8B030D-6E8A-4147-A177-3AD203B41FA5}">
                      <a16:colId xmlns:a16="http://schemas.microsoft.com/office/drawing/2014/main" val="2556113364"/>
                    </a:ext>
                  </a:extLst>
                </a:gridCol>
                <a:gridCol w="1002323">
                  <a:extLst>
                    <a:ext uri="{9D8B030D-6E8A-4147-A177-3AD203B41FA5}">
                      <a16:colId xmlns:a16="http://schemas.microsoft.com/office/drawing/2014/main" val="2466771177"/>
                    </a:ext>
                  </a:extLst>
                </a:gridCol>
                <a:gridCol w="1046284">
                  <a:extLst>
                    <a:ext uri="{9D8B030D-6E8A-4147-A177-3AD203B41FA5}">
                      <a16:colId xmlns:a16="http://schemas.microsoft.com/office/drawing/2014/main" val="1466358974"/>
                    </a:ext>
                  </a:extLst>
                </a:gridCol>
                <a:gridCol w="395238">
                  <a:extLst>
                    <a:ext uri="{9D8B030D-6E8A-4147-A177-3AD203B41FA5}">
                      <a16:colId xmlns:a16="http://schemas.microsoft.com/office/drawing/2014/main" val="2128432690"/>
                    </a:ext>
                  </a:extLst>
                </a:gridCol>
                <a:gridCol w="669281">
                  <a:extLst>
                    <a:ext uri="{9D8B030D-6E8A-4147-A177-3AD203B41FA5}">
                      <a16:colId xmlns:a16="http://schemas.microsoft.com/office/drawing/2014/main" val="3546849520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74021509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1548597958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3209081329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3724844687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1105503065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1142575876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2922806377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97382831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2259967748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789068826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9255341"/>
                    </a:ext>
                  </a:extLst>
                </a:gridCol>
              </a:tblGrid>
              <a:tr h="5520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latin typeface="+mn-lt"/>
                        </a:rPr>
                        <a:t>ID</a:t>
                      </a: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Task / Activity</a:t>
                      </a:r>
                      <a:endParaRPr lang="en-US" sz="105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50">
                          <a:latin typeface="+mn-lt"/>
                        </a:rPr>
                        <a:t>Owner</a:t>
                      </a: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50">
                          <a:latin typeface="+mn-lt"/>
                        </a:rPr>
                        <a:t>Collaborator</a:t>
                      </a: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50">
                          <a:latin typeface="+mn-lt"/>
                        </a:rPr>
                        <a:t>Start Week</a:t>
                      </a: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50">
                          <a:latin typeface="+mn-lt"/>
                        </a:rPr>
                        <a:t>Status</a:t>
                      </a: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W1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Jul 6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W2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Jul 13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W3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Jul 20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Jul 27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W5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Aug 3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W6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Aug 10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W7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Aug 17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W8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Aug 24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W9</a:t>
                      </a:r>
                      <a:endParaRPr lang="en-US" sz="1050">
                        <a:latin typeface="+mn-lt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Aug 31</a:t>
                      </a:r>
                      <a:endParaRPr lang="en-US" sz="105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W10</a:t>
                      </a:r>
                      <a:endParaRPr lang="en-US" sz="1050">
                        <a:latin typeface="+mn-lt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Sep 7</a:t>
                      </a:r>
                      <a:endParaRPr lang="pt-PT" sz="105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W11</a:t>
                      </a:r>
                      <a:endParaRPr lang="en-US" sz="1050">
                        <a:latin typeface="+mn-lt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Sep 14</a:t>
                      </a:r>
                      <a:endParaRPr lang="en-US" sz="105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30793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Compartir información de aplicaciones de los sistemas Legados y participar en sesiónes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BanCoppel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A1A2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Ongoing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84150673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Generar diagramas de Capacidades de Negocio y Arquitectura aplicativa de 1er y 2do nivel de los sitemas legados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F.  López-Cantarero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A1A2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Ongoing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10295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Validación vista de capacidades de negocio y arquitectura aplicativa de sistemas legados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E. Mejía / Arturo Pérez/David Angeles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A1A2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Not started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7618744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Compartir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información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arquitectura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components de Unity (Transact, Apolo,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SmartVista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y canales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involucrados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BanCoppel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A1A2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Ongoing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266128439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Generar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Arquitecturas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coexistencia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F.  López-Cantarero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/J. </a:t>
                      </a:r>
                      <a:r>
                        <a:rPr kumimoji="0" lang="en-US" sz="105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Villenas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A1A2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Not started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0D22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0D22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0D22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0D22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0D22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2268025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Validación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arquiectura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coexistencia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Edgar Mejía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  <a:b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</a:b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/J. </a:t>
                      </a:r>
                      <a:r>
                        <a:rPr kumimoji="0" lang="en-US" sz="105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Villenas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A1A2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W7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Not started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53440199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Definir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proceso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Design Authority 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F.  López-Cantarero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/J. </a:t>
                      </a:r>
                      <a:r>
                        <a:rPr kumimoji="0" lang="en-US" sz="105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Villenas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A1A2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OnGoing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59159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Definir los bloques que componen la estrategia de interoperabilidad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F.  López-Cantarero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/J. </a:t>
                      </a:r>
                      <a:r>
                        <a:rPr kumimoji="0" lang="en-US" sz="105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Villenas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A1A2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Not started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86152112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Análisis de componentes críticos con identificación preliminar de qué se conserva, que se reduce su uso y que se decomisa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F.  López-Cantarero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/J. </a:t>
                      </a:r>
                      <a:r>
                        <a:rPr kumimoji="0" lang="en-US" sz="105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Villenas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A1A2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Not started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1794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Sign off de definiciones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+mn-lt"/>
                        </a:rPr>
                        <a:t>Arquitectura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+mn-lt"/>
                        </a:rPr>
                        <a:t>Coppel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F.  López-Cantarero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A1A2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W10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Not started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21564"/>
                  </a:ext>
                </a:extLst>
              </a:tr>
            </a:tbl>
          </a:graphicData>
        </a:graphic>
      </p:graphicFrame>
      <p:sp>
        <p:nvSpPr>
          <p:cNvPr id="2" name="Shape 0"/>
          <p:cNvSpPr/>
          <p:nvPr/>
        </p:nvSpPr>
        <p:spPr>
          <a:xfrm>
            <a:off x="1588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66180" y="36576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>
                <a:solidFill>
                  <a:srgbClr val="F0D224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&gt;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7076" y="36576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Unity Programme  |  Terms of Reference</a:t>
            </a:r>
            <a:endParaRPr lang="en-US" sz="1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48308" y="36576"/>
            <a:ext cx="36210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50">
                <a:solidFill>
                  <a:srgbClr val="D2D9FA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PROJECT PLAN – 10 WEEKS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5" name="Shape 373"/>
          <p:cNvSpPr/>
          <p:nvPr/>
        </p:nvSpPr>
        <p:spPr>
          <a:xfrm>
            <a:off x="11751628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6" name="Shape 374"/>
          <p:cNvSpPr/>
          <p:nvPr/>
        </p:nvSpPr>
        <p:spPr>
          <a:xfrm>
            <a:off x="1588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7" name="Text 375"/>
          <p:cNvSpPr/>
          <p:nvPr/>
        </p:nvSpPr>
        <p:spPr>
          <a:xfrm>
            <a:off x="275908" y="6665976"/>
            <a:ext cx="11247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Accenture Confidential  |  Unity Programme – Terms of Reference</a:t>
            </a:r>
            <a:endParaRPr lang="en-US"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8" name="Shape 376"/>
          <p:cNvSpPr/>
          <p:nvPr/>
        </p:nvSpPr>
        <p:spPr>
          <a:xfrm>
            <a:off x="11431588" y="6501384"/>
            <a:ext cx="310896" cy="310896"/>
          </a:xfrm>
          <a:prstGeom prst="ellipse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9" name="Text 377"/>
          <p:cNvSpPr/>
          <p:nvPr/>
        </p:nvSpPr>
        <p:spPr>
          <a:xfrm>
            <a:off x="11431588" y="6537960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1A1A2E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4</a:t>
            </a:r>
            <a:endParaRPr lang="en-US" sz="9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F36DC-D39C-884A-AD68-7D5941A82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46D85B7-167D-EB0F-EEED-95F41E4B5B48}"/>
              </a:ext>
            </a:extLst>
          </p:cNvPr>
          <p:cNvSpPr/>
          <p:nvPr/>
        </p:nvSpPr>
        <p:spPr>
          <a:xfrm>
            <a:off x="1588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7E0E887-4A22-E1D3-7D84-9E454C18034A}"/>
              </a:ext>
            </a:extLst>
          </p:cNvPr>
          <p:cNvSpPr/>
          <p:nvPr/>
        </p:nvSpPr>
        <p:spPr>
          <a:xfrm>
            <a:off x="166180" y="36576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>
                <a:solidFill>
                  <a:srgbClr val="F0D224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&gt;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A4982C9-928B-5CB5-A0E6-A8CFB0253770}"/>
              </a:ext>
            </a:extLst>
          </p:cNvPr>
          <p:cNvSpPr/>
          <p:nvPr/>
        </p:nvSpPr>
        <p:spPr>
          <a:xfrm>
            <a:off x="477076" y="36576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Unity Programme  |  Terms of Reference</a:t>
            </a:r>
            <a:endParaRPr lang="en-US" sz="1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FCBE693-546C-72EA-26B3-ABC3BE23724F}"/>
              </a:ext>
            </a:extLst>
          </p:cNvPr>
          <p:cNvSpPr/>
          <p:nvPr/>
        </p:nvSpPr>
        <p:spPr>
          <a:xfrm>
            <a:off x="8048308" y="36576"/>
            <a:ext cx="36210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50">
                <a:solidFill>
                  <a:srgbClr val="D2D9FA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PROJECT PLAN – 10 WEEKS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5" name="Shape 373">
            <a:extLst>
              <a:ext uri="{FF2B5EF4-FFF2-40B4-BE49-F238E27FC236}">
                <a16:creationId xmlns:a16="http://schemas.microsoft.com/office/drawing/2014/main" id="{03CB4199-67F1-180D-2185-DDD80A85517F}"/>
              </a:ext>
            </a:extLst>
          </p:cNvPr>
          <p:cNvSpPr/>
          <p:nvPr/>
        </p:nvSpPr>
        <p:spPr>
          <a:xfrm>
            <a:off x="11751628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6" name="Shape 374">
            <a:extLst>
              <a:ext uri="{FF2B5EF4-FFF2-40B4-BE49-F238E27FC236}">
                <a16:creationId xmlns:a16="http://schemas.microsoft.com/office/drawing/2014/main" id="{112DB888-B93D-B8DD-EACC-7DB075016449}"/>
              </a:ext>
            </a:extLst>
          </p:cNvPr>
          <p:cNvSpPr/>
          <p:nvPr/>
        </p:nvSpPr>
        <p:spPr>
          <a:xfrm>
            <a:off x="1588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7" name="Text 375">
            <a:extLst>
              <a:ext uri="{FF2B5EF4-FFF2-40B4-BE49-F238E27FC236}">
                <a16:creationId xmlns:a16="http://schemas.microsoft.com/office/drawing/2014/main" id="{CF5C8DDA-F580-DA07-C346-E0C1FA39B51A}"/>
              </a:ext>
            </a:extLst>
          </p:cNvPr>
          <p:cNvSpPr/>
          <p:nvPr/>
        </p:nvSpPr>
        <p:spPr>
          <a:xfrm>
            <a:off x="275908" y="6665976"/>
            <a:ext cx="11247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Accenture Confidential  |  Unity Programme – Terms of Reference</a:t>
            </a:r>
            <a:endParaRPr lang="en-US"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8" name="Shape 376">
            <a:extLst>
              <a:ext uri="{FF2B5EF4-FFF2-40B4-BE49-F238E27FC236}">
                <a16:creationId xmlns:a16="http://schemas.microsoft.com/office/drawing/2014/main" id="{98F9B2EA-EC0B-A6B9-029E-1FFE5D6DB227}"/>
              </a:ext>
            </a:extLst>
          </p:cNvPr>
          <p:cNvSpPr/>
          <p:nvPr/>
        </p:nvSpPr>
        <p:spPr>
          <a:xfrm>
            <a:off x="11431588" y="6501384"/>
            <a:ext cx="310896" cy="310896"/>
          </a:xfrm>
          <a:prstGeom prst="ellipse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9" name="Text 377">
            <a:extLst>
              <a:ext uri="{FF2B5EF4-FFF2-40B4-BE49-F238E27FC236}">
                <a16:creationId xmlns:a16="http://schemas.microsoft.com/office/drawing/2014/main" id="{F84D0C9D-8C2B-687D-F4A2-CB8F43BD2B89}"/>
              </a:ext>
            </a:extLst>
          </p:cNvPr>
          <p:cNvSpPr/>
          <p:nvPr/>
        </p:nvSpPr>
        <p:spPr>
          <a:xfrm>
            <a:off x="11431588" y="6537960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1A1A2E"/>
                </a:solidFill>
                <a:latin typeface="Graphik" pitchFamily="34" charset="0"/>
              </a:rPr>
              <a:t>5</a:t>
            </a:r>
            <a:endParaRPr lang="en-US" sz="90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380" name="Table 379">
            <a:extLst>
              <a:ext uri="{FF2B5EF4-FFF2-40B4-BE49-F238E27FC236}">
                <a16:creationId xmlns:a16="http://schemas.microsoft.com/office/drawing/2014/main" id="{3C64D8FB-014C-5C8A-C8A4-7E312AA1C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292319"/>
              </p:ext>
            </p:extLst>
          </p:nvPr>
        </p:nvGraphicFramePr>
        <p:xfrm>
          <a:off x="166182" y="1029903"/>
          <a:ext cx="11814049" cy="2569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45">
                  <a:extLst>
                    <a:ext uri="{9D8B030D-6E8A-4147-A177-3AD203B41FA5}">
                      <a16:colId xmlns:a16="http://schemas.microsoft.com/office/drawing/2014/main" val="930143871"/>
                    </a:ext>
                  </a:extLst>
                </a:gridCol>
                <a:gridCol w="3859730">
                  <a:extLst>
                    <a:ext uri="{9D8B030D-6E8A-4147-A177-3AD203B41FA5}">
                      <a16:colId xmlns:a16="http://schemas.microsoft.com/office/drawing/2014/main" val="3034542749"/>
                    </a:ext>
                  </a:extLst>
                </a:gridCol>
                <a:gridCol w="1174283">
                  <a:extLst>
                    <a:ext uri="{9D8B030D-6E8A-4147-A177-3AD203B41FA5}">
                      <a16:colId xmlns:a16="http://schemas.microsoft.com/office/drawing/2014/main" val="3412413597"/>
                    </a:ext>
                  </a:extLst>
                </a:gridCol>
                <a:gridCol w="933650">
                  <a:extLst>
                    <a:ext uri="{9D8B030D-6E8A-4147-A177-3AD203B41FA5}">
                      <a16:colId xmlns:a16="http://schemas.microsoft.com/office/drawing/2014/main" val="2693001061"/>
                    </a:ext>
                  </a:extLst>
                </a:gridCol>
                <a:gridCol w="1010653">
                  <a:extLst>
                    <a:ext uri="{9D8B030D-6E8A-4147-A177-3AD203B41FA5}">
                      <a16:colId xmlns:a16="http://schemas.microsoft.com/office/drawing/2014/main" val="362321233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934509493"/>
                    </a:ext>
                  </a:extLst>
                </a:gridCol>
                <a:gridCol w="1805517">
                  <a:extLst>
                    <a:ext uri="{9D8B030D-6E8A-4147-A177-3AD203B41FA5}">
                      <a16:colId xmlns:a16="http://schemas.microsoft.com/office/drawing/2014/main" val="542353525"/>
                    </a:ext>
                  </a:extLst>
                </a:gridCol>
                <a:gridCol w="1991651">
                  <a:extLst>
                    <a:ext uri="{9D8B030D-6E8A-4147-A177-3AD203B41FA5}">
                      <a16:colId xmlns:a16="http://schemas.microsoft.com/office/drawing/2014/main" val="3193530855"/>
                    </a:ext>
                  </a:extLst>
                </a:gridCol>
              </a:tblGrid>
              <a:tr h="2061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+mn-lt"/>
                        </a:rPr>
                        <a:t>ID</a:t>
                      </a: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Program Deliverables</a:t>
                      </a:r>
                      <a:endParaRPr lang="en-US" sz="105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Owner</a:t>
                      </a:r>
                      <a:endParaRPr lang="en-US" sz="105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Due Date</a:t>
                      </a:r>
                      <a:endParaRPr lang="en-US" sz="1050" dirty="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Status</a:t>
                      </a:r>
                      <a:endParaRPr lang="en-US" sz="105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Priority</a:t>
                      </a:r>
                      <a:endParaRPr lang="pt-PT" sz="105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Dependencies</a:t>
                      </a:r>
                      <a:endParaRPr lang="pt-PT" sz="105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Comments / Notes</a:t>
                      </a:r>
                      <a:endParaRPr lang="en-US" sz="105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126786"/>
                  </a:ext>
                </a:extLst>
              </a:tr>
              <a:tr h="393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+mn-lt"/>
                        </a:rPr>
                        <a:t>1.0</a:t>
                      </a: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+mn-lt"/>
                        </a:rPr>
                        <a:t>Template Blueprint de </a:t>
                      </a:r>
                      <a:r>
                        <a:rPr lang="en-US" sz="1050" err="1">
                          <a:latin typeface="+mn-lt"/>
                        </a:rPr>
                        <a:t>Arquitectura</a:t>
                      </a:r>
                      <a:endParaRPr lang="en-US" sz="1050">
                        <a:highlight>
                          <a:srgbClr val="FF00FF"/>
                        </a:highlight>
                        <a:latin typeface="+mn-lt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03/08/2026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● In pro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g</a:t>
                      </a: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ress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Medium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Sin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dependencias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3403474865"/>
                  </a:ext>
                </a:extLst>
              </a:tr>
              <a:tr h="393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+mn-lt"/>
                        </a:rPr>
                        <a:t>2.0</a:t>
                      </a: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err="1">
                          <a:latin typeface="+mn-lt"/>
                        </a:rPr>
                        <a:t>Arquitectura</a:t>
                      </a:r>
                      <a:r>
                        <a:rPr lang="en-US" sz="1050">
                          <a:latin typeface="+mn-lt"/>
                        </a:rPr>
                        <a:t> Legado - Primera </a:t>
                      </a:r>
                      <a:r>
                        <a:rPr lang="en-US" sz="1050" err="1">
                          <a:latin typeface="+mn-lt"/>
                        </a:rPr>
                        <a:t>iteración</a:t>
                      </a:r>
                      <a:endParaRPr lang="en-US" sz="1050">
                        <a:highlight>
                          <a:srgbClr val="FF00FF"/>
                        </a:highlight>
                        <a:latin typeface="+mn-lt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03/08/2026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● In pro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g</a:t>
                      </a: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ress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High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Información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técnica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de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los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sistemas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legados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estan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realizando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sesiones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para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obtener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esta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información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3549179536"/>
                  </a:ext>
                </a:extLst>
              </a:tr>
              <a:tr h="393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3.0</a:t>
                      </a: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Arquitecturas Transitorias por iniciativa al 2026</a:t>
                      </a: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07/09/2026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● Not Started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High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Arquitecuras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indipendientes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cada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sitema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Unity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Solicitadas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a Edgar Mejía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3065864360"/>
                  </a:ext>
                </a:extLst>
              </a:tr>
              <a:tr h="393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4.0</a:t>
                      </a: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Análisis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preliminar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decomiso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F. López-Cantarero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Graphik" pitchFamily="34" charset="-122"/>
                          <a:cs typeface="Graphik" pitchFamily="34" charset="-120"/>
                        </a:rPr>
                        <a:t>11/09/2026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Graphik" pitchFamily="34" charset="-122"/>
                          <a:cs typeface="Graphik" pitchFamily="34" charset="-120"/>
                        </a:rPr>
                        <a:t>● Not Started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Medium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Arquitecturas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transitorias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definidas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y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documentadas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505142635"/>
                  </a:ext>
                </a:extLst>
              </a:tr>
              <a:tr h="393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5.0</a:t>
                      </a: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Modelo de Design Authority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00FFFF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F. López-Cantarero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Graphik" pitchFamily="34" charset="-122"/>
                          <a:cs typeface="Graphik" pitchFamily="34" charset="-120"/>
                        </a:rPr>
                        <a:t>17/08/2026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● In pro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g</a:t>
                      </a: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ress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High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Conocer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proceso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comites de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arquitectura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actuales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3840777816"/>
                  </a:ext>
                </a:extLst>
              </a:tr>
              <a:tr h="393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6.0</a:t>
                      </a: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Bases de la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estrategia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interoperabilidad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00FFFF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F. López-Cantarero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Graphik" pitchFamily="34" charset="-122"/>
                          <a:cs typeface="Graphik" pitchFamily="34" charset="-120"/>
                        </a:rPr>
                        <a:t>07/09/2026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Graphik" pitchFamily="34" charset="-122"/>
                          <a:cs typeface="Graphik" pitchFamily="34" charset="-120"/>
                        </a:rPr>
                        <a:t>● Not Started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High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21842572"/>
                  </a:ext>
                </a:extLst>
              </a:tr>
            </a:tbl>
          </a:graphicData>
        </a:graphic>
      </p:graphicFrame>
      <p:sp>
        <p:nvSpPr>
          <p:cNvPr id="381" name="TextBox 380">
            <a:extLst>
              <a:ext uri="{FF2B5EF4-FFF2-40B4-BE49-F238E27FC236}">
                <a16:creationId xmlns:a16="http://schemas.microsoft.com/office/drawing/2014/main" id="{C7303BD6-B937-746D-6B57-587B9ADF5CC1}"/>
              </a:ext>
            </a:extLst>
          </p:cNvPr>
          <p:cNvSpPr txBox="1"/>
          <p:nvPr/>
        </p:nvSpPr>
        <p:spPr>
          <a:xfrm>
            <a:off x="188976" y="645166"/>
            <a:ext cx="4152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err="1">
                <a:solidFill>
                  <a:prstClr val="black"/>
                </a:solidFill>
                <a:latin typeface="Calibri" panose="020F0502020204030204"/>
              </a:rPr>
              <a:t>Programa</a:t>
            </a:r>
            <a:r>
              <a:rPr lang="en-US" b="1">
                <a:solidFill>
                  <a:prstClr val="black"/>
                </a:solidFill>
                <a:latin typeface="Calibri" panose="020F0502020204030204"/>
              </a:rPr>
              <a:t> de </a:t>
            </a:r>
            <a:r>
              <a:rPr lang="en-US" b="1" err="1">
                <a:solidFill>
                  <a:prstClr val="black"/>
                </a:solidFill>
                <a:latin typeface="Calibri" panose="020F0502020204030204"/>
              </a:rPr>
              <a:t>Entregables</a:t>
            </a:r>
            <a:endParaRPr lang="en-US" b="1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616520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2020">
  <a:themeElements>
    <a:clrScheme name="BanCoppel_2025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C41E8"/>
      </a:accent1>
      <a:accent2>
        <a:srgbClr val="F0D224"/>
      </a:accent2>
      <a:accent3>
        <a:srgbClr val="052879"/>
      </a:accent3>
      <a:accent4>
        <a:srgbClr val="081754"/>
      </a:accent4>
      <a:accent5>
        <a:srgbClr val="1CA8F7"/>
      </a:accent5>
      <a:accent6>
        <a:srgbClr val="EEE8E3"/>
      </a:accent6>
      <a:hlink>
        <a:srgbClr val="0097A7"/>
      </a:hlink>
      <a:folHlink>
        <a:srgbClr val="0097A7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B2DBB2-0968-438D-8142-EFBF9F929A8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85C217B-76FF-4211-AD09-45DFFDA1D5B6}">
  <ds:schemaRefs>
    <ds:schemaRef ds:uri="http://schemas.openxmlformats.org/package/2006/metadata/core-properties"/>
    <ds:schemaRef ds:uri="http://purl.org/dc/terms/"/>
    <ds:schemaRef ds:uri="http://www.w3.org/XML/1998/namespace"/>
    <ds:schemaRef ds:uri="http://purl.org/dc/elements/1.1/"/>
    <ds:schemaRef ds:uri="bcf21e1d-e7b2-4ba8-bb72-ca5e3ff425f9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E618137-9C7D-47A1-89EE-D7D296D92E13}">
  <ds:schemaRefs>
    <ds:schemaRef ds:uri="bcf21e1d-e7b2-4ba8-bb72-ca5e3ff425f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1123</TotalTime>
  <Words>1409</Words>
  <Application>Microsoft Office PowerPoint</Application>
  <PresentationFormat>Widescreen</PresentationFormat>
  <Paragraphs>286</Paragraphs>
  <Slides>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Aptos</vt:lpstr>
      <vt:lpstr>Arial</vt:lpstr>
      <vt:lpstr>Calibri</vt:lpstr>
      <vt:lpstr>Graphik</vt:lpstr>
      <vt:lpstr>Graphik (Body)</vt:lpstr>
      <vt:lpstr>Graphik Light</vt:lpstr>
      <vt:lpstr>Accenture 2020</vt:lpstr>
      <vt:lpstr>1_Office Theme</vt:lpstr>
      <vt:lpstr>think-cell Slide</vt:lpstr>
      <vt:lpstr>ACELERACIÓN PLAN DIRECTOR | WORKSTREAMS DE TRABAJO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Gonzalez, Ricardo</dc:creator>
  <cp:lastModifiedBy>Antonio Pichardo, Joaquín Ernesto</cp:lastModifiedBy>
  <cp:revision>2</cp:revision>
  <dcterms:created xsi:type="dcterms:W3CDTF">2026-07-10T15:11:14Z</dcterms:created>
  <dcterms:modified xsi:type="dcterms:W3CDTF">2026-07-22T20:08:29Z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</Properties>
</file>