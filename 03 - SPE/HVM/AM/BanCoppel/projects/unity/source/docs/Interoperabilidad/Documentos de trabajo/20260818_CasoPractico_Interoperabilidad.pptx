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11" Type="http://schemas.openxmlformats.org/officeDocument/2006/relationships/customXml" Target="../customXml/item3.xml"/><Relationship Id="rId5" Type="http://schemas.openxmlformats.org/officeDocument/2006/relationships/presProps" Target="presProps.xml"/><Relationship Id="rId10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customXml" Target="../customXml/item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3DCF1-FD06-5BAB-4525-343EA999EB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E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BAF4B6-5A20-E0CF-EE52-03E1081E8E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116A5-15B1-9E1E-6D10-1598AD006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D09C2-F95B-499F-9EE4-A8592424F0B7}" type="datetimeFigureOut">
              <a:rPr lang="en-ES" smtClean="0"/>
              <a:t>08/18/2026</a:t>
            </a:fld>
            <a:endParaRPr lang="en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E6C52C-4EB9-A9C2-364B-E734F70FF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1AB814-7DBB-244D-E548-45E651D44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D8CE1-8690-4E0E-9373-F32A61DAC945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422277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8AA26-BE1B-0D44-B4CE-D9923E078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E485EF-071C-B5FE-93EE-3C925C46DC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EFA93B-3F6B-8F78-5518-731B465B2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D09C2-F95B-499F-9EE4-A8592424F0B7}" type="datetimeFigureOut">
              <a:rPr lang="en-ES" smtClean="0"/>
              <a:t>08/18/2026</a:t>
            </a:fld>
            <a:endParaRPr lang="en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A463E8-194A-19BD-24D7-A83E39A89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45F736-66F5-3D91-8355-131BB5A3C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D8CE1-8690-4E0E-9373-F32A61DAC945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664053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75E96-ED6C-B7C1-FD35-A7F607028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A30935-C939-2886-E54B-FDD89753FF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8CDAAE-A452-BFE5-8C96-793B5DA65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D09C2-F95B-499F-9EE4-A8592424F0B7}" type="datetimeFigureOut">
              <a:rPr lang="en-ES" smtClean="0"/>
              <a:t>08/18/2026</a:t>
            </a:fld>
            <a:endParaRPr lang="en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D2E34E-8C32-3192-255B-21AA09964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182898-16CA-8A7D-D95D-9CE1E2842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D8CE1-8690-4E0E-9373-F32A61DAC945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9778835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DC875-EADE-654F-C267-09DAFCF6F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259F65-AF76-8130-0A00-B53297767F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04FF60-AB3C-9105-15C1-4C7E214CD4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14423A-BDF3-0A73-718C-BD676D6F9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D09C2-F95B-499F-9EE4-A8592424F0B7}" type="datetimeFigureOut">
              <a:rPr lang="en-ES" smtClean="0"/>
              <a:t>08/18/2026</a:t>
            </a:fld>
            <a:endParaRPr lang="en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2805E9-2C8D-13B7-8DE1-E0C656152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7ADE03-F010-D284-80AC-2A3CD3D73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D8CE1-8690-4E0E-9373-F32A61DAC945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4222289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323AA-BA07-D003-84FA-527CA75E3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BE3F39-D538-A2DB-3906-1AE8A65E03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8D18EF-0AF9-BE02-5206-7E179E5587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FB26C8-C183-5FDC-EC35-0EEBF6C331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B65CFA-96A3-7E6A-CF69-7FA32FE1C0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3A00F82-4D72-0A61-D84B-6B4417228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D09C2-F95B-499F-9EE4-A8592424F0B7}" type="datetimeFigureOut">
              <a:rPr lang="en-ES" smtClean="0"/>
              <a:t>08/18/2026</a:t>
            </a:fld>
            <a:endParaRPr lang="en-E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ABD650C-9CDE-4163-C582-8302A7F089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926818-475F-54EA-AE03-EF0A0D760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D8CE1-8690-4E0E-9373-F32A61DAC945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385190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CEFAE-3B9A-339B-F5AF-5CC251FA6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F438D2-5B5B-0F31-E524-F0D6E7FFB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D09C2-F95B-499F-9EE4-A8592424F0B7}" type="datetimeFigureOut">
              <a:rPr lang="en-ES" smtClean="0"/>
              <a:t>08/18/2026</a:t>
            </a:fld>
            <a:endParaRPr lang="en-E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792D9D-61AA-8394-54A9-9F096D586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D94C65-8307-8322-80A7-29C51FF50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D8CE1-8690-4E0E-9373-F32A61DAC945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605504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88F4C3-2C6A-B0E6-725E-1A406E22A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D09C2-F95B-499F-9EE4-A8592424F0B7}" type="datetimeFigureOut">
              <a:rPr lang="en-ES" smtClean="0"/>
              <a:t>08/18/2026</a:t>
            </a:fld>
            <a:endParaRPr lang="en-E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EEC849-2C2D-A72C-5E44-D9D0A84E1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0CDAE6-0DFB-15D2-2FD7-BA0A6A3BB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D8CE1-8690-4E0E-9373-F32A61DAC945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2088094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0CD9F-2710-BFC6-C9C5-CC9EB5AE4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0B22C9-9AB9-AE58-F598-564B2B4A6E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FFA6F5-BE17-AEF9-B3E3-D76EC9D5C1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71F800-4BB5-EF3E-B231-7E9F4397A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D09C2-F95B-499F-9EE4-A8592424F0B7}" type="datetimeFigureOut">
              <a:rPr lang="en-ES" smtClean="0"/>
              <a:t>08/18/2026</a:t>
            </a:fld>
            <a:endParaRPr lang="en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8EF294-071E-4A0B-B68D-1FBE6F5BC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2315A3-2A40-1315-1DC4-D81A14DDD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D8CE1-8690-4E0E-9373-F32A61DAC945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6792154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93E95-D723-B9DE-9EB6-300A394C9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55C916-A051-F01D-10C8-75D94D01C9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E3D005-6F4D-28CA-B665-35F58CC1B0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A6CDE6-0C04-F438-2638-7BC2B5DF7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D09C2-F95B-499F-9EE4-A8592424F0B7}" type="datetimeFigureOut">
              <a:rPr lang="en-ES" smtClean="0"/>
              <a:t>08/18/2026</a:t>
            </a:fld>
            <a:endParaRPr lang="en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D669D8-5085-ADD9-8A01-E9E292BBA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13F718-5973-2E2C-0D71-7414A6FB3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D8CE1-8690-4E0E-9373-F32A61DAC945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99614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A6748-4B59-CDF5-C23D-81F27FCE2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330B94-5DB1-613A-3EED-E2E265E2FF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4D4928-3C28-28AD-79C3-EFA667201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D09C2-F95B-499F-9EE4-A8592424F0B7}" type="datetimeFigureOut">
              <a:rPr lang="en-ES" smtClean="0"/>
              <a:t>08/18/2026</a:t>
            </a:fld>
            <a:endParaRPr lang="en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C8A2EB-0775-B4F9-17FE-04A5A37F9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DAF24A-5108-676B-04D7-C8B58F10E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D8CE1-8690-4E0E-9373-F32A61DAC945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629561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7B525A-56B7-0F4F-FABC-9D467C68D5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C5C4A2-7029-3229-BC12-DA1719A61B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EAE2D0-8860-EF98-6B06-028A73717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D09C2-F95B-499F-9EE4-A8592424F0B7}" type="datetimeFigureOut">
              <a:rPr lang="en-ES" smtClean="0"/>
              <a:t>08/18/2026</a:t>
            </a:fld>
            <a:endParaRPr lang="en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1331BA-EE9F-DF5E-3952-D5515F82C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E9E29E-A53B-C55E-9D82-10A112088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D8CE1-8690-4E0E-9373-F32A61DAC945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5015903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F76AA5-9ADF-E463-C178-839E9D396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DC55AA-C58A-8182-7A3A-010750227D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11B4F7-9CB2-01E2-5AE1-A32777F39C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DD09C2-F95B-499F-9EE4-A8592424F0B7}" type="datetimeFigureOut">
              <a:rPr lang="en-ES" smtClean="0"/>
              <a:t>08/18/2026</a:t>
            </a:fld>
            <a:endParaRPr lang="en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0EDF2C-7CC3-EA0F-5451-3176E5EFAF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D10934-90D7-E476-0CC8-685137231B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FD8CE1-8690-4E0E-9373-F32A61DAC945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5552208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132CEB9-5886-9CF7-A8B5-EEF341E07501}"/>
              </a:ext>
            </a:extLst>
          </p:cNvPr>
          <p:cNvSpPr/>
          <p:nvPr/>
        </p:nvSpPr>
        <p:spPr>
          <a:xfrm>
            <a:off x="726472" y="472059"/>
            <a:ext cx="2374773" cy="2152269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ES_tradnl" sz="1400" dirty="0">
                <a:solidFill>
                  <a:schemeClr val="tx1"/>
                </a:solidFill>
              </a:rPr>
              <a:t>Api Management</a:t>
            </a:r>
            <a:endParaRPr lang="en-ES" sz="1400" dirty="0">
              <a:solidFill>
                <a:schemeClr val="tx1"/>
              </a:solidFill>
            </a:endParaRPr>
          </a:p>
        </p:txBody>
      </p:sp>
      <p:sp>
        <p:nvSpPr>
          <p:cNvPr id="7" name="Text 28">
            <a:extLst>
              <a:ext uri="{FF2B5EF4-FFF2-40B4-BE49-F238E27FC236}">
                <a16:creationId xmlns:a16="http://schemas.microsoft.com/office/drawing/2014/main" id="{BA4E6F62-386A-9A9C-7F0A-F0CB2C8C0FBF}"/>
              </a:ext>
            </a:extLst>
          </p:cNvPr>
          <p:cNvSpPr/>
          <p:nvPr/>
        </p:nvSpPr>
        <p:spPr>
          <a:xfrm>
            <a:off x="1365218" y="1440859"/>
            <a:ext cx="1097280" cy="334758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lt1"/>
                </a:solidFill>
              </a:rPr>
              <a:t>59 Interfaces Coppel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5A9C48-9EB6-B50D-3C84-1A39CB8DFA31}"/>
              </a:ext>
            </a:extLst>
          </p:cNvPr>
          <p:cNvSpPr txBox="1"/>
          <p:nvPr/>
        </p:nvSpPr>
        <p:spPr>
          <a:xfrm>
            <a:off x="1511522" y="102727"/>
            <a:ext cx="8046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dirty="0"/>
              <a:t>AS-IS</a:t>
            </a:r>
            <a:endParaRPr lang="en-E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36F64A5-5933-8EA5-4710-965D3F6009F1}"/>
              </a:ext>
            </a:extLst>
          </p:cNvPr>
          <p:cNvSpPr/>
          <p:nvPr/>
        </p:nvSpPr>
        <p:spPr>
          <a:xfrm>
            <a:off x="9326499" y="472058"/>
            <a:ext cx="2374773" cy="2152269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ES_tradnl" sz="1400" dirty="0">
                <a:solidFill>
                  <a:schemeClr val="tx1"/>
                </a:solidFill>
              </a:rPr>
              <a:t>Api Management</a:t>
            </a:r>
            <a:endParaRPr lang="en-ES" sz="1400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E9ABD2-5417-68F2-E509-45A32A40EF36}"/>
              </a:ext>
            </a:extLst>
          </p:cNvPr>
          <p:cNvSpPr/>
          <p:nvPr/>
        </p:nvSpPr>
        <p:spPr>
          <a:xfrm>
            <a:off x="9991344" y="960119"/>
            <a:ext cx="1097280" cy="334758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 err="1"/>
              <a:t>Mulesoft</a:t>
            </a:r>
            <a:endParaRPr lang="en-ES" sz="11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1B0D652-142D-DF04-A2DD-50E362638721}"/>
              </a:ext>
            </a:extLst>
          </p:cNvPr>
          <p:cNvSpPr txBox="1"/>
          <p:nvPr/>
        </p:nvSpPr>
        <p:spPr>
          <a:xfrm>
            <a:off x="10110216" y="102726"/>
            <a:ext cx="8046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dirty="0"/>
              <a:t>TO-BE</a:t>
            </a:r>
            <a:endParaRPr lang="en-E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8E3AF96-E2A2-8384-419A-1D776F2430CD}"/>
              </a:ext>
            </a:extLst>
          </p:cNvPr>
          <p:cNvSpPr/>
          <p:nvPr/>
        </p:nvSpPr>
        <p:spPr>
          <a:xfrm>
            <a:off x="5111115" y="490417"/>
            <a:ext cx="2374773" cy="2152269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ES_tradnl" sz="1400" dirty="0">
                <a:solidFill>
                  <a:schemeClr val="tx1"/>
                </a:solidFill>
              </a:rPr>
              <a:t>Api Management</a:t>
            </a:r>
            <a:endParaRPr lang="en-ES" sz="1400" dirty="0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E499A6F-92DA-FA94-3C60-866A37BDBA40}"/>
              </a:ext>
            </a:extLst>
          </p:cNvPr>
          <p:cNvSpPr/>
          <p:nvPr/>
        </p:nvSpPr>
        <p:spPr>
          <a:xfrm>
            <a:off x="5763577" y="878467"/>
            <a:ext cx="1097280" cy="334758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 err="1"/>
              <a:t>Mulesoft</a:t>
            </a:r>
            <a:endParaRPr lang="en-ES" sz="11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8633270-E60A-4DD5-11D7-2B36B8678504}"/>
              </a:ext>
            </a:extLst>
          </p:cNvPr>
          <p:cNvSpPr txBox="1"/>
          <p:nvPr/>
        </p:nvSpPr>
        <p:spPr>
          <a:xfrm>
            <a:off x="5900928" y="102726"/>
            <a:ext cx="1395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dirty="0"/>
              <a:t>Transición</a:t>
            </a:r>
            <a:endParaRPr lang="en-E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20E9541-7D90-EEE9-6043-9A16C787BCEE}"/>
              </a:ext>
            </a:extLst>
          </p:cNvPr>
          <p:cNvSpPr/>
          <p:nvPr/>
        </p:nvSpPr>
        <p:spPr>
          <a:xfrm>
            <a:off x="5763577" y="1299161"/>
            <a:ext cx="1097280" cy="334758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 err="1"/>
              <a:t>Apigee</a:t>
            </a:r>
            <a:endParaRPr lang="en-ES" sz="1100" dirty="0"/>
          </a:p>
        </p:txBody>
      </p:sp>
      <p:sp>
        <p:nvSpPr>
          <p:cNvPr id="32" name="Text 28">
            <a:extLst>
              <a:ext uri="{FF2B5EF4-FFF2-40B4-BE49-F238E27FC236}">
                <a16:creationId xmlns:a16="http://schemas.microsoft.com/office/drawing/2014/main" id="{59C67631-6026-0A49-06BF-47F3B5BAA475}"/>
              </a:ext>
            </a:extLst>
          </p:cNvPr>
          <p:cNvSpPr/>
          <p:nvPr/>
        </p:nvSpPr>
        <p:spPr>
          <a:xfrm>
            <a:off x="5763577" y="1719855"/>
            <a:ext cx="1097280" cy="334758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lt1"/>
                </a:solidFill>
              </a:rPr>
              <a:t>59 Interfaces Coppel</a:t>
            </a:r>
          </a:p>
        </p:txBody>
      </p:sp>
      <p:sp>
        <p:nvSpPr>
          <p:cNvPr id="34" name="Text 28">
            <a:extLst>
              <a:ext uri="{FF2B5EF4-FFF2-40B4-BE49-F238E27FC236}">
                <a16:creationId xmlns:a16="http://schemas.microsoft.com/office/drawing/2014/main" id="{675B4F17-726E-24D3-551F-898ECDA02643}"/>
              </a:ext>
            </a:extLst>
          </p:cNvPr>
          <p:cNvSpPr/>
          <p:nvPr/>
        </p:nvSpPr>
        <p:spPr>
          <a:xfrm>
            <a:off x="1365218" y="1835873"/>
            <a:ext cx="1097280" cy="334758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10 Open Banking</a:t>
            </a:r>
          </a:p>
        </p:txBody>
      </p:sp>
      <p:sp>
        <p:nvSpPr>
          <p:cNvPr id="35" name="Text 28">
            <a:extLst>
              <a:ext uri="{FF2B5EF4-FFF2-40B4-BE49-F238E27FC236}">
                <a16:creationId xmlns:a16="http://schemas.microsoft.com/office/drawing/2014/main" id="{95A7E10D-1E5A-994F-E693-5011BA68FED4}"/>
              </a:ext>
            </a:extLst>
          </p:cNvPr>
          <p:cNvSpPr/>
          <p:nvPr/>
        </p:nvSpPr>
        <p:spPr>
          <a:xfrm>
            <a:off x="5763577" y="2140549"/>
            <a:ext cx="1097280" cy="334758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10 Open Banking</a:t>
            </a:r>
          </a:p>
        </p:txBody>
      </p:sp>
      <p:sp>
        <p:nvSpPr>
          <p:cNvPr id="37" name="Text 28">
            <a:extLst>
              <a:ext uri="{FF2B5EF4-FFF2-40B4-BE49-F238E27FC236}">
                <a16:creationId xmlns:a16="http://schemas.microsoft.com/office/drawing/2014/main" id="{AC031476-DDB9-68F9-AD57-819D0D3397ED}"/>
              </a:ext>
            </a:extLst>
          </p:cNvPr>
          <p:cNvSpPr/>
          <p:nvPr/>
        </p:nvSpPr>
        <p:spPr>
          <a:xfrm>
            <a:off x="9991344" y="1463490"/>
            <a:ext cx="1097280" cy="334758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10 Open Banking</a:t>
            </a:r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E4790A0F-AF89-C41C-B90A-6D62CB04ED80}"/>
              </a:ext>
            </a:extLst>
          </p:cNvPr>
          <p:cNvCxnSpPr>
            <a:cxnSpLocks/>
            <a:stCxn id="30" idx="3"/>
            <a:endCxn id="12" idx="1"/>
          </p:cNvCxnSpPr>
          <p:nvPr/>
        </p:nvCxnSpPr>
        <p:spPr>
          <a:xfrm flipV="1">
            <a:off x="6860857" y="1127498"/>
            <a:ext cx="3130487" cy="3390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752AB780-002C-813C-0311-C34D76E4FF6B}"/>
              </a:ext>
            </a:extLst>
          </p:cNvPr>
          <p:cNvCxnSpPr>
            <a:cxnSpLocks/>
            <a:stCxn id="20" idx="3"/>
            <a:endCxn id="12" idx="1"/>
          </p:cNvCxnSpPr>
          <p:nvPr/>
        </p:nvCxnSpPr>
        <p:spPr>
          <a:xfrm>
            <a:off x="6860857" y="1045846"/>
            <a:ext cx="3130487" cy="816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BE1ACCE8-B191-9265-D28F-C45789E44C56}"/>
              </a:ext>
            </a:extLst>
          </p:cNvPr>
          <p:cNvCxnSpPr>
            <a:cxnSpLocks/>
            <a:stCxn id="32" idx="3"/>
            <a:endCxn id="12" idx="1"/>
          </p:cNvCxnSpPr>
          <p:nvPr/>
        </p:nvCxnSpPr>
        <p:spPr>
          <a:xfrm flipV="1">
            <a:off x="6860857" y="1127498"/>
            <a:ext cx="3130487" cy="7597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75F79505-6D03-0C50-72FF-03A95AF2D0D2}"/>
              </a:ext>
            </a:extLst>
          </p:cNvPr>
          <p:cNvCxnSpPr>
            <a:cxnSpLocks/>
            <a:stCxn id="35" idx="3"/>
            <a:endCxn id="12" idx="1"/>
          </p:cNvCxnSpPr>
          <p:nvPr/>
        </p:nvCxnSpPr>
        <p:spPr>
          <a:xfrm flipV="1">
            <a:off x="6860857" y="1127498"/>
            <a:ext cx="3130487" cy="11804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TextBox 98">
            <a:extLst>
              <a:ext uri="{FF2B5EF4-FFF2-40B4-BE49-F238E27FC236}">
                <a16:creationId xmlns:a16="http://schemas.microsoft.com/office/drawing/2014/main" id="{024ACB52-D6FF-473B-98D5-377AEF9F763F}"/>
              </a:ext>
            </a:extLst>
          </p:cNvPr>
          <p:cNvSpPr txBox="1"/>
          <p:nvPr/>
        </p:nvSpPr>
        <p:spPr>
          <a:xfrm>
            <a:off x="8079178" y="160823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/>
              <a:t>?</a:t>
            </a:r>
            <a:endParaRPr lang="en-ES" dirty="0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65B5008B-6FD6-DFD9-4499-6948EE10BB2F}"/>
              </a:ext>
            </a:extLst>
          </p:cNvPr>
          <p:cNvSpPr txBox="1"/>
          <p:nvPr/>
        </p:nvSpPr>
        <p:spPr>
          <a:xfrm>
            <a:off x="726472" y="3179757"/>
            <a:ext cx="3205448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s-ES_tradnl" sz="1050" dirty="0"/>
              <a:t>Open </a:t>
            </a:r>
            <a:r>
              <a:rPr lang="es-ES_tradnl" sz="1050" dirty="0" err="1"/>
              <a:t>Banking</a:t>
            </a:r>
            <a:r>
              <a:rPr lang="es-ES_tradnl" sz="1050" dirty="0"/>
              <a:t> :</a:t>
            </a:r>
            <a:r>
              <a:rPr lang="en-ES" sz="1050" dirty="0"/>
              <a:t>Publica y controla acceso a APIs públicas de BanCoppel (portal de registro, throttling, exposición de APIs externas)</a:t>
            </a:r>
            <a:endParaRPr lang="es-ES_tradnl" sz="105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_tradnl" sz="1050" dirty="0" err="1"/>
              <a:t>InterAct</a:t>
            </a:r>
            <a:r>
              <a:rPr lang="es-ES_tradnl" sz="1050" dirty="0"/>
              <a:t> </a:t>
            </a:r>
            <a:r>
              <a:rPr lang="es-ES_tradnl" sz="1050" dirty="0" err="1"/>
              <a:t>Router</a:t>
            </a:r>
            <a:r>
              <a:rPr lang="es-ES_tradnl" sz="1050" dirty="0"/>
              <a:t> enruta peticiones de canales hacia </a:t>
            </a:r>
            <a:r>
              <a:rPr lang="es-ES_tradnl" sz="1050" dirty="0" err="1"/>
              <a:t>SPLs</a:t>
            </a:r>
            <a:r>
              <a:rPr lang="es-ES_tradnl" sz="1050" dirty="0"/>
              <a:t> de Informix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ES" sz="1050" b="1" dirty="0"/>
              <a:t>Bus IBM</a:t>
            </a:r>
            <a:r>
              <a:rPr lang="en-ES" sz="1050" dirty="0"/>
              <a:t> (#57)ESB corporativo: conecta aplicaciones de sucursal, ventanilla, remesas, cheques</a:t>
            </a:r>
            <a:endParaRPr lang="es-ES_tradnl" sz="105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ES" sz="1050" b="1" dirty="0"/>
              <a:t>MuleSoft</a:t>
            </a:r>
            <a:r>
              <a:rPr lang="es-ES_tradnl" sz="1050" b="1" dirty="0"/>
              <a:t>: </a:t>
            </a:r>
            <a:r>
              <a:rPr lang="en-ES" sz="1050" dirty="0"/>
              <a:t>Integración API moderna: orquesta servicios hacia sistemas internos y externos</a:t>
            </a:r>
          </a:p>
        </p:txBody>
      </p:sp>
      <p:sp>
        <p:nvSpPr>
          <p:cNvPr id="121" name="Text 28">
            <a:extLst>
              <a:ext uri="{FF2B5EF4-FFF2-40B4-BE49-F238E27FC236}">
                <a16:creationId xmlns:a16="http://schemas.microsoft.com/office/drawing/2014/main" id="{E900A3E9-D5B1-94C8-9304-D0D3D00C7D25}"/>
              </a:ext>
            </a:extLst>
          </p:cNvPr>
          <p:cNvSpPr/>
          <p:nvPr/>
        </p:nvSpPr>
        <p:spPr>
          <a:xfrm>
            <a:off x="1365218" y="2218525"/>
            <a:ext cx="1097280" cy="334758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lt1"/>
                </a:solidFill>
              </a:rPr>
              <a:t>15 Interact Router</a:t>
            </a: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88102547-6D92-0D91-1690-509E7847B1BF}"/>
              </a:ext>
            </a:extLst>
          </p:cNvPr>
          <p:cNvSpPr/>
          <p:nvPr/>
        </p:nvSpPr>
        <p:spPr>
          <a:xfrm>
            <a:off x="1365218" y="2596447"/>
            <a:ext cx="1097280" cy="334758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 err="1"/>
              <a:t>Mulesoft</a:t>
            </a:r>
            <a:endParaRPr lang="en-ES" sz="1100" dirty="0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0CC43494-FA2B-DF9E-B84D-3EF1B36C767B}"/>
              </a:ext>
            </a:extLst>
          </p:cNvPr>
          <p:cNvSpPr txBox="1"/>
          <p:nvPr/>
        </p:nvSpPr>
        <p:spPr>
          <a:xfrm>
            <a:off x="8815864" y="3379594"/>
            <a:ext cx="3205448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s-ES_tradnl" sz="1050" dirty="0"/>
              <a:t>Open </a:t>
            </a:r>
            <a:r>
              <a:rPr lang="es-ES_tradnl" sz="1050" dirty="0" err="1"/>
              <a:t>Banking</a:t>
            </a:r>
            <a:r>
              <a:rPr lang="es-ES_tradnl" sz="1050" dirty="0"/>
              <a:t> :</a:t>
            </a:r>
            <a:r>
              <a:rPr lang="en-ES" sz="1050" dirty="0"/>
              <a:t>Publica y controla acceso a APIs públicas de BanCoppel (portal de registro, throttling, exposición de APIs externas)</a:t>
            </a:r>
            <a:endParaRPr lang="es-ES_tradnl" sz="105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_tradnl" sz="1050" dirty="0" err="1"/>
              <a:t>InterAct</a:t>
            </a:r>
            <a:r>
              <a:rPr lang="es-ES_tradnl" sz="1050" dirty="0"/>
              <a:t> </a:t>
            </a:r>
            <a:r>
              <a:rPr lang="es-ES_tradnl" sz="1050" dirty="0" err="1"/>
              <a:t>Router</a:t>
            </a:r>
            <a:r>
              <a:rPr lang="es-ES_tradnl" sz="1050" dirty="0"/>
              <a:t> enruta peticiones de canales hacia </a:t>
            </a:r>
            <a:r>
              <a:rPr lang="es-ES_tradnl" sz="1050" dirty="0" err="1"/>
              <a:t>SPLs</a:t>
            </a:r>
            <a:r>
              <a:rPr lang="es-ES_tradnl" sz="1050" dirty="0"/>
              <a:t> de Informix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ES" sz="1050" b="1" dirty="0"/>
              <a:t>Bus IBM</a:t>
            </a:r>
            <a:r>
              <a:rPr lang="en-ES" sz="1050" dirty="0"/>
              <a:t> (#57)ESB corporativo: conecta aplicaciones de sucursal, ventanilla, remesas, cheques</a:t>
            </a:r>
            <a:endParaRPr lang="es-ES_tradnl" sz="105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ES" sz="1050" b="1" dirty="0"/>
              <a:t>MuleSoft</a:t>
            </a:r>
            <a:r>
              <a:rPr lang="es-ES_tradnl" sz="1050" b="1" dirty="0"/>
              <a:t>: </a:t>
            </a:r>
            <a:r>
              <a:rPr lang="en-ES" sz="1050" dirty="0"/>
              <a:t>Integración API moderna: orquesta servicios hacia sistemas internos y externos</a:t>
            </a:r>
          </a:p>
        </p:txBody>
      </p:sp>
    </p:spTree>
    <p:extLst>
      <p:ext uri="{BB962C8B-B14F-4D97-AF65-F5344CB8AC3E}">
        <p14:creationId xmlns:p14="http://schemas.microsoft.com/office/powerpoint/2010/main" val="25149673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A2A3F0-45BB-C456-C8BA-F13C68099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D1318BC4-47E4-6065-06C2-803140E26D61}"/>
              </a:ext>
            </a:extLst>
          </p:cNvPr>
          <p:cNvSpPr txBox="1"/>
          <p:nvPr/>
        </p:nvSpPr>
        <p:spPr>
          <a:xfrm>
            <a:off x="1511522" y="102727"/>
            <a:ext cx="8046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dirty="0"/>
              <a:t>AS-IS</a:t>
            </a:r>
            <a:endParaRPr lang="en-E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FD7C67D-6F50-F4FC-5592-D5EE24632A49}"/>
              </a:ext>
            </a:extLst>
          </p:cNvPr>
          <p:cNvSpPr txBox="1"/>
          <p:nvPr/>
        </p:nvSpPr>
        <p:spPr>
          <a:xfrm>
            <a:off x="10110216" y="102726"/>
            <a:ext cx="8046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dirty="0"/>
              <a:t>TO-BE</a:t>
            </a:r>
            <a:endParaRPr lang="en-E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FEF2DCE-CD64-3E44-454D-8DA967784F18}"/>
              </a:ext>
            </a:extLst>
          </p:cNvPr>
          <p:cNvSpPr txBox="1"/>
          <p:nvPr/>
        </p:nvSpPr>
        <p:spPr>
          <a:xfrm>
            <a:off x="5900928" y="102726"/>
            <a:ext cx="1395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dirty="0"/>
              <a:t>Transición</a:t>
            </a:r>
            <a:endParaRPr lang="en-ES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4C7B714-5535-E42F-10C8-2A7BF56E075C}"/>
              </a:ext>
            </a:extLst>
          </p:cNvPr>
          <p:cNvSpPr/>
          <p:nvPr/>
        </p:nvSpPr>
        <p:spPr>
          <a:xfrm>
            <a:off x="708184" y="542997"/>
            <a:ext cx="2374773" cy="2152269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ES_tradnl" sz="1400" dirty="0">
                <a:solidFill>
                  <a:schemeClr val="tx1"/>
                </a:solidFill>
              </a:rPr>
              <a:t>Service </a:t>
            </a:r>
            <a:r>
              <a:rPr lang="es-ES_tradnl" sz="1400" dirty="0" err="1">
                <a:solidFill>
                  <a:schemeClr val="tx1"/>
                </a:solidFill>
              </a:rPr>
              <a:t>Orchestration</a:t>
            </a:r>
            <a:endParaRPr lang="en-ES" sz="1400" dirty="0">
              <a:solidFill>
                <a:schemeClr val="tx1"/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06812DD-F425-EA78-9A31-4E7389DC2BDB}"/>
              </a:ext>
            </a:extLst>
          </p:cNvPr>
          <p:cNvSpPr/>
          <p:nvPr/>
        </p:nvSpPr>
        <p:spPr>
          <a:xfrm>
            <a:off x="9347644" y="542996"/>
            <a:ext cx="2374773" cy="2152269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ES_tradnl" sz="1400" dirty="0">
                <a:solidFill>
                  <a:schemeClr val="tx1"/>
                </a:solidFill>
              </a:rPr>
              <a:t>Service </a:t>
            </a:r>
            <a:r>
              <a:rPr lang="es-ES_tradnl" sz="1400" dirty="0" err="1">
                <a:solidFill>
                  <a:schemeClr val="tx1"/>
                </a:solidFill>
              </a:rPr>
              <a:t>Orchestration</a:t>
            </a:r>
            <a:endParaRPr lang="en-ES" sz="1400" dirty="0">
              <a:solidFill>
                <a:schemeClr val="tx1"/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303E5AB-B586-91BA-FFB9-04555BD116A6}"/>
              </a:ext>
            </a:extLst>
          </p:cNvPr>
          <p:cNvSpPr/>
          <p:nvPr/>
        </p:nvSpPr>
        <p:spPr>
          <a:xfrm>
            <a:off x="5132260" y="561355"/>
            <a:ext cx="2374773" cy="2152269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ES_tradnl" sz="1400" dirty="0">
                <a:solidFill>
                  <a:schemeClr val="tx1"/>
                </a:solidFill>
              </a:rPr>
              <a:t>Service </a:t>
            </a:r>
            <a:r>
              <a:rPr lang="es-ES_tradnl" sz="1400" dirty="0" err="1">
                <a:solidFill>
                  <a:schemeClr val="tx1"/>
                </a:solidFill>
              </a:rPr>
              <a:t>Orchestration</a:t>
            </a:r>
            <a:endParaRPr lang="en-ES" sz="1400" dirty="0">
              <a:solidFill>
                <a:schemeClr val="tx1"/>
              </a:solidFill>
            </a:endParaRPr>
          </a:p>
        </p:txBody>
      </p:sp>
      <p:sp>
        <p:nvSpPr>
          <p:cNvPr id="53" name="Text 28">
            <a:extLst>
              <a:ext uri="{FF2B5EF4-FFF2-40B4-BE49-F238E27FC236}">
                <a16:creationId xmlns:a16="http://schemas.microsoft.com/office/drawing/2014/main" id="{D6C62997-EFCB-726C-237F-DBB203AD58FA}"/>
              </a:ext>
            </a:extLst>
          </p:cNvPr>
          <p:cNvSpPr/>
          <p:nvPr/>
        </p:nvSpPr>
        <p:spPr>
          <a:xfrm>
            <a:off x="1346930" y="1036799"/>
            <a:ext cx="1097280" cy="334758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lt1"/>
                </a:solidFill>
              </a:rPr>
              <a:t>15 Interact Router</a:t>
            </a:r>
          </a:p>
        </p:txBody>
      </p:sp>
      <p:sp>
        <p:nvSpPr>
          <p:cNvPr id="55" name="Text 28">
            <a:extLst>
              <a:ext uri="{FF2B5EF4-FFF2-40B4-BE49-F238E27FC236}">
                <a16:creationId xmlns:a16="http://schemas.microsoft.com/office/drawing/2014/main" id="{51C24FE2-FA07-352E-354A-BE6571FC5702}"/>
              </a:ext>
            </a:extLst>
          </p:cNvPr>
          <p:cNvSpPr/>
          <p:nvPr/>
        </p:nvSpPr>
        <p:spPr>
          <a:xfrm>
            <a:off x="1346930" y="1470110"/>
            <a:ext cx="1097280" cy="334758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57 Bus IBM</a:t>
            </a:r>
            <a:endParaRPr lang="en-US" sz="1100" dirty="0">
              <a:solidFill>
                <a:schemeClr val="lt1"/>
              </a:solidFill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CAECE8C5-8CFF-2F89-67AA-82951B1CCE54}"/>
              </a:ext>
            </a:extLst>
          </p:cNvPr>
          <p:cNvSpPr/>
          <p:nvPr/>
        </p:nvSpPr>
        <p:spPr>
          <a:xfrm>
            <a:off x="5784722" y="1036799"/>
            <a:ext cx="1097280" cy="334758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 err="1"/>
              <a:t>Mulesoft</a:t>
            </a:r>
            <a:endParaRPr lang="en-ES" sz="1100" dirty="0"/>
          </a:p>
        </p:txBody>
      </p:sp>
      <p:sp>
        <p:nvSpPr>
          <p:cNvPr id="59" name="Text 28">
            <a:extLst>
              <a:ext uri="{FF2B5EF4-FFF2-40B4-BE49-F238E27FC236}">
                <a16:creationId xmlns:a16="http://schemas.microsoft.com/office/drawing/2014/main" id="{314A8790-08C6-A8ED-A4C8-6553C595AF49}"/>
              </a:ext>
            </a:extLst>
          </p:cNvPr>
          <p:cNvSpPr/>
          <p:nvPr/>
        </p:nvSpPr>
        <p:spPr>
          <a:xfrm>
            <a:off x="5791720" y="1441008"/>
            <a:ext cx="1097280" cy="334758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lt1"/>
                </a:solidFill>
              </a:rPr>
              <a:t>15 Interact Router</a:t>
            </a:r>
          </a:p>
        </p:txBody>
      </p:sp>
      <p:sp>
        <p:nvSpPr>
          <p:cNvPr id="61" name="Text 28">
            <a:extLst>
              <a:ext uri="{FF2B5EF4-FFF2-40B4-BE49-F238E27FC236}">
                <a16:creationId xmlns:a16="http://schemas.microsoft.com/office/drawing/2014/main" id="{46FCFB4F-F5BD-95DA-B5DC-73CB63041BF2}"/>
              </a:ext>
            </a:extLst>
          </p:cNvPr>
          <p:cNvSpPr/>
          <p:nvPr/>
        </p:nvSpPr>
        <p:spPr>
          <a:xfrm>
            <a:off x="5784722" y="1865175"/>
            <a:ext cx="1097280" cy="334758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57 Bus IBM</a:t>
            </a:r>
            <a:endParaRPr lang="en-US" sz="1100" dirty="0">
              <a:solidFill>
                <a:schemeClr val="lt1"/>
              </a:solidFill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7A99FF79-E3FE-08CF-1BC8-2D7AB7C5B522}"/>
              </a:ext>
            </a:extLst>
          </p:cNvPr>
          <p:cNvSpPr/>
          <p:nvPr/>
        </p:nvSpPr>
        <p:spPr>
          <a:xfrm>
            <a:off x="10033634" y="1053143"/>
            <a:ext cx="1097280" cy="334758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 err="1"/>
              <a:t>Mulesoft</a:t>
            </a:r>
            <a:endParaRPr lang="en-ES" sz="1100" dirty="0"/>
          </a:p>
        </p:txBody>
      </p:sp>
      <p:sp>
        <p:nvSpPr>
          <p:cNvPr id="65" name="Text 28">
            <a:extLst>
              <a:ext uri="{FF2B5EF4-FFF2-40B4-BE49-F238E27FC236}">
                <a16:creationId xmlns:a16="http://schemas.microsoft.com/office/drawing/2014/main" id="{BA224260-DE33-AA73-FB54-C5749C4A19CC}"/>
              </a:ext>
            </a:extLst>
          </p:cNvPr>
          <p:cNvSpPr/>
          <p:nvPr/>
        </p:nvSpPr>
        <p:spPr>
          <a:xfrm>
            <a:off x="10040632" y="1457352"/>
            <a:ext cx="1097280" cy="334758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lt1"/>
                </a:solidFill>
              </a:rPr>
              <a:t>15 Interact Router</a:t>
            </a:r>
          </a:p>
        </p:txBody>
      </p: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CE40A7BD-0473-AB85-BCB4-8BB4828580E3}"/>
              </a:ext>
            </a:extLst>
          </p:cNvPr>
          <p:cNvCxnSpPr>
            <a:cxnSpLocks/>
            <a:stCxn id="53" idx="3"/>
            <a:endCxn id="59" idx="1"/>
          </p:cNvCxnSpPr>
          <p:nvPr/>
        </p:nvCxnSpPr>
        <p:spPr>
          <a:xfrm>
            <a:off x="2444210" y="1204178"/>
            <a:ext cx="3347510" cy="4042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F5037FD6-40C8-E382-DCD2-78D158AB84A0}"/>
              </a:ext>
            </a:extLst>
          </p:cNvPr>
          <p:cNvCxnSpPr>
            <a:cxnSpLocks/>
            <a:endCxn id="65" idx="1"/>
          </p:cNvCxnSpPr>
          <p:nvPr/>
        </p:nvCxnSpPr>
        <p:spPr>
          <a:xfrm flipV="1">
            <a:off x="6889000" y="1624731"/>
            <a:ext cx="3151632" cy="36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7BC7AF5F-1125-5142-9F18-3B44C5B5DD4A}"/>
              </a:ext>
            </a:extLst>
          </p:cNvPr>
          <p:cNvCxnSpPr>
            <a:cxnSpLocks/>
            <a:stCxn id="55" idx="3"/>
            <a:endCxn id="57" idx="1"/>
          </p:cNvCxnSpPr>
          <p:nvPr/>
        </p:nvCxnSpPr>
        <p:spPr>
          <a:xfrm flipV="1">
            <a:off x="2444210" y="1204178"/>
            <a:ext cx="3340512" cy="4333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79DAB61F-88CC-DB99-6985-54A402765FA0}"/>
              </a:ext>
            </a:extLst>
          </p:cNvPr>
          <p:cNvCxnSpPr>
            <a:cxnSpLocks/>
            <a:stCxn id="57" idx="3"/>
            <a:endCxn id="63" idx="1"/>
          </p:cNvCxnSpPr>
          <p:nvPr/>
        </p:nvCxnSpPr>
        <p:spPr>
          <a:xfrm>
            <a:off x="6882002" y="1204178"/>
            <a:ext cx="3151632" cy="163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52BFD06A-145F-F133-08DF-A0A0C18A0AAA}"/>
              </a:ext>
            </a:extLst>
          </p:cNvPr>
          <p:cNvCxnSpPr>
            <a:cxnSpLocks/>
            <a:endCxn id="63" idx="1"/>
          </p:cNvCxnSpPr>
          <p:nvPr/>
        </p:nvCxnSpPr>
        <p:spPr>
          <a:xfrm flipV="1">
            <a:off x="6895998" y="1220522"/>
            <a:ext cx="3137636" cy="8084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D26B4E60-939D-19A2-C8DD-86AA15FB1FC0}"/>
              </a:ext>
            </a:extLst>
          </p:cNvPr>
          <p:cNvSpPr txBox="1"/>
          <p:nvPr/>
        </p:nvSpPr>
        <p:spPr>
          <a:xfrm>
            <a:off x="726472" y="3179757"/>
            <a:ext cx="269338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s-ES_tradnl" sz="1200" dirty="0" err="1"/>
              <a:t>InterAct</a:t>
            </a:r>
            <a:r>
              <a:rPr lang="es-ES_tradnl" sz="1200" dirty="0"/>
              <a:t> </a:t>
            </a:r>
            <a:r>
              <a:rPr lang="es-ES_tradnl" sz="1200" dirty="0" err="1"/>
              <a:t>Router</a:t>
            </a:r>
            <a:r>
              <a:rPr lang="es-ES_tradnl" sz="1200" dirty="0"/>
              <a:t> enruta peticiones de canales hacia </a:t>
            </a:r>
            <a:r>
              <a:rPr lang="es-ES_tradnl" sz="1200" dirty="0" err="1"/>
              <a:t>SPLs</a:t>
            </a:r>
            <a:r>
              <a:rPr lang="es-ES_tradnl" sz="1200" dirty="0"/>
              <a:t> de Informix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ES" sz="1200" b="1" dirty="0"/>
              <a:t>Bus IBM</a:t>
            </a:r>
            <a:r>
              <a:rPr lang="en-ES" sz="1200" dirty="0"/>
              <a:t> (#57)ESB corporativo: conecta aplicaciones de sucursal, ventanilla, remesas, cheques</a:t>
            </a:r>
            <a:endParaRPr lang="es-ES_tradnl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ES" sz="1200" b="1" dirty="0"/>
              <a:t>MuleSoft</a:t>
            </a:r>
            <a:r>
              <a:rPr lang="en-ES" sz="1200" dirty="0"/>
              <a:t>Integración API moderna: orquesta servicios hacia sistemas internos y externos</a:t>
            </a:r>
          </a:p>
        </p:txBody>
      </p:sp>
    </p:spTree>
    <p:extLst>
      <p:ext uri="{BB962C8B-B14F-4D97-AF65-F5344CB8AC3E}">
        <p14:creationId xmlns:p14="http://schemas.microsoft.com/office/powerpoint/2010/main" val="27640952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9D805A8-D4A3-90D6-F9E0-739FF0A97F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5658960"/>
              </p:ext>
            </p:extLst>
          </p:nvPr>
        </p:nvGraphicFramePr>
        <p:xfrm>
          <a:off x="1260528" y="4171442"/>
          <a:ext cx="9111816" cy="2333200"/>
        </p:xfrm>
        <a:graphic>
          <a:graphicData uri="http://schemas.openxmlformats.org/drawingml/2006/table">
            <a:tbl>
              <a:tblPr/>
              <a:tblGrid>
                <a:gridCol w="3037272">
                  <a:extLst>
                    <a:ext uri="{9D8B030D-6E8A-4147-A177-3AD203B41FA5}">
                      <a16:colId xmlns:a16="http://schemas.microsoft.com/office/drawing/2014/main" val="801877606"/>
                    </a:ext>
                  </a:extLst>
                </a:gridCol>
                <a:gridCol w="3037272">
                  <a:extLst>
                    <a:ext uri="{9D8B030D-6E8A-4147-A177-3AD203B41FA5}">
                      <a16:colId xmlns:a16="http://schemas.microsoft.com/office/drawing/2014/main" val="3465838866"/>
                    </a:ext>
                  </a:extLst>
                </a:gridCol>
                <a:gridCol w="3037272">
                  <a:extLst>
                    <a:ext uri="{9D8B030D-6E8A-4147-A177-3AD203B41FA5}">
                      <a16:colId xmlns:a16="http://schemas.microsoft.com/office/drawing/2014/main" val="7025465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ES" sz="1000"/>
                        <a:t>Dimensión</a:t>
                      </a: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ES" sz="1000"/>
                        <a:t>As-Is</a:t>
                      </a: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ES" sz="1000"/>
                        <a:t>To-Be</a:t>
                      </a: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6860485"/>
                  </a:ext>
                </a:extLst>
              </a:tr>
              <a:tr h="1386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ES" sz="1000"/>
                        <a:t>Punto de entrada</a:t>
                      </a: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ES" sz="1000"/>
                        <a:t>Múltiple: InterAct, Bus IBM, OpenBanking, MuleSoft parcial</a:t>
                      </a: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ES" sz="1000"/>
                        <a:t>Único: Apigee para todos los canales UNITY</a:t>
                      </a: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8240151"/>
                  </a:ext>
                </a:extLst>
              </a:tr>
              <a:tr h="1386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ES" sz="1000"/>
                        <a:t>Autenticación</a:t>
                      </a: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ES" sz="1000"/>
                        <a:t>Propietaria por canal y sistema</a:t>
                      </a: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ES" sz="1000"/>
                        <a:t>OAuth 2.0 centralizado vía Microsoft Entra</a:t>
                      </a: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297526"/>
                  </a:ext>
                </a:extLst>
              </a:tr>
              <a:tr h="1386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ES" sz="1000" dirty="0"/>
                        <a:t>Protocolo interno</a:t>
                      </a: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ES" sz="1000"/>
                        <a:t>Tramas propietarias (InterAct), mensajería IBM</a:t>
                      </a: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ES" sz="1000" dirty="0"/>
                        <a:t>REST/JSON sobre HTTPS con SSL en todos los saltos</a:t>
                      </a: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0678252"/>
                  </a:ext>
                </a:extLst>
              </a:tr>
              <a:tr h="1386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ES" sz="1000"/>
                        <a:t>Gobernanza de APIs</a:t>
                      </a: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ES" sz="1000"/>
                        <a:t>Inexistente para el core; solo para APIs públicas</a:t>
                      </a: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ES" sz="1000"/>
                        <a:t>Contratos, throttling, visibilidad y seguridad en Apigee</a:t>
                      </a: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6380357"/>
                  </a:ext>
                </a:extLst>
              </a:tr>
              <a:tr h="1386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ES" sz="1000"/>
                        <a:t>Integración al core legado</a:t>
                      </a: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ES" sz="1000"/>
                        <a:t>Directa vía SPLs (InterAct) o mensajería (Bus IBM)</a:t>
                      </a: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ES" sz="1000"/>
                        <a:t>Mediada por MuleSoft con túnel VPN/Direct Connect a Informix</a:t>
                      </a: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8584217"/>
                  </a:ext>
                </a:extLst>
              </a:tr>
              <a:tr h="1386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ES" sz="1000"/>
                        <a:t>Monitoreo</a:t>
                      </a: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ES" sz="1000"/>
                        <a:t>Fragmentado por sistema</a:t>
                      </a: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ES" sz="1000"/>
                        <a:t>Centralizado: Apigee + Elastic + Grafana</a:t>
                      </a: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1837445"/>
                  </a:ext>
                </a:extLst>
              </a:tr>
              <a:tr h="1386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ES" sz="1000"/>
                        <a:t>Cobertura</a:t>
                      </a: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ES" sz="1000"/>
                        <a:t>Solo canales legados</a:t>
                      </a: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ES" sz="1000" dirty="0"/>
                        <a:t>Legado + nuevos productos UNITY</a:t>
                      </a: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870337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7791D33-73A1-D1F7-144A-4B6526B57DF9}"/>
              </a:ext>
            </a:extLst>
          </p:cNvPr>
          <p:cNvSpPr txBox="1"/>
          <p:nvPr/>
        </p:nvSpPr>
        <p:spPr>
          <a:xfrm>
            <a:off x="603504" y="-1676313"/>
            <a:ext cx="11420856" cy="584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ES" sz="1100" b="1" dirty="0"/>
              <a:t>Evolución del API Management / Integración — As-Is → To-Be</a:t>
            </a:r>
          </a:p>
          <a:p>
            <a:pPr rtl="0">
              <a:buNone/>
            </a:pPr>
            <a:r>
              <a:rPr lang="en-ES" sz="1100" b="1" dirty="0"/>
              <a:t>As-Is: tres mecanismos fragmentados, sin unificación</a:t>
            </a:r>
          </a:p>
          <a:p>
            <a:pPr rtl="0">
              <a:buNone/>
            </a:pPr>
            <a:r>
              <a:rPr lang="en-ES" sz="1100" dirty="0"/>
              <a:t>El estado actual tiene cobertura de API management, pero dispersa en tres sistemas independientes que nunca fueron diseñados para coexistir como una capa coherente:</a:t>
            </a:r>
          </a:p>
          <a:p>
            <a:pPr rtl="0">
              <a:buNone/>
            </a:pPr>
            <a:r>
              <a:rPr lang="en-ES" sz="1100" b="1" dirty="0"/>
              <a:t>InterAct Router (#15)</a:t>
            </a:r>
            <a:r>
              <a:rPr lang="en-ES" sz="1100" dirty="0"/>
              <a:t> es el middleware de facto del core bancario. Conecta todos los canales legados (BPI, App, CAT, OFI, SIWEB, IVR, corresponsales) con los SPLs de Informix mediante tramas propietarias. Tiene 23 routers y más de 10,000 stored procedures detrás. Técnicamente no es un API Gateway — no tiene gestión de tokens, contratos de API, throttling ni visibilidad centralizada — pero opera como tal para el universo legado.</a:t>
            </a:r>
          </a:p>
          <a:p>
            <a:pPr rtl="0">
              <a:buNone/>
            </a:pPr>
            <a:r>
              <a:rPr lang="en-ES" sz="1100" b="1" dirty="0"/>
              <a:t>Bus IBM (#57)</a:t>
            </a:r>
            <a:r>
              <a:rPr lang="en-ES" sz="1100" dirty="0"/>
              <a:t> es el ESB corporativo para operaciones de sucursal. Gestiona ventanilla, remesas, cheques, domiciliación y pagos de servicios, conectando SIWEB y OFI con el core. Al igual que InterAct, no es un gateway moderno sino una capa de mensajería propietaria.</a:t>
            </a:r>
          </a:p>
          <a:p>
            <a:pPr rtl="0">
              <a:buNone/>
            </a:pPr>
            <a:r>
              <a:rPr lang="en-ES" sz="1100" b="1" dirty="0"/>
              <a:t>OpenBanking (#10)</a:t>
            </a:r>
            <a:r>
              <a:rPr lang="en-ES" sz="1100" dirty="0"/>
              <a:t> es el único gateway real del As-Is, pero de alcance muy limitado: solo cubre APIs públicas regulatorias (open banking), con un portal de registro y control de peticiones sobre Postgres. No gestiona el tráfico interno entre canales y core.</a:t>
            </a:r>
          </a:p>
          <a:p>
            <a:pPr rtl="0">
              <a:buNone/>
            </a:pPr>
            <a:r>
              <a:rPr lang="en-ES" sz="1100" b="1" dirty="0"/>
              <a:t>MuleSoft</a:t>
            </a:r>
            <a:r>
              <a:rPr lang="en-ES" sz="1100" dirty="0"/>
              <a:t> ya existe en producción pero con cobertura parcial — tiene su propio API Gateway interno para algunas capas de negocio y dominio, aunque no es el punto único de entrada para todos los canales.</a:t>
            </a:r>
          </a:p>
          <a:p>
            <a:pPr rtl="0">
              <a:buNone/>
            </a:pPr>
            <a:r>
              <a:rPr lang="en-ES" sz="1100" dirty="0"/>
              <a:t>El resultado es que cada canal llega al core por su propia ruta, con su propia forma de autenticar, sin visibilidad unificada ni gobernanza común.</a:t>
            </a:r>
          </a:p>
          <a:p>
            <a:pPr>
              <a:buNone/>
            </a:pPr>
            <a:br>
              <a:rPr lang="en-ES" sz="1100" dirty="0"/>
            </a:br>
            <a:endParaRPr lang="en-ES" sz="1100" dirty="0"/>
          </a:p>
          <a:p>
            <a:pPr rtl="0">
              <a:buNone/>
            </a:pPr>
            <a:r>
              <a:rPr lang="en-ES" sz="1100" b="1" dirty="0"/>
              <a:t>To-Be: modelo bicapa con gateway unificado</a:t>
            </a:r>
          </a:p>
          <a:p>
            <a:pPr rtl="0">
              <a:buNone/>
            </a:pPr>
            <a:r>
              <a:rPr lang="en-ES" sz="1100" dirty="0"/>
              <a:t>UNITY establece una arquitectura de integración de dos capas claramente separadas por responsabilidad:</a:t>
            </a:r>
          </a:p>
          <a:p>
            <a:pPr rtl="0">
              <a:buNone/>
            </a:pPr>
            <a:r>
              <a:rPr lang="en-ES" sz="1100" b="1" dirty="0"/>
              <a:t>Apigee (GCP)</a:t>
            </a:r>
            <a:r>
              <a:rPr lang="en-ES" sz="1100" dirty="0"/>
              <a:t> asume el rol de API Gateway unificado para todos los canales. Es el punto único de entrada: recibe todas las peticiones, valida tokens OAuth 2.0 emitidos por Microsoft Entra, aplica seguridad perimetral con Cloud Armor (anti-DDoS), y redirige hacia MuleSoft. Cubre todos los productos UNITY: Apolo, TDC (producto 4900 vía SmartVista), Crédito Simple Empresarial (vía Temenos) y Reportes Regulatorios.</a:t>
            </a:r>
          </a:p>
          <a:p>
            <a:pPr rtl="0">
              <a:buNone/>
            </a:pPr>
            <a:r>
              <a:rPr lang="en-ES" sz="1100" b="1" dirty="0"/>
              <a:t>MuleSoft (AWS)</a:t>
            </a:r>
            <a:r>
              <a:rPr lang="en-ES" sz="1100" dirty="0"/>
              <a:t> opera como capa de orquestación e integración interna. Despliega las APIs en capas de negocio y dominio, orquesta las peticiones hacia los sistemas backend — Informix, SmartVista, Temenos, OnBase, Yugabyte — y gestiona las conexiones a servicios internos y externos. Actúa como el traductor entre el mundo API moderno y los sistemas legados.</a:t>
            </a:r>
          </a:p>
          <a:p>
            <a:pPr rtl="0">
              <a:buNone/>
            </a:pPr>
            <a:r>
              <a:rPr lang="en-ES" sz="1100" b="1" dirty="0"/>
              <a:t>WebMethods (AWS)</a:t>
            </a:r>
            <a:r>
              <a:rPr lang="en-ES" sz="1100" dirty="0"/>
              <a:t> se añade como orquestador de procesos BPM/BRM específicamente para el flujo de OnBoarding — gestiona el ciclo de vida de la sesión y las reglas de negocio del proceso Apolo.</a:t>
            </a:r>
          </a:p>
          <a:p>
            <a:pPr>
              <a:buNone/>
            </a:pPr>
            <a:br>
              <a:rPr lang="en-ES" sz="1100" dirty="0"/>
            </a:br>
            <a:endParaRPr lang="en-ES" sz="1100" dirty="0"/>
          </a:p>
          <a:p>
            <a:pPr rtl="0">
              <a:buNone/>
            </a:pPr>
            <a:r>
              <a:rPr lang="en-ES" sz="1100" b="1" dirty="0"/>
              <a:t>La brecha real</a:t>
            </a:r>
          </a:p>
          <a:p>
            <a:pPr>
              <a:buNone/>
            </a:pPr>
            <a:br>
              <a:rPr lang="en-ES" sz="1100" dirty="0"/>
            </a:br>
            <a:endParaRPr lang="en-ES" sz="1100" dirty="0"/>
          </a:p>
          <a:p>
            <a:pPr rtl="0">
              <a:buNone/>
            </a:pPr>
            <a:r>
              <a:rPr lang="en-ES" sz="1100" b="1" dirty="0"/>
              <a:t>Lo que no cambia (aún)</a:t>
            </a:r>
          </a:p>
          <a:p>
            <a:pPr rtl="0">
              <a:buNone/>
            </a:pPr>
            <a:r>
              <a:rPr lang="en-ES" sz="1100" dirty="0"/>
              <a:t>InterAct Router y Bus IBM </a:t>
            </a:r>
            <a:r>
              <a:rPr lang="en-ES" sz="1100" b="1" dirty="0"/>
              <a:t>no desaparecen con UNITY</a:t>
            </a:r>
            <a:r>
              <a:rPr lang="en-ES" sz="1100" dirty="0"/>
              <a:t> — siguen operando para todos los canales y productos legados que no migran en este release. La coexistencia es explícita en la arquitectura: los nuevos productos (4900, CBS) nacen sobre </a:t>
            </a:r>
            <a:r>
              <a:rPr lang="en-ES" sz="1100" b="1" dirty="0"/>
              <a:t>Apigee + MuleSoft</a:t>
            </a:r>
            <a:r>
              <a:rPr lang="en-ES" sz="1100" dirty="0"/>
              <a:t>, mientras los productos existentes (8500, captación, crédito a plazo) siguen usando InterAct y Bus IBM. La unificación total será gradual conforme avance la migración del core legado.</a:t>
            </a:r>
          </a:p>
        </p:txBody>
      </p:sp>
    </p:spTree>
    <p:extLst>
      <p:ext uri="{BB962C8B-B14F-4D97-AF65-F5344CB8AC3E}">
        <p14:creationId xmlns:p14="http://schemas.microsoft.com/office/powerpoint/2010/main" val="30748803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C2648767ADDAC4198CE9FAE936A0E2E" ma:contentTypeVersion="10" ma:contentTypeDescription="Create a new document." ma:contentTypeScope="" ma:versionID="bfce7f8d432cf4f2b54d649024185cc8">
  <xsd:schema xmlns:xsd="http://www.w3.org/2001/XMLSchema" xmlns:xs="http://www.w3.org/2001/XMLSchema" xmlns:p="http://schemas.microsoft.com/office/2006/metadata/properties" xmlns:ns2="bcf21e1d-e7b2-4ba8-bb72-ca5e3ff425f9" targetNamespace="http://schemas.microsoft.com/office/2006/metadata/properties" ma:root="true" ma:fieldsID="db0e3ff7a073da1765cf4c642dfd2d3e" ns2:_="">
    <xsd:import namespace="bcf21e1d-e7b2-4ba8-bb72-ca5e3ff425f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f21e1d-e7b2-4ba8-bb72-ca5e3ff425f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displayName="Image Tags_0" ma:hidden="true" ma:internalName="lcf76f155ced4ddcb4097134ff3c332f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1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cf21e1d-e7b2-4ba8-bb72-ca5e3ff425f9" xsi:nil="true"/>
  </documentManagement>
</p:properties>
</file>

<file path=customXml/itemProps1.xml><?xml version="1.0" encoding="utf-8"?>
<ds:datastoreItem xmlns:ds="http://schemas.openxmlformats.org/officeDocument/2006/customXml" ds:itemID="{9D22A7A0-F2D5-42F1-87F4-B77C94C90732}"/>
</file>

<file path=customXml/itemProps2.xml><?xml version="1.0" encoding="utf-8"?>
<ds:datastoreItem xmlns:ds="http://schemas.openxmlformats.org/officeDocument/2006/customXml" ds:itemID="{23E9531E-5E0E-48FE-A8F3-A713F462F5E7}"/>
</file>

<file path=customXml/itemProps3.xml><?xml version="1.0" encoding="utf-8"?>
<ds:datastoreItem xmlns:ds="http://schemas.openxmlformats.org/officeDocument/2006/customXml" ds:itemID="{CCF9B976-83BC-4131-9408-1E1DB595FEFF}"/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941</Words>
  <Application>Microsoft Office PowerPoint</Application>
  <PresentationFormat>Widescreen</PresentationFormat>
  <Paragraphs>84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 Tomás Mures, Miguel Ángel</dc:creator>
  <cp:lastModifiedBy>De Tomás Mures, Miguel Ángel</cp:lastModifiedBy>
  <cp:revision>2</cp:revision>
  <dcterms:created xsi:type="dcterms:W3CDTF">2026-08-18T12:56:13Z</dcterms:created>
  <dcterms:modified xsi:type="dcterms:W3CDTF">2026-08-18T13:41:15Z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0x010100CC2648767ADDAC4198CE9FAE936A0E2E</vt:lpwstr>
  </property>
</Properties>
</file>