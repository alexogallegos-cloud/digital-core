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Contratacion_Deposito_Plazo_Trazabilidad.pptx: referencia visual y estructura de trazabilidad.
- Consolidacion y priorizacion_HUs_R4_v2.xlsx: historias de usuario R4 usadas para el caso. HUs: HDU-SMART-R4-12, 13, 15, 16-21; HDU-SIWEB-R4-01 a 05; SMART-4182, SMART-4183.
- Inventario de Integraciones_HUs_ R4_v1.0.xlsx: interfaces R4 documentadas y patrones de integración relacionados.
- Interoperability_Capability_Hierarchy_BanCoppel_Solutions.xlsx: jerarquía de capacidades de interoperabilidad.
- R4_Interoperability_Capabilities_Required.xlsx: baseline de capacidades de interoperabilidad requeridas para R4.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4752" y="128016"/>
            <a:ext cx="365760" cy="365760"/>
          </a:xfrm>
          <a:prstGeom prst="ellipse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1874520" y="109728"/>
            <a:ext cx="5577840" cy="438912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DIFERIMIENTO DE COMPRAS Y PAGOS FIJOS R4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1261872" y="658368"/>
            <a:ext cx="6629400" cy="384048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habilitado por interoperabilidad para aplicar MCI/MSI, pagos anticipados, liquidaciones, cancelaciones y controles de saldo a favor con consistencia financiera.</a:t>
            </a:r>
            <a:endParaRPr lang="en-US" sz="690" dirty="0"/>
          </a:p>
        </p:txBody>
      </p:sp>
      <p:sp>
        <p:nvSpPr>
          <p:cNvPr id="5" name="Text 3"/>
          <p:cNvSpPr/>
          <p:nvPr/>
        </p:nvSpPr>
        <p:spPr>
          <a:xfrm>
            <a:off x="201168" y="1417320"/>
            <a:ext cx="1170432" cy="8869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265176" y="1554480"/>
            <a:ext cx="1042416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ORIGEN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móvil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502920" y="3913632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626864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en línea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502920" y="5541264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254496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502920" y="7168896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7882128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502920" y="8796528"/>
            <a:ext cx="621792" cy="621792"/>
          </a:xfrm>
          <a:prstGeom prst="rect">
            <a:avLst/>
          </a:prstGeom>
          <a:solidFill>
            <a:srgbClr val="F1F6FD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9509760"/>
            <a:ext cx="89611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SPEI / Pagos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764792" y="1325880"/>
            <a:ext cx="5257800" cy="310896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INTEROPERABILIDAD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251192" y="1325880"/>
            <a:ext cx="1554480" cy="384048"/>
          </a:xfrm>
          <a:prstGeom prst="round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/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1371600" y="225856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764792" y="1810512"/>
            <a:ext cx="5257800" cy="896112"/>
          </a:xfrm>
          <a:prstGeom prst="roundRect">
            <a:avLst/>
          </a:prstGeom>
          <a:solidFill>
            <a:srgbClr val="EFF4FF"/>
          </a:solidFill>
          <a:ln w="11430">
            <a:solidFill>
              <a:srgbClr val="2D5A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D5A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APIs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“Elegibilidad”, “Diferir”, “Pagar”, “Liquidar” y “Cancelar”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gobernados para APP, SIWEB y canales de pago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1371600" y="330098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64792" y="2852928"/>
            <a:ext cx="5257800" cy="896112"/>
          </a:xfrm>
          <a:prstGeom prst="roundRect">
            <a:avLst/>
          </a:prstGeom>
          <a:solidFill>
            <a:srgbClr val="EEF8F3"/>
          </a:solidFill>
          <a:ln w="11430">
            <a:solidFill>
              <a:srgbClr val="1790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90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cliente, línea, movimiento, campaña y canal de pago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repetibles y trazables en cada operación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1371600" y="434340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64792" y="3895344"/>
            <a:ext cx="5257800" cy="896112"/>
          </a:xfrm>
          <a:prstGeom prst="roundRect">
            <a:avLst/>
          </a:prstGeom>
          <a:solidFill>
            <a:srgbClr val="F5F0FF"/>
          </a:solidFill>
          <a:ln w="11430">
            <a:solidFill>
              <a:srgbClr val="7B4B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7B4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procesos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campaña, aceptación, pago anticipado y cancelación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estados, tareas, excepciones y atención asistida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1371600" y="5385816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64792" y="4937760"/>
            <a:ext cx="5257800" cy="896112"/>
          </a:xfrm>
          <a:prstGeom prst="roundRect">
            <a:avLst/>
          </a:prstGeom>
          <a:solidFill>
            <a:srgbClr val="FFF4E3"/>
          </a:solidFill>
          <a:ln w="11430">
            <a:solidFill>
              <a:srgbClr val="E28A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2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SVC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movimientos elegibles, calcula cuota y crea plan fijo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Desacopla canales de las reglas internas de SmartVista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1371600" y="6428232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764792" y="5980176"/>
            <a:ext cx="5257800" cy="896112"/>
          </a:xfrm>
          <a:prstGeom prst="roundRect">
            <a:avLst/>
          </a:prstGeom>
          <a:solidFill>
            <a:srgbClr val="FFF5E8"/>
          </a:solidFill>
          <a:ln w="11430">
            <a:solidFill>
              <a:srgbClr val="CC77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C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y elegibilidad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saldo disponible, límite de saldo a favor y condiciones MCI/MSI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pagos indebidos y reglas duplicadas por canal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1371600" y="7470648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764792" y="7022592"/>
            <a:ext cx="5257800" cy="896112"/>
          </a:xfrm>
          <a:prstGeom prst="roundRect">
            <a:avLst/>
          </a:prstGeom>
          <a:solidFill>
            <a:srgbClr val="F0F4FF"/>
          </a:solidFill>
          <a:ln w="11430">
            <a:solidFill>
              <a:srgbClr val="2864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864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transaccional distribuida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 diferimiento + pago + reversa + estado de cuenta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Compensaciones, idempotencia y recuperación ante fallos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1371600" y="8513064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764792" y="8065008"/>
            <a:ext cx="5257800" cy="896112"/>
          </a:xfrm>
          <a:prstGeom prst="roundRect">
            <a:avLst/>
          </a:prstGeom>
          <a:solidFill>
            <a:srgbClr val="F1F3FF"/>
          </a:solidFill>
          <a:ln w="11430">
            <a:solidFill>
              <a:srgbClr val="4B62D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ACCT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 y libro mayor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capital, intereses, IVA, reversas y ajustes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Cuadre contable y conciliación operativa desde el origen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1371600" y="9555480"/>
            <a:ext cx="292608" cy="0"/>
          </a:xfrm>
          <a:prstGeom prst="line">
            <a:avLst/>
          </a:prstGeom>
          <a:noFill/>
          <a:ln w="8890">
            <a:solidFill>
              <a:srgbClr val="123A63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64792" y="9107424"/>
            <a:ext cx="5257800" cy="896112"/>
          </a:xfrm>
          <a:prstGeom prst="roundRect">
            <a:avLst/>
          </a:prstGeom>
          <a:solidFill>
            <a:srgbClr val="EFF8F2"/>
          </a:solidFill>
          <a:ln w="11430">
            <a:solidFill>
              <a:srgbClr val="168A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8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EVT  </a:t>
            </a:r>
            <a:pPr algn="l" indent="0" marL="0">
              <a:buNone/>
            </a:pPr>
            <a:r>
              <a:rPr lang="en-US" sz="7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 &amp; Reconciliation
</a:t>
            </a:r>
            <a:pPr algn="l" indent="0" marL="0">
              <a:buNone/>
            </a:pPr>
            <a:r>
              <a:rPr lang="en-US" sz="625" dirty="0">
                <a:solidFill>
                  <a:srgbClr val="18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plan creado, pago aplicado, liquidación y cancelación
</a:t>
            </a:r>
            <a:pPr algn="l" indent="0" marL="0">
              <a:buNone/>
            </a:pPr>
            <a:r>
              <a:rPr lang="en-US" sz="585" dirty="0">
                <a:solidFill>
                  <a:srgbClr val="516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 canales, contabilidad, reportes y atención al cliente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7022592" y="2249424"/>
            <a:ext cx="182880" cy="0"/>
          </a:xfrm>
          <a:prstGeom prst="line">
            <a:avLst/>
          </a:prstGeom>
          <a:noFill/>
          <a:ln w="8890">
            <a:solidFill>
              <a:srgbClr val="2D5AE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251192" y="1865376"/>
            <a:ext cx="1554480" cy="768096"/>
          </a:xfrm>
          <a:prstGeom prst="roundRect">
            <a:avLst/>
          </a:prstGeom>
          <a:solidFill>
            <a:srgbClr val="EFF4FF"/>
          </a:solidFill>
          <a:ln w="10160">
            <a:solidFill>
              <a:srgbClr val="2D5A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Oferta, aceptación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consulta de plan</a:t>
            </a:r>
            <a:endParaRPr lang="en-US" sz="555" dirty="0"/>
          </a:p>
        </p:txBody>
      </p:sp>
      <p:sp>
        <p:nvSpPr>
          <p:cNvPr id="37" name="Shape 35"/>
          <p:cNvSpPr/>
          <p:nvPr/>
        </p:nvSpPr>
        <p:spPr>
          <a:xfrm>
            <a:off x="7022592" y="3255264"/>
            <a:ext cx="182880" cy="0"/>
          </a:xfrm>
          <a:prstGeom prst="line">
            <a:avLst/>
          </a:prstGeom>
          <a:noFill/>
          <a:ln w="8890">
            <a:solidFill>
              <a:srgbClr val="17905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251192" y="2871216"/>
            <a:ext cx="1554480" cy="768096"/>
          </a:xfrm>
          <a:prstGeom prst="roundRect">
            <a:avLst/>
          </a:prstGeom>
          <a:solidFill>
            <a:srgbClr val="EEF8F3"/>
          </a:solidFill>
          <a:ln w="10160">
            <a:solidFill>
              <a:srgbClr val="17905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SIWEB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 parcial,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liquidación, cancelación</a:t>
            </a:r>
            <a:endParaRPr lang="en-US" sz="555" dirty="0"/>
          </a:p>
        </p:txBody>
      </p:sp>
      <p:sp>
        <p:nvSpPr>
          <p:cNvPr id="39" name="Shape 37"/>
          <p:cNvSpPr/>
          <p:nvPr/>
        </p:nvSpPr>
        <p:spPr>
          <a:xfrm>
            <a:off x="7022592" y="4261104"/>
            <a:ext cx="182880" cy="0"/>
          </a:xfrm>
          <a:prstGeom prst="line">
            <a:avLst/>
          </a:prstGeom>
          <a:noFill/>
          <a:ln w="8890">
            <a:solidFill>
              <a:srgbClr val="E28A0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251192" y="3877056"/>
            <a:ext cx="1554480" cy="768096"/>
          </a:xfrm>
          <a:prstGeom prst="roundRect">
            <a:avLst/>
          </a:prstGeom>
          <a:solidFill>
            <a:srgbClr val="FFF4E3"/>
          </a:solidFill>
          <a:ln w="10160">
            <a:solidFill>
              <a:srgbClr val="E2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SMARTVISTA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Campañas, cálculo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plan fijo</a:t>
            </a:r>
            <a:endParaRPr lang="en-US" sz="555" dirty="0"/>
          </a:p>
        </p:txBody>
      </p:sp>
      <p:sp>
        <p:nvSpPr>
          <p:cNvPr id="41" name="Shape 39"/>
          <p:cNvSpPr/>
          <p:nvPr/>
        </p:nvSpPr>
        <p:spPr>
          <a:xfrm>
            <a:off x="7022592" y="5266944"/>
            <a:ext cx="182880" cy="0"/>
          </a:xfrm>
          <a:prstGeom prst="line">
            <a:avLst/>
          </a:prstGeom>
          <a:noFill/>
          <a:ln w="8890">
            <a:solidFill>
              <a:srgbClr val="CC770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251192" y="4882896"/>
            <a:ext cx="1554480" cy="768096"/>
          </a:xfrm>
          <a:prstGeom prst="roundRect">
            <a:avLst/>
          </a:prstGeom>
          <a:solidFill>
            <a:srgbClr val="FFF5E8"/>
          </a:solidFill>
          <a:ln w="10160">
            <a:solidFill>
              <a:srgbClr val="CC77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PAGOS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rechazo/retorno</a:t>
            </a:r>
            <a:endParaRPr lang="en-US" sz="555" dirty="0"/>
          </a:p>
        </p:txBody>
      </p:sp>
      <p:sp>
        <p:nvSpPr>
          <p:cNvPr id="43" name="Shape 41"/>
          <p:cNvSpPr/>
          <p:nvPr/>
        </p:nvSpPr>
        <p:spPr>
          <a:xfrm>
            <a:off x="7022592" y="6272784"/>
            <a:ext cx="182880" cy="0"/>
          </a:xfrm>
          <a:prstGeom prst="line">
            <a:avLst/>
          </a:prstGeom>
          <a:noFill/>
          <a:ln w="8890">
            <a:solidFill>
              <a:srgbClr val="2864E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251192" y="5888736"/>
            <a:ext cx="1554480" cy="768096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864E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SPEI / CAJA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y saldo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favor</a:t>
            </a:r>
            <a:endParaRPr lang="en-US" sz="555" dirty="0"/>
          </a:p>
        </p:txBody>
      </p:sp>
      <p:sp>
        <p:nvSpPr>
          <p:cNvPr id="45" name="Shape 43"/>
          <p:cNvSpPr/>
          <p:nvPr/>
        </p:nvSpPr>
        <p:spPr>
          <a:xfrm>
            <a:off x="7022592" y="7278624"/>
            <a:ext cx="182880" cy="0"/>
          </a:xfrm>
          <a:prstGeom prst="line">
            <a:avLst/>
          </a:prstGeom>
          <a:noFill/>
          <a:ln w="8890">
            <a:solidFill>
              <a:srgbClr val="4B62D1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251192" y="6894576"/>
            <a:ext cx="1554480" cy="768096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4B62D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Asientos, ajustes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reversas</a:t>
            </a:r>
            <a:endParaRPr lang="en-US" sz="555" dirty="0"/>
          </a:p>
        </p:txBody>
      </p:sp>
      <p:sp>
        <p:nvSpPr>
          <p:cNvPr id="47" name="Shape 45"/>
          <p:cNvSpPr/>
          <p:nvPr/>
        </p:nvSpPr>
        <p:spPr>
          <a:xfrm>
            <a:off x="7022592" y="8284464"/>
            <a:ext cx="182880" cy="0"/>
          </a:xfrm>
          <a:prstGeom prst="line">
            <a:avLst/>
          </a:prstGeom>
          <a:noFill/>
          <a:ln w="8890">
            <a:solidFill>
              <a:srgbClr val="00A6C8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251192" y="7900416"/>
            <a:ext cx="1554480" cy="768096"/>
          </a:xfrm>
          <a:prstGeom prst="roundRect">
            <a:avLst/>
          </a:prstGeom>
          <a:solidFill>
            <a:srgbClr val="ECFAFD"/>
          </a:solidFill>
          <a:ln w="10160">
            <a:solidFill>
              <a:srgbClr val="00A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EDC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movimientos</a:t>
            </a:r>
            <a:endParaRPr lang="en-US" sz="555" dirty="0"/>
          </a:p>
        </p:txBody>
      </p:sp>
      <p:sp>
        <p:nvSpPr>
          <p:cNvPr id="49" name="Shape 47"/>
          <p:cNvSpPr/>
          <p:nvPr/>
        </p:nvSpPr>
        <p:spPr>
          <a:xfrm>
            <a:off x="7022592" y="9290304"/>
            <a:ext cx="182880" cy="0"/>
          </a:xfrm>
          <a:prstGeom prst="line">
            <a:avLst/>
          </a:prstGeom>
          <a:noFill/>
          <a:ln w="8890">
            <a:solidFill>
              <a:srgbClr val="168A5C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251192" y="8906256"/>
            <a:ext cx="1554480" cy="768096"/>
          </a:xfrm>
          <a:prstGeom prst="roundRect">
            <a:avLst/>
          </a:prstGeom>
          <a:solidFill>
            <a:srgbClr val="EFF8F2"/>
          </a:solidFill>
          <a:ln w="10160">
            <a:solidFill>
              <a:srgbClr val="168A5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CONCILIACIÓN</a:t>
            </a:r>
            <a:endParaRPr lang="en-US" sz="555" dirty="0"/>
          </a:p>
          <a:p>
            <a:pPr algn="ctr" indent="0" marL="0">
              <a:buNone/>
            </a:pP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Cuadre financiero</a:t>
            </a:r>
            <a:endParaRPr lang="en-US" sz="555" dirty="0"/>
          </a:p>
          <a:p>
            <a:pPr algn="ctr" indent="0" marL="0">
              <a:buNone/>
            </a:pPr>
            <a:r>
              <a:rPr lang="en-US" sz="55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operativo</a:t>
            </a:r>
            <a:endParaRPr lang="en-US" sz="555" dirty="0"/>
          </a:p>
        </p:txBody>
      </p:sp>
      <p:sp>
        <p:nvSpPr>
          <p:cNvPr id="51" name="Shape 49"/>
          <p:cNvSpPr/>
          <p:nvPr/>
        </p:nvSpPr>
        <p:spPr>
          <a:xfrm>
            <a:off x="4526280" y="10040112"/>
            <a:ext cx="0" cy="438912"/>
          </a:xfrm>
          <a:prstGeom prst="line">
            <a:avLst/>
          </a:prstGeom>
          <a:noFill/>
          <a:ln w="10160">
            <a:solidFill>
              <a:srgbClr val="4B62D1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66928" y="10497312"/>
            <a:ext cx="8001000" cy="274320"/>
          </a:xfrm>
          <a:prstGeom prst="rect">
            <a:avLst/>
          </a:prstGeom>
          <a:solidFill>
            <a:srgbClr val="123A63"/>
          </a:solidFill>
          <a:ln w="10160">
            <a:solidFill>
              <a:srgbClr val="123A6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CONSUMIDORES DE EVENTOS / DATOS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6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Asientos, reversas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ajustes</a:t>
            </a:r>
            <a:endParaRPr lang="en-US" sz="535" dirty="0"/>
          </a:p>
        </p:txBody>
      </p:sp>
      <p:sp>
        <p:nvSpPr>
          <p:cNvPr id="54" name="Text 52"/>
          <p:cNvSpPr/>
          <p:nvPr/>
        </p:nvSpPr>
        <p:spPr>
          <a:xfrm>
            <a:off x="1900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Cuenta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Cuotas y saldos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actualizados</a:t>
            </a:r>
            <a:endParaRPr lang="en-US" sz="535" dirty="0"/>
          </a:p>
        </p:txBody>
      </p:sp>
      <p:sp>
        <p:nvSpPr>
          <p:cNvPr id="55" name="Text 53"/>
          <p:cNvSpPr/>
          <p:nvPr/>
        </p:nvSpPr>
        <p:spPr>
          <a:xfrm>
            <a:off x="3233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Confirmaciones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rechazos</a:t>
            </a:r>
            <a:endParaRPr lang="en-US" sz="535" dirty="0"/>
          </a:p>
        </p:txBody>
      </p:sp>
      <p:sp>
        <p:nvSpPr>
          <p:cNvPr id="56" name="Text 54"/>
          <p:cNvSpPr/>
          <p:nvPr/>
        </p:nvSpPr>
        <p:spPr>
          <a:xfrm>
            <a:off x="4567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elegibilidad</a:t>
            </a:r>
            <a:endParaRPr lang="en-US" sz="535" dirty="0"/>
          </a:p>
        </p:txBody>
      </p:sp>
      <p:sp>
        <p:nvSpPr>
          <p:cNvPr id="57" name="Text 55"/>
          <p:cNvSpPr/>
          <p:nvPr/>
        </p:nvSpPr>
        <p:spPr>
          <a:xfrm>
            <a:off x="59009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Conciliación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Cuadre operativo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financiero</a:t>
            </a:r>
            <a:endParaRPr lang="en-US" sz="535" dirty="0"/>
          </a:p>
        </p:txBody>
      </p:sp>
      <p:sp>
        <p:nvSpPr>
          <p:cNvPr id="58" name="Text 56"/>
          <p:cNvSpPr/>
          <p:nvPr/>
        </p:nvSpPr>
        <p:spPr>
          <a:xfrm>
            <a:off x="7234428" y="10771632"/>
            <a:ext cx="133350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</a:t>
            </a:r>
            <a:endParaRPr lang="en-US" sz="535" dirty="0"/>
          </a:p>
          <a:p>
            <a:pPr algn="ctr" indent="0" marL="0">
              <a:buNone/>
            </a:pP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y</a:t>
            </a:r>
            <a:endParaRPr lang="en-US" sz="535" dirty="0"/>
          </a:p>
          <a:p>
            <a:pPr algn="ctr" indent="0" marL="0">
              <a:buNone/>
            </a:pPr>
            <a:r>
              <a:rPr lang="en-US" sz="535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535" dirty="0"/>
          </a:p>
        </p:txBody>
      </p:sp>
      <p:sp>
        <p:nvSpPr>
          <p:cNvPr id="59" name="Text 57"/>
          <p:cNvSpPr/>
          <p:nvPr/>
        </p:nvSpPr>
        <p:spPr>
          <a:xfrm>
            <a:off x="256032" y="11932920"/>
            <a:ext cx="309067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LEYENDA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Exposición de servicios        → Datos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Gestión de contexto             → Integración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Procesos y workflow             → Consistencia</a:t>
            </a:r>
            <a:endParaRPr lang="en-US" sz="570" dirty="0"/>
          </a:p>
          <a:p>
            <a:pPr algn="l" indent="0" marL="0">
              <a:buNone/>
            </a:pPr>
            <a:r>
              <a:rPr lang="en-US" sz="570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Orquestación de servicios       → Eventos</a:t>
            </a:r>
            <a:endParaRPr lang="en-US" sz="570" dirty="0"/>
          </a:p>
        </p:txBody>
      </p:sp>
      <p:sp>
        <p:nvSpPr>
          <p:cNvPr id="60" name="Text 58"/>
          <p:cNvSpPr/>
          <p:nvPr/>
        </p:nvSpPr>
        <p:spPr>
          <a:xfrm>
            <a:off x="3529584" y="11932920"/>
            <a:ext cx="5349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D0E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endParaRPr lang="en-US" sz="100" dirty="0"/>
          </a:p>
        </p:txBody>
      </p:sp>
      <p:sp>
        <p:nvSpPr>
          <p:cNvPr id="61" name="Text 59"/>
          <p:cNvSpPr/>
          <p:nvPr/>
        </p:nvSpPr>
        <p:spPr>
          <a:xfrm>
            <a:off x="3566160" y="11960352"/>
            <a:ext cx="5230368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2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 PARA EL NEGOCIO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3602736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Reglas financieras únicas por canal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Menos riesgo de descuadre contable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Pagos y reversas auditables</a:t>
            </a:r>
            <a:endParaRPr lang="en-US" sz="615" dirty="0"/>
          </a:p>
        </p:txBody>
      </p:sp>
      <p:sp>
        <p:nvSpPr>
          <p:cNvPr id="63" name="Text 61"/>
          <p:cNvSpPr/>
          <p:nvPr/>
        </p:nvSpPr>
        <p:spPr>
          <a:xfrm>
            <a:off x="6126480" y="12225528"/>
            <a:ext cx="2468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Mejor control de saldo a favor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Cliente informado con saldos consistentes</a:t>
            </a:r>
            <a:endParaRPr lang="en-US" sz="615" dirty="0"/>
          </a:p>
          <a:p>
            <a:pPr algn="l" indent="0" marL="0">
              <a:buNone/>
            </a:pPr>
            <a:r>
              <a:rPr lang="en-US" sz="615" dirty="0">
                <a:solidFill>
                  <a:srgbClr val="4B6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Base reutilizable para nuevas campañas</a:t>
            </a:r>
            <a:endParaRPr lang="en-US" sz="615" dirty="0"/>
          </a:p>
        </p:txBody>
      </p:sp>
      <p:sp>
        <p:nvSpPr>
          <p:cNvPr id="64" name="Shape 62"/>
          <p:cNvSpPr/>
          <p:nvPr/>
        </p:nvSpPr>
        <p:spPr>
          <a:xfrm>
            <a:off x="228600" y="13423392"/>
            <a:ext cx="8686800" cy="0"/>
          </a:xfrm>
          <a:prstGeom prst="line">
            <a:avLst/>
          </a:prstGeom>
          <a:noFill/>
          <a:ln w="7620">
            <a:solidFill>
              <a:srgbClr val="D7E2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13469112"/>
            <a:ext cx="8321040" cy="164592"/>
          </a:xfrm>
          <a:prstGeom prst="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8E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Ejemplo editable de trazabilidad R4: historia de usuario → capacidades de interoperabilidad → plataformas/sistemas → consumidores | Caso 3 — Diferimiento, pagos fijos y saldo a favor</a:t>
            </a:r>
            <a:endParaRPr lang="en-US" sz="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6E05F851-505E-48A3-A53E-0691E0BB00F1}"/>
</file>

<file path=customXml/itemProps2.xml><?xml version="1.0" encoding="utf-8"?>
<ds:datastoreItem xmlns:ds="http://schemas.openxmlformats.org/officeDocument/2006/customXml" ds:itemID="{B2D370A5-21F6-4898-ABFF-337399E977B1}"/>
</file>

<file path=customXml/itemProps3.xml><?xml version="1.0" encoding="utf-8"?>
<ds:datastoreItem xmlns:ds="http://schemas.openxmlformats.org/officeDocument/2006/customXml" ds:itemID="{156F1F11-4610-40D4-ADA4-CCC98853D7F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BanCoppel / 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UNITY R4 - Trazabilidad de capacidades de interoperabilidad</dc:subject>
  <dc:creator>OpenAI</dc:creator>
  <cp:lastModifiedBy>OpenAI</cp:lastModifiedBy>
  <cp:revision>1</cp:revision>
  <dcterms:created xsi:type="dcterms:W3CDTF">2026-08-06T12:05:43Z</dcterms:created>
  <dcterms:modified xsi:type="dcterms:W3CDTF">2026-08-06T12:05:43Z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