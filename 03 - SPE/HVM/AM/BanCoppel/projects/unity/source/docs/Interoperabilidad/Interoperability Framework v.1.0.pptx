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54"/>
  </p:notesMasterIdLst>
  <p:sldIdLst>
    <p:sldId id="444" r:id="rId5"/>
    <p:sldId id="265" r:id="rId6"/>
    <p:sldId id="266" r:id="rId7"/>
    <p:sldId id="422" r:id="rId8"/>
    <p:sldId id="445" r:id="rId9"/>
    <p:sldId id="315" r:id="rId10"/>
    <p:sldId id="414" r:id="rId11"/>
    <p:sldId id="321" r:id="rId12"/>
    <p:sldId id="416" r:id="rId13"/>
    <p:sldId id="417" r:id="rId14"/>
    <p:sldId id="446" r:id="rId15"/>
    <p:sldId id="447" r:id="rId16"/>
    <p:sldId id="390" r:id="rId17"/>
    <p:sldId id="443" r:id="rId18"/>
    <p:sldId id="461" r:id="rId19"/>
    <p:sldId id="391" r:id="rId20"/>
    <p:sldId id="450" r:id="rId21"/>
    <p:sldId id="451" r:id="rId22"/>
    <p:sldId id="459" r:id="rId23"/>
    <p:sldId id="449" r:id="rId24"/>
    <p:sldId id="448" r:id="rId25"/>
    <p:sldId id="457" r:id="rId26"/>
    <p:sldId id="455" r:id="rId27"/>
    <p:sldId id="453" r:id="rId28"/>
    <p:sldId id="454" r:id="rId29"/>
    <p:sldId id="460" r:id="rId30"/>
    <p:sldId id="458" r:id="rId31"/>
    <p:sldId id="456" r:id="rId32"/>
    <p:sldId id="452" r:id="rId33"/>
    <p:sldId id="362" r:id="rId34"/>
    <p:sldId id="442" r:id="rId35"/>
    <p:sldId id="334" r:id="rId36"/>
    <p:sldId id="282" r:id="rId37"/>
    <p:sldId id="333" r:id="rId38"/>
    <p:sldId id="358" r:id="rId39"/>
    <p:sldId id="335" r:id="rId40"/>
    <p:sldId id="338" r:id="rId41"/>
    <p:sldId id="341" r:id="rId42"/>
    <p:sldId id="441" r:id="rId43"/>
    <p:sldId id="344" r:id="rId44"/>
    <p:sldId id="342" r:id="rId45"/>
    <p:sldId id="339" r:id="rId46"/>
    <p:sldId id="340" r:id="rId47"/>
    <p:sldId id="343" r:id="rId48"/>
    <p:sldId id="350" r:id="rId49"/>
    <p:sldId id="351" r:id="rId50"/>
    <p:sldId id="352" r:id="rId51"/>
    <p:sldId id="353" r:id="rId52"/>
    <p:sldId id="357"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6082"/>
    <a:srgbClr val="E6E6DC"/>
    <a:srgbClr val="750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6D3F7C-1220-4407-80F6-E1163CCD1C81}" v="4" dt="2026-08-10T21:23:48.8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224" autoAdjust="0"/>
    <p:restoredTop sz="94660"/>
  </p:normalViewPr>
  <p:slideViewPr>
    <p:cSldViewPr snapToGrid="0">
      <p:cViewPr varScale="1">
        <p:scale>
          <a:sx n="109" d="100"/>
          <a:sy n="109" d="100"/>
        </p:scale>
        <p:origin x="162"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llena, Jose" userId="S::jose.villena.martin@accenture.com::eadb7e09-7b37-48d9-b51e-4fa15d8fe010" providerId="AD" clId="Web-{E287D679-80A2-EAC6-02C9-ABA7667FB049}"/>
    <pc:docChg chg="modSld">
      <pc:chgData name="Villena, Jose" userId="S::jose.villena.martin@accenture.com::eadb7e09-7b37-48d9-b51e-4fa15d8fe010" providerId="AD" clId="Web-{E287D679-80A2-EAC6-02C9-ABA7667FB049}" dt="2026-08-07T16:33:26.928" v="0" actId="1076"/>
      <pc:docMkLst>
        <pc:docMk/>
      </pc:docMkLst>
      <pc:sldChg chg="modSp">
        <pc:chgData name="Villena, Jose" userId="S::jose.villena.martin@accenture.com::eadb7e09-7b37-48d9-b51e-4fa15d8fe010" providerId="AD" clId="Web-{E287D679-80A2-EAC6-02C9-ABA7667FB049}" dt="2026-08-07T16:33:26.928" v="0" actId="1076"/>
        <pc:sldMkLst>
          <pc:docMk/>
          <pc:sldMk cId="1782007623" sldId="265"/>
        </pc:sldMkLst>
        <pc:picChg chg="mod">
          <ac:chgData name="Villena, Jose" userId="S::jose.villena.martin@accenture.com::eadb7e09-7b37-48d9-b51e-4fa15d8fe010" providerId="AD" clId="Web-{E287D679-80A2-EAC6-02C9-ABA7667FB049}" dt="2026-08-07T16:33:26.928" v="0" actId="1076"/>
          <ac:picMkLst>
            <pc:docMk/>
            <pc:sldMk cId="1782007623" sldId="265"/>
            <ac:picMk id="62" creationId="{845BB289-8EF8-1E06-A1EE-581429EDA181}"/>
          </ac:picMkLst>
        </pc:picChg>
      </pc:sldChg>
    </pc:docChg>
  </pc:docChgLst>
  <pc:docChgLst>
    <pc:chgData name="Pietrzyk, Lukasz" userId="3c523eea-d990-46ae-90d9-b9bf542e4057" providerId="ADAL" clId="{26BD416E-4D49-4ABD-8D8C-867EBA8C3D66}"/>
    <pc:docChg chg="undo custSel addSld modSld sldOrd">
      <pc:chgData name="Pietrzyk, Lukasz" userId="3c523eea-d990-46ae-90d9-b9bf542e4057" providerId="ADAL" clId="{26BD416E-4D49-4ABD-8D8C-867EBA8C3D66}" dt="2026-08-05T18:23:02.877" v="837" actId="14100"/>
      <pc:docMkLst>
        <pc:docMk/>
      </pc:docMkLst>
      <pc:sldChg chg="delSp modSp mod">
        <pc:chgData name="Pietrzyk, Lukasz" userId="3c523eea-d990-46ae-90d9-b9bf542e4057" providerId="ADAL" clId="{26BD416E-4D49-4ABD-8D8C-867EBA8C3D66}" dt="2026-08-05T18:13:11.091" v="693" actId="26606"/>
        <pc:sldMkLst>
          <pc:docMk/>
          <pc:sldMk cId="1782007623" sldId="265"/>
        </pc:sldMkLst>
        <pc:spChg chg="mod">
          <ac:chgData name="Pietrzyk, Lukasz" userId="3c523eea-d990-46ae-90d9-b9bf542e4057" providerId="ADAL" clId="{26BD416E-4D49-4ABD-8D8C-867EBA8C3D66}" dt="2026-08-05T18:13:11.091" v="693" actId="26606"/>
          <ac:spMkLst>
            <pc:docMk/>
            <pc:sldMk cId="1782007623" sldId="265"/>
            <ac:spMk id="55" creationId="{071E4A91-1428-1069-0214-C97E410DCD3B}"/>
          </ac:spMkLst>
        </pc:spChg>
        <pc:spChg chg="mod">
          <ac:chgData name="Pietrzyk, Lukasz" userId="3c523eea-d990-46ae-90d9-b9bf542e4057" providerId="ADAL" clId="{26BD416E-4D49-4ABD-8D8C-867EBA8C3D66}" dt="2026-08-05T18:13:10.769" v="692" actId="1076"/>
          <ac:spMkLst>
            <pc:docMk/>
            <pc:sldMk cId="1782007623" sldId="265"/>
            <ac:spMk id="58" creationId="{1868E8F0-8CB1-EDAA-A0FD-CA350FC45409}"/>
          </ac:spMkLst>
        </pc:spChg>
        <pc:spChg chg="mod">
          <ac:chgData name="Pietrzyk, Lukasz" userId="3c523eea-d990-46ae-90d9-b9bf542e4057" providerId="ADAL" clId="{26BD416E-4D49-4ABD-8D8C-867EBA8C3D66}" dt="2026-08-05T18:13:11.091" v="693" actId="26606"/>
          <ac:spMkLst>
            <pc:docMk/>
            <pc:sldMk cId="1782007623" sldId="265"/>
            <ac:spMk id="63" creationId="{7B1D3CAF-B5F3-BFD1-1036-B8FE8548F7CB}"/>
          </ac:spMkLst>
        </pc:spChg>
        <pc:spChg chg="mod">
          <ac:chgData name="Pietrzyk, Lukasz" userId="3c523eea-d990-46ae-90d9-b9bf542e4057" providerId="ADAL" clId="{26BD416E-4D49-4ABD-8D8C-867EBA8C3D66}" dt="2026-08-05T18:13:11.091" v="693" actId="26606"/>
          <ac:spMkLst>
            <pc:docMk/>
            <pc:sldMk cId="1782007623" sldId="265"/>
            <ac:spMk id="65" creationId="{2399DF29-4080-133A-5108-59C634AC3991}"/>
          </ac:spMkLst>
        </pc:spChg>
        <pc:spChg chg="mod">
          <ac:chgData name="Pietrzyk, Lukasz" userId="3c523eea-d990-46ae-90d9-b9bf542e4057" providerId="ADAL" clId="{26BD416E-4D49-4ABD-8D8C-867EBA8C3D66}" dt="2026-08-05T18:13:11.091" v="693" actId="26606"/>
          <ac:spMkLst>
            <pc:docMk/>
            <pc:sldMk cId="1782007623" sldId="265"/>
            <ac:spMk id="66" creationId="{C97A567D-A43F-B0E6-BC63-81188CC88EF5}"/>
          </ac:spMkLst>
        </pc:spChg>
      </pc:sldChg>
      <pc:sldChg chg="delSp mod">
        <pc:chgData name="Pietrzyk, Lukasz" userId="3c523eea-d990-46ae-90d9-b9bf542e4057" providerId="ADAL" clId="{26BD416E-4D49-4ABD-8D8C-867EBA8C3D66}" dt="2026-08-05T14:07:10.394" v="592" actId="478"/>
        <pc:sldMkLst>
          <pc:docMk/>
          <pc:sldMk cId="2888050721" sldId="266"/>
        </pc:sldMkLst>
      </pc:sldChg>
      <pc:sldChg chg="delSp mod">
        <pc:chgData name="Pietrzyk, Lukasz" userId="3c523eea-d990-46ae-90d9-b9bf542e4057" providerId="ADAL" clId="{26BD416E-4D49-4ABD-8D8C-867EBA8C3D66}" dt="2026-08-05T14:08:27.950" v="612" actId="478"/>
        <pc:sldMkLst>
          <pc:docMk/>
          <pc:sldMk cId="1510954996" sldId="282"/>
        </pc:sldMkLst>
      </pc:sldChg>
      <pc:sldChg chg="delSp mod">
        <pc:chgData name="Pietrzyk, Lukasz" userId="3c523eea-d990-46ae-90d9-b9bf542e4057" providerId="ADAL" clId="{26BD416E-4D49-4ABD-8D8C-867EBA8C3D66}" dt="2026-08-05T14:08:37.234" v="615" actId="478"/>
        <pc:sldMkLst>
          <pc:docMk/>
          <pc:sldMk cId="3787592623" sldId="333"/>
        </pc:sldMkLst>
      </pc:sldChg>
      <pc:sldChg chg="delSp mod">
        <pc:chgData name="Pietrzyk, Lukasz" userId="3c523eea-d990-46ae-90d9-b9bf542e4057" providerId="ADAL" clId="{26BD416E-4D49-4ABD-8D8C-867EBA8C3D66}" dt="2026-08-05T14:08:21.614" v="608" actId="478"/>
        <pc:sldMkLst>
          <pc:docMk/>
          <pc:sldMk cId="444469441" sldId="334"/>
        </pc:sldMkLst>
      </pc:sldChg>
      <pc:sldChg chg="delSp mod">
        <pc:chgData name="Pietrzyk, Lukasz" userId="3c523eea-d990-46ae-90d9-b9bf542e4057" providerId="ADAL" clId="{26BD416E-4D49-4ABD-8D8C-867EBA8C3D66}" dt="2026-08-05T14:13:10.037" v="670" actId="478"/>
        <pc:sldMkLst>
          <pc:docMk/>
          <pc:sldMk cId="2899920407" sldId="335"/>
        </pc:sldMkLst>
      </pc:sldChg>
      <pc:sldChg chg="delSp mod">
        <pc:chgData name="Pietrzyk, Lukasz" userId="3c523eea-d990-46ae-90d9-b9bf542e4057" providerId="ADAL" clId="{26BD416E-4D49-4ABD-8D8C-867EBA8C3D66}" dt="2026-08-05T14:13:13.152" v="671" actId="478"/>
        <pc:sldMkLst>
          <pc:docMk/>
          <pc:sldMk cId="335367844" sldId="338"/>
        </pc:sldMkLst>
      </pc:sldChg>
      <pc:sldChg chg="delSp mod">
        <pc:chgData name="Pietrzyk, Lukasz" userId="3c523eea-d990-46ae-90d9-b9bf542e4057" providerId="ADAL" clId="{26BD416E-4D49-4ABD-8D8C-867EBA8C3D66}" dt="2026-08-05T14:13:35.420" v="677" actId="478"/>
        <pc:sldMkLst>
          <pc:docMk/>
          <pc:sldMk cId="2593543775" sldId="339"/>
        </pc:sldMkLst>
      </pc:sldChg>
      <pc:sldChg chg="delSp mod">
        <pc:chgData name="Pietrzyk, Lukasz" userId="3c523eea-d990-46ae-90d9-b9bf542e4057" providerId="ADAL" clId="{26BD416E-4D49-4ABD-8D8C-867EBA8C3D66}" dt="2026-08-05T14:13:37.514" v="678" actId="478"/>
        <pc:sldMkLst>
          <pc:docMk/>
          <pc:sldMk cId="4142440913" sldId="340"/>
        </pc:sldMkLst>
      </pc:sldChg>
      <pc:sldChg chg="delSp mod">
        <pc:chgData name="Pietrzyk, Lukasz" userId="3c523eea-d990-46ae-90d9-b9bf542e4057" providerId="ADAL" clId="{26BD416E-4D49-4ABD-8D8C-867EBA8C3D66}" dt="2026-08-05T14:13:21.164" v="672" actId="478"/>
        <pc:sldMkLst>
          <pc:docMk/>
          <pc:sldMk cId="1330598357" sldId="341"/>
        </pc:sldMkLst>
      </pc:sldChg>
      <pc:sldChg chg="delSp mod">
        <pc:chgData name="Pietrzyk, Lukasz" userId="3c523eea-d990-46ae-90d9-b9bf542e4057" providerId="ADAL" clId="{26BD416E-4D49-4ABD-8D8C-867EBA8C3D66}" dt="2026-08-05T14:13:33.621" v="676" actId="478"/>
        <pc:sldMkLst>
          <pc:docMk/>
          <pc:sldMk cId="1405466169" sldId="342"/>
        </pc:sldMkLst>
      </pc:sldChg>
      <pc:sldChg chg="delSp mod">
        <pc:chgData name="Pietrzyk, Lukasz" userId="3c523eea-d990-46ae-90d9-b9bf542e4057" providerId="ADAL" clId="{26BD416E-4D49-4ABD-8D8C-867EBA8C3D66}" dt="2026-08-05T14:13:39.732" v="679" actId="478"/>
        <pc:sldMkLst>
          <pc:docMk/>
          <pc:sldMk cId="378753676" sldId="343"/>
        </pc:sldMkLst>
      </pc:sldChg>
      <pc:sldChg chg="delSp modSp mod">
        <pc:chgData name="Pietrzyk, Lukasz" userId="3c523eea-d990-46ae-90d9-b9bf542e4057" providerId="ADAL" clId="{26BD416E-4D49-4ABD-8D8C-867EBA8C3D66}" dt="2026-08-05T14:13:31.201" v="675" actId="478"/>
        <pc:sldMkLst>
          <pc:docMk/>
          <pc:sldMk cId="2070700149" sldId="344"/>
        </pc:sldMkLst>
      </pc:sldChg>
      <pc:sldChg chg="delSp mod">
        <pc:chgData name="Pietrzyk, Lukasz" userId="3c523eea-d990-46ae-90d9-b9bf542e4057" providerId="ADAL" clId="{26BD416E-4D49-4ABD-8D8C-867EBA8C3D66}" dt="2026-08-05T14:13:41.896" v="680" actId="478"/>
        <pc:sldMkLst>
          <pc:docMk/>
          <pc:sldMk cId="3418609548" sldId="350"/>
        </pc:sldMkLst>
      </pc:sldChg>
      <pc:sldChg chg="delSp mod">
        <pc:chgData name="Pietrzyk, Lukasz" userId="3c523eea-d990-46ae-90d9-b9bf542e4057" providerId="ADAL" clId="{26BD416E-4D49-4ABD-8D8C-867EBA8C3D66}" dt="2026-08-05T14:13:44.260" v="681" actId="478"/>
        <pc:sldMkLst>
          <pc:docMk/>
          <pc:sldMk cId="1454790040" sldId="351"/>
        </pc:sldMkLst>
      </pc:sldChg>
      <pc:sldChg chg="delSp mod">
        <pc:chgData name="Pietrzyk, Lukasz" userId="3c523eea-d990-46ae-90d9-b9bf542e4057" providerId="ADAL" clId="{26BD416E-4D49-4ABD-8D8C-867EBA8C3D66}" dt="2026-08-05T14:13:46.714" v="682" actId="478"/>
        <pc:sldMkLst>
          <pc:docMk/>
          <pc:sldMk cId="2679886651" sldId="352"/>
        </pc:sldMkLst>
      </pc:sldChg>
      <pc:sldChg chg="delSp mod">
        <pc:chgData name="Pietrzyk, Lukasz" userId="3c523eea-d990-46ae-90d9-b9bf542e4057" providerId="ADAL" clId="{26BD416E-4D49-4ABD-8D8C-867EBA8C3D66}" dt="2026-08-05T14:13:49.363" v="683" actId="478"/>
        <pc:sldMkLst>
          <pc:docMk/>
          <pc:sldMk cId="359023131" sldId="353"/>
        </pc:sldMkLst>
      </pc:sldChg>
      <pc:sldChg chg="delSp mod">
        <pc:chgData name="Pietrzyk, Lukasz" userId="3c523eea-d990-46ae-90d9-b9bf542e4057" providerId="ADAL" clId="{26BD416E-4D49-4ABD-8D8C-867EBA8C3D66}" dt="2026-08-05T14:13:51.762" v="684" actId="478"/>
        <pc:sldMkLst>
          <pc:docMk/>
          <pc:sldMk cId="3218240305" sldId="357"/>
        </pc:sldMkLst>
      </pc:sldChg>
      <pc:sldChg chg="delSp mod">
        <pc:chgData name="Pietrzyk, Lukasz" userId="3c523eea-d990-46ae-90d9-b9bf542e4057" providerId="ADAL" clId="{26BD416E-4D49-4ABD-8D8C-867EBA8C3D66}" dt="2026-08-05T14:13:04.418" v="669" actId="478"/>
        <pc:sldMkLst>
          <pc:docMk/>
          <pc:sldMk cId="2240300816" sldId="358"/>
        </pc:sldMkLst>
      </pc:sldChg>
      <pc:sldChg chg="addSp delSp modSp mod">
        <pc:chgData name="Pietrzyk, Lukasz" userId="3c523eea-d990-46ae-90d9-b9bf542e4057" providerId="ADAL" clId="{26BD416E-4D49-4ABD-8D8C-867EBA8C3D66}" dt="2026-08-05T14:11:55.562" v="664" actId="20577"/>
        <pc:sldMkLst>
          <pc:docMk/>
          <pc:sldMk cId="3350161779" sldId="390"/>
        </pc:sldMkLst>
        <pc:spChg chg="mod">
          <ac:chgData name="Pietrzyk, Lukasz" userId="3c523eea-d990-46ae-90d9-b9bf542e4057" providerId="ADAL" clId="{26BD416E-4D49-4ABD-8D8C-867EBA8C3D66}" dt="2026-08-05T14:10:59.040" v="650" actId="1582"/>
          <ac:spMkLst>
            <pc:docMk/>
            <pc:sldMk cId="3350161779" sldId="390"/>
            <ac:spMk id="29" creationId="{07032E24-4EBC-4359-B6FA-4AE01DEFC30C}"/>
          </ac:spMkLst>
        </pc:spChg>
        <pc:spChg chg="mod">
          <ac:chgData name="Pietrzyk, Lukasz" userId="3c523eea-d990-46ae-90d9-b9bf542e4057" providerId="ADAL" clId="{26BD416E-4D49-4ABD-8D8C-867EBA8C3D66}" dt="2026-08-05T14:10:59.040" v="650" actId="1582"/>
          <ac:spMkLst>
            <pc:docMk/>
            <pc:sldMk cId="3350161779" sldId="390"/>
            <ac:spMk id="30" creationId="{6D739B0F-062A-9D0D-688E-C5956D05F86F}"/>
          </ac:spMkLst>
        </pc:spChg>
        <pc:spChg chg="mod">
          <ac:chgData name="Pietrzyk, Lukasz" userId="3c523eea-d990-46ae-90d9-b9bf542e4057" providerId="ADAL" clId="{26BD416E-4D49-4ABD-8D8C-867EBA8C3D66}" dt="2026-08-05T14:10:59.040" v="650" actId="1582"/>
          <ac:spMkLst>
            <pc:docMk/>
            <pc:sldMk cId="3350161779" sldId="390"/>
            <ac:spMk id="31" creationId="{B626ACA0-B499-3614-76D1-A4644845A15A}"/>
          </ac:spMkLst>
        </pc:spChg>
        <pc:spChg chg="mod">
          <ac:chgData name="Pietrzyk, Lukasz" userId="3c523eea-d990-46ae-90d9-b9bf542e4057" providerId="ADAL" clId="{26BD416E-4D49-4ABD-8D8C-867EBA8C3D66}" dt="2026-08-05T14:10:59.040" v="650" actId="1582"/>
          <ac:spMkLst>
            <pc:docMk/>
            <pc:sldMk cId="3350161779" sldId="390"/>
            <ac:spMk id="32" creationId="{851C038D-02DD-A1C2-B094-4AEE3C4CA255}"/>
          </ac:spMkLst>
        </pc:spChg>
        <pc:spChg chg="mod">
          <ac:chgData name="Pietrzyk, Lukasz" userId="3c523eea-d990-46ae-90d9-b9bf542e4057" providerId="ADAL" clId="{26BD416E-4D49-4ABD-8D8C-867EBA8C3D66}" dt="2026-08-05T14:10:59.040" v="650" actId="1582"/>
          <ac:spMkLst>
            <pc:docMk/>
            <pc:sldMk cId="3350161779" sldId="390"/>
            <ac:spMk id="39" creationId="{5828082A-0A90-A83F-BAC2-997225584921}"/>
          </ac:spMkLst>
        </pc:spChg>
        <pc:spChg chg="mod">
          <ac:chgData name="Pietrzyk, Lukasz" userId="3c523eea-d990-46ae-90d9-b9bf542e4057" providerId="ADAL" clId="{26BD416E-4D49-4ABD-8D8C-867EBA8C3D66}" dt="2026-08-05T14:11:45.939" v="658" actId="6549"/>
          <ac:spMkLst>
            <pc:docMk/>
            <pc:sldMk cId="3350161779" sldId="390"/>
            <ac:spMk id="42" creationId="{1450ECB1-9DB4-2AEB-3F82-94E78101F090}"/>
          </ac:spMkLst>
        </pc:spChg>
        <pc:spChg chg="mod">
          <ac:chgData name="Pietrzyk, Lukasz" userId="3c523eea-d990-46ae-90d9-b9bf542e4057" providerId="ADAL" clId="{26BD416E-4D49-4ABD-8D8C-867EBA8C3D66}" dt="2026-08-05T14:11:55.562" v="664" actId="20577"/>
          <ac:spMkLst>
            <pc:docMk/>
            <pc:sldMk cId="3350161779" sldId="390"/>
            <ac:spMk id="43" creationId="{D94902BD-45BD-4F63-A070-A81A4B44E9C1}"/>
          </ac:spMkLst>
        </pc:spChg>
        <pc:grpChg chg="add mod">
          <ac:chgData name="Pietrzyk, Lukasz" userId="3c523eea-d990-46ae-90d9-b9bf542e4057" providerId="ADAL" clId="{26BD416E-4D49-4ABD-8D8C-867EBA8C3D66}" dt="2026-08-05T14:11:13.998" v="654" actId="1076"/>
          <ac:grpSpMkLst>
            <pc:docMk/>
            <pc:sldMk cId="3350161779" sldId="390"/>
            <ac:grpSpMk id="41" creationId="{79FA365B-0F31-880D-17F4-C38788A2E195}"/>
          </ac:grpSpMkLst>
        </pc:grpChg>
      </pc:sldChg>
      <pc:sldChg chg="delSp mod">
        <pc:chgData name="Pietrzyk, Lukasz" userId="3c523eea-d990-46ae-90d9-b9bf542e4057" providerId="ADAL" clId="{26BD416E-4D49-4ABD-8D8C-867EBA8C3D66}" dt="2026-08-05T14:07:32.326" v="596" actId="478"/>
        <pc:sldMkLst>
          <pc:docMk/>
          <pc:sldMk cId="1145398900" sldId="391"/>
        </pc:sldMkLst>
      </pc:sldChg>
      <pc:sldChg chg="delSp mod">
        <pc:chgData name="Pietrzyk, Lukasz" userId="3c523eea-d990-46ae-90d9-b9bf542e4057" providerId="ADAL" clId="{26BD416E-4D49-4ABD-8D8C-867EBA8C3D66}" dt="2026-08-05T14:07:13.477" v="593" actId="478"/>
        <pc:sldMkLst>
          <pc:docMk/>
          <pc:sldMk cId="2000197441" sldId="422"/>
        </pc:sldMkLst>
      </pc:sldChg>
      <pc:sldChg chg="delSp mod">
        <pc:chgData name="Pietrzyk, Lukasz" userId="3c523eea-d990-46ae-90d9-b9bf542e4057" providerId="ADAL" clId="{26BD416E-4D49-4ABD-8D8C-867EBA8C3D66}" dt="2026-08-05T14:13:26.812" v="673" actId="478"/>
        <pc:sldMkLst>
          <pc:docMk/>
          <pc:sldMk cId="2161744949" sldId="441"/>
        </pc:sldMkLst>
      </pc:sldChg>
      <pc:sldChg chg="delSp mod">
        <pc:chgData name="Pietrzyk, Lukasz" userId="3c523eea-d990-46ae-90d9-b9bf542e4057" providerId="ADAL" clId="{26BD416E-4D49-4ABD-8D8C-867EBA8C3D66}" dt="2026-08-05T14:08:18.605" v="607" actId="478"/>
        <pc:sldMkLst>
          <pc:docMk/>
          <pc:sldMk cId="3515875920" sldId="442"/>
        </pc:sldMkLst>
      </pc:sldChg>
      <pc:sldChg chg="addSp delSp modSp mod">
        <pc:chgData name="Pietrzyk, Lukasz" userId="3c523eea-d990-46ae-90d9-b9bf542e4057" providerId="ADAL" clId="{26BD416E-4D49-4ABD-8D8C-867EBA8C3D66}" dt="2026-08-05T18:23:02.877" v="837" actId="14100"/>
        <pc:sldMkLst>
          <pc:docMk/>
          <pc:sldMk cId="3350161779" sldId="443"/>
        </pc:sldMkLst>
        <pc:spChg chg="add mod">
          <ac:chgData name="Pietrzyk, Lukasz" userId="3c523eea-d990-46ae-90d9-b9bf542e4057" providerId="ADAL" clId="{26BD416E-4D49-4ABD-8D8C-867EBA8C3D66}" dt="2026-08-05T18:22:03.847" v="822" actId="1036"/>
          <ac:spMkLst>
            <pc:docMk/>
            <pc:sldMk cId="3350161779" sldId="443"/>
            <ac:spMk id="6" creationId="{FB341AF8-16A4-FF9C-78B5-A4CD3B5AC7BE}"/>
          </ac:spMkLst>
        </pc:spChg>
        <pc:spChg chg="add mod">
          <ac:chgData name="Pietrzyk, Lukasz" userId="3c523eea-d990-46ae-90d9-b9bf542e4057" providerId="ADAL" clId="{26BD416E-4D49-4ABD-8D8C-867EBA8C3D66}" dt="2026-08-05T18:22:03.847" v="822" actId="1036"/>
          <ac:spMkLst>
            <pc:docMk/>
            <pc:sldMk cId="3350161779" sldId="443"/>
            <ac:spMk id="9" creationId="{9EC9F281-3ABC-2465-0517-6946FB46C289}"/>
          </ac:spMkLst>
        </pc:spChg>
        <pc:spChg chg="mod">
          <ac:chgData name="Pietrzyk, Lukasz" userId="3c523eea-d990-46ae-90d9-b9bf542e4057" providerId="ADAL" clId="{26BD416E-4D49-4ABD-8D8C-867EBA8C3D66}" dt="2026-08-05T18:21:57.587" v="818" actId="14100"/>
          <ac:spMkLst>
            <pc:docMk/>
            <pc:sldMk cId="3350161779" sldId="443"/>
            <ac:spMk id="101" creationId="{00000000-0000-0000-0000-000000000000}"/>
          </ac:spMkLst>
        </pc:spChg>
        <pc:spChg chg="mod">
          <ac:chgData name="Pietrzyk, Lukasz" userId="3c523eea-d990-46ae-90d9-b9bf542e4057" providerId="ADAL" clId="{26BD416E-4D49-4ABD-8D8C-867EBA8C3D66}" dt="2026-08-05T18:21:57.587" v="818" actId="14100"/>
          <ac:spMkLst>
            <pc:docMk/>
            <pc:sldMk cId="3350161779" sldId="443"/>
            <ac:spMk id="102" creationId="{00000000-0000-0000-0000-000000000000}"/>
          </ac:spMkLst>
        </pc:spChg>
        <pc:spChg chg="mod">
          <ac:chgData name="Pietrzyk, Lukasz" userId="3c523eea-d990-46ae-90d9-b9bf542e4057" providerId="ADAL" clId="{26BD416E-4D49-4ABD-8D8C-867EBA8C3D66}" dt="2026-08-05T18:21:57.587" v="818" actId="14100"/>
          <ac:spMkLst>
            <pc:docMk/>
            <pc:sldMk cId="3350161779" sldId="443"/>
            <ac:spMk id="103" creationId="{00000000-0000-0000-0000-000000000000}"/>
          </ac:spMkLst>
        </pc:spChg>
        <pc:spChg chg="mod">
          <ac:chgData name="Pietrzyk, Lukasz" userId="3c523eea-d990-46ae-90d9-b9bf542e4057" providerId="ADAL" clId="{26BD416E-4D49-4ABD-8D8C-867EBA8C3D66}" dt="2026-08-05T18:21:57.587" v="818" actId="14100"/>
          <ac:spMkLst>
            <pc:docMk/>
            <pc:sldMk cId="3350161779" sldId="443"/>
            <ac:spMk id="104" creationId="{00000000-0000-0000-0000-000000000000}"/>
          </ac:spMkLst>
        </pc:spChg>
        <pc:spChg chg="mod">
          <ac:chgData name="Pietrzyk, Lukasz" userId="3c523eea-d990-46ae-90d9-b9bf542e4057" providerId="ADAL" clId="{26BD416E-4D49-4ABD-8D8C-867EBA8C3D66}" dt="2026-08-05T18:22:03.847" v="822" actId="1036"/>
          <ac:spMkLst>
            <pc:docMk/>
            <pc:sldMk cId="3350161779" sldId="443"/>
            <ac:spMk id="105" creationId="{00000000-0000-0000-0000-000000000000}"/>
          </ac:spMkLst>
        </pc:spChg>
        <pc:spChg chg="mod">
          <ac:chgData name="Pietrzyk, Lukasz" userId="3c523eea-d990-46ae-90d9-b9bf542e4057" providerId="ADAL" clId="{26BD416E-4D49-4ABD-8D8C-867EBA8C3D66}" dt="2026-08-05T18:16:39.966" v="761" actId="1035"/>
          <ac:spMkLst>
            <pc:docMk/>
            <pc:sldMk cId="3350161779" sldId="443"/>
            <ac:spMk id="106" creationId="{00000000-0000-0000-0000-000000000000}"/>
          </ac:spMkLst>
        </pc:spChg>
        <pc:spChg chg="mod">
          <ac:chgData name="Pietrzyk, Lukasz" userId="3c523eea-d990-46ae-90d9-b9bf542e4057" providerId="ADAL" clId="{26BD416E-4D49-4ABD-8D8C-867EBA8C3D66}" dt="2026-08-05T18:22:50.960" v="832" actId="14100"/>
          <ac:spMkLst>
            <pc:docMk/>
            <pc:sldMk cId="3350161779" sldId="443"/>
            <ac:spMk id="107" creationId="{00000000-0000-0000-0000-000000000000}"/>
          </ac:spMkLst>
        </pc:spChg>
        <pc:spChg chg="mod">
          <ac:chgData name="Pietrzyk, Lukasz" userId="3c523eea-d990-46ae-90d9-b9bf542e4057" providerId="ADAL" clId="{26BD416E-4D49-4ABD-8D8C-867EBA8C3D66}" dt="2026-08-05T18:22:50.960" v="832" actId="14100"/>
          <ac:spMkLst>
            <pc:docMk/>
            <pc:sldMk cId="3350161779" sldId="443"/>
            <ac:spMk id="108" creationId="{00000000-0000-0000-0000-000000000000}"/>
          </ac:spMkLst>
        </pc:spChg>
        <pc:spChg chg="mod">
          <ac:chgData name="Pietrzyk, Lukasz" userId="3c523eea-d990-46ae-90d9-b9bf542e4057" providerId="ADAL" clId="{26BD416E-4D49-4ABD-8D8C-867EBA8C3D66}" dt="2026-08-05T18:22:50.960" v="832" actId="14100"/>
          <ac:spMkLst>
            <pc:docMk/>
            <pc:sldMk cId="3350161779" sldId="443"/>
            <ac:spMk id="109" creationId="{00000000-0000-0000-0000-000000000000}"/>
          </ac:spMkLst>
        </pc:spChg>
        <pc:spChg chg="mod">
          <ac:chgData name="Pietrzyk, Lukasz" userId="3c523eea-d990-46ae-90d9-b9bf542e4057" providerId="ADAL" clId="{26BD416E-4D49-4ABD-8D8C-867EBA8C3D66}" dt="2026-08-05T18:23:02.877" v="837" actId="14100"/>
          <ac:spMkLst>
            <pc:docMk/>
            <pc:sldMk cId="3350161779" sldId="443"/>
            <ac:spMk id="110" creationId="{00000000-0000-0000-0000-000000000000}"/>
          </ac:spMkLst>
        </pc:spChg>
        <pc:spChg chg="mod">
          <ac:chgData name="Pietrzyk, Lukasz" userId="3c523eea-d990-46ae-90d9-b9bf542e4057" providerId="ADAL" clId="{26BD416E-4D49-4ABD-8D8C-867EBA8C3D66}" dt="2026-08-05T18:22:50.960" v="832" actId="14100"/>
          <ac:spMkLst>
            <pc:docMk/>
            <pc:sldMk cId="3350161779" sldId="443"/>
            <ac:spMk id="111" creationId="{00000000-0000-0000-0000-000000000000}"/>
          </ac:spMkLst>
        </pc:spChg>
        <pc:spChg chg="mod">
          <ac:chgData name="Pietrzyk, Lukasz" userId="3c523eea-d990-46ae-90d9-b9bf542e4057" providerId="ADAL" clId="{26BD416E-4D49-4ABD-8D8C-867EBA8C3D66}" dt="2026-08-05T18:22:50.960" v="832" actId="14100"/>
          <ac:spMkLst>
            <pc:docMk/>
            <pc:sldMk cId="3350161779" sldId="443"/>
            <ac:spMk id="112" creationId="{00000000-0000-0000-0000-000000000000}"/>
          </ac:spMkLst>
        </pc:spChg>
        <pc:spChg chg="mod">
          <ac:chgData name="Pietrzyk, Lukasz" userId="3c523eea-d990-46ae-90d9-b9bf542e4057" providerId="ADAL" clId="{26BD416E-4D49-4ABD-8D8C-867EBA8C3D66}" dt="2026-08-05T18:22:03.847" v="822" actId="1036"/>
          <ac:spMkLst>
            <pc:docMk/>
            <pc:sldMk cId="3350161779" sldId="443"/>
            <ac:spMk id="113" creationId="{00000000-0000-0000-0000-000000000000}"/>
          </ac:spMkLst>
        </pc:spChg>
        <pc:spChg chg="mod">
          <ac:chgData name="Pietrzyk, Lukasz" userId="3c523eea-d990-46ae-90d9-b9bf542e4057" providerId="ADAL" clId="{26BD416E-4D49-4ABD-8D8C-867EBA8C3D66}" dt="2026-08-05T18:22:50.960" v="832" actId="14100"/>
          <ac:spMkLst>
            <pc:docMk/>
            <pc:sldMk cId="3350161779" sldId="443"/>
            <ac:spMk id="114" creationId="{00000000-0000-0000-0000-000000000000}"/>
          </ac:spMkLst>
        </pc:spChg>
        <pc:spChg chg="mod">
          <ac:chgData name="Pietrzyk, Lukasz" userId="3c523eea-d990-46ae-90d9-b9bf542e4057" providerId="ADAL" clId="{26BD416E-4D49-4ABD-8D8C-867EBA8C3D66}" dt="2026-08-05T18:21:07.382" v="809" actId="1076"/>
          <ac:spMkLst>
            <pc:docMk/>
            <pc:sldMk cId="3350161779" sldId="443"/>
            <ac:spMk id="601" creationId="{00000000-0000-0000-0000-000000000000}"/>
          </ac:spMkLst>
        </pc:spChg>
        <pc:spChg chg="mod">
          <ac:chgData name="Pietrzyk, Lukasz" userId="3c523eea-d990-46ae-90d9-b9bf542e4057" providerId="ADAL" clId="{26BD416E-4D49-4ABD-8D8C-867EBA8C3D66}" dt="2026-08-05T18:21:11.875" v="810" actId="1076"/>
          <ac:spMkLst>
            <pc:docMk/>
            <pc:sldMk cId="3350161779" sldId="443"/>
            <ac:spMk id="602" creationId="{00000000-0000-0000-0000-000000000000}"/>
          </ac:spMkLst>
        </pc:spChg>
        <pc:spChg chg="mod">
          <ac:chgData name="Pietrzyk, Lukasz" userId="3c523eea-d990-46ae-90d9-b9bf542e4057" providerId="ADAL" clId="{26BD416E-4D49-4ABD-8D8C-867EBA8C3D66}" dt="2026-08-05T18:21:32.573" v="813" actId="1076"/>
          <ac:spMkLst>
            <pc:docMk/>
            <pc:sldMk cId="3350161779" sldId="443"/>
            <ac:spMk id="603" creationId="{00000000-0000-0000-0000-000000000000}"/>
          </ac:spMkLst>
        </pc:spChg>
        <pc:spChg chg="mod">
          <ac:chgData name="Pietrzyk, Lukasz" userId="3c523eea-d990-46ae-90d9-b9bf542e4057" providerId="ADAL" clId="{26BD416E-4D49-4ABD-8D8C-867EBA8C3D66}" dt="2026-08-05T18:21:38.642" v="814" actId="1076"/>
          <ac:spMkLst>
            <pc:docMk/>
            <pc:sldMk cId="3350161779" sldId="443"/>
            <ac:spMk id="604" creationId="{00000000-0000-0000-0000-000000000000}"/>
          </ac:spMkLst>
        </pc:spChg>
      </pc:sldChg>
      <pc:sldChg chg="addSp modSp">
        <pc:chgData name="Pietrzyk, Lukasz" userId="3c523eea-d990-46ae-90d9-b9bf542e4057" providerId="ADAL" clId="{26BD416E-4D49-4ABD-8D8C-867EBA8C3D66}" dt="2026-08-05T11:45:57.997" v="201" actId="767"/>
        <pc:sldMkLst>
          <pc:docMk/>
          <pc:sldMk cId="3164924384" sldId="444"/>
        </pc:sldMkLst>
        <pc:spChg chg="add mod">
          <ac:chgData name="Pietrzyk, Lukasz" userId="3c523eea-d990-46ae-90d9-b9bf542e4057" providerId="ADAL" clId="{26BD416E-4D49-4ABD-8D8C-867EBA8C3D66}" dt="2026-08-05T11:45:57.997" v="201" actId="767"/>
          <ac:spMkLst>
            <pc:docMk/>
            <pc:sldMk cId="3164924384" sldId="444"/>
            <ac:spMk id="2" creationId="{21A2D352-4764-FF7C-34BB-5B3FAF493F57}"/>
          </ac:spMkLst>
        </pc:spChg>
      </pc:sldChg>
      <pc:sldChg chg="delSp mod">
        <pc:chgData name="Pietrzyk, Lukasz" userId="3c523eea-d990-46ae-90d9-b9bf542e4057" providerId="ADAL" clId="{26BD416E-4D49-4ABD-8D8C-867EBA8C3D66}" dt="2026-08-05T14:07:22.189" v="594" actId="478"/>
        <pc:sldMkLst>
          <pc:docMk/>
          <pc:sldMk cId="3983546499" sldId="447"/>
        </pc:sldMkLst>
      </pc:sldChg>
      <pc:sldChg chg="addSp delSp modSp mod">
        <pc:chgData name="Pietrzyk, Lukasz" userId="3c523eea-d990-46ae-90d9-b9bf542e4057" providerId="ADAL" clId="{26BD416E-4D49-4ABD-8D8C-867EBA8C3D66}" dt="2026-08-05T14:07:51.686" v="599" actId="478"/>
        <pc:sldMkLst>
          <pc:docMk/>
          <pc:sldMk cId="1145398900" sldId="448"/>
        </pc:sldMkLst>
        <pc:spChg chg="add">
          <ac:chgData name="Pietrzyk, Lukasz" userId="3c523eea-d990-46ae-90d9-b9bf542e4057" providerId="ADAL" clId="{26BD416E-4D49-4ABD-8D8C-867EBA8C3D66}" dt="2026-08-05T14:06:02" v="577" actId="22"/>
          <ac:spMkLst>
            <pc:docMk/>
            <pc:sldMk cId="1145398900" sldId="448"/>
            <ac:spMk id="38" creationId="{3DC02E44-86AD-B875-D38B-E9C8B70CD8A9}"/>
          </ac:spMkLst>
        </pc:spChg>
        <pc:spChg chg="add">
          <ac:chgData name="Pietrzyk, Lukasz" userId="3c523eea-d990-46ae-90d9-b9bf542e4057" providerId="ADAL" clId="{26BD416E-4D49-4ABD-8D8C-867EBA8C3D66}" dt="2026-08-05T14:06:02" v="577" actId="22"/>
          <ac:spMkLst>
            <pc:docMk/>
            <pc:sldMk cId="1145398900" sldId="448"/>
            <ac:spMk id="40" creationId="{DB7BB07F-1495-2B4A-ADB1-BCD2FE3C2482}"/>
          </ac:spMkLst>
        </pc:spChg>
        <pc:spChg chg="add">
          <ac:chgData name="Pietrzyk, Lukasz" userId="3c523eea-d990-46ae-90d9-b9bf542e4057" providerId="ADAL" clId="{26BD416E-4D49-4ABD-8D8C-867EBA8C3D66}" dt="2026-08-05T14:06:02" v="577" actId="22"/>
          <ac:spMkLst>
            <pc:docMk/>
            <pc:sldMk cId="1145398900" sldId="448"/>
            <ac:spMk id="42" creationId="{341D0336-0128-A4EB-3D5E-EB466D5EF4E7}"/>
          </ac:spMkLst>
        </pc:spChg>
        <pc:spChg chg="add">
          <ac:chgData name="Pietrzyk, Lukasz" userId="3c523eea-d990-46ae-90d9-b9bf542e4057" providerId="ADAL" clId="{26BD416E-4D49-4ABD-8D8C-867EBA8C3D66}" dt="2026-08-05T14:06:02" v="577" actId="22"/>
          <ac:spMkLst>
            <pc:docMk/>
            <pc:sldMk cId="1145398900" sldId="448"/>
            <ac:spMk id="44" creationId="{EAE07C77-A232-7A60-765B-E0B48F20C1B9}"/>
          </ac:spMkLst>
        </pc:spChg>
        <pc:spChg chg="add">
          <ac:chgData name="Pietrzyk, Lukasz" userId="3c523eea-d990-46ae-90d9-b9bf542e4057" providerId="ADAL" clId="{26BD416E-4D49-4ABD-8D8C-867EBA8C3D66}" dt="2026-08-05T14:06:02" v="577" actId="22"/>
          <ac:spMkLst>
            <pc:docMk/>
            <pc:sldMk cId="1145398900" sldId="448"/>
            <ac:spMk id="46" creationId="{61D647CA-D7F7-F198-0705-A2E423137DFC}"/>
          </ac:spMkLst>
        </pc:spChg>
        <pc:spChg chg="add">
          <ac:chgData name="Pietrzyk, Lukasz" userId="3c523eea-d990-46ae-90d9-b9bf542e4057" providerId="ADAL" clId="{26BD416E-4D49-4ABD-8D8C-867EBA8C3D66}" dt="2026-08-05T14:06:02" v="577" actId="22"/>
          <ac:spMkLst>
            <pc:docMk/>
            <pc:sldMk cId="1145398900" sldId="448"/>
            <ac:spMk id="48" creationId="{7F8376E0-2A1F-590E-04AE-3285EDA55FF7}"/>
          </ac:spMkLst>
        </pc:spChg>
        <pc:spChg chg="add">
          <ac:chgData name="Pietrzyk, Lukasz" userId="3c523eea-d990-46ae-90d9-b9bf542e4057" providerId="ADAL" clId="{26BD416E-4D49-4ABD-8D8C-867EBA8C3D66}" dt="2026-08-05T14:06:02" v="577" actId="22"/>
          <ac:spMkLst>
            <pc:docMk/>
            <pc:sldMk cId="1145398900" sldId="448"/>
            <ac:spMk id="50" creationId="{5A65DD75-704F-4A61-989E-D04744BEEF77}"/>
          </ac:spMkLst>
        </pc:spChg>
        <pc:spChg chg="add">
          <ac:chgData name="Pietrzyk, Lukasz" userId="3c523eea-d990-46ae-90d9-b9bf542e4057" providerId="ADAL" clId="{26BD416E-4D49-4ABD-8D8C-867EBA8C3D66}" dt="2026-08-05T14:06:02" v="577" actId="22"/>
          <ac:spMkLst>
            <pc:docMk/>
            <pc:sldMk cId="1145398900" sldId="448"/>
            <ac:spMk id="52" creationId="{081FA659-3D90-4411-A51E-8C82217FB947}"/>
          </ac:spMkLst>
        </pc:spChg>
        <pc:spChg chg="mod">
          <ac:chgData name="Pietrzyk, Lukasz" userId="3c523eea-d990-46ae-90d9-b9bf542e4057" providerId="ADAL" clId="{26BD416E-4D49-4ABD-8D8C-867EBA8C3D66}" dt="2026-08-05T11:28:56.409" v="183" actId="6549"/>
          <ac:spMkLst>
            <pc:docMk/>
            <pc:sldMk cId="1145398900" sldId="448"/>
            <ac:spMk id="131" creationId="{00000000-0000-0000-0000-000000000000}"/>
          </ac:spMkLst>
        </pc:spChg>
        <pc:graphicFrameChg chg="modGraphic">
          <ac:chgData name="Pietrzyk, Lukasz" userId="3c523eea-d990-46ae-90d9-b9bf542e4057" providerId="ADAL" clId="{26BD416E-4D49-4ABD-8D8C-867EBA8C3D66}" dt="2026-08-05T11:07:17.857" v="131" actId="20577"/>
          <ac:graphicFrameMkLst>
            <pc:docMk/>
            <pc:sldMk cId="1145398900" sldId="448"/>
            <ac:graphicFrameMk id="100" creationId="{00000000-0000-0000-0000-000000000000}"/>
          </ac:graphicFrameMkLst>
        </pc:graphicFrameChg>
      </pc:sldChg>
      <pc:sldChg chg="addSp delSp modSp mod ord">
        <pc:chgData name="Pietrzyk, Lukasz" userId="3c523eea-d990-46ae-90d9-b9bf542e4057" providerId="ADAL" clId="{26BD416E-4D49-4ABD-8D8C-867EBA8C3D66}" dt="2026-08-05T14:12:50.288" v="667" actId="478"/>
        <pc:sldMkLst>
          <pc:docMk/>
          <pc:sldMk cId="1145398900" sldId="449"/>
        </pc:sldMkLst>
        <pc:spChg chg="add">
          <ac:chgData name="Pietrzyk, Lukasz" userId="3c523eea-d990-46ae-90d9-b9bf542e4057" providerId="ADAL" clId="{26BD416E-4D49-4ABD-8D8C-867EBA8C3D66}" dt="2026-08-05T14:04:02.526" v="513" actId="22"/>
          <ac:spMkLst>
            <pc:docMk/>
            <pc:sldMk cId="1145398900" sldId="449"/>
            <ac:spMk id="13" creationId="{F5F9DC3A-E141-B89D-4867-139552C4ED48}"/>
          </ac:spMkLst>
        </pc:spChg>
        <pc:spChg chg="mod">
          <ac:chgData name="Pietrzyk, Lukasz" userId="3c523eea-d990-46ae-90d9-b9bf542e4057" providerId="ADAL" clId="{26BD416E-4D49-4ABD-8D8C-867EBA8C3D66}" dt="2026-08-05T11:28:50.125" v="182" actId="6549"/>
          <ac:spMkLst>
            <pc:docMk/>
            <pc:sldMk cId="1145398900" sldId="449"/>
            <ac:spMk id="131" creationId="{00000000-0000-0000-0000-000000000000}"/>
          </ac:spMkLst>
        </pc:spChg>
        <pc:graphicFrameChg chg="modGraphic">
          <ac:chgData name="Pietrzyk, Lukasz" userId="3c523eea-d990-46ae-90d9-b9bf542e4057" providerId="ADAL" clId="{26BD416E-4D49-4ABD-8D8C-867EBA8C3D66}" dt="2026-08-05T11:06:55.707" v="121" actId="20577"/>
          <ac:graphicFrameMkLst>
            <pc:docMk/>
            <pc:sldMk cId="1145398900" sldId="449"/>
            <ac:graphicFrameMk id="100" creationId="{00000000-0000-0000-0000-000000000000}"/>
          </ac:graphicFrameMkLst>
        </pc:graphicFrameChg>
      </pc:sldChg>
      <pc:sldChg chg="addSp delSp modSp mod ord">
        <pc:chgData name="Pietrzyk, Lukasz" userId="3c523eea-d990-46ae-90d9-b9bf542e4057" providerId="ADAL" clId="{26BD416E-4D49-4ABD-8D8C-867EBA8C3D66}" dt="2026-08-05T14:12:40.478" v="665" actId="478"/>
        <pc:sldMkLst>
          <pc:docMk/>
          <pc:sldMk cId="1145398900" sldId="450"/>
        </pc:sldMkLst>
        <pc:spChg chg="add mod">
          <ac:chgData name="Pietrzyk, Lukasz" userId="3c523eea-d990-46ae-90d9-b9bf542e4057" providerId="ADAL" clId="{26BD416E-4D49-4ABD-8D8C-867EBA8C3D66}" dt="2026-08-05T11:46:09.459" v="202" actId="767"/>
          <ac:spMkLst>
            <pc:docMk/>
            <pc:sldMk cId="1145398900" sldId="450"/>
            <ac:spMk id="2" creationId="{9427903C-2D22-8245-3F0F-C390C4FF4EA0}"/>
          </ac:spMkLst>
        </pc:spChg>
        <pc:spChg chg="add mod">
          <ac:chgData name="Pietrzyk, Lukasz" userId="3c523eea-d990-46ae-90d9-b9bf542e4057" providerId="ADAL" clId="{26BD416E-4D49-4ABD-8D8C-867EBA8C3D66}" dt="2026-08-05T13:02:52.845" v="208" actId="767"/>
          <ac:spMkLst>
            <pc:docMk/>
            <pc:sldMk cId="1145398900" sldId="450"/>
            <ac:spMk id="5" creationId="{192A48E1-0CD4-BC41-CA5D-FCA62F53A37E}"/>
          </ac:spMkLst>
        </pc:spChg>
        <pc:spChg chg="add">
          <ac:chgData name="Pietrzyk, Lukasz" userId="3c523eea-d990-46ae-90d9-b9bf542e4057" providerId="ADAL" clId="{26BD416E-4D49-4ABD-8D8C-867EBA8C3D66}" dt="2026-08-05T14:05:40.333" v="566" actId="22"/>
          <ac:spMkLst>
            <pc:docMk/>
            <pc:sldMk cId="1145398900" sldId="450"/>
            <ac:spMk id="22" creationId="{A2488ABE-AB11-AB05-27E9-BEAAD693DB92}"/>
          </ac:spMkLst>
        </pc:spChg>
        <pc:spChg chg="add">
          <ac:chgData name="Pietrzyk, Lukasz" userId="3c523eea-d990-46ae-90d9-b9bf542e4057" providerId="ADAL" clId="{26BD416E-4D49-4ABD-8D8C-867EBA8C3D66}" dt="2026-08-05T14:05:40.333" v="566" actId="22"/>
          <ac:spMkLst>
            <pc:docMk/>
            <pc:sldMk cId="1145398900" sldId="450"/>
            <ac:spMk id="25" creationId="{AD786B3F-5692-417F-1E68-59C7FFD00491}"/>
          </ac:spMkLst>
        </pc:spChg>
        <pc:spChg chg="add">
          <ac:chgData name="Pietrzyk, Lukasz" userId="3c523eea-d990-46ae-90d9-b9bf542e4057" providerId="ADAL" clId="{26BD416E-4D49-4ABD-8D8C-867EBA8C3D66}" dt="2026-08-05T14:05:40.333" v="566" actId="22"/>
          <ac:spMkLst>
            <pc:docMk/>
            <pc:sldMk cId="1145398900" sldId="450"/>
            <ac:spMk id="27" creationId="{235BB3AF-AF1B-1388-D053-9861F7ACD8EB}"/>
          </ac:spMkLst>
        </pc:spChg>
        <pc:spChg chg="add">
          <ac:chgData name="Pietrzyk, Lukasz" userId="3c523eea-d990-46ae-90d9-b9bf542e4057" providerId="ADAL" clId="{26BD416E-4D49-4ABD-8D8C-867EBA8C3D66}" dt="2026-08-05T14:05:40.333" v="566" actId="22"/>
          <ac:spMkLst>
            <pc:docMk/>
            <pc:sldMk cId="1145398900" sldId="450"/>
            <ac:spMk id="29" creationId="{61E26A7D-4BBF-55E1-3AFA-75C91001880A}"/>
          </ac:spMkLst>
        </pc:spChg>
        <pc:spChg chg="add">
          <ac:chgData name="Pietrzyk, Lukasz" userId="3c523eea-d990-46ae-90d9-b9bf542e4057" providerId="ADAL" clId="{26BD416E-4D49-4ABD-8D8C-867EBA8C3D66}" dt="2026-08-05T14:05:40.333" v="566" actId="22"/>
          <ac:spMkLst>
            <pc:docMk/>
            <pc:sldMk cId="1145398900" sldId="450"/>
            <ac:spMk id="31" creationId="{73C81BF7-0834-B669-4067-755CC4F8F59B}"/>
          </ac:spMkLst>
        </pc:spChg>
        <pc:spChg chg="add">
          <ac:chgData name="Pietrzyk, Lukasz" userId="3c523eea-d990-46ae-90d9-b9bf542e4057" providerId="ADAL" clId="{26BD416E-4D49-4ABD-8D8C-867EBA8C3D66}" dt="2026-08-05T14:05:40.333" v="566" actId="22"/>
          <ac:spMkLst>
            <pc:docMk/>
            <pc:sldMk cId="1145398900" sldId="450"/>
            <ac:spMk id="33" creationId="{408BEE29-1CEE-69D0-0C96-29FA2EA02B39}"/>
          </ac:spMkLst>
        </pc:spChg>
        <pc:spChg chg="add">
          <ac:chgData name="Pietrzyk, Lukasz" userId="3c523eea-d990-46ae-90d9-b9bf542e4057" providerId="ADAL" clId="{26BD416E-4D49-4ABD-8D8C-867EBA8C3D66}" dt="2026-08-05T14:05:40.333" v="566" actId="22"/>
          <ac:spMkLst>
            <pc:docMk/>
            <pc:sldMk cId="1145398900" sldId="450"/>
            <ac:spMk id="35" creationId="{8348E351-BF9C-7643-567A-1393F5FED931}"/>
          </ac:spMkLst>
        </pc:spChg>
        <pc:spChg chg="add">
          <ac:chgData name="Pietrzyk, Lukasz" userId="3c523eea-d990-46ae-90d9-b9bf542e4057" providerId="ADAL" clId="{26BD416E-4D49-4ABD-8D8C-867EBA8C3D66}" dt="2026-08-05T14:05:40.333" v="566" actId="22"/>
          <ac:spMkLst>
            <pc:docMk/>
            <pc:sldMk cId="1145398900" sldId="450"/>
            <ac:spMk id="37" creationId="{0C5104FF-8303-CCA3-17BE-A2FE43B0383C}"/>
          </ac:spMkLst>
        </pc:spChg>
        <pc:spChg chg="mod">
          <ac:chgData name="Pietrzyk, Lukasz" userId="3c523eea-d990-46ae-90d9-b9bf542e4057" providerId="ADAL" clId="{26BD416E-4D49-4ABD-8D8C-867EBA8C3D66}" dt="2026-08-05T11:28:30.028" v="179" actId="6549"/>
          <ac:spMkLst>
            <pc:docMk/>
            <pc:sldMk cId="1145398900" sldId="450"/>
            <ac:spMk id="131" creationId="{00000000-0000-0000-0000-000000000000}"/>
          </ac:spMkLst>
        </pc:spChg>
        <pc:graphicFrameChg chg="modGraphic">
          <ac:chgData name="Pietrzyk, Lukasz" userId="3c523eea-d990-46ae-90d9-b9bf542e4057" providerId="ADAL" clId="{26BD416E-4D49-4ABD-8D8C-867EBA8C3D66}" dt="2026-08-05T11:56:39.352" v="207" actId="20577"/>
          <ac:graphicFrameMkLst>
            <pc:docMk/>
            <pc:sldMk cId="1145398900" sldId="450"/>
            <ac:graphicFrameMk id="100" creationId="{00000000-0000-0000-0000-000000000000}"/>
          </ac:graphicFrameMkLst>
        </pc:graphicFrameChg>
      </pc:sldChg>
      <pc:sldChg chg="addSp delSp modSp mod ord">
        <pc:chgData name="Pietrzyk, Lukasz" userId="3c523eea-d990-46ae-90d9-b9bf542e4057" providerId="ADAL" clId="{26BD416E-4D49-4ABD-8D8C-867EBA8C3D66}" dt="2026-08-05T14:12:46.950" v="666" actId="478"/>
        <pc:sldMkLst>
          <pc:docMk/>
          <pc:sldMk cId="1145398900" sldId="451"/>
        </pc:sldMkLst>
        <pc:spChg chg="add">
          <ac:chgData name="Pietrzyk, Lukasz" userId="3c523eea-d990-46ae-90d9-b9bf542e4057" providerId="ADAL" clId="{26BD416E-4D49-4ABD-8D8C-867EBA8C3D66}" dt="2026-08-05T14:05:44.923" v="568" actId="22"/>
          <ac:spMkLst>
            <pc:docMk/>
            <pc:sldMk cId="1145398900" sldId="451"/>
            <ac:spMk id="21" creationId="{3CDE2F2D-1FAF-3AC1-04F1-A5BB8CDE9941}"/>
          </ac:spMkLst>
        </pc:spChg>
        <pc:spChg chg="add">
          <ac:chgData name="Pietrzyk, Lukasz" userId="3c523eea-d990-46ae-90d9-b9bf542e4057" providerId="ADAL" clId="{26BD416E-4D49-4ABD-8D8C-867EBA8C3D66}" dt="2026-08-05T14:05:44.923" v="568" actId="22"/>
          <ac:spMkLst>
            <pc:docMk/>
            <pc:sldMk cId="1145398900" sldId="451"/>
            <ac:spMk id="24" creationId="{F504667B-D9BD-56A6-4811-315F4BB07C3E}"/>
          </ac:spMkLst>
        </pc:spChg>
        <pc:spChg chg="add">
          <ac:chgData name="Pietrzyk, Lukasz" userId="3c523eea-d990-46ae-90d9-b9bf542e4057" providerId="ADAL" clId="{26BD416E-4D49-4ABD-8D8C-867EBA8C3D66}" dt="2026-08-05T14:05:44.923" v="568" actId="22"/>
          <ac:spMkLst>
            <pc:docMk/>
            <pc:sldMk cId="1145398900" sldId="451"/>
            <ac:spMk id="26" creationId="{6DC80BBD-7108-F892-6EF3-756A38F4A92E}"/>
          </ac:spMkLst>
        </pc:spChg>
        <pc:spChg chg="add">
          <ac:chgData name="Pietrzyk, Lukasz" userId="3c523eea-d990-46ae-90d9-b9bf542e4057" providerId="ADAL" clId="{26BD416E-4D49-4ABD-8D8C-867EBA8C3D66}" dt="2026-08-05T14:05:44.923" v="568" actId="22"/>
          <ac:spMkLst>
            <pc:docMk/>
            <pc:sldMk cId="1145398900" sldId="451"/>
            <ac:spMk id="28" creationId="{5B38B064-8B2B-C04A-7CFE-502020D5B147}"/>
          </ac:spMkLst>
        </pc:spChg>
        <pc:spChg chg="add">
          <ac:chgData name="Pietrzyk, Lukasz" userId="3c523eea-d990-46ae-90d9-b9bf542e4057" providerId="ADAL" clId="{26BD416E-4D49-4ABD-8D8C-867EBA8C3D66}" dt="2026-08-05T14:05:44.923" v="568" actId="22"/>
          <ac:spMkLst>
            <pc:docMk/>
            <pc:sldMk cId="1145398900" sldId="451"/>
            <ac:spMk id="30" creationId="{5E63A595-ABE9-0C85-C02D-BE7F496272CD}"/>
          </ac:spMkLst>
        </pc:spChg>
        <pc:spChg chg="add">
          <ac:chgData name="Pietrzyk, Lukasz" userId="3c523eea-d990-46ae-90d9-b9bf542e4057" providerId="ADAL" clId="{26BD416E-4D49-4ABD-8D8C-867EBA8C3D66}" dt="2026-08-05T14:05:44.923" v="568" actId="22"/>
          <ac:spMkLst>
            <pc:docMk/>
            <pc:sldMk cId="1145398900" sldId="451"/>
            <ac:spMk id="32" creationId="{E679FDE3-2BAA-B653-AC0A-C495AE9ED834}"/>
          </ac:spMkLst>
        </pc:spChg>
        <pc:spChg chg="add">
          <ac:chgData name="Pietrzyk, Lukasz" userId="3c523eea-d990-46ae-90d9-b9bf542e4057" providerId="ADAL" clId="{26BD416E-4D49-4ABD-8D8C-867EBA8C3D66}" dt="2026-08-05T14:05:44.923" v="568" actId="22"/>
          <ac:spMkLst>
            <pc:docMk/>
            <pc:sldMk cId="1145398900" sldId="451"/>
            <ac:spMk id="34" creationId="{5C931E50-85D0-6EAC-9BC7-BA7BE8BFFAA8}"/>
          </ac:spMkLst>
        </pc:spChg>
        <pc:spChg chg="add">
          <ac:chgData name="Pietrzyk, Lukasz" userId="3c523eea-d990-46ae-90d9-b9bf542e4057" providerId="ADAL" clId="{26BD416E-4D49-4ABD-8D8C-867EBA8C3D66}" dt="2026-08-05T14:05:44.923" v="568" actId="22"/>
          <ac:spMkLst>
            <pc:docMk/>
            <pc:sldMk cId="1145398900" sldId="451"/>
            <ac:spMk id="36" creationId="{EC324945-A869-1DE9-EE1A-B076120DB872}"/>
          </ac:spMkLst>
        </pc:spChg>
        <pc:spChg chg="mod">
          <ac:chgData name="Pietrzyk, Lukasz" userId="3c523eea-d990-46ae-90d9-b9bf542e4057" providerId="ADAL" clId="{26BD416E-4D49-4ABD-8D8C-867EBA8C3D66}" dt="2026-08-05T11:28:34.743" v="180" actId="6549"/>
          <ac:spMkLst>
            <pc:docMk/>
            <pc:sldMk cId="1145398900" sldId="451"/>
            <ac:spMk id="131" creationId="{00000000-0000-0000-0000-000000000000}"/>
          </ac:spMkLst>
        </pc:spChg>
        <pc:graphicFrameChg chg="modGraphic">
          <ac:chgData name="Pietrzyk, Lukasz" userId="3c523eea-d990-46ae-90d9-b9bf542e4057" providerId="ADAL" clId="{26BD416E-4D49-4ABD-8D8C-867EBA8C3D66}" dt="2026-08-05T11:06:19.779" v="108" actId="20577"/>
          <ac:graphicFrameMkLst>
            <pc:docMk/>
            <pc:sldMk cId="1145398900" sldId="451"/>
            <ac:graphicFrameMk id="100" creationId="{00000000-0000-0000-0000-000000000000}"/>
          </ac:graphicFrameMkLst>
        </pc:graphicFrameChg>
      </pc:sldChg>
      <pc:sldChg chg="addSp delSp modSp mod">
        <pc:chgData name="Pietrzyk, Lukasz" userId="3c523eea-d990-46ae-90d9-b9bf542e4057" providerId="ADAL" clId="{26BD416E-4D49-4ABD-8D8C-867EBA8C3D66}" dt="2026-08-05T14:08:15.075" v="606" actId="478"/>
        <pc:sldMkLst>
          <pc:docMk/>
          <pc:sldMk cId="1145398900" sldId="452"/>
        </pc:sldMkLst>
        <pc:spChg chg="mod">
          <ac:chgData name="Pietrzyk, Lukasz" userId="3c523eea-d990-46ae-90d9-b9bf542e4057" providerId="ADAL" clId="{26BD416E-4D49-4ABD-8D8C-867EBA8C3D66}" dt="2026-08-05T11:44:12.083" v="197" actId="6549"/>
          <ac:spMkLst>
            <pc:docMk/>
            <pc:sldMk cId="1145398900" sldId="452"/>
            <ac:spMk id="4" creationId="{3A721E09-FCBD-84FA-9776-B48A42155AF5}"/>
          </ac:spMkLst>
        </pc:spChg>
        <pc:spChg chg="add">
          <ac:chgData name="Pietrzyk, Lukasz" userId="3c523eea-d990-46ae-90d9-b9bf542e4057" providerId="ADAL" clId="{26BD416E-4D49-4ABD-8D8C-867EBA8C3D66}" dt="2026-08-05T14:06:36.732" v="589" actId="22"/>
          <ac:spMkLst>
            <pc:docMk/>
            <pc:sldMk cId="1145398900" sldId="452"/>
            <ac:spMk id="5" creationId="{73B130AF-4B97-0056-FBF7-977A1915C98D}"/>
          </ac:spMkLst>
        </pc:spChg>
        <pc:spChg chg="add">
          <ac:chgData name="Pietrzyk, Lukasz" userId="3c523eea-d990-46ae-90d9-b9bf542e4057" providerId="ADAL" clId="{26BD416E-4D49-4ABD-8D8C-867EBA8C3D66}" dt="2026-08-05T14:06:36.732" v="589" actId="22"/>
          <ac:spMkLst>
            <pc:docMk/>
            <pc:sldMk cId="1145398900" sldId="452"/>
            <ac:spMk id="7" creationId="{6F0E25DC-89D0-59F3-677A-6B4BABB64073}"/>
          </ac:spMkLst>
        </pc:spChg>
        <pc:spChg chg="add">
          <ac:chgData name="Pietrzyk, Lukasz" userId="3c523eea-d990-46ae-90d9-b9bf542e4057" providerId="ADAL" clId="{26BD416E-4D49-4ABD-8D8C-867EBA8C3D66}" dt="2026-08-05T14:06:36.732" v="589" actId="22"/>
          <ac:spMkLst>
            <pc:docMk/>
            <pc:sldMk cId="1145398900" sldId="452"/>
            <ac:spMk id="9" creationId="{BCC2575C-F10B-0060-1A82-3841B7D642A5}"/>
          </ac:spMkLst>
        </pc:spChg>
        <pc:spChg chg="add">
          <ac:chgData name="Pietrzyk, Lukasz" userId="3c523eea-d990-46ae-90d9-b9bf542e4057" providerId="ADAL" clId="{26BD416E-4D49-4ABD-8D8C-867EBA8C3D66}" dt="2026-08-05T14:06:36.732" v="589" actId="22"/>
          <ac:spMkLst>
            <pc:docMk/>
            <pc:sldMk cId="1145398900" sldId="452"/>
            <ac:spMk id="11" creationId="{4FF77D08-2F0C-C08B-D12E-21563D1F1298}"/>
          </ac:spMkLst>
        </pc:spChg>
        <pc:spChg chg="add">
          <ac:chgData name="Pietrzyk, Lukasz" userId="3c523eea-d990-46ae-90d9-b9bf542e4057" providerId="ADAL" clId="{26BD416E-4D49-4ABD-8D8C-867EBA8C3D66}" dt="2026-08-05T14:06:36.732" v="589" actId="22"/>
          <ac:spMkLst>
            <pc:docMk/>
            <pc:sldMk cId="1145398900" sldId="452"/>
            <ac:spMk id="13" creationId="{104A278F-2D25-C891-2156-D9E194F74BCF}"/>
          </ac:spMkLst>
        </pc:spChg>
        <pc:spChg chg="add">
          <ac:chgData name="Pietrzyk, Lukasz" userId="3c523eea-d990-46ae-90d9-b9bf542e4057" providerId="ADAL" clId="{26BD416E-4D49-4ABD-8D8C-867EBA8C3D66}" dt="2026-08-05T14:06:36.732" v="589" actId="22"/>
          <ac:spMkLst>
            <pc:docMk/>
            <pc:sldMk cId="1145398900" sldId="452"/>
            <ac:spMk id="15" creationId="{5B418C61-7FFD-0458-98A4-954C64A52876}"/>
          </ac:spMkLst>
        </pc:spChg>
        <pc:spChg chg="add">
          <ac:chgData name="Pietrzyk, Lukasz" userId="3c523eea-d990-46ae-90d9-b9bf542e4057" providerId="ADAL" clId="{26BD416E-4D49-4ABD-8D8C-867EBA8C3D66}" dt="2026-08-05T14:06:36.732" v="589" actId="22"/>
          <ac:spMkLst>
            <pc:docMk/>
            <pc:sldMk cId="1145398900" sldId="452"/>
            <ac:spMk id="17" creationId="{179FAA00-AEB9-F308-4E24-0E80DC1D1DB6}"/>
          </ac:spMkLst>
        </pc:spChg>
        <pc:spChg chg="add">
          <ac:chgData name="Pietrzyk, Lukasz" userId="3c523eea-d990-46ae-90d9-b9bf542e4057" providerId="ADAL" clId="{26BD416E-4D49-4ABD-8D8C-867EBA8C3D66}" dt="2026-08-05T14:06:36.732" v="589" actId="22"/>
          <ac:spMkLst>
            <pc:docMk/>
            <pc:sldMk cId="1145398900" sldId="452"/>
            <ac:spMk id="19" creationId="{DB5CB47D-C8AD-2EE6-410C-5016D47B1DB6}"/>
          </ac:spMkLst>
        </pc:spChg>
        <pc:spChg chg="mod">
          <ac:chgData name="Pietrzyk, Lukasz" userId="3c523eea-d990-46ae-90d9-b9bf542e4057" providerId="ADAL" clId="{26BD416E-4D49-4ABD-8D8C-867EBA8C3D66}" dt="2026-08-05T11:29:53.390" v="190" actId="6549"/>
          <ac:spMkLst>
            <pc:docMk/>
            <pc:sldMk cId="1145398900" sldId="452"/>
            <ac:spMk id="131" creationId="{00000000-0000-0000-0000-000000000000}"/>
          </ac:spMkLst>
        </pc:spChg>
        <pc:graphicFrameChg chg="mod modGraphic">
          <ac:chgData name="Pietrzyk, Lukasz" userId="3c523eea-d990-46ae-90d9-b9bf542e4057" providerId="ADAL" clId="{26BD416E-4D49-4ABD-8D8C-867EBA8C3D66}" dt="2026-08-05T11:09:16.943" v="174"/>
          <ac:graphicFrameMkLst>
            <pc:docMk/>
            <pc:sldMk cId="1145398900" sldId="452"/>
            <ac:graphicFrameMk id="100" creationId="{00000000-0000-0000-0000-000000000000}"/>
          </ac:graphicFrameMkLst>
        </pc:graphicFrameChg>
      </pc:sldChg>
      <pc:sldChg chg="addSp delSp modSp mod ord">
        <pc:chgData name="Pietrzyk, Lukasz" userId="3c523eea-d990-46ae-90d9-b9bf542e4057" providerId="ADAL" clId="{26BD416E-4D49-4ABD-8D8C-867EBA8C3D66}" dt="2026-08-05T14:08:01.120" v="602" actId="478"/>
        <pc:sldMkLst>
          <pc:docMk/>
          <pc:sldMk cId="1145398900" sldId="453"/>
        </pc:sldMkLst>
        <pc:spChg chg="add">
          <ac:chgData name="Pietrzyk, Lukasz" userId="3c523eea-d990-46ae-90d9-b9bf542e4057" providerId="ADAL" clId="{26BD416E-4D49-4ABD-8D8C-867EBA8C3D66}" dt="2026-08-05T14:06:16.056" v="583" actId="22"/>
          <ac:spMkLst>
            <pc:docMk/>
            <pc:sldMk cId="1145398900" sldId="453"/>
            <ac:spMk id="21" creationId="{B0DB6840-F5CF-531D-F01E-93A2A6743DB2}"/>
          </ac:spMkLst>
        </pc:spChg>
        <pc:spChg chg="mod">
          <ac:chgData name="Pietrzyk, Lukasz" userId="3c523eea-d990-46ae-90d9-b9bf542e4057" providerId="ADAL" clId="{26BD416E-4D49-4ABD-8D8C-867EBA8C3D66}" dt="2026-08-05T11:04:23.869" v="50" actId="20577"/>
          <ac:spMkLst>
            <pc:docMk/>
            <pc:sldMk cId="1145398900" sldId="453"/>
            <ac:spMk id="23" creationId="{5844AA0A-B29E-375C-3DEA-15A60CE0BEC5}"/>
          </ac:spMkLst>
        </pc:spChg>
        <pc:spChg chg="add">
          <ac:chgData name="Pietrzyk, Lukasz" userId="3c523eea-d990-46ae-90d9-b9bf542e4057" providerId="ADAL" clId="{26BD416E-4D49-4ABD-8D8C-867EBA8C3D66}" dt="2026-08-05T14:06:16.056" v="583" actId="22"/>
          <ac:spMkLst>
            <pc:docMk/>
            <pc:sldMk cId="1145398900" sldId="453"/>
            <ac:spMk id="24" creationId="{02756FC8-D5CA-CAA7-9BFA-18C852408B61}"/>
          </ac:spMkLst>
        </pc:spChg>
        <pc:spChg chg="add">
          <ac:chgData name="Pietrzyk, Lukasz" userId="3c523eea-d990-46ae-90d9-b9bf542e4057" providerId="ADAL" clId="{26BD416E-4D49-4ABD-8D8C-867EBA8C3D66}" dt="2026-08-05T14:06:16.056" v="583" actId="22"/>
          <ac:spMkLst>
            <pc:docMk/>
            <pc:sldMk cId="1145398900" sldId="453"/>
            <ac:spMk id="26" creationId="{B8961AD3-2DAF-7F27-9A0F-176A37CEF01A}"/>
          </ac:spMkLst>
        </pc:spChg>
        <pc:spChg chg="add">
          <ac:chgData name="Pietrzyk, Lukasz" userId="3c523eea-d990-46ae-90d9-b9bf542e4057" providerId="ADAL" clId="{26BD416E-4D49-4ABD-8D8C-867EBA8C3D66}" dt="2026-08-05T14:06:16.056" v="583" actId="22"/>
          <ac:spMkLst>
            <pc:docMk/>
            <pc:sldMk cId="1145398900" sldId="453"/>
            <ac:spMk id="28" creationId="{456269DC-7BEC-E470-937E-42220D9CB9DB}"/>
          </ac:spMkLst>
        </pc:spChg>
        <pc:spChg chg="add">
          <ac:chgData name="Pietrzyk, Lukasz" userId="3c523eea-d990-46ae-90d9-b9bf542e4057" providerId="ADAL" clId="{26BD416E-4D49-4ABD-8D8C-867EBA8C3D66}" dt="2026-08-05T14:06:16.056" v="583" actId="22"/>
          <ac:spMkLst>
            <pc:docMk/>
            <pc:sldMk cId="1145398900" sldId="453"/>
            <ac:spMk id="30" creationId="{FD05A3A2-7106-9D2F-78D8-DBF3E488C9BE}"/>
          </ac:spMkLst>
        </pc:spChg>
        <pc:spChg chg="add">
          <ac:chgData name="Pietrzyk, Lukasz" userId="3c523eea-d990-46ae-90d9-b9bf542e4057" providerId="ADAL" clId="{26BD416E-4D49-4ABD-8D8C-867EBA8C3D66}" dt="2026-08-05T14:06:16.056" v="583" actId="22"/>
          <ac:spMkLst>
            <pc:docMk/>
            <pc:sldMk cId="1145398900" sldId="453"/>
            <ac:spMk id="32" creationId="{487ABC8A-CB63-F39C-9D7D-4863294C4884}"/>
          </ac:spMkLst>
        </pc:spChg>
        <pc:spChg chg="add">
          <ac:chgData name="Pietrzyk, Lukasz" userId="3c523eea-d990-46ae-90d9-b9bf542e4057" providerId="ADAL" clId="{26BD416E-4D49-4ABD-8D8C-867EBA8C3D66}" dt="2026-08-05T14:06:16.056" v="583" actId="22"/>
          <ac:spMkLst>
            <pc:docMk/>
            <pc:sldMk cId="1145398900" sldId="453"/>
            <ac:spMk id="34" creationId="{60CD5708-1936-5894-35A5-8F9D0F54CCA5}"/>
          </ac:spMkLst>
        </pc:spChg>
        <pc:spChg chg="add">
          <ac:chgData name="Pietrzyk, Lukasz" userId="3c523eea-d990-46ae-90d9-b9bf542e4057" providerId="ADAL" clId="{26BD416E-4D49-4ABD-8D8C-867EBA8C3D66}" dt="2026-08-05T14:06:16.056" v="583" actId="22"/>
          <ac:spMkLst>
            <pc:docMk/>
            <pc:sldMk cId="1145398900" sldId="453"/>
            <ac:spMk id="36" creationId="{8C0CA0FE-587F-4126-A46B-4E1AC52111C0}"/>
          </ac:spMkLst>
        </pc:spChg>
        <pc:graphicFrameChg chg="modGraphic">
          <ac:chgData name="Pietrzyk, Lukasz" userId="3c523eea-d990-46ae-90d9-b9bf542e4057" providerId="ADAL" clId="{26BD416E-4D49-4ABD-8D8C-867EBA8C3D66}" dt="2026-08-05T11:08:03.935" v="147" actId="20577"/>
          <ac:graphicFrameMkLst>
            <pc:docMk/>
            <pc:sldMk cId="1145398900" sldId="453"/>
            <ac:graphicFrameMk id="100" creationId="{00000000-0000-0000-0000-000000000000}"/>
          </ac:graphicFrameMkLst>
        </pc:graphicFrameChg>
      </pc:sldChg>
      <pc:sldChg chg="addSp delSp modSp mod ord">
        <pc:chgData name="Pietrzyk, Lukasz" userId="3c523eea-d990-46ae-90d9-b9bf542e4057" providerId="ADAL" clId="{26BD416E-4D49-4ABD-8D8C-867EBA8C3D66}" dt="2026-08-05T14:12:55.379" v="668" actId="478"/>
        <pc:sldMkLst>
          <pc:docMk/>
          <pc:sldMk cId="1145398900" sldId="454"/>
        </pc:sldMkLst>
        <pc:spChg chg="add">
          <ac:chgData name="Pietrzyk, Lukasz" userId="3c523eea-d990-46ae-90d9-b9bf542e4057" providerId="ADAL" clId="{26BD416E-4D49-4ABD-8D8C-867EBA8C3D66}" dt="2026-08-05T14:06:20.339" v="585" actId="22"/>
          <ac:spMkLst>
            <pc:docMk/>
            <pc:sldMk cId="1145398900" sldId="454"/>
            <ac:spMk id="21" creationId="{FCC584D7-F3AC-640A-FE25-99F9E28FC6D8}"/>
          </ac:spMkLst>
        </pc:spChg>
        <pc:spChg chg="add">
          <ac:chgData name="Pietrzyk, Lukasz" userId="3c523eea-d990-46ae-90d9-b9bf542e4057" providerId="ADAL" clId="{26BD416E-4D49-4ABD-8D8C-867EBA8C3D66}" dt="2026-08-05T14:06:20.339" v="585" actId="22"/>
          <ac:spMkLst>
            <pc:docMk/>
            <pc:sldMk cId="1145398900" sldId="454"/>
            <ac:spMk id="24" creationId="{D048C664-3147-B107-EF62-E449A47CB834}"/>
          </ac:spMkLst>
        </pc:spChg>
        <pc:spChg chg="add">
          <ac:chgData name="Pietrzyk, Lukasz" userId="3c523eea-d990-46ae-90d9-b9bf542e4057" providerId="ADAL" clId="{26BD416E-4D49-4ABD-8D8C-867EBA8C3D66}" dt="2026-08-05T14:06:20.339" v="585" actId="22"/>
          <ac:spMkLst>
            <pc:docMk/>
            <pc:sldMk cId="1145398900" sldId="454"/>
            <ac:spMk id="26" creationId="{F2E8D193-0CE1-AD06-452D-E594CA798A18}"/>
          </ac:spMkLst>
        </pc:spChg>
        <pc:spChg chg="add">
          <ac:chgData name="Pietrzyk, Lukasz" userId="3c523eea-d990-46ae-90d9-b9bf542e4057" providerId="ADAL" clId="{26BD416E-4D49-4ABD-8D8C-867EBA8C3D66}" dt="2026-08-05T14:06:20.339" v="585" actId="22"/>
          <ac:spMkLst>
            <pc:docMk/>
            <pc:sldMk cId="1145398900" sldId="454"/>
            <ac:spMk id="28" creationId="{3F4F8A94-EDC1-2CE0-FE90-6873C55E34B1}"/>
          </ac:spMkLst>
        </pc:spChg>
        <pc:spChg chg="add">
          <ac:chgData name="Pietrzyk, Lukasz" userId="3c523eea-d990-46ae-90d9-b9bf542e4057" providerId="ADAL" clId="{26BD416E-4D49-4ABD-8D8C-867EBA8C3D66}" dt="2026-08-05T14:06:20.339" v="585" actId="22"/>
          <ac:spMkLst>
            <pc:docMk/>
            <pc:sldMk cId="1145398900" sldId="454"/>
            <ac:spMk id="30" creationId="{6029E5F9-54F5-A78A-FDD2-710382C08614}"/>
          </ac:spMkLst>
        </pc:spChg>
        <pc:spChg chg="add">
          <ac:chgData name="Pietrzyk, Lukasz" userId="3c523eea-d990-46ae-90d9-b9bf542e4057" providerId="ADAL" clId="{26BD416E-4D49-4ABD-8D8C-867EBA8C3D66}" dt="2026-08-05T14:06:20.339" v="585" actId="22"/>
          <ac:spMkLst>
            <pc:docMk/>
            <pc:sldMk cId="1145398900" sldId="454"/>
            <ac:spMk id="32" creationId="{24934BBB-E543-4CCE-A147-C6D0F8EAF135}"/>
          </ac:spMkLst>
        </pc:spChg>
        <pc:spChg chg="add">
          <ac:chgData name="Pietrzyk, Lukasz" userId="3c523eea-d990-46ae-90d9-b9bf542e4057" providerId="ADAL" clId="{26BD416E-4D49-4ABD-8D8C-867EBA8C3D66}" dt="2026-08-05T14:06:20.339" v="585" actId="22"/>
          <ac:spMkLst>
            <pc:docMk/>
            <pc:sldMk cId="1145398900" sldId="454"/>
            <ac:spMk id="34" creationId="{C5510FEF-E19D-96EA-4E86-6223AB040DE7}"/>
          </ac:spMkLst>
        </pc:spChg>
        <pc:spChg chg="add">
          <ac:chgData name="Pietrzyk, Lukasz" userId="3c523eea-d990-46ae-90d9-b9bf542e4057" providerId="ADAL" clId="{26BD416E-4D49-4ABD-8D8C-867EBA8C3D66}" dt="2026-08-05T14:06:20.339" v="585" actId="22"/>
          <ac:spMkLst>
            <pc:docMk/>
            <pc:sldMk cId="1145398900" sldId="454"/>
            <ac:spMk id="36" creationId="{7ED1D331-1B24-1161-EE05-14FDC38D4323}"/>
          </ac:spMkLst>
        </pc:spChg>
        <pc:spChg chg="mod">
          <ac:chgData name="Pietrzyk, Lukasz" userId="3c523eea-d990-46ae-90d9-b9bf542e4057" providerId="ADAL" clId="{26BD416E-4D49-4ABD-8D8C-867EBA8C3D66}" dt="2026-08-05T11:29:30.147" v="186" actId="6549"/>
          <ac:spMkLst>
            <pc:docMk/>
            <pc:sldMk cId="1145398900" sldId="454"/>
            <ac:spMk id="131" creationId="{00000000-0000-0000-0000-000000000000}"/>
          </ac:spMkLst>
        </pc:spChg>
        <pc:graphicFrameChg chg="modGraphic">
          <ac:chgData name="Pietrzyk, Lukasz" userId="3c523eea-d990-46ae-90d9-b9bf542e4057" providerId="ADAL" clId="{26BD416E-4D49-4ABD-8D8C-867EBA8C3D66}" dt="2026-08-05T11:08:19.227" v="153" actId="20577"/>
          <ac:graphicFrameMkLst>
            <pc:docMk/>
            <pc:sldMk cId="1145398900" sldId="454"/>
            <ac:graphicFrameMk id="100" creationId="{00000000-0000-0000-0000-000000000000}"/>
          </ac:graphicFrameMkLst>
        </pc:graphicFrameChg>
      </pc:sldChg>
      <pc:sldChg chg="addSp delSp modSp mod ord">
        <pc:chgData name="Pietrzyk, Lukasz" userId="3c523eea-d990-46ae-90d9-b9bf542e4057" providerId="ADAL" clId="{26BD416E-4D49-4ABD-8D8C-867EBA8C3D66}" dt="2026-08-05T18:13:51.325" v="697" actId="20577"/>
        <pc:sldMkLst>
          <pc:docMk/>
          <pc:sldMk cId="1145398900" sldId="455"/>
        </pc:sldMkLst>
        <pc:spChg chg="add">
          <ac:chgData name="Pietrzyk, Lukasz" userId="3c523eea-d990-46ae-90d9-b9bf542e4057" providerId="ADAL" clId="{26BD416E-4D49-4ABD-8D8C-867EBA8C3D66}" dt="2026-08-05T14:06:10.804" v="581" actId="22"/>
          <ac:spMkLst>
            <pc:docMk/>
            <pc:sldMk cId="1145398900" sldId="455"/>
            <ac:spMk id="21" creationId="{D84A1A80-C4AD-ED31-B7CF-A5609D8FDF30}"/>
          </ac:spMkLst>
        </pc:spChg>
        <pc:spChg chg="mod">
          <ac:chgData name="Pietrzyk, Lukasz" userId="3c523eea-d990-46ae-90d9-b9bf542e4057" providerId="ADAL" clId="{26BD416E-4D49-4ABD-8D8C-867EBA8C3D66}" dt="2026-08-05T18:13:51.325" v="697" actId="20577"/>
          <ac:spMkLst>
            <pc:docMk/>
            <pc:sldMk cId="1145398900" sldId="455"/>
            <ac:spMk id="23" creationId="{5844AA0A-B29E-375C-3DEA-15A60CE0BEC5}"/>
          </ac:spMkLst>
        </pc:spChg>
        <pc:spChg chg="add">
          <ac:chgData name="Pietrzyk, Lukasz" userId="3c523eea-d990-46ae-90d9-b9bf542e4057" providerId="ADAL" clId="{26BD416E-4D49-4ABD-8D8C-867EBA8C3D66}" dt="2026-08-05T14:06:10.804" v="581" actId="22"/>
          <ac:spMkLst>
            <pc:docMk/>
            <pc:sldMk cId="1145398900" sldId="455"/>
            <ac:spMk id="24" creationId="{56230E42-2593-A6D0-DB42-56B7955464A9}"/>
          </ac:spMkLst>
        </pc:spChg>
        <pc:spChg chg="add">
          <ac:chgData name="Pietrzyk, Lukasz" userId="3c523eea-d990-46ae-90d9-b9bf542e4057" providerId="ADAL" clId="{26BD416E-4D49-4ABD-8D8C-867EBA8C3D66}" dt="2026-08-05T14:06:10.804" v="581" actId="22"/>
          <ac:spMkLst>
            <pc:docMk/>
            <pc:sldMk cId="1145398900" sldId="455"/>
            <ac:spMk id="26" creationId="{EEAA774B-FCF5-D27E-4940-1C68FC68ADAE}"/>
          </ac:spMkLst>
        </pc:spChg>
        <pc:spChg chg="add">
          <ac:chgData name="Pietrzyk, Lukasz" userId="3c523eea-d990-46ae-90d9-b9bf542e4057" providerId="ADAL" clId="{26BD416E-4D49-4ABD-8D8C-867EBA8C3D66}" dt="2026-08-05T14:06:10.804" v="581" actId="22"/>
          <ac:spMkLst>
            <pc:docMk/>
            <pc:sldMk cId="1145398900" sldId="455"/>
            <ac:spMk id="28" creationId="{F47737A6-C888-90E1-6F85-485ED9EB45E9}"/>
          </ac:spMkLst>
        </pc:spChg>
        <pc:spChg chg="add">
          <ac:chgData name="Pietrzyk, Lukasz" userId="3c523eea-d990-46ae-90d9-b9bf542e4057" providerId="ADAL" clId="{26BD416E-4D49-4ABD-8D8C-867EBA8C3D66}" dt="2026-08-05T14:06:10.804" v="581" actId="22"/>
          <ac:spMkLst>
            <pc:docMk/>
            <pc:sldMk cId="1145398900" sldId="455"/>
            <ac:spMk id="30" creationId="{67300B41-8FD7-B6B4-B111-9387A868E258}"/>
          </ac:spMkLst>
        </pc:spChg>
        <pc:spChg chg="add">
          <ac:chgData name="Pietrzyk, Lukasz" userId="3c523eea-d990-46ae-90d9-b9bf542e4057" providerId="ADAL" clId="{26BD416E-4D49-4ABD-8D8C-867EBA8C3D66}" dt="2026-08-05T14:06:10.804" v="581" actId="22"/>
          <ac:spMkLst>
            <pc:docMk/>
            <pc:sldMk cId="1145398900" sldId="455"/>
            <ac:spMk id="32" creationId="{ABAF82A6-DEEF-AE1F-6045-8AC7916BC7DE}"/>
          </ac:spMkLst>
        </pc:spChg>
        <pc:spChg chg="add">
          <ac:chgData name="Pietrzyk, Lukasz" userId="3c523eea-d990-46ae-90d9-b9bf542e4057" providerId="ADAL" clId="{26BD416E-4D49-4ABD-8D8C-867EBA8C3D66}" dt="2026-08-05T14:06:10.804" v="581" actId="22"/>
          <ac:spMkLst>
            <pc:docMk/>
            <pc:sldMk cId="1145398900" sldId="455"/>
            <ac:spMk id="34" creationId="{C2939BC6-307C-DFB9-5895-C1E19AA09249}"/>
          </ac:spMkLst>
        </pc:spChg>
        <pc:spChg chg="add">
          <ac:chgData name="Pietrzyk, Lukasz" userId="3c523eea-d990-46ae-90d9-b9bf542e4057" providerId="ADAL" clId="{26BD416E-4D49-4ABD-8D8C-867EBA8C3D66}" dt="2026-08-05T14:06:10.804" v="581" actId="22"/>
          <ac:spMkLst>
            <pc:docMk/>
            <pc:sldMk cId="1145398900" sldId="455"/>
            <ac:spMk id="36" creationId="{57E228D8-B2EA-5D8F-162B-9A56FAAB3671}"/>
          </ac:spMkLst>
        </pc:spChg>
        <pc:spChg chg="mod">
          <ac:chgData name="Pietrzyk, Lukasz" userId="3c523eea-d990-46ae-90d9-b9bf542e4057" providerId="ADAL" clId="{26BD416E-4D49-4ABD-8D8C-867EBA8C3D66}" dt="2026-08-05T11:29:22.988" v="185" actId="6549"/>
          <ac:spMkLst>
            <pc:docMk/>
            <pc:sldMk cId="1145398900" sldId="455"/>
            <ac:spMk id="131" creationId="{00000000-0000-0000-0000-000000000000}"/>
          </ac:spMkLst>
        </pc:spChg>
        <pc:graphicFrameChg chg="modGraphic">
          <ac:chgData name="Pietrzyk, Lukasz" userId="3c523eea-d990-46ae-90d9-b9bf542e4057" providerId="ADAL" clId="{26BD416E-4D49-4ABD-8D8C-867EBA8C3D66}" dt="2026-08-05T11:07:51.579" v="142" actId="20577"/>
          <ac:graphicFrameMkLst>
            <pc:docMk/>
            <pc:sldMk cId="1145398900" sldId="455"/>
            <ac:graphicFrameMk id="100" creationId="{00000000-0000-0000-0000-000000000000}"/>
          </ac:graphicFrameMkLst>
        </pc:graphicFrameChg>
      </pc:sldChg>
      <pc:sldChg chg="addSp delSp modSp mod ord">
        <pc:chgData name="Pietrzyk, Lukasz" userId="3c523eea-d990-46ae-90d9-b9bf542e4057" providerId="ADAL" clId="{26BD416E-4D49-4ABD-8D8C-867EBA8C3D66}" dt="2026-08-05T14:08:11.432" v="605" actId="478"/>
        <pc:sldMkLst>
          <pc:docMk/>
          <pc:sldMk cId="1145398900" sldId="456"/>
        </pc:sldMkLst>
        <pc:spChg chg="mod">
          <ac:chgData name="Pietrzyk, Lukasz" userId="3c523eea-d990-46ae-90d9-b9bf542e4057" providerId="ADAL" clId="{26BD416E-4D49-4ABD-8D8C-867EBA8C3D66}" dt="2026-08-05T11:44:14.210" v="198" actId="6549"/>
          <ac:spMkLst>
            <pc:docMk/>
            <pc:sldMk cId="1145398900" sldId="456"/>
            <ac:spMk id="4" creationId="{3A721E09-FCBD-84FA-9776-B48A42155AF5}"/>
          </ac:spMkLst>
        </pc:spChg>
        <pc:spChg chg="add">
          <ac:chgData name="Pietrzyk, Lukasz" userId="3c523eea-d990-46ae-90d9-b9bf542e4057" providerId="ADAL" clId="{26BD416E-4D49-4ABD-8D8C-867EBA8C3D66}" dt="2026-08-05T14:06:34.690" v="588" actId="22"/>
          <ac:spMkLst>
            <pc:docMk/>
            <pc:sldMk cId="1145398900" sldId="456"/>
            <ac:spMk id="5" creationId="{CED31B86-891C-2CDE-77F7-E4E94C2F563A}"/>
          </ac:spMkLst>
        </pc:spChg>
        <pc:spChg chg="add">
          <ac:chgData name="Pietrzyk, Lukasz" userId="3c523eea-d990-46ae-90d9-b9bf542e4057" providerId="ADAL" clId="{26BD416E-4D49-4ABD-8D8C-867EBA8C3D66}" dt="2026-08-05T14:06:34.690" v="588" actId="22"/>
          <ac:spMkLst>
            <pc:docMk/>
            <pc:sldMk cId="1145398900" sldId="456"/>
            <ac:spMk id="7" creationId="{CB46C7AA-6F95-C885-C7D1-2B27B4C751FA}"/>
          </ac:spMkLst>
        </pc:spChg>
        <pc:spChg chg="add">
          <ac:chgData name="Pietrzyk, Lukasz" userId="3c523eea-d990-46ae-90d9-b9bf542e4057" providerId="ADAL" clId="{26BD416E-4D49-4ABD-8D8C-867EBA8C3D66}" dt="2026-08-05T14:06:34.690" v="588" actId="22"/>
          <ac:spMkLst>
            <pc:docMk/>
            <pc:sldMk cId="1145398900" sldId="456"/>
            <ac:spMk id="9" creationId="{4FA63DF3-0479-0483-1019-55B9FBAB36B1}"/>
          </ac:spMkLst>
        </pc:spChg>
        <pc:spChg chg="add">
          <ac:chgData name="Pietrzyk, Lukasz" userId="3c523eea-d990-46ae-90d9-b9bf542e4057" providerId="ADAL" clId="{26BD416E-4D49-4ABD-8D8C-867EBA8C3D66}" dt="2026-08-05T14:06:34.690" v="588" actId="22"/>
          <ac:spMkLst>
            <pc:docMk/>
            <pc:sldMk cId="1145398900" sldId="456"/>
            <ac:spMk id="11" creationId="{65A5A26F-F458-E6C5-3A08-A1EE78C3B894}"/>
          </ac:spMkLst>
        </pc:spChg>
        <pc:spChg chg="add">
          <ac:chgData name="Pietrzyk, Lukasz" userId="3c523eea-d990-46ae-90d9-b9bf542e4057" providerId="ADAL" clId="{26BD416E-4D49-4ABD-8D8C-867EBA8C3D66}" dt="2026-08-05T14:06:34.690" v="588" actId="22"/>
          <ac:spMkLst>
            <pc:docMk/>
            <pc:sldMk cId="1145398900" sldId="456"/>
            <ac:spMk id="13" creationId="{34A131D4-9A1C-D0CF-0F40-086606B5A323}"/>
          </ac:spMkLst>
        </pc:spChg>
        <pc:spChg chg="add">
          <ac:chgData name="Pietrzyk, Lukasz" userId="3c523eea-d990-46ae-90d9-b9bf542e4057" providerId="ADAL" clId="{26BD416E-4D49-4ABD-8D8C-867EBA8C3D66}" dt="2026-08-05T14:06:34.690" v="588" actId="22"/>
          <ac:spMkLst>
            <pc:docMk/>
            <pc:sldMk cId="1145398900" sldId="456"/>
            <ac:spMk id="15" creationId="{22A0A67E-8E20-86E4-75F7-C938FBE669DC}"/>
          </ac:spMkLst>
        </pc:spChg>
        <pc:spChg chg="add">
          <ac:chgData name="Pietrzyk, Lukasz" userId="3c523eea-d990-46ae-90d9-b9bf542e4057" providerId="ADAL" clId="{26BD416E-4D49-4ABD-8D8C-867EBA8C3D66}" dt="2026-08-05T14:06:34.690" v="588" actId="22"/>
          <ac:spMkLst>
            <pc:docMk/>
            <pc:sldMk cId="1145398900" sldId="456"/>
            <ac:spMk id="17" creationId="{2F78FE31-9F2F-37BD-5843-96B4FC72E2F2}"/>
          </ac:spMkLst>
        </pc:spChg>
        <pc:spChg chg="add">
          <ac:chgData name="Pietrzyk, Lukasz" userId="3c523eea-d990-46ae-90d9-b9bf542e4057" providerId="ADAL" clId="{26BD416E-4D49-4ABD-8D8C-867EBA8C3D66}" dt="2026-08-05T14:06:34.690" v="588" actId="22"/>
          <ac:spMkLst>
            <pc:docMk/>
            <pc:sldMk cId="1145398900" sldId="456"/>
            <ac:spMk id="19" creationId="{C8B25A20-FD21-47AD-895C-D68E1918DAE9}"/>
          </ac:spMkLst>
        </pc:spChg>
        <pc:spChg chg="mod">
          <ac:chgData name="Pietrzyk, Lukasz" userId="3c523eea-d990-46ae-90d9-b9bf542e4057" providerId="ADAL" clId="{26BD416E-4D49-4ABD-8D8C-867EBA8C3D66}" dt="2026-08-05T11:29:45.442" v="189" actId="6549"/>
          <ac:spMkLst>
            <pc:docMk/>
            <pc:sldMk cId="1145398900" sldId="456"/>
            <ac:spMk id="131" creationId="{00000000-0000-0000-0000-000000000000}"/>
          </ac:spMkLst>
        </pc:spChg>
        <pc:graphicFrameChg chg="mod modGraphic">
          <ac:chgData name="Pietrzyk, Lukasz" userId="3c523eea-d990-46ae-90d9-b9bf542e4057" providerId="ADAL" clId="{26BD416E-4D49-4ABD-8D8C-867EBA8C3D66}" dt="2026-08-05T11:09:01.171" v="168"/>
          <ac:graphicFrameMkLst>
            <pc:docMk/>
            <pc:sldMk cId="1145398900" sldId="456"/>
            <ac:graphicFrameMk id="100" creationId="{00000000-0000-0000-0000-000000000000}"/>
          </ac:graphicFrameMkLst>
        </pc:graphicFrameChg>
      </pc:sldChg>
      <pc:sldChg chg="addSp delSp modSp mod ord">
        <pc:chgData name="Pietrzyk, Lukasz" userId="3c523eea-d990-46ae-90d9-b9bf542e4057" providerId="ADAL" clId="{26BD416E-4D49-4ABD-8D8C-867EBA8C3D66}" dt="2026-08-05T14:07:55.223" v="600" actId="478"/>
        <pc:sldMkLst>
          <pc:docMk/>
          <pc:sldMk cId="1145398900" sldId="457"/>
        </pc:sldMkLst>
        <pc:spChg chg="add">
          <ac:chgData name="Pietrzyk, Lukasz" userId="3c523eea-d990-46ae-90d9-b9bf542e4057" providerId="ADAL" clId="{26BD416E-4D49-4ABD-8D8C-867EBA8C3D66}" dt="2026-08-05T14:06:06.507" v="579" actId="22"/>
          <ac:spMkLst>
            <pc:docMk/>
            <pc:sldMk cId="1145398900" sldId="457"/>
            <ac:spMk id="21" creationId="{A4788F99-14A8-7E3A-6A3C-FD073DD6A516}"/>
          </ac:spMkLst>
        </pc:spChg>
        <pc:spChg chg="add">
          <ac:chgData name="Pietrzyk, Lukasz" userId="3c523eea-d990-46ae-90d9-b9bf542e4057" providerId="ADAL" clId="{26BD416E-4D49-4ABD-8D8C-867EBA8C3D66}" dt="2026-08-05T14:06:06.507" v="579" actId="22"/>
          <ac:spMkLst>
            <pc:docMk/>
            <pc:sldMk cId="1145398900" sldId="457"/>
            <ac:spMk id="24" creationId="{5D32E69A-AD95-308F-EC55-E76CFE23CDAD}"/>
          </ac:spMkLst>
        </pc:spChg>
        <pc:spChg chg="add">
          <ac:chgData name="Pietrzyk, Lukasz" userId="3c523eea-d990-46ae-90d9-b9bf542e4057" providerId="ADAL" clId="{26BD416E-4D49-4ABD-8D8C-867EBA8C3D66}" dt="2026-08-05T14:06:06.507" v="579" actId="22"/>
          <ac:spMkLst>
            <pc:docMk/>
            <pc:sldMk cId="1145398900" sldId="457"/>
            <ac:spMk id="26" creationId="{09C02929-4A4C-9269-BBAE-20DB5BFD2079}"/>
          </ac:spMkLst>
        </pc:spChg>
        <pc:spChg chg="add">
          <ac:chgData name="Pietrzyk, Lukasz" userId="3c523eea-d990-46ae-90d9-b9bf542e4057" providerId="ADAL" clId="{26BD416E-4D49-4ABD-8D8C-867EBA8C3D66}" dt="2026-08-05T14:06:06.507" v="579" actId="22"/>
          <ac:spMkLst>
            <pc:docMk/>
            <pc:sldMk cId="1145398900" sldId="457"/>
            <ac:spMk id="28" creationId="{2D03CF04-D2CB-1BF2-8990-E1DFB2D0E77E}"/>
          </ac:spMkLst>
        </pc:spChg>
        <pc:spChg chg="add">
          <ac:chgData name="Pietrzyk, Lukasz" userId="3c523eea-d990-46ae-90d9-b9bf542e4057" providerId="ADAL" clId="{26BD416E-4D49-4ABD-8D8C-867EBA8C3D66}" dt="2026-08-05T14:06:06.507" v="579" actId="22"/>
          <ac:spMkLst>
            <pc:docMk/>
            <pc:sldMk cId="1145398900" sldId="457"/>
            <ac:spMk id="30" creationId="{7F1C958D-82D1-96E1-915D-A59E278443CA}"/>
          </ac:spMkLst>
        </pc:spChg>
        <pc:spChg chg="add">
          <ac:chgData name="Pietrzyk, Lukasz" userId="3c523eea-d990-46ae-90d9-b9bf542e4057" providerId="ADAL" clId="{26BD416E-4D49-4ABD-8D8C-867EBA8C3D66}" dt="2026-08-05T14:06:06.507" v="579" actId="22"/>
          <ac:spMkLst>
            <pc:docMk/>
            <pc:sldMk cId="1145398900" sldId="457"/>
            <ac:spMk id="32" creationId="{B6C60E86-66EE-D30F-4928-BBFE94E3D795}"/>
          </ac:spMkLst>
        </pc:spChg>
        <pc:spChg chg="add">
          <ac:chgData name="Pietrzyk, Lukasz" userId="3c523eea-d990-46ae-90d9-b9bf542e4057" providerId="ADAL" clId="{26BD416E-4D49-4ABD-8D8C-867EBA8C3D66}" dt="2026-08-05T14:06:06.507" v="579" actId="22"/>
          <ac:spMkLst>
            <pc:docMk/>
            <pc:sldMk cId="1145398900" sldId="457"/>
            <ac:spMk id="34" creationId="{B9695D71-465F-EFD4-59F9-79150C809B50}"/>
          </ac:spMkLst>
        </pc:spChg>
        <pc:spChg chg="add">
          <ac:chgData name="Pietrzyk, Lukasz" userId="3c523eea-d990-46ae-90d9-b9bf542e4057" providerId="ADAL" clId="{26BD416E-4D49-4ABD-8D8C-867EBA8C3D66}" dt="2026-08-05T14:06:06.507" v="579" actId="22"/>
          <ac:spMkLst>
            <pc:docMk/>
            <pc:sldMk cId="1145398900" sldId="457"/>
            <ac:spMk id="36" creationId="{D18D7D92-0954-D6D9-D797-32E02A2FA0DE}"/>
          </ac:spMkLst>
        </pc:spChg>
        <pc:spChg chg="mod">
          <ac:chgData name="Pietrzyk, Lukasz" userId="3c523eea-d990-46ae-90d9-b9bf542e4057" providerId="ADAL" clId="{26BD416E-4D49-4ABD-8D8C-867EBA8C3D66}" dt="2026-08-05T11:29:15.338" v="184" actId="6549"/>
          <ac:spMkLst>
            <pc:docMk/>
            <pc:sldMk cId="1145398900" sldId="457"/>
            <ac:spMk id="131" creationId="{00000000-0000-0000-0000-000000000000}"/>
          </ac:spMkLst>
        </pc:spChg>
        <pc:graphicFrameChg chg="modGraphic">
          <ac:chgData name="Pietrzyk, Lukasz" userId="3c523eea-d990-46ae-90d9-b9bf542e4057" providerId="ADAL" clId="{26BD416E-4D49-4ABD-8D8C-867EBA8C3D66}" dt="2026-08-05T11:07:37.899" v="137" actId="20577"/>
          <ac:graphicFrameMkLst>
            <pc:docMk/>
            <pc:sldMk cId="1145398900" sldId="457"/>
            <ac:graphicFrameMk id="100" creationId="{00000000-0000-0000-0000-000000000000}"/>
          </ac:graphicFrameMkLst>
        </pc:graphicFrameChg>
      </pc:sldChg>
      <pc:sldChg chg="addSp delSp modSp mod ord">
        <pc:chgData name="Pietrzyk, Lukasz" userId="3c523eea-d990-46ae-90d9-b9bf542e4057" providerId="ADAL" clId="{26BD416E-4D49-4ABD-8D8C-867EBA8C3D66}" dt="2026-08-05T14:08:07.145" v="604" actId="478"/>
        <pc:sldMkLst>
          <pc:docMk/>
          <pc:sldMk cId="1145398900" sldId="458"/>
        </pc:sldMkLst>
        <pc:spChg chg="mod">
          <ac:chgData name="Pietrzyk, Lukasz" userId="3c523eea-d990-46ae-90d9-b9bf542e4057" providerId="ADAL" clId="{26BD416E-4D49-4ABD-8D8C-867EBA8C3D66}" dt="2026-08-05T11:44:16.823" v="199" actId="6549"/>
          <ac:spMkLst>
            <pc:docMk/>
            <pc:sldMk cId="1145398900" sldId="458"/>
            <ac:spMk id="4" creationId="{3A721E09-FCBD-84FA-9776-B48A42155AF5}"/>
          </ac:spMkLst>
        </pc:spChg>
        <pc:spChg chg="add">
          <ac:chgData name="Pietrzyk, Lukasz" userId="3c523eea-d990-46ae-90d9-b9bf542e4057" providerId="ADAL" clId="{26BD416E-4D49-4ABD-8D8C-867EBA8C3D66}" dt="2026-08-05T14:06:30.448" v="587" actId="22"/>
          <ac:spMkLst>
            <pc:docMk/>
            <pc:sldMk cId="1145398900" sldId="458"/>
            <ac:spMk id="21" creationId="{F1256A38-992B-F9EF-43CA-C440E6263F6C}"/>
          </ac:spMkLst>
        </pc:spChg>
        <pc:spChg chg="add">
          <ac:chgData name="Pietrzyk, Lukasz" userId="3c523eea-d990-46ae-90d9-b9bf542e4057" providerId="ADAL" clId="{26BD416E-4D49-4ABD-8D8C-867EBA8C3D66}" dt="2026-08-05T14:06:30.448" v="587" actId="22"/>
          <ac:spMkLst>
            <pc:docMk/>
            <pc:sldMk cId="1145398900" sldId="458"/>
            <ac:spMk id="24" creationId="{3FB811EE-7DD7-1700-9CAE-8C8B7BC23D6C}"/>
          </ac:spMkLst>
        </pc:spChg>
        <pc:spChg chg="add">
          <ac:chgData name="Pietrzyk, Lukasz" userId="3c523eea-d990-46ae-90d9-b9bf542e4057" providerId="ADAL" clId="{26BD416E-4D49-4ABD-8D8C-867EBA8C3D66}" dt="2026-08-05T14:06:30.448" v="587" actId="22"/>
          <ac:spMkLst>
            <pc:docMk/>
            <pc:sldMk cId="1145398900" sldId="458"/>
            <ac:spMk id="26" creationId="{095E13AD-8D93-9F81-DD8F-2FDF5084D663}"/>
          </ac:spMkLst>
        </pc:spChg>
        <pc:spChg chg="add">
          <ac:chgData name="Pietrzyk, Lukasz" userId="3c523eea-d990-46ae-90d9-b9bf542e4057" providerId="ADAL" clId="{26BD416E-4D49-4ABD-8D8C-867EBA8C3D66}" dt="2026-08-05T14:06:30.448" v="587" actId="22"/>
          <ac:spMkLst>
            <pc:docMk/>
            <pc:sldMk cId="1145398900" sldId="458"/>
            <ac:spMk id="28" creationId="{19424ADD-F4E0-0444-DC0B-B82AEAE230BD}"/>
          </ac:spMkLst>
        </pc:spChg>
        <pc:spChg chg="add">
          <ac:chgData name="Pietrzyk, Lukasz" userId="3c523eea-d990-46ae-90d9-b9bf542e4057" providerId="ADAL" clId="{26BD416E-4D49-4ABD-8D8C-867EBA8C3D66}" dt="2026-08-05T14:06:30.448" v="587" actId="22"/>
          <ac:spMkLst>
            <pc:docMk/>
            <pc:sldMk cId="1145398900" sldId="458"/>
            <ac:spMk id="30" creationId="{D908443E-2D2A-7F43-B382-40358942F3FB}"/>
          </ac:spMkLst>
        </pc:spChg>
        <pc:spChg chg="add">
          <ac:chgData name="Pietrzyk, Lukasz" userId="3c523eea-d990-46ae-90d9-b9bf542e4057" providerId="ADAL" clId="{26BD416E-4D49-4ABD-8D8C-867EBA8C3D66}" dt="2026-08-05T14:06:30.448" v="587" actId="22"/>
          <ac:spMkLst>
            <pc:docMk/>
            <pc:sldMk cId="1145398900" sldId="458"/>
            <ac:spMk id="32" creationId="{ABD02C5E-F514-ABF7-5400-1057E0114D2F}"/>
          </ac:spMkLst>
        </pc:spChg>
        <pc:spChg chg="add">
          <ac:chgData name="Pietrzyk, Lukasz" userId="3c523eea-d990-46ae-90d9-b9bf542e4057" providerId="ADAL" clId="{26BD416E-4D49-4ABD-8D8C-867EBA8C3D66}" dt="2026-08-05T14:06:30.448" v="587" actId="22"/>
          <ac:spMkLst>
            <pc:docMk/>
            <pc:sldMk cId="1145398900" sldId="458"/>
            <ac:spMk id="34" creationId="{31C84E6B-AC02-3590-280F-7DA23A7092E3}"/>
          </ac:spMkLst>
        </pc:spChg>
        <pc:spChg chg="add">
          <ac:chgData name="Pietrzyk, Lukasz" userId="3c523eea-d990-46ae-90d9-b9bf542e4057" providerId="ADAL" clId="{26BD416E-4D49-4ABD-8D8C-867EBA8C3D66}" dt="2026-08-05T14:06:30.448" v="587" actId="22"/>
          <ac:spMkLst>
            <pc:docMk/>
            <pc:sldMk cId="1145398900" sldId="458"/>
            <ac:spMk id="36" creationId="{3FDFB24C-29BF-023D-675C-FA0B582422ED}"/>
          </ac:spMkLst>
        </pc:spChg>
        <pc:spChg chg="mod">
          <ac:chgData name="Pietrzyk, Lukasz" userId="3c523eea-d990-46ae-90d9-b9bf542e4057" providerId="ADAL" clId="{26BD416E-4D49-4ABD-8D8C-867EBA8C3D66}" dt="2026-08-05T11:29:40.985" v="188" actId="6549"/>
          <ac:spMkLst>
            <pc:docMk/>
            <pc:sldMk cId="1145398900" sldId="458"/>
            <ac:spMk id="131" creationId="{00000000-0000-0000-0000-000000000000}"/>
          </ac:spMkLst>
        </pc:spChg>
      </pc:sldChg>
      <pc:sldChg chg="addSp delSp modSp mod ord">
        <pc:chgData name="Pietrzyk, Lukasz" userId="3c523eea-d990-46ae-90d9-b9bf542e4057" providerId="ADAL" clId="{26BD416E-4D49-4ABD-8D8C-867EBA8C3D66}" dt="2026-08-05T15:52:12.946" v="687" actId="20577"/>
        <pc:sldMkLst>
          <pc:docMk/>
          <pc:sldMk cId="1145398900" sldId="459"/>
        </pc:sldMkLst>
        <pc:spChg chg="add">
          <ac:chgData name="Pietrzyk, Lukasz" userId="3c523eea-d990-46ae-90d9-b9bf542e4057" providerId="ADAL" clId="{26BD416E-4D49-4ABD-8D8C-867EBA8C3D66}" dt="2026-08-05T14:05:51.162" v="570" actId="22"/>
          <ac:spMkLst>
            <pc:docMk/>
            <pc:sldMk cId="1145398900" sldId="459"/>
            <ac:spMk id="21" creationId="{739ABCF5-71EA-7556-DF54-0FE076E11709}"/>
          </ac:spMkLst>
        </pc:spChg>
        <pc:spChg chg="add">
          <ac:chgData name="Pietrzyk, Lukasz" userId="3c523eea-d990-46ae-90d9-b9bf542e4057" providerId="ADAL" clId="{26BD416E-4D49-4ABD-8D8C-867EBA8C3D66}" dt="2026-08-05T14:05:51.162" v="570" actId="22"/>
          <ac:spMkLst>
            <pc:docMk/>
            <pc:sldMk cId="1145398900" sldId="459"/>
            <ac:spMk id="24" creationId="{D0709E68-7AEF-DEA3-D565-5C0CA9FA5F47}"/>
          </ac:spMkLst>
        </pc:spChg>
        <pc:spChg chg="add">
          <ac:chgData name="Pietrzyk, Lukasz" userId="3c523eea-d990-46ae-90d9-b9bf542e4057" providerId="ADAL" clId="{26BD416E-4D49-4ABD-8D8C-867EBA8C3D66}" dt="2026-08-05T14:05:51.162" v="570" actId="22"/>
          <ac:spMkLst>
            <pc:docMk/>
            <pc:sldMk cId="1145398900" sldId="459"/>
            <ac:spMk id="26" creationId="{3E10ECF3-3E68-ECF4-E599-8C4D8AE9746A}"/>
          </ac:spMkLst>
        </pc:spChg>
        <pc:spChg chg="add">
          <ac:chgData name="Pietrzyk, Lukasz" userId="3c523eea-d990-46ae-90d9-b9bf542e4057" providerId="ADAL" clId="{26BD416E-4D49-4ABD-8D8C-867EBA8C3D66}" dt="2026-08-05T14:05:51.162" v="570" actId="22"/>
          <ac:spMkLst>
            <pc:docMk/>
            <pc:sldMk cId="1145398900" sldId="459"/>
            <ac:spMk id="28" creationId="{1A475CBE-679C-8683-62C2-561592A75ACA}"/>
          </ac:spMkLst>
        </pc:spChg>
        <pc:spChg chg="add">
          <ac:chgData name="Pietrzyk, Lukasz" userId="3c523eea-d990-46ae-90d9-b9bf542e4057" providerId="ADAL" clId="{26BD416E-4D49-4ABD-8D8C-867EBA8C3D66}" dt="2026-08-05T14:05:51.162" v="570" actId="22"/>
          <ac:spMkLst>
            <pc:docMk/>
            <pc:sldMk cId="1145398900" sldId="459"/>
            <ac:spMk id="30" creationId="{9175C50E-5E9A-0DD7-6717-89A96108F624}"/>
          </ac:spMkLst>
        </pc:spChg>
        <pc:spChg chg="add">
          <ac:chgData name="Pietrzyk, Lukasz" userId="3c523eea-d990-46ae-90d9-b9bf542e4057" providerId="ADAL" clId="{26BD416E-4D49-4ABD-8D8C-867EBA8C3D66}" dt="2026-08-05T14:05:51.162" v="570" actId="22"/>
          <ac:spMkLst>
            <pc:docMk/>
            <pc:sldMk cId="1145398900" sldId="459"/>
            <ac:spMk id="32" creationId="{B4CA2101-49E3-5706-CC21-C61BD60808EC}"/>
          </ac:spMkLst>
        </pc:spChg>
        <pc:spChg chg="add">
          <ac:chgData name="Pietrzyk, Lukasz" userId="3c523eea-d990-46ae-90d9-b9bf542e4057" providerId="ADAL" clId="{26BD416E-4D49-4ABD-8D8C-867EBA8C3D66}" dt="2026-08-05T14:05:51.162" v="570" actId="22"/>
          <ac:spMkLst>
            <pc:docMk/>
            <pc:sldMk cId="1145398900" sldId="459"/>
            <ac:spMk id="34" creationId="{0222AB1E-E4E9-4764-724D-E4676B4DF92B}"/>
          </ac:spMkLst>
        </pc:spChg>
        <pc:spChg chg="add">
          <ac:chgData name="Pietrzyk, Lukasz" userId="3c523eea-d990-46ae-90d9-b9bf542e4057" providerId="ADAL" clId="{26BD416E-4D49-4ABD-8D8C-867EBA8C3D66}" dt="2026-08-05T14:05:51.162" v="570" actId="22"/>
          <ac:spMkLst>
            <pc:docMk/>
            <pc:sldMk cId="1145398900" sldId="459"/>
            <ac:spMk id="36" creationId="{BDB7289D-DC63-1536-9FA4-44B4E833E96C}"/>
          </ac:spMkLst>
        </pc:spChg>
        <pc:spChg chg="add mod">
          <ac:chgData name="Pietrzyk, Lukasz" userId="3c523eea-d990-46ae-90d9-b9bf542e4057" providerId="ADAL" clId="{26BD416E-4D49-4ABD-8D8C-867EBA8C3D66}" dt="2026-08-05T15:52:12.946" v="687" actId="20577"/>
          <ac:spMkLst>
            <pc:docMk/>
            <pc:sldMk cId="1145398900" sldId="459"/>
            <ac:spMk id="38" creationId="{EACB9C03-A539-AD17-4039-F3ED76B64F79}"/>
          </ac:spMkLst>
        </pc:spChg>
        <pc:graphicFrameChg chg="modGraphic">
          <ac:chgData name="Pietrzyk, Lukasz" userId="3c523eea-d990-46ae-90d9-b9bf542e4057" providerId="ADAL" clId="{26BD416E-4D49-4ABD-8D8C-867EBA8C3D66}" dt="2026-08-05T11:06:35.008" v="113" actId="20577"/>
          <ac:graphicFrameMkLst>
            <pc:docMk/>
            <pc:sldMk cId="1145398900" sldId="459"/>
            <ac:graphicFrameMk id="100" creationId="{00000000-0000-0000-0000-000000000000}"/>
          </ac:graphicFrameMkLst>
        </pc:graphicFrameChg>
      </pc:sldChg>
      <pc:sldChg chg="addSp delSp modSp mod ord">
        <pc:chgData name="Pietrzyk, Lukasz" userId="3c523eea-d990-46ae-90d9-b9bf542e4057" providerId="ADAL" clId="{26BD416E-4D49-4ABD-8D8C-867EBA8C3D66}" dt="2026-08-05T14:08:04.412" v="603" actId="478"/>
        <pc:sldMkLst>
          <pc:docMk/>
          <pc:sldMk cId="1145398900" sldId="460"/>
        </pc:sldMkLst>
        <pc:spChg chg="mod">
          <ac:chgData name="Pietrzyk, Lukasz" userId="3c523eea-d990-46ae-90d9-b9bf542e4057" providerId="ADAL" clId="{26BD416E-4D49-4ABD-8D8C-867EBA8C3D66}" dt="2026-08-05T11:44:19.904" v="200" actId="6549"/>
          <ac:spMkLst>
            <pc:docMk/>
            <pc:sldMk cId="1145398900" sldId="460"/>
            <ac:spMk id="4" creationId="{3A721E09-FCBD-84FA-9776-B48A42155AF5}"/>
          </ac:spMkLst>
        </pc:spChg>
        <pc:spChg chg="add mod">
          <ac:chgData name="Pietrzyk, Lukasz" userId="3c523eea-d990-46ae-90d9-b9bf542e4057" providerId="ADAL" clId="{26BD416E-4D49-4ABD-8D8C-867EBA8C3D66}" dt="2026-08-05T14:05:09.920" v="553" actId="1036"/>
          <ac:spMkLst>
            <pc:docMk/>
            <pc:sldMk cId="1145398900" sldId="460"/>
            <ac:spMk id="5" creationId="{D0F9FCDC-6252-1B82-1E28-C4C3D3F2E9E1}"/>
          </ac:spMkLst>
        </pc:spChg>
        <pc:spChg chg="add mod">
          <ac:chgData name="Pietrzyk, Lukasz" userId="3c523eea-d990-46ae-90d9-b9bf542e4057" providerId="ADAL" clId="{26BD416E-4D49-4ABD-8D8C-867EBA8C3D66}" dt="2026-08-05T14:05:13.611" v="559" actId="1036"/>
          <ac:spMkLst>
            <pc:docMk/>
            <pc:sldMk cId="1145398900" sldId="460"/>
            <ac:spMk id="7" creationId="{910ACBF4-12B9-1C25-3AF7-A770884F4EB8}"/>
          </ac:spMkLst>
        </pc:spChg>
        <pc:spChg chg="add mod">
          <ac:chgData name="Pietrzyk, Lukasz" userId="3c523eea-d990-46ae-90d9-b9bf542e4057" providerId="ADAL" clId="{26BD416E-4D49-4ABD-8D8C-867EBA8C3D66}" dt="2026-08-05T14:04:59.330" v="537" actId="404"/>
          <ac:spMkLst>
            <pc:docMk/>
            <pc:sldMk cId="1145398900" sldId="460"/>
            <ac:spMk id="9" creationId="{BBAE1DC6-36B1-5044-AFCA-063CE828BE61}"/>
          </ac:spMkLst>
        </pc:spChg>
        <pc:spChg chg="add mod">
          <ac:chgData name="Pietrzyk, Lukasz" userId="3c523eea-d990-46ae-90d9-b9bf542e4057" providerId="ADAL" clId="{26BD416E-4D49-4ABD-8D8C-867EBA8C3D66}" dt="2026-08-05T14:05:26.395" v="564" actId="1076"/>
          <ac:spMkLst>
            <pc:docMk/>
            <pc:sldMk cId="1145398900" sldId="460"/>
            <ac:spMk id="11" creationId="{58F74049-8A34-97E9-FB2D-A96D03F1C7F7}"/>
          </ac:spMkLst>
        </pc:spChg>
        <pc:spChg chg="add mod">
          <ac:chgData name="Pietrzyk, Lukasz" userId="3c523eea-d990-46ae-90d9-b9bf542e4057" providerId="ADAL" clId="{26BD416E-4D49-4ABD-8D8C-867EBA8C3D66}" dt="2026-08-05T14:05:16.226" v="560" actId="1076"/>
          <ac:spMkLst>
            <pc:docMk/>
            <pc:sldMk cId="1145398900" sldId="460"/>
            <ac:spMk id="13" creationId="{9ECA06D0-6EAE-268F-91FE-056955090E14}"/>
          </ac:spMkLst>
        </pc:spChg>
        <pc:spChg chg="add mod">
          <ac:chgData name="Pietrzyk, Lukasz" userId="3c523eea-d990-46ae-90d9-b9bf542e4057" providerId="ADAL" clId="{26BD416E-4D49-4ABD-8D8C-867EBA8C3D66}" dt="2026-08-05T14:05:18.273" v="561" actId="1076"/>
          <ac:spMkLst>
            <pc:docMk/>
            <pc:sldMk cId="1145398900" sldId="460"/>
            <ac:spMk id="15" creationId="{6DD596ED-12FB-F784-3A50-16E529793930}"/>
          </ac:spMkLst>
        </pc:spChg>
        <pc:spChg chg="add mod">
          <ac:chgData name="Pietrzyk, Lukasz" userId="3c523eea-d990-46ae-90d9-b9bf542e4057" providerId="ADAL" clId="{26BD416E-4D49-4ABD-8D8C-867EBA8C3D66}" dt="2026-08-05T14:05:23.567" v="563" actId="1076"/>
          <ac:spMkLst>
            <pc:docMk/>
            <pc:sldMk cId="1145398900" sldId="460"/>
            <ac:spMk id="17" creationId="{939C3128-AAAC-6883-89C2-0F0368989CAE}"/>
          </ac:spMkLst>
        </pc:spChg>
        <pc:spChg chg="add mod">
          <ac:chgData name="Pietrzyk, Lukasz" userId="3c523eea-d990-46ae-90d9-b9bf542e4057" providerId="ADAL" clId="{26BD416E-4D49-4ABD-8D8C-867EBA8C3D66}" dt="2026-08-05T14:05:20.754" v="562" actId="1076"/>
          <ac:spMkLst>
            <pc:docMk/>
            <pc:sldMk cId="1145398900" sldId="460"/>
            <ac:spMk id="19" creationId="{48CAFD26-7D91-0C3E-7E93-353B29BC77DA}"/>
          </ac:spMkLst>
        </pc:spChg>
        <pc:spChg chg="mod">
          <ac:chgData name="Pietrzyk, Lukasz" userId="3c523eea-d990-46ae-90d9-b9bf542e4057" providerId="ADAL" clId="{26BD416E-4D49-4ABD-8D8C-867EBA8C3D66}" dt="2026-08-05T11:29:36.366" v="187" actId="6549"/>
          <ac:spMkLst>
            <pc:docMk/>
            <pc:sldMk cId="1145398900" sldId="460"/>
            <ac:spMk id="131" creationId="{00000000-0000-0000-0000-000000000000}"/>
          </ac:spMkLst>
        </pc:spChg>
        <pc:graphicFrameChg chg="mod modGraphic">
          <ac:chgData name="Pietrzyk, Lukasz" userId="3c523eea-d990-46ae-90d9-b9bf542e4057" providerId="ADAL" clId="{26BD416E-4D49-4ABD-8D8C-867EBA8C3D66}" dt="2026-08-05T11:08:43.127" v="161"/>
          <ac:graphicFrameMkLst>
            <pc:docMk/>
            <pc:sldMk cId="1145398900" sldId="460"/>
            <ac:graphicFrameMk id="100" creationId="{00000000-0000-0000-0000-000000000000}"/>
          </ac:graphicFrameMkLst>
        </pc:graphicFrameChg>
      </pc:sldChg>
      <pc:sldChg chg="addSp delSp modSp add mod">
        <pc:chgData name="Pietrzyk, Lukasz" userId="3c523eea-d990-46ae-90d9-b9bf542e4057" providerId="ADAL" clId="{26BD416E-4D49-4ABD-8D8C-867EBA8C3D66}" dt="2026-08-05T13:55:56.816" v="357" actId="20577"/>
        <pc:sldMkLst>
          <pc:docMk/>
          <pc:sldMk cId="2868583579" sldId="461"/>
        </pc:sldMkLst>
        <pc:spChg chg="add mod">
          <ac:chgData name="Pietrzyk, Lukasz" userId="3c523eea-d990-46ae-90d9-b9bf542e4057" providerId="ADAL" clId="{26BD416E-4D49-4ABD-8D8C-867EBA8C3D66}" dt="2026-08-05T13:51:17.902" v="210" actId="767"/>
          <ac:spMkLst>
            <pc:docMk/>
            <pc:sldMk cId="2868583579" sldId="461"/>
            <ac:spMk id="9" creationId="{ACBE413F-36C1-9D74-F04F-7BDE7EDCAF3B}"/>
          </ac:spMkLst>
        </pc:spChg>
        <pc:spChg chg="add mod">
          <ac:chgData name="Pietrzyk, Lukasz" userId="3c523eea-d990-46ae-90d9-b9bf542e4057" providerId="ADAL" clId="{26BD416E-4D49-4ABD-8D8C-867EBA8C3D66}" dt="2026-08-05T13:52:17.858" v="241" actId="1076"/>
          <ac:spMkLst>
            <pc:docMk/>
            <pc:sldMk cId="2868583579" sldId="461"/>
            <ac:spMk id="10" creationId="{1D971690-BEF2-F614-165E-3C1A12A29CEA}"/>
          </ac:spMkLst>
        </pc:spChg>
        <pc:spChg chg="add mod">
          <ac:chgData name="Pietrzyk, Lukasz" userId="3c523eea-d990-46ae-90d9-b9bf542e4057" providerId="ADAL" clId="{26BD416E-4D49-4ABD-8D8C-867EBA8C3D66}" dt="2026-08-05T13:53:17.227" v="291" actId="1076"/>
          <ac:spMkLst>
            <pc:docMk/>
            <pc:sldMk cId="2868583579" sldId="461"/>
            <ac:spMk id="12" creationId="{81504C44-D198-06E4-374B-C6CE7C884007}"/>
          </ac:spMkLst>
        </pc:spChg>
        <pc:spChg chg="add mod">
          <ac:chgData name="Pietrzyk, Lukasz" userId="3c523eea-d990-46ae-90d9-b9bf542e4057" providerId="ADAL" clId="{26BD416E-4D49-4ABD-8D8C-867EBA8C3D66}" dt="2026-08-05T13:55:32.554" v="330" actId="20577"/>
          <ac:spMkLst>
            <pc:docMk/>
            <pc:sldMk cId="2868583579" sldId="461"/>
            <ac:spMk id="14" creationId="{1EE8AEBE-455E-3122-A276-7A49D5CC8DEC}"/>
          </ac:spMkLst>
        </pc:spChg>
        <pc:spChg chg="add mod">
          <ac:chgData name="Pietrzyk, Lukasz" userId="3c523eea-d990-46ae-90d9-b9bf542e4057" providerId="ADAL" clId="{26BD416E-4D49-4ABD-8D8C-867EBA8C3D66}" dt="2026-08-05T13:53:47.020" v="322" actId="20577"/>
          <ac:spMkLst>
            <pc:docMk/>
            <pc:sldMk cId="2868583579" sldId="461"/>
            <ac:spMk id="16" creationId="{D90E918B-25F0-E5C2-7A2C-814466B27B20}"/>
          </ac:spMkLst>
        </pc:spChg>
        <pc:spChg chg="add mod">
          <ac:chgData name="Pietrzyk, Lukasz" userId="3c523eea-d990-46ae-90d9-b9bf542e4057" providerId="ADAL" clId="{26BD416E-4D49-4ABD-8D8C-867EBA8C3D66}" dt="2026-08-05T13:55:56.816" v="357" actId="20577"/>
          <ac:spMkLst>
            <pc:docMk/>
            <pc:sldMk cId="2868583579" sldId="461"/>
            <ac:spMk id="20" creationId="{904299BC-6E03-FC01-2507-E12D73EC63D9}"/>
          </ac:spMkLst>
        </pc:spChg>
      </pc:sldChg>
    </pc:docChg>
  </pc:docChgLst>
  <pc:docChgLst>
    <pc:chgData name="Villena, Jose" userId="eadb7e09-7b37-48d9-b51e-4fa15d8fe010" providerId="ADAL" clId="{B3520F0D-3DEA-4580-B5AC-1B6B5994B701}"/>
    <pc:docChg chg="undo redo custSel modSld">
      <pc:chgData name="Villena, Jose" userId="eadb7e09-7b37-48d9-b51e-4fa15d8fe010" providerId="ADAL" clId="{B3520F0D-3DEA-4580-B5AC-1B6B5994B701}" dt="2026-08-11T00:26:43.704" v="77" actId="207"/>
      <pc:docMkLst>
        <pc:docMk/>
      </pc:docMkLst>
      <pc:sldChg chg="modSp">
        <pc:chgData name="Villena, Jose" userId="eadb7e09-7b37-48d9-b51e-4fa15d8fe010" providerId="ADAL" clId="{B3520F0D-3DEA-4580-B5AC-1B6B5994B701}" dt="2026-08-10T20:04:24.885" v="2"/>
        <pc:sldMkLst>
          <pc:docMk/>
          <pc:sldMk cId="1510954996" sldId="282"/>
        </pc:sldMkLst>
        <pc:spChg chg="mod">
          <ac:chgData name="Villena, Jose" userId="eadb7e09-7b37-48d9-b51e-4fa15d8fe010" providerId="ADAL" clId="{B3520F0D-3DEA-4580-B5AC-1B6B5994B701}" dt="2026-08-10T20:04:24.885" v="2"/>
          <ac:spMkLst>
            <pc:docMk/>
            <pc:sldMk cId="1510954996" sldId="282"/>
            <ac:spMk id="34" creationId="{FC496128-C9FF-21CF-8030-2A71CEE706E0}"/>
          </ac:spMkLst>
        </pc:spChg>
      </pc:sldChg>
      <pc:sldChg chg="modSp mod">
        <pc:chgData name="Villena, Jose" userId="eadb7e09-7b37-48d9-b51e-4fa15d8fe010" providerId="ADAL" clId="{B3520F0D-3DEA-4580-B5AC-1B6B5994B701}" dt="2026-08-10T21:23:48.454" v="20" actId="20577"/>
        <pc:sldMkLst>
          <pc:docMk/>
          <pc:sldMk cId="2593543775" sldId="339"/>
        </pc:sldMkLst>
        <pc:spChg chg="mod">
          <ac:chgData name="Villena, Jose" userId="eadb7e09-7b37-48d9-b51e-4fa15d8fe010" providerId="ADAL" clId="{B3520F0D-3DEA-4580-B5AC-1B6B5994B701}" dt="2026-08-10T21:23:48.454" v="20" actId="20577"/>
          <ac:spMkLst>
            <pc:docMk/>
            <pc:sldMk cId="2593543775" sldId="339"/>
            <ac:spMk id="51" creationId="{C46085AA-5C9C-B588-F752-97411E0C5F18}"/>
          </ac:spMkLst>
        </pc:spChg>
      </pc:sldChg>
      <pc:sldChg chg="modSp mod">
        <pc:chgData name="Villena, Jose" userId="eadb7e09-7b37-48d9-b51e-4fa15d8fe010" providerId="ADAL" clId="{B3520F0D-3DEA-4580-B5AC-1B6B5994B701}" dt="2026-08-10T21:33:47.431" v="31" actId="20577"/>
        <pc:sldMkLst>
          <pc:docMk/>
          <pc:sldMk cId="4142440913" sldId="340"/>
        </pc:sldMkLst>
        <pc:spChg chg="mod">
          <ac:chgData name="Villena, Jose" userId="eadb7e09-7b37-48d9-b51e-4fa15d8fe010" providerId="ADAL" clId="{B3520F0D-3DEA-4580-B5AC-1B6B5994B701}" dt="2026-08-10T21:33:47.431" v="31" actId="20577"/>
          <ac:spMkLst>
            <pc:docMk/>
            <pc:sldMk cId="4142440913" sldId="340"/>
            <ac:spMk id="127" creationId="{20B938BA-8F52-7DEA-7AAE-67D75D23A915}"/>
          </ac:spMkLst>
        </pc:spChg>
        <pc:spChg chg="mod">
          <ac:chgData name="Villena, Jose" userId="eadb7e09-7b37-48d9-b51e-4fa15d8fe010" providerId="ADAL" clId="{B3520F0D-3DEA-4580-B5AC-1B6B5994B701}" dt="2026-08-10T21:32:26.502" v="26" actId="20577"/>
          <ac:spMkLst>
            <pc:docMk/>
            <pc:sldMk cId="4142440913" sldId="340"/>
            <ac:spMk id="132" creationId="{5E208094-EA60-1E65-546A-CADB3BD61425}"/>
          </ac:spMkLst>
        </pc:spChg>
      </pc:sldChg>
      <pc:sldChg chg="modSp mod">
        <pc:chgData name="Villena, Jose" userId="eadb7e09-7b37-48d9-b51e-4fa15d8fe010" providerId="ADAL" clId="{B3520F0D-3DEA-4580-B5AC-1B6B5994B701}" dt="2026-08-10T21:23:49.045" v="21" actId="20577"/>
        <pc:sldMkLst>
          <pc:docMk/>
          <pc:sldMk cId="1405466169" sldId="342"/>
        </pc:sldMkLst>
        <pc:spChg chg="mod">
          <ac:chgData name="Villena, Jose" userId="eadb7e09-7b37-48d9-b51e-4fa15d8fe010" providerId="ADAL" clId="{B3520F0D-3DEA-4580-B5AC-1B6B5994B701}" dt="2026-08-10T21:23:49.045" v="21" actId="20577"/>
          <ac:spMkLst>
            <pc:docMk/>
            <pc:sldMk cId="1405466169" sldId="342"/>
            <ac:spMk id="23" creationId="{600B4551-FC33-92AF-516B-EF2992542A76}"/>
          </ac:spMkLst>
        </pc:spChg>
        <pc:spChg chg="mod">
          <ac:chgData name="Villena, Jose" userId="eadb7e09-7b37-48d9-b51e-4fa15d8fe010" providerId="ADAL" clId="{B3520F0D-3DEA-4580-B5AC-1B6B5994B701}" dt="2026-08-10T20:04:24.885" v="2"/>
          <ac:spMkLst>
            <pc:docMk/>
            <pc:sldMk cId="1405466169" sldId="342"/>
            <ac:spMk id="31" creationId="{60998D4B-CCA6-DEF3-DB28-701C4B202869}"/>
          </ac:spMkLst>
        </pc:spChg>
        <pc:spChg chg="mod">
          <ac:chgData name="Villena, Jose" userId="eadb7e09-7b37-48d9-b51e-4fa15d8fe010" providerId="ADAL" clId="{B3520F0D-3DEA-4580-B5AC-1B6B5994B701}" dt="2026-08-10T20:04:24.885" v="2"/>
          <ac:spMkLst>
            <pc:docMk/>
            <pc:sldMk cId="1405466169" sldId="342"/>
            <ac:spMk id="32" creationId="{D4327D75-FF20-9E0A-8F40-75B1A0BBF8A8}"/>
          </ac:spMkLst>
        </pc:spChg>
      </pc:sldChg>
      <pc:sldChg chg="modSp">
        <pc:chgData name="Villena, Jose" userId="eadb7e09-7b37-48d9-b51e-4fa15d8fe010" providerId="ADAL" clId="{B3520F0D-3DEA-4580-B5AC-1B6B5994B701}" dt="2026-08-10T19:37:28.144" v="0" actId="20578"/>
        <pc:sldMkLst>
          <pc:docMk/>
          <pc:sldMk cId="2070700149" sldId="344"/>
        </pc:sldMkLst>
        <pc:spChg chg="mod">
          <ac:chgData name="Villena, Jose" userId="eadb7e09-7b37-48d9-b51e-4fa15d8fe010" providerId="ADAL" clId="{B3520F0D-3DEA-4580-B5AC-1B6B5994B701}" dt="2026-08-10T19:37:28.144" v="0" actId="20578"/>
          <ac:spMkLst>
            <pc:docMk/>
            <pc:sldMk cId="2070700149" sldId="344"/>
            <ac:spMk id="28" creationId="{8C4091A0-991E-151F-D66C-55DC85B64924}"/>
          </ac:spMkLst>
        </pc:spChg>
      </pc:sldChg>
      <pc:sldChg chg="modSp mod">
        <pc:chgData name="Villena, Jose" userId="eadb7e09-7b37-48d9-b51e-4fa15d8fe010" providerId="ADAL" clId="{B3520F0D-3DEA-4580-B5AC-1B6B5994B701}" dt="2026-08-10T21:58:39.566" v="44" actId="14100"/>
        <pc:sldMkLst>
          <pc:docMk/>
          <pc:sldMk cId="3418609548" sldId="350"/>
        </pc:sldMkLst>
        <pc:spChg chg="mod">
          <ac:chgData name="Villena, Jose" userId="eadb7e09-7b37-48d9-b51e-4fa15d8fe010" providerId="ADAL" clId="{B3520F0D-3DEA-4580-B5AC-1B6B5994B701}" dt="2026-08-10T21:48:40.768" v="32" actId="14100"/>
          <ac:spMkLst>
            <pc:docMk/>
            <pc:sldMk cId="3418609548" sldId="350"/>
            <ac:spMk id="13" creationId="{7EB26394-8A71-5FF0-065A-6F56B1515255}"/>
          </ac:spMkLst>
        </pc:spChg>
        <pc:spChg chg="mod">
          <ac:chgData name="Villena, Jose" userId="eadb7e09-7b37-48d9-b51e-4fa15d8fe010" providerId="ADAL" clId="{B3520F0D-3DEA-4580-B5AC-1B6B5994B701}" dt="2026-08-10T21:48:49.498" v="34" actId="14100"/>
          <ac:spMkLst>
            <pc:docMk/>
            <pc:sldMk cId="3418609548" sldId="350"/>
            <ac:spMk id="17" creationId="{56353938-A7BA-BA31-0239-697562BFA681}"/>
          </ac:spMkLst>
        </pc:spChg>
        <pc:spChg chg="mod">
          <ac:chgData name="Villena, Jose" userId="eadb7e09-7b37-48d9-b51e-4fa15d8fe010" providerId="ADAL" clId="{B3520F0D-3DEA-4580-B5AC-1B6B5994B701}" dt="2026-08-10T21:48:46.416" v="33" actId="14100"/>
          <ac:spMkLst>
            <pc:docMk/>
            <pc:sldMk cId="3418609548" sldId="350"/>
            <ac:spMk id="18" creationId="{C55BBDB0-C5C7-5202-7586-7B3DD8829CA2}"/>
          </ac:spMkLst>
        </pc:spChg>
        <pc:spChg chg="mod">
          <ac:chgData name="Villena, Jose" userId="eadb7e09-7b37-48d9-b51e-4fa15d8fe010" providerId="ADAL" clId="{B3520F0D-3DEA-4580-B5AC-1B6B5994B701}" dt="2026-08-10T21:48:52.968" v="35" actId="14100"/>
          <ac:spMkLst>
            <pc:docMk/>
            <pc:sldMk cId="3418609548" sldId="350"/>
            <ac:spMk id="19" creationId="{6019D8E9-0F18-D3B6-9622-76C426D04B06}"/>
          </ac:spMkLst>
        </pc:spChg>
        <pc:spChg chg="mod">
          <ac:chgData name="Villena, Jose" userId="eadb7e09-7b37-48d9-b51e-4fa15d8fe010" providerId="ADAL" clId="{B3520F0D-3DEA-4580-B5AC-1B6B5994B701}" dt="2026-08-10T21:48:55.632" v="36" actId="14100"/>
          <ac:spMkLst>
            <pc:docMk/>
            <pc:sldMk cId="3418609548" sldId="350"/>
            <ac:spMk id="20" creationId="{7D408E33-8A68-4FAA-C7A1-023632F88642}"/>
          </ac:spMkLst>
        </pc:spChg>
        <pc:spChg chg="mod">
          <ac:chgData name="Villena, Jose" userId="eadb7e09-7b37-48d9-b51e-4fa15d8fe010" providerId="ADAL" clId="{B3520F0D-3DEA-4580-B5AC-1B6B5994B701}" dt="2026-08-10T21:58:39.566" v="44" actId="14100"/>
          <ac:spMkLst>
            <pc:docMk/>
            <pc:sldMk cId="3418609548" sldId="350"/>
            <ac:spMk id="21" creationId="{0EDCC90C-A248-9924-D9B3-F624A172A368}"/>
          </ac:spMkLst>
        </pc:spChg>
        <pc:cxnChg chg="mod">
          <ac:chgData name="Villena, Jose" userId="eadb7e09-7b37-48d9-b51e-4fa15d8fe010" providerId="ADAL" clId="{B3520F0D-3DEA-4580-B5AC-1B6B5994B701}" dt="2026-08-10T21:48:40.768" v="32" actId="14100"/>
          <ac:cxnSpMkLst>
            <pc:docMk/>
            <pc:sldMk cId="3418609548" sldId="350"/>
            <ac:cxnSpMk id="24" creationId="{DA1C1240-E836-69AC-F3C6-65E48C774ADB}"/>
          </ac:cxnSpMkLst>
        </pc:cxnChg>
      </pc:sldChg>
      <pc:sldChg chg="modSp mod">
        <pc:chgData name="Villena, Jose" userId="eadb7e09-7b37-48d9-b51e-4fa15d8fe010" providerId="ADAL" clId="{B3520F0D-3DEA-4580-B5AC-1B6B5994B701}" dt="2026-08-10T21:54:45.152" v="42" actId="20577"/>
        <pc:sldMkLst>
          <pc:docMk/>
          <pc:sldMk cId="1454790040" sldId="351"/>
        </pc:sldMkLst>
        <pc:spChg chg="mod">
          <ac:chgData name="Villena, Jose" userId="eadb7e09-7b37-48d9-b51e-4fa15d8fe010" providerId="ADAL" clId="{B3520F0D-3DEA-4580-B5AC-1B6B5994B701}" dt="2026-08-10T21:54:45.152" v="42" actId="20577"/>
          <ac:spMkLst>
            <pc:docMk/>
            <pc:sldMk cId="1454790040" sldId="351"/>
            <ac:spMk id="61" creationId="{3A0A212C-FC36-ABF8-2856-216E815894FD}"/>
          </ac:spMkLst>
        </pc:spChg>
      </pc:sldChg>
      <pc:sldChg chg="modSp mod">
        <pc:chgData name="Villena, Jose" userId="eadb7e09-7b37-48d9-b51e-4fa15d8fe010" providerId="ADAL" clId="{B3520F0D-3DEA-4580-B5AC-1B6B5994B701}" dt="2026-08-10T22:09:55.308" v="75" actId="20577"/>
        <pc:sldMkLst>
          <pc:docMk/>
          <pc:sldMk cId="3218240305" sldId="357"/>
        </pc:sldMkLst>
        <pc:spChg chg="mod">
          <ac:chgData name="Villena, Jose" userId="eadb7e09-7b37-48d9-b51e-4fa15d8fe010" providerId="ADAL" clId="{B3520F0D-3DEA-4580-B5AC-1B6B5994B701}" dt="2026-08-10T22:09:55.308" v="75" actId="20577"/>
          <ac:spMkLst>
            <pc:docMk/>
            <pc:sldMk cId="3218240305" sldId="357"/>
            <ac:spMk id="76" creationId="{9254AB9A-B762-081C-6EE8-E5B0760EB47A}"/>
          </ac:spMkLst>
        </pc:spChg>
      </pc:sldChg>
      <pc:sldChg chg="modSp mod">
        <pc:chgData name="Villena, Jose" userId="eadb7e09-7b37-48d9-b51e-4fa15d8fe010" providerId="ADAL" clId="{B3520F0D-3DEA-4580-B5AC-1B6B5994B701}" dt="2026-08-11T00:26:43.704" v="77" actId="207"/>
        <pc:sldMkLst>
          <pc:docMk/>
          <pc:sldMk cId="1145398900" sldId="391"/>
        </pc:sldMkLst>
        <pc:spChg chg="mod">
          <ac:chgData name="Villena, Jose" userId="eadb7e09-7b37-48d9-b51e-4fa15d8fe010" providerId="ADAL" clId="{B3520F0D-3DEA-4580-B5AC-1B6B5994B701}" dt="2026-08-10T20:04:24.885" v="2"/>
          <ac:spMkLst>
            <pc:docMk/>
            <pc:sldMk cId="1145398900" sldId="391"/>
            <ac:spMk id="21" creationId="{A7A50072-DF4A-9828-9A05-49FE20DD4BB7}"/>
          </ac:spMkLst>
        </pc:spChg>
        <pc:spChg chg="mod">
          <ac:chgData name="Villena, Jose" userId="eadb7e09-7b37-48d9-b51e-4fa15d8fe010" providerId="ADAL" clId="{B3520F0D-3DEA-4580-B5AC-1B6B5994B701}" dt="2026-08-11T00:26:43.704" v="77" actId="207"/>
          <ac:spMkLst>
            <pc:docMk/>
            <pc:sldMk cId="1145398900" sldId="391"/>
            <ac:spMk id="22" creationId="{97E7A4B2-2EEE-0F1D-68E8-073E357E2ED7}"/>
          </ac:spMkLst>
        </pc:spChg>
        <pc:spChg chg="mod">
          <ac:chgData name="Villena, Jose" userId="eadb7e09-7b37-48d9-b51e-4fa15d8fe010" providerId="ADAL" clId="{B3520F0D-3DEA-4580-B5AC-1B6B5994B701}" dt="2026-08-11T00:26:43.704" v="77" actId="207"/>
          <ac:spMkLst>
            <pc:docMk/>
            <pc:sldMk cId="1145398900" sldId="391"/>
            <ac:spMk id="56" creationId="{F217FA65-9FAA-BE63-E4E9-4304E091E5C4}"/>
          </ac:spMkLst>
        </pc:spChg>
      </pc:sldChg>
      <pc:sldChg chg="modSp">
        <pc:chgData name="Villena, Jose" userId="eadb7e09-7b37-48d9-b51e-4fa15d8fe010" providerId="ADAL" clId="{B3520F0D-3DEA-4580-B5AC-1B6B5994B701}" dt="2026-08-10T20:04:24.885" v="2"/>
        <pc:sldMkLst>
          <pc:docMk/>
          <pc:sldMk cId="3515875920" sldId="442"/>
        </pc:sldMkLst>
        <pc:spChg chg="mod">
          <ac:chgData name="Villena, Jose" userId="eadb7e09-7b37-48d9-b51e-4fa15d8fe010" providerId="ADAL" clId="{B3520F0D-3DEA-4580-B5AC-1B6B5994B701}" dt="2026-08-10T20:04:24.885" v="2"/>
          <ac:spMkLst>
            <pc:docMk/>
            <pc:sldMk cId="3515875920" sldId="442"/>
            <ac:spMk id="20" creationId="{80BED310-211F-288E-DD2B-CFC550590C9A}"/>
          </ac:spMkLst>
        </pc:spChg>
      </pc:sldChg>
      <pc:sldChg chg="modSp">
        <pc:chgData name="Villena, Jose" userId="eadb7e09-7b37-48d9-b51e-4fa15d8fe010" providerId="ADAL" clId="{B3520F0D-3DEA-4580-B5AC-1B6B5994B701}" dt="2026-08-10T20:04:24.885" v="2"/>
        <pc:sldMkLst>
          <pc:docMk/>
          <pc:sldMk cId="3350161779" sldId="443"/>
        </pc:sldMkLst>
        <pc:spChg chg="mod">
          <ac:chgData name="Villena, Jose" userId="eadb7e09-7b37-48d9-b51e-4fa15d8fe010" providerId="ADAL" clId="{B3520F0D-3DEA-4580-B5AC-1B6B5994B701}" dt="2026-08-10T20:04:24.885" v="2"/>
          <ac:spMkLst>
            <pc:docMk/>
            <pc:sldMk cId="3350161779" sldId="443"/>
            <ac:spMk id="104" creationId="{00000000-0000-0000-0000-000000000000}"/>
          </ac:spMkLst>
        </pc:spChg>
      </pc:sldChg>
      <pc:sldChg chg="modSp mod">
        <pc:chgData name="Villena, Jose" userId="eadb7e09-7b37-48d9-b51e-4fa15d8fe010" providerId="ADAL" clId="{B3520F0D-3DEA-4580-B5AC-1B6B5994B701}" dt="2026-08-10T21:23:43.774" v="16" actId="313"/>
        <pc:sldMkLst>
          <pc:docMk/>
          <pc:sldMk cId="1145398900" sldId="449"/>
        </pc:sldMkLst>
        <pc:graphicFrameChg chg="modGraphic">
          <ac:chgData name="Villena, Jose" userId="eadb7e09-7b37-48d9-b51e-4fa15d8fe010" providerId="ADAL" clId="{B3520F0D-3DEA-4580-B5AC-1B6B5994B701}" dt="2026-08-10T21:23:43.774" v="16" actId="313"/>
          <ac:graphicFrameMkLst>
            <pc:docMk/>
            <pc:sldMk cId="1145398900" sldId="449"/>
            <ac:graphicFrameMk id="100" creationId="{00000000-0000-0000-0000-000000000000}"/>
          </ac:graphicFrameMkLst>
        </pc:graphicFrameChg>
      </pc:sldChg>
      <pc:sldChg chg="modSp">
        <pc:chgData name="Villena, Jose" userId="eadb7e09-7b37-48d9-b51e-4fa15d8fe010" providerId="ADAL" clId="{B3520F0D-3DEA-4580-B5AC-1B6B5994B701}" dt="2026-08-10T20:04:24.885" v="2"/>
        <pc:sldMkLst>
          <pc:docMk/>
          <pc:sldMk cId="1145398900" sldId="451"/>
        </pc:sldMkLst>
        <pc:graphicFrameChg chg="mod">
          <ac:chgData name="Villena, Jose" userId="eadb7e09-7b37-48d9-b51e-4fa15d8fe010" providerId="ADAL" clId="{B3520F0D-3DEA-4580-B5AC-1B6B5994B701}" dt="2026-08-10T20:04:24.885" v="2"/>
          <ac:graphicFrameMkLst>
            <pc:docMk/>
            <pc:sldMk cId="1145398900" sldId="451"/>
            <ac:graphicFrameMk id="100"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918D30-34D7-4413-8794-9C5B77223CA7}"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0EE857-C304-45B0-8088-656281E00E68}" type="slidenum">
              <a:rPr lang="en-US" smtClean="0"/>
              <a:t>‹#›</a:t>
            </a:fld>
            <a:endParaRPr lang="en-US"/>
          </a:p>
        </p:txBody>
      </p:sp>
    </p:spTree>
    <p:extLst>
      <p:ext uri="{BB962C8B-B14F-4D97-AF65-F5344CB8AC3E}">
        <p14:creationId xmlns:p14="http://schemas.microsoft.com/office/powerpoint/2010/main" val="39020848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72C5D8-91B8-40D4-9C9A-31EB0EF735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550654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72C5D8-91B8-40D4-9C9A-31EB0EF735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7783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0EE857-C304-45B0-8088-656281E00E68}" type="slidenum">
              <a:rPr lang="en-US" smtClean="0"/>
              <a:t>26</a:t>
            </a:fld>
            <a:endParaRPr lang="en-US"/>
          </a:p>
        </p:txBody>
      </p:sp>
    </p:spTree>
    <p:extLst>
      <p:ext uri="{BB962C8B-B14F-4D97-AF65-F5344CB8AC3E}">
        <p14:creationId xmlns:p14="http://schemas.microsoft.com/office/powerpoint/2010/main" val="22703382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15_Title: Black7 Acquisition+Image">
    <p:bg>
      <p:bgPr>
        <a:solidFill>
          <a:schemeClr val="accent3"/>
        </a:solidFill>
        <a:effectLst/>
      </p:bgPr>
    </p:bg>
    <p:spTree>
      <p:nvGrpSpPr>
        <p:cNvPr id="1" name=""/>
        <p:cNvGrpSpPr/>
        <p:nvPr/>
      </p:nvGrpSpPr>
      <p:grpSpPr>
        <a:xfrm>
          <a:off x="0" y="0"/>
          <a:ext cx="0" cy="0"/>
          <a:chOff x="0" y="0"/>
          <a:chExt cx="0" cy="0"/>
        </a:xfrm>
      </p:grpSpPr>
      <p:pic>
        <p:nvPicPr>
          <p:cNvPr id="6" name="Picture 5" descr="A train going through a tunnel&#10;&#10;Description automatically generated">
            <a:extLst>
              <a:ext uri="{FF2B5EF4-FFF2-40B4-BE49-F238E27FC236}">
                <a16:creationId xmlns:a16="http://schemas.microsoft.com/office/drawing/2014/main" id="{85C5FF8B-95C7-C551-B1CB-374F0F58FEC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7868" b="7868"/>
          <a:stretch/>
        </p:blipFill>
        <p:spPr>
          <a:xfrm>
            <a:off x="-7984" y="0"/>
            <a:ext cx="12207968" cy="6858000"/>
          </a:xfrm>
          <a:prstGeom prst="rect">
            <a:avLst/>
          </a:prstGeom>
        </p:spPr>
      </p:pic>
      <p:pic>
        <p:nvPicPr>
          <p:cNvPr id="3" name="Picture 2">
            <a:extLst>
              <a:ext uri="{FF2B5EF4-FFF2-40B4-BE49-F238E27FC236}">
                <a16:creationId xmlns:a16="http://schemas.microsoft.com/office/drawing/2014/main" id="{3619E561-A29C-8FA0-CBD7-3A266E6204AA}"/>
              </a:ext>
            </a:extLst>
          </p:cNvPr>
          <p:cNvPicPr>
            <a:picLocks noChangeAspect="1"/>
          </p:cNvPicPr>
          <p:nvPr userDrawn="1"/>
        </p:nvPicPr>
        <p:blipFill>
          <a:blip r:embed="rId3">
            <a:alphaModFix amt="52000"/>
            <a:extLst>
              <a:ext uri="{28A0092B-C50C-407E-A947-70E740481C1C}">
                <a14:useLocalDpi xmlns:a14="http://schemas.microsoft.com/office/drawing/2010/main" val="0"/>
              </a:ext>
            </a:extLst>
          </a:blip>
          <a:stretch/>
        </p:blipFill>
        <p:spPr>
          <a:xfrm>
            <a:off x="0" y="-823"/>
            <a:ext cx="12188952" cy="6858000"/>
          </a:xfrm>
          <a:prstGeom prst="rect">
            <a:avLst/>
          </a:prstGeom>
        </p:spPr>
      </p:pic>
      <p:sp>
        <p:nvSpPr>
          <p:cNvPr id="4" name="Rectangle 3">
            <a:extLst>
              <a:ext uri="{FF2B5EF4-FFF2-40B4-BE49-F238E27FC236}">
                <a16:creationId xmlns:a16="http://schemas.microsoft.com/office/drawing/2014/main" id="{5EDA6F70-65FF-FCD8-1B47-38ADD6F6B5FE}"/>
              </a:ext>
            </a:extLst>
          </p:cNvPr>
          <p:cNvSpPr/>
          <p:nvPr userDrawn="1"/>
        </p:nvSpPr>
        <p:spPr>
          <a:xfrm>
            <a:off x="0" y="0"/>
            <a:ext cx="6096000" cy="6858000"/>
          </a:xfrm>
          <a:prstGeom prst="rect">
            <a:avLst/>
          </a:prstGeom>
          <a:gradFill>
            <a:gsLst>
              <a:gs pos="0">
                <a:schemeClr val="bg1"/>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IN" err="1"/>
          </a:p>
        </p:txBody>
      </p:sp>
      <p:sp>
        <p:nvSpPr>
          <p:cNvPr id="7" name="Title 1">
            <a:extLst>
              <a:ext uri="{FF2B5EF4-FFF2-40B4-BE49-F238E27FC236}">
                <a16:creationId xmlns:a16="http://schemas.microsoft.com/office/drawing/2014/main" id="{37524701-2790-4705-8FD4-F1B02CBB78FC}"/>
              </a:ext>
            </a:extLst>
          </p:cNvPr>
          <p:cNvSpPr>
            <a:spLocks noGrp="1"/>
          </p:cNvSpPr>
          <p:nvPr>
            <p:ph type="ctrTitle" hasCustomPrompt="1"/>
          </p:nvPr>
        </p:nvSpPr>
        <p:spPr bwMode="black">
          <a:xfrm>
            <a:off x="1090024" y="2737373"/>
            <a:ext cx="10027921" cy="1459477"/>
          </a:xfrm>
        </p:spPr>
        <p:txBody>
          <a:bodyPr anchor="b"/>
          <a:lstStyle>
            <a:lvl1pPr algn="l">
              <a:lnSpc>
                <a:spcPct val="90000"/>
              </a:lnSpc>
              <a:defRPr sz="4800" b="1">
                <a:solidFill>
                  <a:schemeClr val="tx1"/>
                </a:solidFill>
                <a:latin typeface="Graphik (Body)"/>
              </a:defRPr>
            </a:lvl1pPr>
          </a:lstStyle>
          <a:p>
            <a:r>
              <a:rPr lang="en-US"/>
              <a:t>Place title</a:t>
            </a:r>
            <a:br>
              <a:rPr lang="en-US"/>
            </a:br>
            <a:r>
              <a:rPr lang="en-US"/>
              <a:t>here</a:t>
            </a:r>
          </a:p>
        </p:txBody>
      </p:sp>
      <p:sp>
        <p:nvSpPr>
          <p:cNvPr id="8" name="Subtitle 2">
            <a:extLst>
              <a:ext uri="{FF2B5EF4-FFF2-40B4-BE49-F238E27FC236}">
                <a16:creationId xmlns:a16="http://schemas.microsoft.com/office/drawing/2014/main" id="{E2B04ECA-6F5D-4ABE-B739-A5A491724792}"/>
              </a:ext>
            </a:extLst>
          </p:cNvPr>
          <p:cNvSpPr>
            <a:spLocks noGrp="1"/>
          </p:cNvSpPr>
          <p:nvPr>
            <p:ph type="subTitle" idx="1" hasCustomPrompt="1"/>
          </p:nvPr>
        </p:nvSpPr>
        <p:spPr bwMode="black">
          <a:xfrm>
            <a:off x="1090024" y="4355303"/>
            <a:ext cx="10027921" cy="481496"/>
          </a:xfrm>
        </p:spPr>
        <p:txBody>
          <a:bodyPr/>
          <a:lstStyle>
            <a:lvl1pPr marL="0" indent="0" algn="l">
              <a:lnSpc>
                <a:spcPct val="90000"/>
              </a:lnSpc>
              <a:spcAft>
                <a:spcPts val="1200"/>
              </a:spcAft>
              <a:buNone/>
              <a:defRPr sz="2000" b="0" i="0" spc="0">
                <a:solidFill>
                  <a:schemeClr val="tx1"/>
                </a:solidFill>
                <a:latin typeface="Graphik" panose="020B050303020206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20pt</a:t>
            </a:r>
            <a:endParaRPr lang="en-US"/>
          </a:p>
        </p:txBody>
      </p:sp>
      <p:sp>
        <p:nvSpPr>
          <p:cNvPr id="14" name="GTS_WH">
            <a:extLst>
              <a:ext uri="{FF2B5EF4-FFF2-40B4-BE49-F238E27FC236}">
                <a16:creationId xmlns:a16="http://schemas.microsoft.com/office/drawing/2014/main" id="{A319DDD6-88DD-4991-B24D-5A7AEE42F80E}"/>
              </a:ext>
              <a:ext uri="{C183D7F6-B498-43B3-948B-1728B52AA6E4}">
                <adec:decorative xmlns:adec="http://schemas.microsoft.com/office/drawing/2017/decorative" val="1"/>
              </a:ext>
            </a:extLst>
          </p:cNvPr>
          <p:cNvSpPr>
            <a:spLocks noChangeAspect="1"/>
          </p:cNvSpPr>
          <p:nvPr userDrawn="1"/>
        </p:nvSpPr>
        <p:spPr bwMode="auto">
          <a:xfrm>
            <a:off x="1090024" y="416469"/>
            <a:ext cx="546149" cy="599405"/>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23" name="Graphic 21">
            <a:extLst>
              <a:ext uri="{FF2B5EF4-FFF2-40B4-BE49-F238E27FC236}">
                <a16:creationId xmlns:a16="http://schemas.microsoft.com/office/drawing/2014/main" id="{8205AA92-7D23-457D-A2A1-B60A48C67F49}"/>
              </a:ext>
            </a:extLst>
          </p:cNvPr>
          <p:cNvSpPr/>
          <p:nvPr/>
        </p:nvSpPr>
        <p:spPr>
          <a:xfrm rot="5400000">
            <a:off x="384632" y="5388754"/>
            <a:ext cx="917291" cy="917291"/>
          </a:xfrm>
          <a:custGeom>
            <a:avLst/>
            <a:gdLst>
              <a:gd name="connsiteX0" fmla="*/ 2324100 w 2324100"/>
              <a:gd name="connsiteY0" fmla="*/ 0 h 2324100"/>
              <a:gd name="connsiteX1" fmla="*/ 2324100 w 2324100"/>
              <a:gd name="connsiteY1" fmla="*/ 2324100 h 2324100"/>
              <a:gd name="connsiteX2" fmla="*/ 0 w 2324100"/>
              <a:gd name="connsiteY2" fmla="*/ 2324100 h 2324100"/>
            </a:gdLst>
            <a:ahLst/>
            <a:cxnLst>
              <a:cxn ang="0">
                <a:pos x="connsiteX0" y="connsiteY0"/>
              </a:cxn>
              <a:cxn ang="0">
                <a:pos x="connsiteX1" y="connsiteY1"/>
              </a:cxn>
              <a:cxn ang="0">
                <a:pos x="connsiteX2" y="connsiteY2"/>
              </a:cxn>
            </a:cxnLst>
            <a:rect l="l" t="t" r="r" b="b"/>
            <a:pathLst>
              <a:path w="2324100" h="2324100">
                <a:moveTo>
                  <a:pt x="2324100" y="0"/>
                </a:moveTo>
                <a:lnTo>
                  <a:pt x="2324100" y="2324100"/>
                </a:lnTo>
                <a:lnTo>
                  <a:pt x="0" y="2324100"/>
                </a:lnTo>
              </a:path>
            </a:pathLst>
          </a:custGeom>
          <a:noFill/>
          <a:ln w="19050" cap="flat">
            <a:solidFill>
              <a:schemeClr val="tx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24" name="Graphic 21">
            <a:extLst>
              <a:ext uri="{FF2B5EF4-FFF2-40B4-BE49-F238E27FC236}">
                <a16:creationId xmlns:a16="http://schemas.microsoft.com/office/drawing/2014/main" id="{B85AA6E9-E996-4D63-B7FB-443282A480B4}"/>
              </a:ext>
            </a:extLst>
          </p:cNvPr>
          <p:cNvSpPr/>
          <p:nvPr userDrawn="1"/>
        </p:nvSpPr>
        <p:spPr>
          <a:xfrm rot="16200000">
            <a:off x="10555705" y="380999"/>
            <a:ext cx="1255295" cy="1255295"/>
          </a:xfrm>
          <a:custGeom>
            <a:avLst/>
            <a:gdLst>
              <a:gd name="connsiteX0" fmla="*/ 2324100 w 2324100"/>
              <a:gd name="connsiteY0" fmla="*/ 0 h 2324100"/>
              <a:gd name="connsiteX1" fmla="*/ 2324100 w 2324100"/>
              <a:gd name="connsiteY1" fmla="*/ 2324100 h 2324100"/>
              <a:gd name="connsiteX2" fmla="*/ 0 w 2324100"/>
              <a:gd name="connsiteY2" fmla="*/ 2324100 h 2324100"/>
            </a:gdLst>
            <a:ahLst/>
            <a:cxnLst>
              <a:cxn ang="0">
                <a:pos x="connsiteX0" y="connsiteY0"/>
              </a:cxn>
              <a:cxn ang="0">
                <a:pos x="connsiteX1" y="connsiteY1"/>
              </a:cxn>
              <a:cxn ang="0">
                <a:pos x="connsiteX2" y="connsiteY2"/>
              </a:cxn>
            </a:cxnLst>
            <a:rect l="l" t="t" r="r" b="b"/>
            <a:pathLst>
              <a:path w="2324100" h="2324100">
                <a:moveTo>
                  <a:pt x="2324100" y="0"/>
                </a:moveTo>
                <a:lnTo>
                  <a:pt x="2324100" y="2324100"/>
                </a:lnTo>
                <a:lnTo>
                  <a:pt x="0" y="2324100"/>
                </a:lnTo>
              </a:path>
            </a:pathLst>
          </a:custGeom>
          <a:noFill/>
          <a:ln w="19050" cap="flat">
            <a:solidFill>
              <a:schemeClr val="tx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Tree>
    <p:extLst>
      <p:ext uri="{BB962C8B-B14F-4D97-AF65-F5344CB8AC3E}">
        <p14:creationId xmlns:p14="http://schemas.microsoft.com/office/powerpoint/2010/main" val="145171798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Side stripe blank">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119FEF2-BA68-89B0-0974-A87A45F4685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51" t="10096" r="38466" b="29520"/>
          <a:stretch/>
        </p:blipFill>
        <p:spPr bwMode="invGray">
          <a:xfrm>
            <a:off x="0" y="0"/>
            <a:ext cx="12188952" cy="6858000"/>
          </a:xfrm>
          <a:prstGeom prst="rect">
            <a:avLst/>
          </a:prstGeom>
        </p:spPr>
      </p:pic>
      <p:sp>
        <p:nvSpPr>
          <p:cNvPr id="5" name="Rectangle 4">
            <a:extLst>
              <a:ext uri="{FF2B5EF4-FFF2-40B4-BE49-F238E27FC236}">
                <a16:creationId xmlns:a16="http://schemas.microsoft.com/office/drawing/2014/main" id="{1377DAFA-3362-4425-8CD2-4290DB9845EC}"/>
              </a:ext>
            </a:extLst>
          </p:cNvPr>
          <p:cNvSpPr/>
          <p:nvPr userDrawn="1"/>
        </p:nvSpPr>
        <p:spPr>
          <a:xfrm>
            <a:off x="111967" y="0"/>
            <a:ext cx="1208003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6" name="Accenture GTS">
            <a:extLst>
              <a:ext uri="{FF2B5EF4-FFF2-40B4-BE49-F238E27FC236}">
                <a16:creationId xmlns:a16="http://schemas.microsoft.com/office/drawing/2014/main" id="{B4910298-83CA-2AFB-7BE4-D7DCA8F9B16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1000" y="6474701"/>
            <a:ext cx="190800" cy="209415"/>
          </a:xfrm>
          <a:prstGeom prst="rect">
            <a:avLst/>
          </a:prstGeom>
        </p:spPr>
      </p:pic>
      <p:sp>
        <p:nvSpPr>
          <p:cNvPr id="3" name="Footer Placeholder 4">
            <a:extLst>
              <a:ext uri="{FF2B5EF4-FFF2-40B4-BE49-F238E27FC236}">
                <a16:creationId xmlns:a16="http://schemas.microsoft.com/office/drawing/2014/main" id="{BE33DF40-0BA4-F87D-AF22-972ED99888C2}"/>
              </a:ext>
            </a:extLst>
          </p:cNvPr>
          <p:cNvSpPr>
            <a:spLocks noGrp="1"/>
          </p:cNvSpPr>
          <p:nvPr>
            <p:ph type="ftr" sz="quarter" idx="3"/>
          </p:nvPr>
        </p:nvSpPr>
        <p:spPr>
          <a:xfrm>
            <a:off x="8684895" y="6622818"/>
            <a:ext cx="3175200" cy="132523"/>
          </a:xfrm>
          <a:prstGeom prst="rect">
            <a:avLst/>
          </a:prstGeom>
        </p:spPr>
        <p:txBody>
          <a:bodyPr vert="horz" wrap="none" lIns="0" tIns="0" rIns="0" bIns="0" rtlCol="0" anchor="ctr">
            <a:noAutofit/>
          </a:bodyPr>
          <a:lstStyle>
            <a:lvl1pPr algn="r">
              <a:defRPr sz="800">
                <a:solidFill>
                  <a:schemeClr val="tx1">
                    <a:alpha val="65000"/>
                  </a:schemeClr>
                </a:solidFill>
              </a:defRPr>
            </a:lvl1pPr>
          </a:lstStyle>
          <a:p>
            <a:r>
              <a:rPr lang="en-US"/>
              <a:t>Copyright © 2025 Accenture. All rights reserved.</a:t>
            </a:r>
          </a:p>
        </p:txBody>
      </p:sp>
    </p:spTree>
    <p:extLst>
      <p:ext uri="{BB962C8B-B14F-4D97-AF65-F5344CB8AC3E}">
        <p14:creationId xmlns:p14="http://schemas.microsoft.com/office/powerpoint/2010/main" val="10716886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722738-7C96-E8CF-04DC-3D2F9296DDD7}"/>
              </a:ext>
            </a:extLst>
          </p:cNvPr>
          <p:cNvSpPr txBox="1"/>
          <p:nvPr userDrawn="1"/>
        </p:nvSpPr>
        <p:spPr>
          <a:xfrm>
            <a:off x="7986335" y="6657117"/>
            <a:ext cx="3855145" cy="140115"/>
          </a:xfrm>
          <a:prstGeom prst="rect">
            <a:avLst/>
          </a:prstGeom>
          <a:noFill/>
        </p:spPr>
        <p:txBody>
          <a:bodyPr wrap="square" lIns="0" tIns="0" rIns="0" bIns="0" rtlCol="0">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b="0" i="0">
                <a:solidFill>
                  <a:schemeClr val="tx1">
                    <a:alpha val="50000"/>
                  </a:schemeClr>
                </a:solidFill>
                <a:latin typeface="Graphik" panose="020B0503030202060203" pitchFamily="34" charset="77"/>
              </a:rPr>
              <a:t>Copyright © 2025 Accenture. All rights reserved. For internal use only</a:t>
            </a:r>
            <a:endParaRPr lang="en-US" sz="800" b="0" i="0">
              <a:solidFill>
                <a:schemeClr val="tx1">
                  <a:alpha val="50000"/>
                </a:schemeClr>
              </a:solidFill>
              <a:latin typeface="Graphik" panose="020B0503030202060203" pitchFamily="34" charset="77"/>
            </a:endParaRPr>
          </a:p>
          <a:p>
            <a:pPr algn="r" defTabSz="228600">
              <a:spcAft>
                <a:spcPts val="1200"/>
              </a:spcAft>
            </a:pPr>
            <a:endParaRPr lang="en-US" b="0" i="0" noProof="0">
              <a:solidFill>
                <a:schemeClr val="tx1">
                  <a:alpha val="50000"/>
                </a:schemeClr>
              </a:solidFill>
              <a:latin typeface="Graphik" panose="020B0503030202060203" pitchFamily="34" charset="77"/>
            </a:endParaRPr>
          </a:p>
        </p:txBody>
      </p:sp>
    </p:spTree>
    <p:extLst>
      <p:ext uri="{BB962C8B-B14F-4D97-AF65-F5344CB8AC3E}">
        <p14:creationId xmlns:p14="http://schemas.microsoft.com/office/powerpoint/2010/main" val="533618743"/>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dt="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C35EA4"/>
          </p15:clr>
        </p15:guide>
        <p15:guide id="2" orient="horz" pos="3976">
          <p15:clr>
            <a:srgbClr val="C35EA4"/>
          </p15:clr>
        </p15:guide>
        <p15:guide id="3" pos="240">
          <p15:clr>
            <a:srgbClr val="C35EA4"/>
          </p15:clr>
        </p15:guide>
        <p15:guide id="4" pos="7440">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svg"/></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1.svg"/><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 Target="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19.png"/><Relationship Id="rId4" Type="http://schemas.openxmlformats.org/officeDocument/2006/relationships/image" Target="../media/image33.png"/></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A4AD4-2923-9EA3-0435-14BBF92E40A4}"/>
            </a:ext>
          </a:extLst>
        </p:cNvPr>
        <p:cNvGrpSpPr/>
        <p:nvPr/>
      </p:nvGrpSpPr>
      <p:grpSpPr>
        <a:xfrm>
          <a:off x="0" y="0"/>
          <a:ext cx="0" cy="0"/>
          <a:chOff x="0" y="0"/>
          <a:chExt cx="0" cy="0"/>
        </a:xfrm>
      </p:grpSpPr>
      <p:pic>
        <p:nvPicPr>
          <p:cNvPr id="16" name="Picture Placeholder 15">
            <a:extLst>
              <a:ext uri="{FF2B5EF4-FFF2-40B4-BE49-F238E27FC236}">
                <a16:creationId xmlns:a16="http://schemas.microsoft.com/office/drawing/2014/main" id="{4303AB5D-6534-ECB0-CC9F-E90553B7EF8B}"/>
              </a:ext>
            </a:extLst>
          </p:cNvPr>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rcRect l="20062" r="20062"/>
          <a:stretch/>
        </p:blipFill>
        <p:spPr>
          <a:xfrm>
            <a:off x="6096000" y="0"/>
            <a:ext cx="6096000" cy="6858000"/>
          </a:xfrm>
          <a:prstGeom prst="rect">
            <a:avLst/>
          </a:prstGeom>
        </p:spPr>
      </p:pic>
      <p:sp>
        <p:nvSpPr>
          <p:cNvPr id="17" name="TextBox 16">
            <a:extLst>
              <a:ext uri="{FF2B5EF4-FFF2-40B4-BE49-F238E27FC236}">
                <a16:creationId xmlns:a16="http://schemas.microsoft.com/office/drawing/2014/main" id="{9C677428-B5B0-0397-7930-65E5ED504101}"/>
              </a:ext>
            </a:extLst>
          </p:cNvPr>
          <p:cNvSpPr txBox="1"/>
          <p:nvPr/>
        </p:nvSpPr>
        <p:spPr>
          <a:xfrm>
            <a:off x="7054753" y="6447723"/>
            <a:ext cx="4551903"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Copyright © 2025 Accenture. All rights reserved.</a:t>
            </a:r>
          </a:p>
        </p:txBody>
      </p:sp>
      <p:sp>
        <p:nvSpPr>
          <p:cNvPr id="18" name="TextBox 17">
            <a:extLst>
              <a:ext uri="{FF2B5EF4-FFF2-40B4-BE49-F238E27FC236}">
                <a16:creationId xmlns:a16="http://schemas.microsoft.com/office/drawing/2014/main" id="{C6D7642A-C595-A717-05EE-87D17B840778}"/>
              </a:ext>
            </a:extLst>
          </p:cNvPr>
          <p:cNvSpPr txBox="1"/>
          <p:nvPr/>
        </p:nvSpPr>
        <p:spPr>
          <a:xfrm>
            <a:off x="11621120" y="6459129"/>
            <a:ext cx="505097" cy="2000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90F471-3972-4120-B8B3-0237DE626C35}" type="slidenum">
              <a:rPr kumimoji="0" lang="en-US" sz="700" b="0" i="0" u="none" strike="noStrike" kern="1200" cap="none" spc="0" normalizeH="0" baseline="0" noProof="0" smtClean="0">
                <a:ln>
                  <a:noFill/>
                </a:ln>
                <a:solidFill>
                  <a:srgbClr val="000000"/>
                </a:solidFill>
                <a:effectLst/>
                <a:uLnTx/>
                <a:uFillTx/>
                <a:latin typeface="Graphik Light" panose="020B0403030202060203"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7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14" name="Text Placeholder 8">
            <a:extLst>
              <a:ext uri="{FF2B5EF4-FFF2-40B4-BE49-F238E27FC236}">
                <a16:creationId xmlns:a16="http://schemas.microsoft.com/office/drawing/2014/main" id="{1B29711C-72F6-1415-6827-3616652CB011}"/>
              </a:ext>
            </a:extLst>
          </p:cNvPr>
          <p:cNvSpPr txBox="1">
            <a:spLocks/>
          </p:cNvSpPr>
          <p:nvPr/>
        </p:nvSpPr>
        <p:spPr>
          <a:xfrm>
            <a:off x="381000" y="2199546"/>
            <a:ext cx="2641600" cy="772253"/>
          </a:xfrm>
          <a:prstGeom prst="rect">
            <a:avLst/>
          </a:prstGeom>
        </p:spPr>
        <p:txBody>
          <a:bodyPr vert="horz" lIns="0" tIns="0" rIns="0" bIns="0" rtlCol="0">
            <a:noAutofit/>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lang="en-US" sz="7200" b="0" i="0" kern="1200" spc="-150" dirty="0">
                <a:solidFill>
                  <a:schemeClr val="accent2"/>
                </a:solidFill>
                <a:latin typeface="Graphik Light" panose="020B0403030202060203" pitchFamily="34" charset="0"/>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IN" sz="7200" b="0" i="0" u="none" strike="noStrike" kern="1200" cap="none" spc="-150" normalizeH="0" baseline="0" noProof="0">
                <a:ln>
                  <a:noFill/>
                </a:ln>
                <a:solidFill>
                  <a:srgbClr val="7500C0"/>
                </a:solidFill>
                <a:effectLst/>
                <a:uLnTx/>
                <a:uFillTx/>
                <a:latin typeface="Graphik Light" panose="020B0403030202060203" pitchFamily="34" charset="0"/>
                <a:ea typeface="+mn-ea"/>
                <a:cs typeface="+mn-cs"/>
              </a:rPr>
              <a:t>01. </a:t>
            </a:r>
          </a:p>
        </p:txBody>
      </p:sp>
      <p:sp>
        <p:nvSpPr>
          <p:cNvPr id="15" name="Title 7">
            <a:extLst>
              <a:ext uri="{FF2B5EF4-FFF2-40B4-BE49-F238E27FC236}">
                <a16:creationId xmlns:a16="http://schemas.microsoft.com/office/drawing/2014/main" id="{2F77F5EF-E020-7D3E-769E-8FEBB8C9EF97}"/>
              </a:ext>
            </a:extLst>
          </p:cNvPr>
          <p:cNvSpPr txBox="1">
            <a:spLocks/>
          </p:cNvSpPr>
          <p:nvPr/>
        </p:nvSpPr>
        <p:spPr>
          <a:xfrm>
            <a:off x="380999" y="3201006"/>
            <a:ext cx="5597013" cy="582441"/>
          </a:xfrm>
          <a:prstGeom prst="rect">
            <a:avLst/>
          </a:prstGeom>
        </p:spPr>
        <p:txBody>
          <a:bodyPr vert="horz" lIns="0" tIns="61200" rIns="0" bIns="0" rtlCol="0" anchor="t">
            <a:noAutofit/>
          </a:bodyPr>
          <a:lstStyle>
            <a:lvl1pPr algn="l" defTabSz="914400" rtl="0" eaLnBrk="1" latinLnBrk="0" hangingPunct="1">
              <a:lnSpc>
                <a:spcPct val="80000"/>
              </a:lnSpc>
              <a:spcBef>
                <a:spcPct val="0"/>
              </a:spcBef>
              <a:buNone/>
              <a:defRPr sz="3200" b="0" kern="1200">
                <a:solidFill>
                  <a:schemeClr val="bg1"/>
                </a:solidFill>
                <a:latin typeface="Graphik Medium" panose="020B0603030202060203"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Graphik Medium" panose="020B0603030202060203" pitchFamily="34" charset="0"/>
                <a:ea typeface="+mj-ea"/>
                <a:cs typeface="+mj-cs"/>
              </a:rPr>
              <a:t>Foundational Concepts</a:t>
            </a:r>
            <a:endParaRPr kumimoji="0" lang="en-IN" sz="3200" b="0" i="0" u="none" strike="noStrike" kern="1200" cap="none" spc="0" normalizeH="0" baseline="0" noProof="0" dirty="0">
              <a:ln>
                <a:noFill/>
              </a:ln>
              <a:solidFill>
                <a:srgbClr val="000000"/>
              </a:solidFill>
              <a:effectLst/>
              <a:uLnTx/>
              <a:uFillTx/>
              <a:latin typeface="Graphik Medium" panose="020B0603030202060203" pitchFamily="34" charset="0"/>
              <a:ea typeface="+mj-ea"/>
              <a:cs typeface="+mj-cs"/>
            </a:endParaRPr>
          </a:p>
        </p:txBody>
      </p:sp>
      <p:sp>
        <p:nvSpPr>
          <p:cNvPr id="2" name="TextBox 1">
            <a:extLst>
              <a:ext uri="{FF2B5EF4-FFF2-40B4-BE49-F238E27FC236}">
                <a16:creationId xmlns:a16="http://schemas.microsoft.com/office/drawing/2014/main" id="{21A2D352-4764-FF7C-34BB-5B3FAF493F57}"/>
              </a:ext>
            </a:extLst>
          </p:cNvPr>
          <p:cNvSpPr txBox="1"/>
          <p:nvPr/>
        </p:nvSpPr>
        <p:spPr>
          <a:xfrm>
            <a:off x="5553075" y="2971800"/>
            <a:ext cx="914400" cy="914400"/>
          </a:xfrm>
          <a:prstGeom prst="rect">
            <a:avLst/>
          </a:prstGeom>
          <a:noFill/>
        </p:spPr>
        <p:txBody>
          <a:bodyPr wrap="square" lIns="0" tIns="0" rIns="0" bIns="0" rtlCol="0">
            <a:noAutofit/>
          </a:bodyPr>
          <a:lstStyle/>
          <a:p>
            <a:pPr algn="l" defTabSz="228600">
              <a:spcAft>
                <a:spcPts val="1200"/>
              </a:spcAft>
            </a:pPr>
            <a:endParaRPr lang="en-US" noProof="0" dirty="0"/>
          </a:p>
        </p:txBody>
      </p:sp>
    </p:spTree>
    <p:extLst>
      <p:ext uri="{BB962C8B-B14F-4D97-AF65-F5344CB8AC3E}">
        <p14:creationId xmlns:p14="http://schemas.microsoft.com/office/powerpoint/2010/main" val="3164924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65693-B91D-033D-FD45-70EEBFB73068}"/>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BAAB644B-FD1D-4C17-A370-FE8C50F04DD2}"/>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All rights reserved.</a:t>
            </a:r>
          </a:p>
        </p:txBody>
      </p:sp>
      <p:sp>
        <p:nvSpPr>
          <p:cNvPr id="55" name="Subtitle 2">
            <a:extLst>
              <a:ext uri="{FF2B5EF4-FFF2-40B4-BE49-F238E27FC236}">
                <a16:creationId xmlns:a16="http://schemas.microsoft.com/office/drawing/2014/main" id="{071E4A91-1428-1069-0214-C97E410DCD3B}"/>
              </a:ext>
            </a:extLst>
          </p:cNvPr>
          <p:cNvSpPr txBox="1">
            <a:spLocks/>
          </p:cNvSpPr>
          <p:nvPr/>
        </p:nvSpPr>
        <p:spPr>
          <a:xfrm>
            <a:off x="5631501" y="1637499"/>
            <a:ext cx="5264428" cy="4357279"/>
          </a:xfrm>
          <a:prstGeom prst="rect">
            <a:avLst/>
          </a:prstGeom>
        </p:spPr>
        <p:txBody>
          <a:bodyPr vert="horz" lIns="0" tIns="0" rIns="0" bIns="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228600" rtl="0" eaLnBrk="1" fontAlgn="auto" latinLnBrk="0" hangingPunct="1">
              <a:lnSpc>
                <a:spcPct val="90000"/>
              </a:lnSpc>
              <a:spcBef>
                <a:spcPts val="600"/>
              </a:spcBef>
              <a:spcAft>
                <a:spcPts val="600"/>
              </a:spcAft>
              <a:buClrTx/>
              <a:buSzTx/>
              <a:buFontTx/>
              <a:buNone/>
              <a:tabLst/>
              <a:defRPr/>
            </a:pPr>
            <a:r>
              <a:rPr kumimoji="0" lang="en-U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Our view of the future banking IT architecture is based on three main components:</a:t>
            </a:r>
            <a:endParaRPr kumimoji="0" lang="en-US" sz="1600" b="0" i="0" u="none" strike="noStrike" kern="1200" cap="none" spc="0" normalizeH="0" baseline="0" noProof="0" dirty="0">
              <a:ln>
                <a:noFill/>
              </a:ln>
              <a:solidFill>
                <a:srgbClr val="000000">
                  <a:lumMod val="85000"/>
                  <a:lumOff val="15000"/>
                </a:srgbClr>
              </a:solidFill>
              <a:effectLst/>
              <a:uLnTx/>
              <a:uFillTx/>
              <a:latin typeface="Graphik"/>
              <a:ea typeface="+mn-ea"/>
              <a:cs typeface="+mn-cs"/>
            </a:endParaRPr>
          </a:p>
          <a:p>
            <a:pPr marL="342900" marR="0" lvl="0" indent="-228600" algn="just" defTabSz="228600" rtl="0" eaLnBrk="1" fontAlgn="auto" latinLnBrk="0" hangingPunct="1">
              <a:lnSpc>
                <a:spcPct val="90000"/>
              </a:lnSpc>
              <a:spcBef>
                <a:spcPts val="600"/>
              </a:spcBef>
              <a:spcAft>
                <a:spcPts val="600"/>
              </a:spcAft>
              <a:buClrTx/>
              <a:buSzTx/>
              <a:buFont typeface="Arial"/>
              <a:buChar char="•"/>
              <a:tabLst/>
              <a:defRPr/>
            </a:pPr>
            <a:r>
              <a:rPr kumimoji="0" lang="en-U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AI</a:t>
            </a:r>
            <a:r>
              <a:rPr kumimoji="0" lang="en-U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based ”</a:t>
            </a:r>
            <a:r>
              <a:rPr kumimoji="0" lang="en-U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Bank of one"</a:t>
            </a:r>
            <a:r>
              <a:rPr kumimoji="0" lang="en-U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a:t>
            </a:r>
            <a:r>
              <a:rPr kumimoji="0" lang="en-U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engine</a:t>
            </a:r>
            <a:r>
              <a:rPr kumimoji="0" lang="en-U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where the best choice of products, services and experiences are created individually to perfectly match client context, using bank's own and market ecosystem capabilities in a </a:t>
            </a:r>
            <a:r>
              <a:rPr kumimoji="0" lang="en-U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proactive</a:t>
            </a:r>
            <a:r>
              <a:rPr kumimoji="0" lang="en-U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way at the </a:t>
            </a:r>
            <a:r>
              <a:rPr kumimoji="0" lang="en-U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point and moment of need</a:t>
            </a:r>
            <a:r>
              <a:rPr kumimoji="0" lang="en-U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through every possible interaction mean. This will require </a:t>
            </a:r>
            <a:r>
              <a:rPr kumimoji="0" lang="en-U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analytic capabilities</a:t>
            </a:r>
            <a:r>
              <a:rPr kumimoji="0" lang="en-U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all across the board and a solid individually oriented data hub.</a:t>
            </a:r>
          </a:p>
          <a:p>
            <a:pPr marL="342900" marR="0" lvl="0" indent="-228600" algn="just" defTabSz="228600" rtl="0" eaLnBrk="1" fontAlgn="auto" latinLnBrk="0" hangingPunct="1">
              <a:lnSpc>
                <a:spcPct val="90000"/>
              </a:lnSpc>
              <a:spcBef>
                <a:spcPts val="600"/>
              </a:spcBef>
              <a:spcAft>
                <a:spcPts val="600"/>
              </a:spcAft>
              <a:buClrTx/>
              <a:buSzTx/>
              <a:buFont typeface="Arial"/>
              <a:buChar char="•"/>
              <a:tabLst/>
              <a:defRPr/>
            </a:pPr>
            <a:endParaRPr kumimoji="0" lang="en-U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endParaRPr>
          </a:p>
          <a:p>
            <a:pPr marL="342900" marR="0" lvl="0" indent="-228600" algn="just" defTabSz="228600" rtl="0" eaLnBrk="1" fontAlgn="auto" latinLnBrk="0" hangingPunct="1">
              <a:lnSpc>
                <a:spcPct val="90000"/>
              </a:lnSpc>
              <a:spcBef>
                <a:spcPts val="600"/>
              </a:spcBef>
              <a:spcAft>
                <a:spcPts val="600"/>
              </a:spcAft>
              <a:buClrTx/>
              <a:buSzTx/>
              <a:buFont typeface="Arial"/>
              <a:buChar char="•"/>
              <a:tabLst/>
              <a:defRPr/>
            </a:pPr>
            <a:r>
              <a:rPr kumimoji="0" lang="en-U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Interoperability</a:t>
            </a:r>
            <a:r>
              <a:rPr kumimoji="0" lang="en-U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abstraction </a:t>
            </a:r>
            <a:r>
              <a:rPr kumimoji="0" lang="en-U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engine </a:t>
            </a:r>
            <a:r>
              <a:rPr kumimoji="0" lang="en-U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that ensures the decoupling, technical integration, orchestration and coexistence of all potential different technologies from different sources, hosting alternatives and communication protocols, in a seamless way. </a:t>
            </a:r>
          </a:p>
          <a:p>
            <a:pPr marL="342900" marR="0" lvl="0" indent="-228600" algn="just" defTabSz="228600" rtl="0" eaLnBrk="1" fontAlgn="auto" latinLnBrk="0" hangingPunct="1">
              <a:lnSpc>
                <a:spcPct val="90000"/>
              </a:lnSpc>
              <a:spcBef>
                <a:spcPts val="600"/>
              </a:spcBef>
              <a:spcAft>
                <a:spcPts val="600"/>
              </a:spcAft>
              <a:buClrTx/>
              <a:buSzTx/>
              <a:buFont typeface="Arial"/>
              <a:buChar char="•"/>
              <a:tabLst/>
              <a:defRPr/>
            </a:pPr>
            <a:endParaRPr kumimoji="0" lang="en-U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endParaRPr>
          </a:p>
          <a:p>
            <a:pPr marL="342900" marR="0" lvl="0" indent="-228600" algn="just" defTabSz="228600" rtl="0" eaLnBrk="1" fontAlgn="auto" latinLnBrk="0" hangingPunct="1">
              <a:lnSpc>
                <a:spcPct val="90000"/>
              </a:lnSpc>
              <a:spcBef>
                <a:spcPts val="600"/>
              </a:spcBef>
              <a:spcAft>
                <a:spcPts val="600"/>
              </a:spcAft>
              <a:buClrTx/>
              <a:buSzTx/>
              <a:buFont typeface="Arial"/>
              <a:buChar char="•"/>
              <a:tabLst/>
              <a:defRPr/>
            </a:pPr>
            <a:r>
              <a:rPr kumimoji="0" lang="en-U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Hybrid-Core</a:t>
            </a:r>
            <a:r>
              <a:rPr kumimoji="0" lang="en-U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applications and processors, legacy and next-gen, on-premise, cloud and SaaS working together under a business fit-for-purpose approach, feeding and being fed from the interoperability layer with the required functional and technical interoperability/coexistence capabilities</a:t>
            </a:r>
          </a:p>
          <a:p>
            <a:pPr marL="342900" marR="0" lvl="0" indent="-228600" algn="just" defTabSz="228600" rtl="0" eaLnBrk="1" fontAlgn="auto" latinLnBrk="0" hangingPunct="1">
              <a:lnSpc>
                <a:spcPct val="90000"/>
              </a:lnSpc>
              <a:spcBef>
                <a:spcPts val="600"/>
              </a:spcBef>
              <a:spcAft>
                <a:spcPts val="600"/>
              </a:spcAft>
              <a:buClrTx/>
              <a:buSzTx/>
              <a:buFont typeface="Arial"/>
              <a:buChar char="•"/>
              <a:tabLst/>
              <a:defRPr/>
            </a:pPr>
            <a:endParaRPr kumimoji="0" lang="en-U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endParaRPr>
          </a:p>
          <a:p>
            <a:pPr marL="342900" marR="0" lvl="0" indent="-228600" algn="just" defTabSz="228600" rtl="0" eaLnBrk="1" fontAlgn="auto" latinLnBrk="0" hangingPunct="1">
              <a:lnSpc>
                <a:spcPct val="90000"/>
              </a:lnSpc>
              <a:spcBef>
                <a:spcPts val="600"/>
              </a:spcBef>
              <a:spcAft>
                <a:spcPts val="600"/>
              </a:spcAft>
              <a:buClrTx/>
              <a:buSzTx/>
              <a:buFont typeface="Arial"/>
              <a:buChar char="•"/>
              <a:tabLst/>
              <a:defRPr/>
            </a:pPr>
            <a:endParaRPr kumimoji="0" lang="en-U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endParaRPr>
          </a:p>
        </p:txBody>
      </p:sp>
      <p:sp>
        <p:nvSpPr>
          <p:cNvPr id="56" name="Oval 55">
            <a:extLst>
              <a:ext uri="{FF2B5EF4-FFF2-40B4-BE49-F238E27FC236}">
                <a16:creationId xmlns:a16="http://schemas.microsoft.com/office/drawing/2014/main" id="{37B38617-C3E6-7B09-53B1-0B1B806B73CA}"/>
              </a:ext>
            </a:extLst>
          </p:cNvPr>
          <p:cNvSpPr/>
          <p:nvPr/>
        </p:nvSpPr>
        <p:spPr>
          <a:xfrm>
            <a:off x="5607921" y="2071533"/>
            <a:ext cx="270328" cy="270329"/>
          </a:xfrm>
          <a:prstGeom prst="ellipse">
            <a:avLst/>
          </a:prstGeom>
          <a:solidFill>
            <a:srgbClr val="A1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Graphik"/>
                <a:ea typeface="+mn-ea"/>
                <a:cs typeface="+mn-cs"/>
              </a:rPr>
              <a:t>1</a:t>
            </a:r>
          </a:p>
        </p:txBody>
      </p:sp>
      <p:sp>
        <p:nvSpPr>
          <p:cNvPr id="57" name="Oval 56">
            <a:extLst>
              <a:ext uri="{FF2B5EF4-FFF2-40B4-BE49-F238E27FC236}">
                <a16:creationId xmlns:a16="http://schemas.microsoft.com/office/drawing/2014/main" id="{A8FA98C8-1DBA-0BB8-5E3B-57C87E287044}"/>
              </a:ext>
            </a:extLst>
          </p:cNvPr>
          <p:cNvSpPr/>
          <p:nvPr/>
        </p:nvSpPr>
        <p:spPr>
          <a:xfrm>
            <a:off x="5646844" y="4999145"/>
            <a:ext cx="270328" cy="270329"/>
          </a:xfrm>
          <a:prstGeom prst="ellipse">
            <a:avLst/>
          </a:prstGeom>
          <a:solidFill>
            <a:srgbClr val="350056"/>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Graphik"/>
                <a:ea typeface="+mn-ea"/>
                <a:cs typeface="+mn-cs"/>
              </a:rPr>
              <a:t>3</a:t>
            </a:r>
          </a:p>
        </p:txBody>
      </p:sp>
      <p:sp>
        <p:nvSpPr>
          <p:cNvPr id="58" name="Oval 57">
            <a:extLst>
              <a:ext uri="{FF2B5EF4-FFF2-40B4-BE49-F238E27FC236}">
                <a16:creationId xmlns:a16="http://schemas.microsoft.com/office/drawing/2014/main" id="{1868E8F0-8CB1-EDAA-A0FD-CA350FC45409}"/>
              </a:ext>
            </a:extLst>
          </p:cNvPr>
          <p:cNvSpPr/>
          <p:nvPr/>
        </p:nvSpPr>
        <p:spPr>
          <a:xfrm>
            <a:off x="5615861" y="3700759"/>
            <a:ext cx="270328" cy="270329"/>
          </a:xfrm>
          <a:prstGeom prst="ellipse">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Graphik"/>
                <a:ea typeface="+mn-ea"/>
                <a:cs typeface="+mn-cs"/>
              </a:rPr>
              <a:t>2</a:t>
            </a:r>
          </a:p>
        </p:txBody>
      </p:sp>
      <p:sp>
        <p:nvSpPr>
          <p:cNvPr id="59" name="Rectangle 58">
            <a:extLst>
              <a:ext uri="{FF2B5EF4-FFF2-40B4-BE49-F238E27FC236}">
                <a16:creationId xmlns:a16="http://schemas.microsoft.com/office/drawing/2014/main" id="{C06CF606-936D-729D-FF0A-9EB99F93684D}"/>
              </a:ext>
            </a:extLst>
          </p:cNvPr>
          <p:cNvSpPr/>
          <p:nvPr/>
        </p:nvSpPr>
        <p:spPr>
          <a:xfrm>
            <a:off x="11384694" y="1871708"/>
            <a:ext cx="144000" cy="36000"/>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err="1">
              <a:ln>
                <a:noFill/>
              </a:ln>
              <a:solidFill>
                <a:srgbClr val="FFFFFF"/>
              </a:solidFill>
              <a:effectLst/>
              <a:uLnTx/>
              <a:uFillTx/>
              <a:latin typeface="Graphik"/>
              <a:ea typeface="+mn-ea"/>
              <a:cs typeface="+mn-cs"/>
            </a:endParaRPr>
          </a:p>
        </p:txBody>
      </p:sp>
      <p:sp>
        <p:nvSpPr>
          <p:cNvPr id="60" name="Right Triangle 59">
            <a:extLst>
              <a:ext uri="{FF2B5EF4-FFF2-40B4-BE49-F238E27FC236}">
                <a16:creationId xmlns:a16="http://schemas.microsoft.com/office/drawing/2014/main" id="{5FCDC153-B7D1-F90C-8CE1-0C2B7BFA7329}"/>
              </a:ext>
            </a:extLst>
          </p:cNvPr>
          <p:cNvSpPr/>
          <p:nvPr/>
        </p:nvSpPr>
        <p:spPr>
          <a:xfrm>
            <a:off x="11252066" y="1838826"/>
            <a:ext cx="428325" cy="3870074"/>
          </a:xfrm>
          <a:prstGeom prst="rtTriangl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err="1">
              <a:ln>
                <a:noFill/>
              </a:ln>
              <a:solidFill>
                <a:srgbClr val="FFFFFF"/>
              </a:solidFill>
              <a:effectLst/>
              <a:uLnTx/>
              <a:uFillTx/>
              <a:latin typeface="Graphik"/>
              <a:ea typeface="+mn-ea"/>
              <a:cs typeface="+mn-cs"/>
            </a:endParaRPr>
          </a:p>
        </p:txBody>
      </p:sp>
      <p:sp>
        <p:nvSpPr>
          <p:cNvPr id="61" name="Cross 60">
            <a:extLst>
              <a:ext uri="{FF2B5EF4-FFF2-40B4-BE49-F238E27FC236}">
                <a16:creationId xmlns:a16="http://schemas.microsoft.com/office/drawing/2014/main" id="{5C5F4DDC-85E8-D5E4-2159-D3A16B1BA075}"/>
              </a:ext>
            </a:extLst>
          </p:cNvPr>
          <p:cNvSpPr/>
          <p:nvPr/>
        </p:nvSpPr>
        <p:spPr>
          <a:xfrm>
            <a:off x="11373492" y="5441023"/>
            <a:ext cx="144000" cy="144000"/>
          </a:xfrm>
          <a:prstGeom prst="plus">
            <a:avLst>
              <a:gd name="adj" fmla="val 3558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err="1">
              <a:ln>
                <a:noFill/>
              </a:ln>
              <a:solidFill>
                <a:srgbClr val="FFFFFF"/>
              </a:solidFill>
              <a:effectLst/>
              <a:uLnTx/>
              <a:uFillTx/>
              <a:latin typeface="Graphik"/>
              <a:ea typeface="+mn-ea"/>
              <a:cs typeface="+mn-cs"/>
            </a:endParaRPr>
          </a:p>
        </p:txBody>
      </p:sp>
      <p:pic>
        <p:nvPicPr>
          <p:cNvPr id="62" name="Picture 61">
            <a:extLst>
              <a:ext uri="{FF2B5EF4-FFF2-40B4-BE49-F238E27FC236}">
                <a16:creationId xmlns:a16="http://schemas.microsoft.com/office/drawing/2014/main" id="{845BB289-8EF8-1E06-A1EE-581429EDA181}"/>
              </a:ext>
            </a:extLst>
          </p:cNvPr>
          <p:cNvPicPr>
            <a:picLocks noChangeAspect="1"/>
          </p:cNvPicPr>
          <p:nvPr/>
        </p:nvPicPr>
        <p:blipFill>
          <a:blip r:embed="rId2"/>
          <a:stretch>
            <a:fillRect/>
          </a:stretch>
        </p:blipFill>
        <p:spPr>
          <a:xfrm>
            <a:off x="605857" y="1457820"/>
            <a:ext cx="4571605" cy="4484763"/>
          </a:xfrm>
          <a:prstGeom prst="rect">
            <a:avLst/>
          </a:prstGeom>
          <a:effectLst>
            <a:outerShdw blurRad="50800" dist="139700" dir="1200000" algn="tl" rotWithShape="0">
              <a:schemeClr val="accent4">
                <a:alpha val="40000"/>
              </a:schemeClr>
            </a:outerShdw>
          </a:effectLst>
        </p:spPr>
      </p:pic>
      <p:sp>
        <p:nvSpPr>
          <p:cNvPr id="63" name="TextBox 62">
            <a:extLst>
              <a:ext uri="{FF2B5EF4-FFF2-40B4-BE49-F238E27FC236}">
                <a16:creationId xmlns:a16="http://schemas.microsoft.com/office/drawing/2014/main" id="{7B1D3CAF-B5F3-BFD1-1036-B8FE8548F7CB}"/>
              </a:ext>
            </a:extLst>
          </p:cNvPr>
          <p:cNvSpPr txBox="1"/>
          <p:nvPr/>
        </p:nvSpPr>
        <p:spPr>
          <a:xfrm>
            <a:off x="2317023" y="6196484"/>
            <a:ext cx="1151165"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lumMod val="85000"/>
                    <a:lumOff val="15000"/>
                  </a:srgbClr>
                </a:solidFill>
                <a:effectLst/>
                <a:uLnTx/>
                <a:uFillTx/>
                <a:latin typeface="Graphik"/>
                <a:ea typeface="+mn-ea"/>
                <a:cs typeface="+mn-cs"/>
              </a:rPr>
              <a:t>Detailed View </a:t>
            </a:r>
            <a:endParaRPr kumimoji="0" lang="en-US" sz="900" b="1" i="0" u="none" strike="noStrike" kern="1200" cap="none" spc="0" normalizeH="0" baseline="0" noProof="0">
              <a:ln>
                <a:noFill/>
              </a:ln>
              <a:solidFill>
                <a:srgbClr val="000000"/>
              </a:solidFill>
              <a:effectLst/>
              <a:uLnTx/>
              <a:uFillTx/>
              <a:latin typeface="Graphik"/>
              <a:ea typeface="+mn-ea"/>
              <a:cs typeface="+mn-cs"/>
            </a:endParaRPr>
          </a:p>
        </p:txBody>
      </p:sp>
      <p:pic>
        <p:nvPicPr>
          <p:cNvPr id="64" name="Picture 63">
            <a:extLst>
              <a:ext uri="{FF2B5EF4-FFF2-40B4-BE49-F238E27FC236}">
                <a16:creationId xmlns:a16="http://schemas.microsoft.com/office/drawing/2014/main" id="{4DCD60B0-6849-559D-65E0-6DF6632053A2}"/>
              </a:ext>
            </a:extLst>
          </p:cNvPr>
          <p:cNvPicPr>
            <a:picLocks noChangeAspect="1"/>
          </p:cNvPicPr>
          <p:nvPr/>
        </p:nvPicPr>
        <p:blipFill>
          <a:blip r:embed="rId3"/>
          <a:stretch>
            <a:fillRect/>
          </a:stretch>
        </p:blipFill>
        <p:spPr>
          <a:xfrm>
            <a:off x="3372201" y="6061568"/>
            <a:ext cx="1115575" cy="627511"/>
          </a:xfrm>
          <a:prstGeom prst="rect">
            <a:avLst/>
          </a:prstGeom>
        </p:spPr>
      </p:pic>
      <p:sp>
        <p:nvSpPr>
          <p:cNvPr id="65" name="Content Placeholder 34">
            <a:extLst>
              <a:ext uri="{FF2B5EF4-FFF2-40B4-BE49-F238E27FC236}">
                <a16:creationId xmlns:a16="http://schemas.microsoft.com/office/drawing/2014/main" id="{2399DF29-4080-133A-5108-59C634AC3991}"/>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Tech. Architecture Modernization</a:t>
            </a:r>
            <a:endParaRPr kumimoji="0" lang="en-US" sz="1600" b="1" i="0" u="none" strike="noStrike" kern="1200" cap="none" spc="0" normalizeH="0" baseline="0" noProof="0" dirty="0">
              <a:ln>
                <a:noFill/>
              </a:ln>
              <a:solidFill>
                <a:srgbClr val="7500C0"/>
              </a:solidFill>
              <a:effectLst/>
              <a:uLnTx/>
              <a:uFillTx/>
              <a:latin typeface="Graphik" panose="020B0503030202060203" pitchFamily="34" charset="0"/>
              <a:ea typeface="+mn-ea"/>
              <a:cs typeface="+mn-cs"/>
            </a:endParaRPr>
          </a:p>
        </p:txBody>
      </p:sp>
      <p:sp>
        <p:nvSpPr>
          <p:cNvPr id="66" name="Title 1">
            <a:extLst>
              <a:ext uri="{FF2B5EF4-FFF2-40B4-BE49-F238E27FC236}">
                <a16:creationId xmlns:a16="http://schemas.microsoft.com/office/drawing/2014/main" id="{C97A567D-A43F-B0E6-BC63-81188CC88EF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Bank of the future </a:t>
            </a:r>
            <a:r>
              <a:rPr kumimoji="0" lang="en-US" sz="2400" b="1" i="0" u="none" strike="noStrike" kern="1200" cap="none" spc="0" normalizeH="0" baseline="0" noProof="0">
                <a:ln>
                  <a:noFill/>
                </a:ln>
                <a:solidFill>
                  <a:srgbClr val="000000"/>
                </a:solidFill>
                <a:effectLst/>
                <a:uLnTx/>
                <a:uFillTx/>
                <a:latin typeface="Graphik"/>
                <a:ea typeface="+mj-ea"/>
                <a:cs typeface="+mj-cs"/>
              </a:rPr>
              <a:t>| Next  gen Banking Architecture</a:t>
            </a:r>
          </a:p>
        </p:txBody>
      </p:sp>
    </p:spTree>
    <p:extLst>
      <p:ext uri="{BB962C8B-B14F-4D97-AF65-F5344CB8AC3E}">
        <p14:creationId xmlns:p14="http://schemas.microsoft.com/office/powerpoint/2010/main" val="1782007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CA83A-8D80-D4C0-4776-9471B6DAF1F6}"/>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7A2C0BA3-0349-76E5-ADF4-1124763AEA4B}"/>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Bank of the future </a:t>
            </a:r>
            <a:r>
              <a:rPr kumimoji="0" lang="en-US" sz="2400" b="1" i="0" u="none" strike="noStrike" kern="1200" cap="none" spc="0" normalizeH="0" baseline="0" noProof="0">
                <a:ln>
                  <a:noFill/>
                </a:ln>
                <a:solidFill>
                  <a:srgbClr val="000000"/>
                </a:solidFill>
                <a:effectLst/>
                <a:uLnTx/>
                <a:uFillTx/>
                <a:latin typeface="Graphik"/>
                <a:ea typeface="+mj-ea"/>
                <a:cs typeface="+mj-cs"/>
              </a:rPr>
              <a:t>| Next gen IT architecture (Detailed)</a:t>
            </a:r>
          </a:p>
          <a:p>
            <a:pPr marL="0" marR="0" lvl="0" indent="0" algn="l" defTabSz="914400" rtl="0" eaLnBrk="1" fontAlgn="auto" latinLnBrk="0" hangingPunct="1">
              <a:lnSpc>
                <a:spcPct val="80000"/>
              </a:lnSpc>
              <a:spcBef>
                <a:spcPct val="0"/>
              </a:spcBef>
              <a:spcAft>
                <a:spcPts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Graphik"/>
              <a:ea typeface="+mj-ea"/>
              <a:cs typeface="+mj-cs"/>
            </a:endParaRPr>
          </a:p>
        </p:txBody>
      </p:sp>
      <p:sp>
        <p:nvSpPr>
          <p:cNvPr id="16" name="Footer Placeholder 2">
            <a:extLst>
              <a:ext uri="{FF2B5EF4-FFF2-40B4-BE49-F238E27FC236}">
                <a16:creationId xmlns:a16="http://schemas.microsoft.com/office/drawing/2014/main" id="{DAA737C7-ADA7-8B2D-61B8-505715BA3E69}"/>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All rights reserved.</a:t>
            </a:r>
          </a:p>
        </p:txBody>
      </p:sp>
      <p:sp>
        <p:nvSpPr>
          <p:cNvPr id="4" name="Text Placeholder 1">
            <a:extLst>
              <a:ext uri="{FF2B5EF4-FFF2-40B4-BE49-F238E27FC236}">
                <a16:creationId xmlns:a16="http://schemas.microsoft.com/office/drawing/2014/main" id="{65915FF7-BC35-90ED-A9A2-AF9E4B3C0F13}"/>
              </a:ext>
            </a:extLst>
          </p:cNvPr>
          <p:cNvSpPr txBox="1">
            <a:spLocks/>
          </p:cNvSpPr>
          <p:nvPr/>
        </p:nvSpPr>
        <p:spPr>
          <a:xfrm>
            <a:off x="304800" y="674264"/>
            <a:ext cx="11430000" cy="288925"/>
          </a:xfrm>
          <a:prstGeom prst="rect">
            <a:avLst/>
          </a:prstGeom>
        </p:spPr>
        <p:txBody>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sz="1800" b="0" kern="1200">
                <a:solidFill>
                  <a:schemeClr val="tx1"/>
                </a:solidFill>
                <a:latin typeface="+mn-lt"/>
                <a:ea typeface="+mn-ea"/>
                <a:cs typeface="+mn-cs"/>
              </a:defRPr>
            </a:lvl1pPr>
            <a:lvl2pPr marL="182563" indent="-182563" algn="l" defTabSz="228600" rtl="0" eaLnBrk="1" latinLnBrk="0" hangingPunct="1">
              <a:lnSpc>
                <a:spcPct val="100000"/>
              </a:lnSpc>
              <a:spcBef>
                <a:spcPts val="0"/>
              </a:spcBef>
              <a:spcAft>
                <a:spcPts val="600"/>
              </a:spcAft>
              <a:buClrTx/>
              <a:buFont typeface="Arial" panose="020B0604020202020204" pitchFamily="34" charset="0"/>
              <a:buChar char="•"/>
              <a:defRPr sz="1800" kern="1200">
                <a:solidFill>
                  <a:schemeClr val="tx1"/>
                </a:solidFill>
                <a:latin typeface="+mn-lt"/>
                <a:ea typeface="+mn-ea"/>
                <a:cs typeface="+mn-cs"/>
              </a:defRPr>
            </a:lvl2pPr>
            <a:lvl3pPr marL="355600" indent="-173038" algn="l" defTabSz="228600" rtl="0" eaLnBrk="1" latinLnBrk="0" hangingPunct="1">
              <a:lnSpc>
                <a:spcPct val="100000"/>
              </a:lnSpc>
              <a:spcBef>
                <a:spcPts val="0"/>
              </a:spcBef>
              <a:spcAft>
                <a:spcPts val="600"/>
              </a:spcAft>
              <a:buFont typeface="System Font"/>
              <a:buChar char="–"/>
              <a:defRPr sz="1800" kern="1200">
                <a:solidFill>
                  <a:schemeClr val="tx1"/>
                </a:solidFill>
                <a:latin typeface="+mn-lt"/>
                <a:ea typeface="+mn-ea"/>
                <a:cs typeface="+mn-cs"/>
              </a:defRPr>
            </a:lvl3pPr>
            <a:lvl4pPr marL="538163" indent="-182563"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4pPr>
            <a:lvl5pPr marL="720725" indent="-182563" algn="l" defTabSz="228600" rtl="0" eaLnBrk="1" latinLnBrk="0" hangingPunct="1">
              <a:lnSpc>
                <a:spcPct val="100000"/>
              </a:lnSpc>
              <a:spcBef>
                <a:spcPts val="0"/>
              </a:spcBef>
              <a:spcAft>
                <a:spcPts val="6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000000"/>
                </a:solidFill>
                <a:effectLst/>
                <a:uLnTx/>
                <a:uFillTx/>
                <a:latin typeface="Graphik"/>
                <a:ea typeface="+mn-ea"/>
                <a:cs typeface="+mn-cs"/>
              </a:rPr>
              <a:t>An evolved ecosystem to boost business streams, provide clients a “Bank of One” experience and services, and ignite employee productivity by leveraging the power of cloud, data and AI technologies</a:t>
            </a:r>
          </a:p>
        </p:txBody>
      </p:sp>
      <p:sp>
        <p:nvSpPr>
          <p:cNvPr id="3" name="TextBox 27">
            <a:extLst>
              <a:ext uri="{FF2B5EF4-FFF2-40B4-BE49-F238E27FC236}">
                <a16:creationId xmlns:a16="http://schemas.microsoft.com/office/drawing/2014/main" id="{5962EBB6-93E3-1205-F6E6-2D472B7CC5FD}"/>
              </a:ext>
            </a:extLst>
          </p:cNvPr>
          <p:cNvSpPr txBox="1"/>
          <p:nvPr/>
        </p:nvSpPr>
        <p:spPr>
          <a:xfrm>
            <a:off x="532748" y="3934042"/>
            <a:ext cx="2409067" cy="1007968"/>
          </a:xfrm>
          <a:prstGeom prst="rect">
            <a:avLst/>
          </a:prstGeom>
          <a:noFill/>
        </p:spPr>
        <p:txBody>
          <a:bodyPr wrap="square" lIns="0" tIns="0" rIns="0" bIns="0" rtlCol="0">
            <a:spAutoFit/>
          </a:bodyPr>
          <a:lstStyle/>
          <a:p>
            <a:pPr marL="0" marR="0" lvl="0" indent="0" algn="l" defTabSz="913309" rtl="0" eaLnBrk="1" fontAlgn="auto" latinLnBrk="0" hangingPunct="1">
              <a:lnSpc>
                <a:spcPct val="100000"/>
              </a:lnSpc>
              <a:spcBef>
                <a:spcPts val="600"/>
              </a:spcBef>
              <a:spcAft>
                <a:spcPts val="0"/>
              </a:spcAft>
              <a:buClrTx/>
              <a:buSzTx/>
              <a:buFontTx/>
              <a:buNone/>
              <a:tabLst/>
              <a:defRPr/>
            </a:pPr>
            <a:r>
              <a:rPr kumimoji="0" lang="en-US" sz="1050" b="1" i="0" u="none" strike="noStrike" kern="1200" cap="none" spc="0" normalizeH="0" baseline="0" noProof="0">
                <a:ln>
                  <a:noFill/>
                </a:ln>
                <a:solidFill>
                  <a:prstClr val="black"/>
                </a:solidFill>
                <a:effectLst/>
                <a:uLnTx/>
                <a:uFillTx/>
                <a:latin typeface="Graphik"/>
                <a:ea typeface="+mn-ea"/>
                <a:cs typeface="+mn-cs"/>
              </a:rPr>
              <a:t>Hybrid Core and Thinner Engines</a:t>
            </a:r>
          </a:p>
          <a:p>
            <a:pPr marL="0" marR="0" lvl="0" indent="0" algn="l" defTabSz="913309" rtl="0" eaLnBrk="1" fontAlgn="auto"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Coexistence of different core banking engines and different hosting approaches (on-premise, cloud and SaaS solutions), following a business fit-for-purpose approach</a:t>
            </a:r>
          </a:p>
        </p:txBody>
      </p:sp>
      <p:sp>
        <p:nvSpPr>
          <p:cNvPr id="55" name="Rectangle 54">
            <a:extLst>
              <a:ext uri="{FF2B5EF4-FFF2-40B4-BE49-F238E27FC236}">
                <a16:creationId xmlns:a16="http://schemas.microsoft.com/office/drawing/2014/main" id="{6F02DD73-5D9A-ED1A-876D-657D9AEF1ECA}"/>
              </a:ext>
            </a:extLst>
          </p:cNvPr>
          <p:cNvSpPr/>
          <p:nvPr/>
        </p:nvSpPr>
        <p:spPr>
          <a:xfrm>
            <a:off x="406487" y="1657779"/>
            <a:ext cx="2795478" cy="1006813"/>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335" bIns="91335" rtlCol="0" anchor="ctr"/>
          <a:lstStyle/>
          <a:p>
            <a:pPr marL="0" marR="0" lvl="0" indent="0" algn="ctr" defTabSz="584116"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err="1">
              <a:ln>
                <a:noFill/>
              </a:ln>
              <a:solidFill>
                <a:srgbClr val="FFFFFF"/>
              </a:solidFill>
              <a:effectLst/>
              <a:uLnTx/>
              <a:uFillTx/>
              <a:latin typeface="Graphik"/>
              <a:ea typeface="+mn-ea"/>
              <a:cs typeface="+mn-cs"/>
            </a:endParaRPr>
          </a:p>
        </p:txBody>
      </p:sp>
      <p:pic>
        <p:nvPicPr>
          <p:cNvPr id="56" name="Graphic 55" descr="Puzzle pieces outline">
            <a:extLst>
              <a:ext uri="{FF2B5EF4-FFF2-40B4-BE49-F238E27FC236}">
                <a16:creationId xmlns:a16="http://schemas.microsoft.com/office/drawing/2014/main" id="{1DC3F743-10EC-1621-2A86-E20C3DB6251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387408" y="1474083"/>
            <a:ext cx="268172" cy="268172"/>
          </a:xfrm>
          <a:prstGeom prst="rect">
            <a:avLst/>
          </a:prstGeom>
        </p:spPr>
      </p:pic>
      <p:grpSp>
        <p:nvGrpSpPr>
          <p:cNvPr id="57" name="Group 56">
            <a:extLst>
              <a:ext uri="{FF2B5EF4-FFF2-40B4-BE49-F238E27FC236}">
                <a16:creationId xmlns:a16="http://schemas.microsoft.com/office/drawing/2014/main" id="{70E8FA55-F94D-3A44-E596-EB1EAB539DEF}"/>
              </a:ext>
            </a:extLst>
          </p:cNvPr>
          <p:cNvGrpSpPr>
            <a:grpSpLocks noChangeAspect="1"/>
          </p:cNvGrpSpPr>
          <p:nvPr/>
        </p:nvGrpSpPr>
        <p:grpSpPr>
          <a:xfrm>
            <a:off x="2762823" y="1724043"/>
            <a:ext cx="209539" cy="204328"/>
            <a:chOff x="7494588" y="5003801"/>
            <a:chExt cx="914401" cy="850900"/>
          </a:xfrm>
          <a:solidFill>
            <a:schemeClr val="bg1"/>
          </a:solidFill>
        </p:grpSpPr>
        <p:sp>
          <p:nvSpPr>
            <p:cNvPr id="58" name="Freeform 5">
              <a:extLst>
                <a:ext uri="{FF2B5EF4-FFF2-40B4-BE49-F238E27FC236}">
                  <a16:creationId xmlns:a16="http://schemas.microsoft.com/office/drawing/2014/main" id="{A20B38C6-40A2-A1F9-53E7-7C378D3478E0}"/>
                </a:ext>
              </a:extLst>
            </p:cNvPr>
            <p:cNvSpPr>
              <a:spLocks/>
            </p:cNvSpPr>
            <p:nvPr/>
          </p:nvSpPr>
          <p:spPr bwMode="auto">
            <a:xfrm>
              <a:off x="7585076" y="5657851"/>
              <a:ext cx="690563" cy="196850"/>
            </a:xfrm>
            <a:custGeom>
              <a:avLst/>
              <a:gdLst>
                <a:gd name="T0" fmla="*/ 201 w 212"/>
                <a:gd name="T1" fmla="*/ 5 h 60"/>
                <a:gd name="T2" fmla="*/ 180 w 212"/>
                <a:gd name="T3" fmla="*/ 24 h 60"/>
                <a:gd name="T4" fmla="*/ 159 w 212"/>
                <a:gd name="T5" fmla="*/ 4 h 60"/>
                <a:gd name="T6" fmla="*/ 152 w 212"/>
                <a:gd name="T7" fmla="*/ 3 h 60"/>
                <a:gd name="T8" fmla="*/ 127 w 212"/>
                <a:gd name="T9" fmla="*/ 13 h 60"/>
                <a:gd name="T10" fmla="*/ 122 w 212"/>
                <a:gd name="T11" fmla="*/ 19 h 60"/>
                <a:gd name="T12" fmla="*/ 122 w 212"/>
                <a:gd name="T13" fmla="*/ 48 h 60"/>
                <a:gd name="T14" fmla="*/ 92 w 212"/>
                <a:gd name="T15" fmla="*/ 48 h 60"/>
                <a:gd name="T16" fmla="*/ 92 w 212"/>
                <a:gd name="T17" fmla="*/ 19 h 60"/>
                <a:gd name="T18" fmla="*/ 88 w 212"/>
                <a:gd name="T19" fmla="*/ 13 h 60"/>
                <a:gd name="T20" fmla="*/ 62 w 212"/>
                <a:gd name="T21" fmla="*/ 3 h 60"/>
                <a:gd name="T22" fmla="*/ 55 w 212"/>
                <a:gd name="T23" fmla="*/ 4 h 60"/>
                <a:gd name="T24" fmla="*/ 34 w 212"/>
                <a:gd name="T25" fmla="*/ 24 h 60"/>
                <a:gd name="T26" fmla="*/ 11 w 212"/>
                <a:gd name="T27" fmla="*/ 2 h 60"/>
                <a:gd name="T28" fmla="*/ 3 w 212"/>
                <a:gd name="T29" fmla="*/ 3 h 60"/>
                <a:gd name="T30" fmla="*/ 3 w 212"/>
                <a:gd name="T31" fmla="*/ 11 h 60"/>
                <a:gd name="T32" fmla="*/ 30 w 212"/>
                <a:gd name="T33" fmla="*/ 37 h 60"/>
                <a:gd name="T34" fmla="*/ 39 w 212"/>
                <a:gd name="T35" fmla="*/ 37 h 60"/>
                <a:gd name="T36" fmla="*/ 60 w 212"/>
                <a:gd name="T37" fmla="*/ 15 h 60"/>
                <a:gd name="T38" fmla="*/ 80 w 212"/>
                <a:gd name="T39" fmla="*/ 23 h 60"/>
                <a:gd name="T40" fmla="*/ 80 w 212"/>
                <a:gd name="T41" fmla="*/ 54 h 60"/>
                <a:gd name="T42" fmla="*/ 86 w 212"/>
                <a:gd name="T43" fmla="*/ 60 h 60"/>
                <a:gd name="T44" fmla="*/ 128 w 212"/>
                <a:gd name="T45" fmla="*/ 60 h 60"/>
                <a:gd name="T46" fmla="*/ 134 w 212"/>
                <a:gd name="T47" fmla="*/ 54 h 60"/>
                <a:gd name="T48" fmla="*/ 134 w 212"/>
                <a:gd name="T49" fmla="*/ 23 h 60"/>
                <a:gd name="T50" fmla="*/ 154 w 212"/>
                <a:gd name="T51" fmla="*/ 15 h 60"/>
                <a:gd name="T52" fmla="*/ 176 w 212"/>
                <a:gd name="T53" fmla="*/ 37 h 60"/>
                <a:gd name="T54" fmla="*/ 184 w 212"/>
                <a:gd name="T55" fmla="*/ 37 h 60"/>
                <a:gd name="T56" fmla="*/ 209 w 212"/>
                <a:gd name="T57" fmla="*/ 13 h 60"/>
                <a:gd name="T58" fmla="*/ 210 w 212"/>
                <a:gd name="T59" fmla="*/ 5 h 60"/>
                <a:gd name="T60" fmla="*/ 201 w 212"/>
                <a:gd name="T61" fmla="*/ 5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12" h="60">
                  <a:moveTo>
                    <a:pt x="201" y="5"/>
                  </a:moveTo>
                  <a:cubicBezTo>
                    <a:pt x="180" y="24"/>
                    <a:pt x="180" y="24"/>
                    <a:pt x="180" y="24"/>
                  </a:cubicBezTo>
                  <a:cubicBezTo>
                    <a:pt x="159" y="4"/>
                    <a:pt x="159" y="4"/>
                    <a:pt x="159" y="4"/>
                  </a:cubicBezTo>
                  <a:cubicBezTo>
                    <a:pt x="157" y="2"/>
                    <a:pt x="154" y="1"/>
                    <a:pt x="152" y="3"/>
                  </a:cubicBezTo>
                  <a:cubicBezTo>
                    <a:pt x="145" y="7"/>
                    <a:pt x="136" y="11"/>
                    <a:pt x="127" y="13"/>
                  </a:cubicBezTo>
                  <a:cubicBezTo>
                    <a:pt x="124" y="14"/>
                    <a:pt x="122" y="16"/>
                    <a:pt x="122" y="19"/>
                  </a:cubicBezTo>
                  <a:cubicBezTo>
                    <a:pt x="122" y="48"/>
                    <a:pt x="122" y="48"/>
                    <a:pt x="122" y="48"/>
                  </a:cubicBezTo>
                  <a:cubicBezTo>
                    <a:pt x="92" y="48"/>
                    <a:pt x="92" y="48"/>
                    <a:pt x="92" y="48"/>
                  </a:cubicBezTo>
                  <a:cubicBezTo>
                    <a:pt x="92" y="19"/>
                    <a:pt x="92" y="19"/>
                    <a:pt x="92" y="19"/>
                  </a:cubicBezTo>
                  <a:cubicBezTo>
                    <a:pt x="92" y="16"/>
                    <a:pt x="90" y="14"/>
                    <a:pt x="88" y="13"/>
                  </a:cubicBezTo>
                  <a:cubicBezTo>
                    <a:pt x="78" y="11"/>
                    <a:pt x="69" y="7"/>
                    <a:pt x="62" y="3"/>
                  </a:cubicBezTo>
                  <a:cubicBezTo>
                    <a:pt x="60" y="1"/>
                    <a:pt x="57" y="2"/>
                    <a:pt x="55" y="4"/>
                  </a:cubicBezTo>
                  <a:cubicBezTo>
                    <a:pt x="34" y="24"/>
                    <a:pt x="34" y="24"/>
                    <a:pt x="34" y="24"/>
                  </a:cubicBezTo>
                  <a:cubicBezTo>
                    <a:pt x="11" y="2"/>
                    <a:pt x="11" y="2"/>
                    <a:pt x="11" y="2"/>
                  </a:cubicBezTo>
                  <a:cubicBezTo>
                    <a:pt x="9" y="0"/>
                    <a:pt x="5" y="0"/>
                    <a:pt x="3" y="3"/>
                  </a:cubicBezTo>
                  <a:cubicBezTo>
                    <a:pt x="0" y="5"/>
                    <a:pt x="0" y="9"/>
                    <a:pt x="3" y="11"/>
                  </a:cubicBezTo>
                  <a:cubicBezTo>
                    <a:pt x="30" y="37"/>
                    <a:pt x="30" y="37"/>
                    <a:pt x="30" y="37"/>
                  </a:cubicBezTo>
                  <a:cubicBezTo>
                    <a:pt x="33" y="39"/>
                    <a:pt x="36" y="39"/>
                    <a:pt x="39" y="37"/>
                  </a:cubicBezTo>
                  <a:cubicBezTo>
                    <a:pt x="60" y="15"/>
                    <a:pt x="60" y="15"/>
                    <a:pt x="60" y="15"/>
                  </a:cubicBezTo>
                  <a:cubicBezTo>
                    <a:pt x="66" y="19"/>
                    <a:pt x="73" y="21"/>
                    <a:pt x="80" y="23"/>
                  </a:cubicBezTo>
                  <a:cubicBezTo>
                    <a:pt x="80" y="54"/>
                    <a:pt x="80" y="54"/>
                    <a:pt x="80" y="54"/>
                  </a:cubicBezTo>
                  <a:cubicBezTo>
                    <a:pt x="80" y="57"/>
                    <a:pt x="83" y="60"/>
                    <a:pt x="86" y="60"/>
                  </a:cubicBezTo>
                  <a:cubicBezTo>
                    <a:pt x="128" y="60"/>
                    <a:pt x="128" y="60"/>
                    <a:pt x="128" y="60"/>
                  </a:cubicBezTo>
                  <a:cubicBezTo>
                    <a:pt x="131" y="60"/>
                    <a:pt x="134" y="57"/>
                    <a:pt x="134" y="54"/>
                  </a:cubicBezTo>
                  <a:cubicBezTo>
                    <a:pt x="134" y="23"/>
                    <a:pt x="134" y="23"/>
                    <a:pt x="134" y="23"/>
                  </a:cubicBezTo>
                  <a:cubicBezTo>
                    <a:pt x="141" y="21"/>
                    <a:pt x="148" y="19"/>
                    <a:pt x="154" y="15"/>
                  </a:cubicBezTo>
                  <a:cubicBezTo>
                    <a:pt x="176" y="37"/>
                    <a:pt x="176" y="37"/>
                    <a:pt x="176" y="37"/>
                  </a:cubicBezTo>
                  <a:cubicBezTo>
                    <a:pt x="178" y="39"/>
                    <a:pt x="182" y="39"/>
                    <a:pt x="184" y="37"/>
                  </a:cubicBezTo>
                  <a:cubicBezTo>
                    <a:pt x="209" y="13"/>
                    <a:pt x="209" y="13"/>
                    <a:pt x="209" y="13"/>
                  </a:cubicBezTo>
                  <a:cubicBezTo>
                    <a:pt x="212" y="11"/>
                    <a:pt x="212" y="7"/>
                    <a:pt x="210" y="5"/>
                  </a:cubicBezTo>
                  <a:cubicBezTo>
                    <a:pt x="207" y="2"/>
                    <a:pt x="204" y="2"/>
                    <a:pt x="20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35" tIns="45668" rIns="91335" bIns="45668" numCol="1" anchor="t" anchorCtr="0" compatLnSpc="1">
              <a:prstTxWarp prst="textNoShape">
                <a:avLst/>
              </a:prstTxWarp>
            </a:bodyPr>
            <a:lstStyle/>
            <a:p>
              <a:pPr marL="0" marR="0" lvl="0" indent="0" algn="l" defTabSz="913309"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sp>
          <p:nvSpPr>
            <p:cNvPr id="59" name="Freeform 6">
              <a:extLst>
                <a:ext uri="{FF2B5EF4-FFF2-40B4-BE49-F238E27FC236}">
                  <a16:creationId xmlns:a16="http://schemas.microsoft.com/office/drawing/2014/main" id="{BC066DE2-C662-32F2-3BBF-2B58E89BD4C6}"/>
                </a:ext>
              </a:extLst>
            </p:cNvPr>
            <p:cNvSpPr>
              <a:spLocks/>
            </p:cNvSpPr>
            <p:nvPr/>
          </p:nvSpPr>
          <p:spPr bwMode="auto">
            <a:xfrm>
              <a:off x="7507288" y="5003801"/>
              <a:ext cx="852488" cy="598488"/>
            </a:xfrm>
            <a:custGeom>
              <a:avLst/>
              <a:gdLst>
                <a:gd name="T0" fmla="*/ 37 w 262"/>
                <a:gd name="T1" fmla="*/ 157 h 183"/>
                <a:gd name="T2" fmla="*/ 56 w 262"/>
                <a:gd name="T3" fmla="*/ 181 h 183"/>
                <a:gd name="T4" fmla="*/ 47 w 262"/>
                <a:gd name="T5" fmla="*/ 149 h 183"/>
                <a:gd name="T6" fmla="*/ 12 w 262"/>
                <a:gd name="T7" fmla="*/ 145 h 183"/>
                <a:gd name="T8" fmla="*/ 42 w 262"/>
                <a:gd name="T9" fmla="*/ 116 h 183"/>
                <a:gd name="T10" fmla="*/ 58 w 262"/>
                <a:gd name="T11" fmla="*/ 86 h 183"/>
                <a:gd name="T12" fmla="*/ 36 w 262"/>
                <a:gd name="T13" fmla="*/ 58 h 183"/>
                <a:gd name="T14" fmla="*/ 79 w 262"/>
                <a:gd name="T15" fmla="*/ 56 h 183"/>
                <a:gd name="T16" fmla="*/ 112 w 262"/>
                <a:gd name="T17" fmla="*/ 47 h 183"/>
                <a:gd name="T18" fmla="*/ 116 w 262"/>
                <a:gd name="T19" fmla="*/ 12 h 183"/>
                <a:gd name="T20" fmla="*/ 146 w 262"/>
                <a:gd name="T21" fmla="*/ 41 h 183"/>
                <a:gd name="T22" fmla="*/ 176 w 262"/>
                <a:gd name="T23" fmla="*/ 57 h 183"/>
                <a:gd name="T24" fmla="*/ 204 w 262"/>
                <a:gd name="T25" fmla="*/ 35 h 183"/>
                <a:gd name="T26" fmla="*/ 206 w 262"/>
                <a:gd name="T27" fmla="*/ 78 h 183"/>
                <a:gd name="T28" fmla="*/ 215 w 262"/>
                <a:gd name="T29" fmla="*/ 112 h 183"/>
                <a:gd name="T30" fmla="*/ 250 w 262"/>
                <a:gd name="T31" fmla="*/ 116 h 183"/>
                <a:gd name="T32" fmla="*/ 221 w 262"/>
                <a:gd name="T33" fmla="*/ 145 h 183"/>
                <a:gd name="T34" fmla="*/ 205 w 262"/>
                <a:gd name="T35" fmla="*/ 173 h 183"/>
                <a:gd name="T36" fmla="*/ 210 w 262"/>
                <a:gd name="T37" fmla="*/ 182 h 183"/>
                <a:gd name="T38" fmla="*/ 225 w 262"/>
                <a:gd name="T39" fmla="*/ 157 h 183"/>
                <a:gd name="T40" fmla="*/ 262 w 262"/>
                <a:gd name="T41" fmla="*/ 151 h 183"/>
                <a:gd name="T42" fmla="*/ 256 w 262"/>
                <a:gd name="T43" fmla="*/ 104 h 183"/>
                <a:gd name="T44" fmla="*/ 217 w 262"/>
                <a:gd name="T45" fmla="*/ 83 h 183"/>
                <a:gd name="T46" fmla="*/ 241 w 262"/>
                <a:gd name="T47" fmla="*/ 58 h 183"/>
                <a:gd name="T48" fmla="*/ 208 w 262"/>
                <a:gd name="T49" fmla="*/ 23 h 183"/>
                <a:gd name="T50" fmla="*/ 178 w 262"/>
                <a:gd name="T51" fmla="*/ 44 h 183"/>
                <a:gd name="T52" fmla="*/ 158 w 262"/>
                <a:gd name="T53" fmla="*/ 6 h 183"/>
                <a:gd name="T54" fmla="*/ 110 w 262"/>
                <a:gd name="T55" fmla="*/ 0 h 183"/>
                <a:gd name="T56" fmla="*/ 104 w 262"/>
                <a:gd name="T57" fmla="*/ 36 h 183"/>
                <a:gd name="T58" fmla="*/ 63 w 262"/>
                <a:gd name="T59" fmla="*/ 23 h 183"/>
                <a:gd name="T60" fmla="*/ 23 w 262"/>
                <a:gd name="T61" fmla="*/ 53 h 183"/>
                <a:gd name="T62" fmla="*/ 23 w 262"/>
                <a:gd name="T63" fmla="*/ 62 h 183"/>
                <a:gd name="T64" fmla="*/ 37 w 262"/>
                <a:gd name="T65" fmla="*/ 104 h 183"/>
                <a:gd name="T66" fmla="*/ 0 w 262"/>
                <a:gd name="T67" fmla="*/ 110 h 183"/>
                <a:gd name="T68" fmla="*/ 6 w 262"/>
                <a:gd name="T69" fmla="*/ 15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62" h="183">
                  <a:moveTo>
                    <a:pt x="6" y="157"/>
                  </a:moveTo>
                  <a:cubicBezTo>
                    <a:pt x="37" y="157"/>
                    <a:pt x="37" y="157"/>
                    <a:pt x="37" y="157"/>
                  </a:cubicBezTo>
                  <a:cubicBezTo>
                    <a:pt x="39" y="164"/>
                    <a:pt x="43" y="172"/>
                    <a:pt x="47" y="179"/>
                  </a:cubicBezTo>
                  <a:cubicBezTo>
                    <a:pt x="49" y="182"/>
                    <a:pt x="53" y="183"/>
                    <a:pt x="56" y="181"/>
                  </a:cubicBezTo>
                  <a:cubicBezTo>
                    <a:pt x="58" y="180"/>
                    <a:pt x="59" y="176"/>
                    <a:pt x="58" y="173"/>
                  </a:cubicBezTo>
                  <a:cubicBezTo>
                    <a:pt x="53" y="165"/>
                    <a:pt x="49" y="157"/>
                    <a:pt x="47" y="149"/>
                  </a:cubicBezTo>
                  <a:cubicBezTo>
                    <a:pt x="47" y="147"/>
                    <a:pt x="44" y="145"/>
                    <a:pt x="42" y="145"/>
                  </a:cubicBezTo>
                  <a:cubicBezTo>
                    <a:pt x="12" y="145"/>
                    <a:pt x="12" y="145"/>
                    <a:pt x="12" y="145"/>
                  </a:cubicBezTo>
                  <a:cubicBezTo>
                    <a:pt x="12" y="116"/>
                    <a:pt x="12" y="116"/>
                    <a:pt x="12" y="116"/>
                  </a:cubicBezTo>
                  <a:cubicBezTo>
                    <a:pt x="42" y="116"/>
                    <a:pt x="42" y="116"/>
                    <a:pt x="42" y="116"/>
                  </a:cubicBezTo>
                  <a:cubicBezTo>
                    <a:pt x="44" y="116"/>
                    <a:pt x="47" y="114"/>
                    <a:pt x="47" y="112"/>
                  </a:cubicBezTo>
                  <a:cubicBezTo>
                    <a:pt x="50" y="102"/>
                    <a:pt x="54" y="92"/>
                    <a:pt x="58" y="86"/>
                  </a:cubicBezTo>
                  <a:cubicBezTo>
                    <a:pt x="59" y="83"/>
                    <a:pt x="59" y="80"/>
                    <a:pt x="57" y="78"/>
                  </a:cubicBezTo>
                  <a:cubicBezTo>
                    <a:pt x="36" y="58"/>
                    <a:pt x="36" y="58"/>
                    <a:pt x="36" y="58"/>
                  </a:cubicBezTo>
                  <a:cubicBezTo>
                    <a:pt x="58" y="35"/>
                    <a:pt x="58" y="35"/>
                    <a:pt x="58" y="35"/>
                  </a:cubicBezTo>
                  <a:cubicBezTo>
                    <a:pt x="79" y="56"/>
                    <a:pt x="79" y="56"/>
                    <a:pt x="79" y="56"/>
                  </a:cubicBezTo>
                  <a:cubicBezTo>
                    <a:pt x="81" y="58"/>
                    <a:pt x="84" y="58"/>
                    <a:pt x="86" y="57"/>
                  </a:cubicBezTo>
                  <a:cubicBezTo>
                    <a:pt x="93" y="53"/>
                    <a:pt x="102" y="49"/>
                    <a:pt x="112" y="47"/>
                  </a:cubicBezTo>
                  <a:cubicBezTo>
                    <a:pt x="114" y="46"/>
                    <a:pt x="116" y="44"/>
                    <a:pt x="116" y="41"/>
                  </a:cubicBezTo>
                  <a:cubicBezTo>
                    <a:pt x="116" y="12"/>
                    <a:pt x="116" y="12"/>
                    <a:pt x="116" y="12"/>
                  </a:cubicBezTo>
                  <a:cubicBezTo>
                    <a:pt x="146" y="12"/>
                    <a:pt x="146" y="12"/>
                    <a:pt x="146" y="12"/>
                  </a:cubicBezTo>
                  <a:cubicBezTo>
                    <a:pt x="146" y="41"/>
                    <a:pt x="146" y="41"/>
                    <a:pt x="146" y="41"/>
                  </a:cubicBezTo>
                  <a:cubicBezTo>
                    <a:pt x="146" y="44"/>
                    <a:pt x="148" y="46"/>
                    <a:pt x="151" y="47"/>
                  </a:cubicBezTo>
                  <a:cubicBezTo>
                    <a:pt x="160" y="49"/>
                    <a:pt x="169" y="53"/>
                    <a:pt x="176" y="57"/>
                  </a:cubicBezTo>
                  <a:cubicBezTo>
                    <a:pt x="178" y="58"/>
                    <a:pt x="181" y="58"/>
                    <a:pt x="183" y="56"/>
                  </a:cubicBezTo>
                  <a:cubicBezTo>
                    <a:pt x="204" y="35"/>
                    <a:pt x="204" y="35"/>
                    <a:pt x="204" y="35"/>
                  </a:cubicBezTo>
                  <a:cubicBezTo>
                    <a:pt x="226" y="58"/>
                    <a:pt x="226" y="58"/>
                    <a:pt x="226" y="58"/>
                  </a:cubicBezTo>
                  <a:cubicBezTo>
                    <a:pt x="206" y="78"/>
                    <a:pt x="206" y="78"/>
                    <a:pt x="206" y="78"/>
                  </a:cubicBezTo>
                  <a:cubicBezTo>
                    <a:pt x="204" y="80"/>
                    <a:pt x="203" y="83"/>
                    <a:pt x="205" y="86"/>
                  </a:cubicBezTo>
                  <a:cubicBezTo>
                    <a:pt x="209" y="92"/>
                    <a:pt x="212" y="102"/>
                    <a:pt x="215" y="112"/>
                  </a:cubicBezTo>
                  <a:cubicBezTo>
                    <a:pt x="216" y="114"/>
                    <a:pt x="218" y="116"/>
                    <a:pt x="221" y="116"/>
                  </a:cubicBezTo>
                  <a:cubicBezTo>
                    <a:pt x="250" y="116"/>
                    <a:pt x="250" y="116"/>
                    <a:pt x="250" y="116"/>
                  </a:cubicBezTo>
                  <a:cubicBezTo>
                    <a:pt x="250" y="145"/>
                    <a:pt x="250" y="145"/>
                    <a:pt x="250" y="145"/>
                  </a:cubicBezTo>
                  <a:cubicBezTo>
                    <a:pt x="221" y="145"/>
                    <a:pt x="221" y="145"/>
                    <a:pt x="221" y="145"/>
                  </a:cubicBezTo>
                  <a:cubicBezTo>
                    <a:pt x="218" y="145"/>
                    <a:pt x="216" y="147"/>
                    <a:pt x="215" y="149"/>
                  </a:cubicBezTo>
                  <a:cubicBezTo>
                    <a:pt x="213" y="157"/>
                    <a:pt x="210" y="165"/>
                    <a:pt x="205" y="173"/>
                  </a:cubicBezTo>
                  <a:cubicBezTo>
                    <a:pt x="203" y="176"/>
                    <a:pt x="204" y="180"/>
                    <a:pt x="207" y="181"/>
                  </a:cubicBezTo>
                  <a:cubicBezTo>
                    <a:pt x="208" y="182"/>
                    <a:pt x="209" y="182"/>
                    <a:pt x="210" y="182"/>
                  </a:cubicBezTo>
                  <a:cubicBezTo>
                    <a:pt x="212" y="182"/>
                    <a:pt x="214" y="181"/>
                    <a:pt x="215" y="179"/>
                  </a:cubicBezTo>
                  <a:cubicBezTo>
                    <a:pt x="220" y="172"/>
                    <a:pt x="223" y="164"/>
                    <a:pt x="225" y="157"/>
                  </a:cubicBezTo>
                  <a:cubicBezTo>
                    <a:pt x="256" y="157"/>
                    <a:pt x="256" y="157"/>
                    <a:pt x="256" y="157"/>
                  </a:cubicBezTo>
                  <a:cubicBezTo>
                    <a:pt x="259" y="157"/>
                    <a:pt x="262" y="154"/>
                    <a:pt x="262" y="151"/>
                  </a:cubicBezTo>
                  <a:cubicBezTo>
                    <a:pt x="262" y="110"/>
                    <a:pt x="262" y="110"/>
                    <a:pt x="262" y="110"/>
                  </a:cubicBezTo>
                  <a:cubicBezTo>
                    <a:pt x="262" y="107"/>
                    <a:pt x="259" y="104"/>
                    <a:pt x="256" y="104"/>
                  </a:cubicBezTo>
                  <a:cubicBezTo>
                    <a:pt x="225" y="104"/>
                    <a:pt x="225" y="104"/>
                    <a:pt x="225" y="104"/>
                  </a:cubicBezTo>
                  <a:cubicBezTo>
                    <a:pt x="223" y="97"/>
                    <a:pt x="220" y="90"/>
                    <a:pt x="217" y="83"/>
                  </a:cubicBezTo>
                  <a:cubicBezTo>
                    <a:pt x="239" y="62"/>
                    <a:pt x="239" y="62"/>
                    <a:pt x="239" y="62"/>
                  </a:cubicBezTo>
                  <a:cubicBezTo>
                    <a:pt x="240" y="61"/>
                    <a:pt x="241" y="59"/>
                    <a:pt x="241" y="58"/>
                  </a:cubicBezTo>
                  <a:cubicBezTo>
                    <a:pt x="241" y="56"/>
                    <a:pt x="240" y="54"/>
                    <a:pt x="239" y="53"/>
                  </a:cubicBezTo>
                  <a:cubicBezTo>
                    <a:pt x="208" y="23"/>
                    <a:pt x="208" y="23"/>
                    <a:pt x="208" y="23"/>
                  </a:cubicBezTo>
                  <a:cubicBezTo>
                    <a:pt x="206" y="20"/>
                    <a:pt x="202" y="20"/>
                    <a:pt x="200" y="23"/>
                  </a:cubicBezTo>
                  <a:cubicBezTo>
                    <a:pt x="178" y="44"/>
                    <a:pt x="178" y="44"/>
                    <a:pt x="178" y="44"/>
                  </a:cubicBezTo>
                  <a:cubicBezTo>
                    <a:pt x="172" y="41"/>
                    <a:pt x="165" y="38"/>
                    <a:pt x="158" y="36"/>
                  </a:cubicBezTo>
                  <a:cubicBezTo>
                    <a:pt x="158" y="6"/>
                    <a:pt x="158" y="6"/>
                    <a:pt x="158" y="6"/>
                  </a:cubicBezTo>
                  <a:cubicBezTo>
                    <a:pt x="158" y="2"/>
                    <a:pt x="155" y="0"/>
                    <a:pt x="152" y="0"/>
                  </a:cubicBezTo>
                  <a:cubicBezTo>
                    <a:pt x="110" y="0"/>
                    <a:pt x="110" y="0"/>
                    <a:pt x="110" y="0"/>
                  </a:cubicBezTo>
                  <a:cubicBezTo>
                    <a:pt x="107" y="0"/>
                    <a:pt x="104" y="2"/>
                    <a:pt x="104" y="6"/>
                  </a:cubicBezTo>
                  <a:cubicBezTo>
                    <a:pt x="104" y="36"/>
                    <a:pt x="104" y="36"/>
                    <a:pt x="104" y="36"/>
                  </a:cubicBezTo>
                  <a:cubicBezTo>
                    <a:pt x="97" y="38"/>
                    <a:pt x="90" y="41"/>
                    <a:pt x="84" y="44"/>
                  </a:cubicBezTo>
                  <a:cubicBezTo>
                    <a:pt x="63" y="23"/>
                    <a:pt x="63" y="23"/>
                    <a:pt x="63" y="23"/>
                  </a:cubicBezTo>
                  <a:cubicBezTo>
                    <a:pt x="60" y="20"/>
                    <a:pt x="56" y="20"/>
                    <a:pt x="54" y="23"/>
                  </a:cubicBezTo>
                  <a:cubicBezTo>
                    <a:pt x="23" y="53"/>
                    <a:pt x="23" y="53"/>
                    <a:pt x="23" y="53"/>
                  </a:cubicBezTo>
                  <a:cubicBezTo>
                    <a:pt x="22" y="54"/>
                    <a:pt x="22" y="56"/>
                    <a:pt x="22" y="58"/>
                  </a:cubicBezTo>
                  <a:cubicBezTo>
                    <a:pt x="22" y="59"/>
                    <a:pt x="22" y="61"/>
                    <a:pt x="23" y="62"/>
                  </a:cubicBezTo>
                  <a:cubicBezTo>
                    <a:pt x="45" y="84"/>
                    <a:pt x="45" y="84"/>
                    <a:pt x="45" y="84"/>
                  </a:cubicBezTo>
                  <a:cubicBezTo>
                    <a:pt x="42" y="90"/>
                    <a:pt x="39" y="97"/>
                    <a:pt x="37" y="104"/>
                  </a:cubicBezTo>
                  <a:cubicBezTo>
                    <a:pt x="6" y="104"/>
                    <a:pt x="6" y="104"/>
                    <a:pt x="6" y="104"/>
                  </a:cubicBezTo>
                  <a:cubicBezTo>
                    <a:pt x="3" y="104"/>
                    <a:pt x="0" y="107"/>
                    <a:pt x="0" y="110"/>
                  </a:cubicBezTo>
                  <a:cubicBezTo>
                    <a:pt x="0" y="151"/>
                    <a:pt x="0" y="151"/>
                    <a:pt x="0" y="151"/>
                  </a:cubicBezTo>
                  <a:cubicBezTo>
                    <a:pt x="0" y="154"/>
                    <a:pt x="3" y="157"/>
                    <a:pt x="6" y="1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35" tIns="45668" rIns="91335" bIns="45668" numCol="1" anchor="t" anchorCtr="0" compatLnSpc="1">
              <a:prstTxWarp prst="textNoShape">
                <a:avLst/>
              </a:prstTxWarp>
            </a:bodyPr>
            <a:lstStyle/>
            <a:p>
              <a:pPr marL="0" marR="0" lvl="0" indent="0" algn="l" defTabSz="913309"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sp>
          <p:nvSpPr>
            <p:cNvPr id="60" name="Freeform 7">
              <a:extLst>
                <a:ext uri="{FF2B5EF4-FFF2-40B4-BE49-F238E27FC236}">
                  <a16:creationId xmlns:a16="http://schemas.microsoft.com/office/drawing/2014/main" id="{06C7FF32-9CC5-B330-0AC1-D2AC86AF8126}"/>
                </a:ext>
              </a:extLst>
            </p:cNvPr>
            <p:cNvSpPr>
              <a:spLocks/>
            </p:cNvSpPr>
            <p:nvPr/>
          </p:nvSpPr>
          <p:spPr bwMode="auto">
            <a:xfrm>
              <a:off x="7885113" y="5176838"/>
              <a:ext cx="260350" cy="415925"/>
            </a:xfrm>
            <a:custGeom>
              <a:avLst/>
              <a:gdLst>
                <a:gd name="T0" fmla="*/ 52 w 80"/>
                <a:gd name="T1" fmla="*/ 126 h 127"/>
                <a:gd name="T2" fmla="*/ 57 w 80"/>
                <a:gd name="T3" fmla="*/ 127 h 127"/>
                <a:gd name="T4" fmla="*/ 61 w 80"/>
                <a:gd name="T5" fmla="*/ 126 h 127"/>
                <a:gd name="T6" fmla="*/ 79 w 80"/>
                <a:gd name="T7" fmla="*/ 79 h 127"/>
                <a:gd name="T8" fmla="*/ 57 w 80"/>
                <a:gd name="T9" fmla="*/ 32 h 127"/>
                <a:gd name="T10" fmla="*/ 23 w 80"/>
                <a:gd name="T11" fmla="*/ 17 h 127"/>
                <a:gd name="T12" fmla="*/ 30 w 80"/>
                <a:gd name="T13" fmla="*/ 12 h 127"/>
                <a:gd name="T14" fmla="*/ 31 w 80"/>
                <a:gd name="T15" fmla="*/ 3 h 127"/>
                <a:gd name="T16" fmla="*/ 23 w 80"/>
                <a:gd name="T17" fmla="*/ 2 h 127"/>
                <a:gd name="T18" fmla="*/ 2 w 80"/>
                <a:gd name="T19" fmla="*/ 18 h 127"/>
                <a:gd name="T20" fmla="*/ 0 w 80"/>
                <a:gd name="T21" fmla="*/ 22 h 127"/>
                <a:gd name="T22" fmla="*/ 1 w 80"/>
                <a:gd name="T23" fmla="*/ 27 h 127"/>
                <a:gd name="T24" fmla="*/ 17 w 80"/>
                <a:gd name="T25" fmla="*/ 46 h 127"/>
                <a:gd name="T26" fmla="*/ 22 w 80"/>
                <a:gd name="T27" fmla="*/ 48 h 127"/>
                <a:gd name="T28" fmla="*/ 26 w 80"/>
                <a:gd name="T29" fmla="*/ 47 h 127"/>
                <a:gd name="T30" fmla="*/ 26 w 80"/>
                <a:gd name="T31" fmla="*/ 38 h 127"/>
                <a:gd name="T32" fmla="*/ 19 w 80"/>
                <a:gd name="T33" fmla="*/ 29 h 127"/>
                <a:gd name="T34" fmla="*/ 49 w 80"/>
                <a:gd name="T35" fmla="*/ 41 h 127"/>
                <a:gd name="T36" fmla="*/ 67 w 80"/>
                <a:gd name="T37" fmla="*/ 79 h 127"/>
                <a:gd name="T38" fmla="*/ 52 w 80"/>
                <a:gd name="T39" fmla="*/ 117 h 127"/>
                <a:gd name="T40" fmla="*/ 52 w 80"/>
                <a:gd name="T41" fmla="*/ 126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0" h="127">
                  <a:moveTo>
                    <a:pt x="52" y="126"/>
                  </a:moveTo>
                  <a:cubicBezTo>
                    <a:pt x="54" y="127"/>
                    <a:pt x="55" y="127"/>
                    <a:pt x="57" y="127"/>
                  </a:cubicBezTo>
                  <a:cubicBezTo>
                    <a:pt x="58" y="127"/>
                    <a:pt x="60" y="127"/>
                    <a:pt x="61" y="126"/>
                  </a:cubicBezTo>
                  <a:cubicBezTo>
                    <a:pt x="73" y="113"/>
                    <a:pt x="80" y="96"/>
                    <a:pt x="79" y="79"/>
                  </a:cubicBezTo>
                  <a:cubicBezTo>
                    <a:pt x="78" y="61"/>
                    <a:pt x="70" y="44"/>
                    <a:pt x="57" y="32"/>
                  </a:cubicBezTo>
                  <a:cubicBezTo>
                    <a:pt x="47" y="24"/>
                    <a:pt x="35" y="19"/>
                    <a:pt x="23" y="17"/>
                  </a:cubicBezTo>
                  <a:cubicBezTo>
                    <a:pt x="30" y="12"/>
                    <a:pt x="30" y="12"/>
                    <a:pt x="30" y="12"/>
                  </a:cubicBezTo>
                  <a:cubicBezTo>
                    <a:pt x="33" y="10"/>
                    <a:pt x="33" y="6"/>
                    <a:pt x="31" y="3"/>
                  </a:cubicBezTo>
                  <a:cubicBezTo>
                    <a:pt x="29" y="1"/>
                    <a:pt x="25" y="0"/>
                    <a:pt x="23" y="2"/>
                  </a:cubicBezTo>
                  <a:cubicBezTo>
                    <a:pt x="2" y="18"/>
                    <a:pt x="2" y="18"/>
                    <a:pt x="2" y="18"/>
                  </a:cubicBezTo>
                  <a:cubicBezTo>
                    <a:pt x="1" y="19"/>
                    <a:pt x="0" y="21"/>
                    <a:pt x="0" y="22"/>
                  </a:cubicBezTo>
                  <a:cubicBezTo>
                    <a:pt x="0" y="24"/>
                    <a:pt x="0" y="26"/>
                    <a:pt x="1" y="27"/>
                  </a:cubicBezTo>
                  <a:cubicBezTo>
                    <a:pt x="17" y="46"/>
                    <a:pt x="17" y="46"/>
                    <a:pt x="17" y="46"/>
                  </a:cubicBezTo>
                  <a:cubicBezTo>
                    <a:pt x="18" y="47"/>
                    <a:pt x="20" y="48"/>
                    <a:pt x="22" y="48"/>
                  </a:cubicBezTo>
                  <a:cubicBezTo>
                    <a:pt x="23" y="48"/>
                    <a:pt x="24" y="48"/>
                    <a:pt x="26" y="47"/>
                  </a:cubicBezTo>
                  <a:cubicBezTo>
                    <a:pt x="28" y="45"/>
                    <a:pt x="29" y="41"/>
                    <a:pt x="26" y="38"/>
                  </a:cubicBezTo>
                  <a:cubicBezTo>
                    <a:pt x="19" y="29"/>
                    <a:pt x="19" y="29"/>
                    <a:pt x="19" y="29"/>
                  </a:cubicBezTo>
                  <a:cubicBezTo>
                    <a:pt x="30" y="30"/>
                    <a:pt x="40" y="34"/>
                    <a:pt x="49" y="41"/>
                  </a:cubicBezTo>
                  <a:cubicBezTo>
                    <a:pt x="60" y="51"/>
                    <a:pt x="66" y="64"/>
                    <a:pt x="67" y="79"/>
                  </a:cubicBezTo>
                  <a:cubicBezTo>
                    <a:pt x="68" y="93"/>
                    <a:pt x="62" y="107"/>
                    <a:pt x="52" y="117"/>
                  </a:cubicBezTo>
                  <a:cubicBezTo>
                    <a:pt x="50" y="120"/>
                    <a:pt x="50" y="123"/>
                    <a:pt x="52" y="1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35" tIns="45668" rIns="91335" bIns="45668" numCol="1" anchor="t" anchorCtr="0" compatLnSpc="1">
              <a:prstTxWarp prst="textNoShape">
                <a:avLst/>
              </a:prstTxWarp>
            </a:bodyPr>
            <a:lstStyle/>
            <a:p>
              <a:pPr marL="0" marR="0" lvl="0" indent="0" algn="l" defTabSz="913309"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sp>
          <p:nvSpPr>
            <p:cNvPr id="61" name="Freeform 8">
              <a:extLst>
                <a:ext uri="{FF2B5EF4-FFF2-40B4-BE49-F238E27FC236}">
                  <a16:creationId xmlns:a16="http://schemas.microsoft.com/office/drawing/2014/main" id="{E5B2969D-E3A3-ED05-51CE-ABB08A59C172}"/>
                </a:ext>
              </a:extLst>
            </p:cNvPr>
            <p:cNvSpPr>
              <a:spLocks/>
            </p:cNvSpPr>
            <p:nvPr/>
          </p:nvSpPr>
          <p:spPr bwMode="auto">
            <a:xfrm>
              <a:off x="7494588" y="5611813"/>
              <a:ext cx="288925" cy="39688"/>
            </a:xfrm>
            <a:custGeom>
              <a:avLst/>
              <a:gdLst>
                <a:gd name="T0" fmla="*/ 89 w 89"/>
                <a:gd name="T1" fmla="*/ 6 h 12"/>
                <a:gd name="T2" fmla="*/ 83 w 89"/>
                <a:gd name="T3" fmla="*/ 0 h 12"/>
                <a:gd name="T4" fmla="*/ 6 w 89"/>
                <a:gd name="T5" fmla="*/ 0 h 12"/>
                <a:gd name="T6" fmla="*/ 0 w 89"/>
                <a:gd name="T7" fmla="*/ 6 h 12"/>
                <a:gd name="T8" fmla="*/ 6 w 89"/>
                <a:gd name="T9" fmla="*/ 12 h 12"/>
                <a:gd name="T10" fmla="*/ 83 w 89"/>
                <a:gd name="T11" fmla="*/ 12 h 12"/>
                <a:gd name="T12" fmla="*/ 89 w 89"/>
                <a:gd name="T13" fmla="*/ 6 h 12"/>
              </a:gdLst>
              <a:ahLst/>
              <a:cxnLst>
                <a:cxn ang="0">
                  <a:pos x="T0" y="T1"/>
                </a:cxn>
                <a:cxn ang="0">
                  <a:pos x="T2" y="T3"/>
                </a:cxn>
                <a:cxn ang="0">
                  <a:pos x="T4" y="T5"/>
                </a:cxn>
                <a:cxn ang="0">
                  <a:pos x="T6" y="T7"/>
                </a:cxn>
                <a:cxn ang="0">
                  <a:pos x="T8" y="T9"/>
                </a:cxn>
                <a:cxn ang="0">
                  <a:pos x="T10" y="T11"/>
                </a:cxn>
                <a:cxn ang="0">
                  <a:pos x="T12" y="T13"/>
                </a:cxn>
              </a:cxnLst>
              <a:rect l="0" t="0" r="r" b="b"/>
              <a:pathLst>
                <a:path w="89" h="12">
                  <a:moveTo>
                    <a:pt x="89" y="6"/>
                  </a:moveTo>
                  <a:cubicBezTo>
                    <a:pt x="89" y="3"/>
                    <a:pt x="86" y="0"/>
                    <a:pt x="83" y="0"/>
                  </a:cubicBezTo>
                  <a:cubicBezTo>
                    <a:pt x="6" y="0"/>
                    <a:pt x="6" y="0"/>
                    <a:pt x="6" y="0"/>
                  </a:cubicBezTo>
                  <a:cubicBezTo>
                    <a:pt x="3" y="0"/>
                    <a:pt x="0" y="3"/>
                    <a:pt x="0" y="6"/>
                  </a:cubicBezTo>
                  <a:cubicBezTo>
                    <a:pt x="0" y="9"/>
                    <a:pt x="3" y="12"/>
                    <a:pt x="6" y="12"/>
                  </a:cubicBezTo>
                  <a:cubicBezTo>
                    <a:pt x="83" y="12"/>
                    <a:pt x="83" y="12"/>
                    <a:pt x="83" y="12"/>
                  </a:cubicBezTo>
                  <a:cubicBezTo>
                    <a:pt x="86" y="12"/>
                    <a:pt x="89" y="9"/>
                    <a:pt x="8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35" tIns="45668" rIns="91335" bIns="45668" numCol="1" anchor="t" anchorCtr="0" compatLnSpc="1">
              <a:prstTxWarp prst="textNoShape">
                <a:avLst/>
              </a:prstTxWarp>
            </a:bodyPr>
            <a:lstStyle/>
            <a:p>
              <a:pPr marL="0" marR="0" lvl="0" indent="0" algn="l" defTabSz="913309"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sp>
          <p:nvSpPr>
            <p:cNvPr id="62" name="Freeform 9">
              <a:extLst>
                <a:ext uri="{FF2B5EF4-FFF2-40B4-BE49-F238E27FC236}">
                  <a16:creationId xmlns:a16="http://schemas.microsoft.com/office/drawing/2014/main" id="{957823FC-65C7-DA81-FD4C-9AB292F88F88}"/>
                </a:ext>
              </a:extLst>
            </p:cNvPr>
            <p:cNvSpPr>
              <a:spLocks/>
            </p:cNvSpPr>
            <p:nvPr/>
          </p:nvSpPr>
          <p:spPr bwMode="auto">
            <a:xfrm>
              <a:off x="7721601" y="5251451"/>
              <a:ext cx="687388" cy="461963"/>
            </a:xfrm>
            <a:custGeom>
              <a:avLst/>
              <a:gdLst>
                <a:gd name="T0" fmla="*/ 209 w 211"/>
                <a:gd name="T1" fmla="*/ 112 h 141"/>
                <a:gd name="T2" fmla="*/ 189 w 211"/>
                <a:gd name="T3" fmla="*/ 93 h 141"/>
                <a:gd name="T4" fmla="*/ 181 w 211"/>
                <a:gd name="T5" fmla="*/ 93 h 141"/>
                <a:gd name="T6" fmla="*/ 181 w 211"/>
                <a:gd name="T7" fmla="*/ 102 h 141"/>
                <a:gd name="T8" fmla="*/ 190 w 211"/>
                <a:gd name="T9" fmla="*/ 110 h 141"/>
                <a:gd name="T10" fmla="*/ 68 w 211"/>
                <a:gd name="T11" fmla="*/ 110 h 141"/>
                <a:gd name="T12" fmla="*/ 67 w 211"/>
                <a:gd name="T13" fmla="*/ 110 h 141"/>
                <a:gd name="T14" fmla="*/ 30 w 211"/>
                <a:gd name="T15" fmla="*/ 96 h 141"/>
                <a:gd name="T16" fmla="*/ 13 w 211"/>
                <a:gd name="T17" fmla="*/ 60 h 141"/>
                <a:gd name="T18" fmla="*/ 40 w 211"/>
                <a:gd name="T19" fmla="*/ 13 h 141"/>
                <a:gd name="T20" fmla="*/ 43 w 211"/>
                <a:gd name="T21" fmla="*/ 4 h 141"/>
                <a:gd name="T22" fmla="*/ 34 w 211"/>
                <a:gd name="T23" fmla="*/ 2 h 141"/>
                <a:gd name="T24" fmla="*/ 1 w 211"/>
                <a:gd name="T25" fmla="*/ 60 h 141"/>
                <a:gd name="T26" fmla="*/ 22 w 211"/>
                <a:gd name="T27" fmla="*/ 105 h 141"/>
                <a:gd name="T28" fmla="*/ 65 w 211"/>
                <a:gd name="T29" fmla="*/ 122 h 141"/>
                <a:gd name="T30" fmla="*/ 67 w 211"/>
                <a:gd name="T31" fmla="*/ 122 h 141"/>
                <a:gd name="T32" fmla="*/ 67 w 211"/>
                <a:gd name="T33" fmla="*/ 122 h 141"/>
                <a:gd name="T34" fmla="*/ 190 w 211"/>
                <a:gd name="T35" fmla="*/ 122 h 141"/>
                <a:gd name="T36" fmla="*/ 180 w 211"/>
                <a:gd name="T37" fmla="*/ 130 h 141"/>
                <a:gd name="T38" fmla="*/ 180 w 211"/>
                <a:gd name="T39" fmla="*/ 138 h 141"/>
                <a:gd name="T40" fmla="*/ 184 w 211"/>
                <a:gd name="T41" fmla="*/ 141 h 141"/>
                <a:gd name="T42" fmla="*/ 188 w 211"/>
                <a:gd name="T43" fmla="*/ 139 h 141"/>
                <a:gd name="T44" fmla="*/ 209 w 211"/>
                <a:gd name="T45" fmla="*/ 121 h 141"/>
                <a:gd name="T46" fmla="*/ 211 w 211"/>
                <a:gd name="T47" fmla="*/ 116 h 141"/>
                <a:gd name="T48" fmla="*/ 209 w 211"/>
                <a:gd name="T49" fmla="*/ 1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11" h="141">
                  <a:moveTo>
                    <a:pt x="209" y="112"/>
                  </a:moveTo>
                  <a:cubicBezTo>
                    <a:pt x="189" y="93"/>
                    <a:pt x="189" y="93"/>
                    <a:pt x="189" y="93"/>
                  </a:cubicBezTo>
                  <a:cubicBezTo>
                    <a:pt x="187" y="91"/>
                    <a:pt x="183" y="91"/>
                    <a:pt x="181" y="93"/>
                  </a:cubicBezTo>
                  <a:cubicBezTo>
                    <a:pt x="178" y="95"/>
                    <a:pt x="178" y="99"/>
                    <a:pt x="181" y="102"/>
                  </a:cubicBezTo>
                  <a:cubicBezTo>
                    <a:pt x="190" y="110"/>
                    <a:pt x="190" y="110"/>
                    <a:pt x="190" y="110"/>
                  </a:cubicBezTo>
                  <a:cubicBezTo>
                    <a:pt x="68" y="110"/>
                    <a:pt x="68" y="110"/>
                    <a:pt x="68" y="110"/>
                  </a:cubicBezTo>
                  <a:cubicBezTo>
                    <a:pt x="67" y="110"/>
                    <a:pt x="67" y="110"/>
                    <a:pt x="67" y="110"/>
                  </a:cubicBezTo>
                  <a:cubicBezTo>
                    <a:pt x="53" y="110"/>
                    <a:pt x="40" y="105"/>
                    <a:pt x="30" y="96"/>
                  </a:cubicBezTo>
                  <a:cubicBezTo>
                    <a:pt x="20" y="87"/>
                    <a:pt x="14" y="74"/>
                    <a:pt x="13" y="60"/>
                  </a:cubicBezTo>
                  <a:cubicBezTo>
                    <a:pt x="13" y="40"/>
                    <a:pt x="23" y="22"/>
                    <a:pt x="40" y="13"/>
                  </a:cubicBezTo>
                  <a:cubicBezTo>
                    <a:pt x="43" y="11"/>
                    <a:pt x="44" y="7"/>
                    <a:pt x="43" y="4"/>
                  </a:cubicBezTo>
                  <a:cubicBezTo>
                    <a:pt x="41" y="1"/>
                    <a:pt x="37" y="0"/>
                    <a:pt x="34" y="2"/>
                  </a:cubicBezTo>
                  <a:cubicBezTo>
                    <a:pt x="13" y="14"/>
                    <a:pt x="0" y="36"/>
                    <a:pt x="1" y="60"/>
                  </a:cubicBezTo>
                  <a:cubicBezTo>
                    <a:pt x="2" y="77"/>
                    <a:pt x="9" y="93"/>
                    <a:pt x="22" y="105"/>
                  </a:cubicBezTo>
                  <a:cubicBezTo>
                    <a:pt x="34" y="116"/>
                    <a:pt x="49" y="122"/>
                    <a:pt x="65" y="122"/>
                  </a:cubicBezTo>
                  <a:cubicBezTo>
                    <a:pt x="66" y="122"/>
                    <a:pt x="66" y="122"/>
                    <a:pt x="67" y="122"/>
                  </a:cubicBezTo>
                  <a:cubicBezTo>
                    <a:pt x="67" y="122"/>
                    <a:pt x="67" y="122"/>
                    <a:pt x="67" y="122"/>
                  </a:cubicBezTo>
                  <a:cubicBezTo>
                    <a:pt x="190" y="122"/>
                    <a:pt x="190" y="122"/>
                    <a:pt x="190" y="122"/>
                  </a:cubicBezTo>
                  <a:cubicBezTo>
                    <a:pt x="180" y="130"/>
                    <a:pt x="180" y="130"/>
                    <a:pt x="180" y="130"/>
                  </a:cubicBezTo>
                  <a:cubicBezTo>
                    <a:pt x="178" y="132"/>
                    <a:pt x="177" y="136"/>
                    <a:pt x="180" y="138"/>
                  </a:cubicBezTo>
                  <a:cubicBezTo>
                    <a:pt x="181" y="140"/>
                    <a:pt x="182" y="141"/>
                    <a:pt x="184" y="141"/>
                  </a:cubicBezTo>
                  <a:cubicBezTo>
                    <a:pt x="186" y="141"/>
                    <a:pt x="187" y="140"/>
                    <a:pt x="188" y="139"/>
                  </a:cubicBezTo>
                  <a:cubicBezTo>
                    <a:pt x="209" y="121"/>
                    <a:pt x="209" y="121"/>
                    <a:pt x="209" y="121"/>
                  </a:cubicBezTo>
                  <a:cubicBezTo>
                    <a:pt x="210" y="120"/>
                    <a:pt x="211" y="118"/>
                    <a:pt x="211" y="116"/>
                  </a:cubicBezTo>
                  <a:cubicBezTo>
                    <a:pt x="211" y="115"/>
                    <a:pt x="211" y="113"/>
                    <a:pt x="209" y="1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35" tIns="45668" rIns="91335" bIns="45668" numCol="1" anchor="t" anchorCtr="0" compatLnSpc="1">
              <a:prstTxWarp prst="textNoShape">
                <a:avLst/>
              </a:prstTxWarp>
            </a:bodyPr>
            <a:lstStyle/>
            <a:p>
              <a:pPr marL="0" marR="0" lvl="0" indent="0" algn="l" defTabSz="913309"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grpSp>
      <p:sp>
        <p:nvSpPr>
          <p:cNvPr id="63" name="TextBox 27">
            <a:extLst>
              <a:ext uri="{FF2B5EF4-FFF2-40B4-BE49-F238E27FC236}">
                <a16:creationId xmlns:a16="http://schemas.microsoft.com/office/drawing/2014/main" id="{1174BA8A-1FD3-8C97-CECF-7737176CA458}"/>
              </a:ext>
            </a:extLst>
          </p:cNvPr>
          <p:cNvSpPr txBox="1"/>
          <p:nvPr/>
        </p:nvSpPr>
        <p:spPr>
          <a:xfrm>
            <a:off x="9552825" y="1708672"/>
            <a:ext cx="2317727" cy="1533753"/>
          </a:xfrm>
          <a:prstGeom prst="rect">
            <a:avLst/>
          </a:prstGeom>
          <a:noFill/>
        </p:spPr>
        <p:txBody>
          <a:bodyPr wrap="square" lIns="0" tIns="0" rIns="0" bIns="0" rtlCol="0">
            <a:spAutoFit/>
          </a:bodyPr>
          <a:lstStyle/>
          <a:p>
            <a:pPr marL="0" marR="0" lvl="0" indent="0" algn="l" defTabSz="913309" rtl="0" eaLnBrk="1" fontAlgn="auto" latinLnBrk="0" hangingPunct="1">
              <a:lnSpc>
                <a:spcPct val="100000"/>
              </a:lnSpc>
              <a:spcBef>
                <a:spcPts val="0"/>
              </a:spcBef>
              <a:spcAft>
                <a:spcPts val="300"/>
              </a:spcAft>
              <a:buClrTx/>
              <a:buSzTx/>
              <a:buFontTx/>
              <a:buNone/>
              <a:tabLst/>
              <a:defRPr/>
            </a:pPr>
            <a:r>
              <a:rPr kumimoji="0" lang="en-US" sz="1050" b="1" i="0" u="none" strike="noStrike" kern="1200" cap="none" spc="0" normalizeH="0" baseline="0" noProof="0">
                <a:ln>
                  <a:noFill/>
                </a:ln>
                <a:solidFill>
                  <a:prstClr val="black"/>
                </a:solidFill>
                <a:effectLst/>
                <a:uLnTx/>
                <a:uFillTx/>
                <a:latin typeface="Graphik"/>
                <a:ea typeface="+mn-ea"/>
                <a:cs typeface="+mn-cs"/>
              </a:rPr>
              <a:t>Systems of Innovation</a:t>
            </a:r>
          </a:p>
          <a:p>
            <a:pPr marL="179785" marR="0" lvl="0" indent="-179785" algn="l" defTabSz="913309" rtl="0" eaLnBrk="1" fontAlgn="auto" latinLnBrk="0" hangingPunct="1">
              <a:lnSpc>
                <a:spcPct val="100000"/>
              </a:lnSpc>
              <a:spcBef>
                <a:spcPts val="0"/>
              </a:spcBef>
              <a:spcAft>
                <a:spcPts val="199"/>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High degree of change with a Fail Fast mindset</a:t>
            </a:r>
          </a:p>
          <a:p>
            <a:pPr marL="179785" marR="0" lvl="0" indent="-179785" algn="l" defTabSz="913309" rtl="0" eaLnBrk="1" fontAlgn="auto" latinLnBrk="0" hangingPunct="1">
              <a:lnSpc>
                <a:spcPct val="100000"/>
              </a:lnSpc>
              <a:spcBef>
                <a:spcPts val="0"/>
              </a:spcBef>
              <a:spcAft>
                <a:spcPts val="199"/>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Allow experimentation and prototyping</a:t>
            </a:r>
          </a:p>
          <a:p>
            <a:pPr marL="179785" marR="0" lvl="0" indent="-179785" algn="l" defTabSz="584116" rtl="0" eaLnBrk="1" fontAlgn="auto" latinLnBrk="0" hangingPunct="1">
              <a:lnSpc>
                <a:spcPct val="100000"/>
              </a:lnSpc>
              <a:spcBef>
                <a:spcPts val="0"/>
              </a:spcBef>
              <a:spcAft>
                <a:spcPts val="199"/>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Use of cloud and microservices architecture </a:t>
            </a:r>
          </a:p>
          <a:p>
            <a:pPr marL="179785" marR="0" lvl="0" indent="-179785" algn="l" defTabSz="584116" rtl="0" eaLnBrk="1" fontAlgn="auto" latinLnBrk="0" hangingPunct="1">
              <a:lnSpc>
                <a:spcPct val="100000"/>
              </a:lnSpc>
              <a:spcBef>
                <a:spcPts val="0"/>
              </a:spcBef>
              <a:spcAft>
                <a:spcPts val="199"/>
              </a:spcAft>
              <a:buClrTx/>
              <a:buSzTx/>
              <a:buFont typeface="Arial" panose="020B0604020202020204" pitchFamily="34" charset="0"/>
              <a:buChar char="•"/>
              <a:tabLst/>
              <a:defRPr/>
            </a:pPr>
            <a:r>
              <a:rPr kumimoji="0" lang="en-US" sz="1000" b="1" i="0" u="sng" strike="noStrike" kern="1200" cap="none" spc="0" normalizeH="0" baseline="0" noProof="0">
                <a:ln>
                  <a:noFill/>
                </a:ln>
                <a:solidFill>
                  <a:prstClr val="black"/>
                </a:solidFill>
                <a:effectLst/>
                <a:uLnTx/>
                <a:uFillTx/>
                <a:latin typeface="Graphik Light" panose="020B0403030202060203" pitchFamily="34" charset="0"/>
                <a:ea typeface="+mn-ea"/>
                <a:cs typeface="+mn-cs"/>
              </a:rPr>
              <a:t>In-house built</a:t>
            </a:r>
          </a:p>
          <a:p>
            <a:pPr marL="179785" marR="0" lvl="0" indent="-179785" algn="l" defTabSz="913309" rtl="0" eaLnBrk="1" fontAlgn="auto" latinLnBrk="0" hangingPunct="1">
              <a:lnSpc>
                <a:spcPct val="100000"/>
              </a:lnSpc>
              <a:spcBef>
                <a:spcPts val="0"/>
              </a:spcBef>
              <a:spcAft>
                <a:spcPts val="199"/>
              </a:spcAft>
              <a:buClrTx/>
              <a:buSzTx/>
              <a:buFont typeface="Arial" panose="020B0604020202020204" pitchFamily="34" charset="0"/>
              <a:buChar char="•"/>
              <a:tabLst/>
              <a:defRPr/>
            </a:pPr>
            <a:endParaRPr kumimoji="0" lang="en-U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endParaRPr>
          </a:p>
        </p:txBody>
      </p:sp>
      <p:sp>
        <p:nvSpPr>
          <p:cNvPr id="64" name="TextBox 28">
            <a:extLst>
              <a:ext uri="{FF2B5EF4-FFF2-40B4-BE49-F238E27FC236}">
                <a16:creationId xmlns:a16="http://schemas.microsoft.com/office/drawing/2014/main" id="{49335F67-5F3C-96D0-4318-5144F73F310B}"/>
              </a:ext>
            </a:extLst>
          </p:cNvPr>
          <p:cNvSpPr txBox="1"/>
          <p:nvPr/>
        </p:nvSpPr>
        <p:spPr>
          <a:xfrm rot="16200000">
            <a:off x="8878821" y="5471982"/>
            <a:ext cx="819797" cy="261610"/>
          </a:xfrm>
          <a:prstGeom prst="rect">
            <a:avLst/>
          </a:prstGeom>
          <a:noFill/>
        </p:spPr>
        <p:txBody>
          <a:bodyPr wrap="square" rtlCol="0">
            <a:spAutoFit/>
          </a:bodyPr>
          <a:lstStyle/>
          <a:p>
            <a:pPr marL="0" marR="0" lvl="0" indent="0" algn="l" defTabSz="913309"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Graphik" panose="020B0503030202060203" pitchFamily="34" charset="0"/>
                <a:ea typeface="+mn-ea"/>
                <a:cs typeface="+mn-cs"/>
              </a:rPr>
              <a:t>Stability</a:t>
            </a:r>
          </a:p>
        </p:txBody>
      </p:sp>
      <p:sp>
        <p:nvSpPr>
          <p:cNvPr id="65" name="TextBox 33">
            <a:extLst>
              <a:ext uri="{FF2B5EF4-FFF2-40B4-BE49-F238E27FC236}">
                <a16:creationId xmlns:a16="http://schemas.microsoft.com/office/drawing/2014/main" id="{FB47440D-B024-509D-4500-62EF571D0201}"/>
              </a:ext>
            </a:extLst>
          </p:cNvPr>
          <p:cNvSpPr txBox="1"/>
          <p:nvPr/>
        </p:nvSpPr>
        <p:spPr>
          <a:xfrm rot="16200000">
            <a:off x="8805947" y="2012440"/>
            <a:ext cx="888385" cy="261610"/>
          </a:xfrm>
          <a:prstGeom prst="rect">
            <a:avLst/>
          </a:prstGeom>
          <a:noFill/>
        </p:spPr>
        <p:txBody>
          <a:bodyPr wrap="none" rtlCol="0">
            <a:spAutoFit/>
          </a:bodyPr>
          <a:lstStyle/>
          <a:p>
            <a:pPr marL="0" marR="0" lvl="0" indent="0" algn="l" defTabSz="913309"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Graphik" panose="020B0503030202060203" pitchFamily="34" charset="0"/>
                <a:ea typeface="+mn-ea"/>
                <a:cs typeface="+mn-cs"/>
              </a:rPr>
              <a:t>Flexibility</a:t>
            </a:r>
          </a:p>
        </p:txBody>
      </p:sp>
      <p:sp>
        <p:nvSpPr>
          <p:cNvPr id="66" name="Arrow: Up-Down 34">
            <a:extLst>
              <a:ext uri="{FF2B5EF4-FFF2-40B4-BE49-F238E27FC236}">
                <a16:creationId xmlns:a16="http://schemas.microsoft.com/office/drawing/2014/main" id="{D15CA3BF-FD7C-0F85-5532-3875EE7DFA43}"/>
              </a:ext>
            </a:extLst>
          </p:cNvPr>
          <p:cNvSpPr/>
          <p:nvPr/>
        </p:nvSpPr>
        <p:spPr>
          <a:xfrm>
            <a:off x="8986459" y="1765588"/>
            <a:ext cx="199006" cy="4138720"/>
          </a:xfrm>
          <a:prstGeom prst="upDownArrow">
            <a:avLst>
              <a:gd name="adj1" fmla="val 18726"/>
              <a:gd name="adj2" fmla="val 59865"/>
            </a:avLst>
          </a:prstGeom>
          <a:solidFill>
            <a:srgbClr val="FF0000"/>
          </a:solidFill>
          <a:ln>
            <a:solidFill>
              <a:srgbClr val="FF32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309" rtl="0" eaLnBrk="1" fontAlgn="auto" latinLnBrk="0" hangingPunct="1">
              <a:lnSpc>
                <a:spcPct val="100000"/>
              </a:lnSpc>
              <a:spcBef>
                <a:spcPts val="0"/>
              </a:spcBef>
              <a:spcAft>
                <a:spcPts val="0"/>
              </a:spcAft>
              <a:buClrTx/>
              <a:buSzTx/>
              <a:buFontTx/>
              <a:buNone/>
              <a:tabLst/>
              <a:defRPr/>
            </a:pPr>
            <a:endParaRPr kumimoji="0" lang="en-US" sz="1198" b="0" i="0" u="none" strike="noStrike" kern="1200" cap="none" spc="0" normalizeH="0" baseline="0" noProof="0">
              <a:ln>
                <a:noFill/>
              </a:ln>
              <a:solidFill>
                <a:srgbClr val="7030A0"/>
              </a:solidFill>
              <a:effectLst/>
              <a:uLnTx/>
              <a:uFillTx/>
              <a:latin typeface="Calibri"/>
              <a:ea typeface="+mn-ea"/>
              <a:cs typeface="+mn-cs"/>
            </a:endParaRPr>
          </a:p>
        </p:txBody>
      </p:sp>
      <p:sp>
        <p:nvSpPr>
          <p:cNvPr id="67" name="TextBox 35">
            <a:extLst>
              <a:ext uri="{FF2B5EF4-FFF2-40B4-BE49-F238E27FC236}">
                <a16:creationId xmlns:a16="http://schemas.microsoft.com/office/drawing/2014/main" id="{11DAF220-39E6-7E94-1734-4E28B27AC035}"/>
              </a:ext>
            </a:extLst>
          </p:cNvPr>
          <p:cNvSpPr txBox="1"/>
          <p:nvPr/>
        </p:nvSpPr>
        <p:spPr>
          <a:xfrm>
            <a:off x="9539416" y="4709986"/>
            <a:ext cx="2319834" cy="820738"/>
          </a:xfrm>
          <a:prstGeom prst="rect">
            <a:avLst/>
          </a:prstGeom>
          <a:noFill/>
        </p:spPr>
        <p:txBody>
          <a:bodyPr wrap="square" lIns="0" tIns="0" rIns="0" bIns="0" rtlCol="0">
            <a:spAutoFit/>
          </a:bodyPr>
          <a:lstStyle/>
          <a:p>
            <a:pPr marL="0" marR="0" lvl="0" indent="0" algn="l" defTabSz="913309"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Graphik"/>
                <a:ea typeface="+mn-ea"/>
                <a:cs typeface="+mn-cs"/>
              </a:rPr>
              <a:t>Systems of Record</a:t>
            </a:r>
          </a:p>
          <a:p>
            <a:pPr marL="179785" marR="0" lvl="0" indent="-179785" algn="l" defTabSz="584116" rtl="0" eaLnBrk="1" fontAlgn="auto" latinLnBrk="0" hangingPunct="1">
              <a:lnSpc>
                <a:spcPct val="100000"/>
              </a:lnSpc>
              <a:spcBef>
                <a:spcPts val="0"/>
              </a:spcBef>
              <a:spcAft>
                <a:spcPts val="199"/>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Focus on security and availability</a:t>
            </a:r>
          </a:p>
          <a:p>
            <a:pPr marL="179785" marR="0" lvl="0" indent="-179785" algn="l" defTabSz="584116" rtl="0" eaLnBrk="1" fontAlgn="auto" latinLnBrk="0" hangingPunct="1">
              <a:lnSpc>
                <a:spcPct val="100000"/>
              </a:lnSpc>
              <a:spcBef>
                <a:spcPts val="0"/>
              </a:spcBef>
              <a:spcAft>
                <a:spcPts val="199"/>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More predictable evolution of functionalities</a:t>
            </a:r>
          </a:p>
          <a:p>
            <a:pPr marL="179785" marR="0" lvl="0" indent="-179785" algn="l" defTabSz="584116" rtl="0" eaLnBrk="1" fontAlgn="auto" latinLnBrk="0" hangingPunct="1">
              <a:lnSpc>
                <a:spcPct val="100000"/>
              </a:lnSpc>
              <a:spcBef>
                <a:spcPts val="0"/>
              </a:spcBef>
              <a:spcAft>
                <a:spcPts val="199"/>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Greater use of packages</a:t>
            </a:r>
          </a:p>
        </p:txBody>
      </p:sp>
      <p:sp>
        <p:nvSpPr>
          <p:cNvPr id="68" name="TextBox 36">
            <a:extLst>
              <a:ext uri="{FF2B5EF4-FFF2-40B4-BE49-F238E27FC236}">
                <a16:creationId xmlns:a16="http://schemas.microsoft.com/office/drawing/2014/main" id="{699432CF-A79C-9CF2-28A4-6C751AD76C3A}"/>
              </a:ext>
            </a:extLst>
          </p:cNvPr>
          <p:cNvSpPr txBox="1"/>
          <p:nvPr/>
        </p:nvSpPr>
        <p:spPr>
          <a:xfrm>
            <a:off x="9548002" y="3211494"/>
            <a:ext cx="2317727" cy="1461939"/>
          </a:xfrm>
          <a:prstGeom prst="rect">
            <a:avLst/>
          </a:prstGeom>
          <a:noFill/>
        </p:spPr>
        <p:txBody>
          <a:bodyPr wrap="square" lIns="0" tIns="0" rIns="0" bIns="0" rtlCol="0">
            <a:spAutoFit/>
          </a:bodyPr>
          <a:lstStyle/>
          <a:p>
            <a:pPr marL="0" marR="0" lvl="0" indent="0" algn="l" defTabSz="913309"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Graphik"/>
                <a:ea typeface="+mn-ea"/>
                <a:cs typeface="+mn-cs"/>
              </a:rPr>
              <a:t>Systems of Differentiation</a:t>
            </a:r>
          </a:p>
          <a:p>
            <a:pPr marL="179785" marR="0" lvl="0" indent="-179785" algn="l" defTabSz="584116" rtl="0" eaLnBrk="1" fontAlgn="auto" latinLnBrk="0" hangingPunct="1">
              <a:lnSpc>
                <a:spcPct val="100000"/>
              </a:lnSpc>
              <a:spcBef>
                <a:spcPts val="0"/>
              </a:spcBef>
              <a:spcAft>
                <a:spcPts val="199"/>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High degree of change, seeking to increase efficiency and reduce Time to Market</a:t>
            </a:r>
          </a:p>
          <a:p>
            <a:pPr marL="179785" marR="0" lvl="0" indent="-179785" algn="l" defTabSz="584116" rtl="0" eaLnBrk="1" fontAlgn="auto" latinLnBrk="0" hangingPunct="1">
              <a:lnSpc>
                <a:spcPct val="100000"/>
              </a:lnSpc>
              <a:spcBef>
                <a:spcPts val="0"/>
              </a:spcBef>
              <a:spcAft>
                <a:spcPts val="199"/>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Tendency to add functionalities from bank products</a:t>
            </a:r>
          </a:p>
          <a:p>
            <a:pPr marL="179785" marR="0" lvl="0" indent="-179785" algn="l" defTabSz="913309" rtl="0" eaLnBrk="1" fontAlgn="auto" latinLnBrk="0" hangingPunct="1">
              <a:lnSpc>
                <a:spcPct val="100000"/>
              </a:lnSpc>
              <a:spcBef>
                <a:spcPts val="0"/>
              </a:spcBef>
              <a:spcAft>
                <a:spcPts val="199"/>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Flexible and loosely coupled architecture</a:t>
            </a:r>
          </a:p>
          <a:p>
            <a:pPr marL="179785" marR="0" lvl="0" indent="-179785" algn="l" defTabSz="913309" rtl="0" eaLnBrk="1" fontAlgn="auto" latinLnBrk="0" hangingPunct="1">
              <a:lnSpc>
                <a:spcPct val="100000"/>
              </a:lnSpc>
              <a:spcBef>
                <a:spcPts val="0"/>
              </a:spcBef>
              <a:spcAft>
                <a:spcPts val="199"/>
              </a:spcAft>
              <a:buClrTx/>
              <a:buSzTx/>
              <a:buFont typeface="Arial" panose="020B0604020202020204" pitchFamily="34" charset="0"/>
              <a:buChar char="•"/>
              <a:tabLst/>
              <a:defRPr/>
            </a:pPr>
            <a:r>
              <a:rPr kumimoji="0" lang="en-US" sz="1000" b="1" i="0" u="sng" strike="noStrike" kern="1200" cap="none" spc="0" normalizeH="0" baseline="0" noProof="0">
                <a:ln>
                  <a:noFill/>
                </a:ln>
                <a:solidFill>
                  <a:prstClr val="black"/>
                </a:solidFill>
                <a:effectLst/>
                <a:uLnTx/>
                <a:uFillTx/>
                <a:latin typeface="Graphik Light" panose="020B0403030202060203" pitchFamily="34" charset="0"/>
                <a:ea typeface="+mn-ea"/>
                <a:cs typeface="+mn-cs"/>
              </a:rPr>
              <a:t>In-house built</a:t>
            </a:r>
          </a:p>
        </p:txBody>
      </p:sp>
      <p:sp>
        <p:nvSpPr>
          <p:cNvPr id="69" name="TextBox 27">
            <a:extLst>
              <a:ext uri="{FF2B5EF4-FFF2-40B4-BE49-F238E27FC236}">
                <a16:creationId xmlns:a16="http://schemas.microsoft.com/office/drawing/2014/main" id="{03DE4179-9D74-E3D7-98C2-3112B252539B}"/>
              </a:ext>
            </a:extLst>
          </p:cNvPr>
          <p:cNvSpPr txBox="1"/>
          <p:nvPr/>
        </p:nvSpPr>
        <p:spPr>
          <a:xfrm>
            <a:off x="532747" y="2770709"/>
            <a:ext cx="2427611" cy="1007968"/>
          </a:xfrm>
          <a:prstGeom prst="rect">
            <a:avLst/>
          </a:prstGeom>
          <a:noFill/>
        </p:spPr>
        <p:txBody>
          <a:bodyPr wrap="square" lIns="0" tIns="0" rIns="0" bIns="0" rtlCol="0">
            <a:spAutoFit/>
          </a:bodyPr>
          <a:lstStyle/>
          <a:p>
            <a:pPr marL="0" marR="0" lvl="0" indent="0" algn="l" defTabSz="913309" rtl="0" eaLnBrk="1" fontAlgn="auto" latinLnBrk="0" hangingPunct="1">
              <a:lnSpc>
                <a:spcPct val="100000"/>
              </a:lnSpc>
              <a:spcBef>
                <a:spcPts val="600"/>
              </a:spcBef>
              <a:spcAft>
                <a:spcPts val="0"/>
              </a:spcAft>
              <a:buClrTx/>
              <a:buSzTx/>
              <a:buFontTx/>
              <a:buNone/>
              <a:tabLst/>
              <a:defRPr/>
            </a:pPr>
            <a:r>
              <a:rPr kumimoji="0" lang="en-US" sz="1050" b="1" i="0" u="none" strike="noStrike" kern="1200" cap="none" spc="0" normalizeH="0" baseline="0" noProof="0">
                <a:ln>
                  <a:noFill/>
                </a:ln>
                <a:solidFill>
                  <a:prstClr val="black"/>
                </a:solidFill>
                <a:effectLst/>
                <a:uLnTx/>
                <a:uFillTx/>
                <a:latin typeface="Graphik"/>
                <a:ea typeface="+mn-ea"/>
                <a:cs typeface="+mn-cs"/>
              </a:rPr>
              <a:t>Interoperability layer</a:t>
            </a:r>
          </a:p>
          <a:p>
            <a:pPr marL="0" marR="0" lvl="0" indent="0" algn="l" defTabSz="913309" rtl="0" eaLnBrk="1" fontAlgn="auto"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Enables the decoupling, integration, orchestration and coexistence of all potential different technologies, sources, hosting alternatives, and communication protocols</a:t>
            </a:r>
          </a:p>
        </p:txBody>
      </p:sp>
      <p:grpSp>
        <p:nvGrpSpPr>
          <p:cNvPr id="70" name="Group 69">
            <a:extLst>
              <a:ext uri="{FF2B5EF4-FFF2-40B4-BE49-F238E27FC236}">
                <a16:creationId xmlns:a16="http://schemas.microsoft.com/office/drawing/2014/main" id="{5E11709E-7B76-4C28-295F-CAB4FABE1C60}"/>
              </a:ext>
            </a:extLst>
          </p:cNvPr>
          <p:cNvGrpSpPr/>
          <p:nvPr>
            <p:custDataLst>
              <p:tags r:id="rId1"/>
            </p:custDataLst>
          </p:nvPr>
        </p:nvGrpSpPr>
        <p:grpSpPr>
          <a:xfrm>
            <a:off x="6524834" y="1267587"/>
            <a:ext cx="1808294" cy="125757"/>
            <a:chOff x="10456977" y="228600"/>
            <a:chExt cx="973023" cy="266244"/>
          </a:xfrm>
        </p:grpSpPr>
        <p:sp>
          <p:nvSpPr>
            <p:cNvPr id="71" name="TextBox 70">
              <a:extLst>
                <a:ext uri="{FF2B5EF4-FFF2-40B4-BE49-F238E27FC236}">
                  <a16:creationId xmlns:a16="http://schemas.microsoft.com/office/drawing/2014/main" id="{15D36AAB-2F4A-1857-A5C3-FC3EABCE434D}"/>
                </a:ext>
              </a:extLst>
            </p:cNvPr>
            <p:cNvSpPr txBox="1"/>
            <p:nvPr/>
          </p:nvSpPr>
          <p:spPr>
            <a:xfrm>
              <a:off x="10456977" y="248029"/>
              <a:ext cx="973023" cy="227385"/>
            </a:xfrm>
            <a:prstGeom prst="rect">
              <a:avLst/>
            </a:prstGeom>
            <a:noFill/>
          </p:spPr>
          <p:txBody>
            <a:bodyPr vert="horz" wrap="square" lIns="0" tIns="0" rIns="0" bIns="0" rtlCol="0" anchor="ctr" anchorCtr="1">
              <a:spAutoFit/>
            </a:bodyPr>
            <a:lstStyle/>
            <a:p>
              <a:pPr marL="0" marR="0" lvl="0" indent="0" algn="ctr" defTabSz="228327" rtl="0" eaLnBrk="1" fontAlgn="auto" latinLnBrk="0" hangingPunct="1">
                <a:lnSpc>
                  <a:spcPct val="100000"/>
                </a:lnSpc>
                <a:spcBef>
                  <a:spcPts val="0"/>
                </a:spcBef>
                <a:spcAft>
                  <a:spcPts val="1198"/>
                </a:spcAft>
                <a:buClrTx/>
                <a:buSzTx/>
                <a:buFontTx/>
                <a:buNone/>
                <a:tabLst/>
                <a:defRPr/>
              </a:pPr>
              <a:r>
                <a:rPr kumimoji="0" lang="en-US" sz="698" b="1" i="0" u="none" strike="noStrike" kern="1200" cap="none" spc="0" normalizeH="0" baseline="0" noProof="0">
                  <a:ln>
                    <a:noFill/>
                  </a:ln>
                  <a:solidFill>
                    <a:srgbClr val="000000"/>
                  </a:solidFill>
                  <a:effectLst/>
                  <a:uLnTx/>
                  <a:uFillTx/>
                  <a:latin typeface="Graphik"/>
                  <a:ea typeface="+mn-ea"/>
                  <a:cs typeface="+mn-cs"/>
                </a:rPr>
                <a:t>CONCEPTUAL / NON EXHAUSTIVE</a:t>
              </a:r>
            </a:p>
          </p:txBody>
        </p:sp>
        <p:cxnSp>
          <p:nvCxnSpPr>
            <p:cNvPr id="72" name="Straight Connector 71">
              <a:extLst>
                <a:ext uri="{FF2B5EF4-FFF2-40B4-BE49-F238E27FC236}">
                  <a16:creationId xmlns:a16="http://schemas.microsoft.com/office/drawing/2014/main" id="{06ECE2C8-4847-8A98-C56E-429269E88D87}"/>
                </a:ext>
              </a:extLst>
            </p:cNvPr>
            <p:cNvCxnSpPr>
              <a:cxnSpLocks/>
            </p:cNvCxnSpPr>
            <p:nvPr/>
          </p:nvCxnSpPr>
          <p:spPr>
            <a:xfrm>
              <a:off x="10456977" y="228600"/>
              <a:ext cx="973023" cy="0"/>
            </a:xfrm>
            <a:prstGeom prst="line">
              <a:avLst/>
            </a:prstGeom>
            <a:ln w="12700" cmpd="sng">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9E2A5A31-679C-6A37-633D-354B6C0984B7}"/>
                </a:ext>
              </a:extLst>
            </p:cNvPr>
            <p:cNvCxnSpPr>
              <a:cxnSpLocks/>
            </p:cNvCxnSpPr>
            <p:nvPr/>
          </p:nvCxnSpPr>
          <p:spPr>
            <a:xfrm>
              <a:off x="10456977" y="494844"/>
              <a:ext cx="973023" cy="0"/>
            </a:xfrm>
            <a:prstGeom prst="line">
              <a:avLst/>
            </a:prstGeom>
            <a:ln w="12700" cmpd="sng">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74" name="TextBox 73">
            <a:extLst>
              <a:ext uri="{FF2B5EF4-FFF2-40B4-BE49-F238E27FC236}">
                <a16:creationId xmlns:a16="http://schemas.microsoft.com/office/drawing/2014/main" id="{8C087FAF-BCC1-B7C8-FF20-76198AB87191}"/>
              </a:ext>
            </a:extLst>
          </p:cNvPr>
          <p:cNvSpPr txBox="1"/>
          <p:nvPr/>
        </p:nvSpPr>
        <p:spPr>
          <a:xfrm>
            <a:off x="9026153" y="1325454"/>
            <a:ext cx="2913167" cy="276679"/>
          </a:xfrm>
          <a:prstGeom prst="rect">
            <a:avLst/>
          </a:prstGeom>
          <a:noFill/>
        </p:spPr>
        <p:txBody>
          <a:bodyPr wrap="square">
            <a:spAutoFit/>
          </a:bodyPr>
          <a:lstStyle/>
          <a:p>
            <a:pPr marL="0" marR="0" lvl="0" indent="0" algn="l" defTabSz="913309" rtl="0" eaLnBrk="1" fontAlgn="auto" latinLnBrk="0" hangingPunct="1">
              <a:lnSpc>
                <a:spcPct val="100000"/>
              </a:lnSpc>
              <a:spcBef>
                <a:spcPts val="600"/>
              </a:spcBef>
              <a:spcAft>
                <a:spcPts val="0"/>
              </a:spcAft>
              <a:buClrTx/>
              <a:buSzTx/>
              <a:buFontTx/>
              <a:buNone/>
              <a:tabLst/>
              <a:defRPr/>
            </a:pPr>
            <a:r>
              <a:rPr kumimoji="0" lang="en-US" sz="1198" b="1" i="0" u="none" strike="noStrike" kern="1200" cap="none" spc="0" normalizeH="0" baseline="0" noProof="0">
                <a:ln>
                  <a:noFill/>
                </a:ln>
                <a:solidFill>
                  <a:srgbClr val="460073"/>
                </a:solidFill>
                <a:effectLst/>
                <a:uLnTx/>
                <a:uFillTx/>
                <a:latin typeface="Graphik"/>
                <a:ea typeface="+mn-ea"/>
                <a:cs typeface="+mn-cs"/>
              </a:rPr>
              <a:t>Ecosystem architecture</a:t>
            </a:r>
          </a:p>
        </p:txBody>
      </p:sp>
      <p:sp>
        <p:nvSpPr>
          <p:cNvPr id="75" name="TextBox 27">
            <a:extLst>
              <a:ext uri="{FF2B5EF4-FFF2-40B4-BE49-F238E27FC236}">
                <a16:creationId xmlns:a16="http://schemas.microsoft.com/office/drawing/2014/main" id="{F6579F12-54E5-A578-D319-119FE017783D}"/>
              </a:ext>
            </a:extLst>
          </p:cNvPr>
          <p:cNvSpPr txBox="1"/>
          <p:nvPr/>
        </p:nvSpPr>
        <p:spPr>
          <a:xfrm>
            <a:off x="532748" y="1736553"/>
            <a:ext cx="2493543" cy="854080"/>
          </a:xfrm>
          <a:prstGeom prst="rect">
            <a:avLst/>
          </a:prstGeom>
          <a:noFill/>
        </p:spPr>
        <p:txBody>
          <a:bodyPr wrap="square" lIns="0" tIns="0" rIns="0" bIns="0" rtlCol="0">
            <a:spAutoFit/>
          </a:bodyPr>
          <a:lstStyle/>
          <a:p>
            <a:pPr marL="0" marR="0" lvl="0" indent="0" algn="l" defTabSz="913309" rtl="0" eaLnBrk="1" fontAlgn="auto" latinLnBrk="0" hangingPunct="1">
              <a:lnSpc>
                <a:spcPct val="100000"/>
              </a:lnSpc>
              <a:spcBef>
                <a:spcPts val="600"/>
              </a:spcBef>
              <a:spcAft>
                <a:spcPts val="0"/>
              </a:spcAft>
              <a:buClrTx/>
              <a:buSzTx/>
              <a:buFontTx/>
              <a:buNone/>
              <a:tabLst/>
              <a:defRPr/>
            </a:pPr>
            <a:r>
              <a:rPr kumimoji="0" lang="en-US" sz="1050" b="1" i="0" u="none" strike="noStrike" kern="1200" cap="none" spc="0" normalizeH="0" baseline="0" noProof="0">
                <a:ln>
                  <a:noFill/>
                </a:ln>
                <a:solidFill>
                  <a:prstClr val="black"/>
                </a:solidFill>
                <a:effectLst/>
                <a:uLnTx/>
                <a:uFillTx/>
                <a:latin typeface="Graphik"/>
                <a:ea typeface="+mn-ea"/>
                <a:cs typeface="+mn-cs"/>
              </a:rPr>
              <a:t>AI based “Bank of One”</a:t>
            </a:r>
          </a:p>
          <a:p>
            <a:pPr marL="0" marR="0" lvl="0" indent="0" algn="l" defTabSz="913309" rtl="0" eaLnBrk="1" fontAlgn="auto"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Tailored Products, services and experiences utilizing bank internal &amp; ecosystem capabilities to address every need in a proactive way</a:t>
            </a:r>
          </a:p>
        </p:txBody>
      </p:sp>
      <p:sp>
        <p:nvSpPr>
          <p:cNvPr id="76" name="TextBox 75">
            <a:extLst>
              <a:ext uri="{FF2B5EF4-FFF2-40B4-BE49-F238E27FC236}">
                <a16:creationId xmlns:a16="http://schemas.microsoft.com/office/drawing/2014/main" id="{4EB5A4A1-742D-5527-8E35-CBD56C835FAC}"/>
              </a:ext>
            </a:extLst>
          </p:cNvPr>
          <p:cNvSpPr txBox="1"/>
          <p:nvPr/>
        </p:nvSpPr>
        <p:spPr>
          <a:xfrm>
            <a:off x="299889" y="1325452"/>
            <a:ext cx="2913167" cy="276679"/>
          </a:xfrm>
          <a:prstGeom prst="rect">
            <a:avLst/>
          </a:prstGeom>
          <a:noFill/>
        </p:spPr>
        <p:txBody>
          <a:bodyPr wrap="square">
            <a:spAutoFit/>
          </a:bodyPr>
          <a:lstStyle/>
          <a:p>
            <a:pPr marL="0" marR="0" lvl="0" indent="0" algn="l" defTabSz="913309" rtl="0" eaLnBrk="1" fontAlgn="auto" latinLnBrk="0" hangingPunct="1">
              <a:lnSpc>
                <a:spcPct val="100000"/>
              </a:lnSpc>
              <a:spcBef>
                <a:spcPts val="600"/>
              </a:spcBef>
              <a:spcAft>
                <a:spcPts val="0"/>
              </a:spcAft>
              <a:buClrTx/>
              <a:buSzTx/>
              <a:buFontTx/>
              <a:buNone/>
              <a:tabLst/>
              <a:defRPr/>
            </a:pPr>
            <a:r>
              <a:rPr kumimoji="0" lang="en-US" sz="1198" b="1" i="0" u="none" strike="noStrike" kern="1200" cap="none" spc="0" normalizeH="0" baseline="0" noProof="0">
                <a:ln>
                  <a:noFill/>
                </a:ln>
                <a:solidFill>
                  <a:srgbClr val="460073"/>
                </a:solidFill>
                <a:effectLst/>
                <a:uLnTx/>
                <a:uFillTx/>
                <a:latin typeface="Graphik"/>
                <a:ea typeface="+mn-ea"/>
                <a:cs typeface="+mn-cs"/>
              </a:rPr>
              <a:t>Ecosystem key components</a:t>
            </a:r>
          </a:p>
        </p:txBody>
      </p:sp>
      <p:cxnSp>
        <p:nvCxnSpPr>
          <p:cNvPr id="77" name="Straight Connector 76">
            <a:extLst>
              <a:ext uri="{FF2B5EF4-FFF2-40B4-BE49-F238E27FC236}">
                <a16:creationId xmlns:a16="http://schemas.microsoft.com/office/drawing/2014/main" id="{C0D27FE2-5C70-51D6-EE7A-EAF6C480B8B4}"/>
              </a:ext>
            </a:extLst>
          </p:cNvPr>
          <p:cNvCxnSpPr>
            <a:cxnSpLocks/>
          </p:cNvCxnSpPr>
          <p:nvPr/>
        </p:nvCxnSpPr>
        <p:spPr>
          <a:xfrm>
            <a:off x="379083" y="1595125"/>
            <a:ext cx="2833972"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6F7D2017-719C-BCB2-3FA1-6E3A4FBA40CC}"/>
              </a:ext>
            </a:extLst>
          </p:cNvPr>
          <p:cNvCxnSpPr>
            <a:cxnSpLocks/>
          </p:cNvCxnSpPr>
          <p:nvPr/>
        </p:nvCxnSpPr>
        <p:spPr>
          <a:xfrm>
            <a:off x="9056062" y="1595125"/>
            <a:ext cx="2748385"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79" name="Freeform: Shape 78">
            <a:extLst>
              <a:ext uri="{FF2B5EF4-FFF2-40B4-BE49-F238E27FC236}">
                <a16:creationId xmlns:a16="http://schemas.microsoft.com/office/drawing/2014/main" id="{958BA757-C07E-12EE-7325-8D92CBAFB067}"/>
              </a:ext>
            </a:extLst>
          </p:cNvPr>
          <p:cNvSpPr/>
          <p:nvPr/>
        </p:nvSpPr>
        <p:spPr>
          <a:xfrm>
            <a:off x="2461621" y="1475443"/>
            <a:ext cx="6171467" cy="1541280"/>
          </a:xfrm>
          <a:custGeom>
            <a:avLst/>
            <a:gdLst>
              <a:gd name="connsiteX0" fmla="*/ 0 w 6178550"/>
              <a:gd name="connsiteY0" fmla="*/ 273050 h 1543050"/>
              <a:gd name="connsiteX1" fmla="*/ 819150 w 6178550"/>
              <a:gd name="connsiteY1" fmla="*/ 285750 h 1543050"/>
              <a:gd name="connsiteX2" fmla="*/ 812800 w 6178550"/>
              <a:gd name="connsiteY2" fmla="*/ 6350 h 1543050"/>
              <a:gd name="connsiteX3" fmla="*/ 6165850 w 6178550"/>
              <a:gd name="connsiteY3" fmla="*/ 0 h 1543050"/>
              <a:gd name="connsiteX4" fmla="*/ 6178550 w 6178550"/>
              <a:gd name="connsiteY4" fmla="*/ 1524000 h 1543050"/>
              <a:gd name="connsiteX5" fmla="*/ 6178550 w 6178550"/>
              <a:gd name="connsiteY5" fmla="*/ 1530350 h 1543050"/>
              <a:gd name="connsiteX6" fmla="*/ 6178550 w 6178550"/>
              <a:gd name="connsiteY6" fmla="*/ 1543050 h 154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8550" h="1543050">
                <a:moveTo>
                  <a:pt x="0" y="273050"/>
                </a:moveTo>
                <a:lnTo>
                  <a:pt x="819150" y="285750"/>
                </a:lnTo>
                <a:lnTo>
                  <a:pt x="812800" y="6350"/>
                </a:lnTo>
                <a:lnTo>
                  <a:pt x="6165850" y="0"/>
                </a:lnTo>
                <a:lnTo>
                  <a:pt x="6178550" y="1524000"/>
                </a:lnTo>
                <a:lnTo>
                  <a:pt x="6178550" y="1530350"/>
                </a:lnTo>
                <a:lnTo>
                  <a:pt x="6178550" y="1543050"/>
                </a:lnTo>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84116" rtl="0" eaLnBrk="1" fontAlgn="auto" latinLnBrk="0" hangingPunct="1">
              <a:lnSpc>
                <a:spcPct val="100000"/>
              </a:lnSpc>
              <a:spcBef>
                <a:spcPts val="0"/>
              </a:spcBef>
              <a:spcAft>
                <a:spcPts val="0"/>
              </a:spcAft>
              <a:buClrTx/>
              <a:buSzTx/>
              <a:buFontTx/>
              <a:buNone/>
              <a:tabLst/>
              <a:defRPr/>
            </a:pPr>
            <a:endParaRPr kumimoji="0" lang="es-ES" sz="1798" b="0" i="0" u="none" strike="noStrike" kern="1200" cap="none" spc="0" normalizeH="0" baseline="0" noProof="0">
              <a:ln>
                <a:noFill/>
              </a:ln>
              <a:solidFill>
                <a:srgbClr val="FFFFFF"/>
              </a:solidFill>
              <a:effectLst/>
              <a:uLnTx/>
              <a:uFillTx/>
              <a:latin typeface="Graphik"/>
              <a:ea typeface="+mn-ea"/>
              <a:cs typeface="+mn-cs"/>
            </a:endParaRPr>
          </a:p>
        </p:txBody>
      </p:sp>
      <p:sp>
        <p:nvSpPr>
          <p:cNvPr id="80" name="Oval 79">
            <a:extLst>
              <a:ext uri="{FF2B5EF4-FFF2-40B4-BE49-F238E27FC236}">
                <a16:creationId xmlns:a16="http://schemas.microsoft.com/office/drawing/2014/main" id="{C1D7B18D-BED9-859A-2543-005E51CC72B7}"/>
              </a:ext>
            </a:extLst>
          </p:cNvPr>
          <p:cNvSpPr/>
          <p:nvPr/>
        </p:nvSpPr>
        <p:spPr>
          <a:xfrm>
            <a:off x="2770179" y="3971897"/>
            <a:ext cx="101748" cy="105316"/>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335" bIns="91335" rtlCol="0" anchor="ctr"/>
          <a:lstStyle/>
          <a:p>
            <a:pPr marL="0" marR="0" lvl="0" indent="0" algn="ctr" defTabSz="584116" rtl="0" eaLnBrk="1" fontAlgn="auto" latinLnBrk="0" hangingPunct="1">
              <a:lnSpc>
                <a:spcPct val="100000"/>
              </a:lnSpc>
              <a:spcBef>
                <a:spcPts val="0"/>
              </a:spcBef>
              <a:spcAft>
                <a:spcPts val="0"/>
              </a:spcAft>
              <a:buClrTx/>
              <a:buSzTx/>
              <a:buFontTx/>
              <a:buNone/>
              <a:tabLst/>
              <a:defRPr/>
            </a:pPr>
            <a:endParaRPr kumimoji="0" lang="es-ES" sz="1798" b="0" i="0" u="none" strike="noStrike" kern="1200" cap="none" spc="0" normalizeH="0" baseline="0" noProof="0" err="1">
              <a:ln>
                <a:noFill/>
              </a:ln>
              <a:solidFill>
                <a:srgbClr val="FFFFFF"/>
              </a:solidFill>
              <a:effectLst/>
              <a:uLnTx/>
              <a:uFillTx/>
              <a:latin typeface="Graphik"/>
              <a:ea typeface="+mn-ea"/>
              <a:cs typeface="+mn-cs"/>
            </a:endParaRPr>
          </a:p>
        </p:txBody>
      </p:sp>
      <p:sp>
        <p:nvSpPr>
          <p:cNvPr id="81" name="Oval 80">
            <a:extLst>
              <a:ext uri="{FF2B5EF4-FFF2-40B4-BE49-F238E27FC236}">
                <a16:creationId xmlns:a16="http://schemas.microsoft.com/office/drawing/2014/main" id="{8A1CF340-B2CF-B72B-96C9-005B51A77E9A}"/>
              </a:ext>
            </a:extLst>
          </p:cNvPr>
          <p:cNvSpPr/>
          <p:nvPr/>
        </p:nvSpPr>
        <p:spPr>
          <a:xfrm>
            <a:off x="2792352" y="3965035"/>
            <a:ext cx="45667" cy="10381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335" bIns="91335" rtlCol="0" anchor="ctr"/>
          <a:lstStyle/>
          <a:p>
            <a:pPr marL="0" marR="0" lvl="0" indent="0" algn="ctr" defTabSz="584116" rtl="0" eaLnBrk="1" fontAlgn="auto" latinLnBrk="0" hangingPunct="1">
              <a:lnSpc>
                <a:spcPct val="100000"/>
              </a:lnSpc>
              <a:spcBef>
                <a:spcPts val="0"/>
              </a:spcBef>
              <a:spcAft>
                <a:spcPts val="0"/>
              </a:spcAft>
              <a:buClrTx/>
              <a:buSzTx/>
              <a:buFontTx/>
              <a:buNone/>
              <a:tabLst/>
              <a:defRPr/>
            </a:pPr>
            <a:endParaRPr kumimoji="0" lang="es-ES" sz="1798" b="0" i="0" u="none" strike="noStrike" kern="1200" cap="none" spc="0" normalizeH="0" baseline="0" noProof="0" err="1">
              <a:ln>
                <a:noFill/>
              </a:ln>
              <a:solidFill>
                <a:srgbClr val="FFFFFF"/>
              </a:solidFill>
              <a:effectLst/>
              <a:uLnTx/>
              <a:uFillTx/>
              <a:latin typeface="Graphik"/>
              <a:ea typeface="+mn-ea"/>
              <a:cs typeface="+mn-cs"/>
            </a:endParaRPr>
          </a:p>
        </p:txBody>
      </p:sp>
      <p:pic>
        <p:nvPicPr>
          <p:cNvPr id="82" name="Picture 81">
            <a:extLst>
              <a:ext uri="{FF2B5EF4-FFF2-40B4-BE49-F238E27FC236}">
                <a16:creationId xmlns:a16="http://schemas.microsoft.com/office/drawing/2014/main" id="{1609A540-B722-A2CB-7CC4-0896358508CA}"/>
              </a:ext>
            </a:extLst>
          </p:cNvPr>
          <p:cNvPicPr>
            <a:picLocks noChangeAspect="1"/>
          </p:cNvPicPr>
          <p:nvPr/>
        </p:nvPicPr>
        <p:blipFill>
          <a:blip r:embed="rId4"/>
          <a:stretch>
            <a:fillRect/>
          </a:stretch>
        </p:blipFill>
        <p:spPr>
          <a:xfrm>
            <a:off x="3373420" y="2015230"/>
            <a:ext cx="5550637" cy="3545035"/>
          </a:xfrm>
          <a:prstGeom prst="rect">
            <a:avLst/>
          </a:prstGeom>
        </p:spPr>
      </p:pic>
      <p:cxnSp>
        <p:nvCxnSpPr>
          <p:cNvPr id="83" name="Connector: Elbow 82">
            <a:extLst>
              <a:ext uri="{FF2B5EF4-FFF2-40B4-BE49-F238E27FC236}">
                <a16:creationId xmlns:a16="http://schemas.microsoft.com/office/drawing/2014/main" id="{07E849A0-62DF-0DE5-3EF9-01667EC97D17}"/>
              </a:ext>
            </a:extLst>
          </p:cNvPr>
          <p:cNvCxnSpPr>
            <a:cxnSpLocks/>
          </p:cNvCxnSpPr>
          <p:nvPr/>
        </p:nvCxnSpPr>
        <p:spPr>
          <a:xfrm>
            <a:off x="2474781" y="1825580"/>
            <a:ext cx="2363919" cy="174973"/>
          </a:xfrm>
          <a:prstGeom prst="bentConnector3">
            <a:avLst>
              <a:gd name="adj1" fmla="val 50000"/>
            </a:avLst>
          </a:prstGeom>
          <a:ln w="28575">
            <a:solidFill>
              <a:srgbClr val="FF3246"/>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84" name="Connector: Elbow 83">
            <a:extLst>
              <a:ext uri="{FF2B5EF4-FFF2-40B4-BE49-F238E27FC236}">
                <a16:creationId xmlns:a16="http://schemas.microsoft.com/office/drawing/2014/main" id="{43D2D590-5656-AFDE-A3D9-080310920A65}"/>
              </a:ext>
            </a:extLst>
          </p:cNvPr>
          <p:cNvCxnSpPr>
            <a:cxnSpLocks/>
          </p:cNvCxnSpPr>
          <p:nvPr/>
        </p:nvCxnSpPr>
        <p:spPr>
          <a:xfrm flipV="1">
            <a:off x="2814862" y="3542267"/>
            <a:ext cx="2282761" cy="482288"/>
          </a:xfrm>
          <a:prstGeom prst="bentConnector3">
            <a:avLst>
              <a:gd name="adj1" fmla="val 50000"/>
            </a:avLst>
          </a:prstGeom>
          <a:ln w="28575">
            <a:solidFill>
              <a:srgbClr val="FF3246"/>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45B6D2A1-E65A-B25E-4F32-1BC438A685BB}"/>
              </a:ext>
            </a:extLst>
          </p:cNvPr>
          <p:cNvCxnSpPr>
            <a:cxnSpLocks/>
          </p:cNvCxnSpPr>
          <p:nvPr/>
        </p:nvCxnSpPr>
        <p:spPr>
          <a:xfrm flipV="1">
            <a:off x="2474571" y="2770709"/>
            <a:ext cx="912837" cy="57482"/>
          </a:xfrm>
          <a:prstGeom prst="bentConnector3">
            <a:avLst>
              <a:gd name="adj1" fmla="val 50000"/>
            </a:avLst>
          </a:prstGeom>
          <a:ln w="28575">
            <a:solidFill>
              <a:srgbClr val="FF3246"/>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8050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2743D-A9EB-BB47-FC8B-9CBA25DE2166}"/>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E27A8107-D50D-2913-4486-B489CE76B2D7}"/>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Legacy modernization and bank of the future</a:t>
            </a:r>
          </a:p>
        </p:txBody>
      </p:sp>
      <p:sp>
        <p:nvSpPr>
          <p:cNvPr id="16" name="Footer Placeholder 2">
            <a:extLst>
              <a:ext uri="{FF2B5EF4-FFF2-40B4-BE49-F238E27FC236}">
                <a16:creationId xmlns:a16="http://schemas.microsoft.com/office/drawing/2014/main" id="{81D84C92-CD89-7580-D1B5-59C04281A76F}"/>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All rights reserved.</a:t>
            </a:r>
          </a:p>
        </p:txBody>
      </p:sp>
      <p:sp>
        <p:nvSpPr>
          <p:cNvPr id="4" name="Text Placeholder 1">
            <a:extLst>
              <a:ext uri="{FF2B5EF4-FFF2-40B4-BE49-F238E27FC236}">
                <a16:creationId xmlns:a16="http://schemas.microsoft.com/office/drawing/2014/main" id="{7B581C34-F2CE-16FA-494E-70C76A087FE1}"/>
              </a:ext>
            </a:extLst>
          </p:cNvPr>
          <p:cNvSpPr txBox="1">
            <a:spLocks/>
          </p:cNvSpPr>
          <p:nvPr/>
        </p:nvSpPr>
        <p:spPr>
          <a:xfrm>
            <a:off x="304800" y="674264"/>
            <a:ext cx="11430000" cy="288925"/>
          </a:xfrm>
          <a:prstGeom prst="rect">
            <a:avLst/>
          </a:prstGeom>
        </p:spPr>
        <p:txBody>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sz="1800" b="0" kern="1200">
                <a:solidFill>
                  <a:schemeClr val="tx1"/>
                </a:solidFill>
                <a:latin typeface="+mn-lt"/>
                <a:ea typeface="+mn-ea"/>
                <a:cs typeface="+mn-cs"/>
              </a:defRPr>
            </a:lvl1pPr>
            <a:lvl2pPr marL="182563" indent="-182563" algn="l" defTabSz="228600" rtl="0" eaLnBrk="1" latinLnBrk="0" hangingPunct="1">
              <a:lnSpc>
                <a:spcPct val="100000"/>
              </a:lnSpc>
              <a:spcBef>
                <a:spcPts val="0"/>
              </a:spcBef>
              <a:spcAft>
                <a:spcPts val="600"/>
              </a:spcAft>
              <a:buClrTx/>
              <a:buFont typeface="Arial" panose="020B0604020202020204" pitchFamily="34" charset="0"/>
              <a:buChar char="•"/>
              <a:defRPr sz="1800" kern="1200">
                <a:solidFill>
                  <a:schemeClr val="tx1"/>
                </a:solidFill>
                <a:latin typeface="+mn-lt"/>
                <a:ea typeface="+mn-ea"/>
                <a:cs typeface="+mn-cs"/>
              </a:defRPr>
            </a:lvl2pPr>
            <a:lvl3pPr marL="355600" indent="-173038" algn="l" defTabSz="228600" rtl="0" eaLnBrk="1" latinLnBrk="0" hangingPunct="1">
              <a:lnSpc>
                <a:spcPct val="100000"/>
              </a:lnSpc>
              <a:spcBef>
                <a:spcPts val="0"/>
              </a:spcBef>
              <a:spcAft>
                <a:spcPts val="600"/>
              </a:spcAft>
              <a:buFont typeface="System Font"/>
              <a:buChar char="–"/>
              <a:defRPr sz="1800" kern="1200">
                <a:solidFill>
                  <a:schemeClr val="tx1"/>
                </a:solidFill>
                <a:latin typeface="+mn-lt"/>
                <a:ea typeface="+mn-ea"/>
                <a:cs typeface="+mn-cs"/>
              </a:defRPr>
            </a:lvl3pPr>
            <a:lvl4pPr marL="538163" indent="-182563"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4pPr>
            <a:lvl5pPr marL="720725" indent="-182563" algn="l" defTabSz="228600" rtl="0" eaLnBrk="1" latinLnBrk="0" hangingPunct="1">
              <a:lnSpc>
                <a:spcPct val="100000"/>
              </a:lnSpc>
              <a:spcBef>
                <a:spcPts val="0"/>
              </a:spcBef>
              <a:spcAft>
                <a:spcPts val="6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7500C0"/>
                </a:solidFill>
                <a:effectLst/>
                <a:uLnTx/>
                <a:uFillTx/>
                <a:latin typeface="Graphik" panose="020B0503030202060203" pitchFamily="34" charset="0"/>
                <a:ea typeface="+mn-ea"/>
                <a:cs typeface="+mn-cs"/>
              </a:rPr>
              <a:t>Tech. Architecture Modernization - Coexistence (Cross-product engines &amp; transactional integrity)</a:t>
            </a:r>
          </a:p>
        </p:txBody>
      </p:sp>
      <p:sp>
        <p:nvSpPr>
          <p:cNvPr id="3" name="Rectangle 2">
            <a:extLst>
              <a:ext uri="{FF2B5EF4-FFF2-40B4-BE49-F238E27FC236}">
                <a16:creationId xmlns:a16="http://schemas.microsoft.com/office/drawing/2014/main" id="{505BA973-4928-2DC1-C030-6965D1ACDE35}"/>
              </a:ext>
            </a:extLst>
          </p:cNvPr>
          <p:cNvSpPr/>
          <p:nvPr/>
        </p:nvSpPr>
        <p:spPr>
          <a:xfrm>
            <a:off x="0" y="1690359"/>
            <a:ext cx="12191999" cy="1224000"/>
          </a:xfrm>
          <a:prstGeom prst="rect">
            <a:avLst/>
          </a:prstGeom>
          <a:blipFill>
            <a:blip r:embed="rId2"/>
            <a:stretch>
              <a:fillRect/>
            </a:stretch>
          </a:blip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a:ln>
                <a:noFill/>
              </a:ln>
              <a:solidFill>
                <a:srgbClr val="FFFFFF"/>
              </a:solidFill>
              <a:effectLst/>
              <a:uLnTx/>
              <a:uFillTx/>
              <a:latin typeface="Graphik"/>
              <a:ea typeface="+mn-ea"/>
              <a:cs typeface="+mn-cs"/>
            </a:endParaRPr>
          </a:p>
        </p:txBody>
      </p:sp>
      <p:sp>
        <p:nvSpPr>
          <p:cNvPr id="6" name="Text Placeholder 3">
            <a:extLst>
              <a:ext uri="{FF2B5EF4-FFF2-40B4-BE49-F238E27FC236}">
                <a16:creationId xmlns:a16="http://schemas.microsoft.com/office/drawing/2014/main" id="{64BF129C-2DB6-9BCB-B302-4D8F58D33EB4}"/>
              </a:ext>
            </a:extLst>
          </p:cNvPr>
          <p:cNvSpPr txBox="1">
            <a:spLocks/>
          </p:cNvSpPr>
          <p:nvPr/>
        </p:nvSpPr>
        <p:spPr>
          <a:xfrm>
            <a:off x="323572" y="1017924"/>
            <a:ext cx="11430000" cy="1169423"/>
          </a:xfrm>
          <a:prstGeom prst="rect">
            <a:avLst/>
          </a:prstGeom>
        </p:spPr>
        <p:txBody>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Graphik"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mn-cs"/>
              </a:rPr>
              <a:t>A comprehensive end-to-end architectural view enables seamless integration across systems, reduces complexity, and ensures a cohesive modernization strategy that supports future growth.</a:t>
            </a:r>
          </a:p>
        </p:txBody>
      </p:sp>
      <p:sp>
        <p:nvSpPr>
          <p:cNvPr id="7" name="TextBox 6">
            <a:extLst>
              <a:ext uri="{FF2B5EF4-FFF2-40B4-BE49-F238E27FC236}">
                <a16:creationId xmlns:a16="http://schemas.microsoft.com/office/drawing/2014/main" id="{5CB0A7F1-4FDF-A6AE-2921-6A4788A303FD}"/>
              </a:ext>
            </a:extLst>
          </p:cNvPr>
          <p:cNvSpPr txBox="1"/>
          <p:nvPr/>
        </p:nvSpPr>
        <p:spPr>
          <a:xfrm>
            <a:off x="380999" y="2201154"/>
            <a:ext cx="6148277" cy="646331"/>
          </a:xfrm>
          <a:prstGeom prst="rect">
            <a:avLst/>
          </a:prstGeom>
          <a:noFill/>
        </p:spPr>
        <p:txBody>
          <a:bodyPr wrap="square" lIns="0">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Graphik Light" panose="020B0403030202060203" pitchFamily="34" charset="0"/>
                <a:ea typeface="+mn-ea"/>
                <a:cs typeface="+mn-cs"/>
              </a:rPr>
              <a:t>Coexistence services will allow to gradually evolve the architecture pivoting at any time. Coexistence will be structural </a:t>
            </a:r>
            <a:r>
              <a:rPr kumimoji="0" lang="en-US" sz="1200" b="0" i="0" u="none" strike="noStrike" kern="1200" cap="none" spc="0" normalizeH="0" baseline="0" noProof="0" err="1">
                <a:ln>
                  <a:noFill/>
                </a:ln>
                <a:solidFill>
                  <a:srgbClr val="FFFFFF"/>
                </a:solidFill>
                <a:effectLst/>
                <a:uLnTx/>
                <a:uFillTx/>
                <a:latin typeface="Graphik Light" panose="020B0403030202060203" pitchFamily="34" charset="0"/>
                <a:ea typeface="+mn-ea"/>
                <a:cs typeface="+mn-cs"/>
              </a:rPr>
              <a:t>enablinga</a:t>
            </a:r>
            <a:r>
              <a:rPr kumimoji="0" lang="en-US" sz="1200" b="0" i="0" u="none" strike="noStrike" kern="1200" cap="none" spc="0" normalizeH="0" baseline="0" noProof="0">
                <a:ln>
                  <a:noFill/>
                </a:ln>
                <a:solidFill>
                  <a:srgbClr val="FFFFFF"/>
                </a:solidFill>
                <a:effectLst/>
                <a:uLnTx/>
                <a:uFillTx/>
                <a:latin typeface="Graphik Light" panose="020B0403030202060203" pitchFamily="34" charset="0"/>
                <a:ea typeface="+mn-ea"/>
                <a:cs typeface="+mn-cs"/>
              </a:rPr>
              <a:t> ecosystem oriented and composable business  approach.</a:t>
            </a:r>
            <a:endParaRPr kumimoji="0" lang="en-IE" sz="1200" b="0" i="0" u="none" strike="noStrike" kern="1200" cap="none" spc="0" normalizeH="0" baseline="0" noProof="0">
              <a:ln>
                <a:noFill/>
              </a:ln>
              <a:solidFill>
                <a:srgbClr val="FFFFFF"/>
              </a:solidFill>
              <a:effectLst/>
              <a:uLnTx/>
              <a:uFillTx/>
              <a:latin typeface="Graphik Light" panose="020B0403030202060203" pitchFamily="34" charset="0"/>
              <a:ea typeface="+mn-ea"/>
              <a:cs typeface="+mn-cs"/>
            </a:endParaRPr>
          </a:p>
        </p:txBody>
      </p:sp>
      <p:sp>
        <p:nvSpPr>
          <p:cNvPr id="13" name="Rectangle 12">
            <a:extLst>
              <a:ext uri="{FF2B5EF4-FFF2-40B4-BE49-F238E27FC236}">
                <a16:creationId xmlns:a16="http://schemas.microsoft.com/office/drawing/2014/main" id="{901E092C-7191-4494-F906-59BA8264F1BD}"/>
              </a:ext>
            </a:extLst>
          </p:cNvPr>
          <p:cNvSpPr/>
          <p:nvPr/>
        </p:nvSpPr>
        <p:spPr>
          <a:xfrm>
            <a:off x="959117" y="1803787"/>
            <a:ext cx="3455088"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bIns="914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1600" b="1" i="0" u="none" strike="noStrike" kern="1200" cap="none" spc="0" normalizeH="0" baseline="0" noProof="0">
                <a:ln>
                  <a:noFill/>
                </a:ln>
                <a:solidFill>
                  <a:srgbClr val="FFFFFF"/>
                </a:solidFill>
                <a:effectLst/>
                <a:uLnTx/>
                <a:uFillTx/>
                <a:latin typeface="Graphik Semibold" panose="020B0703030202060203" pitchFamily="34" charset="0"/>
                <a:ea typeface="+mn-ea"/>
                <a:cs typeface="+mn-cs"/>
              </a:rPr>
              <a:t>Logical Coexistence</a:t>
            </a:r>
          </a:p>
        </p:txBody>
      </p:sp>
      <p:sp>
        <p:nvSpPr>
          <p:cNvPr id="14" name="Freeform 73">
            <a:extLst>
              <a:ext uri="{FF2B5EF4-FFF2-40B4-BE49-F238E27FC236}">
                <a16:creationId xmlns:a16="http://schemas.microsoft.com/office/drawing/2014/main" id="{BA97192B-1B62-1A3E-B67D-64ED3ECE1CD6}"/>
              </a:ext>
            </a:extLst>
          </p:cNvPr>
          <p:cNvSpPr>
            <a:spLocks/>
          </p:cNvSpPr>
          <p:nvPr/>
        </p:nvSpPr>
        <p:spPr bwMode="auto">
          <a:xfrm>
            <a:off x="385745" y="1855776"/>
            <a:ext cx="490202" cy="244528"/>
          </a:xfrm>
          <a:custGeom>
            <a:avLst/>
            <a:gdLst>
              <a:gd name="T0" fmla="*/ 216 w 288"/>
              <a:gd name="T1" fmla="*/ 144 h 144"/>
              <a:gd name="T2" fmla="*/ 151 w 288"/>
              <a:gd name="T3" fmla="*/ 105 h 144"/>
              <a:gd name="T4" fmla="*/ 153 w 288"/>
              <a:gd name="T5" fmla="*/ 97 h 144"/>
              <a:gd name="T6" fmla="*/ 161 w 288"/>
              <a:gd name="T7" fmla="*/ 99 h 144"/>
              <a:gd name="T8" fmla="*/ 161 w 288"/>
              <a:gd name="T9" fmla="*/ 99 h 144"/>
              <a:gd name="T10" fmla="*/ 216 w 288"/>
              <a:gd name="T11" fmla="*/ 132 h 144"/>
              <a:gd name="T12" fmla="*/ 276 w 288"/>
              <a:gd name="T13" fmla="*/ 72 h 144"/>
              <a:gd name="T14" fmla="*/ 216 w 288"/>
              <a:gd name="T15" fmla="*/ 12 h 144"/>
              <a:gd name="T16" fmla="*/ 149 w 288"/>
              <a:gd name="T17" fmla="*/ 75 h 144"/>
              <a:gd name="T18" fmla="*/ 72 w 288"/>
              <a:gd name="T19" fmla="*/ 144 h 144"/>
              <a:gd name="T20" fmla="*/ 0 w 288"/>
              <a:gd name="T21" fmla="*/ 72 h 144"/>
              <a:gd name="T22" fmla="*/ 72 w 288"/>
              <a:gd name="T23" fmla="*/ 0 h 144"/>
              <a:gd name="T24" fmla="*/ 132 w 288"/>
              <a:gd name="T25" fmla="*/ 45 h 144"/>
              <a:gd name="T26" fmla="*/ 128 w 288"/>
              <a:gd name="T27" fmla="*/ 53 h 144"/>
              <a:gd name="T28" fmla="*/ 121 w 288"/>
              <a:gd name="T29" fmla="*/ 50 h 144"/>
              <a:gd name="T30" fmla="*/ 72 w 288"/>
              <a:gd name="T31" fmla="*/ 12 h 144"/>
              <a:gd name="T32" fmla="*/ 12 w 288"/>
              <a:gd name="T33" fmla="*/ 72 h 144"/>
              <a:gd name="T34" fmla="*/ 72 w 288"/>
              <a:gd name="T35" fmla="*/ 132 h 144"/>
              <a:gd name="T36" fmla="*/ 139 w 288"/>
              <a:gd name="T37" fmla="*/ 69 h 144"/>
              <a:gd name="T38" fmla="*/ 216 w 288"/>
              <a:gd name="T39" fmla="*/ 0 h 144"/>
              <a:gd name="T40" fmla="*/ 288 w 288"/>
              <a:gd name="T41" fmla="*/ 72 h 144"/>
              <a:gd name="T42" fmla="*/ 216 w 288"/>
              <a:gd name="T43"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8" h="144">
                <a:moveTo>
                  <a:pt x="216" y="144"/>
                </a:moveTo>
                <a:cubicBezTo>
                  <a:pt x="177" y="144"/>
                  <a:pt x="152" y="107"/>
                  <a:pt x="151" y="105"/>
                </a:cubicBezTo>
                <a:cubicBezTo>
                  <a:pt x="149" y="102"/>
                  <a:pt x="150" y="99"/>
                  <a:pt x="153" y="97"/>
                </a:cubicBezTo>
                <a:cubicBezTo>
                  <a:pt x="155" y="95"/>
                  <a:pt x="159" y="96"/>
                  <a:pt x="161" y="99"/>
                </a:cubicBezTo>
                <a:cubicBezTo>
                  <a:pt x="161" y="99"/>
                  <a:pt x="161" y="99"/>
                  <a:pt x="161" y="99"/>
                </a:cubicBezTo>
                <a:cubicBezTo>
                  <a:pt x="161" y="99"/>
                  <a:pt x="184" y="132"/>
                  <a:pt x="216" y="132"/>
                </a:cubicBezTo>
                <a:cubicBezTo>
                  <a:pt x="249" y="132"/>
                  <a:pt x="276" y="105"/>
                  <a:pt x="276" y="72"/>
                </a:cubicBezTo>
                <a:cubicBezTo>
                  <a:pt x="276" y="39"/>
                  <a:pt x="249" y="12"/>
                  <a:pt x="216" y="12"/>
                </a:cubicBezTo>
                <a:cubicBezTo>
                  <a:pt x="189" y="12"/>
                  <a:pt x="169" y="44"/>
                  <a:pt x="149" y="75"/>
                </a:cubicBezTo>
                <a:cubicBezTo>
                  <a:pt x="128" y="109"/>
                  <a:pt x="105" y="144"/>
                  <a:pt x="72" y="144"/>
                </a:cubicBezTo>
                <a:cubicBezTo>
                  <a:pt x="32" y="144"/>
                  <a:pt x="0" y="112"/>
                  <a:pt x="0" y="72"/>
                </a:cubicBezTo>
                <a:cubicBezTo>
                  <a:pt x="0" y="32"/>
                  <a:pt x="32" y="0"/>
                  <a:pt x="72" y="0"/>
                </a:cubicBezTo>
                <a:cubicBezTo>
                  <a:pt x="112" y="0"/>
                  <a:pt x="131" y="44"/>
                  <a:pt x="132" y="45"/>
                </a:cubicBezTo>
                <a:cubicBezTo>
                  <a:pt x="133" y="49"/>
                  <a:pt x="131" y="52"/>
                  <a:pt x="128" y="53"/>
                </a:cubicBezTo>
                <a:cubicBezTo>
                  <a:pt x="125" y="55"/>
                  <a:pt x="122" y="53"/>
                  <a:pt x="121" y="50"/>
                </a:cubicBezTo>
                <a:cubicBezTo>
                  <a:pt x="120" y="50"/>
                  <a:pt x="104" y="12"/>
                  <a:pt x="72" y="12"/>
                </a:cubicBezTo>
                <a:cubicBezTo>
                  <a:pt x="39" y="12"/>
                  <a:pt x="12" y="39"/>
                  <a:pt x="12" y="72"/>
                </a:cubicBezTo>
                <a:cubicBezTo>
                  <a:pt x="12" y="105"/>
                  <a:pt x="39" y="132"/>
                  <a:pt x="72" y="132"/>
                </a:cubicBezTo>
                <a:cubicBezTo>
                  <a:pt x="99" y="132"/>
                  <a:pt x="119" y="100"/>
                  <a:pt x="139" y="69"/>
                </a:cubicBezTo>
                <a:cubicBezTo>
                  <a:pt x="160" y="35"/>
                  <a:pt x="183" y="0"/>
                  <a:pt x="216" y="0"/>
                </a:cubicBezTo>
                <a:cubicBezTo>
                  <a:pt x="256" y="0"/>
                  <a:pt x="288" y="32"/>
                  <a:pt x="288" y="72"/>
                </a:cubicBezTo>
                <a:cubicBezTo>
                  <a:pt x="288" y="112"/>
                  <a:pt x="256" y="144"/>
                  <a:pt x="216" y="14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96968C"/>
              </a:solidFill>
              <a:effectLst/>
              <a:uLnTx/>
              <a:uFillTx/>
              <a:latin typeface="Graphik"/>
              <a:ea typeface="+mn-ea"/>
              <a:cs typeface="Arial" charset="0"/>
            </a:endParaRPr>
          </a:p>
        </p:txBody>
      </p:sp>
      <p:sp>
        <p:nvSpPr>
          <p:cNvPr id="17" name="TextBox 16">
            <a:extLst>
              <a:ext uri="{FF2B5EF4-FFF2-40B4-BE49-F238E27FC236}">
                <a16:creationId xmlns:a16="http://schemas.microsoft.com/office/drawing/2014/main" id="{040852C9-6570-468A-B7E0-9DCE296AFFE0}"/>
              </a:ext>
            </a:extLst>
          </p:cNvPr>
          <p:cNvSpPr txBox="1"/>
          <p:nvPr/>
        </p:nvSpPr>
        <p:spPr>
          <a:xfrm>
            <a:off x="6919484" y="2201154"/>
            <a:ext cx="4891517" cy="461665"/>
          </a:xfrm>
          <a:prstGeom prst="rect">
            <a:avLst/>
          </a:prstGeom>
          <a:noFill/>
        </p:spPr>
        <p:txBody>
          <a:bodyPr wrap="square" lIns="0">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Graphik Light" panose="020B0403030202060203" pitchFamily="34" charset="0"/>
                <a:ea typeface="+mn-ea"/>
                <a:cs typeface="+mn-cs"/>
              </a:rPr>
              <a:t>Technical coexistence is a set of enablers that support the decoupling and integration services as well as coexistence services </a:t>
            </a:r>
          </a:p>
        </p:txBody>
      </p:sp>
      <p:grpSp>
        <p:nvGrpSpPr>
          <p:cNvPr id="18" name="Group 17">
            <a:extLst>
              <a:ext uri="{FF2B5EF4-FFF2-40B4-BE49-F238E27FC236}">
                <a16:creationId xmlns:a16="http://schemas.microsoft.com/office/drawing/2014/main" id="{378D6DCC-294E-321A-4C9E-E695E529F505}"/>
              </a:ext>
            </a:extLst>
          </p:cNvPr>
          <p:cNvGrpSpPr/>
          <p:nvPr/>
        </p:nvGrpSpPr>
        <p:grpSpPr>
          <a:xfrm>
            <a:off x="6944048" y="1772716"/>
            <a:ext cx="4685973" cy="400403"/>
            <a:chOff x="7336428" y="1772716"/>
            <a:chExt cx="4685973" cy="400403"/>
          </a:xfrm>
        </p:grpSpPr>
        <p:grpSp>
          <p:nvGrpSpPr>
            <p:cNvPr id="20" name="Group 242">
              <a:extLst>
                <a:ext uri="{FF2B5EF4-FFF2-40B4-BE49-F238E27FC236}">
                  <a16:creationId xmlns:a16="http://schemas.microsoft.com/office/drawing/2014/main" id="{EF32896C-8DD6-A9FF-CAD6-A91E8E437FE5}"/>
                </a:ext>
              </a:extLst>
            </p:cNvPr>
            <p:cNvGrpSpPr>
              <a:grpSpLocks noChangeAspect="1"/>
            </p:cNvGrpSpPr>
            <p:nvPr/>
          </p:nvGrpSpPr>
          <p:grpSpPr bwMode="auto">
            <a:xfrm>
              <a:off x="7336428" y="1772716"/>
              <a:ext cx="384185" cy="385083"/>
              <a:chOff x="4478" y="440"/>
              <a:chExt cx="426" cy="427"/>
            </a:xfrm>
            <a:solidFill>
              <a:schemeClr val="bg1"/>
            </a:solidFill>
          </p:grpSpPr>
          <p:sp>
            <p:nvSpPr>
              <p:cNvPr id="23" name="Freeform 243">
                <a:extLst>
                  <a:ext uri="{FF2B5EF4-FFF2-40B4-BE49-F238E27FC236}">
                    <a16:creationId xmlns:a16="http://schemas.microsoft.com/office/drawing/2014/main" id="{33951A2B-DB2C-6C24-1287-F4057114FE4C}"/>
                  </a:ext>
                </a:extLst>
              </p:cNvPr>
              <p:cNvSpPr>
                <a:spLocks noEditPoints="1"/>
              </p:cNvSpPr>
              <p:nvPr/>
            </p:nvSpPr>
            <p:spPr bwMode="auto">
              <a:xfrm>
                <a:off x="4549" y="440"/>
                <a:ext cx="284" cy="284"/>
              </a:xfrm>
              <a:custGeom>
                <a:avLst/>
                <a:gdLst>
                  <a:gd name="T0" fmla="*/ 96 w 192"/>
                  <a:gd name="T1" fmla="*/ 192 h 192"/>
                  <a:gd name="T2" fmla="*/ 0 w 192"/>
                  <a:gd name="T3" fmla="*/ 96 h 192"/>
                  <a:gd name="T4" fmla="*/ 96 w 192"/>
                  <a:gd name="T5" fmla="*/ 0 h 192"/>
                  <a:gd name="T6" fmla="*/ 192 w 192"/>
                  <a:gd name="T7" fmla="*/ 96 h 192"/>
                  <a:gd name="T8" fmla="*/ 96 w 192"/>
                  <a:gd name="T9" fmla="*/ 192 h 192"/>
                  <a:gd name="T10" fmla="*/ 96 w 192"/>
                  <a:gd name="T11" fmla="*/ 12 h 192"/>
                  <a:gd name="T12" fmla="*/ 12 w 192"/>
                  <a:gd name="T13" fmla="*/ 96 h 192"/>
                  <a:gd name="T14" fmla="*/ 96 w 192"/>
                  <a:gd name="T15" fmla="*/ 180 h 192"/>
                  <a:gd name="T16" fmla="*/ 180 w 192"/>
                  <a:gd name="T17" fmla="*/ 96 h 192"/>
                  <a:gd name="T18" fmla="*/ 96 w 192"/>
                  <a:gd name="T19" fmla="*/ 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192"/>
                    </a:moveTo>
                    <a:cubicBezTo>
                      <a:pt x="43" y="192"/>
                      <a:pt x="0" y="149"/>
                      <a:pt x="0" y="96"/>
                    </a:cubicBezTo>
                    <a:cubicBezTo>
                      <a:pt x="0" y="43"/>
                      <a:pt x="43" y="0"/>
                      <a:pt x="96" y="0"/>
                    </a:cubicBezTo>
                    <a:cubicBezTo>
                      <a:pt x="149" y="0"/>
                      <a:pt x="192" y="43"/>
                      <a:pt x="192" y="96"/>
                    </a:cubicBezTo>
                    <a:cubicBezTo>
                      <a:pt x="192" y="149"/>
                      <a:pt x="149" y="192"/>
                      <a:pt x="96" y="192"/>
                    </a:cubicBezTo>
                    <a:close/>
                    <a:moveTo>
                      <a:pt x="96" y="12"/>
                    </a:moveTo>
                    <a:cubicBezTo>
                      <a:pt x="50" y="12"/>
                      <a:pt x="12" y="50"/>
                      <a:pt x="12" y="96"/>
                    </a:cubicBezTo>
                    <a:cubicBezTo>
                      <a:pt x="12" y="142"/>
                      <a:pt x="50" y="180"/>
                      <a:pt x="96" y="180"/>
                    </a:cubicBezTo>
                    <a:cubicBezTo>
                      <a:pt x="143" y="180"/>
                      <a:pt x="180" y="142"/>
                      <a:pt x="180" y="96"/>
                    </a:cubicBezTo>
                    <a:cubicBezTo>
                      <a:pt x="180" y="50"/>
                      <a:pt x="143" y="12"/>
                      <a:pt x="9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24" name="Freeform 244">
                <a:extLst>
                  <a:ext uri="{FF2B5EF4-FFF2-40B4-BE49-F238E27FC236}">
                    <a16:creationId xmlns:a16="http://schemas.microsoft.com/office/drawing/2014/main" id="{D177E4C0-F701-BDB1-ABCF-60B94AC194AD}"/>
                  </a:ext>
                </a:extLst>
              </p:cNvPr>
              <p:cNvSpPr>
                <a:spLocks noEditPoints="1"/>
              </p:cNvSpPr>
              <p:nvPr/>
            </p:nvSpPr>
            <p:spPr bwMode="auto">
              <a:xfrm>
                <a:off x="4478" y="582"/>
                <a:ext cx="284" cy="285"/>
              </a:xfrm>
              <a:custGeom>
                <a:avLst/>
                <a:gdLst>
                  <a:gd name="T0" fmla="*/ 96 w 192"/>
                  <a:gd name="T1" fmla="*/ 192 h 192"/>
                  <a:gd name="T2" fmla="*/ 0 w 192"/>
                  <a:gd name="T3" fmla="*/ 96 h 192"/>
                  <a:gd name="T4" fmla="*/ 96 w 192"/>
                  <a:gd name="T5" fmla="*/ 0 h 192"/>
                  <a:gd name="T6" fmla="*/ 192 w 192"/>
                  <a:gd name="T7" fmla="*/ 96 h 192"/>
                  <a:gd name="T8" fmla="*/ 96 w 192"/>
                  <a:gd name="T9" fmla="*/ 192 h 192"/>
                  <a:gd name="T10" fmla="*/ 96 w 192"/>
                  <a:gd name="T11" fmla="*/ 12 h 192"/>
                  <a:gd name="T12" fmla="*/ 12 w 192"/>
                  <a:gd name="T13" fmla="*/ 96 h 192"/>
                  <a:gd name="T14" fmla="*/ 96 w 192"/>
                  <a:gd name="T15" fmla="*/ 180 h 192"/>
                  <a:gd name="T16" fmla="*/ 180 w 192"/>
                  <a:gd name="T17" fmla="*/ 96 h 192"/>
                  <a:gd name="T18" fmla="*/ 96 w 192"/>
                  <a:gd name="T19" fmla="*/ 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192"/>
                    </a:moveTo>
                    <a:cubicBezTo>
                      <a:pt x="43" y="192"/>
                      <a:pt x="0" y="149"/>
                      <a:pt x="0" y="96"/>
                    </a:cubicBezTo>
                    <a:cubicBezTo>
                      <a:pt x="0" y="43"/>
                      <a:pt x="43" y="0"/>
                      <a:pt x="96" y="0"/>
                    </a:cubicBezTo>
                    <a:cubicBezTo>
                      <a:pt x="149" y="0"/>
                      <a:pt x="192" y="43"/>
                      <a:pt x="192" y="96"/>
                    </a:cubicBezTo>
                    <a:cubicBezTo>
                      <a:pt x="192" y="149"/>
                      <a:pt x="149" y="192"/>
                      <a:pt x="96" y="192"/>
                    </a:cubicBezTo>
                    <a:close/>
                    <a:moveTo>
                      <a:pt x="96" y="12"/>
                    </a:moveTo>
                    <a:cubicBezTo>
                      <a:pt x="50" y="12"/>
                      <a:pt x="12" y="50"/>
                      <a:pt x="12" y="96"/>
                    </a:cubicBezTo>
                    <a:cubicBezTo>
                      <a:pt x="12" y="142"/>
                      <a:pt x="50" y="180"/>
                      <a:pt x="96" y="180"/>
                    </a:cubicBezTo>
                    <a:cubicBezTo>
                      <a:pt x="143" y="180"/>
                      <a:pt x="180" y="142"/>
                      <a:pt x="180" y="96"/>
                    </a:cubicBezTo>
                    <a:cubicBezTo>
                      <a:pt x="180" y="50"/>
                      <a:pt x="143" y="12"/>
                      <a:pt x="9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25" name="Freeform 245">
                <a:extLst>
                  <a:ext uri="{FF2B5EF4-FFF2-40B4-BE49-F238E27FC236}">
                    <a16:creationId xmlns:a16="http://schemas.microsoft.com/office/drawing/2014/main" id="{02C745C0-8E0F-EC2B-297D-6662E76D7CA1}"/>
                  </a:ext>
                </a:extLst>
              </p:cNvPr>
              <p:cNvSpPr>
                <a:spLocks noEditPoints="1"/>
              </p:cNvSpPr>
              <p:nvPr/>
            </p:nvSpPr>
            <p:spPr bwMode="auto">
              <a:xfrm>
                <a:off x="4620" y="582"/>
                <a:ext cx="284" cy="285"/>
              </a:xfrm>
              <a:custGeom>
                <a:avLst/>
                <a:gdLst>
                  <a:gd name="T0" fmla="*/ 96 w 192"/>
                  <a:gd name="T1" fmla="*/ 192 h 192"/>
                  <a:gd name="T2" fmla="*/ 0 w 192"/>
                  <a:gd name="T3" fmla="*/ 96 h 192"/>
                  <a:gd name="T4" fmla="*/ 96 w 192"/>
                  <a:gd name="T5" fmla="*/ 0 h 192"/>
                  <a:gd name="T6" fmla="*/ 192 w 192"/>
                  <a:gd name="T7" fmla="*/ 96 h 192"/>
                  <a:gd name="T8" fmla="*/ 96 w 192"/>
                  <a:gd name="T9" fmla="*/ 192 h 192"/>
                  <a:gd name="T10" fmla="*/ 96 w 192"/>
                  <a:gd name="T11" fmla="*/ 12 h 192"/>
                  <a:gd name="T12" fmla="*/ 12 w 192"/>
                  <a:gd name="T13" fmla="*/ 96 h 192"/>
                  <a:gd name="T14" fmla="*/ 96 w 192"/>
                  <a:gd name="T15" fmla="*/ 180 h 192"/>
                  <a:gd name="T16" fmla="*/ 180 w 192"/>
                  <a:gd name="T17" fmla="*/ 96 h 192"/>
                  <a:gd name="T18" fmla="*/ 96 w 192"/>
                  <a:gd name="T19" fmla="*/ 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192"/>
                    </a:moveTo>
                    <a:cubicBezTo>
                      <a:pt x="43" y="192"/>
                      <a:pt x="0" y="149"/>
                      <a:pt x="0" y="96"/>
                    </a:cubicBezTo>
                    <a:cubicBezTo>
                      <a:pt x="0" y="43"/>
                      <a:pt x="43" y="0"/>
                      <a:pt x="96" y="0"/>
                    </a:cubicBezTo>
                    <a:cubicBezTo>
                      <a:pt x="149" y="0"/>
                      <a:pt x="192" y="43"/>
                      <a:pt x="192" y="96"/>
                    </a:cubicBezTo>
                    <a:cubicBezTo>
                      <a:pt x="192" y="149"/>
                      <a:pt x="149" y="192"/>
                      <a:pt x="96" y="192"/>
                    </a:cubicBezTo>
                    <a:close/>
                    <a:moveTo>
                      <a:pt x="96" y="12"/>
                    </a:moveTo>
                    <a:cubicBezTo>
                      <a:pt x="50" y="12"/>
                      <a:pt x="12" y="50"/>
                      <a:pt x="12" y="96"/>
                    </a:cubicBezTo>
                    <a:cubicBezTo>
                      <a:pt x="12" y="142"/>
                      <a:pt x="50" y="180"/>
                      <a:pt x="96" y="180"/>
                    </a:cubicBezTo>
                    <a:cubicBezTo>
                      <a:pt x="143" y="180"/>
                      <a:pt x="180" y="142"/>
                      <a:pt x="180" y="96"/>
                    </a:cubicBezTo>
                    <a:cubicBezTo>
                      <a:pt x="180" y="50"/>
                      <a:pt x="143" y="12"/>
                      <a:pt x="9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96968C"/>
                  </a:solidFill>
                  <a:effectLst/>
                  <a:uLnTx/>
                  <a:uFillTx/>
                  <a:latin typeface="Arial" charset="0"/>
                  <a:ea typeface="+mn-ea"/>
                  <a:cs typeface="Arial" charset="0"/>
                </a:endParaRPr>
              </a:p>
            </p:txBody>
          </p:sp>
        </p:grpSp>
        <p:sp>
          <p:nvSpPr>
            <p:cNvPr id="22" name="Rectangle 21">
              <a:extLst>
                <a:ext uri="{FF2B5EF4-FFF2-40B4-BE49-F238E27FC236}">
                  <a16:creationId xmlns:a16="http://schemas.microsoft.com/office/drawing/2014/main" id="{D8B279E3-BD8E-2F48-C3D1-C3E79E478644}"/>
                </a:ext>
              </a:extLst>
            </p:cNvPr>
            <p:cNvSpPr/>
            <p:nvPr/>
          </p:nvSpPr>
          <p:spPr>
            <a:xfrm>
              <a:off x="7784620" y="1803787"/>
              <a:ext cx="4237781"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bIns="914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1600" b="1" i="0" u="none" strike="noStrike" kern="1200" cap="none" spc="0" normalizeH="0" baseline="0" noProof="0">
                  <a:ln>
                    <a:noFill/>
                  </a:ln>
                  <a:solidFill>
                    <a:srgbClr val="FFFFFF"/>
                  </a:solidFill>
                  <a:effectLst/>
                  <a:uLnTx/>
                  <a:uFillTx/>
                  <a:latin typeface="Graphik Semibold" panose="020B0703030202060203" pitchFamily="34" charset="0"/>
                  <a:ea typeface="+mn-ea"/>
                  <a:cs typeface="+mn-cs"/>
                </a:rPr>
                <a:t>Technical Coexistence (Key patterns)</a:t>
              </a:r>
            </a:p>
          </p:txBody>
        </p:sp>
      </p:grpSp>
      <p:sp>
        <p:nvSpPr>
          <p:cNvPr id="26" name="Rounded Rectangle 46">
            <a:extLst>
              <a:ext uri="{FF2B5EF4-FFF2-40B4-BE49-F238E27FC236}">
                <a16:creationId xmlns:a16="http://schemas.microsoft.com/office/drawing/2014/main" id="{B9EA2929-A56C-EE8A-6D40-448C15AB1695}"/>
              </a:ext>
            </a:extLst>
          </p:cNvPr>
          <p:cNvSpPr/>
          <p:nvPr/>
        </p:nvSpPr>
        <p:spPr>
          <a:xfrm>
            <a:off x="4103874" y="4657902"/>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n-U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Pooling &amp; Sweeping</a:t>
            </a:r>
          </a:p>
        </p:txBody>
      </p:sp>
      <p:sp>
        <p:nvSpPr>
          <p:cNvPr id="27" name="Rounded Rectangle 28">
            <a:extLst>
              <a:ext uri="{FF2B5EF4-FFF2-40B4-BE49-F238E27FC236}">
                <a16:creationId xmlns:a16="http://schemas.microsoft.com/office/drawing/2014/main" id="{4AC7C17E-85B4-7227-5F81-DF4DA0955450}"/>
              </a:ext>
            </a:extLst>
          </p:cNvPr>
          <p:cNvSpPr/>
          <p:nvPr/>
        </p:nvSpPr>
        <p:spPr>
          <a:xfrm>
            <a:off x="4103874"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Cash management strategy that involves consolidating a company’s multiple cash accounts into a single account or pool to optimize overall cash position, improve cashflow management, and benefit from interest income or cost savings.</a:t>
            </a:r>
          </a:p>
        </p:txBody>
      </p:sp>
      <p:sp>
        <p:nvSpPr>
          <p:cNvPr id="28" name="Rounded Rectangle 46">
            <a:extLst>
              <a:ext uri="{FF2B5EF4-FFF2-40B4-BE49-F238E27FC236}">
                <a16:creationId xmlns:a16="http://schemas.microsoft.com/office/drawing/2014/main" id="{11A2D84D-2E7D-6A6B-47A7-CC5BB5FDA955}"/>
              </a:ext>
            </a:extLst>
          </p:cNvPr>
          <p:cNvSpPr/>
          <p:nvPr/>
        </p:nvSpPr>
        <p:spPr>
          <a:xfrm>
            <a:off x="4103874" y="3004355"/>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n-U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Statements</a:t>
            </a:r>
          </a:p>
        </p:txBody>
      </p:sp>
      <p:sp>
        <p:nvSpPr>
          <p:cNvPr id="29" name="Rounded Rectangle 28">
            <a:extLst>
              <a:ext uri="{FF2B5EF4-FFF2-40B4-BE49-F238E27FC236}">
                <a16:creationId xmlns:a16="http://schemas.microsoft.com/office/drawing/2014/main" id="{84827374-C3FA-7007-1D3F-B255E0F2162A}"/>
              </a:ext>
            </a:extLst>
          </p:cNvPr>
          <p:cNvSpPr/>
          <p:nvPr/>
        </p:nvSpPr>
        <p:spPr>
          <a:xfrm>
            <a:off x="4103874"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Includes activities related to issue of regular customer/ account statements in both electronic and physical formats and notifications and ad-hoc/on-event notifications.</a:t>
            </a:r>
            <a:endParaRPr kumimoji="0" lang="LID4096"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30" name="Rounded Rectangle 48">
            <a:extLst>
              <a:ext uri="{FF2B5EF4-FFF2-40B4-BE49-F238E27FC236}">
                <a16:creationId xmlns:a16="http://schemas.microsoft.com/office/drawing/2014/main" id="{F26FC224-BB46-93A8-0755-D95C933AF197}"/>
              </a:ext>
            </a:extLst>
          </p:cNvPr>
          <p:cNvSpPr/>
          <p:nvPr/>
        </p:nvSpPr>
        <p:spPr>
          <a:xfrm>
            <a:off x="1621958" y="4657902"/>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36000" tIns="72000" rIns="36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n-U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Currency</a:t>
            </a:r>
          </a:p>
        </p:txBody>
      </p:sp>
      <p:sp>
        <p:nvSpPr>
          <p:cNvPr id="31" name="Rounded Rectangle 28">
            <a:extLst>
              <a:ext uri="{FF2B5EF4-FFF2-40B4-BE49-F238E27FC236}">
                <a16:creationId xmlns:a16="http://schemas.microsoft.com/office/drawing/2014/main" id="{EAA47A27-D086-6E51-4D4E-71975CA826ED}"/>
              </a:ext>
            </a:extLst>
          </p:cNvPr>
          <p:cNvSpPr/>
          <p:nvPr/>
        </p:nvSpPr>
        <p:spPr>
          <a:xfrm>
            <a:off x="1621958"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Refers to an entity's ability to facilitate the conversion of one currency into another, enabling international transactions and trading. It enables the exchange of currencies at prevailing market rates.</a:t>
            </a:r>
          </a:p>
        </p:txBody>
      </p:sp>
      <p:sp>
        <p:nvSpPr>
          <p:cNvPr id="32" name="Rounded Rectangle 48">
            <a:extLst>
              <a:ext uri="{FF2B5EF4-FFF2-40B4-BE49-F238E27FC236}">
                <a16:creationId xmlns:a16="http://schemas.microsoft.com/office/drawing/2014/main" id="{8853EBFA-E688-7426-F63A-7739DEF08D7F}"/>
              </a:ext>
            </a:extLst>
          </p:cNvPr>
          <p:cNvSpPr/>
          <p:nvPr/>
        </p:nvSpPr>
        <p:spPr>
          <a:xfrm>
            <a:off x="1621958" y="3004355"/>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36000" tIns="72000" rIns="36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n-U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Contract Management</a:t>
            </a:r>
          </a:p>
        </p:txBody>
      </p:sp>
      <p:sp>
        <p:nvSpPr>
          <p:cNvPr id="33" name="Rounded Rectangle 28">
            <a:extLst>
              <a:ext uri="{FF2B5EF4-FFF2-40B4-BE49-F238E27FC236}">
                <a16:creationId xmlns:a16="http://schemas.microsoft.com/office/drawing/2014/main" id="{DAEDA170-3395-3844-77DC-F6930478EF0A}"/>
              </a:ext>
            </a:extLst>
          </p:cNvPr>
          <p:cNvSpPr/>
          <p:nvPr/>
        </p:nvSpPr>
        <p:spPr>
          <a:xfrm>
            <a:off x="1621958"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Maintaining and updating contract information, monitoring contract activity, and handling contract-related requests and inquiries.</a:t>
            </a:r>
          </a:p>
          <a:p>
            <a:pPr marL="0" marR="0" lvl="0" indent="0" algn="l" defTabSz="914400" rtl="0" eaLnBrk="1" fontAlgn="auto" latinLnBrk="0" hangingPunct="1">
              <a:lnSpc>
                <a:spcPct val="85000"/>
              </a:lnSpc>
              <a:spcBef>
                <a:spcPts val="0"/>
              </a:spcBef>
              <a:spcAft>
                <a:spcPts val="0"/>
              </a:spcAft>
              <a:buClrTx/>
              <a:buSzTx/>
              <a:buFontTx/>
              <a:buNone/>
              <a:tabLst/>
              <a:defRPr/>
            </a:pPr>
            <a:endParaRPr kumimoji="0" lang="LID4096"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34" name="Rounded Rectangle 50">
            <a:extLst>
              <a:ext uri="{FF2B5EF4-FFF2-40B4-BE49-F238E27FC236}">
                <a16:creationId xmlns:a16="http://schemas.microsoft.com/office/drawing/2014/main" id="{42937F7D-77F5-4816-3D2C-DFC83A5EFD23}"/>
              </a:ext>
            </a:extLst>
          </p:cNvPr>
          <p:cNvSpPr/>
          <p:nvPr/>
        </p:nvSpPr>
        <p:spPr>
          <a:xfrm>
            <a:off x="381000" y="4657902"/>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n-U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Limits Management</a:t>
            </a:r>
          </a:p>
        </p:txBody>
      </p:sp>
      <p:sp>
        <p:nvSpPr>
          <p:cNvPr id="35" name="Rounded Rectangle 28">
            <a:extLst>
              <a:ext uri="{FF2B5EF4-FFF2-40B4-BE49-F238E27FC236}">
                <a16:creationId xmlns:a16="http://schemas.microsoft.com/office/drawing/2014/main" id="{499243EE-B41B-4455-71B1-B90ED45B7010}"/>
              </a:ext>
            </a:extLst>
          </p:cNvPr>
          <p:cNvSpPr/>
          <p:nvPr/>
        </p:nvSpPr>
        <p:spPr>
          <a:xfrm>
            <a:off x="381000"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Process of handling authorizations and counterparties credit lines limits to monitor counterparty/credit risk management.</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Limits are managed across credit and transactional activities.</a:t>
            </a:r>
          </a:p>
        </p:txBody>
      </p:sp>
      <p:sp>
        <p:nvSpPr>
          <p:cNvPr id="36" name="Rounded Rectangle 50">
            <a:extLst>
              <a:ext uri="{FF2B5EF4-FFF2-40B4-BE49-F238E27FC236}">
                <a16:creationId xmlns:a16="http://schemas.microsoft.com/office/drawing/2014/main" id="{14D721D6-D109-8212-85C2-C3F14A9BFECB}"/>
              </a:ext>
            </a:extLst>
          </p:cNvPr>
          <p:cNvSpPr/>
          <p:nvPr/>
        </p:nvSpPr>
        <p:spPr>
          <a:xfrm>
            <a:off x="381000" y="3004355"/>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n-U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Party Master</a:t>
            </a:r>
          </a:p>
        </p:txBody>
      </p:sp>
      <p:sp>
        <p:nvSpPr>
          <p:cNvPr id="37" name="Rounded Rectangle 28">
            <a:extLst>
              <a:ext uri="{FF2B5EF4-FFF2-40B4-BE49-F238E27FC236}">
                <a16:creationId xmlns:a16="http://schemas.microsoft.com/office/drawing/2014/main" id="{782C14F9-853C-EFD4-760F-9D1D1BB8E828}"/>
              </a:ext>
            </a:extLst>
          </p:cNvPr>
          <p:cNvSpPr/>
          <p:nvPr/>
        </p:nvSpPr>
        <p:spPr>
          <a:xfrm>
            <a:off x="381000"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Unique repository for customer information systems that will allow sharing of customer information across the whole entity. Can provide segmented views based on different profiles. </a:t>
            </a:r>
          </a:p>
        </p:txBody>
      </p:sp>
      <p:sp>
        <p:nvSpPr>
          <p:cNvPr id="38" name="Rounded Rectangle 50">
            <a:extLst>
              <a:ext uri="{FF2B5EF4-FFF2-40B4-BE49-F238E27FC236}">
                <a16:creationId xmlns:a16="http://schemas.microsoft.com/office/drawing/2014/main" id="{DFCF6420-13E4-641C-8886-E5EF24D18C1B}"/>
              </a:ext>
            </a:extLst>
          </p:cNvPr>
          <p:cNvSpPr/>
          <p:nvPr/>
        </p:nvSpPr>
        <p:spPr>
          <a:xfrm>
            <a:off x="2862916" y="4657902"/>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n-U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Pricing (Interest &amp; Fee) </a:t>
            </a:r>
          </a:p>
        </p:txBody>
      </p:sp>
      <p:sp>
        <p:nvSpPr>
          <p:cNvPr id="39" name="Rounded Rectangle 28">
            <a:extLst>
              <a:ext uri="{FF2B5EF4-FFF2-40B4-BE49-F238E27FC236}">
                <a16:creationId xmlns:a16="http://schemas.microsoft.com/office/drawing/2014/main" id="{7C498894-0763-1059-E2A3-D9CFA2C08CFB}"/>
              </a:ext>
            </a:extLst>
          </p:cNvPr>
          <p:cNvSpPr/>
          <p:nvPr/>
        </p:nvSpPr>
        <p:spPr>
          <a:xfrm>
            <a:off x="2862916"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Management of pricing strategy by calculating cost, applying different models, and evaluating customer and competitor behavior.</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Applying the appropriate interest and fee rates based on personalized offers.</a:t>
            </a:r>
          </a:p>
        </p:txBody>
      </p:sp>
      <p:sp>
        <p:nvSpPr>
          <p:cNvPr id="40" name="Rounded Rectangle 50">
            <a:extLst>
              <a:ext uri="{FF2B5EF4-FFF2-40B4-BE49-F238E27FC236}">
                <a16:creationId xmlns:a16="http://schemas.microsoft.com/office/drawing/2014/main" id="{676B8430-2439-BFA9-2927-48D9A78B35A0}"/>
              </a:ext>
            </a:extLst>
          </p:cNvPr>
          <p:cNvSpPr/>
          <p:nvPr/>
        </p:nvSpPr>
        <p:spPr>
          <a:xfrm>
            <a:off x="2862916" y="3004355"/>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n-U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Product Catalogue</a:t>
            </a:r>
          </a:p>
        </p:txBody>
      </p:sp>
      <p:sp>
        <p:nvSpPr>
          <p:cNvPr id="41" name="Rounded Rectangle 28">
            <a:extLst>
              <a:ext uri="{FF2B5EF4-FFF2-40B4-BE49-F238E27FC236}">
                <a16:creationId xmlns:a16="http://schemas.microsoft.com/office/drawing/2014/main" id="{E237D928-4D2C-CEA1-8DE6-94EE82724055}"/>
              </a:ext>
            </a:extLst>
          </p:cNvPr>
          <p:cNvSpPr/>
          <p:nvPr/>
        </p:nvSpPr>
        <p:spPr>
          <a:xfrm>
            <a:off x="2862916"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Involves maintaining and managing product components and configuration proactively and driven by insightful data-driven analysis.</a:t>
            </a:r>
          </a:p>
        </p:txBody>
      </p:sp>
      <p:cxnSp>
        <p:nvCxnSpPr>
          <p:cNvPr id="42" name="Straight Connector 41">
            <a:extLst>
              <a:ext uri="{FF2B5EF4-FFF2-40B4-BE49-F238E27FC236}">
                <a16:creationId xmlns:a16="http://schemas.microsoft.com/office/drawing/2014/main" id="{A7A120C0-8855-28ED-7D23-449E6EEB4BC5}"/>
              </a:ext>
            </a:extLst>
          </p:cNvPr>
          <p:cNvCxnSpPr>
            <a:cxnSpLocks/>
          </p:cNvCxnSpPr>
          <p:nvPr/>
        </p:nvCxnSpPr>
        <p:spPr>
          <a:xfrm>
            <a:off x="6735959" y="2904018"/>
            <a:ext cx="0" cy="363600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3" name="Rounded Rectangle 46">
            <a:extLst>
              <a:ext uri="{FF2B5EF4-FFF2-40B4-BE49-F238E27FC236}">
                <a16:creationId xmlns:a16="http://schemas.microsoft.com/office/drawing/2014/main" id="{BCADB121-2B7A-124B-7E71-A90A54D019F6}"/>
              </a:ext>
            </a:extLst>
          </p:cNvPr>
          <p:cNvSpPr/>
          <p:nvPr/>
        </p:nvSpPr>
        <p:spPr>
          <a:xfrm>
            <a:off x="5344832" y="4657902"/>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n-U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Accounting Engine</a:t>
            </a:r>
          </a:p>
        </p:txBody>
      </p:sp>
      <p:sp>
        <p:nvSpPr>
          <p:cNvPr id="44" name="Rounded Rectangle 28">
            <a:extLst>
              <a:ext uri="{FF2B5EF4-FFF2-40B4-BE49-F238E27FC236}">
                <a16:creationId xmlns:a16="http://schemas.microsoft.com/office/drawing/2014/main" id="{FD942A02-F95D-7490-AE1A-7C33477D22C1}"/>
              </a:ext>
            </a:extLst>
          </p:cNvPr>
          <p:cNvSpPr/>
          <p:nvPr/>
        </p:nvSpPr>
        <p:spPr>
          <a:xfrm>
            <a:off x="5344832"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Generation, enrichment and reporting of accounting events. Includes the use of Open Banking/PSD2 process to aggregate financial data from movements of bank accounts and feed credit risk engine with more accurate data.</a:t>
            </a:r>
          </a:p>
        </p:txBody>
      </p:sp>
      <p:sp>
        <p:nvSpPr>
          <p:cNvPr id="45" name="Rounded Rectangle 46">
            <a:extLst>
              <a:ext uri="{FF2B5EF4-FFF2-40B4-BE49-F238E27FC236}">
                <a16:creationId xmlns:a16="http://schemas.microsoft.com/office/drawing/2014/main" id="{596AB52C-5FF0-E444-567F-82690A462185}"/>
              </a:ext>
            </a:extLst>
          </p:cNvPr>
          <p:cNvSpPr/>
          <p:nvPr/>
        </p:nvSpPr>
        <p:spPr>
          <a:xfrm>
            <a:off x="5344832" y="3004355"/>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n-U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Reports</a:t>
            </a:r>
          </a:p>
        </p:txBody>
      </p:sp>
      <p:sp>
        <p:nvSpPr>
          <p:cNvPr id="46" name="Rounded Rectangle 28">
            <a:extLst>
              <a:ext uri="{FF2B5EF4-FFF2-40B4-BE49-F238E27FC236}">
                <a16:creationId xmlns:a16="http://schemas.microsoft.com/office/drawing/2014/main" id="{75974420-9CA7-F487-686D-B5253C901667}"/>
              </a:ext>
            </a:extLst>
          </p:cNvPr>
          <p:cNvSpPr/>
          <p:nvPr/>
        </p:nvSpPr>
        <p:spPr>
          <a:xfrm>
            <a:off x="5344832"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Includes the capability to merge information across different systems and provide a unified view across operational, accounting, informational and regulatory reporting.</a:t>
            </a:r>
            <a:endParaRPr kumimoji="0" lang="LID4096"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47" name="Rounded Rectangle 46">
            <a:extLst>
              <a:ext uri="{FF2B5EF4-FFF2-40B4-BE49-F238E27FC236}">
                <a16:creationId xmlns:a16="http://schemas.microsoft.com/office/drawing/2014/main" id="{6D5F045E-809C-E40E-CFD5-C4069B175733}"/>
              </a:ext>
            </a:extLst>
          </p:cNvPr>
          <p:cNvSpPr/>
          <p:nvPr/>
        </p:nvSpPr>
        <p:spPr>
          <a:xfrm>
            <a:off x="10642359" y="3004355"/>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n-U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Reference Data</a:t>
            </a:r>
          </a:p>
        </p:txBody>
      </p:sp>
      <p:sp>
        <p:nvSpPr>
          <p:cNvPr id="48" name="Rounded Rectangle 28">
            <a:extLst>
              <a:ext uri="{FF2B5EF4-FFF2-40B4-BE49-F238E27FC236}">
                <a16:creationId xmlns:a16="http://schemas.microsoft.com/office/drawing/2014/main" id="{353DD3A4-D2D5-85B2-ED2A-443819E82DE3}"/>
              </a:ext>
            </a:extLst>
          </p:cNvPr>
          <p:cNvSpPr/>
          <p:nvPr/>
        </p:nvSpPr>
        <p:spPr>
          <a:xfrm>
            <a:off x="10642359"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Manages the relation between values admitted for given parameters. </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Depending on a code, it retrieves a combination of values.</a:t>
            </a:r>
          </a:p>
        </p:txBody>
      </p:sp>
      <p:sp>
        <p:nvSpPr>
          <p:cNvPr id="49" name="Rounded Rectangle 48">
            <a:extLst>
              <a:ext uri="{FF2B5EF4-FFF2-40B4-BE49-F238E27FC236}">
                <a16:creationId xmlns:a16="http://schemas.microsoft.com/office/drawing/2014/main" id="{3B0AF467-FCDC-6A21-B5A1-1C02BBAF1732}"/>
              </a:ext>
            </a:extLst>
          </p:cNvPr>
          <p:cNvSpPr/>
          <p:nvPr/>
        </p:nvSpPr>
        <p:spPr>
          <a:xfrm>
            <a:off x="8160443" y="3004355"/>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n-U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Confidentiality</a:t>
            </a:r>
          </a:p>
        </p:txBody>
      </p:sp>
      <p:sp>
        <p:nvSpPr>
          <p:cNvPr id="50" name="Rounded Rectangle 28">
            <a:extLst>
              <a:ext uri="{FF2B5EF4-FFF2-40B4-BE49-F238E27FC236}">
                <a16:creationId xmlns:a16="http://schemas.microsoft.com/office/drawing/2014/main" id="{FF27AD00-D761-B90F-3824-6473576A237F}"/>
              </a:ext>
            </a:extLst>
          </p:cNvPr>
          <p:cNvSpPr/>
          <p:nvPr/>
        </p:nvSpPr>
        <p:spPr>
          <a:xfrm>
            <a:off x="8160443"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18000" tIns="36000" rIns="18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Verifies that a user, even if authorized to perform an operation on a person or contract, has the required profile to access the information based on the level of confidentiality that the entity has established for that person or contract.</a:t>
            </a:r>
          </a:p>
        </p:txBody>
      </p:sp>
      <p:sp>
        <p:nvSpPr>
          <p:cNvPr id="51" name="Rounded Rectangle 50">
            <a:extLst>
              <a:ext uri="{FF2B5EF4-FFF2-40B4-BE49-F238E27FC236}">
                <a16:creationId xmlns:a16="http://schemas.microsoft.com/office/drawing/2014/main" id="{D5178BA4-40D4-F45D-3606-8055F4284124}"/>
              </a:ext>
            </a:extLst>
          </p:cNvPr>
          <p:cNvSpPr/>
          <p:nvPr/>
        </p:nvSpPr>
        <p:spPr>
          <a:xfrm>
            <a:off x="6919484" y="3004355"/>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n-U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Conductor (Saga)</a:t>
            </a:r>
          </a:p>
        </p:txBody>
      </p:sp>
      <p:sp>
        <p:nvSpPr>
          <p:cNvPr id="52" name="Rounded Rectangle 28">
            <a:extLst>
              <a:ext uri="{FF2B5EF4-FFF2-40B4-BE49-F238E27FC236}">
                <a16:creationId xmlns:a16="http://schemas.microsoft.com/office/drawing/2014/main" id="{D34429E8-0975-CA48-F236-72DBABCFDE6E}"/>
              </a:ext>
            </a:extLst>
          </p:cNvPr>
          <p:cNvSpPr/>
          <p:nvPr/>
        </p:nvSpPr>
        <p:spPr>
          <a:xfrm>
            <a:off x="6919484"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Manages long-running transactions that span multiple services. It enables the coordination and orchestration of these transactions to ensure data consistency and reliability.</a:t>
            </a:r>
          </a:p>
        </p:txBody>
      </p:sp>
      <p:sp>
        <p:nvSpPr>
          <p:cNvPr id="53" name="Rounded Rectangle 50">
            <a:extLst>
              <a:ext uri="{FF2B5EF4-FFF2-40B4-BE49-F238E27FC236}">
                <a16:creationId xmlns:a16="http://schemas.microsoft.com/office/drawing/2014/main" id="{5DB434AB-12F8-1BF9-C264-56323FA186BE}"/>
              </a:ext>
            </a:extLst>
          </p:cNvPr>
          <p:cNvSpPr/>
          <p:nvPr/>
        </p:nvSpPr>
        <p:spPr>
          <a:xfrm>
            <a:off x="9401401" y="3004355"/>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n-U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Caching</a:t>
            </a:r>
          </a:p>
        </p:txBody>
      </p:sp>
      <p:sp>
        <p:nvSpPr>
          <p:cNvPr id="54" name="Rounded Rectangle 28">
            <a:extLst>
              <a:ext uri="{FF2B5EF4-FFF2-40B4-BE49-F238E27FC236}">
                <a16:creationId xmlns:a16="http://schemas.microsoft.com/office/drawing/2014/main" id="{45F4BAD2-C720-57CC-AB95-CC64F3E27052}"/>
              </a:ext>
            </a:extLst>
          </p:cNvPr>
          <p:cNvSpPr/>
          <p:nvPr/>
        </p:nvSpPr>
        <p:spPr>
          <a:xfrm>
            <a:off x="9401401"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Process of storing frequently accessed data in a temporary storage location (cache) to improve performance by reducing the need to repeatedly fetch the data from its original source.</a:t>
            </a:r>
          </a:p>
        </p:txBody>
      </p:sp>
      <p:sp>
        <p:nvSpPr>
          <p:cNvPr id="55" name="Rounded Rectangle 48">
            <a:extLst>
              <a:ext uri="{FF2B5EF4-FFF2-40B4-BE49-F238E27FC236}">
                <a16:creationId xmlns:a16="http://schemas.microsoft.com/office/drawing/2014/main" id="{4AC898B3-C2C1-C8A5-C1AA-06E6C7F77C49}"/>
              </a:ext>
            </a:extLst>
          </p:cNvPr>
          <p:cNvSpPr/>
          <p:nvPr/>
        </p:nvSpPr>
        <p:spPr>
          <a:xfrm>
            <a:off x="8160443" y="4657902"/>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n-U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Error Management</a:t>
            </a:r>
          </a:p>
        </p:txBody>
      </p:sp>
      <p:sp>
        <p:nvSpPr>
          <p:cNvPr id="56" name="Rounded Rectangle 28">
            <a:extLst>
              <a:ext uri="{FF2B5EF4-FFF2-40B4-BE49-F238E27FC236}">
                <a16:creationId xmlns:a16="http://schemas.microsoft.com/office/drawing/2014/main" id="{54938650-A80D-A9AD-4E52-3AB817C2B8D5}"/>
              </a:ext>
            </a:extLst>
          </p:cNvPr>
          <p:cNvSpPr/>
          <p:nvPr/>
        </p:nvSpPr>
        <p:spPr>
          <a:xfrm>
            <a:off x="8160443"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Enables management of component errors (functional or technical) and those within the process/API choreography. Is based on error codes to be interpreted by the choreography/ orchestration layer.</a:t>
            </a:r>
          </a:p>
          <a:p>
            <a:pPr marL="0" marR="0" lvl="0" indent="0" algn="l" defTabSz="914400" rtl="0" eaLnBrk="1" fontAlgn="auto" latinLnBrk="0" hangingPunct="1">
              <a:lnSpc>
                <a:spcPct val="85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57" name="Rounded Rectangle 50">
            <a:extLst>
              <a:ext uri="{FF2B5EF4-FFF2-40B4-BE49-F238E27FC236}">
                <a16:creationId xmlns:a16="http://schemas.microsoft.com/office/drawing/2014/main" id="{8410C7BE-5001-6CA6-2F36-9CDCBC2C5549}"/>
              </a:ext>
            </a:extLst>
          </p:cNvPr>
          <p:cNvSpPr/>
          <p:nvPr/>
        </p:nvSpPr>
        <p:spPr>
          <a:xfrm>
            <a:off x="6919484" y="4657902"/>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n-U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Operation ID</a:t>
            </a:r>
          </a:p>
        </p:txBody>
      </p:sp>
      <p:sp>
        <p:nvSpPr>
          <p:cNvPr id="58" name="Rounded Rectangle 28">
            <a:extLst>
              <a:ext uri="{FF2B5EF4-FFF2-40B4-BE49-F238E27FC236}">
                <a16:creationId xmlns:a16="http://schemas.microsoft.com/office/drawing/2014/main" id="{91791855-6A17-D330-E2F5-963A61639F63}"/>
              </a:ext>
            </a:extLst>
          </p:cNvPr>
          <p:cNvSpPr/>
          <p:nvPr/>
        </p:nvSpPr>
        <p:spPr>
          <a:xfrm>
            <a:off x="6919484"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Unique ID that must be generated on the request to be propagated along the different layers.</a:t>
            </a:r>
          </a:p>
          <a:p>
            <a:pPr marL="0" marR="0" lvl="0" indent="0" algn="l" defTabSz="914400" rtl="0" eaLnBrk="1" fontAlgn="auto" latinLnBrk="0" hangingPunct="1">
              <a:lnSpc>
                <a:spcPct val="85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Allows traceability of the entire operation.</a:t>
            </a:r>
          </a:p>
        </p:txBody>
      </p:sp>
      <p:sp>
        <p:nvSpPr>
          <p:cNvPr id="59" name="Rounded Rectangle 50">
            <a:extLst>
              <a:ext uri="{FF2B5EF4-FFF2-40B4-BE49-F238E27FC236}">
                <a16:creationId xmlns:a16="http://schemas.microsoft.com/office/drawing/2014/main" id="{FCA82FBC-925E-3846-FEA8-438C2FFAFAFB}"/>
              </a:ext>
            </a:extLst>
          </p:cNvPr>
          <p:cNvSpPr/>
          <p:nvPr/>
        </p:nvSpPr>
        <p:spPr>
          <a:xfrm>
            <a:off x="9401401" y="4657902"/>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n-U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Data Modeling</a:t>
            </a:r>
          </a:p>
        </p:txBody>
      </p:sp>
      <p:sp>
        <p:nvSpPr>
          <p:cNvPr id="60" name="Rounded Rectangle 28">
            <a:extLst>
              <a:ext uri="{FF2B5EF4-FFF2-40B4-BE49-F238E27FC236}">
                <a16:creationId xmlns:a16="http://schemas.microsoft.com/office/drawing/2014/main" id="{39CA02F8-9FC8-C343-B5AA-6E23A20EDAF6}"/>
              </a:ext>
            </a:extLst>
          </p:cNvPr>
          <p:cNvSpPr/>
          <p:nvPr/>
        </p:nvSpPr>
        <p:spPr>
          <a:xfrm>
            <a:off x="9401401"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Central repository for registering and maintaining data related across different business concepts. Single point of contact to record existing information, how it is being generated and data dependencies.</a:t>
            </a:r>
          </a:p>
        </p:txBody>
      </p:sp>
      <p:cxnSp>
        <p:nvCxnSpPr>
          <p:cNvPr id="61" name="Straight Connector 60">
            <a:extLst>
              <a:ext uri="{FF2B5EF4-FFF2-40B4-BE49-F238E27FC236}">
                <a16:creationId xmlns:a16="http://schemas.microsoft.com/office/drawing/2014/main" id="{13888B29-E0D2-2046-7F5E-6C765D807F0E}"/>
              </a:ext>
            </a:extLst>
          </p:cNvPr>
          <p:cNvCxnSpPr>
            <a:cxnSpLocks/>
          </p:cNvCxnSpPr>
          <p:nvPr/>
        </p:nvCxnSpPr>
        <p:spPr>
          <a:xfrm>
            <a:off x="6735959" y="1648460"/>
            <a:ext cx="0" cy="1265899"/>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62" name="Rounded Rectangle 50">
            <a:extLst>
              <a:ext uri="{FF2B5EF4-FFF2-40B4-BE49-F238E27FC236}">
                <a16:creationId xmlns:a16="http://schemas.microsoft.com/office/drawing/2014/main" id="{598B7AB6-0CED-70C8-033A-6757CE12389C}"/>
              </a:ext>
            </a:extLst>
          </p:cNvPr>
          <p:cNvSpPr/>
          <p:nvPr/>
        </p:nvSpPr>
        <p:spPr>
          <a:xfrm>
            <a:off x="10626556" y="4657902"/>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n-U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Observability</a:t>
            </a:r>
          </a:p>
        </p:txBody>
      </p:sp>
      <p:sp>
        <p:nvSpPr>
          <p:cNvPr id="63" name="Rounded Rectangle 28">
            <a:extLst>
              <a:ext uri="{FF2B5EF4-FFF2-40B4-BE49-F238E27FC236}">
                <a16:creationId xmlns:a16="http://schemas.microsoft.com/office/drawing/2014/main" id="{DC2F9B1C-E008-C741-C777-A09339DAB9A4}"/>
              </a:ext>
            </a:extLst>
          </p:cNvPr>
          <p:cNvSpPr/>
          <p:nvPr/>
        </p:nvSpPr>
        <p:spPr>
          <a:xfrm>
            <a:off x="10626556"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Ensure observability from two different angles:</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1.- Mapping of all tech components supporting each one of the different business services</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2.- Dynamic and live traceability of all the different flows among all tech </a:t>
            </a:r>
            <a:r>
              <a:rPr kumimoji="0" lang="en-US" sz="800" b="0" i="0" u="none" strike="noStrike" kern="1200" cap="none" spc="0" normalizeH="0" baseline="0" noProof="0" dirty="0" err="1">
                <a:ln>
                  <a:noFill/>
                </a:ln>
                <a:solidFill>
                  <a:srgbClr val="000000"/>
                </a:solidFill>
                <a:effectLst/>
                <a:uLnTx/>
                <a:uFillTx/>
                <a:latin typeface="Graphik Light" panose="020B0403030202060203" pitchFamily="34" charset="0"/>
                <a:ea typeface="+mn-ea"/>
                <a:cs typeface="+mn-cs"/>
              </a:rPr>
              <a:t>conpoments</a:t>
            </a:r>
            <a:r>
              <a:rPr kumimoji="0" lang="en-US" sz="8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 involved. </a:t>
            </a:r>
          </a:p>
        </p:txBody>
      </p:sp>
    </p:spTree>
    <p:extLst>
      <p:ext uri="{BB962C8B-B14F-4D97-AF65-F5344CB8AC3E}">
        <p14:creationId xmlns:p14="http://schemas.microsoft.com/office/powerpoint/2010/main" val="2000197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F42E0-77FA-8A8E-216D-94907D0AC5C5}"/>
            </a:ext>
          </a:extLst>
        </p:cNvPr>
        <p:cNvGrpSpPr/>
        <p:nvPr/>
      </p:nvGrpSpPr>
      <p:grpSpPr>
        <a:xfrm>
          <a:off x="0" y="0"/>
          <a:ext cx="0" cy="0"/>
          <a:chOff x="0" y="0"/>
          <a:chExt cx="0" cy="0"/>
        </a:xfrm>
      </p:grpSpPr>
      <p:pic>
        <p:nvPicPr>
          <p:cNvPr id="16" name="Picture Placeholder 15">
            <a:extLst>
              <a:ext uri="{FF2B5EF4-FFF2-40B4-BE49-F238E27FC236}">
                <a16:creationId xmlns:a16="http://schemas.microsoft.com/office/drawing/2014/main" id="{FC621569-776A-22A2-1A1A-8CC96862874B}"/>
              </a:ext>
            </a:extLst>
          </p:cNvPr>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rcRect l="20062" r="20062"/>
          <a:stretch/>
        </p:blipFill>
        <p:spPr>
          <a:xfrm>
            <a:off x="6096000" y="0"/>
            <a:ext cx="6096000" cy="6858000"/>
          </a:xfrm>
          <a:prstGeom prst="rect">
            <a:avLst/>
          </a:prstGeom>
        </p:spPr>
      </p:pic>
      <p:sp>
        <p:nvSpPr>
          <p:cNvPr id="17" name="TextBox 16">
            <a:extLst>
              <a:ext uri="{FF2B5EF4-FFF2-40B4-BE49-F238E27FC236}">
                <a16:creationId xmlns:a16="http://schemas.microsoft.com/office/drawing/2014/main" id="{3EEFEE3B-750C-69C5-5DF5-0C711038C8F1}"/>
              </a:ext>
            </a:extLst>
          </p:cNvPr>
          <p:cNvSpPr txBox="1"/>
          <p:nvPr/>
        </p:nvSpPr>
        <p:spPr>
          <a:xfrm>
            <a:off x="7054753" y="6447723"/>
            <a:ext cx="4551903"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Copyright © 2025 Accenture. All rights reserved.</a:t>
            </a:r>
          </a:p>
        </p:txBody>
      </p:sp>
      <p:sp>
        <p:nvSpPr>
          <p:cNvPr id="18" name="TextBox 17">
            <a:extLst>
              <a:ext uri="{FF2B5EF4-FFF2-40B4-BE49-F238E27FC236}">
                <a16:creationId xmlns:a16="http://schemas.microsoft.com/office/drawing/2014/main" id="{322C619A-891C-DD26-7F57-CBC9839A777B}"/>
              </a:ext>
            </a:extLst>
          </p:cNvPr>
          <p:cNvSpPr txBox="1"/>
          <p:nvPr/>
        </p:nvSpPr>
        <p:spPr>
          <a:xfrm>
            <a:off x="11621120" y="6459129"/>
            <a:ext cx="505097" cy="2000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90F471-3972-4120-B8B3-0237DE626C35}" type="slidenum">
              <a:rPr kumimoji="0" lang="en-US" sz="700" b="0" i="0" u="none" strike="noStrike" kern="1200" cap="none" spc="0" normalizeH="0" baseline="0" noProof="0" smtClean="0">
                <a:ln>
                  <a:noFill/>
                </a:ln>
                <a:solidFill>
                  <a:srgbClr val="000000"/>
                </a:solidFill>
                <a:effectLst/>
                <a:uLnTx/>
                <a:uFillTx/>
                <a:latin typeface="Graphik Light" panose="020B0403030202060203"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7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14" name="Text Placeholder 8">
            <a:extLst>
              <a:ext uri="{FF2B5EF4-FFF2-40B4-BE49-F238E27FC236}">
                <a16:creationId xmlns:a16="http://schemas.microsoft.com/office/drawing/2014/main" id="{30AA5193-F654-0B35-8BB7-285734F523D8}"/>
              </a:ext>
            </a:extLst>
          </p:cNvPr>
          <p:cNvSpPr txBox="1">
            <a:spLocks/>
          </p:cNvSpPr>
          <p:nvPr/>
        </p:nvSpPr>
        <p:spPr>
          <a:xfrm>
            <a:off x="381000" y="2199546"/>
            <a:ext cx="2641600" cy="772253"/>
          </a:xfrm>
          <a:prstGeom prst="rect">
            <a:avLst/>
          </a:prstGeom>
        </p:spPr>
        <p:txBody>
          <a:bodyPr vert="horz" lIns="0" tIns="0" rIns="0" bIns="0" rtlCol="0">
            <a:noAutofit/>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lang="en-US" sz="7200" b="0" i="0" kern="1200" spc="-150" dirty="0">
                <a:solidFill>
                  <a:schemeClr val="accent2"/>
                </a:solidFill>
                <a:latin typeface="Graphik Light" panose="020B0403030202060203" pitchFamily="34" charset="0"/>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IN" sz="7200" b="0" i="0" u="none" strike="noStrike" kern="1200" cap="none" spc="-150" normalizeH="0" baseline="0" noProof="0" dirty="0">
                <a:ln>
                  <a:noFill/>
                </a:ln>
                <a:solidFill>
                  <a:srgbClr val="7500C0"/>
                </a:solidFill>
                <a:effectLst/>
                <a:uLnTx/>
                <a:uFillTx/>
                <a:latin typeface="Graphik Light" panose="020B0403030202060203" pitchFamily="34" charset="0"/>
                <a:ea typeface="+mn-ea"/>
                <a:cs typeface="+mn-cs"/>
              </a:rPr>
              <a:t>02. </a:t>
            </a:r>
          </a:p>
        </p:txBody>
      </p:sp>
      <p:sp>
        <p:nvSpPr>
          <p:cNvPr id="15" name="Title 7">
            <a:extLst>
              <a:ext uri="{FF2B5EF4-FFF2-40B4-BE49-F238E27FC236}">
                <a16:creationId xmlns:a16="http://schemas.microsoft.com/office/drawing/2014/main" id="{688F91BC-4E87-BBE5-E1DD-E2AEA0B31B3E}"/>
              </a:ext>
            </a:extLst>
          </p:cNvPr>
          <p:cNvSpPr txBox="1">
            <a:spLocks/>
          </p:cNvSpPr>
          <p:nvPr/>
        </p:nvSpPr>
        <p:spPr>
          <a:xfrm>
            <a:off x="380999" y="3201006"/>
            <a:ext cx="5597013" cy="582441"/>
          </a:xfrm>
          <a:prstGeom prst="rect">
            <a:avLst/>
          </a:prstGeom>
        </p:spPr>
        <p:txBody>
          <a:bodyPr vert="horz" lIns="0" tIns="61200" rIns="0" bIns="0" rtlCol="0" anchor="t">
            <a:noAutofit/>
          </a:bodyPr>
          <a:lstStyle>
            <a:lvl1pPr algn="l" defTabSz="914400" rtl="0" eaLnBrk="1" latinLnBrk="0" hangingPunct="1">
              <a:lnSpc>
                <a:spcPct val="80000"/>
              </a:lnSpc>
              <a:spcBef>
                <a:spcPct val="0"/>
              </a:spcBef>
              <a:buNone/>
              <a:defRPr sz="3200" b="0" kern="1200">
                <a:solidFill>
                  <a:schemeClr val="bg1"/>
                </a:solidFill>
                <a:latin typeface="Graphik Medium" panose="020B0603030202060203"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Graphik Medium" panose="020B0603030202060203" pitchFamily="34" charset="0"/>
                <a:ea typeface="+mj-ea"/>
                <a:cs typeface="+mj-cs"/>
              </a:rPr>
              <a:t>Interoperability Framework</a:t>
            </a:r>
            <a:endParaRPr kumimoji="0" lang="en-IN" sz="3200" b="0" i="0" u="none" strike="noStrike" kern="1200" cap="none" spc="0" normalizeH="0" baseline="0" noProof="0" dirty="0">
              <a:ln>
                <a:noFill/>
              </a:ln>
              <a:solidFill>
                <a:srgbClr val="000000"/>
              </a:solidFill>
              <a:effectLst/>
              <a:uLnTx/>
              <a:uFillTx/>
              <a:latin typeface="Graphik Medium" panose="020B0603030202060203" pitchFamily="34" charset="0"/>
              <a:ea typeface="+mj-ea"/>
              <a:cs typeface="+mj-cs"/>
            </a:endParaRPr>
          </a:p>
        </p:txBody>
      </p:sp>
    </p:spTree>
    <p:extLst>
      <p:ext uri="{BB962C8B-B14F-4D97-AF65-F5344CB8AC3E}">
        <p14:creationId xmlns:p14="http://schemas.microsoft.com/office/powerpoint/2010/main" val="3394922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92211-BCB6-B0A6-01A4-B7FEC33BAA8C}"/>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E657014F-BE1C-59A8-D821-68B10929D570}"/>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All rights reserved.</a:t>
            </a:r>
          </a:p>
        </p:txBody>
      </p:sp>
      <p:sp>
        <p:nvSpPr>
          <p:cNvPr id="65" name="Content Placeholder 34">
            <a:extLst>
              <a:ext uri="{FF2B5EF4-FFF2-40B4-BE49-F238E27FC236}">
                <a16:creationId xmlns:a16="http://schemas.microsoft.com/office/drawing/2014/main" id="{34D2D05E-5B8A-7FDC-6E18-186D9FA041C0}"/>
              </a:ext>
            </a:extLst>
          </p:cNvPr>
          <p:cNvSpPr txBox="1">
            <a:spLocks/>
          </p:cNvSpPr>
          <p:nvPr/>
        </p:nvSpPr>
        <p:spPr>
          <a:xfrm>
            <a:off x="3240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Interoperable architecture is RED (reactive, real-time, event-driven and decoupled)</a:t>
            </a:r>
          </a:p>
        </p:txBody>
      </p:sp>
      <p:sp>
        <p:nvSpPr>
          <p:cNvPr id="66" name="Title 1">
            <a:extLst>
              <a:ext uri="{FF2B5EF4-FFF2-40B4-BE49-F238E27FC236}">
                <a16:creationId xmlns:a16="http://schemas.microsoft.com/office/drawing/2014/main" id="{27E3D597-A553-8B74-D85D-1707C388D3DB}"/>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Interoperable architecture principles</a:t>
            </a:r>
          </a:p>
        </p:txBody>
      </p:sp>
      <p:pic>
        <p:nvPicPr>
          <p:cNvPr id="10" name="Picture 9">
            <a:extLst>
              <a:ext uri="{FF2B5EF4-FFF2-40B4-BE49-F238E27FC236}">
                <a16:creationId xmlns:a16="http://schemas.microsoft.com/office/drawing/2014/main" id="{015A5905-F222-A0EB-014F-525C0427A74B}"/>
              </a:ext>
            </a:extLst>
          </p:cNvPr>
          <p:cNvPicPr>
            <a:picLocks noChangeAspect="1"/>
          </p:cNvPicPr>
          <p:nvPr/>
        </p:nvPicPr>
        <p:blipFill rotWithShape="1">
          <a:blip r:embed="rId3">
            <a:extLst>
              <a:ext uri="{28A0092B-C50C-407E-A947-70E740481C1C}">
                <a14:useLocalDpi xmlns:a14="http://schemas.microsoft.com/office/drawing/2010/main" val="0"/>
              </a:ext>
            </a:extLst>
          </a:blip>
          <a:srcRect l="1151" t="55820" r="38466" b="34387"/>
          <a:stretch/>
        </p:blipFill>
        <p:spPr bwMode="invGray">
          <a:xfrm>
            <a:off x="54402" y="4969966"/>
            <a:ext cx="12188952" cy="1112083"/>
          </a:xfrm>
          <a:prstGeom prst="rect">
            <a:avLst/>
          </a:prstGeom>
        </p:spPr>
      </p:pic>
      <p:sp>
        <p:nvSpPr>
          <p:cNvPr id="11" name="TextBox 10">
            <a:extLst>
              <a:ext uri="{FF2B5EF4-FFF2-40B4-BE49-F238E27FC236}">
                <a16:creationId xmlns:a16="http://schemas.microsoft.com/office/drawing/2014/main" id="{173F7284-FB3B-EB79-37D5-8AD8EF05309C}"/>
              </a:ext>
            </a:extLst>
          </p:cNvPr>
          <p:cNvSpPr txBox="1"/>
          <p:nvPr/>
        </p:nvSpPr>
        <p:spPr>
          <a:xfrm>
            <a:off x="435403" y="1119272"/>
            <a:ext cx="6459638" cy="3785652"/>
          </a:xfrm>
          <a:prstGeom prst="rect">
            <a:avLst/>
          </a:prstGeom>
          <a:noFill/>
        </p:spPr>
        <p:txBody>
          <a:bodyPr wrap="square" lIns="0">
            <a:spAutoFit/>
          </a:body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Reactive</a:t>
            </a:r>
            <a:r>
              <a:rPr kumimoji="0" lang="en-US" sz="1400" b="0"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 </a:t>
            </a:r>
            <a:r>
              <a:rPr kumimoji="0" lang="en-U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A responsive architecture in case of failure, allowing to scale to any size and manage variable volumes. Reactive architecture enables resiliency and scalability across any domain.</a:t>
            </a:r>
            <a:endParaRPr kumimoji="0" lang="en-US" sz="1400" b="1"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endParaRPr>
          </a:p>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Real-time: </a:t>
            </a:r>
            <a:r>
              <a:rPr kumimoji="0" lang="en-U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Data and messages are in constant choreography, flowing across the system as streams. Interoperable architecture ensures data is delivered real-time allowing to get rid of current systems of engagement data limitations.</a:t>
            </a:r>
            <a:endParaRPr kumimoji="0" lang="en-US" sz="1400" b="1"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endParaRPr>
          </a:p>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Event-driven: </a:t>
            </a:r>
            <a:r>
              <a:rPr kumimoji="0" lang="en-U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All messages tend to be managed via events, data services and functions (which are part of the different domains). React to subscribed events and generate or push their own events isolated from the rest. </a:t>
            </a:r>
          </a:p>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Decoupled: </a:t>
            </a:r>
            <a:r>
              <a:rPr kumimoji="0" lang="en-U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Helvetica"/>
                <a:sym typeface="Graphik"/>
              </a:rPr>
              <a:t>Components of the system are autonomous, modular, independently deployable, and choreographed. Decoupling boosts speed-to-market, breaking application interdependencies. </a:t>
            </a:r>
            <a:r>
              <a:rPr kumimoji="0" lang="en-U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This allows for greater flexibility and scalability in adapting to changing business requirements. Appropriate fragmentation of services</a:t>
            </a:r>
          </a:p>
        </p:txBody>
      </p:sp>
      <p:sp>
        <p:nvSpPr>
          <p:cNvPr id="12" name="Rectangle 11">
            <a:extLst>
              <a:ext uri="{FF2B5EF4-FFF2-40B4-BE49-F238E27FC236}">
                <a16:creationId xmlns:a16="http://schemas.microsoft.com/office/drawing/2014/main" id="{210AF6B0-A53C-2849-BDC5-C97F519D8DDA}"/>
              </a:ext>
            </a:extLst>
          </p:cNvPr>
          <p:cNvSpPr/>
          <p:nvPr/>
        </p:nvSpPr>
        <p:spPr>
          <a:xfrm>
            <a:off x="1715708" y="5116892"/>
            <a:ext cx="8869388" cy="744070"/>
          </a:xfrm>
          <a:prstGeom prst="rect">
            <a:avLst/>
          </a:prstGeom>
          <a:no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Graphik Light" panose="020B0403030202060203" pitchFamily="34" charset="0"/>
                <a:ea typeface="+mn-ea"/>
                <a:cs typeface="+mn-cs"/>
              </a:rPr>
              <a:t>“Interoperability will allow existing platforms to evolve under a cross common approach, while enabling coexistence with legacy systems and allowing the transformation of business and technology models”</a:t>
            </a:r>
          </a:p>
        </p:txBody>
      </p:sp>
      <p:grpSp>
        <p:nvGrpSpPr>
          <p:cNvPr id="13" name="Group 12">
            <a:extLst>
              <a:ext uri="{FF2B5EF4-FFF2-40B4-BE49-F238E27FC236}">
                <a16:creationId xmlns:a16="http://schemas.microsoft.com/office/drawing/2014/main" id="{AAC39B34-69CD-629D-EF16-1D4D841C93BE}"/>
              </a:ext>
            </a:extLst>
          </p:cNvPr>
          <p:cNvGrpSpPr/>
          <p:nvPr/>
        </p:nvGrpSpPr>
        <p:grpSpPr>
          <a:xfrm>
            <a:off x="7275472" y="1437489"/>
            <a:ext cx="4589930" cy="3333885"/>
            <a:chOff x="7333129" y="1695315"/>
            <a:chExt cx="4589930" cy="3333885"/>
          </a:xfrm>
        </p:grpSpPr>
        <p:sp>
          <p:nvSpPr>
            <p:cNvPr id="14" name="Rectangle: Rounded Corners 13">
              <a:extLst>
                <a:ext uri="{FF2B5EF4-FFF2-40B4-BE49-F238E27FC236}">
                  <a16:creationId xmlns:a16="http://schemas.microsoft.com/office/drawing/2014/main" id="{38EE64C8-EF90-A9BA-A394-617EF6491CBE}"/>
                </a:ext>
              </a:extLst>
            </p:cNvPr>
            <p:cNvSpPr/>
            <p:nvPr/>
          </p:nvSpPr>
          <p:spPr>
            <a:xfrm>
              <a:off x="7333129" y="1695315"/>
              <a:ext cx="4589930" cy="3333885"/>
            </a:xfrm>
            <a:prstGeom prst="roundRect">
              <a:avLst>
                <a:gd name="adj" fmla="val 6386"/>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800" b="1" i="0" u="none" strike="noStrike" kern="0" cap="none" spc="0" normalizeH="0" baseline="0" noProof="0" err="1">
                  <a:ln>
                    <a:noFill/>
                  </a:ln>
                  <a:solidFill>
                    <a:srgbClr val="FFFFFF">
                      <a:lumMod val="65000"/>
                    </a:srgbClr>
                  </a:solidFill>
                  <a:effectLst/>
                  <a:uLnTx/>
                  <a:uFillTx/>
                  <a:latin typeface="Graphik Semibold" panose="020B0703030202060203" pitchFamily="34" charset="0"/>
                  <a:ea typeface="+mn-ea"/>
                  <a:cs typeface="+mn-cs"/>
                </a:rPr>
                <a:t>Interoperable</a:t>
              </a:r>
              <a:r>
                <a:rPr kumimoji="0" lang="es-ES_tradnl" sz="1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 </a:t>
              </a:r>
              <a:r>
                <a:rPr kumimoji="0" lang="es-ES_tradnl" sz="1800" b="1" i="0" u="none" strike="noStrike" kern="0" cap="none" spc="0" normalizeH="0" baseline="0" noProof="0" err="1">
                  <a:ln>
                    <a:noFill/>
                  </a:ln>
                  <a:solidFill>
                    <a:srgbClr val="FFFFFF">
                      <a:lumMod val="65000"/>
                    </a:srgbClr>
                  </a:solidFill>
                  <a:effectLst/>
                  <a:uLnTx/>
                  <a:uFillTx/>
                  <a:latin typeface="Graphik Semibold" panose="020B0703030202060203" pitchFamily="34" charset="0"/>
                  <a:ea typeface="+mn-ea"/>
                  <a:cs typeface="+mn-cs"/>
                </a:rPr>
                <a:t>Architecture</a:t>
              </a:r>
              <a:endParaRPr kumimoji="0" lang="es-ES_tradnl" sz="1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endParaRPr>
            </a:p>
          </p:txBody>
        </p:sp>
        <p:sp>
          <p:nvSpPr>
            <p:cNvPr id="17" name="Rectangle: Rounded Corners 16">
              <a:extLst>
                <a:ext uri="{FF2B5EF4-FFF2-40B4-BE49-F238E27FC236}">
                  <a16:creationId xmlns:a16="http://schemas.microsoft.com/office/drawing/2014/main" id="{5439FED8-A873-1CD0-A401-A9775BDBA51A}"/>
                </a:ext>
              </a:extLst>
            </p:cNvPr>
            <p:cNvSpPr/>
            <p:nvPr/>
          </p:nvSpPr>
          <p:spPr>
            <a:xfrm>
              <a:off x="8077200" y="2148025"/>
              <a:ext cx="3675531" cy="360000"/>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4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Decoupling</a:t>
              </a:r>
            </a:p>
          </p:txBody>
        </p:sp>
        <p:sp>
          <p:nvSpPr>
            <p:cNvPr id="18" name="Rectangle: Rounded Corners 17">
              <a:extLst>
                <a:ext uri="{FF2B5EF4-FFF2-40B4-BE49-F238E27FC236}">
                  <a16:creationId xmlns:a16="http://schemas.microsoft.com/office/drawing/2014/main" id="{537F8204-FFDC-BFC2-B835-A0F446D269FC}"/>
                </a:ext>
              </a:extLst>
            </p:cNvPr>
            <p:cNvSpPr/>
            <p:nvPr/>
          </p:nvSpPr>
          <p:spPr>
            <a:xfrm>
              <a:off x="8077200" y="2552133"/>
              <a:ext cx="3675531" cy="360000"/>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4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Integration</a:t>
              </a:r>
            </a:p>
          </p:txBody>
        </p:sp>
        <p:sp>
          <p:nvSpPr>
            <p:cNvPr id="19" name="Rectangle: Rounded Corners 18">
              <a:extLst>
                <a:ext uri="{FF2B5EF4-FFF2-40B4-BE49-F238E27FC236}">
                  <a16:creationId xmlns:a16="http://schemas.microsoft.com/office/drawing/2014/main" id="{8CEA6F69-5329-86C3-8733-C55E7BD15D31}"/>
                </a:ext>
              </a:extLst>
            </p:cNvPr>
            <p:cNvSpPr/>
            <p:nvPr/>
          </p:nvSpPr>
          <p:spPr>
            <a:xfrm>
              <a:off x="8077200" y="3446935"/>
              <a:ext cx="3675531" cy="60511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4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Co-existence</a:t>
              </a:r>
            </a:p>
          </p:txBody>
        </p:sp>
        <p:sp>
          <p:nvSpPr>
            <p:cNvPr id="20" name="Rectangle: Rounded Corners 19">
              <a:extLst>
                <a:ext uri="{FF2B5EF4-FFF2-40B4-BE49-F238E27FC236}">
                  <a16:creationId xmlns:a16="http://schemas.microsoft.com/office/drawing/2014/main" id="{532419E0-2E4D-012A-F229-021DBABA77E2}"/>
                </a:ext>
              </a:extLst>
            </p:cNvPr>
            <p:cNvSpPr/>
            <p:nvPr/>
          </p:nvSpPr>
          <p:spPr>
            <a:xfrm>
              <a:off x="8077200" y="2997293"/>
              <a:ext cx="3675531" cy="360000"/>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4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Choreography / Orchestration</a:t>
              </a:r>
            </a:p>
          </p:txBody>
        </p:sp>
        <p:sp>
          <p:nvSpPr>
            <p:cNvPr id="21" name="Rectangle: Rounded Corners 20">
              <a:extLst>
                <a:ext uri="{FF2B5EF4-FFF2-40B4-BE49-F238E27FC236}">
                  <a16:creationId xmlns:a16="http://schemas.microsoft.com/office/drawing/2014/main" id="{6216CA2F-6002-5DE7-12D4-C26BA87495AB}"/>
                </a:ext>
              </a:extLst>
            </p:cNvPr>
            <p:cNvSpPr/>
            <p:nvPr/>
          </p:nvSpPr>
          <p:spPr>
            <a:xfrm>
              <a:off x="7645866" y="4141696"/>
              <a:ext cx="4106866" cy="60511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4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Microservices</a:t>
              </a:r>
            </a:p>
          </p:txBody>
        </p:sp>
        <p:sp>
          <p:nvSpPr>
            <p:cNvPr id="22" name="Rectangle: Rounded Corners 21">
              <a:extLst>
                <a:ext uri="{FF2B5EF4-FFF2-40B4-BE49-F238E27FC236}">
                  <a16:creationId xmlns:a16="http://schemas.microsoft.com/office/drawing/2014/main" id="{65BF1814-A45E-C7DD-0591-F51FA46AB22E}"/>
                </a:ext>
              </a:extLst>
            </p:cNvPr>
            <p:cNvSpPr/>
            <p:nvPr/>
          </p:nvSpPr>
          <p:spPr>
            <a:xfrm rot="16200000">
              <a:off x="6490580" y="3240878"/>
              <a:ext cx="2598790" cy="413084"/>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2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Core Business Services (Backbone)</a:t>
              </a:r>
            </a:p>
          </p:txBody>
        </p:sp>
        <p:pic>
          <p:nvPicPr>
            <p:cNvPr id="23" name="Graphic 22" descr="Puzzle pieces outline">
              <a:extLst>
                <a:ext uri="{FF2B5EF4-FFF2-40B4-BE49-F238E27FC236}">
                  <a16:creationId xmlns:a16="http://schemas.microsoft.com/office/drawing/2014/main" id="{4A107591-E9C4-8DC6-AC33-97A60288F90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10005" y="1724806"/>
              <a:ext cx="386510" cy="386510"/>
            </a:xfrm>
            <a:prstGeom prst="rect">
              <a:avLst/>
            </a:prstGeom>
          </p:spPr>
        </p:pic>
        <p:grpSp>
          <p:nvGrpSpPr>
            <p:cNvPr id="24" name="Group 48">
              <a:extLst>
                <a:ext uri="{FF2B5EF4-FFF2-40B4-BE49-F238E27FC236}">
                  <a16:creationId xmlns:a16="http://schemas.microsoft.com/office/drawing/2014/main" id="{CDE290B3-D6F3-6E51-37B4-43F9D1184FCD}"/>
                </a:ext>
              </a:extLst>
            </p:cNvPr>
            <p:cNvGrpSpPr>
              <a:grpSpLocks noChangeAspect="1"/>
            </p:cNvGrpSpPr>
            <p:nvPr/>
          </p:nvGrpSpPr>
          <p:grpSpPr bwMode="auto">
            <a:xfrm>
              <a:off x="8244648" y="2265625"/>
              <a:ext cx="216405" cy="180002"/>
              <a:chOff x="3427" y="474"/>
              <a:chExt cx="428" cy="356"/>
            </a:xfrm>
            <a:solidFill>
              <a:srgbClr val="FFFFFF"/>
            </a:solidFill>
          </p:grpSpPr>
          <p:sp>
            <p:nvSpPr>
              <p:cNvPr id="32" name="Freeform 49">
                <a:extLst>
                  <a:ext uri="{FF2B5EF4-FFF2-40B4-BE49-F238E27FC236}">
                    <a16:creationId xmlns:a16="http://schemas.microsoft.com/office/drawing/2014/main" id="{9F1518F9-2348-7FBE-A268-2104FB9E003B}"/>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3" name="Freeform 50">
                <a:extLst>
                  <a:ext uri="{FF2B5EF4-FFF2-40B4-BE49-F238E27FC236}">
                    <a16:creationId xmlns:a16="http://schemas.microsoft.com/office/drawing/2014/main" id="{BCFEA7B9-25BE-D36F-5A28-353F084D379B}"/>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4" name="Freeform 51">
                <a:extLst>
                  <a:ext uri="{FF2B5EF4-FFF2-40B4-BE49-F238E27FC236}">
                    <a16:creationId xmlns:a16="http://schemas.microsoft.com/office/drawing/2014/main" id="{DA20F1AA-DC00-8959-780E-62A500A77C01}"/>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5" name="Freeform 52">
                <a:extLst>
                  <a:ext uri="{FF2B5EF4-FFF2-40B4-BE49-F238E27FC236}">
                    <a16:creationId xmlns:a16="http://schemas.microsoft.com/office/drawing/2014/main" id="{09269973-0EC1-5D51-819A-489E229EB906}"/>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25" name="Graphic 24" descr="Network">
              <a:extLst>
                <a:ext uri="{FF2B5EF4-FFF2-40B4-BE49-F238E27FC236}">
                  <a16:creationId xmlns:a16="http://schemas.microsoft.com/office/drawing/2014/main" id="{C15BC799-A0F5-DB7B-E2C5-E0B78DE1D03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235683" y="2608737"/>
              <a:ext cx="252000" cy="252000"/>
            </a:xfrm>
            <a:prstGeom prst="rect">
              <a:avLst/>
            </a:prstGeom>
          </p:spPr>
        </p:pic>
        <p:sp>
          <p:nvSpPr>
            <p:cNvPr id="26" name="Freeform 147">
              <a:extLst>
                <a:ext uri="{FF2B5EF4-FFF2-40B4-BE49-F238E27FC236}">
                  <a16:creationId xmlns:a16="http://schemas.microsoft.com/office/drawing/2014/main" id="{B88558DE-40B6-04AB-73A3-F966601797BC}"/>
                </a:ext>
              </a:extLst>
            </p:cNvPr>
            <p:cNvSpPr>
              <a:spLocks noEditPoints="1"/>
            </p:cNvSpPr>
            <p:nvPr/>
          </p:nvSpPr>
          <p:spPr bwMode="auto">
            <a:xfrm>
              <a:off x="8174247" y="4362223"/>
              <a:ext cx="396000" cy="216000"/>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7" name="Freeform 5">
              <a:extLst>
                <a:ext uri="{FF2B5EF4-FFF2-40B4-BE49-F238E27FC236}">
                  <a16:creationId xmlns:a16="http://schemas.microsoft.com/office/drawing/2014/main" id="{FBA83DF6-BA93-5561-651A-7988DC91D251}"/>
                </a:ext>
              </a:extLst>
            </p:cNvPr>
            <p:cNvSpPr>
              <a:spLocks noEditPoints="1"/>
            </p:cNvSpPr>
            <p:nvPr/>
          </p:nvSpPr>
          <p:spPr bwMode="auto">
            <a:xfrm>
              <a:off x="8235683" y="3641494"/>
              <a:ext cx="252000" cy="252000"/>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28" name="Group 67">
              <a:extLst>
                <a:ext uri="{FF2B5EF4-FFF2-40B4-BE49-F238E27FC236}">
                  <a16:creationId xmlns:a16="http://schemas.microsoft.com/office/drawing/2014/main" id="{1AB62754-2FD0-6662-E478-72C8F4DA8DBD}"/>
                </a:ext>
              </a:extLst>
            </p:cNvPr>
            <p:cNvGrpSpPr>
              <a:grpSpLocks noChangeAspect="1"/>
            </p:cNvGrpSpPr>
            <p:nvPr/>
          </p:nvGrpSpPr>
          <p:grpSpPr bwMode="auto">
            <a:xfrm>
              <a:off x="8235683" y="3043950"/>
              <a:ext cx="252000" cy="251409"/>
              <a:chOff x="1356" y="1721"/>
              <a:chExt cx="427" cy="426"/>
            </a:xfrm>
            <a:solidFill>
              <a:srgbClr val="FFFFFF"/>
            </a:solidFill>
          </p:grpSpPr>
          <p:sp>
            <p:nvSpPr>
              <p:cNvPr id="29" name="Freeform 68">
                <a:extLst>
                  <a:ext uri="{FF2B5EF4-FFF2-40B4-BE49-F238E27FC236}">
                    <a16:creationId xmlns:a16="http://schemas.microsoft.com/office/drawing/2014/main" id="{222EAAA6-295F-E684-E7D2-8F4633CA3CCA}"/>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0" name="Freeform 69">
                <a:extLst>
                  <a:ext uri="{FF2B5EF4-FFF2-40B4-BE49-F238E27FC236}">
                    <a16:creationId xmlns:a16="http://schemas.microsoft.com/office/drawing/2014/main" id="{A65102E5-7928-4DD9-FD40-2BBF9A35A345}"/>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1" name="Freeform 70">
                <a:extLst>
                  <a:ext uri="{FF2B5EF4-FFF2-40B4-BE49-F238E27FC236}">
                    <a16:creationId xmlns:a16="http://schemas.microsoft.com/office/drawing/2014/main" id="{669F7C7C-DB09-61DF-53AC-E8D99E7CC931}"/>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spTree>
    <p:extLst>
      <p:ext uri="{BB962C8B-B14F-4D97-AF65-F5344CB8AC3E}">
        <p14:creationId xmlns:p14="http://schemas.microsoft.com/office/powerpoint/2010/main" val="1295378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C0E7A-B07A-37D4-74D9-8292B2418680}"/>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0A3DC084-F45A-384C-232B-FDEF85FD95E7}"/>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All rights reserved.</a:t>
            </a:r>
          </a:p>
        </p:txBody>
      </p:sp>
      <p:sp>
        <p:nvSpPr>
          <p:cNvPr id="66" name="Title 1">
            <a:extLst>
              <a:ext uri="{FF2B5EF4-FFF2-40B4-BE49-F238E27FC236}">
                <a16:creationId xmlns:a16="http://schemas.microsoft.com/office/drawing/2014/main" id="{1AE61D69-E1E3-91CF-5A18-4CB66EF7AA8F}"/>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Interoperable</a:t>
            </a:r>
            <a:r>
              <a:rPr kumimoji="0" lang="en-US" sz="2400" b="1" i="0" u="none" strike="noStrike" kern="1200" cap="none" spc="0" normalizeH="0" baseline="0" noProof="0" dirty="0">
                <a:ln>
                  <a:noFill/>
                </a:ln>
                <a:solidFill>
                  <a:srgbClr val="7500C0"/>
                </a:solidFill>
                <a:effectLst/>
                <a:uLnTx/>
                <a:uFillTx/>
                <a:latin typeface="Graphik"/>
                <a:ea typeface="+mj-ea"/>
                <a:cs typeface="+mj-cs"/>
              </a:rPr>
              <a:t> architecture</a:t>
            </a:r>
          </a:p>
        </p:txBody>
      </p:sp>
      <p:grpSp>
        <p:nvGrpSpPr>
          <p:cNvPr id="3" name="Group 2">
            <a:extLst>
              <a:ext uri="{FF2B5EF4-FFF2-40B4-BE49-F238E27FC236}">
                <a16:creationId xmlns:a16="http://schemas.microsoft.com/office/drawing/2014/main" id="{0347F3CC-06F9-8DB7-5765-2539B28D794C}"/>
              </a:ext>
            </a:extLst>
          </p:cNvPr>
          <p:cNvGrpSpPr/>
          <p:nvPr/>
        </p:nvGrpSpPr>
        <p:grpSpPr>
          <a:xfrm>
            <a:off x="388503" y="4640236"/>
            <a:ext cx="2388481" cy="1581473"/>
            <a:chOff x="596766" y="1022926"/>
            <a:chExt cx="2388481" cy="1581473"/>
          </a:xfrm>
        </p:grpSpPr>
        <p:sp>
          <p:nvSpPr>
            <p:cNvPr id="4" name="Rectangle: Rounded Corners 3">
              <a:extLst>
                <a:ext uri="{FF2B5EF4-FFF2-40B4-BE49-F238E27FC236}">
                  <a16:creationId xmlns:a16="http://schemas.microsoft.com/office/drawing/2014/main" id="{D657E9C1-6688-CFFB-D9A0-7C7F451067ED}"/>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Interoperable Architecture</a:t>
              </a:r>
            </a:p>
          </p:txBody>
        </p:sp>
        <p:pic>
          <p:nvPicPr>
            <p:cNvPr id="5" name="Graphic 4" descr="Puzzle pieces outline">
              <a:extLst>
                <a:ext uri="{FF2B5EF4-FFF2-40B4-BE49-F238E27FC236}">
                  <a16:creationId xmlns:a16="http://schemas.microsoft.com/office/drawing/2014/main" id="{96FFD1D3-3499-95A5-C170-1D199EA23CD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grpSp>
        <p:nvGrpSpPr>
          <p:cNvPr id="6" name="Group 5">
            <a:extLst>
              <a:ext uri="{FF2B5EF4-FFF2-40B4-BE49-F238E27FC236}">
                <a16:creationId xmlns:a16="http://schemas.microsoft.com/office/drawing/2014/main" id="{8D446DD5-1AFB-8BEA-B081-0AD462BE30CC}"/>
              </a:ext>
            </a:extLst>
          </p:cNvPr>
          <p:cNvGrpSpPr/>
          <p:nvPr/>
        </p:nvGrpSpPr>
        <p:grpSpPr>
          <a:xfrm>
            <a:off x="381000" y="2831581"/>
            <a:ext cx="2388481" cy="1581473"/>
            <a:chOff x="596766" y="1022926"/>
            <a:chExt cx="2388481" cy="1581473"/>
          </a:xfrm>
        </p:grpSpPr>
        <p:sp>
          <p:nvSpPr>
            <p:cNvPr id="7" name="Rectangle: Rounded Corners 6">
              <a:extLst>
                <a:ext uri="{FF2B5EF4-FFF2-40B4-BE49-F238E27FC236}">
                  <a16:creationId xmlns:a16="http://schemas.microsoft.com/office/drawing/2014/main" id="{96FEA1AE-1CDE-E438-8834-684AD62C9E88}"/>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Interoperable Architecture</a:t>
              </a:r>
            </a:p>
          </p:txBody>
        </p:sp>
        <p:pic>
          <p:nvPicPr>
            <p:cNvPr id="8" name="Graphic 7" descr="Puzzle pieces outline">
              <a:extLst>
                <a:ext uri="{FF2B5EF4-FFF2-40B4-BE49-F238E27FC236}">
                  <a16:creationId xmlns:a16="http://schemas.microsoft.com/office/drawing/2014/main" id="{DE11BA78-A65B-6C78-E204-0044A9BB699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grpSp>
        <p:nvGrpSpPr>
          <p:cNvPr id="9" name="Group 8">
            <a:extLst>
              <a:ext uri="{FF2B5EF4-FFF2-40B4-BE49-F238E27FC236}">
                <a16:creationId xmlns:a16="http://schemas.microsoft.com/office/drawing/2014/main" id="{B5D24E89-3025-EE35-F169-974C085BDD5F}"/>
              </a:ext>
            </a:extLst>
          </p:cNvPr>
          <p:cNvGrpSpPr/>
          <p:nvPr/>
        </p:nvGrpSpPr>
        <p:grpSpPr>
          <a:xfrm>
            <a:off x="381001" y="1022926"/>
            <a:ext cx="2388481" cy="1581473"/>
            <a:chOff x="596766" y="1022926"/>
            <a:chExt cx="2388481" cy="1581473"/>
          </a:xfrm>
        </p:grpSpPr>
        <p:sp>
          <p:nvSpPr>
            <p:cNvPr id="36" name="Rectangle: Rounded Corners 35">
              <a:extLst>
                <a:ext uri="{FF2B5EF4-FFF2-40B4-BE49-F238E27FC236}">
                  <a16:creationId xmlns:a16="http://schemas.microsoft.com/office/drawing/2014/main" id="{8BE0391C-D80C-71DE-48F0-515B03C4BB41}"/>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Interoperable Architecture</a:t>
              </a:r>
            </a:p>
          </p:txBody>
        </p:sp>
        <p:pic>
          <p:nvPicPr>
            <p:cNvPr id="37" name="Graphic 36" descr="Puzzle pieces outline">
              <a:extLst>
                <a:ext uri="{FF2B5EF4-FFF2-40B4-BE49-F238E27FC236}">
                  <a16:creationId xmlns:a16="http://schemas.microsoft.com/office/drawing/2014/main" id="{238B2B41-DA44-3091-5EE3-8110AAD59AF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sp>
        <p:nvSpPr>
          <p:cNvPr id="38" name="TextBox 37">
            <a:extLst>
              <a:ext uri="{FF2B5EF4-FFF2-40B4-BE49-F238E27FC236}">
                <a16:creationId xmlns:a16="http://schemas.microsoft.com/office/drawing/2014/main" id="{8C51231C-39D5-5C64-3FE7-BA7531E32DA5}"/>
              </a:ext>
            </a:extLst>
          </p:cNvPr>
          <p:cNvSpPr txBox="1"/>
          <p:nvPr/>
        </p:nvSpPr>
        <p:spPr>
          <a:xfrm>
            <a:off x="2942264" y="1044474"/>
            <a:ext cx="8749553" cy="181588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7500C0"/>
                </a:solidFill>
                <a:effectLst/>
                <a:uLnTx/>
                <a:uFillTx/>
                <a:latin typeface="Graphik Semibold" panose="020B0703030202060203" pitchFamily="34" charset="0"/>
                <a:ea typeface="+mn-ea"/>
                <a:cs typeface="+mn-cs"/>
              </a:rPr>
              <a:t>Decoupling:</a:t>
            </a:r>
            <a:r>
              <a:rPr kumimoji="0" lang="en-US" sz="1400" b="0" i="0" u="none" strike="noStrike" kern="1200" cap="none" spc="0" normalizeH="0" baseline="0" noProof="0">
                <a:ln>
                  <a:noFill/>
                </a:ln>
                <a:solidFill>
                  <a:srgbClr val="7500C0"/>
                </a:solidFill>
                <a:effectLst/>
                <a:uLnTx/>
                <a:uFillTx/>
                <a:latin typeface="Graphik Semibold" panose="020B0703030202060203" pitchFamily="34" charset="0"/>
                <a:ea typeface="+mn-ea"/>
                <a:cs typeface="+mn-cs"/>
              </a:rPr>
              <a:t> </a:t>
            </a:r>
            <a:r>
              <a:rPr kumimoji="0" lang="en-U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Reusability and modularity are main principles for a composite architecture. This decoupling layer will support different levels of abstraction allowing to expose information using data language that can be understood across the ecosystem of applications that are available either in the upstream/downstream systems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Abstraction layer that allows components / artifacts to be reusable and includes a strong control, security and monitoring layer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39" name="TextBox 38">
            <a:extLst>
              <a:ext uri="{FF2B5EF4-FFF2-40B4-BE49-F238E27FC236}">
                <a16:creationId xmlns:a16="http://schemas.microsoft.com/office/drawing/2014/main" id="{A243CC9B-D121-7B8A-2E7B-4EAAFA8B894E}"/>
              </a:ext>
            </a:extLst>
          </p:cNvPr>
          <p:cNvSpPr txBox="1"/>
          <p:nvPr/>
        </p:nvSpPr>
        <p:spPr>
          <a:xfrm>
            <a:off x="2942264" y="3013502"/>
            <a:ext cx="8749553" cy="116955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7500C0"/>
                </a:solidFill>
                <a:effectLst/>
                <a:uLnTx/>
                <a:uFillTx/>
                <a:latin typeface="Graphik Semibold" panose="020B0703030202060203" pitchFamily="34" charset="0"/>
                <a:ea typeface="+mn-ea"/>
                <a:cs typeface="+mn-cs"/>
              </a:rPr>
              <a:t>Integration: </a:t>
            </a:r>
            <a:r>
              <a:rPr kumimoji="0" lang="en-U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Allowing to integrate different technologies and different applications irrespective of target and source technologies. It is also in charge of security and allows to transmit data in a confidential and security manner.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Allows to aggregate information, stream data ingestion synchronize information across applications </a:t>
            </a:r>
          </a:p>
        </p:txBody>
      </p:sp>
      <p:sp>
        <p:nvSpPr>
          <p:cNvPr id="40" name="TextBox 39">
            <a:extLst>
              <a:ext uri="{FF2B5EF4-FFF2-40B4-BE49-F238E27FC236}">
                <a16:creationId xmlns:a16="http://schemas.microsoft.com/office/drawing/2014/main" id="{8741CEA2-1D59-7D2A-B44D-8BDB9481F098}"/>
              </a:ext>
            </a:extLst>
          </p:cNvPr>
          <p:cNvSpPr txBox="1"/>
          <p:nvPr/>
        </p:nvSpPr>
        <p:spPr>
          <a:xfrm>
            <a:off x="2942264" y="4779037"/>
            <a:ext cx="8749553" cy="13849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7500C0"/>
                </a:solidFill>
                <a:effectLst/>
                <a:uLnTx/>
                <a:uFillTx/>
                <a:latin typeface="Graphik Semibold" panose="020B0703030202060203" pitchFamily="34" charset="0"/>
                <a:ea typeface="+mn-ea"/>
                <a:cs typeface="+mn-cs"/>
              </a:rPr>
              <a:t>Choreography / orchestration: </a:t>
            </a:r>
            <a:r>
              <a:rPr kumimoji="0" lang="en-U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Process of coordinating services, resources and domains to streamline end-to-end IT and business activities. Choreography coordinates synchronous and asynchronous services using queues or events via specific HUBs or brokers </a:t>
            </a:r>
            <a:r>
              <a:rPr kumimoji="0" lang="en-US" sz="1400" b="1" i="0" u="none" strike="noStrike" kern="1200" cap="none" spc="0" normalizeH="0" baseline="0" noProof="0">
                <a:ln>
                  <a:noFill/>
                </a:ln>
                <a:solidFill>
                  <a:srgbClr val="7500C0"/>
                </a:solidFill>
                <a:effectLst/>
                <a:uLnTx/>
                <a:uFillTx/>
                <a:latin typeface="Graphik Semibold" panose="020B0703030202060203" pitchFamily="34" charset="0"/>
                <a:ea typeface="+mn-ea"/>
                <a:cs typeface="+mn-cs"/>
              </a:rPr>
              <a:t>(API’s and Events). </a:t>
            </a:r>
            <a:r>
              <a:rPr kumimoji="0" lang="en-U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This orchestration facade allows to easily configure and monitor services, bundling different granular services into end-to-end functions. Such function can either be business function (i.e. open an account, perform a transfer, …) or technical (i.e. error handling and rollback/reversal capabilities)</a:t>
            </a:r>
          </a:p>
        </p:txBody>
      </p:sp>
      <p:sp>
        <p:nvSpPr>
          <p:cNvPr id="41" name="Rectangle: Rounded Corners 40">
            <a:extLst>
              <a:ext uri="{FF2B5EF4-FFF2-40B4-BE49-F238E27FC236}">
                <a16:creationId xmlns:a16="http://schemas.microsoft.com/office/drawing/2014/main" id="{79AFA44A-38D5-D018-DB12-8DB729F1AA7D}"/>
              </a:ext>
            </a:extLst>
          </p:cNvPr>
          <p:cNvSpPr/>
          <p:nvPr/>
        </p:nvSpPr>
        <p:spPr>
          <a:xfrm>
            <a:off x="743613" y="1245038"/>
            <a:ext cx="1841349" cy="176627"/>
          </a:xfrm>
          <a:prstGeom prst="roundRect">
            <a:avLst/>
          </a:prstGeom>
          <a:solidFill>
            <a:srgbClr val="580090"/>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Decoupling</a:t>
            </a:r>
          </a:p>
        </p:txBody>
      </p:sp>
      <p:sp>
        <p:nvSpPr>
          <p:cNvPr id="42" name="Rectangle: Rounded Corners 41">
            <a:extLst>
              <a:ext uri="{FF2B5EF4-FFF2-40B4-BE49-F238E27FC236}">
                <a16:creationId xmlns:a16="http://schemas.microsoft.com/office/drawing/2014/main" id="{0AAC9C74-8219-3B10-F0C4-DD230FA3CDF8}"/>
              </a:ext>
            </a:extLst>
          </p:cNvPr>
          <p:cNvSpPr/>
          <p:nvPr/>
        </p:nvSpPr>
        <p:spPr>
          <a:xfrm>
            <a:off x="743613" y="1443305"/>
            <a:ext cx="1841349" cy="176627"/>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Integration</a:t>
            </a:r>
          </a:p>
        </p:txBody>
      </p:sp>
      <p:sp>
        <p:nvSpPr>
          <p:cNvPr id="43" name="Rectangle: Rounded Corners 42">
            <a:extLst>
              <a:ext uri="{FF2B5EF4-FFF2-40B4-BE49-F238E27FC236}">
                <a16:creationId xmlns:a16="http://schemas.microsoft.com/office/drawing/2014/main" id="{8886C973-13FB-0AE5-B382-68EDD977F9D7}"/>
              </a:ext>
            </a:extLst>
          </p:cNvPr>
          <p:cNvSpPr/>
          <p:nvPr/>
        </p:nvSpPr>
        <p:spPr>
          <a:xfrm>
            <a:off x="743613" y="1882322"/>
            <a:ext cx="1841349" cy="29688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Coexistence</a:t>
            </a:r>
          </a:p>
        </p:txBody>
      </p:sp>
      <p:sp>
        <p:nvSpPr>
          <p:cNvPr id="44" name="Rectangle: Rounded Corners 43">
            <a:extLst>
              <a:ext uri="{FF2B5EF4-FFF2-40B4-BE49-F238E27FC236}">
                <a16:creationId xmlns:a16="http://schemas.microsoft.com/office/drawing/2014/main" id="{93F5226F-35A1-3040-3EE9-351AD2C963CB}"/>
              </a:ext>
            </a:extLst>
          </p:cNvPr>
          <p:cNvSpPr/>
          <p:nvPr/>
        </p:nvSpPr>
        <p:spPr>
          <a:xfrm>
            <a:off x="743613" y="1661714"/>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Choreography&amp;Orch</a:t>
            </a:r>
          </a:p>
        </p:txBody>
      </p:sp>
      <p:sp>
        <p:nvSpPr>
          <p:cNvPr id="45" name="Rectangle: Rounded Corners 44">
            <a:extLst>
              <a:ext uri="{FF2B5EF4-FFF2-40B4-BE49-F238E27FC236}">
                <a16:creationId xmlns:a16="http://schemas.microsoft.com/office/drawing/2014/main" id="{0A9B179A-4255-ABC9-8C8E-FDC03282C936}"/>
              </a:ext>
            </a:extLst>
          </p:cNvPr>
          <p:cNvSpPr/>
          <p:nvPr/>
        </p:nvSpPr>
        <p:spPr>
          <a:xfrm>
            <a:off x="553783" y="2223192"/>
            <a:ext cx="2031179" cy="31223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Microservices</a:t>
            </a:r>
          </a:p>
        </p:txBody>
      </p:sp>
      <p:sp>
        <p:nvSpPr>
          <p:cNvPr id="46" name="Rectangle: Rounded Corners 45">
            <a:extLst>
              <a:ext uri="{FF2B5EF4-FFF2-40B4-BE49-F238E27FC236}">
                <a16:creationId xmlns:a16="http://schemas.microsoft.com/office/drawing/2014/main" id="{E8561BB2-B6B8-A55B-BC74-DA1FC82672C8}"/>
              </a:ext>
            </a:extLst>
          </p:cNvPr>
          <p:cNvSpPr/>
          <p:nvPr/>
        </p:nvSpPr>
        <p:spPr>
          <a:xfrm rot="16200000">
            <a:off x="-37801" y="1797017"/>
            <a:ext cx="1275043" cy="20694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Core Business Services (Backbone)</a:t>
            </a:r>
          </a:p>
        </p:txBody>
      </p:sp>
      <p:grpSp>
        <p:nvGrpSpPr>
          <p:cNvPr id="47" name="Group 48">
            <a:extLst>
              <a:ext uri="{FF2B5EF4-FFF2-40B4-BE49-F238E27FC236}">
                <a16:creationId xmlns:a16="http://schemas.microsoft.com/office/drawing/2014/main" id="{B3BD1DEC-55C9-C607-F54F-0E46C582D544}"/>
              </a:ext>
            </a:extLst>
          </p:cNvPr>
          <p:cNvGrpSpPr>
            <a:grpSpLocks noChangeAspect="1"/>
          </p:cNvGrpSpPr>
          <p:nvPr/>
        </p:nvGrpSpPr>
        <p:grpSpPr bwMode="auto">
          <a:xfrm>
            <a:off x="867921" y="1302739"/>
            <a:ext cx="108414" cy="88314"/>
            <a:chOff x="3427" y="474"/>
            <a:chExt cx="428" cy="356"/>
          </a:xfrm>
          <a:solidFill>
            <a:srgbClr val="FFFFFF"/>
          </a:solidFill>
        </p:grpSpPr>
        <p:sp>
          <p:nvSpPr>
            <p:cNvPr id="48" name="Freeform 49">
              <a:extLst>
                <a:ext uri="{FF2B5EF4-FFF2-40B4-BE49-F238E27FC236}">
                  <a16:creationId xmlns:a16="http://schemas.microsoft.com/office/drawing/2014/main" id="{8D2374CA-C731-6539-CC57-A2D20F7B6B9F}"/>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49" name="Freeform 50">
              <a:extLst>
                <a:ext uri="{FF2B5EF4-FFF2-40B4-BE49-F238E27FC236}">
                  <a16:creationId xmlns:a16="http://schemas.microsoft.com/office/drawing/2014/main" id="{405ABF90-C909-E9DF-0711-0A37BA22FAFE}"/>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0" name="Freeform 51">
              <a:extLst>
                <a:ext uri="{FF2B5EF4-FFF2-40B4-BE49-F238E27FC236}">
                  <a16:creationId xmlns:a16="http://schemas.microsoft.com/office/drawing/2014/main" id="{DD8AE31A-7FFF-83E9-3ED9-C2B7AD3F21AF}"/>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1" name="Freeform 52">
              <a:extLst>
                <a:ext uri="{FF2B5EF4-FFF2-40B4-BE49-F238E27FC236}">
                  <a16:creationId xmlns:a16="http://schemas.microsoft.com/office/drawing/2014/main" id="{995D2C99-D264-C867-2A51-6188B9C05843}"/>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52" name="Graphic 51" descr="Network">
            <a:extLst>
              <a:ext uri="{FF2B5EF4-FFF2-40B4-BE49-F238E27FC236}">
                <a16:creationId xmlns:a16="http://schemas.microsoft.com/office/drawing/2014/main" id="{3F07AB43-EF22-23D9-EBB1-1123A5954E6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4733" y="1471077"/>
            <a:ext cx="123639" cy="123639"/>
          </a:xfrm>
          <a:prstGeom prst="rect">
            <a:avLst/>
          </a:prstGeom>
        </p:spPr>
      </p:pic>
      <p:sp>
        <p:nvSpPr>
          <p:cNvPr id="53" name="Freeform 147">
            <a:extLst>
              <a:ext uri="{FF2B5EF4-FFF2-40B4-BE49-F238E27FC236}">
                <a16:creationId xmlns:a16="http://schemas.microsoft.com/office/drawing/2014/main" id="{1748E439-DE62-514B-C617-EE666F40801D}"/>
              </a:ext>
            </a:extLst>
          </p:cNvPr>
          <p:cNvSpPr>
            <a:spLocks noEditPoints="1"/>
          </p:cNvSpPr>
          <p:nvPr/>
        </p:nvSpPr>
        <p:spPr bwMode="auto">
          <a:xfrm>
            <a:off x="832652" y="2331389"/>
            <a:ext cx="198386" cy="105976"/>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4" name="Freeform 5">
            <a:extLst>
              <a:ext uri="{FF2B5EF4-FFF2-40B4-BE49-F238E27FC236}">
                <a16:creationId xmlns:a16="http://schemas.microsoft.com/office/drawing/2014/main" id="{541CBF42-A58F-4FCE-C6DD-58F5B5948A75}"/>
              </a:ext>
            </a:extLst>
          </p:cNvPr>
          <p:cNvSpPr>
            <a:spLocks noEditPoints="1"/>
          </p:cNvSpPr>
          <p:nvPr/>
        </p:nvSpPr>
        <p:spPr bwMode="auto">
          <a:xfrm>
            <a:off x="863430" y="1977778"/>
            <a:ext cx="126246" cy="123639"/>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55" name="Group 67">
            <a:extLst>
              <a:ext uri="{FF2B5EF4-FFF2-40B4-BE49-F238E27FC236}">
                <a16:creationId xmlns:a16="http://schemas.microsoft.com/office/drawing/2014/main" id="{B72B853C-0506-5E42-3266-607DC56A98CF}"/>
              </a:ext>
            </a:extLst>
          </p:cNvPr>
          <p:cNvGrpSpPr>
            <a:grpSpLocks noChangeAspect="1"/>
          </p:cNvGrpSpPr>
          <p:nvPr/>
        </p:nvGrpSpPr>
        <p:grpSpPr bwMode="auto">
          <a:xfrm>
            <a:off x="863430" y="1684605"/>
            <a:ext cx="126246" cy="123349"/>
            <a:chOff x="1356" y="1721"/>
            <a:chExt cx="427" cy="426"/>
          </a:xfrm>
          <a:solidFill>
            <a:srgbClr val="FFFFFF"/>
          </a:solidFill>
        </p:grpSpPr>
        <p:sp>
          <p:nvSpPr>
            <p:cNvPr id="56" name="Freeform 68">
              <a:extLst>
                <a:ext uri="{FF2B5EF4-FFF2-40B4-BE49-F238E27FC236}">
                  <a16:creationId xmlns:a16="http://schemas.microsoft.com/office/drawing/2014/main" id="{E30E76B2-755D-AE8E-06EB-6C7B1D62CDF8}"/>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7" name="Freeform 69">
              <a:extLst>
                <a:ext uri="{FF2B5EF4-FFF2-40B4-BE49-F238E27FC236}">
                  <a16:creationId xmlns:a16="http://schemas.microsoft.com/office/drawing/2014/main" id="{11B71CDE-A997-2708-8742-7FFB0F94F826}"/>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8" name="Freeform 70">
              <a:extLst>
                <a:ext uri="{FF2B5EF4-FFF2-40B4-BE49-F238E27FC236}">
                  <a16:creationId xmlns:a16="http://schemas.microsoft.com/office/drawing/2014/main" id="{1D48A89F-4F45-1BD2-0141-1DCBC74D920D}"/>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nvGrpSpPr>
          <p:cNvPr id="59" name="Group 58">
            <a:extLst>
              <a:ext uri="{FF2B5EF4-FFF2-40B4-BE49-F238E27FC236}">
                <a16:creationId xmlns:a16="http://schemas.microsoft.com/office/drawing/2014/main" id="{F50AFE9C-DDF8-8117-D954-F135EEB9D5D1}"/>
              </a:ext>
            </a:extLst>
          </p:cNvPr>
          <p:cNvGrpSpPr/>
          <p:nvPr/>
        </p:nvGrpSpPr>
        <p:grpSpPr>
          <a:xfrm>
            <a:off x="522506" y="2831484"/>
            <a:ext cx="2088714" cy="1504683"/>
            <a:chOff x="5037457" y="347740"/>
            <a:chExt cx="4169298" cy="3066834"/>
          </a:xfrm>
        </p:grpSpPr>
        <p:sp>
          <p:nvSpPr>
            <p:cNvPr id="60" name="Rectangle: Rounded Corners 59">
              <a:extLst>
                <a:ext uri="{FF2B5EF4-FFF2-40B4-BE49-F238E27FC236}">
                  <a16:creationId xmlns:a16="http://schemas.microsoft.com/office/drawing/2014/main" id="{5FC88A61-3891-4417-18B5-FF4097455374}"/>
                </a:ext>
              </a:extLst>
            </p:cNvPr>
            <p:cNvSpPr/>
            <p:nvPr/>
          </p:nvSpPr>
          <p:spPr>
            <a:xfrm>
              <a:off x="5531224" y="815784"/>
              <a:ext cx="3675531" cy="360000"/>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Decoupling</a:t>
              </a:r>
            </a:p>
          </p:txBody>
        </p:sp>
        <p:sp>
          <p:nvSpPr>
            <p:cNvPr id="61" name="Rectangle: Rounded Corners 60">
              <a:extLst>
                <a:ext uri="{FF2B5EF4-FFF2-40B4-BE49-F238E27FC236}">
                  <a16:creationId xmlns:a16="http://schemas.microsoft.com/office/drawing/2014/main" id="{39F152CE-D02A-DB67-8779-BB7765F5F2F4}"/>
                </a:ext>
              </a:extLst>
            </p:cNvPr>
            <p:cNvSpPr/>
            <p:nvPr/>
          </p:nvSpPr>
          <p:spPr>
            <a:xfrm>
              <a:off x="5531224" y="1219892"/>
              <a:ext cx="3675531" cy="360000"/>
            </a:xfrm>
            <a:prstGeom prst="roundRect">
              <a:avLst/>
            </a:prstGeom>
            <a:solidFill>
              <a:srgbClr val="580090"/>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Integration</a:t>
              </a:r>
            </a:p>
          </p:txBody>
        </p:sp>
        <p:sp>
          <p:nvSpPr>
            <p:cNvPr id="62" name="Rectangle: Rounded Corners 61">
              <a:extLst>
                <a:ext uri="{FF2B5EF4-FFF2-40B4-BE49-F238E27FC236}">
                  <a16:creationId xmlns:a16="http://schemas.microsoft.com/office/drawing/2014/main" id="{EAEF2CD8-DD42-B3C8-8AA3-2C8A5846C730}"/>
                </a:ext>
              </a:extLst>
            </p:cNvPr>
            <p:cNvSpPr/>
            <p:nvPr/>
          </p:nvSpPr>
          <p:spPr>
            <a:xfrm>
              <a:off x="5531224" y="2114694"/>
              <a:ext cx="3675531" cy="60511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Coexistence</a:t>
              </a:r>
            </a:p>
          </p:txBody>
        </p:sp>
        <p:sp>
          <p:nvSpPr>
            <p:cNvPr id="63" name="Rectangle: Rounded Corners 62">
              <a:extLst>
                <a:ext uri="{FF2B5EF4-FFF2-40B4-BE49-F238E27FC236}">
                  <a16:creationId xmlns:a16="http://schemas.microsoft.com/office/drawing/2014/main" id="{AC47ADCF-0415-B4FA-E4E1-4409540987D7}"/>
                </a:ext>
              </a:extLst>
            </p:cNvPr>
            <p:cNvSpPr/>
            <p:nvPr/>
          </p:nvSpPr>
          <p:spPr>
            <a:xfrm>
              <a:off x="5531224" y="1665052"/>
              <a:ext cx="3675531" cy="360000"/>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Choreography&amp;Orch</a:t>
              </a:r>
            </a:p>
          </p:txBody>
        </p:sp>
        <p:sp>
          <p:nvSpPr>
            <p:cNvPr id="64" name="Rectangle: Rounded Corners 63">
              <a:extLst>
                <a:ext uri="{FF2B5EF4-FFF2-40B4-BE49-F238E27FC236}">
                  <a16:creationId xmlns:a16="http://schemas.microsoft.com/office/drawing/2014/main" id="{76ED2513-32F9-046F-CB8F-8B4D88438172}"/>
                </a:ext>
              </a:extLst>
            </p:cNvPr>
            <p:cNvSpPr/>
            <p:nvPr/>
          </p:nvSpPr>
          <p:spPr>
            <a:xfrm>
              <a:off x="5065962" y="2809455"/>
              <a:ext cx="4096013" cy="60511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Microservices</a:t>
              </a:r>
            </a:p>
          </p:txBody>
        </p:sp>
        <p:sp>
          <p:nvSpPr>
            <p:cNvPr id="67" name="Rectangle: Rounded Corners 66">
              <a:extLst>
                <a:ext uri="{FF2B5EF4-FFF2-40B4-BE49-F238E27FC236}">
                  <a16:creationId xmlns:a16="http://schemas.microsoft.com/office/drawing/2014/main" id="{3CB3AF63-DCC2-7C5C-510E-DF78D3368E74}"/>
                </a:ext>
              </a:extLst>
            </p:cNvPr>
            <p:cNvSpPr/>
            <p:nvPr/>
          </p:nvSpPr>
          <p:spPr>
            <a:xfrm rot="16200000">
              <a:off x="3944604" y="1908637"/>
              <a:ext cx="2598790" cy="413084"/>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Core Business Services (Backbone)</a:t>
              </a:r>
            </a:p>
          </p:txBody>
        </p:sp>
        <p:pic>
          <p:nvPicPr>
            <p:cNvPr id="68" name="Graphic 67" descr="Puzzle pieces outline">
              <a:extLst>
                <a:ext uri="{FF2B5EF4-FFF2-40B4-BE49-F238E27FC236}">
                  <a16:creationId xmlns:a16="http://schemas.microsoft.com/office/drawing/2014/main" id="{599AF1EC-9A8E-16D7-6C58-1DE26E5976D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99889" y="347740"/>
              <a:ext cx="386510" cy="386510"/>
            </a:xfrm>
            <a:prstGeom prst="rect">
              <a:avLst/>
            </a:prstGeom>
          </p:spPr>
        </p:pic>
        <p:grpSp>
          <p:nvGrpSpPr>
            <p:cNvPr id="69" name="Group 48">
              <a:extLst>
                <a:ext uri="{FF2B5EF4-FFF2-40B4-BE49-F238E27FC236}">
                  <a16:creationId xmlns:a16="http://schemas.microsoft.com/office/drawing/2014/main" id="{3F5F998E-F3CF-2C23-F365-C624BF5BCBF5}"/>
                </a:ext>
              </a:extLst>
            </p:cNvPr>
            <p:cNvGrpSpPr>
              <a:grpSpLocks noChangeAspect="1"/>
            </p:cNvGrpSpPr>
            <p:nvPr/>
          </p:nvGrpSpPr>
          <p:grpSpPr bwMode="auto">
            <a:xfrm>
              <a:off x="5779357" y="933380"/>
              <a:ext cx="216405" cy="180002"/>
              <a:chOff x="3427" y="474"/>
              <a:chExt cx="428" cy="356"/>
            </a:xfrm>
            <a:solidFill>
              <a:srgbClr val="FFFFFF"/>
            </a:solidFill>
          </p:grpSpPr>
          <p:sp>
            <p:nvSpPr>
              <p:cNvPr id="77" name="Freeform 49">
                <a:extLst>
                  <a:ext uri="{FF2B5EF4-FFF2-40B4-BE49-F238E27FC236}">
                    <a16:creationId xmlns:a16="http://schemas.microsoft.com/office/drawing/2014/main" id="{B409D007-0D11-24E3-5B9F-D5639F8FB7AA}"/>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78" name="Freeform 50">
                <a:extLst>
                  <a:ext uri="{FF2B5EF4-FFF2-40B4-BE49-F238E27FC236}">
                    <a16:creationId xmlns:a16="http://schemas.microsoft.com/office/drawing/2014/main" id="{2227D5F4-DBA1-D992-A90D-64F966CC8975}"/>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79" name="Freeform 51">
                <a:extLst>
                  <a:ext uri="{FF2B5EF4-FFF2-40B4-BE49-F238E27FC236}">
                    <a16:creationId xmlns:a16="http://schemas.microsoft.com/office/drawing/2014/main" id="{9959D856-4F60-0B50-7452-F68DCFE3859C}"/>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80" name="Freeform 52">
                <a:extLst>
                  <a:ext uri="{FF2B5EF4-FFF2-40B4-BE49-F238E27FC236}">
                    <a16:creationId xmlns:a16="http://schemas.microsoft.com/office/drawing/2014/main" id="{A64FDA4A-717E-488F-84CC-37B4926BA5C6}"/>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70" name="Graphic 69" descr="Network">
              <a:extLst>
                <a:ext uri="{FF2B5EF4-FFF2-40B4-BE49-F238E27FC236}">
                  <a16:creationId xmlns:a16="http://schemas.microsoft.com/office/drawing/2014/main" id="{C98F26D8-9C4F-AED8-BA83-9FC41544177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70392" y="1276496"/>
              <a:ext cx="252000" cy="252000"/>
            </a:xfrm>
            <a:prstGeom prst="rect">
              <a:avLst/>
            </a:prstGeom>
          </p:spPr>
        </p:pic>
        <p:sp>
          <p:nvSpPr>
            <p:cNvPr id="71" name="Freeform 147">
              <a:extLst>
                <a:ext uri="{FF2B5EF4-FFF2-40B4-BE49-F238E27FC236}">
                  <a16:creationId xmlns:a16="http://schemas.microsoft.com/office/drawing/2014/main" id="{AFA41DED-E47B-81D3-DCB4-0D00D99BEBC9}"/>
                </a:ext>
              </a:extLst>
            </p:cNvPr>
            <p:cNvSpPr>
              <a:spLocks noEditPoints="1"/>
            </p:cNvSpPr>
            <p:nvPr/>
          </p:nvSpPr>
          <p:spPr bwMode="auto">
            <a:xfrm>
              <a:off x="5708956" y="3029982"/>
              <a:ext cx="396000" cy="216000"/>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72" name="Freeform 5">
              <a:extLst>
                <a:ext uri="{FF2B5EF4-FFF2-40B4-BE49-F238E27FC236}">
                  <a16:creationId xmlns:a16="http://schemas.microsoft.com/office/drawing/2014/main" id="{3FED8427-6809-2EF0-DF75-94FB1B40DABB}"/>
                </a:ext>
              </a:extLst>
            </p:cNvPr>
            <p:cNvSpPr>
              <a:spLocks noEditPoints="1"/>
            </p:cNvSpPr>
            <p:nvPr/>
          </p:nvSpPr>
          <p:spPr bwMode="auto">
            <a:xfrm>
              <a:off x="5770392" y="2309253"/>
              <a:ext cx="252000" cy="252000"/>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73" name="Group 67">
              <a:extLst>
                <a:ext uri="{FF2B5EF4-FFF2-40B4-BE49-F238E27FC236}">
                  <a16:creationId xmlns:a16="http://schemas.microsoft.com/office/drawing/2014/main" id="{B790D184-EE21-BE44-1F7B-19A09B718825}"/>
                </a:ext>
              </a:extLst>
            </p:cNvPr>
            <p:cNvGrpSpPr>
              <a:grpSpLocks noChangeAspect="1"/>
            </p:cNvGrpSpPr>
            <p:nvPr/>
          </p:nvGrpSpPr>
          <p:grpSpPr bwMode="auto">
            <a:xfrm>
              <a:off x="5770392" y="1711709"/>
              <a:ext cx="252000" cy="251409"/>
              <a:chOff x="1356" y="1721"/>
              <a:chExt cx="427" cy="426"/>
            </a:xfrm>
            <a:solidFill>
              <a:srgbClr val="FFFFFF"/>
            </a:solidFill>
          </p:grpSpPr>
          <p:sp>
            <p:nvSpPr>
              <p:cNvPr id="74" name="Freeform 68">
                <a:extLst>
                  <a:ext uri="{FF2B5EF4-FFF2-40B4-BE49-F238E27FC236}">
                    <a16:creationId xmlns:a16="http://schemas.microsoft.com/office/drawing/2014/main" id="{148D2489-21FA-568B-AAD4-AD7593DCC04B}"/>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75" name="Freeform 69">
                <a:extLst>
                  <a:ext uri="{FF2B5EF4-FFF2-40B4-BE49-F238E27FC236}">
                    <a16:creationId xmlns:a16="http://schemas.microsoft.com/office/drawing/2014/main" id="{52A30A9D-08DC-A5CF-CE98-E86CC062E7E3}"/>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76" name="Freeform 70">
                <a:extLst>
                  <a:ext uri="{FF2B5EF4-FFF2-40B4-BE49-F238E27FC236}">
                    <a16:creationId xmlns:a16="http://schemas.microsoft.com/office/drawing/2014/main" id="{F7BACCBD-CE4B-8EA5-67D4-8F8EC43A2AEE}"/>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grpSp>
        <p:nvGrpSpPr>
          <p:cNvPr id="81" name="Group 80">
            <a:extLst>
              <a:ext uri="{FF2B5EF4-FFF2-40B4-BE49-F238E27FC236}">
                <a16:creationId xmlns:a16="http://schemas.microsoft.com/office/drawing/2014/main" id="{002A3CD4-78EB-50FD-9B2E-5AE6FC29ED9D}"/>
              </a:ext>
            </a:extLst>
          </p:cNvPr>
          <p:cNvGrpSpPr/>
          <p:nvPr/>
        </p:nvGrpSpPr>
        <p:grpSpPr>
          <a:xfrm>
            <a:off x="579863" y="4649358"/>
            <a:ext cx="2102281" cy="1504683"/>
            <a:chOff x="5037457" y="347740"/>
            <a:chExt cx="4196380" cy="3066834"/>
          </a:xfrm>
        </p:grpSpPr>
        <p:sp>
          <p:nvSpPr>
            <p:cNvPr id="82" name="Rectangle: Rounded Corners 81">
              <a:extLst>
                <a:ext uri="{FF2B5EF4-FFF2-40B4-BE49-F238E27FC236}">
                  <a16:creationId xmlns:a16="http://schemas.microsoft.com/office/drawing/2014/main" id="{0F7D7F3A-131E-2B55-175C-5ED486BD8742}"/>
                </a:ext>
              </a:extLst>
            </p:cNvPr>
            <p:cNvSpPr/>
            <p:nvPr/>
          </p:nvSpPr>
          <p:spPr>
            <a:xfrm>
              <a:off x="5531224" y="815784"/>
              <a:ext cx="3675531" cy="360000"/>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Decoupling</a:t>
              </a:r>
            </a:p>
          </p:txBody>
        </p:sp>
        <p:sp>
          <p:nvSpPr>
            <p:cNvPr id="83" name="Rectangle: Rounded Corners 82">
              <a:extLst>
                <a:ext uri="{FF2B5EF4-FFF2-40B4-BE49-F238E27FC236}">
                  <a16:creationId xmlns:a16="http://schemas.microsoft.com/office/drawing/2014/main" id="{2C1C9BD8-58C5-2F6B-CB60-3DA3DBA2B45E}"/>
                </a:ext>
              </a:extLst>
            </p:cNvPr>
            <p:cNvSpPr/>
            <p:nvPr/>
          </p:nvSpPr>
          <p:spPr>
            <a:xfrm>
              <a:off x="5531224" y="1219892"/>
              <a:ext cx="3675531" cy="360000"/>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Integration</a:t>
              </a:r>
            </a:p>
          </p:txBody>
        </p:sp>
        <p:sp>
          <p:nvSpPr>
            <p:cNvPr id="84" name="Rectangle: Rounded Corners 83">
              <a:extLst>
                <a:ext uri="{FF2B5EF4-FFF2-40B4-BE49-F238E27FC236}">
                  <a16:creationId xmlns:a16="http://schemas.microsoft.com/office/drawing/2014/main" id="{330A24E0-6736-41FA-D460-E05FEEA96F48}"/>
                </a:ext>
              </a:extLst>
            </p:cNvPr>
            <p:cNvSpPr/>
            <p:nvPr/>
          </p:nvSpPr>
          <p:spPr>
            <a:xfrm>
              <a:off x="5531224" y="2114694"/>
              <a:ext cx="3675531" cy="60511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Coexistence</a:t>
              </a:r>
            </a:p>
          </p:txBody>
        </p:sp>
        <p:sp>
          <p:nvSpPr>
            <p:cNvPr id="85" name="Rectangle: Rounded Corners 84">
              <a:extLst>
                <a:ext uri="{FF2B5EF4-FFF2-40B4-BE49-F238E27FC236}">
                  <a16:creationId xmlns:a16="http://schemas.microsoft.com/office/drawing/2014/main" id="{CB013D7F-4AA9-51CD-988E-BD1DC3A16E9B}"/>
                </a:ext>
              </a:extLst>
            </p:cNvPr>
            <p:cNvSpPr/>
            <p:nvPr/>
          </p:nvSpPr>
          <p:spPr>
            <a:xfrm>
              <a:off x="5531224" y="1665052"/>
              <a:ext cx="3675531" cy="360000"/>
            </a:xfrm>
            <a:prstGeom prst="roundRect">
              <a:avLst/>
            </a:prstGeom>
            <a:solidFill>
              <a:srgbClr val="580090"/>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err="1">
                  <a:ln>
                    <a:noFill/>
                  </a:ln>
                  <a:solidFill>
                    <a:srgbClr val="FFFFFF"/>
                  </a:solidFill>
                  <a:effectLst/>
                  <a:uLnTx/>
                  <a:uFillTx/>
                  <a:latin typeface="Graphik Semibold" panose="020B0703030202060203" pitchFamily="34" charset="0"/>
                  <a:ea typeface="+mn-ea"/>
                  <a:cs typeface="+mn-cs"/>
                </a:rPr>
                <a:t>Choreography&amp;Orch</a:t>
              </a:r>
              <a:endParaRPr kumimoji="0" lang="en-U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endParaRPr>
            </a:p>
          </p:txBody>
        </p:sp>
        <p:sp>
          <p:nvSpPr>
            <p:cNvPr id="86" name="Rectangle: Rounded Corners 85">
              <a:extLst>
                <a:ext uri="{FF2B5EF4-FFF2-40B4-BE49-F238E27FC236}">
                  <a16:creationId xmlns:a16="http://schemas.microsoft.com/office/drawing/2014/main" id="{1F9F55B9-0D93-C7E0-4343-0FDF5018EE83}"/>
                </a:ext>
              </a:extLst>
            </p:cNvPr>
            <p:cNvSpPr/>
            <p:nvPr/>
          </p:nvSpPr>
          <p:spPr>
            <a:xfrm>
              <a:off x="5065964" y="2809455"/>
              <a:ext cx="4167873" cy="60511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Microservices</a:t>
              </a:r>
            </a:p>
          </p:txBody>
        </p:sp>
        <p:sp>
          <p:nvSpPr>
            <p:cNvPr id="87" name="Rectangle: Rounded Corners 86">
              <a:extLst>
                <a:ext uri="{FF2B5EF4-FFF2-40B4-BE49-F238E27FC236}">
                  <a16:creationId xmlns:a16="http://schemas.microsoft.com/office/drawing/2014/main" id="{6F9F0443-4246-C88B-19A0-3AA240525AC9}"/>
                </a:ext>
              </a:extLst>
            </p:cNvPr>
            <p:cNvSpPr/>
            <p:nvPr/>
          </p:nvSpPr>
          <p:spPr>
            <a:xfrm rot="16200000">
              <a:off x="3944604" y="1908637"/>
              <a:ext cx="2598790" cy="413084"/>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Core Business Services (Backbone)</a:t>
              </a:r>
            </a:p>
          </p:txBody>
        </p:sp>
        <p:pic>
          <p:nvPicPr>
            <p:cNvPr id="88" name="Graphic 87" descr="Puzzle pieces outline">
              <a:extLst>
                <a:ext uri="{FF2B5EF4-FFF2-40B4-BE49-F238E27FC236}">
                  <a16:creationId xmlns:a16="http://schemas.microsoft.com/office/drawing/2014/main" id="{15AF258E-CB73-28CA-39D5-FE05F962553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99889" y="347740"/>
              <a:ext cx="386510" cy="386510"/>
            </a:xfrm>
            <a:prstGeom prst="rect">
              <a:avLst/>
            </a:prstGeom>
          </p:spPr>
        </p:pic>
        <p:grpSp>
          <p:nvGrpSpPr>
            <p:cNvPr id="89" name="Group 48">
              <a:extLst>
                <a:ext uri="{FF2B5EF4-FFF2-40B4-BE49-F238E27FC236}">
                  <a16:creationId xmlns:a16="http://schemas.microsoft.com/office/drawing/2014/main" id="{A6FB3A82-9357-41CA-DDF8-2F433E98333B}"/>
                </a:ext>
              </a:extLst>
            </p:cNvPr>
            <p:cNvGrpSpPr>
              <a:grpSpLocks noChangeAspect="1"/>
            </p:cNvGrpSpPr>
            <p:nvPr/>
          </p:nvGrpSpPr>
          <p:grpSpPr bwMode="auto">
            <a:xfrm>
              <a:off x="5779357" y="933380"/>
              <a:ext cx="216405" cy="180002"/>
              <a:chOff x="3427" y="474"/>
              <a:chExt cx="428" cy="356"/>
            </a:xfrm>
            <a:solidFill>
              <a:srgbClr val="FFFFFF"/>
            </a:solidFill>
          </p:grpSpPr>
          <p:sp>
            <p:nvSpPr>
              <p:cNvPr id="97" name="Freeform 49">
                <a:extLst>
                  <a:ext uri="{FF2B5EF4-FFF2-40B4-BE49-F238E27FC236}">
                    <a16:creationId xmlns:a16="http://schemas.microsoft.com/office/drawing/2014/main" id="{ACC5C9B5-9A21-0E3F-53A2-CAC1905AC6B1}"/>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98" name="Freeform 50">
                <a:extLst>
                  <a:ext uri="{FF2B5EF4-FFF2-40B4-BE49-F238E27FC236}">
                    <a16:creationId xmlns:a16="http://schemas.microsoft.com/office/drawing/2014/main" id="{3585CC8B-D7B8-936B-EEC0-E0603185EA45}"/>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99" name="Freeform 51">
                <a:extLst>
                  <a:ext uri="{FF2B5EF4-FFF2-40B4-BE49-F238E27FC236}">
                    <a16:creationId xmlns:a16="http://schemas.microsoft.com/office/drawing/2014/main" id="{817496B5-C938-D964-F85F-FD41CA045669}"/>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00" name="Freeform 52">
                <a:extLst>
                  <a:ext uri="{FF2B5EF4-FFF2-40B4-BE49-F238E27FC236}">
                    <a16:creationId xmlns:a16="http://schemas.microsoft.com/office/drawing/2014/main" id="{784320E6-C389-5AEA-9099-888C2917EEAA}"/>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90" name="Graphic 89" descr="Network">
              <a:extLst>
                <a:ext uri="{FF2B5EF4-FFF2-40B4-BE49-F238E27FC236}">
                  <a16:creationId xmlns:a16="http://schemas.microsoft.com/office/drawing/2014/main" id="{979C8636-02F0-45F6-0B07-4F3C85F9875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70392" y="1276496"/>
              <a:ext cx="252000" cy="252000"/>
            </a:xfrm>
            <a:prstGeom prst="rect">
              <a:avLst/>
            </a:prstGeom>
          </p:spPr>
        </p:pic>
        <p:sp>
          <p:nvSpPr>
            <p:cNvPr id="91" name="Freeform 147">
              <a:extLst>
                <a:ext uri="{FF2B5EF4-FFF2-40B4-BE49-F238E27FC236}">
                  <a16:creationId xmlns:a16="http://schemas.microsoft.com/office/drawing/2014/main" id="{0C3EB048-FADD-3048-AA2D-4D83B4CACAB2}"/>
                </a:ext>
              </a:extLst>
            </p:cNvPr>
            <p:cNvSpPr>
              <a:spLocks noEditPoints="1"/>
            </p:cNvSpPr>
            <p:nvPr/>
          </p:nvSpPr>
          <p:spPr bwMode="auto">
            <a:xfrm>
              <a:off x="5708956" y="3029982"/>
              <a:ext cx="396000" cy="216000"/>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92" name="Freeform 5">
              <a:extLst>
                <a:ext uri="{FF2B5EF4-FFF2-40B4-BE49-F238E27FC236}">
                  <a16:creationId xmlns:a16="http://schemas.microsoft.com/office/drawing/2014/main" id="{96213322-F44E-F1B3-37AB-1C81AA96319E}"/>
                </a:ext>
              </a:extLst>
            </p:cNvPr>
            <p:cNvSpPr>
              <a:spLocks noEditPoints="1"/>
            </p:cNvSpPr>
            <p:nvPr/>
          </p:nvSpPr>
          <p:spPr bwMode="auto">
            <a:xfrm>
              <a:off x="5770392" y="2309253"/>
              <a:ext cx="252000" cy="252000"/>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93" name="Group 92">
              <a:extLst>
                <a:ext uri="{FF2B5EF4-FFF2-40B4-BE49-F238E27FC236}">
                  <a16:creationId xmlns:a16="http://schemas.microsoft.com/office/drawing/2014/main" id="{0F670C0F-F91F-43D5-A413-2F38BA4D479A}"/>
                </a:ext>
              </a:extLst>
            </p:cNvPr>
            <p:cNvGrpSpPr>
              <a:grpSpLocks noChangeAspect="1"/>
            </p:cNvGrpSpPr>
            <p:nvPr/>
          </p:nvGrpSpPr>
          <p:grpSpPr bwMode="auto">
            <a:xfrm>
              <a:off x="5770392" y="1711709"/>
              <a:ext cx="252000" cy="251409"/>
              <a:chOff x="1356" y="1721"/>
              <a:chExt cx="427" cy="426"/>
            </a:xfrm>
            <a:solidFill>
              <a:srgbClr val="FFFFFF"/>
            </a:solidFill>
          </p:grpSpPr>
          <p:sp>
            <p:nvSpPr>
              <p:cNvPr id="94" name="Freeform 68">
                <a:extLst>
                  <a:ext uri="{FF2B5EF4-FFF2-40B4-BE49-F238E27FC236}">
                    <a16:creationId xmlns:a16="http://schemas.microsoft.com/office/drawing/2014/main" id="{6185AF8E-241B-C13B-F1D4-87615FA04730}"/>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95" name="Freeform 69">
                <a:extLst>
                  <a:ext uri="{FF2B5EF4-FFF2-40B4-BE49-F238E27FC236}">
                    <a16:creationId xmlns:a16="http://schemas.microsoft.com/office/drawing/2014/main" id="{26E25C3E-4E96-4AE2-34F7-71E4AA24E1C1}"/>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96" name="Freeform 70">
                <a:extLst>
                  <a:ext uri="{FF2B5EF4-FFF2-40B4-BE49-F238E27FC236}">
                    <a16:creationId xmlns:a16="http://schemas.microsoft.com/office/drawing/2014/main" id="{B0A3C959-1463-448D-D8B9-3F81C9BC991B}"/>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spTree>
    <p:extLst>
      <p:ext uri="{BB962C8B-B14F-4D97-AF65-F5344CB8AC3E}">
        <p14:creationId xmlns:p14="http://schemas.microsoft.com/office/powerpoint/2010/main" val="2256778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F6B95-F313-1E27-11AF-37CF0D37F3B9}"/>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55D0B23D-D34F-4D2C-1F84-B78126F446E6}"/>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All rights reserved.</a:t>
            </a:r>
          </a:p>
        </p:txBody>
      </p:sp>
      <p:sp>
        <p:nvSpPr>
          <p:cNvPr id="66" name="Title 1">
            <a:extLst>
              <a:ext uri="{FF2B5EF4-FFF2-40B4-BE49-F238E27FC236}">
                <a16:creationId xmlns:a16="http://schemas.microsoft.com/office/drawing/2014/main" id="{E3383464-5EC6-2D3B-9AC2-E1B1D20E1746}"/>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Interoperable</a:t>
            </a:r>
            <a:r>
              <a:rPr kumimoji="0" lang="en-US" sz="2400" b="1" i="0" u="none" strike="noStrike" kern="1200" cap="none" spc="0" normalizeH="0" baseline="0" noProof="0" dirty="0">
                <a:ln>
                  <a:noFill/>
                </a:ln>
                <a:solidFill>
                  <a:srgbClr val="7500C0"/>
                </a:solidFill>
                <a:effectLst/>
                <a:uLnTx/>
                <a:uFillTx/>
                <a:latin typeface="Graphik"/>
                <a:ea typeface="+mj-ea"/>
                <a:cs typeface="+mj-cs"/>
              </a:rPr>
              <a:t> architecture </a:t>
            </a:r>
          </a:p>
        </p:txBody>
      </p:sp>
      <p:grpSp>
        <p:nvGrpSpPr>
          <p:cNvPr id="10" name="Group 9">
            <a:extLst>
              <a:ext uri="{FF2B5EF4-FFF2-40B4-BE49-F238E27FC236}">
                <a16:creationId xmlns:a16="http://schemas.microsoft.com/office/drawing/2014/main" id="{5C149B80-CED4-D20D-ABDC-E0E156F8DAA3}"/>
              </a:ext>
            </a:extLst>
          </p:cNvPr>
          <p:cNvGrpSpPr/>
          <p:nvPr/>
        </p:nvGrpSpPr>
        <p:grpSpPr>
          <a:xfrm>
            <a:off x="381000" y="1212570"/>
            <a:ext cx="2388481" cy="1581473"/>
            <a:chOff x="596766" y="1022926"/>
            <a:chExt cx="2388481" cy="1581473"/>
          </a:xfrm>
        </p:grpSpPr>
        <p:sp>
          <p:nvSpPr>
            <p:cNvPr id="11" name="Rectangle: Rounded Corners 10">
              <a:extLst>
                <a:ext uri="{FF2B5EF4-FFF2-40B4-BE49-F238E27FC236}">
                  <a16:creationId xmlns:a16="http://schemas.microsoft.com/office/drawing/2014/main" id="{1EA92C33-36E9-3FEF-251F-A15EA6105AA2}"/>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Interoperable Architecture</a:t>
              </a:r>
            </a:p>
          </p:txBody>
        </p:sp>
        <p:pic>
          <p:nvPicPr>
            <p:cNvPr id="12" name="Graphic 11" descr="Puzzle pieces outline">
              <a:extLst>
                <a:ext uri="{FF2B5EF4-FFF2-40B4-BE49-F238E27FC236}">
                  <a16:creationId xmlns:a16="http://schemas.microsoft.com/office/drawing/2014/main" id="{47EED4B5-E72E-EC36-47C7-125C946C0B1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sp>
        <p:nvSpPr>
          <p:cNvPr id="13" name="TextBox 12">
            <a:extLst>
              <a:ext uri="{FF2B5EF4-FFF2-40B4-BE49-F238E27FC236}">
                <a16:creationId xmlns:a16="http://schemas.microsoft.com/office/drawing/2014/main" id="{4367B16C-C178-284F-AF22-8855826AE694}"/>
              </a:ext>
            </a:extLst>
          </p:cNvPr>
          <p:cNvSpPr txBox="1"/>
          <p:nvPr/>
        </p:nvSpPr>
        <p:spPr>
          <a:xfrm>
            <a:off x="2942264" y="1212570"/>
            <a:ext cx="8637495" cy="116955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7500C0"/>
                </a:solidFill>
                <a:effectLst/>
                <a:uLnTx/>
                <a:uFillTx/>
                <a:latin typeface="Graphik Semibold" panose="020B0703030202060203" pitchFamily="34" charset="0"/>
                <a:ea typeface="+mn-ea"/>
                <a:cs typeface="+mn-cs"/>
              </a:rPr>
              <a:t>Coexistence: </a:t>
            </a:r>
            <a:r>
              <a:rPr kumimoji="0" lang="en-U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Main enabler of the interoperability required when modernizing old legacy cores. This facade allows old applications to be interoperable with brand new business domains or applications.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Core Banking modernization programs take long and are subject to changes, flexibility will come via the implementation of a coexistence layer that will facilitate the interoperations between the new and the old platforms (i.e. maintaining old vs new customer IDs or account numbers or even transactions, …) </a:t>
            </a:r>
          </a:p>
        </p:txBody>
      </p:sp>
      <p:sp>
        <p:nvSpPr>
          <p:cNvPr id="14" name="TextBox 13">
            <a:extLst>
              <a:ext uri="{FF2B5EF4-FFF2-40B4-BE49-F238E27FC236}">
                <a16:creationId xmlns:a16="http://schemas.microsoft.com/office/drawing/2014/main" id="{E0D4AD9A-0155-080F-97AC-E72E09BE12A2}"/>
              </a:ext>
            </a:extLst>
          </p:cNvPr>
          <p:cNvSpPr txBox="1"/>
          <p:nvPr/>
        </p:nvSpPr>
        <p:spPr>
          <a:xfrm>
            <a:off x="2942264" y="2798204"/>
            <a:ext cx="8637495" cy="13849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7500C0"/>
                </a:solidFill>
                <a:effectLst/>
                <a:uLnTx/>
                <a:uFillTx/>
                <a:latin typeface="Graphik Semibold" panose="020B0703030202060203" pitchFamily="34" charset="0"/>
                <a:ea typeface="+mn-ea"/>
                <a:cs typeface="+mn-cs"/>
              </a:rPr>
              <a:t>Microservices: </a:t>
            </a:r>
            <a:r>
              <a:rPr kumimoji="0" lang="en-U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Synchronous and asynchronous services which embed business logic and technical accelerators required to support coexistence process and that will hold granular business services that are neither provided by the existing legacy systems nor by any of the platforms selected.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This layer can be understood as an extensibility layer to allow o complement any type of missing functions needed to allow the interoperation of the various ecosystem applications. </a:t>
            </a:r>
          </a:p>
        </p:txBody>
      </p:sp>
      <p:sp>
        <p:nvSpPr>
          <p:cNvPr id="17" name="TextBox 16">
            <a:extLst>
              <a:ext uri="{FF2B5EF4-FFF2-40B4-BE49-F238E27FC236}">
                <a16:creationId xmlns:a16="http://schemas.microsoft.com/office/drawing/2014/main" id="{97FC8FA7-C9C0-EB1A-5632-68FA8051AE5E}"/>
              </a:ext>
            </a:extLst>
          </p:cNvPr>
          <p:cNvSpPr txBox="1"/>
          <p:nvPr/>
        </p:nvSpPr>
        <p:spPr>
          <a:xfrm>
            <a:off x="2942264" y="4542391"/>
            <a:ext cx="8637495" cy="160043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7500C0"/>
                </a:solidFill>
                <a:effectLst/>
                <a:uLnTx/>
                <a:uFillTx/>
                <a:latin typeface="Graphik Semibold" panose="020B0703030202060203" pitchFamily="34" charset="0"/>
                <a:ea typeface="+mn-ea"/>
                <a:cs typeface="+mn-cs"/>
              </a:rPr>
              <a:t>Core Business Services: </a:t>
            </a:r>
            <a:r>
              <a:rPr kumimoji="0" lang="en-U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Main enabler of the interoperability required when modernizing old legacy cores. This facade allows old applications to be interoperable with brand new business domains or applications.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Core Banking modernization programs take long and are subject to changes, flexibility will come via the implementation of a coexistence layer that will facilitate the interoperations between the new and the old platforms (i.e. maintaining old vs new customer IDs or account numbers or even transactions, …) </a:t>
            </a:r>
          </a:p>
        </p:txBody>
      </p:sp>
      <p:grpSp>
        <p:nvGrpSpPr>
          <p:cNvPr id="18" name="Group 17">
            <a:extLst>
              <a:ext uri="{FF2B5EF4-FFF2-40B4-BE49-F238E27FC236}">
                <a16:creationId xmlns:a16="http://schemas.microsoft.com/office/drawing/2014/main" id="{6C860CD1-0708-E2C5-F242-540D46C33BCE}"/>
              </a:ext>
            </a:extLst>
          </p:cNvPr>
          <p:cNvGrpSpPr/>
          <p:nvPr/>
        </p:nvGrpSpPr>
        <p:grpSpPr>
          <a:xfrm>
            <a:off x="522707" y="1253172"/>
            <a:ext cx="2093315" cy="1504683"/>
            <a:chOff x="5037457" y="347740"/>
            <a:chExt cx="4178482" cy="3066834"/>
          </a:xfrm>
        </p:grpSpPr>
        <p:sp>
          <p:nvSpPr>
            <p:cNvPr id="19" name="Rectangle: Rounded Corners 18">
              <a:extLst>
                <a:ext uri="{FF2B5EF4-FFF2-40B4-BE49-F238E27FC236}">
                  <a16:creationId xmlns:a16="http://schemas.microsoft.com/office/drawing/2014/main" id="{FC8246AF-DCEC-EC79-317F-CE6E392C2341}"/>
                </a:ext>
              </a:extLst>
            </p:cNvPr>
            <p:cNvSpPr/>
            <p:nvPr/>
          </p:nvSpPr>
          <p:spPr>
            <a:xfrm>
              <a:off x="5531224" y="815784"/>
              <a:ext cx="3675531" cy="360000"/>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Decoupling</a:t>
              </a:r>
            </a:p>
          </p:txBody>
        </p:sp>
        <p:sp>
          <p:nvSpPr>
            <p:cNvPr id="20" name="Rectangle: Rounded Corners 19">
              <a:extLst>
                <a:ext uri="{FF2B5EF4-FFF2-40B4-BE49-F238E27FC236}">
                  <a16:creationId xmlns:a16="http://schemas.microsoft.com/office/drawing/2014/main" id="{6E749250-3722-68F1-845D-CA4EC8DB6A59}"/>
                </a:ext>
              </a:extLst>
            </p:cNvPr>
            <p:cNvSpPr/>
            <p:nvPr/>
          </p:nvSpPr>
          <p:spPr>
            <a:xfrm>
              <a:off x="5531224" y="1219892"/>
              <a:ext cx="3675531" cy="360000"/>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Integration</a:t>
              </a:r>
            </a:p>
          </p:txBody>
        </p:sp>
        <p:sp>
          <p:nvSpPr>
            <p:cNvPr id="21" name="Rectangle: Rounded Corners 20">
              <a:extLst>
                <a:ext uri="{FF2B5EF4-FFF2-40B4-BE49-F238E27FC236}">
                  <a16:creationId xmlns:a16="http://schemas.microsoft.com/office/drawing/2014/main" id="{E0B51FF2-6525-151A-2C72-C52210852B19}"/>
                </a:ext>
              </a:extLst>
            </p:cNvPr>
            <p:cNvSpPr/>
            <p:nvPr/>
          </p:nvSpPr>
          <p:spPr>
            <a:xfrm>
              <a:off x="5531224" y="2114694"/>
              <a:ext cx="3675531" cy="605119"/>
            </a:xfrm>
            <a:prstGeom prst="roundRect">
              <a:avLst/>
            </a:prstGeom>
            <a:solidFill>
              <a:srgbClr val="580090"/>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Coexistence</a:t>
              </a:r>
            </a:p>
          </p:txBody>
        </p:sp>
        <p:sp>
          <p:nvSpPr>
            <p:cNvPr id="22" name="Rectangle: Rounded Corners 21">
              <a:extLst>
                <a:ext uri="{FF2B5EF4-FFF2-40B4-BE49-F238E27FC236}">
                  <a16:creationId xmlns:a16="http://schemas.microsoft.com/office/drawing/2014/main" id="{E1CA1E65-1605-A098-89F4-C1ECB7995830}"/>
                </a:ext>
              </a:extLst>
            </p:cNvPr>
            <p:cNvSpPr/>
            <p:nvPr/>
          </p:nvSpPr>
          <p:spPr>
            <a:xfrm>
              <a:off x="5531224" y="1665052"/>
              <a:ext cx="3675531" cy="360000"/>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800" b="1" i="0" u="none" strike="noStrike" kern="0" cap="none" spc="0" normalizeH="0" baseline="0" noProof="0" err="1">
                  <a:ln>
                    <a:noFill/>
                  </a:ln>
                  <a:solidFill>
                    <a:srgbClr val="FFFFFF"/>
                  </a:solidFill>
                  <a:effectLst/>
                  <a:uLnTx/>
                  <a:uFillTx/>
                  <a:latin typeface="Graphik Semibold" panose="020B0703030202060203" pitchFamily="34" charset="0"/>
                  <a:ea typeface="+mn-ea"/>
                  <a:cs typeface="+mn-cs"/>
                </a:rPr>
                <a:t>Choreography&amp;Orch</a:t>
              </a:r>
              <a:endParaRPr kumimoji="0" lang="es-ES_tradnl"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endParaRPr>
            </a:p>
          </p:txBody>
        </p:sp>
        <p:sp>
          <p:nvSpPr>
            <p:cNvPr id="23" name="Rectangle: Rounded Corners 22">
              <a:extLst>
                <a:ext uri="{FF2B5EF4-FFF2-40B4-BE49-F238E27FC236}">
                  <a16:creationId xmlns:a16="http://schemas.microsoft.com/office/drawing/2014/main" id="{DDFA9D68-A078-D516-DE0E-CB4835D787DD}"/>
                </a:ext>
              </a:extLst>
            </p:cNvPr>
            <p:cNvSpPr/>
            <p:nvPr/>
          </p:nvSpPr>
          <p:spPr>
            <a:xfrm>
              <a:off x="5048066" y="2809455"/>
              <a:ext cx="4167873" cy="60511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Microservices</a:t>
              </a:r>
            </a:p>
          </p:txBody>
        </p:sp>
        <p:sp>
          <p:nvSpPr>
            <p:cNvPr id="24" name="Rectangle: Rounded Corners 23">
              <a:extLst>
                <a:ext uri="{FF2B5EF4-FFF2-40B4-BE49-F238E27FC236}">
                  <a16:creationId xmlns:a16="http://schemas.microsoft.com/office/drawing/2014/main" id="{4A186346-0C8B-1DCE-07EA-AD7E873687B9}"/>
                </a:ext>
              </a:extLst>
            </p:cNvPr>
            <p:cNvSpPr/>
            <p:nvPr/>
          </p:nvSpPr>
          <p:spPr>
            <a:xfrm rot="16200000">
              <a:off x="3944604" y="1908637"/>
              <a:ext cx="2598790" cy="413084"/>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Core Business Services (Backbone)</a:t>
              </a:r>
            </a:p>
          </p:txBody>
        </p:sp>
        <p:pic>
          <p:nvPicPr>
            <p:cNvPr id="25" name="Graphic 24" descr="Puzzle pieces outline">
              <a:extLst>
                <a:ext uri="{FF2B5EF4-FFF2-40B4-BE49-F238E27FC236}">
                  <a16:creationId xmlns:a16="http://schemas.microsoft.com/office/drawing/2014/main" id="{8F534F85-F9B1-8626-3468-72641DCA45D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99889" y="347740"/>
              <a:ext cx="386510" cy="386510"/>
            </a:xfrm>
            <a:prstGeom prst="rect">
              <a:avLst/>
            </a:prstGeom>
          </p:spPr>
        </p:pic>
        <p:grpSp>
          <p:nvGrpSpPr>
            <p:cNvPr id="26" name="Group 48">
              <a:extLst>
                <a:ext uri="{FF2B5EF4-FFF2-40B4-BE49-F238E27FC236}">
                  <a16:creationId xmlns:a16="http://schemas.microsoft.com/office/drawing/2014/main" id="{7A9F3CEF-DC5F-443A-A9CF-F6C722BE99E3}"/>
                </a:ext>
              </a:extLst>
            </p:cNvPr>
            <p:cNvGrpSpPr>
              <a:grpSpLocks noChangeAspect="1"/>
            </p:cNvGrpSpPr>
            <p:nvPr/>
          </p:nvGrpSpPr>
          <p:grpSpPr bwMode="auto">
            <a:xfrm>
              <a:off x="5779357" y="933381"/>
              <a:ext cx="216405" cy="180002"/>
              <a:chOff x="3427" y="474"/>
              <a:chExt cx="428" cy="356"/>
            </a:xfrm>
            <a:solidFill>
              <a:srgbClr val="FFFFFF"/>
            </a:solidFill>
          </p:grpSpPr>
          <p:sp>
            <p:nvSpPr>
              <p:cNvPr id="34" name="Freeform 49">
                <a:extLst>
                  <a:ext uri="{FF2B5EF4-FFF2-40B4-BE49-F238E27FC236}">
                    <a16:creationId xmlns:a16="http://schemas.microsoft.com/office/drawing/2014/main" id="{6F452F24-80AA-86EB-C75D-CD70EEAECEBA}"/>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5" name="Freeform 50">
                <a:extLst>
                  <a:ext uri="{FF2B5EF4-FFF2-40B4-BE49-F238E27FC236}">
                    <a16:creationId xmlns:a16="http://schemas.microsoft.com/office/drawing/2014/main" id="{4149A4F6-E6A0-570C-71EE-3B283BE4B52C}"/>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65" name="Freeform 51">
                <a:extLst>
                  <a:ext uri="{FF2B5EF4-FFF2-40B4-BE49-F238E27FC236}">
                    <a16:creationId xmlns:a16="http://schemas.microsoft.com/office/drawing/2014/main" id="{0013B3F8-0D04-54A9-8326-97C84F8EF214}"/>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01" name="Freeform 52">
                <a:extLst>
                  <a:ext uri="{FF2B5EF4-FFF2-40B4-BE49-F238E27FC236}">
                    <a16:creationId xmlns:a16="http://schemas.microsoft.com/office/drawing/2014/main" id="{E31699BB-5B16-1FF3-FADF-C46B14D8E140}"/>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27" name="Graphic 26" descr="Network">
              <a:extLst>
                <a:ext uri="{FF2B5EF4-FFF2-40B4-BE49-F238E27FC236}">
                  <a16:creationId xmlns:a16="http://schemas.microsoft.com/office/drawing/2014/main" id="{84994E34-52AD-868E-2136-145D1E31C3C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70392" y="1276496"/>
              <a:ext cx="252000" cy="252000"/>
            </a:xfrm>
            <a:prstGeom prst="rect">
              <a:avLst/>
            </a:prstGeom>
          </p:spPr>
        </p:pic>
        <p:sp>
          <p:nvSpPr>
            <p:cNvPr id="28" name="Freeform 147">
              <a:extLst>
                <a:ext uri="{FF2B5EF4-FFF2-40B4-BE49-F238E27FC236}">
                  <a16:creationId xmlns:a16="http://schemas.microsoft.com/office/drawing/2014/main" id="{8D25A388-5715-C54A-1A56-C47113036F14}"/>
                </a:ext>
              </a:extLst>
            </p:cNvPr>
            <p:cNvSpPr>
              <a:spLocks noEditPoints="1"/>
            </p:cNvSpPr>
            <p:nvPr/>
          </p:nvSpPr>
          <p:spPr bwMode="auto">
            <a:xfrm>
              <a:off x="5708956" y="3029982"/>
              <a:ext cx="396000" cy="216000"/>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9" name="Freeform 5">
              <a:extLst>
                <a:ext uri="{FF2B5EF4-FFF2-40B4-BE49-F238E27FC236}">
                  <a16:creationId xmlns:a16="http://schemas.microsoft.com/office/drawing/2014/main" id="{6FABBE89-3233-275D-F59D-3550EA15C146}"/>
                </a:ext>
              </a:extLst>
            </p:cNvPr>
            <p:cNvSpPr>
              <a:spLocks noEditPoints="1"/>
            </p:cNvSpPr>
            <p:nvPr/>
          </p:nvSpPr>
          <p:spPr bwMode="auto">
            <a:xfrm>
              <a:off x="5770392" y="2309253"/>
              <a:ext cx="252000" cy="252000"/>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30" name="Group 67">
              <a:extLst>
                <a:ext uri="{FF2B5EF4-FFF2-40B4-BE49-F238E27FC236}">
                  <a16:creationId xmlns:a16="http://schemas.microsoft.com/office/drawing/2014/main" id="{DEDB7B8B-30AD-E4C0-1375-1B90AFB55954}"/>
                </a:ext>
              </a:extLst>
            </p:cNvPr>
            <p:cNvGrpSpPr>
              <a:grpSpLocks noChangeAspect="1"/>
            </p:cNvGrpSpPr>
            <p:nvPr/>
          </p:nvGrpSpPr>
          <p:grpSpPr bwMode="auto">
            <a:xfrm>
              <a:off x="5770392" y="1711709"/>
              <a:ext cx="252000" cy="251409"/>
              <a:chOff x="1356" y="1721"/>
              <a:chExt cx="427" cy="426"/>
            </a:xfrm>
            <a:solidFill>
              <a:srgbClr val="FFFFFF"/>
            </a:solidFill>
          </p:grpSpPr>
          <p:sp>
            <p:nvSpPr>
              <p:cNvPr id="31" name="Freeform 68">
                <a:extLst>
                  <a:ext uri="{FF2B5EF4-FFF2-40B4-BE49-F238E27FC236}">
                    <a16:creationId xmlns:a16="http://schemas.microsoft.com/office/drawing/2014/main" id="{4F70CCAA-7D2B-D8AA-FD76-452346553682}"/>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2" name="Freeform 69">
                <a:extLst>
                  <a:ext uri="{FF2B5EF4-FFF2-40B4-BE49-F238E27FC236}">
                    <a16:creationId xmlns:a16="http://schemas.microsoft.com/office/drawing/2014/main" id="{A41213D1-1D0A-8580-0928-13ACB097D3F1}"/>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3" name="Freeform 70">
                <a:extLst>
                  <a:ext uri="{FF2B5EF4-FFF2-40B4-BE49-F238E27FC236}">
                    <a16:creationId xmlns:a16="http://schemas.microsoft.com/office/drawing/2014/main" id="{0B0917F6-BBD5-FBBF-4A86-62558D215493}"/>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grpSp>
        <p:nvGrpSpPr>
          <p:cNvPr id="102" name="Group 101">
            <a:extLst>
              <a:ext uri="{FF2B5EF4-FFF2-40B4-BE49-F238E27FC236}">
                <a16:creationId xmlns:a16="http://schemas.microsoft.com/office/drawing/2014/main" id="{4F3B1094-6788-9D46-BF9F-0FFCF6E1DB4D}"/>
              </a:ext>
            </a:extLst>
          </p:cNvPr>
          <p:cNvGrpSpPr/>
          <p:nvPr/>
        </p:nvGrpSpPr>
        <p:grpSpPr>
          <a:xfrm>
            <a:off x="381000" y="3712718"/>
            <a:ext cx="2388481" cy="1581473"/>
            <a:chOff x="381000" y="4110147"/>
            <a:chExt cx="2388481" cy="1581473"/>
          </a:xfrm>
        </p:grpSpPr>
        <p:grpSp>
          <p:nvGrpSpPr>
            <p:cNvPr id="103" name="Group 102">
              <a:extLst>
                <a:ext uri="{FF2B5EF4-FFF2-40B4-BE49-F238E27FC236}">
                  <a16:creationId xmlns:a16="http://schemas.microsoft.com/office/drawing/2014/main" id="{97BB5778-5EEC-E9C3-0207-EDBCC8FED021}"/>
                </a:ext>
              </a:extLst>
            </p:cNvPr>
            <p:cNvGrpSpPr/>
            <p:nvPr/>
          </p:nvGrpSpPr>
          <p:grpSpPr>
            <a:xfrm>
              <a:off x="381000" y="4110147"/>
              <a:ext cx="2388481" cy="1581473"/>
              <a:chOff x="596766" y="1022926"/>
              <a:chExt cx="2388481" cy="1581473"/>
            </a:xfrm>
          </p:grpSpPr>
          <p:sp>
            <p:nvSpPr>
              <p:cNvPr id="124" name="Rectangle: Rounded Corners 123">
                <a:extLst>
                  <a:ext uri="{FF2B5EF4-FFF2-40B4-BE49-F238E27FC236}">
                    <a16:creationId xmlns:a16="http://schemas.microsoft.com/office/drawing/2014/main" id="{7339477A-C683-882C-993E-20C4CA8F3992}"/>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Interoperable Architecture</a:t>
                </a:r>
              </a:p>
            </p:txBody>
          </p:sp>
          <p:pic>
            <p:nvPicPr>
              <p:cNvPr id="125" name="Graphic 124" descr="Puzzle pieces outline">
                <a:extLst>
                  <a:ext uri="{FF2B5EF4-FFF2-40B4-BE49-F238E27FC236}">
                    <a16:creationId xmlns:a16="http://schemas.microsoft.com/office/drawing/2014/main" id="{A17DDEE8-B48B-31FB-21FE-1CBD40300DB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grpSp>
          <p:nvGrpSpPr>
            <p:cNvPr id="104" name="Group 103">
              <a:extLst>
                <a:ext uri="{FF2B5EF4-FFF2-40B4-BE49-F238E27FC236}">
                  <a16:creationId xmlns:a16="http://schemas.microsoft.com/office/drawing/2014/main" id="{C3553A60-59D8-E084-C6E0-FEA1CF14B226}"/>
                </a:ext>
              </a:extLst>
            </p:cNvPr>
            <p:cNvGrpSpPr/>
            <p:nvPr/>
          </p:nvGrpSpPr>
          <p:grpSpPr>
            <a:xfrm>
              <a:off x="531326" y="4124097"/>
              <a:ext cx="2102283" cy="1504683"/>
              <a:chOff x="5037457" y="347740"/>
              <a:chExt cx="4196385" cy="3066834"/>
            </a:xfrm>
          </p:grpSpPr>
          <p:sp>
            <p:nvSpPr>
              <p:cNvPr id="105" name="Rectangle: Rounded Corners 104">
                <a:extLst>
                  <a:ext uri="{FF2B5EF4-FFF2-40B4-BE49-F238E27FC236}">
                    <a16:creationId xmlns:a16="http://schemas.microsoft.com/office/drawing/2014/main" id="{AAC7860B-76B5-5DF5-26AA-796C62559B6D}"/>
                  </a:ext>
                </a:extLst>
              </p:cNvPr>
              <p:cNvSpPr/>
              <p:nvPr/>
            </p:nvSpPr>
            <p:spPr>
              <a:xfrm>
                <a:off x="5531224" y="815784"/>
                <a:ext cx="3675531" cy="360000"/>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Decoupling</a:t>
                </a:r>
              </a:p>
            </p:txBody>
          </p:sp>
          <p:sp>
            <p:nvSpPr>
              <p:cNvPr id="106" name="Rectangle: Rounded Corners 105">
                <a:extLst>
                  <a:ext uri="{FF2B5EF4-FFF2-40B4-BE49-F238E27FC236}">
                    <a16:creationId xmlns:a16="http://schemas.microsoft.com/office/drawing/2014/main" id="{9C7CCB46-628B-2A55-4A03-9076CED3BDAB}"/>
                  </a:ext>
                </a:extLst>
              </p:cNvPr>
              <p:cNvSpPr/>
              <p:nvPr/>
            </p:nvSpPr>
            <p:spPr>
              <a:xfrm>
                <a:off x="5531224" y="1219892"/>
                <a:ext cx="3675531" cy="360000"/>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Integration</a:t>
                </a:r>
              </a:p>
            </p:txBody>
          </p:sp>
          <p:sp>
            <p:nvSpPr>
              <p:cNvPr id="107" name="Rectangle: Rounded Corners 106">
                <a:extLst>
                  <a:ext uri="{FF2B5EF4-FFF2-40B4-BE49-F238E27FC236}">
                    <a16:creationId xmlns:a16="http://schemas.microsoft.com/office/drawing/2014/main" id="{EF9638DA-CD63-E89D-C49D-78FCAC2E9C52}"/>
                  </a:ext>
                </a:extLst>
              </p:cNvPr>
              <p:cNvSpPr/>
              <p:nvPr/>
            </p:nvSpPr>
            <p:spPr>
              <a:xfrm>
                <a:off x="5531224" y="2114694"/>
                <a:ext cx="3675531" cy="60511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Coexistence</a:t>
                </a:r>
              </a:p>
            </p:txBody>
          </p:sp>
          <p:sp>
            <p:nvSpPr>
              <p:cNvPr id="108" name="Rectangle: Rounded Corners 107">
                <a:extLst>
                  <a:ext uri="{FF2B5EF4-FFF2-40B4-BE49-F238E27FC236}">
                    <a16:creationId xmlns:a16="http://schemas.microsoft.com/office/drawing/2014/main" id="{9B062F86-C7C9-35E6-C128-85F9ADD51F7B}"/>
                  </a:ext>
                </a:extLst>
              </p:cNvPr>
              <p:cNvSpPr/>
              <p:nvPr/>
            </p:nvSpPr>
            <p:spPr>
              <a:xfrm>
                <a:off x="5531224" y="1665052"/>
                <a:ext cx="3675531" cy="360000"/>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800" b="1" i="0" u="none" strike="noStrike" kern="0" cap="none" spc="0" normalizeH="0" baseline="0" noProof="0" err="1">
                    <a:ln>
                      <a:noFill/>
                    </a:ln>
                    <a:solidFill>
                      <a:srgbClr val="FFFFFF"/>
                    </a:solidFill>
                    <a:effectLst/>
                    <a:uLnTx/>
                    <a:uFillTx/>
                    <a:latin typeface="Graphik Semibold" panose="020B0703030202060203" pitchFamily="34" charset="0"/>
                    <a:ea typeface="+mn-ea"/>
                    <a:cs typeface="+mn-cs"/>
                  </a:rPr>
                  <a:t>Choreography&amp;Orch</a:t>
                </a:r>
                <a:endParaRPr kumimoji="0" lang="es-ES_tradnl"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endParaRPr>
              </a:p>
            </p:txBody>
          </p:sp>
          <p:sp>
            <p:nvSpPr>
              <p:cNvPr id="109" name="Rectangle: Rounded Corners 108">
                <a:extLst>
                  <a:ext uri="{FF2B5EF4-FFF2-40B4-BE49-F238E27FC236}">
                    <a16:creationId xmlns:a16="http://schemas.microsoft.com/office/drawing/2014/main" id="{C6763B98-128A-2000-889B-C0BA3E6509D6}"/>
                  </a:ext>
                </a:extLst>
              </p:cNvPr>
              <p:cNvSpPr/>
              <p:nvPr/>
            </p:nvSpPr>
            <p:spPr>
              <a:xfrm>
                <a:off x="5065967" y="2809455"/>
                <a:ext cx="4167875" cy="605119"/>
              </a:xfrm>
              <a:prstGeom prst="roundRect">
                <a:avLst/>
              </a:prstGeom>
              <a:solidFill>
                <a:srgbClr val="580090"/>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Microservices</a:t>
                </a:r>
              </a:p>
            </p:txBody>
          </p:sp>
          <p:sp>
            <p:nvSpPr>
              <p:cNvPr id="110" name="Rectangle: Rounded Corners 109">
                <a:extLst>
                  <a:ext uri="{FF2B5EF4-FFF2-40B4-BE49-F238E27FC236}">
                    <a16:creationId xmlns:a16="http://schemas.microsoft.com/office/drawing/2014/main" id="{FF41CFE8-C364-7E79-7DA4-B6A4DBA88723}"/>
                  </a:ext>
                </a:extLst>
              </p:cNvPr>
              <p:cNvSpPr/>
              <p:nvPr/>
            </p:nvSpPr>
            <p:spPr>
              <a:xfrm rot="16200000">
                <a:off x="3944604" y="1908637"/>
                <a:ext cx="2598790" cy="413084"/>
              </a:xfrm>
              <a:prstGeom prst="roundRect">
                <a:avLst/>
              </a:prstGeom>
              <a:solidFill>
                <a:srgbClr val="580090"/>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Core Business Services (Backbone)</a:t>
                </a:r>
              </a:p>
            </p:txBody>
          </p:sp>
          <p:pic>
            <p:nvPicPr>
              <p:cNvPr id="111" name="Graphic 110" descr="Puzzle pieces outline">
                <a:extLst>
                  <a:ext uri="{FF2B5EF4-FFF2-40B4-BE49-F238E27FC236}">
                    <a16:creationId xmlns:a16="http://schemas.microsoft.com/office/drawing/2014/main" id="{8B298CC9-5F6A-4846-785F-4590CBD9FAD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99889" y="347740"/>
                <a:ext cx="386510" cy="386510"/>
              </a:xfrm>
              <a:prstGeom prst="rect">
                <a:avLst/>
              </a:prstGeom>
            </p:spPr>
          </p:pic>
          <p:grpSp>
            <p:nvGrpSpPr>
              <p:cNvPr id="112" name="Group 48">
                <a:extLst>
                  <a:ext uri="{FF2B5EF4-FFF2-40B4-BE49-F238E27FC236}">
                    <a16:creationId xmlns:a16="http://schemas.microsoft.com/office/drawing/2014/main" id="{92040484-1472-57B9-5B7D-43EB656684C7}"/>
                  </a:ext>
                </a:extLst>
              </p:cNvPr>
              <p:cNvGrpSpPr>
                <a:grpSpLocks noChangeAspect="1"/>
              </p:cNvGrpSpPr>
              <p:nvPr/>
            </p:nvGrpSpPr>
            <p:grpSpPr bwMode="auto">
              <a:xfrm>
                <a:off x="5779357" y="933381"/>
                <a:ext cx="216405" cy="180002"/>
                <a:chOff x="3427" y="474"/>
                <a:chExt cx="428" cy="356"/>
              </a:xfrm>
              <a:solidFill>
                <a:srgbClr val="FFFFFF"/>
              </a:solidFill>
            </p:grpSpPr>
            <p:sp>
              <p:nvSpPr>
                <p:cNvPr id="120" name="Freeform 49">
                  <a:extLst>
                    <a:ext uri="{FF2B5EF4-FFF2-40B4-BE49-F238E27FC236}">
                      <a16:creationId xmlns:a16="http://schemas.microsoft.com/office/drawing/2014/main" id="{8AE14CDA-030D-AAB6-027F-A269A362E57A}"/>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21" name="Freeform 50">
                  <a:extLst>
                    <a:ext uri="{FF2B5EF4-FFF2-40B4-BE49-F238E27FC236}">
                      <a16:creationId xmlns:a16="http://schemas.microsoft.com/office/drawing/2014/main" id="{3D6D22E1-281E-C158-24E2-1DA311D15914}"/>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22" name="Freeform 51">
                  <a:extLst>
                    <a:ext uri="{FF2B5EF4-FFF2-40B4-BE49-F238E27FC236}">
                      <a16:creationId xmlns:a16="http://schemas.microsoft.com/office/drawing/2014/main" id="{0422D2C3-2912-9ECA-637A-AA51ECD0D2A5}"/>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23" name="Freeform 52">
                  <a:extLst>
                    <a:ext uri="{FF2B5EF4-FFF2-40B4-BE49-F238E27FC236}">
                      <a16:creationId xmlns:a16="http://schemas.microsoft.com/office/drawing/2014/main" id="{BAA2F26E-7242-373F-1F06-4A3F7A51FAF3}"/>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113" name="Graphic 112" descr="Network">
                <a:extLst>
                  <a:ext uri="{FF2B5EF4-FFF2-40B4-BE49-F238E27FC236}">
                    <a16:creationId xmlns:a16="http://schemas.microsoft.com/office/drawing/2014/main" id="{0B572E70-DA0F-8488-B3A7-AE57A00B5AC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70392" y="1276496"/>
                <a:ext cx="252000" cy="252000"/>
              </a:xfrm>
              <a:prstGeom prst="rect">
                <a:avLst/>
              </a:prstGeom>
            </p:spPr>
          </p:pic>
          <p:sp>
            <p:nvSpPr>
              <p:cNvPr id="114" name="Freeform 147">
                <a:extLst>
                  <a:ext uri="{FF2B5EF4-FFF2-40B4-BE49-F238E27FC236}">
                    <a16:creationId xmlns:a16="http://schemas.microsoft.com/office/drawing/2014/main" id="{6E97AD1A-E4EE-4C70-FFC0-98D549FDC703}"/>
                  </a:ext>
                </a:extLst>
              </p:cNvPr>
              <p:cNvSpPr>
                <a:spLocks noEditPoints="1"/>
              </p:cNvSpPr>
              <p:nvPr/>
            </p:nvSpPr>
            <p:spPr bwMode="auto">
              <a:xfrm>
                <a:off x="5708956" y="3029982"/>
                <a:ext cx="396000" cy="216000"/>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5" name="Freeform 5">
                <a:extLst>
                  <a:ext uri="{FF2B5EF4-FFF2-40B4-BE49-F238E27FC236}">
                    <a16:creationId xmlns:a16="http://schemas.microsoft.com/office/drawing/2014/main" id="{315B82C5-D7B8-638D-193F-336D1D727A36}"/>
                  </a:ext>
                </a:extLst>
              </p:cNvPr>
              <p:cNvSpPr>
                <a:spLocks noEditPoints="1"/>
              </p:cNvSpPr>
              <p:nvPr/>
            </p:nvSpPr>
            <p:spPr bwMode="auto">
              <a:xfrm>
                <a:off x="5770392" y="2309253"/>
                <a:ext cx="252000" cy="252000"/>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116" name="Group 67">
                <a:extLst>
                  <a:ext uri="{FF2B5EF4-FFF2-40B4-BE49-F238E27FC236}">
                    <a16:creationId xmlns:a16="http://schemas.microsoft.com/office/drawing/2014/main" id="{4E998FA3-B375-0CE9-035F-D2C8B0D4EA30}"/>
                  </a:ext>
                </a:extLst>
              </p:cNvPr>
              <p:cNvGrpSpPr>
                <a:grpSpLocks noChangeAspect="1"/>
              </p:cNvGrpSpPr>
              <p:nvPr/>
            </p:nvGrpSpPr>
            <p:grpSpPr bwMode="auto">
              <a:xfrm>
                <a:off x="5770392" y="1711709"/>
                <a:ext cx="252000" cy="251409"/>
                <a:chOff x="1356" y="1721"/>
                <a:chExt cx="427" cy="426"/>
              </a:xfrm>
              <a:solidFill>
                <a:srgbClr val="FFFFFF"/>
              </a:solidFill>
            </p:grpSpPr>
            <p:sp>
              <p:nvSpPr>
                <p:cNvPr id="117" name="Freeform 68">
                  <a:extLst>
                    <a:ext uri="{FF2B5EF4-FFF2-40B4-BE49-F238E27FC236}">
                      <a16:creationId xmlns:a16="http://schemas.microsoft.com/office/drawing/2014/main" id="{A306CD9B-993F-A0CB-4522-B0A378C13CA2}"/>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8" name="Freeform 69">
                  <a:extLst>
                    <a:ext uri="{FF2B5EF4-FFF2-40B4-BE49-F238E27FC236}">
                      <a16:creationId xmlns:a16="http://schemas.microsoft.com/office/drawing/2014/main" id="{A8B77034-267A-990C-8062-1BF01E4524E3}"/>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9" name="Freeform 70">
                  <a:extLst>
                    <a:ext uri="{FF2B5EF4-FFF2-40B4-BE49-F238E27FC236}">
                      <a16:creationId xmlns:a16="http://schemas.microsoft.com/office/drawing/2014/main" id="{D55D630C-C5CA-66AD-36F4-B13C3EC82828}"/>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grpSp>
    </p:spTree>
    <p:extLst>
      <p:ext uri="{BB962C8B-B14F-4D97-AF65-F5344CB8AC3E}">
        <p14:creationId xmlns:p14="http://schemas.microsoft.com/office/powerpoint/2010/main" val="4287230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910F7-7FE6-7634-34DD-345330F40B87}"/>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401008BD-F1EA-1AF9-6876-B0AFE178704B}"/>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All rights reserved.</a:t>
            </a:r>
          </a:p>
        </p:txBody>
      </p:sp>
      <p:sp>
        <p:nvSpPr>
          <p:cNvPr id="65" name="Content Placeholder 34">
            <a:extLst>
              <a:ext uri="{FF2B5EF4-FFF2-40B4-BE49-F238E27FC236}">
                <a16:creationId xmlns:a16="http://schemas.microsoft.com/office/drawing/2014/main" id="{1BEE959C-49D0-E6FE-1811-CAC9B7C53BB4}"/>
              </a:ext>
            </a:extLst>
          </p:cNvPr>
          <p:cNvSpPr txBox="1">
            <a:spLocks/>
          </p:cNvSpPr>
          <p:nvPr/>
        </p:nvSpPr>
        <p:spPr>
          <a:xfrm>
            <a:off x="3240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Much more than integration.</a:t>
            </a:r>
          </a:p>
        </p:txBody>
      </p:sp>
      <p:sp>
        <p:nvSpPr>
          <p:cNvPr id="66" name="Title 1">
            <a:extLst>
              <a:ext uri="{FF2B5EF4-FFF2-40B4-BE49-F238E27FC236}">
                <a16:creationId xmlns:a16="http://schemas.microsoft.com/office/drawing/2014/main" id="{CC278DA2-8227-C511-7E32-B9A35B8851FA}"/>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Interoperable Architecture is more than an integration architecture</a:t>
            </a:r>
          </a:p>
        </p:txBody>
      </p:sp>
      <p:pic>
        <p:nvPicPr>
          <p:cNvPr id="3" name="Picture 2">
            <a:extLst>
              <a:ext uri="{FF2B5EF4-FFF2-40B4-BE49-F238E27FC236}">
                <a16:creationId xmlns:a16="http://schemas.microsoft.com/office/drawing/2014/main" id="{B8C13D21-BD95-B352-9414-52D80E33A09F}"/>
              </a:ext>
            </a:extLst>
          </p:cNvPr>
          <p:cNvPicPr>
            <a:picLocks noChangeAspect="1"/>
          </p:cNvPicPr>
          <p:nvPr/>
        </p:nvPicPr>
        <p:blipFill>
          <a:blip r:embed="rId3"/>
          <a:stretch>
            <a:fillRect/>
          </a:stretch>
        </p:blipFill>
        <p:spPr>
          <a:xfrm>
            <a:off x="252666" y="2305408"/>
            <a:ext cx="7205711" cy="4317410"/>
          </a:xfrm>
          <a:prstGeom prst="rect">
            <a:avLst/>
          </a:prstGeom>
        </p:spPr>
      </p:pic>
      <p:sp>
        <p:nvSpPr>
          <p:cNvPr id="4" name="Oval 3">
            <a:extLst>
              <a:ext uri="{FF2B5EF4-FFF2-40B4-BE49-F238E27FC236}">
                <a16:creationId xmlns:a16="http://schemas.microsoft.com/office/drawing/2014/main" id="{E71E2DA5-769D-23FF-CE88-53ADBC4D5086}"/>
              </a:ext>
            </a:extLst>
          </p:cNvPr>
          <p:cNvSpPr/>
          <p:nvPr/>
        </p:nvSpPr>
        <p:spPr>
          <a:xfrm>
            <a:off x="3277056" y="2358011"/>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400" b="1" i="0" u="none" strike="noStrike" kern="1200" cap="none" spc="0" normalizeH="0" baseline="0" noProof="0">
                <a:ln>
                  <a:noFill/>
                </a:ln>
                <a:solidFill>
                  <a:srgbClr val="FFFFFF"/>
                </a:solidFill>
                <a:effectLst/>
                <a:uLnTx/>
                <a:uFillTx/>
                <a:latin typeface="Graphik"/>
                <a:ea typeface="+mn-ea"/>
                <a:cs typeface="+mn-cs"/>
              </a:rPr>
              <a:t>1</a:t>
            </a:r>
          </a:p>
        </p:txBody>
      </p:sp>
      <p:sp>
        <p:nvSpPr>
          <p:cNvPr id="5" name="Oval 4">
            <a:extLst>
              <a:ext uri="{FF2B5EF4-FFF2-40B4-BE49-F238E27FC236}">
                <a16:creationId xmlns:a16="http://schemas.microsoft.com/office/drawing/2014/main" id="{07269EE4-0FE8-C632-BBB4-AEF5945112CB}"/>
              </a:ext>
            </a:extLst>
          </p:cNvPr>
          <p:cNvSpPr/>
          <p:nvPr/>
        </p:nvSpPr>
        <p:spPr>
          <a:xfrm>
            <a:off x="1507712" y="4302684"/>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400" b="1" i="0" u="none" strike="noStrike" kern="1200" cap="none" spc="0" normalizeH="0" baseline="0" noProof="0">
                <a:ln>
                  <a:noFill/>
                </a:ln>
                <a:solidFill>
                  <a:srgbClr val="FFFFFF"/>
                </a:solidFill>
                <a:effectLst/>
                <a:uLnTx/>
                <a:uFillTx/>
                <a:latin typeface="Graphik"/>
                <a:ea typeface="+mn-ea"/>
                <a:cs typeface="+mn-cs"/>
              </a:rPr>
              <a:t>3</a:t>
            </a:r>
          </a:p>
        </p:txBody>
      </p:sp>
      <p:sp>
        <p:nvSpPr>
          <p:cNvPr id="6" name="Oval 5">
            <a:extLst>
              <a:ext uri="{FF2B5EF4-FFF2-40B4-BE49-F238E27FC236}">
                <a16:creationId xmlns:a16="http://schemas.microsoft.com/office/drawing/2014/main" id="{5F6C1771-A6B2-283A-C740-1B74E9CD84C5}"/>
              </a:ext>
            </a:extLst>
          </p:cNvPr>
          <p:cNvSpPr/>
          <p:nvPr/>
        </p:nvSpPr>
        <p:spPr>
          <a:xfrm>
            <a:off x="3054399" y="3890086"/>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400" b="1" i="0" u="none" strike="noStrike" kern="1200" cap="none" spc="0" normalizeH="0" baseline="0" noProof="0">
                <a:ln>
                  <a:noFill/>
                </a:ln>
                <a:solidFill>
                  <a:srgbClr val="FFFFFF"/>
                </a:solidFill>
                <a:effectLst/>
                <a:uLnTx/>
                <a:uFillTx/>
                <a:latin typeface="Graphik"/>
                <a:ea typeface="+mn-ea"/>
                <a:cs typeface="+mn-cs"/>
              </a:rPr>
              <a:t>4</a:t>
            </a:r>
          </a:p>
        </p:txBody>
      </p:sp>
      <p:sp>
        <p:nvSpPr>
          <p:cNvPr id="7" name="Oval 6">
            <a:extLst>
              <a:ext uri="{FF2B5EF4-FFF2-40B4-BE49-F238E27FC236}">
                <a16:creationId xmlns:a16="http://schemas.microsoft.com/office/drawing/2014/main" id="{D7A32D64-80FA-045E-976C-80B926C95067}"/>
              </a:ext>
            </a:extLst>
          </p:cNvPr>
          <p:cNvSpPr/>
          <p:nvPr/>
        </p:nvSpPr>
        <p:spPr>
          <a:xfrm>
            <a:off x="1507712" y="3141000"/>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400" b="1" i="0" u="none" strike="noStrike" kern="1200" cap="none" spc="0" normalizeH="0" baseline="0" noProof="0">
                <a:ln>
                  <a:noFill/>
                </a:ln>
                <a:solidFill>
                  <a:srgbClr val="FFFFFF"/>
                </a:solidFill>
                <a:effectLst/>
                <a:uLnTx/>
                <a:uFillTx/>
                <a:latin typeface="Graphik"/>
                <a:ea typeface="+mn-ea"/>
                <a:cs typeface="+mn-cs"/>
              </a:rPr>
              <a:t>2</a:t>
            </a:r>
          </a:p>
        </p:txBody>
      </p:sp>
      <p:sp>
        <p:nvSpPr>
          <p:cNvPr id="8" name="Oval 7">
            <a:extLst>
              <a:ext uri="{FF2B5EF4-FFF2-40B4-BE49-F238E27FC236}">
                <a16:creationId xmlns:a16="http://schemas.microsoft.com/office/drawing/2014/main" id="{A39A17BA-80CA-D8BE-1FD3-020FF6237B44}"/>
              </a:ext>
            </a:extLst>
          </p:cNvPr>
          <p:cNvSpPr/>
          <p:nvPr/>
        </p:nvSpPr>
        <p:spPr>
          <a:xfrm>
            <a:off x="1507712" y="5464368"/>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400" b="1" i="0" u="none" strike="noStrike" kern="1200" cap="none" spc="0" normalizeH="0" baseline="0" noProof="0">
                <a:ln>
                  <a:noFill/>
                </a:ln>
                <a:solidFill>
                  <a:srgbClr val="FFFFFF"/>
                </a:solidFill>
                <a:effectLst/>
                <a:uLnTx/>
                <a:uFillTx/>
                <a:latin typeface="Graphik"/>
                <a:ea typeface="+mn-ea"/>
                <a:cs typeface="+mn-cs"/>
              </a:rPr>
              <a:t>2</a:t>
            </a:r>
          </a:p>
        </p:txBody>
      </p:sp>
      <p:sp>
        <p:nvSpPr>
          <p:cNvPr id="9" name="Oval 8">
            <a:extLst>
              <a:ext uri="{FF2B5EF4-FFF2-40B4-BE49-F238E27FC236}">
                <a16:creationId xmlns:a16="http://schemas.microsoft.com/office/drawing/2014/main" id="{F63A9619-4500-F90B-EBBA-C19D8549D665}"/>
              </a:ext>
            </a:extLst>
          </p:cNvPr>
          <p:cNvSpPr/>
          <p:nvPr/>
        </p:nvSpPr>
        <p:spPr>
          <a:xfrm>
            <a:off x="6414244" y="3522862"/>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400" b="1" i="0" u="none" strike="noStrike" kern="1200" cap="none" spc="0" normalizeH="0" baseline="0" noProof="0">
                <a:ln>
                  <a:noFill/>
                </a:ln>
                <a:solidFill>
                  <a:srgbClr val="FFFFFF"/>
                </a:solidFill>
                <a:effectLst/>
                <a:uLnTx/>
                <a:uFillTx/>
                <a:latin typeface="Graphik"/>
                <a:ea typeface="+mn-ea"/>
                <a:cs typeface="+mn-cs"/>
              </a:rPr>
              <a:t>2</a:t>
            </a:r>
          </a:p>
        </p:txBody>
      </p:sp>
      <p:sp>
        <p:nvSpPr>
          <p:cNvPr id="36" name="TextBox 35">
            <a:extLst>
              <a:ext uri="{FF2B5EF4-FFF2-40B4-BE49-F238E27FC236}">
                <a16:creationId xmlns:a16="http://schemas.microsoft.com/office/drawing/2014/main" id="{2D8EEAFC-6304-DD3B-2B29-9D9B88EF56D7}"/>
              </a:ext>
            </a:extLst>
          </p:cNvPr>
          <p:cNvSpPr txBox="1"/>
          <p:nvPr/>
        </p:nvSpPr>
        <p:spPr>
          <a:xfrm>
            <a:off x="376715" y="963175"/>
            <a:ext cx="8532227" cy="1354217"/>
          </a:xfrm>
          <a:prstGeom prst="rect">
            <a:avLst/>
          </a:prstGeom>
          <a:noFill/>
        </p:spPr>
        <p:txBody>
          <a:bodyPr wrap="square" lIns="0">
            <a:spAutoFit/>
          </a:bodyPr>
          <a:lstStyle/>
          <a:p>
            <a:pPr marL="177800" marR="0" lvl="0" indent="-177800" algn="just"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Graphik Light" panose="020B0403030202060203" pitchFamily="34" charset="77"/>
                <a:ea typeface="+mn-ea"/>
                <a:cs typeface="+mn-cs"/>
              </a:rPr>
              <a:t>Interoperable architecture is made across different layers</a:t>
            </a:r>
          </a:p>
          <a:p>
            <a:pPr marL="177800" marR="0" lvl="0" indent="-177800" algn="just"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Graphik Light" panose="020B0403030202060203" pitchFamily="34" charset="77"/>
                <a:ea typeface="+mn-ea"/>
                <a:cs typeface="+mn-cs"/>
              </a:rPr>
              <a:t>Covers customer engagement through integration and ending with business services and orchestration with different processors (enabling coexistence) and legacy systems</a:t>
            </a:r>
          </a:p>
          <a:p>
            <a:pPr marL="177800" marR="0" lvl="0" indent="-177800" algn="just"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Graphik Light" panose="020B0403030202060203" pitchFamily="34" charset="77"/>
                <a:ea typeface="+mn-ea"/>
                <a:cs typeface="+mn-cs"/>
              </a:rPr>
              <a:t>Disaggregates old applications into capabilities and domains making them independent of each other, simplifying the logic </a:t>
            </a:r>
          </a:p>
          <a:p>
            <a:pPr marL="177800" marR="0" lvl="0" indent="-177800" algn="just"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Graphik Light" panose="020B0403030202060203" pitchFamily="34" charset="77"/>
                <a:ea typeface="+mn-ea"/>
                <a:cs typeface="+mn-cs"/>
              </a:rPr>
              <a:t>Maximizes open source to decouple from vendor lock-in</a:t>
            </a:r>
          </a:p>
        </p:txBody>
      </p:sp>
      <p:pic>
        <p:nvPicPr>
          <p:cNvPr id="37" name="Picture 36">
            <a:extLst>
              <a:ext uri="{FF2B5EF4-FFF2-40B4-BE49-F238E27FC236}">
                <a16:creationId xmlns:a16="http://schemas.microsoft.com/office/drawing/2014/main" id="{D054769B-F4B7-B48A-F539-B155373AD680}"/>
              </a:ext>
            </a:extLst>
          </p:cNvPr>
          <p:cNvPicPr>
            <a:picLocks noChangeAspect="1"/>
          </p:cNvPicPr>
          <p:nvPr/>
        </p:nvPicPr>
        <p:blipFill>
          <a:blip r:embed="rId4"/>
          <a:stretch>
            <a:fillRect/>
          </a:stretch>
        </p:blipFill>
        <p:spPr>
          <a:xfrm>
            <a:off x="8972879" y="960613"/>
            <a:ext cx="2838121" cy="2071264"/>
          </a:xfrm>
          <a:prstGeom prst="rect">
            <a:avLst/>
          </a:prstGeom>
        </p:spPr>
      </p:pic>
      <p:sp>
        <p:nvSpPr>
          <p:cNvPr id="38" name="TextBox 37">
            <a:extLst>
              <a:ext uri="{FF2B5EF4-FFF2-40B4-BE49-F238E27FC236}">
                <a16:creationId xmlns:a16="http://schemas.microsoft.com/office/drawing/2014/main" id="{4A7E2CCD-95A1-8C32-B869-4A688076ECB9}"/>
              </a:ext>
            </a:extLst>
          </p:cNvPr>
          <p:cNvSpPr txBox="1"/>
          <p:nvPr/>
        </p:nvSpPr>
        <p:spPr>
          <a:xfrm>
            <a:off x="7493790" y="3280489"/>
            <a:ext cx="4590352" cy="3088025"/>
          </a:xfrm>
          <a:prstGeom prst="rect">
            <a:avLst/>
          </a:prstGeom>
          <a:noFill/>
        </p:spPr>
        <p:txBody>
          <a:bodyPr wrap="square">
            <a:spAutoFit/>
          </a:bodyPr>
          <a:lstStyle/>
          <a:p>
            <a:pPr marL="342900" marR="0" lvl="0" indent="-254000" algn="l" defTabSz="914400" rtl="0" eaLnBrk="1" fontAlgn="auto" latinLnBrk="0" hangingPunct="1">
              <a:lnSpc>
                <a:spcPct val="100000"/>
              </a:lnSpc>
              <a:spcBef>
                <a:spcPts val="200"/>
              </a:spcBef>
              <a:spcAft>
                <a:spcPts val="600"/>
              </a:spcAft>
              <a:buClr>
                <a:srgbClr val="7500C0">
                  <a:lumMod val="60000"/>
                  <a:lumOff val="40000"/>
                </a:srgbClr>
              </a:buClr>
              <a:buSzTx/>
              <a:buFont typeface="+mj-lt"/>
              <a:buAutoNum type="arabicPeriod"/>
              <a:tabLst/>
              <a:defRPr/>
            </a:pPr>
            <a:r>
              <a:rPr kumimoji="0" lang="en-US" sz="1200" b="0" i="0" u="none" strike="noStrike" kern="1200" cap="none" spc="0" normalizeH="0" baseline="0" noProof="0">
                <a:ln>
                  <a:noFill/>
                </a:ln>
                <a:solidFill>
                  <a:srgbClr val="000000"/>
                </a:solidFill>
                <a:effectLst/>
                <a:uLnTx/>
                <a:uFillTx/>
                <a:latin typeface="Graphik Light" panose="020B0403030202060203" pitchFamily="34" charset="77"/>
                <a:ea typeface="+mn-ea"/>
                <a:cs typeface="+mn-cs"/>
              </a:rPr>
              <a:t>Micro frontends that can be integrated into standalone feature composition or part of a single or multi</a:t>
            </a:r>
            <a:r>
              <a:rPr kumimoji="0" lang="pl-PL" sz="1200" b="0" i="0" u="none" strike="noStrike" kern="1200" cap="none" spc="0" normalizeH="0" baseline="0" noProof="0">
                <a:ln>
                  <a:noFill/>
                </a:ln>
                <a:solidFill>
                  <a:srgbClr val="000000"/>
                </a:solidFill>
                <a:effectLst/>
                <a:uLnTx/>
                <a:uFillTx/>
                <a:latin typeface="Graphik Light" panose="020B0403030202060203" pitchFamily="34" charset="77"/>
                <a:ea typeface="+mn-ea"/>
                <a:cs typeface="+mn-cs"/>
              </a:rPr>
              <a:t>-</a:t>
            </a:r>
            <a:r>
              <a:rPr kumimoji="0" lang="en-US" sz="1200" b="0" i="0" u="none" strike="noStrike" kern="1200" cap="none" spc="0" normalizeH="0" baseline="0" noProof="0">
                <a:ln>
                  <a:noFill/>
                </a:ln>
                <a:solidFill>
                  <a:srgbClr val="000000"/>
                </a:solidFill>
                <a:effectLst/>
                <a:uLnTx/>
                <a:uFillTx/>
                <a:latin typeface="Graphik Light" panose="020B0403030202060203" pitchFamily="34" charset="77"/>
                <a:ea typeface="+mn-ea"/>
                <a:cs typeface="+mn-cs"/>
              </a:rPr>
              <a:t>channel process</a:t>
            </a:r>
          </a:p>
          <a:p>
            <a:pPr marL="342900" marR="0" lvl="0" indent="-254000" algn="l" defTabSz="914400" rtl="0" eaLnBrk="1" fontAlgn="auto" latinLnBrk="0" hangingPunct="1">
              <a:lnSpc>
                <a:spcPct val="100000"/>
              </a:lnSpc>
              <a:spcBef>
                <a:spcPts val="200"/>
              </a:spcBef>
              <a:spcAft>
                <a:spcPts val="600"/>
              </a:spcAft>
              <a:buClr>
                <a:srgbClr val="7500C0">
                  <a:lumMod val="60000"/>
                  <a:lumOff val="40000"/>
                </a:srgbClr>
              </a:buClr>
              <a:buSzTx/>
              <a:buFont typeface="+mj-lt"/>
              <a:buAutoNum type="arabicPeriod"/>
              <a:tabLst/>
              <a:defRPr/>
            </a:pPr>
            <a:r>
              <a:rPr kumimoji="0" lang="en-US" sz="1200" b="0" i="0" u="none" strike="noStrike" kern="1200" cap="none" spc="0" normalizeH="0" baseline="0" noProof="0">
                <a:ln>
                  <a:noFill/>
                </a:ln>
                <a:solidFill>
                  <a:srgbClr val="000000"/>
                </a:solidFill>
                <a:effectLst/>
                <a:uLnTx/>
                <a:uFillTx/>
                <a:latin typeface="Graphik Light" panose="020B0403030202060203" pitchFamily="34" charset="77"/>
                <a:ea typeface="+mn-ea"/>
                <a:cs typeface="+mn-cs"/>
              </a:rPr>
              <a:t>Integration and decoupling to isolate complexity and </a:t>
            </a:r>
            <a:r>
              <a:rPr kumimoji="0" lang="en-US" sz="1200" b="0" i="0" u="none" strike="noStrike" kern="1200" cap="none" spc="0" normalizeH="0" baseline="0" noProof="0" err="1">
                <a:ln>
                  <a:noFill/>
                </a:ln>
                <a:solidFill>
                  <a:srgbClr val="000000"/>
                </a:solidFill>
                <a:effectLst/>
                <a:uLnTx/>
                <a:uFillTx/>
                <a:latin typeface="Graphik Light" panose="020B0403030202060203" pitchFamily="34" charset="77"/>
                <a:ea typeface="+mn-ea"/>
                <a:cs typeface="+mn-cs"/>
              </a:rPr>
              <a:t>enabl</a:t>
            </a:r>
            <a:r>
              <a:rPr kumimoji="0" lang="pl-PL" sz="1200" b="0" i="0" u="none" strike="noStrike" kern="1200" cap="none" spc="0" normalizeH="0" baseline="0" noProof="0">
                <a:ln>
                  <a:noFill/>
                </a:ln>
                <a:solidFill>
                  <a:srgbClr val="000000"/>
                </a:solidFill>
                <a:effectLst/>
                <a:uLnTx/>
                <a:uFillTx/>
                <a:latin typeface="Graphik Light" panose="020B0403030202060203" pitchFamily="34" charset="77"/>
                <a:ea typeface="+mn-ea"/>
                <a:cs typeface="+mn-cs"/>
              </a:rPr>
              <a:t>e</a:t>
            </a:r>
            <a:r>
              <a:rPr kumimoji="0" lang="en-US" sz="1200" b="0" i="0" u="none" strike="noStrike" kern="1200" cap="none" spc="0" normalizeH="0" baseline="0" noProof="0">
                <a:ln>
                  <a:noFill/>
                </a:ln>
                <a:solidFill>
                  <a:srgbClr val="000000"/>
                </a:solidFill>
                <a:effectLst/>
                <a:uLnTx/>
                <a:uFillTx/>
                <a:latin typeface="Graphik Light" panose="020B0403030202060203" pitchFamily="34" charset="77"/>
                <a:ea typeface="+mn-ea"/>
                <a:cs typeface="+mn-cs"/>
              </a:rPr>
              <a:t> consistency and compatibility across different platforms while securing data flows   </a:t>
            </a:r>
          </a:p>
          <a:p>
            <a:pPr marL="342900" marR="0" lvl="0" indent="-254000" algn="l" defTabSz="914400" rtl="0" eaLnBrk="1" fontAlgn="auto" latinLnBrk="0" hangingPunct="1">
              <a:lnSpc>
                <a:spcPct val="100000"/>
              </a:lnSpc>
              <a:spcBef>
                <a:spcPts val="200"/>
              </a:spcBef>
              <a:spcAft>
                <a:spcPts val="600"/>
              </a:spcAft>
              <a:buClr>
                <a:srgbClr val="7500C0">
                  <a:lumMod val="60000"/>
                  <a:lumOff val="40000"/>
                </a:srgbClr>
              </a:buClr>
              <a:buSzTx/>
              <a:buFont typeface="+mj-lt"/>
              <a:buAutoNum type="arabicPeriod"/>
              <a:tabLst/>
              <a:defRPr/>
            </a:pPr>
            <a:r>
              <a:rPr kumimoji="0" lang="en-US" sz="1200" b="0" i="0" u="none" strike="noStrike" kern="1200" cap="none" spc="0" normalizeH="0" baseline="0" noProof="0">
                <a:ln>
                  <a:noFill/>
                </a:ln>
                <a:solidFill>
                  <a:srgbClr val="000000"/>
                </a:solidFill>
                <a:effectLst/>
                <a:uLnTx/>
                <a:uFillTx/>
                <a:latin typeface="Graphik Light" panose="020B0403030202060203" pitchFamily="34" charset="77"/>
                <a:ea typeface="+mn-ea"/>
                <a:cs typeface="+mn-cs"/>
              </a:rPr>
              <a:t>Choreography or event manager allowing each component to independently support a business operation depending on a central orchestrator</a:t>
            </a:r>
          </a:p>
          <a:p>
            <a:pPr marL="342900" marR="0" lvl="0" indent="-254000" algn="l" defTabSz="914400" rtl="0" eaLnBrk="1" fontAlgn="auto" latinLnBrk="0" hangingPunct="1">
              <a:lnSpc>
                <a:spcPct val="100000"/>
              </a:lnSpc>
              <a:spcBef>
                <a:spcPts val="200"/>
              </a:spcBef>
              <a:spcAft>
                <a:spcPts val="600"/>
              </a:spcAft>
              <a:buClr>
                <a:srgbClr val="7500C0">
                  <a:lumMod val="60000"/>
                  <a:lumOff val="40000"/>
                </a:srgbClr>
              </a:buClr>
              <a:buSzTx/>
              <a:buFont typeface="+mj-lt"/>
              <a:buAutoNum type="arabicPeriod"/>
              <a:tabLst/>
              <a:defRPr/>
            </a:pPr>
            <a:r>
              <a:rPr kumimoji="0" lang="en-US" sz="1200" b="0" i="0" u="none" strike="noStrike" kern="1200" cap="none" spc="0" normalizeH="0" baseline="0" noProof="0">
                <a:ln>
                  <a:noFill/>
                </a:ln>
                <a:solidFill>
                  <a:srgbClr val="000000"/>
                </a:solidFill>
                <a:effectLst/>
                <a:uLnTx/>
                <a:uFillTx/>
                <a:latin typeface="Graphik Light" panose="020B0403030202060203" pitchFamily="34" charset="77"/>
                <a:ea typeface="+mn-ea"/>
                <a:cs typeface="+mn-cs"/>
              </a:rPr>
              <a:t>Microservices aligned to business capabilities providing with granular features under standard data structures following BIAN standards.</a:t>
            </a:r>
          </a:p>
          <a:p>
            <a:pPr marL="342900" marR="0" lvl="0" indent="-254000" algn="l" defTabSz="914400" rtl="0" eaLnBrk="1" fontAlgn="auto" latinLnBrk="0" hangingPunct="1">
              <a:lnSpc>
                <a:spcPct val="100000"/>
              </a:lnSpc>
              <a:spcBef>
                <a:spcPts val="200"/>
              </a:spcBef>
              <a:spcAft>
                <a:spcPts val="600"/>
              </a:spcAft>
              <a:buClr>
                <a:srgbClr val="7500C0">
                  <a:lumMod val="60000"/>
                  <a:lumOff val="40000"/>
                </a:srgbClr>
              </a:buClr>
              <a:buSzTx/>
              <a:buFont typeface="+mj-lt"/>
              <a:buAutoNum type="arabicPeriod"/>
              <a:tabLst/>
              <a:defRPr/>
            </a:pPr>
            <a:r>
              <a:rPr kumimoji="0" lang="en-US" sz="1200" b="0" i="0" u="none" strike="noStrike" kern="1200" cap="none" spc="0" normalizeH="0" baseline="0" noProof="0">
                <a:ln>
                  <a:noFill/>
                </a:ln>
                <a:solidFill>
                  <a:srgbClr val="000000"/>
                </a:solidFill>
                <a:effectLst/>
                <a:uLnTx/>
                <a:uFillTx/>
                <a:latin typeface="Graphik Light" panose="020B0403030202060203" pitchFamily="34" charset="77"/>
                <a:ea typeface="+mn-ea"/>
                <a:cs typeface="+mn-cs"/>
              </a:rPr>
              <a:t>Coexistence and integration capabilities enabling to cross common services and function </a:t>
            </a:r>
          </a:p>
        </p:txBody>
      </p:sp>
      <p:sp>
        <p:nvSpPr>
          <p:cNvPr id="39" name="Oval 38">
            <a:extLst>
              <a:ext uri="{FF2B5EF4-FFF2-40B4-BE49-F238E27FC236}">
                <a16:creationId xmlns:a16="http://schemas.microsoft.com/office/drawing/2014/main" id="{97E780E6-08DE-C74C-2D70-C6E192BB9811}"/>
              </a:ext>
            </a:extLst>
          </p:cNvPr>
          <p:cNvSpPr/>
          <p:nvPr/>
        </p:nvSpPr>
        <p:spPr>
          <a:xfrm>
            <a:off x="4937280" y="3953996"/>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400" b="1" i="0" u="none" strike="noStrike" kern="1200" cap="none" spc="0" normalizeH="0" baseline="0" noProof="0">
                <a:ln>
                  <a:noFill/>
                </a:ln>
                <a:solidFill>
                  <a:srgbClr val="FFFFFF"/>
                </a:solidFill>
                <a:effectLst/>
                <a:uLnTx/>
                <a:uFillTx/>
                <a:latin typeface="Graphik"/>
                <a:ea typeface="+mn-ea"/>
                <a:cs typeface="+mn-cs"/>
              </a:rPr>
              <a:t>5</a:t>
            </a:r>
          </a:p>
        </p:txBody>
      </p:sp>
    </p:spTree>
    <p:extLst>
      <p:ext uri="{BB962C8B-B14F-4D97-AF65-F5344CB8AC3E}">
        <p14:creationId xmlns:p14="http://schemas.microsoft.com/office/powerpoint/2010/main" val="655068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FCE66-F1F1-A549-24D2-06E451C7EAF7}"/>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6CC9D78B-D072-6303-55B5-FFC390E27666}"/>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All rights reserved.</a:t>
            </a:r>
          </a:p>
        </p:txBody>
      </p:sp>
      <p:sp>
        <p:nvSpPr>
          <p:cNvPr id="65" name="Content Placeholder 34">
            <a:extLst>
              <a:ext uri="{FF2B5EF4-FFF2-40B4-BE49-F238E27FC236}">
                <a16:creationId xmlns:a16="http://schemas.microsoft.com/office/drawing/2014/main" id="{D38959B3-9BFF-098B-0B50-391D968B630C}"/>
              </a:ext>
            </a:extLst>
          </p:cNvPr>
          <p:cNvSpPr txBox="1">
            <a:spLocks/>
          </p:cNvSpPr>
          <p:nvPr/>
        </p:nvSpPr>
        <p:spPr>
          <a:xfrm>
            <a:off x="3240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7500C0"/>
                </a:solidFill>
                <a:effectLst/>
                <a:uLnTx/>
                <a:uFillTx/>
                <a:latin typeface="Graphik" panose="020B0503030202060203" pitchFamily="34" charset="0"/>
                <a:ea typeface="+mn-ea"/>
                <a:cs typeface="+mn-cs"/>
              </a:rPr>
              <a:t>Tech. Architecture Modernization</a:t>
            </a:r>
          </a:p>
        </p:txBody>
      </p:sp>
      <p:sp>
        <p:nvSpPr>
          <p:cNvPr id="66" name="Title 1">
            <a:extLst>
              <a:ext uri="{FF2B5EF4-FFF2-40B4-BE49-F238E27FC236}">
                <a16:creationId xmlns:a16="http://schemas.microsoft.com/office/drawing/2014/main" id="{6A35B2DE-33EC-3244-1B15-1AEE43548AB7}"/>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Legacy modernization and bank of the future</a:t>
            </a:r>
          </a:p>
        </p:txBody>
      </p:sp>
      <p:pic>
        <p:nvPicPr>
          <p:cNvPr id="10" name="Picture 9">
            <a:extLst>
              <a:ext uri="{FF2B5EF4-FFF2-40B4-BE49-F238E27FC236}">
                <a16:creationId xmlns:a16="http://schemas.microsoft.com/office/drawing/2014/main" id="{A05F7DC3-770D-8C02-C4D4-FAAF50847E75}"/>
              </a:ext>
            </a:extLst>
          </p:cNvPr>
          <p:cNvPicPr>
            <a:picLocks noChangeAspect="1"/>
          </p:cNvPicPr>
          <p:nvPr/>
        </p:nvPicPr>
        <p:blipFill>
          <a:blip r:embed="rId2"/>
          <a:stretch>
            <a:fillRect/>
          </a:stretch>
        </p:blipFill>
        <p:spPr>
          <a:xfrm>
            <a:off x="3223301" y="2829617"/>
            <a:ext cx="5537703" cy="2685998"/>
          </a:xfrm>
          <a:prstGeom prst="rect">
            <a:avLst/>
          </a:prstGeom>
        </p:spPr>
      </p:pic>
      <p:sp>
        <p:nvSpPr>
          <p:cNvPr id="11" name="Text Placeholder 28">
            <a:extLst>
              <a:ext uri="{FF2B5EF4-FFF2-40B4-BE49-F238E27FC236}">
                <a16:creationId xmlns:a16="http://schemas.microsoft.com/office/drawing/2014/main" id="{83935CCD-A91B-4E1F-A307-87D5DE320DCC}"/>
              </a:ext>
            </a:extLst>
          </p:cNvPr>
          <p:cNvSpPr txBox="1">
            <a:spLocks/>
          </p:cNvSpPr>
          <p:nvPr/>
        </p:nvSpPr>
        <p:spPr>
          <a:xfrm>
            <a:off x="381000" y="1019207"/>
            <a:ext cx="11430000" cy="1400383"/>
          </a:xfrm>
          <a:prstGeom prst="rect">
            <a:avLst/>
          </a:prstGeom>
        </p:spPr>
        <p:txBody>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228600" marR="0" lvl="0" indent="-228600" algn="l" defTabSz="228600" rtl="0" eaLnBrk="1" fontAlgn="auto" latinLnBrk="0" hangingPunct="1">
              <a:lnSpc>
                <a:spcPct val="100000"/>
              </a:lnSpc>
              <a:spcBef>
                <a:spcPts val="0"/>
              </a:spcBef>
              <a:spcAft>
                <a:spcPts val="600"/>
              </a:spcAft>
              <a:buClrTx/>
              <a:buSzTx/>
              <a:buFont typeface="Graphik"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Graphik"/>
                <a:ea typeface="+mn-ea"/>
                <a:cs typeface="+mn-cs"/>
              </a:rPr>
              <a:t>Decoupling from legacy systems and enabled integration are key to interoperability:</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Graphik"/>
                <a:ea typeface="+mn-ea"/>
                <a:cs typeface="+mn-cs"/>
              </a:rPr>
              <a:t>Architecture shall be loosely coupled to support the mapping of different business capabilities to business processes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Graphik"/>
                <a:ea typeface="+mn-ea"/>
                <a:cs typeface="+mn-cs"/>
              </a:rPr>
              <a:t>Decoupling principle enables isolation of integrations across major components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Graphik"/>
                <a:ea typeface="+mn-ea"/>
                <a:cs typeface="+mn-cs"/>
              </a:rPr>
              <a:t>Online integrations are managed across two types of integrations: REST API’s and Events which are published in the different registries enabled by the architecture. Any online integration shall be done via the above-mentioned mechanisms</a:t>
            </a:r>
          </a:p>
        </p:txBody>
      </p:sp>
      <p:grpSp>
        <p:nvGrpSpPr>
          <p:cNvPr id="12" name="Group 11">
            <a:extLst>
              <a:ext uri="{FF2B5EF4-FFF2-40B4-BE49-F238E27FC236}">
                <a16:creationId xmlns:a16="http://schemas.microsoft.com/office/drawing/2014/main" id="{673DE77F-1309-F625-6631-54D69B5CAD8D}"/>
              </a:ext>
            </a:extLst>
          </p:cNvPr>
          <p:cNvGrpSpPr/>
          <p:nvPr/>
        </p:nvGrpSpPr>
        <p:grpSpPr>
          <a:xfrm>
            <a:off x="4162088" y="2786743"/>
            <a:ext cx="3989030" cy="2239919"/>
            <a:chOff x="3767729" y="3238849"/>
            <a:chExt cx="3991321" cy="2241202"/>
          </a:xfrm>
        </p:grpSpPr>
        <p:sp>
          <p:nvSpPr>
            <p:cNvPr id="13" name="Oval 12">
              <a:extLst>
                <a:ext uri="{FF2B5EF4-FFF2-40B4-BE49-F238E27FC236}">
                  <a16:creationId xmlns:a16="http://schemas.microsoft.com/office/drawing/2014/main" id="{B5106C1A-4B91-D8AC-9801-12CD8EAB170A}"/>
                </a:ext>
              </a:extLst>
            </p:cNvPr>
            <p:cNvSpPr/>
            <p:nvPr/>
          </p:nvSpPr>
          <p:spPr>
            <a:xfrm>
              <a:off x="3867420" y="3238849"/>
              <a:ext cx="288000" cy="288000"/>
            </a:xfrm>
            <a:prstGeom prst="ellipse">
              <a:avLst/>
            </a:prstGeom>
            <a:solidFill>
              <a:schemeClr val="accent3">
                <a:lumMod val="60000"/>
                <a:lumOff val="4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854" rtl="0" eaLnBrk="1" fontAlgn="auto" latinLnBrk="0" hangingPunct="1">
                <a:lnSpc>
                  <a:spcPct val="100000"/>
                </a:lnSpc>
                <a:spcBef>
                  <a:spcPts val="0"/>
                </a:spcBef>
                <a:spcAft>
                  <a:spcPts val="0"/>
                </a:spcAft>
                <a:buClrTx/>
                <a:buSzTx/>
                <a:buFontTx/>
                <a:buNone/>
                <a:tabLst/>
                <a:defRPr/>
              </a:pPr>
              <a:r>
                <a:rPr kumimoji="0" lang="en-US" sz="1399" b="1" i="0" u="none" strike="noStrike" kern="1200" cap="none" spc="0" normalizeH="0" baseline="0" noProof="0">
                  <a:ln>
                    <a:noFill/>
                  </a:ln>
                  <a:solidFill>
                    <a:srgbClr val="FFFFFF"/>
                  </a:solidFill>
                  <a:effectLst/>
                  <a:uLnTx/>
                  <a:uFillTx/>
                  <a:latin typeface="Graphik"/>
                  <a:ea typeface="+mn-ea"/>
                  <a:cs typeface="+mn-cs"/>
                </a:rPr>
                <a:t>A</a:t>
              </a:r>
            </a:p>
          </p:txBody>
        </p:sp>
        <p:sp>
          <p:nvSpPr>
            <p:cNvPr id="14" name="Oval 13">
              <a:extLst>
                <a:ext uri="{FF2B5EF4-FFF2-40B4-BE49-F238E27FC236}">
                  <a16:creationId xmlns:a16="http://schemas.microsoft.com/office/drawing/2014/main" id="{71300FE1-FF13-F123-6C12-577A14F486BF}"/>
                </a:ext>
              </a:extLst>
            </p:cNvPr>
            <p:cNvSpPr/>
            <p:nvPr/>
          </p:nvSpPr>
          <p:spPr>
            <a:xfrm>
              <a:off x="3872032" y="3610597"/>
              <a:ext cx="288000" cy="288000"/>
            </a:xfrm>
            <a:prstGeom prst="ellipse">
              <a:avLst/>
            </a:prstGeom>
            <a:solidFill>
              <a:schemeClr val="accent3">
                <a:lumMod val="60000"/>
                <a:lumOff val="4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854" rtl="0" eaLnBrk="1" fontAlgn="auto" latinLnBrk="0" hangingPunct="1">
                <a:lnSpc>
                  <a:spcPct val="100000"/>
                </a:lnSpc>
                <a:spcBef>
                  <a:spcPts val="0"/>
                </a:spcBef>
                <a:spcAft>
                  <a:spcPts val="0"/>
                </a:spcAft>
                <a:buClrTx/>
                <a:buSzTx/>
                <a:buFontTx/>
                <a:buNone/>
                <a:tabLst/>
                <a:defRPr/>
              </a:pPr>
              <a:r>
                <a:rPr kumimoji="0" lang="en-US" sz="1399" b="1" i="0" u="none" strike="noStrike" kern="1200" cap="none" spc="0" normalizeH="0" baseline="0" noProof="0">
                  <a:ln>
                    <a:noFill/>
                  </a:ln>
                  <a:solidFill>
                    <a:srgbClr val="FFFFFF"/>
                  </a:solidFill>
                  <a:effectLst/>
                  <a:uLnTx/>
                  <a:uFillTx/>
                  <a:latin typeface="Graphik"/>
                  <a:ea typeface="+mn-ea"/>
                  <a:cs typeface="+mn-cs"/>
                </a:rPr>
                <a:t>B</a:t>
              </a:r>
            </a:p>
          </p:txBody>
        </p:sp>
        <p:sp>
          <p:nvSpPr>
            <p:cNvPr id="17" name="Oval 16">
              <a:extLst>
                <a:ext uri="{FF2B5EF4-FFF2-40B4-BE49-F238E27FC236}">
                  <a16:creationId xmlns:a16="http://schemas.microsoft.com/office/drawing/2014/main" id="{51F0E1E2-ED5D-1983-B6EA-9C9A30FF584C}"/>
                </a:ext>
              </a:extLst>
            </p:cNvPr>
            <p:cNvSpPr/>
            <p:nvPr/>
          </p:nvSpPr>
          <p:spPr>
            <a:xfrm>
              <a:off x="6698669" y="3610597"/>
              <a:ext cx="288000" cy="288000"/>
            </a:xfrm>
            <a:prstGeom prst="ellipse">
              <a:avLst/>
            </a:prstGeom>
            <a:solidFill>
              <a:schemeClr val="accent3">
                <a:lumMod val="60000"/>
                <a:lumOff val="4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854" rtl="0" eaLnBrk="1" fontAlgn="auto" latinLnBrk="0" hangingPunct="1">
                <a:lnSpc>
                  <a:spcPct val="100000"/>
                </a:lnSpc>
                <a:spcBef>
                  <a:spcPts val="0"/>
                </a:spcBef>
                <a:spcAft>
                  <a:spcPts val="0"/>
                </a:spcAft>
                <a:buClrTx/>
                <a:buSzTx/>
                <a:buFontTx/>
                <a:buNone/>
                <a:tabLst/>
                <a:defRPr/>
              </a:pPr>
              <a:r>
                <a:rPr kumimoji="0" lang="en-US" sz="1399" b="1" i="0" u="none" strike="noStrike" kern="1200" cap="none" spc="0" normalizeH="0" baseline="0" noProof="0">
                  <a:ln>
                    <a:noFill/>
                  </a:ln>
                  <a:solidFill>
                    <a:srgbClr val="FFFFFF"/>
                  </a:solidFill>
                  <a:effectLst/>
                  <a:uLnTx/>
                  <a:uFillTx/>
                  <a:latin typeface="Graphik"/>
                  <a:ea typeface="+mn-ea"/>
                  <a:cs typeface="+mn-cs"/>
                </a:rPr>
                <a:t>C</a:t>
              </a:r>
            </a:p>
          </p:txBody>
        </p:sp>
        <p:sp>
          <p:nvSpPr>
            <p:cNvPr id="18" name="Oval 17">
              <a:extLst>
                <a:ext uri="{FF2B5EF4-FFF2-40B4-BE49-F238E27FC236}">
                  <a16:creationId xmlns:a16="http://schemas.microsoft.com/office/drawing/2014/main" id="{35BC0225-DA38-2A8B-324E-3E8CCE2E5EEE}"/>
                </a:ext>
              </a:extLst>
            </p:cNvPr>
            <p:cNvSpPr/>
            <p:nvPr/>
          </p:nvSpPr>
          <p:spPr>
            <a:xfrm>
              <a:off x="7471050" y="3815364"/>
              <a:ext cx="288000" cy="288000"/>
            </a:xfrm>
            <a:prstGeom prst="ellipse">
              <a:avLst/>
            </a:prstGeom>
            <a:solidFill>
              <a:schemeClr val="accent3">
                <a:lumMod val="60000"/>
                <a:lumOff val="4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854" rtl="0" eaLnBrk="1" fontAlgn="auto" latinLnBrk="0" hangingPunct="1">
                <a:lnSpc>
                  <a:spcPct val="100000"/>
                </a:lnSpc>
                <a:spcBef>
                  <a:spcPts val="0"/>
                </a:spcBef>
                <a:spcAft>
                  <a:spcPts val="0"/>
                </a:spcAft>
                <a:buClrTx/>
                <a:buSzTx/>
                <a:buFontTx/>
                <a:buNone/>
                <a:tabLst/>
                <a:defRPr/>
              </a:pPr>
              <a:r>
                <a:rPr kumimoji="0" lang="en-US" sz="1399" b="1" i="0" u="none" strike="noStrike" kern="1200" cap="none" spc="0" normalizeH="0" baseline="0" noProof="0">
                  <a:ln>
                    <a:noFill/>
                  </a:ln>
                  <a:solidFill>
                    <a:srgbClr val="FFFFFF"/>
                  </a:solidFill>
                  <a:effectLst/>
                  <a:uLnTx/>
                  <a:uFillTx/>
                  <a:latin typeface="Graphik"/>
                  <a:ea typeface="+mn-ea"/>
                  <a:cs typeface="+mn-cs"/>
                </a:rPr>
                <a:t>D</a:t>
              </a:r>
            </a:p>
          </p:txBody>
        </p:sp>
        <p:sp>
          <p:nvSpPr>
            <p:cNvPr id="19" name="Oval 18">
              <a:extLst>
                <a:ext uri="{FF2B5EF4-FFF2-40B4-BE49-F238E27FC236}">
                  <a16:creationId xmlns:a16="http://schemas.microsoft.com/office/drawing/2014/main" id="{EE1AB38C-2C55-57C2-A99E-2FBECA21EEB8}"/>
                </a:ext>
              </a:extLst>
            </p:cNvPr>
            <p:cNvSpPr/>
            <p:nvPr/>
          </p:nvSpPr>
          <p:spPr>
            <a:xfrm>
              <a:off x="3767729" y="5192051"/>
              <a:ext cx="288000" cy="288000"/>
            </a:xfrm>
            <a:prstGeom prst="ellipse">
              <a:avLst/>
            </a:prstGeom>
            <a:solidFill>
              <a:schemeClr val="accent3">
                <a:lumMod val="60000"/>
                <a:lumOff val="4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854" rtl="0" eaLnBrk="1" fontAlgn="auto" latinLnBrk="0" hangingPunct="1">
                <a:lnSpc>
                  <a:spcPct val="100000"/>
                </a:lnSpc>
                <a:spcBef>
                  <a:spcPts val="0"/>
                </a:spcBef>
                <a:spcAft>
                  <a:spcPts val="0"/>
                </a:spcAft>
                <a:buClrTx/>
                <a:buSzTx/>
                <a:buFontTx/>
                <a:buNone/>
                <a:tabLst/>
                <a:defRPr/>
              </a:pPr>
              <a:r>
                <a:rPr kumimoji="0" lang="en-US" sz="1399" b="1" i="0" u="none" strike="noStrike" kern="1200" cap="none" spc="0" normalizeH="0" baseline="0" noProof="0">
                  <a:ln>
                    <a:noFill/>
                  </a:ln>
                  <a:solidFill>
                    <a:srgbClr val="FFFFFF"/>
                  </a:solidFill>
                  <a:effectLst/>
                  <a:uLnTx/>
                  <a:uFillTx/>
                  <a:latin typeface="Graphik"/>
                  <a:ea typeface="+mn-ea"/>
                  <a:cs typeface="+mn-cs"/>
                </a:rPr>
                <a:t>E</a:t>
              </a:r>
            </a:p>
          </p:txBody>
        </p:sp>
      </p:grpSp>
      <p:sp>
        <p:nvSpPr>
          <p:cNvPr id="20" name="TextBox 19">
            <a:extLst>
              <a:ext uri="{FF2B5EF4-FFF2-40B4-BE49-F238E27FC236}">
                <a16:creationId xmlns:a16="http://schemas.microsoft.com/office/drawing/2014/main" id="{1B91E949-6290-1FF4-6E89-9D86A15D975F}"/>
              </a:ext>
            </a:extLst>
          </p:cNvPr>
          <p:cNvSpPr txBox="1"/>
          <p:nvPr/>
        </p:nvSpPr>
        <p:spPr>
          <a:xfrm>
            <a:off x="471448" y="2733556"/>
            <a:ext cx="2524324" cy="1546577"/>
          </a:xfrm>
          <a:prstGeom prst="rect">
            <a:avLst/>
          </a:prstGeom>
          <a:noFill/>
        </p:spPr>
        <p:txBody>
          <a:bodyPr wrap="square" lIns="0">
            <a:spAutoFit/>
          </a:bodyPr>
          <a:lstStyle/>
          <a:p>
            <a:pPr marL="0" marR="0" lvl="0" indent="0" algn="l" defTabSz="913854" rtl="0" eaLnBrk="1" fontAlgn="auto" latinLnBrk="0" hangingPunct="1">
              <a:lnSpc>
                <a:spcPct val="100000"/>
              </a:lnSpc>
              <a:spcBef>
                <a:spcPts val="600"/>
              </a:spcBef>
              <a:spcAft>
                <a:spcPts val="600"/>
              </a:spcAft>
              <a:buClrTx/>
              <a:buSzTx/>
              <a:buFontTx/>
              <a:buNone/>
              <a:tabLst/>
              <a:defRPr/>
            </a:pPr>
            <a:r>
              <a:rPr kumimoji="0" lang="en-US" sz="105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Decoupling </a:t>
            </a:r>
            <a:r>
              <a:rPr kumimoji="0" lang="en-US" sz="105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with consuming applications and systems is achieved across different components, via gateway and </a:t>
            </a:r>
            <a:r>
              <a:rPr kumimoji="0" lang="en-US" sz="105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registries for API Rest and Events. </a:t>
            </a:r>
            <a:r>
              <a:rPr kumimoji="0" lang="en-US" sz="105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Decoupling with legacy systems is achieved through instrumental proxy components leveraging the integration mechanisms prescribed by the interoperable architecture</a:t>
            </a:r>
            <a:endParaRPr kumimoji="0" lang="en-US" sz="1050" b="0" i="0" u="none" strike="sng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cxnSp>
        <p:nvCxnSpPr>
          <p:cNvPr id="21" name="Connector: Elbow 20">
            <a:extLst>
              <a:ext uri="{FF2B5EF4-FFF2-40B4-BE49-F238E27FC236}">
                <a16:creationId xmlns:a16="http://schemas.microsoft.com/office/drawing/2014/main" id="{E384BF30-56DC-71D7-511B-B9FB5B1D4EAC}"/>
              </a:ext>
            </a:extLst>
          </p:cNvPr>
          <p:cNvCxnSpPr>
            <a:cxnSpLocks/>
            <a:stCxn id="13" idx="0"/>
            <a:endCxn id="20" idx="0"/>
          </p:cNvCxnSpPr>
          <p:nvPr/>
        </p:nvCxnSpPr>
        <p:spPr>
          <a:xfrm rot="16200000" flipV="1">
            <a:off x="3043033" y="1424134"/>
            <a:ext cx="53187" cy="2672031"/>
          </a:xfrm>
          <a:prstGeom prst="bentConnector3">
            <a:avLst>
              <a:gd name="adj1" fmla="val 529804"/>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1DD1912-8258-C45C-1E21-F550A2103375}"/>
              </a:ext>
            </a:extLst>
          </p:cNvPr>
          <p:cNvSpPr txBox="1"/>
          <p:nvPr/>
        </p:nvSpPr>
        <p:spPr>
          <a:xfrm>
            <a:off x="471448" y="4560365"/>
            <a:ext cx="2524324" cy="1061829"/>
          </a:xfrm>
          <a:prstGeom prst="rect">
            <a:avLst/>
          </a:prstGeom>
          <a:noFill/>
        </p:spPr>
        <p:txBody>
          <a:bodyPr wrap="square" lIns="0">
            <a:spAutoFit/>
          </a:bodyPr>
          <a:lstStyle/>
          <a:p>
            <a:pPr marL="0" marR="0" lvl="0" indent="0" algn="l" defTabSz="913854" rtl="0" eaLnBrk="1" fontAlgn="auto" latinLnBrk="0" hangingPunct="1">
              <a:lnSpc>
                <a:spcPct val="100000"/>
              </a:lnSpc>
              <a:spcBef>
                <a:spcPts val="600"/>
              </a:spcBef>
              <a:spcAft>
                <a:spcPts val="199"/>
              </a:spcAft>
              <a:buClrTx/>
              <a:buSzTx/>
              <a:buFontTx/>
              <a:buNone/>
              <a:tabLst/>
              <a:defRPr/>
            </a:pPr>
            <a:r>
              <a:rPr kumimoji="0" lang="en-US" sz="105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API REST registry, </a:t>
            </a:r>
            <a:r>
              <a:rPr kumimoji="0" lang="en-US" sz="105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API services are handled by a single registry through an inventory of all APIs registered in the architecture allowing to provide better control. APIs can use synchronous or asynchronous patterns</a:t>
            </a:r>
          </a:p>
        </p:txBody>
      </p:sp>
      <p:cxnSp>
        <p:nvCxnSpPr>
          <p:cNvPr id="23" name="Connector: Elbow 22">
            <a:extLst>
              <a:ext uri="{FF2B5EF4-FFF2-40B4-BE49-F238E27FC236}">
                <a16:creationId xmlns:a16="http://schemas.microsoft.com/office/drawing/2014/main" id="{8EBC76C1-4CA2-7E0C-7CAD-6D6170DD5B40}"/>
              </a:ext>
            </a:extLst>
          </p:cNvPr>
          <p:cNvCxnSpPr>
            <a:cxnSpLocks/>
            <a:stCxn id="14" idx="2"/>
            <a:endCxn id="22" idx="2"/>
          </p:cNvCxnSpPr>
          <p:nvPr/>
        </p:nvCxnSpPr>
        <p:spPr>
          <a:xfrm rot="10800000" flipV="1">
            <a:off x="1733610" y="3302196"/>
            <a:ext cx="2532722" cy="2319998"/>
          </a:xfrm>
          <a:prstGeom prst="bentConnector4">
            <a:avLst>
              <a:gd name="adj1" fmla="val 25083"/>
              <a:gd name="adj2" fmla="val 10985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32A1E05E-92DB-7CFA-C258-EF608074CD04}"/>
              </a:ext>
            </a:extLst>
          </p:cNvPr>
          <p:cNvSpPr txBox="1"/>
          <p:nvPr/>
        </p:nvSpPr>
        <p:spPr>
          <a:xfrm>
            <a:off x="8898240" y="2733556"/>
            <a:ext cx="2966634" cy="1972335"/>
          </a:xfrm>
          <a:prstGeom prst="rect">
            <a:avLst/>
          </a:prstGeom>
          <a:noFill/>
        </p:spPr>
        <p:txBody>
          <a:bodyPr wrap="square" lIns="0">
            <a:spAutoFit/>
          </a:bodyPr>
          <a:lstStyle/>
          <a:p>
            <a:pPr marL="0" marR="0" lvl="0" indent="0" algn="l" defTabSz="913854" rtl="0" eaLnBrk="1" fontAlgn="auto" latinLnBrk="0" hangingPunct="1">
              <a:lnSpc>
                <a:spcPct val="100000"/>
              </a:lnSpc>
              <a:spcBef>
                <a:spcPts val="199"/>
              </a:spcBef>
              <a:spcAft>
                <a:spcPts val="199"/>
              </a:spcAft>
              <a:buClrTx/>
              <a:buSzTx/>
              <a:buFontTx/>
              <a:buNone/>
              <a:tabLst/>
              <a:defRPr/>
            </a:pPr>
            <a:r>
              <a:rPr kumimoji="0" lang="en-US" sz="105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Event-based </a:t>
            </a:r>
            <a:r>
              <a:rPr kumimoji="0" lang="en-US" sz="105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integrations as preferred option to achieve </a:t>
            </a:r>
            <a:r>
              <a:rPr kumimoji="0" lang="en-US" sz="105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real-time, stateless </a:t>
            </a:r>
            <a:r>
              <a:rPr kumimoji="0" lang="en-US" sz="105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event driven integrations on an interoperable architecture. Events are identified and listed in the event registry for subscription by other components:</a:t>
            </a:r>
          </a:p>
          <a:p>
            <a:pPr marL="171347" marR="0" lvl="1" indent="-171347" algn="l" defTabSz="913854" rtl="0" eaLnBrk="1" fontAlgn="auto" latinLnBrk="0" hangingPunct="1">
              <a:lnSpc>
                <a:spcPct val="100000"/>
              </a:lnSpc>
              <a:spcBef>
                <a:spcPts val="199"/>
              </a:spcBef>
              <a:spcAft>
                <a:spcPts val="199"/>
              </a:spcAft>
              <a:buClrTx/>
              <a:buSzTx/>
              <a:buFont typeface="Arial" panose="020B0604020202020204" pitchFamily="34" charset="0"/>
              <a:buChar char="•"/>
              <a:tabLst/>
              <a:defRPr/>
            </a:pPr>
            <a:r>
              <a:rPr kumimoji="0" lang="en-US" sz="105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One-off events </a:t>
            </a:r>
            <a:r>
              <a:rPr kumimoji="0" lang="en-US" sz="105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generated by services built in the interoperable architecture (stream-in), or generated by a 3</a:t>
            </a:r>
            <a:r>
              <a:rPr kumimoji="0" lang="en-US" sz="1050" b="0" i="0" u="none" strike="noStrike" kern="1200" cap="none" spc="0" normalizeH="0" baseline="30000" noProof="0">
                <a:ln>
                  <a:noFill/>
                </a:ln>
                <a:solidFill>
                  <a:srgbClr val="000000"/>
                </a:solidFill>
                <a:effectLst/>
                <a:uLnTx/>
                <a:uFillTx/>
                <a:latin typeface="Graphik Light" panose="020B0403030202060203" pitchFamily="34" charset="0"/>
                <a:ea typeface="+mn-ea"/>
                <a:cs typeface="+mn-cs"/>
              </a:rPr>
              <a:t>rd</a:t>
            </a:r>
            <a:r>
              <a:rPr kumimoji="0" lang="en-US" sz="105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party (stream-out)</a:t>
            </a:r>
          </a:p>
          <a:p>
            <a:pPr marL="171347" marR="0" lvl="1" indent="-171347" algn="l" defTabSz="913854" rtl="0" eaLnBrk="1" fontAlgn="auto" latinLnBrk="0" hangingPunct="1">
              <a:lnSpc>
                <a:spcPct val="100000"/>
              </a:lnSpc>
              <a:spcBef>
                <a:spcPts val="199"/>
              </a:spcBef>
              <a:spcAft>
                <a:spcPts val="199"/>
              </a:spcAft>
              <a:buClrTx/>
              <a:buSzTx/>
              <a:buFont typeface="Arial" panose="020B0604020202020204" pitchFamily="34" charset="0"/>
              <a:buChar char="•"/>
              <a:tabLst/>
              <a:defRPr/>
            </a:pPr>
            <a:r>
              <a:rPr kumimoji="0" lang="en-US" sz="105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Scheduled Events </a:t>
            </a:r>
            <a:r>
              <a:rPr kumimoji="0" lang="en-US" sz="105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which will be generated by the composite services with the support of a specific scheduler mechanism</a:t>
            </a:r>
          </a:p>
        </p:txBody>
      </p:sp>
      <p:cxnSp>
        <p:nvCxnSpPr>
          <p:cNvPr id="25" name="Connector: Elbow 24">
            <a:extLst>
              <a:ext uri="{FF2B5EF4-FFF2-40B4-BE49-F238E27FC236}">
                <a16:creationId xmlns:a16="http://schemas.microsoft.com/office/drawing/2014/main" id="{8CF93C1A-35A4-50BB-8D0B-D7381C59CA21}"/>
              </a:ext>
            </a:extLst>
          </p:cNvPr>
          <p:cNvCxnSpPr>
            <a:cxnSpLocks/>
            <a:stCxn id="17" idx="0"/>
            <a:endCxn id="24" idx="0"/>
          </p:cNvCxnSpPr>
          <p:nvPr/>
        </p:nvCxnSpPr>
        <p:spPr>
          <a:xfrm rot="5400000" flipH="1" flipV="1">
            <a:off x="8596050" y="1372771"/>
            <a:ext cx="424722" cy="3146292"/>
          </a:xfrm>
          <a:prstGeom prst="bentConnector3">
            <a:avLst>
              <a:gd name="adj1" fmla="val 15382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390F7F6-DAF8-95FC-6616-B9962D453740}"/>
              </a:ext>
            </a:extLst>
          </p:cNvPr>
          <p:cNvSpPr txBox="1"/>
          <p:nvPr/>
        </p:nvSpPr>
        <p:spPr>
          <a:xfrm>
            <a:off x="8898240" y="5031890"/>
            <a:ext cx="2966634" cy="1454244"/>
          </a:xfrm>
          <a:prstGeom prst="rect">
            <a:avLst/>
          </a:prstGeom>
          <a:noFill/>
        </p:spPr>
        <p:txBody>
          <a:bodyPr wrap="square" lIns="0" tIns="0" rIns="0" bIns="0">
            <a:spAutoFit/>
          </a:bodyPr>
          <a:lstStyle/>
          <a:p>
            <a:pPr marL="0" marR="0" lvl="0" indent="0" algn="l" defTabSz="913854"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7500C0"/>
                </a:solidFill>
                <a:effectLst/>
                <a:uLnTx/>
                <a:uFillTx/>
                <a:latin typeface="Graphik Light" panose="020B0403030202060203" pitchFamily="34" charset="0"/>
                <a:ea typeface="+mn-ea"/>
                <a:cs typeface="+mn-cs"/>
              </a:rPr>
              <a:t>Identity and Access Management</a:t>
            </a:r>
            <a:r>
              <a:rPr kumimoji="0" lang="en-US" sz="105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 focused on managing user identities and controlling access to resources. It includes practices such as strong authentication, user provisioning, and role-based access control, including </a:t>
            </a:r>
            <a:r>
              <a:rPr kumimoji="0" lang="en-US" sz="1050" b="1" i="0" u="none" strike="noStrike" kern="1200" cap="none" spc="0" normalizeH="0" baseline="0" noProof="0" dirty="0">
                <a:ln>
                  <a:noFill/>
                </a:ln>
                <a:solidFill>
                  <a:srgbClr val="7500C0"/>
                </a:solidFill>
                <a:effectLst/>
                <a:uLnTx/>
                <a:uFillTx/>
                <a:latin typeface="Graphik Light" panose="020B0403030202060203" pitchFamily="34" charset="0"/>
                <a:ea typeface="+mn-ea"/>
                <a:cs typeface="+mn-cs"/>
              </a:rPr>
              <a:t>identity and access monitoring </a:t>
            </a:r>
            <a:r>
              <a:rPr kumimoji="0" lang="en-US" sz="105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to inspect user identities and prevent unauthorized access as well as </a:t>
            </a:r>
            <a:r>
              <a:rPr kumimoji="0" lang="en-US" sz="1050" b="1" i="0" u="none" strike="noStrike" kern="1200" cap="none" spc="0" normalizeH="0" baseline="0" noProof="0" dirty="0">
                <a:ln>
                  <a:noFill/>
                </a:ln>
                <a:solidFill>
                  <a:srgbClr val="7500C0"/>
                </a:solidFill>
                <a:effectLst/>
                <a:uLnTx/>
                <a:uFillTx/>
                <a:latin typeface="Graphik Light" panose="020B0403030202060203" pitchFamily="34" charset="0"/>
                <a:ea typeface="+mn-ea"/>
                <a:cs typeface="+mn-cs"/>
              </a:rPr>
              <a:t>user activity monitoring (UAM) </a:t>
            </a:r>
            <a:r>
              <a:rPr kumimoji="0" lang="en-US" sz="105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analyzing user behaviors to identify potential security risks</a:t>
            </a:r>
          </a:p>
        </p:txBody>
      </p:sp>
      <p:cxnSp>
        <p:nvCxnSpPr>
          <p:cNvPr id="27" name="Connector: Elbow 26">
            <a:extLst>
              <a:ext uri="{FF2B5EF4-FFF2-40B4-BE49-F238E27FC236}">
                <a16:creationId xmlns:a16="http://schemas.microsoft.com/office/drawing/2014/main" id="{AE00B4DE-5744-ED15-6C94-91382DC2F3AF}"/>
              </a:ext>
            </a:extLst>
          </p:cNvPr>
          <p:cNvCxnSpPr>
            <a:cxnSpLocks/>
            <a:stCxn id="18" idx="6"/>
            <a:endCxn id="26" idx="1"/>
          </p:cNvCxnSpPr>
          <p:nvPr/>
        </p:nvCxnSpPr>
        <p:spPr>
          <a:xfrm>
            <a:off x="8151119" y="3506846"/>
            <a:ext cx="747121" cy="2252166"/>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AF1014E-6D92-21A9-1286-4ED0B77D1411}"/>
              </a:ext>
            </a:extLst>
          </p:cNvPr>
          <p:cNvSpPr txBox="1"/>
          <p:nvPr/>
        </p:nvSpPr>
        <p:spPr>
          <a:xfrm>
            <a:off x="3912014" y="5909053"/>
            <a:ext cx="4679536" cy="577081"/>
          </a:xfrm>
          <a:prstGeom prst="rect">
            <a:avLst/>
          </a:prstGeom>
          <a:noFill/>
        </p:spPr>
        <p:txBody>
          <a:bodyPr wrap="square">
            <a:spAutoFit/>
          </a:bodyPr>
          <a:lstStyle/>
          <a:p>
            <a:pPr marL="0" marR="0" lvl="0" indent="0" algn="l" defTabSz="913854" rtl="0" eaLnBrk="1" fontAlgn="auto" latinLnBrk="0" hangingPunct="1">
              <a:lnSpc>
                <a:spcPct val="100000"/>
              </a:lnSpc>
              <a:spcBef>
                <a:spcPts val="199"/>
              </a:spcBef>
              <a:spcAft>
                <a:spcPts val="199"/>
              </a:spcAft>
              <a:buClrTx/>
              <a:buSzTx/>
              <a:buFontTx/>
              <a:buNone/>
              <a:tabLst/>
              <a:defRPr/>
            </a:pPr>
            <a:r>
              <a:rPr kumimoji="0" lang="en-US" sz="105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Integration layer should be flexible to manage any type of messaging and formats including ETL mechanisms, </a:t>
            </a:r>
            <a:r>
              <a:rPr kumimoji="0" lang="en-US" sz="105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file sharing </a:t>
            </a:r>
            <a:r>
              <a:rPr kumimoji="0" lang="en-US" sz="105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and </a:t>
            </a:r>
            <a:r>
              <a:rPr kumimoji="0" lang="en-US" sz="105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data persistence platforms</a:t>
            </a:r>
            <a:r>
              <a:rPr kumimoji="0" lang="en-US" sz="105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for interoperation with legacies or 3</a:t>
            </a:r>
            <a:r>
              <a:rPr kumimoji="0" lang="en-US" sz="1050" b="0" i="0" u="none" strike="noStrike" kern="1200" cap="none" spc="0" normalizeH="0" baseline="30000" noProof="0">
                <a:ln>
                  <a:noFill/>
                </a:ln>
                <a:solidFill>
                  <a:srgbClr val="000000"/>
                </a:solidFill>
                <a:effectLst/>
                <a:uLnTx/>
                <a:uFillTx/>
                <a:latin typeface="Graphik Light" panose="020B0403030202060203" pitchFamily="34" charset="0"/>
                <a:ea typeface="+mn-ea"/>
                <a:cs typeface="+mn-cs"/>
              </a:rPr>
              <a:t>rd</a:t>
            </a:r>
            <a:r>
              <a:rPr kumimoji="0" lang="en-US" sz="105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party applications</a:t>
            </a:r>
          </a:p>
        </p:txBody>
      </p:sp>
      <p:cxnSp>
        <p:nvCxnSpPr>
          <p:cNvPr id="29" name="Connector: Elbow 28">
            <a:extLst>
              <a:ext uri="{FF2B5EF4-FFF2-40B4-BE49-F238E27FC236}">
                <a16:creationId xmlns:a16="http://schemas.microsoft.com/office/drawing/2014/main" id="{A004AB6C-F5FE-9539-C71F-5C29260DAB59}"/>
              </a:ext>
            </a:extLst>
          </p:cNvPr>
          <p:cNvCxnSpPr>
            <a:cxnSpLocks/>
            <a:stCxn id="19" idx="4"/>
            <a:endCxn id="28" idx="0"/>
          </p:cNvCxnSpPr>
          <p:nvPr/>
        </p:nvCxnSpPr>
        <p:spPr>
          <a:xfrm rot="16200000" flipH="1">
            <a:off x="4837699" y="4494969"/>
            <a:ext cx="882391" cy="1945775"/>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7650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F5A75-B37E-8D40-4016-998FC80F1840}"/>
            </a:ext>
          </a:extLst>
        </p:cNvPr>
        <p:cNvGrpSpPr/>
        <p:nvPr/>
      </p:nvGrpSpPr>
      <p:grpSpPr>
        <a:xfrm>
          <a:off x="0" y="0"/>
          <a:ext cx="0" cy="0"/>
          <a:chOff x="0" y="0"/>
          <a:chExt cx="0" cy="0"/>
        </a:xfrm>
      </p:grpSpPr>
      <p:pic>
        <p:nvPicPr>
          <p:cNvPr id="16" name="Picture Placeholder 15">
            <a:extLst>
              <a:ext uri="{FF2B5EF4-FFF2-40B4-BE49-F238E27FC236}">
                <a16:creationId xmlns:a16="http://schemas.microsoft.com/office/drawing/2014/main" id="{E40919DF-5A2C-EA3D-66EA-2DB83C393584}"/>
              </a:ext>
            </a:extLst>
          </p:cNvPr>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rcRect l="20062" r="20062"/>
          <a:stretch/>
        </p:blipFill>
        <p:spPr>
          <a:xfrm>
            <a:off x="6096000" y="0"/>
            <a:ext cx="6096000" cy="6858000"/>
          </a:xfrm>
          <a:prstGeom prst="rect">
            <a:avLst/>
          </a:prstGeom>
        </p:spPr>
      </p:pic>
      <p:sp>
        <p:nvSpPr>
          <p:cNvPr id="17" name="TextBox 16">
            <a:extLst>
              <a:ext uri="{FF2B5EF4-FFF2-40B4-BE49-F238E27FC236}">
                <a16:creationId xmlns:a16="http://schemas.microsoft.com/office/drawing/2014/main" id="{DB76613C-3850-A612-F1CB-42D34E182EBF}"/>
              </a:ext>
            </a:extLst>
          </p:cNvPr>
          <p:cNvSpPr txBox="1"/>
          <p:nvPr/>
        </p:nvSpPr>
        <p:spPr>
          <a:xfrm>
            <a:off x="7054753" y="6447723"/>
            <a:ext cx="4551903"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Copyright © 2025 Accenture. All rights reserved.</a:t>
            </a:r>
          </a:p>
        </p:txBody>
      </p:sp>
      <p:sp>
        <p:nvSpPr>
          <p:cNvPr id="18" name="TextBox 17">
            <a:extLst>
              <a:ext uri="{FF2B5EF4-FFF2-40B4-BE49-F238E27FC236}">
                <a16:creationId xmlns:a16="http://schemas.microsoft.com/office/drawing/2014/main" id="{893DCFA3-59E6-24EC-41B7-6717CA70BC45}"/>
              </a:ext>
            </a:extLst>
          </p:cNvPr>
          <p:cNvSpPr txBox="1"/>
          <p:nvPr/>
        </p:nvSpPr>
        <p:spPr>
          <a:xfrm>
            <a:off x="11621120" y="6459129"/>
            <a:ext cx="505097" cy="2000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90F471-3972-4120-B8B3-0237DE626C35}" type="slidenum">
              <a:rPr kumimoji="0" lang="en-US" sz="700" b="0" i="0" u="none" strike="noStrike" kern="1200" cap="none" spc="0" normalizeH="0" baseline="0" noProof="0" smtClean="0">
                <a:ln>
                  <a:noFill/>
                </a:ln>
                <a:solidFill>
                  <a:srgbClr val="000000"/>
                </a:solidFill>
                <a:effectLst/>
                <a:uLnTx/>
                <a:uFillTx/>
                <a:latin typeface="Graphik Light" panose="020B0403030202060203"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7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14" name="Text Placeholder 8">
            <a:extLst>
              <a:ext uri="{FF2B5EF4-FFF2-40B4-BE49-F238E27FC236}">
                <a16:creationId xmlns:a16="http://schemas.microsoft.com/office/drawing/2014/main" id="{41B61ED9-6CCE-B54E-5B6F-ECB3204132B8}"/>
              </a:ext>
            </a:extLst>
          </p:cNvPr>
          <p:cNvSpPr txBox="1">
            <a:spLocks/>
          </p:cNvSpPr>
          <p:nvPr/>
        </p:nvSpPr>
        <p:spPr>
          <a:xfrm>
            <a:off x="381000" y="2199546"/>
            <a:ext cx="2641600" cy="772253"/>
          </a:xfrm>
          <a:prstGeom prst="rect">
            <a:avLst/>
          </a:prstGeom>
        </p:spPr>
        <p:txBody>
          <a:bodyPr vert="horz" lIns="0" tIns="0" rIns="0" bIns="0" rtlCol="0">
            <a:noAutofit/>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lang="en-US" sz="7200" b="0" i="0" kern="1200" spc="-150" dirty="0">
                <a:solidFill>
                  <a:schemeClr val="accent2"/>
                </a:solidFill>
                <a:latin typeface="Graphik Light" panose="020B0403030202060203" pitchFamily="34" charset="0"/>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IN" sz="7200" b="0" i="0" u="none" strike="noStrike" kern="1200" cap="none" spc="-150" normalizeH="0" baseline="0" noProof="0" dirty="0">
                <a:ln>
                  <a:noFill/>
                </a:ln>
                <a:solidFill>
                  <a:srgbClr val="7500C0"/>
                </a:solidFill>
                <a:effectLst/>
                <a:uLnTx/>
                <a:uFillTx/>
                <a:latin typeface="Graphik Light" panose="020B0403030202060203" pitchFamily="34" charset="0"/>
                <a:ea typeface="+mn-ea"/>
                <a:cs typeface="+mn-cs"/>
              </a:rPr>
              <a:t>03. </a:t>
            </a:r>
          </a:p>
        </p:txBody>
      </p:sp>
      <p:sp>
        <p:nvSpPr>
          <p:cNvPr id="15" name="Title 7">
            <a:extLst>
              <a:ext uri="{FF2B5EF4-FFF2-40B4-BE49-F238E27FC236}">
                <a16:creationId xmlns:a16="http://schemas.microsoft.com/office/drawing/2014/main" id="{56CB5FF7-1C3B-1835-11C1-0E0926B91A45}"/>
              </a:ext>
            </a:extLst>
          </p:cNvPr>
          <p:cNvSpPr txBox="1">
            <a:spLocks/>
          </p:cNvSpPr>
          <p:nvPr/>
        </p:nvSpPr>
        <p:spPr>
          <a:xfrm>
            <a:off x="380999" y="3201006"/>
            <a:ext cx="5597013" cy="582441"/>
          </a:xfrm>
          <a:prstGeom prst="rect">
            <a:avLst/>
          </a:prstGeom>
        </p:spPr>
        <p:txBody>
          <a:bodyPr vert="horz" lIns="0" tIns="61200" rIns="0" bIns="0" rtlCol="0" anchor="t">
            <a:noAutofit/>
          </a:bodyPr>
          <a:lstStyle>
            <a:lvl1pPr algn="l" defTabSz="914400" rtl="0" eaLnBrk="1" latinLnBrk="0" hangingPunct="1">
              <a:lnSpc>
                <a:spcPct val="80000"/>
              </a:lnSpc>
              <a:spcBef>
                <a:spcPct val="0"/>
              </a:spcBef>
              <a:buNone/>
              <a:defRPr sz="3200" b="0" kern="1200">
                <a:solidFill>
                  <a:schemeClr val="bg1"/>
                </a:solidFill>
                <a:latin typeface="Graphik Medium" panose="020B0603030202060203"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Graphik Medium" panose="020B0603030202060203" pitchFamily="34" charset="0"/>
                <a:ea typeface="+mj-ea"/>
                <a:cs typeface="+mj-cs"/>
              </a:rPr>
              <a:t>Interoperability Capability Model</a:t>
            </a:r>
            <a:endParaRPr kumimoji="0" lang="en-IN" sz="3200" b="0" i="0" u="none" strike="noStrike" kern="1200" cap="none" spc="0" normalizeH="0" baseline="0" noProof="0" dirty="0">
              <a:ln>
                <a:noFill/>
              </a:ln>
              <a:solidFill>
                <a:srgbClr val="000000"/>
              </a:solidFill>
              <a:effectLst/>
              <a:uLnTx/>
              <a:uFillTx/>
              <a:latin typeface="Graphik Medium" panose="020B0603030202060203" pitchFamily="34" charset="0"/>
              <a:ea typeface="+mj-ea"/>
              <a:cs typeface="+mj-cs"/>
            </a:endParaRPr>
          </a:p>
        </p:txBody>
      </p:sp>
    </p:spTree>
    <p:extLst>
      <p:ext uri="{BB962C8B-B14F-4D97-AF65-F5344CB8AC3E}">
        <p14:creationId xmlns:p14="http://schemas.microsoft.com/office/powerpoint/2010/main" val="1909060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F9623-AC4E-AF2E-55BC-71AE2C08D30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46BF84E-3050-91AD-EDC0-877BCD7105BF}"/>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All rights reserved.</a:t>
            </a:r>
          </a:p>
        </p:txBody>
      </p:sp>
      <p:sp>
        <p:nvSpPr>
          <p:cNvPr id="4" name="Slide Number Placeholder 3">
            <a:extLst>
              <a:ext uri="{FF2B5EF4-FFF2-40B4-BE49-F238E27FC236}">
                <a16:creationId xmlns:a16="http://schemas.microsoft.com/office/drawing/2014/main" id="{F2CD85E0-84AD-1FD8-A3E5-C18A07D1E35E}"/>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Graphik"/>
              <a:ea typeface="+mn-ea"/>
              <a:cs typeface="+mn-cs"/>
            </a:endParaRPr>
          </a:p>
        </p:txBody>
      </p:sp>
      <p:sp>
        <p:nvSpPr>
          <p:cNvPr id="23" name="Title 1">
            <a:extLst>
              <a:ext uri="{FF2B5EF4-FFF2-40B4-BE49-F238E27FC236}">
                <a16:creationId xmlns:a16="http://schemas.microsoft.com/office/drawing/2014/main" id="{80C01CC5-C373-5FA3-6707-A7F26820CE7A}"/>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7500C0"/>
                </a:solidFill>
                <a:effectLst/>
                <a:uLnTx/>
                <a:uFillTx/>
                <a:latin typeface="Graphik"/>
                <a:ea typeface="+mj-ea"/>
                <a:cs typeface="+mj-cs"/>
              </a:rPr>
              <a:t>Interoperability Architecture </a:t>
            </a:r>
            <a:r>
              <a:rPr kumimoji="0" lang="en-US" sz="2400" b="1" i="0" u="none" strike="noStrike" kern="1200" cap="none" spc="0" normalizeH="0" baseline="0" noProof="0" dirty="0">
                <a:ln>
                  <a:noFill/>
                </a:ln>
                <a:solidFill>
                  <a:srgbClr val="000000"/>
                </a:solidFill>
                <a:effectLst/>
                <a:uLnTx/>
                <a:uFillTx/>
                <a:latin typeface="Graphik"/>
                <a:ea typeface="+mj-ea"/>
                <a:cs typeface="+mj-cs"/>
              </a:rPr>
              <a:t>| Kernel &amp; Platform vs Domain</a:t>
            </a:r>
          </a:p>
        </p:txBody>
      </p:sp>
      <p:sp>
        <p:nvSpPr>
          <p:cNvPr id="7" name="TextBox 6">
            <a:extLst>
              <a:ext uri="{FF2B5EF4-FFF2-40B4-BE49-F238E27FC236}">
                <a16:creationId xmlns:a16="http://schemas.microsoft.com/office/drawing/2014/main" id="{8F1B6623-9D40-8EF4-D00A-5C63512A29D8}"/>
              </a:ext>
            </a:extLst>
          </p:cNvPr>
          <p:cNvSpPr txBox="1"/>
          <p:nvPr>
            <p:extLst>
              <p:ext uri="{1162E1C5-73C7-4A58-AE30-91384D911F3F}">
                <p184:classification xmlns:p184="http://schemas.microsoft.com/office/powerpoint/2018/4/main" val="hdr"/>
              </p:ext>
            </p:extLst>
          </p:nvPr>
        </p:nvSpPr>
        <p:spPr>
          <a:xfrm>
            <a:off x="4610601" y="78170"/>
            <a:ext cx="3641223" cy="153888"/>
          </a:xfrm>
          <a:prstGeom prst="rect">
            <a:avLst/>
          </a:prstGeom>
        </p:spPr>
        <p:txBody>
          <a:bodyPr horzOverflow="overflow"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***Confidential - For Company Internal Use Only***</a:t>
            </a:r>
          </a:p>
        </p:txBody>
      </p:sp>
      <p:sp>
        <p:nvSpPr>
          <p:cNvPr id="100" name="Banner"/>
          <p:cNvSpPr/>
          <p:nvPr/>
        </p:nvSpPr>
        <p:spPr>
          <a:xfrm>
            <a:off x="380000" y="852000"/>
            <a:ext cx="11432000" cy="560000"/>
          </a:xfrm>
          <a:prstGeom prst="roundRect">
            <a:avLst>
              <a:gd name="adj" fmla="val 8000"/>
            </a:avLst>
          </a:prstGeom>
          <a:solidFill>
            <a:srgbClr val="F1E9F8"/>
          </a:solidFill>
          <a:ln w="9525">
            <a:solidFill>
              <a:srgbClr val="7500C0"/>
            </a:solidFill>
          </a:ln>
        </p:spPr>
        <p:txBody>
          <a:bodyPr lIns="0" tIns="0" rIns="0" bIns="0" anchor="ctr"/>
          <a:lstStyle/>
          <a:p>
            <a:endParaRPr/>
          </a:p>
        </p:txBody>
      </p:sp>
      <p:sp>
        <p:nvSpPr>
          <p:cNvPr id="101" name="BannerTxt"/>
          <p:cNvSpPr txBox="1"/>
          <p:nvPr/>
        </p:nvSpPr>
        <p:spPr>
          <a:xfrm>
            <a:off x="580000" y="852000"/>
            <a:ext cx="11032000" cy="560000"/>
          </a:xfrm>
          <a:prstGeom prst="rect">
            <a:avLst/>
          </a:prstGeom>
          <a:noFill/>
        </p:spPr>
        <p:txBody>
          <a:bodyPr lIns="110000" tIns="60000" rIns="110000" bIns="60000" rtlCol="0" anchor="ctr">
            <a:normAutofit/>
          </a:bodyPr>
          <a:lstStyle/>
          <a:p>
            <a:pPr marL="0" indent="0" algn="ctr">
              <a:lnSpc>
                <a:spcPct val="104000"/>
              </a:lnSpc>
              <a:spcAft>
                <a:spcPts val="0"/>
              </a:spcAft>
              <a:buNone/>
            </a:pPr>
            <a:r>
              <a:rPr lang="en-US" sz="1500" b="1" i="0">
                <a:solidFill>
                  <a:srgbClr val="7500C0"/>
                </a:solidFill>
                <a:latin typeface="Graphik"/>
              </a:rPr>
              <a:t>In one line   </a:t>
            </a:r>
            <a:r>
              <a:rPr lang="en-US" sz="1500" b="0" i="0">
                <a:solidFill>
                  <a:srgbClr val="1A1A1A"/>
                </a:solidFill>
                <a:latin typeface="Graphik"/>
              </a:rPr>
              <a:t>Kernel &amp; Platform is the </a:t>
            </a:r>
            <a:r>
              <a:rPr lang="en-US" sz="1500" b="1" i="0">
                <a:solidFill>
                  <a:srgbClr val="7500C0"/>
                </a:solidFill>
                <a:latin typeface="Graphik"/>
              </a:rPr>
              <a:t>building</a:t>
            </a:r>
            <a:r>
              <a:rPr lang="en-US" sz="1500" b="0" i="0">
                <a:solidFill>
                  <a:srgbClr val="1A1A1A"/>
                </a:solidFill>
                <a:latin typeface="Graphik"/>
              </a:rPr>
              <a:t>.  Domain capabilities are the </a:t>
            </a:r>
            <a:r>
              <a:rPr lang="en-US" sz="1500" b="1" i="0">
                <a:solidFill>
                  <a:srgbClr val="156082"/>
                </a:solidFill>
                <a:latin typeface="Graphik"/>
              </a:rPr>
              <a:t>offices</a:t>
            </a:r>
            <a:r>
              <a:rPr lang="en-US" sz="1500" b="0" i="0">
                <a:solidFill>
                  <a:srgbClr val="1A1A1A"/>
                </a:solidFill>
                <a:latin typeface="Graphik"/>
              </a:rPr>
              <a:t> you fit out inside it.</a:t>
            </a:r>
          </a:p>
        </p:txBody>
      </p:sp>
      <p:sp>
        <p:nvSpPr>
          <p:cNvPr id="102" name="Card"/>
          <p:cNvSpPr/>
          <p:nvPr/>
        </p:nvSpPr>
        <p:spPr>
          <a:xfrm>
            <a:off x="380000" y="1560000"/>
            <a:ext cx="5556000" cy="4556604"/>
          </a:xfrm>
          <a:prstGeom prst="roundRect">
            <a:avLst>
              <a:gd name="adj" fmla="val 3500"/>
            </a:avLst>
          </a:prstGeom>
          <a:solidFill>
            <a:srgbClr val="FFFFFF"/>
          </a:solidFill>
          <a:ln w="15875">
            <a:solidFill>
              <a:srgbClr val="7500C0"/>
            </a:solidFill>
          </a:ln>
        </p:spPr>
        <p:txBody>
          <a:bodyPr lIns="0" tIns="0" rIns="0" bIns="0" anchor="ctr"/>
          <a:lstStyle/>
          <a:p>
            <a:endParaRPr/>
          </a:p>
        </p:txBody>
      </p:sp>
      <p:sp>
        <p:nvSpPr>
          <p:cNvPr id="107" name="Chips"/>
          <p:cNvSpPr txBox="1"/>
          <p:nvPr/>
        </p:nvSpPr>
        <p:spPr>
          <a:xfrm>
            <a:off x="380000" y="2250000"/>
            <a:ext cx="5556000" cy="340000"/>
          </a:xfrm>
          <a:prstGeom prst="rect">
            <a:avLst/>
          </a:prstGeom>
          <a:noFill/>
        </p:spPr>
        <p:txBody>
          <a:bodyPr lIns="110000" tIns="60000" rIns="110000" bIns="60000" rtlCol="0" anchor="ctr">
            <a:normAutofit/>
          </a:bodyPr>
          <a:lstStyle/>
          <a:p>
            <a:pPr marL="0" indent="0" algn="ctr">
              <a:lnSpc>
                <a:spcPct val="100000"/>
              </a:lnSpc>
              <a:spcAft>
                <a:spcPts val="0"/>
              </a:spcAft>
              <a:buNone/>
            </a:pPr>
            <a:r>
              <a:rPr lang="en-US" sz="1000" b="1" i="0">
                <a:solidFill>
                  <a:srgbClr val="7500C0"/>
                </a:solidFill>
                <a:latin typeface="Graphik"/>
              </a:rPr>
              <a:t>Security  ·  Observability  ·  Infrastructure  ·  API Management  ·  Gateway Services</a:t>
            </a:r>
          </a:p>
        </p:txBody>
      </p:sp>
      <p:sp>
        <p:nvSpPr>
          <p:cNvPr id="108" name="MetBox"/>
          <p:cNvSpPr/>
          <p:nvPr/>
        </p:nvSpPr>
        <p:spPr>
          <a:xfrm>
            <a:off x="530000" y="2650000"/>
            <a:ext cx="5256000" cy="1180000"/>
          </a:xfrm>
          <a:prstGeom prst="roundRect">
            <a:avLst>
              <a:gd name="adj" fmla="val 6000"/>
            </a:avLst>
          </a:prstGeom>
          <a:solidFill>
            <a:srgbClr val="F1E9F8"/>
          </a:solidFill>
          <a:ln>
            <a:noFill/>
          </a:ln>
        </p:spPr>
        <p:txBody>
          <a:bodyPr lIns="0" tIns="0" rIns="0" bIns="0" anchor="ctr"/>
          <a:lstStyle/>
          <a:p>
            <a:endParaRPr/>
          </a:p>
        </p:txBody>
      </p:sp>
      <p:sp>
        <p:nvSpPr>
          <p:cNvPr id="109" name="MetTxt"/>
          <p:cNvSpPr txBox="1"/>
          <p:nvPr/>
        </p:nvSpPr>
        <p:spPr>
          <a:xfrm>
            <a:off x="530000" y="2650000"/>
            <a:ext cx="5256000" cy="1180000"/>
          </a:xfrm>
          <a:prstGeom prst="rect">
            <a:avLst/>
          </a:prstGeom>
          <a:noFill/>
        </p:spPr>
        <p:txBody>
          <a:bodyPr lIns="170000" tIns="90000" rIns="170000" bIns="90000" rtlCol="0" anchor="ctr">
            <a:normAutofit/>
          </a:bodyPr>
          <a:lstStyle/>
          <a:p>
            <a:pPr marL="0" indent="0" algn="l">
              <a:lnSpc>
                <a:spcPct val="108000"/>
              </a:lnSpc>
              <a:spcAft>
                <a:spcPts val="0"/>
              </a:spcAft>
              <a:buNone/>
            </a:pPr>
            <a:r>
              <a:rPr lang="en-US" sz="1150" b="0" i="1">
                <a:solidFill>
                  <a:srgbClr val="3A2050"/>
                </a:solidFill>
                <a:latin typeface="Graphik"/>
              </a:rPr>
              <a:t>Like a shopping mall’s structure, power, plumbing, fire alarms, CCTV and security desk: built before any shop opens. Every shop uses them, no shop provides its own — and without them nothing can legally open.</a:t>
            </a:r>
          </a:p>
        </p:txBody>
      </p:sp>
      <p:sp>
        <p:nvSpPr>
          <p:cNvPr id="110" name="Chars"/>
          <p:cNvSpPr txBox="1"/>
          <p:nvPr/>
        </p:nvSpPr>
        <p:spPr>
          <a:xfrm>
            <a:off x="440000" y="4030000"/>
            <a:ext cx="5436000" cy="2250000"/>
          </a:xfrm>
          <a:prstGeom prst="rect">
            <a:avLst/>
          </a:prstGeom>
          <a:noFill/>
        </p:spPr>
        <p:txBody>
          <a:bodyPr lIns="110000" tIns="40000" rIns="110000" bIns="40000" rtlCol="0" anchor="t">
            <a:normAutofit/>
          </a:bodyPr>
          <a:lstStyle/>
          <a:p>
            <a:pPr marL="280000" indent="-280000" algn="l">
              <a:lnSpc>
                <a:spcPct val="106000"/>
              </a:lnSpc>
              <a:spcAft>
                <a:spcPts val="720"/>
              </a:spcAft>
              <a:buNone/>
            </a:pPr>
            <a:r>
              <a:rPr lang="en-US" sz="1200" b="1" i="0" dirty="0">
                <a:solidFill>
                  <a:srgbClr val="7500C0"/>
                </a:solidFill>
                <a:latin typeface="Graphik"/>
              </a:rPr>
              <a:t>▸  Nobody asks for it directly.  </a:t>
            </a:r>
            <a:r>
              <a:rPr lang="en-US" sz="1200" b="0" i="0" dirty="0">
                <a:solidFill>
                  <a:srgbClr val="1A1A1A"/>
                </a:solidFill>
                <a:latin typeface="Graphik"/>
              </a:rPr>
              <a:t>No sponsor requests “observability” — they request a mortgage journey that can’t go live without it.</a:t>
            </a:r>
          </a:p>
          <a:p>
            <a:pPr marL="280000" indent="-280000" algn="l">
              <a:lnSpc>
                <a:spcPct val="106000"/>
              </a:lnSpc>
              <a:spcAft>
                <a:spcPts val="720"/>
              </a:spcAft>
              <a:buNone/>
            </a:pPr>
            <a:r>
              <a:rPr lang="en-US" sz="1200" b="1" i="0" dirty="0">
                <a:solidFill>
                  <a:srgbClr val="7500C0"/>
                </a:solidFill>
                <a:latin typeface="Graphik"/>
              </a:rPr>
              <a:t>▸  Built once, centrally, up front.  </a:t>
            </a:r>
            <a:r>
              <a:rPr lang="en-US" sz="1200" b="0" i="0" dirty="0">
                <a:solidFill>
                  <a:srgbClr val="1A1A1A"/>
                </a:solidFill>
                <a:latin typeface="Graphik"/>
              </a:rPr>
              <a:t>A fixed cost the platform team owns, not something each product team re-does.</a:t>
            </a:r>
          </a:p>
          <a:p>
            <a:pPr marL="280000" indent="-280000" algn="l">
              <a:lnSpc>
                <a:spcPct val="106000"/>
              </a:lnSpc>
              <a:spcAft>
                <a:spcPts val="720"/>
              </a:spcAft>
              <a:buNone/>
            </a:pPr>
            <a:r>
              <a:rPr lang="en-US" sz="1200" b="1" i="0" dirty="0">
                <a:solidFill>
                  <a:srgbClr val="7500C0"/>
                </a:solidFill>
                <a:latin typeface="Graphik"/>
              </a:rPr>
              <a:t>▸  It’s binary.  </a:t>
            </a:r>
            <a:r>
              <a:rPr lang="en-US" sz="1200" b="0" i="0" dirty="0">
                <a:solidFill>
                  <a:srgbClr val="1A1A1A"/>
                </a:solidFill>
                <a:latin typeface="Graphik"/>
              </a:rPr>
              <a:t>You either have a certified security &amp; monitoring foundation, or you don’t. There’s no half a fire alarm.</a:t>
            </a:r>
          </a:p>
          <a:p>
            <a:pPr marL="280000" indent="0" algn="l">
              <a:lnSpc>
                <a:spcPct val="106000"/>
              </a:lnSpc>
              <a:spcAft>
                <a:spcPts val="0"/>
              </a:spcAft>
              <a:buNone/>
            </a:pPr>
            <a:r>
              <a:rPr lang="en-US" sz="1150" b="1" i="0" dirty="0">
                <a:solidFill>
                  <a:srgbClr val="7500C0"/>
                </a:solidFill>
                <a:latin typeface="Graphik"/>
              </a:rPr>
              <a:t>→  Build it once. It’s the foundation everything else stands on.</a:t>
            </a:r>
          </a:p>
        </p:txBody>
      </p:sp>
      <p:sp>
        <p:nvSpPr>
          <p:cNvPr id="111" name="Card"/>
          <p:cNvSpPr/>
          <p:nvPr/>
        </p:nvSpPr>
        <p:spPr>
          <a:xfrm>
            <a:off x="6256000" y="1560000"/>
            <a:ext cx="5556000" cy="4556604"/>
          </a:xfrm>
          <a:prstGeom prst="roundRect">
            <a:avLst>
              <a:gd name="adj" fmla="val 3500"/>
            </a:avLst>
          </a:prstGeom>
          <a:solidFill>
            <a:srgbClr val="FFFFFF"/>
          </a:solidFill>
          <a:ln w="15875">
            <a:solidFill>
              <a:srgbClr val="156082"/>
            </a:solidFill>
          </a:ln>
        </p:spPr>
        <p:txBody>
          <a:bodyPr lIns="0" tIns="0" rIns="0" bIns="0" anchor="ctr"/>
          <a:lstStyle/>
          <a:p>
            <a:endParaRPr/>
          </a:p>
        </p:txBody>
      </p:sp>
      <p:sp>
        <p:nvSpPr>
          <p:cNvPr id="115" name="Chips"/>
          <p:cNvSpPr txBox="1"/>
          <p:nvPr/>
        </p:nvSpPr>
        <p:spPr>
          <a:xfrm>
            <a:off x="6256000" y="2250000"/>
            <a:ext cx="5556000" cy="340000"/>
          </a:xfrm>
          <a:prstGeom prst="rect">
            <a:avLst/>
          </a:prstGeom>
          <a:noFill/>
        </p:spPr>
        <p:txBody>
          <a:bodyPr lIns="110000" tIns="60000" rIns="110000" bIns="60000" rtlCol="0" anchor="ctr">
            <a:normAutofit fontScale="92500" lnSpcReduction="20000"/>
          </a:bodyPr>
          <a:lstStyle/>
          <a:p>
            <a:pPr marL="0" indent="0" algn="ctr">
              <a:lnSpc>
                <a:spcPct val="100000"/>
              </a:lnSpc>
              <a:spcAft>
                <a:spcPts val="0"/>
              </a:spcAft>
              <a:buNone/>
            </a:pPr>
            <a:r>
              <a:rPr lang="en-US" sz="1000" b="1" i="0">
                <a:solidFill>
                  <a:srgbClr val="156082"/>
                </a:solidFill>
                <a:latin typeface="Graphik"/>
              </a:rPr>
              <a:t>Orchestration  ·  Events  ·  Transactions  ·  Data Delivery  ·  Omnichannel  ·  Common Business Services</a:t>
            </a:r>
          </a:p>
        </p:txBody>
      </p:sp>
      <p:sp>
        <p:nvSpPr>
          <p:cNvPr id="10" name="Card">
            <a:extLst>
              <a:ext uri="{FF2B5EF4-FFF2-40B4-BE49-F238E27FC236}">
                <a16:creationId xmlns:a16="http://schemas.microsoft.com/office/drawing/2014/main" id="{637B4621-D18C-EA37-FCB1-006F2E22A33B}"/>
              </a:ext>
            </a:extLst>
          </p:cNvPr>
          <p:cNvSpPr/>
          <p:nvPr/>
        </p:nvSpPr>
        <p:spPr>
          <a:xfrm>
            <a:off x="379000" y="1560000"/>
            <a:ext cx="5556000" cy="605132"/>
          </a:xfrm>
          <a:prstGeom prst="roundRect">
            <a:avLst>
              <a:gd name="adj" fmla="val 25613"/>
            </a:avLst>
          </a:prstGeom>
          <a:solidFill>
            <a:srgbClr val="7500C0"/>
          </a:solidFill>
          <a:ln w="15875">
            <a:solidFill>
              <a:srgbClr val="7500C0"/>
            </a:solidFill>
          </a:ln>
        </p:spPr>
        <p:txBody>
          <a:bodyPr lIns="0" tIns="0" rIns="0" bIns="0" anchor="ctr"/>
          <a:lstStyle/>
          <a:p>
            <a:endParaRPr/>
          </a:p>
        </p:txBody>
      </p:sp>
      <p:sp>
        <p:nvSpPr>
          <p:cNvPr id="116" name="MetBox"/>
          <p:cNvSpPr/>
          <p:nvPr/>
        </p:nvSpPr>
        <p:spPr>
          <a:xfrm>
            <a:off x="6406000" y="2650000"/>
            <a:ext cx="5256000" cy="1180000"/>
          </a:xfrm>
          <a:prstGeom prst="roundRect">
            <a:avLst>
              <a:gd name="adj" fmla="val 6000"/>
            </a:avLst>
          </a:prstGeom>
          <a:solidFill>
            <a:srgbClr val="E7F0F3"/>
          </a:solidFill>
          <a:ln>
            <a:noFill/>
          </a:ln>
        </p:spPr>
        <p:txBody>
          <a:bodyPr lIns="0" tIns="0" rIns="0" bIns="0" anchor="ctr"/>
          <a:lstStyle/>
          <a:p>
            <a:endParaRPr/>
          </a:p>
        </p:txBody>
      </p:sp>
      <p:sp>
        <p:nvSpPr>
          <p:cNvPr id="117" name="MetTxt"/>
          <p:cNvSpPr txBox="1"/>
          <p:nvPr/>
        </p:nvSpPr>
        <p:spPr>
          <a:xfrm>
            <a:off x="6406000" y="2650000"/>
            <a:ext cx="5256000" cy="1180000"/>
          </a:xfrm>
          <a:prstGeom prst="rect">
            <a:avLst/>
          </a:prstGeom>
          <a:noFill/>
        </p:spPr>
        <p:txBody>
          <a:bodyPr lIns="170000" tIns="90000" rIns="170000" bIns="90000" rtlCol="0" anchor="ctr">
            <a:normAutofit/>
          </a:bodyPr>
          <a:lstStyle/>
          <a:p>
            <a:pPr marL="0" indent="0" algn="l">
              <a:lnSpc>
                <a:spcPct val="108000"/>
              </a:lnSpc>
              <a:spcAft>
                <a:spcPts val="0"/>
              </a:spcAft>
              <a:buNone/>
            </a:pPr>
            <a:r>
              <a:rPr lang="en-US" sz="1150" b="0" i="1">
                <a:solidFill>
                  <a:srgbClr val="0E3B4A"/>
                </a:solidFill>
                <a:latin typeface="Graphik"/>
              </a:rPr>
              <a:t>These are the shops. Each does work you can name and value: “coordinate six services into one loan disbursement,” “keep a mortgage balance consistent across mainframe and the new core,” “resume onboarding on mobile after starting in branch.”</a:t>
            </a:r>
          </a:p>
        </p:txBody>
      </p:sp>
      <p:sp>
        <p:nvSpPr>
          <p:cNvPr id="118" name="Chars"/>
          <p:cNvSpPr txBox="1"/>
          <p:nvPr/>
        </p:nvSpPr>
        <p:spPr>
          <a:xfrm>
            <a:off x="6316000" y="4030000"/>
            <a:ext cx="5436000" cy="2250000"/>
          </a:xfrm>
          <a:prstGeom prst="rect">
            <a:avLst/>
          </a:prstGeom>
          <a:noFill/>
        </p:spPr>
        <p:txBody>
          <a:bodyPr lIns="110000" tIns="40000" rIns="110000" bIns="40000" rtlCol="0" anchor="t">
            <a:normAutofit/>
          </a:bodyPr>
          <a:lstStyle/>
          <a:p>
            <a:pPr marL="280000" indent="-280000" algn="l">
              <a:lnSpc>
                <a:spcPct val="106000"/>
              </a:lnSpc>
              <a:spcAft>
                <a:spcPts val="720"/>
              </a:spcAft>
              <a:buNone/>
            </a:pPr>
            <a:r>
              <a:rPr lang="en-US" sz="1200" b="1" i="0">
                <a:solidFill>
                  <a:srgbClr val="156082"/>
                </a:solidFill>
                <a:latin typeface="Graphik"/>
              </a:rPr>
              <a:t>▸  A business case pulls each one in.  </a:t>
            </a:r>
            <a:r>
              <a:rPr lang="en-US" sz="1200" b="0" i="0">
                <a:solidFill>
                  <a:srgbClr val="1A1A1A"/>
                </a:solidFill>
                <a:latin typeface="Graphik"/>
              </a:rPr>
              <a:t>You build event streaming when a journey needs it — not on principle.</a:t>
            </a:r>
          </a:p>
          <a:p>
            <a:pPr marL="280000" indent="-280000" algn="l">
              <a:lnSpc>
                <a:spcPct val="106000"/>
              </a:lnSpc>
              <a:spcAft>
                <a:spcPts val="720"/>
              </a:spcAft>
              <a:buNone/>
            </a:pPr>
            <a:r>
              <a:rPr lang="en-US" sz="1200" b="1" i="0">
                <a:solidFill>
                  <a:srgbClr val="156082"/>
                </a:solidFill>
                <a:latin typeface="Graphik"/>
              </a:rPr>
              <a:t>▸  Built incrementally &amp; partially.  </a:t>
            </a:r>
            <a:r>
              <a:rPr lang="en-US" sz="1200" b="0" i="0">
                <a:solidFill>
                  <a:srgbClr val="1A1A1A"/>
                </a:solidFill>
                <a:latin typeface="Graphik"/>
              </a:rPr>
              <a:t>Saga-based consistency for payments this year, lending next year. That’s normal and correct.</a:t>
            </a:r>
          </a:p>
          <a:p>
            <a:pPr marL="280000" indent="-280000" algn="l">
              <a:lnSpc>
                <a:spcPct val="106000"/>
              </a:lnSpc>
              <a:spcAft>
                <a:spcPts val="720"/>
              </a:spcAft>
              <a:buNone/>
            </a:pPr>
            <a:r>
              <a:rPr lang="en-US" sz="1200" b="1" i="0">
                <a:solidFill>
                  <a:srgbClr val="156082"/>
                </a:solidFill>
                <a:latin typeface="Graphik"/>
              </a:rPr>
              <a:t>▸  Optional in sequence, not in substance.  </a:t>
            </a:r>
            <a:r>
              <a:rPr lang="en-US" sz="1200" b="0" i="0">
                <a:solidFill>
                  <a:srgbClr val="1A1A1A"/>
                </a:solidFill>
                <a:latin typeface="Graphik"/>
              </a:rPr>
              <a:t>Some banks never need complex event processing; almost none can skip transaction consistency.</a:t>
            </a:r>
          </a:p>
          <a:p>
            <a:pPr marL="280000" indent="0" algn="l">
              <a:lnSpc>
                <a:spcPct val="106000"/>
              </a:lnSpc>
              <a:spcAft>
                <a:spcPts val="0"/>
              </a:spcAft>
              <a:buNone/>
            </a:pPr>
            <a:r>
              <a:rPr lang="en-US" sz="1150" b="1" i="0">
                <a:solidFill>
                  <a:srgbClr val="156082"/>
                </a:solidFill>
                <a:latin typeface="Graphik"/>
              </a:rPr>
              <a:t>→  Add each when the business case arrives, and grow it over time.</a:t>
            </a:r>
          </a:p>
        </p:txBody>
      </p:sp>
      <p:sp>
        <p:nvSpPr>
          <p:cNvPr id="104" name="HdrFix"/>
          <p:cNvSpPr/>
          <p:nvPr/>
        </p:nvSpPr>
        <p:spPr>
          <a:xfrm>
            <a:off x="380000" y="2060000"/>
            <a:ext cx="5556000" cy="120000"/>
          </a:xfrm>
          <a:prstGeom prst="rect">
            <a:avLst/>
          </a:prstGeom>
          <a:solidFill>
            <a:srgbClr val="7500C0"/>
          </a:solidFill>
          <a:ln>
            <a:noFill/>
          </a:ln>
        </p:spPr>
        <p:txBody>
          <a:bodyPr lIns="0" tIns="0" rIns="0" bIns="0" anchor="ctr"/>
          <a:lstStyle/>
          <a:p>
            <a:endParaRPr/>
          </a:p>
        </p:txBody>
      </p:sp>
      <p:sp>
        <p:nvSpPr>
          <p:cNvPr id="105" name="HdrTxt"/>
          <p:cNvSpPr txBox="1"/>
          <p:nvPr/>
        </p:nvSpPr>
        <p:spPr>
          <a:xfrm>
            <a:off x="740000" y="1560000"/>
            <a:ext cx="5196000" cy="620000"/>
          </a:xfrm>
          <a:prstGeom prst="rect">
            <a:avLst/>
          </a:prstGeom>
          <a:noFill/>
        </p:spPr>
        <p:txBody>
          <a:bodyPr lIns="110000" tIns="60000" rIns="110000" bIns="60000" rtlCol="0" anchor="ctr">
            <a:normAutofit/>
          </a:bodyPr>
          <a:lstStyle/>
          <a:p>
            <a:pPr marL="0" indent="0" algn="l">
              <a:lnSpc>
                <a:spcPct val="100000"/>
              </a:lnSpc>
              <a:spcAft>
                <a:spcPts val="100"/>
              </a:spcAft>
              <a:buNone/>
            </a:pPr>
            <a:r>
              <a:rPr lang="en-US" sz="1500" b="1" i="0">
                <a:solidFill>
                  <a:srgbClr val="FFFFFF"/>
                </a:solidFill>
                <a:latin typeface="Graphik"/>
              </a:rPr>
              <a:t>Kernel &amp; Platform</a:t>
            </a:r>
          </a:p>
          <a:p>
            <a:pPr marL="0" indent="0" algn="l">
              <a:lnSpc>
                <a:spcPct val="100000"/>
              </a:lnSpc>
              <a:spcAft>
                <a:spcPts val="0"/>
              </a:spcAft>
              <a:buNone/>
            </a:pPr>
            <a:r>
              <a:rPr lang="en-US" sz="1050" b="0" i="1">
                <a:solidFill>
                  <a:srgbClr val="EAD9F7"/>
                </a:solidFill>
                <a:latin typeface="Graphik"/>
              </a:rPr>
              <a:t>The building — always on, shared by all</a:t>
            </a:r>
          </a:p>
        </p:txBody>
      </p:sp>
      <p:sp>
        <p:nvSpPr>
          <p:cNvPr id="106" name="K badge"/>
          <p:cNvSpPr/>
          <p:nvPr/>
        </p:nvSpPr>
        <p:spPr>
          <a:xfrm>
            <a:off x="470000" y="1720000"/>
            <a:ext cx="300000" cy="300000"/>
          </a:xfrm>
          <a:prstGeom prst="ellipse">
            <a:avLst/>
          </a:prstGeom>
          <a:solidFill>
            <a:srgbClr val="C00000"/>
          </a:solidFill>
          <a:ln w="19050">
            <a:solidFill>
              <a:srgbClr val="FFFFFF"/>
            </a:solidFill>
          </a:ln>
        </p:spPr>
        <p:txBody>
          <a:bodyPr lIns="0" tIns="0" rIns="0" bIns="0" anchor="ctr"/>
          <a:lstStyle/>
          <a:p>
            <a:pPr algn="ctr"/>
            <a:r>
              <a:rPr lang="en-US" sz="1400" b="1">
                <a:solidFill>
                  <a:srgbClr val="FFFFFF"/>
                </a:solidFill>
                <a:latin typeface="Graphik"/>
              </a:rPr>
              <a:t>K</a:t>
            </a:r>
          </a:p>
        </p:txBody>
      </p:sp>
      <p:sp>
        <p:nvSpPr>
          <p:cNvPr id="12" name="Card">
            <a:extLst>
              <a:ext uri="{FF2B5EF4-FFF2-40B4-BE49-F238E27FC236}">
                <a16:creationId xmlns:a16="http://schemas.microsoft.com/office/drawing/2014/main" id="{A8B59E5C-45B0-0F9D-6045-E2B48FEFC93E}"/>
              </a:ext>
            </a:extLst>
          </p:cNvPr>
          <p:cNvSpPr/>
          <p:nvPr/>
        </p:nvSpPr>
        <p:spPr>
          <a:xfrm>
            <a:off x="6255000" y="1560000"/>
            <a:ext cx="5556000" cy="605132"/>
          </a:xfrm>
          <a:prstGeom prst="roundRect">
            <a:avLst>
              <a:gd name="adj" fmla="val 26068"/>
            </a:avLst>
          </a:prstGeom>
          <a:solidFill>
            <a:srgbClr val="156082"/>
          </a:solidFill>
          <a:ln w="15875">
            <a:solidFill>
              <a:srgbClr val="156082"/>
            </a:solidFill>
          </a:ln>
        </p:spPr>
        <p:txBody>
          <a:bodyPr lIns="0" tIns="0" rIns="0" bIns="0" anchor="ctr"/>
          <a:lstStyle/>
          <a:p>
            <a:endParaRPr/>
          </a:p>
        </p:txBody>
      </p:sp>
      <p:sp>
        <p:nvSpPr>
          <p:cNvPr id="113" name="HdrFix"/>
          <p:cNvSpPr/>
          <p:nvPr/>
        </p:nvSpPr>
        <p:spPr>
          <a:xfrm>
            <a:off x="6256000" y="2060000"/>
            <a:ext cx="5556000" cy="120000"/>
          </a:xfrm>
          <a:prstGeom prst="rect">
            <a:avLst/>
          </a:prstGeom>
          <a:solidFill>
            <a:srgbClr val="156082"/>
          </a:solidFill>
          <a:ln>
            <a:noFill/>
          </a:ln>
        </p:spPr>
        <p:txBody>
          <a:bodyPr lIns="0" tIns="0" rIns="0" bIns="0" anchor="ctr"/>
          <a:lstStyle/>
          <a:p>
            <a:endParaRPr/>
          </a:p>
        </p:txBody>
      </p:sp>
      <p:sp>
        <p:nvSpPr>
          <p:cNvPr id="114" name="HdrTxt"/>
          <p:cNvSpPr txBox="1"/>
          <p:nvPr/>
        </p:nvSpPr>
        <p:spPr>
          <a:xfrm>
            <a:off x="6406000" y="1545132"/>
            <a:ext cx="5405000" cy="620000"/>
          </a:xfrm>
          <a:prstGeom prst="rect">
            <a:avLst/>
          </a:prstGeom>
          <a:noFill/>
        </p:spPr>
        <p:txBody>
          <a:bodyPr lIns="110000" tIns="60000" rIns="110000" bIns="60000" rtlCol="0" anchor="ctr">
            <a:normAutofit/>
          </a:bodyPr>
          <a:lstStyle/>
          <a:p>
            <a:pPr marL="0" indent="0" algn="l">
              <a:lnSpc>
                <a:spcPct val="100000"/>
              </a:lnSpc>
              <a:spcAft>
                <a:spcPts val="100"/>
              </a:spcAft>
              <a:buNone/>
            </a:pPr>
            <a:r>
              <a:rPr lang="en-US" sz="1500" b="1" i="0" dirty="0">
                <a:solidFill>
                  <a:srgbClr val="FFFFFF"/>
                </a:solidFill>
                <a:latin typeface="Graphik"/>
              </a:rPr>
              <a:t>Domain Capabilities</a:t>
            </a:r>
          </a:p>
          <a:p>
            <a:pPr marL="0" indent="0" algn="l">
              <a:lnSpc>
                <a:spcPct val="100000"/>
              </a:lnSpc>
              <a:spcAft>
                <a:spcPts val="0"/>
              </a:spcAft>
              <a:buNone/>
            </a:pPr>
            <a:r>
              <a:rPr lang="en-US" sz="1050" b="0" i="1" dirty="0">
                <a:solidFill>
                  <a:srgbClr val="CFE3EA"/>
                </a:solidFill>
                <a:latin typeface="Graphik"/>
              </a:rPr>
              <a:t>The shops — named work, added when needed</a:t>
            </a:r>
          </a:p>
        </p:txBody>
      </p:sp>
    </p:spTree>
    <p:extLst>
      <p:ext uri="{BB962C8B-B14F-4D97-AF65-F5344CB8AC3E}">
        <p14:creationId xmlns:p14="http://schemas.microsoft.com/office/powerpoint/2010/main" val="39835464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A8D74AC-2277-4F46-791F-D1E85CA77147}"/>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All rights reserved.</a:t>
            </a:r>
          </a:p>
        </p:txBody>
      </p:sp>
      <p:sp>
        <p:nvSpPr>
          <p:cNvPr id="4" name="Slide Number Placeholder 3">
            <a:extLst>
              <a:ext uri="{FF2B5EF4-FFF2-40B4-BE49-F238E27FC236}">
                <a16:creationId xmlns:a16="http://schemas.microsoft.com/office/drawing/2014/main" id="{0207964D-8E46-FDF2-1A6B-862C7F07B769}"/>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Graphik"/>
              <a:ea typeface="+mn-ea"/>
              <a:cs typeface="+mn-cs"/>
            </a:endParaRPr>
          </a:p>
        </p:txBody>
      </p:sp>
      <p:sp>
        <p:nvSpPr>
          <p:cNvPr id="23" name="Title 1">
            <a:extLst>
              <a:ext uri="{FF2B5EF4-FFF2-40B4-BE49-F238E27FC236}">
                <a16:creationId xmlns:a16="http://schemas.microsoft.com/office/drawing/2014/main" id="{68425746-EAF5-AE0A-FFFC-004556DAE8C0}"/>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Interoperability Architecture </a:t>
            </a:r>
            <a:r>
              <a:rPr kumimoji="0" lang="en-US" sz="2400" b="1" i="0" u="none" strike="noStrike" kern="1200" cap="none" spc="0" normalizeH="0" baseline="0" noProof="0">
                <a:ln>
                  <a:noFill/>
                </a:ln>
                <a:solidFill>
                  <a:srgbClr val="000000"/>
                </a:solidFill>
                <a:effectLst/>
                <a:uLnTx/>
                <a:uFillTx/>
                <a:latin typeface="Graphik"/>
                <a:ea typeface="+mj-ea"/>
                <a:cs typeface="+mj-cs"/>
              </a:rPr>
              <a:t>| Capability Map Level 0</a:t>
            </a:r>
          </a:p>
        </p:txBody>
      </p:sp>
      <p:sp>
        <p:nvSpPr>
          <p:cNvPr id="25" name="Rectangle 24">
            <a:extLst>
              <a:ext uri="{FF2B5EF4-FFF2-40B4-BE49-F238E27FC236}">
                <a16:creationId xmlns:a16="http://schemas.microsoft.com/office/drawing/2014/main" id="{CFDF9771-8CBA-EB08-DE3B-8AF337FFD430}"/>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Security</a:t>
            </a:r>
          </a:p>
        </p:txBody>
      </p:sp>
      <p:sp>
        <p:nvSpPr>
          <p:cNvPr id="26" name="Rectangle 25">
            <a:extLst>
              <a:ext uri="{FF2B5EF4-FFF2-40B4-BE49-F238E27FC236}">
                <a16:creationId xmlns:a16="http://schemas.microsoft.com/office/drawing/2014/main" id="{326727DF-6F03-BC04-4A78-F43393023CF0}"/>
              </a:ext>
            </a:extLst>
          </p:cNvPr>
          <p:cNvSpPr/>
          <p:nvPr/>
        </p:nvSpPr>
        <p:spPr>
          <a:xfrm>
            <a:off x="1907612" y="944590"/>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Observability</a:t>
            </a:r>
          </a:p>
        </p:txBody>
      </p:sp>
      <p:sp>
        <p:nvSpPr>
          <p:cNvPr id="27" name="Rectangle 26">
            <a:extLst>
              <a:ext uri="{FF2B5EF4-FFF2-40B4-BE49-F238E27FC236}">
                <a16:creationId xmlns:a16="http://schemas.microsoft.com/office/drawing/2014/main" id="{B8329EC3-7002-5766-1217-CE4C85857BB1}"/>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Infrastructure</a:t>
            </a:r>
          </a:p>
        </p:txBody>
      </p:sp>
      <p:sp>
        <p:nvSpPr>
          <p:cNvPr id="28" name="Rectangle 27">
            <a:extLst>
              <a:ext uri="{FF2B5EF4-FFF2-40B4-BE49-F238E27FC236}">
                <a16:creationId xmlns:a16="http://schemas.microsoft.com/office/drawing/2014/main" id="{397E75AD-DE87-3765-530C-C37F7C229DF0}"/>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Gateway Services</a:t>
            </a:r>
          </a:p>
        </p:txBody>
      </p:sp>
      <p:sp>
        <p:nvSpPr>
          <p:cNvPr id="29" name="Rectangle 28">
            <a:extLst>
              <a:ext uri="{FF2B5EF4-FFF2-40B4-BE49-F238E27FC236}">
                <a16:creationId xmlns:a16="http://schemas.microsoft.com/office/drawing/2014/main" id="{07032E24-4EBC-4359-B6FA-4AE01DEFC30C}"/>
              </a:ext>
            </a:extLst>
          </p:cNvPr>
          <p:cNvSpPr/>
          <p:nvPr/>
        </p:nvSpPr>
        <p:spPr>
          <a:xfrm>
            <a:off x="3161292" y="2773838"/>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Omnichannel &amp; Caching Components</a:t>
            </a:r>
          </a:p>
        </p:txBody>
      </p:sp>
      <p:sp>
        <p:nvSpPr>
          <p:cNvPr id="30" name="Rectangle 29">
            <a:extLst>
              <a:ext uri="{FF2B5EF4-FFF2-40B4-BE49-F238E27FC236}">
                <a16:creationId xmlns:a16="http://schemas.microsoft.com/office/drawing/2014/main" id="{6D739B0F-062A-9D0D-688E-C5956D05F86F}"/>
              </a:ext>
            </a:extLst>
          </p:cNvPr>
          <p:cNvSpPr/>
          <p:nvPr/>
        </p:nvSpPr>
        <p:spPr>
          <a:xfrm>
            <a:off x="3167494" y="5132461"/>
            <a:ext cx="5681779" cy="1042899"/>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Data Delivery</a:t>
            </a:r>
          </a:p>
        </p:txBody>
      </p:sp>
      <p:sp>
        <p:nvSpPr>
          <p:cNvPr id="31" name="Rectangle 30">
            <a:extLst>
              <a:ext uri="{FF2B5EF4-FFF2-40B4-BE49-F238E27FC236}">
                <a16:creationId xmlns:a16="http://schemas.microsoft.com/office/drawing/2014/main" id="{B626ACA0-B499-3614-76D1-A4644845A15A}"/>
              </a:ext>
            </a:extLst>
          </p:cNvPr>
          <p:cNvSpPr/>
          <p:nvPr/>
        </p:nvSpPr>
        <p:spPr>
          <a:xfrm>
            <a:off x="3169828" y="3419879"/>
            <a:ext cx="5681779" cy="960502"/>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Distributed Transactions</a:t>
            </a:r>
          </a:p>
        </p:txBody>
      </p:sp>
      <p:sp>
        <p:nvSpPr>
          <p:cNvPr id="32" name="Rectangle 31">
            <a:extLst>
              <a:ext uri="{FF2B5EF4-FFF2-40B4-BE49-F238E27FC236}">
                <a16:creationId xmlns:a16="http://schemas.microsoft.com/office/drawing/2014/main" id="{851C038D-02DD-A1C2-B094-4AEE3C4CA255}"/>
              </a:ext>
            </a:extLst>
          </p:cNvPr>
          <p:cNvSpPr/>
          <p:nvPr/>
        </p:nvSpPr>
        <p:spPr>
          <a:xfrm>
            <a:off x="9005587" y="944591"/>
            <a:ext cx="1080000" cy="5230768"/>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Event Processing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&amp; Reactive Components</a:t>
            </a:r>
          </a:p>
        </p:txBody>
      </p:sp>
      <p:sp>
        <p:nvSpPr>
          <p:cNvPr id="33" name="Rectangle 32">
            <a:extLst>
              <a:ext uri="{FF2B5EF4-FFF2-40B4-BE49-F238E27FC236}">
                <a16:creationId xmlns:a16="http://schemas.microsoft.com/office/drawing/2014/main" id="{1EB03432-3045-B4A7-2427-3D2D522CCEE0}"/>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API Management</a:t>
            </a:r>
          </a:p>
        </p:txBody>
      </p:sp>
      <p:sp>
        <p:nvSpPr>
          <p:cNvPr id="34" name="Oval 33">
            <a:extLst>
              <a:ext uri="{FF2B5EF4-FFF2-40B4-BE49-F238E27FC236}">
                <a16:creationId xmlns:a16="http://schemas.microsoft.com/office/drawing/2014/main" id="{A2CB8B61-1F8F-67B2-D843-9A628C1AB852}"/>
              </a:ext>
            </a:extLst>
          </p:cNvPr>
          <p:cNvSpPr/>
          <p:nvPr/>
        </p:nvSpPr>
        <p:spPr>
          <a:xfrm>
            <a:off x="1557648"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5" name="Oval 34">
            <a:extLst>
              <a:ext uri="{FF2B5EF4-FFF2-40B4-BE49-F238E27FC236}">
                <a16:creationId xmlns:a16="http://schemas.microsoft.com/office/drawing/2014/main" id="{4E88CC31-C2D8-C7C3-E374-245980F7F53F}"/>
              </a:ext>
            </a:extLst>
          </p:cNvPr>
          <p:cNvSpPr/>
          <p:nvPr/>
        </p:nvSpPr>
        <p:spPr>
          <a:xfrm>
            <a:off x="2753612"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6" name="Oval 35">
            <a:extLst>
              <a:ext uri="{FF2B5EF4-FFF2-40B4-BE49-F238E27FC236}">
                <a16:creationId xmlns:a16="http://schemas.microsoft.com/office/drawing/2014/main" id="{0D91BB8E-0B17-6360-5DC6-A2299D81FFA5}"/>
              </a:ext>
            </a:extLst>
          </p:cNvPr>
          <p:cNvSpPr/>
          <p:nvPr/>
        </p:nvSpPr>
        <p:spPr>
          <a:xfrm>
            <a:off x="6577513"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7" name="Oval 36">
            <a:extLst>
              <a:ext uri="{FF2B5EF4-FFF2-40B4-BE49-F238E27FC236}">
                <a16:creationId xmlns:a16="http://schemas.microsoft.com/office/drawing/2014/main" id="{A99BFA2C-2E45-962D-69CE-6004D2B03A40}"/>
              </a:ext>
            </a:extLst>
          </p:cNvPr>
          <p:cNvSpPr/>
          <p:nvPr/>
        </p:nvSpPr>
        <p:spPr>
          <a:xfrm>
            <a:off x="11086789"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8" name="Oval 37">
            <a:extLst>
              <a:ext uri="{FF2B5EF4-FFF2-40B4-BE49-F238E27FC236}">
                <a16:creationId xmlns:a16="http://schemas.microsoft.com/office/drawing/2014/main" id="{854C8E03-D227-4330-5D5C-9549616F5A99}"/>
              </a:ext>
            </a:extLst>
          </p:cNvPr>
          <p:cNvSpPr/>
          <p:nvPr/>
        </p:nvSpPr>
        <p:spPr>
          <a:xfrm>
            <a:off x="6547147" y="2135758"/>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9" name="Rectangle 38">
            <a:extLst>
              <a:ext uri="{FF2B5EF4-FFF2-40B4-BE49-F238E27FC236}">
                <a16:creationId xmlns:a16="http://schemas.microsoft.com/office/drawing/2014/main" id="{5828082A-0A90-A83F-BAC2-997225584921}"/>
              </a:ext>
            </a:extLst>
          </p:cNvPr>
          <p:cNvSpPr/>
          <p:nvPr/>
        </p:nvSpPr>
        <p:spPr>
          <a:xfrm>
            <a:off x="3160153" y="4486422"/>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Common Business Services</a:t>
            </a:r>
          </a:p>
        </p:txBody>
      </p:sp>
      <p:sp>
        <p:nvSpPr>
          <p:cNvPr id="7" name="TextBox 6">
            <a:extLst>
              <a:ext uri="{FF2B5EF4-FFF2-40B4-BE49-F238E27FC236}">
                <a16:creationId xmlns:a16="http://schemas.microsoft.com/office/drawing/2014/main" id="{63BA7228-C9BA-8951-021C-779F694A1B1D}"/>
              </a:ext>
            </a:extLst>
          </p:cNvPr>
          <p:cNvSpPr txBox="1"/>
          <p:nvPr>
            <p:extLst>
              <p:ext uri="{1162E1C5-73C7-4A58-AE30-91384D911F3F}">
                <p184:classification xmlns:p184="http://schemas.microsoft.com/office/powerpoint/2018/4/main" val="hdr"/>
              </p:ext>
            </p:extLst>
          </p:nvPr>
        </p:nvSpPr>
        <p:spPr>
          <a:xfrm>
            <a:off x="4610601" y="78170"/>
            <a:ext cx="3641223" cy="153888"/>
          </a:xfrm>
          <a:prstGeom prst="rect">
            <a:avLst/>
          </a:prstGeom>
        </p:spPr>
        <p:txBody>
          <a:bodyPr horzOverflow="overflow"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***Confidential - For Company Internal Use Only***</a:t>
            </a:r>
          </a:p>
        </p:txBody>
      </p:sp>
      <p:grpSp>
        <p:nvGrpSpPr>
          <p:cNvPr id="2" name="Group 1">
            <a:extLst>
              <a:ext uri="{FF2B5EF4-FFF2-40B4-BE49-F238E27FC236}">
                <a16:creationId xmlns:a16="http://schemas.microsoft.com/office/drawing/2014/main" id="{4635A679-91B1-9924-7D56-044B595E2BE9}"/>
              </a:ext>
            </a:extLst>
          </p:cNvPr>
          <p:cNvGrpSpPr/>
          <p:nvPr/>
        </p:nvGrpSpPr>
        <p:grpSpPr>
          <a:xfrm>
            <a:off x="5366382" y="6281128"/>
            <a:ext cx="1576882" cy="180000"/>
            <a:chOff x="9283672" y="6207566"/>
            <a:chExt cx="1576882" cy="180000"/>
          </a:xfrm>
        </p:grpSpPr>
        <p:sp>
          <p:nvSpPr>
            <p:cNvPr id="6" name="Oval 5">
              <a:extLst>
                <a:ext uri="{FF2B5EF4-FFF2-40B4-BE49-F238E27FC236}">
                  <a16:creationId xmlns:a16="http://schemas.microsoft.com/office/drawing/2014/main" id="{B25D7EE6-2931-8EDB-5810-D807DAD789C5}"/>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 name="Rectangle 7">
              <a:extLst>
                <a:ext uri="{FF2B5EF4-FFF2-40B4-BE49-F238E27FC236}">
                  <a16:creationId xmlns:a16="http://schemas.microsoft.com/office/drawing/2014/main" id="{70D0727D-E3A6-A5A5-CA73-4F0A2F5D98F6}"/>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Graphik"/>
                  <a:ea typeface="+mn-ea"/>
                  <a:cs typeface="+mn-cs"/>
                </a:rPr>
                <a:t>Kernel &amp; Platform Components</a:t>
              </a:r>
            </a:p>
          </p:txBody>
        </p:sp>
      </p:grpSp>
      <p:grpSp>
        <p:nvGrpSpPr>
          <p:cNvPr id="41" name="Group 40">
            <a:extLst>
              <a:ext uri="{FF2B5EF4-FFF2-40B4-BE49-F238E27FC236}">
                <a16:creationId xmlns:a16="http://schemas.microsoft.com/office/drawing/2014/main" id="{79FA365B-0F31-880D-17F4-C38788A2E195}"/>
              </a:ext>
            </a:extLst>
          </p:cNvPr>
          <p:cNvGrpSpPr/>
          <p:nvPr/>
        </p:nvGrpSpPr>
        <p:grpSpPr>
          <a:xfrm>
            <a:off x="5366382" y="6509079"/>
            <a:ext cx="1576882" cy="180000"/>
            <a:chOff x="9283672" y="6207566"/>
            <a:chExt cx="1576882" cy="180000"/>
          </a:xfrm>
        </p:grpSpPr>
        <p:sp>
          <p:nvSpPr>
            <p:cNvPr id="42" name="Rectangle 41">
              <a:extLst>
                <a:ext uri="{FF2B5EF4-FFF2-40B4-BE49-F238E27FC236}">
                  <a16:creationId xmlns:a16="http://schemas.microsoft.com/office/drawing/2014/main" id="{1450ECB1-9DB4-2AEB-3F82-94E78101F090}"/>
                </a:ext>
              </a:extLst>
            </p:cNvPr>
            <p:cNvSpPr/>
            <p:nvPr/>
          </p:nvSpPr>
          <p:spPr>
            <a:xfrm>
              <a:off x="9283672" y="6207566"/>
              <a:ext cx="180000" cy="180000"/>
            </a:xfrm>
            <a:prstGeom prst="rect">
              <a:avLst/>
            </a:prstGeom>
            <a:solidFill>
              <a:srgbClr val="E6E6DC"/>
            </a:solidFill>
            <a:ln>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ES" sz="1100" b="1" i="0" u="none" strike="noStrike" kern="1200" cap="none" spc="0" normalizeH="0" baseline="0" noProof="0" dirty="0">
                <a:ln>
                  <a:noFill/>
                </a:ln>
                <a:solidFill>
                  <a:srgbClr val="FFFFFF"/>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D94902BD-45BD-4F63-A070-A81A4B44E9C1}"/>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Graphik"/>
                  <a:ea typeface="+mn-ea"/>
                  <a:cs typeface="+mn-cs"/>
                </a:rPr>
                <a:t>Domain Components</a:t>
              </a:r>
            </a:p>
          </p:txBody>
        </p:sp>
      </p:grpSp>
    </p:spTree>
    <p:extLst>
      <p:ext uri="{BB962C8B-B14F-4D97-AF65-F5344CB8AC3E}">
        <p14:creationId xmlns:p14="http://schemas.microsoft.com/office/powerpoint/2010/main" val="3350161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A8D74AC-2277-4F46-791F-D1E85CA77147}"/>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All rights reserved.</a:t>
            </a:r>
          </a:p>
        </p:txBody>
      </p:sp>
      <p:sp>
        <p:nvSpPr>
          <p:cNvPr id="4" name="Slide Number Placeholder 3">
            <a:extLst>
              <a:ext uri="{FF2B5EF4-FFF2-40B4-BE49-F238E27FC236}">
                <a16:creationId xmlns:a16="http://schemas.microsoft.com/office/drawing/2014/main" id="{0207964D-8E46-FDF2-1A6B-862C7F07B769}"/>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F8EB60C-7CC2-49F0-B2EE-C81F067DE041}" type="slidenum">
              <a:rPr kumimoji="0" lang="en-US" sz="1800" b="0" i="0" u="none" strike="noStrike" kern="1200" cap="none" spc="0" normalizeH="0" baseline="0" noProof="0" smtClean="0">
                <a:ln>
                  <a:noFill/>
                </a:ln>
                <a:solidFill>
                  <a:srgbClr val="000000"/>
                </a:solidFill>
                <a:effectLst/>
                <a:uLnTx/>
                <a:uFillTx/>
                <a:latin typeface="Graphi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23" name="Title 1">
            <a:extLst>
              <a:ext uri="{FF2B5EF4-FFF2-40B4-BE49-F238E27FC236}">
                <a16:creationId xmlns:a16="http://schemas.microsoft.com/office/drawing/2014/main" id="{68425746-EAF5-AE0A-FFFC-004556DAE8C0}"/>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Interoperability Architecture </a:t>
            </a:r>
            <a:r>
              <a:rPr kumimoji="0" lang="en-US" sz="2400" b="1" i="0" u="none" strike="noStrike" kern="1200" cap="none" spc="0" normalizeH="0" baseline="0" noProof="0">
                <a:ln>
                  <a:noFill/>
                </a:ln>
                <a:solidFill>
                  <a:srgbClr val="000000"/>
                </a:solidFill>
                <a:effectLst/>
                <a:uLnTx/>
                <a:uFillTx/>
                <a:latin typeface="Graphik"/>
                <a:ea typeface="+mj-ea"/>
                <a:cs typeface="+mj-cs"/>
              </a:rPr>
              <a:t>| Level 0 Capabilities — Description &amp; Purpose</a:t>
            </a:r>
          </a:p>
        </p:txBody>
      </p:sp>
      <p:sp>
        <p:nvSpPr>
          <p:cNvPr id="100" name="Section Kernel &amp; Platform Capabilities"/>
          <p:cNvSpPr txBox="1"/>
          <p:nvPr/>
        </p:nvSpPr>
        <p:spPr>
          <a:xfrm>
            <a:off x="380000" y="815000"/>
            <a:ext cx="11432000" cy="230000"/>
          </a:xfrm>
          <a:prstGeom prst="rect">
            <a:avLst/>
          </a:prstGeom>
        </p:spPr>
        <p:txBody>
          <a:bodyPr lIns="0" tIns="0" rIns="0" bIns="0" anchor="ctr"/>
          <a:lstStyle/>
          <a:p>
            <a:pPr algn="l"/>
            <a:r>
              <a:rPr lang="en-US" sz="1200" b="1">
                <a:solidFill>
                  <a:srgbClr val="000000"/>
                </a:solidFill>
                <a:latin typeface="Graphik"/>
              </a:rPr>
              <a:t>Kernel &amp; Platform Capabilities</a:t>
            </a:r>
            <a:r>
              <a:rPr lang="en-US" sz="1050" b="1">
                <a:solidFill>
                  <a:srgbClr val="C00000"/>
                </a:solidFill>
                <a:latin typeface="Graphik"/>
              </a:rPr>
              <a:t>  (K = Kernel &amp; Platform Components)</a:t>
            </a:r>
          </a:p>
        </p:txBody>
      </p:sp>
      <p:sp>
        <p:nvSpPr>
          <p:cNvPr id="101" name="Card API Management"/>
          <p:cNvSpPr/>
          <p:nvPr/>
        </p:nvSpPr>
        <p:spPr>
          <a:xfrm>
            <a:off x="380000" y="1080000"/>
            <a:ext cx="2788920" cy="118872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300000" algn="l">
              <a:lnSpc>
                <a:spcPct val="98000"/>
              </a:lnSpc>
              <a:spcAft>
                <a:spcPts val="200"/>
              </a:spcAft>
            </a:pPr>
            <a:r>
              <a:rPr lang="en-US" sz="800" b="1" dirty="0">
                <a:solidFill>
                  <a:srgbClr val="7500C0"/>
                </a:solidFill>
                <a:latin typeface="Graphik"/>
              </a:rPr>
              <a:t>API Management</a:t>
            </a:r>
          </a:p>
          <a:p>
            <a:pPr marL="0" algn="l">
              <a:lnSpc>
                <a:spcPct val="96000"/>
              </a:lnSpc>
              <a:spcAft>
                <a:spcPts val="300"/>
              </a:spcAft>
            </a:pPr>
            <a:r>
              <a:rPr lang="en-US" sz="800" dirty="0">
                <a:solidFill>
                  <a:srgbClr val="1A1A1A"/>
                </a:solidFill>
                <a:latin typeface="Graphik"/>
              </a:rPr>
              <a:t>Design, publish, version, secure, meter and retire the bank's synchronous service contracts, plus the developer portal, catalogue and sandbox.</a:t>
            </a:r>
          </a:p>
          <a:p>
            <a:pPr marL="0" algn="l">
              <a:lnSpc>
                <a:spcPct val="96000"/>
              </a:lnSpc>
            </a:pPr>
            <a:r>
              <a:rPr lang="en-US" sz="800" b="1" dirty="0">
                <a:solidFill>
                  <a:srgbClr val="7500C0"/>
                </a:solidFill>
                <a:latin typeface="Graphik"/>
              </a:rPr>
              <a:t>Purpose  </a:t>
            </a:r>
            <a:r>
              <a:rPr lang="en-US" sz="800" i="1" dirty="0">
                <a:solidFill>
                  <a:srgbClr val="404040"/>
                </a:solidFill>
                <a:latin typeface="Graphik"/>
              </a:rPr>
              <a:t>The primary decoupling instrument: a stable API contract lets channels and cores be re-platformed independently, turning a system call into a banking-capability call.</a:t>
            </a:r>
          </a:p>
        </p:txBody>
      </p:sp>
      <p:sp>
        <p:nvSpPr>
          <p:cNvPr id="601" name="K 101"/>
          <p:cNvSpPr/>
          <p:nvPr/>
        </p:nvSpPr>
        <p:spPr>
          <a:xfrm>
            <a:off x="2932144" y="1134000"/>
            <a:ext cx="180000" cy="180000"/>
          </a:xfrm>
          <a:prstGeom prst="ellipse">
            <a:avLst/>
          </a:prstGeom>
          <a:solidFill>
            <a:srgbClr val="C00000"/>
          </a:solidFill>
          <a:ln>
            <a:noFill/>
          </a:ln>
        </p:spPr>
        <p:txBody>
          <a:bodyPr lIns="0" tIns="0" rIns="0" bIns="0" rtlCol="0" anchor="ctr"/>
          <a:lstStyle/>
          <a:p>
            <a:pPr algn="ctr"/>
            <a:r>
              <a:rPr lang="en-US" sz="800" b="1">
                <a:solidFill>
                  <a:srgbClr val="FFFFFF"/>
                </a:solidFill>
                <a:latin typeface="Graphik"/>
              </a:rPr>
              <a:t>K</a:t>
            </a:r>
          </a:p>
        </p:txBody>
      </p:sp>
      <p:sp>
        <p:nvSpPr>
          <p:cNvPr id="102" name="Card Gateway Services"/>
          <p:cNvSpPr/>
          <p:nvPr/>
        </p:nvSpPr>
        <p:spPr>
          <a:xfrm>
            <a:off x="3262080" y="1080000"/>
            <a:ext cx="2788920" cy="118872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300000" algn="l">
              <a:lnSpc>
                <a:spcPct val="98000"/>
              </a:lnSpc>
              <a:spcAft>
                <a:spcPts val="200"/>
              </a:spcAft>
            </a:pPr>
            <a:r>
              <a:rPr lang="en-US" sz="800" b="1" dirty="0">
                <a:solidFill>
                  <a:srgbClr val="7500C0"/>
                </a:solidFill>
                <a:latin typeface="Graphik"/>
              </a:rPr>
              <a:t>Gateway Services</a:t>
            </a:r>
          </a:p>
          <a:p>
            <a:pPr marL="0" algn="l">
              <a:lnSpc>
                <a:spcPct val="96000"/>
              </a:lnSpc>
              <a:spcAft>
                <a:spcPts val="300"/>
              </a:spcAft>
            </a:pPr>
            <a:r>
              <a:rPr lang="en-US" sz="800" dirty="0">
                <a:solidFill>
                  <a:srgbClr val="1A1A1A"/>
                </a:solidFill>
                <a:latin typeface="Graphik"/>
              </a:rPr>
              <a:t>Controlled ingress and egress across the trust boundary in three modalities — API, file and event, inbound and outbound — plus Open Banking and partner edges.</a:t>
            </a:r>
          </a:p>
          <a:p>
            <a:pPr marL="0" algn="l">
              <a:lnSpc>
                <a:spcPct val="96000"/>
              </a:lnSpc>
            </a:pPr>
            <a:r>
              <a:rPr lang="en-US" sz="800" b="1" dirty="0">
                <a:solidFill>
                  <a:srgbClr val="7500C0"/>
                </a:solidFill>
                <a:latin typeface="Graphik"/>
              </a:rPr>
              <a:t>Purpose  </a:t>
            </a:r>
            <a:r>
              <a:rPr lang="en-US" sz="800" i="1" dirty="0">
                <a:solidFill>
                  <a:srgbClr val="404040"/>
                </a:solidFill>
                <a:latin typeface="Graphik"/>
              </a:rPr>
              <a:t>Makes ecosystem participation a configuration exercise, not a project. Inbound API gateways are usually mature; outbound file and event gateways are the common critical-path gap.</a:t>
            </a:r>
          </a:p>
        </p:txBody>
      </p:sp>
      <p:sp>
        <p:nvSpPr>
          <p:cNvPr id="602" name="K 102"/>
          <p:cNvSpPr/>
          <p:nvPr/>
        </p:nvSpPr>
        <p:spPr>
          <a:xfrm>
            <a:off x="5784649" y="1121728"/>
            <a:ext cx="180000" cy="180000"/>
          </a:xfrm>
          <a:prstGeom prst="ellipse">
            <a:avLst/>
          </a:prstGeom>
          <a:solidFill>
            <a:srgbClr val="C00000"/>
          </a:solidFill>
          <a:ln>
            <a:noFill/>
          </a:ln>
        </p:spPr>
        <p:txBody>
          <a:bodyPr lIns="0" tIns="0" rIns="0" bIns="0" rtlCol="0" anchor="ctr"/>
          <a:lstStyle/>
          <a:p>
            <a:pPr algn="ctr"/>
            <a:r>
              <a:rPr lang="en-US" sz="800" b="1">
                <a:solidFill>
                  <a:srgbClr val="FFFFFF"/>
                </a:solidFill>
                <a:latin typeface="Graphik"/>
              </a:rPr>
              <a:t>K</a:t>
            </a:r>
          </a:p>
        </p:txBody>
      </p:sp>
      <p:sp>
        <p:nvSpPr>
          <p:cNvPr id="103" name="Card Security"/>
          <p:cNvSpPr/>
          <p:nvPr/>
        </p:nvSpPr>
        <p:spPr>
          <a:xfrm>
            <a:off x="6142580" y="1080000"/>
            <a:ext cx="2788920" cy="118872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300000" algn="l">
              <a:lnSpc>
                <a:spcPct val="98000"/>
              </a:lnSpc>
              <a:spcAft>
                <a:spcPts val="200"/>
              </a:spcAft>
            </a:pPr>
            <a:r>
              <a:rPr lang="en-US" sz="800" b="1" dirty="0">
                <a:solidFill>
                  <a:srgbClr val="7500C0"/>
                </a:solidFill>
                <a:latin typeface="Graphik"/>
              </a:rPr>
              <a:t>Security</a:t>
            </a:r>
          </a:p>
          <a:p>
            <a:pPr marL="0" algn="l">
              <a:lnSpc>
                <a:spcPct val="96000"/>
              </a:lnSpc>
              <a:spcAft>
                <a:spcPts val="300"/>
              </a:spcAft>
            </a:pPr>
            <a:r>
              <a:rPr lang="en-US" sz="800" dirty="0">
                <a:solidFill>
                  <a:srgbClr val="1A1A1A"/>
                </a:solidFill>
                <a:latin typeface="Graphik"/>
              </a:rPr>
              <a:t>End-to-end protection of the interoperability layer: IAM, crypto and HSM, certificate and secret management, audit logging, threat protection, container and streaming security.</a:t>
            </a:r>
          </a:p>
          <a:p>
            <a:pPr marL="0" algn="l">
              <a:lnSpc>
                <a:spcPct val="96000"/>
              </a:lnSpc>
            </a:pPr>
            <a:r>
              <a:rPr lang="en-US" sz="800" b="1" dirty="0">
                <a:solidFill>
                  <a:srgbClr val="7500C0"/>
                </a:solidFill>
                <a:latin typeface="Graphik"/>
              </a:rPr>
              <a:t>Purpose  </a:t>
            </a:r>
            <a:r>
              <a:rPr lang="en-US" sz="800" i="1" dirty="0">
                <a:solidFill>
                  <a:srgbClr val="404040"/>
                </a:solidFill>
                <a:latin typeface="Graphik"/>
              </a:rPr>
              <a:t>Security is inherited from the platform, not re-coded per service — so the attack surface and remediation cost do not grow faster than the functionality.</a:t>
            </a:r>
          </a:p>
        </p:txBody>
      </p:sp>
      <p:sp>
        <p:nvSpPr>
          <p:cNvPr id="603" name="K 103"/>
          <p:cNvSpPr/>
          <p:nvPr/>
        </p:nvSpPr>
        <p:spPr>
          <a:xfrm>
            <a:off x="8720820" y="1121728"/>
            <a:ext cx="180000" cy="180000"/>
          </a:xfrm>
          <a:prstGeom prst="ellipse">
            <a:avLst/>
          </a:prstGeom>
          <a:solidFill>
            <a:srgbClr val="C00000"/>
          </a:solidFill>
          <a:ln>
            <a:noFill/>
          </a:ln>
        </p:spPr>
        <p:txBody>
          <a:bodyPr lIns="0" tIns="0" rIns="0" bIns="0" rtlCol="0" anchor="ctr"/>
          <a:lstStyle/>
          <a:p>
            <a:pPr algn="ctr"/>
            <a:r>
              <a:rPr lang="en-US" sz="800" b="1" dirty="0">
                <a:solidFill>
                  <a:srgbClr val="FFFFFF"/>
                </a:solidFill>
                <a:latin typeface="Graphik"/>
              </a:rPr>
              <a:t>K</a:t>
            </a:r>
          </a:p>
        </p:txBody>
      </p:sp>
      <p:sp>
        <p:nvSpPr>
          <p:cNvPr id="104" name="Card Observability"/>
          <p:cNvSpPr/>
          <p:nvPr/>
        </p:nvSpPr>
        <p:spPr>
          <a:xfrm>
            <a:off x="9023080" y="1080000"/>
            <a:ext cx="2788920" cy="118872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300000" algn="l">
              <a:lnSpc>
                <a:spcPct val="98000"/>
              </a:lnSpc>
              <a:spcAft>
                <a:spcPts val="200"/>
              </a:spcAft>
            </a:pPr>
            <a:r>
              <a:rPr lang="en-US" sz="800" b="1" dirty="0">
                <a:solidFill>
                  <a:srgbClr val="7500C0"/>
                </a:solidFill>
                <a:latin typeface="Graphik"/>
              </a:rPr>
              <a:t>Observability</a:t>
            </a:r>
          </a:p>
          <a:p>
            <a:pPr marL="0" algn="l">
              <a:lnSpc>
                <a:spcPct val="96000"/>
              </a:lnSpc>
              <a:spcAft>
                <a:spcPts val="300"/>
              </a:spcAft>
            </a:pPr>
            <a:r>
              <a:rPr lang="en-US" sz="800" dirty="0">
                <a:solidFill>
                  <a:srgbClr val="1A1A1A"/>
                </a:solidFill>
                <a:latin typeface="Graphik"/>
              </a:rPr>
              <a:t>Evidence across the estate: log aggregation, distributed tracing, API and health monitoring, alerts, metrics, and technical and business dashboards.</a:t>
            </a:r>
          </a:p>
          <a:p>
            <a:pPr marL="0" algn="l">
              <a:lnSpc>
                <a:spcPct val="96000"/>
              </a:lnSpc>
            </a:pPr>
            <a:r>
              <a:rPr lang="en-US" sz="800" b="1" dirty="0">
                <a:solidFill>
                  <a:srgbClr val="7500C0"/>
                </a:solidFill>
                <a:latin typeface="Graphik"/>
              </a:rPr>
              <a:t>Purpose  </a:t>
            </a:r>
            <a:r>
              <a:rPr lang="en-US" sz="800" i="1" dirty="0">
                <a:solidFill>
                  <a:srgbClr val="404040"/>
                </a:solidFill>
                <a:latin typeface="Graphik"/>
              </a:rPr>
              <a:t>Restores the end-to-end truth of a transaction no single system now holds, and turns telemetry into a business-service-level risk and performance view.</a:t>
            </a:r>
          </a:p>
        </p:txBody>
      </p:sp>
      <p:sp>
        <p:nvSpPr>
          <p:cNvPr id="604" name="K 104"/>
          <p:cNvSpPr/>
          <p:nvPr/>
        </p:nvSpPr>
        <p:spPr>
          <a:xfrm>
            <a:off x="11585798" y="1121728"/>
            <a:ext cx="180000" cy="180000"/>
          </a:xfrm>
          <a:prstGeom prst="ellipse">
            <a:avLst/>
          </a:prstGeom>
          <a:solidFill>
            <a:srgbClr val="C00000"/>
          </a:solidFill>
          <a:ln>
            <a:noFill/>
          </a:ln>
        </p:spPr>
        <p:txBody>
          <a:bodyPr lIns="0" tIns="0" rIns="0" bIns="0" rtlCol="0" anchor="ctr"/>
          <a:lstStyle/>
          <a:p>
            <a:pPr algn="ctr"/>
            <a:r>
              <a:rPr lang="en-US" sz="800" b="1" dirty="0">
                <a:solidFill>
                  <a:srgbClr val="FFFFFF"/>
                </a:solidFill>
                <a:latin typeface="Graphik"/>
              </a:rPr>
              <a:t>K</a:t>
            </a:r>
          </a:p>
        </p:txBody>
      </p:sp>
      <p:sp>
        <p:nvSpPr>
          <p:cNvPr id="105" name="Card Infrastructure (Tech Stack)"/>
          <p:cNvSpPr/>
          <p:nvPr/>
        </p:nvSpPr>
        <p:spPr>
          <a:xfrm>
            <a:off x="3260500" y="2310553"/>
            <a:ext cx="2788920" cy="118872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300000" algn="l">
              <a:lnSpc>
                <a:spcPct val="98000"/>
              </a:lnSpc>
              <a:spcAft>
                <a:spcPts val="200"/>
              </a:spcAft>
            </a:pPr>
            <a:r>
              <a:rPr lang="en-US" sz="800" b="1" dirty="0">
                <a:solidFill>
                  <a:srgbClr val="7500C0"/>
                </a:solidFill>
                <a:latin typeface="Graphik"/>
              </a:rPr>
              <a:t>Infrastructure (Tech Stack)</a:t>
            </a:r>
          </a:p>
          <a:p>
            <a:pPr marL="0" algn="l">
              <a:lnSpc>
                <a:spcPct val="96000"/>
              </a:lnSpc>
              <a:spcAft>
                <a:spcPts val="300"/>
              </a:spcAft>
            </a:pPr>
            <a:r>
              <a:rPr lang="en-US" sz="800" dirty="0">
                <a:solidFill>
                  <a:srgbClr val="1A1A1A"/>
                </a:solidFill>
                <a:latin typeface="Graphik"/>
              </a:rPr>
              <a:t>The runtime foundation: microservices framework, container platform and service mesh, discovery, caching, config automation, deployment and resilience (incl. chaos engineering).</a:t>
            </a:r>
          </a:p>
          <a:p>
            <a:pPr marL="0" algn="l">
              <a:lnSpc>
                <a:spcPct val="96000"/>
              </a:lnSpc>
            </a:pPr>
            <a:r>
              <a:rPr lang="en-US" sz="800" b="1" dirty="0">
                <a:solidFill>
                  <a:srgbClr val="7500C0"/>
                </a:solidFill>
                <a:latin typeface="Graphik"/>
              </a:rPr>
              <a:t>Purpose  </a:t>
            </a:r>
            <a:r>
              <a:rPr lang="en-US" sz="800" i="1" dirty="0">
                <a:solidFill>
                  <a:srgbClr val="404040"/>
                </a:solidFill>
                <a:latin typeface="Graphik"/>
              </a:rPr>
              <a:t>Determines the marginal cost of adding a component. A curated, governed stack delivers deployment agility and elastic scale, keeping thousands of services governable by a small team.</a:t>
            </a:r>
          </a:p>
        </p:txBody>
      </p:sp>
      <p:sp>
        <p:nvSpPr>
          <p:cNvPr id="106" name="Section Domain Capabilities"/>
          <p:cNvSpPr txBox="1"/>
          <p:nvPr/>
        </p:nvSpPr>
        <p:spPr>
          <a:xfrm>
            <a:off x="380000" y="3476846"/>
            <a:ext cx="11432000" cy="230000"/>
          </a:xfrm>
          <a:prstGeom prst="rect">
            <a:avLst/>
          </a:prstGeom>
        </p:spPr>
        <p:txBody>
          <a:bodyPr lIns="0" tIns="0" rIns="0" bIns="0" anchor="ctr"/>
          <a:lstStyle/>
          <a:p>
            <a:pPr algn="l"/>
            <a:r>
              <a:rPr lang="en-US" sz="800" b="1">
                <a:solidFill>
                  <a:srgbClr val="000000"/>
                </a:solidFill>
                <a:latin typeface="Graphik"/>
              </a:rPr>
              <a:t>Domain Capabilities</a:t>
            </a:r>
          </a:p>
        </p:txBody>
      </p:sp>
      <p:sp>
        <p:nvSpPr>
          <p:cNvPr id="107" name="Card Service Orchestration"/>
          <p:cNvSpPr/>
          <p:nvPr/>
        </p:nvSpPr>
        <p:spPr>
          <a:xfrm>
            <a:off x="380000" y="3692396"/>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rmAutofit lnSpcReduction="10000"/>
          </a:bodyPr>
          <a:lstStyle/>
          <a:p>
            <a:pPr marL="0" marR="0" algn="l">
              <a:lnSpc>
                <a:spcPct val="98000"/>
              </a:lnSpc>
              <a:spcAft>
                <a:spcPts val="200"/>
              </a:spcAft>
            </a:pPr>
            <a:r>
              <a:rPr lang="en-US" sz="800" b="1" dirty="0">
                <a:solidFill>
                  <a:srgbClr val="7500C0"/>
                </a:solidFill>
                <a:latin typeface="Graphik"/>
              </a:rPr>
              <a:t>Service Orchestration</a:t>
            </a:r>
          </a:p>
          <a:p>
            <a:pPr marL="0" algn="l">
              <a:lnSpc>
                <a:spcPct val="96000"/>
              </a:lnSpc>
              <a:spcAft>
                <a:spcPts val="300"/>
              </a:spcAft>
            </a:pPr>
            <a:r>
              <a:rPr lang="en-US" sz="800" dirty="0">
                <a:solidFill>
                  <a:srgbClr val="1A1A1A"/>
                </a:solidFill>
                <a:latin typeface="Graphik"/>
              </a:rPr>
              <a:t>Composition of fine-grained services into complex business services across heterogeneous platforms, sync or async — integration framework, orchestrator, legacy adaptors, context mgmt.</a:t>
            </a:r>
          </a:p>
          <a:p>
            <a:pPr marL="0" algn="l">
              <a:lnSpc>
                <a:spcPct val="96000"/>
              </a:lnSpc>
            </a:pPr>
            <a:r>
              <a:rPr lang="en-US" sz="800" b="1" dirty="0">
                <a:solidFill>
                  <a:srgbClr val="7500C0"/>
                </a:solidFill>
                <a:latin typeface="Graphik"/>
              </a:rPr>
              <a:t>Purpose  </a:t>
            </a:r>
            <a:r>
              <a:rPr lang="en-US" sz="800" i="1" dirty="0">
                <a:solidFill>
                  <a:srgbClr val="404040"/>
                </a:solidFill>
                <a:latin typeface="Graphik"/>
              </a:rPr>
              <a:t>Makes best-of-breed coexistence executable: one service spans next-gen core, SaaS processor and mainframe invisibly. Usually the largest productivity gain and precondition to retire legacy middleware.</a:t>
            </a:r>
          </a:p>
        </p:txBody>
      </p:sp>
      <p:sp>
        <p:nvSpPr>
          <p:cNvPr id="108" name="Card Process Orchestration"/>
          <p:cNvSpPr/>
          <p:nvPr/>
        </p:nvSpPr>
        <p:spPr>
          <a:xfrm>
            <a:off x="3260500" y="3692396"/>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0" algn="l">
              <a:lnSpc>
                <a:spcPct val="98000"/>
              </a:lnSpc>
              <a:spcAft>
                <a:spcPts val="200"/>
              </a:spcAft>
            </a:pPr>
            <a:r>
              <a:rPr lang="en-US" sz="800" b="1" dirty="0">
                <a:solidFill>
                  <a:srgbClr val="7500C0"/>
                </a:solidFill>
                <a:latin typeface="Graphik"/>
              </a:rPr>
              <a:t>Process Orchestration</a:t>
            </a:r>
          </a:p>
          <a:p>
            <a:pPr marL="0" algn="l">
              <a:lnSpc>
                <a:spcPct val="96000"/>
              </a:lnSpc>
              <a:spcAft>
                <a:spcPts val="300"/>
              </a:spcAft>
            </a:pPr>
            <a:r>
              <a:rPr lang="en-US" sz="800" dirty="0">
                <a:solidFill>
                  <a:srgbClr val="1A1A1A"/>
                </a:solidFill>
                <a:latin typeface="Graphik"/>
              </a:rPr>
              <a:t>Longer-running human-and-system flows — workflow, approvals, task lists, state and rule management — on lightweight workflow engines rather than heavyweight enterprise BPM.</a:t>
            </a:r>
          </a:p>
          <a:p>
            <a:pPr marL="0" algn="l">
              <a:lnSpc>
                <a:spcPct val="96000"/>
              </a:lnSpc>
            </a:pPr>
            <a:r>
              <a:rPr lang="en-US" sz="800" b="1" dirty="0">
                <a:solidFill>
                  <a:srgbClr val="7500C0"/>
                </a:solidFill>
                <a:latin typeface="Graphik"/>
              </a:rPr>
              <a:t>Purpose  </a:t>
            </a:r>
            <a:r>
              <a:rPr lang="en-US" sz="800" i="1" dirty="0">
                <a:solidFill>
                  <a:srgbClr val="404040"/>
                </a:solidFill>
                <a:latin typeface="Graphik"/>
              </a:rPr>
              <a:t>Separates the millisecond technical flow from the multi-day business flow, making journeys, four-eyes controls and exception handling portable across products and channels.</a:t>
            </a:r>
          </a:p>
        </p:txBody>
      </p:sp>
      <p:sp>
        <p:nvSpPr>
          <p:cNvPr id="109" name="Card Distributed Transactions"/>
          <p:cNvSpPr/>
          <p:nvPr/>
        </p:nvSpPr>
        <p:spPr>
          <a:xfrm>
            <a:off x="6141000" y="3682494"/>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0" algn="l">
              <a:lnSpc>
                <a:spcPct val="98000"/>
              </a:lnSpc>
              <a:spcAft>
                <a:spcPts val="200"/>
              </a:spcAft>
            </a:pPr>
            <a:r>
              <a:rPr lang="en-US" sz="800" b="1" dirty="0">
                <a:solidFill>
                  <a:srgbClr val="7500C0"/>
                </a:solidFill>
                <a:latin typeface="Graphik"/>
              </a:rPr>
              <a:t>Distributed Transactions</a:t>
            </a:r>
          </a:p>
          <a:p>
            <a:pPr marL="0" algn="l">
              <a:lnSpc>
                <a:spcPct val="96000"/>
              </a:lnSpc>
              <a:spcAft>
                <a:spcPts val="300"/>
              </a:spcAft>
            </a:pPr>
            <a:r>
              <a:rPr lang="en-US" sz="800" dirty="0">
                <a:solidFill>
                  <a:srgbClr val="1A1A1A"/>
                </a:solidFill>
                <a:latin typeface="Graphik"/>
              </a:rPr>
              <a:t>Atomicity and consistency across services and data stores: 2PC where possible, Saga/compensation where not; coordinator, outbox/inbox, store &amp; forward, online admin.</a:t>
            </a:r>
          </a:p>
          <a:p>
            <a:pPr marL="0" algn="l">
              <a:lnSpc>
                <a:spcPct val="96000"/>
              </a:lnSpc>
            </a:pPr>
            <a:r>
              <a:rPr lang="en-US" sz="800" b="1" dirty="0">
                <a:solidFill>
                  <a:srgbClr val="7500C0"/>
                </a:solidFill>
                <a:latin typeface="Graphik"/>
              </a:rPr>
              <a:t>Purpose  </a:t>
            </a:r>
            <a:r>
              <a:rPr lang="en-US" sz="800" i="1" dirty="0">
                <a:solidFill>
                  <a:srgbClr val="404040"/>
                </a:solidFill>
                <a:latin typeface="Graphik"/>
              </a:rPr>
              <a:t>Non-negotiable for banking. Provides the framework and tooling to retry, reverse and report; Store &amp; Forward adds continuity when a host is down and for future-dated actions.</a:t>
            </a:r>
          </a:p>
        </p:txBody>
      </p:sp>
      <p:sp>
        <p:nvSpPr>
          <p:cNvPr id="110" name="Card Event Processing &amp; Reactive Components"/>
          <p:cNvSpPr/>
          <p:nvPr/>
        </p:nvSpPr>
        <p:spPr>
          <a:xfrm>
            <a:off x="9021500" y="3682494"/>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0" algn="l">
              <a:lnSpc>
                <a:spcPct val="98000"/>
              </a:lnSpc>
              <a:spcAft>
                <a:spcPts val="200"/>
              </a:spcAft>
            </a:pPr>
            <a:r>
              <a:rPr lang="en-US" sz="800" b="1">
                <a:solidFill>
                  <a:srgbClr val="7500C0"/>
                </a:solidFill>
                <a:latin typeface="Graphik"/>
              </a:rPr>
              <a:t>Event Processing &amp; Reactive Components</a:t>
            </a:r>
          </a:p>
          <a:p>
            <a:pPr marL="0" algn="l">
              <a:lnSpc>
                <a:spcPct val="96000"/>
              </a:lnSpc>
              <a:spcAft>
                <a:spcPts val="300"/>
              </a:spcAft>
            </a:pPr>
            <a:r>
              <a:rPr lang="en-US" sz="800">
                <a:solidFill>
                  <a:srgbClr val="1A1A1A"/>
                </a:solidFill>
                <a:latin typeface="Graphik"/>
              </a:rPr>
              <a:t>The asynchronous backbone: event messaging and streaming, event registry and canonical events, guaranteed delivery, event mesh, event sourcing, CEP, CQRS.</a:t>
            </a:r>
          </a:p>
          <a:p>
            <a:pPr marL="0" algn="l">
              <a:lnSpc>
                <a:spcPct val="96000"/>
              </a:lnSpc>
            </a:pPr>
            <a:r>
              <a:rPr lang="en-US" sz="800" b="1">
                <a:solidFill>
                  <a:srgbClr val="7500C0"/>
                </a:solidFill>
                <a:latin typeface="Graphik"/>
              </a:rPr>
              <a:t>Purpose  </a:t>
            </a:r>
            <a:r>
              <a:rPr lang="en-US" sz="800" i="1">
                <a:solidFill>
                  <a:srgbClr val="404040"/>
                </a:solidFill>
                <a:latin typeface="Graphik"/>
              </a:rPr>
              <a:t>Lets systems interoperate without knowing each other — the deepest decoupling. Highest-reuse investment; CQRS/CDC is the cheapest early lever to offload the mainframe with no core change.</a:t>
            </a:r>
          </a:p>
        </p:txBody>
      </p:sp>
      <p:sp>
        <p:nvSpPr>
          <p:cNvPr id="111" name="Card Omnichannel &amp; Caching Components"/>
          <p:cNvSpPr/>
          <p:nvPr/>
        </p:nvSpPr>
        <p:spPr>
          <a:xfrm>
            <a:off x="380000" y="5096796"/>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0" algn="l">
              <a:lnSpc>
                <a:spcPct val="98000"/>
              </a:lnSpc>
              <a:spcAft>
                <a:spcPts val="200"/>
              </a:spcAft>
            </a:pPr>
            <a:r>
              <a:rPr lang="en-US" sz="800" b="1">
                <a:solidFill>
                  <a:srgbClr val="7500C0"/>
                </a:solidFill>
                <a:latin typeface="Graphik"/>
              </a:rPr>
              <a:t>Omnichannel &amp; Caching Components</a:t>
            </a:r>
          </a:p>
          <a:p>
            <a:pPr marL="0" algn="l">
              <a:lnSpc>
                <a:spcPct val="96000"/>
              </a:lnSpc>
              <a:spcAft>
                <a:spcPts val="300"/>
              </a:spcAft>
            </a:pPr>
            <a:r>
              <a:rPr lang="en-US" sz="800">
                <a:solidFill>
                  <a:srgbClr val="1A1A1A"/>
                </a:solidFill>
                <a:latin typeface="Graphik"/>
              </a:rPr>
              <a:t>Omnichannel data management and access services, transaction cache, session replication and inter-domain session state, caching and CDN components.</a:t>
            </a:r>
          </a:p>
          <a:p>
            <a:pPr marL="0" algn="l">
              <a:lnSpc>
                <a:spcPct val="96000"/>
              </a:lnSpc>
            </a:pPr>
            <a:r>
              <a:rPr lang="en-US" sz="800" b="1">
                <a:solidFill>
                  <a:srgbClr val="7500C0"/>
                </a:solidFill>
                <a:latin typeface="Graphik"/>
              </a:rPr>
              <a:t>Purpose  </a:t>
            </a:r>
            <a:r>
              <a:rPr lang="en-US" sz="800" i="1">
                <a:solidFill>
                  <a:srgbClr val="404040"/>
                </a:solidFill>
                <a:latin typeface="Graphik"/>
              </a:rPr>
              <a:t>Holds cross-channel context so a journey resumes in another channel and is served at latency the core cannot meet — reducing abandonment and adding continuity when a backend is down.</a:t>
            </a:r>
          </a:p>
        </p:txBody>
      </p:sp>
      <p:sp>
        <p:nvSpPr>
          <p:cNvPr id="112" name="Card Data Delivery"/>
          <p:cNvSpPr/>
          <p:nvPr/>
        </p:nvSpPr>
        <p:spPr>
          <a:xfrm>
            <a:off x="3260500" y="5096796"/>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0" algn="l">
              <a:lnSpc>
                <a:spcPct val="98000"/>
              </a:lnSpc>
              <a:spcAft>
                <a:spcPts val="200"/>
              </a:spcAft>
            </a:pPr>
            <a:r>
              <a:rPr lang="en-US" sz="800" b="1" dirty="0">
                <a:solidFill>
                  <a:srgbClr val="7500C0"/>
                </a:solidFill>
                <a:latin typeface="Graphik"/>
              </a:rPr>
              <a:t>Data Delivery</a:t>
            </a:r>
          </a:p>
          <a:p>
            <a:pPr marL="0" algn="l">
              <a:lnSpc>
                <a:spcPct val="96000"/>
              </a:lnSpc>
              <a:spcAft>
                <a:spcPts val="300"/>
              </a:spcAft>
            </a:pPr>
            <a:r>
              <a:rPr lang="en-US" sz="800" dirty="0">
                <a:solidFill>
                  <a:srgbClr val="1A1A1A"/>
                </a:solidFill>
                <a:latin typeface="Graphik"/>
              </a:rPr>
              <a:t>Data catalogue &amp; modelling (catalogue, metadata, lineage, quality, governance) plus data pipelines &amp; delivery (batch/stream, CDC, virtualization, ODS, multi-speed).</a:t>
            </a:r>
          </a:p>
          <a:p>
            <a:pPr marL="0" algn="l">
              <a:lnSpc>
                <a:spcPct val="96000"/>
              </a:lnSpc>
            </a:pPr>
            <a:r>
              <a:rPr lang="en-US" sz="800" b="1" dirty="0">
                <a:solidFill>
                  <a:srgbClr val="7500C0"/>
                </a:solidFill>
                <a:latin typeface="Graphik"/>
              </a:rPr>
              <a:t>Purpose  </a:t>
            </a:r>
            <a:r>
              <a:rPr lang="en-US" sz="800" i="1" dirty="0">
                <a:solidFill>
                  <a:srgbClr val="404040"/>
                </a:solidFill>
                <a:latin typeface="Graphik"/>
              </a:rPr>
              <a:t>Provides a standardized, real-time, multi-core aggregated view so consumers use “the bank's data”, not “the core's data” — removing direct application access and one-core lock-in.</a:t>
            </a:r>
          </a:p>
        </p:txBody>
      </p:sp>
      <p:sp>
        <p:nvSpPr>
          <p:cNvPr id="113" name="Card Operations"/>
          <p:cNvSpPr/>
          <p:nvPr/>
        </p:nvSpPr>
        <p:spPr>
          <a:xfrm>
            <a:off x="380000" y="2310553"/>
            <a:ext cx="2790500" cy="118872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0" algn="l">
              <a:lnSpc>
                <a:spcPct val="98000"/>
              </a:lnSpc>
              <a:spcAft>
                <a:spcPts val="200"/>
              </a:spcAft>
            </a:pPr>
            <a:r>
              <a:rPr lang="en-US" sz="800" b="1" dirty="0">
                <a:solidFill>
                  <a:srgbClr val="7500C0"/>
                </a:solidFill>
                <a:latin typeface="Graphik"/>
              </a:rPr>
              <a:t>Operations</a:t>
            </a:r>
          </a:p>
          <a:p>
            <a:pPr marL="0" algn="l">
              <a:lnSpc>
                <a:spcPct val="96000"/>
              </a:lnSpc>
              <a:spcAft>
                <a:spcPts val="300"/>
              </a:spcAft>
            </a:pPr>
            <a:r>
              <a:rPr lang="en-US" sz="800" dirty="0">
                <a:solidFill>
                  <a:srgbClr val="1A1A1A"/>
                </a:solidFill>
                <a:latin typeface="Graphik"/>
              </a:rPr>
              <a:t>Cross-cutting runtime primitives: folio operations, feature flags, distributed UUID/correlation services, and the admin consoles for the layer.</a:t>
            </a:r>
          </a:p>
          <a:p>
            <a:pPr marL="0" algn="l">
              <a:lnSpc>
                <a:spcPct val="96000"/>
              </a:lnSpc>
            </a:pPr>
            <a:r>
              <a:rPr lang="en-US" sz="800" b="1" dirty="0">
                <a:solidFill>
                  <a:srgbClr val="7500C0"/>
                </a:solidFill>
                <a:latin typeface="Graphik"/>
              </a:rPr>
              <a:t>Purpose  </a:t>
            </a:r>
            <a:r>
              <a:rPr lang="en-US" sz="800" i="1" dirty="0">
                <a:solidFill>
                  <a:srgbClr val="404040"/>
                </a:solidFill>
                <a:latin typeface="Graphik"/>
              </a:rPr>
              <a:t>Small capability, disproportionate leverage — feature flags and distributed UUIDs make incremental, reversible migration possible: route a % of traffic, trace it, roll back without a release.</a:t>
            </a:r>
          </a:p>
        </p:txBody>
      </p:sp>
      <p:sp>
        <p:nvSpPr>
          <p:cNvPr id="114" name="Card Common Business Services"/>
          <p:cNvSpPr/>
          <p:nvPr/>
        </p:nvSpPr>
        <p:spPr>
          <a:xfrm>
            <a:off x="6141000" y="5096796"/>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0" algn="l">
              <a:lnSpc>
                <a:spcPct val="98000"/>
              </a:lnSpc>
              <a:spcAft>
                <a:spcPts val="200"/>
              </a:spcAft>
            </a:pPr>
            <a:r>
              <a:rPr lang="en-US" sz="800" b="1">
                <a:solidFill>
                  <a:srgbClr val="7500C0"/>
                </a:solidFill>
                <a:latin typeface="Graphik"/>
              </a:rPr>
              <a:t>Common Business Services</a:t>
            </a:r>
          </a:p>
          <a:p>
            <a:pPr marL="0" algn="l">
              <a:lnSpc>
                <a:spcPct val="96000"/>
              </a:lnSpc>
              <a:spcAft>
                <a:spcPts val="300"/>
              </a:spcAft>
            </a:pPr>
            <a:r>
              <a:rPr lang="en-US" sz="800">
                <a:solidFill>
                  <a:srgbClr val="1A1A1A"/>
                </a:solidFill>
                <a:latin typeface="Graphik"/>
              </a:rPr>
              <a:t>Standardized, reusable horizontal business services — customer data, product catalogue, fees/pricing, limits, FX, accounting, documents, payments, risk scoring, approvals.</a:t>
            </a:r>
          </a:p>
          <a:p>
            <a:pPr marL="0" algn="l">
              <a:lnSpc>
                <a:spcPct val="96000"/>
              </a:lnSpc>
            </a:pPr>
            <a:r>
              <a:rPr lang="en-US" sz="800" b="1">
                <a:solidFill>
                  <a:srgbClr val="7500C0"/>
                </a:solidFill>
                <a:latin typeface="Graphik"/>
              </a:rPr>
              <a:t>Purpose  </a:t>
            </a:r>
            <a:r>
              <a:rPr lang="en-US" sz="800" i="1">
                <a:solidFill>
                  <a:srgbClr val="404040"/>
                </a:solidFill>
                <a:latin typeface="Graphik"/>
              </a:rPr>
              <a:t>Turns interoperability into structural coexistence: lifting cross-product functions into shared services de-risks core replacement and stops re-implementing the same logic per product.</a:t>
            </a:r>
          </a:p>
        </p:txBody>
      </p:sp>
      <p:sp>
        <p:nvSpPr>
          <p:cNvPr id="7" name="TextBox 6">
            <a:extLst>
              <a:ext uri="{FF2B5EF4-FFF2-40B4-BE49-F238E27FC236}">
                <a16:creationId xmlns:a16="http://schemas.microsoft.com/office/drawing/2014/main" id="{63BA7228-C9BA-8951-021C-779F694A1B1D}"/>
              </a:ext>
            </a:extLst>
          </p:cNvPr>
          <p:cNvSpPr txBox="1"/>
          <p:nvPr>
            <p:extLst>
              <p:ext uri="{1162E1C5-73C7-4A58-AE30-91384D911F3F}">
                <p184:classification xmlns:p184="http://schemas.microsoft.com/office/powerpoint/2018/4/main" val="hdr"/>
              </p:ext>
            </p:extLst>
          </p:nvPr>
        </p:nvSpPr>
        <p:spPr>
          <a:xfrm>
            <a:off x="4610601" y="78170"/>
            <a:ext cx="3641223" cy="153888"/>
          </a:xfrm>
          <a:prstGeom prst="rect">
            <a:avLst/>
          </a:prstGeom>
        </p:spPr>
        <p:txBody>
          <a:bodyPr horzOverflow="overflow"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***Confidential - For Company Internal Use Only***</a:t>
            </a:r>
          </a:p>
        </p:txBody>
      </p:sp>
      <p:sp>
        <p:nvSpPr>
          <p:cNvPr id="6" name="K 103">
            <a:extLst>
              <a:ext uri="{FF2B5EF4-FFF2-40B4-BE49-F238E27FC236}">
                <a16:creationId xmlns:a16="http://schemas.microsoft.com/office/drawing/2014/main" id="{FB341AF8-16A4-FF9C-78B5-A4CD3B5AC7BE}"/>
              </a:ext>
            </a:extLst>
          </p:cNvPr>
          <p:cNvSpPr/>
          <p:nvPr/>
        </p:nvSpPr>
        <p:spPr>
          <a:xfrm>
            <a:off x="2934730" y="2348742"/>
            <a:ext cx="180000" cy="180000"/>
          </a:xfrm>
          <a:prstGeom prst="ellipse">
            <a:avLst/>
          </a:prstGeom>
          <a:solidFill>
            <a:srgbClr val="C00000"/>
          </a:solidFill>
          <a:ln>
            <a:noFill/>
          </a:ln>
        </p:spPr>
        <p:txBody>
          <a:bodyPr lIns="0" tIns="0" rIns="0" bIns="0" rtlCol="0" anchor="ctr"/>
          <a:lstStyle/>
          <a:p>
            <a:pPr algn="ctr"/>
            <a:r>
              <a:rPr lang="en-US" sz="800" b="1">
                <a:solidFill>
                  <a:srgbClr val="FFFFFF"/>
                </a:solidFill>
                <a:latin typeface="Graphik"/>
              </a:rPr>
              <a:t>K</a:t>
            </a:r>
          </a:p>
        </p:txBody>
      </p:sp>
      <p:sp>
        <p:nvSpPr>
          <p:cNvPr id="9" name="K 103">
            <a:extLst>
              <a:ext uri="{FF2B5EF4-FFF2-40B4-BE49-F238E27FC236}">
                <a16:creationId xmlns:a16="http://schemas.microsoft.com/office/drawing/2014/main" id="{9EC9F281-3ABC-2465-0517-6946FB46C289}"/>
              </a:ext>
            </a:extLst>
          </p:cNvPr>
          <p:cNvSpPr/>
          <p:nvPr/>
        </p:nvSpPr>
        <p:spPr>
          <a:xfrm>
            <a:off x="5784649" y="2348742"/>
            <a:ext cx="180000" cy="180000"/>
          </a:xfrm>
          <a:prstGeom prst="ellipse">
            <a:avLst/>
          </a:prstGeom>
          <a:solidFill>
            <a:srgbClr val="C00000"/>
          </a:solidFill>
          <a:ln>
            <a:noFill/>
          </a:ln>
        </p:spPr>
        <p:txBody>
          <a:bodyPr lIns="0" tIns="0" rIns="0" bIns="0" rtlCol="0" anchor="ctr"/>
          <a:lstStyle/>
          <a:p>
            <a:pPr algn="ctr"/>
            <a:r>
              <a:rPr lang="en-US" sz="800" b="1">
                <a:solidFill>
                  <a:srgbClr val="FFFFFF"/>
                </a:solidFill>
                <a:latin typeface="Graphik"/>
              </a:rPr>
              <a:t>K</a:t>
            </a:r>
          </a:p>
        </p:txBody>
      </p:sp>
    </p:spTree>
    <p:extLst>
      <p:ext uri="{BB962C8B-B14F-4D97-AF65-F5344CB8AC3E}">
        <p14:creationId xmlns:p14="http://schemas.microsoft.com/office/powerpoint/2010/main" val="3350161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21B48-3740-5435-7C02-9C0D7F0B3C3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58A27E6-9656-A721-A644-B5B861DD9D32}"/>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All rights reserved.</a:t>
            </a:r>
          </a:p>
        </p:txBody>
      </p:sp>
      <p:sp>
        <p:nvSpPr>
          <p:cNvPr id="4" name="Slide Number Placeholder 3">
            <a:extLst>
              <a:ext uri="{FF2B5EF4-FFF2-40B4-BE49-F238E27FC236}">
                <a16:creationId xmlns:a16="http://schemas.microsoft.com/office/drawing/2014/main" id="{5454C85E-91EF-C177-A90F-5EF4E70D2BDB}"/>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Graphik"/>
              <a:ea typeface="+mn-ea"/>
              <a:cs typeface="+mn-cs"/>
            </a:endParaRPr>
          </a:p>
        </p:txBody>
      </p:sp>
      <p:sp>
        <p:nvSpPr>
          <p:cNvPr id="23" name="Title 1">
            <a:extLst>
              <a:ext uri="{FF2B5EF4-FFF2-40B4-BE49-F238E27FC236}">
                <a16:creationId xmlns:a16="http://schemas.microsoft.com/office/drawing/2014/main" id="{1A0E8369-F32F-7E6C-9A20-EC4F10317694}"/>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Interoperability Architecture </a:t>
            </a:r>
            <a:r>
              <a:rPr kumimoji="0" lang="en-US" sz="2400" b="1" i="0" u="none" strike="noStrike" kern="1200" cap="none" spc="0" normalizeH="0" baseline="0" noProof="0">
                <a:ln>
                  <a:noFill/>
                </a:ln>
                <a:solidFill>
                  <a:srgbClr val="000000"/>
                </a:solidFill>
                <a:effectLst/>
                <a:uLnTx/>
                <a:uFillTx/>
                <a:latin typeface="Graphik"/>
                <a:ea typeface="+mj-ea"/>
                <a:cs typeface="+mj-cs"/>
              </a:rPr>
              <a:t>| Capability Map Level 0</a:t>
            </a:r>
          </a:p>
        </p:txBody>
      </p:sp>
      <p:sp>
        <p:nvSpPr>
          <p:cNvPr id="25" name="Rectangle 24">
            <a:extLst>
              <a:ext uri="{FF2B5EF4-FFF2-40B4-BE49-F238E27FC236}">
                <a16:creationId xmlns:a16="http://schemas.microsoft.com/office/drawing/2014/main" id="{86A789EA-2F06-9D6E-4815-1CCA7E10988E}"/>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Security</a:t>
            </a:r>
          </a:p>
        </p:txBody>
      </p:sp>
      <p:sp>
        <p:nvSpPr>
          <p:cNvPr id="26" name="Rectangle 25">
            <a:extLst>
              <a:ext uri="{FF2B5EF4-FFF2-40B4-BE49-F238E27FC236}">
                <a16:creationId xmlns:a16="http://schemas.microsoft.com/office/drawing/2014/main" id="{8A910E3B-4459-C4C6-D523-9D12AFD7A71A}"/>
              </a:ext>
            </a:extLst>
          </p:cNvPr>
          <p:cNvSpPr/>
          <p:nvPr/>
        </p:nvSpPr>
        <p:spPr>
          <a:xfrm>
            <a:off x="1907612" y="944590"/>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Observability</a:t>
            </a:r>
          </a:p>
        </p:txBody>
      </p:sp>
      <p:sp>
        <p:nvSpPr>
          <p:cNvPr id="27" name="Rectangle 26">
            <a:extLst>
              <a:ext uri="{FF2B5EF4-FFF2-40B4-BE49-F238E27FC236}">
                <a16:creationId xmlns:a16="http://schemas.microsoft.com/office/drawing/2014/main" id="{7C2EB371-D2EA-4079-8C92-183AE7133260}"/>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Infrastructure</a:t>
            </a:r>
          </a:p>
        </p:txBody>
      </p:sp>
      <p:sp>
        <p:nvSpPr>
          <p:cNvPr id="28" name="Rectangle 27">
            <a:extLst>
              <a:ext uri="{FF2B5EF4-FFF2-40B4-BE49-F238E27FC236}">
                <a16:creationId xmlns:a16="http://schemas.microsoft.com/office/drawing/2014/main" id="{0AEBA875-050F-2027-2BA8-6283929D4639}"/>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Gateway Services</a:t>
            </a:r>
          </a:p>
        </p:txBody>
      </p:sp>
      <p:sp>
        <p:nvSpPr>
          <p:cNvPr id="29" name="Rectangle 28">
            <a:extLst>
              <a:ext uri="{FF2B5EF4-FFF2-40B4-BE49-F238E27FC236}">
                <a16:creationId xmlns:a16="http://schemas.microsoft.com/office/drawing/2014/main" id="{DDEEB744-C089-4D5E-F498-B56D46C43502}"/>
              </a:ext>
            </a:extLst>
          </p:cNvPr>
          <p:cNvSpPr/>
          <p:nvPr/>
        </p:nvSpPr>
        <p:spPr>
          <a:xfrm>
            <a:off x="3161292" y="2773838"/>
            <a:ext cx="5681779" cy="540000"/>
          </a:xfrm>
          <a:prstGeom prst="rect">
            <a:avLst/>
          </a:prstGeom>
          <a:solidFill>
            <a:schemeClr val="bg2"/>
          </a:solidFill>
          <a:ln>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Graphik"/>
                <a:ea typeface="+mn-ea"/>
                <a:cs typeface="+mn-cs"/>
              </a:rPr>
              <a:t>Omnichannel &amp; Caching Components</a:t>
            </a:r>
          </a:p>
        </p:txBody>
      </p:sp>
      <p:sp>
        <p:nvSpPr>
          <p:cNvPr id="30" name="Rectangle 29">
            <a:extLst>
              <a:ext uri="{FF2B5EF4-FFF2-40B4-BE49-F238E27FC236}">
                <a16:creationId xmlns:a16="http://schemas.microsoft.com/office/drawing/2014/main" id="{CBE53F47-15AE-1A3E-3533-90A3195D5F64}"/>
              </a:ext>
            </a:extLst>
          </p:cNvPr>
          <p:cNvSpPr/>
          <p:nvPr/>
        </p:nvSpPr>
        <p:spPr>
          <a:xfrm>
            <a:off x="3167494" y="5132461"/>
            <a:ext cx="5681779" cy="1042899"/>
          </a:xfrm>
          <a:prstGeom prst="rect">
            <a:avLst/>
          </a:prstGeom>
          <a:solidFill>
            <a:schemeClr val="bg2"/>
          </a:solidFill>
          <a:ln>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Data Delivery</a:t>
            </a:r>
          </a:p>
        </p:txBody>
      </p:sp>
      <p:sp>
        <p:nvSpPr>
          <p:cNvPr id="31" name="Rectangle 30">
            <a:extLst>
              <a:ext uri="{FF2B5EF4-FFF2-40B4-BE49-F238E27FC236}">
                <a16:creationId xmlns:a16="http://schemas.microsoft.com/office/drawing/2014/main" id="{A2C03802-1DCD-1B65-5699-1AC88DD1DF68}"/>
              </a:ext>
            </a:extLst>
          </p:cNvPr>
          <p:cNvSpPr/>
          <p:nvPr/>
        </p:nvSpPr>
        <p:spPr>
          <a:xfrm>
            <a:off x="3169828" y="3419879"/>
            <a:ext cx="5681779" cy="960502"/>
          </a:xfrm>
          <a:prstGeom prst="rect">
            <a:avLst/>
          </a:prstGeom>
          <a:solidFill>
            <a:schemeClr val="bg2"/>
          </a:solidFill>
          <a:ln>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Distributed Transactions</a:t>
            </a:r>
          </a:p>
        </p:txBody>
      </p:sp>
      <p:sp>
        <p:nvSpPr>
          <p:cNvPr id="32" name="Rectangle 31">
            <a:extLst>
              <a:ext uri="{FF2B5EF4-FFF2-40B4-BE49-F238E27FC236}">
                <a16:creationId xmlns:a16="http://schemas.microsoft.com/office/drawing/2014/main" id="{02312B0A-6752-D71C-4DBF-552076F1610C}"/>
              </a:ext>
            </a:extLst>
          </p:cNvPr>
          <p:cNvSpPr/>
          <p:nvPr/>
        </p:nvSpPr>
        <p:spPr>
          <a:xfrm>
            <a:off x="9005587" y="944591"/>
            <a:ext cx="1080000" cy="5230768"/>
          </a:xfrm>
          <a:prstGeom prst="rect">
            <a:avLst/>
          </a:prstGeom>
          <a:solidFill>
            <a:schemeClr val="bg2"/>
          </a:solidFill>
          <a:ln>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Event Processing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&amp; Reactive Components</a:t>
            </a:r>
          </a:p>
        </p:txBody>
      </p:sp>
      <p:sp>
        <p:nvSpPr>
          <p:cNvPr id="33" name="Rectangle 32">
            <a:extLst>
              <a:ext uri="{FF2B5EF4-FFF2-40B4-BE49-F238E27FC236}">
                <a16:creationId xmlns:a16="http://schemas.microsoft.com/office/drawing/2014/main" id="{7BB919FA-B98F-D7D8-B003-FF698FCD80D0}"/>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API Management</a:t>
            </a:r>
          </a:p>
        </p:txBody>
      </p:sp>
      <p:sp>
        <p:nvSpPr>
          <p:cNvPr id="34" name="Oval 33">
            <a:extLst>
              <a:ext uri="{FF2B5EF4-FFF2-40B4-BE49-F238E27FC236}">
                <a16:creationId xmlns:a16="http://schemas.microsoft.com/office/drawing/2014/main" id="{8AF0974C-AA4B-5494-7DD0-E6608DB9CD05}"/>
              </a:ext>
            </a:extLst>
          </p:cNvPr>
          <p:cNvSpPr/>
          <p:nvPr/>
        </p:nvSpPr>
        <p:spPr>
          <a:xfrm>
            <a:off x="1557648"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5" name="Oval 34">
            <a:extLst>
              <a:ext uri="{FF2B5EF4-FFF2-40B4-BE49-F238E27FC236}">
                <a16:creationId xmlns:a16="http://schemas.microsoft.com/office/drawing/2014/main" id="{D42625CF-9D44-ABCB-3369-FFD683742B67}"/>
              </a:ext>
            </a:extLst>
          </p:cNvPr>
          <p:cNvSpPr/>
          <p:nvPr/>
        </p:nvSpPr>
        <p:spPr>
          <a:xfrm>
            <a:off x="2753612"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6" name="Oval 35">
            <a:extLst>
              <a:ext uri="{FF2B5EF4-FFF2-40B4-BE49-F238E27FC236}">
                <a16:creationId xmlns:a16="http://schemas.microsoft.com/office/drawing/2014/main" id="{870E2E24-D44F-B5E0-5B7A-73E71994119E}"/>
              </a:ext>
            </a:extLst>
          </p:cNvPr>
          <p:cNvSpPr/>
          <p:nvPr/>
        </p:nvSpPr>
        <p:spPr>
          <a:xfrm>
            <a:off x="6577513"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7" name="Oval 36">
            <a:extLst>
              <a:ext uri="{FF2B5EF4-FFF2-40B4-BE49-F238E27FC236}">
                <a16:creationId xmlns:a16="http://schemas.microsoft.com/office/drawing/2014/main" id="{86202D58-4454-D33D-DCC5-854A03F98F11}"/>
              </a:ext>
            </a:extLst>
          </p:cNvPr>
          <p:cNvSpPr/>
          <p:nvPr/>
        </p:nvSpPr>
        <p:spPr>
          <a:xfrm>
            <a:off x="11086789"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8" name="Oval 37">
            <a:extLst>
              <a:ext uri="{FF2B5EF4-FFF2-40B4-BE49-F238E27FC236}">
                <a16:creationId xmlns:a16="http://schemas.microsoft.com/office/drawing/2014/main" id="{8448DF8E-095C-1141-2B40-E1D7233600F1}"/>
              </a:ext>
            </a:extLst>
          </p:cNvPr>
          <p:cNvSpPr/>
          <p:nvPr/>
        </p:nvSpPr>
        <p:spPr>
          <a:xfrm>
            <a:off x="6547147" y="2135758"/>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9" name="Rectangle 38">
            <a:extLst>
              <a:ext uri="{FF2B5EF4-FFF2-40B4-BE49-F238E27FC236}">
                <a16:creationId xmlns:a16="http://schemas.microsoft.com/office/drawing/2014/main" id="{853CBC3B-CB01-CBA0-C81F-3FBB8DF5F1AC}"/>
              </a:ext>
            </a:extLst>
          </p:cNvPr>
          <p:cNvSpPr/>
          <p:nvPr/>
        </p:nvSpPr>
        <p:spPr>
          <a:xfrm>
            <a:off x="3160153" y="4486422"/>
            <a:ext cx="5681779" cy="540000"/>
          </a:xfrm>
          <a:prstGeom prst="rect">
            <a:avLst/>
          </a:prstGeom>
          <a:solidFill>
            <a:schemeClr val="bg2"/>
          </a:solidFill>
          <a:ln>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Common Business Services</a:t>
            </a:r>
          </a:p>
        </p:txBody>
      </p:sp>
      <p:sp>
        <p:nvSpPr>
          <p:cNvPr id="7" name="TextBox 6">
            <a:extLst>
              <a:ext uri="{FF2B5EF4-FFF2-40B4-BE49-F238E27FC236}">
                <a16:creationId xmlns:a16="http://schemas.microsoft.com/office/drawing/2014/main" id="{6F161E92-5AF3-CEB5-0B50-D9C86E189F22}"/>
              </a:ext>
            </a:extLst>
          </p:cNvPr>
          <p:cNvSpPr txBox="1"/>
          <p:nvPr>
            <p:extLst>
              <p:ext uri="{1162E1C5-73C7-4A58-AE30-91384D911F3F}">
                <p184:classification xmlns:p184="http://schemas.microsoft.com/office/powerpoint/2018/4/main" val="hdr"/>
              </p:ext>
            </p:extLst>
          </p:nvPr>
        </p:nvSpPr>
        <p:spPr>
          <a:xfrm>
            <a:off x="4610601" y="78170"/>
            <a:ext cx="3641223" cy="153888"/>
          </a:xfrm>
          <a:prstGeom prst="rect">
            <a:avLst/>
          </a:prstGeom>
        </p:spPr>
        <p:txBody>
          <a:bodyPr horzOverflow="overflow"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***Confidential - For Company Internal Use Only***</a:t>
            </a:r>
          </a:p>
        </p:txBody>
      </p:sp>
      <p:pic>
        <p:nvPicPr>
          <p:cNvPr id="5" name="Picture 4" descr="Back Button Images – Browse 625,558 Stock Photos, Vectors, and Video |  Adobe Stock">
            <a:hlinkClick r:id="rId2" action="ppaction://hlinksldjump"/>
            <a:extLst>
              <a:ext uri="{FF2B5EF4-FFF2-40B4-BE49-F238E27FC236}">
                <a16:creationId xmlns:a16="http://schemas.microsoft.com/office/drawing/2014/main" id="{E23581C1-C024-F482-EFD6-2B844ECFF0C4}"/>
              </a:ext>
            </a:extLst>
          </p:cNvPr>
          <p:cNvPicPr>
            <a:picLocks noChangeAspect="1" noChangeArrowheads="1"/>
          </p:cNvPicPr>
          <p:nvPr/>
        </p:nvPicPr>
        <p:blipFill rotWithShape="1">
          <a:blip r:embed="rId3" cstate="hqprint">
            <a:duotone>
              <a:schemeClr val="accent2">
                <a:shade val="45000"/>
                <a:satMod val="135000"/>
              </a:schemeClr>
              <a:prstClr val="white"/>
            </a:duotone>
            <a:extLst>
              <a:ext uri="{BEBA8EAE-BF5A-486C-A8C5-ECC9F3942E4B}">
                <a14:imgProps xmlns:a14="http://schemas.microsoft.com/office/drawing/2010/main">
                  <a14:imgLayer r:embed="rId4">
                    <a14:imgEffect>
                      <a14:backgroundRemoval t="10000" b="90000" l="10000" r="90000">
                        <a14:foregroundMark x1="24259" y1="46667" x2="24259" y2="46667"/>
                        <a14:foregroundMark x1="25000" y1="53611" x2="25000" y2="53611"/>
                        <a14:foregroundMark x1="32778" y1="49167" x2="32778" y2="49167"/>
                        <a14:foregroundMark x1="73889" y1="51389" x2="73889" y2="51389"/>
                      </a14:backgroundRemoval>
                    </a14:imgEffect>
                  </a14:imgLayer>
                </a14:imgProps>
              </a:ext>
              <a:ext uri="{28A0092B-C50C-407E-A947-70E740481C1C}">
                <a14:useLocalDpi xmlns:a14="http://schemas.microsoft.com/office/drawing/2010/main"/>
              </a:ext>
            </a:extLst>
          </a:blip>
          <a:srcRect l="8527" t="26395" r="7584" b="26395"/>
          <a:stretch/>
        </p:blipFill>
        <p:spPr bwMode="auto">
          <a:xfrm>
            <a:off x="11306376" y="11050"/>
            <a:ext cx="839056" cy="314796"/>
          </a:xfrm>
          <a:prstGeom prst="rect">
            <a:avLst/>
          </a:prstGeom>
          <a:solidFill>
            <a:schemeClr val="bg1"/>
          </a:solidFill>
        </p:spPr>
      </p:pic>
      <p:grpSp>
        <p:nvGrpSpPr>
          <p:cNvPr id="2" name="Group 1">
            <a:extLst>
              <a:ext uri="{FF2B5EF4-FFF2-40B4-BE49-F238E27FC236}">
                <a16:creationId xmlns:a16="http://schemas.microsoft.com/office/drawing/2014/main" id="{AA01BDA0-19D6-48B4-DADE-93B1066569E4}"/>
              </a:ext>
            </a:extLst>
          </p:cNvPr>
          <p:cNvGrpSpPr/>
          <p:nvPr/>
        </p:nvGrpSpPr>
        <p:grpSpPr>
          <a:xfrm>
            <a:off x="5366382" y="6281128"/>
            <a:ext cx="1576882" cy="180000"/>
            <a:chOff x="9283672" y="6207566"/>
            <a:chExt cx="1576882" cy="180000"/>
          </a:xfrm>
        </p:grpSpPr>
        <p:sp>
          <p:nvSpPr>
            <p:cNvPr id="6" name="Oval 5">
              <a:extLst>
                <a:ext uri="{FF2B5EF4-FFF2-40B4-BE49-F238E27FC236}">
                  <a16:creationId xmlns:a16="http://schemas.microsoft.com/office/drawing/2014/main" id="{2A331895-26BE-B168-AED0-D3E4EDBAD713}"/>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 name="Rectangle 7">
              <a:extLst>
                <a:ext uri="{FF2B5EF4-FFF2-40B4-BE49-F238E27FC236}">
                  <a16:creationId xmlns:a16="http://schemas.microsoft.com/office/drawing/2014/main" id="{4B0F43FE-1758-D382-3C15-49E70F37BFB7}"/>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Kernel &amp; Platform Components</a:t>
              </a:r>
            </a:p>
          </p:txBody>
        </p:sp>
      </p:grpSp>
      <p:sp>
        <p:nvSpPr>
          <p:cNvPr id="9" name="TextBox 8">
            <a:extLst>
              <a:ext uri="{FF2B5EF4-FFF2-40B4-BE49-F238E27FC236}">
                <a16:creationId xmlns:a16="http://schemas.microsoft.com/office/drawing/2014/main" id="{ACBE413F-36C1-9D74-F04F-7BDE7EDCAF3B}"/>
              </a:ext>
            </a:extLst>
          </p:cNvPr>
          <p:cNvSpPr txBox="1"/>
          <p:nvPr/>
        </p:nvSpPr>
        <p:spPr>
          <a:xfrm>
            <a:off x="5568950" y="2936875"/>
            <a:ext cx="914400" cy="914400"/>
          </a:xfrm>
          <a:prstGeom prst="rect">
            <a:avLst/>
          </a:prstGeom>
          <a:noFill/>
        </p:spPr>
        <p:txBody>
          <a:bodyPr wrap="square" lIns="0" tIns="0" rIns="0" bIns="0" rtlCol="0">
            <a:noAutofit/>
          </a:bodyPr>
          <a:lstStyle/>
          <a:p>
            <a:pPr algn="l" defTabSz="228600">
              <a:spcAft>
                <a:spcPts val="1200"/>
              </a:spcAft>
            </a:pPr>
            <a:endParaRPr lang="en-US" noProof="0" dirty="0"/>
          </a:p>
        </p:txBody>
      </p:sp>
      <p:sp>
        <p:nvSpPr>
          <p:cNvPr id="10" name="Rectangle 9">
            <a:extLst>
              <a:ext uri="{FF2B5EF4-FFF2-40B4-BE49-F238E27FC236}">
                <a16:creationId xmlns:a16="http://schemas.microsoft.com/office/drawing/2014/main" id="{1D971690-BEF2-F614-165E-3C1A12A29CEA}"/>
              </a:ext>
            </a:extLst>
          </p:cNvPr>
          <p:cNvSpPr/>
          <p:nvPr/>
        </p:nvSpPr>
        <p:spPr>
          <a:xfrm>
            <a:off x="9088387" y="1734218"/>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800" dirty="0"/>
              <a:t>Transact internal</a:t>
            </a:r>
          </a:p>
        </p:txBody>
      </p:sp>
      <p:sp>
        <p:nvSpPr>
          <p:cNvPr id="12" name="Rectangle 11">
            <a:extLst>
              <a:ext uri="{FF2B5EF4-FFF2-40B4-BE49-F238E27FC236}">
                <a16:creationId xmlns:a16="http://schemas.microsoft.com/office/drawing/2014/main" id="{81504C44-D198-06E4-374B-C6CE7C884007}"/>
              </a:ext>
            </a:extLst>
          </p:cNvPr>
          <p:cNvSpPr/>
          <p:nvPr/>
        </p:nvSpPr>
        <p:spPr>
          <a:xfrm>
            <a:off x="3272833" y="2843068"/>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800" dirty="0"/>
              <a:t>Apolo Origination</a:t>
            </a:r>
          </a:p>
        </p:txBody>
      </p:sp>
      <p:sp>
        <p:nvSpPr>
          <p:cNvPr id="14" name="Rectangle 13">
            <a:extLst>
              <a:ext uri="{FF2B5EF4-FFF2-40B4-BE49-F238E27FC236}">
                <a16:creationId xmlns:a16="http://schemas.microsoft.com/office/drawing/2014/main" id="{1EE8AEBE-455E-3122-A276-7A49D5CC8DEC}"/>
              </a:ext>
            </a:extLst>
          </p:cNvPr>
          <p:cNvSpPr/>
          <p:nvPr/>
        </p:nvSpPr>
        <p:spPr>
          <a:xfrm>
            <a:off x="3272833" y="5577732"/>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800" dirty="0"/>
              <a:t>Customer Data </a:t>
            </a:r>
            <a:r>
              <a:rPr lang="en-US" sz="800" dirty="0" err="1"/>
              <a:t>Syncronization</a:t>
            </a:r>
            <a:endParaRPr lang="en-US" sz="800" dirty="0"/>
          </a:p>
        </p:txBody>
      </p:sp>
      <p:sp>
        <p:nvSpPr>
          <p:cNvPr id="16" name="Rectangle 15">
            <a:extLst>
              <a:ext uri="{FF2B5EF4-FFF2-40B4-BE49-F238E27FC236}">
                <a16:creationId xmlns:a16="http://schemas.microsoft.com/office/drawing/2014/main" id="{D90E918B-25F0-E5C2-7A2C-814466B27B20}"/>
              </a:ext>
            </a:extLst>
          </p:cNvPr>
          <p:cNvSpPr/>
          <p:nvPr/>
        </p:nvSpPr>
        <p:spPr>
          <a:xfrm>
            <a:off x="3288116" y="3795918"/>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800" dirty="0"/>
              <a:t>Loan pay off Pisa-&gt; </a:t>
            </a:r>
            <a:r>
              <a:rPr lang="en-US" sz="800" dirty="0" err="1"/>
              <a:t>Trasnact</a:t>
            </a:r>
            <a:endParaRPr lang="en-US" sz="800" dirty="0"/>
          </a:p>
        </p:txBody>
      </p:sp>
      <p:sp>
        <p:nvSpPr>
          <p:cNvPr id="20" name="Rectangle 19">
            <a:extLst>
              <a:ext uri="{FF2B5EF4-FFF2-40B4-BE49-F238E27FC236}">
                <a16:creationId xmlns:a16="http://schemas.microsoft.com/office/drawing/2014/main" id="{904299BC-6E03-FC01-2507-E12D73EC63D9}"/>
              </a:ext>
            </a:extLst>
          </p:cNvPr>
          <p:cNvSpPr/>
          <p:nvPr/>
        </p:nvSpPr>
        <p:spPr>
          <a:xfrm>
            <a:off x="1145583" y="6347453"/>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800" dirty="0"/>
              <a:t>Potential Use Cases</a:t>
            </a:r>
          </a:p>
        </p:txBody>
      </p:sp>
    </p:spTree>
    <p:extLst>
      <p:ext uri="{BB962C8B-B14F-4D97-AF65-F5344CB8AC3E}">
        <p14:creationId xmlns:p14="http://schemas.microsoft.com/office/powerpoint/2010/main" val="28685835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All rights reserved.</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F8EB60C-7CC2-49F0-B2EE-C81F067DE041}" type="slidenum">
              <a:rPr kumimoji="0" lang="en-US" sz="1800" b="0" i="0" u="none" strike="noStrike" kern="1200" cap="none" spc="0" normalizeH="0" baseline="0" noProof="0" smtClean="0">
                <a:ln>
                  <a:noFill/>
                </a:ln>
                <a:solidFill>
                  <a:srgbClr val="000000"/>
                </a:solidFill>
                <a:effectLst/>
                <a:uLnTx/>
                <a:uFillTx/>
                <a:latin typeface="Graphi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dirty="0">
              <a:ln>
                <a:noFill/>
              </a:ln>
              <a:solidFill>
                <a:srgbClr val="000000"/>
              </a:solidFill>
              <a:effectLst/>
              <a:uLnTx/>
              <a:uFillTx/>
              <a:latin typeface="Graphik"/>
              <a:ea typeface="+mn-ea"/>
              <a:cs typeface="+mn-cs"/>
            </a:endParaRP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7500C0"/>
                </a:solidFill>
                <a:effectLst/>
                <a:uLnTx/>
                <a:uFillTx/>
                <a:latin typeface="Graphik"/>
                <a:ea typeface="+mj-ea"/>
                <a:cs typeface="+mj-cs"/>
              </a:rPr>
              <a:t>Interoperability Architecture </a:t>
            </a:r>
            <a:r>
              <a:rPr kumimoji="0" lang="en-US" sz="2400" b="1" i="0" u="none" strike="noStrike" kern="1200" cap="none" spc="0" normalizeH="0" baseline="0" noProof="0" dirty="0">
                <a:ln>
                  <a:noFill/>
                </a:ln>
                <a:solidFill>
                  <a:srgbClr val="000000"/>
                </a:solidFill>
                <a:effectLst/>
                <a:uLnTx/>
                <a:uFillTx/>
                <a:latin typeface="Graphik"/>
                <a:ea typeface="+mj-ea"/>
                <a:cs typeface="+mj-cs"/>
              </a:rPr>
              <a:t>| Capability Map Level 1</a:t>
            </a:r>
          </a:p>
        </p:txBody>
      </p:sp>
      <p:sp>
        <p:nvSpPr>
          <p:cNvPr id="2" name="Rectangle 1">
            <a:extLst>
              <a:ext uri="{FF2B5EF4-FFF2-40B4-BE49-F238E27FC236}">
                <a16:creationId xmlns:a16="http://schemas.microsoft.com/office/drawing/2014/main" id="{E70AE35D-EE01-D568-F8CE-E9F1F96155AE}"/>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Security</a:t>
            </a:r>
          </a:p>
        </p:txBody>
      </p:sp>
      <p:sp>
        <p:nvSpPr>
          <p:cNvPr id="5" name="Rectangle 4">
            <a:extLst>
              <a:ext uri="{FF2B5EF4-FFF2-40B4-BE49-F238E27FC236}">
                <a16:creationId xmlns:a16="http://schemas.microsoft.com/office/drawing/2014/main" id="{778BBC08-3FFE-D66E-27B0-C33BC251FC99}"/>
              </a:ext>
            </a:extLst>
          </p:cNvPr>
          <p:cNvSpPr/>
          <p:nvPr/>
        </p:nvSpPr>
        <p:spPr>
          <a:xfrm>
            <a:off x="762603" y="3758314"/>
            <a:ext cx="972000" cy="10773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Graphik"/>
                <a:ea typeface="+mn-ea"/>
                <a:cs typeface="+mn-cs"/>
              </a:rPr>
              <a:t>Certificate &amp;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Graphik"/>
                <a:ea typeface="+mn-ea"/>
                <a:cs typeface="+mn-cs"/>
              </a:rPr>
              <a:t>Secret Mgmt</a:t>
            </a:r>
          </a:p>
        </p:txBody>
      </p:sp>
      <p:sp>
        <p:nvSpPr>
          <p:cNvPr id="6" name="Rectangle 5">
            <a:extLst>
              <a:ext uri="{FF2B5EF4-FFF2-40B4-BE49-F238E27FC236}">
                <a16:creationId xmlns:a16="http://schemas.microsoft.com/office/drawing/2014/main" id="{571F3F69-7ABE-5E99-A8AF-3D5415068F81}"/>
              </a:ext>
            </a:extLst>
          </p:cNvPr>
          <p:cNvSpPr/>
          <p:nvPr/>
        </p:nvSpPr>
        <p:spPr>
          <a:xfrm>
            <a:off x="1907612" y="944590"/>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Observability</a:t>
            </a:r>
          </a:p>
        </p:txBody>
      </p:sp>
      <p:sp>
        <p:nvSpPr>
          <p:cNvPr id="7" name="Rectangle 6">
            <a:extLst>
              <a:ext uri="{FF2B5EF4-FFF2-40B4-BE49-F238E27FC236}">
                <a16:creationId xmlns:a16="http://schemas.microsoft.com/office/drawing/2014/main" id="{73CED7FB-3B43-D8A2-06AF-67660493A1E9}"/>
              </a:ext>
            </a:extLst>
          </p:cNvPr>
          <p:cNvSpPr/>
          <p:nvPr/>
        </p:nvSpPr>
        <p:spPr>
          <a:xfrm>
            <a:off x="1961612" y="1256079"/>
            <a:ext cx="972000" cy="349153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Graphik"/>
                <a:ea typeface="+mn-ea"/>
                <a:cs typeface="+mn-cs"/>
              </a:rPr>
              <a:t>Monitoring</a:t>
            </a:r>
          </a:p>
        </p:txBody>
      </p:sp>
      <p:sp>
        <p:nvSpPr>
          <p:cNvPr id="8" name="Rectangle 7">
            <a:extLst>
              <a:ext uri="{FF2B5EF4-FFF2-40B4-BE49-F238E27FC236}">
                <a16:creationId xmlns:a16="http://schemas.microsoft.com/office/drawing/2014/main" id="{8A20A2F5-F14B-31B4-3F10-8F2EC7323DB3}"/>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Graphik"/>
                <a:ea typeface="+mn-ea"/>
                <a:cs typeface="+mn-cs"/>
              </a:rPr>
              <a:t>Infrastructure</a:t>
            </a:r>
          </a:p>
        </p:txBody>
      </p:sp>
      <p:sp>
        <p:nvSpPr>
          <p:cNvPr id="9" name="Rectangle 8">
            <a:extLst>
              <a:ext uri="{FF2B5EF4-FFF2-40B4-BE49-F238E27FC236}">
                <a16:creationId xmlns:a16="http://schemas.microsoft.com/office/drawing/2014/main" id="{9C781EE8-6B06-2E88-5D54-153E6534C1C6}"/>
              </a:ext>
            </a:extLst>
          </p:cNvPr>
          <p:cNvSpPr/>
          <p:nvPr/>
        </p:nvSpPr>
        <p:spPr>
          <a:xfrm>
            <a:off x="10275552" y="1890884"/>
            <a:ext cx="972000" cy="55187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Graphik"/>
                <a:ea typeface="+mn-ea"/>
                <a:cs typeface="+mn-cs"/>
              </a:rPr>
              <a:t>Tech Stack</a:t>
            </a:r>
          </a:p>
        </p:txBody>
      </p:sp>
      <p:sp>
        <p:nvSpPr>
          <p:cNvPr id="10" name="Rectangle 9">
            <a:extLst>
              <a:ext uri="{FF2B5EF4-FFF2-40B4-BE49-F238E27FC236}">
                <a16:creationId xmlns:a16="http://schemas.microsoft.com/office/drawing/2014/main" id="{EFE92F38-620A-8BB7-9321-F20232F4ED2D}"/>
              </a:ext>
            </a:extLst>
          </p:cNvPr>
          <p:cNvSpPr/>
          <p:nvPr/>
        </p:nvSpPr>
        <p:spPr>
          <a:xfrm>
            <a:off x="10275552" y="2640911"/>
            <a:ext cx="972000" cy="210670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Graphik"/>
                <a:ea typeface="+mn-ea"/>
                <a:cs typeface="+mn-cs"/>
              </a:rPr>
              <a:t>Microservices Framework</a:t>
            </a:r>
          </a:p>
        </p:txBody>
      </p:sp>
      <p:sp>
        <p:nvSpPr>
          <p:cNvPr id="11" name="Rectangle 10">
            <a:extLst>
              <a:ext uri="{FF2B5EF4-FFF2-40B4-BE49-F238E27FC236}">
                <a16:creationId xmlns:a16="http://schemas.microsoft.com/office/drawing/2014/main" id="{AE7EC32E-2498-9119-E2DB-F8ABAFCE35D7}"/>
              </a:ext>
            </a:extLst>
          </p:cNvPr>
          <p:cNvSpPr/>
          <p:nvPr/>
        </p:nvSpPr>
        <p:spPr>
          <a:xfrm>
            <a:off x="798603" y="1266135"/>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Identity &amp; Access Mgmt</a:t>
            </a:r>
          </a:p>
        </p:txBody>
      </p:sp>
      <p:sp>
        <p:nvSpPr>
          <p:cNvPr id="12" name="Rectangle 11">
            <a:extLst>
              <a:ext uri="{FF2B5EF4-FFF2-40B4-BE49-F238E27FC236}">
                <a16:creationId xmlns:a16="http://schemas.microsoft.com/office/drawing/2014/main" id="{2B1DCA28-319E-919E-46E1-76D1AF3F007E}"/>
              </a:ext>
            </a:extLst>
          </p:cNvPr>
          <p:cNvSpPr/>
          <p:nvPr/>
        </p:nvSpPr>
        <p:spPr>
          <a:xfrm>
            <a:off x="798603" y="1535946"/>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Access Token / SSO</a:t>
            </a:r>
          </a:p>
        </p:txBody>
      </p:sp>
      <p:sp>
        <p:nvSpPr>
          <p:cNvPr id="13" name="Rectangle 12">
            <a:extLst>
              <a:ext uri="{FF2B5EF4-FFF2-40B4-BE49-F238E27FC236}">
                <a16:creationId xmlns:a16="http://schemas.microsoft.com/office/drawing/2014/main" id="{8E1C3CEC-117A-F74A-F626-E71148178F57}"/>
              </a:ext>
            </a:extLst>
          </p:cNvPr>
          <p:cNvSpPr/>
          <p:nvPr/>
        </p:nvSpPr>
        <p:spPr>
          <a:xfrm>
            <a:off x="798603" y="180575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Authentication Services</a:t>
            </a:r>
          </a:p>
        </p:txBody>
      </p:sp>
      <p:sp>
        <p:nvSpPr>
          <p:cNvPr id="14" name="Rectangle 13">
            <a:extLst>
              <a:ext uri="{FF2B5EF4-FFF2-40B4-BE49-F238E27FC236}">
                <a16:creationId xmlns:a16="http://schemas.microsoft.com/office/drawing/2014/main" id="{266EA4C1-F0DE-2972-4C54-F9C8D5658772}"/>
              </a:ext>
            </a:extLst>
          </p:cNvPr>
          <p:cNvSpPr/>
          <p:nvPr/>
        </p:nvSpPr>
        <p:spPr>
          <a:xfrm>
            <a:off x="798603" y="207556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Session Services</a:t>
            </a:r>
          </a:p>
        </p:txBody>
      </p:sp>
      <p:sp>
        <p:nvSpPr>
          <p:cNvPr id="15" name="Rectangle 14">
            <a:extLst>
              <a:ext uri="{FF2B5EF4-FFF2-40B4-BE49-F238E27FC236}">
                <a16:creationId xmlns:a16="http://schemas.microsoft.com/office/drawing/2014/main" id="{7E280B35-25DB-454B-BA4B-BE5C55EE0359}"/>
              </a:ext>
            </a:extLst>
          </p:cNvPr>
          <p:cNvSpPr/>
          <p:nvPr/>
        </p:nvSpPr>
        <p:spPr>
          <a:xfrm>
            <a:off x="798603" y="234538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Authorization Services</a:t>
            </a:r>
          </a:p>
        </p:txBody>
      </p:sp>
      <p:sp>
        <p:nvSpPr>
          <p:cNvPr id="18" name="Rectangle 17">
            <a:extLst>
              <a:ext uri="{FF2B5EF4-FFF2-40B4-BE49-F238E27FC236}">
                <a16:creationId xmlns:a16="http://schemas.microsoft.com/office/drawing/2014/main" id="{0A3291CD-376B-8EA4-477D-E9D1F193C9BD}"/>
              </a:ext>
            </a:extLst>
          </p:cNvPr>
          <p:cNvSpPr/>
          <p:nvPr/>
        </p:nvSpPr>
        <p:spPr>
          <a:xfrm>
            <a:off x="1997612" y="146748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Operational Log Services</a:t>
            </a:r>
          </a:p>
        </p:txBody>
      </p:sp>
      <p:sp>
        <p:nvSpPr>
          <p:cNvPr id="21" name="Rectangle 20">
            <a:extLst>
              <a:ext uri="{FF2B5EF4-FFF2-40B4-BE49-F238E27FC236}">
                <a16:creationId xmlns:a16="http://schemas.microsoft.com/office/drawing/2014/main" id="{A7A50072-DF4A-9828-9A05-49FE20DD4BB7}"/>
              </a:ext>
            </a:extLst>
          </p:cNvPr>
          <p:cNvSpPr/>
          <p:nvPr/>
        </p:nvSpPr>
        <p:spPr>
          <a:xfrm>
            <a:off x="1997612" y="172982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Health </a:t>
            </a:r>
            <a:r>
              <a:rPr kumimoji="0" lang="en-US" sz="700" b="0" i="0" u="none" strike="noStrike" kern="1200" cap="none" spc="0" normalizeH="0" baseline="0" noProof="0" dirty="0">
                <a:ln>
                  <a:noFill/>
                </a:ln>
                <a:solidFill>
                  <a:srgbClr val="000000"/>
                </a:solidFill>
                <a:effectLst/>
                <a:uLnTx/>
                <a:uFillTx/>
                <a:latin typeface="Graphik"/>
                <a:ea typeface="+mn-ea"/>
                <a:cs typeface="+mn-cs"/>
              </a:rPr>
              <a:t>Monitoring</a:t>
            </a:r>
          </a:p>
        </p:txBody>
      </p:sp>
      <p:sp>
        <p:nvSpPr>
          <p:cNvPr id="22" name="Rectangle 21">
            <a:extLst>
              <a:ext uri="{FF2B5EF4-FFF2-40B4-BE49-F238E27FC236}">
                <a16:creationId xmlns:a16="http://schemas.microsoft.com/office/drawing/2014/main" id="{97E7A4B2-2EEE-0F1D-68E8-073E357E2ED7}"/>
              </a:ext>
            </a:extLst>
          </p:cNvPr>
          <p:cNvSpPr/>
          <p:nvPr/>
        </p:nvSpPr>
        <p:spPr>
          <a:xfrm>
            <a:off x="1997612" y="1997384"/>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Graphik"/>
                <a:ea typeface="+mn-ea"/>
                <a:cs typeface="+mn-cs"/>
              </a:rPr>
              <a:t>Business Dashboards</a:t>
            </a:r>
          </a:p>
        </p:txBody>
      </p:sp>
      <p:sp>
        <p:nvSpPr>
          <p:cNvPr id="24" name="Rectangle 23">
            <a:extLst>
              <a:ext uri="{FF2B5EF4-FFF2-40B4-BE49-F238E27FC236}">
                <a16:creationId xmlns:a16="http://schemas.microsoft.com/office/drawing/2014/main" id="{D84345C3-8612-70C2-FEDC-223574B6AC67}"/>
              </a:ext>
            </a:extLst>
          </p:cNvPr>
          <p:cNvSpPr/>
          <p:nvPr/>
        </p:nvSpPr>
        <p:spPr>
          <a:xfrm>
            <a:off x="1997612" y="2800055"/>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Graphik"/>
                <a:ea typeface="+mn-ea"/>
                <a:cs typeface="+mn-cs"/>
              </a:rPr>
              <a:t>Metrics &amp; Analytics</a:t>
            </a:r>
          </a:p>
        </p:txBody>
      </p:sp>
      <p:sp>
        <p:nvSpPr>
          <p:cNvPr id="25" name="Rectangle 24">
            <a:extLst>
              <a:ext uri="{FF2B5EF4-FFF2-40B4-BE49-F238E27FC236}">
                <a16:creationId xmlns:a16="http://schemas.microsoft.com/office/drawing/2014/main" id="{F8EE0A11-95CA-9CB8-8A62-A9B293776D00}"/>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Gateway Services</a:t>
            </a:r>
          </a:p>
        </p:txBody>
      </p:sp>
      <p:sp>
        <p:nvSpPr>
          <p:cNvPr id="26" name="Rectangle 25">
            <a:extLst>
              <a:ext uri="{FF2B5EF4-FFF2-40B4-BE49-F238E27FC236}">
                <a16:creationId xmlns:a16="http://schemas.microsoft.com/office/drawing/2014/main" id="{4EBB8279-A3BB-1267-CA96-8CD1765438BD}"/>
              </a:ext>
            </a:extLst>
          </p:cNvPr>
          <p:cNvSpPr/>
          <p:nvPr/>
        </p:nvSpPr>
        <p:spPr>
          <a:xfrm>
            <a:off x="7797100" y="123323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Sandbox</a:t>
            </a:r>
          </a:p>
        </p:txBody>
      </p:sp>
      <p:sp>
        <p:nvSpPr>
          <p:cNvPr id="27" name="Rectangle 26">
            <a:extLst>
              <a:ext uri="{FF2B5EF4-FFF2-40B4-BE49-F238E27FC236}">
                <a16:creationId xmlns:a16="http://schemas.microsoft.com/office/drawing/2014/main" id="{96E19816-28FA-C3B0-E3D5-81EDDC976BA4}"/>
              </a:ext>
            </a:extLst>
          </p:cNvPr>
          <p:cNvSpPr/>
          <p:nvPr/>
        </p:nvSpPr>
        <p:spPr>
          <a:xfrm>
            <a:off x="3287611" y="1163074"/>
            <a:ext cx="4354983" cy="268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Graphik"/>
                <a:ea typeface="+mn-ea"/>
                <a:cs typeface="+mn-cs"/>
              </a:rPr>
              <a:t>Outbound</a:t>
            </a:r>
          </a:p>
        </p:txBody>
      </p:sp>
      <p:sp>
        <p:nvSpPr>
          <p:cNvPr id="28" name="Rectangle 27">
            <a:extLst>
              <a:ext uri="{FF2B5EF4-FFF2-40B4-BE49-F238E27FC236}">
                <a16:creationId xmlns:a16="http://schemas.microsoft.com/office/drawing/2014/main" id="{10A7BDB8-63C3-96DF-DE58-1F4F3E71F455}"/>
              </a:ext>
            </a:extLst>
          </p:cNvPr>
          <p:cNvSpPr/>
          <p:nvPr/>
        </p:nvSpPr>
        <p:spPr>
          <a:xfrm>
            <a:off x="4806781" y="118423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API Gateway</a:t>
            </a:r>
          </a:p>
        </p:txBody>
      </p:sp>
      <p:sp>
        <p:nvSpPr>
          <p:cNvPr id="29" name="Rectangle 28">
            <a:extLst>
              <a:ext uri="{FF2B5EF4-FFF2-40B4-BE49-F238E27FC236}">
                <a16:creationId xmlns:a16="http://schemas.microsoft.com/office/drawing/2014/main" id="{BFC14153-7CE3-1382-3C58-133E30515425}"/>
              </a:ext>
            </a:extLst>
          </p:cNvPr>
          <p:cNvSpPr/>
          <p:nvPr/>
        </p:nvSpPr>
        <p:spPr>
          <a:xfrm>
            <a:off x="3876415" y="118423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Graphik"/>
                <a:ea typeface="+mn-ea"/>
                <a:cs typeface="+mn-cs"/>
              </a:rPr>
              <a:t>Switching</a:t>
            </a:r>
          </a:p>
        </p:txBody>
      </p:sp>
      <p:sp>
        <p:nvSpPr>
          <p:cNvPr id="30" name="Rectangle 29">
            <a:extLst>
              <a:ext uri="{FF2B5EF4-FFF2-40B4-BE49-F238E27FC236}">
                <a16:creationId xmlns:a16="http://schemas.microsoft.com/office/drawing/2014/main" id="{D73281C1-9D47-43C7-AEA5-F2869805D709}"/>
              </a:ext>
            </a:extLst>
          </p:cNvPr>
          <p:cNvSpPr/>
          <p:nvPr/>
        </p:nvSpPr>
        <p:spPr>
          <a:xfrm>
            <a:off x="5737147" y="118423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File Gateway</a:t>
            </a:r>
          </a:p>
        </p:txBody>
      </p:sp>
      <p:sp>
        <p:nvSpPr>
          <p:cNvPr id="31" name="Rectangle 30">
            <a:extLst>
              <a:ext uri="{FF2B5EF4-FFF2-40B4-BE49-F238E27FC236}">
                <a16:creationId xmlns:a16="http://schemas.microsoft.com/office/drawing/2014/main" id="{B35F8975-4A80-CD97-DB4F-08F27635ECAE}"/>
              </a:ext>
            </a:extLst>
          </p:cNvPr>
          <p:cNvSpPr/>
          <p:nvPr/>
        </p:nvSpPr>
        <p:spPr>
          <a:xfrm>
            <a:off x="6667513" y="118423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EventHub Gateway</a:t>
            </a:r>
          </a:p>
        </p:txBody>
      </p:sp>
      <p:sp>
        <p:nvSpPr>
          <p:cNvPr id="32" name="Rectangle 31">
            <a:extLst>
              <a:ext uri="{FF2B5EF4-FFF2-40B4-BE49-F238E27FC236}">
                <a16:creationId xmlns:a16="http://schemas.microsoft.com/office/drawing/2014/main" id="{E38DEEAD-1E52-5319-DC3C-3B5D256C4EB8}"/>
              </a:ext>
            </a:extLst>
          </p:cNvPr>
          <p:cNvSpPr/>
          <p:nvPr/>
        </p:nvSpPr>
        <p:spPr>
          <a:xfrm>
            <a:off x="3287611" y="1472016"/>
            <a:ext cx="4354983" cy="5110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Graphik"/>
                <a:ea typeface="+mn-ea"/>
                <a:cs typeface="+mn-cs"/>
              </a:rPr>
              <a:t>Inbound</a:t>
            </a:r>
          </a:p>
        </p:txBody>
      </p:sp>
      <p:sp>
        <p:nvSpPr>
          <p:cNvPr id="33" name="Rectangle 32">
            <a:extLst>
              <a:ext uri="{FF2B5EF4-FFF2-40B4-BE49-F238E27FC236}">
                <a16:creationId xmlns:a16="http://schemas.microsoft.com/office/drawing/2014/main" id="{97813EA0-5129-77E3-A3F6-E5E13F50D284}"/>
              </a:ext>
            </a:extLst>
          </p:cNvPr>
          <p:cNvSpPr/>
          <p:nvPr/>
        </p:nvSpPr>
        <p:spPr>
          <a:xfrm>
            <a:off x="3876415" y="1480386"/>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Security Token Service (STS)</a:t>
            </a:r>
          </a:p>
        </p:txBody>
      </p:sp>
      <p:sp>
        <p:nvSpPr>
          <p:cNvPr id="34" name="Rectangle 33">
            <a:extLst>
              <a:ext uri="{FF2B5EF4-FFF2-40B4-BE49-F238E27FC236}">
                <a16:creationId xmlns:a16="http://schemas.microsoft.com/office/drawing/2014/main" id="{BFE8AC6C-3941-9D3F-0442-A9135B9FEBAD}"/>
              </a:ext>
            </a:extLst>
          </p:cNvPr>
          <p:cNvSpPr/>
          <p:nvPr/>
        </p:nvSpPr>
        <p:spPr>
          <a:xfrm>
            <a:off x="4806781" y="1480386"/>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API Gateway</a:t>
            </a:r>
          </a:p>
        </p:txBody>
      </p:sp>
      <p:sp>
        <p:nvSpPr>
          <p:cNvPr id="35" name="Rectangle 34">
            <a:extLst>
              <a:ext uri="{FF2B5EF4-FFF2-40B4-BE49-F238E27FC236}">
                <a16:creationId xmlns:a16="http://schemas.microsoft.com/office/drawing/2014/main" id="{A124005B-1238-F92B-25EA-99223CCCD28F}"/>
              </a:ext>
            </a:extLst>
          </p:cNvPr>
          <p:cNvSpPr/>
          <p:nvPr/>
        </p:nvSpPr>
        <p:spPr>
          <a:xfrm>
            <a:off x="6667513" y="1480386"/>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EventHub Gateway</a:t>
            </a:r>
          </a:p>
        </p:txBody>
      </p:sp>
      <p:sp>
        <p:nvSpPr>
          <p:cNvPr id="36" name="Rectangle 35">
            <a:extLst>
              <a:ext uri="{FF2B5EF4-FFF2-40B4-BE49-F238E27FC236}">
                <a16:creationId xmlns:a16="http://schemas.microsoft.com/office/drawing/2014/main" id="{C60EB697-EA76-4C6E-AD25-494AE8B868C9}"/>
              </a:ext>
            </a:extLst>
          </p:cNvPr>
          <p:cNvSpPr/>
          <p:nvPr/>
        </p:nvSpPr>
        <p:spPr>
          <a:xfrm>
            <a:off x="5737147" y="1480386"/>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File Gateway</a:t>
            </a:r>
          </a:p>
        </p:txBody>
      </p:sp>
      <p:sp>
        <p:nvSpPr>
          <p:cNvPr id="37" name="Rectangle 36">
            <a:extLst>
              <a:ext uri="{FF2B5EF4-FFF2-40B4-BE49-F238E27FC236}">
                <a16:creationId xmlns:a16="http://schemas.microsoft.com/office/drawing/2014/main" id="{E45690DE-3BF2-F591-1A36-21029EF70B61}"/>
              </a:ext>
            </a:extLst>
          </p:cNvPr>
          <p:cNvSpPr/>
          <p:nvPr/>
        </p:nvSpPr>
        <p:spPr>
          <a:xfrm>
            <a:off x="3876415" y="172542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Open Banking Edge</a:t>
            </a:r>
          </a:p>
        </p:txBody>
      </p:sp>
      <p:sp>
        <p:nvSpPr>
          <p:cNvPr id="38" name="Rectangle 37">
            <a:extLst>
              <a:ext uri="{FF2B5EF4-FFF2-40B4-BE49-F238E27FC236}">
                <a16:creationId xmlns:a16="http://schemas.microsoft.com/office/drawing/2014/main" id="{FAE69661-7CD2-FC33-4247-560302FD8CB8}"/>
              </a:ext>
            </a:extLst>
          </p:cNvPr>
          <p:cNvSpPr/>
          <p:nvPr/>
        </p:nvSpPr>
        <p:spPr>
          <a:xfrm>
            <a:off x="4806781" y="1727544"/>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Filter Edge</a:t>
            </a:r>
          </a:p>
        </p:txBody>
      </p:sp>
      <p:sp>
        <p:nvSpPr>
          <p:cNvPr id="39" name="Rectangle 38">
            <a:extLst>
              <a:ext uri="{FF2B5EF4-FFF2-40B4-BE49-F238E27FC236}">
                <a16:creationId xmlns:a16="http://schemas.microsoft.com/office/drawing/2014/main" id="{484FB585-442C-FCE3-8D4A-2F4977B8F22A}"/>
              </a:ext>
            </a:extLst>
          </p:cNvPr>
          <p:cNvSpPr/>
          <p:nvPr/>
        </p:nvSpPr>
        <p:spPr>
          <a:xfrm>
            <a:off x="762603" y="2622478"/>
            <a:ext cx="972000" cy="10773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Graphik"/>
                <a:ea typeface="+mn-ea"/>
                <a:cs typeface="+mn-cs"/>
              </a:rPr>
              <a:t>Crypto Services</a:t>
            </a:r>
          </a:p>
        </p:txBody>
      </p:sp>
      <p:sp>
        <p:nvSpPr>
          <p:cNvPr id="40" name="Rectangle 39">
            <a:extLst>
              <a:ext uri="{FF2B5EF4-FFF2-40B4-BE49-F238E27FC236}">
                <a16:creationId xmlns:a16="http://schemas.microsoft.com/office/drawing/2014/main" id="{FF7DED4F-823A-2FAA-5172-B0E0369B04BE}"/>
              </a:ext>
            </a:extLst>
          </p:cNvPr>
          <p:cNvSpPr/>
          <p:nvPr/>
        </p:nvSpPr>
        <p:spPr>
          <a:xfrm>
            <a:off x="798603" y="2811921"/>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Signature Ops</a:t>
            </a:r>
          </a:p>
        </p:txBody>
      </p:sp>
      <p:sp>
        <p:nvSpPr>
          <p:cNvPr id="41" name="Rectangle 40">
            <a:extLst>
              <a:ext uri="{FF2B5EF4-FFF2-40B4-BE49-F238E27FC236}">
                <a16:creationId xmlns:a16="http://schemas.microsoft.com/office/drawing/2014/main" id="{8A047AB2-9F78-54EA-5E13-716FC26AA55D}"/>
              </a:ext>
            </a:extLst>
          </p:cNvPr>
          <p:cNvSpPr/>
          <p:nvPr/>
        </p:nvSpPr>
        <p:spPr>
          <a:xfrm>
            <a:off x="798603" y="309068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Encryption Ops</a:t>
            </a:r>
          </a:p>
        </p:txBody>
      </p:sp>
      <p:sp>
        <p:nvSpPr>
          <p:cNvPr id="42" name="Rectangle 41">
            <a:extLst>
              <a:ext uri="{FF2B5EF4-FFF2-40B4-BE49-F238E27FC236}">
                <a16:creationId xmlns:a16="http://schemas.microsoft.com/office/drawing/2014/main" id="{2D377777-0ABD-A961-533E-59E2780246D7}"/>
              </a:ext>
            </a:extLst>
          </p:cNvPr>
          <p:cNvSpPr/>
          <p:nvPr/>
        </p:nvSpPr>
        <p:spPr>
          <a:xfrm>
            <a:off x="798603" y="334848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E2E Encryption</a:t>
            </a:r>
          </a:p>
        </p:txBody>
      </p:sp>
      <p:sp>
        <p:nvSpPr>
          <p:cNvPr id="43" name="Rectangle 42">
            <a:extLst>
              <a:ext uri="{FF2B5EF4-FFF2-40B4-BE49-F238E27FC236}">
                <a16:creationId xmlns:a16="http://schemas.microsoft.com/office/drawing/2014/main" id="{2D809E3F-6E9F-6A4B-D130-582CAB8EDA0A}"/>
              </a:ext>
            </a:extLst>
          </p:cNvPr>
          <p:cNvSpPr/>
          <p:nvPr/>
        </p:nvSpPr>
        <p:spPr>
          <a:xfrm>
            <a:off x="3161292" y="2773838"/>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Graphik"/>
                <a:ea typeface="+mn-ea"/>
                <a:cs typeface="+mn-cs"/>
              </a:rPr>
              <a:t>Omnichannel &amp; Caching Components</a:t>
            </a:r>
          </a:p>
        </p:txBody>
      </p:sp>
      <p:sp>
        <p:nvSpPr>
          <p:cNvPr id="44" name="Rectangle 43">
            <a:extLst>
              <a:ext uri="{FF2B5EF4-FFF2-40B4-BE49-F238E27FC236}">
                <a16:creationId xmlns:a16="http://schemas.microsoft.com/office/drawing/2014/main" id="{FA9459CC-1F37-E465-375E-3EDCB38895C9}"/>
              </a:ext>
            </a:extLst>
          </p:cNvPr>
          <p:cNvSpPr/>
          <p:nvPr/>
        </p:nvSpPr>
        <p:spPr>
          <a:xfrm>
            <a:off x="3218224" y="299483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Graphik"/>
                <a:ea typeface="+mn-ea"/>
                <a:cs typeface="+mn-cs"/>
              </a:rPr>
              <a:t>Omnichannel Data </a:t>
            </a:r>
            <a:r>
              <a:rPr kumimoji="0" lang="en-US" sz="700" b="0" i="0" u="none" strike="noStrike" kern="1200" cap="none" spc="0" normalizeH="0" baseline="0" noProof="0" dirty="0" err="1">
                <a:ln>
                  <a:noFill/>
                </a:ln>
                <a:solidFill>
                  <a:srgbClr val="000000"/>
                </a:solidFill>
                <a:effectLst/>
                <a:uLnTx/>
                <a:uFillTx/>
                <a:latin typeface="Graphik"/>
                <a:ea typeface="+mn-ea"/>
                <a:cs typeface="+mn-cs"/>
              </a:rPr>
              <a:t>Mgmt</a:t>
            </a:r>
            <a:endParaRPr kumimoji="0" lang="en-US" sz="700" b="0" i="0" u="none" strike="noStrike" kern="1200" cap="none" spc="0" normalizeH="0" baseline="0" noProof="0" dirty="0">
              <a:ln>
                <a:noFill/>
              </a:ln>
              <a:solidFill>
                <a:srgbClr val="000000"/>
              </a:solidFill>
              <a:effectLst/>
              <a:uLnTx/>
              <a:uFillTx/>
              <a:latin typeface="Graphik"/>
              <a:ea typeface="+mn-ea"/>
              <a:cs typeface="+mn-cs"/>
            </a:endParaRPr>
          </a:p>
        </p:txBody>
      </p:sp>
      <p:sp>
        <p:nvSpPr>
          <p:cNvPr id="45" name="Rectangle 44">
            <a:extLst>
              <a:ext uri="{FF2B5EF4-FFF2-40B4-BE49-F238E27FC236}">
                <a16:creationId xmlns:a16="http://schemas.microsoft.com/office/drawing/2014/main" id="{EB9BE144-74F3-142B-A00C-F31B6289655D}"/>
              </a:ext>
            </a:extLst>
          </p:cNvPr>
          <p:cNvSpPr/>
          <p:nvPr/>
        </p:nvSpPr>
        <p:spPr>
          <a:xfrm>
            <a:off x="10311552" y="155741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Infra Resilience</a:t>
            </a:r>
          </a:p>
        </p:txBody>
      </p:sp>
      <p:sp>
        <p:nvSpPr>
          <p:cNvPr id="46" name="Rectangle 45">
            <a:extLst>
              <a:ext uri="{FF2B5EF4-FFF2-40B4-BE49-F238E27FC236}">
                <a16:creationId xmlns:a16="http://schemas.microsoft.com/office/drawing/2014/main" id="{B9462E1D-C721-A015-E9C0-02CFD283D7B2}"/>
              </a:ext>
            </a:extLst>
          </p:cNvPr>
          <p:cNvSpPr/>
          <p:nvPr/>
        </p:nvSpPr>
        <p:spPr>
          <a:xfrm>
            <a:off x="3167494" y="5132461"/>
            <a:ext cx="5681779" cy="104289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Data Delivery</a:t>
            </a:r>
          </a:p>
        </p:txBody>
      </p:sp>
      <p:sp>
        <p:nvSpPr>
          <p:cNvPr id="47" name="Rectangle 46">
            <a:extLst>
              <a:ext uri="{FF2B5EF4-FFF2-40B4-BE49-F238E27FC236}">
                <a16:creationId xmlns:a16="http://schemas.microsoft.com/office/drawing/2014/main" id="{7D677EBD-AAEF-0F30-48DE-A72103AD1AD9}"/>
              </a:ext>
            </a:extLst>
          </p:cNvPr>
          <p:cNvSpPr/>
          <p:nvPr/>
        </p:nvSpPr>
        <p:spPr>
          <a:xfrm>
            <a:off x="798603" y="4872631"/>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Vulnerability and Threat Mgmt (VTM)</a:t>
            </a:r>
          </a:p>
        </p:txBody>
      </p:sp>
      <p:sp>
        <p:nvSpPr>
          <p:cNvPr id="48" name="Rectangle 47">
            <a:extLst>
              <a:ext uri="{FF2B5EF4-FFF2-40B4-BE49-F238E27FC236}">
                <a16:creationId xmlns:a16="http://schemas.microsoft.com/office/drawing/2014/main" id="{355BA4DC-FEF8-89DB-59BC-10ECEF492F8E}"/>
              </a:ext>
            </a:extLst>
          </p:cNvPr>
          <p:cNvSpPr/>
          <p:nvPr/>
        </p:nvSpPr>
        <p:spPr>
          <a:xfrm>
            <a:off x="10311552" y="3018291"/>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Graphik"/>
                <a:ea typeface="+mn-ea"/>
                <a:cs typeface="+mn-cs"/>
              </a:rPr>
              <a:t>Platform Config. Automation</a:t>
            </a:r>
          </a:p>
        </p:txBody>
      </p:sp>
      <p:sp>
        <p:nvSpPr>
          <p:cNvPr id="49" name="Rectangle 48">
            <a:extLst>
              <a:ext uri="{FF2B5EF4-FFF2-40B4-BE49-F238E27FC236}">
                <a16:creationId xmlns:a16="http://schemas.microsoft.com/office/drawing/2014/main" id="{616FDED6-1E9C-D1A7-3700-DFBE174295E6}"/>
              </a:ext>
            </a:extLst>
          </p:cNvPr>
          <p:cNvSpPr/>
          <p:nvPr/>
        </p:nvSpPr>
        <p:spPr>
          <a:xfrm>
            <a:off x="10311552" y="4438114"/>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Base Libraries</a:t>
            </a:r>
          </a:p>
        </p:txBody>
      </p:sp>
      <p:sp>
        <p:nvSpPr>
          <p:cNvPr id="50" name="Rectangle 49">
            <a:extLst>
              <a:ext uri="{FF2B5EF4-FFF2-40B4-BE49-F238E27FC236}">
                <a16:creationId xmlns:a16="http://schemas.microsoft.com/office/drawing/2014/main" id="{1A524666-4D9E-3732-8587-250B436FD4EC}"/>
              </a:ext>
            </a:extLst>
          </p:cNvPr>
          <p:cNvSpPr/>
          <p:nvPr/>
        </p:nvSpPr>
        <p:spPr>
          <a:xfrm>
            <a:off x="10311552" y="2093514"/>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Caching</a:t>
            </a:r>
          </a:p>
        </p:txBody>
      </p:sp>
      <p:sp>
        <p:nvSpPr>
          <p:cNvPr id="51" name="Rectangle 50">
            <a:extLst>
              <a:ext uri="{FF2B5EF4-FFF2-40B4-BE49-F238E27FC236}">
                <a16:creationId xmlns:a16="http://schemas.microsoft.com/office/drawing/2014/main" id="{FC9BBE43-ABA0-3F29-8081-6B5DB6F9B860}"/>
              </a:ext>
            </a:extLst>
          </p:cNvPr>
          <p:cNvSpPr/>
          <p:nvPr/>
        </p:nvSpPr>
        <p:spPr>
          <a:xfrm>
            <a:off x="10311552" y="3302255"/>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Language Runtimes</a:t>
            </a:r>
          </a:p>
        </p:txBody>
      </p:sp>
      <p:sp>
        <p:nvSpPr>
          <p:cNvPr id="52" name="Rectangle 51">
            <a:extLst>
              <a:ext uri="{FF2B5EF4-FFF2-40B4-BE49-F238E27FC236}">
                <a16:creationId xmlns:a16="http://schemas.microsoft.com/office/drawing/2014/main" id="{B7BF2C6A-5E64-1657-7140-C4940A4F5F5A}"/>
              </a:ext>
            </a:extLst>
          </p:cNvPr>
          <p:cNvSpPr/>
          <p:nvPr/>
        </p:nvSpPr>
        <p:spPr>
          <a:xfrm>
            <a:off x="798603" y="406274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Certificate Mgmt</a:t>
            </a:r>
          </a:p>
        </p:txBody>
      </p:sp>
      <p:sp>
        <p:nvSpPr>
          <p:cNvPr id="53" name="Rectangle 52">
            <a:extLst>
              <a:ext uri="{FF2B5EF4-FFF2-40B4-BE49-F238E27FC236}">
                <a16:creationId xmlns:a16="http://schemas.microsoft.com/office/drawing/2014/main" id="{F08CC2EC-ABE9-FFDE-11D5-6212B38B1FCC}"/>
              </a:ext>
            </a:extLst>
          </p:cNvPr>
          <p:cNvSpPr/>
          <p:nvPr/>
        </p:nvSpPr>
        <p:spPr>
          <a:xfrm>
            <a:off x="798603" y="4314565"/>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Secret Mgmt</a:t>
            </a:r>
          </a:p>
        </p:txBody>
      </p:sp>
      <p:sp>
        <p:nvSpPr>
          <p:cNvPr id="54" name="Rectangle 53">
            <a:extLst>
              <a:ext uri="{FF2B5EF4-FFF2-40B4-BE49-F238E27FC236}">
                <a16:creationId xmlns:a16="http://schemas.microsoft.com/office/drawing/2014/main" id="{22DF362D-76B8-9450-6965-421F8076DE5F}"/>
              </a:ext>
            </a:extLst>
          </p:cNvPr>
          <p:cNvSpPr/>
          <p:nvPr/>
        </p:nvSpPr>
        <p:spPr>
          <a:xfrm>
            <a:off x="1997612" y="253249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Alerts</a:t>
            </a:r>
          </a:p>
        </p:txBody>
      </p:sp>
      <p:sp>
        <p:nvSpPr>
          <p:cNvPr id="55" name="Rectangle 54">
            <a:extLst>
              <a:ext uri="{FF2B5EF4-FFF2-40B4-BE49-F238E27FC236}">
                <a16:creationId xmlns:a16="http://schemas.microsoft.com/office/drawing/2014/main" id="{181B5213-9102-DE32-EE40-A5F94B5B8B5A}"/>
              </a:ext>
            </a:extLst>
          </p:cNvPr>
          <p:cNvSpPr/>
          <p:nvPr/>
        </p:nvSpPr>
        <p:spPr>
          <a:xfrm>
            <a:off x="1997612" y="306761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Graphik"/>
                <a:ea typeface="+mn-ea"/>
                <a:cs typeface="+mn-cs"/>
              </a:rPr>
              <a:t>E2E Tracing</a:t>
            </a:r>
          </a:p>
        </p:txBody>
      </p:sp>
      <p:sp>
        <p:nvSpPr>
          <p:cNvPr id="56" name="Rectangle 55">
            <a:extLst>
              <a:ext uri="{FF2B5EF4-FFF2-40B4-BE49-F238E27FC236}">
                <a16:creationId xmlns:a16="http://schemas.microsoft.com/office/drawing/2014/main" id="{F217FA65-9FAA-BE63-E4E9-4304E091E5C4}"/>
              </a:ext>
            </a:extLst>
          </p:cNvPr>
          <p:cNvSpPr/>
          <p:nvPr/>
        </p:nvSpPr>
        <p:spPr>
          <a:xfrm>
            <a:off x="1997612" y="2264941"/>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Graphik"/>
                <a:ea typeface="+mn-ea"/>
                <a:cs typeface="+mn-cs"/>
              </a:rPr>
              <a:t>Tech Dashboards</a:t>
            </a:r>
          </a:p>
        </p:txBody>
      </p:sp>
      <p:sp>
        <p:nvSpPr>
          <p:cNvPr id="57" name="Rectangle 56">
            <a:extLst>
              <a:ext uri="{FF2B5EF4-FFF2-40B4-BE49-F238E27FC236}">
                <a16:creationId xmlns:a16="http://schemas.microsoft.com/office/drawing/2014/main" id="{DACECFE8-C175-71E7-E7F1-C215A01AA237}"/>
              </a:ext>
            </a:extLst>
          </p:cNvPr>
          <p:cNvSpPr/>
          <p:nvPr/>
        </p:nvSpPr>
        <p:spPr>
          <a:xfrm>
            <a:off x="10311552" y="358621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Image Streaming</a:t>
            </a:r>
          </a:p>
        </p:txBody>
      </p:sp>
      <p:sp>
        <p:nvSpPr>
          <p:cNvPr id="58" name="Rectangle 57">
            <a:extLst>
              <a:ext uri="{FF2B5EF4-FFF2-40B4-BE49-F238E27FC236}">
                <a16:creationId xmlns:a16="http://schemas.microsoft.com/office/drawing/2014/main" id="{EB57B6E8-AEE5-C2E2-139B-BC2494C89958}"/>
              </a:ext>
            </a:extLst>
          </p:cNvPr>
          <p:cNvSpPr/>
          <p:nvPr/>
        </p:nvSpPr>
        <p:spPr>
          <a:xfrm>
            <a:off x="10311552" y="3870183"/>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Automated Testing</a:t>
            </a:r>
          </a:p>
        </p:txBody>
      </p:sp>
      <p:sp>
        <p:nvSpPr>
          <p:cNvPr id="59" name="Rectangle 58">
            <a:extLst>
              <a:ext uri="{FF2B5EF4-FFF2-40B4-BE49-F238E27FC236}">
                <a16:creationId xmlns:a16="http://schemas.microsoft.com/office/drawing/2014/main" id="{E49A2F35-9834-A42A-960E-A3B34C1118F1}"/>
              </a:ext>
            </a:extLst>
          </p:cNvPr>
          <p:cNvSpPr/>
          <p:nvPr/>
        </p:nvSpPr>
        <p:spPr>
          <a:xfrm>
            <a:off x="3169828" y="3419879"/>
            <a:ext cx="5681779" cy="96050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Graphik"/>
                <a:ea typeface="+mn-ea"/>
                <a:cs typeface="+mn-cs"/>
              </a:rPr>
              <a:t>Distributed Transactions</a:t>
            </a:r>
          </a:p>
        </p:txBody>
      </p:sp>
      <p:sp>
        <p:nvSpPr>
          <p:cNvPr id="60" name="Rectangle 59">
            <a:extLst>
              <a:ext uri="{FF2B5EF4-FFF2-40B4-BE49-F238E27FC236}">
                <a16:creationId xmlns:a16="http://schemas.microsoft.com/office/drawing/2014/main" id="{EAB69807-B123-8F6B-0053-C0A85D8ED46A}"/>
              </a:ext>
            </a:extLst>
          </p:cNvPr>
          <p:cNvSpPr/>
          <p:nvPr/>
        </p:nvSpPr>
        <p:spPr>
          <a:xfrm>
            <a:off x="1997612" y="3335165"/>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Reporting</a:t>
            </a:r>
          </a:p>
        </p:txBody>
      </p:sp>
      <p:sp>
        <p:nvSpPr>
          <p:cNvPr id="61" name="Rectangle 60">
            <a:extLst>
              <a:ext uri="{FF2B5EF4-FFF2-40B4-BE49-F238E27FC236}">
                <a16:creationId xmlns:a16="http://schemas.microsoft.com/office/drawing/2014/main" id="{78096447-64B3-D0EB-2837-E4F9D3A4B498}"/>
              </a:ext>
            </a:extLst>
          </p:cNvPr>
          <p:cNvSpPr/>
          <p:nvPr/>
        </p:nvSpPr>
        <p:spPr>
          <a:xfrm>
            <a:off x="10311552" y="415414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Graphik"/>
                <a:ea typeface="+mn-ea"/>
                <a:cs typeface="+mn-cs"/>
              </a:rPr>
              <a:t>Deployment Strategies</a:t>
            </a:r>
          </a:p>
        </p:txBody>
      </p:sp>
      <p:sp>
        <p:nvSpPr>
          <p:cNvPr id="62" name="Rectangle 61">
            <a:extLst>
              <a:ext uri="{FF2B5EF4-FFF2-40B4-BE49-F238E27FC236}">
                <a16:creationId xmlns:a16="http://schemas.microsoft.com/office/drawing/2014/main" id="{D86B780E-ED30-D77D-C221-E9EE531842FB}"/>
              </a:ext>
            </a:extLst>
          </p:cNvPr>
          <p:cNvSpPr/>
          <p:nvPr/>
        </p:nvSpPr>
        <p:spPr>
          <a:xfrm>
            <a:off x="9005587"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Event Processing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&amp; Reactive Components</a:t>
            </a:r>
          </a:p>
        </p:txBody>
      </p:sp>
      <p:sp>
        <p:nvSpPr>
          <p:cNvPr id="63" name="Rectangle 62">
            <a:extLst>
              <a:ext uri="{FF2B5EF4-FFF2-40B4-BE49-F238E27FC236}">
                <a16:creationId xmlns:a16="http://schemas.microsoft.com/office/drawing/2014/main" id="{BFDB2F5B-EB8D-E340-E4EC-FD31C68E7EBE}"/>
              </a:ext>
            </a:extLst>
          </p:cNvPr>
          <p:cNvSpPr/>
          <p:nvPr/>
        </p:nvSpPr>
        <p:spPr>
          <a:xfrm>
            <a:off x="9059587" y="1549601"/>
            <a:ext cx="972000" cy="267559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Graphik"/>
                <a:ea typeface="+mn-ea"/>
                <a:cs typeface="+mn-cs"/>
              </a:rPr>
              <a:t>Event Messaging</a:t>
            </a:r>
          </a:p>
        </p:txBody>
      </p:sp>
      <p:sp>
        <p:nvSpPr>
          <p:cNvPr id="64" name="Rectangle 63">
            <a:extLst>
              <a:ext uri="{FF2B5EF4-FFF2-40B4-BE49-F238E27FC236}">
                <a16:creationId xmlns:a16="http://schemas.microsoft.com/office/drawing/2014/main" id="{53BA2D8E-5FA0-A4DC-F1B9-A1CB88B21DED}"/>
              </a:ext>
            </a:extLst>
          </p:cNvPr>
          <p:cNvSpPr/>
          <p:nvPr/>
        </p:nvSpPr>
        <p:spPr>
          <a:xfrm>
            <a:off x="9095587" y="2087524"/>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Event Streaming</a:t>
            </a:r>
          </a:p>
        </p:txBody>
      </p:sp>
      <p:sp>
        <p:nvSpPr>
          <p:cNvPr id="66" name="Rectangle 65">
            <a:extLst>
              <a:ext uri="{FF2B5EF4-FFF2-40B4-BE49-F238E27FC236}">
                <a16:creationId xmlns:a16="http://schemas.microsoft.com/office/drawing/2014/main" id="{2FEC0E0F-D015-8466-FC2C-4529BCC15928}"/>
              </a:ext>
            </a:extLst>
          </p:cNvPr>
          <p:cNvSpPr/>
          <p:nvPr/>
        </p:nvSpPr>
        <p:spPr>
          <a:xfrm>
            <a:off x="9095587" y="178348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Event Registry</a:t>
            </a:r>
          </a:p>
        </p:txBody>
      </p:sp>
      <p:sp>
        <p:nvSpPr>
          <p:cNvPr id="67" name="Rectangle 66">
            <a:extLst>
              <a:ext uri="{FF2B5EF4-FFF2-40B4-BE49-F238E27FC236}">
                <a16:creationId xmlns:a16="http://schemas.microsoft.com/office/drawing/2014/main" id="{C093D899-6174-0B32-72EE-2B769E60C36C}"/>
              </a:ext>
            </a:extLst>
          </p:cNvPr>
          <p:cNvSpPr/>
          <p:nvPr/>
        </p:nvSpPr>
        <p:spPr>
          <a:xfrm>
            <a:off x="9095587" y="236308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Multi-protocol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Messaging</a:t>
            </a:r>
          </a:p>
        </p:txBody>
      </p:sp>
      <p:sp>
        <p:nvSpPr>
          <p:cNvPr id="68" name="Rectangle 67">
            <a:extLst>
              <a:ext uri="{FF2B5EF4-FFF2-40B4-BE49-F238E27FC236}">
                <a16:creationId xmlns:a16="http://schemas.microsoft.com/office/drawing/2014/main" id="{156BF774-A6C3-4A6A-DAB6-8EA5A12668C4}"/>
              </a:ext>
            </a:extLst>
          </p:cNvPr>
          <p:cNvSpPr/>
          <p:nvPr/>
        </p:nvSpPr>
        <p:spPr>
          <a:xfrm>
            <a:off x="9095587" y="2667125"/>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CEP  Processing</a:t>
            </a:r>
          </a:p>
        </p:txBody>
      </p:sp>
      <p:sp>
        <p:nvSpPr>
          <p:cNvPr id="71" name="Rectangle 70">
            <a:extLst>
              <a:ext uri="{FF2B5EF4-FFF2-40B4-BE49-F238E27FC236}">
                <a16:creationId xmlns:a16="http://schemas.microsoft.com/office/drawing/2014/main" id="{59D06BC1-8158-2B2D-FAA0-61C9CA3695AC}"/>
              </a:ext>
            </a:extLst>
          </p:cNvPr>
          <p:cNvSpPr/>
          <p:nvPr/>
        </p:nvSpPr>
        <p:spPr>
          <a:xfrm>
            <a:off x="9095587" y="294109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Event Monitoring</a:t>
            </a:r>
          </a:p>
        </p:txBody>
      </p:sp>
      <p:sp>
        <p:nvSpPr>
          <p:cNvPr id="72" name="Rectangle 71">
            <a:extLst>
              <a:ext uri="{FF2B5EF4-FFF2-40B4-BE49-F238E27FC236}">
                <a16:creationId xmlns:a16="http://schemas.microsoft.com/office/drawing/2014/main" id="{69CAAEE4-84C3-0CE9-DFB1-41D621D05544}"/>
              </a:ext>
            </a:extLst>
          </p:cNvPr>
          <p:cNvSpPr/>
          <p:nvPr/>
        </p:nvSpPr>
        <p:spPr>
          <a:xfrm>
            <a:off x="9059587" y="4268433"/>
            <a:ext cx="972000" cy="54800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Graphik"/>
                <a:ea typeface="+mn-ea"/>
                <a:cs typeface="+mn-cs"/>
              </a:rPr>
              <a:t>Event Processing</a:t>
            </a:r>
          </a:p>
        </p:txBody>
      </p:sp>
      <p:sp>
        <p:nvSpPr>
          <p:cNvPr id="74" name="Rectangle 73">
            <a:extLst>
              <a:ext uri="{FF2B5EF4-FFF2-40B4-BE49-F238E27FC236}">
                <a16:creationId xmlns:a16="http://schemas.microsoft.com/office/drawing/2014/main" id="{53202688-853A-43DC-2D71-5A2B900BDFAC}"/>
              </a:ext>
            </a:extLst>
          </p:cNvPr>
          <p:cNvSpPr/>
          <p:nvPr/>
        </p:nvSpPr>
        <p:spPr>
          <a:xfrm>
            <a:off x="4650667" y="6293621"/>
            <a:ext cx="540000" cy="108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Graphik"/>
                <a:ea typeface="+mn-ea"/>
                <a:cs typeface="+mn-cs"/>
              </a:rPr>
              <a:t>Capability</a:t>
            </a:r>
          </a:p>
        </p:txBody>
      </p:sp>
      <p:sp>
        <p:nvSpPr>
          <p:cNvPr id="76" name="TextBox 75">
            <a:extLst>
              <a:ext uri="{FF2B5EF4-FFF2-40B4-BE49-F238E27FC236}">
                <a16:creationId xmlns:a16="http://schemas.microsoft.com/office/drawing/2014/main" id="{7A64E5A2-68FC-61DB-493F-C3BFA7B81517}"/>
              </a:ext>
            </a:extLst>
          </p:cNvPr>
          <p:cNvSpPr txBox="1"/>
          <p:nvPr/>
        </p:nvSpPr>
        <p:spPr>
          <a:xfrm>
            <a:off x="4118224" y="6309203"/>
            <a:ext cx="435836" cy="143789"/>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800" b="0" i="1" u="none" strike="noStrike" kern="1200" cap="none" spc="0" normalizeH="0" baseline="0" noProof="0">
                <a:ln>
                  <a:noFill/>
                </a:ln>
                <a:solidFill>
                  <a:srgbClr val="000000"/>
                </a:solidFill>
                <a:effectLst/>
                <a:uLnTx/>
                <a:uFillTx/>
                <a:latin typeface="Graphik"/>
                <a:ea typeface="+mn-ea"/>
                <a:cs typeface="+mn-cs"/>
              </a:rPr>
              <a:t>Legend</a:t>
            </a:r>
          </a:p>
        </p:txBody>
      </p:sp>
      <p:sp>
        <p:nvSpPr>
          <p:cNvPr id="77" name="Rectangle 76">
            <a:extLst>
              <a:ext uri="{FF2B5EF4-FFF2-40B4-BE49-F238E27FC236}">
                <a16:creationId xmlns:a16="http://schemas.microsoft.com/office/drawing/2014/main" id="{502A12BA-61E8-54BF-E207-F745269C68A6}"/>
              </a:ext>
            </a:extLst>
          </p:cNvPr>
          <p:cNvSpPr/>
          <p:nvPr/>
        </p:nvSpPr>
        <p:spPr>
          <a:xfrm>
            <a:off x="4197677" y="299483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Graphik"/>
                <a:ea typeface="+mn-ea"/>
                <a:cs typeface="+mn-cs"/>
              </a:rPr>
              <a:t>Process Orchestration</a:t>
            </a:r>
          </a:p>
        </p:txBody>
      </p:sp>
      <p:sp>
        <p:nvSpPr>
          <p:cNvPr id="78" name="Rectangle 77">
            <a:extLst>
              <a:ext uri="{FF2B5EF4-FFF2-40B4-BE49-F238E27FC236}">
                <a16:creationId xmlns:a16="http://schemas.microsoft.com/office/drawing/2014/main" id="{DAEDEB4B-C2B6-9A57-E3B9-FF769836A5AB}"/>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API Management</a:t>
            </a:r>
          </a:p>
        </p:txBody>
      </p:sp>
      <p:sp>
        <p:nvSpPr>
          <p:cNvPr id="79" name="Rectangle 78">
            <a:extLst>
              <a:ext uri="{FF2B5EF4-FFF2-40B4-BE49-F238E27FC236}">
                <a16:creationId xmlns:a16="http://schemas.microsoft.com/office/drawing/2014/main" id="{0BD5AC1B-438E-337A-7763-C1F78E66A65E}"/>
              </a:ext>
            </a:extLst>
          </p:cNvPr>
          <p:cNvSpPr/>
          <p:nvPr/>
        </p:nvSpPr>
        <p:spPr>
          <a:xfrm>
            <a:off x="4154326"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API versioning</a:t>
            </a:r>
          </a:p>
        </p:txBody>
      </p:sp>
      <p:sp>
        <p:nvSpPr>
          <p:cNvPr id="80" name="Rectangle 79">
            <a:extLst>
              <a:ext uri="{FF2B5EF4-FFF2-40B4-BE49-F238E27FC236}">
                <a16:creationId xmlns:a16="http://schemas.microsoft.com/office/drawing/2014/main" id="{5576781D-97B6-F296-FAAC-42F1F145DA59}"/>
              </a:ext>
            </a:extLst>
          </p:cNvPr>
          <p:cNvSpPr/>
          <p:nvPr/>
        </p:nvSpPr>
        <p:spPr>
          <a:xfrm>
            <a:off x="3223524"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Routing</a:t>
            </a:r>
          </a:p>
        </p:txBody>
      </p:sp>
      <p:sp>
        <p:nvSpPr>
          <p:cNvPr id="81" name="Rectangle 80">
            <a:extLst>
              <a:ext uri="{FF2B5EF4-FFF2-40B4-BE49-F238E27FC236}">
                <a16:creationId xmlns:a16="http://schemas.microsoft.com/office/drawing/2014/main" id="{83F04C95-28B4-6016-62CC-E1A9B5EC4B88}"/>
              </a:ext>
            </a:extLst>
          </p:cNvPr>
          <p:cNvSpPr/>
          <p:nvPr/>
        </p:nvSpPr>
        <p:spPr>
          <a:xfrm>
            <a:off x="5085128"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Error Handling</a:t>
            </a:r>
          </a:p>
        </p:txBody>
      </p:sp>
      <p:sp>
        <p:nvSpPr>
          <p:cNvPr id="82" name="Rectangle 81">
            <a:extLst>
              <a:ext uri="{FF2B5EF4-FFF2-40B4-BE49-F238E27FC236}">
                <a16:creationId xmlns:a16="http://schemas.microsoft.com/office/drawing/2014/main" id="{78D0EA01-3BF5-A4AE-BC63-51264904C86A}"/>
              </a:ext>
            </a:extLst>
          </p:cNvPr>
          <p:cNvSpPr/>
          <p:nvPr/>
        </p:nvSpPr>
        <p:spPr>
          <a:xfrm>
            <a:off x="6015930"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Graphik"/>
                <a:ea typeface="+mn-ea"/>
                <a:cs typeface="+mn-cs"/>
              </a:rPr>
              <a:t>Lifecycle Mgmt</a:t>
            </a:r>
          </a:p>
        </p:txBody>
      </p:sp>
      <p:sp>
        <p:nvSpPr>
          <p:cNvPr id="83" name="Rectangle 82">
            <a:extLst>
              <a:ext uri="{FF2B5EF4-FFF2-40B4-BE49-F238E27FC236}">
                <a16:creationId xmlns:a16="http://schemas.microsoft.com/office/drawing/2014/main" id="{26A1A89D-5ACF-DE22-959C-7E4143234512}"/>
              </a:ext>
            </a:extLst>
          </p:cNvPr>
          <p:cNvSpPr/>
          <p:nvPr/>
        </p:nvSpPr>
        <p:spPr>
          <a:xfrm>
            <a:off x="6946732"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API Manager</a:t>
            </a:r>
          </a:p>
        </p:txBody>
      </p:sp>
      <p:sp>
        <p:nvSpPr>
          <p:cNvPr id="84" name="Rectangle 83">
            <a:extLst>
              <a:ext uri="{FF2B5EF4-FFF2-40B4-BE49-F238E27FC236}">
                <a16:creationId xmlns:a16="http://schemas.microsoft.com/office/drawing/2014/main" id="{E96F1FA5-2B18-9C2B-34B1-C7370FDB1342}"/>
              </a:ext>
            </a:extLst>
          </p:cNvPr>
          <p:cNvSpPr/>
          <p:nvPr/>
        </p:nvSpPr>
        <p:spPr>
          <a:xfrm>
            <a:off x="7877535"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Developer Portal</a:t>
            </a:r>
          </a:p>
        </p:txBody>
      </p:sp>
      <p:grpSp>
        <p:nvGrpSpPr>
          <p:cNvPr id="85" name="Group 84">
            <a:extLst>
              <a:ext uri="{FF2B5EF4-FFF2-40B4-BE49-F238E27FC236}">
                <a16:creationId xmlns:a16="http://schemas.microsoft.com/office/drawing/2014/main" id="{61F93D4E-3618-B3A8-EBED-977D17921524}"/>
              </a:ext>
            </a:extLst>
          </p:cNvPr>
          <p:cNvGrpSpPr/>
          <p:nvPr/>
        </p:nvGrpSpPr>
        <p:grpSpPr>
          <a:xfrm>
            <a:off x="5366382" y="6281128"/>
            <a:ext cx="1576882" cy="180000"/>
            <a:chOff x="9283672" y="6207566"/>
            <a:chExt cx="1576882" cy="180000"/>
          </a:xfrm>
        </p:grpSpPr>
        <p:sp>
          <p:nvSpPr>
            <p:cNvPr id="86" name="Oval 85">
              <a:extLst>
                <a:ext uri="{FF2B5EF4-FFF2-40B4-BE49-F238E27FC236}">
                  <a16:creationId xmlns:a16="http://schemas.microsoft.com/office/drawing/2014/main" id="{DD5CFAF9-100C-8B7F-C581-C9422035FE1D}"/>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7" name="Rectangle 86">
              <a:extLst>
                <a:ext uri="{FF2B5EF4-FFF2-40B4-BE49-F238E27FC236}">
                  <a16:creationId xmlns:a16="http://schemas.microsoft.com/office/drawing/2014/main" id="{8E8607A8-601E-A762-A4EB-256C58FB619B}"/>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Kernel &amp; Platform Components</a:t>
              </a:r>
            </a:p>
          </p:txBody>
        </p:sp>
      </p:grpSp>
      <p:sp>
        <p:nvSpPr>
          <p:cNvPr id="88" name="Oval 87">
            <a:extLst>
              <a:ext uri="{FF2B5EF4-FFF2-40B4-BE49-F238E27FC236}">
                <a16:creationId xmlns:a16="http://schemas.microsoft.com/office/drawing/2014/main" id="{2B1A6E4B-BD85-499C-367E-2DB36D163CBB}"/>
              </a:ext>
            </a:extLst>
          </p:cNvPr>
          <p:cNvSpPr/>
          <p:nvPr/>
        </p:nvSpPr>
        <p:spPr>
          <a:xfrm>
            <a:off x="1557648"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89" name="Oval 88">
            <a:extLst>
              <a:ext uri="{FF2B5EF4-FFF2-40B4-BE49-F238E27FC236}">
                <a16:creationId xmlns:a16="http://schemas.microsoft.com/office/drawing/2014/main" id="{CD3B0BCB-ED0D-4ABB-3ECB-B2588067D1E7}"/>
              </a:ext>
            </a:extLst>
          </p:cNvPr>
          <p:cNvSpPr/>
          <p:nvPr/>
        </p:nvSpPr>
        <p:spPr>
          <a:xfrm>
            <a:off x="2753612"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90" name="Oval 89">
            <a:extLst>
              <a:ext uri="{FF2B5EF4-FFF2-40B4-BE49-F238E27FC236}">
                <a16:creationId xmlns:a16="http://schemas.microsoft.com/office/drawing/2014/main" id="{7444FA5C-1433-83E8-F312-852FFE97B282}"/>
              </a:ext>
            </a:extLst>
          </p:cNvPr>
          <p:cNvSpPr/>
          <p:nvPr/>
        </p:nvSpPr>
        <p:spPr>
          <a:xfrm>
            <a:off x="6577513"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91" name="Oval 90">
            <a:extLst>
              <a:ext uri="{FF2B5EF4-FFF2-40B4-BE49-F238E27FC236}">
                <a16:creationId xmlns:a16="http://schemas.microsoft.com/office/drawing/2014/main" id="{E0DEA45F-528A-EC51-4409-F2C36690AC69}"/>
              </a:ext>
            </a:extLst>
          </p:cNvPr>
          <p:cNvSpPr/>
          <p:nvPr/>
        </p:nvSpPr>
        <p:spPr>
          <a:xfrm>
            <a:off x="11086789"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92" name="Oval 91">
            <a:extLst>
              <a:ext uri="{FF2B5EF4-FFF2-40B4-BE49-F238E27FC236}">
                <a16:creationId xmlns:a16="http://schemas.microsoft.com/office/drawing/2014/main" id="{2BEE61AD-47E8-61C3-FF6A-F2D044488E48}"/>
              </a:ext>
            </a:extLst>
          </p:cNvPr>
          <p:cNvSpPr/>
          <p:nvPr/>
        </p:nvSpPr>
        <p:spPr>
          <a:xfrm>
            <a:off x="6547147" y="2135758"/>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93" name="Rectangle 92">
            <a:extLst>
              <a:ext uri="{FF2B5EF4-FFF2-40B4-BE49-F238E27FC236}">
                <a16:creationId xmlns:a16="http://schemas.microsoft.com/office/drawing/2014/main" id="{B62EFE28-A66C-93E7-FB88-A21C9309916C}"/>
              </a:ext>
            </a:extLst>
          </p:cNvPr>
          <p:cNvSpPr/>
          <p:nvPr/>
        </p:nvSpPr>
        <p:spPr>
          <a:xfrm>
            <a:off x="3218223" y="3614953"/>
            <a:ext cx="2700000" cy="72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Graphik"/>
                <a:ea typeface="+mn-ea"/>
                <a:cs typeface="+mn-cs"/>
              </a:rPr>
              <a:t>Service Orchestration</a:t>
            </a:r>
          </a:p>
        </p:txBody>
      </p:sp>
      <p:sp>
        <p:nvSpPr>
          <p:cNvPr id="94" name="Rectangle 93">
            <a:extLst>
              <a:ext uri="{FF2B5EF4-FFF2-40B4-BE49-F238E27FC236}">
                <a16:creationId xmlns:a16="http://schemas.microsoft.com/office/drawing/2014/main" id="{D0407C47-07DB-719E-98C6-3EA6E9D0444B}"/>
              </a:ext>
            </a:extLst>
          </p:cNvPr>
          <p:cNvSpPr/>
          <p:nvPr/>
        </p:nvSpPr>
        <p:spPr>
          <a:xfrm>
            <a:off x="6083364" y="3614953"/>
            <a:ext cx="2700000" cy="72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Graphik"/>
                <a:ea typeface="+mn-ea"/>
                <a:cs typeface="+mn-cs"/>
              </a:rPr>
              <a:t>Transaction </a:t>
            </a:r>
            <a:r>
              <a:rPr kumimoji="0" lang="en-US" sz="800" b="0" i="1" u="none" strike="noStrike" kern="1200" cap="none" spc="0" normalizeH="0" baseline="0" noProof="0" dirty="0" err="1">
                <a:ln>
                  <a:noFill/>
                </a:ln>
                <a:solidFill>
                  <a:srgbClr val="000000"/>
                </a:solidFill>
                <a:effectLst/>
                <a:uLnTx/>
                <a:uFillTx/>
                <a:latin typeface="Graphik"/>
                <a:ea typeface="+mn-ea"/>
                <a:cs typeface="+mn-cs"/>
              </a:rPr>
              <a:t>Mgmt</a:t>
            </a:r>
            <a:endParaRPr kumimoji="0" lang="en-US" sz="800" b="0" i="1" u="none" strike="noStrike" kern="1200" cap="none" spc="0" normalizeH="0" baseline="0" noProof="0" dirty="0">
              <a:ln>
                <a:noFill/>
              </a:ln>
              <a:solidFill>
                <a:srgbClr val="000000"/>
              </a:solidFill>
              <a:effectLst/>
              <a:uLnTx/>
              <a:uFillTx/>
              <a:latin typeface="Graphik"/>
              <a:ea typeface="+mn-ea"/>
              <a:cs typeface="+mn-cs"/>
            </a:endParaRPr>
          </a:p>
        </p:txBody>
      </p:sp>
      <p:sp>
        <p:nvSpPr>
          <p:cNvPr id="95" name="Rectangle 94">
            <a:extLst>
              <a:ext uri="{FF2B5EF4-FFF2-40B4-BE49-F238E27FC236}">
                <a16:creationId xmlns:a16="http://schemas.microsoft.com/office/drawing/2014/main" id="{7283820F-309D-9356-D427-B154909E1416}"/>
              </a:ext>
            </a:extLst>
          </p:cNvPr>
          <p:cNvSpPr/>
          <p:nvPr/>
        </p:nvSpPr>
        <p:spPr>
          <a:xfrm>
            <a:off x="3638943" y="3820276"/>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Graphik"/>
                <a:ea typeface="+mn-ea"/>
                <a:cs typeface="+mn-cs"/>
              </a:rPr>
              <a:t>Service Orchestrator</a:t>
            </a:r>
          </a:p>
        </p:txBody>
      </p:sp>
      <p:sp>
        <p:nvSpPr>
          <p:cNvPr id="96" name="Rectangle 95">
            <a:extLst>
              <a:ext uri="{FF2B5EF4-FFF2-40B4-BE49-F238E27FC236}">
                <a16:creationId xmlns:a16="http://schemas.microsoft.com/office/drawing/2014/main" id="{463120DA-0AA3-4248-E3BA-A103184388CE}"/>
              </a:ext>
            </a:extLst>
          </p:cNvPr>
          <p:cNvSpPr/>
          <p:nvPr/>
        </p:nvSpPr>
        <p:spPr>
          <a:xfrm>
            <a:off x="3638943" y="408134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Legacy Adaptors</a:t>
            </a:r>
          </a:p>
        </p:txBody>
      </p:sp>
      <p:sp>
        <p:nvSpPr>
          <p:cNvPr id="99" name="Rectangle 98">
            <a:extLst>
              <a:ext uri="{FF2B5EF4-FFF2-40B4-BE49-F238E27FC236}">
                <a16:creationId xmlns:a16="http://schemas.microsoft.com/office/drawing/2014/main" id="{EF9652E1-B2E0-54B0-F217-ECFFFE08C5B9}"/>
              </a:ext>
            </a:extLst>
          </p:cNvPr>
          <p:cNvSpPr/>
          <p:nvPr/>
        </p:nvSpPr>
        <p:spPr>
          <a:xfrm>
            <a:off x="6477388" y="379274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Online Admin</a:t>
            </a:r>
          </a:p>
        </p:txBody>
      </p:sp>
      <p:sp>
        <p:nvSpPr>
          <p:cNvPr id="100" name="Rectangle 99">
            <a:extLst>
              <a:ext uri="{FF2B5EF4-FFF2-40B4-BE49-F238E27FC236}">
                <a16:creationId xmlns:a16="http://schemas.microsoft.com/office/drawing/2014/main" id="{6139A8BB-229F-5E05-05A0-36EF398908F8}"/>
              </a:ext>
            </a:extLst>
          </p:cNvPr>
          <p:cNvSpPr/>
          <p:nvPr/>
        </p:nvSpPr>
        <p:spPr>
          <a:xfrm>
            <a:off x="4608969" y="408134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Store &amp; Forward</a:t>
            </a:r>
          </a:p>
        </p:txBody>
      </p:sp>
      <p:sp>
        <p:nvSpPr>
          <p:cNvPr id="102" name="Rectangle 101">
            <a:extLst>
              <a:ext uri="{FF2B5EF4-FFF2-40B4-BE49-F238E27FC236}">
                <a16:creationId xmlns:a16="http://schemas.microsoft.com/office/drawing/2014/main" id="{D7C985E4-9FDA-A36F-BAF7-2178C9B28E49}"/>
              </a:ext>
            </a:extLst>
          </p:cNvPr>
          <p:cNvSpPr/>
          <p:nvPr/>
        </p:nvSpPr>
        <p:spPr>
          <a:xfrm>
            <a:off x="1961612" y="4804005"/>
            <a:ext cx="972000" cy="102141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Graphik"/>
                <a:ea typeface="+mn-ea"/>
                <a:cs typeface="+mn-cs"/>
              </a:rPr>
              <a:t>Operations</a:t>
            </a:r>
          </a:p>
        </p:txBody>
      </p:sp>
      <p:sp>
        <p:nvSpPr>
          <p:cNvPr id="103" name="Rectangle 102">
            <a:extLst>
              <a:ext uri="{FF2B5EF4-FFF2-40B4-BE49-F238E27FC236}">
                <a16:creationId xmlns:a16="http://schemas.microsoft.com/office/drawing/2014/main" id="{87D3EBF1-3F5A-940F-A417-A9AEAC073247}"/>
              </a:ext>
            </a:extLst>
          </p:cNvPr>
          <p:cNvSpPr/>
          <p:nvPr/>
        </p:nvSpPr>
        <p:spPr>
          <a:xfrm>
            <a:off x="1997612" y="524657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Folio Operations</a:t>
            </a:r>
          </a:p>
        </p:txBody>
      </p:sp>
      <p:sp>
        <p:nvSpPr>
          <p:cNvPr id="104" name="Rectangle 103">
            <a:extLst>
              <a:ext uri="{FF2B5EF4-FFF2-40B4-BE49-F238E27FC236}">
                <a16:creationId xmlns:a16="http://schemas.microsoft.com/office/drawing/2014/main" id="{7B9809FF-180A-20CC-3BF2-2EAE4E7F97A1}"/>
              </a:ext>
            </a:extLst>
          </p:cNvPr>
          <p:cNvSpPr/>
          <p:nvPr/>
        </p:nvSpPr>
        <p:spPr>
          <a:xfrm>
            <a:off x="1997612" y="4993561"/>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Graphik"/>
                <a:ea typeface="+mn-ea"/>
                <a:cs typeface="+mn-cs"/>
              </a:rPr>
              <a:t>Feature Flag</a:t>
            </a:r>
          </a:p>
        </p:txBody>
      </p:sp>
      <p:sp>
        <p:nvSpPr>
          <p:cNvPr id="105" name="Rectangle 104">
            <a:extLst>
              <a:ext uri="{FF2B5EF4-FFF2-40B4-BE49-F238E27FC236}">
                <a16:creationId xmlns:a16="http://schemas.microsoft.com/office/drawing/2014/main" id="{E862F71D-6C15-1A97-A190-014E4F9A1E2D}"/>
              </a:ext>
            </a:extLst>
          </p:cNvPr>
          <p:cNvSpPr/>
          <p:nvPr/>
        </p:nvSpPr>
        <p:spPr>
          <a:xfrm>
            <a:off x="1997612" y="5499595"/>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Distributed UUID Services</a:t>
            </a:r>
          </a:p>
        </p:txBody>
      </p:sp>
      <p:sp>
        <p:nvSpPr>
          <p:cNvPr id="106" name="Rectangle 105">
            <a:extLst>
              <a:ext uri="{FF2B5EF4-FFF2-40B4-BE49-F238E27FC236}">
                <a16:creationId xmlns:a16="http://schemas.microsoft.com/office/drawing/2014/main" id="{CD846156-624E-B56D-07DF-1497817542DC}"/>
              </a:ext>
            </a:extLst>
          </p:cNvPr>
          <p:cNvSpPr/>
          <p:nvPr/>
        </p:nvSpPr>
        <p:spPr>
          <a:xfrm>
            <a:off x="3160153" y="4486422"/>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Common Business Services</a:t>
            </a:r>
          </a:p>
        </p:txBody>
      </p:sp>
      <p:sp>
        <p:nvSpPr>
          <p:cNvPr id="107" name="Rectangle 106">
            <a:extLst>
              <a:ext uri="{FF2B5EF4-FFF2-40B4-BE49-F238E27FC236}">
                <a16:creationId xmlns:a16="http://schemas.microsoft.com/office/drawing/2014/main" id="{6789363C-84AC-E271-F0AF-8940E644BA47}"/>
              </a:ext>
            </a:extLst>
          </p:cNvPr>
          <p:cNvSpPr/>
          <p:nvPr/>
        </p:nvSpPr>
        <p:spPr>
          <a:xfrm>
            <a:off x="3475399" y="473335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highlight>
                  <a:srgbClr val="FFFF00"/>
                </a:highlight>
                <a:uLnTx/>
                <a:uFillTx/>
                <a:latin typeface="Graphik"/>
                <a:ea typeface="+mn-ea"/>
                <a:cs typeface="+mn-cs"/>
              </a:rPr>
              <a:t>Scope dependent</a:t>
            </a:r>
          </a:p>
        </p:txBody>
      </p:sp>
      <p:sp>
        <p:nvSpPr>
          <p:cNvPr id="108" name="Rectangle 107">
            <a:extLst>
              <a:ext uri="{FF2B5EF4-FFF2-40B4-BE49-F238E27FC236}">
                <a16:creationId xmlns:a16="http://schemas.microsoft.com/office/drawing/2014/main" id="{AD24C82F-D2E6-1ECB-BD73-B5FD0994AF52}"/>
              </a:ext>
            </a:extLst>
          </p:cNvPr>
          <p:cNvSpPr/>
          <p:nvPr/>
        </p:nvSpPr>
        <p:spPr>
          <a:xfrm>
            <a:off x="798603" y="457323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HSM</a:t>
            </a:r>
          </a:p>
        </p:txBody>
      </p:sp>
      <p:sp>
        <p:nvSpPr>
          <p:cNvPr id="109" name="Rectangle 108">
            <a:extLst>
              <a:ext uri="{FF2B5EF4-FFF2-40B4-BE49-F238E27FC236}">
                <a16:creationId xmlns:a16="http://schemas.microsoft.com/office/drawing/2014/main" id="{5F3883D9-3CE9-C59A-0943-A6F62C075BE2}"/>
              </a:ext>
            </a:extLst>
          </p:cNvPr>
          <p:cNvSpPr/>
          <p:nvPr/>
        </p:nvSpPr>
        <p:spPr>
          <a:xfrm>
            <a:off x="5157027" y="299963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Approvals</a:t>
            </a:r>
          </a:p>
        </p:txBody>
      </p:sp>
      <p:sp>
        <p:nvSpPr>
          <p:cNvPr id="110" name="Rectangle 109">
            <a:extLst>
              <a:ext uri="{FF2B5EF4-FFF2-40B4-BE49-F238E27FC236}">
                <a16:creationId xmlns:a16="http://schemas.microsoft.com/office/drawing/2014/main" id="{D67DF1BC-CAF4-B3D5-D0FE-0B5F657D0F38}"/>
              </a:ext>
            </a:extLst>
          </p:cNvPr>
          <p:cNvSpPr/>
          <p:nvPr/>
        </p:nvSpPr>
        <p:spPr>
          <a:xfrm>
            <a:off x="3237925"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Graphik"/>
                <a:ea typeface="+mn-ea"/>
                <a:cs typeface="+mn-cs"/>
              </a:rPr>
              <a:t>Data catalog &amp; modeling</a:t>
            </a:r>
          </a:p>
        </p:txBody>
      </p:sp>
      <p:sp>
        <p:nvSpPr>
          <p:cNvPr id="111" name="Rectangle 110">
            <a:extLst>
              <a:ext uri="{FF2B5EF4-FFF2-40B4-BE49-F238E27FC236}">
                <a16:creationId xmlns:a16="http://schemas.microsoft.com/office/drawing/2014/main" id="{0EF5F483-036D-3DB0-1CC4-6DA37929B1F4}"/>
              </a:ext>
            </a:extLst>
          </p:cNvPr>
          <p:cNvSpPr/>
          <p:nvPr/>
        </p:nvSpPr>
        <p:spPr>
          <a:xfrm>
            <a:off x="3290224" y="5584141"/>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Data Catalog</a:t>
            </a:r>
          </a:p>
        </p:txBody>
      </p:sp>
      <p:sp>
        <p:nvSpPr>
          <p:cNvPr id="112" name="Rectangle 111">
            <a:extLst>
              <a:ext uri="{FF2B5EF4-FFF2-40B4-BE49-F238E27FC236}">
                <a16:creationId xmlns:a16="http://schemas.microsoft.com/office/drawing/2014/main" id="{B9EC6F58-DCF7-D7C2-1C16-99D63AA367A0}"/>
              </a:ext>
            </a:extLst>
          </p:cNvPr>
          <p:cNvSpPr/>
          <p:nvPr/>
        </p:nvSpPr>
        <p:spPr>
          <a:xfrm>
            <a:off x="3704224" y="5841873"/>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Knowledge Graph &amp; Enrichment</a:t>
            </a:r>
          </a:p>
        </p:txBody>
      </p:sp>
      <p:sp>
        <p:nvSpPr>
          <p:cNvPr id="113" name="Rectangle 112">
            <a:extLst>
              <a:ext uri="{FF2B5EF4-FFF2-40B4-BE49-F238E27FC236}">
                <a16:creationId xmlns:a16="http://schemas.microsoft.com/office/drawing/2014/main" id="{72E44F93-E6EB-689E-8B21-8C151AC7B147}"/>
              </a:ext>
            </a:extLst>
          </p:cNvPr>
          <p:cNvSpPr/>
          <p:nvPr/>
        </p:nvSpPr>
        <p:spPr>
          <a:xfrm>
            <a:off x="4147323" y="5584141"/>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Metadata management</a:t>
            </a:r>
          </a:p>
        </p:txBody>
      </p:sp>
      <p:sp>
        <p:nvSpPr>
          <p:cNvPr id="114" name="Rectangle 113">
            <a:extLst>
              <a:ext uri="{FF2B5EF4-FFF2-40B4-BE49-F238E27FC236}">
                <a16:creationId xmlns:a16="http://schemas.microsoft.com/office/drawing/2014/main" id="{D6AA794F-9B34-C057-D3D7-3079195C5185}"/>
              </a:ext>
            </a:extLst>
          </p:cNvPr>
          <p:cNvSpPr/>
          <p:nvPr/>
        </p:nvSpPr>
        <p:spPr>
          <a:xfrm>
            <a:off x="5116673"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Graphik"/>
                <a:ea typeface="+mn-ea"/>
                <a:cs typeface="+mn-cs"/>
              </a:rPr>
              <a:t>Data Pipelines &amp; Delivery</a:t>
            </a:r>
          </a:p>
        </p:txBody>
      </p:sp>
      <p:sp>
        <p:nvSpPr>
          <p:cNvPr id="115" name="Rectangle 114">
            <a:extLst>
              <a:ext uri="{FF2B5EF4-FFF2-40B4-BE49-F238E27FC236}">
                <a16:creationId xmlns:a16="http://schemas.microsoft.com/office/drawing/2014/main" id="{FD3B2785-5DB5-772F-E159-599B052A4524}"/>
              </a:ext>
            </a:extLst>
          </p:cNvPr>
          <p:cNvSpPr/>
          <p:nvPr/>
        </p:nvSpPr>
        <p:spPr>
          <a:xfrm>
            <a:off x="5180908" y="5584141"/>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Stream Data Integration</a:t>
            </a:r>
          </a:p>
        </p:txBody>
      </p:sp>
      <p:sp>
        <p:nvSpPr>
          <p:cNvPr id="116" name="Rectangle 115">
            <a:extLst>
              <a:ext uri="{FF2B5EF4-FFF2-40B4-BE49-F238E27FC236}">
                <a16:creationId xmlns:a16="http://schemas.microsoft.com/office/drawing/2014/main" id="{22E4D598-5C55-0763-89BB-626D13E3B193}"/>
              </a:ext>
            </a:extLst>
          </p:cNvPr>
          <p:cNvSpPr/>
          <p:nvPr/>
        </p:nvSpPr>
        <p:spPr>
          <a:xfrm>
            <a:off x="6046840" y="5584141"/>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Data Replication</a:t>
            </a:r>
          </a:p>
        </p:txBody>
      </p:sp>
      <p:sp>
        <p:nvSpPr>
          <p:cNvPr id="117" name="Rectangle 116">
            <a:extLst>
              <a:ext uri="{FF2B5EF4-FFF2-40B4-BE49-F238E27FC236}">
                <a16:creationId xmlns:a16="http://schemas.microsoft.com/office/drawing/2014/main" id="{2D73F053-2013-413A-05DF-7A0B3DD6DD5A}"/>
              </a:ext>
            </a:extLst>
          </p:cNvPr>
          <p:cNvSpPr/>
          <p:nvPr/>
        </p:nvSpPr>
        <p:spPr>
          <a:xfrm>
            <a:off x="6046840" y="5841873"/>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Data Virtualization</a:t>
            </a:r>
          </a:p>
        </p:txBody>
      </p:sp>
      <p:sp>
        <p:nvSpPr>
          <p:cNvPr id="118" name="Rectangle 117">
            <a:extLst>
              <a:ext uri="{FF2B5EF4-FFF2-40B4-BE49-F238E27FC236}">
                <a16:creationId xmlns:a16="http://schemas.microsoft.com/office/drawing/2014/main" id="{EB086643-2091-BF2E-8D7B-6E14140E81A5}"/>
              </a:ext>
            </a:extLst>
          </p:cNvPr>
          <p:cNvSpPr/>
          <p:nvPr/>
        </p:nvSpPr>
        <p:spPr>
          <a:xfrm>
            <a:off x="6995420"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Graphik"/>
                <a:ea typeface="+mn-ea"/>
                <a:cs typeface="+mn-cs"/>
              </a:rPr>
              <a:t>Key Patterns</a:t>
            </a:r>
          </a:p>
        </p:txBody>
      </p:sp>
      <p:sp>
        <p:nvSpPr>
          <p:cNvPr id="119" name="Rectangle 118">
            <a:extLst>
              <a:ext uri="{FF2B5EF4-FFF2-40B4-BE49-F238E27FC236}">
                <a16:creationId xmlns:a16="http://schemas.microsoft.com/office/drawing/2014/main" id="{56D1943D-FD18-7934-08F9-231B4725E3B4}"/>
              </a:ext>
            </a:extLst>
          </p:cNvPr>
          <p:cNvSpPr/>
          <p:nvPr/>
        </p:nvSpPr>
        <p:spPr>
          <a:xfrm>
            <a:off x="5180908" y="5841873"/>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Batch Data Integration</a:t>
            </a:r>
          </a:p>
        </p:txBody>
      </p:sp>
      <p:sp>
        <p:nvSpPr>
          <p:cNvPr id="126" name="TextBox 125">
            <a:extLst>
              <a:ext uri="{FF2B5EF4-FFF2-40B4-BE49-F238E27FC236}">
                <a16:creationId xmlns:a16="http://schemas.microsoft.com/office/drawing/2014/main" id="{EEC953B8-A3F6-4C3F-6CE0-DB056ED72F5B}"/>
              </a:ext>
            </a:extLst>
          </p:cNvPr>
          <p:cNvSpPr txBox="1"/>
          <p:nvPr>
            <p:extLst>
              <p:ext uri="{1162E1C5-73C7-4A58-AE30-91384D911F3F}">
                <p184:classification xmlns:p184="http://schemas.microsoft.com/office/powerpoint/2018/4/main" val="hdr"/>
              </p:ext>
            </p:extLst>
          </p:nvPr>
        </p:nvSpPr>
        <p:spPr>
          <a:xfrm>
            <a:off x="4610601" y="78170"/>
            <a:ext cx="3641223" cy="153888"/>
          </a:xfrm>
          <a:prstGeom prst="rect">
            <a:avLst/>
          </a:prstGeom>
        </p:spPr>
        <p:txBody>
          <a:bodyPr horzOverflow="overflow"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***Confidential - For Company Internal Use Only***</a:t>
            </a:r>
          </a:p>
        </p:txBody>
      </p:sp>
      <p:pic>
        <p:nvPicPr>
          <p:cNvPr id="125" name="Picture 124">
            <a:extLst>
              <a:ext uri="{FF2B5EF4-FFF2-40B4-BE49-F238E27FC236}">
                <a16:creationId xmlns:a16="http://schemas.microsoft.com/office/drawing/2014/main" id="{91ADC287-5D76-588B-13B1-2A7C1978AE7D}"/>
              </a:ext>
            </a:extLst>
          </p:cNvPr>
          <p:cNvPicPr>
            <a:picLocks noChangeAspect="1"/>
          </p:cNvPicPr>
          <p:nvPr/>
        </p:nvPicPr>
        <p:blipFill>
          <a:blip r:embed="rId2"/>
          <a:srcRect t="10381"/>
          <a:stretch>
            <a:fillRect/>
          </a:stretch>
        </p:blipFill>
        <p:spPr>
          <a:xfrm>
            <a:off x="6789740" y="4654114"/>
            <a:ext cx="2014719" cy="326801"/>
          </a:xfrm>
          <a:prstGeom prst="rect">
            <a:avLst/>
          </a:prstGeom>
        </p:spPr>
      </p:pic>
    </p:spTree>
    <p:extLst>
      <p:ext uri="{BB962C8B-B14F-4D97-AF65-F5344CB8AC3E}">
        <p14:creationId xmlns:p14="http://schemas.microsoft.com/office/powerpoint/2010/main" val="11453989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All rights reserved.</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F8EB60C-7CC2-49F0-B2EE-C81F067DE041}" type="slidenum">
              <a:rPr kumimoji="0" lang="en-US" sz="1800" b="0" i="0" u="none" strike="noStrike" kern="1200" cap="none" spc="0" normalizeH="0" baseline="0" noProof="0" smtClean="0">
                <a:ln>
                  <a:noFill/>
                </a:ln>
                <a:solidFill>
                  <a:srgbClr val="000000"/>
                </a:solidFill>
                <a:effectLst/>
                <a:uLnTx/>
                <a:uFillTx/>
                <a:latin typeface="Graphi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126" name="TextBox 125">
            <a:extLst>
              <a:ext uri="{FF2B5EF4-FFF2-40B4-BE49-F238E27FC236}">
                <a16:creationId xmlns:a16="http://schemas.microsoft.com/office/drawing/2014/main" id="{EEC953B8-A3F6-4C3F-6CE0-DB056ED72F5B}"/>
              </a:ext>
            </a:extLst>
          </p:cNvPr>
          <p:cNvSpPr txBox="1"/>
          <p:nvPr>
            <p:extLst>
              <p:ext uri="{1162E1C5-73C7-4A58-AE30-91384D911F3F}">
                <p184:classification xmlns:p184="http://schemas.microsoft.com/office/powerpoint/2018/4/main" val="hdr"/>
              </p:ext>
            </p:extLst>
          </p:nvPr>
        </p:nvSpPr>
        <p:spPr>
          <a:xfrm>
            <a:off x="4610601" y="78170"/>
            <a:ext cx="3641223" cy="153888"/>
          </a:xfrm>
          <a:prstGeom prst="rect">
            <a:avLst/>
          </a:prstGeom>
        </p:spPr>
        <p:txBody>
          <a:bodyPr horzOverflow="overflow"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Body)"/>
                <a:ea typeface="+mn-ea"/>
                <a:cs typeface="Calibri" panose="020F0502020204030204" pitchFamily="34" charset="0"/>
              </a:rPr>
              <a:t>***Confidential - For Company Internal Use Only***</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Interoperability Architecture </a:t>
            </a:r>
            <a:r>
              <a:rPr kumimoji="0" lang="en-US" sz="2400" b="1" i="0" u="none" strike="noStrike" kern="1200" cap="none" spc="0" normalizeH="0" baseline="0" noProof="0">
                <a:ln>
                  <a:noFill/>
                </a:ln>
                <a:solidFill>
                  <a:srgbClr val="000000"/>
                </a:solidFill>
                <a:effectLst/>
                <a:uLnTx/>
                <a:uFillTx/>
                <a:latin typeface="Graphik"/>
                <a:ea typeface="+mj-ea"/>
                <a:cs typeface="+mj-cs"/>
              </a:rPr>
              <a:t>| Security</a:t>
            </a: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n-US" sz="1000" b="1" i="0" dirty="0">
                <a:solidFill>
                  <a:srgbClr val="C00000"/>
                </a:solidFill>
                <a:latin typeface="Graphik"/>
                <a:cs typeface="Graphik"/>
              </a:rPr>
              <a:t>KERNEL &amp; PLATFORM    |    6 SUB-CAPABILITIES</a:t>
            </a:r>
          </a:p>
        </p:txBody>
      </p:sp>
      <p:graphicFrame>
        <p:nvGraphicFramePr>
          <p:cNvPr id="100" name="DetailTable"/>
          <p:cNvGraphicFramePr>
            <a:graphicFrameLocks noGrp="1"/>
          </p:cNvGraphicFramePr>
          <p:nvPr>
            <p:extLst>
              <p:ext uri="{D42A27DB-BD31-4B8C-83A1-F6EECF244321}">
                <p14:modId xmlns:p14="http://schemas.microsoft.com/office/powerpoint/2010/main" val="474088411"/>
              </p:ext>
            </p:extLst>
          </p:nvPr>
        </p:nvGraphicFramePr>
        <p:xfrm>
          <a:off x="381000" y="1015000"/>
          <a:ext cx="11430000" cy="502911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n-US" sz="1000" b="1" i="0" dirty="0">
                          <a:solidFill>
                            <a:srgbClr val="FFFFFF"/>
                          </a:solidFill>
                          <a:latin typeface="Graphik"/>
                          <a:cs typeface="Graphik"/>
                        </a:rPr>
                        <a:t>Sub-capability</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Description</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Purpose</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Solutions in Coppel</a:t>
                      </a:r>
                    </a:p>
                  </a:txBody>
                  <a:tcPr marL="82000" marR="82000" marT="38000" marB="38000" anchor="ctr">
                    <a:solidFill>
                      <a:srgbClr val="7500C0"/>
                    </a:solidFill>
                  </a:tcPr>
                </a:tc>
                <a:extLst>
                  <a:ext uri="{0D108BD9-81ED-4DB2-BD59-A6C34878D82A}">
                    <a16:rowId xmlns:a16="http://schemas.microsoft.com/office/drawing/2014/main" val="10000"/>
                  </a:ext>
                </a:extLst>
              </a:tr>
              <a:tr h="723650">
                <a:tc>
                  <a:txBody>
                    <a:bodyPr/>
                    <a:lstStyle/>
                    <a:p>
                      <a:pPr marL="0" indent="0" algn="l">
                        <a:lnSpc>
                          <a:spcPct val="104000"/>
                        </a:lnSpc>
                        <a:spcBef>
                          <a:spcPts val="30"/>
                        </a:spcBef>
                        <a:buNone/>
                      </a:pPr>
                      <a:r>
                        <a:rPr lang="en-US" sz="650" b="1" i="0" dirty="0">
                          <a:solidFill>
                            <a:srgbClr val="9B7BC7"/>
                          </a:solidFill>
                          <a:latin typeface="Graphik"/>
                          <a:cs typeface="Graphik"/>
                        </a:rPr>
                        <a:t>1.1  </a:t>
                      </a:r>
                      <a:r>
                        <a:rPr lang="en-US" sz="800" b="1" i="0" dirty="0">
                          <a:solidFill>
                            <a:srgbClr val="7500C0"/>
                          </a:solidFill>
                          <a:latin typeface="Graphik"/>
                          <a:cs typeface="Graphik"/>
                        </a:rPr>
                        <a:t>Identity &amp; Access Management</a:t>
                      </a:r>
                    </a:p>
                  </a:txBody>
                  <a:tcPr marL="82000" marR="82000" marT="38000" marB="38000" anchor="ctr">
                    <a:solidFill>
                      <a:srgbClr val="EFE7F7"/>
                    </a:solidFill>
                  </a:tcPr>
                </a:tc>
                <a:tc>
                  <a:txBody>
                    <a:bodyPr/>
                    <a:lstStyle/>
                    <a:p>
                      <a:pPr marL="0" indent="0" algn="l">
                        <a:lnSpc>
                          <a:spcPct val="108000"/>
                        </a:lnSpc>
                        <a:spcBef>
                          <a:spcPts val="30"/>
                        </a:spcBef>
                        <a:buNone/>
                      </a:pPr>
                      <a:r>
                        <a:rPr lang="en-US" sz="750" b="0" i="0" dirty="0">
                          <a:solidFill>
                            <a:srgbClr val="2B2B2B"/>
                          </a:solidFill>
                          <a:latin typeface="Graphik"/>
                          <a:cs typeface="Graphik"/>
                        </a:rPr>
                        <a:t>Authentication, authorisation, token and session services for customers, employees, partners and machine identities consuming the interoperability layer.</a:t>
                      </a:r>
                    </a:p>
                  </a:txBody>
                  <a:tcPr marL="82000" marR="82000" marT="38000" marB="38000" anchor="ctr">
                    <a:solidFill>
                      <a:srgbClr val="FFFFFF"/>
                    </a:solidFill>
                  </a:tcPr>
                </a:tc>
                <a:tc>
                  <a:txBody>
                    <a:bodyPr/>
                    <a:lstStyle/>
                    <a:p>
                      <a:pPr marL="0" indent="0" algn="l">
                        <a:lnSpc>
                          <a:spcPct val="108000"/>
                        </a:lnSpc>
                        <a:spcBef>
                          <a:spcPts val="30"/>
                        </a:spcBef>
                        <a:buNone/>
                      </a:pPr>
                      <a:r>
                        <a:rPr lang="en-US" sz="750" b="0" i="0" dirty="0">
                          <a:solidFill>
                            <a:srgbClr val="444444"/>
                          </a:solidFill>
                          <a:latin typeface="Graphik"/>
                          <a:cs typeface="Graphik"/>
                        </a:rPr>
                        <a:t>Provides the single authoritative answer to who is calling and what they may do, so entitlement logic is removed from business services.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OAuth 2.0 via Apigee</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OKTA</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Azure AD / Microsoft Entra ID</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Token Party Identity</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Incode identity/KYC</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HashiCorp Vault for credential support</a:t>
                      </a:r>
                    </a:p>
                  </a:txBody>
                  <a:tcPr marL="82000" marR="82000" marT="38000" marB="38000" anchor="ctr">
                    <a:solidFill>
                      <a:srgbClr val="FFFFFF"/>
                    </a:solidFill>
                  </a:tcPr>
                </a:tc>
                <a:extLst>
                  <a:ext uri="{0D108BD9-81ED-4DB2-BD59-A6C34878D82A}">
                    <a16:rowId xmlns:a16="http://schemas.microsoft.com/office/drawing/2014/main" val="10001"/>
                  </a:ext>
                </a:extLst>
              </a:tr>
              <a:tr h="849380">
                <a:tc>
                  <a:txBody>
                    <a:bodyPr/>
                    <a:lstStyle/>
                    <a:p>
                      <a:pPr marL="0" indent="0" algn="l">
                        <a:lnSpc>
                          <a:spcPct val="104000"/>
                        </a:lnSpc>
                        <a:spcBef>
                          <a:spcPts val="30"/>
                        </a:spcBef>
                        <a:buNone/>
                      </a:pPr>
                      <a:r>
                        <a:rPr lang="en-US" sz="650" b="1" i="0" dirty="0">
                          <a:solidFill>
                            <a:srgbClr val="9B7BC7"/>
                          </a:solidFill>
                          <a:latin typeface="Graphik"/>
                          <a:cs typeface="Graphik"/>
                        </a:rPr>
                        <a:t>1.2  </a:t>
                      </a:r>
                      <a:r>
                        <a:rPr lang="en-US" sz="800" b="1" i="0" dirty="0">
                          <a:solidFill>
                            <a:srgbClr val="7500C0"/>
                          </a:solidFill>
                          <a:latin typeface="Graphik"/>
                          <a:cs typeface="Graphik"/>
                        </a:rPr>
                        <a:t>Crypto Services</a:t>
                      </a:r>
                    </a:p>
                  </a:txBody>
                  <a:tcPr marL="82000" marR="82000" marT="38000" marB="38000" anchor="ctr">
                    <a:solidFill>
                      <a:srgbClr val="E9DEF4"/>
                    </a:solidFill>
                  </a:tcPr>
                </a:tc>
                <a:tc>
                  <a:txBody>
                    <a:bodyPr/>
                    <a:lstStyle/>
                    <a:p>
                      <a:pPr marL="0" indent="0" algn="l">
                        <a:lnSpc>
                          <a:spcPct val="108000"/>
                        </a:lnSpc>
                        <a:spcBef>
                          <a:spcPts val="30"/>
                        </a:spcBef>
                        <a:buNone/>
                      </a:pPr>
                      <a:r>
                        <a:rPr lang="en-US" sz="750" b="0" i="0" dirty="0">
                          <a:solidFill>
                            <a:srgbClr val="2B2B2B"/>
                          </a:solidFill>
                          <a:latin typeface="Graphik"/>
                          <a:cs typeface="Graphik"/>
                        </a:rPr>
                        <a:t>Shared cryptographic operations - signing, encryption, end-to-end payload protection - delivered as callable services backed by hardware security modules and managed key stores.</a:t>
                      </a:r>
                    </a:p>
                  </a:txBody>
                  <a:tcPr marL="82000" marR="82000" marT="38000" marB="38000" anchor="ctr">
                    <a:solidFill>
                      <a:srgbClr val="F6F2FB"/>
                    </a:solidFill>
                  </a:tcPr>
                </a:tc>
                <a:tc>
                  <a:txBody>
                    <a:bodyPr/>
                    <a:lstStyle/>
                    <a:p>
                      <a:pPr marL="0" indent="0" algn="l">
                        <a:lnSpc>
                          <a:spcPct val="108000"/>
                        </a:lnSpc>
                        <a:spcBef>
                          <a:spcPts val="30"/>
                        </a:spcBef>
                        <a:buNone/>
                      </a:pPr>
                      <a:r>
                        <a:rPr lang="en-US" sz="750" b="0" i="0" dirty="0">
                          <a:solidFill>
                            <a:srgbClr val="444444"/>
                          </a:solidFill>
                          <a:latin typeface="Graphik"/>
                          <a:cs typeface="Graphik"/>
                        </a:rPr>
                        <a:t>Concentrates the highest-assurance controls in one certified component, so cryptography is consumed rather than reimplemented.</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AES-256 encryption</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TLS/SSL</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HSM key management</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Oracle TDE</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Istio mTLS</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Incode/NOM-151 signature for onboarding contracts</a:t>
                      </a:r>
                    </a:p>
                  </a:txBody>
                  <a:tcPr marL="82000" marR="82000" marT="38000" marB="38000" anchor="ctr">
                    <a:solidFill>
                      <a:srgbClr val="F6F2FB"/>
                    </a:solidFill>
                  </a:tcPr>
                </a:tc>
                <a:extLst>
                  <a:ext uri="{0D108BD9-81ED-4DB2-BD59-A6C34878D82A}">
                    <a16:rowId xmlns:a16="http://schemas.microsoft.com/office/drawing/2014/main" val="10002"/>
                  </a:ext>
                </a:extLst>
              </a:tr>
              <a:tr h="723650">
                <a:tc>
                  <a:txBody>
                    <a:bodyPr/>
                    <a:lstStyle/>
                    <a:p>
                      <a:pPr marL="0" indent="0" algn="l">
                        <a:lnSpc>
                          <a:spcPct val="104000"/>
                        </a:lnSpc>
                        <a:spcBef>
                          <a:spcPts val="30"/>
                        </a:spcBef>
                        <a:buNone/>
                      </a:pPr>
                      <a:r>
                        <a:rPr lang="en-US" sz="650" b="1" i="0" dirty="0">
                          <a:solidFill>
                            <a:srgbClr val="9B7BC7"/>
                          </a:solidFill>
                          <a:latin typeface="Graphik"/>
                          <a:cs typeface="Graphik"/>
                        </a:rPr>
                        <a:t>1.3  </a:t>
                      </a:r>
                      <a:r>
                        <a:rPr lang="en-US" sz="800" b="1" i="0" dirty="0">
                          <a:solidFill>
                            <a:srgbClr val="7500C0"/>
                          </a:solidFill>
                          <a:latin typeface="Graphik"/>
                          <a:cs typeface="Graphik"/>
                        </a:rPr>
                        <a:t>Certificate &amp; Secret Management</a:t>
                      </a:r>
                    </a:p>
                  </a:txBody>
                  <a:tcPr marL="82000" marR="82000" marT="38000" marB="38000" anchor="ctr">
                    <a:solidFill>
                      <a:srgbClr val="EFE7F7"/>
                    </a:solidFill>
                  </a:tcPr>
                </a:tc>
                <a:tc>
                  <a:txBody>
                    <a:bodyPr/>
                    <a:lstStyle/>
                    <a:p>
                      <a:pPr marL="0" indent="0" algn="l">
                        <a:lnSpc>
                          <a:spcPct val="108000"/>
                        </a:lnSpc>
                        <a:spcBef>
                          <a:spcPts val="30"/>
                        </a:spcBef>
                        <a:buNone/>
                      </a:pPr>
                      <a:r>
                        <a:rPr lang="en-US" sz="750" b="0" i="0" dirty="0">
                          <a:solidFill>
                            <a:srgbClr val="2B2B2B"/>
                          </a:solidFill>
                          <a:latin typeface="Graphik"/>
                          <a:cs typeface="Graphik"/>
                        </a:rPr>
                        <a:t>Issuance, distribution, rotation, revocation and audit of certificates and application secrets consumed by services, gateways and pipelines.</a:t>
                      </a:r>
                    </a:p>
                  </a:txBody>
                  <a:tcPr marL="82000" marR="82000" marT="38000" marB="38000" anchor="ctr">
                    <a:solidFill>
                      <a:srgbClr val="FFFFFF"/>
                    </a:solidFill>
                  </a:tcPr>
                </a:tc>
                <a:tc>
                  <a:txBody>
                    <a:bodyPr/>
                    <a:lstStyle/>
                    <a:p>
                      <a:pPr marL="0" indent="0" algn="l">
                        <a:lnSpc>
                          <a:spcPct val="108000"/>
                        </a:lnSpc>
                        <a:spcBef>
                          <a:spcPts val="30"/>
                        </a:spcBef>
                        <a:buNone/>
                      </a:pPr>
                      <a:r>
                        <a:rPr lang="en-US" sz="750" b="0" i="0" dirty="0">
                          <a:solidFill>
                            <a:srgbClr val="444444"/>
                          </a:solidFill>
                          <a:latin typeface="Graphik"/>
                          <a:cs typeface="Graphik"/>
                        </a:rPr>
                        <a:t>Automates the operational hygiene that fails most often at scale; expired certificates and hard-coded secrets are among the most frequent causes of outage and audit finding in distributed estates.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HashiCorp Vault</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AWS Secrets Manager</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Kubernetes Secrets</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SSL certificate management</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HSM for critical key operations</a:t>
                      </a:r>
                    </a:p>
                  </a:txBody>
                  <a:tcPr marL="82000" marR="82000" marT="38000" marB="38000" anchor="ctr">
                    <a:solidFill>
                      <a:srgbClr val="FFFFFF"/>
                    </a:solidFill>
                  </a:tcPr>
                </a:tc>
                <a:extLst>
                  <a:ext uri="{0D108BD9-81ED-4DB2-BD59-A6C34878D82A}">
                    <a16:rowId xmlns:a16="http://schemas.microsoft.com/office/drawing/2014/main" val="10003"/>
                  </a:ext>
                </a:extLst>
              </a:tr>
              <a:tr h="975110">
                <a:tc>
                  <a:txBody>
                    <a:bodyPr/>
                    <a:lstStyle/>
                    <a:p>
                      <a:pPr marL="0" indent="0" algn="l">
                        <a:lnSpc>
                          <a:spcPct val="104000"/>
                        </a:lnSpc>
                        <a:spcBef>
                          <a:spcPts val="30"/>
                        </a:spcBef>
                        <a:buNone/>
                      </a:pPr>
                      <a:r>
                        <a:rPr lang="en-US" sz="650" b="1" i="0" dirty="0">
                          <a:solidFill>
                            <a:srgbClr val="9B7BC7"/>
                          </a:solidFill>
                          <a:latin typeface="Graphik"/>
                          <a:cs typeface="Graphik"/>
                        </a:rPr>
                        <a:t>1.4  </a:t>
                      </a:r>
                      <a:r>
                        <a:rPr lang="en-US" sz="800" b="1" i="0" dirty="0">
                          <a:solidFill>
                            <a:srgbClr val="7500C0"/>
                          </a:solidFill>
                          <a:latin typeface="Graphik"/>
                          <a:cs typeface="Graphik"/>
                        </a:rPr>
                        <a:t>Threat Protection</a:t>
                      </a:r>
                    </a:p>
                  </a:txBody>
                  <a:tcPr marL="82000" marR="82000" marT="38000" marB="38000" anchor="ctr">
                    <a:solidFill>
                      <a:srgbClr val="E9DEF4"/>
                    </a:solidFill>
                  </a:tcPr>
                </a:tc>
                <a:tc>
                  <a:txBody>
                    <a:bodyPr/>
                    <a:lstStyle/>
                    <a:p>
                      <a:pPr marL="0" indent="0" algn="l">
                        <a:lnSpc>
                          <a:spcPct val="108000"/>
                        </a:lnSpc>
                        <a:spcBef>
                          <a:spcPts val="30"/>
                        </a:spcBef>
                        <a:buNone/>
                      </a:pPr>
                      <a:r>
                        <a:rPr lang="en-US" sz="750" b="0" i="0" dirty="0">
                          <a:solidFill>
                            <a:srgbClr val="2B2B2B"/>
                          </a:solidFill>
                          <a:latin typeface="Graphik"/>
                          <a:cs typeface="Graphik"/>
                        </a:rPr>
                        <a:t>Detection and mitigation of hostile traffic and runtime attack techniques at the perimeter, at the API layer and inside the container and streaming platforms.</a:t>
                      </a:r>
                    </a:p>
                  </a:txBody>
                  <a:tcPr marL="82000" marR="82000" marT="38000" marB="38000" anchor="ctr">
                    <a:solidFill>
                      <a:srgbClr val="F6F2FB"/>
                    </a:solidFill>
                  </a:tcPr>
                </a:tc>
                <a:tc>
                  <a:txBody>
                    <a:bodyPr/>
                    <a:lstStyle/>
                    <a:p>
                      <a:pPr marL="0" indent="0" algn="l">
                        <a:lnSpc>
                          <a:spcPct val="108000"/>
                        </a:lnSpc>
                        <a:spcBef>
                          <a:spcPts val="30"/>
                        </a:spcBef>
                        <a:buNone/>
                      </a:pPr>
                      <a:r>
                        <a:rPr lang="en-US" sz="750" b="0" i="0" dirty="0">
                          <a:solidFill>
                            <a:srgbClr val="444444"/>
                          </a:solidFill>
                          <a:latin typeface="Graphik"/>
                          <a:cs typeface="Graphik"/>
                        </a:rPr>
                        <a:t>Protects the widened attack surface that decoupling necessarily creates, at the layers where exposure is greatest.</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Imperva WAF</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Cloud Armor</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AWS Shield</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Apigee OAuth/rate limiting</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Istio service mesh</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Exabeam SIEM</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HashiCorp Vault and hardening controls</a:t>
                      </a:r>
                    </a:p>
                  </a:txBody>
                  <a:tcPr marL="82000" marR="82000" marT="38000" marB="38000" anchor="ctr">
                    <a:solidFill>
                      <a:srgbClr val="F6F2FB"/>
                    </a:solidFill>
                  </a:tcPr>
                </a:tc>
                <a:extLst>
                  <a:ext uri="{0D108BD9-81ED-4DB2-BD59-A6C34878D82A}">
                    <a16:rowId xmlns:a16="http://schemas.microsoft.com/office/drawing/2014/main" val="10004"/>
                  </a:ext>
                </a:extLst>
              </a:tr>
              <a:tr h="849380">
                <a:tc>
                  <a:txBody>
                    <a:bodyPr/>
                    <a:lstStyle/>
                    <a:p>
                      <a:pPr marL="0" indent="0" algn="l">
                        <a:lnSpc>
                          <a:spcPct val="104000"/>
                        </a:lnSpc>
                        <a:spcBef>
                          <a:spcPts val="30"/>
                        </a:spcBef>
                        <a:buNone/>
                      </a:pPr>
                      <a:r>
                        <a:rPr lang="en-US" sz="650" b="1" i="0" dirty="0">
                          <a:solidFill>
                            <a:srgbClr val="9B7BC7"/>
                          </a:solidFill>
                          <a:latin typeface="Graphik"/>
                          <a:cs typeface="Graphik"/>
                        </a:rPr>
                        <a:t>1.5  </a:t>
                      </a:r>
                      <a:r>
                        <a:rPr lang="en-US" sz="800" b="1" i="0" dirty="0">
                          <a:solidFill>
                            <a:srgbClr val="7500C0"/>
                          </a:solidFill>
                          <a:latin typeface="Graphik"/>
                          <a:cs typeface="Graphik"/>
                        </a:rPr>
                        <a:t>Vulnerability &amp; Threat Management (VTM)</a:t>
                      </a:r>
                    </a:p>
                  </a:txBody>
                  <a:tcPr marL="82000" marR="82000" marT="38000" marB="38000" anchor="ctr">
                    <a:solidFill>
                      <a:srgbClr val="EFE7F7"/>
                    </a:solidFill>
                  </a:tcPr>
                </a:tc>
                <a:tc>
                  <a:txBody>
                    <a:bodyPr/>
                    <a:lstStyle/>
                    <a:p>
                      <a:pPr marL="0" indent="0" algn="l">
                        <a:lnSpc>
                          <a:spcPct val="108000"/>
                        </a:lnSpc>
                        <a:spcBef>
                          <a:spcPts val="30"/>
                        </a:spcBef>
                        <a:buNone/>
                      </a:pPr>
                      <a:r>
                        <a:rPr lang="en-US" sz="750" b="0" i="0" dirty="0">
                          <a:solidFill>
                            <a:srgbClr val="2B2B2B"/>
                          </a:solidFill>
                          <a:latin typeface="Graphik"/>
                          <a:cs typeface="Graphik"/>
                        </a:rPr>
                        <a:t>Continuous identification, prioritisation and remediation of vulnerabilities across libraries, images, platforms and interfaces, including adversarial testing.</a:t>
                      </a:r>
                    </a:p>
                  </a:txBody>
                  <a:tcPr marL="82000" marR="82000" marT="38000" marB="38000" anchor="ctr">
                    <a:solidFill>
                      <a:srgbClr val="FFFFFF"/>
                    </a:solidFill>
                  </a:tcPr>
                </a:tc>
                <a:tc>
                  <a:txBody>
                    <a:bodyPr/>
                    <a:lstStyle/>
                    <a:p>
                      <a:pPr marL="0" indent="0" algn="l">
                        <a:lnSpc>
                          <a:spcPct val="108000"/>
                        </a:lnSpc>
                        <a:spcBef>
                          <a:spcPts val="30"/>
                        </a:spcBef>
                        <a:buNone/>
                      </a:pPr>
                      <a:r>
                        <a:rPr lang="en-US" sz="750" b="0" i="0" dirty="0">
                          <a:solidFill>
                            <a:srgbClr val="444444"/>
                          </a:solidFill>
                          <a:latin typeface="Graphik"/>
                          <a:cs typeface="Graphik"/>
                        </a:rPr>
                        <a:t>Directly addresses the cost and time spent managing vulnerabilities across a large microservice estate - the stated objective behind curating base libraries and eliminating unnecessary dependencies.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DevSecOps security gates</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SAST/DAST practices</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SonarQube and OWASP ZAP referenced for pipeline security</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hardening validation</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vulnerability scans</a:t>
                      </a:r>
                    </a:p>
                  </a:txBody>
                  <a:tcPr marL="82000" marR="82000" marT="38000" marB="38000" anchor="ctr">
                    <a:solidFill>
                      <a:srgbClr val="FFFFFF"/>
                    </a:solidFill>
                  </a:tcPr>
                </a:tc>
                <a:extLst>
                  <a:ext uri="{0D108BD9-81ED-4DB2-BD59-A6C34878D82A}">
                    <a16:rowId xmlns:a16="http://schemas.microsoft.com/office/drawing/2014/main" val="10005"/>
                  </a:ext>
                </a:extLst>
              </a:tr>
              <a:tr h="597920">
                <a:tc>
                  <a:txBody>
                    <a:bodyPr/>
                    <a:lstStyle/>
                    <a:p>
                      <a:pPr marL="0" indent="0" algn="l">
                        <a:lnSpc>
                          <a:spcPct val="104000"/>
                        </a:lnSpc>
                        <a:spcBef>
                          <a:spcPts val="30"/>
                        </a:spcBef>
                        <a:buNone/>
                      </a:pPr>
                      <a:r>
                        <a:rPr lang="en-US" sz="650" b="1" i="0" dirty="0">
                          <a:solidFill>
                            <a:srgbClr val="9B7BC7"/>
                          </a:solidFill>
                          <a:latin typeface="Graphik"/>
                          <a:cs typeface="Graphik"/>
                        </a:rPr>
                        <a:t>1.6  </a:t>
                      </a:r>
                      <a:r>
                        <a:rPr lang="en-US" sz="800" b="1" i="0" dirty="0">
                          <a:solidFill>
                            <a:srgbClr val="7500C0"/>
                          </a:solidFill>
                          <a:latin typeface="Graphik"/>
                          <a:cs typeface="Graphik"/>
                        </a:rPr>
                        <a:t>Security Observability &amp; Response</a:t>
                      </a:r>
                    </a:p>
                  </a:txBody>
                  <a:tcPr marL="82000" marR="82000" marT="38000" marB="38000" anchor="ctr">
                    <a:solidFill>
                      <a:srgbClr val="E9DEF4"/>
                    </a:solidFill>
                  </a:tcPr>
                </a:tc>
                <a:tc>
                  <a:txBody>
                    <a:bodyPr/>
                    <a:lstStyle/>
                    <a:p>
                      <a:pPr marL="0" indent="0" algn="l">
                        <a:lnSpc>
                          <a:spcPct val="108000"/>
                        </a:lnSpc>
                        <a:spcBef>
                          <a:spcPts val="30"/>
                        </a:spcBef>
                        <a:buNone/>
                      </a:pPr>
                      <a:r>
                        <a:rPr lang="en-US" sz="750" b="0" i="0" dirty="0">
                          <a:solidFill>
                            <a:srgbClr val="2B2B2B"/>
                          </a:solidFill>
                          <a:latin typeface="Graphik"/>
                          <a:cs typeface="Graphik"/>
                        </a:rPr>
                        <a:t>Security-specific telemetry, correlation, alerting, dashboards and automated response built on the shared observability backbone.</a:t>
                      </a:r>
                    </a:p>
                  </a:txBody>
                  <a:tcPr marL="82000" marR="82000" marT="38000" marB="38000" anchor="ctr">
                    <a:solidFill>
                      <a:srgbClr val="F6F2FB"/>
                    </a:solidFill>
                  </a:tcPr>
                </a:tc>
                <a:tc>
                  <a:txBody>
                    <a:bodyPr/>
                    <a:lstStyle/>
                    <a:p>
                      <a:pPr marL="0" indent="0" algn="l">
                        <a:lnSpc>
                          <a:spcPct val="108000"/>
                        </a:lnSpc>
                        <a:spcBef>
                          <a:spcPts val="30"/>
                        </a:spcBef>
                        <a:buNone/>
                      </a:pPr>
                      <a:r>
                        <a:rPr lang="en-US" sz="750" b="0" i="0" dirty="0">
                          <a:solidFill>
                            <a:srgbClr val="444444"/>
                          </a:solidFill>
                          <a:latin typeface="Graphik"/>
                          <a:cs typeface="Graphik"/>
                        </a:rPr>
                        <a:t>Closes the most frequently observed gap in interoperability programmes: security telemetry exists in fragments and there is no automated response capability.</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Exabeam SIEM for threat detection</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DataDog for security/operational dashboards</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CloudTrail/CloudWatch where AWS services are used</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incident escalation via Ops/Security</a:t>
                      </a:r>
                    </a:p>
                  </a:txBody>
                  <a:tcPr marL="82000" marR="82000" marT="38000" marB="38000" anchor="ctr">
                    <a:solidFill>
                      <a:srgbClr val="F6F2FB"/>
                    </a:solidFill>
                  </a:tcPr>
                </a:tc>
                <a:extLst>
                  <a:ext uri="{0D108BD9-81ED-4DB2-BD59-A6C34878D82A}">
                    <a16:rowId xmlns:a16="http://schemas.microsoft.com/office/drawing/2014/main" val="10006"/>
                  </a:ext>
                </a:extLst>
              </a:tr>
            </a:tbl>
          </a:graphicData>
        </a:graphic>
      </p:graphicFrame>
      <p:sp>
        <p:nvSpPr>
          <p:cNvPr id="2" name="TextBox 1">
            <a:extLst>
              <a:ext uri="{FF2B5EF4-FFF2-40B4-BE49-F238E27FC236}">
                <a16:creationId xmlns:a16="http://schemas.microsoft.com/office/drawing/2014/main" id="{9427903C-2D22-8245-3F0F-C390C4FF4EA0}"/>
              </a:ext>
            </a:extLst>
          </p:cNvPr>
          <p:cNvSpPr txBox="1"/>
          <p:nvPr/>
        </p:nvSpPr>
        <p:spPr>
          <a:xfrm>
            <a:off x="5568950" y="2936875"/>
            <a:ext cx="914400" cy="914400"/>
          </a:xfrm>
          <a:prstGeom prst="rect">
            <a:avLst/>
          </a:prstGeom>
          <a:noFill/>
        </p:spPr>
        <p:txBody>
          <a:bodyPr wrap="square" lIns="0" tIns="0" rIns="0" bIns="0" rtlCol="0">
            <a:noAutofit/>
          </a:bodyPr>
          <a:lstStyle/>
          <a:p>
            <a:pPr algn="l" defTabSz="228600">
              <a:spcAft>
                <a:spcPts val="1200"/>
              </a:spcAft>
            </a:pPr>
            <a:endParaRPr lang="en-US" noProof="0" dirty="0"/>
          </a:p>
        </p:txBody>
      </p:sp>
      <p:sp>
        <p:nvSpPr>
          <p:cNvPr id="5" name="TextBox 4">
            <a:extLst>
              <a:ext uri="{FF2B5EF4-FFF2-40B4-BE49-F238E27FC236}">
                <a16:creationId xmlns:a16="http://schemas.microsoft.com/office/drawing/2014/main" id="{192A48E1-0CD4-BC41-CA5D-FCA62F53A37E}"/>
              </a:ext>
            </a:extLst>
          </p:cNvPr>
          <p:cNvSpPr txBox="1"/>
          <p:nvPr/>
        </p:nvSpPr>
        <p:spPr>
          <a:xfrm>
            <a:off x="5568950" y="2936875"/>
            <a:ext cx="914400" cy="914400"/>
          </a:xfrm>
          <a:prstGeom prst="rect">
            <a:avLst/>
          </a:prstGeom>
          <a:noFill/>
        </p:spPr>
        <p:txBody>
          <a:bodyPr wrap="square" lIns="0" tIns="0" rIns="0" bIns="0" rtlCol="0">
            <a:noAutofit/>
          </a:bodyPr>
          <a:lstStyle/>
          <a:p>
            <a:pPr algn="l" defTabSz="228600">
              <a:spcAft>
                <a:spcPts val="1200"/>
              </a:spcAft>
            </a:pPr>
            <a:endParaRPr lang="en-US" noProof="0" dirty="0"/>
          </a:p>
        </p:txBody>
      </p:sp>
      <p:sp>
        <p:nvSpPr>
          <p:cNvPr id="22" name="Rectangle 21">
            <a:extLst>
              <a:ext uri="{FF2B5EF4-FFF2-40B4-BE49-F238E27FC236}">
                <a16:creationId xmlns:a16="http://schemas.microsoft.com/office/drawing/2014/main" id="{A2488ABE-AB11-AB05-27E9-BEAAD693DB92}"/>
              </a:ext>
            </a:extLst>
          </p:cNvPr>
          <p:cNvSpPr>
            <a:spLocks noChangeAspect="1"/>
          </p:cNvSpPr>
          <p:nvPr/>
        </p:nvSpPr>
        <p:spPr>
          <a:xfrm>
            <a:off x="1936750" y="6410745"/>
            <a:ext cx="640842" cy="18450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GAP</a:t>
            </a:r>
          </a:p>
        </p:txBody>
      </p:sp>
      <p:sp>
        <p:nvSpPr>
          <p:cNvPr id="25" name="Rectangle 24">
            <a:extLst>
              <a:ext uri="{FF2B5EF4-FFF2-40B4-BE49-F238E27FC236}">
                <a16:creationId xmlns:a16="http://schemas.microsoft.com/office/drawing/2014/main" id="{AD786B3F-5692-417F-1E68-59C7FFD00491}"/>
              </a:ext>
            </a:extLst>
          </p:cNvPr>
          <p:cNvSpPr>
            <a:spLocks noChangeAspect="1"/>
          </p:cNvSpPr>
          <p:nvPr/>
        </p:nvSpPr>
        <p:spPr>
          <a:xfrm>
            <a:off x="1936750" y="6191083"/>
            <a:ext cx="640842" cy="18450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Target</a:t>
            </a:r>
          </a:p>
        </p:txBody>
      </p:sp>
      <p:sp>
        <p:nvSpPr>
          <p:cNvPr id="27" name="Rectangle 26">
            <a:extLst>
              <a:ext uri="{FF2B5EF4-FFF2-40B4-BE49-F238E27FC236}">
                <a16:creationId xmlns:a16="http://schemas.microsoft.com/office/drawing/2014/main" id="{235BB3AF-AF1B-1388-D053-9861F7ACD8EB}"/>
              </a:ext>
            </a:extLst>
          </p:cNvPr>
          <p:cNvSpPr>
            <a:spLocks noChangeAspect="1"/>
          </p:cNvSpPr>
          <p:nvPr/>
        </p:nvSpPr>
        <p:spPr>
          <a:xfrm>
            <a:off x="1936750" y="6620295"/>
            <a:ext cx="640842" cy="18450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Discard</a:t>
            </a:r>
          </a:p>
        </p:txBody>
      </p:sp>
      <p:sp>
        <p:nvSpPr>
          <p:cNvPr id="29" name="Oval 28">
            <a:extLst>
              <a:ext uri="{FF2B5EF4-FFF2-40B4-BE49-F238E27FC236}">
                <a16:creationId xmlns:a16="http://schemas.microsoft.com/office/drawing/2014/main" id="{61E26A7D-4BBF-55E1-3AFA-75C91001880A}"/>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High</a:t>
            </a:r>
          </a:p>
        </p:txBody>
      </p:sp>
      <p:sp>
        <p:nvSpPr>
          <p:cNvPr id="31" name="Rectangle 30">
            <a:extLst>
              <a:ext uri="{FF2B5EF4-FFF2-40B4-BE49-F238E27FC236}">
                <a16:creationId xmlns:a16="http://schemas.microsoft.com/office/drawing/2014/main" id="{73C81BF7-0834-B669-4067-755CC4F8F59B}"/>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Capability Assessment</a:t>
            </a:r>
          </a:p>
        </p:txBody>
      </p:sp>
      <p:sp>
        <p:nvSpPr>
          <p:cNvPr id="33" name="Rectangle 32">
            <a:extLst>
              <a:ext uri="{FF2B5EF4-FFF2-40B4-BE49-F238E27FC236}">
                <a16:creationId xmlns:a16="http://schemas.microsoft.com/office/drawing/2014/main" id="{408BEE29-1CEE-69D0-0C96-29FA2EA02B39}"/>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Priority</a:t>
            </a:r>
          </a:p>
        </p:txBody>
      </p:sp>
      <p:sp>
        <p:nvSpPr>
          <p:cNvPr id="35" name="Oval 34">
            <a:extLst>
              <a:ext uri="{FF2B5EF4-FFF2-40B4-BE49-F238E27FC236}">
                <a16:creationId xmlns:a16="http://schemas.microsoft.com/office/drawing/2014/main" id="{8348E351-BF9C-7643-567A-1393F5FED931}"/>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Med</a:t>
            </a:r>
          </a:p>
        </p:txBody>
      </p:sp>
      <p:sp>
        <p:nvSpPr>
          <p:cNvPr id="37" name="Oval 36">
            <a:extLst>
              <a:ext uri="{FF2B5EF4-FFF2-40B4-BE49-F238E27FC236}">
                <a16:creationId xmlns:a16="http://schemas.microsoft.com/office/drawing/2014/main" id="{0C5104FF-8303-CCA3-17BE-A2FE43B0383C}"/>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Low</a:t>
            </a:r>
          </a:p>
        </p:txBody>
      </p:sp>
    </p:spTree>
    <p:extLst>
      <p:ext uri="{BB962C8B-B14F-4D97-AF65-F5344CB8AC3E}">
        <p14:creationId xmlns:p14="http://schemas.microsoft.com/office/powerpoint/2010/main" val="11453989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All rights reserved.</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F8EB60C-7CC2-49F0-B2EE-C81F067DE041}" type="slidenum">
              <a:rPr kumimoji="0" lang="en-US" sz="1800" b="0" i="0" u="none" strike="noStrike" kern="1200" cap="none" spc="0" normalizeH="0" baseline="0" noProof="0" smtClean="0">
                <a:ln>
                  <a:noFill/>
                </a:ln>
                <a:solidFill>
                  <a:srgbClr val="000000"/>
                </a:solidFill>
                <a:effectLst/>
                <a:uLnTx/>
                <a:uFillTx/>
                <a:latin typeface="Graphi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126" name="TextBox 125">
            <a:extLst>
              <a:ext uri="{FF2B5EF4-FFF2-40B4-BE49-F238E27FC236}">
                <a16:creationId xmlns:a16="http://schemas.microsoft.com/office/drawing/2014/main" id="{EEC953B8-A3F6-4C3F-6CE0-DB056ED72F5B}"/>
              </a:ext>
            </a:extLst>
          </p:cNvPr>
          <p:cNvSpPr txBox="1"/>
          <p:nvPr>
            <p:extLst>
              <p:ext uri="{1162E1C5-73C7-4A58-AE30-91384D911F3F}">
                <p184:classification xmlns:p184="http://schemas.microsoft.com/office/powerpoint/2018/4/main" val="hdr"/>
              </p:ext>
            </p:extLst>
          </p:nvPr>
        </p:nvSpPr>
        <p:spPr>
          <a:xfrm>
            <a:off x="4610601" y="78170"/>
            <a:ext cx="3641223" cy="153888"/>
          </a:xfrm>
          <a:prstGeom prst="rect">
            <a:avLst/>
          </a:prstGeom>
        </p:spPr>
        <p:txBody>
          <a:bodyPr horzOverflow="overflow"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***Confidential - For Company Internal Use Only***</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Interoperability Architecture </a:t>
            </a:r>
            <a:r>
              <a:rPr kumimoji="0" lang="en-US" sz="2400" b="1" i="0" u="none" strike="noStrike" kern="1200" cap="none" spc="0" normalizeH="0" baseline="0" noProof="0">
                <a:ln>
                  <a:noFill/>
                </a:ln>
                <a:solidFill>
                  <a:srgbClr val="000000"/>
                </a:solidFill>
                <a:effectLst/>
                <a:uLnTx/>
                <a:uFillTx/>
                <a:latin typeface="Graphik"/>
                <a:ea typeface="+mj-ea"/>
                <a:cs typeface="+mj-cs"/>
              </a:rPr>
              <a:t>| Observability</a:t>
            </a: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n-US" sz="1000" b="1" i="0" dirty="0">
                <a:solidFill>
                  <a:srgbClr val="C00000"/>
                </a:solidFill>
                <a:latin typeface="Graphik"/>
                <a:cs typeface="Graphik"/>
              </a:rPr>
              <a:t>KERNEL &amp; PLATFORM    |    5 SUB-CAPABILITIES</a:t>
            </a:r>
          </a:p>
        </p:txBody>
      </p:sp>
      <p:sp>
        <p:nvSpPr>
          <p:cNvPr id="130" name="KBadge"/>
          <p:cNvSpPr/>
          <p:nvPr/>
        </p:nvSpPr>
        <p:spPr>
          <a:xfrm>
            <a:off x="10980000" y="392000"/>
            <a:ext cx="300000" cy="300000"/>
          </a:xfrm>
          <a:prstGeom prst="ellipse">
            <a:avLst/>
          </a:prstGeom>
          <a:solidFill>
            <a:srgbClr val="C00000"/>
          </a:solidFill>
        </p:spPr>
        <p:txBody>
          <a:bodyPr anchor="ctr"/>
          <a:lstStyle/>
          <a:p>
            <a:pPr marL="0" indent="0" algn="ctr">
              <a:lnSpc>
                <a:spcPct val="104000"/>
              </a:lnSpc>
              <a:spcBef>
                <a:spcPts val="30"/>
              </a:spcBef>
              <a:buNone/>
            </a:pPr>
            <a:r>
              <a:rPr lang="en-US" sz="1400" b="1" i="0" dirty="0">
                <a:solidFill>
                  <a:srgbClr val="FFFFFF"/>
                </a:solidFill>
                <a:latin typeface="Graphik"/>
                <a:cs typeface="Graphik"/>
              </a:rPr>
              <a:t>K</a:t>
            </a:r>
          </a:p>
        </p:txBody>
      </p:sp>
      <p:graphicFrame>
        <p:nvGraphicFramePr>
          <p:cNvPr id="100" name="DetailTable"/>
          <p:cNvGraphicFramePr>
            <a:graphicFrameLocks noGrp="1"/>
          </p:cNvGraphicFramePr>
          <p:nvPr>
            <p:extLst>
              <p:ext uri="{D42A27DB-BD31-4B8C-83A1-F6EECF244321}">
                <p14:modId xmlns:p14="http://schemas.microsoft.com/office/powerpoint/2010/main" val="3659253241"/>
              </p:ext>
            </p:extLst>
          </p:nvPr>
        </p:nvGraphicFramePr>
        <p:xfrm>
          <a:off x="381000" y="1015000"/>
          <a:ext cx="11430000" cy="4396024"/>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n-US" sz="1000" b="1" i="0" dirty="0">
                          <a:solidFill>
                            <a:srgbClr val="FFFFFF"/>
                          </a:solidFill>
                          <a:latin typeface="Graphik"/>
                          <a:cs typeface="Graphik"/>
                        </a:rPr>
                        <a:t>Sub-capability</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Description</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Purpose</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Solutions in Coppel</a:t>
                      </a:r>
                    </a:p>
                  </a:txBody>
                  <a:tcPr marL="82000" marR="82000" marT="38000" marB="38000" anchor="ctr">
                    <a:solidFill>
                      <a:srgbClr val="7500C0"/>
                    </a:solidFill>
                  </a:tcPr>
                </a:tc>
                <a:extLst>
                  <a:ext uri="{0D108BD9-81ED-4DB2-BD59-A6C34878D82A}">
                    <a16:rowId xmlns:a16="http://schemas.microsoft.com/office/drawing/2014/main" val="10000"/>
                  </a:ext>
                </a:extLst>
              </a:tr>
              <a:tr h="849380">
                <a:tc>
                  <a:txBody>
                    <a:bodyPr/>
                    <a:lstStyle/>
                    <a:p>
                      <a:pPr marL="0" indent="0" algn="l">
                        <a:lnSpc>
                          <a:spcPct val="104000"/>
                        </a:lnSpc>
                        <a:spcBef>
                          <a:spcPts val="30"/>
                        </a:spcBef>
                        <a:buNone/>
                      </a:pPr>
                      <a:r>
                        <a:rPr lang="en-US" sz="800" b="1" i="0" dirty="0">
                          <a:solidFill>
                            <a:srgbClr val="9B7BC7"/>
                          </a:solidFill>
                          <a:latin typeface="Graphik"/>
                          <a:cs typeface="Graphik"/>
                        </a:rPr>
                        <a:t>2.1  </a:t>
                      </a:r>
                      <a:r>
                        <a:rPr lang="en-US" sz="950" b="1" i="0" dirty="0">
                          <a:solidFill>
                            <a:srgbClr val="7500C0"/>
                          </a:solidFill>
                          <a:latin typeface="Graphik"/>
                          <a:cs typeface="Graphik"/>
                        </a:rPr>
                        <a:t>Monitoring</a:t>
                      </a:r>
                    </a:p>
                  </a:txBody>
                  <a:tcPr marL="82000" marR="82000" marT="38000" marB="38000" anchor="ctr">
                    <a:solidFill>
                      <a:srgbClr val="EFE7F7"/>
                    </a:solidFill>
                  </a:tcPr>
                </a:tc>
                <a:tc>
                  <a:txBody>
                    <a:bodyPr/>
                    <a:lstStyle/>
                    <a:p>
                      <a:pPr marL="0" indent="0" algn="l">
                        <a:lnSpc>
                          <a:spcPct val="108000"/>
                        </a:lnSpc>
                        <a:spcBef>
                          <a:spcPts val="30"/>
                        </a:spcBef>
                        <a:buNone/>
                      </a:pPr>
                      <a:r>
                        <a:rPr lang="en-US" sz="900" b="0" i="0" dirty="0">
                          <a:solidFill>
                            <a:srgbClr val="2B2B2B"/>
                          </a:solidFill>
                          <a:latin typeface="Graphik"/>
                          <a:cs typeface="Graphik"/>
                        </a:rPr>
                        <a:t>Continuous collection and evaluation of </a:t>
                      </a:r>
                      <a:r>
                        <a:rPr lang="en-US" sz="900" b="0" i="0">
                          <a:solidFill>
                            <a:srgbClr val="2B2B2B"/>
                          </a:solidFill>
                          <a:latin typeface="Graphik"/>
                          <a:cs typeface="Graphik"/>
                        </a:rPr>
                        <a:t>the health </a:t>
                      </a:r>
                      <a:r>
                        <a:rPr lang="en-US" sz="900" b="0" i="0" dirty="0">
                          <a:solidFill>
                            <a:srgbClr val="2B2B2B"/>
                          </a:solidFill>
                          <a:latin typeface="Graphik"/>
                          <a:cs typeface="Graphik"/>
                        </a:rPr>
                        <a:t>and availability of platform components, interfaces and dependencies, with threshold and anomaly-based alerting.</a:t>
                      </a:r>
                    </a:p>
                  </a:txBody>
                  <a:tcPr marL="82000" marR="82000" marT="38000" marB="38000" anchor="ctr">
                    <a:solidFill>
                      <a:srgbClr val="FFFFFF"/>
                    </a:solidFill>
                  </a:tcPr>
                </a:tc>
                <a:tc>
                  <a:txBody>
                    <a:bodyPr/>
                    <a:lstStyle/>
                    <a:p>
                      <a:pPr marL="0" indent="0" algn="l">
                        <a:lnSpc>
                          <a:spcPct val="108000"/>
                        </a:lnSpc>
                        <a:spcBef>
                          <a:spcPts val="30"/>
                        </a:spcBef>
                        <a:buNone/>
                      </a:pPr>
                      <a:r>
                        <a:rPr lang="en-US" sz="900" b="0" i="0" dirty="0">
                          <a:solidFill>
                            <a:srgbClr val="444444"/>
                          </a:solidFill>
                          <a:latin typeface="Graphik"/>
                          <a:cs typeface="Graphik"/>
                        </a:rPr>
                        <a:t>Detects degradation before customers do, which matters more in a composed estate where one weak dependency degrades many journeys.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DataDog monitoring, dashboards and alerting</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CloudWatch/CloudTrail for AWS components</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Apigee analytics</a:t>
                      </a:r>
                    </a:p>
                    <a:p>
                      <a:pPr marL="150000" indent="-150000" algn="l">
                        <a:lnSpc>
                          <a:spcPct val="104000"/>
                        </a:lnSpc>
                        <a:spcBef>
                          <a:spcPts val="45"/>
                        </a:spcBef>
                        <a:buClr>
                          <a:srgbClr val="7500C0"/>
                        </a:buClr>
                        <a:buFont typeface="Arial"/>
                        <a:buChar char="▪"/>
                      </a:pPr>
                      <a:r>
                        <a:rPr lang="en-US" sz="850" b="0" i="0">
                          <a:solidFill>
                            <a:srgbClr val="4B2E83"/>
                          </a:solidFill>
                          <a:latin typeface="Graphik"/>
                          <a:cs typeface="Graphik"/>
                        </a:rPr>
                        <a:t>platform health </a:t>
                      </a:r>
                      <a:r>
                        <a:rPr lang="en-US" sz="850" b="0" i="0" dirty="0">
                          <a:solidFill>
                            <a:srgbClr val="4B2E83"/>
                          </a:solidFill>
                          <a:latin typeface="Graphik"/>
                          <a:cs typeface="Graphik"/>
                        </a:rPr>
                        <a:t>checks across Apolo, Transact and SmartVista</a:t>
                      </a:r>
                    </a:p>
                  </a:txBody>
                  <a:tcPr marL="82000" marR="82000" marT="38000" marB="38000" anchor="ctr">
                    <a:solidFill>
                      <a:srgbClr val="FFFFFF"/>
                    </a:solidFill>
                  </a:tcPr>
                </a:tc>
                <a:extLst>
                  <a:ext uri="{0D108BD9-81ED-4DB2-BD59-A6C34878D82A}">
                    <a16:rowId xmlns:a16="http://schemas.microsoft.com/office/drawing/2014/main" val="10001"/>
                  </a:ext>
                </a:extLst>
              </a:tr>
              <a:tr h="849380">
                <a:tc>
                  <a:txBody>
                    <a:bodyPr/>
                    <a:lstStyle/>
                    <a:p>
                      <a:pPr marL="0" indent="0" algn="l">
                        <a:lnSpc>
                          <a:spcPct val="104000"/>
                        </a:lnSpc>
                        <a:spcBef>
                          <a:spcPts val="30"/>
                        </a:spcBef>
                        <a:buNone/>
                      </a:pPr>
                      <a:r>
                        <a:rPr lang="en-US" sz="800" b="1" i="0" dirty="0">
                          <a:solidFill>
                            <a:srgbClr val="9B7BC7"/>
                          </a:solidFill>
                          <a:latin typeface="Graphik"/>
                          <a:cs typeface="Graphik"/>
                        </a:rPr>
                        <a:t>2.2  </a:t>
                      </a:r>
                      <a:r>
                        <a:rPr lang="en-US" sz="950" b="1" i="0" dirty="0">
                          <a:solidFill>
                            <a:srgbClr val="7500C0"/>
                          </a:solidFill>
                          <a:latin typeface="Graphik"/>
                          <a:cs typeface="Graphik"/>
                        </a:rPr>
                        <a:t>Logging</a:t>
                      </a:r>
                    </a:p>
                  </a:txBody>
                  <a:tcPr marL="82000" marR="82000" marT="38000" marB="38000" anchor="ctr">
                    <a:solidFill>
                      <a:srgbClr val="E9DEF4"/>
                    </a:solidFill>
                  </a:tcPr>
                </a:tc>
                <a:tc>
                  <a:txBody>
                    <a:bodyPr/>
                    <a:lstStyle/>
                    <a:p>
                      <a:pPr marL="0" indent="0" algn="l">
                        <a:lnSpc>
                          <a:spcPct val="108000"/>
                        </a:lnSpc>
                        <a:spcBef>
                          <a:spcPts val="30"/>
                        </a:spcBef>
                        <a:buNone/>
                      </a:pPr>
                      <a:r>
                        <a:rPr lang="en-US" sz="900" b="0" i="0" dirty="0">
                          <a:solidFill>
                            <a:srgbClr val="2B2B2B"/>
                          </a:solidFill>
                          <a:latin typeface="Graphik"/>
                          <a:cs typeface="Graphik"/>
                        </a:rPr>
                        <a:t>Structured collection, normalisation, indexing, retention and rotation of technical, operational and audit logs from every component in the interoperability layer.</a:t>
                      </a:r>
                    </a:p>
                  </a:txBody>
                  <a:tcPr marL="82000" marR="82000" marT="38000" marB="38000" anchor="ctr">
                    <a:solidFill>
                      <a:srgbClr val="F6F2FB"/>
                    </a:solidFill>
                  </a:tcPr>
                </a:tc>
                <a:tc>
                  <a:txBody>
                    <a:bodyPr/>
                    <a:lstStyle/>
                    <a:p>
                      <a:pPr marL="0" indent="0" algn="l">
                        <a:lnSpc>
                          <a:spcPct val="108000"/>
                        </a:lnSpc>
                        <a:spcBef>
                          <a:spcPts val="30"/>
                        </a:spcBef>
                        <a:buNone/>
                      </a:pPr>
                      <a:r>
                        <a:rPr lang="en-US" sz="900" b="0" i="0" dirty="0">
                          <a:solidFill>
                            <a:srgbClr val="444444"/>
                          </a:solidFill>
                          <a:latin typeface="Graphik"/>
                          <a:cs typeface="Graphik"/>
                        </a:rPr>
                        <a:t>Provides the forensic and audit substrate for a distributed estate where no single application log tells the whole story.</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DataDog logs/monitors</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Exabeam SIEM</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AWS CloudTrail/CloudWatch</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audit trails from Apigee, Transact, SmartVista and regulatory/reporting flows</a:t>
                      </a:r>
                    </a:p>
                  </a:txBody>
                  <a:tcPr marL="82000" marR="82000" marT="38000" marB="38000" anchor="ctr">
                    <a:solidFill>
                      <a:srgbClr val="F6F2FB"/>
                    </a:solidFill>
                  </a:tcPr>
                </a:tc>
                <a:extLst>
                  <a:ext uri="{0D108BD9-81ED-4DB2-BD59-A6C34878D82A}">
                    <a16:rowId xmlns:a16="http://schemas.microsoft.com/office/drawing/2014/main" val="10002"/>
                  </a:ext>
                </a:extLst>
              </a:tr>
              <a:tr h="698504">
                <a:tc>
                  <a:txBody>
                    <a:bodyPr/>
                    <a:lstStyle/>
                    <a:p>
                      <a:pPr marL="0" indent="0" algn="l">
                        <a:lnSpc>
                          <a:spcPct val="104000"/>
                        </a:lnSpc>
                        <a:spcBef>
                          <a:spcPts val="30"/>
                        </a:spcBef>
                        <a:buNone/>
                      </a:pPr>
                      <a:r>
                        <a:rPr lang="en-US" sz="800" b="1" i="0" dirty="0">
                          <a:solidFill>
                            <a:srgbClr val="9B7BC7"/>
                          </a:solidFill>
                          <a:latin typeface="Graphik"/>
                          <a:cs typeface="Graphik"/>
                        </a:rPr>
                        <a:t>2.3  </a:t>
                      </a:r>
                      <a:r>
                        <a:rPr lang="en-US" sz="950" b="1" i="0" dirty="0">
                          <a:solidFill>
                            <a:srgbClr val="7500C0"/>
                          </a:solidFill>
                          <a:latin typeface="Graphik"/>
                          <a:cs typeface="Graphik"/>
                        </a:rPr>
                        <a:t>Tracing</a:t>
                      </a:r>
                    </a:p>
                  </a:txBody>
                  <a:tcPr marL="82000" marR="82000" marT="38000" marB="38000" anchor="ctr">
                    <a:solidFill>
                      <a:srgbClr val="EFE7F7"/>
                    </a:solidFill>
                  </a:tcPr>
                </a:tc>
                <a:tc>
                  <a:txBody>
                    <a:bodyPr/>
                    <a:lstStyle/>
                    <a:p>
                      <a:pPr marL="0" indent="0" algn="l">
                        <a:lnSpc>
                          <a:spcPct val="108000"/>
                        </a:lnSpc>
                        <a:spcBef>
                          <a:spcPts val="30"/>
                        </a:spcBef>
                        <a:buNone/>
                      </a:pPr>
                      <a:r>
                        <a:rPr lang="en-US" sz="900" b="0" i="0" dirty="0">
                          <a:solidFill>
                            <a:srgbClr val="2B2B2B"/>
                          </a:solidFill>
                          <a:latin typeface="Graphik"/>
                          <a:cs typeface="Graphik"/>
                        </a:rPr>
                        <a:t>Propagation and reconstruction of the full execution path of a request across services, platforms, protocols and asynchronous hops, based on a consistently propagated correlation identifier.</a:t>
                      </a:r>
                    </a:p>
                  </a:txBody>
                  <a:tcPr marL="82000" marR="82000" marT="38000" marB="38000" anchor="ctr">
                    <a:solidFill>
                      <a:srgbClr val="FFFFFF"/>
                    </a:solidFill>
                  </a:tcPr>
                </a:tc>
                <a:tc>
                  <a:txBody>
                    <a:bodyPr/>
                    <a:lstStyle/>
                    <a:p>
                      <a:pPr marL="0" indent="0" algn="l">
                        <a:lnSpc>
                          <a:spcPct val="108000"/>
                        </a:lnSpc>
                        <a:spcBef>
                          <a:spcPts val="30"/>
                        </a:spcBef>
                        <a:buNone/>
                      </a:pPr>
                      <a:r>
                        <a:rPr lang="en-US" sz="900" b="0" i="0" dirty="0">
                          <a:solidFill>
                            <a:srgbClr val="444444"/>
                          </a:solidFill>
                          <a:latin typeface="Graphik"/>
                          <a:cs typeface="Graphik"/>
                        </a:rPr>
                        <a:t>The single most important observability capability in an interoperable architecture: it is what makes a distributed transaction explainable end to end, across legacy and next-gen alike.</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DataDog APM/tracing is planned as advanced observability</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Istio supports service-level telemetry. Correlation identity service is not explicitly named</a:t>
                      </a:r>
                    </a:p>
                  </a:txBody>
                  <a:tcPr marL="82000" marR="82000" marT="38000" marB="38000" anchor="ctr">
                    <a:solidFill>
                      <a:srgbClr val="FFFFFF"/>
                    </a:solidFill>
                  </a:tcPr>
                </a:tc>
                <a:extLst>
                  <a:ext uri="{0D108BD9-81ED-4DB2-BD59-A6C34878D82A}">
                    <a16:rowId xmlns:a16="http://schemas.microsoft.com/office/drawing/2014/main" val="10003"/>
                  </a:ext>
                </a:extLst>
              </a:tr>
              <a:tr h="849380">
                <a:tc>
                  <a:txBody>
                    <a:bodyPr/>
                    <a:lstStyle/>
                    <a:p>
                      <a:pPr marL="0" indent="0" algn="l">
                        <a:lnSpc>
                          <a:spcPct val="104000"/>
                        </a:lnSpc>
                        <a:spcBef>
                          <a:spcPts val="30"/>
                        </a:spcBef>
                        <a:buNone/>
                      </a:pPr>
                      <a:r>
                        <a:rPr lang="en-US" sz="800" b="1" i="0" dirty="0">
                          <a:solidFill>
                            <a:srgbClr val="9B7BC7"/>
                          </a:solidFill>
                          <a:latin typeface="Graphik"/>
                          <a:cs typeface="Graphik"/>
                        </a:rPr>
                        <a:t>2.4  </a:t>
                      </a:r>
                      <a:r>
                        <a:rPr lang="en-US" sz="950" b="1" i="0" dirty="0">
                          <a:solidFill>
                            <a:srgbClr val="7500C0"/>
                          </a:solidFill>
                          <a:latin typeface="Graphik"/>
                          <a:cs typeface="Graphik"/>
                        </a:rPr>
                        <a:t>Metrics, Analytics &amp; Reporting</a:t>
                      </a:r>
                    </a:p>
                  </a:txBody>
                  <a:tcPr marL="82000" marR="82000" marT="38000" marB="38000" anchor="ctr">
                    <a:solidFill>
                      <a:srgbClr val="E9DEF4"/>
                    </a:solidFill>
                  </a:tcPr>
                </a:tc>
                <a:tc>
                  <a:txBody>
                    <a:bodyPr/>
                    <a:lstStyle/>
                    <a:p>
                      <a:pPr marL="0" indent="0" algn="l">
                        <a:lnSpc>
                          <a:spcPct val="108000"/>
                        </a:lnSpc>
                        <a:spcBef>
                          <a:spcPts val="30"/>
                        </a:spcBef>
                        <a:buNone/>
                      </a:pPr>
                      <a:r>
                        <a:rPr lang="en-US" sz="900" b="0" i="0" dirty="0">
                          <a:solidFill>
                            <a:srgbClr val="2B2B2B"/>
                          </a:solidFill>
                          <a:latin typeface="Graphik"/>
                          <a:cs typeface="Graphik"/>
                        </a:rPr>
                        <a:t>Derivation, storage and analysis of technical and business metrics from telemetry, including automated correlation and machine-learning-assisted detection, and periodic reporting.</a:t>
                      </a:r>
                    </a:p>
                  </a:txBody>
                  <a:tcPr marL="82000" marR="82000" marT="38000" marB="38000" anchor="ctr">
                    <a:solidFill>
                      <a:srgbClr val="F6F2FB"/>
                    </a:solidFill>
                  </a:tcPr>
                </a:tc>
                <a:tc>
                  <a:txBody>
                    <a:bodyPr/>
                    <a:lstStyle/>
                    <a:p>
                      <a:pPr marL="0" indent="0" algn="l">
                        <a:lnSpc>
                          <a:spcPct val="108000"/>
                        </a:lnSpc>
                        <a:spcBef>
                          <a:spcPts val="30"/>
                        </a:spcBef>
                        <a:buNone/>
                      </a:pPr>
                      <a:r>
                        <a:rPr lang="en-US" sz="900" b="0" i="0" dirty="0">
                          <a:solidFill>
                            <a:srgbClr val="444444"/>
                          </a:solidFill>
                          <a:latin typeface="Graphik"/>
                          <a:cs typeface="Graphik"/>
                        </a:rPr>
                        <a:t>Turns raw telemetry into the management information used to evidence the interoperability business case and to steer platform investment.</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DataDog KPIs</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Apigee analytics</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Google Analytics for digital behaviour</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Data Warehouse/DataStage for reporting feeds</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executive PMO dashboards</a:t>
                      </a:r>
                    </a:p>
                  </a:txBody>
                  <a:tcPr marL="82000" marR="82000" marT="38000" marB="38000" anchor="ctr">
                    <a:solidFill>
                      <a:srgbClr val="F6F2FB"/>
                    </a:solidFill>
                  </a:tcPr>
                </a:tc>
                <a:extLst>
                  <a:ext uri="{0D108BD9-81ED-4DB2-BD59-A6C34878D82A}">
                    <a16:rowId xmlns:a16="http://schemas.microsoft.com/office/drawing/2014/main" val="10004"/>
                  </a:ext>
                </a:extLst>
              </a:tr>
              <a:tr h="849380">
                <a:tc>
                  <a:txBody>
                    <a:bodyPr/>
                    <a:lstStyle/>
                    <a:p>
                      <a:pPr marL="0" indent="0" algn="l">
                        <a:lnSpc>
                          <a:spcPct val="104000"/>
                        </a:lnSpc>
                        <a:spcBef>
                          <a:spcPts val="30"/>
                        </a:spcBef>
                        <a:buNone/>
                      </a:pPr>
                      <a:r>
                        <a:rPr lang="en-US" sz="800" b="1" i="0" dirty="0">
                          <a:solidFill>
                            <a:srgbClr val="9B7BC7"/>
                          </a:solidFill>
                          <a:latin typeface="Graphik"/>
                          <a:cs typeface="Graphik"/>
                        </a:rPr>
                        <a:t>2.5  </a:t>
                      </a:r>
                      <a:r>
                        <a:rPr lang="en-US" sz="950" b="1" i="0" dirty="0">
                          <a:solidFill>
                            <a:srgbClr val="7500C0"/>
                          </a:solidFill>
                          <a:latin typeface="Graphik"/>
                          <a:cs typeface="Graphik"/>
                        </a:rPr>
                        <a:t>Dashboards</a:t>
                      </a:r>
                    </a:p>
                  </a:txBody>
                  <a:tcPr marL="82000" marR="82000" marT="38000" marB="38000" anchor="ctr">
                    <a:solidFill>
                      <a:srgbClr val="EFE7F7"/>
                    </a:solidFill>
                  </a:tcPr>
                </a:tc>
                <a:tc>
                  <a:txBody>
                    <a:bodyPr/>
                    <a:lstStyle/>
                    <a:p>
                      <a:pPr marL="0" indent="0" algn="l">
                        <a:lnSpc>
                          <a:spcPct val="108000"/>
                        </a:lnSpc>
                        <a:spcBef>
                          <a:spcPts val="30"/>
                        </a:spcBef>
                        <a:buNone/>
                      </a:pPr>
                      <a:r>
                        <a:rPr lang="en-US" sz="900" b="0" i="0" dirty="0">
                          <a:solidFill>
                            <a:srgbClr val="2B2B2B"/>
                          </a:solidFill>
                          <a:latin typeface="Graphik"/>
                          <a:cs typeface="Graphik"/>
                        </a:rPr>
                        <a:t>Role-oriented visualisation of platform and business telemetry for engineering, operations, security, business and executive audiences.</a:t>
                      </a:r>
                    </a:p>
                  </a:txBody>
                  <a:tcPr marL="82000" marR="82000" marT="38000" marB="38000" anchor="ctr">
                    <a:solidFill>
                      <a:srgbClr val="FFFFFF"/>
                    </a:solidFill>
                  </a:tcPr>
                </a:tc>
                <a:tc>
                  <a:txBody>
                    <a:bodyPr/>
                    <a:lstStyle/>
                    <a:p>
                      <a:pPr marL="0" indent="0" algn="l">
                        <a:lnSpc>
                          <a:spcPct val="108000"/>
                        </a:lnSpc>
                        <a:spcBef>
                          <a:spcPts val="30"/>
                        </a:spcBef>
                        <a:buNone/>
                      </a:pPr>
                      <a:r>
                        <a:rPr lang="en-US" sz="900" b="0" i="0" dirty="0">
                          <a:solidFill>
                            <a:srgbClr val="444444"/>
                          </a:solidFill>
                          <a:latin typeface="Graphik"/>
                          <a:cs typeface="Graphik"/>
                        </a:rPr>
                        <a:t>Converts observability from an engineering tool into a shared management instrument, including the business-service-level IT risk view.</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DataDog technical dashboards</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PMO / executive dashboards</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regulatory and business dashboards via Data Warehouse, Bajaware/Risklogic and project reporting</a:t>
                      </a:r>
                    </a:p>
                  </a:txBody>
                  <a:tcPr marL="82000" marR="82000" marT="38000" marB="38000" anchor="ctr">
                    <a:solidFill>
                      <a:srgbClr val="FFFFFF"/>
                    </a:solidFill>
                  </a:tcPr>
                </a:tc>
                <a:extLst>
                  <a:ext uri="{0D108BD9-81ED-4DB2-BD59-A6C34878D82A}">
                    <a16:rowId xmlns:a16="http://schemas.microsoft.com/office/drawing/2014/main" val="10005"/>
                  </a:ext>
                </a:extLst>
              </a:tr>
            </a:tbl>
          </a:graphicData>
        </a:graphic>
      </p:graphicFrame>
      <p:sp>
        <p:nvSpPr>
          <p:cNvPr id="21" name="Rectangle 20">
            <a:extLst>
              <a:ext uri="{FF2B5EF4-FFF2-40B4-BE49-F238E27FC236}">
                <a16:creationId xmlns:a16="http://schemas.microsoft.com/office/drawing/2014/main" id="{3CDE2F2D-1FAF-3AC1-04F1-A5BB8CDE9941}"/>
              </a:ext>
            </a:extLst>
          </p:cNvPr>
          <p:cNvSpPr>
            <a:spLocks noChangeAspect="1"/>
          </p:cNvSpPr>
          <p:nvPr/>
        </p:nvSpPr>
        <p:spPr>
          <a:xfrm>
            <a:off x="1936750" y="6410745"/>
            <a:ext cx="640842" cy="18450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GAP</a:t>
            </a:r>
          </a:p>
        </p:txBody>
      </p:sp>
      <p:sp>
        <p:nvSpPr>
          <p:cNvPr id="24" name="Rectangle 23">
            <a:extLst>
              <a:ext uri="{FF2B5EF4-FFF2-40B4-BE49-F238E27FC236}">
                <a16:creationId xmlns:a16="http://schemas.microsoft.com/office/drawing/2014/main" id="{F504667B-D9BD-56A6-4811-315F4BB07C3E}"/>
              </a:ext>
            </a:extLst>
          </p:cNvPr>
          <p:cNvSpPr>
            <a:spLocks noChangeAspect="1"/>
          </p:cNvSpPr>
          <p:nvPr/>
        </p:nvSpPr>
        <p:spPr>
          <a:xfrm>
            <a:off x="1936750" y="6191083"/>
            <a:ext cx="640842" cy="18450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Target</a:t>
            </a:r>
          </a:p>
        </p:txBody>
      </p:sp>
      <p:sp>
        <p:nvSpPr>
          <p:cNvPr id="26" name="Rectangle 25">
            <a:extLst>
              <a:ext uri="{FF2B5EF4-FFF2-40B4-BE49-F238E27FC236}">
                <a16:creationId xmlns:a16="http://schemas.microsoft.com/office/drawing/2014/main" id="{6DC80BBD-7108-F892-6EF3-756A38F4A92E}"/>
              </a:ext>
            </a:extLst>
          </p:cNvPr>
          <p:cNvSpPr>
            <a:spLocks noChangeAspect="1"/>
          </p:cNvSpPr>
          <p:nvPr/>
        </p:nvSpPr>
        <p:spPr>
          <a:xfrm>
            <a:off x="1936750" y="6620295"/>
            <a:ext cx="640842" cy="18450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Discard</a:t>
            </a:r>
          </a:p>
        </p:txBody>
      </p:sp>
      <p:sp>
        <p:nvSpPr>
          <p:cNvPr id="28" name="Oval 27">
            <a:extLst>
              <a:ext uri="{FF2B5EF4-FFF2-40B4-BE49-F238E27FC236}">
                <a16:creationId xmlns:a16="http://schemas.microsoft.com/office/drawing/2014/main" id="{5B38B064-8B2B-C04A-7CFE-502020D5B147}"/>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High</a:t>
            </a:r>
          </a:p>
        </p:txBody>
      </p:sp>
      <p:sp>
        <p:nvSpPr>
          <p:cNvPr id="30" name="Rectangle 29">
            <a:extLst>
              <a:ext uri="{FF2B5EF4-FFF2-40B4-BE49-F238E27FC236}">
                <a16:creationId xmlns:a16="http://schemas.microsoft.com/office/drawing/2014/main" id="{5E63A595-ABE9-0C85-C02D-BE7F496272CD}"/>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Capability Assessment</a:t>
            </a:r>
          </a:p>
        </p:txBody>
      </p:sp>
      <p:sp>
        <p:nvSpPr>
          <p:cNvPr id="32" name="Rectangle 31">
            <a:extLst>
              <a:ext uri="{FF2B5EF4-FFF2-40B4-BE49-F238E27FC236}">
                <a16:creationId xmlns:a16="http://schemas.microsoft.com/office/drawing/2014/main" id="{E679FDE3-2BAA-B653-AC0A-C495AE9ED834}"/>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Priority</a:t>
            </a:r>
          </a:p>
        </p:txBody>
      </p:sp>
      <p:sp>
        <p:nvSpPr>
          <p:cNvPr id="34" name="Oval 33">
            <a:extLst>
              <a:ext uri="{FF2B5EF4-FFF2-40B4-BE49-F238E27FC236}">
                <a16:creationId xmlns:a16="http://schemas.microsoft.com/office/drawing/2014/main" id="{5C931E50-85D0-6EAC-9BC7-BA7BE8BFFAA8}"/>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Med</a:t>
            </a:r>
          </a:p>
        </p:txBody>
      </p:sp>
      <p:sp>
        <p:nvSpPr>
          <p:cNvPr id="36" name="Oval 35">
            <a:extLst>
              <a:ext uri="{FF2B5EF4-FFF2-40B4-BE49-F238E27FC236}">
                <a16:creationId xmlns:a16="http://schemas.microsoft.com/office/drawing/2014/main" id="{EC324945-A869-1DE9-EE1A-B076120DB872}"/>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Low</a:t>
            </a:r>
          </a:p>
        </p:txBody>
      </p:sp>
    </p:spTree>
    <p:extLst>
      <p:ext uri="{BB962C8B-B14F-4D97-AF65-F5344CB8AC3E}">
        <p14:creationId xmlns:p14="http://schemas.microsoft.com/office/powerpoint/2010/main" val="11453989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All rights reserved.</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F8EB60C-7CC2-49F0-B2EE-C81F067DE041}" type="slidenum">
              <a:rPr kumimoji="0" lang="en-US" sz="1800" b="0" i="0" u="none" strike="noStrike" kern="1200" cap="none" spc="0" normalizeH="0" baseline="0" noProof="0" smtClean="0">
                <a:ln>
                  <a:noFill/>
                </a:ln>
                <a:solidFill>
                  <a:srgbClr val="000000"/>
                </a:solidFill>
                <a:effectLst/>
                <a:uLnTx/>
                <a:uFillTx/>
                <a:latin typeface="Graphi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126" name="TextBox 125">
            <a:extLst>
              <a:ext uri="{FF2B5EF4-FFF2-40B4-BE49-F238E27FC236}">
                <a16:creationId xmlns:a16="http://schemas.microsoft.com/office/drawing/2014/main" id="{EEC953B8-A3F6-4C3F-6CE0-DB056ED72F5B}"/>
              </a:ext>
            </a:extLst>
          </p:cNvPr>
          <p:cNvSpPr txBox="1"/>
          <p:nvPr>
            <p:extLst>
              <p:ext uri="{1162E1C5-73C7-4A58-AE30-91384D911F3F}">
                <p184:classification xmlns:p184="http://schemas.microsoft.com/office/powerpoint/2018/4/main" val="hdr"/>
              </p:ext>
            </p:extLst>
          </p:nvPr>
        </p:nvSpPr>
        <p:spPr>
          <a:xfrm>
            <a:off x="4610601" y="78170"/>
            <a:ext cx="3641223" cy="153888"/>
          </a:xfrm>
          <a:prstGeom prst="rect">
            <a:avLst/>
          </a:prstGeom>
        </p:spPr>
        <p:txBody>
          <a:bodyPr horzOverflow="overflow"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***Confidential - For Company Internal Use Only***</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Interoperability Architecture </a:t>
            </a:r>
            <a:r>
              <a:rPr kumimoji="0" lang="en-US" sz="2400" b="1" i="0" u="none" strike="noStrike" kern="1200" cap="none" spc="0" normalizeH="0" baseline="0" noProof="0">
                <a:ln>
                  <a:noFill/>
                </a:ln>
                <a:solidFill>
                  <a:srgbClr val="000000"/>
                </a:solidFill>
                <a:effectLst/>
                <a:uLnTx/>
                <a:uFillTx/>
                <a:latin typeface="Graphik"/>
                <a:ea typeface="+mj-ea"/>
                <a:cs typeface="+mj-cs"/>
              </a:rPr>
              <a:t>| Operations</a:t>
            </a:r>
          </a:p>
        </p:txBody>
      </p:sp>
      <p:graphicFrame>
        <p:nvGraphicFramePr>
          <p:cNvPr id="100" name="DetailTable"/>
          <p:cNvGraphicFramePr>
            <a:graphicFrameLocks noGrp="1"/>
          </p:cNvGraphicFramePr>
          <p:nvPr>
            <p:extLst>
              <p:ext uri="{D42A27DB-BD31-4B8C-83A1-F6EECF244321}">
                <p14:modId xmlns:p14="http://schemas.microsoft.com/office/powerpoint/2010/main" val="4187803223"/>
              </p:ext>
            </p:extLst>
          </p:nvPr>
        </p:nvGraphicFramePr>
        <p:xfrm>
          <a:off x="381000" y="1015000"/>
          <a:ext cx="11430000" cy="3970162"/>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n-US" sz="1000" b="1" i="0" dirty="0">
                          <a:solidFill>
                            <a:srgbClr val="FFFFFF"/>
                          </a:solidFill>
                          <a:latin typeface="Graphik"/>
                          <a:cs typeface="Graphik"/>
                        </a:rPr>
                        <a:t>Sub-capability</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Description</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Purpose</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Solutions in Coppel</a:t>
                      </a:r>
                    </a:p>
                  </a:txBody>
                  <a:tcPr marL="82000" marR="82000" marT="38000" marB="38000" anchor="ctr">
                    <a:solidFill>
                      <a:srgbClr val="7500C0"/>
                    </a:solidFill>
                  </a:tcPr>
                </a:tc>
                <a:extLst>
                  <a:ext uri="{0D108BD9-81ED-4DB2-BD59-A6C34878D82A}">
                    <a16:rowId xmlns:a16="http://schemas.microsoft.com/office/drawing/2014/main" val="10000"/>
                  </a:ext>
                </a:extLst>
              </a:tr>
              <a:tr h="765560">
                <a:tc>
                  <a:txBody>
                    <a:bodyPr/>
                    <a:lstStyle/>
                    <a:p>
                      <a:pPr marL="0" indent="0" algn="l">
                        <a:lnSpc>
                          <a:spcPct val="104000"/>
                        </a:lnSpc>
                        <a:spcBef>
                          <a:spcPts val="30"/>
                        </a:spcBef>
                        <a:buNone/>
                      </a:pPr>
                      <a:r>
                        <a:rPr lang="en-US" sz="900" b="1" i="0" dirty="0">
                          <a:solidFill>
                            <a:srgbClr val="9B7BC7"/>
                          </a:solidFill>
                          <a:latin typeface="Graphik"/>
                          <a:cs typeface="Graphik"/>
                        </a:rPr>
                        <a:t>3.1  </a:t>
                      </a:r>
                      <a:r>
                        <a:rPr lang="en-US" sz="1050" b="1" i="0" dirty="0">
                          <a:solidFill>
                            <a:srgbClr val="7500C0"/>
                          </a:solidFill>
                          <a:latin typeface="Graphik"/>
                          <a:cs typeface="Graphik"/>
                        </a:rPr>
                        <a:t>Folio Operations</a:t>
                      </a:r>
                    </a:p>
                  </a:txBody>
                  <a:tcPr marL="82000" marR="82000" marT="38000" marB="38000" anchor="ctr">
                    <a:solidFill>
                      <a:srgbClr val="EFE7F7"/>
                    </a:solidFill>
                  </a:tcPr>
                </a:tc>
                <a:tc>
                  <a:txBody>
                    <a:bodyPr/>
                    <a:lstStyle/>
                    <a:p>
                      <a:pPr marL="0" indent="0" algn="l">
                        <a:lnSpc>
                          <a:spcPct val="108000"/>
                        </a:lnSpc>
                        <a:spcBef>
                          <a:spcPts val="30"/>
                        </a:spcBef>
                        <a:buNone/>
                      </a:pPr>
                      <a:r>
                        <a:rPr lang="en-US" sz="1000" b="0" i="0" dirty="0">
                          <a:solidFill>
                            <a:srgbClr val="2B2B2B"/>
                          </a:solidFill>
                          <a:latin typeface="Graphik"/>
                          <a:cs typeface="Graphik"/>
                        </a:rPr>
                        <a:t>Grouping of the technical operations that make up a single business transaction under one business reference, with the ability to retrieve, report on and act upon that group as a unit.</a:t>
                      </a:r>
                    </a:p>
                  </a:txBody>
                  <a:tcPr marL="82000" marR="82000" marT="38000" marB="38000" anchor="ctr">
                    <a:solidFill>
                      <a:srgbClr val="FFFFFF"/>
                    </a:solidFill>
                  </a:tcPr>
                </a:tc>
                <a:tc>
                  <a:txBody>
                    <a:bodyPr/>
                    <a:lstStyle/>
                    <a:p>
                      <a:pPr marL="0" indent="0" algn="l">
                        <a:lnSpc>
                          <a:spcPct val="108000"/>
                        </a:lnSpc>
                        <a:spcBef>
                          <a:spcPts val="30"/>
                        </a:spcBef>
                        <a:buNone/>
                      </a:pPr>
                      <a:r>
                        <a:rPr lang="en-US" sz="1000" b="0" i="0" dirty="0">
                          <a:solidFill>
                            <a:srgbClr val="444444"/>
                          </a:solidFill>
                          <a:latin typeface="Graphik"/>
                          <a:cs typeface="Graphik"/>
                        </a:rPr>
                        <a:t>Restores the business-level unit of work that a monolithic core provided implicitly, which is what keeps reversal, enquiry and reporting meaningful after decomposition.</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No dedicated folio service is evidenced</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related identifiers/reporting are in PMO dashboards, Transact/SmartVista operational records and Data Warehouse reporting</a:t>
                      </a:r>
                    </a:p>
                  </a:txBody>
                  <a:tcPr marL="82000" marR="82000" marT="38000" marB="38000" anchor="ctr">
                    <a:solidFill>
                      <a:srgbClr val="FFFFFF"/>
                    </a:solidFill>
                  </a:tcPr>
                </a:tc>
                <a:extLst>
                  <a:ext uri="{0D108BD9-81ED-4DB2-BD59-A6C34878D82A}">
                    <a16:rowId xmlns:a16="http://schemas.microsoft.com/office/drawing/2014/main" val="10001"/>
                  </a:ext>
                </a:extLst>
              </a:tr>
              <a:tr h="765560">
                <a:tc>
                  <a:txBody>
                    <a:bodyPr/>
                    <a:lstStyle/>
                    <a:p>
                      <a:pPr marL="0" indent="0" algn="l">
                        <a:lnSpc>
                          <a:spcPct val="104000"/>
                        </a:lnSpc>
                        <a:spcBef>
                          <a:spcPts val="30"/>
                        </a:spcBef>
                        <a:buNone/>
                      </a:pPr>
                      <a:r>
                        <a:rPr lang="en-US" sz="900" b="1" i="0" dirty="0">
                          <a:solidFill>
                            <a:srgbClr val="9B7BC7"/>
                          </a:solidFill>
                          <a:latin typeface="Graphik"/>
                          <a:cs typeface="Graphik"/>
                        </a:rPr>
                        <a:t>3.2  </a:t>
                      </a:r>
                      <a:r>
                        <a:rPr lang="en-US" sz="1050" b="1" i="0" dirty="0">
                          <a:solidFill>
                            <a:srgbClr val="7500C0"/>
                          </a:solidFill>
                          <a:latin typeface="Graphik"/>
                          <a:cs typeface="Graphik"/>
                        </a:rPr>
                        <a:t>Feature Flag Management</a:t>
                      </a:r>
                    </a:p>
                  </a:txBody>
                  <a:tcPr marL="82000" marR="82000" marT="38000" marB="38000" anchor="ctr">
                    <a:solidFill>
                      <a:srgbClr val="E9DEF4"/>
                    </a:solidFill>
                  </a:tcPr>
                </a:tc>
                <a:tc>
                  <a:txBody>
                    <a:bodyPr/>
                    <a:lstStyle/>
                    <a:p>
                      <a:pPr marL="0" indent="0" algn="l">
                        <a:lnSpc>
                          <a:spcPct val="108000"/>
                        </a:lnSpc>
                        <a:spcBef>
                          <a:spcPts val="30"/>
                        </a:spcBef>
                        <a:buNone/>
                      </a:pPr>
                      <a:r>
                        <a:rPr lang="en-US" sz="1000" b="0" i="0" dirty="0">
                          <a:solidFill>
                            <a:srgbClr val="2B2B2B"/>
                          </a:solidFill>
                          <a:latin typeface="Graphik"/>
                          <a:cs typeface="Graphik"/>
                        </a:rPr>
                        <a:t>Runtime configuration of feature availability, allowing behaviour to be enabled, targeted or withdrawn per consumer, entity, channel or traffic share without redeployment.</a:t>
                      </a:r>
                    </a:p>
                  </a:txBody>
                  <a:tcPr marL="82000" marR="82000" marT="38000" marB="38000" anchor="ctr">
                    <a:solidFill>
                      <a:srgbClr val="F6F2FB"/>
                    </a:solidFill>
                  </a:tcPr>
                </a:tc>
                <a:tc>
                  <a:txBody>
                    <a:bodyPr/>
                    <a:lstStyle/>
                    <a:p>
                      <a:pPr marL="0" indent="0" algn="l">
                        <a:lnSpc>
                          <a:spcPct val="108000"/>
                        </a:lnSpc>
                        <a:spcBef>
                          <a:spcPts val="30"/>
                        </a:spcBef>
                        <a:buNone/>
                      </a:pPr>
                      <a:r>
                        <a:rPr lang="en-US" sz="1000" b="0" i="0" dirty="0">
                          <a:solidFill>
                            <a:srgbClr val="444444"/>
                          </a:solidFill>
                          <a:latin typeface="Graphik"/>
                          <a:cs typeface="Graphik"/>
                        </a:rPr>
                        <a:t>The primary control lever for de-risked cut-over: it converts a migration event into a gradual, observable and reversible transition.</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Feature flags are referenced as a channel innovation practice, but no tool is named</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deployment rollback uses DevSecOps pipelines/Helm and platform rollback controls</a:t>
                      </a:r>
                    </a:p>
                  </a:txBody>
                  <a:tcPr marL="82000" marR="82000" marT="38000" marB="38000" anchor="ctr">
                    <a:solidFill>
                      <a:srgbClr val="F6F2FB"/>
                    </a:solidFill>
                  </a:tcPr>
                </a:tc>
                <a:extLst>
                  <a:ext uri="{0D108BD9-81ED-4DB2-BD59-A6C34878D82A}">
                    <a16:rowId xmlns:a16="http://schemas.microsoft.com/office/drawing/2014/main" val="10002"/>
                  </a:ext>
                </a:extLst>
              </a:tr>
              <a:tr h="933200">
                <a:tc>
                  <a:txBody>
                    <a:bodyPr/>
                    <a:lstStyle/>
                    <a:p>
                      <a:pPr marL="0" indent="0" algn="l">
                        <a:lnSpc>
                          <a:spcPct val="104000"/>
                        </a:lnSpc>
                        <a:spcBef>
                          <a:spcPts val="30"/>
                        </a:spcBef>
                        <a:buNone/>
                      </a:pPr>
                      <a:r>
                        <a:rPr lang="en-US" sz="900" b="1" i="0" dirty="0">
                          <a:solidFill>
                            <a:srgbClr val="9B7BC7"/>
                          </a:solidFill>
                          <a:latin typeface="Graphik"/>
                          <a:cs typeface="Graphik"/>
                        </a:rPr>
                        <a:t>3.3  </a:t>
                      </a:r>
                      <a:r>
                        <a:rPr lang="en-US" sz="1050" b="1" i="0" dirty="0">
                          <a:solidFill>
                            <a:srgbClr val="7500C0"/>
                          </a:solidFill>
                          <a:latin typeface="Graphik"/>
                          <a:cs typeface="Graphik"/>
                        </a:rPr>
                        <a:t>Distributed UUID &amp; Correlation Services</a:t>
                      </a:r>
                    </a:p>
                  </a:txBody>
                  <a:tcPr marL="82000" marR="82000" marT="38000" marB="38000" anchor="ctr">
                    <a:solidFill>
                      <a:srgbClr val="EFE7F7"/>
                    </a:solidFill>
                  </a:tcPr>
                </a:tc>
                <a:tc>
                  <a:txBody>
                    <a:bodyPr/>
                    <a:lstStyle/>
                    <a:p>
                      <a:pPr marL="0" indent="0" algn="l">
                        <a:lnSpc>
                          <a:spcPct val="108000"/>
                        </a:lnSpc>
                        <a:spcBef>
                          <a:spcPts val="30"/>
                        </a:spcBef>
                        <a:buNone/>
                      </a:pPr>
                      <a:r>
                        <a:rPr lang="en-US" sz="1000" b="0" i="0" dirty="0">
                          <a:solidFill>
                            <a:srgbClr val="2B2B2B"/>
                          </a:solidFill>
                          <a:latin typeface="Graphik"/>
                          <a:cs typeface="Graphik"/>
                        </a:rPr>
                        <a:t>Generation of collision-free unique identifiers across distributed components and consistent propagation of correlation identifiers through synchronous and asynchronous paths.</a:t>
                      </a:r>
                    </a:p>
                  </a:txBody>
                  <a:tcPr marL="82000" marR="82000" marT="38000" marB="38000" anchor="ctr">
                    <a:solidFill>
                      <a:srgbClr val="FFFFFF"/>
                    </a:solidFill>
                  </a:tcPr>
                </a:tc>
                <a:tc>
                  <a:txBody>
                    <a:bodyPr/>
                    <a:lstStyle/>
                    <a:p>
                      <a:pPr marL="0" indent="0" algn="l">
                        <a:lnSpc>
                          <a:spcPct val="108000"/>
                        </a:lnSpc>
                        <a:spcBef>
                          <a:spcPts val="30"/>
                        </a:spcBef>
                        <a:buNone/>
                      </a:pPr>
                      <a:r>
                        <a:rPr lang="en-US" sz="1000" b="0" i="0" dirty="0">
                          <a:solidFill>
                            <a:srgbClr val="444444"/>
                          </a:solidFill>
                          <a:latin typeface="Graphik"/>
                          <a:cs typeface="Graphik"/>
                        </a:rPr>
                        <a:t>The single technical dependency underneath end-to-end traceability, distributed audit and idempotency control; without it, none of those capabilities can function.</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No standalone UUID/correlation service is evidenced</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likely handled by Apigee/MuleSoft/Istio/DataDog patterns and application-level identifiers</a:t>
                      </a:r>
                    </a:p>
                  </a:txBody>
                  <a:tcPr marL="82000" marR="82000" marT="38000" marB="38000" anchor="ctr">
                    <a:solidFill>
                      <a:srgbClr val="FFFFFF"/>
                    </a:solidFill>
                  </a:tcPr>
                </a:tc>
                <a:extLst>
                  <a:ext uri="{0D108BD9-81ED-4DB2-BD59-A6C34878D82A}">
                    <a16:rowId xmlns:a16="http://schemas.microsoft.com/office/drawing/2014/main" val="10003"/>
                  </a:ext>
                </a:extLst>
              </a:tr>
              <a:tr h="1100840">
                <a:tc>
                  <a:txBody>
                    <a:bodyPr/>
                    <a:lstStyle/>
                    <a:p>
                      <a:pPr marL="0" indent="0" algn="l">
                        <a:lnSpc>
                          <a:spcPct val="104000"/>
                        </a:lnSpc>
                        <a:spcBef>
                          <a:spcPts val="30"/>
                        </a:spcBef>
                        <a:buNone/>
                      </a:pPr>
                      <a:r>
                        <a:rPr lang="en-US" sz="900" b="1" i="0" dirty="0">
                          <a:solidFill>
                            <a:srgbClr val="9B7BC7"/>
                          </a:solidFill>
                          <a:latin typeface="Graphik"/>
                          <a:cs typeface="Graphik"/>
                        </a:rPr>
                        <a:t>3.4  </a:t>
                      </a:r>
                      <a:r>
                        <a:rPr lang="en-US" sz="1050" b="1" i="0" dirty="0">
                          <a:solidFill>
                            <a:srgbClr val="7500C0"/>
                          </a:solidFill>
                          <a:latin typeface="Graphik"/>
                          <a:cs typeface="Graphik"/>
                        </a:rPr>
                        <a:t>Platform Administration Consoles</a:t>
                      </a:r>
                    </a:p>
                  </a:txBody>
                  <a:tcPr marL="82000" marR="82000" marT="38000" marB="38000" anchor="ctr">
                    <a:solidFill>
                      <a:srgbClr val="E9DEF4"/>
                    </a:solidFill>
                  </a:tcPr>
                </a:tc>
                <a:tc>
                  <a:txBody>
                    <a:bodyPr/>
                    <a:lstStyle/>
                    <a:p>
                      <a:pPr marL="0" indent="0" algn="l">
                        <a:lnSpc>
                          <a:spcPct val="108000"/>
                        </a:lnSpc>
                        <a:spcBef>
                          <a:spcPts val="30"/>
                        </a:spcBef>
                        <a:buNone/>
                      </a:pPr>
                      <a:r>
                        <a:rPr lang="en-US" sz="1000" b="0" i="0" dirty="0">
                          <a:solidFill>
                            <a:srgbClr val="2B2B2B"/>
                          </a:solidFill>
                          <a:latin typeface="Graphik"/>
                          <a:cs typeface="Graphik"/>
                        </a:rPr>
                        <a:t>Administrative interfaces for the interoperability layer: service registry administration, runtime configuration, and operational control of shared components.</a:t>
                      </a:r>
                    </a:p>
                  </a:txBody>
                  <a:tcPr marL="82000" marR="82000" marT="38000" marB="38000" anchor="ctr">
                    <a:solidFill>
                      <a:srgbClr val="F6F2FB"/>
                    </a:solidFill>
                  </a:tcPr>
                </a:tc>
                <a:tc>
                  <a:txBody>
                    <a:bodyPr/>
                    <a:lstStyle/>
                    <a:p>
                      <a:pPr marL="0" indent="0" algn="l">
                        <a:lnSpc>
                          <a:spcPct val="108000"/>
                        </a:lnSpc>
                        <a:spcBef>
                          <a:spcPts val="30"/>
                        </a:spcBef>
                        <a:buNone/>
                      </a:pPr>
                      <a:r>
                        <a:rPr lang="en-US" sz="1000" b="0" i="0" dirty="0">
                          <a:solidFill>
                            <a:srgbClr val="444444"/>
                          </a:solidFill>
                          <a:latin typeface="Graphik"/>
                          <a:cs typeface="Graphik"/>
                        </a:rPr>
                        <a:t>Gives named owners a governed way to change platform behaviour, which is what allows the layer to be operated by an operations function rather than by its builders.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Apigee admin/policies</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SmartVista Back Office</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Transact administration/Product Catalog</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DataDog dashboards</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Terraform/GitHub configuration management</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21" name="Rectangle 20">
            <a:extLst>
              <a:ext uri="{FF2B5EF4-FFF2-40B4-BE49-F238E27FC236}">
                <a16:creationId xmlns:a16="http://schemas.microsoft.com/office/drawing/2014/main" id="{739ABCF5-71EA-7556-DF54-0FE076E11709}"/>
              </a:ext>
            </a:extLst>
          </p:cNvPr>
          <p:cNvSpPr>
            <a:spLocks noChangeAspect="1"/>
          </p:cNvSpPr>
          <p:nvPr/>
        </p:nvSpPr>
        <p:spPr>
          <a:xfrm>
            <a:off x="1936750" y="6410745"/>
            <a:ext cx="640842" cy="18450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GAP</a:t>
            </a:r>
          </a:p>
        </p:txBody>
      </p:sp>
      <p:sp>
        <p:nvSpPr>
          <p:cNvPr id="24" name="Rectangle 23">
            <a:extLst>
              <a:ext uri="{FF2B5EF4-FFF2-40B4-BE49-F238E27FC236}">
                <a16:creationId xmlns:a16="http://schemas.microsoft.com/office/drawing/2014/main" id="{D0709E68-7AEF-DEA3-D565-5C0CA9FA5F47}"/>
              </a:ext>
            </a:extLst>
          </p:cNvPr>
          <p:cNvSpPr>
            <a:spLocks noChangeAspect="1"/>
          </p:cNvSpPr>
          <p:nvPr/>
        </p:nvSpPr>
        <p:spPr>
          <a:xfrm>
            <a:off x="1936750" y="6191083"/>
            <a:ext cx="640842" cy="18450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Target</a:t>
            </a:r>
          </a:p>
        </p:txBody>
      </p:sp>
      <p:sp>
        <p:nvSpPr>
          <p:cNvPr id="26" name="Rectangle 25">
            <a:extLst>
              <a:ext uri="{FF2B5EF4-FFF2-40B4-BE49-F238E27FC236}">
                <a16:creationId xmlns:a16="http://schemas.microsoft.com/office/drawing/2014/main" id="{3E10ECF3-3E68-ECF4-E599-8C4D8AE9746A}"/>
              </a:ext>
            </a:extLst>
          </p:cNvPr>
          <p:cNvSpPr>
            <a:spLocks noChangeAspect="1"/>
          </p:cNvSpPr>
          <p:nvPr/>
        </p:nvSpPr>
        <p:spPr>
          <a:xfrm>
            <a:off x="1936750" y="6620295"/>
            <a:ext cx="640842" cy="18450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Discard</a:t>
            </a:r>
          </a:p>
        </p:txBody>
      </p:sp>
      <p:sp>
        <p:nvSpPr>
          <p:cNvPr id="28" name="Oval 27">
            <a:extLst>
              <a:ext uri="{FF2B5EF4-FFF2-40B4-BE49-F238E27FC236}">
                <a16:creationId xmlns:a16="http://schemas.microsoft.com/office/drawing/2014/main" id="{1A475CBE-679C-8683-62C2-561592A75ACA}"/>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High</a:t>
            </a:r>
          </a:p>
        </p:txBody>
      </p:sp>
      <p:sp>
        <p:nvSpPr>
          <p:cNvPr id="30" name="Rectangle 29">
            <a:extLst>
              <a:ext uri="{FF2B5EF4-FFF2-40B4-BE49-F238E27FC236}">
                <a16:creationId xmlns:a16="http://schemas.microsoft.com/office/drawing/2014/main" id="{9175C50E-5E9A-0DD7-6717-89A96108F624}"/>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Capability Assessment</a:t>
            </a:r>
          </a:p>
        </p:txBody>
      </p:sp>
      <p:sp>
        <p:nvSpPr>
          <p:cNvPr id="32" name="Rectangle 31">
            <a:extLst>
              <a:ext uri="{FF2B5EF4-FFF2-40B4-BE49-F238E27FC236}">
                <a16:creationId xmlns:a16="http://schemas.microsoft.com/office/drawing/2014/main" id="{B4CA2101-49E3-5706-CC21-C61BD60808EC}"/>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Priority</a:t>
            </a:r>
          </a:p>
        </p:txBody>
      </p:sp>
      <p:sp>
        <p:nvSpPr>
          <p:cNvPr id="34" name="Oval 33">
            <a:extLst>
              <a:ext uri="{FF2B5EF4-FFF2-40B4-BE49-F238E27FC236}">
                <a16:creationId xmlns:a16="http://schemas.microsoft.com/office/drawing/2014/main" id="{0222AB1E-E4E9-4764-724D-E4676B4DF92B}"/>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Med</a:t>
            </a:r>
          </a:p>
        </p:txBody>
      </p:sp>
      <p:sp>
        <p:nvSpPr>
          <p:cNvPr id="36" name="Oval 35">
            <a:extLst>
              <a:ext uri="{FF2B5EF4-FFF2-40B4-BE49-F238E27FC236}">
                <a16:creationId xmlns:a16="http://schemas.microsoft.com/office/drawing/2014/main" id="{BDB7289D-DC63-1536-9FA4-44B4E833E96C}"/>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Low</a:t>
            </a:r>
          </a:p>
        </p:txBody>
      </p:sp>
      <p:sp>
        <p:nvSpPr>
          <p:cNvPr id="38" name="Kicker">
            <a:extLst>
              <a:ext uri="{FF2B5EF4-FFF2-40B4-BE49-F238E27FC236}">
                <a16:creationId xmlns:a16="http://schemas.microsoft.com/office/drawing/2014/main" id="{EACB9C03-A539-AD17-4039-F3ED76B64F79}"/>
              </a:ext>
            </a:extLst>
          </p:cNvP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n-US" sz="1000" b="1" i="0" dirty="0">
                <a:solidFill>
                  <a:srgbClr val="C00000"/>
                </a:solidFill>
                <a:latin typeface="Graphik"/>
                <a:cs typeface="Graphik"/>
              </a:rPr>
              <a:t>KERNEL &amp; PLATFORM    |    4 SUB-CAPABILITIES</a:t>
            </a:r>
          </a:p>
        </p:txBody>
      </p:sp>
    </p:spTree>
    <p:extLst>
      <p:ext uri="{BB962C8B-B14F-4D97-AF65-F5344CB8AC3E}">
        <p14:creationId xmlns:p14="http://schemas.microsoft.com/office/powerpoint/2010/main" val="11453989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All rights reserved.</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F8EB60C-7CC2-49F0-B2EE-C81F067DE041}" type="slidenum">
              <a:rPr kumimoji="0" lang="en-US" sz="1800" b="0" i="0" u="none" strike="noStrike" kern="1200" cap="none" spc="0" normalizeH="0" baseline="0" noProof="0" smtClean="0">
                <a:ln>
                  <a:noFill/>
                </a:ln>
                <a:solidFill>
                  <a:srgbClr val="000000"/>
                </a:solidFill>
                <a:effectLst/>
                <a:uLnTx/>
                <a:uFillTx/>
                <a:latin typeface="Graphi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126" name="TextBox 125">
            <a:extLst>
              <a:ext uri="{FF2B5EF4-FFF2-40B4-BE49-F238E27FC236}">
                <a16:creationId xmlns:a16="http://schemas.microsoft.com/office/drawing/2014/main" id="{EEC953B8-A3F6-4C3F-6CE0-DB056ED72F5B}"/>
              </a:ext>
            </a:extLst>
          </p:cNvPr>
          <p:cNvSpPr txBox="1"/>
          <p:nvPr>
            <p:extLst>
              <p:ext uri="{1162E1C5-73C7-4A58-AE30-91384D911F3F}">
                <p184:classification xmlns:p184="http://schemas.microsoft.com/office/powerpoint/2018/4/main" val="hdr"/>
              </p:ext>
            </p:extLst>
          </p:nvPr>
        </p:nvSpPr>
        <p:spPr>
          <a:xfrm>
            <a:off x="4610601" y="78170"/>
            <a:ext cx="3641223" cy="153888"/>
          </a:xfrm>
          <a:prstGeom prst="rect">
            <a:avLst/>
          </a:prstGeom>
        </p:spPr>
        <p:txBody>
          <a:bodyPr horzOverflow="overflow"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***Confidential - For Company Internal Use Only***</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Interoperability Architecture </a:t>
            </a:r>
            <a:r>
              <a:rPr kumimoji="0" lang="en-US" sz="2400" b="1" i="0" u="none" strike="noStrike" kern="1200" cap="none" spc="0" normalizeH="0" baseline="0" noProof="0">
                <a:ln>
                  <a:noFill/>
                </a:ln>
                <a:solidFill>
                  <a:srgbClr val="000000"/>
                </a:solidFill>
                <a:effectLst/>
                <a:uLnTx/>
                <a:uFillTx/>
                <a:latin typeface="Graphik"/>
                <a:ea typeface="+mj-ea"/>
                <a:cs typeface="+mj-cs"/>
              </a:rPr>
              <a:t>| Gateway Services</a:t>
            </a: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n-US" sz="1000" b="1" i="0" dirty="0">
                <a:solidFill>
                  <a:srgbClr val="C00000"/>
                </a:solidFill>
                <a:latin typeface="Graphik"/>
                <a:cs typeface="Graphik"/>
              </a:rPr>
              <a:t>KERNEL &amp; PLATFORM    |    4 SUB-CAPABILITIES</a:t>
            </a:r>
          </a:p>
        </p:txBody>
      </p:sp>
      <p:sp>
        <p:nvSpPr>
          <p:cNvPr id="130" name="KBadge"/>
          <p:cNvSpPr/>
          <p:nvPr/>
        </p:nvSpPr>
        <p:spPr>
          <a:xfrm>
            <a:off x="10980000" y="392000"/>
            <a:ext cx="300000" cy="300000"/>
          </a:xfrm>
          <a:prstGeom prst="ellipse">
            <a:avLst/>
          </a:prstGeom>
          <a:solidFill>
            <a:srgbClr val="C00000"/>
          </a:solidFill>
        </p:spPr>
        <p:txBody>
          <a:bodyPr anchor="ctr"/>
          <a:lstStyle/>
          <a:p>
            <a:pPr marL="0" indent="0" algn="ctr">
              <a:lnSpc>
                <a:spcPct val="104000"/>
              </a:lnSpc>
              <a:spcBef>
                <a:spcPts val="30"/>
              </a:spcBef>
              <a:buNone/>
            </a:pPr>
            <a:r>
              <a:rPr lang="en-US" sz="1400" b="1" i="0" dirty="0">
                <a:solidFill>
                  <a:srgbClr val="FFFFFF"/>
                </a:solidFill>
                <a:latin typeface="Graphik"/>
                <a:cs typeface="Graphik"/>
              </a:rPr>
              <a:t>K</a:t>
            </a:r>
          </a:p>
        </p:txBody>
      </p:sp>
      <p:graphicFrame>
        <p:nvGraphicFramePr>
          <p:cNvPr id="100" name="DetailTable"/>
          <p:cNvGraphicFramePr>
            <a:graphicFrameLocks noGrp="1"/>
          </p:cNvGraphicFramePr>
          <p:nvPr>
            <p:extLst>
              <p:ext uri="{D42A27DB-BD31-4B8C-83A1-F6EECF244321}">
                <p14:modId xmlns:p14="http://schemas.microsoft.com/office/powerpoint/2010/main" val="901553552"/>
              </p:ext>
            </p:extLst>
          </p:nvPr>
        </p:nvGraphicFramePr>
        <p:xfrm>
          <a:off x="381000" y="1015000"/>
          <a:ext cx="11430000" cy="390058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n-US" sz="1000" b="1" i="0" dirty="0">
                          <a:solidFill>
                            <a:srgbClr val="FFFFFF"/>
                          </a:solidFill>
                          <a:latin typeface="Graphik"/>
                          <a:cs typeface="Graphik"/>
                        </a:rPr>
                        <a:t>Sub-capability</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Description</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Purpose</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Solutions in Coppel</a:t>
                      </a:r>
                    </a:p>
                  </a:txBody>
                  <a:tcPr marL="82000" marR="82000" marT="38000" marB="38000" anchor="ctr">
                    <a:solidFill>
                      <a:srgbClr val="7500C0"/>
                    </a:solidFill>
                  </a:tcPr>
                </a:tc>
                <a:extLst>
                  <a:ext uri="{0D108BD9-81ED-4DB2-BD59-A6C34878D82A}">
                    <a16:rowId xmlns:a16="http://schemas.microsoft.com/office/drawing/2014/main" val="10000"/>
                  </a:ext>
                </a:extLst>
              </a:tr>
              <a:tr h="765560">
                <a:tc>
                  <a:txBody>
                    <a:bodyPr/>
                    <a:lstStyle/>
                    <a:p>
                      <a:pPr marL="0" indent="0" algn="l">
                        <a:lnSpc>
                          <a:spcPct val="104000"/>
                        </a:lnSpc>
                        <a:spcBef>
                          <a:spcPts val="30"/>
                        </a:spcBef>
                        <a:buNone/>
                      </a:pPr>
                      <a:r>
                        <a:rPr lang="en-US" sz="900" b="1" i="0" dirty="0">
                          <a:solidFill>
                            <a:srgbClr val="9B7BC7"/>
                          </a:solidFill>
                          <a:latin typeface="Graphik"/>
                          <a:cs typeface="Graphik"/>
                        </a:rPr>
                        <a:t>4.1  </a:t>
                      </a:r>
                      <a:r>
                        <a:rPr lang="en-US" sz="1050" b="1" i="0" dirty="0">
                          <a:solidFill>
                            <a:srgbClr val="7500C0"/>
                          </a:solidFill>
                          <a:latin typeface="Graphik"/>
                          <a:cs typeface="Graphik"/>
                        </a:rPr>
                        <a:t>Inbound Gateway Services</a:t>
                      </a:r>
                    </a:p>
                  </a:txBody>
                  <a:tcPr marL="82000" marR="82000" marT="38000" marB="38000" anchor="ctr">
                    <a:solidFill>
                      <a:srgbClr val="EFE7F7"/>
                    </a:solidFill>
                  </a:tcPr>
                </a:tc>
                <a:tc>
                  <a:txBody>
                    <a:bodyPr/>
                    <a:lstStyle/>
                    <a:p>
                      <a:pPr marL="0" indent="0" algn="l">
                        <a:lnSpc>
                          <a:spcPct val="108000"/>
                        </a:lnSpc>
                        <a:spcBef>
                          <a:spcPts val="30"/>
                        </a:spcBef>
                        <a:buNone/>
                      </a:pPr>
                      <a:r>
                        <a:rPr lang="en-US" sz="1000" b="0" i="0" dirty="0">
                          <a:solidFill>
                            <a:srgbClr val="2B2B2B"/>
                          </a:solidFill>
                          <a:latin typeface="Graphik"/>
                          <a:cs typeface="Graphik"/>
                        </a:rPr>
                        <a:t>Managed entry points for traffic originating outside the bank's trust boundary, across API, file and event channels, including identity assertion exchange at the edge.</a:t>
                      </a:r>
                    </a:p>
                  </a:txBody>
                  <a:tcPr marL="82000" marR="82000" marT="38000" marB="38000" anchor="ctr">
                    <a:solidFill>
                      <a:srgbClr val="FFFFFF"/>
                    </a:solidFill>
                  </a:tcPr>
                </a:tc>
                <a:tc>
                  <a:txBody>
                    <a:bodyPr/>
                    <a:lstStyle/>
                    <a:p>
                      <a:pPr marL="0" indent="0" algn="l">
                        <a:lnSpc>
                          <a:spcPct val="108000"/>
                        </a:lnSpc>
                        <a:spcBef>
                          <a:spcPts val="30"/>
                        </a:spcBef>
                        <a:buNone/>
                      </a:pPr>
                      <a:r>
                        <a:rPr lang="en-US" sz="1000" b="0" i="0" dirty="0">
                          <a:solidFill>
                            <a:srgbClr val="444444"/>
                          </a:solidFill>
                          <a:latin typeface="Graphik"/>
                          <a:cs typeface="Graphik"/>
                        </a:rPr>
                        <a:t>Gives the bank one governed front door per modality instead of a proliferation of bilateral connections with inconsistent controls.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Apigee inbound/outbound API gateway</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MuleSoft/WebMethods integration</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Amazon API Gateway via Modyo Connect</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EKS/Istio service edge</a:t>
                      </a:r>
                    </a:p>
                  </a:txBody>
                  <a:tcPr marL="82000" marR="82000" marT="38000" marB="38000" anchor="ctr">
                    <a:solidFill>
                      <a:srgbClr val="FFFFFF"/>
                    </a:solidFill>
                  </a:tcPr>
                </a:tc>
                <a:extLst>
                  <a:ext uri="{0D108BD9-81ED-4DB2-BD59-A6C34878D82A}">
                    <a16:rowId xmlns:a16="http://schemas.microsoft.com/office/drawing/2014/main" val="10001"/>
                  </a:ext>
                </a:extLst>
              </a:tr>
              <a:tr h="765560">
                <a:tc>
                  <a:txBody>
                    <a:bodyPr/>
                    <a:lstStyle/>
                    <a:p>
                      <a:pPr marL="0" indent="0" algn="l">
                        <a:lnSpc>
                          <a:spcPct val="104000"/>
                        </a:lnSpc>
                        <a:spcBef>
                          <a:spcPts val="30"/>
                        </a:spcBef>
                        <a:buNone/>
                      </a:pPr>
                      <a:r>
                        <a:rPr lang="en-US" sz="900" b="1" i="0" dirty="0">
                          <a:solidFill>
                            <a:srgbClr val="9B7BC7"/>
                          </a:solidFill>
                          <a:latin typeface="Graphik"/>
                          <a:cs typeface="Graphik"/>
                        </a:rPr>
                        <a:t>4.2  </a:t>
                      </a:r>
                      <a:r>
                        <a:rPr lang="en-US" sz="1050" b="1" i="0" dirty="0">
                          <a:solidFill>
                            <a:srgbClr val="7500C0"/>
                          </a:solidFill>
                          <a:latin typeface="Graphik"/>
                          <a:cs typeface="Graphik"/>
                        </a:rPr>
                        <a:t>Outbound Gateway Services</a:t>
                      </a:r>
                    </a:p>
                  </a:txBody>
                  <a:tcPr marL="82000" marR="82000" marT="38000" marB="38000" anchor="ctr">
                    <a:solidFill>
                      <a:srgbClr val="E9DEF4"/>
                    </a:solidFill>
                  </a:tcPr>
                </a:tc>
                <a:tc>
                  <a:txBody>
                    <a:bodyPr/>
                    <a:lstStyle/>
                    <a:p>
                      <a:pPr marL="0" indent="0" algn="l">
                        <a:lnSpc>
                          <a:spcPct val="108000"/>
                        </a:lnSpc>
                        <a:spcBef>
                          <a:spcPts val="30"/>
                        </a:spcBef>
                        <a:buNone/>
                      </a:pPr>
                      <a:r>
                        <a:rPr lang="en-US" sz="1000" b="0" i="0" dirty="0">
                          <a:solidFill>
                            <a:srgbClr val="2B2B2B"/>
                          </a:solidFill>
                          <a:latin typeface="Graphik"/>
                          <a:cs typeface="Graphik"/>
                        </a:rPr>
                        <a:t>Managed exit points for bank-originated traffic to downstream counterparties, across API, file and event channels, including transaction switching to schemes and processors.</a:t>
                      </a:r>
                    </a:p>
                  </a:txBody>
                  <a:tcPr marL="82000" marR="82000" marT="38000" marB="38000" anchor="ctr">
                    <a:solidFill>
                      <a:srgbClr val="F6F2FB"/>
                    </a:solidFill>
                  </a:tcPr>
                </a:tc>
                <a:tc>
                  <a:txBody>
                    <a:bodyPr/>
                    <a:lstStyle/>
                    <a:p>
                      <a:pPr marL="0" indent="0" algn="l">
                        <a:lnSpc>
                          <a:spcPct val="108000"/>
                        </a:lnSpc>
                        <a:spcBef>
                          <a:spcPts val="30"/>
                        </a:spcBef>
                        <a:buNone/>
                      </a:pPr>
                      <a:r>
                        <a:rPr lang="en-US" sz="1000" b="0" i="0" dirty="0">
                          <a:solidFill>
                            <a:srgbClr val="444444"/>
                          </a:solidFill>
                          <a:latin typeface="Graphik"/>
                          <a:cs typeface="Graphik"/>
                        </a:rPr>
                        <a:t>Externalises counterparty-specific connectivity and credentials from application code, so a provider can be replaced without touching business services.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Apigee inbound/outbound API gateway</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MuleSoft/WebMethods integration</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Amazon API Gateway via Modyo Connect</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EKS/Istio service edge</a:t>
                      </a:r>
                    </a:p>
                  </a:txBody>
                  <a:tcPr marL="82000" marR="82000" marT="38000" marB="38000" anchor="ctr">
                    <a:solidFill>
                      <a:srgbClr val="F6F2FB"/>
                    </a:solidFill>
                  </a:tcPr>
                </a:tc>
                <a:extLst>
                  <a:ext uri="{0D108BD9-81ED-4DB2-BD59-A6C34878D82A}">
                    <a16:rowId xmlns:a16="http://schemas.microsoft.com/office/drawing/2014/main" val="10002"/>
                  </a:ext>
                </a:extLst>
              </a:tr>
              <a:tr h="933200">
                <a:tc>
                  <a:txBody>
                    <a:bodyPr/>
                    <a:lstStyle/>
                    <a:p>
                      <a:pPr marL="0" indent="0" algn="l">
                        <a:lnSpc>
                          <a:spcPct val="104000"/>
                        </a:lnSpc>
                        <a:spcBef>
                          <a:spcPts val="30"/>
                        </a:spcBef>
                        <a:buNone/>
                      </a:pPr>
                      <a:r>
                        <a:rPr lang="en-US" sz="900" b="1" i="0" dirty="0">
                          <a:solidFill>
                            <a:srgbClr val="9B7BC7"/>
                          </a:solidFill>
                          <a:latin typeface="Graphik"/>
                          <a:cs typeface="Graphik"/>
                        </a:rPr>
                        <a:t>4.3  </a:t>
                      </a:r>
                      <a:r>
                        <a:rPr lang="en-US" sz="1050" b="1" i="0" dirty="0">
                          <a:solidFill>
                            <a:srgbClr val="7500C0"/>
                          </a:solidFill>
                          <a:latin typeface="Graphik"/>
                          <a:cs typeface="Graphik"/>
                        </a:rPr>
                        <a:t>Ecosystem &amp; Open Banking Edge</a:t>
                      </a:r>
                    </a:p>
                  </a:txBody>
                  <a:tcPr marL="82000" marR="82000" marT="38000" marB="38000" anchor="ctr">
                    <a:solidFill>
                      <a:srgbClr val="EFE7F7"/>
                    </a:solidFill>
                  </a:tcPr>
                </a:tc>
                <a:tc>
                  <a:txBody>
                    <a:bodyPr/>
                    <a:lstStyle/>
                    <a:p>
                      <a:pPr marL="0" indent="0" algn="l">
                        <a:lnSpc>
                          <a:spcPct val="108000"/>
                        </a:lnSpc>
                        <a:spcBef>
                          <a:spcPts val="30"/>
                        </a:spcBef>
                        <a:buNone/>
                      </a:pPr>
                      <a:r>
                        <a:rPr lang="en-US" sz="1000" b="0" i="0" dirty="0">
                          <a:solidFill>
                            <a:srgbClr val="2B2B2B"/>
                          </a:solidFill>
                          <a:latin typeface="Graphik"/>
                          <a:cs typeface="Graphik"/>
                        </a:rPr>
                        <a:t>Specialised external-facing edges for regulated open banking traffic, partner onboarding and controlled experimentation, including filtering edges and marketplace exposure.</a:t>
                      </a:r>
                    </a:p>
                  </a:txBody>
                  <a:tcPr marL="82000" marR="82000" marT="38000" marB="38000" anchor="ctr">
                    <a:solidFill>
                      <a:srgbClr val="FFFFFF"/>
                    </a:solidFill>
                  </a:tcPr>
                </a:tc>
                <a:tc>
                  <a:txBody>
                    <a:bodyPr/>
                    <a:lstStyle/>
                    <a:p>
                      <a:pPr marL="0" indent="0" algn="l">
                        <a:lnSpc>
                          <a:spcPct val="108000"/>
                        </a:lnSpc>
                        <a:spcBef>
                          <a:spcPts val="30"/>
                        </a:spcBef>
                        <a:buNone/>
                      </a:pPr>
                      <a:r>
                        <a:rPr lang="en-US" sz="1000" b="0" i="0" dirty="0">
                          <a:solidFill>
                            <a:srgbClr val="444444"/>
                          </a:solidFill>
                          <a:latin typeface="Graphik"/>
                          <a:cs typeface="Graphik"/>
                        </a:rPr>
                        <a:t>Where the interoperability layer becomes a business channel: it turns internal capabilities into consumable, contracted products for third parties.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No specific Open Banking marketplace/partner sandbox product is evidenced</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adjacent capabilities use Apigee, API Gateway, BIAN APIs and sandbox/UAT environments</a:t>
                      </a:r>
                    </a:p>
                  </a:txBody>
                  <a:tcPr marL="82000" marR="82000" marT="38000" marB="38000" anchor="ctr">
                    <a:solidFill>
                      <a:srgbClr val="FFFFFF"/>
                    </a:solidFill>
                  </a:tcPr>
                </a:tc>
                <a:extLst>
                  <a:ext uri="{0D108BD9-81ED-4DB2-BD59-A6C34878D82A}">
                    <a16:rowId xmlns:a16="http://schemas.microsoft.com/office/drawing/2014/main" val="10003"/>
                  </a:ext>
                </a:extLst>
              </a:tr>
              <a:tr h="1100840">
                <a:tc>
                  <a:txBody>
                    <a:bodyPr/>
                    <a:lstStyle/>
                    <a:p>
                      <a:pPr marL="0" indent="0" algn="l">
                        <a:lnSpc>
                          <a:spcPct val="104000"/>
                        </a:lnSpc>
                        <a:spcBef>
                          <a:spcPts val="30"/>
                        </a:spcBef>
                        <a:buNone/>
                      </a:pPr>
                      <a:r>
                        <a:rPr lang="en-US" sz="900" b="1" i="0" dirty="0">
                          <a:solidFill>
                            <a:srgbClr val="9B7BC7"/>
                          </a:solidFill>
                          <a:latin typeface="Graphik"/>
                          <a:cs typeface="Graphik"/>
                        </a:rPr>
                        <a:t>4.4  </a:t>
                      </a:r>
                      <a:r>
                        <a:rPr lang="en-US" sz="1050" b="1" i="0" dirty="0">
                          <a:solidFill>
                            <a:srgbClr val="7500C0"/>
                          </a:solidFill>
                          <a:latin typeface="Graphik"/>
                          <a:cs typeface="Graphik"/>
                        </a:rPr>
                        <a:t>Perimeter Zoning &amp; Connectivity</a:t>
                      </a:r>
                    </a:p>
                  </a:txBody>
                  <a:tcPr marL="82000" marR="82000" marT="38000" marB="38000" anchor="ctr">
                    <a:solidFill>
                      <a:srgbClr val="E9DEF4"/>
                    </a:solidFill>
                  </a:tcPr>
                </a:tc>
                <a:tc>
                  <a:txBody>
                    <a:bodyPr/>
                    <a:lstStyle/>
                    <a:p>
                      <a:pPr marL="0" indent="0" algn="l">
                        <a:lnSpc>
                          <a:spcPct val="108000"/>
                        </a:lnSpc>
                        <a:spcBef>
                          <a:spcPts val="30"/>
                        </a:spcBef>
                        <a:buNone/>
                      </a:pPr>
                      <a:r>
                        <a:rPr lang="en-US" sz="1000" b="0" i="0" dirty="0">
                          <a:solidFill>
                            <a:srgbClr val="2B2B2B"/>
                          </a:solidFill>
                          <a:latin typeface="Graphik"/>
                          <a:cs typeface="Graphik"/>
                        </a:rPr>
                        <a:t>Network segmentation, DMZ exposure model, transport security termination and connectivity management underpinning all gateway modalities.</a:t>
                      </a:r>
                    </a:p>
                  </a:txBody>
                  <a:tcPr marL="82000" marR="82000" marT="38000" marB="38000" anchor="ctr">
                    <a:solidFill>
                      <a:srgbClr val="F6F2FB"/>
                    </a:solidFill>
                  </a:tcPr>
                </a:tc>
                <a:tc>
                  <a:txBody>
                    <a:bodyPr/>
                    <a:lstStyle/>
                    <a:p>
                      <a:pPr marL="0" indent="0" algn="l">
                        <a:lnSpc>
                          <a:spcPct val="108000"/>
                        </a:lnSpc>
                        <a:spcBef>
                          <a:spcPts val="30"/>
                        </a:spcBef>
                        <a:buNone/>
                      </a:pPr>
                      <a:r>
                        <a:rPr lang="en-US" sz="1000" b="0" i="0" dirty="0">
                          <a:solidFill>
                            <a:srgbClr val="444444"/>
                          </a:solidFill>
                          <a:latin typeface="Graphik"/>
                          <a:cs typeface="Graphik"/>
                        </a:rPr>
                        <a:t>Establishes the trust topology within which every other gateway capability operates; without it, decoupling increases exposure rather than containing it.</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Imperva WAF / Cloud Armor</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AWS Shield</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Zscaler TLS termination</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VPN/Direct Connect</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Tetration rules</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AWS/GCP/on-prem network zoning</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13" name="Rectangle 12">
            <a:extLst>
              <a:ext uri="{FF2B5EF4-FFF2-40B4-BE49-F238E27FC236}">
                <a16:creationId xmlns:a16="http://schemas.microsoft.com/office/drawing/2014/main" id="{F5F9DC3A-E141-B89D-4867-139552C4ED48}"/>
              </a:ext>
            </a:extLst>
          </p:cNvPr>
          <p:cNvSpPr/>
          <p:nvPr/>
        </p:nvSpPr>
        <p:spPr>
          <a:xfrm>
            <a:off x="635000" y="6205199"/>
            <a:ext cx="1174750" cy="52365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1200" dirty="0"/>
              <a:t>Capability Assessment</a:t>
            </a:r>
          </a:p>
        </p:txBody>
      </p:sp>
    </p:spTree>
    <p:extLst>
      <p:ext uri="{BB962C8B-B14F-4D97-AF65-F5344CB8AC3E}">
        <p14:creationId xmlns:p14="http://schemas.microsoft.com/office/powerpoint/2010/main" val="11453989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All rights reserved.</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F8EB60C-7CC2-49F0-B2EE-C81F067DE041}" type="slidenum">
              <a:rPr kumimoji="0" lang="en-US" sz="1800" b="0" i="0" u="none" strike="noStrike" kern="1200" cap="none" spc="0" normalizeH="0" baseline="0" noProof="0" smtClean="0">
                <a:ln>
                  <a:noFill/>
                </a:ln>
                <a:solidFill>
                  <a:srgbClr val="000000"/>
                </a:solidFill>
                <a:effectLst/>
                <a:uLnTx/>
                <a:uFillTx/>
                <a:latin typeface="Graphi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126" name="TextBox 125">
            <a:extLst>
              <a:ext uri="{FF2B5EF4-FFF2-40B4-BE49-F238E27FC236}">
                <a16:creationId xmlns:a16="http://schemas.microsoft.com/office/drawing/2014/main" id="{EEC953B8-A3F6-4C3F-6CE0-DB056ED72F5B}"/>
              </a:ext>
            </a:extLst>
          </p:cNvPr>
          <p:cNvSpPr txBox="1"/>
          <p:nvPr>
            <p:extLst>
              <p:ext uri="{1162E1C5-73C7-4A58-AE30-91384D911F3F}">
                <p184:classification xmlns:p184="http://schemas.microsoft.com/office/powerpoint/2018/4/main" val="hdr"/>
              </p:ext>
            </p:extLst>
          </p:nvPr>
        </p:nvSpPr>
        <p:spPr>
          <a:xfrm>
            <a:off x="4610601" y="78170"/>
            <a:ext cx="3641223" cy="153888"/>
          </a:xfrm>
          <a:prstGeom prst="rect">
            <a:avLst/>
          </a:prstGeom>
        </p:spPr>
        <p:txBody>
          <a:bodyPr horzOverflow="overflow"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***Confidential - For Company Internal Use Only***</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Interoperability Architecture </a:t>
            </a:r>
            <a:r>
              <a:rPr kumimoji="0" lang="en-US" sz="2400" b="1" i="0" u="none" strike="noStrike" kern="1200" cap="none" spc="0" normalizeH="0" baseline="0" noProof="0">
                <a:ln>
                  <a:noFill/>
                </a:ln>
                <a:solidFill>
                  <a:srgbClr val="000000"/>
                </a:solidFill>
                <a:effectLst/>
                <a:uLnTx/>
                <a:uFillTx/>
                <a:latin typeface="Graphik"/>
                <a:ea typeface="+mj-ea"/>
                <a:cs typeface="+mj-cs"/>
              </a:rPr>
              <a:t>| API Management</a:t>
            </a: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n-US" sz="1000" b="1" i="0" dirty="0">
                <a:solidFill>
                  <a:srgbClr val="C00000"/>
                </a:solidFill>
                <a:latin typeface="Graphik"/>
                <a:cs typeface="Graphik"/>
              </a:rPr>
              <a:t>KERNEL &amp; PLATFORM    |    4 SUB-CAPABILITIES</a:t>
            </a:r>
          </a:p>
        </p:txBody>
      </p:sp>
      <p:sp>
        <p:nvSpPr>
          <p:cNvPr id="130" name="KBadge"/>
          <p:cNvSpPr/>
          <p:nvPr/>
        </p:nvSpPr>
        <p:spPr>
          <a:xfrm>
            <a:off x="10980000" y="392000"/>
            <a:ext cx="300000" cy="300000"/>
          </a:xfrm>
          <a:prstGeom prst="ellipse">
            <a:avLst/>
          </a:prstGeom>
          <a:solidFill>
            <a:srgbClr val="C00000"/>
          </a:solidFill>
        </p:spPr>
        <p:txBody>
          <a:bodyPr anchor="ctr"/>
          <a:lstStyle/>
          <a:p>
            <a:pPr marL="0" indent="0" algn="ctr">
              <a:lnSpc>
                <a:spcPct val="104000"/>
              </a:lnSpc>
              <a:spcBef>
                <a:spcPts val="30"/>
              </a:spcBef>
              <a:buNone/>
            </a:pPr>
            <a:r>
              <a:rPr lang="en-US" sz="1400" b="1" i="0" dirty="0">
                <a:solidFill>
                  <a:srgbClr val="FFFFFF"/>
                </a:solidFill>
                <a:latin typeface="Graphik"/>
                <a:cs typeface="Graphik"/>
              </a:rPr>
              <a:t>K</a:t>
            </a:r>
          </a:p>
        </p:txBody>
      </p:sp>
      <p:graphicFrame>
        <p:nvGraphicFramePr>
          <p:cNvPr id="100" name="DetailTable"/>
          <p:cNvGraphicFramePr>
            <a:graphicFrameLocks noGrp="1"/>
          </p:cNvGraphicFramePr>
          <p:nvPr>
            <p:extLst>
              <p:ext uri="{D42A27DB-BD31-4B8C-83A1-F6EECF244321}">
                <p14:modId xmlns:p14="http://schemas.microsoft.com/office/powerpoint/2010/main" val="177019897"/>
              </p:ext>
            </p:extLst>
          </p:nvPr>
        </p:nvGraphicFramePr>
        <p:xfrm>
          <a:off x="381000" y="1015000"/>
          <a:ext cx="11430000" cy="436808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n-US" sz="1000" b="1" i="0" dirty="0">
                          <a:solidFill>
                            <a:srgbClr val="FFFFFF"/>
                          </a:solidFill>
                          <a:latin typeface="Graphik"/>
                          <a:cs typeface="Graphik"/>
                        </a:rPr>
                        <a:t>Sub-capability</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Description</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Purpose</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Solutions in Coppel</a:t>
                      </a:r>
                    </a:p>
                  </a:txBody>
                  <a:tcPr marL="82000" marR="82000" marT="38000" marB="38000" anchor="ctr">
                    <a:solidFill>
                      <a:srgbClr val="7500C0"/>
                    </a:solidFill>
                  </a:tcPr>
                </a:tc>
                <a:extLst>
                  <a:ext uri="{0D108BD9-81ED-4DB2-BD59-A6C34878D82A}">
                    <a16:rowId xmlns:a16="http://schemas.microsoft.com/office/drawing/2014/main" val="10000"/>
                  </a:ext>
                </a:extLst>
              </a:tr>
              <a:tr h="933200">
                <a:tc>
                  <a:txBody>
                    <a:bodyPr/>
                    <a:lstStyle/>
                    <a:p>
                      <a:pPr marL="0" indent="0" algn="l">
                        <a:lnSpc>
                          <a:spcPct val="104000"/>
                        </a:lnSpc>
                        <a:spcBef>
                          <a:spcPts val="30"/>
                        </a:spcBef>
                        <a:buNone/>
                      </a:pPr>
                      <a:r>
                        <a:rPr lang="en-US" sz="900" b="1" i="0" dirty="0">
                          <a:solidFill>
                            <a:srgbClr val="9B7BC7"/>
                          </a:solidFill>
                          <a:latin typeface="Graphik"/>
                          <a:cs typeface="Graphik"/>
                        </a:rPr>
                        <a:t>5.1  </a:t>
                      </a:r>
                      <a:r>
                        <a:rPr lang="en-US" sz="1050" b="1" i="0" dirty="0">
                          <a:solidFill>
                            <a:srgbClr val="7500C0"/>
                          </a:solidFill>
                          <a:latin typeface="Graphik"/>
                          <a:cs typeface="Graphik"/>
                        </a:rPr>
                        <a:t>API Gateway &amp; Runtime Mediation</a:t>
                      </a:r>
                    </a:p>
                  </a:txBody>
                  <a:tcPr marL="82000" marR="82000" marT="38000" marB="38000" anchor="ctr">
                    <a:solidFill>
                      <a:srgbClr val="EFE7F7"/>
                    </a:solidFill>
                  </a:tcPr>
                </a:tc>
                <a:tc>
                  <a:txBody>
                    <a:bodyPr/>
                    <a:lstStyle/>
                    <a:p>
                      <a:pPr marL="0" indent="0" algn="l">
                        <a:lnSpc>
                          <a:spcPct val="108000"/>
                        </a:lnSpc>
                        <a:spcBef>
                          <a:spcPts val="30"/>
                        </a:spcBef>
                        <a:buNone/>
                      </a:pPr>
                      <a:r>
                        <a:rPr lang="en-US" sz="1000" b="0" i="0" dirty="0">
                          <a:solidFill>
                            <a:srgbClr val="2B2B2B"/>
                          </a:solidFill>
                          <a:latin typeface="Graphik"/>
                          <a:cs typeface="Graphik"/>
                        </a:rPr>
                        <a:t>Runtime plane that terminates, validates, mediates and routes API traffic between consumers and providers, applying policy at the point of invocation rather than inside application code.</a:t>
                      </a:r>
                    </a:p>
                  </a:txBody>
                  <a:tcPr marL="82000" marR="82000" marT="38000" marB="38000" anchor="ctr">
                    <a:solidFill>
                      <a:srgbClr val="FFFFFF"/>
                    </a:solidFill>
                  </a:tcPr>
                </a:tc>
                <a:tc>
                  <a:txBody>
                    <a:bodyPr/>
                    <a:lstStyle/>
                    <a:p>
                      <a:pPr marL="0" indent="0" algn="l">
                        <a:lnSpc>
                          <a:spcPct val="108000"/>
                        </a:lnSpc>
                        <a:spcBef>
                          <a:spcPts val="30"/>
                        </a:spcBef>
                        <a:buNone/>
                      </a:pPr>
                      <a:r>
                        <a:rPr lang="en-US" sz="1000" b="0" i="0" dirty="0">
                          <a:solidFill>
                            <a:srgbClr val="444444"/>
                          </a:solidFill>
                          <a:latin typeface="Graphik"/>
                          <a:cs typeface="Graphik"/>
                        </a:rPr>
                        <a:t>Enforces the contract at runtime, so decoupling is guaranteed by the platform instead of by developer discipline.</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Apigee API Gateway/API Management</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MuleSoft integration/orchestration</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WebMethods BPM/BRM</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BIAN-aligned APIs</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Transact OFS/IRIS REST APIs</a:t>
                      </a:r>
                    </a:p>
                  </a:txBody>
                  <a:tcPr marL="82000" marR="82000" marT="38000" marB="38000" anchor="ctr">
                    <a:solidFill>
                      <a:srgbClr val="FFFFFF"/>
                    </a:solidFill>
                  </a:tcPr>
                </a:tc>
                <a:extLst>
                  <a:ext uri="{0D108BD9-81ED-4DB2-BD59-A6C34878D82A}">
                    <a16:rowId xmlns:a16="http://schemas.microsoft.com/office/drawing/2014/main" val="10001"/>
                  </a:ext>
                </a:extLst>
              </a:tr>
              <a:tr h="1100840">
                <a:tc>
                  <a:txBody>
                    <a:bodyPr/>
                    <a:lstStyle/>
                    <a:p>
                      <a:pPr marL="0" indent="0" algn="l">
                        <a:lnSpc>
                          <a:spcPct val="104000"/>
                        </a:lnSpc>
                        <a:spcBef>
                          <a:spcPts val="30"/>
                        </a:spcBef>
                        <a:buNone/>
                      </a:pPr>
                      <a:r>
                        <a:rPr lang="en-US" sz="900" b="1" i="0" dirty="0">
                          <a:solidFill>
                            <a:srgbClr val="9B7BC7"/>
                          </a:solidFill>
                          <a:latin typeface="Graphik"/>
                          <a:cs typeface="Graphik"/>
                        </a:rPr>
                        <a:t>5.2  </a:t>
                      </a:r>
                      <a:r>
                        <a:rPr lang="en-US" sz="1050" b="1" i="0" dirty="0">
                          <a:solidFill>
                            <a:srgbClr val="7500C0"/>
                          </a:solidFill>
                          <a:latin typeface="Graphik"/>
                          <a:cs typeface="Graphik"/>
                        </a:rPr>
                        <a:t>API Lifecycle Management</a:t>
                      </a:r>
                    </a:p>
                  </a:txBody>
                  <a:tcPr marL="82000" marR="82000" marT="38000" marB="38000" anchor="ctr">
                    <a:solidFill>
                      <a:srgbClr val="E9DEF4"/>
                    </a:solidFill>
                  </a:tcPr>
                </a:tc>
                <a:tc>
                  <a:txBody>
                    <a:bodyPr/>
                    <a:lstStyle/>
                    <a:p>
                      <a:pPr marL="0" indent="0" algn="l">
                        <a:lnSpc>
                          <a:spcPct val="108000"/>
                        </a:lnSpc>
                        <a:spcBef>
                          <a:spcPts val="30"/>
                        </a:spcBef>
                        <a:buNone/>
                      </a:pPr>
                      <a:r>
                        <a:rPr lang="en-US" sz="1000" b="0" i="0" dirty="0">
                          <a:solidFill>
                            <a:srgbClr val="2B2B2B"/>
                          </a:solidFill>
                          <a:latin typeface="Graphik"/>
                          <a:cs typeface="Graphik"/>
                        </a:rPr>
                        <a:t>Control plane that governs an API from design and contract definition through publication, versioning, change notification and eventual retirement.</a:t>
                      </a:r>
                    </a:p>
                  </a:txBody>
                  <a:tcPr marL="82000" marR="82000" marT="38000" marB="38000" anchor="ctr">
                    <a:solidFill>
                      <a:srgbClr val="F6F2FB"/>
                    </a:solidFill>
                  </a:tcPr>
                </a:tc>
                <a:tc>
                  <a:txBody>
                    <a:bodyPr/>
                    <a:lstStyle/>
                    <a:p>
                      <a:pPr marL="0" indent="0" algn="l">
                        <a:lnSpc>
                          <a:spcPct val="108000"/>
                        </a:lnSpc>
                        <a:spcBef>
                          <a:spcPts val="30"/>
                        </a:spcBef>
                        <a:buNone/>
                      </a:pPr>
                      <a:r>
                        <a:rPr lang="en-US" sz="1000" b="0" i="0" dirty="0">
                          <a:solidFill>
                            <a:srgbClr val="444444"/>
                          </a:solidFill>
                          <a:latin typeface="Graphik"/>
                          <a:cs typeface="Graphik"/>
                        </a:rPr>
                        <a:t>Turns interfaces into managed enterprise assets with a controlled change path, which is the precondition for reuse across entities and countries.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BIAN API standards</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Apigee API lifecycle/governance</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OpenAPI/Swagger-style API documentation for OfiWeb/Canales</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API change controlled by architecture governance</a:t>
                      </a:r>
                    </a:p>
                  </a:txBody>
                  <a:tcPr marL="82000" marR="82000" marT="38000" marB="38000" anchor="ctr">
                    <a:solidFill>
                      <a:srgbClr val="F6F2FB"/>
                    </a:solidFill>
                  </a:tcPr>
                </a:tc>
                <a:extLst>
                  <a:ext uri="{0D108BD9-81ED-4DB2-BD59-A6C34878D82A}">
                    <a16:rowId xmlns:a16="http://schemas.microsoft.com/office/drawing/2014/main" val="10002"/>
                  </a:ext>
                </a:extLst>
              </a:tr>
              <a:tr h="1100840">
                <a:tc>
                  <a:txBody>
                    <a:bodyPr/>
                    <a:lstStyle/>
                    <a:p>
                      <a:pPr marL="0" indent="0" algn="l">
                        <a:lnSpc>
                          <a:spcPct val="104000"/>
                        </a:lnSpc>
                        <a:spcBef>
                          <a:spcPts val="30"/>
                        </a:spcBef>
                        <a:buNone/>
                      </a:pPr>
                      <a:r>
                        <a:rPr lang="en-US" sz="900" b="1" i="0" dirty="0">
                          <a:solidFill>
                            <a:srgbClr val="9B7BC7"/>
                          </a:solidFill>
                          <a:latin typeface="Graphik"/>
                          <a:cs typeface="Graphik"/>
                        </a:rPr>
                        <a:t>5.3  </a:t>
                      </a:r>
                      <a:r>
                        <a:rPr lang="en-US" sz="1050" b="1" i="0" dirty="0">
                          <a:solidFill>
                            <a:srgbClr val="7500C0"/>
                          </a:solidFill>
                          <a:latin typeface="Graphik"/>
                          <a:cs typeface="Graphik"/>
                        </a:rPr>
                        <a:t>API Manager (Platform Administration)</a:t>
                      </a:r>
                    </a:p>
                  </a:txBody>
                  <a:tcPr marL="82000" marR="82000" marT="38000" marB="38000" anchor="ctr">
                    <a:solidFill>
                      <a:srgbClr val="EFE7F7"/>
                    </a:solidFill>
                  </a:tcPr>
                </a:tc>
                <a:tc>
                  <a:txBody>
                    <a:bodyPr/>
                    <a:lstStyle/>
                    <a:p>
                      <a:pPr marL="0" indent="0" algn="l">
                        <a:lnSpc>
                          <a:spcPct val="108000"/>
                        </a:lnSpc>
                        <a:spcBef>
                          <a:spcPts val="30"/>
                        </a:spcBef>
                        <a:buNone/>
                      </a:pPr>
                      <a:r>
                        <a:rPr lang="en-US" sz="1000" b="0" i="0" dirty="0">
                          <a:solidFill>
                            <a:srgbClr val="2B2B2B"/>
                          </a:solidFill>
                          <a:latin typeface="Graphik"/>
                          <a:cs typeface="Graphik"/>
                        </a:rPr>
                        <a:t>Administration, policy configuration, operation and commercial instrumentation of the API management platform itself, across on-premise, cloud or hybrid topologies.</a:t>
                      </a:r>
                    </a:p>
                  </a:txBody>
                  <a:tcPr marL="82000" marR="82000" marT="38000" marB="38000" anchor="ctr">
                    <a:solidFill>
                      <a:srgbClr val="FFFFFF"/>
                    </a:solidFill>
                  </a:tcPr>
                </a:tc>
                <a:tc>
                  <a:txBody>
                    <a:bodyPr/>
                    <a:lstStyle/>
                    <a:p>
                      <a:pPr marL="0" indent="0" algn="l">
                        <a:lnSpc>
                          <a:spcPct val="108000"/>
                        </a:lnSpc>
                        <a:spcBef>
                          <a:spcPts val="30"/>
                        </a:spcBef>
                        <a:buNone/>
                      </a:pPr>
                      <a:r>
                        <a:rPr lang="en-US" sz="1000" b="0" i="0" dirty="0">
                          <a:solidFill>
                            <a:srgbClr val="444444"/>
                          </a:solidFill>
                          <a:latin typeface="Graphik"/>
                          <a:cs typeface="Graphik"/>
                        </a:rPr>
                        <a:t>Keeps policy centrally administered and consistently applied, so security and traffic rules do not fragment per API team.</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Apigee platform administration and policies</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DataDog/API monitoring</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DevSecOps pipelines</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GCP-hosted Apigee with AWS/on-prem providers</a:t>
                      </a:r>
                    </a:p>
                  </a:txBody>
                  <a:tcPr marL="82000" marR="82000" marT="38000" marB="38000" anchor="ctr">
                    <a:solidFill>
                      <a:srgbClr val="FFFFFF"/>
                    </a:solidFill>
                  </a:tcPr>
                </a:tc>
                <a:extLst>
                  <a:ext uri="{0D108BD9-81ED-4DB2-BD59-A6C34878D82A}">
                    <a16:rowId xmlns:a16="http://schemas.microsoft.com/office/drawing/2014/main" val="10003"/>
                  </a:ext>
                </a:extLst>
              </a:tr>
              <a:tr h="933200">
                <a:tc>
                  <a:txBody>
                    <a:bodyPr/>
                    <a:lstStyle/>
                    <a:p>
                      <a:pPr marL="0" indent="0" algn="l">
                        <a:lnSpc>
                          <a:spcPct val="104000"/>
                        </a:lnSpc>
                        <a:spcBef>
                          <a:spcPts val="30"/>
                        </a:spcBef>
                        <a:buNone/>
                      </a:pPr>
                      <a:r>
                        <a:rPr lang="en-US" sz="900" b="1" i="0" dirty="0">
                          <a:solidFill>
                            <a:srgbClr val="9B7BC7"/>
                          </a:solidFill>
                          <a:latin typeface="Graphik"/>
                          <a:cs typeface="Graphik"/>
                        </a:rPr>
                        <a:t>5.4  </a:t>
                      </a:r>
                      <a:r>
                        <a:rPr lang="en-US" sz="1050" b="1" i="0" dirty="0">
                          <a:solidFill>
                            <a:srgbClr val="7500C0"/>
                          </a:solidFill>
                          <a:latin typeface="Graphik"/>
                          <a:cs typeface="Graphik"/>
                        </a:rPr>
                        <a:t>Developer Portal &amp; Catalogue</a:t>
                      </a:r>
                    </a:p>
                  </a:txBody>
                  <a:tcPr marL="82000" marR="82000" marT="38000" marB="38000" anchor="ctr">
                    <a:solidFill>
                      <a:srgbClr val="E9DEF4"/>
                    </a:solidFill>
                  </a:tcPr>
                </a:tc>
                <a:tc>
                  <a:txBody>
                    <a:bodyPr/>
                    <a:lstStyle/>
                    <a:p>
                      <a:pPr marL="0" indent="0" algn="l">
                        <a:lnSpc>
                          <a:spcPct val="108000"/>
                        </a:lnSpc>
                        <a:spcBef>
                          <a:spcPts val="30"/>
                        </a:spcBef>
                        <a:buNone/>
                      </a:pPr>
                      <a:r>
                        <a:rPr lang="en-US" sz="1000" b="0" i="0" dirty="0">
                          <a:solidFill>
                            <a:srgbClr val="2B2B2B"/>
                          </a:solidFill>
                          <a:latin typeface="Graphik"/>
                          <a:cs typeface="Graphik"/>
                        </a:rPr>
                        <a:t>Self-service surface where internal and external developers discover, evaluate, register for and support themselves on published interfaces.</a:t>
                      </a:r>
                    </a:p>
                  </a:txBody>
                  <a:tcPr marL="82000" marR="82000" marT="38000" marB="38000" anchor="ctr">
                    <a:solidFill>
                      <a:srgbClr val="F6F2FB"/>
                    </a:solidFill>
                  </a:tcPr>
                </a:tc>
                <a:tc>
                  <a:txBody>
                    <a:bodyPr/>
                    <a:lstStyle/>
                    <a:p>
                      <a:pPr marL="0" indent="0" algn="l">
                        <a:lnSpc>
                          <a:spcPct val="108000"/>
                        </a:lnSpc>
                        <a:spcBef>
                          <a:spcPts val="30"/>
                        </a:spcBef>
                        <a:buNone/>
                      </a:pPr>
                      <a:r>
                        <a:rPr lang="en-US" sz="1000" b="0" i="0" dirty="0">
                          <a:solidFill>
                            <a:srgbClr val="444444"/>
                          </a:solidFill>
                          <a:latin typeface="Graphik"/>
                          <a:cs typeface="Graphik"/>
                        </a:rPr>
                        <a:t>Reuse only happens if capabilities are findable. The portal converts a technical inventory into a consumable product catalogue.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API catalogue/governance for Apificación de Canales and OfiWeb</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Apigee as API management plane. No standalone developer portal tool is explicitly evidenced</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38" name="Rectangle 37">
            <a:extLst>
              <a:ext uri="{FF2B5EF4-FFF2-40B4-BE49-F238E27FC236}">
                <a16:creationId xmlns:a16="http://schemas.microsoft.com/office/drawing/2014/main" id="{3DC02E44-86AD-B875-D38B-E9C8B70CD8A9}"/>
              </a:ext>
            </a:extLst>
          </p:cNvPr>
          <p:cNvSpPr>
            <a:spLocks noChangeAspect="1"/>
          </p:cNvSpPr>
          <p:nvPr/>
        </p:nvSpPr>
        <p:spPr>
          <a:xfrm>
            <a:off x="1936750" y="6410745"/>
            <a:ext cx="640842" cy="18450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GAP</a:t>
            </a:r>
          </a:p>
        </p:txBody>
      </p:sp>
      <p:sp>
        <p:nvSpPr>
          <p:cNvPr id="40" name="Rectangle 39">
            <a:extLst>
              <a:ext uri="{FF2B5EF4-FFF2-40B4-BE49-F238E27FC236}">
                <a16:creationId xmlns:a16="http://schemas.microsoft.com/office/drawing/2014/main" id="{DB7BB07F-1495-2B4A-ADB1-BCD2FE3C2482}"/>
              </a:ext>
            </a:extLst>
          </p:cNvPr>
          <p:cNvSpPr>
            <a:spLocks noChangeAspect="1"/>
          </p:cNvSpPr>
          <p:nvPr/>
        </p:nvSpPr>
        <p:spPr>
          <a:xfrm>
            <a:off x="1936750" y="6191083"/>
            <a:ext cx="640842" cy="18450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Target</a:t>
            </a:r>
          </a:p>
        </p:txBody>
      </p:sp>
      <p:sp>
        <p:nvSpPr>
          <p:cNvPr id="42" name="Rectangle 41">
            <a:extLst>
              <a:ext uri="{FF2B5EF4-FFF2-40B4-BE49-F238E27FC236}">
                <a16:creationId xmlns:a16="http://schemas.microsoft.com/office/drawing/2014/main" id="{341D0336-0128-A4EB-3D5E-EB466D5EF4E7}"/>
              </a:ext>
            </a:extLst>
          </p:cNvPr>
          <p:cNvSpPr>
            <a:spLocks noChangeAspect="1"/>
          </p:cNvSpPr>
          <p:nvPr/>
        </p:nvSpPr>
        <p:spPr>
          <a:xfrm>
            <a:off x="1936750" y="6620295"/>
            <a:ext cx="640842" cy="18450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Discard</a:t>
            </a:r>
          </a:p>
        </p:txBody>
      </p:sp>
      <p:sp>
        <p:nvSpPr>
          <p:cNvPr id="44" name="Oval 43">
            <a:extLst>
              <a:ext uri="{FF2B5EF4-FFF2-40B4-BE49-F238E27FC236}">
                <a16:creationId xmlns:a16="http://schemas.microsoft.com/office/drawing/2014/main" id="{EAE07C77-A232-7A60-765B-E0B48F20C1B9}"/>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High</a:t>
            </a:r>
          </a:p>
        </p:txBody>
      </p:sp>
      <p:sp>
        <p:nvSpPr>
          <p:cNvPr id="46" name="Rectangle 45">
            <a:extLst>
              <a:ext uri="{FF2B5EF4-FFF2-40B4-BE49-F238E27FC236}">
                <a16:creationId xmlns:a16="http://schemas.microsoft.com/office/drawing/2014/main" id="{61D647CA-D7F7-F198-0705-A2E423137DFC}"/>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Capability Assessment</a:t>
            </a:r>
          </a:p>
        </p:txBody>
      </p:sp>
      <p:sp>
        <p:nvSpPr>
          <p:cNvPr id="48" name="Rectangle 47">
            <a:extLst>
              <a:ext uri="{FF2B5EF4-FFF2-40B4-BE49-F238E27FC236}">
                <a16:creationId xmlns:a16="http://schemas.microsoft.com/office/drawing/2014/main" id="{7F8376E0-2A1F-590E-04AE-3285EDA55FF7}"/>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Priority</a:t>
            </a:r>
          </a:p>
        </p:txBody>
      </p:sp>
      <p:sp>
        <p:nvSpPr>
          <p:cNvPr id="50" name="Oval 49">
            <a:extLst>
              <a:ext uri="{FF2B5EF4-FFF2-40B4-BE49-F238E27FC236}">
                <a16:creationId xmlns:a16="http://schemas.microsoft.com/office/drawing/2014/main" id="{5A65DD75-704F-4A61-989E-D04744BEEF77}"/>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Med</a:t>
            </a:r>
          </a:p>
        </p:txBody>
      </p:sp>
      <p:sp>
        <p:nvSpPr>
          <p:cNvPr id="52" name="Oval 51">
            <a:extLst>
              <a:ext uri="{FF2B5EF4-FFF2-40B4-BE49-F238E27FC236}">
                <a16:creationId xmlns:a16="http://schemas.microsoft.com/office/drawing/2014/main" id="{081FA659-3D90-4411-A51E-8C82217FB947}"/>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Low</a:t>
            </a:r>
          </a:p>
        </p:txBody>
      </p:sp>
    </p:spTree>
    <p:extLst>
      <p:ext uri="{BB962C8B-B14F-4D97-AF65-F5344CB8AC3E}">
        <p14:creationId xmlns:p14="http://schemas.microsoft.com/office/powerpoint/2010/main" val="11453989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All rights reserved.</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F8EB60C-7CC2-49F0-B2EE-C81F067DE041}" type="slidenum">
              <a:rPr kumimoji="0" lang="en-US" sz="1800" b="0" i="0" u="none" strike="noStrike" kern="1200" cap="none" spc="0" normalizeH="0" baseline="0" noProof="0" smtClean="0">
                <a:ln>
                  <a:noFill/>
                </a:ln>
                <a:solidFill>
                  <a:srgbClr val="000000"/>
                </a:solidFill>
                <a:effectLst/>
                <a:uLnTx/>
                <a:uFillTx/>
                <a:latin typeface="Graphi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126" name="TextBox 125">
            <a:extLst>
              <a:ext uri="{FF2B5EF4-FFF2-40B4-BE49-F238E27FC236}">
                <a16:creationId xmlns:a16="http://schemas.microsoft.com/office/drawing/2014/main" id="{EEC953B8-A3F6-4C3F-6CE0-DB056ED72F5B}"/>
              </a:ext>
            </a:extLst>
          </p:cNvPr>
          <p:cNvSpPr txBox="1"/>
          <p:nvPr>
            <p:extLst>
              <p:ext uri="{1162E1C5-73C7-4A58-AE30-91384D911F3F}">
                <p184:classification xmlns:p184="http://schemas.microsoft.com/office/powerpoint/2018/4/main" val="hdr"/>
              </p:ext>
            </p:extLst>
          </p:nvPr>
        </p:nvSpPr>
        <p:spPr>
          <a:xfrm>
            <a:off x="4610601" y="78170"/>
            <a:ext cx="3641223" cy="153888"/>
          </a:xfrm>
          <a:prstGeom prst="rect">
            <a:avLst/>
          </a:prstGeom>
        </p:spPr>
        <p:txBody>
          <a:bodyPr horzOverflow="overflow"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Body)"/>
                <a:ea typeface="+mn-ea"/>
                <a:cs typeface="Calibri" panose="020F0502020204030204" pitchFamily="34" charset="0"/>
              </a:rPr>
              <a:t>***Confidential - For Company Internal Use Only***</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Interoperability Architecture </a:t>
            </a:r>
            <a:r>
              <a:rPr kumimoji="0" lang="en-US" sz="2400" b="1" i="0" u="none" strike="noStrike" kern="1200" cap="none" spc="0" normalizeH="0" baseline="0" noProof="0">
                <a:ln>
                  <a:noFill/>
                </a:ln>
                <a:solidFill>
                  <a:srgbClr val="000000"/>
                </a:solidFill>
                <a:effectLst/>
                <a:uLnTx/>
                <a:uFillTx/>
                <a:latin typeface="Graphik"/>
                <a:ea typeface="+mj-ea"/>
                <a:cs typeface="+mj-cs"/>
              </a:rPr>
              <a:t>| Omnichannel &amp; Caching Components</a:t>
            </a: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n-US" sz="1000" b="1" i="0" dirty="0">
                <a:solidFill>
                  <a:srgbClr val="7500C0"/>
                </a:solidFill>
                <a:latin typeface="Graphik"/>
                <a:cs typeface="Graphik"/>
              </a:rPr>
              <a:t>DOMAIN CAPABILITY    | 4 SUB-CAPABILITIES</a:t>
            </a:r>
          </a:p>
        </p:txBody>
      </p:sp>
      <p:graphicFrame>
        <p:nvGraphicFramePr>
          <p:cNvPr id="100" name="DetailTable"/>
          <p:cNvGraphicFramePr>
            <a:graphicFrameLocks noGrp="1"/>
          </p:cNvGraphicFramePr>
          <p:nvPr>
            <p:extLst>
              <p:ext uri="{D42A27DB-BD31-4B8C-83A1-F6EECF244321}">
                <p14:modId xmlns:p14="http://schemas.microsoft.com/office/powerpoint/2010/main" val="4165021072"/>
              </p:ext>
            </p:extLst>
          </p:nvPr>
        </p:nvGraphicFramePr>
        <p:xfrm>
          <a:off x="381000" y="1015000"/>
          <a:ext cx="11430000" cy="3883498"/>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n-US" sz="1000" b="1" i="0" dirty="0">
                          <a:solidFill>
                            <a:srgbClr val="FFFFFF"/>
                          </a:solidFill>
                          <a:latin typeface="Graphik"/>
                          <a:cs typeface="Graphik"/>
                        </a:rPr>
                        <a:t>Sub-capability</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Description</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Purpose</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Solutions in Coppel</a:t>
                      </a:r>
                    </a:p>
                  </a:txBody>
                  <a:tcPr marL="82000" marR="82000" marT="38000" marB="38000" anchor="ctr">
                    <a:solidFill>
                      <a:srgbClr val="7500C0"/>
                    </a:solidFill>
                  </a:tcPr>
                </a:tc>
                <a:extLst>
                  <a:ext uri="{0D108BD9-81ED-4DB2-BD59-A6C34878D82A}">
                    <a16:rowId xmlns:a16="http://schemas.microsoft.com/office/drawing/2014/main" val="10000"/>
                  </a:ext>
                </a:extLst>
              </a:tr>
              <a:tr h="933200">
                <a:tc>
                  <a:txBody>
                    <a:bodyPr/>
                    <a:lstStyle/>
                    <a:p>
                      <a:pPr marL="0" indent="0" algn="l">
                        <a:lnSpc>
                          <a:spcPct val="104000"/>
                        </a:lnSpc>
                        <a:spcBef>
                          <a:spcPts val="30"/>
                        </a:spcBef>
                        <a:buNone/>
                      </a:pPr>
                      <a:r>
                        <a:rPr lang="en-US" sz="900" b="1" i="0" dirty="0">
                          <a:solidFill>
                            <a:srgbClr val="9B7BC7"/>
                          </a:solidFill>
                          <a:latin typeface="Graphik"/>
                          <a:cs typeface="Graphik"/>
                        </a:rPr>
                        <a:t>6.1  </a:t>
                      </a:r>
                      <a:r>
                        <a:rPr lang="en-US" sz="1050" b="1" i="0" dirty="0">
                          <a:solidFill>
                            <a:srgbClr val="7500C0"/>
                          </a:solidFill>
                          <a:latin typeface="Graphik"/>
                          <a:cs typeface="Graphik"/>
                        </a:rPr>
                        <a:t>Omnichannel Data Management</a:t>
                      </a:r>
                    </a:p>
                  </a:txBody>
                  <a:tcPr marL="82000" marR="82000" marT="38000" marB="38000" anchor="ctr">
                    <a:solidFill>
                      <a:srgbClr val="EFE7F7"/>
                    </a:solidFill>
                  </a:tcPr>
                </a:tc>
                <a:tc>
                  <a:txBody>
                    <a:bodyPr/>
                    <a:lstStyle/>
                    <a:p>
                      <a:pPr marL="0" indent="0" algn="l">
                        <a:lnSpc>
                          <a:spcPct val="108000"/>
                        </a:lnSpc>
                        <a:spcBef>
                          <a:spcPts val="30"/>
                        </a:spcBef>
                        <a:buNone/>
                      </a:pPr>
                      <a:r>
                        <a:rPr lang="en-US" sz="1000" b="0" i="0" dirty="0">
                          <a:solidFill>
                            <a:srgbClr val="2B2B2B"/>
                          </a:solidFill>
                          <a:latin typeface="Graphik"/>
                          <a:cs typeface="Graphik"/>
                        </a:rPr>
                        <a:t>Temporary and working storage of in-progress interaction data, with access services that let any channel read and continue a journey started elsewhere.</a:t>
                      </a:r>
                    </a:p>
                  </a:txBody>
                  <a:tcPr marL="82000" marR="82000" marT="38000" marB="38000" anchor="ctr">
                    <a:solidFill>
                      <a:srgbClr val="FFFFFF"/>
                    </a:solidFill>
                  </a:tcPr>
                </a:tc>
                <a:tc>
                  <a:txBody>
                    <a:bodyPr/>
                    <a:lstStyle/>
                    <a:p>
                      <a:pPr marL="0" indent="0" algn="l">
                        <a:lnSpc>
                          <a:spcPct val="108000"/>
                        </a:lnSpc>
                        <a:spcBef>
                          <a:spcPts val="30"/>
                        </a:spcBef>
                        <a:buNone/>
                      </a:pPr>
                      <a:r>
                        <a:rPr lang="en-US" sz="1000" b="0" i="0" dirty="0">
                          <a:solidFill>
                            <a:srgbClr val="444444"/>
                          </a:solidFill>
                          <a:latin typeface="Graphik"/>
                          <a:cs typeface="Graphik"/>
                        </a:rPr>
                        <a:t>Makes the journey, rather than the channel, the unit of design - the practical foundation of a genuine omnichannel proposition.</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App BanCoppel, Web/OFI, Sucursal, ATM, CAT and Teller Multi Core</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Apificación de Canales</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Golden Record/Party-CIF</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Apolo onboarding</a:t>
                      </a:r>
                    </a:p>
                  </a:txBody>
                  <a:tcPr marL="82000" marR="82000" marT="38000" marB="38000" anchor="ctr">
                    <a:solidFill>
                      <a:srgbClr val="FFFFFF"/>
                    </a:solidFill>
                  </a:tcPr>
                </a:tc>
                <a:extLst>
                  <a:ext uri="{0D108BD9-81ED-4DB2-BD59-A6C34878D82A}">
                    <a16:rowId xmlns:a16="http://schemas.microsoft.com/office/drawing/2014/main" val="10001"/>
                  </a:ext>
                </a:extLst>
              </a:tr>
              <a:tr h="1100840">
                <a:tc>
                  <a:txBody>
                    <a:bodyPr/>
                    <a:lstStyle/>
                    <a:p>
                      <a:pPr marL="0" indent="0" algn="l">
                        <a:lnSpc>
                          <a:spcPct val="104000"/>
                        </a:lnSpc>
                        <a:spcBef>
                          <a:spcPts val="30"/>
                        </a:spcBef>
                        <a:buNone/>
                      </a:pPr>
                      <a:r>
                        <a:rPr lang="en-US" sz="900" b="1" i="0" dirty="0">
                          <a:solidFill>
                            <a:srgbClr val="9B7BC7"/>
                          </a:solidFill>
                          <a:latin typeface="Graphik"/>
                          <a:cs typeface="Graphik"/>
                        </a:rPr>
                        <a:t>6.2  </a:t>
                      </a:r>
                      <a:r>
                        <a:rPr lang="en-US" sz="1050" b="1" i="0" dirty="0">
                          <a:solidFill>
                            <a:srgbClr val="7500C0"/>
                          </a:solidFill>
                          <a:latin typeface="Graphik"/>
                          <a:cs typeface="Graphik"/>
                        </a:rPr>
                        <a:t>Caching Components</a:t>
                      </a:r>
                    </a:p>
                  </a:txBody>
                  <a:tcPr marL="82000" marR="82000" marT="38000" marB="38000" anchor="ctr">
                    <a:solidFill>
                      <a:srgbClr val="E9DEF4"/>
                    </a:solidFill>
                  </a:tcPr>
                </a:tc>
                <a:tc>
                  <a:txBody>
                    <a:bodyPr/>
                    <a:lstStyle/>
                    <a:p>
                      <a:pPr marL="0" indent="0" algn="l">
                        <a:lnSpc>
                          <a:spcPct val="108000"/>
                        </a:lnSpc>
                        <a:spcBef>
                          <a:spcPts val="30"/>
                        </a:spcBef>
                        <a:buNone/>
                      </a:pPr>
                      <a:r>
                        <a:rPr lang="en-US" sz="1000" b="0" i="0" dirty="0">
                          <a:solidFill>
                            <a:srgbClr val="2B2B2B"/>
                          </a:solidFill>
                          <a:latin typeface="Graphik"/>
                          <a:cs typeface="Graphik"/>
                        </a:rPr>
                        <a:t>Distributed and in-memory caching of reference and frequently accessed data, with invalidation and refresh control, plus acceleration of static content delivery.</a:t>
                      </a:r>
                    </a:p>
                  </a:txBody>
                  <a:tcPr marL="82000" marR="82000" marT="38000" marB="38000" anchor="ctr">
                    <a:solidFill>
                      <a:srgbClr val="F6F2FB"/>
                    </a:solidFill>
                  </a:tcPr>
                </a:tc>
                <a:tc>
                  <a:txBody>
                    <a:bodyPr/>
                    <a:lstStyle/>
                    <a:p>
                      <a:pPr marL="0" indent="0" algn="l">
                        <a:lnSpc>
                          <a:spcPct val="108000"/>
                        </a:lnSpc>
                        <a:spcBef>
                          <a:spcPts val="30"/>
                        </a:spcBef>
                        <a:buNone/>
                      </a:pPr>
                      <a:r>
                        <a:rPr lang="en-US" sz="1000" b="0" i="0" dirty="0">
                          <a:solidFill>
                            <a:srgbClr val="444444"/>
                          </a:solidFill>
                          <a:latin typeface="Graphik"/>
                          <a:cs typeface="Graphik"/>
                        </a:rPr>
                        <a:t>Decouples channel responsiveness from backend capacity, which both protects legacy systems and improves customer experience at the same time.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App BanCoppel/Web/Branch/ATM/CAT/Teller</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Apolo/Modyo</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Apificación de Canales</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Redis</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CloudFront</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Golden Record</a:t>
                      </a:r>
                    </a:p>
                  </a:txBody>
                  <a:tcPr marL="82000" marR="82000" marT="38000" marB="38000" anchor="ctr">
                    <a:solidFill>
                      <a:srgbClr val="F6F2FB"/>
                    </a:solidFill>
                  </a:tcPr>
                </a:tc>
                <a:extLst>
                  <a:ext uri="{0D108BD9-81ED-4DB2-BD59-A6C34878D82A}">
                    <a16:rowId xmlns:a16="http://schemas.microsoft.com/office/drawing/2014/main" val="10002"/>
                  </a:ext>
                </a:extLst>
              </a:tr>
              <a:tr h="765560">
                <a:tc>
                  <a:txBody>
                    <a:bodyPr/>
                    <a:lstStyle/>
                    <a:p>
                      <a:pPr marL="0" indent="0" algn="l">
                        <a:lnSpc>
                          <a:spcPct val="104000"/>
                        </a:lnSpc>
                        <a:spcBef>
                          <a:spcPts val="30"/>
                        </a:spcBef>
                        <a:buNone/>
                      </a:pPr>
                      <a:r>
                        <a:rPr lang="en-US" sz="900" b="1" i="0" dirty="0">
                          <a:solidFill>
                            <a:srgbClr val="9B7BC7"/>
                          </a:solidFill>
                          <a:latin typeface="Graphik"/>
                          <a:cs typeface="Graphik"/>
                        </a:rPr>
                        <a:t>6.3  </a:t>
                      </a:r>
                      <a:r>
                        <a:rPr lang="en-US" sz="1050" b="1" i="0" dirty="0">
                          <a:solidFill>
                            <a:srgbClr val="7500C0"/>
                          </a:solidFill>
                          <a:latin typeface="Graphik"/>
                          <a:cs typeface="Graphik"/>
                        </a:rPr>
                        <a:t>Session Management &amp; Replication</a:t>
                      </a:r>
                    </a:p>
                  </a:txBody>
                  <a:tcPr marL="82000" marR="82000" marT="38000" marB="38000" anchor="ctr">
                    <a:solidFill>
                      <a:srgbClr val="EFE7F7"/>
                    </a:solidFill>
                  </a:tcPr>
                </a:tc>
                <a:tc>
                  <a:txBody>
                    <a:bodyPr/>
                    <a:lstStyle/>
                    <a:p>
                      <a:pPr marL="0" indent="0" algn="l">
                        <a:lnSpc>
                          <a:spcPct val="108000"/>
                        </a:lnSpc>
                        <a:spcBef>
                          <a:spcPts val="30"/>
                        </a:spcBef>
                        <a:buNone/>
                      </a:pPr>
                      <a:r>
                        <a:rPr lang="en-US" sz="1000" b="0" i="0" dirty="0">
                          <a:solidFill>
                            <a:srgbClr val="2B2B2B"/>
                          </a:solidFill>
                          <a:latin typeface="Graphik"/>
                          <a:cs typeface="Graphik"/>
                        </a:rPr>
                        <a:t>Caching and replication of session state across instances, availability zones and domains so that channel sessions survive failure and cross domain boundaries.</a:t>
                      </a:r>
                    </a:p>
                  </a:txBody>
                  <a:tcPr marL="82000" marR="82000" marT="38000" marB="38000" anchor="ctr">
                    <a:solidFill>
                      <a:srgbClr val="FFFFFF"/>
                    </a:solidFill>
                  </a:tcPr>
                </a:tc>
                <a:tc>
                  <a:txBody>
                    <a:bodyPr/>
                    <a:lstStyle/>
                    <a:p>
                      <a:pPr marL="0" indent="0" algn="l">
                        <a:lnSpc>
                          <a:spcPct val="108000"/>
                        </a:lnSpc>
                        <a:spcBef>
                          <a:spcPts val="30"/>
                        </a:spcBef>
                        <a:buNone/>
                      </a:pPr>
                      <a:r>
                        <a:rPr lang="en-US" sz="1000" b="0" i="0" dirty="0">
                          <a:solidFill>
                            <a:srgbClr val="444444"/>
                          </a:solidFill>
                          <a:latin typeface="Graphik"/>
                          <a:cs typeface="Graphik"/>
                        </a:rPr>
                        <a:t>Provides continuity of authenticated interaction, without which elastic scaling and rolling deployment would be visible to customers as dropped sessions.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Redis and Modyo/Apolo session support are evidenced</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no separate enterprise session-replication product is named</a:t>
                      </a:r>
                    </a:p>
                  </a:txBody>
                  <a:tcPr marL="82000" marR="82000" marT="38000" marB="38000" anchor="ctr">
                    <a:solidFill>
                      <a:srgbClr val="FFFFFF"/>
                    </a:solidFill>
                  </a:tcPr>
                </a:tc>
                <a:extLst>
                  <a:ext uri="{0D108BD9-81ED-4DB2-BD59-A6C34878D82A}">
                    <a16:rowId xmlns:a16="http://schemas.microsoft.com/office/drawing/2014/main" val="10003"/>
                  </a:ext>
                </a:extLst>
              </a:tr>
              <a:tr h="765560">
                <a:tc>
                  <a:txBody>
                    <a:bodyPr/>
                    <a:lstStyle/>
                    <a:p>
                      <a:pPr marL="0" indent="0" algn="l">
                        <a:lnSpc>
                          <a:spcPct val="104000"/>
                        </a:lnSpc>
                        <a:spcBef>
                          <a:spcPts val="30"/>
                        </a:spcBef>
                        <a:buNone/>
                      </a:pPr>
                      <a:r>
                        <a:rPr lang="en-US" sz="900" b="1" i="0" dirty="0">
                          <a:solidFill>
                            <a:srgbClr val="9B7BC7"/>
                          </a:solidFill>
                          <a:latin typeface="Graphik"/>
                          <a:cs typeface="Graphik"/>
                        </a:rPr>
                        <a:t>6.4  </a:t>
                      </a:r>
                      <a:r>
                        <a:rPr lang="en-US" sz="1050" b="1" i="0" dirty="0">
                          <a:solidFill>
                            <a:srgbClr val="7500C0"/>
                          </a:solidFill>
                          <a:latin typeface="Graphik"/>
                          <a:cs typeface="Graphik"/>
                        </a:rPr>
                        <a:t>Transaction Cache &amp; Low-Latency Read Serving</a:t>
                      </a:r>
                    </a:p>
                  </a:txBody>
                  <a:tcPr marL="82000" marR="82000" marT="38000" marB="38000" anchor="ctr">
                    <a:solidFill>
                      <a:srgbClr val="E9DEF4"/>
                    </a:solidFill>
                  </a:tcPr>
                </a:tc>
                <a:tc>
                  <a:txBody>
                    <a:bodyPr/>
                    <a:lstStyle/>
                    <a:p>
                      <a:pPr marL="0" indent="0" algn="l">
                        <a:lnSpc>
                          <a:spcPct val="108000"/>
                        </a:lnSpc>
                        <a:spcBef>
                          <a:spcPts val="30"/>
                        </a:spcBef>
                        <a:buNone/>
                      </a:pPr>
                      <a:r>
                        <a:rPr lang="en-US" sz="1000" b="0" i="0" dirty="0">
                          <a:solidFill>
                            <a:srgbClr val="2B2B2B"/>
                          </a:solidFill>
                          <a:latin typeface="Graphik"/>
                          <a:cs typeface="Graphik"/>
                        </a:rPr>
                        <a:t>Caching of in-flight transaction data and of frequently requested read views, served to channels independently of the system of record.</a:t>
                      </a:r>
                    </a:p>
                  </a:txBody>
                  <a:tcPr marL="82000" marR="82000" marT="38000" marB="38000" anchor="ctr">
                    <a:solidFill>
                      <a:srgbClr val="F6F2FB"/>
                    </a:solidFill>
                  </a:tcPr>
                </a:tc>
                <a:tc>
                  <a:txBody>
                    <a:bodyPr/>
                    <a:lstStyle/>
                    <a:p>
                      <a:pPr marL="0" indent="0" algn="l">
                        <a:lnSpc>
                          <a:spcPct val="108000"/>
                        </a:lnSpc>
                        <a:spcBef>
                          <a:spcPts val="30"/>
                        </a:spcBef>
                        <a:buNone/>
                      </a:pPr>
                      <a:r>
                        <a:rPr lang="en-US" sz="1000" b="0" i="0" dirty="0">
                          <a:solidFill>
                            <a:srgbClr val="444444"/>
                          </a:solidFill>
                          <a:latin typeface="Graphik"/>
                          <a:cs typeface="Graphik"/>
                        </a:rPr>
                        <a:t>The practical mechanism for offloading read traffic from constrained cores - typically the fastest available lever on MIPS and response time, requiring no core change.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Redis in Apolo stack</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Modyo/AWS CloudFront for static content</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YugabyteDB for operational data. Cache invalidation tool not specifically named</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21" name="Rectangle 20">
            <a:extLst>
              <a:ext uri="{FF2B5EF4-FFF2-40B4-BE49-F238E27FC236}">
                <a16:creationId xmlns:a16="http://schemas.microsoft.com/office/drawing/2014/main" id="{A4788F99-14A8-7E3A-6A3C-FD073DD6A516}"/>
              </a:ext>
            </a:extLst>
          </p:cNvPr>
          <p:cNvSpPr>
            <a:spLocks noChangeAspect="1"/>
          </p:cNvSpPr>
          <p:nvPr/>
        </p:nvSpPr>
        <p:spPr>
          <a:xfrm>
            <a:off x="1936750" y="6410745"/>
            <a:ext cx="640842" cy="18450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GAP</a:t>
            </a:r>
          </a:p>
        </p:txBody>
      </p:sp>
      <p:sp>
        <p:nvSpPr>
          <p:cNvPr id="24" name="Rectangle 23">
            <a:extLst>
              <a:ext uri="{FF2B5EF4-FFF2-40B4-BE49-F238E27FC236}">
                <a16:creationId xmlns:a16="http://schemas.microsoft.com/office/drawing/2014/main" id="{5D32E69A-AD95-308F-EC55-E76CFE23CDAD}"/>
              </a:ext>
            </a:extLst>
          </p:cNvPr>
          <p:cNvSpPr>
            <a:spLocks noChangeAspect="1"/>
          </p:cNvSpPr>
          <p:nvPr/>
        </p:nvSpPr>
        <p:spPr>
          <a:xfrm>
            <a:off x="1936750" y="6191083"/>
            <a:ext cx="640842" cy="18450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Target</a:t>
            </a:r>
          </a:p>
        </p:txBody>
      </p:sp>
      <p:sp>
        <p:nvSpPr>
          <p:cNvPr id="26" name="Rectangle 25">
            <a:extLst>
              <a:ext uri="{FF2B5EF4-FFF2-40B4-BE49-F238E27FC236}">
                <a16:creationId xmlns:a16="http://schemas.microsoft.com/office/drawing/2014/main" id="{09C02929-4A4C-9269-BBAE-20DB5BFD2079}"/>
              </a:ext>
            </a:extLst>
          </p:cNvPr>
          <p:cNvSpPr>
            <a:spLocks noChangeAspect="1"/>
          </p:cNvSpPr>
          <p:nvPr/>
        </p:nvSpPr>
        <p:spPr>
          <a:xfrm>
            <a:off x="1936750" y="6620295"/>
            <a:ext cx="640842" cy="18450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Discard</a:t>
            </a:r>
          </a:p>
        </p:txBody>
      </p:sp>
      <p:sp>
        <p:nvSpPr>
          <p:cNvPr id="28" name="Oval 27">
            <a:extLst>
              <a:ext uri="{FF2B5EF4-FFF2-40B4-BE49-F238E27FC236}">
                <a16:creationId xmlns:a16="http://schemas.microsoft.com/office/drawing/2014/main" id="{2D03CF04-D2CB-1BF2-8990-E1DFB2D0E77E}"/>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High</a:t>
            </a:r>
          </a:p>
        </p:txBody>
      </p:sp>
      <p:sp>
        <p:nvSpPr>
          <p:cNvPr id="30" name="Rectangle 29">
            <a:extLst>
              <a:ext uri="{FF2B5EF4-FFF2-40B4-BE49-F238E27FC236}">
                <a16:creationId xmlns:a16="http://schemas.microsoft.com/office/drawing/2014/main" id="{7F1C958D-82D1-96E1-915D-A59E278443CA}"/>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Capability Assessment</a:t>
            </a:r>
          </a:p>
        </p:txBody>
      </p:sp>
      <p:sp>
        <p:nvSpPr>
          <p:cNvPr id="32" name="Rectangle 31">
            <a:extLst>
              <a:ext uri="{FF2B5EF4-FFF2-40B4-BE49-F238E27FC236}">
                <a16:creationId xmlns:a16="http://schemas.microsoft.com/office/drawing/2014/main" id="{B6C60E86-66EE-D30F-4928-BBFE94E3D795}"/>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Priority</a:t>
            </a:r>
          </a:p>
        </p:txBody>
      </p:sp>
      <p:sp>
        <p:nvSpPr>
          <p:cNvPr id="34" name="Oval 33">
            <a:extLst>
              <a:ext uri="{FF2B5EF4-FFF2-40B4-BE49-F238E27FC236}">
                <a16:creationId xmlns:a16="http://schemas.microsoft.com/office/drawing/2014/main" id="{B9695D71-465F-EFD4-59F9-79150C809B50}"/>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Med</a:t>
            </a:r>
          </a:p>
        </p:txBody>
      </p:sp>
      <p:sp>
        <p:nvSpPr>
          <p:cNvPr id="36" name="Oval 35">
            <a:extLst>
              <a:ext uri="{FF2B5EF4-FFF2-40B4-BE49-F238E27FC236}">
                <a16:creationId xmlns:a16="http://schemas.microsoft.com/office/drawing/2014/main" id="{D18D7D92-0954-D6D9-D797-32E02A2FA0DE}"/>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Low</a:t>
            </a:r>
          </a:p>
        </p:txBody>
      </p:sp>
    </p:spTree>
    <p:extLst>
      <p:ext uri="{BB962C8B-B14F-4D97-AF65-F5344CB8AC3E}">
        <p14:creationId xmlns:p14="http://schemas.microsoft.com/office/powerpoint/2010/main" val="11453989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All rights reserved.</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F8EB60C-7CC2-49F0-B2EE-C81F067DE041}" type="slidenum">
              <a:rPr kumimoji="0" lang="en-US" sz="1800" b="0" i="0" u="none" strike="noStrike" kern="1200" cap="none" spc="0" normalizeH="0" baseline="0" noProof="0" smtClean="0">
                <a:ln>
                  <a:noFill/>
                </a:ln>
                <a:solidFill>
                  <a:srgbClr val="000000"/>
                </a:solidFill>
                <a:effectLst/>
                <a:uLnTx/>
                <a:uFillTx/>
                <a:latin typeface="Graphi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126" name="TextBox 125">
            <a:extLst>
              <a:ext uri="{FF2B5EF4-FFF2-40B4-BE49-F238E27FC236}">
                <a16:creationId xmlns:a16="http://schemas.microsoft.com/office/drawing/2014/main" id="{EEC953B8-A3F6-4C3F-6CE0-DB056ED72F5B}"/>
              </a:ext>
            </a:extLst>
          </p:cNvPr>
          <p:cNvSpPr txBox="1"/>
          <p:nvPr>
            <p:extLst>
              <p:ext uri="{1162E1C5-73C7-4A58-AE30-91384D911F3F}">
                <p184:classification xmlns:p184="http://schemas.microsoft.com/office/powerpoint/2018/4/main" val="hdr"/>
              </p:ext>
            </p:extLst>
          </p:nvPr>
        </p:nvSpPr>
        <p:spPr>
          <a:xfrm>
            <a:off x="4610601" y="78170"/>
            <a:ext cx="3641223" cy="153888"/>
          </a:xfrm>
          <a:prstGeom prst="rect">
            <a:avLst/>
          </a:prstGeom>
        </p:spPr>
        <p:txBody>
          <a:bodyPr horzOverflow="overflow"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***Confidential - For Company Internal Use Only***</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7500C0"/>
                </a:solidFill>
                <a:effectLst/>
                <a:uLnTx/>
                <a:uFillTx/>
                <a:latin typeface="Graphik"/>
                <a:ea typeface="+mj-ea"/>
                <a:cs typeface="+mj-cs"/>
              </a:rPr>
              <a:t>Interoperability Architecture </a:t>
            </a:r>
            <a:r>
              <a:rPr kumimoji="0" lang="en-US" sz="2400" b="1" i="0" u="none" strike="noStrike" kern="1200" cap="none" spc="0" normalizeH="0" baseline="0" noProof="0" dirty="0">
                <a:ln>
                  <a:noFill/>
                </a:ln>
                <a:solidFill>
                  <a:srgbClr val="000000"/>
                </a:solidFill>
                <a:effectLst/>
                <a:uLnTx/>
                <a:uFillTx/>
                <a:latin typeface="Graphik"/>
                <a:ea typeface="+mj-ea"/>
                <a:cs typeface="+mj-cs"/>
              </a:rPr>
              <a:t>| Distributed </a:t>
            </a:r>
            <a:r>
              <a:rPr kumimoji="0" lang="en-US" sz="2400" b="1" i="0" u="none" strike="noStrike" kern="1200" cap="none" spc="0" normalizeH="0" baseline="0" noProof="0" dirty="0" err="1">
                <a:ln>
                  <a:noFill/>
                </a:ln>
                <a:solidFill>
                  <a:srgbClr val="000000"/>
                </a:solidFill>
                <a:effectLst/>
                <a:uLnTx/>
                <a:uFillTx/>
                <a:latin typeface="Graphik"/>
                <a:ea typeface="+mj-ea"/>
                <a:cs typeface="+mj-cs"/>
              </a:rPr>
              <a:t>Trxs</a:t>
            </a:r>
            <a:r>
              <a:rPr kumimoji="0" lang="en-US" sz="2400" b="1" i="0" u="none" strike="noStrike" kern="1200" cap="none" spc="0" normalizeH="0" baseline="0" noProof="0" dirty="0">
                <a:ln>
                  <a:noFill/>
                </a:ln>
                <a:solidFill>
                  <a:srgbClr val="000000"/>
                </a:solidFill>
                <a:effectLst/>
                <a:uLnTx/>
                <a:uFillTx/>
                <a:latin typeface="Graphik"/>
                <a:ea typeface="+mj-ea"/>
                <a:cs typeface="+mj-cs"/>
              </a:rPr>
              <a:t> – </a:t>
            </a:r>
            <a:r>
              <a:rPr kumimoji="0" lang="en-US" sz="2400" b="1" i="0" u="none" strike="noStrike" kern="1200" cap="none" spc="0" normalizeH="0" baseline="0" noProof="0" dirty="0" err="1">
                <a:ln>
                  <a:noFill/>
                </a:ln>
                <a:solidFill>
                  <a:srgbClr val="000000"/>
                </a:solidFill>
                <a:effectLst/>
                <a:uLnTx/>
                <a:uFillTx/>
                <a:latin typeface="Graphik"/>
                <a:ea typeface="+mj-ea"/>
                <a:cs typeface="+mj-cs"/>
              </a:rPr>
              <a:t>Trxs</a:t>
            </a:r>
            <a:r>
              <a:rPr kumimoji="0" lang="en-US" sz="2400" b="1" i="0" u="none" strike="noStrike" kern="1200" cap="none" spc="0" normalizeH="0" baseline="0" noProof="0" dirty="0">
                <a:ln>
                  <a:noFill/>
                </a:ln>
                <a:solidFill>
                  <a:srgbClr val="000000"/>
                </a:solidFill>
                <a:effectLst/>
                <a:uLnTx/>
                <a:uFillTx/>
                <a:latin typeface="Graphik"/>
                <a:ea typeface="+mj-ea"/>
                <a:cs typeface="+mj-cs"/>
              </a:rPr>
              <a:t> Management</a:t>
            </a: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n-US" sz="1000" b="1" i="0" dirty="0">
                <a:solidFill>
                  <a:srgbClr val="7500C0"/>
                </a:solidFill>
                <a:latin typeface="Graphik"/>
                <a:cs typeface="Graphik"/>
              </a:rPr>
              <a:t>DOMAIN CAPABILITY    | 4 SUB-CAPABILITIES</a:t>
            </a:r>
          </a:p>
        </p:txBody>
      </p:sp>
      <p:graphicFrame>
        <p:nvGraphicFramePr>
          <p:cNvPr id="100" name="DetailTable"/>
          <p:cNvGraphicFramePr>
            <a:graphicFrameLocks noGrp="1"/>
          </p:cNvGraphicFramePr>
          <p:nvPr>
            <p:extLst>
              <p:ext uri="{D42A27DB-BD31-4B8C-83A1-F6EECF244321}">
                <p14:modId xmlns:p14="http://schemas.microsoft.com/office/powerpoint/2010/main" val="2160105772"/>
              </p:ext>
            </p:extLst>
          </p:nvPr>
        </p:nvGraphicFramePr>
        <p:xfrm>
          <a:off x="381000" y="1015000"/>
          <a:ext cx="11430000" cy="453572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n-US" sz="1000" b="1" i="0" dirty="0">
                          <a:solidFill>
                            <a:srgbClr val="FFFFFF"/>
                          </a:solidFill>
                          <a:latin typeface="Graphik"/>
                          <a:cs typeface="Graphik"/>
                        </a:rPr>
                        <a:t>Sub-capability</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Description</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Purpose</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Solutions in Coppel</a:t>
                      </a:r>
                    </a:p>
                  </a:txBody>
                  <a:tcPr marL="82000" marR="82000" marT="38000" marB="38000" anchor="ctr">
                    <a:solidFill>
                      <a:srgbClr val="7500C0"/>
                    </a:solidFill>
                  </a:tcPr>
                </a:tc>
                <a:extLst>
                  <a:ext uri="{0D108BD9-81ED-4DB2-BD59-A6C34878D82A}">
                    <a16:rowId xmlns:a16="http://schemas.microsoft.com/office/drawing/2014/main" val="10000"/>
                  </a:ext>
                </a:extLst>
              </a:tr>
              <a:tr h="1100840">
                <a:tc>
                  <a:txBody>
                    <a:bodyPr/>
                    <a:lstStyle/>
                    <a:p>
                      <a:pPr marL="0" indent="0" algn="l">
                        <a:lnSpc>
                          <a:spcPct val="104000"/>
                        </a:lnSpc>
                        <a:spcBef>
                          <a:spcPts val="30"/>
                        </a:spcBef>
                        <a:buNone/>
                      </a:pPr>
                      <a:r>
                        <a:rPr lang="en-US" sz="900" b="1" i="0" dirty="0">
                          <a:solidFill>
                            <a:srgbClr val="9B7BC7"/>
                          </a:solidFill>
                          <a:latin typeface="Graphik"/>
                          <a:cs typeface="Graphik"/>
                        </a:rPr>
                        <a:t>7.1  </a:t>
                      </a:r>
                      <a:r>
                        <a:rPr lang="en-US" sz="1050" b="1" i="0" dirty="0">
                          <a:solidFill>
                            <a:srgbClr val="7500C0"/>
                          </a:solidFill>
                          <a:latin typeface="Graphik"/>
                          <a:cs typeface="Graphik"/>
                        </a:rPr>
                        <a:t>Transaction Management</a:t>
                      </a:r>
                    </a:p>
                  </a:txBody>
                  <a:tcPr marL="82000" marR="82000" marT="38000" marB="38000" anchor="ctr">
                    <a:solidFill>
                      <a:srgbClr val="EFE7F7"/>
                    </a:solidFill>
                  </a:tcPr>
                </a:tc>
                <a:tc>
                  <a:txBody>
                    <a:bodyPr/>
                    <a:lstStyle/>
                    <a:p>
                      <a:pPr marL="0" indent="0" algn="l">
                        <a:lnSpc>
                          <a:spcPct val="108000"/>
                        </a:lnSpc>
                        <a:spcBef>
                          <a:spcPts val="30"/>
                        </a:spcBef>
                        <a:buNone/>
                      </a:pPr>
                      <a:r>
                        <a:rPr lang="en-US" sz="1000" b="0" i="0" dirty="0">
                          <a:solidFill>
                            <a:srgbClr val="2B2B2B"/>
                          </a:solidFill>
                          <a:latin typeface="Graphik"/>
                          <a:cs typeface="Graphik"/>
                        </a:rPr>
                        <a:t>Coordination of multi-participant business operations, tracking the success or failure of each step and driving either completion or compensating reversal, with durable recording of state and history.</a:t>
                      </a:r>
                    </a:p>
                  </a:txBody>
                  <a:tcPr marL="82000" marR="82000" marT="38000" marB="38000" anchor="ctr">
                    <a:solidFill>
                      <a:srgbClr val="FFFFFF"/>
                    </a:solidFill>
                  </a:tcPr>
                </a:tc>
                <a:tc>
                  <a:txBody>
                    <a:bodyPr/>
                    <a:lstStyle/>
                    <a:p>
                      <a:pPr marL="0" indent="0" algn="l">
                        <a:lnSpc>
                          <a:spcPct val="108000"/>
                        </a:lnSpc>
                        <a:spcBef>
                          <a:spcPts val="30"/>
                        </a:spcBef>
                        <a:buNone/>
                      </a:pPr>
                      <a:r>
                        <a:rPr lang="en-US" sz="1000" b="0" i="0" dirty="0">
                          <a:solidFill>
                            <a:srgbClr val="444444"/>
                          </a:solidFill>
                          <a:latin typeface="Graphik"/>
                          <a:cs typeface="Graphik"/>
                        </a:rPr>
                        <a:t>Guarantees that a business transaction spanning legacy, next-gen and third-party systems either completes or is fully unwound, with evidence.</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Temenos Transact FT/Payments/GL</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BPC SmartVista/SVIP</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Hub de Pagos</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Kafka/Confluent</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Amazon MQ/Kinesis</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Interfaces Temporales</a:t>
                      </a:r>
                    </a:p>
                  </a:txBody>
                  <a:tcPr marL="82000" marR="82000" marT="38000" marB="38000" anchor="ctr">
                    <a:solidFill>
                      <a:srgbClr val="FFFFFF"/>
                    </a:solidFill>
                  </a:tcPr>
                </a:tc>
                <a:extLst>
                  <a:ext uri="{0D108BD9-81ED-4DB2-BD59-A6C34878D82A}">
                    <a16:rowId xmlns:a16="http://schemas.microsoft.com/office/drawing/2014/main" val="10001"/>
                  </a:ext>
                </a:extLst>
              </a:tr>
              <a:tr h="1100840">
                <a:tc>
                  <a:txBody>
                    <a:bodyPr/>
                    <a:lstStyle/>
                    <a:p>
                      <a:pPr marL="0" indent="0" algn="l">
                        <a:lnSpc>
                          <a:spcPct val="104000"/>
                        </a:lnSpc>
                        <a:spcBef>
                          <a:spcPts val="30"/>
                        </a:spcBef>
                        <a:buNone/>
                      </a:pPr>
                      <a:r>
                        <a:rPr lang="en-US" sz="900" b="1" i="0" dirty="0">
                          <a:solidFill>
                            <a:srgbClr val="9B7BC7"/>
                          </a:solidFill>
                          <a:latin typeface="Graphik"/>
                          <a:cs typeface="Graphik"/>
                        </a:rPr>
                        <a:t>7.2  </a:t>
                      </a:r>
                      <a:r>
                        <a:rPr lang="en-US" sz="1050" b="1" i="0" dirty="0">
                          <a:solidFill>
                            <a:srgbClr val="7500C0"/>
                          </a:solidFill>
                          <a:latin typeface="Graphik"/>
                          <a:cs typeface="Graphik"/>
                        </a:rPr>
                        <a:t>Transaction Operations &amp; Control</a:t>
                      </a:r>
                    </a:p>
                  </a:txBody>
                  <a:tcPr marL="82000" marR="82000" marT="38000" marB="38000" anchor="ctr">
                    <a:solidFill>
                      <a:srgbClr val="E9DEF4"/>
                    </a:solidFill>
                  </a:tcPr>
                </a:tc>
                <a:tc>
                  <a:txBody>
                    <a:bodyPr/>
                    <a:lstStyle/>
                    <a:p>
                      <a:pPr marL="0" indent="0" algn="l">
                        <a:lnSpc>
                          <a:spcPct val="108000"/>
                        </a:lnSpc>
                        <a:spcBef>
                          <a:spcPts val="30"/>
                        </a:spcBef>
                        <a:buNone/>
                      </a:pPr>
                      <a:r>
                        <a:rPr lang="en-US" sz="1000" b="0" i="0" dirty="0">
                          <a:solidFill>
                            <a:srgbClr val="2B2B2B"/>
                          </a:solidFill>
                          <a:latin typeface="Graphik"/>
                          <a:cs typeface="Graphik"/>
                        </a:rPr>
                        <a:t>Operator-facing tooling to observe, intervene in and report on complex transactions, including retry, cancel and reverse actions and technical plus operational event monitoring.</a:t>
                      </a:r>
                    </a:p>
                  </a:txBody>
                  <a:tcPr marL="82000" marR="82000" marT="38000" marB="38000" anchor="ctr">
                    <a:solidFill>
                      <a:srgbClr val="F6F2FB"/>
                    </a:solidFill>
                  </a:tcPr>
                </a:tc>
                <a:tc>
                  <a:txBody>
                    <a:bodyPr/>
                    <a:lstStyle/>
                    <a:p>
                      <a:pPr marL="0" indent="0" algn="l">
                        <a:lnSpc>
                          <a:spcPct val="108000"/>
                        </a:lnSpc>
                        <a:spcBef>
                          <a:spcPts val="30"/>
                        </a:spcBef>
                        <a:buNone/>
                      </a:pPr>
                      <a:r>
                        <a:rPr lang="en-US" sz="1000" b="0" i="0" dirty="0">
                          <a:solidFill>
                            <a:srgbClr val="444444"/>
                          </a:solidFill>
                          <a:latin typeface="Graphik"/>
                          <a:cs typeface="Graphik"/>
                        </a:rPr>
                        <a:t>Makes distributed consistency operable by named teams; without it, correctness depends on engineering escalation for every anomaly.</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Temenos Transact FT/Payments/GL</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BPC SmartVista/SVIP</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Hub de Pagos</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Kafka/Confluent</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Amazon MQ/Kinesis</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Interfaces Temporales</a:t>
                      </a:r>
                    </a:p>
                  </a:txBody>
                  <a:tcPr marL="82000" marR="82000" marT="38000" marB="38000" anchor="ctr">
                    <a:solidFill>
                      <a:srgbClr val="F6F2FB"/>
                    </a:solidFill>
                  </a:tcPr>
                </a:tc>
                <a:extLst>
                  <a:ext uri="{0D108BD9-81ED-4DB2-BD59-A6C34878D82A}">
                    <a16:rowId xmlns:a16="http://schemas.microsoft.com/office/drawing/2014/main" val="10002"/>
                  </a:ext>
                </a:extLst>
              </a:tr>
              <a:tr h="1100840">
                <a:tc>
                  <a:txBody>
                    <a:bodyPr/>
                    <a:lstStyle/>
                    <a:p>
                      <a:pPr marL="0" indent="0" algn="l">
                        <a:lnSpc>
                          <a:spcPct val="104000"/>
                        </a:lnSpc>
                        <a:spcBef>
                          <a:spcPts val="30"/>
                        </a:spcBef>
                        <a:buNone/>
                      </a:pPr>
                      <a:r>
                        <a:rPr lang="en-US" sz="900" b="1" i="0" dirty="0">
                          <a:solidFill>
                            <a:srgbClr val="9B7BC7"/>
                          </a:solidFill>
                          <a:latin typeface="Graphik"/>
                          <a:cs typeface="Graphik"/>
                        </a:rPr>
                        <a:t>7.3  </a:t>
                      </a:r>
                      <a:r>
                        <a:rPr lang="en-US" sz="1050" b="1" i="0" dirty="0">
                          <a:solidFill>
                            <a:srgbClr val="7500C0"/>
                          </a:solidFill>
                          <a:latin typeface="Graphik"/>
                          <a:cs typeface="Graphik"/>
                        </a:rPr>
                        <a:t>Store &amp; Forward</a:t>
                      </a:r>
                    </a:p>
                  </a:txBody>
                  <a:tcPr marL="82000" marR="82000" marT="38000" marB="38000" anchor="ctr">
                    <a:solidFill>
                      <a:srgbClr val="EFE7F7"/>
                    </a:solidFill>
                  </a:tcPr>
                </a:tc>
                <a:tc>
                  <a:txBody>
                    <a:bodyPr/>
                    <a:lstStyle/>
                    <a:p>
                      <a:pPr marL="0" indent="0" algn="l">
                        <a:lnSpc>
                          <a:spcPct val="108000"/>
                        </a:lnSpc>
                        <a:spcBef>
                          <a:spcPts val="30"/>
                        </a:spcBef>
                        <a:buNone/>
                      </a:pPr>
                      <a:r>
                        <a:rPr lang="en-US" sz="1000" b="0" i="0" dirty="0">
                          <a:solidFill>
                            <a:srgbClr val="2B2B2B"/>
                          </a:solidFill>
                          <a:latin typeface="Graphik"/>
                          <a:cs typeface="Graphik"/>
                        </a:rPr>
                        <a:t>Persistence and controlled later execution of requests that cannot complete now - because a hosting system is unavailable, or because the user scheduled the action for a future date - comprising request manager, registry, processor, router and console.</a:t>
                      </a:r>
                    </a:p>
                  </a:txBody>
                  <a:tcPr marL="82000" marR="82000" marT="38000" marB="38000" anchor="ctr">
                    <a:solidFill>
                      <a:srgbClr val="FFFFFF"/>
                    </a:solidFill>
                  </a:tcPr>
                </a:tc>
                <a:tc>
                  <a:txBody>
                    <a:bodyPr/>
                    <a:lstStyle/>
                    <a:p>
                      <a:pPr marL="0" indent="0" algn="l">
                        <a:lnSpc>
                          <a:spcPct val="108000"/>
                        </a:lnSpc>
                        <a:spcBef>
                          <a:spcPts val="30"/>
                        </a:spcBef>
                        <a:buNone/>
                      </a:pPr>
                      <a:r>
                        <a:rPr lang="en-US" sz="1000" b="0" i="0" dirty="0">
                          <a:solidFill>
                            <a:srgbClr val="444444"/>
                          </a:solidFill>
                          <a:latin typeface="Graphik"/>
                          <a:cs typeface="Graphik"/>
                        </a:rPr>
                        <a:t>Delivers service continuity when part of the estate is down and, reusing the same mechanism, supports future-dated instructions such as scheduled payments. It is a primary reason customers do not experience legacy availability limits directly.</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Amazon MQ/Kinesis and Kafka/Confluent for reliable exchange</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Interfaces Temporales with retry/fallback to PISA</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batch/COB where synchronous processing is not possible</a:t>
                      </a:r>
                    </a:p>
                  </a:txBody>
                  <a:tcPr marL="82000" marR="82000" marT="38000" marB="38000" anchor="ctr">
                    <a:solidFill>
                      <a:srgbClr val="FFFFFF"/>
                    </a:solidFill>
                  </a:tcPr>
                </a:tc>
                <a:extLst>
                  <a:ext uri="{0D108BD9-81ED-4DB2-BD59-A6C34878D82A}">
                    <a16:rowId xmlns:a16="http://schemas.microsoft.com/office/drawing/2014/main" val="10003"/>
                  </a:ext>
                </a:extLst>
              </a:tr>
              <a:tr h="933200">
                <a:tc>
                  <a:txBody>
                    <a:bodyPr/>
                    <a:lstStyle/>
                    <a:p>
                      <a:pPr marL="0" indent="0" algn="l">
                        <a:lnSpc>
                          <a:spcPct val="104000"/>
                        </a:lnSpc>
                        <a:spcBef>
                          <a:spcPts val="30"/>
                        </a:spcBef>
                        <a:buNone/>
                      </a:pPr>
                      <a:r>
                        <a:rPr lang="en-US" sz="900" b="1" i="0" dirty="0">
                          <a:solidFill>
                            <a:srgbClr val="9B7BC7"/>
                          </a:solidFill>
                          <a:latin typeface="Graphik"/>
                          <a:cs typeface="Graphik"/>
                        </a:rPr>
                        <a:t>7.4  </a:t>
                      </a:r>
                      <a:r>
                        <a:rPr lang="en-US" sz="1050" b="1" i="0" dirty="0">
                          <a:solidFill>
                            <a:srgbClr val="7500C0"/>
                          </a:solidFill>
                          <a:latin typeface="Graphik"/>
                          <a:cs typeface="Graphik"/>
                        </a:rPr>
                        <a:t>Transactional Service Administration (Online Admin)</a:t>
                      </a:r>
                    </a:p>
                  </a:txBody>
                  <a:tcPr marL="82000" marR="82000" marT="38000" marB="38000" anchor="ctr">
                    <a:solidFill>
                      <a:srgbClr val="E9DEF4"/>
                    </a:solidFill>
                  </a:tcPr>
                </a:tc>
                <a:tc>
                  <a:txBody>
                    <a:bodyPr/>
                    <a:lstStyle/>
                    <a:p>
                      <a:pPr marL="0" indent="0" algn="l">
                        <a:lnSpc>
                          <a:spcPct val="108000"/>
                        </a:lnSpc>
                        <a:spcBef>
                          <a:spcPts val="30"/>
                        </a:spcBef>
                        <a:buNone/>
                      </a:pPr>
                      <a:r>
                        <a:rPr lang="en-US" sz="1000" b="0" i="0" dirty="0">
                          <a:solidFill>
                            <a:srgbClr val="2B2B2B"/>
                          </a:solidFill>
                          <a:latin typeface="Graphik"/>
                          <a:cs typeface="Graphik"/>
                        </a:rPr>
                        <a:t>Runtime administration of transactional behaviour: which services are atomic, which are store-and-forward eligible, which require approvals, and the operational overrides available to control functions.</a:t>
                      </a:r>
                    </a:p>
                  </a:txBody>
                  <a:tcPr marL="82000" marR="82000" marT="38000" marB="38000" anchor="ctr">
                    <a:solidFill>
                      <a:srgbClr val="F6F2FB"/>
                    </a:solidFill>
                  </a:tcPr>
                </a:tc>
                <a:tc>
                  <a:txBody>
                    <a:bodyPr/>
                    <a:lstStyle/>
                    <a:p>
                      <a:pPr marL="0" indent="0" algn="l">
                        <a:lnSpc>
                          <a:spcPct val="108000"/>
                        </a:lnSpc>
                        <a:spcBef>
                          <a:spcPts val="30"/>
                        </a:spcBef>
                        <a:buNone/>
                      </a:pPr>
                      <a:r>
                        <a:rPr lang="en-US" sz="1000" b="0" i="0" dirty="0">
                          <a:solidFill>
                            <a:srgbClr val="444444"/>
                          </a:solidFill>
                          <a:latin typeface="Graphik"/>
                          <a:cs typeface="Graphik"/>
                        </a:rPr>
                        <a:t>Makes transactional characteristics declarative and centrally governed, so behaviour can be adjusted operationally without code change during migration windows.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SmartVista administration</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Transact Product Catalog/AA Framework</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Apigee policy controls</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operational overrides via platform admin consoles</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21" name="Rectangle 20">
            <a:extLst>
              <a:ext uri="{FF2B5EF4-FFF2-40B4-BE49-F238E27FC236}">
                <a16:creationId xmlns:a16="http://schemas.microsoft.com/office/drawing/2014/main" id="{D84A1A80-C4AD-ED31-B7CF-A5609D8FDF30}"/>
              </a:ext>
            </a:extLst>
          </p:cNvPr>
          <p:cNvSpPr>
            <a:spLocks noChangeAspect="1"/>
          </p:cNvSpPr>
          <p:nvPr/>
        </p:nvSpPr>
        <p:spPr>
          <a:xfrm>
            <a:off x="1936750" y="6410745"/>
            <a:ext cx="640842" cy="18450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GAP</a:t>
            </a:r>
          </a:p>
        </p:txBody>
      </p:sp>
      <p:sp>
        <p:nvSpPr>
          <p:cNvPr id="24" name="Rectangle 23">
            <a:extLst>
              <a:ext uri="{FF2B5EF4-FFF2-40B4-BE49-F238E27FC236}">
                <a16:creationId xmlns:a16="http://schemas.microsoft.com/office/drawing/2014/main" id="{56230E42-2593-A6D0-DB42-56B7955464A9}"/>
              </a:ext>
            </a:extLst>
          </p:cNvPr>
          <p:cNvSpPr>
            <a:spLocks noChangeAspect="1"/>
          </p:cNvSpPr>
          <p:nvPr/>
        </p:nvSpPr>
        <p:spPr>
          <a:xfrm>
            <a:off x="1936750" y="6191083"/>
            <a:ext cx="640842" cy="18450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Target</a:t>
            </a:r>
          </a:p>
        </p:txBody>
      </p:sp>
      <p:sp>
        <p:nvSpPr>
          <p:cNvPr id="26" name="Rectangle 25">
            <a:extLst>
              <a:ext uri="{FF2B5EF4-FFF2-40B4-BE49-F238E27FC236}">
                <a16:creationId xmlns:a16="http://schemas.microsoft.com/office/drawing/2014/main" id="{EEAA774B-FCF5-D27E-4940-1C68FC68ADAE}"/>
              </a:ext>
            </a:extLst>
          </p:cNvPr>
          <p:cNvSpPr>
            <a:spLocks noChangeAspect="1"/>
          </p:cNvSpPr>
          <p:nvPr/>
        </p:nvSpPr>
        <p:spPr>
          <a:xfrm>
            <a:off x="1936750" y="6620295"/>
            <a:ext cx="640842" cy="18450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Discard</a:t>
            </a:r>
          </a:p>
        </p:txBody>
      </p:sp>
      <p:sp>
        <p:nvSpPr>
          <p:cNvPr id="28" name="Oval 27">
            <a:extLst>
              <a:ext uri="{FF2B5EF4-FFF2-40B4-BE49-F238E27FC236}">
                <a16:creationId xmlns:a16="http://schemas.microsoft.com/office/drawing/2014/main" id="{F47737A6-C888-90E1-6F85-485ED9EB45E9}"/>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High</a:t>
            </a:r>
          </a:p>
        </p:txBody>
      </p:sp>
      <p:sp>
        <p:nvSpPr>
          <p:cNvPr id="30" name="Rectangle 29">
            <a:extLst>
              <a:ext uri="{FF2B5EF4-FFF2-40B4-BE49-F238E27FC236}">
                <a16:creationId xmlns:a16="http://schemas.microsoft.com/office/drawing/2014/main" id="{67300B41-8FD7-B6B4-B111-9387A868E258}"/>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Capability Assessment</a:t>
            </a:r>
          </a:p>
        </p:txBody>
      </p:sp>
      <p:sp>
        <p:nvSpPr>
          <p:cNvPr id="32" name="Rectangle 31">
            <a:extLst>
              <a:ext uri="{FF2B5EF4-FFF2-40B4-BE49-F238E27FC236}">
                <a16:creationId xmlns:a16="http://schemas.microsoft.com/office/drawing/2014/main" id="{ABAF82A6-DEEF-AE1F-6045-8AC7916BC7DE}"/>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Priority</a:t>
            </a:r>
          </a:p>
        </p:txBody>
      </p:sp>
      <p:sp>
        <p:nvSpPr>
          <p:cNvPr id="34" name="Oval 33">
            <a:extLst>
              <a:ext uri="{FF2B5EF4-FFF2-40B4-BE49-F238E27FC236}">
                <a16:creationId xmlns:a16="http://schemas.microsoft.com/office/drawing/2014/main" id="{C2939BC6-307C-DFB9-5895-C1E19AA09249}"/>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Med</a:t>
            </a:r>
          </a:p>
        </p:txBody>
      </p:sp>
      <p:sp>
        <p:nvSpPr>
          <p:cNvPr id="36" name="Oval 35">
            <a:extLst>
              <a:ext uri="{FF2B5EF4-FFF2-40B4-BE49-F238E27FC236}">
                <a16:creationId xmlns:a16="http://schemas.microsoft.com/office/drawing/2014/main" id="{57E228D8-B2EA-5D8F-162B-9A56FAAB3671}"/>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Low</a:t>
            </a:r>
          </a:p>
        </p:txBody>
      </p:sp>
    </p:spTree>
    <p:extLst>
      <p:ext uri="{BB962C8B-B14F-4D97-AF65-F5344CB8AC3E}">
        <p14:creationId xmlns:p14="http://schemas.microsoft.com/office/powerpoint/2010/main" val="11453989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All rights reserved.</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F8EB60C-7CC2-49F0-B2EE-C81F067DE041}" type="slidenum">
              <a:rPr kumimoji="0" lang="en-US" sz="1800" b="0" i="0" u="none" strike="noStrike" kern="1200" cap="none" spc="0" normalizeH="0" baseline="0" noProof="0" smtClean="0">
                <a:ln>
                  <a:noFill/>
                </a:ln>
                <a:solidFill>
                  <a:srgbClr val="000000"/>
                </a:solidFill>
                <a:effectLst/>
                <a:uLnTx/>
                <a:uFillTx/>
                <a:latin typeface="Graphi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126" name="TextBox 125">
            <a:extLst>
              <a:ext uri="{FF2B5EF4-FFF2-40B4-BE49-F238E27FC236}">
                <a16:creationId xmlns:a16="http://schemas.microsoft.com/office/drawing/2014/main" id="{EEC953B8-A3F6-4C3F-6CE0-DB056ED72F5B}"/>
              </a:ext>
            </a:extLst>
          </p:cNvPr>
          <p:cNvSpPr txBox="1"/>
          <p:nvPr>
            <p:extLst>
              <p:ext uri="{1162E1C5-73C7-4A58-AE30-91384D911F3F}">
                <p184:classification xmlns:p184="http://schemas.microsoft.com/office/powerpoint/2018/4/main" val="hdr"/>
              </p:ext>
            </p:extLst>
          </p:nvPr>
        </p:nvSpPr>
        <p:spPr>
          <a:xfrm>
            <a:off x="4610601" y="78170"/>
            <a:ext cx="3641223" cy="153888"/>
          </a:xfrm>
          <a:prstGeom prst="rect">
            <a:avLst/>
          </a:prstGeom>
        </p:spPr>
        <p:txBody>
          <a:bodyPr horzOverflow="overflow"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***Confidential - For Company Internal Use Only***</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7500C0"/>
                </a:solidFill>
                <a:effectLst/>
                <a:uLnTx/>
                <a:uFillTx/>
                <a:latin typeface="Graphik"/>
                <a:ea typeface="+mj-ea"/>
                <a:cs typeface="+mj-cs"/>
              </a:rPr>
              <a:t>Interoperability Architecture </a:t>
            </a:r>
            <a:r>
              <a:rPr kumimoji="0" lang="en-US" sz="2400" b="1" i="0" u="none" strike="noStrike" kern="1200" cap="none" spc="0" normalizeH="0" baseline="0" noProof="0" dirty="0">
                <a:ln>
                  <a:noFill/>
                </a:ln>
                <a:solidFill>
                  <a:srgbClr val="000000"/>
                </a:solidFill>
                <a:effectLst/>
                <a:uLnTx/>
                <a:uFillTx/>
                <a:latin typeface="Graphik"/>
                <a:ea typeface="+mj-ea"/>
                <a:cs typeface="+mj-cs"/>
              </a:rPr>
              <a:t>| Distributed Trns - Service Orchestration</a:t>
            </a: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n-US" sz="1000" b="1" i="0" dirty="0">
                <a:solidFill>
                  <a:srgbClr val="7500C0"/>
                </a:solidFill>
                <a:latin typeface="Graphik"/>
                <a:cs typeface="Graphik"/>
              </a:rPr>
              <a:t>DOMAIN CAPABILITY    |    DOMAIN 6.0    |    4 SUB-CAPABILITIES</a:t>
            </a:r>
          </a:p>
        </p:txBody>
      </p:sp>
      <p:graphicFrame>
        <p:nvGraphicFramePr>
          <p:cNvPr id="100" name="DetailTable"/>
          <p:cNvGraphicFramePr>
            <a:graphicFrameLocks noGrp="1"/>
          </p:cNvGraphicFramePr>
          <p:nvPr>
            <p:extLst>
              <p:ext uri="{D42A27DB-BD31-4B8C-83A1-F6EECF244321}">
                <p14:modId xmlns:p14="http://schemas.microsoft.com/office/powerpoint/2010/main" val="3441565472"/>
              </p:ext>
            </p:extLst>
          </p:nvPr>
        </p:nvGraphicFramePr>
        <p:xfrm>
          <a:off x="381000" y="1015000"/>
          <a:ext cx="11430000" cy="445190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n-US" sz="1000" b="1" i="0" dirty="0">
                          <a:solidFill>
                            <a:srgbClr val="FFFFFF"/>
                          </a:solidFill>
                          <a:latin typeface="Graphik"/>
                          <a:cs typeface="Graphik"/>
                        </a:rPr>
                        <a:t>Sub-capability</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Description</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Purpose</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Solutions in Coppel</a:t>
                      </a:r>
                    </a:p>
                  </a:txBody>
                  <a:tcPr marL="82000" marR="82000" marT="38000" marB="38000" anchor="ctr">
                    <a:solidFill>
                      <a:srgbClr val="7500C0"/>
                    </a:solidFill>
                  </a:tcPr>
                </a:tc>
                <a:extLst>
                  <a:ext uri="{0D108BD9-81ED-4DB2-BD59-A6C34878D82A}">
                    <a16:rowId xmlns:a16="http://schemas.microsoft.com/office/drawing/2014/main" val="10000"/>
                  </a:ext>
                </a:extLst>
              </a:tr>
              <a:tr h="1000256">
                <a:tc>
                  <a:txBody>
                    <a:bodyPr/>
                    <a:lstStyle/>
                    <a:p>
                      <a:pPr marL="0" indent="0" algn="l">
                        <a:lnSpc>
                          <a:spcPct val="104000"/>
                        </a:lnSpc>
                        <a:spcBef>
                          <a:spcPts val="30"/>
                        </a:spcBef>
                        <a:buNone/>
                      </a:pPr>
                      <a:r>
                        <a:rPr lang="en-US" sz="800" b="1" i="0" dirty="0">
                          <a:solidFill>
                            <a:srgbClr val="9B7BC7"/>
                          </a:solidFill>
                          <a:latin typeface="Graphik"/>
                          <a:cs typeface="Graphik"/>
                        </a:rPr>
                        <a:t>8.1  </a:t>
                      </a:r>
                      <a:r>
                        <a:rPr lang="en-US" sz="950" b="1" i="0" dirty="0">
                          <a:solidFill>
                            <a:srgbClr val="7500C0"/>
                          </a:solidFill>
                          <a:latin typeface="Graphik"/>
                          <a:cs typeface="Graphik"/>
                        </a:rPr>
                        <a:t>Service Orchestrator</a:t>
                      </a:r>
                    </a:p>
                  </a:txBody>
                  <a:tcPr marL="82000" marR="82000" marT="38000" marB="38000" anchor="ctr">
                    <a:solidFill>
                      <a:srgbClr val="EFE7F7"/>
                    </a:solidFill>
                  </a:tcPr>
                </a:tc>
                <a:tc>
                  <a:txBody>
                    <a:bodyPr/>
                    <a:lstStyle/>
                    <a:p>
                      <a:pPr marL="0" indent="0" algn="l">
                        <a:lnSpc>
                          <a:spcPct val="108000"/>
                        </a:lnSpc>
                        <a:spcBef>
                          <a:spcPts val="30"/>
                        </a:spcBef>
                        <a:buNone/>
                      </a:pPr>
                      <a:r>
                        <a:rPr lang="en-US" sz="900" b="0" i="0" dirty="0">
                          <a:solidFill>
                            <a:srgbClr val="2B2B2B"/>
                          </a:solidFill>
                          <a:latin typeface="Graphik"/>
                          <a:cs typeface="Graphik"/>
                        </a:rPr>
                        <a:t>The engine that decomposes a complex service into an ordered or parallel set of fine-grained service invocations and manages their execution, results and exceptions.</a:t>
                      </a:r>
                    </a:p>
                  </a:txBody>
                  <a:tcPr marL="82000" marR="82000" marT="38000" marB="38000" anchor="ctr">
                    <a:solidFill>
                      <a:srgbClr val="FFFFFF"/>
                    </a:solidFill>
                  </a:tcPr>
                </a:tc>
                <a:tc>
                  <a:txBody>
                    <a:bodyPr/>
                    <a:lstStyle/>
                    <a:p>
                      <a:pPr marL="0" indent="0" algn="l">
                        <a:lnSpc>
                          <a:spcPct val="108000"/>
                        </a:lnSpc>
                        <a:spcBef>
                          <a:spcPts val="30"/>
                        </a:spcBef>
                        <a:buNone/>
                      </a:pPr>
                      <a:r>
                        <a:rPr lang="en-US" sz="900" b="0" i="0" dirty="0">
                          <a:solidFill>
                            <a:srgbClr val="444444"/>
                          </a:solidFill>
                          <a:latin typeface="Graphik"/>
                          <a:cs typeface="Graphik"/>
                        </a:rPr>
                        <a:t>Concentrates cross-system business logic in one governed, visible place instead of dispersing it across channels and cores.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MuleSoft orchestration</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Software AG WebMethods BPM/BRM</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Apigee invocation management</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Modyo Connect state-machine style flow orchestration</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DataDog diagnostics</a:t>
                      </a:r>
                    </a:p>
                  </a:txBody>
                  <a:tcPr marL="82000" marR="82000" marT="38000" marB="38000" anchor="ctr">
                    <a:solidFill>
                      <a:srgbClr val="FFFFFF"/>
                    </a:solidFill>
                  </a:tcPr>
                </a:tc>
                <a:extLst>
                  <a:ext uri="{0D108BD9-81ED-4DB2-BD59-A6C34878D82A}">
                    <a16:rowId xmlns:a16="http://schemas.microsoft.com/office/drawing/2014/main" val="10001"/>
                  </a:ext>
                </a:extLst>
              </a:tr>
              <a:tr h="1151132">
                <a:tc>
                  <a:txBody>
                    <a:bodyPr/>
                    <a:lstStyle/>
                    <a:p>
                      <a:pPr marL="0" indent="0" algn="l">
                        <a:lnSpc>
                          <a:spcPct val="104000"/>
                        </a:lnSpc>
                        <a:spcBef>
                          <a:spcPts val="30"/>
                        </a:spcBef>
                        <a:buNone/>
                      </a:pPr>
                      <a:r>
                        <a:rPr lang="en-US" sz="800" b="1" i="0" dirty="0">
                          <a:solidFill>
                            <a:srgbClr val="9B7BC7"/>
                          </a:solidFill>
                          <a:latin typeface="Graphik"/>
                          <a:cs typeface="Graphik"/>
                        </a:rPr>
                        <a:t>8.2  </a:t>
                      </a:r>
                      <a:r>
                        <a:rPr lang="en-US" sz="950" b="1" i="0" dirty="0">
                          <a:solidFill>
                            <a:srgbClr val="7500C0"/>
                          </a:solidFill>
                          <a:latin typeface="Graphik"/>
                          <a:cs typeface="Graphik"/>
                        </a:rPr>
                        <a:t>Integration &amp; Mediation Framework</a:t>
                      </a:r>
                    </a:p>
                  </a:txBody>
                  <a:tcPr marL="82000" marR="82000" marT="38000" marB="38000" anchor="ctr">
                    <a:solidFill>
                      <a:srgbClr val="E9DEF4"/>
                    </a:solidFill>
                  </a:tcPr>
                </a:tc>
                <a:tc>
                  <a:txBody>
                    <a:bodyPr/>
                    <a:lstStyle/>
                    <a:p>
                      <a:pPr marL="0" indent="0" algn="l">
                        <a:lnSpc>
                          <a:spcPct val="108000"/>
                        </a:lnSpc>
                        <a:spcBef>
                          <a:spcPts val="30"/>
                        </a:spcBef>
                        <a:buNone/>
                      </a:pPr>
                      <a:r>
                        <a:rPr lang="en-US" sz="900" b="0" i="0" dirty="0">
                          <a:solidFill>
                            <a:srgbClr val="2B2B2B"/>
                          </a:solidFill>
                          <a:latin typeface="Graphik"/>
                          <a:cs typeface="Graphik"/>
                        </a:rPr>
                        <a:t>Transformation, mapping and protocol-bridging services that reconcile differing data contracts, formats and communication mechanisms between participating platforms.</a:t>
                      </a:r>
                    </a:p>
                  </a:txBody>
                  <a:tcPr marL="82000" marR="82000" marT="38000" marB="38000" anchor="ctr">
                    <a:solidFill>
                      <a:srgbClr val="F6F2FB"/>
                    </a:solidFill>
                  </a:tcPr>
                </a:tc>
                <a:tc>
                  <a:txBody>
                    <a:bodyPr/>
                    <a:lstStyle/>
                    <a:p>
                      <a:pPr marL="0" indent="0" algn="l">
                        <a:lnSpc>
                          <a:spcPct val="108000"/>
                        </a:lnSpc>
                        <a:spcBef>
                          <a:spcPts val="30"/>
                        </a:spcBef>
                        <a:buNone/>
                      </a:pPr>
                      <a:r>
                        <a:rPr lang="en-US" sz="900" b="0" i="0" dirty="0">
                          <a:solidFill>
                            <a:srgbClr val="444444"/>
                          </a:solidFill>
                          <a:latin typeface="Graphik"/>
                          <a:cs typeface="Graphik"/>
                        </a:rPr>
                        <a:t>Absorbs heterogeneity so that adding a new processor or provider is an adaptor exercise rather than a change to the consuming estate.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MuleSoft</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WebMethods</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Apigee</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Modyo Connect</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BIAN services</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Interfaces Temporales/Strangler Fig</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Transact OFS/IRIS APIs</a:t>
                      </a:r>
                    </a:p>
                  </a:txBody>
                  <a:tcPr marL="82000" marR="82000" marT="38000" marB="38000" anchor="ctr">
                    <a:solidFill>
                      <a:srgbClr val="F6F2FB"/>
                    </a:solidFill>
                  </a:tcPr>
                </a:tc>
                <a:extLst>
                  <a:ext uri="{0D108BD9-81ED-4DB2-BD59-A6C34878D82A}">
                    <a16:rowId xmlns:a16="http://schemas.microsoft.com/office/drawing/2014/main" val="10002"/>
                  </a:ext>
                </a:extLst>
              </a:tr>
              <a:tr h="849380">
                <a:tc>
                  <a:txBody>
                    <a:bodyPr/>
                    <a:lstStyle/>
                    <a:p>
                      <a:pPr marL="0" indent="0" algn="l">
                        <a:lnSpc>
                          <a:spcPct val="104000"/>
                        </a:lnSpc>
                        <a:spcBef>
                          <a:spcPts val="30"/>
                        </a:spcBef>
                        <a:buNone/>
                      </a:pPr>
                      <a:r>
                        <a:rPr lang="en-US" sz="800" b="1" i="0" dirty="0">
                          <a:solidFill>
                            <a:srgbClr val="9B7BC7"/>
                          </a:solidFill>
                          <a:latin typeface="Graphik"/>
                          <a:cs typeface="Graphik"/>
                        </a:rPr>
                        <a:t>8.3  </a:t>
                      </a:r>
                      <a:r>
                        <a:rPr lang="en-US" sz="950" b="1" i="0" dirty="0">
                          <a:solidFill>
                            <a:srgbClr val="7500C0"/>
                          </a:solidFill>
                          <a:latin typeface="Graphik"/>
                          <a:cs typeface="Graphik"/>
                        </a:rPr>
                        <a:t>Context Management</a:t>
                      </a:r>
                    </a:p>
                  </a:txBody>
                  <a:tcPr marL="82000" marR="82000" marT="38000" marB="38000" anchor="ctr">
                    <a:solidFill>
                      <a:srgbClr val="EFE7F7"/>
                    </a:solidFill>
                  </a:tcPr>
                </a:tc>
                <a:tc>
                  <a:txBody>
                    <a:bodyPr/>
                    <a:lstStyle/>
                    <a:p>
                      <a:pPr marL="0" indent="0" algn="l">
                        <a:lnSpc>
                          <a:spcPct val="108000"/>
                        </a:lnSpc>
                        <a:spcBef>
                          <a:spcPts val="30"/>
                        </a:spcBef>
                        <a:buNone/>
                      </a:pPr>
                      <a:r>
                        <a:rPr lang="en-US" sz="900" b="0" i="0" dirty="0">
                          <a:solidFill>
                            <a:srgbClr val="2B2B2B"/>
                          </a:solidFill>
                          <a:latin typeface="Graphik"/>
                          <a:cs typeface="Graphik"/>
                        </a:rPr>
                        <a:t>Capture, propagation and consistent availability of execution context - identity, channel, entity, locale, correlation, entitlements - across every hop of a composed service.</a:t>
                      </a:r>
                    </a:p>
                  </a:txBody>
                  <a:tcPr marL="82000" marR="82000" marT="38000" marB="38000" anchor="ctr">
                    <a:solidFill>
                      <a:srgbClr val="FFFFFF"/>
                    </a:solidFill>
                  </a:tcPr>
                </a:tc>
                <a:tc>
                  <a:txBody>
                    <a:bodyPr/>
                    <a:lstStyle/>
                    <a:p>
                      <a:pPr marL="0" indent="0" algn="l">
                        <a:lnSpc>
                          <a:spcPct val="108000"/>
                        </a:lnSpc>
                        <a:spcBef>
                          <a:spcPts val="30"/>
                        </a:spcBef>
                        <a:buNone/>
                      </a:pPr>
                      <a:r>
                        <a:rPr lang="en-US" sz="900" b="0" i="0" dirty="0">
                          <a:solidFill>
                            <a:srgbClr val="444444"/>
                          </a:solidFill>
                          <a:latin typeface="Graphik"/>
                          <a:cs typeface="Graphik"/>
                        </a:rPr>
                        <a:t>Without propagated context, distributed audit, entitlement enforcement and tracing all break at the first system boundary.</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Golden Record / Party-CIF</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Transact Product Catalog and AA Framework</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BRM</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Apigee/MuleSoft context propagation</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not a separate registry product in sources</a:t>
                      </a:r>
                    </a:p>
                  </a:txBody>
                  <a:tcPr marL="82000" marR="82000" marT="38000" marB="38000" anchor="ctr">
                    <a:solidFill>
                      <a:srgbClr val="FFFFFF"/>
                    </a:solidFill>
                  </a:tcPr>
                </a:tc>
                <a:extLst>
                  <a:ext uri="{0D108BD9-81ED-4DB2-BD59-A6C34878D82A}">
                    <a16:rowId xmlns:a16="http://schemas.microsoft.com/office/drawing/2014/main" val="10003"/>
                  </a:ext>
                </a:extLst>
              </a:tr>
              <a:tr h="1151132">
                <a:tc>
                  <a:txBody>
                    <a:bodyPr/>
                    <a:lstStyle/>
                    <a:p>
                      <a:pPr marL="0" indent="0" algn="l">
                        <a:lnSpc>
                          <a:spcPct val="104000"/>
                        </a:lnSpc>
                        <a:spcBef>
                          <a:spcPts val="30"/>
                        </a:spcBef>
                        <a:buNone/>
                      </a:pPr>
                      <a:r>
                        <a:rPr lang="en-US" sz="800" b="1" i="0" dirty="0">
                          <a:solidFill>
                            <a:srgbClr val="9B7BC7"/>
                          </a:solidFill>
                          <a:latin typeface="Graphik"/>
                          <a:cs typeface="Graphik"/>
                        </a:rPr>
                        <a:t>8.4  </a:t>
                      </a:r>
                      <a:r>
                        <a:rPr lang="en-US" sz="950" b="1" i="0" dirty="0">
                          <a:solidFill>
                            <a:srgbClr val="7500C0"/>
                          </a:solidFill>
                          <a:latin typeface="Graphik"/>
                          <a:cs typeface="Graphik"/>
                        </a:rPr>
                        <a:t>Legacy Adaptors</a:t>
                      </a:r>
                    </a:p>
                  </a:txBody>
                  <a:tcPr marL="82000" marR="82000" marT="38000" marB="38000" anchor="ctr">
                    <a:solidFill>
                      <a:srgbClr val="E9DEF4"/>
                    </a:solidFill>
                  </a:tcPr>
                </a:tc>
                <a:tc>
                  <a:txBody>
                    <a:bodyPr/>
                    <a:lstStyle/>
                    <a:p>
                      <a:pPr marL="0" indent="0" algn="l">
                        <a:lnSpc>
                          <a:spcPct val="108000"/>
                        </a:lnSpc>
                        <a:spcBef>
                          <a:spcPts val="30"/>
                        </a:spcBef>
                        <a:buNone/>
                      </a:pPr>
                      <a:r>
                        <a:rPr lang="en-US" sz="900" b="0" i="0" dirty="0">
                          <a:solidFill>
                            <a:srgbClr val="2B2B2B"/>
                          </a:solidFill>
                          <a:latin typeface="Graphik"/>
                          <a:cs typeface="Graphik"/>
                        </a:rPr>
                        <a:t>Service wrappers and platform-specific adaptors that expose legacy-resident functions as standard APIs and events, bridging from the microservices architecture to mainframe and proprietary platforms.</a:t>
                      </a:r>
                    </a:p>
                  </a:txBody>
                  <a:tcPr marL="82000" marR="82000" marT="38000" marB="38000" anchor="ctr">
                    <a:solidFill>
                      <a:srgbClr val="F6F2FB"/>
                    </a:solidFill>
                  </a:tcPr>
                </a:tc>
                <a:tc>
                  <a:txBody>
                    <a:bodyPr/>
                    <a:lstStyle/>
                    <a:p>
                      <a:pPr marL="0" indent="0" algn="l">
                        <a:lnSpc>
                          <a:spcPct val="108000"/>
                        </a:lnSpc>
                        <a:spcBef>
                          <a:spcPts val="30"/>
                        </a:spcBef>
                        <a:buNone/>
                      </a:pPr>
                      <a:r>
                        <a:rPr lang="en-US" sz="900" b="0" i="0" dirty="0">
                          <a:solidFill>
                            <a:srgbClr val="444444"/>
                          </a:solidFill>
                          <a:latin typeface="Graphik"/>
                          <a:cs typeface="Graphik"/>
                        </a:rPr>
                        <a:t>The workhorse coexistence capability: it makes legacy function consumable by modern journeys without modifying legacy code, which is what allows modernisation to be incremental and reversible.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Interfaces Temporales using Strangler Fig/ByPass</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PISA/Informix wrappers</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Apificación OfiWeb</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Teller Multi Core</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batch/COB interfaces and decommissioning roadmap</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21" name="Rectangle 20">
            <a:extLst>
              <a:ext uri="{FF2B5EF4-FFF2-40B4-BE49-F238E27FC236}">
                <a16:creationId xmlns:a16="http://schemas.microsoft.com/office/drawing/2014/main" id="{B0DB6840-F5CF-531D-F01E-93A2A6743DB2}"/>
              </a:ext>
            </a:extLst>
          </p:cNvPr>
          <p:cNvSpPr>
            <a:spLocks noChangeAspect="1"/>
          </p:cNvSpPr>
          <p:nvPr/>
        </p:nvSpPr>
        <p:spPr>
          <a:xfrm>
            <a:off x="1936750" y="6410745"/>
            <a:ext cx="640842" cy="18450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GAP</a:t>
            </a:r>
          </a:p>
        </p:txBody>
      </p:sp>
      <p:sp>
        <p:nvSpPr>
          <p:cNvPr id="24" name="Rectangle 23">
            <a:extLst>
              <a:ext uri="{FF2B5EF4-FFF2-40B4-BE49-F238E27FC236}">
                <a16:creationId xmlns:a16="http://schemas.microsoft.com/office/drawing/2014/main" id="{02756FC8-D5CA-CAA7-9BFA-18C852408B61}"/>
              </a:ext>
            </a:extLst>
          </p:cNvPr>
          <p:cNvSpPr>
            <a:spLocks noChangeAspect="1"/>
          </p:cNvSpPr>
          <p:nvPr/>
        </p:nvSpPr>
        <p:spPr>
          <a:xfrm>
            <a:off x="1936750" y="6191083"/>
            <a:ext cx="640842" cy="18450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Target</a:t>
            </a:r>
          </a:p>
        </p:txBody>
      </p:sp>
      <p:sp>
        <p:nvSpPr>
          <p:cNvPr id="26" name="Rectangle 25">
            <a:extLst>
              <a:ext uri="{FF2B5EF4-FFF2-40B4-BE49-F238E27FC236}">
                <a16:creationId xmlns:a16="http://schemas.microsoft.com/office/drawing/2014/main" id="{B8961AD3-2DAF-7F27-9A0F-176A37CEF01A}"/>
              </a:ext>
            </a:extLst>
          </p:cNvPr>
          <p:cNvSpPr>
            <a:spLocks noChangeAspect="1"/>
          </p:cNvSpPr>
          <p:nvPr/>
        </p:nvSpPr>
        <p:spPr>
          <a:xfrm>
            <a:off x="1936750" y="6620295"/>
            <a:ext cx="640842" cy="18450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Discard</a:t>
            </a:r>
          </a:p>
        </p:txBody>
      </p:sp>
      <p:sp>
        <p:nvSpPr>
          <p:cNvPr id="28" name="Oval 27">
            <a:extLst>
              <a:ext uri="{FF2B5EF4-FFF2-40B4-BE49-F238E27FC236}">
                <a16:creationId xmlns:a16="http://schemas.microsoft.com/office/drawing/2014/main" id="{456269DC-7BEC-E470-937E-42220D9CB9DB}"/>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High</a:t>
            </a:r>
          </a:p>
        </p:txBody>
      </p:sp>
      <p:sp>
        <p:nvSpPr>
          <p:cNvPr id="30" name="Rectangle 29">
            <a:extLst>
              <a:ext uri="{FF2B5EF4-FFF2-40B4-BE49-F238E27FC236}">
                <a16:creationId xmlns:a16="http://schemas.microsoft.com/office/drawing/2014/main" id="{FD05A3A2-7106-9D2F-78D8-DBF3E488C9BE}"/>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Capability Assessment</a:t>
            </a:r>
          </a:p>
        </p:txBody>
      </p:sp>
      <p:sp>
        <p:nvSpPr>
          <p:cNvPr id="32" name="Rectangle 31">
            <a:extLst>
              <a:ext uri="{FF2B5EF4-FFF2-40B4-BE49-F238E27FC236}">
                <a16:creationId xmlns:a16="http://schemas.microsoft.com/office/drawing/2014/main" id="{487ABC8A-CB63-F39C-9D7D-4863294C4884}"/>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Priority</a:t>
            </a:r>
          </a:p>
        </p:txBody>
      </p:sp>
      <p:sp>
        <p:nvSpPr>
          <p:cNvPr id="34" name="Oval 33">
            <a:extLst>
              <a:ext uri="{FF2B5EF4-FFF2-40B4-BE49-F238E27FC236}">
                <a16:creationId xmlns:a16="http://schemas.microsoft.com/office/drawing/2014/main" id="{60CD5708-1936-5894-35A5-8F9D0F54CCA5}"/>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Med</a:t>
            </a:r>
          </a:p>
        </p:txBody>
      </p:sp>
      <p:sp>
        <p:nvSpPr>
          <p:cNvPr id="36" name="Oval 35">
            <a:extLst>
              <a:ext uri="{FF2B5EF4-FFF2-40B4-BE49-F238E27FC236}">
                <a16:creationId xmlns:a16="http://schemas.microsoft.com/office/drawing/2014/main" id="{8C0CA0FE-587F-4126-A46B-4E1AC52111C0}"/>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Low</a:t>
            </a:r>
          </a:p>
        </p:txBody>
      </p:sp>
    </p:spTree>
    <p:extLst>
      <p:ext uri="{BB962C8B-B14F-4D97-AF65-F5344CB8AC3E}">
        <p14:creationId xmlns:p14="http://schemas.microsoft.com/office/powerpoint/2010/main" val="11453989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All rights reserved.</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F8EB60C-7CC2-49F0-B2EE-C81F067DE041}" type="slidenum">
              <a:rPr kumimoji="0" lang="en-US" sz="1800" b="0" i="0" u="none" strike="noStrike" kern="1200" cap="none" spc="0" normalizeH="0" baseline="0" noProof="0" smtClean="0">
                <a:ln>
                  <a:noFill/>
                </a:ln>
                <a:solidFill>
                  <a:srgbClr val="000000"/>
                </a:solidFill>
                <a:effectLst/>
                <a:uLnTx/>
                <a:uFillTx/>
                <a:latin typeface="Graphi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126" name="TextBox 125">
            <a:extLst>
              <a:ext uri="{FF2B5EF4-FFF2-40B4-BE49-F238E27FC236}">
                <a16:creationId xmlns:a16="http://schemas.microsoft.com/office/drawing/2014/main" id="{EEC953B8-A3F6-4C3F-6CE0-DB056ED72F5B}"/>
              </a:ext>
            </a:extLst>
          </p:cNvPr>
          <p:cNvSpPr txBox="1"/>
          <p:nvPr>
            <p:extLst>
              <p:ext uri="{1162E1C5-73C7-4A58-AE30-91384D911F3F}">
                <p184:classification xmlns:p184="http://schemas.microsoft.com/office/powerpoint/2018/4/main" val="hdr"/>
              </p:ext>
            </p:extLst>
          </p:nvPr>
        </p:nvSpPr>
        <p:spPr>
          <a:xfrm>
            <a:off x="4610601" y="78170"/>
            <a:ext cx="3641223" cy="153888"/>
          </a:xfrm>
          <a:prstGeom prst="rect">
            <a:avLst/>
          </a:prstGeom>
        </p:spPr>
        <p:txBody>
          <a:bodyPr horzOverflow="overflow"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***Confidential - For Company Internal Use Only***</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Interoperability Architecture </a:t>
            </a:r>
            <a:r>
              <a:rPr kumimoji="0" lang="en-US" sz="2400" b="1" i="0" u="none" strike="noStrike" kern="1200" cap="none" spc="0" normalizeH="0" baseline="0" noProof="0">
                <a:ln>
                  <a:noFill/>
                </a:ln>
                <a:solidFill>
                  <a:srgbClr val="000000"/>
                </a:solidFill>
                <a:effectLst/>
                <a:uLnTx/>
                <a:uFillTx/>
                <a:latin typeface="Graphik"/>
                <a:ea typeface="+mj-ea"/>
                <a:cs typeface="+mj-cs"/>
              </a:rPr>
              <a:t>| Process Orchestration</a:t>
            </a: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n-US" sz="1000" b="1" i="0" dirty="0">
                <a:solidFill>
                  <a:srgbClr val="7500C0"/>
                </a:solidFill>
                <a:latin typeface="Graphik"/>
                <a:cs typeface="Graphik"/>
              </a:rPr>
              <a:t>DOMAIN CAPABILITY    |    4 SUB-CAPABILITIES</a:t>
            </a:r>
          </a:p>
        </p:txBody>
      </p:sp>
      <p:graphicFrame>
        <p:nvGraphicFramePr>
          <p:cNvPr id="100" name="DetailTable"/>
          <p:cNvGraphicFramePr>
            <a:graphicFrameLocks noGrp="1"/>
          </p:cNvGraphicFramePr>
          <p:nvPr>
            <p:extLst>
              <p:ext uri="{D42A27DB-BD31-4B8C-83A1-F6EECF244321}">
                <p14:modId xmlns:p14="http://schemas.microsoft.com/office/powerpoint/2010/main" val="2788319540"/>
              </p:ext>
            </p:extLst>
          </p:nvPr>
        </p:nvGraphicFramePr>
        <p:xfrm>
          <a:off x="381000" y="1015000"/>
          <a:ext cx="11430000" cy="420044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n-US" sz="1000" b="1" i="0" dirty="0">
                          <a:solidFill>
                            <a:srgbClr val="FFFFFF"/>
                          </a:solidFill>
                          <a:latin typeface="Graphik"/>
                          <a:cs typeface="Graphik"/>
                        </a:rPr>
                        <a:t>Sub-capability</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Description</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Purpose</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Solutions in Coppel</a:t>
                      </a:r>
                    </a:p>
                  </a:txBody>
                  <a:tcPr marL="82000" marR="82000" marT="38000" marB="38000" anchor="ctr">
                    <a:solidFill>
                      <a:srgbClr val="7500C0"/>
                    </a:solidFill>
                  </a:tcPr>
                </a:tc>
                <a:extLst>
                  <a:ext uri="{0D108BD9-81ED-4DB2-BD59-A6C34878D82A}">
                    <a16:rowId xmlns:a16="http://schemas.microsoft.com/office/drawing/2014/main" val="10000"/>
                  </a:ext>
                </a:extLst>
              </a:tr>
              <a:tr h="1100840">
                <a:tc>
                  <a:txBody>
                    <a:bodyPr/>
                    <a:lstStyle/>
                    <a:p>
                      <a:pPr marL="0" indent="0" algn="l">
                        <a:lnSpc>
                          <a:spcPct val="104000"/>
                        </a:lnSpc>
                        <a:spcBef>
                          <a:spcPts val="30"/>
                        </a:spcBef>
                        <a:buNone/>
                      </a:pPr>
                      <a:r>
                        <a:rPr lang="en-US" sz="900" b="1" i="0" dirty="0">
                          <a:solidFill>
                            <a:srgbClr val="9B7BC7"/>
                          </a:solidFill>
                          <a:latin typeface="Graphik"/>
                          <a:cs typeface="Graphik"/>
                        </a:rPr>
                        <a:t>9.1  </a:t>
                      </a:r>
                      <a:r>
                        <a:rPr lang="en-US" sz="1050" b="1" i="0" dirty="0">
                          <a:solidFill>
                            <a:srgbClr val="7500C0"/>
                          </a:solidFill>
                          <a:latin typeface="Graphik"/>
                          <a:cs typeface="Graphik"/>
                        </a:rPr>
                        <a:t>Workflow Services</a:t>
                      </a:r>
                    </a:p>
                  </a:txBody>
                  <a:tcPr marL="82000" marR="82000" marT="38000" marB="38000" anchor="ctr">
                    <a:solidFill>
                      <a:srgbClr val="EFE7F7"/>
                    </a:solidFill>
                  </a:tcPr>
                </a:tc>
                <a:tc>
                  <a:txBody>
                    <a:bodyPr/>
                    <a:lstStyle/>
                    <a:p>
                      <a:pPr marL="0" indent="0" algn="l">
                        <a:lnSpc>
                          <a:spcPct val="108000"/>
                        </a:lnSpc>
                        <a:spcBef>
                          <a:spcPts val="30"/>
                        </a:spcBef>
                        <a:buNone/>
                      </a:pPr>
                      <a:r>
                        <a:rPr lang="en-US" sz="1000" b="0" i="0" dirty="0">
                          <a:solidFill>
                            <a:srgbClr val="2B2B2B"/>
                          </a:solidFill>
                          <a:latin typeface="Graphik"/>
                          <a:cs typeface="Graphik"/>
                        </a:rPr>
                        <a:t>Definition, versioning and execution of multi-step business processes spanning services, systems and human participants.</a:t>
                      </a:r>
                    </a:p>
                  </a:txBody>
                  <a:tcPr marL="82000" marR="82000" marT="38000" marB="38000" anchor="ctr">
                    <a:solidFill>
                      <a:srgbClr val="FFFFFF"/>
                    </a:solidFill>
                  </a:tcPr>
                </a:tc>
                <a:tc>
                  <a:txBody>
                    <a:bodyPr/>
                    <a:lstStyle/>
                    <a:p>
                      <a:pPr marL="0" indent="0" algn="l">
                        <a:lnSpc>
                          <a:spcPct val="108000"/>
                        </a:lnSpc>
                        <a:spcBef>
                          <a:spcPts val="30"/>
                        </a:spcBef>
                        <a:buNone/>
                      </a:pPr>
                      <a:r>
                        <a:rPr lang="en-US" sz="1000" b="0" i="0" dirty="0">
                          <a:solidFill>
                            <a:srgbClr val="444444"/>
                          </a:solidFill>
                          <a:latin typeface="Graphik"/>
                          <a:cs typeface="Graphik"/>
                        </a:rPr>
                        <a:t>Makes process logic explicit and changeable by design authority rather than implicit in code across several systems.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WebMethods BPM</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Modyo Connect workflow/state-machine</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Flow Engineering/Jira work management for delivery</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process flows across Apolo, SmartVista and Transact</a:t>
                      </a:r>
                    </a:p>
                  </a:txBody>
                  <a:tcPr marL="82000" marR="82000" marT="38000" marB="38000" anchor="ctr">
                    <a:solidFill>
                      <a:srgbClr val="FFFFFF"/>
                    </a:solidFill>
                  </a:tcPr>
                </a:tc>
                <a:extLst>
                  <a:ext uri="{0D108BD9-81ED-4DB2-BD59-A6C34878D82A}">
                    <a16:rowId xmlns:a16="http://schemas.microsoft.com/office/drawing/2014/main" val="10001"/>
                  </a:ext>
                </a:extLst>
              </a:tr>
              <a:tr h="1100840">
                <a:tc>
                  <a:txBody>
                    <a:bodyPr/>
                    <a:lstStyle/>
                    <a:p>
                      <a:pPr marL="0" indent="0" algn="l">
                        <a:lnSpc>
                          <a:spcPct val="104000"/>
                        </a:lnSpc>
                        <a:spcBef>
                          <a:spcPts val="30"/>
                        </a:spcBef>
                        <a:buNone/>
                      </a:pPr>
                      <a:r>
                        <a:rPr lang="en-US" sz="900" b="1" i="0" dirty="0">
                          <a:solidFill>
                            <a:srgbClr val="9B7BC7"/>
                          </a:solidFill>
                          <a:latin typeface="Graphik"/>
                          <a:cs typeface="Graphik"/>
                        </a:rPr>
                        <a:t>9.2  </a:t>
                      </a:r>
                      <a:r>
                        <a:rPr lang="en-US" sz="1050" b="1" i="0" dirty="0">
                          <a:solidFill>
                            <a:srgbClr val="7500C0"/>
                          </a:solidFill>
                          <a:latin typeface="Graphik"/>
                          <a:cs typeface="Graphik"/>
                        </a:rPr>
                        <a:t>Human Task Management</a:t>
                      </a:r>
                    </a:p>
                  </a:txBody>
                  <a:tcPr marL="82000" marR="82000" marT="38000" marB="38000" anchor="ctr">
                    <a:solidFill>
                      <a:srgbClr val="E9DEF4"/>
                    </a:solidFill>
                  </a:tcPr>
                </a:tc>
                <a:tc>
                  <a:txBody>
                    <a:bodyPr/>
                    <a:lstStyle/>
                    <a:p>
                      <a:pPr marL="0" indent="0" algn="l">
                        <a:lnSpc>
                          <a:spcPct val="108000"/>
                        </a:lnSpc>
                        <a:spcBef>
                          <a:spcPts val="30"/>
                        </a:spcBef>
                        <a:buNone/>
                      </a:pPr>
                      <a:r>
                        <a:rPr lang="en-US" sz="1000" b="0" i="0" dirty="0">
                          <a:solidFill>
                            <a:srgbClr val="2B2B2B"/>
                          </a:solidFill>
                          <a:latin typeface="Graphik"/>
                          <a:cs typeface="Graphik"/>
                        </a:rPr>
                        <a:t>Creation, assignment, prioritisation and completion of human work items arising from automated processes, including work lists and delegation.</a:t>
                      </a:r>
                    </a:p>
                  </a:txBody>
                  <a:tcPr marL="82000" marR="82000" marT="38000" marB="38000" anchor="ctr">
                    <a:solidFill>
                      <a:srgbClr val="F6F2FB"/>
                    </a:solidFill>
                  </a:tcPr>
                </a:tc>
                <a:tc>
                  <a:txBody>
                    <a:bodyPr/>
                    <a:lstStyle/>
                    <a:p>
                      <a:pPr marL="0" indent="0" algn="l">
                        <a:lnSpc>
                          <a:spcPct val="108000"/>
                        </a:lnSpc>
                        <a:spcBef>
                          <a:spcPts val="30"/>
                        </a:spcBef>
                        <a:buNone/>
                      </a:pPr>
                      <a:r>
                        <a:rPr lang="en-US" sz="1000" b="0" i="0" dirty="0">
                          <a:solidFill>
                            <a:srgbClr val="444444"/>
                          </a:solidFill>
                          <a:latin typeface="Graphik"/>
                          <a:cs typeface="Graphik"/>
                        </a:rPr>
                        <a:t>Integrates the human steps that remain in regulated banking processes without pushing them back into channel applications.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Teller Multi Core for assisted branch tasks</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OnBase/document workflows</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SIWEB/OFI and branch/call-center work queues. No single BPM task tool is fully evidenced</a:t>
                      </a:r>
                    </a:p>
                  </a:txBody>
                  <a:tcPr marL="82000" marR="82000" marT="38000" marB="38000" anchor="ctr">
                    <a:solidFill>
                      <a:srgbClr val="F6F2FB"/>
                    </a:solidFill>
                  </a:tcPr>
                </a:tc>
                <a:extLst>
                  <a:ext uri="{0D108BD9-81ED-4DB2-BD59-A6C34878D82A}">
                    <a16:rowId xmlns:a16="http://schemas.microsoft.com/office/drawing/2014/main" val="10002"/>
                  </a:ext>
                </a:extLst>
              </a:tr>
              <a:tr h="933200">
                <a:tc>
                  <a:txBody>
                    <a:bodyPr/>
                    <a:lstStyle/>
                    <a:p>
                      <a:pPr marL="0" indent="0" algn="l">
                        <a:lnSpc>
                          <a:spcPct val="104000"/>
                        </a:lnSpc>
                        <a:spcBef>
                          <a:spcPts val="30"/>
                        </a:spcBef>
                        <a:buNone/>
                      </a:pPr>
                      <a:r>
                        <a:rPr lang="en-US" sz="900" b="1" i="0" dirty="0">
                          <a:solidFill>
                            <a:srgbClr val="9B7BC7"/>
                          </a:solidFill>
                          <a:latin typeface="Graphik"/>
                          <a:cs typeface="Graphik"/>
                        </a:rPr>
                        <a:t>9.3  </a:t>
                      </a:r>
                      <a:r>
                        <a:rPr lang="en-US" sz="1050" b="1" i="0" dirty="0">
                          <a:solidFill>
                            <a:srgbClr val="7500C0"/>
                          </a:solidFill>
                          <a:latin typeface="Graphik"/>
                          <a:cs typeface="Graphik"/>
                        </a:rPr>
                        <a:t>Process State &amp; Exception Management</a:t>
                      </a:r>
                    </a:p>
                  </a:txBody>
                  <a:tcPr marL="82000" marR="82000" marT="38000" marB="38000" anchor="ctr">
                    <a:solidFill>
                      <a:srgbClr val="EFE7F7"/>
                    </a:solidFill>
                  </a:tcPr>
                </a:tc>
                <a:tc>
                  <a:txBody>
                    <a:bodyPr/>
                    <a:lstStyle/>
                    <a:p>
                      <a:pPr marL="0" indent="0" algn="l">
                        <a:lnSpc>
                          <a:spcPct val="108000"/>
                        </a:lnSpc>
                        <a:spcBef>
                          <a:spcPts val="30"/>
                        </a:spcBef>
                        <a:buNone/>
                      </a:pPr>
                      <a:r>
                        <a:rPr lang="en-US" sz="1000" b="0" i="0" dirty="0">
                          <a:solidFill>
                            <a:srgbClr val="2B2B2B"/>
                          </a:solidFill>
                          <a:latin typeface="Graphik"/>
                          <a:cs typeface="Graphik"/>
                        </a:rPr>
                        <a:t>Durable persistence of long-running process state, together with timeout, escalation, retry and exception handling for stalled or failed instances.</a:t>
                      </a:r>
                    </a:p>
                  </a:txBody>
                  <a:tcPr marL="82000" marR="82000" marT="38000" marB="38000" anchor="ctr">
                    <a:solidFill>
                      <a:srgbClr val="FFFFFF"/>
                    </a:solidFill>
                  </a:tcPr>
                </a:tc>
                <a:tc>
                  <a:txBody>
                    <a:bodyPr/>
                    <a:lstStyle/>
                    <a:p>
                      <a:pPr marL="0" indent="0" algn="l">
                        <a:lnSpc>
                          <a:spcPct val="108000"/>
                        </a:lnSpc>
                        <a:spcBef>
                          <a:spcPts val="30"/>
                        </a:spcBef>
                        <a:buNone/>
                      </a:pPr>
                      <a:r>
                        <a:rPr lang="en-US" sz="1000" b="0" i="0" dirty="0">
                          <a:solidFill>
                            <a:srgbClr val="444444"/>
                          </a:solidFill>
                          <a:latin typeface="Graphik"/>
                          <a:cs typeface="Graphik"/>
                        </a:rPr>
                        <a:t>Long-running processes fail differently from transactions; explicit state and escalation handling is what prevents silent loss of in-flight business.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WebMethods BPM/BRM and Modyo Connect for process state</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PMO/RAID escalation</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fallback/contingency with Interfaces Temporales and PISA</a:t>
                      </a:r>
                    </a:p>
                  </a:txBody>
                  <a:tcPr marL="82000" marR="82000" marT="38000" marB="38000" anchor="ctr">
                    <a:solidFill>
                      <a:srgbClr val="FFFFFF"/>
                    </a:solidFill>
                  </a:tcPr>
                </a:tc>
                <a:extLst>
                  <a:ext uri="{0D108BD9-81ED-4DB2-BD59-A6C34878D82A}">
                    <a16:rowId xmlns:a16="http://schemas.microsoft.com/office/drawing/2014/main" val="10003"/>
                  </a:ext>
                </a:extLst>
              </a:tr>
              <a:tr h="765560">
                <a:tc>
                  <a:txBody>
                    <a:bodyPr/>
                    <a:lstStyle/>
                    <a:p>
                      <a:pPr marL="0" indent="0" algn="l">
                        <a:lnSpc>
                          <a:spcPct val="104000"/>
                        </a:lnSpc>
                        <a:spcBef>
                          <a:spcPts val="30"/>
                        </a:spcBef>
                        <a:buNone/>
                      </a:pPr>
                      <a:r>
                        <a:rPr lang="en-US" sz="900" b="1" i="0" dirty="0">
                          <a:solidFill>
                            <a:srgbClr val="9B7BC7"/>
                          </a:solidFill>
                          <a:latin typeface="Graphik"/>
                          <a:cs typeface="Graphik"/>
                        </a:rPr>
                        <a:t>9.4  </a:t>
                      </a:r>
                      <a:r>
                        <a:rPr lang="en-US" sz="1050" b="1" i="0" dirty="0">
                          <a:solidFill>
                            <a:srgbClr val="7500C0"/>
                          </a:solidFill>
                          <a:latin typeface="Graphik"/>
                          <a:cs typeface="Graphik"/>
                        </a:rPr>
                        <a:t>Process Monitoring &amp; Administration</a:t>
                      </a:r>
                    </a:p>
                  </a:txBody>
                  <a:tcPr marL="82000" marR="82000" marT="38000" marB="38000" anchor="ctr">
                    <a:solidFill>
                      <a:srgbClr val="E9DEF4"/>
                    </a:solidFill>
                  </a:tcPr>
                </a:tc>
                <a:tc>
                  <a:txBody>
                    <a:bodyPr/>
                    <a:lstStyle/>
                    <a:p>
                      <a:pPr marL="0" indent="0" algn="l">
                        <a:lnSpc>
                          <a:spcPct val="108000"/>
                        </a:lnSpc>
                        <a:spcBef>
                          <a:spcPts val="30"/>
                        </a:spcBef>
                        <a:buNone/>
                      </a:pPr>
                      <a:r>
                        <a:rPr lang="en-US" sz="1000" b="0" i="0" dirty="0">
                          <a:solidFill>
                            <a:srgbClr val="2B2B2B"/>
                          </a:solidFill>
                          <a:latin typeface="Graphik"/>
                          <a:cs typeface="Graphik"/>
                        </a:rPr>
                        <a:t>Operational visibility into in-flight and completed process instances, with administrative intervention and reporting on cycle time and bottlenecks.</a:t>
                      </a:r>
                    </a:p>
                  </a:txBody>
                  <a:tcPr marL="82000" marR="82000" marT="38000" marB="38000" anchor="ctr">
                    <a:solidFill>
                      <a:srgbClr val="F6F2FB"/>
                    </a:solidFill>
                  </a:tcPr>
                </a:tc>
                <a:tc>
                  <a:txBody>
                    <a:bodyPr/>
                    <a:lstStyle/>
                    <a:p>
                      <a:pPr marL="0" indent="0" algn="l">
                        <a:lnSpc>
                          <a:spcPct val="108000"/>
                        </a:lnSpc>
                        <a:spcBef>
                          <a:spcPts val="30"/>
                        </a:spcBef>
                        <a:buNone/>
                      </a:pPr>
                      <a:r>
                        <a:rPr lang="en-US" sz="1000" b="0" i="0" dirty="0">
                          <a:solidFill>
                            <a:srgbClr val="444444"/>
                          </a:solidFill>
                          <a:latin typeface="Graphik"/>
                          <a:cs typeface="Graphik"/>
                        </a:rPr>
                        <a:t>Provides the process-level equivalent of distributed tracing and the measurement base for straight-through processing improvement.</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DataDog for process/platform monitoring</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SmartVista Back Office</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Transact administration</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PMO dashboards for process performance</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21" name="Rectangle 20">
            <a:extLst>
              <a:ext uri="{FF2B5EF4-FFF2-40B4-BE49-F238E27FC236}">
                <a16:creationId xmlns:a16="http://schemas.microsoft.com/office/drawing/2014/main" id="{FCC584D7-F3AC-640A-FE25-99F9E28FC6D8}"/>
              </a:ext>
            </a:extLst>
          </p:cNvPr>
          <p:cNvSpPr>
            <a:spLocks noChangeAspect="1"/>
          </p:cNvSpPr>
          <p:nvPr/>
        </p:nvSpPr>
        <p:spPr>
          <a:xfrm>
            <a:off x="1936750" y="6410745"/>
            <a:ext cx="640842" cy="18450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GAP</a:t>
            </a:r>
          </a:p>
        </p:txBody>
      </p:sp>
      <p:sp>
        <p:nvSpPr>
          <p:cNvPr id="24" name="Rectangle 23">
            <a:extLst>
              <a:ext uri="{FF2B5EF4-FFF2-40B4-BE49-F238E27FC236}">
                <a16:creationId xmlns:a16="http://schemas.microsoft.com/office/drawing/2014/main" id="{D048C664-3147-B107-EF62-E449A47CB834}"/>
              </a:ext>
            </a:extLst>
          </p:cNvPr>
          <p:cNvSpPr>
            <a:spLocks noChangeAspect="1"/>
          </p:cNvSpPr>
          <p:nvPr/>
        </p:nvSpPr>
        <p:spPr>
          <a:xfrm>
            <a:off x="1936750" y="6191083"/>
            <a:ext cx="640842" cy="18450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Target</a:t>
            </a:r>
          </a:p>
        </p:txBody>
      </p:sp>
      <p:sp>
        <p:nvSpPr>
          <p:cNvPr id="26" name="Rectangle 25">
            <a:extLst>
              <a:ext uri="{FF2B5EF4-FFF2-40B4-BE49-F238E27FC236}">
                <a16:creationId xmlns:a16="http://schemas.microsoft.com/office/drawing/2014/main" id="{F2E8D193-0CE1-AD06-452D-E594CA798A18}"/>
              </a:ext>
            </a:extLst>
          </p:cNvPr>
          <p:cNvSpPr>
            <a:spLocks noChangeAspect="1"/>
          </p:cNvSpPr>
          <p:nvPr/>
        </p:nvSpPr>
        <p:spPr>
          <a:xfrm>
            <a:off x="1936750" y="6620295"/>
            <a:ext cx="640842" cy="18450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Discard</a:t>
            </a:r>
          </a:p>
        </p:txBody>
      </p:sp>
      <p:sp>
        <p:nvSpPr>
          <p:cNvPr id="28" name="Oval 27">
            <a:extLst>
              <a:ext uri="{FF2B5EF4-FFF2-40B4-BE49-F238E27FC236}">
                <a16:creationId xmlns:a16="http://schemas.microsoft.com/office/drawing/2014/main" id="{3F4F8A94-EDC1-2CE0-FE90-6873C55E34B1}"/>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High</a:t>
            </a:r>
          </a:p>
        </p:txBody>
      </p:sp>
      <p:sp>
        <p:nvSpPr>
          <p:cNvPr id="30" name="Rectangle 29">
            <a:extLst>
              <a:ext uri="{FF2B5EF4-FFF2-40B4-BE49-F238E27FC236}">
                <a16:creationId xmlns:a16="http://schemas.microsoft.com/office/drawing/2014/main" id="{6029E5F9-54F5-A78A-FDD2-710382C08614}"/>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Capability Assessment</a:t>
            </a:r>
          </a:p>
        </p:txBody>
      </p:sp>
      <p:sp>
        <p:nvSpPr>
          <p:cNvPr id="32" name="Rectangle 31">
            <a:extLst>
              <a:ext uri="{FF2B5EF4-FFF2-40B4-BE49-F238E27FC236}">
                <a16:creationId xmlns:a16="http://schemas.microsoft.com/office/drawing/2014/main" id="{24934BBB-E543-4CCE-A147-C6D0F8EAF135}"/>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Priority</a:t>
            </a:r>
          </a:p>
        </p:txBody>
      </p:sp>
      <p:sp>
        <p:nvSpPr>
          <p:cNvPr id="34" name="Oval 33">
            <a:extLst>
              <a:ext uri="{FF2B5EF4-FFF2-40B4-BE49-F238E27FC236}">
                <a16:creationId xmlns:a16="http://schemas.microsoft.com/office/drawing/2014/main" id="{C5510FEF-E19D-96EA-4E86-6223AB040DE7}"/>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Med</a:t>
            </a:r>
          </a:p>
        </p:txBody>
      </p:sp>
      <p:sp>
        <p:nvSpPr>
          <p:cNvPr id="36" name="Oval 35">
            <a:extLst>
              <a:ext uri="{FF2B5EF4-FFF2-40B4-BE49-F238E27FC236}">
                <a16:creationId xmlns:a16="http://schemas.microsoft.com/office/drawing/2014/main" id="{7ED1D331-1B24-1161-EE05-14FDC38D4323}"/>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Low</a:t>
            </a:r>
          </a:p>
        </p:txBody>
      </p:sp>
    </p:spTree>
    <p:extLst>
      <p:ext uri="{BB962C8B-B14F-4D97-AF65-F5344CB8AC3E}">
        <p14:creationId xmlns:p14="http://schemas.microsoft.com/office/powerpoint/2010/main" val="11453989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All rights reserved.</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26" name="TextBox 125">
            <a:extLst>
              <a:ext uri="{FF2B5EF4-FFF2-40B4-BE49-F238E27FC236}">
                <a16:creationId xmlns:a16="http://schemas.microsoft.com/office/drawing/2014/main" id="{EEC953B8-A3F6-4C3F-6CE0-DB056ED72F5B}"/>
              </a:ext>
            </a:extLst>
          </p:cNvPr>
          <p:cNvSpPr txBox="1"/>
          <p:nvPr>
            <p:extLst>
              <p:ext uri="{1162E1C5-73C7-4A58-AE30-91384D911F3F}">
                <p184:classification xmlns:p184="http://schemas.microsoft.com/office/powerpoint/2018/4/main" val="hdr"/>
              </p:ext>
            </p:extLst>
          </p:nvPr>
        </p:nvSpPr>
        <p:spPr>
          <a:xfrm>
            <a:off x="4610601" y="78170"/>
            <a:ext cx="3641223" cy="153888"/>
          </a:xfrm>
          <a:prstGeom prst="rect">
            <a:avLst/>
          </a:prstGeom>
        </p:spPr>
        <p:txBody>
          <a:bodyPr horzOverflow="overflow"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***Confidential - For Company Internal Use Only***</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7500C0"/>
                </a:solidFill>
                <a:effectLst/>
                <a:uLnTx/>
                <a:uFillTx/>
                <a:latin typeface="Graphik"/>
                <a:ea typeface="+mj-ea"/>
                <a:cs typeface="+mj-cs"/>
              </a:rPr>
              <a:t>Interoperability Architecture </a:t>
            </a:r>
            <a:r>
              <a:rPr kumimoji="0" lang="en-US" sz="2400" b="1" i="0" u="none" strike="noStrike" kern="1200" cap="none" spc="0" normalizeH="0" baseline="0" noProof="0" dirty="0">
                <a:ln>
                  <a:noFill/>
                </a:ln>
                <a:solidFill>
                  <a:srgbClr val="000000"/>
                </a:solidFill>
                <a:effectLst/>
                <a:uLnTx/>
                <a:uFillTx/>
                <a:latin typeface="Graphik"/>
                <a:ea typeface="+mj-ea"/>
                <a:cs typeface="+mj-cs"/>
              </a:rPr>
              <a:t>| Common Business Services</a:t>
            </a: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n-US" sz="1000" b="1" i="0" dirty="0">
                <a:solidFill>
                  <a:srgbClr val="7500C0"/>
                </a:solidFill>
                <a:latin typeface="Graphik"/>
                <a:cs typeface="Graphik"/>
              </a:rPr>
              <a:t>DOMAIN CAPABILITY    |    6 SUB-CAPABILITIES</a:t>
            </a:r>
          </a:p>
        </p:txBody>
      </p:sp>
      <p:graphicFrame>
        <p:nvGraphicFramePr>
          <p:cNvPr id="100" name="DetailTable"/>
          <p:cNvGraphicFramePr>
            <a:graphicFrameLocks noGrp="1"/>
          </p:cNvGraphicFramePr>
          <p:nvPr>
            <p:extLst>
              <p:ext uri="{D42A27DB-BD31-4B8C-83A1-F6EECF244321}">
                <p14:modId xmlns:p14="http://schemas.microsoft.com/office/powerpoint/2010/main" val="1886306591"/>
              </p:ext>
            </p:extLst>
          </p:nvPr>
        </p:nvGraphicFramePr>
        <p:xfrm>
          <a:off x="381000" y="1015000"/>
          <a:ext cx="11430000" cy="514482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n-US" sz="1000" b="1" i="0" dirty="0">
                          <a:solidFill>
                            <a:srgbClr val="FFFFFF"/>
                          </a:solidFill>
                          <a:latin typeface="Graphik"/>
                          <a:cs typeface="Graphik"/>
                        </a:rPr>
                        <a:t>Sub-capability</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Description</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Purpose</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Solutions in Coppel</a:t>
                      </a:r>
                    </a:p>
                  </a:txBody>
                  <a:tcPr marL="82000" marR="82000" marT="38000" marB="38000" anchor="ctr">
                    <a:solidFill>
                      <a:srgbClr val="7500C0"/>
                    </a:solidFill>
                  </a:tcPr>
                </a:tc>
                <a:extLst>
                  <a:ext uri="{0D108BD9-81ED-4DB2-BD59-A6C34878D82A}">
                    <a16:rowId xmlns:a16="http://schemas.microsoft.com/office/drawing/2014/main" val="10000"/>
                  </a:ext>
                </a:extLst>
              </a:tr>
              <a:tr h="723650">
                <a:tc>
                  <a:txBody>
                    <a:bodyPr/>
                    <a:lstStyle/>
                    <a:p>
                      <a:pPr marL="0" indent="0" algn="l">
                        <a:lnSpc>
                          <a:spcPct val="104000"/>
                        </a:lnSpc>
                        <a:spcBef>
                          <a:spcPts val="30"/>
                        </a:spcBef>
                        <a:buNone/>
                      </a:pPr>
                      <a:r>
                        <a:rPr lang="en-US" sz="650" b="1" i="0" dirty="0">
                          <a:solidFill>
                            <a:srgbClr val="9B7BC7"/>
                          </a:solidFill>
                          <a:latin typeface="Graphik"/>
                          <a:cs typeface="Graphik"/>
                        </a:rPr>
                        <a:t>10.1  </a:t>
                      </a:r>
                      <a:r>
                        <a:rPr lang="en-US" sz="800" b="1" i="0" dirty="0">
                          <a:solidFill>
                            <a:srgbClr val="7500C0"/>
                          </a:solidFill>
                          <a:latin typeface="Graphik"/>
                          <a:cs typeface="Graphik"/>
                        </a:rPr>
                        <a:t>Customer &amp; Party Services</a:t>
                      </a:r>
                    </a:p>
                  </a:txBody>
                  <a:tcPr marL="82000" marR="82000" marT="38000" marB="38000" anchor="ctr">
                    <a:solidFill>
                      <a:srgbClr val="EFE7F7"/>
                    </a:solidFill>
                  </a:tcPr>
                </a:tc>
                <a:tc>
                  <a:txBody>
                    <a:bodyPr/>
                    <a:lstStyle/>
                    <a:p>
                      <a:pPr marL="0" indent="0" algn="l">
                        <a:lnSpc>
                          <a:spcPct val="108000"/>
                        </a:lnSpc>
                        <a:spcBef>
                          <a:spcPts val="30"/>
                        </a:spcBef>
                        <a:buNone/>
                      </a:pPr>
                      <a:r>
                        <a:rPr lang="en-US" sz="750" b="0" i="0" dirty="0">
                          <a:solidFill>
                            <a:srgbClr val="2B2B2B"/>
                          </a:solidFill>
                          <a:latin typeface="Graphik"/>
                          <a:cs typeface="Graphik"/>
                        </a:rPr>
                        <a:t>Shared services providing customer and party master data, relationships and derived attributes to all product domains and channels.</a:t>
                      </a:r>
                    </a:p>
                  </a:txBody>
                  <a:tcPr marL="82000" marR="82000" marT="38000" marB="38000" anchor="ctr">
                    <a:solidFill>
                      <a:srgbClr val="FFFFFF"/>
                    </a:solidFill>
                  </a:tcPr>
                </a:tc>
                <a:tc>
                  <a:txBody>
                    <a:bodyPr/>
                    <a:lstStyle/>
                    <a:p>
                      <a:pPr marL="0" indent="0" algn="l">
                        <a:lnSpc>
                          <a:spcPct val="108000"/>
                        </a:lnSpc>
                        <a:spcBef>
                          <a:spcPts val="30"/>
                        </a:spcBef>
                        <a:buNone/>
                      </a:pPr>
                      <a:r>
                        <a:rPr lang="en-US" sz="750" b="0" i="0" dirty="0">
                          <a:solidFill>
                            <a:srgbClr val="444444"/>
                          </a:solidFill>
                          <a:latin typeface="Graphik"/>
                          <a:cs typeface="Graphik"/>
                        </a:rPr>
                        <a:t>Delivers the single customer view that siloed cores cannot provide, and which every personalisation and bank-of-one ambition presupposes.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Golden Record</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Temenos Party/CIF</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Informix/PISA customer master</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Incode KYC with INE/RENAPO</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Apolo Onboarding</a:t>
                      </a:r>
                    </a:p>
                  </a:txBody>
                  <a:tcPr marL="82000" marR="82000" marT="38000" marB="38000" anchor="ctr">
                    <a:solidFill>
                      <a:srgbClr val="FFFFFF"/>
                    </a:solidFill>
                  </a:tcPr>
                </a:tc>
                <a:extLst>
                  <a:ext uri="{0D108BD9-81ED-4DB2-BD59-A6C34878D82A}">
                    <a16:rowId xmlns:a16="http://schemas.microsoft.com/office/drawing/2014/main" val="10001"/>
                  </a:ext>
                </a:extLst>
              </a:tr>
              <a:tr h="723650">
                <a:tc>
                  <a:txBody>
                    <a:bodyPr/>
                    <a:lstStyle/>
                    <a:p>
                      <a:pPr marL="0" indent="0" algn="l">
                        <a:lnSpc>
                          <a:spcPct val="104000"/>
                        </a:lnSpc>
                        <a:spcBef>
                          <a:spcPts val="30"/>
                        </a:spcBef>
                        <a:buNone/>
                      </a:pPr>
                      <a:r>
                        <a:rPr lang="en-US" sz="650" b="1" i="0" dirty="0">
                          <a:solidFill>
                            <a:srgbClr val="9B7BC7"/>
                          </a:solidFill>
                          <a:latin typeface="+mn-lt"/>
                          <a:cs typeface="Graphik"/>
                        </a:rPr>
                        <a:t>10.2</a:t>
                      </a:r>
                      <a:r>
                        <a:rPr lang="en-US" sz="650" b="1" i="0" dirty="0">
                          <a:solidFill>
                            <a:srgbClr val="9B7BC7"/>
                          </a:solidFill>
                          <a:latin typeface="Graphik"/>
                          <a:cs typeface="Graphik"/>
                        </a:rPr>
                        <a:t> </a:t>
                      </a:r>
                      <a:r>
                        <a:rPr lang="en-US" sz="800" b="1" i="0" dirty="0">
                          <a:solidFill>
                            <a:srgbClr val="7500C0"/>
                          </a:solidFill>
                          <a:latin typeface="Graphik"/>
                          <a:cs typeface="Graphik"/>
                        </a:rPr>
                        <a:t>Product &amp; Pricing Services</a:t>
                      </a:r>
                    </a:p>
                  </a:txBody>
                  <a:tcPr marL="82000" marR="82000" marT="38000" marB="38000" anchor="ctr">
                    <a:solidFill>
                      <a:srgbClr val="E9DEF4"/>
                    </a:solidFill>
                  </a:tcPr>
                </a:tc>
                <a:tc>
                  <a:txBody>
                    <a:bodyPr/>
                    <a:lstStyle/>
                    <a:p>
                      <a:pPr marL="0" indent="0" algn="l">
                        <a:lnSpc>
                          <a:spcPct val="108000"/>
                        </a:lnSpc>
                        <a:spcBef>
                          <a:spcPts val="30"/>
                        </a:spcBef>
                        <a:buNone/>
                      </a:pPr>
                      <a:r>
                        <a:rPr lang="en-US" sz="750" b="0" i="0" dirty="0">
                          <a:solidFill>
                            <a:srgbClr val="2B2B2B"/>
                          </a:solidFill>
                          <a:latin typeface="Graphik"/>
                          <a:cs typeface="Graphik"/>
                        </a:rPr>
                        <a:t>Shared product catalogue, terms, eligibility and fee and pricing calculation services usable by any product processor or channel.</a:t>
                      </a:r>
                    </a:p>
                  </a:txBody>
                  <a:tcPr marL="82000" marR="82000" marT="38000" marB="38000" anchor="ctr">
                    <a:solidFill>
                      <a:srgbClr val="F6F2FB"/>
                    </a:solidFill>
                  </a:tcPr>
                </a:tc>
                <a:tc>
                  <a:txBody>
                    <a:bodyPr/>
                    <a:lstStyle/>
                    <a:p>
                      <a:pPr marL="0" indent="0" algn="l">
                        <a:lnSpc>
                          <a:spcPct val="108000"/>
                        </a:lnSpc>
                        <a:spcBef>
                          <a:spcPts val="30"/>
                        </a:spcBef>
                        <a:buNone/>
                      </a:pPr>
                      <a:r>
                        <a:rPr lang="en-US" sz="750" b="0" i="0" dirty="0">
                          <a:solidFill>
                            <a:srgbClr val="444444"/>
                          </a:solidFill>
                          <a:latin typeface="Graphik"/>
                          <a:cs typeface="Graphik"/>
                        </a:rPr>
                        <a:t>Externalising product definition from the core is what allows new propositions to be launched without a core release, which is the main source of time-to-market gain.</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Temenos AA Framework and Product Catalog</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Interest Engine</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Charges</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SmartVista product configuration</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BRM for pricing/risk rules</a:t>
                      </a:r>
                    </a:p>
                  </a:txBody>
                  <a:tcPr marL="82000" marR="82000" marT="38000" marB="38000" anchor="ctr">
                    <a:solidFill>
                      <a:srgbClr val="F6F2FB"/>
                    </a:solidFill>
                  </a:tcPr>
                </a:tc>
                <a:extLst>
                  <a:ext uri="{0D108BD9-81ED-4DB2-BD59-A6C34878D82A}">
                    <a16:rowId xmlns:a16="http://schemas.microsoft.com/office/drawing/2014/main" val="10002"/>
                  </a:ext>
                </a:extLst>
              </a:tr>
              <a:tr h="975110">
                <a:tc>
                  <a:txBody>
                    <a:bodyPr/>
                    <a:lstStyle/>
                    <a:p>
                      <a:pPr marL="0" indent="0" algn="l">
                        <a:lnSpc>
                          <a:spcPct val="104000"/>
                        </a:lnSpc>
                        <a:spcBef>
                          <a:spcPts val="30"/>
                        </a:spcBef>
                        <a:buNone/>
                      </a:pPr>
                      <a:r>
                        <a:rPr lang="en-US" sz="650" b="1" i="0" dirty="0">
                          <a:solidFill>
                            <a:srgbClr val="9B7BC7"/>
                          </a:solidFill>
                          <a:latin typeface="+mn-lt"/>
                          <a:cs typeface="Graphik"/>
                        </a:rPr>
                        <a:t>10.</a:t>
                      </a:r>
                      <a:r>
                        <a:rPr lang="en-US" sz="650" b="1" i="0" dirty="0">
                          <a:solidFill>
                            <a:srgbClr val="9B7BC7"/>
                          </a:solidFill>
                          <a:latin typeface="Graphik"/>
                          <a:cs typeface="Graphik"/>
                        </a:rPr>
                        <a:t>3  </a:t>
                      </a:r>
                      <a:r>
                        <a:rPr lang="en-US" sz="800" b="1" i="0" dirty="0">
                          <a:solidFill>
                            <a:srgbClr val="7500C0"/>
                          </a:solidFill>
                          <a:latin typeface="Graphik"/>
                          <a:cs typeface="Graphik"/>
                        </a:rPr>
                        <a:t>Limits &amp; Risk Services</a:t>
                      </a:r>
                    </a:p>
                  </a:txBody>
                  <a:tcPr marL="82000" marR="82000" marT="38000" marB="38000" anchor="ctr">
                    <a:solidFill>
                      <a:srgbClr val="EFE7F7"/>
                    </a:solidFill>
                  </a:tcPr>
                </a:tc>
                <a:tc>
                  <a:txBody>
                    <a:bodyPr/>
                    <a:lstStyle/>
                    <a:p>
                      <a:pPr marL="0" indent="0" algn="l">
                        <a:lnSpc>
                          <a:spcPct val="108000"/>
                        </a:lnSpc>
                        <a:spcBef>
                          <a:spcPts val="30"/>
                        </a:spcBef>
                        <a:buNone/>
                      </a:pPr>
                      <a:r>
                        <a:rPr lang="en-US" sz="750" b="0" i="0" dirty="0">
                          <a:solidFill>
                            <a:srgbClr val="2B2B2B"/>
                          </a:solidFill>
                          <a:latin typeface="Graphik"/>
                          <a:cs typeface="Graphik"/>
                        </a:rPr>
                        <a:t>Shared limit definition, checking and consumption tracking, and risk and credit scoring services callable from any journey.</a:t>
                      </a:r>
                    </a:p>
                  </a:txBody>
                  <a:tcPr marL="82000" marR="82000" marT="38000" marB="38000" anchor="ctr">
                    <a:solidFill>
                      <a:srgbClr val="FFFFFF"/>
                    </a:solidFill>
                  </a:tcPr>
                </a:tc>
                <a:tc>
                  <a:txBody>
                    <a:bodyPr/>
                    <a:lstStyle/>
                    <a:p>
                      <a:pPr marL="0" indent="0" algn="l">
                        <a:lnSpc>
                          <a:spcPct val="108000"/>
                        </a:lnSpc>
                        <a:spcBef>
                          <a:spcPts val="30"/>
                        </a:spcBef>
                        <a:buNone/>
                      </a:pPr>
                      <a:r>
                        <a:rPr lang="en-US" sz="750" b="0" i="0" dirty="0">
                          <a:solidFill>
                            <a:srgbClr val="444444"/>
                          </a:solidFill>
                          <a:latin typeface="Graphik"/>
                          <a:cs typeface="Graphik"/>
                        </a:rPr>
                        <a:t>Places risk controls at the interoperability layer so they apply uniformly regardless of which core or channel originates the transaction.</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BRM</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Merit Crediticio</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Transact Limits</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Risklogic</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Buró/SIC integrations</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SmartVista fraud/risk controls</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PAST.DUE collections</a:t>
                      </a:r>
                    </a:p>
                  </a:txBody>
                  <a:tcPr marL="82000" marR="82000" marT="38000" marB="38000" anchor="ctr">
                    <a:solidFill>
                      <a:srgbClr val="FFFFFF"/>
                    </a:solidFill>
                  </a:tcPr>
                </a:tc>
                <a:extLst>
                  <a:ext uri="{0D108BD9-81ED-4DB2-BD59-A6C34878D82A}">
                    <a16:rowId xmlns:a16="http://schemas.microsoft.com/office/drawing/2014/main" val="10003"/>
                  </a:ext>
                </a:extLst>
              </a:tr>
              <a:tr h="723650">
                <a:tc>
                  <a:txBody>
                    <a:bodyPr/>
                    <a:lstStyle/>
                    <a:p>
                      <a:pPr marL="0" indent="0" algn="l">
                        <a:lnSpc>
                          <a:spcPct val="104000"/>
                        </a:lnSpc>
                        <a:spcBef>
                          <a:spcPts val="30"/>
                        </a:spcBef>
                        <a:buNone/>
                      </a:pPr>
                      <a:r>
                        <a:rPr lang="en-US" sz="650" b="1" i="0" dirty="0">
                          <a:solidFill>
                            <a:srgbClr val="9B7BC7"/>
                          </a:solidFill>
                          <a:latin typeface="+mn-lt"/>
                          <a:cs typeface="Graphik"/>
                        </a:rPr>
                        <a:t>10.</a:t>
                      </a:r>
                      <a:r>
                        <a:rPr lang="en-US" sz="650" b="1" i="0" dirty="0">
                          <a:solidFill>
                            <a:srgbClr val="9B7BC7"/>
                          </a:solidFill>
                          <a:latin typeface="Graphik"/>
                          <a:cs typeface="Graphik"/>
                        </a:rPr>
                        <a:t>4  </a:t>
                      </a:r>
                      <a:r>
                        <a:rPr lang="en-US" sz="800" b="1" i="0" dirty="0">
                          <a:solidFill>
                            <a:srgbClr val="7500C0"/>
                          </a:solidFill>
                          <a:latin typeface="Graphik"/>
                          <a:cs typeface="Graphik"/>
                        </a:rPr>
                        <a:t>Financial &amp; Accounting Services</a:t>
                      </a:r>
                    </a:p>
                  </a:txBody>
                  <a:tcPr marL="82000" marR="82000" marT="38000" marB="38000" anchor="ctr">
                    <a:solidFill>
                      <a:srgbClr val="E9DEF4"/>
                    </a:solidFill>
                  </a:tcPr>
                </a:tc>
                <a:tc>
                  <a:txBody>
                    <a:bodyPr/>
                    <a:lstStyle/>
                    <a:p>
                      <a:pPr marL="0" indent="0" algn="l">
                        <a:lnSpc>
                          <a:spcPct val="108000"/>
                        </a:lnSpc>
                        <a:spcBef>
                          <a:spcPts val="30"/>
                        </a:spcBef>
                        <a:buNone/>
                      </a:pPr>
                      <a:r>
                        <a:rPr lang="en-US" sz="750" b="0" i="0" dirty="0">
                          <a:solidFill>
                            <a:srgbClr val="2B2B2B"/>
                          </a:solidFill>
                          <a:latin typeface="Graphik"/>
                          <a:cs typeface="Graphik"/>
                        </a:rPr>
                        <a:t>Shared accounting event generation and ledger posting, currency conversion, and payment execution services used across product domains.</a:t>
                      </a:r>
                    </a:p>
                  </a:txBody>
                  <a:tcPr marL="82000" marR="82000" marT="38000" marB="38000" anchor="ctr">
                    <a:solidFill>
                      <a:srgbClr val="F6F2FB"/>
                    </a:solidFill>
                  </a:tcPr>
                </a:tc>
                <a:tc>
                  <a:txBody>
                    <a:bodyPr/>
                    <a:lstStyle/>
                    <a:p>
                      <a:pPr marL="0" indent="0" algn="l">
                        <a:lnSpc>
                          <a:spcPct val="108000"/>
                        </a:lnSpc>
                        <a:spcBef>
                          <a:spcPts val="30"/>
                        </a:spcBef>
                        <a:buNone/>
                      </a:pPr>
                      <a:r>
                        <a:rPr lang="en-US" sz="750" b="0" i="0" dirty="0">
                          <a:solidFill>
                            <a:srgbClr val="444444"/>
                          </a:solidFill>
                          <a:latin typeface="Graphik"/>
                          <a:cs typeface="Graphik"/>
                        </a:rPr>
                        <a:t>Preserves financial integrity and one accounting truth while the processing estate is decomposed and partially replaced.</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Transact GL/Accounting and PRD.DES.ACCOUNTING</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Funds Transfer/FT</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Hub de Pagos/SPEI</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SmartVista payments</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PISA ledger during coexistence</a:t>
                      </a:r>
                    </a:p>
                  </a:txBody>
                  <a:tcPr marL="82000" marR="82000" marT="38000" marB="38000" anchor="ctr">
                    <a:solidFill>
                      <a:srgbClr val="F6F2FB"/>
                    </a:solidFill>
                  </a:tcPr>
                </a:tc>
                <a:extLst>
                  <a:ext uri="{0D108BD9-81ED-4DB2-BD59-A6C34878D82A}">
                    <a16:rowId xmlns:a16="http://schemas.microsoft.com/office/drawing/2014/main" val="10004"/>
                  </a:ext>
                </a:extLst>
              </a:tr>
              <a:tr h="597920">
                <a:tc>
                  <a:txBody>
                    <a:bodyPr/>
                    <a:lstStyle/>
                    <a:p>
                      <a:pPr marL="0" indent="0" algn="l">
                        <a:lnSpc>
                          <a:spcPct val="104000"/>
                        </a:lnSpc>
                        <a:spcBef>
                          <a:spcPts val="30"/>
                        </a:spcBef>
                        <a:buNone/>
                      </a:pPr>
                      <a:r>
                        <a:rPr lang="en-US" sz="650" b="1" i="0" dirty="0">
                          <a:solidFill>
                            <a:srgbClr val="9B7BC7"/>
                          </a:solidFill>
                          <a:latin typeface="+mn-lt"/>
                          <a:cs typeface="Graphik"/>
                        </a:rPr>
                        <a:t>10.</a:t>
                      </a:r>
                      <a:r>
                        <a:rPr lang="en-US" sz="650" b="1" i="0" dirty="0">
                          <a:solidFill>
                            <a:srgbClr val="9B7BC7"/>
                          </a:solidFill>
                          <a:latin typeface="Graphik"/>
                          <a:cs typeface="Graphik"/>
                        </a:rPr>
                        <a:t>5  </a:t>
                      </a:r>
                      <a:r>
                        <a:rPr lang="en-US" sz="800" b="1" i="0" dirty="0">
                          <a:solidFill>
                            <a:srgbClr val="7500C0"/>
                          </a:solidFill>
                          <a:latin typeface="Graphik"/>
                          <a:cs typeface="Graphik"/>
                        </a:rPr>
                        <a:t>Document &amp; Content Services</a:t>
                      </a:r>
                    </a:p>
                  </a:txBody>
                  <a:tcPr marL="82000" marR="82000" marT="38000" marB="38000" anchor="ctr">
                    <a:solidFill>
                      <a:srgbClr val="EFE7F7"/>
                    </a:solidFill>
                  </a:tcPr>
                </a:tc>
                <a:tc>
                  <a:txBody>
                    <a:bodyPr/>
                    <a:lstStyle/>
                    <a:p>
                      <a:pPr marL="0" indent="0" algn="l">
                        <a:lnSpc>
                          <a:spcPct val="108000"/>
                        </a:lnSpc>
                        <a:spcBef>
                          <a:spcPts val="30"/>
                        </a:spcBef>
                        <a:buNone/>
                      </a:pPr>
                      <a:r>
                        <a:rPr lang="en-US" sz="750" b="0" i="0" dirty="0">
                          <a:solidFill>
                            <a:srgbClr val="2B2B2B"/>
                          </a:solidFill>
                          <a:latin typeface="Graphik"/>
                          <a:cs typeface="Graphik"/>
                        </a:rPr>
                        <a:t>Shared document generation, capture, storage, retrieval and retention services supporting customer and regulatory documentation across all products.</a:t>
                      </a:r>
                    </a:p>
                  </a:txBody>
                  <a:tcPr marL="82000" marR="82000" marT="38000" marB="38000" anchor="ctr">
                    <a:solidFill>
                      <a:srgbClr val="FFFFFF"/>
                    </a:solidFill>
                  </a:tcPr>
                </a:tc>
                <a:tc>
                  <a:txBody>
                    <a:bodyPr/>
                    <a:lstStyle/>
                    <a:p>
                      <a:pPr marL="0" indent="0" algn="l">
                        <a:lnSpc>
                          <a:spcPct val="108000"/>
                        </a:lnSpc>
                        <a:spcBef>
                          <a:spcPts val="30"/>
                        </a:spcBef>
                        <a:buNone/>
                      </a:pPr>
                      <a:r>
                        <a:rPr lang="en-US" sz="750" b="0" i="0" dirty="0">
                          <a:solidFill>
                            <a:srgbClr val="444444"/>
                          </a:solidFill>
                          <a:latin typeface="Graphik"/>
                          <a:cs typeface="Graphik"/>
                        </a:rPr>
                        <a:t>Removes per-product document handling, which is one of the most duplicated and least differentiating functions in a banking estate.</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OnBase by Hyland for digital files</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Modyo/Apolo document capture</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Amazon Pinpoint for WelcomeKit</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Incode document capture</a:t>
                      </a:r>
                    </a:p>
                  </a:txBody>
                  <a:tcPr marL="82000" marR="82000" marT="38000" marB="38000" anchor="ctr">
                    <a:solidFill>
                      <a:srgbClr val="FFFFFF"/>
                    </a:solidFill>
                  </a:tcPr>
                </a:tc>
                <a:extLst>
                  <a:ext uri="{0D108BD9-81ED-4DB2-BD59-A6C34878D82A}">
                    <a16:rowId xmlns:a16="http://schemas.microsoft.com/office/drawing/2014/main" val="10005"/>
                  </a:ext>
                </a:extLst>
              </a:tr>
              <a:tr h="1100840">
                <a:tc>
                  <a:txBody>
                    <a:bodyPr/>
                    <a:lstStyle/>
                    <a:p>
                      <a:pPr marL="0" indent="0" algn="l">
                        <a:lnSpc>
                          <a:spcPct val="104000"/>
                        </a:lnSpc>
                        <a:spcBef>
                          <a:spcPts val="30"/>
                        </a:spcBef>
                        <a:buNone/>
                      </a:pPr>
                      <a:r>
                        <a:rPr lang="en-US" sz="650" b="1" i="0" dirty="0">
                          <a:solidFill>
                            <a:srgbClr val="9B7BC7"/>
                          </a:solidFill>
                          <a:latin typeface="+mn-lt"/>
                          <a:cs typeface="Graphik"/>
                        </a:rPr>
                        <a:t>10.</a:t>
                      </a:r>
                      <a:r>
                        <a:rPr lang="en-US" sz="650" b="1" i="0" dirty="0">
                          <a:solidFill>
                            <a:srgbClr val="9B7BC7"/>
                          </a:solidFill>
                          <a:latin typeface="Graphik"/>
                          <a:cs typeface="Graphik"/>
                        </a:rPr>
                        <a:t>6  </a:t>
                      </a:r>
                      <a:r>
                        <a:rPr lang="en-US" sz="800" b="1" i="0" dirty="0">
                          <a:solidFill>
                            <a:srgbClr val="7500C0"/>
                          </a:solidFill>
                          <a:latin typeface="Graphik"/>
                          <a:cs typeface="Graphik"/>
                        </a:rPr>
                        <a:t>Control &amp; Trust Services</a:t>
                      </a:r>
                    </a:p>
                  </a:txBody>
                  <a:tcPr marL="82000" marR="82000" marT="38000" marB="38000" anchor="ctr">
                    <a:solidFill>
                      <a:srgbClr val="E9DEF4"/>
                    </a:solidFill>
                  </a:tcPr>
                </a:tc>
                <a:tc>
                  <a:txBody>
                    <a:bodyPr/>
                    <a:lstStyle/>
                    <a:p>
                      <a:pPr marL="0" indent="0" algn="l">
                        <a:lnSpc>
                          <a:spcPct val="108000"/>
                        </a:lnSpc>
                        <a:spcBef>
                          <a:spcPts val="30"/>
                        </a:spcBef>
                        <a:buNone/>
                      </a:pPr>
                      <a:r>
                        <a:rPr lang="en-US" sz="750" b="0" i="0" dirty="0">
                          <a:solidFill>
                            <a:srgbClr val="2B2B2B"/>
                          </a:solidFill>
                          <a:latin typeface="Graphik"/>
                          <a:cs typeface="Graphik"/>
                        </a:rPr>
                        <a:t>Shared control services applied across business journeys: approvals and authorisation hierarchies, and HSM-backed signing and verification of business instructions.</a:t>
                      </a:r>
                    </a:p>
                  </a:txBody>
                  <a:tcPr marL="82000" marR="82000" marT="38000" marB="38000" anchor="ctr">
                    <a:solidFill>
                      <a:srgbClr val="F6F2FB"/>
                    </a:solidFill>
                  </a:tcPr>
                </a:tc>
                <a:tc>
                  <a:txBody>
                    <a:bodyPr/>
                    <a:lstStyle/>
                    <a:p>
                      <a:pPr marL="0" indent="0" algn="l">
                        <a:lnSpc>
                          <a:spcPct val="108000"/>
                        </a:lnSpc>
                        <a:spcBef>
                          <a:spcPts val="30"/>
                        </a:spcBef>
                        <a:buNone/>
                      </a:pPr>
                      <a:r>
                        <a:rPr lang="en-US" sz="750" b="0" i="0" dirty="0">
                          <a:solidFill>
                            <a:srgbClr val="444444"/>
                          </a:solidFill>
                          <a:latin typeface="Graphik"/>
                          <a:cs typeface="Graphik"/>
                        </a:rPr>
                        <a:t>Makes mandatory controls a reusable service invoked by any journey, so control strength does not depend on which product or channel implemented it.</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Golden Record</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Transact Party/CIF/AA/Product Catalog/GL/FT</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SmartVista</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OnBase</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Incode</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Hub de Pagos</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BRM</a:t>
                      </a:r>
                    </a:p>
                    <a:p>
                      <a:pPr marL="150000" indent="-150000" algn="l">
                        <a:lnSpc>
                          <a:spcPct val="104000"/>
                        </a:lnSpc>
                        <a:spcBef>
                          <a:spcPts val="45"/>
                        </a:spcBef>
                        <a:buClr>
                          <a:srgbClr val="7500C0"/>
                        </a:buClr>
                        <a:buFont typeface="Arial"/>
                        <a:buChar char="▪"/>
                      </a:pPr>
                      <a:r>
                        <a:rPr lang="en-US" sz="700" b="0" i="0" dirty="0">
                          <a:solidFill>
                            <a:srgbClr val="4B2E83"/>
                          </a:solidFill>
                          <a:latin typeface="Graphik"/>
                          <a:cs typeface="Graphik"/>
                        </a:rPr>
                        <a:t>Risklogic</a:t>
                      </a:r>
                    </a:p>
                  </a:txBody>
                  <a:tcPr marL="82000" marR="82000" marT="38000" marB="38000" anchor="ctr">
                    <a:solidFill>
                      <a:srgbClr val="F6F2FB"/>
                    </a:solidFill>
                  </a:tcPr>
                </a:tc>
                <a:extLst>
                  <a:ext uri="{0D108BD9-81ED-4DB2-BD59-A6C34878D82A}">
                    <a16:rowId xmlns:a16="http://schemas.microsoft.com/office/drawing/2014/main" val="10006"/>
                  </a:ext>
                </a:extLst>
              </a:tr>
            </a:tbl>
          </a:graphicData>
        </a:graphic>
      </p:graphicFrame>
      <p:sp>
        <p:nvSpPr>
          <p:cNvPr id="5" name="Rectangle 4">
            <a:extLst>
              <a:ext uri="{FF2B5EF4-FFF2-40B4-BE49-F238E27FC236}">
                <a16:creationId xmlns:a16="http://schemas.microsoft.com/office/drawing/2014/main" id="{D0F9FCDC-6252-1B82-1E28-C4C3D3F2E9E1}"/>
              </a:ext>
            </a:extLst>
          </p:cNvPr>
          <p:cNvSpPr>
            <a:spLocks noChangeAspect="1"/>
          </p:cNvSpPr>
          <p:nvPr/>
        </p:nvSpPr>
        <p:spPr>
          <a:xfrm>
            <a:off x="1936750" y="6410745"/>
            <a:ext cx="640842" cy="18450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GAP</a:t>
            </a:r>
          </a:p>
        </p:txBody>
      </p:sp>
      <p:sp>
        <p:nvSpPr>
          <p:cNvPr id="7" name="Rectangle 6">
            <a:extLst>
              <a:ext uri="{FF2B5EF4-FFF2-40B4-BE49-F238E27FC236}">
                <a16:creationId xmlns:a16="http://schemas.microsoft.com/office/drawing/2014/main" id="{910ACBF4-12B9-1C25-3AF7-A770884F4EB8}"/>
              </a:ext>
            </a:extLst>
          </p:cNvPr>
          <p:cNvSpPr>
            <a:spLocks noChangeAspect="1"/>
          </p:cNvSpPr>
          <p:nvPr/>
        </p:nvSpPr>
        <p:spPr>
          <a:xfrm>
            <a:off x="1936750" y="6191083"/>
            <a:ext cx="640842" cy="18450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Target</a:t>
            </a:r>
          </a:p>
        </p:txBody>
      </p:sp>
      <p:sp>
        <p:nvSpPr>
          <p:cNvPr id="9" name="Rectangle 8">
            <a:extLst>
              <a:ext uri="{FF2B5EF4-FFF2-40B4-BE49-F238E27FC236}">
                <a16:creationId xmlns:a16="http://schemas.microsoft.com/office/drawing/2014/main" id="{BBAE1DC6-36B1-5044-AFCA-063CE828BE61}"/>
              </a:ext>
            </a:extLst>
          </p:cNvPr>
          <p:cNvSpPr>
            <a:spLocks noChangeAspect="1"/>
          </p:cNvSpPr>
          <p:nvPr/>
        </p:nvSpPr>
        <p:spPr>
          <a:xfrm>
            <a:off x="1936750" y="6620295"/>
            <a:ext cx="640842" cy="18450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Discard</a:t>
            </a:r>
          </a:p>
        </p:txBody>
      </p:sp>
      <p:sp>
        <p:nvSpPr>
          <p:cNvPr id="11" name="Oval 10">
            <a:extLst>
              <a:ext uri="{FF2B5EF4-FFF2-40B4-BE49-F238E27FC236}">
                <a16:creationId xmlns:a16="http://schemas.microsoft.com/office/drawing/2014/main" id="{58F74049-8A34-97E9-FB2D-A96D03F1C7F7}"/>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High</a:t>
            </a:r>
          </a:p>
        </p:txBody>
      </p:sp>
      <p:sp>
        <p:nvSpPr>
          <p:cNvPr id="13" name="Rectangle 12">
            <a:extLst>
              <a:ext uri="{FF2B5EF4-FFF2-40B4-BE49-F238E27FC236}">
                <a16:creationId xmlns:a16="http://schemas.microsoft.com/office/drawing/2014/main" id="{9ECA06D0-6EAE-268F-91FE-056955090E14}"/>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Capability Assessment</a:t>
            </a:r>
          </a:p>
        </p:txBody>
      </p:sp>
      <p:sp>
        <p:nvSpPr>
          <p:cNvPr id="15" name="Rectangle 14">
            <a:extLst>
              <a:ext uri="{FF2B5EF4-FFF2-40B4-BE49-F238E27FC236}">
                <a16:creationId xmlns:a16="http://schemas.microsoft.com/office/drawing/2014/main" id="{6DD596ED-12FB-F784-3A50-16E529793930}"/>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Priority</a:t>
            </a:r>
          </a:p>
        </p:txBody>
      </p:sp>
      <p:sp>
        <p:nvSpPr>
          <p:cNvPr id="17" name="Oval 16">
            <a:extLst>
              <a:ext uri="{FF2B5EF4-FFF2-40B4-BE49-F238E27FC236}">
                <a16:creationId xmlns:a16="http://schemas.microsoft.com/office/drawing/2014/main" id="{939C3128-AAAC-6883-89C2-0F0368989CAE}"/>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Med</a:t>
            </a:r>
          </a:p>
        </p:txBody>
      </p:sp>
      <p:sp>
        <p:nvSpPr>
          <p:cNvPr id="19" name="Oval 18">
            <a:extLst>
              <a:ext uri="{FF2B5EF4-FFF2-40B4-BE49-F238E27FC236}">
                <a16:creationId xmlns:a16="http://schemas.microsoft.com/office/drawing/2014/main" id="{48CAFD26-7D91-0C3E-7E93-353B29BC77DA}"/>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Low</a:t>
            </a:r>
          </a:p>
        </p:txBody>
      </p:sp>
    </p:spTree>
    <p:extLst>
      <p:ext uri="{BB962C8B-B14F-4D97-AF65-F5344CB8AC3E}">
        <p14:creationId xmlns:p14="http://schemas.microsoft.com/office/powerpoint/2010/main" val="11453989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All rights reserved.</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26" name="TextBox 125">
            <a:extLst>
              <a:ext uri="{FF2B5EF4-FFF2-40B4-BE49-F238E27FC236}">
                <a16:creationId xmlns:a16="http://schemas.microsoft.com/office/drawing/2014/main" id="{EEC953B8-A3F6-4C3F-6CE0-DB056ED72F5B}"/>
              </a:ext>
            </a:extLst>
          </p:cNvPr>
          <p:cNvSpPr txBox="1"/>
          <p:nvPr>
            <p:extLst>
              <p:ext uri="{1162E1C5-73C7-4A58-AE30-91384D911F3F}">
                <p184:classification xmlns:p184="http://schemas.microsoft.com/office/powerpoint/2018/4/main" val="hdr"/>
              </p:ext>
            </p:extLst>
          </p:nvPr>
        </p:nvSpPr>
        <p:spPr>
          <a:xfrm>
            <a:off x="4610601" y="78170"/>
            <a:ext cx="3641223" cy="153888"/>
          </a:xfrm>
          <a:prstGeom prst="rect">
            <a:avLst/>
          </a:prstGeom>
        </p:spPr>
        <p:txBody>
          <a:bodyPr horzOverflow="overflow"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***Confidential - For Company Internal Use Only***</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Interoperability Architecture </a:t>
            </a:r>
            <a:r>
              <a:rPr kumimoji="0" lang="en-US" sz="2400" b="1" i="0" u="none" strike="noStrike" kern="1200" cap="none" spc="0" normalizeH="0" baseline="0" noProof="0">
                <a:ln>
                  <a:noFill/>
                </a:ln>
                <a:solidFill>
                  <a:srgbClr val="000000"/>
                </a:solidFill>
                <a:effectLst/>
                <a:uLnTx/>
                <a:uFillTx/>
                <a:latin typeface="Graphik"/>
                <a:ea typeface="+mj-ea"/>
                <a:cs typeface="+mj-cs"/>
              </a:rPr>
              <a:t>| Data Delivery</a:t>
            </a: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n-US" sz="1000" b="1" i="0" dirty="0">
                <a:solidFill>
                  <a:srgbClr val="7500C0"/>
                </a:solidFill>
                <a:latin typeface="Graphik"/>
                <a:cs typeface="Graphik"/>
              </a:rPr>
              <a:t>DOMAIN CAPABILITY    |    4 SUB-CAPABILITIES</a:t>
            </a:r>
          </a:p>
        </p:txBody>
      </p:sp>
      <p:graphicFrame>
        <p:nvGraphicFramePr>
          <p:cNvPr id="100" name="DetailTable"/>
          <p:cNvGraphicFramePr>
            <a:graphicFrameLocks noGrp="1"/>
          </p:cNvGraphicFramePr>
          <p:nvPr/>
        </p:nvGraphicFramePr>
        <p:xfrm>
          <a:off x="381000" y="1015000"/>
          <a:ext cx="11430000" cy="5055404"/>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n-US" sz="1000" b="1" i="0" dirty="0">
                          <a:solidFill>
                            <a:srgbClr val="FFFFFF"/>
                          </a:solidFill>
                          <a:latin typeface="Graphik"/>
                          <a:cs typeface="Graphik"/>
                        </a:rPr>
                        <a:t>Sub-capability</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Description</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Purpose</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Solutions in Coppel</a:t>
                      </a:r>
                    </a:p>
                  </a:txBody>
                  <a:tcPr marL="82000" marR="82000" marT="38000" marB="38000" anchor="ctr">
                    <a:solidFill>
                      <a:srgbClr val="7500C0"/>
                    </a:solidFill>
                  </a:tcPr>
                </a:tc>
                <a:extLst>
                  <a:ext uri="{0D108BD9-81ED-4DB2-BD59-A6C34878D82A}">
                    <a16:rowId xmlns:a16="http://schemas.microsoft.com/office/drawing/2014/main" val="10000"/>
                  </a:ext>
                </a:extLst>
              </a:tr>
              <a:tr h="1000256">
                <a:tc>
                  <a:txBody>
                    <a:bodyPr/>
                    <a:lstStyle/>
                    <a:p>
                      <a:pPr marL="0" indent="0" algn="l">
                        <a:lnSpc>
                          <a:spcPct val="104000"/>
                        </a:lnSpc>
                        <a:spcBef>
                          <a:spcPts val="30"/>
                        </a:spcBef>
                        <a:buNone/>
                      </a:pPr>
                      <a:r>
                        <a:rPr lang="en-US" sz="800" b="1" i="0" dirty="0">
                          <a:solidFill>
                            <a:srgbClr val="9B7BC7"/>
                          </a:solidFill>
                          <a:latin typeface="Graphik"/>
                          <a:cs typeface="Graphik"/>
                        </a:rPr>
                        <a:t>11.1  </a:t>
                      </a:r>
                      <a:r>
                        <a:rPr lang="en-US" sz="950" b="1" i="0" dirty="0">
                          <a:solidFill>
                            <a:srgbClr val="7500C0"/>
                          </a:solidFill>
                          <a:latin typeface="Graphik"/>
                          <a:cs typeface="Graphik"/>
                        </a:rPr>
                        <a:t>Data Catalogue &amp; Modelling</a:t>
                      </a:r>
                    </a:p>
                  </a:txBody>
                  <a:tcPr marL="82000" marR="82000" marT="38000" marB="38000" anchor="ctr">
                    <a:solidFill>
                      <a:srgbClr val="EFE7F7"/>
                    </a:solidFill>
                  </a:tcPr>
                </a:tc>
                <a:tc>
                  <a:txBody>
                    <a:bodyPr/>
                    <a:lstStyle/>
                    <a:p>
                      <a:pPr marL="0" indent="0" algn="l">
                        <a:lnSpc>
                          <a:spcPct val="108000"/>
                        </a:lnSpc>
                        <a:spcBef>
                          <a:spcPts val="30"/>
                        </a:spcBef>
                        <a:buNone/>
                      </a:pPr>
                      <a:r>
                        <a:rPr lang="en-US" sz="900" b="0" i="0" dirty="0">
                          <a:solidFill>
                            <a:srgbClr val="2B2B2B"/>
                          </a:solidFill>
                          <a:latin typeface="Graphik"/>
                          <a:cs typeface="Graphik"/>
                        </a:rPr>
                        <a:t>Discovery, description, governance and quality management of data assets: catalogue and inventory, metadata (passive, runtime and active), lineage, semantic enrichment, profiling, and access and privacy control.</a:t>
                      </a:r>
                    </a:p>
                  </a:txBody>
                  <a:tcPr marL="82000" marR="82000" marT="38000" marB="38000" anchor="ctr">
                    <a:solidFill>
                      <a:srgbClr val="FFFFFF"/>
                    </a:solidFill>
                  </a:tcPr>
                </a:tc>
                <a:tc>
                  <a:txBody>
                    <a:bodyPr/>
                    <a:lstStyle/>
                    <a:p>
                      <a:pPr marL="0" indent="0" algn="l">
                        <a:lnSpc>
                          <a:spcPct val="108000"/>
                        </a:lnSpc>
                        <a:spcBef>
                          <a:spcPts val="30"/>
                        </a:spcBef>
                        <a:buNone/>
                      </a:pPr>
                      <a:r>
                        <a:rPr lang="en-US" sz="900" b="0" i="0" dirty="0">
                          <a:solidFill>
                            <a:srgbClr val="444444"/>
                          </a:solidFill>
                          <a:latin typeface="Graphik"/>
                          <a:cs typeface="Graphik"/>
                        </a:rPr>
                        <a:t>Data can only be shared safely if it is described and governed; the catalogue is what makes a shared data layer usable by teams that did not create the data.</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Data Warehouse</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DataStage ETL</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Temenos Data Hub (TDH)</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Golden Record/Party-CIF</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Risklogic/Bajaware feeds</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data governance/privacy controls</a:t>
                      </a:r>
                    </a:p>
                  </a:txBody>
                  <a:tcPr marL="82000" marR="82000" marT="38000" marB="38000" anchor="ctr">
                    <a:solidFill>
                      <a:srgbClr val="FFFFFF"/>
                    </a:solidFill>
                  </a:tcPr>
                </a:tc>
                <a:extLst>
                  <a:ext uri="{0D108BD9-81ED-4DB2-BD59-A6C34878D82A}">
                    <a16:rowId xmlns:a16="http://schemas.microsoft.com/office/drawing/2014/main" val="10001"/>
                  </a:ext>
                </a:extLst>
              </a:tr>
              <a:tr h="1151132">
                <a:tc>
                  <a:txBody>
                    <a:bodyPr/>
                    <a:lstStyle/>
                    <a:p>
                      <a:pPr marL="0" indent="0" algn="l">
                        <a:lnSpc>
                          <a:spcPct val="104000"/>
                        </a:lnSpc>
                        <a:spcBef>
                          <a:spcPts val="30"/>
                        </a:spcBef>
                        <a:buNone/>
                      </a:pPr>
                      <a:r>
                        <a:rPr lang="en-US" sz="800" b="1" i="0" dirty="0">
                          <a:solidFill>
                            <a:srgbClr val="9B7BC7"/>
                          </a:solidFill>
                          <a:latin typeface="Graphik"/>
                          <a:cs typeface="Graphik"/>
                        </a:rPr>
                        <a:t>11.2  </a:t>
                      </a:r>
                      <a:r>
                        <a:rPr lang="en-US" sz="950" b="1" i="0" dirty="0">
                          <a:solidFill>
                            <a:srgbClr val="7500C0"/>
                          </a:solidFill>
                          <a:latin typeface="Graphik"/>
                          <a:cs typeface="Graphik"/>
                        </a:rPr>
                        <a:t>Data Pipelines &amp; Delivery</a:t>
                      </a:r>
                    </a:p>
                  </a:txBody>
                  <a:tcPr marL="82000" marR="82000" marT="38000" marB="38000" anchor="ctr">
                    <a:solidFill>
                      <a:srgbClr val="E9DEF4"/>
                    </a:solidFill>
                  </a:tcPr>
                </a:tc>
                <a:tc>
                  <a:txBody>
                    <a:bodyPr/>
                    <a:lstStyle/>
                    <a:p>
                      <a:pPr marL="0" indent="0" algn="l">
                        <a:lnSpc>
                          <a:spcPct val="108000"/>
                        </a:lnSpc>
                        <a:spcBef>
                          <a:spcPts val="30"/>
                        </a:spcBef>
                        <a:buNone/>
                      </a:pPr>
                      <a:r>
                        <a:rPr lang="en-US" sz="900" b="0" i="0" dirty="0">
                          <a:solidFill>
                            <a:srgbClr val="2B2B2B"/>
                          </a:solidFill>
                          <a:latin typeface="Graphik"/>
                          <a:cs typeface="Graphik"/>
                        </a:rPr>
                        <a:t>Movement of data between sources, stores and consumers at the required latency: batch integration, stream integration, replication and virtualised access, from legacy systems, files, lakes, cloud stores and external providers.</a:t>
                      </a:r>
                    </a:p>
                  </a:txBody>
                  <a:tcPr marL="82000" marR="82000" marT="38000" marB="38000" anchor="ctr">
                    <a:solidFill>
                      <a:srgbClr val="F6F2FB"/>
                    </a:solidFill>
                  </a:tcPr>
                </a:tc>
                <a:tc>
                  <a:txBody>
                    <a:bodyPr/>
                    <a:lstStyle/>
                    <a:p>
                      <a:pPr marL="0" indent="0" algn="l">
                        <a:lnSpc>
                          <a:spcPct val="108000"/>
                        </a:lnSpc>
                        <a:spcBef>
                          <a:spcPts val="30"/>
                        </a:spcBef>
                        <a:buNone/>
                      </a:pPr>
                      <a:r>
                        <a:rPr lang="en-US" sz="900" b="0" i="0" dirty="0">
                          <a:solidFill>
                            <a:srgbClr val="444444"/>
                          </a:solidFill>
                          <a:latin typeface="Graphik"/>
                          <a:cs typeface="Graphik"/>
                        </a:rPr>
                        <a:t>The physical plumbing of data decoupling; it is what allows consumers to be served without granting them access to systems of record.</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DataStage ETL/ELT</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Data Warehouse</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TDH</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PISA/Informix extraction</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Oracle/YugabyteDB</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batch/COB pipelines</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DataDog monitoring</a:t>
                      </a:r>
                    </a:p>
                  </a:txBody>
                  <a:tcPr marL="82000" marR="82000" marT="38000" marB="38000" anchor="ctr">
                    <a:solidFill>
                      <a:srgbClr val="F6F2FB"/>
                    </a:solidFill>
                  </a:tcPr>
                </a:tc>
                <a:extLst>
                  <a:ext uri="{0D108BD9-81ED-4DB2-BD59-A6C34878D82A}">
                    <a16:rowId xmlns:a16="http://schemas.microsoft.com/office/drawing/2014/main" val="10002"/>
                  </a:ext>
                </a:extLst>
              </a:tr>
              <a:tr h="1151132">
                <a:tc>
                  <a:txBody>
                    <a:bodyPr/>
                    <a:lstStyle/>
                    <a:p>
                      <a:pPr marL="0" indent="0" algn="l">
                        <a:lnSpc>
                          <a:spcPct val="104000"/>
                        </a:lnSpc>
                        <a:spcBef>
                          <a:spcPts val="30"/>
                        </a:spcBef>
                        <a:buNone/>
                      </a:pPr>
                      <a:r>
                        <a:rPr lang="en-US" sz="800" b="1" i="0" dirty="0">
                          <a:solidFill>
                            <a:srgbClr val="9B7BC7"/>
                          </a:solidFill>
                          <a:latin typeface="Graphik"/>
                          <a:cs typeface="Graphik"/>
                        </a:rPr>
                        <a:t>11.3  </a:t>
                      </a:r>
                      <a:r>
                        <a:rPr lang="en-US" sz="950" b="1" i="0" dirty="0">
                          <a:solidFill>
                            <a:srgbClr val="7500C0"/>
                          </a:solidFill>
                          <a:latin typeface="Graphik"/>
                          <a:cs typeface="Graphik"/>
                        </a:rPr>
                        <a:t>Operational Data Store &amp; Unified Data Model</a:t>
                      </a:r>
                    </a:p>
                  </a:txBody>
                  <a:tcPr marL="82000" marR="82000" marT="38000" marB="38000" anchor="ctr">
                    <a:solidFill>
                      <a:srgbClr val="EFE7F7"/>
                    </a:solidFill>
                  </a:tcPr>
                </a:tc>
                <a:tc>
                  <a:txBody>
                    <a:bodyPr/>
                    <a:lstStyle/>
                    <a:p>
                      <a:pPr marL="0" indent="0" algn="l">
                        <a:lnSpc>
                          <a:spcPct val="108000"/>
                        </a:lnSpc>
                        <a:spcBef>
                          <a:spcPts val="30"/>
                        </a:spcBef>
                        <a:buNone/>
                      </a:pPr>
                      <a:r>
                        <a:rPr lang="en-US" sz="900" b="0" i="0" dirty="0">
                          <a:solidFill>
                            <a:srgbClr val="2B2B2B"/>
                          </a:solidFill>
                          <a:latin typeface="Graphik"/>
                          <a:cs typeface="Graphik"/>
                        </a:rPr>
                        <a:t>A standardised operational data model holding a real-time, multi-source view of key business entities, consolidated across legacy and next-generation cores and served to consumers as the bank's data layer.</a:t>
                      </a:r>
                    </a:p>
                  </a:txBody>
                  <a:tcPr marL="82000" marR="82000" marT="38000" marB="38000" anchor="ctr">
                    <a:solidFill>
                      <a:srgbClr val="FFFFFF"/>
                    </a:solidFill>
                  </a:tcPr>
                </a:tc>
                <a:tc>
                  <a:txBody>
                    <a:bodyPr/>
                    <a:lstStyle/>
                    <a:p>
                      <a:pPr marL="0" indent="0" algn="l">
                        <a:lnSpc>
                          <a:spcPct val="108000"/>
                        </a:lnSpc>
                        <a:spcBef>
                          <a:spcPts val="30"/>
                        </a:spcBef>
                        <a:buNone/>
                      </a:pPr>
                      <a:r>
                        <a:rPr lang="en-US" sz="900" b="0" i="0" dirty="0">
                          <a:solidFill>
                            <a:srgbClr val="444444"/>
                          </a:solidFill>
                          <a:latin typeface="Graphik"/>
                          <a:cs typeface="Graphik"/>
                        </a:rPr>
                        <a:t>This is the decoupler in data terms. Holding a real-time standardised view consolidated from best-of-breed cores means consumers are not tied to one core and no consumer requires direct mainframe access - the mechanism that most reduces core-modernisation timelines and risk.</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Golden Record/Party-CIF</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Informix/PISA legacy master data</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Temenos TDH</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Data Warehouse</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YugabyteDB/Oracle</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cross-core consolidation through APIs and DataStage</a:t>
                      </a:r>
                    </a:p>
                  </a:txBody>
                  <a:tcPr marL="82000" marR="82000" marT="38000" marB="38000" anchor="ctr">
                    <a:solidFill>
                      <a:srgbClr val="FFFFFF"/>
                    </a:solidFill>
                  </a:tcPr>
                </a:tc>
                <a:extLst>
                  <a:ext uri="{0D108BD9-81ED-4DB2-BD59-A6C34878D82A}">
                    <a16:rowId xmlns:a16="http://schemas.microsoft.com/office/drawing/2014/main" val="10003"/>
                  </a:ext>
                </a:extLst>
              </a:tr>
              <a:tr h="1452884">
                <a:tc>
                  <a:txBody>
                    <a:bodyPr/>
                    <a:lstStyle/>
                    <a:p>
                      <a:pPr marL="0" indent="0" algn="l">
                        <a:lnSpc>
                          <a:spcPct val="104000"/>
                        </a:lnSpc>
                        <a:spcBef>
                          <a:spcPts val="30"/>
                        </a:spcBef>
                        <a:buNone/>
                      </a:pPr>
                      <a:r>
                        <a:rPr lang="en-US" sz="800" b="1" i="0" dirty="0">
                          <a:solidFill>
                            <a:srgbClr val="9B7BC7"/>
                          </a:solidFill>
                          <a:latin typeface="Graphik"/>
                          <a:cs typeface="Graphik"/>
                        </a:rPr>
                        <a:t>11.4  </a:t>
                      </a:r>
                      <a:r>
                        <a:rPr lang="en-US" sz="950" b="1" i="0" dirty="0">
                          <a:solidFill>
                            <a:srgbClr val="7500C0"/>
                          </a:solidFill>
                          <a:latin typeface="Graphik"/>
                          <a:cs typeface="Graphik"/>
                        </a:rPr>
                        <a:t>Data Consumption Services</a:t>
                      </a:r>
                    </a:p>
                  </a:txBody>
                  <a:tcPr marL="82000" marR="82000" marT="38000" marB="38000" anchor="ctr">
                    <a:solidFill>
                      <a:srgbClr val="E9DEF4"/>
                    </a:solidFill>
                  </a:tcPr>
                </a:tc>
                <a:tc>
                  <a:txBody>
                    <a:bodyPr/>
                    <a:lstStyle/>
                    <a:p>
                      <a:pPr marL="0" indent="0" algn="l">
                        <a:lnSpc>
                          <a:spcPct val="108000"/>
                        </a:lnSpc>
                        <a:spcBef>
                          <a:spcPts val="30"/>
                        </a:spcBef>
                        <a:buNone/>
                      </a:pPr>
                      <a:r>
                        <a:rPr lang="en-US" sz="900" b="0" i="0" dirty="0">
                          <a:solidFill>
                            <a:srgbClr val="2B2B2B"/>
                          </a:solidFill>
                          <a:latin typeface="Graphik"/>
                          <a:cs typeface="Graphik"/>
                        </a:rPr>
                        <a:t>The consumption surface over the data layer: data APIs, analytics and reporting feeds, and governed sandbox provisioning for exploratory and model development work.</a:t>
                      </a:r>
                    </a:p>
                  </a:txBody>
                  <a:tcPr marL="82000" marR="82000" marT="38000" marB="38000" anchor="ctr">
                    <a:solidFill>
                      <a:srgbClr val="F6F2FB"/>
                    </a:solidFill>
                  </a:tcPr>
                </a:tc>
                <a:tc>
                  <a:txBody>
                    <a:bodyPr/>
                    <a:lstStyle/>
                    <a:p>
                      <a:pPr marL="0" indent="0" algn="l">
                        <a:lnSpc>
                          <a:spcPct val="108000"/>
                        </a:lnSpc>
                        <a:spcBef>
                          <a:spcPts val="30"/>
                        </a:spcBef>
                        <a:buNone/>
                      </a:pPr>
                      <a:r>
                        <a:rPr lang="en-US" sz="900" b="0" i="0" dirty="0">
                          <a:solidFill>
                            <a:srgbClr val="444444"/>
                          </a:solidFill>
                          <a:latin typeface="Graphik"/>
                          <a:cs typeface="Graphik"/>
                        </a:rPr>
                        <a:t>Ensures the investment in data delivery converts into use; without governed consumption paths, teams revert to direct source access and re-create the coupling that was removed.</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DataStage</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Data Warehouse</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Temenos Data Hub</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YugabyteDB</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Informix/PISA</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Oracle</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OnBase</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Bajaware/Risklogic</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Golden Record</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21" name="Rectangle 20">
            <a:extLst>
              <a:ext uri="{FF2B5EF4-FFF2-40B4-BE49-F238E27FC236}">
                <a16:creationId xmlns:a16="http://schemas.microsoft.com/office/drawing/2014/main" id="{F1256A38-992B-F9EF-43CA-C440E6263F6C}"/>
              </a:ext>
            </a:extLst>
          </p:cNvPr>
          <p:cNvSpPr>
            <a:spLocks noChangeAspect="1"/>
          </p:cNvSpPr>
          <p:nvPr/>
        </p:nvSpPr>
        <p:spPr>
          <a:xfrm>
            <a:off x="1936750" y="6410745"/>
            <a:ext cx="640842" cy="18450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GAP</a:t>
            </a:r>
          </a:p>
        </p:txBody>
      </p:sp>
      <p:sp>
        <p:nvSpPr>
          <p:cNvPr id="24" name="Rectangle 23">
            <a:extLst>
              <a:ext uri="{FF2B5EF4-FFF2-40B4-BE49-F238E27FC236}">
                <a16:creationId xmlns:a16="http://schemas.microsoft.com/office/drawing/2014/main" id="{3FB811EE-7DD7-1700-9CAE-8C8B7BC23D6C}"/>
              </a:ext>
            </a:extLst>
          </p:cNvPr>
          <p:cNvSpPr>
            <a:spLocks noChangeAspect="1"/>
          </p:cNvSpPr>
          <p:nvPr/>
        </p:nvSpPr>
        <p:spPr>
          <a:xfrm>
            <a:off x="1936750" y="6191083"/>
            <a:ext cx="640842" cy="18450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Target</a:t>
            </a:r>
          </a:p>
        </p:txBody>
      </p:sp>
      <p:sp>
        <p:nvSpPr>
          <p:cNvPr id="26" name="Rectangle 25">
            <a:extLst>
              <a:ext uri="{FF2B5EF4-FFF2-40B4-BE49-F238E27FC236}">
                <a16:creationId xmlns:a16="http://schemas.microsoft.com/office/drawing/2014/main" id="{095E13AD-8D93-9F81-DD8F-2FDF5084D663}"/>
              </a:ext>
            </a:extLst>
          </p:cNvPr>
          <p:cNvSpPr>
            <a:spLocks noChangeAspect="1"/>
          </p:cNvSpPr>
          <p:nvPr/>
        </p:nvSpPr>
        <p:spPr>
          <a:xfrm>
            <a:off x="1936750" y="6620295"/>
            <a:ext cx="640842" cy="18450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Discard</a:t>
            </a:r>
          </a:p>
        </p:txBody>
      </p:sp>
      <p:sp>
        <p:nvSpPr>
          <p:cNvPr id="28" name="Oval 27">
            <a:extLst>
              <a:ext uri="{FF2B5EF4-FFF2-40B4-BE49-F238E27FC236}">
                <a16:creationId xmlns:a16="http://schemas.microsoft.com/office/drawing/2014/main" id="{19424ADD-F4E0-0444-DC0B-B82AEAE230BD}"/>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High</a:t>
            </a:r>
          </a:p>
        </p:txBody>
      </p:sp>
      <p:sp>
        <p:nvSpPr>
          <p:cNvPr id="30" name="Rectangle 29">
            <a:extLst>
              <a:ext uri="{FF2B5EF4-FFF2-40B4-BE49-F238E27FC236}">
                <a16:creationId xmlns:a16="http://schemas.microsoft.com/office/drawing/2014/main" id="{D908443E-2D2A-7F43-B382-40358942F3FB}"/>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Capability Assessment</a:t>
            </a:r>
          </a:p>
        </p:txBody>
      </p:sp>
      <p:sp>
        <p:nvSpPr>
          <p:cNvPr id="32" name="Rectangle 31">
            <a:extLst>
              <a:ext uri="{FF2B5EF4-FFF2-40B4-BE49-F238E27FC236}">
                <a16:creationId xmlns:a16="http://schemas.microsoft.com/office/drawing/2014/main" id="{ABD02C5E-F514-ABF7-5400-1057E0114D2F}"/>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Priority</a:t>
            </a:r>
          </a:p>
        </p:txBody>
      </p:sp>
      <p:sp>
        <p:nvSpPr>
          <p:cNvPr id="34" name="Oval 33">
            <a:extLst>
              <a:ext uri="{FF2B5EF4-FFF2-40B4-BE49-F238E27FC236}">
                <a16:creationId xmlns:a16="http://schemas.microsoft.com/office/drawing/2014/main" id="{31C84E6B-AC02-3590-280F-7DA23A7092E3}"/>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Med</a:t>
            </a:r>
          </a:p>
        </p:txBody>
      </p:sp>
      <p:sp>
        <p:nvSpPr>
          <p:cNvPr id="36" name="Oval 35">
            <a:extLst>
              <a:ext uri="{FF2B5EF4-FFF2-40B4-BE49-F238E27FC236}">
                <a16:creationId xmlns:a16="http://schemas.microsoft.com/office/drawing/2014/main" id="{3FDFB24C-29BF-023D-675C-FA0B582422ED}"/>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Low</a:t>
            </a:r>
          </a:p>
        </p:txBody>
      </p:sp>
    </p:spTree>
    <p:extLst>
      <p:ext uri="{BB962C8B-B14F-4D97-AF65-F5344CB8AC3E}">
        <p14:creationId xmlns:p14="http://schemas.microsoft.com/office/powerpoint/2010/main" val="11453989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All rights reserved.</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26" name="TextBox 125">
            <a:extLst>
              <a:ext uri="{FF2B5EF4-FFF2-40B4-BE49-F238E27FC236}">
                <a16:creationId xmlns:a16="http://schemas.microsoft.com/office/drawing/2014/main" id="{EEC953B8-A3F6-4C3F-6CE0-DB056ED72F5B}"/>
              </a:ext>
            </a:extLst>
          </p:cNvPr>
          <p:cNvSpPr txBox="1"/>
          <p:nvPr>
            <p:extLst>
              <p:ext uri="{1162E1C5-73C7-4A58-AE30-91384D911F3F}">
                <p184:classification xmlns:p184="http://schemas.microsoft.com/office/powerpoint/2018/4/main" val="hdr"/>
              </p:ext>
            </p:extLst>
          </p:nvPr>
        </p:nvSpPr>
        <p:spPr>
          <a:xfrm>
            <a:off x="4610601" y="78170"/>
            <a:ext cx="3641223" cy="153888"/>
          </a:xfrm>
          <a:prstGeom prst="rect">
            <a:avLst/>
          </a:prstGeom>
        </p:spPr>
        <p:txBody>
          <a:bodyPr horzOverflow="overflow"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***Confidential - For Company Internal Use Only***</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Interoperability Architecture </a:t>
            </a:r>
            <a:r>
              <a:rPr kumimoji="0" lang="en-US" sz="2400" b="1" i="0" u="none" strike="noStrike" kern="1200" cap="none" spc="0" normalizeH="0" baseline="0" noProof="0">
                <a:ln>
                  <a:noFill/>
                </a:ln>
                <a:solidFill>
                  <a:srgbClr val="000000"/>
                </a:solidFill>
                <a:effectLst/>
                <a:uLnTx/>
                <a:uFillTx/>
                <a:latin typeface="Graphik"/>
                <a:ea typeface="+mj-ea"/>
                <a:cs typeface="+mj-cs"/>
              </a:rPr>
              <a:t>| Event Processing &amp; Reactive Components</a:t>
            </a: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n-US" sz="1000" b="1" i="0" dirty="0">
                <a:solidFill>
                  <a:srgbClr val="7500C0"/>
                </a:solidFill>
                <a:latin typeface="Graphik"/>
                <a:cs typeface="Graphik"/>
              </a:rPr>
              <a:t>DOMAIN CAPABILITY    |    6 SUB-CAPABILITIES</a:t>
            </a:r>
          </a:p>
        </p:txBody>
      </p:sp>
      <p:graphicFrame>
        <p:nvGraphicFramePr>
          <p:cNvPr id="100" name="DetailTable"/>
          <p:cNvGraphicFramePr>
            <a:graphicFrameLocks noGrp="1"/>
          </p:cNvGraphicFramePr>
          <p:nvPr>
            <p:extLst>
              <p:ext uri="{D42A27DB-BD31-4B8C-83A1-F6EECF244321}">
                <p14:modId xmlns:p14="http://schemas.microsoft.com/office/powerpoint/2010/main" val="2378358242"/>
              </p:ext>
            </p:extLst>
          </p:nvPr>
        </p:nvGraphicFramePr>
        <p:xfrm>
          <a:off x="381000" y="1015000"/>
          <a:ext cx="11430000" cy="4943652"/>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n-US" sz="1000" b="1" i="0" dirty="0">
                          <a:solidFill>
                            <a:srgbClr val="FFFFFF"/>
                          </a:solidFill>
                          <a:latin typeface="Graphik"/>
                          <a:cs typeface="Graphik"/>
                        </a:rPr>
                        <a:t>Sub-capability</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Description</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Purpose</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Solutions in Coppel</a:t>
                      </a:r>
                    </a:p>
                  </a:txBody>
                  <a:tcPr marL="82000" marR="82000" marT="38000" marB="38000" anchor="ctr">
                    <a:solidFill>
                      <a:srgbClr val="7500C0"/>
                    </a:solidFill>
                  </a:tcPr>
                </a:tc>
                <a:extLst>
                  <a:ext uri="{0D108BD9-81ED-4DB2-BD59-A6C34878D82A}">
                    <a16:rowId xmlns:a16="http://schemas.microsoft.com/office/drawing/2014/main" val="10000"/>
                  </a:ext>
                </a:extLst>
              </a:tr>
              <a:tr h="849380">
                <a:tc>
                  <a:txBody>
                    <a:bodyPr/>
                    <a:lstStyle/>
                    <a:p>
                      <a:pPr marL="0" indent="0" algn="l">
                        <a:lnSpc>
                          <a:spcPct val="104000"/>
                        </a:lnSpc>
                        <a:spcBef>
                          <a:spcPts val="30"/>
                        </a:spcBef>
                        <a:buNone/>
                      </a:pPr>
                      <a:r>
                        <a:rPr lang="en-US" sz="800" b="1" i="0" dirty="0">
                          <a:solidFill>
                            <a:srgbClr val="9B7BC7"/>
                          </a:solidFill>
                          <a:latin typeface="Graphik"/>
                          <a:cs typeface="Graphik"/>
                        </a:rPr>
                        <a:t>12.1  </a:t>
                      </a:r>
                      <a:r>
                        <a:rPr lang="en-US" sz="950" b="1" i="0" dirty="0">
                          <a:solidFill>
                            <a:srgbClr val="7500C0"/>
                          </a:solidFill>
                          <a:latin typeface="Graphik"/>
                          <a:cs typeface="Graphik"/>
                        </a:rPr>
                        <a:t>Event Messaging</a:t>
                      </a:r>
                    </a:p>
                  </a:txBody>
                  <a:tcPr marL="82000" marR="82000" marT="38000" marB="38000" anchor="ctr">
                    <a:solidFill>
                      <a:srgbClr val="EFE7F7"/>
                    </a:solidFill>
                  </a:tcPr>
                </a:tc>
                <a:tc>
                  <a:txBody>
                    <a:bodyPr/>
                    <a:lstStyle/>
                    <a:p>
                      <a:pPr marL="0" indent="0" algn="l">
                        <a:lnSpc>
                          <a:spcPct val="108000"/>
                        </a:lnSpc>
                        <a:spcBef>
                          <a:spcPts val="30"/>
                        </a:spcBef>
                        <a:buNone/>
                      </a:pPr>
                      <a:r>
                        <a:rPr lang="en-US" sz="900" b="0" i="0" dirty="0">
                          <a:solidFill>
                            <a:srgbClr val="2B2B2B"/>
                          </a:solidFill>
                          <a:latin typeface="Graphik"/>
                          <a:cs typeface="Graphik"/>
                        </a:rPr>
                        <a:t>Publish and subscribe messaging between components, including topic and queue administration and bridging across the multiple messaging technologies typically present in a bank.</a:t>
                      </a:r>
                    </a:p>
                  </a:txBody>
                  <a:tcPr marL="82000" marR="82000" marT="38000" marB="38000" anchor="ctr">
                    <a:solidFill>
                      <a:srgbClr val="FFFFFF"/>
                    </a:solidFill>
                  </a:tcPr>
                </a:tc>
                <a:tc>
                  <a:txBody>
                    <a:bodyPr/>
                    <a:lstStyle/>
                    <a:p>
                      <a:pPr marL="0" indent="0" algn="l">
                        <a:lnSpc>
                          <a:spcPct val="108000"/>
                        </a:lnSpc>
                        <a:spcBef>
                          <a:spcPts val="30"/>
                        </a:spcBef>
                        <a:buNone/>
                      </a:pPr>
                      <a:r>
                        <a:rPr lang="en-US" sz="900" b="0" i="0" dirty="0">
                          <a:solidFill>
                            <a:srgbClr val="444444"/>
                          </a:solidFill>
                          <a:latin typeface="Graphik"/>
                          <a:cs typeface="Graphik"/>
                        </a:rPr>
                        <a:t>Replaces bilateral, synchronous coupling with a shared asynchronous channel, so producers and consumers can change independently.</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Kafka/Confluent</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Amazon MQ</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Temenos Events Framework</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Event Processor/Event Router/Event Cleanup</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MuleSoft for integration messaging</a:t>
                      </a:r>
                    </a:p>
                  </a:txBody>
                  <a:tcPr marL="82000" marR="82000" marT="38000" marB="38000" anchor="ctr">
                    <a:solidFill>
                      <a:srgbClr val="FFFFFF"/>
                    </a:solidFill>
                  </a:tcPr>
                </a:tc>
                <a:extLst>
                  <a:ext uri="{0D108BD9-81ED-4DB2-BD59-A6C34878D82A}">
                    <a16:rowId xmlns:a16="http://schemas.microsoft.com/office/drawing/2014/main" val="10001"/>
                  </a:ext>
                </a:extLst>
              </a:tr>
              <a:tr h="698504">
                <a:tc>
                  <a:txBody>
                    <a:bodyPr/>
                    <a:lstStyle/>
                    <a:p>
                      <a:pPr marL="0" indent="0" algn="l">
                        <a:lnSpc>
                          <a:spcPct val="104000"/>
                        </a:lnSpc>
                        <a:spcBef>
                          <a:spcPts val="30"/>
                        </a:spcBef>
                        <a:buNone/>
                      </a:pPr>
                      <a:r>
                        <a:rPr lang="en-US" sz="800" b="1" i="0" dirty="0">
                          <a:solidFill>
                            <a:srgbClr val="9B7BC7"/>
                          </a:solidFill>
                          <a:latin typeface="+mn-lt"/>
                          <a:cs typeface="Graphik"/>
                        </a:rPr>
                        <a:t>12.</a:t>
                      </a:r>
                      <a:r>
                        <a:rPr lang="en-US" sz="800" b="1" i="0" dirty="0">
                          <a:solidFill>
                            <a:srgbClr val="9B7BC7"/>
                          </a:solidFill>
                          <a:latin typeface="Graphik"/>
                          <a:cs typeface="Graphik"/>
                        </a:rPr>
                        <a:t>2  </a:t>
                      </a:r>
                      <a:r>
                        <a:rPr lang="en-US" sz="950" b="1" i="0" dirty="0">
                          <a:solidFill>
                            <a:srgbClr val="7500C0"/>
                          </a:solidFill>
                          <a:latin typeface="Graphik"/>
                          <a:cs typeface="Graphik"/>
                        </a:rPr>
                        <a:t>Event Streaming</a:t>
                      </a:r>
                    </a:p>
                  </a:txBody>
                  <a:tcPr marL="82000" marR="82000" marT="38000" marB="38000" anchor="ctr">
                    <a:solidFill>
                      <a:srgbClr val="E9DEF4"/>
                    </a:solidFill>
                  </a:tcPr>
                </a:tc>
                <a:tc>
                  <a:txBody>
                    <a:bodyPr/>
                    <a:lstStyle/>
                    <a:p>
                      <a:pPr marL="0" indent="0" algn="l">
                        <a:lnSpc>
                          <a:spcPct val="108000"/>
                        </a:lnSpc>
                        <a:spcBef>
                          <a:spcPts val="30"/>
                        </a:spcBef>
                        <a:buNone/>
                      </a:pPr>
                      <a:r>
                        <a:rPr lang="en-US" sz="900" b="0" i="0" dirty="0">
                          <a:solidFill>
                            <a:srgbClr val="2B2B2B"/>
                          </a:solidFill>
                          <a:latin typeface="Graphik"/>
                          <a:cs typeface="Graphik"/>
                        </a:rPr>
                        <a:t>High-throughput, durable, replayable streams of events with retention, partitioning and continuous stream processing, including complex event processing over multiple streams.</a:t>
                      </a:r>
                    </a:p>
                  </a:txBody>
                  <a:tcPr marL="82000" marR="82000" marT="38000" marB="38000" anchor="ctr">
                    <a:solidFill>
                      <a:srgbClr val="F6F2FB"/>
                    </a:solidFill>
                  </a:tcPr>
                </a:tc>
                <a:tc>
                  <a:txBody>
                    <a:bodyPr/>
                    <a:lstStyle/>
                    <a:p>
                      <a:pPr marL="0" indent="0" algn="l">
                        <a:lnSpc>
                          <a:spcPct val="108000"/>
                        </a:lnSpc>
                        <a:spcBef>
                          <a:spcPts val="30"/>
                        </a:spcBef>
                        <a:buNone/>
                      </a:pPr>
                      <a:r>
                        <a:rPr lang="en-US" sz="900" b="0" i="0" dirty="0">
                          <a:solidFill>
                            <a:srgbClr val="444444"/>
                          </a:solidFill>
                          <a:latin typeface="Graphik"/>
                          <a:cs typeface="Graphik"/>
                        </a:rPr>
                        <a:t>Provides the real-time data movement capability on which multi-core data aggregation, read offloading and real-time customer context all depend.</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Amazon Kinesis</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Kafka/Confluent</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Temenos Events Framework with events such as depositCreated/loanOverdue/payrollCredit</a:t>
                      </a:r>
                    </a:p>
                  </a:txBody>
                  <a:tcPr marL="82000" marR="82000" marT="38000" marB="38000" anchor="ctr">
                    <a:solidFill>
                      <a:srgbClr val="F6F2FB"/>
                    </a:solidFill>
                  </a:tcPr>
                </a:tc>
                <a:extLst>
                  <a:ext uri="{0D108BD9-81ED-4DB2-BD59-A6C34878D82A}">
                    <a16:rowId xmlns:a16="http://schemas.microsoft.com/office/drawing/2014/main" val="10002"/>
                  </a:ext>
                </a:extLst>
              </a:tr>
              <a:tr h="849380">
                <a:tc>
                  <a:txBody>
                    <a:bodyPr/>
                    <a:lstStyle/>
                    <a:p>
                      <a:pPr marL="0" indent="0" algn="l">
                        <a:lnSpc>
                          <a:spcPct val="104000"/>
                        </a:lnSpc>
                        <a:spcBef>
                          <a:spcPts val="30"/>
                        </a:spcBef>
                        <a:buNone/>
                      </a:pPr>
                      <a:r>
                        <a:rPr lang="en-US" sz="800" b="1" i="0" dirty="0">
                          <a:solidFill>
                            <a:srgbClr val="9B7BC7"/>
                          </a:solidFill>
                          <a:latin typeface="+mn-lt"/>
                          <a:cs typeface="Graphik"/>
                        </a:rPr>
                        <a:t>12.</a:t>
                      </a:r>
                      <a:r>
                        <a:rPr lang="en-US" sz="800" b="1" i="0" dirty="0">
                          <a:solidFill>
                            <a:srgbClr val="9B7BC7"/>
                          </a:solidFill>
                          <a:latin typeface="Graphik"/>
                          <a:cs typeface="Graphik"/>
                        </a:rPr>
                        <a:t>3  </a:t>
                      </a:r>
                      <a:r>
                        <a:rPr lang="en-US" sz="950" b="1" i="0" dirty="0">
                          <a:solidFill>
                            <a:srgbClr val="7500C0"/>
                          </a:solidFill>
                          <a:latin typeface="Graphik"/>
                          <a:cs typeface="Graphik"/>
                        </a:rPr>
                        <a:t>Guaranteed Delivery</a:t>
                      </a:r>
                    </a:p>
                  </a:txBody>
                  <a:tcPr marL="82000" marR="82000" marT="38000" marB="38000" anchor="ctr">
                    <a:solidFill>
                      <a:srgbClr val="EFE7F7"/>
                    </a:solidFill>
                  </a:tcPr>
                </a:tc>
                <a:tc>
                  <a:txBody>
                    <a:bodyPr/>
                    <a:lstStyle/>
                    <a:p>
                      <a:pPr marL="0" indent="0" algn="l">
                        <a:lnSpc>
                          <a:spcPct val="108000"/>
                        </a:lnSpc>
                        <a:spcBef>
                          <a:spcPts val="30"/>
                        </a:spcBef>
                        <a:buNone/>
                      </a:pPr>
                      <a:r>
                        <a:rPr lang="en-US" sz="900" b="0" i="0" dirty="0">
                          <a:solidFill>
                            <a:srgbClr val="2B2B2B"/>
                          </a:solidFill>
                          <a:latin typeface="Graphik"/>
                          <a:cs typeface="Graphik"/>
                        </a:rPr>
                        <a:t>Delivery assurance mechanisms - acknowledgement, idempotency control, redelivery and dead-letter management - that make asynchronous integration safe for financial events.</a:t>
                      </a:r>
                    </a:p>
                  </a:txBody>
                  <a:tcPr marL="82000" marR="82000" marT="38000" marB="38000" anchor="ctr">
                    <a:solidFill>
                      <a:srgbClr val="FFFFFF"/>
                    </a:solidFill>
                  </a:tcPr>
                </a:tc>
                <a:tc>
                  <a:txBody>
                    <a:bodyPr/>
                    <a:lstStyle/>
                    <a:p>
                      <a:pPr marL="0" indent="0" algn="l">
                        <a:lnSpc>
                          <a:spcPct val="108000"/>
                        </a:lnSpc>
                        <a:spcBef>
                          <a:spcPts val="30"/>
                        </a:spcBef>
                        <a:buNone/>
                      </a:pPr>
                      <a:r>
                        <a:rPr lang="en-US" sz="900" b="0" i="0" dirty="0">
                          <a:solidFill>
                            <a:srgbClr val="444444"/>
                          </a:solidFill>
                          <a:latin typeface="Graphik"/>
                          <a:cs typeface="Graphik"/>
                        </a:rPr>
                        <a:t>Asynchronous decoupling is only acceptable in banking if delivery is provable; this capability is what makes events usable for accounting and payment flows.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Kafka/Confluent and Amazon MQ patterns</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no named dead-letter/idempotency product is evidenced</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delivery assurance should be covered by event platform controls</a:t>
                      </a:r>
                    </a:p>
                  </a:txBody>
                  <a:tcPr marL="82000" marR="82000" marT="38000" marB="38000" anchor="ctr">
                    <a:solidFill>
                      <a:srgbClr val="FFFFFF"/>
                    </a:solidFill>
                  </a:tcPr>
                </a:tc>
                <a:extLst>
                  <a:ext uri="{0D108BD9-81ED-4DB2-BD59-A6C34878D82A}">
                    <a16:rowId xmlns:a16="http://schemas.microsoft.com/office/drawing/2014/main" val="10003"/>
                  </a:ext>
                </a:extLst>
              </a:tr>
              <a:tr h="698504">
                <a:tc>
                  <a:txBody>
                    <a:bodyPr/>
                    <a:lstStyle/>
                    <a:p>
                      <a:pPr marL="0" indent="0" algn="l">
                        <a:lnSpc>
                          <a:spcPct val="104000"/>
                        </a:lnSpc>
                        <a:spcBef>
                          <a:spcPts val="30"/>
                        </a:spcBef>
                        <a:buNone/>
                      </a:pPr>
                      <a:r>
                        <a:rPr lang="en-US" sz="800" b="1" i="0" dirty="0">
                          <a:solidFill>
                            <a:srgbClr val="9B7BC7"/>
                          </a:solidFill>
                          <a:latin typeface="+mn-lt"/>
                          <a:cs typeface="Graphik"/>
                        </a:rPr>
                        <a:t>12.</a:t>
                      </a:r>
                      <a:r>
                        <a:rPr lang="en-US" sz="800" b="1" i="0" dirty="0">
                          <a:solidFill>
                            <a:srgbClr val="9B7BC7"/>
                          </a:solidFill>
                          <a:latin typeface="Graphik"/>
                          <a:cs typeface="Graphik"/>
                        </a:rPr>
                        <a:t>4  </a:t>
                      </a:r>
                      <a:r>
                        <a:rPr lang="en-US" sz="950" b="1" i="0" dirty="0">
                          <a:solidFill>
                            <a:srgbClr val="7500C0"/>
                          </a:solidFill>
                          <a:latin typeface="Graphik"/>
                          <a:cs typeface="Graphik"/>
                        </a:rPr>
                        <a:t>Event Registry &amp; Contract Governance</a:t>
                      </a:r>
                    </a:p>
                  </a:txBody>
                  <a:tcPr marL="82000" marR="82000" marT="38000" marB="38000" anchor="ctr">
                    <a:solidFill>
                      <a:srgbClr val="E9DEF4"/>
                    </a:solidFill>
                  </a:tcPr>
                </a:tc>
                <a:tc>
                  <a:txBody>
                    <a:bodyPr/>
                    <a:lstStyle/>
                    <a:p>
                      <a:pPr marL="0" indent="0" algn="l">
                        <a:lnSpc>
                          <a:spcPct val="108000"/>
                        </a:lnSpc>
                        <a:spcBef>
                          <a:spcPts val="30"/>
                        </a:spcBef>
                        <a:buNone/>
                      </a:pPr>
                      <a:r>
                        <a:rPr lang="en-US" sz="900" b="0" i="0" dirty="0">
                          <a:solidFill>
                            <a:srgbClr val="2B2B2B"/>
                          </a:solidFill>
                          <a:latin typeface="Graphik"/>
                          <a:cs typeface="Graphik"/>
                        </a:rPr>
                        <a:t>Authoritative catalogue of event definitions and canonical schemas, with versioning, compatibility rules and consumer registration.</a:t>
                      </a:r>
                    </a:p>
                  </a:txBody>
                  <a:tcPr marL="82000" marR="82000" marT="38000" marB="38000" anchor="ctr">
                    <a:solidFill>
                      <a:srgbClr val="F6F2FB"/>
                    </a:solidFill>
                  </a:tcPr>
                </a:tc>
                <a:tc>
                  <a:txBody>
                    <a:bodyPr/>
                    <a:lstStyle/>
                    <a:p>
                      <a:pPr marL="0" indent="0" algn="l">
                        <a:lnSpc>
                          <a:spcPct val="108000"/>
                        </a:lnSpc>
                        <a:spcBef>
                          <a:spcPts val="30"/>
                        </a:spcBef>
                        <a:buNone/>
                      </a:pPr>
                      <a:r>
                        <a:rPr lang="en-US" sz="900" b="0" i="0" dirty="0">
                          <a:solidFill>
                            <a:srgbClr val="444444"/>
                          </a:solidFill>
                          <a:latin typeface="Graphik"/>
                          <a:cs typeface="Graphik"/>
                        </a:rPr>
                        <a:t>The asynchronous equivalent of API lifecycle management; without it, an event backbone degrades into an undocumented mesh of private message formats.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BIAN/API/event governance</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Confluent/Kafka stack</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no separate schema registry/catalogue product is explicitly evidenced</a:t>
                      </a:r>
                    </a:p>
                  </a:txBody>
                  <a:tcPr marL="82000" marR="82000" marT="38000" marB="38000" anchor="ctr">
                    <a:solidFill>
                      <a:srgbClr val="F6F2FB"/>
                    </a:solidFill>
                  </a:tcPr>
                </a:tc>
                <a:extLst>
                  <a:ext uri="{0D108BD9-81ED-4DB2-BD59-A6C34878D82A}">
                    <a16:rowId xmlns:a16="http://schemas.microsoft.com/office/drawing/2014/main" val="10004"/>
                  </a:ext>
                </a:extLst>
              </a:tr>
              <a:tr h="849380">
                <a:tc>
                  <a:txBody>
                    <a:bodyPr/>
                    <a:lstStyle/>
                    <a:p>
                      <a:pPr marL="0" indent="0" algn="l">
                        <a:lnSpc>
                          <a:spcPct val="104000"/>
                        </a:lnSpc>
                        <a:spcBef>
                          <a:spcPts val="30"/>
                        </a:spcBef>
                        <a:buNone/>
                      </a:pPr>
                      <a:r>
                        <a:rPr lang="en-US" sz="800" b="1" i="0" dirty="0">
                          <a:solidFill>
                            <a:srgbClr val="9B7BC7"/>
                          </a:solidFill>
                          <a:latin typeface="+mn-lt"/>
                          <a:cs typeface="Graphik"/>
                        </a:rPr>
                        <a:t>12.</a:t>
                      </a:r>
                      <a:r>
                        <a:rPr lang="en-US" sz="800" b="1" i="0" dirty="0">
                          <a:solidFill>
                            <a:srgbClr val="9B7BC7"/>
                          </a:solidFill>
                          <a:latin typeface="Graphik"/>
                          <a:cs typeface="Graphik"/>
                        </a:rPr>
                        <a:t>5  </a:t>
                      </a:r>
                      <a:r>
                        <a:rPr lang="en-US" sz="950" b="1" i="0" dirty="0">
                          <a:solidFill>
                            <a:srgbClr val="7500C0"/>
                          </a:solidFill>
                          <a:latin typeface="Graphik"/>
                          <a:cs typeface="Graphik"/>
                        </a:rPr>
                        <a:t>Event Mesh &amp; Routing</a:t>
                      </a:r>
                    </a:p>
                  </a:txBody>
                  <a:tcPr marL="82000" marR="82000" marT="38000" marB="38000" anchor="ctr">
                    <a:solidFill>
                      <a:srgbClr val="EFE7F7"/>
                    </a:solidFill>
                  </a:tcPr>
                </a:tc>
                <a:tc>
                  <a:txBody>
                    <a:bodyPr/>
                    <a:lstStyle/>
                    <a:p>
                      <a:pPr marL="0" indent="0" algn="l">
                        <a:lnSpc>
                          <a:spcPct val="108000"/>
                        </a:lnSpc>
                        <a:spcBef>
                          <a:spcPts val="30"/>
                        </a:spcBef>
                        <a:buNone/>
                      </a:pPr>
                      <a:r>
                        <a:rPr lang="en-US" sz="900" b="0" i="0" dirty="0">
                          <a:solidFill>
                            <a:srgbClr val="2B2B2B"/>
                          </a:solidFill>
                          <a:latin typeface="Graphik"/>
                          <a:cs typeface="Graphik"/>
                        </a:rPr>
                        <a:t>Clustered, policy-based routing of events across domains, environments, regions and entities, presenting one logical event fabric over distributed infrastructure.</a:t>
                      </a:r>
                    </a:p>
                  </a:txBody>
                  <a:tcPr marL="82000" marR="82000" marT="38000" marB="38000" anchor="ctr">
                    <a:solidFill>
                      <a:srgbClr val="FFFFFF"/>
                    </a:solidFill>
                  </a:tcPr>
                </a:tc>
                <a:tc>
                  <a:txBody>
                    <a:bodyPr/>
                    <a:lstStyle/>
                    <a:p>
                      <a:pPr marL="0" indent="0" algn="l">
                        <a:lnSpc>
                          <a:spcPct val="108000"/>
                        </a:lnSpc>
                        <a:spcBef>
                          <a:spcPts val="30"/>
                        </a:spcBef>
                        <a:buNone/>
                      </a:pPr>
                      <a:r>
                        <a:rPr lang="en-US" sz="900" b="0" i="0" dirty="0">
                          <a:solidFill>
                            <a:srgbClr val="444444"/>
                          </a:solidFill>
                          <a:latin typeface="Graphik"/>
                          <a:cs typeface="Graphik"/>
                        </a:rPr>
                        <a:t>The mechanism by which a multi-entity, multi-country group shares real-time information without building bilateral links between every pair of platforms.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Kafka/Confluent routing</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Amazon Kinesis</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AWS multi-region/DR considerations</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event routing via Event Router and integration layer</a:t>
                      </a:r>
                    </a:p>
                  </a:txBody>
                  <a:tcPr marL="82000" marR="82000" marT="38000" marB="38000" anchor="ctr">
                    <a:solidFill>
                      <a:srgbClr val="FFFFFF"/>
                    </a:solidFill>
                  </a:tcPr>
                </a:tc>
                <a:extLst>
                  <a:ext uri="{0D108BD9-81ED-4DB2-BD59-A6C34878D82A}">
                    <a16:rowId xmlns:a16="http://schemas.microsoft.com/office/drawing/2014/main" val="10005"/>
                  </a:ext>
                </a:extLst>
              </a:tr>
              <a:tr h="698504">
                <a:tc>
                  <a:txBody>
                    <a:bodyPr/>
                    <a:lstStyle/>
                    <a:p>
                      <a:pPr marL="0" indent="0" algn="l">
                        <a:lnSpc>
                          <a:spcPct val="104000"/>
                        </a:lnSpc>
                        <a:spcBef>
                          <a:spcPts val="30"/>
                        </a:spcBef>
                        <a:buNone/>
                      </a:pPr>
                      <a:r>
                        <a:rPr lang="en-US" sz="800" b="1" i="0" dirty="0">
                          <a:solidFill>
                            <a:srgbClr val="9B7BC7"/>
                          </a:solidFill>
                          <a:latin typeface="+mn-lt"/>
                          <a:cs typeface="Graphik"/>
                        </a:rPr>
                        <a:t>12.</a:t>
                      </a:r>
                      <a:r>
                        <a:rPr lang="en-US" sz="800" b="1" i="0" dirty="0">
                          <a:solidFill>
                            <a:srgbClr val="9B7BC7"/>
                          </a:solidFill>
                          <a:latin typeface="Graphik"/>
                          <a:cs typeface="Graphik"/>
                        </a:rPr>
                        <a:t>6  </a:t>
                      </a:r>
                      <a:r>
                        <a:rPr lang="en-US" sz="950" b="1" i="0" dirty="0">
                          <a:solidFill>
                            <a:srgbClr val="7500C0"/>
                          </a:solidFill>
                          <a:latin typeface="Graphik"/>
                          <a:cs typeface="Graphik"/>
                        </a:rPr>
                        <a:t>Event Monitoring</a:t>
                      </a:r>
                    </a:p>
                  </a:txBody>
                  <a:tcPr marL="82000" marR="82000" marT="38000" marB="38000" anchor="ctr">
                    <a:solidFill>
                      <a:srgbClr val="E9DEF4"/>
                    </a:solidFill>
                  </a:tcPr>
                </a:tc>
                <a:tc>
                  <a:txBody>
                    <a:bodyPr/>
                    <a:lstStyle/>
                    <a:p>
                      <a:pPr marL="0" indent="0" algn="l">
                        <a:lnSpc>
                          <a:spcPct val="108000"/>
                        </a:lnSpc>
                        <a:spcBef>
                          <a:spcPts val="30"/>
                        </a:spcBef>
                        <a:buNone/>
                      </a:pPr>
                      <a:r>
                        <a:rPr lang="en-US" sz="900" b="0" i="0" dirty="0">
                          <a:solidFill>
                            <a:srgbClr val="2B2B2B"/>
                          </a:solidFill>
                          <a:latin typeface="Graphik"/>
                          <a:cs typeface="Graphik"/>
                        </a:rPr>
                        <a:t>Operational monitoring of the event backbone - throughput, consumer lag, error rates, schema violations - and traceability of individual events for audit and investigation.</a:t>
                      </a:r>
                    </a:p>
                  </a:txBody>
                  <a:tcPr marL="82000" marR="82000" marT="38000" marB="38000" anchor="ctr">
                    <a:solidFill>
                      <a:srgbClr val="F6F2FB"/>
                    </a:solidFill>
                  </a:tcPr>
                </a:tc>
                <a:tc>
                  <a:txBody>
                    <a:bodyPr/>
                    <a:lstStyle/>
                    <a:p>
                      <a:pPr marL="0" indent="0" algn="l">
                        <a:lnSpc>
                          <a:spcPct val="108000"/>
                        </a:lnSpc>
                        <a:spcBef>
                          <a:spcPts val="30"/>
                        </a:spcBef>
                        <a:buNone/>
                      </a:pPr>
                      <a:r>
                        <a:rPr lang="en-US" sz="900" b="0" i="0" dirty="0">
                          <a:solidFill>
                            <a:srgbClr val="444444"/>
                          </a:solidFill>
                          <a:latin typeface="Graphik"/>
                          <a:cs typeface="Graphik"/>
                        </a:rPr>
                        <a:t>Asynchronous flows fail silently by nature; monitoring is what converts them from an operational blind spot into a governed channel.</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DataDog event-flow/consumer-lag monitoring target</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Exabeam/CloudTrail for audit</a:t>
                      </a:r>
                    </a:p>
                    <a:p>
                      <a:pPr marL="150000" indent="-150000" algn="l">
                        <a:lnSpc>
                          <a:spcPct val="104000"/>
                        </a:lnSpc>
                        <a:spcBef>
                          <a:spcPts val="45"/>
                        </a:spcBef>
                        <a:buClr>
                          <a:srgbClr val="7500C0"/>
                        </a:buClr>
                        <a:buFont typeface="Arial"/>
                        <a:buChar char="▪"/>
                      </a:pPr>
                      <a:r>
                        <a:rPr lang="en-US" sz="850" b="0" i="0" dirty="0">
                          <a:solidFill>
                            <a:srgbClr val="4B2E83"/>
                          </a:solidFill>
                          <a:latin typeface="Graphik"/>
                          <a:cs typeface="Graphik"/>
                        </a:rPr>
                        <a:t>Event Processor/Router telemetry</a:t>
                      </a:r>
                    </a:p>
                  </a:txBody>
                  <a:tcPr marL="82000" marR="82000" marT="38000" marB="38000" anchor="ctr">
                    <a:solidFill>
                      <a:srgbClr val="F6F2FB"/>
                    </a:solidFill>
                  </a:tcPr>
                </a:tc>
                <a:extLst>
                  <a:ext uri="{0D108BD9-81ED-4DB2-BD59-A6C34878D82A}">
                    <a16:rowId xmlns:a16="http://schemas.microsoft.com/office/drawing/2014/main" val="10006"/>
                  </a:ext>
                </a:extLst>
              </a:tr>
            </a:tbl>
          </a:graphicData>
        </a:graphic>
      </p:graphicFrame>
      <p:sp>
        <p:nvSpPr>
          <p:cNvPr id="5" name="Rectangle 4">
            <a:extLst>
              <a:ext uri="{FF2B5EF4-FFF2-40B4-BE49-F238E27FC236}">
                <a16:creationId xmlns:a16="http://schemas.microsoft.com/office/drawing/2014/main" id="{CED31B86-891C-2CDE-77F7-E4E94C2F563A}"/>
              </a:ext>
            </a:extLst>
          </p:cNvPr>
          <p:cNvSpPr>
            <a:spLocks noChangeAspect="1"/>
          </p:cNvSpPr>
          <p:nvPr/>
        </p:nvSpPr>
        <p:spPr>
          <a:xfrm>
            <a:off x="1936750" y="6410745"/>
            <a:ext cx="640842" cy="18450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GAP</a:t>
            </a:r>
          </a:p>
        </p:txBody>
      </p:sp>
      <p:sp>
        <p:nvSpPr>
          <p:cNvPr id="7" name="Rectangle 6">
            <a:extLst>
              <a:ext uri="{FF2B5EF4-FFF2-40B4-BE49-F238E27FC236}">
                <a16:creationId xmlns:a16="http://schemas.microsoft.com/office/drawing/2014/main" id="{CB46C7AA-6F95-C885-C7D1-2B27B4C751FA}"/>
              </a:ext>
            </a:extLst>
          </p:cNvPr>
          <p:cNvSpPr>
            <a:spLocks noChangeAspect="1"/>
          </p:cNvSpPr>
          <p:nvPr/>
        </p:nvSpPr>
        <p:spPr>
          <a:xfrm>
            <a:off x="1936750" y="6191083"/>
            <a:ext cx="640842" cy="18450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Target</a:t>
            </a:r>
          </a:p>
        </p:txBody>
      </p:sp>
      <p:sp>
        <p:nvSpPr>
          <p:cNvPr id="9" name="Rectangle 8">
            <a:extLst>
              <a:ext uri="{FF2B5EF4-FFF2-40B4-BE49-F238E27FC236}">
                <a16:creationId xmlns:a16="http://schemas.microsoft.com/office/drawing/2014/main" id="{4FA63DF3-0479-0483-1019-55B9FBAB36B1}"/>
              </a:ext>
            </a:extLst>
          </p:cNvPr>
          <p:cNvSpPr>
            <a:spLocks noChangeAspect="1"/>
          </p:cNvSpPr>
          <p:nvPr/>
        </p:nvSpPr>
        <p:spPr>
          <a:xfrm>
            <a:off x="1936750" y="6620295"/>
            <a:ext cx="640842" cy="18450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Discard</a:t>
            </a:r>
          </a:p>
        </p:txBody>
      </p:sp>
      <p:sp>
        <p:nvSpPr>
          <p:cNvPr id="11" name="Oval 10">
            <a:extLst>
              <a:ext uri="{FF2B5EF4-FFF2-40B4-BE49-F238E27FC236}">
                <a16:creationId xmlns:a16="http://schemas.microsoft.com/office/drawing/2014/main" id="{65A5A26F-F458-E6C5-3A08-A1EE78C3B894}"/>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High</a:t>
            </a:r>
          </a:p>
        </p:txBody>
      </p:sp>
      <p:sp>
        <p:nvSpPr>
          <p:cNvPr id="13" name="Rectangle 12">
            <a:extLst>
              <a:ext uri="{FF2B5EF4-FFF2-40B4-BE49-F238E27FC236}">
                <a16:creationId xmlns:a16="http://schemas.microsoft.com/office/drawing/2014/main" id="{34A131D4-9A1C-D0CF-0F40-086606B5A323}"/>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Capability Assessment</a:t>
            </a:r>
          </a:p>
        </p:txBody>
      </p:sp>
      <p:sp>
        <p:nvSpPr>
          <p:cNvPr id="15" name="Rectangle 14">
            <a:extLst>
              <a:ext uri="{FF2B5EF4-FFF2-40B4-BE49-F238E27FC236}">
                <a16:creationId xmlns:a16="http://schemas.microsoft.com/office/drawing/2014/main" id="{22A0A67E-8E20-86E4-75F7-C938FBE669DC}"/>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Priority</a:t>
            </a:r>
          </a:p>
        </p:txBody>
      </p:sp>
      <p:sp>
        <p:nvSpPr>
          <p:cNvPr id="17" name="Oval 16">
            <a:extLst>
              <a:ext uri="{FF2B5EF4-FFF2-40B4-BE49-F238E27FC236}">
                <a16:creationId xmlns:a16="http://schemas.microsoft.com/office/drawing/2014/main" id="{2F78FE31-9F2F-37BD-5843-96B4FC72E2F2}"/>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Med</a:t>
            </a:r>
          </a:p>
        </p:txBody>
      </p:sp>
      <p:sp>
        <p:nvSpPr>
          <p:cNvPr id="19" name="Oval 18">
            <a:extLst>
              <a:ext uri="{FF2B5EF4-FFF2-40B4-BE49-F238E27FC236}">
                <a16:creationId xmlns:a16="http://schemas.microsoft.com/office/drawing/2014/main" id="{C8B25A20-FD21-47AD-895C-D68E1918DAE9}"/>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Low</a:t>
            </a:r>
          </a:p>
        </p:txBody>
      </p:sp>
    </p:spTree>
    <p:extLst>
      <p:ext uri="{BB962C8B-B14F-4D97-AF65-F5344CB8AC3E}">
        <p14:creationId xmlns:p14="http://schemas.microsoft.com/office/powerpoint/2010/main" val="11453989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All rights reserved.</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26" name="TextBox 125">
            <a:extLst>
              <a:ext uri="{FF2B5EF4-FFF2-40B4-BE49-F238E27FC236}">
                <a16:creationId xmlns:a16="http://schemas.microsoft.com/office/drawing/2014/main" id="{EEC953B8-A3F6-4C3F-6CE0-DB056ED72F5B}"/>
              </a:ext>
            </a:extLst>
          </p:cNvPr>
          <p:cNvSpPr txBox="1"/>
          <p:nvPr>
            <p:extLst>
              <p:ext uri="{1162E1C5-73C7-4A58-AE30-91384D911F3F}">
                <p184:classification xmlns:p184="http://schemas.microsoft.com/office/powerpoint/2018/4/main" val="hdr"/>
              </p:ext>
            </p:extLst>
          </p:nvPr>
        </p:nvSpPr>
        <p:spPr>
          <a:xfrm>
            <a:off x="4610601" y="78170"/>
            <a:ext cx="3641223" cy="153888"/>
          </a:xfrm>
          <a:prstGeom prst="rect">
            <a:avLst/>
          </a:prstGeom>
        </p:spPr>
        <p:txBody>
          <a:bodyPr horzOverflow="overflow"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***Confidential - For Company Internal Use Only***</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Interoperability Architecture </a:t>
            </a:r>
            <a:r>
              <a:rPr kumimoji="0" lang="en-US" sz="2400" b="1" i="0" u="none" strike="noStrike" kern="1200" cap="none" spc="0" normalizeH="0" baseline="0" noProof="0">
                <a:ln>
                  <a:noFill/>
                </a:ln>
                <a:solidFill>
                  <a:srgbClr val="000000"/>
                </a:solidFill>
                <a:effectLst/>
                <a:uLnTx/>
                <a:uFillTx/>
                <a:latin typeface="Graphik"/>
                <a:ea typeface="+mj-ea"/>
                <a:cs typeface="+mj-cs"/>
              </a:rPr>
              <a:t>| Infrastructure (Tech Stack)</a:t>
            </a: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n-US" sz="1000" b="1" i="0" dirty="0">
                <a:solidFill>
                  <a:srgbClr val="C00000"/>
                </a:solidFill>
                <a:latin typeface="Graphik"/>
                <a:cs typeface="Graphik"/>
              </a:rPr>
              <a:t>KERNEL &amp; PLATFORM    | 5 SUB-CAPABILITIES</a:t>
            </a:r>
          </a:p>
        </p:txBody>
      </p:sp>
      <p:sp>
        <p:nvSpPr>
          <p:cNvPr id="130" name="KBadge"/>
          <p:cNvSpPr/>
          <p:nvPr/>
        </p:nvSpPr>
        <p:spPr>
          <a:xfrm>
            <a:off x="10980000" y="392000"/>
            <a:ext cx="300000" cy="300000"/>
          </a:xfrm>
          <a:prstGeom prst="ellipse">
            <a:avLst/>
          </a:prstGeom>
          <a:solidFill>
            <a:srgbClr val="C00000"/>
          </a:solidFill>
        </p:spPr>
        <p:txBody>
          <a:bodyPr anchor="ctr"/>
          <a:lstStyle/>
          <a:p>
            <a:pPr marL="0" indent="0" algn="ctr">
              <a:lnSpc>
                <a:spcPct val="104000"/>
              </a:lnSpc>
              <a:spcBef>
                <a:spcPts val="30"/>
              </a:spcBef>
              <a:buNone/>
            </a:pPr>
            <a:r>
              <a:rPr lang="en-US" sz="1400" b="1" i="0" dirty="0">
                <a:solidFill>
                  <a:srgbClr val="FFFFFF"/>
                </a:solidFill>
                <a:latin typeface="Graphik"/>
                <a:cs typeface="Graphik"/>
              </a:rPr>
              <a:t>K</a:t>
            </a:r>
          </a:p>
        </p:txBody>
      </p:sp>
      <p:graphicFrame>
        <p:nvGraphicFramePr>
          <p:cNvPr id="100" name="DetailTable"/>
          <p:cNvGraphicFramePr>
            <a:graphicFrameLocks noGrp="1"/>
          </p:cNvGraphicFramePr>
          <p:nvPr>
            <p:extLst>
              <p:ext uri="{D42A27DB-BD31-4B8C-83A1-F6EECF244321}">
                <p14:modId xmlns:p14="http://schemas.microsoft.com/office/powerpoint/2010/main" val="218099735"/>
              </p:ext>
            </p:extLst>
          </p:nvPr>
        </p:nvGraphicFramePr>
        <p:xfrm>
          <a:off x="381000" y="1015000"/>
          <a:ext cx="11430000" cy="513364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n-US" sz="1000" b="1" i="0" dirty="0">
                          <a:solidFill>
                            <a:srgbClr val="FFFFFF"/>
                          </a:solidFill>
                          <a:latin typeface="Graphik"/>
                          <a:cs typeface="Graphik"/>
                        </a:rPr>
                        <a:t>Sub-capability</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Description</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Purpose</a:t>
                      </a:r>
                    </a:p>
                  </a:txBody>
                  <a:tcPr marL="82000" marR="82000" marT="38000" marB="38000" anchor="ctr">
                    <a:solidFill>
                      <a:srgbClr val="7500C0"/>
                    </a:solidFill>
                  </a:tcPr>
                </a:tc>
                <a:tc>
                  <a:txBody>
                    <a:bodyPr/>
                    <a:lstStyle/>
                    <a:p>
                      <a:pPr marL="0" indent="0" algn="l">
                        <a:lnSpc>
                          <a:spcPct val="104000"/>
                        </a:lnSpc>
                        <a:spcBef>
                          <a:spcPts val="30"/>
                        </a:spcBef>
                        <a:buNone/>
                      </a:pPr>
                      <a:r>
                        <a:rPr lang="en-US" sz="1000" b="1" i="0" dirty="0">
                          <a:solidFill>
                            <a:srgbClr val="FFFFFF"/>
                          </a:solidFill>
                          <a:latin typeface="Graphik"/>
                          <a:cs typeface="Graphik"/>
                        </a:rPr>
                        <a:t>Solutions in Coppel</a:t>
                      </a:r>
                    </a:p>
                  </a:txBody>
                  <a:tcPr marL="82000" marR="82000" marT="38000" marB="38000" anchor="ctr">
                    <a:solidFill>
                      <a:srgbClr val="7500C0"/>
                    </a:solidFill>
                  </a:tcPr>
                </a:tc>
                <a:extLst>
                  <a:ext uri="{0D108BD9-81ED-4DB2-BD59-A6C34878D82A}">
                    <a16:rowId xmlns:a16="http://schemas.microsoft.com/office/drawing/2014/main" val="10000"/>
                  </a:ext>
                </a:extLst>
              </a:tr>
              <a:tr h="1100840">
                <a:tc>
                  <a:txBody>
                    <a:bodyPr/>
                    <a:lstStyle/>
                    <a:p>
                      <a:pPr marL="0" indent="0" algn="l">
                        <a:lnSpc>
                          <a:spcPct val="104000"/>
                        </a:lnSpc>
                        <a:spcBef>
                          <a:spcPts val="30"/>
                        </a:spcBef>
                        <a:buNone/>
                      </a:pPr>
                      <a:r>
                        <a:rPr lang="en-US" sz="900" b="1" i="0" dirty="0">
                          <a:solidFill>
                            <a:srgbClr val="9B7BC7"/>
                          </a:solidFill>
                          <a:latin typeface="Graphik"/>
                          <a:cs typeface="Graphik"/>
                        </a:rPr>
                        <a:t>13.1  </a:t>
                      </a:r>
                      <a:r>
                        <a:rPr lang="en-US" sz="1050" b="1" i="0" dirty="0">
                          <a:solidFill>
                            <a:srgbClr val="7500C0"/>
                          </a:solidFill>
                          <a:latin typeface="Graphik"/>
                          <a:cs typeface="Graphik"/>
                        </a:rPr>
                        <a:t>Microservices Framework</a:t>
                      </a:r>
                    </a:p>
                  </a:txBody>
                  <a:tcPr marL="82000" marR="82000" marT="38000" marB="38000" anchor="ctr">
                    <a:solidFill>
                      <a:srgbClr val="EFE7F7"/>
                    </a:solidFill>
                  </a:tcPr>
                </a:tc>
                <a:tc>
                  <a:txBody>
                    <a:bodyPr/>
                    <a:lstStyle/>
                    <a:p>
                      <a:pPr marL="0" indent="0" algn="l">
                        <a:lnSpc>
                          <a:spcPct val="108000"/>
                        </a:lnSpc>
                        <a:spcBef>
                          <a:spcPts val="30"/>
                        </a:spcBef>
                        <a:buNone/>
                      </a:pPr>
                      <a:r>
                        <a:rPr lang="en-US" sz="1000" b="0" i="0" dirty="0">
                          <a:solidFill>
                            <a:srgbClr val="2B2B2B"/>
                          </a:solidFill>
                          <a:latin typeface="Graphik"/>
                          <a:cs typeface="Graphik"/>
                        </a:rPr>
                        <a:t>The opinionated development and runtime framework that hosts self-sufficient services irrespective of business domain, including shared base libraries, approved language runtimes, kernel services, service discovery and service mesh integration.</a:t>
                      </a:r>
                    </a:p>
                  </a:txBody>
                  <a:tcPr marL="82000" marR="82000" marT="38000" marB="38000" anchor="ctr">
                    <a:solidFill>
                      <a:srgbClr val="FFFFFF"/>
                    </a:solidFill>
                  </a:tcPr>
                </a:tc>
                <a:tc>
                  <a:txBody>
                    <a:bodyPr/>
                    <a:lstStyle/>
                    <a:p>
                      <a:pPr marL="0" indent="0" algn="l">
                        <a:lnSpc>
                          <a:spcPct val="108000"/>
                        </a:lnSpc>
                        <a:spcBef>
                          <a:spcPts val="30"/>
                        </a:spcBef>
                        <a:buNone/>
                      </a:pPr>
                      <a:r>
                        <a:rPr lang="en-US" sz="1000" b="0" i="0" dirty="0">
                          <a:solidFill>
                            <a:srgbClr val="444444"/>
                          </a:solidFill>
                          <a:latin typeface="Graphik"/>
                          <a:cs typeface="Graphik"/>
                        </a:rPr>
                        <a:t>The framework is where cross-cutting concerns are inherited rather than rebuilt; its quality sets the productivity ceiling for every domain team.</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Spring Boot microservices</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Modyo Connect microservices</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Temenos DES API/components</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EKS/ECS/Fargate</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Kubernetes</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Istio service mesh</a:t>
                      </a:r>
                    </a:p>
                  </a:txBody>
                  <a:tcPr marL="82000" marR="82000" marT="38000" marB="38000" anchor="ctr">
                    <a:solidFill>
                      <a:srgbClr val="FFFFFF"/>
                    </a:solidFill>
                  </a:tcPr>
                </a:tc>
                <a:extLst>
                  <a:ext uri="{0D108BD9-81ED-4DB2-BD59-A6C34878D82A}">
                    <a16:rowId xmlns:a16="http://schemas.microsoft.com/office/drawing/2014/main" val="10001"/>
                  </a:ext>
                </a:extLst>
              </a:tr>
              <a:tr h="933200">
                <a:tc>
                  <a:txBody>
                    <a:bodyPr/>
                    <a:lstStyle/>
                    <a:p>
                      <a:pPr marL="0" indent="0" algn="l">
                        <a:lnSpc>
                          <a:spcPct val="104000"/>
                        </a:lnSpc>
                        <a:spcBef>
                          <a:spcPts val="30"/>
                        </a:spcBef>
                        <a:buNone/>
                      </a:pPr>
                      <a:r>
                        <a:rPr lang="en-US" sz="900" b="1" i="0" dirty="0">
                          <a:solidFill>
                            <a:srgbClr val="9B7BC7"/>
                          </a:solidFill>
                          <a:latin typeface="+mn-lt"/>
                          <a:cs typeface="Graphik"/>
                        </a:rPr>
                        <a:t>13.</a:t>
                      </a:r>
                      <a:r>
                        <a:rPr lang="en-US" sz="900" b="1" i="0" dirty="0">
                          <a:solidFill>
                            <a:srgbClr val="9B7BC7"/>
                          </a:solidFill>
                          <a:latin typeface="Graphik"/>
                          <a:cs typeface="Graphik"/>
                        </a:rPr>
                        <a:t>2  </a:t>
                      </a:r>
                      <a:r>
                        <a:rPr lang="en-US" sz="1050" b="1" i="0" dirty="0">
                          <a:solidFill>
                            <a:srgbClr val="7500C0"/>
                          </a:solidFill>
                          <a:latin typeface="Graphik"/>
                          <a:cs typeface="Graphik"/>
                        </a:rPr>
                        <a:t>Container &amp; Runtime Platform</a:t>
                      </a:r>
                    </a:p>
                  </a:txBody>
                  <a:tcPr marL="82000" marR="82000" marT="38000" marB="38000" anchor="ctr">
                    <a:solidFill>
                      <a:srgbClr val="E9DEF4"/>
                    </a:solidFill>
                  </a:tcPr>
                </a:tc>
                <a:tc>
                  <a:txBody>
                    <a:bodyPr/>
                    <a:lstStyle/>
                    <a:p>
                      <a:pPr marL="0" indent="0" algn="l">
                        <a:lnSpc>
                          <a:spcPct val="108000"/>
                        </a:lnSpc>
                        <a:spcBef>
                          <a:spcPts val="30"/>
                        </a:spcBef>
                        <a:buNone/>
                      </a:pPr>
                      <a:r>
                        <a:rPr lang="en-US" sz="1000" b="0" i="0" dirty="0">
                          <a:solidFill>
                            <a:srgbClr val="2B2B2B"/>
                          </a:solidFill>
                          <a:latin typeface="Graphik"/>
                          <a:cs typeface="Graphik"/>
                        </a:rPr>
                        <a:t>Container orchestration, serverless execution and image management providing the elastic compute substrate for interoperability components.</a:t>
                      </a:r>
                    </a:p>
                  </a:txBody>
                  <a:tcPr marL="82000" marR="82000" marT="38000" marB="38000" anchor="ctr">
                    <a:solidFill>
                      <a:srgbClr val="F6F2FB"/>
                    </a:solidFill>
                  </a:tcPr>
                </a:tc>
                <a:tc>
                  <a:txBody>
                    <a:bodyPr/>
                    <a:lstStyle/>
                    <a:p>
                      <a:pPr marL="0" indent="0" algn="l">
                        <a:lnSpc>
                          <a:spcPct val="108000"/>
                        </a:lnSpc>
                        <a:spcBef>
                          <a:spcPts val="30"/>
                        </a:spcBef>
                        <a:buNone/>
                      </a:pPr>
                      <a:r>
                        <a:rPr lang="en-US" sz="1000" b="0" i="0" dirty="0">
                          <a:solidFill>
                            <a:srgbClr val="444444"/>
                          </a:solidFill>
                          <a:latin typeface="Graphik"/>
                          <a:cs typeface="Graphik"/>
                        </a:rPr>
                        <a:t>Provides deployment agility and demand-driven scaling, and is the practical vehicle for portability across cloud providers and hybrid environments.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Amazon EKS/Kubernetes</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ECS/Fargate for Modyo Connect</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OpenShift referenced in technical dashboard</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Docker/container registry</a:t>
                      </a:r>
                    </a:p>
                  </a:txBody>
                  <a:tcPr marL="82000" marR="82000" marT="38000" marB="38000" anchor="ctr">
                    <a:solidFill>
                      <a:srgbClr val="F6F2FB"/>
                    </a:solidFill>
                  </a:tcPr>
                </a:tc>
                <a:extLst>
                  <a:ext uri="{0D108BD9-81ED-4DB2-BD59-A6C34878D82A}">
                    <a16:rowId xmlns:a16="http://schemas.microsoft.com/office/drawing/2014/main" val="10002"/>
                  </a:ext>
                </a:extLst>
              </a:tr>
              <a:tr h="933200">
                <a:tc>
                  <a:txBody>
                    <a:bodyPr/>
                    <a:lstStyle/>
                    <a:p>
                      <a:pPr marL="0" indent="0" algn="l">
                        <a:lnSpc>
                          <a:spcPct val="104000"/>
                        </a:lnSpc>
                        <a:spcBef>
                          <a:spcPts val="30"/>
                        </a:spcBef>
                        <a:buNone/>
                      </a:pPr>
                      <a:r>
                        <a:rPr lang="en-US" sz="900" b="1" i="0" dirty="0">
                          <a:solidFill>
                            <a:srgbClr val="9B7BC7"/>
                          </a:solidFill>
                          <a:latin typeface="+mn-lt"/>
                          <a:cs typeface="Graphik"/>
                        </a:rPr>
                        <a:t>13.</a:t>
                      </a:r>
                      <a:r>
                        <a:rPr lang="en-US" sz="900" b="1" i="0" dirty="0">
                          <a:solidFill>
                            <a:srgbClr val="9B7BC7"/>
                          </a:solidFill>
                          <a:latin typeface="Graphik"/>
                          <a:cs typeface="Graphik"/>
                        </a:rPr>
                        <a:t>3  </a:t>
                      </a:r>
                      <a:r>
                        <a:rPr lang="en-US" sz="1050" b="1" i="0" dirty="0">
                          <a:solidFill>
                            <a:srgbClr val="7500C0"/>
                          </a:solidFill>
                          <a:latin typeface="Graphik"/>
                          <a:cs typeface="Graphik"/>
                        </a:rPr>
                        <a:t>Platform Configuration Automation</a:t>
                      </a:r>
                    </a:p>
                  </a:txBody>
                  <a:tcPr marL="82000" marR="82000" marT="38000" marB="38000" anchor="ctr">
                    <a:solidFill>
                      <a:srgbClr val="EFE7F7"/>
                    </a:solidFill>
                  </a:tcPr>
                </a:tc>
                <a:tc>
                  <a:txBody>
                    <a:bodyPr/>
                    <a:lstStyle/>
                    <a:p>
                      <a:pPr marL="0" indent="0" algn="l">
                        <a:lnSpc>
                          <a:spcPct val="108000"/>
                        </a:lnSpc>
                        <a:spcBef>
                          <a:spcPts val="30"/>
                        </a:spcBef>
                        <a:buNone/>
                      </a:pPr>
                      <a:r>
                        <a:rPr lang="en-US" sz="1000" b="0" i="0" dirty="0">
                          <a:solidFill>
                            <a:srgbClr val="2B2B2B"/>
                          </a:solidFill>
                          <a:latin typeface="Graphik"/>
                          <a:cs typeface="Graphik"/>
                        </a:rPr>
                        <a:t>Declarative, automated provisioning and configuration of platform components and environments, including centralised application configuration services.</a:t>
                      </a:r>
                    </a:p>
                  </a:txBody>
                  <a:tcPr marL="82000" marR="82000" marT="38000" marB="38000" anchor="ctr">
                    <a:solidFill>
                      <a:srgbClr val="FFFFFF"/>
                    </a:solidFill>
                  </a:tcPr>
                </a:tc>
                <a:tc>
                  <a:txBody>
                    <a:bodyPr/>
                    <a:lstStyle/>
                    <a:p>
                      <a:pPr marL="0" indent="0" algn="l">
                        <a:lnSpc>
                          <a:spcPct val="108000"/>
                        </a:lnSpc>
                        <a:spcBef>
                          <a:spcPts val="30"/>
                        </a:spcBef>
                        <a:buNone/>
                      </a:pPr>
                      <a:r>
                        <a:rPr lang="en-US" sz="1000" b="0" i="0" dirty="0">
                          <a:solidFill>
                            <a:srgbClr val="444444"/>
                          </a:solidFill>
                          <a:latin typeface="Graphik"/>
                          <a:cs typeface="Graphik"/>
                        </a:rPr>
                        <a:t>Removes the environment inconsistency that otherwise makes distributed testing unreliable and releases unpredictable.</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Terraform + Packer + GitHub</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IaC modules</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Homologación de Ambientes</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possible Ansible/CloudFormation patterns</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Vault/Secrets for config security</a:t>
                      </a:r>
                    </a:p>
                  </a:txBody>
                  <a:tcPr marL="82000" marR="82000" marT="38000" marB="38000" anchor="ctr">
                    <a:solidFill>
                      <a:srgbClr val="FFFFFF"/>
                    </a:solidFill>
                  </a:tcPr>
                </a:tc>
                <a:extLst>
                  <a:ext uri="{0D108BD9-81ED-4DB2-BD59-A6C34878D82A}">
                    <a16:rowId xmlns:a16="http://schemas.microsoft.com/office/drawing/2014/main" val="10003"/>
                  </a:ext>
                </a:extLst>
              </a:tr>
              <a:tr h="933200">
                <a:tc>
                  <a:txBody>
                    <a:bodyPr/>
                    <a:lstStyle/>
                    <a:p>
                      <a:pPr marL="0" indent="0" algn="l">
                        <a:lnSpc>
                          <a:spcPct val="104000"/>
                        </a:lnSpc>
                        <a:spcBef>
                          <a:spcPts val="30"/>
                        </a:spcBef>
                        <a:buNone/>
                      </a:pPr>
                      <a:r>
                        <a:rPr lang="en-US" sz="900" b="1" i="0" dirty="0">
                          <a:solidFill>
                            <a:srgbClr val="9B7BC7"/>
                          </a:solidFill>
                          <a:latin typeface="+mn-lt"/>
                          <a:cs typeface="Graphik"/>
                        </a:rPr>
                        <a:t>13.</a:t>
                      </a:r>
                      <a:r>
                        <a:rPr lang="en-US" sz="900" b="1" i="0" dirty="0">
                          <a:solidFill>
                            <a:srgbClr val="9B7BC7"/>
                          </a:solidFill>
                          <a:latin typeface="Graphik"/>
                          <a:cs typeface="Graphik"/>
                        </a:rPr>
                        <a:t>4  </a:t>
                      </a:r>
                      <a:r>
                        <a:rPr lang="en-US" sz="1050" b="1" i="0" dirty="0">
                          <a:solidFill>
                            <a:srgbClr val="7500C0"/>
                          </a:solidFill>
                          <a:latin typeface="Graphik"/>
                          <a:cs typeface="Graphik"/>
                        </a:rPr>
                        <a:t>Deployment &amp; Release Engineering</a:t>
                      </a:r>
                    </a:p>
                  </a:txBody>
                  <a:tcPr marL="82000" marR="82000" marT="38000" marB="38000" anchor="ctr">
                    <a:solidFill>
                      <a:srgbClr val="E9DEF4"/>
                    </a:solidFill>
                  </a:tcPr>
                </a:tc>
                <a:tc>
                  <a:txBody>
                    <a:bodyPr/>
                    <a:lstStyle/>
                    <a:p>
                      <a:pPr marL="0" indent="0" algn="l">
                        <a:lnSpc>
                          <a:spcPct val="108000"/>
                        </a:lnSpc>
                        <a:spcBef>
                          <a:spcPts val="30"/>
                        </a:spcBef>
                        <a:buNone/>
                      </a:pPr>
                      <a:r>
                        <a:rPr lang="en-US" sz="1000" b="0" i="0" dirty="0">
                          <a:solidFill>
                            <a:srgbClr val="2B2B2B"/>
                          </a:solidFill>
                          <a:latin typeface="Graphik"/>
                          <a:cs typeface="Graphik"/>
                        </a:rPr>
                        <a:t>Automated build, test and release mechanics for interoperability components, including controlled rollout techniques and automated regression testing.</a:t>
                      </a:r>
                    </a:p>
                  </a:txBody>
                  <a:tcPr marL="82000" marR="82000" marT="38000" marB="38000" anchor="ctr">
                    <a:solidFill>
                      <a:srgbClr val="F6F2FB"/>
                    </a:solidFill>
                  </a:tcPr>
                </a:tc>
                <a:tc>
                  <a:txBody>
                    <a:bodyPr/>
                    <a:lstStyle/>
                    <a:p>
                      <a:pPr marL="0" indent="0" algn="l">
                        <a:lnSpc>
                          <a:spcPct val="108000"/>
                        </a:lnSpc>
                        <a:spcBef>
                          <a:spcPts val="30"/>
                        </a:spcBef>
                        <a:buNone/>
                      </a:pPr>
                      <a:r>
                        <a:rPr lang="en-US" sz="1000" b="0" i="0" dirty="0">
                          <a:solidFill>
                            <a:srgbClr val="444444"/>
                          </a:solidFill>
                          <a:latin typeface="Graphik"/>
                          <a:cs typeface="Graphik"/>
                        </a:rPr>
                        <a:t>Deployment control is what makes incremental, reversible modernisation possible in practice rather than only in the roadmap.</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DevSecOps CI/CD pipelines</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GitLab CI or Jenkins under decision</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Helm Charts</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automated tests</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blue-green/canary deployment practices</a:t>
                      </a:r>
                    </a:p>
                  </a:txBody>
                  <a:tcPr marL="82000" marR="82000" marT="38000" marB="38000" anchor="ctr">
                    <a:solidFill>
                      <a:srgbClr val="F6F2FB"/>
                    </a:solidFill>
                  </a:tcPr>
                </a:tc>
                <a:extLst>
                  <a:ext uri="{0D108BD9-81ED-4DB2-BD59-A6C34878D82A}">
                    <a16:rowId xmlns:a16="http://schemas.microsoft.com/office/drawing/2014/main" val="10004"/>
                  </a:ext>
                </a:extLst>
              </a:tr>
              <a:tr h="933200">
                <a:tc>
                  <a:txBody>
                    <a:bodyPr/>
                    <a:lstStyle/>
                    <a:p>
                      <a:pPr marL="0" indent="0" algn="l">
                        <a:lnSpc>
                          <a:spcPct val="104000"/>
                        </a:lnSpc>
                        <a:spcBef>
                          <a:spcPts val="30"/>
                        </a:spcBef>
                        <a:buNone/>
                      </a:pPr>
                      <a:r>
                        <a:rPr lang="en-US" sz="900" b="1" i="0" dirty="0">
                          <a:solidFill>
                            <a:srgbClr val="9B7BC7"/>
                          </a:solidFill>
                          <a:latin typeface="+mn-lt"/>
                          <a:cs typeface="Graphik"/>
                        </a:rPr>
                        <a:t>13.</a:t>
                      </a:r>
                      <a:r>
                        <a:rPr lang="en-US" sz="900" b="1" i="0" dirty="0">
                          <a:solidFill>
                            <a:srgbClr val="9B7BC7"/>
                          </a:solidFill>
                          <a:latin typeface="Graphik"/>
                          <a:cs typeface="Graphik"/>
                        </a:rPr>
                        <a:t>5  </a:t>
                      </a:r>
                      <a:r>
                        <a:rPr lang="en-US" sz="1050" b="1" i="0" dirty="0">
                          <a:solidFill>
                            <a:srgbClr val="7500C0"/>
                          </a:solidFill>
                          <a:latin typeface="Graphik"/>
                          <a:cs typeface="Graphik"/>
                        </a:rPr>
                        <a:t>Infrastructure Resilience</a:t>
                      </a:r>
                    </a:p>
                  </a:txBody>
                  <a:tcPr marL="82000" marR="82000" marT="38000" marB="38000" anchor="ctr">
                    <a:solidFill>
                      <a:srgbClr val="EFE7F7"/>
                    </a:solidFill>
                  </a:tcPr>
                </a:tc>
                <a:tc>
                  <a:txBody>
                    <a:bodyPr/>
                    <a:lstStyle/>
                    <a:p>
                      <a:pPr marL="0" indent="0" algn="l">
                        <a:lnSpc>
                          <a:spcPct val="108000"/>
                        </a:lnSpc>
                        <a:spcBef>
                          <a:spcPts val="30"/>
                        </a:spcBef>
                        <a:buNone/>
                      </a:pPr>
                      <a:r>
                        <a:rPr lang="en-US" sz="1000" b="0" i="0" dirty="0">
                          <a:solidFill>
                            <a:srgbClr val="2B2B2B"/>
                          </a:solidFill>
                          <a:latin typeface="Graphik"/>
                          <a:cs typeface="Graphik"/>
                        </a:rPr>
                        <a:t>Engineering and validation of the layer's ability to withstand and recover from component failure, including deliberate failure injection, high availability design and recovery services.</a:t>
                      </a:r>
                    </a:p>
                  </a:txBody>
                  <a:tcPr marL="82000" marR="82000" marT="38000" marB="38000" anchor="ctr">
                    <a:solidFill>
                      <a:srgbClr val="FFFFFF"/>
                    </a:solidFill>
                  </a:tcPr>
                </a:tc>
                <a:tc>
                  <a:txBody>
                    <a:bodyPr/>
                    <a:lstStyle/>
                    <a:p>
                      <a:pPr marL="0" indent="0" algn="l">
                        <a:lnSpc>
                          <a:spcPct val="108000"/>
                        </a:lnSpc>
                        <a:spcBef>
                          <a:spcPts val="30"/>
                        </a:spcBef>
                        <a:buNone/>
                      </a:pPr>
                      <a:r>
                        <a:rPr lang="en-US" sz="1000" b="0" i="0" dirty="0">
                          <a:solidFill>
                            <a:srgbClr val="444444"/>
                          </a:solidFill>
                          <a:latin typeface="Graphik"/>
                          <a:cs typeface="Graphik"/>
                        </a:rPr>
                        <a:t>In a composed architecture, aggregate availability is a product of many dependencies; resilience must therefore be engineered and tested rather than assumed.</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AWS multi-AZ/DR architecture</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Producción and DR Producción environments</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Oracle Data Guard/R-SYNC for SmartVista</a:t>
                      </a:r>
                    </a:p>
                    <a:p>
                      <a:pPr marL="150000" indent="-150000" algn="l">
                        <a:lnSpc>
                          <a:spcPct val="104000"/>
                        </a:lnSpc>
                        <a:spcBef>
                          <a:spcPts val="45"/>
                        </a:spcBef>
                        <a:buClr>
                          <a:srgbClr val="7500C0"/>
                        </a:buClr>
                        <a:buFont typeface="Arial"/>
                        <a:buChar char="▪"/>
                      </a:pPr>
                      <a:r>
                        <a:rPr lang="en-US" sz="950" b="0" i="0" dirty="0">
                          <a:solidFill>
                            <a:srgbClr val="4B2E83"/>
                          </a:solidFill>
                          <a:latin typeface="Graphik"/>
                          <a:cs typeface="Graphik"/>
                        </a:rPr>
                        <a:t>backup/restore and regional DR</a:t>
                      </a:r>
                    </a:p>
                  </a:txBody>
                  <a:tcPr marL="82000" marR="82000" marT="38000" marB="38000" anchor="ctr">
                    <a:solidFill>
                      <a:srgbClr val="FFFFFF"/>
                    </a:solidFill>
                  </a:tcPr>
                </a:tc>
                <a:extLst>
                  <a:ext uri="{0D108BD9-81ED-4DB2-BD59-A6C34878D82A}">
                    <a16:rowId xmlns:a16="http://schemas.microsoft.com/office/drawing/2014/main" val="10005"/>
                  </a:ext>
                </a:extLst>
              </a:tr>
            </a:tbl>
          </a:graphicData>
        </a:graphic>
      </p:graphicFrame>
      <p:sp>
        <p:nvSpPr>
          <p:cNvPr id="5" name="Rectangle 4">
            <a:extLst>
              <a:ext uri="{FF2B5EF4-FFF2-40B4-BE49-F238E27FC236}">
                <a16:creationId xmlns:a16="http://schemas.microsoft.com/office/drawing/2014/main" id="{73B130AF-4B97-0056-FBF7-977A1915C98D}"/>
              </a:ext>
            </a:extLst>
          </p:cNvPr>
          <p:cNvSpPr>
            <a:spLocks noChangeAspect="1"/>
          </p:cNvSpPr>
          <p:nvPr/>
        </p:nvSpPr>
        <p:spPr>
          <a:xfrm>
            <a:off x="1936750" y="6410745"/>
            <a:ext cx="640842" cy="18450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GAP</a:t>
            </a:r>
          </a:p>
        </p:txBody>
      </p:sp>
      <p:sp>
        <p:nvSpPr>
          <p:cNvPr id="7" name="Rectangle 6">
            <a:extLst>
              <a:ext uri="{FF2B5EF4-FFF2-40B4-BE49-F238E27FC236}">
                <a16:creationId xmlns:a16="http://schemas.microsoft.com/office/drawing/2014/main" id="{6F0E25DC-89D0-59F3-677A-6B4BABB64073}"/>
              </a:ext>
            </a:extLst>
          </p:cNvPr>
          <p:cNvSpPr>
            <a:spLocks noChangeAspect="1"/>
          </p:cNvSpPr>
          <p:nvPr/>
        </p:nvSpPr>
        <p:spPr>
          <a:xfrm>
            <a:off x="1936750" y="6191083"/>
            <a:ext cx="640842" cy="18450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Target</a:t>
            </a:r>
          </a:p>
        </p:txBody>
      </p:sp>
      <p:sp>
        <p:nvSpPr>
          <p:cNvPr id="9" name="Rectangle 8">
            <a:extLst>
              <a:ext uri="{FF2B5EF4-FFF2-40B4-BE49-F238E27FC236}">
                <a16:creationId xmlns:a16="http://schemas.microsoft.com/office/drawing/2014/main" id="{BCC2575C-F10B-0060-1A82-3841B7D642A5}"/>
              </a:ext>
            </a:extLst>
          </p:cNvPr>
          <p:cNvSpPr>
            <a:spLocks noChangeAspect="1"/>
          </p:cNvSpPr>
          <p:nvPr/>
        </p:nvSpPr>
        <p:spPr>
          <a:xfrm>
            <a:off x="1936750" y="6620295"/>
            <a:ext cx="640842" cy="18450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Discard</a:t>
            </a:r>
          </a:p>
        </p:txBody>
      </p:sp>
      <p:sp>
        <p:nvSpPr>
          <p:cNvPr id="11" name="Oval 10">
            <a:extLst>
              <a:ext uri="{FF2B5EF4-FFF2-40B4-BE49-F238E27FC236}">
                <a16:creationId xmlns:a16="http://schemas.microsoft.com/office/drawing/2014/main" id="{4FF77D08-2F0C-C08B-D12E-21563D1F1298}"/>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High</a:t>
            </a:r>
          </a:p>
        </p:txBody>
      </p:sp>
      <p:sp>
        <p:nvSpPr>
          <p:cNvPr id="13" name="Rectangle 12">
            <a:extLst>
              <a:ext uri="{FF2B5EF4-FFF2-40B4-BE49-F238E27FC236}">
                <a16:creationId xmlns:a16="http://schemas.microsoft.com/office/drawing/2014/main" id="{104A278F-2D25-C891-2156-D9E194F74BCF}"/>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Capability Assessment</a:t>
            </a:r>
          </a:p>
        </p:txBody>
      </p:sp>
      <p:sp>
        <p:nvSpPr>
          <p:cNvPr id="15" name="Rectangle 14">
            <a:extLst>
              <a:ext uri="{FF2B5EF4-FFF2-40B4-BE49-F238E27FC236}">
                <a16:creationId xmlns:a16="http://schemas.microsoft.com/office/drawing/2014/main" id="{5B418C61-7FFD-0458-98A4-954C64A52876}"/>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900" dirty="0"/>
              <a:t>Priority</a:t>
            </a:r>
          </a:p>
        </p:txBody>
      </p:sp>
      <p:sp>
        <p:nvSpPr>
          <p:cNvPr id="17" name="Oval 16">
            <a:extLst>
              <a:ext uri="{FF2B5EF4-FFF2-40B4-BE49-F238E27FC236}">
                <a16:creationId xmlns:a16="http://schemas.microsoft.com/office/drawing/2014/main" id="{179FAA00-AEB9-F308-4E24-0E80DC1D1DB6}"/>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Med</a:t>
            </a:r>
          </a:p>
        </p:txBody>
      </p:sp>
      <p:sp>
        <p:nvSpPr>
          <p:cNvPr id="19" name="Oval 18">
            <a:extLst>
              <a:ext uri="{FF2B5EF4-FFF2-40B4-BE49-F238E27FC236}">
                <a16:creationId xmlns:a16="http://schemas.microsoft.com/office/drawing/2014/main" id="{DB5CB47D-C8AD-2EE6-410C-5016D47B1DB6}"/>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700" dirty="0"/>
              <a:t>Low</a:t>
            </a:r>
          </a:p>
        </p:txBody>
      </p:sp>
    </p:spTree>
    <p:extLst>
      <p:ext uri="{BB962C8B-B14F-4D97-AF65-F5344CB8AC3E}">
        <p14:creationId xmlns:p14="http://schemas.microsoft.com/office/powerpoint/2010/main" val="11453989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58576-CA17-F5FB-E7B2-51008FEF6BE4}"/>
            </a:ext>
          </a:extLst>
        </p:cNvPr>
        <p:cNvGrpSpPr/>
        <p:nvPr/>
      </p:nvGrpSpPr>
      <p:grpSpPr>
        <a:xfrm>
          <a:off x="0" y="0"/>
          <a:ext cx="0" cy="0"/>
          <a:chOff x="0" y="0"/>
          <a:chExt cx="0" cy="0"/>
        </a:xfrm>
      </p:grpSpPr>
      <p:pic>
        <p:nvPicPr>
          <p:cNvPr id="16" name="Picture Placeholder 15">
            <a:extLst>
              <a:ext uri="{FF2B5EF4-FFF2-40B4-BE49-F238E27FC236}">
                <a16:creationId xmlns:a16="http://schemas.microsoft.com/office/drawing/2014/main" id="{C4BB1B15-E433-91C1-1928-D81BDC72B22E}"/>
              </a:ext>
            </a:extLst>
          </p:cNvPr>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rcRect l="20062" r="20062"/>
          <a:stretch/>
        </p:blipFill>
        <p:spPr>
          <a:xfrm>
            <a:off x="6096000" y="0"/>
            <a:ext cx="6096000" cy="6858000"/>
          </a:xfrm>
          <a:prstGeom prst="rect">
            <a:avLst/>
          </a:prstGeom>
        </p:spPr>
      </p:pic>
      <p:sp>
        <p:nvSpPr>
          <p:cNvPr id="17" name="TextBox 16">
            <a:extLst>
              <a:ext uri="{FF2B5EF4-FFF2-40B4-BE49-F238E27FC236}">
                <a16:creationId xmlns:a16="http://schemas.microsoft.com/office/drawing/2014/main" id="{9A4981C7-BB90-2DDB-A6CB-5B89E33ABB83}"/>
              </a:ext>
            </a:extLst>
          </p:cNvPr>
          <p:cNvSpPr txBox="1"/>
          <p:nvPr/>
        </p:nvSpPr>
        <p:spPr>
          <a:xfrm>
            <a:off x="7054753" y="6447723"/>
            <a:ext cx="4551903"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Copyright © 2025 Accenture. All rights reserved.</a:t>
            </a:r>
          </a:p>
        </p:txBody>
      </p:sp>
      <p:sp>
        <p:nvSpPr>
          <p:cNvPr id="18" name="TextBox 17">
            <a:extLst>
              <a:ext uri="{FF2B5EF4-FFF2-40B4-BE49-F238E27FC236}">
                <a16:creationId xmlns:a16="http://schemas.microsoft.com/office/drawing/2014/main" id="{AB6C0FDB-BFCC-8051-01C9-3B2ACC0E455A}"/>
              </a:ext>
            </a:extLst>
          </p:cNvPr>
          <p:cNvSpPr txBox="1"/>
          <p:nvPr/>
        </p:nvSpPr>
        <p:spPr>
          <a:xfrm>
            <a:off x="11621120" y="6459129"/>
            <a:ext cx="505097" cy="2000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90F471-3972-4120-B8B3-0237DE626C35}" type="slidenum">
              <a:rPr kumimoji="0" lang="en-US" sz="700" b="0" i="0" u="none" strike="noStrike" kern="1200" cap="none" spc="0" normalizeH="0" baseline="0" noProof="0" smtClean="0">
                <a:ln>
                  <a:noFill/>
                </a:ln>
                <a:solidFill>
                  <a:srgbClr val="000000"/>
                </a:solidFill>
                <a:effectLst/>
                <a:uLnTx/>
                <a:uFillTx/>
                <a:latin typeface="Graphik Light" panose="020B0403030202060203"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7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14" name="Text Placeholder 8">
            <a:extLst>
              <a:ext uri="{FF2B5EF4-FFF2-40B4-BE49-F238E27FC236}">
                <a16:creationId xmlns:a16="http://schemas.microsoft.com/office/drawing/2014/main" id="{244A03F5-8DFA-2C5F-41A8-021B2DC760C4}"/>
              </a:ext>
            </a:extLst>
          </p:cNvPr>
          <p:cNvSpPr txBox="1">
            <a:spLocks/>
          </p:cNvSpPr>
          <p:nvPr/>
        </p:nvSpPr>
        <p:spPr>
          <a:xfrm>
            <a:off x="381000" y="2199546"/>
            <a:ext cx="2641600" cy="772253"/>
          </a:xfrm>
          <a:prstGeom prst="rect">
            <a:avLst/>
          </a:prstGeom>
        </p:spPr>
        <p:txBody>
          <a:bodyPr vert="horz" lIns="0" tIns="0" rIns="0" bIns="0" rtlCol="0">
            <a:noAutofit/>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lang="en-US" sz="7200" b="0" i="0" kern="1200" spc="-150" dirty="0">
                <a:solidFill>
                  <a:schemeClr val="accent2"/>
                </a:solidFill>
                <a:latin typeface="Graphik Light" panose="020B0403030202060203" pitchFamily="34" charset="0"/>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IN" sz="7200" b="0" i="0" u="none" strike="noStrike" kern="1200" cap="none" spc="-150" normalizeH="0" baseline="0" noProof="0" dirty="0">
                <a:ln>
                  <a:noFill/>
                </a:ln>
                <a:solidFill>
                  <a:srgbClr val="7500C0"/>
                </a:solidFill>
                <a:effectLst/>
                <a:uLnTx/>
                <a:uFillTx/>
                <a:latin typeface="Graphik Light" panose="020B0403030202060203" pitchFamily="34" charset="0"/>
                <a:ea typeface="+mn-ea"/>
                <a:cs typeface="+mn-cs"/>
              </a:rPr>
              <a:t>04. </a:t>
            </a:r>
          </a:p>
        </p:txBody>
      </p:sp>
      <p:sp>
        <p:nvSpPr>
          <p:cNvPr id="15" name="Title 7">
            <a:extLst>
              <a:ext uri="{FF2B5EF4-FFF2-40B4-BE49-F238E27FC236}">
                <a16:creationId xmlns:a16="http://schemas.microsoft.com/office/drawing/2014/main" id="{699E0A60-D73A-8B46-3A12-86D68D687008}"/>
              </a:ext>
            </a:extLst>
          </p:cNvPr>
          <p:cNvSpPr txBox="1">
            <a:spLocks/>
          </p:cNvSpPr>
          <p:nvPr/>
        </p:nvSpPr>
        <p:spPr>
          <a:xfrm>
            <a:off x="380999" y="3201006"/>
            <a:ext cx="5597013" cy="582441"/>
          </a:xfrm>
          <a:prstGeom prst="rect">
            <a:avLst/>
          </a:prstGeom>
        </p:spPr>
        <p:txBody>
          <a:bodyPr vert="horz" lIns="0" tIns="61200" rIns="0" bIns="0" rtlCol="0" anchor="t">
            <a:noAutofit/>
          </a:bodyPr>
          <a:lstStyle>
            <a:lvl1pPr algn="l" defTabSz="914400" rtl="0" eaLnBrk="1" latinLnBrk="0" hangingPunct="1">
              <a:lnSpc>
                <a:spcPct val="80000"/>
              </a:lnSpc>
              <a:spcBef>
                <a:spcPct val="0"/>
              </a:spcBef>
              <a:buNone/>
              <a:defRPr sz="3200" b="0" kern="1200">
                <a:solidFill>
                  <a:schemeClr val="bg1"/>
                </a:solidFill>
                <a:latin typeface="Graphik Medium" panose="020B0603030202060203"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Graphik Medium" panose="020B0603030202060203" pitchFamily="34" charset="0"/>
                <a:ea typeface="+mj-ea"/>
                <a:cs typeface="+mj-cs"/>
              </a:rPr>
              <a:t>Reusable </a:t>
            </a:r>
          </a:p>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Graphik Medium" panose="020B0603030202060203" pitchFamily="34" charset="0"/>
                <a:ea typeface="+mj-ea"/>
                <a:cs typeface="+mj-cs"/>
              </a:rPr>
              <a:t>Interoperability Architecture Patterns</a:t>
            </a:r>
            <a:endParaRPr kumimoji="0" lang="en-IN" sz="3200" b="0" i="0" u="none" strike="noStrike" kern="1200" cap="none" spc="0" normalizeH="0" baseline="0" noProof="0" dirty="0">
              <a:ln>
                <a:noFill/>
              </a:ln>
              <a:solidFill>
                <a:srgbClr val="000000"/>
              </a:solidFill>
              <a:effectLst/>
              <a:uLnTx/>
              <a:uFillTx/>
              <a:latin typeface="Graphik Medium" panose="020B0603030202060203" pitchFamily="34" charset="0"/>
              <a:ea typeface="+mj-ea"/>
              <a:cs typeface="+mj-cs"/>
            </a:endParaRPr>
          </a:p>
        </p:txBody>
      </p:sp>
    </p:spTree>
    <p:extLst>
      <p:ext uri="{BB962C8B-B14F-4D97-AF65-F5344CB8AC3E}">
        <p14:creationId xmlns:p14="http://schemas.microsoft.com/office/powerpoint/2010/main" val="35193440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DDCED-AB1B-9D86-4CA2-730F5996BCE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5A4FA93-8E07-27F3-0953-A3ADB3D9F6EF}"/>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All rights reserved.</a:t>
            </a:r>
          </a:p>
        </p:txBody>
      </p:sp>
      <p:sp>
        <p:nvSpPr>
          <p:cNvPr id="4" name="Slide Number Placeholder 3">
            <a:extLst>
              <a:ext uri="{FF2B5EF4-FFF2-40B4-BE49-F238E27FC236}">
                <a16:creationId xmlns:a16="http://schemas.microsoft.com/office/drawing/2014/main" id="{81A4AF26-DEED-85BB-CAA1-115D12329038}"/>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F8EB60C-7CC2-49F0-B2EE-C81F067DE041}" type="slidenum">
              <a:rPr kumimoji="0" lang="en-US" sz="1800" b="0" i="0" u="none" strike="noStrike" kern="1200" cap="none" spc="0" normalizeH="0" baseline="0" noProof="0" smtClean="0">
                <a:ln>
                  <a:noFill/>
                </a:ln>
                <a:solidFill>
                  <a:srgbClr val="000000"/>
                </a:solidFill>
                <a:effectLst/>
                <a:uLnTx/>
                <a:uFillTx/>
                <a:latin typeface="Graphi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23" name="Title 1">
            <a:extLst>
              <a:ext uri="{FF2B5EF4-FFF2-40B4-BE49-F238E27FC236}">
                <a16:creationId xmlns:a16="http://schemas.microsoft.com/office/drawing/2014/main" id="{76BDEA16-FF45-B2C5-B696-FDA88A4BE663}"/>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7500C0"/>
                </a:solidFill>
                <a:effectLst/>
                <a:uLnTx/>
                <a:uFillTx/>
                <a:latin typeface="Graphik"/>
                <a:ea typeface="+mj-ea"/>
                <a:cs typeface="+mj-cs"/>
              </a:rPr>
              <a:t>Interoperability Architecture </a:t>
            </a:r>
            <a:r>
              <a:rPr kumimoji="0" lang="en-US" sz="2400" b="1" i="0" u="none" strike="noStrike" kern="1200" cap="none" spc="0" normalizeH="0" baseline="0" noProof="0" dirty="0">
                <a:ln>
                  <a:noFill/>
                </a:ln>
                <a:solidFill>
                  <a:srgbClr val="000000"/>
                </a:solidFill>
                <a:effectLst/>
                <a:uLnTx/>
                <a:uFillTx/>
                <a:latin typeface="Graphik"/>
                <a:ea typeface="+mj-ea"/>
                <a:cs typeface="+mj-cs"/>
              </a:rPr>
              <a:t>| Reusable Patterns</a:t>
            </a:r>
          </a:p>
        </p:txBody>
      </p:sp>
      <p:sp>
        <p:nvSpPr>
          <p:cNvPr id="2" name="Rectangle 1">
            <a:extLst>
              <a:ext uri="{FF2B5EF4-FFF2-40B4-BE49-F238E27FC236}">
                <a16:creationId xmlns:a16="http://schemas.microsoft.com/office/drawing/2014/main" id="{1E091038-E5B8-CD2E-3A5B-DC3D97B92BF3}"/>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Security</a:t>
            </a:r>
          </a:p>
        </p:txBody>
      </p:sp>
      <p:sp>
        <p:nvSpPr>
          <p:cNvPr id="5" name="Rectangle 4">
            <a:extLst>
              <a:ext uri="{FF2B5EF4-FFF2-40B4-BE49-F238E27FC236}">
                <a16:creationId xmlns:a16="http://schemas.microsoft.com/office/drawing/2014/main" id="{93E018F0-308D-9D3D-2E31-5806B3BDCF81}"/>
              </a:ext>
            </a:extLst>
          </p:cNvPr>
          <p:cNvSpPr/>
          <p:nvPr/>
        </p:nvSpPr>
        <p:spPr>
          <a:xfrm>
            <a:off x="762603" y="3758314"/>
            <a:ext cx="972000" cy="10773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Graphik"/>
                <a:ea typeface="+mn-ea"/>
                <a:cs typeface="+mn-cs"/>
              </a:rPr>
              <a:t>Certificate &amp;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Graphik"/>
                <a:ea typeface="+mn-ea"/>
                <a:cs typeface="+mn-cs"/>
              </a:rPr>
              <a:t>Secret Mgmt</a:t>
            </a:r>
          </a:p>
        </p:txBody>
      </p:sp>
      <p:sp>
        <p:nvSpPr>
          <p:cNvPr id="6" name="Rectangle 5">
            <a:extLst>
              <a:ext uri="{FF2B5EF4-FFF2-40B4-BE49-F238E27FC236}">
                <a16:creationId xmlns:a16="http://schemas.microsoft.com/office/drawing/2014/main" id="{4C45CA77-0A3B-56BF-AC4E-FD0DB3ABB509}"/>
              </a:ext>
            </a:extLst>
          </p:cNvPr>
          <p:cNvSpPr/>
          <p:nvPr/>
        </p:nvSpPr>
        <p:spPr>
          <a:xfrm>
            <a:off x="1907612" y="944590"/>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Observability</a:t>
            </a:r>
          </a:p>
        </p:txBody>
      </p:sp>
      <p:sp>
        <p:nvSpPr>
          <p:cNvPr id="7" name="Rectangle 6">
            <a:extLst>
              <a:ext uri="{FF2B5EF4-FFF2-40B4-BE49-F238E27FC236}">
                <a16:creationId xmlns:a16="http://schemas.microsoft.com/office/drawing/2014/main" id="{5A035E70-E1E6-BAA6-A474-4D3A2D3BEB9F}"/>
              </a:ext>
            </a:extLst>
          </p:cNvPr>
          <p:cNvSpPr/>
          <p:nvPr/>
        </p:nvSpPr>
        <p:spPr>
          <a:xfrm>
            <a:off x="1961612" y="1256079"/>
            <a:ext cx="972000" cy="349153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Graphik"/>
                <a:ea typeface="+mn-ea"/>
                <a:cs typeface="+mn-cs"/>
              </a:rPr>
              <a:t>Monitoring</a:t>
            </a:r>
          </a:p>
        </p:txBody>
      </p:sp>
      <p:sp>
        <p:nvSpPr>
          <p:cNvPr id="8" name="Rectangle 7">
            <a:extLst>
              <a:ext uri="{FF2B5EF4-FFF2-40B4-BE49-F238E27FC236}">
                <a16:creationId xmlns:a16="http://schemas.microsoft.com/office/drawing/2014/main" id="{A0498357-AC84-71AF-CD4B-23378FF0CBA3}"/>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Infrastructure</a:t>
            </a:r>
          </a:p>
        </p:txBody>
      </p:sp>
      <p:sp>
        <p:nvSpPr>
          <p:cNvPr id="9" name="Rectangle 8">
            <a:extLst>
              <a:ext uri="{FF2B5EF4-FFF2-40B4-BE49-F238E27FC236}">
                <a16:creationId xmlns:a16="http://schemas.microsoft.com/office/drawing/2014/main" id="{FCD1C999-C5B1-DCC2-DD14-30CD372B4AA7}"/>
              </a:ext>
            </a:extLst>
          </p:cNvPr>
          <p:cNvSpPr/>
          <p:nvPr/>
        </p:nvSpPr>
        <p:spPr>
          <a:xfrm>
            <a:off x="10275552" y="1890884"/>
            <a:ext cx="972000" cy="55187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Graphik"/>
                <a:ea typeface="+mn-ea"/>
                <a:cs typeface="+mn-cs"/>
              </a:rPr>
              <a:t>Tech Stack</a:t>
            </a:r>
          </a:p>
        </p:txBody>
      </p:sp>
      <p:sp>
        <p:nvSpPr>
          <p:cNvPr id="10" name="Rectangle 9">
            <a:extLst>
              <a:ext uri="{FF2B5EF4-FFF2-40B4-BE49-F238E27FC236}">
                <a16:creationId xmlns:a16="http://schemas.microsoft.com/office/drawing/2014/main" id="{2785AFFD-C0F9-F2E8-F732-77540F6773B9}"/>
              </a:ext>
            </a:extLst>
          </p:cNvPr>
          <p:cNvSpPr/>
          <p:nvPr/>
        </p:nvSpPr>
        <p:spPr>
          <a:xfrm>
            <a:off x="10275552" y="2640911"/>
            <a:ext cx="972000" cy="210670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Graphik"/>
                <a:ea typeface="+mn-ea"/>
                <a:cs typeface="+mn-cs"/>
              </a:rPr>
              <a:t>Microservices Framework</a:t>
            </a:r>
          </a:p>
        </p:txBody>
      </p:sp>
      <p:sp>
        <p:nvSpPr>
          <p:cNvPr id="16" name="Rectangle 15">
            <a:extLst>
              <a:ext uri="{FF2B5EF4-FFF2-40B4-BE49-F238E27FC236}">
                <a16:creationId xmlns:a16="http://schemas.microsoft.com/office/drawing/2014/main" id="{78332E63-AD0A-F22D-5F73-CDE0CDAB4944}"/>
              </a:ext>
            </a:extLst>
          </p:cNvPr>
          <p:cNvSpPr/>
          <p:nvPr/>
        </p:nvSpPr>
        <p:spPr>
          <a:xfrm>
            <a:off x="1997612" y="1438058"/>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Audit Logging</a:t>
            </a:r>
          </a:p>
        </p:txBody>
      </p:sp>
      <p:sp>
        <p:nvSpPr>
          <p:cNvPr id="17" name="Rectangle 16">
            <a:extLst>
              <a:ext uri="{FF2B5EF4-FFF2-40B4-BE49-F238E27FC236}">
                <a16:creationId xmlns:a16="http://schemas.microsoft.com/office/drawing/2014/main" id="{FD59B9AB-C398-03B0-E485-2EB0E5A88AD5}"/>
              </a:ext>
            </a:extLst>
          </p:cNvPr>
          <p:cNvSpPr/>
          <p:nvPr/>
        </p:nvSpPr>
        <p:spPr>
          <a:xfrm>
            <a:off x="1997612" y="1705615"/>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Log Aggregation</a:t>
            </a:r>
          </a:p>
        </p:txBody>
      </p:sp>
      <p:sp>
        <p:nvSpPr>
          <p:cNvPr id="19" name="Rectangle 18">
            <a:extLst>
              <a:ext uri="{FF2B5EF4-FFF2-40B4-BE49-F238E27FC236}">
                <a16:creationId xmlns:a16="http://schemas.microsoft.com/office/drawing/2014/main" id="{DF5B8F05-00A2-E7DA-F678-606351B0BAA6}"/>
              </a:ext>
            </a:extLst>
          </p:cNvPr>
          <p:cNvSpPr/>
          <p:nvPr/>
        </p:nvSpPr>
        <p:spPr>
          <a:xfrm>
            <a:off x="1997612" y="1977492"/>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Distributed Tracing</a:t>
            </a:r>
          </a:p>
        </p:txBody>
      </p:sp>
      <p:sp>
        <p:nvSpPr>
          <p:cNvPr id="20" name="Rectangle 19">
            <a:extLst>
              <a:ext uri="{FF2B5EF4-FFF2-40B4-BE49-F238E27FC236}">
                <a16:creationId xmlns:a16="http://schemas.microsoft.com/office/drawing/2014/main" id="{80BED310-211F-288E-DD2B-CFC550590C9A}"/>
              </a:ext>
            </a:extLst>
          </p:cNvPr>
          <p:cNvSpPr/>
          <p:nvPr/>
        </p:nvSpPr>
        <p:spPr>
          <a:xfrm>
            <a:off x="1997612" y="2245049"/>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API Health</a:t>
            </a:r>
            <a:endParaRPr kumimoji="0" lang="en-US" sz="700" b="0" i="0" u="none" strike="noStrike" kern="1200" cap="none" spc="0" normalizeH="0" baseline="0" noProof="0" dirty="0">
              <a:ln>
                <a:noFill/>
              </a:ln>
              <a:solidFill>
                <a:srgbClr val="000000"/>
              </a:solidFill>
              <a:effectLst/>
              <a:uLnTx/>
              <a:uFillTx/>
              <a:latin typeface="Graphik"/>
              <a:ea typeface="+mn-ea"/>
              <a:cs typeface="+mn-cs"/>
            </a:endParaRPr>
          </a:p>
        </p:txBody>
      </p:sp>
      <p:sp>
        <p:nvSpPr>
          <p:cNvPr id="25" name="Rectangle 24">
            <a:extLst>
              <a:ext uri="{FF2B5EF4-FFF2-40B4-BE49-F238E27FC236}">
                <a16:creationId xmlns:a16="http://schemas.microsoft.com/office/drawing/2014/main" id="{46216C04-7CE1-98FC-4269-F5C8F5F088AF}"/>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Gateway Services</a:t>
            </a:r>
          </a:p>
        </p:txBody>
      </p:sp>
      <p:sp>
        <p:nvSpPr>
          <p:cNvPr id="27" name="Rectangle 26">
            <a:extLst>
              <a:ext uri="{FF2B5EF4-FFF2-40B4-BE49-F238E27FC236}">
                <a16:creationId xmlns:a16="http://schemas.microsoft.com/office/drawing/2014/main" id="{A07EE722-09A4-41FD-5920-0832AFA5F32E}"/>
              </a:ext>
            </a:extLst>
          </p:cNvPr>
          <p:cNvSpPr/>
          <p:nvPr/>
        </p:nvSpPr>
        <p:spPr>
          <a:xfrm>
            <a:off x="3287611" y="1163074"/>
            <a:ext cx="4354983" cy="268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Graphik"/>
                <a:ea typeface="+mn-ea"/>
                <a:cs typeface="+mn-cs"/>
              </a:rPr>
              <a:t>Outbound</a:t>
            </a:r>
          </a:p>
        </p:txBody>
      </p:sp>
      <p:sp>
        <p:nvSpPr>
          <p:cNvPr id="32" name="Rectangle 31">
            <a:extLst>
              <a:ext uri="{FF2B5EF4-FFF2-40B4-BE49-F238E27FC236}">
                <a16:creationId xmlns:a16="http://schemas.microsoft.com/office/drawing/2014/main" id="{8A9BF4A7-1C11-5261-6DF9-092A520FB0AB}"/>
              </a:ext>
            </a:extLst>
          </p:cNvPr>
          <p:cNvSpPr/>
          <p:nvPr/>
        </p:nvSpPr>
        <p:spPr>
          <a:xfrm>
            <a:off x="3287611" y="1472016"/>
            <a:ext cx="4354983" cy="5110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Graphik"/>
                <a:ea typeface="+mn-ea"/>
                <a:cs typeface="+mn-cs"/>
              </a:rPr>
              <a:t>Inbound</a:t>
            </a:r>
          </a:p>
        </p:txBody>
      </p:sp>
      <p:sp>
        <p:nvSpPr>
          <p:cNvPr id="39" name="Rectangle 38">
            <a:extLst>
              <a:ext uri="{FF2B5EF4-FFF2-40B4-BE49-F238E27FC236}">
                <a16:creationId xmlns:a16="http://schemas.microsoft.com/office/drawing/2014/main" id="{9AB22A37-98EB-29BB-B563-EB584DCF4EA4}"/>
              </a:ext>
            </a:extLst>
          </p:cNvPr>
          <p:cNvSpPr/>
          <p:nvPr/>
        </p:nvSpPr>
        <p:spPr>
          <a:xfrm>
            <a:off x="762603" y="2622478"/>
            <a:ext cx="972000" cy="10773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Graphik"/>
                <a:ea typeface="+mn-ea"/>
                <a:cs typeface="+mn-cs"/>
              </a:rPr>
              <a:t>Crypto Services</a:t>
            </a:r>
          </a:p>
        </p:txBody>
      </p:sp>
      <p:sp>
        <p:nvSpPr>
          <p:cNvPr id="43" name="Rectangle 42">
            <a:extLst>
              <a:ext uri="{FF2B5EF4-FFF2-40B4-BE49-F238E27FC236}">
                <a16:creationId xmlns:a16="http://schemas.microsoft.com/office/drawing/2014/main" id="{3BBFE8B1-406B-F636-AB56-6CEE0CA44029}"/>
              </a:ext>
            </a:extLst>
          </p:cNvPr>
          <p:cNvSpPr/>
          <p:nvPr/>
        </p:nvSpPr>
        <p:spPr>
          <a:xfrm>
            <a:off x="3161292" y="2773838"/>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Omnichannel &amp; Caching Components</a:t>
            </a:r>
          </a:p>
        </p:txBody>
      </p:sp>
      <p:sp>
        <p:nvSpPr>
          <p:cNvPr id="46" name="Rectangle 45">
            <a:extLst>
              <a:ext uri="{FF2B5EF4-FFF2-40B4-BE49-F238E27FC236}">
                <a16:creationId xmlns:a16="http://schemas.microsoft.com/office/drawing/2014/main" id="{F6C5BC97-17AD-F7D0-073A-347F0E6537C0}"/>
              </a:ext>
            </a:extLst>
          </p:cNvPr>
          <p:cNvSpPr/>
          <p:nvPr/>
        </p:nvSpPr>
        <p:spPr>
          <a:xfrm>
            <a:off x="3167494" y="5132461"/>
            <a:ext cx="5681779" cy="104289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Data Delivery</a:t>
            </a:r>
          </a:p>
        </p:txBody>
      </p:sp>
      <p:sp>
        <p:nvSpPr>
          <p:cNvPr id="59" name="Rectangle 58">
            <a:extLst>
              <a:ext uri="{FF2B5EF4-FFF2-40B4-BE49-F238E27FC236}">
                <a16:creationId xmlns:a16="http://schemas.microsoft.com/office/drawing/2014/main" id="{D1EBE84D-CFF2-6552-6C6A-A71A104A1701}"/>
              </a:ext>
            </a:extLst>
          </p:cNvPr>
          <p:cNvSpPr/>
          <p:nvPr/>
        </p:nvSpPr>
        <p:spPr>
          <a:xfrm>
            <a:off x="3169828" y="3419879"/>
            <a:ext cx="5681779" cy="96050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Distributed Transactions</a:t>
            </a:r>
          </a:p>
        </p:txBody>
      </p:sp>
      <p:sp>
        <p:nvSpPr>
          <p:cNvPr id="62" name="Rectangle 61">
            <a:extLst>
              <a:ext uri="{FF2B5EF4-FFF2-40B4-BE49-F238E27FC236}">
                <a16:creationId xmlns:a16="http://schemas.microsoft.com/office/drawing/2014/main" id="{6284E721-62CA-EE93-64D8-0025621B8262}"/>
              </a:ext>
            </a:extLst>
          </p:cNvPr>
          <p:cNvSpPr/>
          <p:nvPr/>
        </p:nvSpPr>
        <p:spPr>
          <a:xfrm>
            <a:off x="9005587"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Event Processing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&amp; Reactive Components</a:t>
            </a:r>
          </a:p>
        </p:txBody>
      </p:sp>
      <p:sp>
        <p:nvSpPr>
          <p:cNvPr id="63" name="Rectangle 62">
            <a:extLst>
              <a:ext uri="{FF2B5EF4-FFF2-40B4-BE49-F238E27FC236}">
                <a16:creationId xmlns:a16="http://schemas.microsoft.com/office/drawing/2014/main" id="{E83B41AD-78C5-1913-38CA-B73BE96B6A17}"/>
              </a:ext>
            </a:extLst>
          </p:cNvPr>
          <p:cNvSpPr/>
          <p:nvPr/>
        </p:nvSpPr>
        <p:spPr>
          <a:xfrm>
            <a:off x="9059587" y="1549601"/>
            <a:ext cx="972000" cy="267559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Graphik"/>
                <a:ea typeface="+mn-ea"/>
                <a:cs typeface="+mn-cs"/>
              </a:rPr>
              <a:t>Event Messaging</a:t>
            </a:r>
          </a:p>
        </p:txBody>
      </p:sp>
      <p:sp>
        <p:nvSpPr>
          <p:cNvPr id="65" name="Rectangle 64">
            <a:extLst>
              <a:ext uri="{FF2B5EF4-FFF2-40B4-BE49-F238E27FC236}">
                <a16:creationId xmlns:a16="http://schemas.microsoft.com/office/drawing/2014/main" id="{F90D43D5-A0A4-60BE-EF41-3D7A64F401D2}"/>
              </a:ext>
            </a:extLst>
          </p:cNvPr>
          <p:cNvSpPr/>
          <p:nvPr/>
        </p:nvSpPr>
        <p:spPr>
          <a:xfrm>
            <a:off x="9095587" y="1795814"/>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Guaranteed Delivery</a:t>
            </a:r>
          </a:p>
        </p:txBody>
      </p:sp>
      <p:sp>
        <p:nvSpPr>
          <p:cNvPr id="69" name="Rectangle 68">
            <a:extLst>
              <a:ext uri="{FF2B5EF4-FFF2-40B4-BE49-F238E27FC236}">
                <a16:creationId xmlns:a16="http://schemas.microsoft.com/office/drawing/2014/main" id="{2EBC223E-AD6B-C89C-915E-DD901E8AACB4}"/>
              </a:ext>
            </a:extLst>
          </p:cNvPr>
          <p:cNvSpPr/>
          <p:nvPr/>
        </p:nvSpPr>
        <p:spPr>
          <a:xfrm>
            <a:off x="9095587" y="2077540"/>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Graphik"/>
                <a:ea typeface="+mn-ea"/>
                <a:cs typeface="+mn-cs"/>
              </a:rPr>
              <a:t>Event Sourcing</a:t>
            </a:r>
          </a:p>
        </p:txBody>
      </p:sp>
      <p:sp>
        <p:nvSpPr>
          <p:cNvPr id="70" name="Rectangle 69">
            <a:extLst>
              <a:ext uri="{FF2B5EF4-FFF2-40B4-BE49-F238E27FC236}">
                <a16:creationId xmlns:a16="http://schemas.microsoft.com/office/drawing/2014/main" id="{0DBF85A7-BE95-C7CE-7C89-3FEA5C7C7E71}"/>
              </a:ext>
            </a:extLst>
          </p:cNvPr>
          <p:cNvSpPr/>
          <p:nvPr/>
        </p:nvSpPr>
        <p:spPr>
          <a:xfrm>
            <a:off x="9095587" y="2381576"/>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Event Mesh</a:t>
            </a:r>
          </a:p>
        </p:txBody>
      </p:sp>
      <p:sp>
        <p:nvSpPr>
          <p:cNvPr id="72" name="Rectangle 71">
            <a:extLst>
              <a:ext uri="{FF2B5EF4-FFF2-40B4-BE49-F238E27FC236}">
                <a16:creationId xmlns:a16="http://schemas.microsoft.com/office/drawing/2014/main" id="{F8E5F039-2D83-DF9A-4C09-2670BFCE989B}"/>
              </a:ext>
            </a:extLst>
          </p:cNvPr>
          <p:cNvSpPr/>
          <p:nvPr/>
        </p:nvSpPr>
        <p:spPr>
          <a:xfrm>
            <a:off x="9059587" y="4268433"/>
            <a:ext cx="972000" cy="54800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Graphik"/>
                <a:ea typeface="+mn-ea"/>
                <a:cs typeface="+mn-cs"/>
              </a:rPr>
              <a:t>Event Processing</a:t>
            </a:r>
          </a:p>
        </p:txBody>
      </p:sp>
      <p:sp>
        <p:nvSpPr>
          <p:cNvPr id="73" name="Rectangle 72">
            <a:extLst>
              <a:ext uri="{FF2B5EF4-FFF2-40B4-BE49-F238E27FC236}">
                <a16:creationId xmlns:a16="http://schemas.microsoft.com/office/drawing/2014/main" id="{02AE4745-9339-4EC6-D1DD-2355232469E9}"/>
              </a:ext>
            </a:extLst>
          </p:cNvPr>
          <p:cNvSpPr/>
          <p:nvPr/>
        </p:nvSpPr>
        <p:spPr>
          <a:xfrm>
            <a:off x="9095587" y="4505478"/>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Lambda/Kappa</a:t>
            </a:r>
          </a:p>
        </p:txBody>
      </p:sp>
      <p:sp>
        <p:nvSpPr>
          <p:cNvPr id="75" name="Rectangle 74">
            <a:extLst>
              <a:ext uri="{FF2B5EF4-FFF2-40B4-BE49-F238E27FC236}">
                <a16:creationId xmlns:a16="http://schemas.microsoft.com/office/drawing/2014/main" id="{019E1254-B5EF-9CB5-B16B-9CC313C00C6A}"/>
              </a:ext>
            </a:extLst>
          </p:cNvPr>
          <p:cNvSpPr/>
          <p:nvPr/>
        </p:nvSpPr>
        <p:spPr>
          <a:xfrm>
            <a:off x="4650667" y="6324417"/>
            <a:ext cx="540000" cy="108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Pattern</a:t>
            </a:r>
          </a:p>
        </p:txBody>
      </p:sp>
      <p:sp>
        <p:nvSpPr>
          <p:cNvPr id="76" name="TextBox 75">
            <a:extLst>
              <a:ext uri="{FF2B5EF4-FFF2-40B4-BE49-F238E27FC236}">
                <a16:creationId xmlns:a16="http://schemas.microsoft.com/office/drawing/2014/main" id="{5B27E427-061D-A69A-C4AE-503836B622A5}"/>
              </a:ext>
            </a:extLst>
          </p:cNvPr>
          <p:cNvSpPr txBox="1"/>
          <p:nvPr/>
        </p:nvSpPr>
        <p:spPr>
          <a:xfrm>
            <a:off x="4118224" y="6309203"/>
            <a:ext cx="435836" cy="143789"/>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800" b="0" i="1" u="none" strike="noStrike" kern="1200" cap="none" spc="0" normalizeH="0" baseline="0" noProof="0">
                <a:ln>
                  <a:noFill/>
                </a:ln>
                <a:solidFill>
                  <a:srgbClr val="000000"/>
                </a:solidFill>
                <a:effectLst/>
                <a:uLnTx/>
                <a:uFillTx/>
                <a:latin typeface="Graphik"/>
                <a:ea typeface="+mn-ea"/>
                <a:cs typeface="+mn-cs"/>
              </a:rPr>
              <a:t>Legend</a:t>
            </a:r>
          </a:p>
        </p:txBody>
      </p:sp>
      <p:sp>
        <p:nvSpPr>
          <p:cNvPr id="78" name="Rectangle 77">
            <a:extLst>
              <a:ext uri="{FF2B5EF4-FFF2-40B4-BE49-F238E27FC236}">
                <a16:creationId xmlns:a16="http://schemas.microsoft.com/office/drawing/2014/main" id="{50D22445-CA63-F6F1-B8E4-5419717A2B26}"/>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API Management</a:t>
            </a:r>
          </a:p>
        </p:txBody>
      </p:sp>
      <p:grpSp>
        <p:nvGrpSpPr>
          <p:cNvPr id="85" name="Group 84">
            <a:extLst>
              <a:ext uri="{FF2B5EF4-FFF2-40B4-BE49-F238E27FC236}">
                <a16:creationId xmlns:a16="http://schemas.microsoft.com/office/drawing/2014/main" id="{2688FF87-293B-2B01-B2BF-6EE347B1D390}"/>
              </a:ext>
            </a:extLst>
          </p:cNvPr>
          <p:cNvGrpSpPr/>
          <p:nvPr/>
        </p:nvGrpSpPr>
        <p:grpSpPr>
          <a:xfrm>
            <a:off x="5366382" y="6281128"/>
            <a:ext cx="1576882" cy="180000"/>
            <a:chOff x="9283672" y="6207566"/>
            <a:chExt cx="1576882" cy="180000"/>
          </a:xfrm>
        </p:grpSpPr>
        <p:sp>
          <p:nvSpPr>
            <p:cNvPr id="86" name="Oval 85">
              <a:extLst>
                <a:ext uri="{FF2B5EF4-FFF2-40B4-BE49-F238E27FC236}">
                  <a16:creationId xmlns:a16="http://schemas.microsoft.com/office/drawing/2014/main" id="{0C1FAE68-6D5A-96E5-1D6C-34DD55B24113}"/>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7" name="Rectangle 86">
              <a:extLst>
                <a:ext uri="{FF2B5EF4-FFF2-40B4-BE49-F238E27FC236}">
                  <a16:creationId xmlns:a16="http://schemas.microsoft.com/office/drawing/2014/main" id="{39982093-17A5-97F8-B032-89A8D1F433F5}"/>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Kernel &amp; Platform Components</a:t>
              </a:r>
            </a:p>
          </p:txBody>
        </p:sp>
      </p:grpSp>
      <p:sp>
        <p:nvSpPr>
          <p:cNvPr id="88" name="Oval 87">
            <a:extLst>
              <a:ext uri="{FF2B5EF4-FFF2-40B4-BE49-F238E27FC236}">
                <a16:creationId xmlns:a16="http://schemas.microsoft.com/office/drawing/2014/main" id="{A80F7EE5-A1ED-EEE1-968D-868B15D2F7F2}"/>
              </a:ext>
            </a:extLst>
          </p:cNvPr>
          <p:cNvSpPr/>
          <p:nvPr/>
        </p:nvSpPr>
        <p:spPr>
          <a:xfrm>
            <a:off x="1557648"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89" name="Oval 88">
            <a:extLst>
              <a:ext uri="{FF2B5EF4-FFF2-40B4-BE49-F238E27FC236}">
                <a16:creationId xmlns:a16="http://schemas.microsoft.com/office/drawing/2014/main" id="{3D89EB0A-5D45-F69E-518A-31CBD34A1762}"/>
              </a:ext>
            </a:extLst>
          </p:cNvPr>
          <p:cNvSpPr/>
          <p:nvPr/>
        </p:nvSpPr>
        <p:spPr>
          <a:xfrm>
            <a:off x="2753612"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90" name="Oval 89">
            <a:extLst>
              <a:ext uri="{FF2B5EF4-FFF2-40B4-BE49-F238E27FC236}">
                <a16:creationId xmlns:a16="http://schemas.microsoft.com/office/drawing/2014/main" id="{D99BAEB2-32F9-60C1-912F-FEC2DBC72A53}"/>
              </a:ext>
            </a:extLst>
          </p:cNvPr>
          <p:cNvSpPr/>
          <p:nvPr/>
        </p:nvSpPr>
        <p:spPr>
          <a:xfrm>
            <a:off x="6577513"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91" name="Oval 90">
            <a:extLst>
              <a:ext uri="{FF2B5EF4-FFF2-40B4-BE49-F238E27FC236}">
                <a16:creationId xmlns:a16="http://schemas.microsoft.com/office/drawing/2014/main" id="{81C31AA7-C165-1CE4-E2EF-81AC991067EB}"/>
              </a:ext>
            </a:extLst>
          </p:cNvPr>
          <p:cNvSpPr/>
          <p:nvPr/>
        </p:nvSpPr>
        <p:spPr>
          <a:xfrm>
            <a:off x="11086789"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92" name="Oval 91">
            <a:extLst>
              <a:ext uri="{FF2B5EF4-FFF2-40B4-BE49-F238E27FC236}">
                <a16:creationId xmlns:a16="http://schemas.microsoft.com/office/drawing/2014/main" id="{0B13CFE6-B5E5-D108-D1A5-6C4902BC66D8}"/>
              </a:ext>
            </a:extLst>
          </p:cNvPr>
          <p:cNvSpPr/>
          <p:nvPr/>
        </p:nvSpPr>
        <p:spPr>
          <a:xfrm>
            <a:off x="6547147" y="2135758"/>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93" name="Rectangle 92">
            <a:extLst>
              <a:ext uri="{FF2B5EF4-FFF2-40B4-BE49-F238E27FC236}">
                <a16:creationId xmlns:a16="http://schemas.microsoft.com/office/drawing/2014/main" id="{3B681A4B-FDE3-2A47-138C-24F9E0A35E5F}"/>
              </a:ext>
            </a:extLst>
          </p:cNvPr>
          <p:cNvSpPr/>
          <p:nvPr/>
        </p:nvSpPr>
        <p:spPr>
          <a:xfrm>
            <a:off x="3218223" y="3614953"/>
            <a:ext cx="2700000" cy="72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Graphik"/>
                <a:ea typeface="+mn-ea"/>
                <a:cs typeface="+mn-cs"/>
              </a:rPr>
              <a:t>Service Orchestration</a:t>
            </a:r>
          </a:p>
        </p:txBody>
      </p:sp>
      <p:sp>
        <p:nvSpPr>
          <p:cNvPr id="94" name="Rectangle 93">
            <a:extLst>
              <a:ext uri="{FF2B5EF4-FFF2-40B4-BE49-F238E27FC236}">
                <a16:creationId xmlns:a16="http://schemas.microsoft.com/office/drawing/2014/main" id="{DF1C8B74-F31D-072F-C5B3-B9EF9999D099}"/>
              </a:ext>
            </a:extLst>
          </p:cNvPr>
          <p:cNvSpPr/>
          <p:nvPr/>
        </p:nvSpPr>
        <p:spPr>
          <a:xfrm>
            <a:off x="6083364" y="3614953"/>
            <a:ext cx="2700000" cy="72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Graphik"/>
                <a:ea typeface="+mn-ea"/>
                <a:cs typeface="+mn-cs"/>
              </a:rPr>
              <a:t>Transaction Mgmt</a:t>
            </a:r>
          </a:p>
        </p:txBody>
      </p:sp>
      <p:sp>
        <p:nvSpPr>
          <p:cNvPr id="97" name="Rectangle 96">
            <a:extLst>
              <a:ext uri="{FF2B5EF4-FFF2-40B4-BE49-F238E27FC236}">
                <a16:creationId xmlns:a16="http://schemas.microsoft.com/office/drawing/2014/main" id="{BF921FD6-D381-1254-3120-5879142606C9}"/>
              </a:ext>
            </a:extLst>
          </p:cNvPr>
          <p:cNvSpPr/>
          <p:nvPr/>
        </p:nvSpPr>
        <p:spPr>
          <a:xfrm>
            <a:off x="6477388" y="3820276"/>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Transaction Consistency (2PC)</a:t>
            </a:r>
          </a:p>
        </p:txBody>
      </p:sp>
      <p:sp>
        <p:nvSpPr>
          <p:cNvPr id="98" name="Rectangle 97">
            <a:extLst>
              <a:ext uri="{FF2B5EF4-FFF2-40B4-BE49-F238E27FC236}">
                <a16:creationId xmlns:a16="http://schemas.microsoft.com/office/drawing/2014/main" id="{7DB88990-76B6-49D9-3DC7-812B2DC3DADF}"/>
              </a:ext>
            </a:extLst>
          </p:cNvPr>
          <p:cNvSpPr/>
          <p:nvPr/>
        </p:nvSpPr>
        <p:spPr>
          <a:xfrm>
            <a:off x="7448215" y="3820276"/>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Transaction Consistency (Saga)</a:t>
            </a:r>
          </a:p>
        </p:txBody>
      </p:sp>
      <p:sp>
        <p:nvSpPr>
          <p:cNvPr id="101" name="Rectangle 100">
            <a:extLst>
              <a:ext uri="{FF2B5EF4-FFF2-40B4-BE49-F238E27FC236}">
                <a16:creationId xmlns:a16="http://schemas.microsoft.com/office/drawing/2014/main" id="{FF20010D-D488-3081-003E-465AA0DD3BB1}"/>
              </a:ext>
            </a:extLst>
          </p:cNvPr>
          <p:cNvSpPr/>
          <p:nvPr/>
        </p:nvSpPr>
        <p:spPr>
          <a:xfrm>
            <a:off x="4602414" y="3820276"/>
            <a:ext cx="91311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Choreography</a:t>
            </a:r>
          </a:p>
        </p:txBody>
      </p:sp>
      <p:sp>
        <p:nvSpPr>
          <p:cNvPr id="102" name="Rectangle 101">
            <a:extLst>
              <a:ext uri="{FF2B5EF4-FFF2-40B4-BE49-F238E27FC236}">
                <a16:creationId xmlns:a16="http://schemas.microsoft.com/office/drawing/2014/main" id="{6E1C7F14-E9DA-4CBA-5E39-78B6018A40D3}"/>
              </a:ext>
            </a:extLst>
          </p:cNvPr>
          <p:cNvSpPr/>
          <p:nvPr/>
        </p:nvSpPr>
        <p:spPr>
          <a:xfrm>
            <a:off x="1961612" y="4804005"/>
            <a:ext cx="972000" cy="102141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Graphik"/>
                <a:ea typeface="+mn-ea"/>
                <a:cs typeface="+mn-cs"/>
              </a:rPr>
              <a:t>Operations</a:t>
            </a:r>
          </a:p>
        </p:txBody>
      </p:sp>
      <p:sp>
        <p:nvSpPr>
          <p:cNvPr id="106" name="Rectangle 105">
            <a:extLst>
              <a:ext uri="{FF2B5EF4-FFF2-40B4-BE49-F238E27FC236}">
                <a16:creationId xmlns:a16="http://schemas.microsoft.com/office/drawing/2014/main" id="{A29E1FA1-48D2-5BF0-AD11-84F56FD1B56A}"/>
              </a:ext>
            </a:extLst>
          </p:cNvPr>
          <p:cNvSpPr/>
          <p:nvPr/>
        </p:nvSpPr>
        <p:spPr>
          <a:xfrm>
            <a:off x="3160153" y="4486422"/>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Common Business Services</a:t>
            </a:r>
          </a:p>
        </p:txBody>
      </p:sp>
      <p:sp>
        <p:nvSpPr>
          <p:cNvPr id="110" name="Rectangle 109">
            <a:extLst>
              <a:ext uri="{FF2B5EF4-FFF2-40B4-BE49-F238E27FC236}">
                <a16:creationId xmlns:a16="http://schemas.microsoft.com/office/drawing/2014/main" id="{B1725488-EA53-C428-D8DC-D20EDE1C6F32}"/>
              </a:ext>
            </a:extLst>
          </p:cNvPr>
          <p:cNvSpPr/>
          <p:nvPr/>
        </p:nvSpPr>
        <p:spPr>
          <a:xfrm>
            <a:off x="3237925"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Graphik"/>
                <a:ea typeface="+mn-ea"/>
                <a:cs typeface="+mn-cs"/>
              </a:rPr>
              <a:t>Data catalog &amp; modeling</a:t>
            </a:r>
          </a:p>
        </p:txBody>
      </p:sp>
      <p:sp>
        <p:nvSpPr>
          <p:cNvPr id="114" name="Rectangle 113">
            <a:extLst>
              <a:ext uri="{FF2B5EF4-FFF2-40B4-BE49-F238E27FC236}">
                <a16:creationId xmlns:a16="http://schemas.microsoft.com/office/drawing/2014/main" id="{59F9407A-4ADB-5C6C-4A1A-310D02A6A64E}"/>
              </a:ext>
            </a:extLst>
          </p:cNvPr>
          <p:cNvSpPr/>
          <p:nvPr/>
        </p:nvSpPr>
        <p:spPr>
          <a:xfrm>
            <a:off x="5116673"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Graphik"/>
                <a:ea typeface="+mn-ea"/>
                <a:cs typeface="+mn-cs"/>
              </a:rPr>
              <a:t>Data Pipelines &amp; Delivery</a:t>
            </a:r>
          </a:p>
        </p:txBody>
      </p:sp>
      <p:sp>
        <p:nvSpPr>
          <p:cNvPr id="118" name="Rectangle 117">
            <a:extLst>
              <a:ext uri="{FF2B5EF4-FFF2-40B4-BE49-F238E27FC236}">
                <a16:creationId xmlns:a16="http://schemas.microsoft.com/office/drawing/2014/main" id="{689B5594-7C39-8B8A-48B4-ADEA2BB5982B}"/>
              </a:ext>
            </a:extLst>
          </p:cNvPr>
          <p:cNvSpPr/>
          <p:nvPr/>
        </p:nvSpPr>
        <p:spPr>
          <a:xfrm>
            <a:off x="6995420"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Graphik"/>
                <a:ea typeface="+mn-ea"/>
                <a:cs typeface="+mn-cs"/>
              </a:rPr>
              <a:t>Key Patterns</a:t>
            </a:r>
          </a:p>
        </p:txBody>
      </p:sp>
      <p:sp>
        <p:nvSpPr>
          <p:cNvPr id="120" name="Rectangle 119">
            <a:extLst>
              <a:ext uri="{FF2B5EF4-FFF2-40B4-BE49-F238E27FC236}">
                <a16:creationId xmlns:a16="http://schemas.microsoft.com/office/drawing/2014/main" id="{C2016573-CF3E-FAB2-23C2-300FD9EEDA87}"/>
              </a:ext>
            </a:extLst>
          </p:cNvPr>
          <p:cNvSpPr/>
          <p:nvPr/>
        </p:nvSpPr>
        <p:spPr>
          <a:xfrm>
            <a:off x="7918501" y="5584141"/>
            <a:ext cx="828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CQRS</a:t>
            </a:r>
          </a:p>
        </p:txBody>
      </p:sp>
      <p:sp>
        <p:nvSpPr>
          <p:cNvPr id="121" name="Rectangle 120">
            <a:extLst>
              <a:ext uri="{FF2B5EF4-FFF2-40B4-BE49-F238E27FC236}">
                <a16:creationId xmlns:a16="http://schemas.microsoft.com/office/drawing/2014/main" id="{F0E3A343-F3AC-CBB0-A0F3-FF664493ED19}"/>
              </a:ext>
            </a:extLst>
          </p:cNvPr>
          <p:cNvSpPr/>
          <p:nvPr/>
        </p:nvSpPr>
        <p:spPr>
          <a:xfrm>
            <a:off x="7046953" y="5841873"/>
            <a:ext cx="828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CDC</a:t>
            </a:r>
          </a:p>
        </p:txBody>
      </p:sp>
      <p:sp>
        <p:nvSpPr>
          <p:cNvPr id="122" name="Rectangle 121">
            <a:extLst>
              <a:ext uri="{FF2B5EF4-FFF2-40B4-BE49-F238E27FC236}">
                <a16:creationId xmlns:a16="http://schemas.microsoft.com/office/drawing/2014/main" id="{BDADF393-E4BF-1AC0-3745-3DBA409F5E03}"/>
              </a:ext>
            </a:extLst>
          </p:cNvPr>
          <p:cNvSpPr/>
          <p:nvPr/>
        </p:nvSpPr>
        <p:spPr>
          <a:xfrm>
            <a:off x="7047756" y="5584141"/>
            <a:ext cx="828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Data Aggregation</a:t>
            </a:r>
          </a:p>
        </p:txBody>
      </p:sp>
      <p:sp>
        <p:nvSpPr>
          <p:cNvPr id="126" name="TextBox 125">
            <a:extLst>
              <a:ext uri="{FF2B5EF4-FFF2-40B4-BE49-F238E27FC236}">
                <a16:creationId xmlns:a16="http://schemas.microsoft.com/office/drawing/2014/main" id="{4C60BF83-5722-7645-BFFC-A5FCA7CB1214}"/>
              </a:ext>
            </a:extLst>
          </p:cNvPr>
          <p:cNvSpPr txBox="1"/>
          <p:nvPr>
            <p:extLst>
              <p:ext uri="{1162E1C5-73C7-4A58-AE30-91384D911F3F}">
                <p184:classification xmlns:p184="http://schemas.microsoft.com/office/powerpoint/2018/4/main" val="hdr"/>
              </p:ext>
            </p:extLst>
          </p:nvPr>
        </p:nvSpPr>
        <p:spPr>
          <a:xfrm>
            <a:off x="4610601" y="78170"/>
            <a:ext cx="3641223" cy="153888"/>
          </a:xfrm>
          <a:prstGeom prst="rect">
            <a:avLst/>
          </a:prstGeom>
        </p:spPr>
        <p:txBody>
          <a:bodyPr horzOverflow="overflow"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***Confidential - For Company Internal Use Only***</a:t>
            </a:r>
          </a:p>
        </p:txBody>
      </p:sp>
    </p:spTree>
    <p:extLst>
      <p:ext uri="{BB962C8B-B14F-4D97-AF65-F5344CB8AC3E}">
        <p14:creationId xmlns:p14="http://schemas.microsoft.com/office/powerpoint/2010/main" val="35158759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5AFAF70-BA5A-5091-740D-56030A8292A0}"/>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All rights reserved.</a:t>
            </a:r>
          </a:p>
        </p:txBody>
      </p:sp>
      <p:sp>
        <p:nvSpPr>
          <p:cNvPr id="4" name="Title 1">
            <a:extLst>
              <a:ext uri="{FF2B5EF4-FFF2-40B4-BE49-F238E27FC236}">
                <a16:creationId xmlns:a16="http://schemas.microsoft.com/office/drawing/2014/main" id="{7DBE9118-4105-1913-A2E8-81EB78A7C594}"/>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Interoperability Asset </a:t>
            </a:r>
            <a:r>
              <a:rPr kumimoji="0" lang="en-US" sz="2400" b="1" i="0" u="none" strike="noStrike" kern="1200" cap="none" spc="0" normalizeH="0" baseline="0" noProof="0">
                <a:ln>
                  <a:noFill/>
                </a:ln>
                <a:solidFill>
                  <a:srgbClr val="000000"/>
                </a:solidFill>
                <a:effectLst/>
                <a:uLnTx/>
                <a:uFillTx/>
                <a:latin typeface="Graphik"/>
                <a:ea typeface="+mj-ea"/>
                <a:cs typeface="+mj-cs"/>
              </a:rPr>
              <a:t>| Service Orchestration</a:t>
            </a:r>
          </a:p>
        </p:txBody>
      </p:sp>
      <p:sp>
        <p:nvSpPr>
          <p:cNvPr id="5" name="Content Placeholder 34">
            <a:extLst>
              <a:ext uri="{FF2B5EF4-FFF2-40B4-BE49-F238E27FC236}">
                <a16:creationId xmlns:a16="http://schemas.microsoft.com/office/drawing/2014/main" id="{1FF81C2F-2794-5067-4F48-1FD854FAECA9}"/>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Stateless Orchestration Pattern</a:t>
            </a:r>
          </a:p>
        </p:txBody>
      </p:sp>
      <p:sp>
        <p:nvSpPr>
          <p:cNvPr id="6" name="Rectangle 5">
            <a:extLst>
              <a:ext uri="{FF2B5EF4-FFF2-40B4-BE49-F238E27FC236}">
                <a16:creationId xmlns:a16="http://schemas.microsoft.com/office/drawing/2014/main" id="{48846FD4-7940-5CDF-F7FA-5320FCE3D29F}"/>
              </a:ext>
            </a:extLst>
          </p:cNvPr>
          <p:cNvSpPr/>
          <p:nvPr/>
        </p:nvSpPr>
        <p:spPr>
          <a:xfrm>
            <a:off x="1968474" y="5231199"/>
            <a:ext cx="942808" cy="60003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Open System</a:t>
            </a:r>
          </a:p>
        </p:txBody>
      </p:sp>
      <p:sp>
        <p:nvSpPr>
          <p:cNvPr id="7" name="Rectangle 6">
            <a:extLst>
              <a:ext uri="{FF2B5EF4-FFF2-40B4-BE49-F238E27FC236}">
                <a16:creationId xmlns:a16="http://schemas.microsoft.com/office/drawing/2014/main" id="{3FA457A2-5A34-715C-5CE9-2A0C278CCDA5}"/>
              </a:ext>
            </a:extLst>
          </p:cNvPr>
          <p:cNvSpPr/>
          <p:nvPr/>
        </p:nvSpPr>
        <p:spPr>
          <a:xfrm>
            <a:off x="538809" y="1520610"/>
            <a:ext cx="4462492" cy="3148306"/>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Microservices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Framework</a:t>
            </a:r>
          </a:p>
        </p:txBody>
      </p:sp>
      <p:sp>
        <p:nvSpPr>
          <p:cNvPr id="8" name="Rectangle 7">
            <a:extLst>
              <a:ext uri="{FF2B5EF4-FFF2-40B4-BE49-F238E27FC236}">
                <a16:creationId xmlns:a16="http://schemas.microsoft.com/office/drawing/2014/main" id="{3625D9DA-0110-90BA-74A0-3D4F66770DB4}"/>
              </a:ext>
            </a:extLst>
          </p:cNvPr>
          <p:cNvSpPr/>
          <p:nvPr/>
        </p:nvSpPr>
        <p:spPr>
          <a:xfrm>
            <a:off x="2456332" y="1193422"/>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API Gateway</a:t>
            </a:r>
          </a:p>
        </p:txBody>
      </p:sp>
      <p:sp>
        <p:nvSpPr>
          <p:cNvPr id="9" name="Rectangle 8">
            <a:extLst>
              <a:ext uri="{FF2B5EF4-FFF2-40B4-BE49-F238E27FC236}">
                <a16:creationId xmlns:a16="http://schemas.microsoft.com/office/drawing/2014/main" id="{DDC35F10-80DD-6FC3-CB75-15B81F146263}"/>
              </a:ext>
            </a:extLst>
          </p:cNvPr>
          <p:cNvSpPr/>
          <p:nvPr/>
        </p:nvSpPr>
        <p:spPr>
          <a:xfrm>
            <a:off x="2679034" y="1738433"/>
            <a:ext cx="1679166" cy="930364"/>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Service Orchestrator/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Integration Framework</a:t>
            </a:r>
          </a:p>
        </p:txBody>
      </p:sp>
      <p:sp>
        <p:nvSpPr>
          <p:cNvPr id="10" name="Rectangle 9">
            <a:extLst>
              <a:ext uri="{FF2B5EF4-FFF2-40B4-BE49-F238E27FC236}">
                <a16:creationId xmlns:a16="http://schemas.microsoft.com/office/drawing/2014/main" id="{AA39466E-2937-9DDE-4446-2B47B902749F}"/>
              </a:ext>
            </a:extLst>
          </p:cNvPr>
          <p:cNvSpPr/>
          <p:nvPr/>
        </p:nvSpPr>
        <p:spPr>
          <a:xfrm>
            <a:off x="2070794" y="3588545"/>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Service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1</a:t>
            </a:r>
          </a:p>
        </p:txBody>
      </p:sp>
      <p:cxnSp>
        <p:nvCxnSpPr>
          <p:cNvPr id="11" name="Straight Arrow Connector 10">
            <a:extLst>
              <a:ext uri="{FF2B5EF4-FFF2-40B4-BE49-F238E27FC236}">
                <a16:creationId xmlns:a16="http://schemas.microsoft.com/office/drawing/2014/main" id="{F3311CBD-2A37-0660-0D70-E2FCF3FC4DAF}"/>
              </a:ext>
            </a:extLst>
          </p:cNvPr>
          <p:cNvCxnSpPr>
            <a:cxnSpLocks/>
          </p:cNvCxnSpPr>
          <p:nvPr/>
        </p:nvCxnSpPr>
        <p:spPr>
          <a:xfrm>
            <a:off x="3469624" y="1345505"/>
            <a:ext cx="1" cy="381229"/>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DCD3487A-5B25-F00C-E7B8-3A24DCA5988F}"/>
              </a:ext>
            </a:extLst>
          </p:cNvPr>
          <p:cNvSpPr/>
          <p:nvPr/>
        </p:nvSpPr>
        <p:spPr>
          <a:xfrm>
            <a:off x="3111244" y="3588545"/>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Service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2</a:t>
            </a:r>
          </a:p>
        </p:txBody>
      </p:sp>
      <p:sp>
        <p:nvSpPr>
          <p:cNvPr id="13" name="Rectangle 12">
            <a:extLst>
              <a:ext uri="{FF2B5EF4-FFF2-40B4-BE49-F238E27FC236}">
                <a16:creationId xmlns:a16="http://schemas.microsoft.com/office/drawing/2014/main" id="{2D92EE6E-F8C2-FB61-0646-BE036637A8EC}"/>
              </a:ext>
            </a:extLst>
          </p:cNvPr>
          <p:cNvSpPr/>
          <p:nvPr/>
        </p:nvSpPr>
        <p:spPr>
          <a:xfrm>
            <a:off x="4159471" y="3588545"/>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Service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3</a:t>
            </a:r>
          </a:p>
        </p:txBody>
      </p:sp>
      <p:cxnSp>
        <p:nvCxnSpPr>
          <p:cNvPr id="14" name="Connector: Elbow 13">
            <a:extLst>
              <a:ext uri="{FF2B5EF4-FFF2-40B4-BE49-F238E27FC236}">
                <a16:creationId xmlns:a16="http://schemas.microsoft.com/office/drawing/2014/main" id="{55AC6E1E-2180-8AE5-B07A-E333B3566C33}"/>
              </a:ext>
            </a:extLst>
          </p:cNvPr>
          <p:cNvCxnSpPr>
            <a:cxnSpLocks/>
            <a:stCxn id="54" idx="2"/>
            <a:endCxn id="10" idx="0"/>
          </p:cNvCxnSpPr>
          <p:nvPr/>
        </p:nvCxnSpPr>
        <p:spPr>
          <a:xfrm rot="5400000">
            <a:off x="2359613" y="2456205"/>
            <a:ext cx="1211569" cy="105311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755D42C3-A385-F130-C6D0-D8AD81BD8D28}"/>
              </a:ext>
            </a:extLst>
          </p:cNvPr>
          <p:cNvSpPr/>
          <p:nvPr/>
        </p:nvSpPr>
        <p:spPr>
          <a:xfrm>
            <a:off x="2070794" y="3929028"/>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Service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1a</a:t>
            </a:r>
          </a:p>
        </p:txBody>
      </p:sp>
      <p:sp>
        <p:nvSpPr>
          <p:cNvPr id="16" name="Rectangle 15">
            <a:extLst>
              <a:ext uri="{FF2B5EF4-FFF2-40B4-BE49-F238E27FC236}">
                <a16:creationId xmlns:a16="http://schemas.microsoft.com/office/drawing/2014/main" id="{6249A962-4D94-1078-1381-F7707628806C}"/>
              </a:ext>
            </a:extLst>
          </p:cNvPr>
          <p:cNvSpPr/>
          <p:nvPr/>
        </p:nvSpPr>
        <p:spPr>
          <a:xfrm>
            <a:off x="2070794" y="4267145"/>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Service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1b</a:t>
            </a:r>
          </a:p>
        </p:txBody>
      </p:sp>
      <p:cxnSp>
        <p:nvCxnSpPr>
          <p:cNvPr id="17" name="Connector: Elbow 16">
            <a:extLst>
              <a:ext uri="{FF2B5EF4-FFF2-40B4-BE49-F238E27FC236}">
                <a16:creationId xmlns:a16="http://schemas.microsoft.com/office/drawing/2014/main" id="{0FB4E734-211A-AB42-D16A-47200E32A9AE}"/>
              </a:ext>
            </a:extLst>
          </p:cNvPr>
          <p:cNvCxnSpPr>
            <a:cxnSpLocks/>
            <a:stCxn id="10" idx="1"/>
            <a:endCxn id="42" idx="4"/>
          </p:cNvCxnSpPr>
          <p:nvPr/>
        </p:nvCxnSpPr>
        <p:spPr>
          <a:xfrm rot="10800000" flipV="1">
            <a:off x="837978" y="3732545"/>
            <a:ext cx="1232817" cy="23365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C3E90605-73E7-FB1C-0CB8-FED92405B0E4}"/>
              </a:ext>
            </a:extLst>
          </p:cNvPr>
          <p:cNvSpPr/>
          <p:nvPr/>
        </p:nvSpPr>
        <p:spPr>
          <a:xfrm>
            <a:off x="3010225" y="5231199"/>
            <a:ext cx="942808" cy="60003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Cloud</a:t>
            </a:r>
          </a:p>
        </p:txBody>
      </p:sp>
      <p:sp>
        <p:nvSpPr>
          <p:cNvPr id="19" name="Rectangle 18">
            <a:extLst>
              <a:ext uri="{FF2B5EF4-FFF2-40B4-BE49-F238E27FC236}">
                <a16:creationId xmlns:a16="http://schemas.microsoft.com/office/drawing/2014/main" id="{E92E3F7A-BB57-18EC-9E79-3869EF4A9C25}"/>
              </a:ext>
            </a:extLst>
          </p:cNvPr>
          <p:cNvSpPr/>
          <p:nvPr/>
        </p:nvSpPr>
        <p:spPr>
          <a:xfrm>
            <a:off x="3110449" y="5386842"/>
            <a:ext cx="741932"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Backend Service 2</a:t>
            </a:r>
          </a:p>
        </p:txBody>
      </p:sp>
      <p:sp>
        <p:nvSpPr>
          <p:cNvPr id="20" name="Rectangle 19">
            <a:extLst>
              <a:ext uri="{FF2B5EF4-FFF2-40B4-BE49-F238E27FC236}">
                <a16:creationId xmlns:a16="http://schemas.microsoft.com/office/drawing/2014/main" id="{E10F9407-D7CC-A174-5B5E-CD9E7A4D84A1}"/>
              </a:ext>
            </a:extLst>
          </p:cNvPr>
          <p:cNvSpPr/>
          <p:nvPr/>
        </p:nvSpPr>
        <p:spPr>
          <a:xfrm>
            <a:off x="4056348" y="5231199"/>
            <a:ext cx="942808" cy="60003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Legacy</a:t>
            </a:r>
          </a:p>
        </p:txBody>
      </p:sp>
      <p:sp>
        <p:nvSpPr>
          <p:cNvPr id="21" name="Rectangle 20">
            <a:extLst>
              <a:ext uri="{FF2B5EF4-FFF2-40B4-BE49-F238E27FC236}">
                <a16:creationId xmlns:a16="http://schemas.microsoft.com/office/drawing/2014/main" id="{545EB06E-54DA-7999-7344-A7BAE14AD1E9}"/>
              </a:ext>
            </a:extLst>
          </p:cNvPr>
          <p:cNvSpPr/>
          <p:nvPr/>
        </p:nvSpPr>
        <p:spPr>
          <a:xfrm>
            <a:off x="4159545" y="5386842"/>
            <a:ext cx="741932"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Legacy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Service 3</a:t>
            </a:r>
          </a:p>
        </p:txBody>
      </p:sp>
      <p:cxnSp>
        <p:nvCxnSpPr>
          <p:cNvPr id="22" name="Connector: Elbow 21">
            <a:extLst>
              <a:ext uri="{FF2B5EF4-FFF2-40B4-BE49-F238E27FC236}">
                <a16:creationId xmlns:a16="http://schemas.microsoft.com/office/drawing/2014/main" id="{CCD3FE0F-DCA6-6C34-55DE-7186EA6CC7E4}"/>
              </a:ext>
            </a:extLst>
          </p:cNvPr>
          <p:cNvCxnSpPr>
            <a:cxnSpLocks/>
            <a:stCxn id="16" idx="2"/>
            <a:endCxn id="39" idx="1"/>
          </p:cNvCxnSpPr>
          <p:nvPr/>
        </p:nvCxnSpPr>
        <p:spPr>
          <a:xfrm rot="5400000">
            <a:off x="2033282" y="4954258"/>
            <a:ext cx="804673" cy="6447"/>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578ADBD3-B855-EFE2-6F8C-A85ACF3A93B3}"/>
              </a:ext>
            </a:extLst>
          </p:cNvPr>
          <p:cNvCxnSpPr>
            <a:cxnSpLocks/>
            <a:stCxn id="12" idx="2"/>
            <a:endCxn id="50" idx="0"/>
          </p:cNvCxnSpPr>
          <p:nvPr/>
        </p:nvCxnSpPr>
        <p:spPr>
          <a:xfrm rot="16200000" flipH="1">
            <a:off x="3260252" y="4095583"/>
            <a:ext cx="441529" cy="345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D3DCBAB5-AC43-3A49-A9F3-CBD70C8810F2}"/>
              </a:ext>
            </a:extLst>
          </p:cNvPr>
          <p:cNvSpPr/>
          <p:nvPr/>
        </p:nvSpPr>
        <p:spPr>
          <a:xfrm>
            <a:off x="4058493" y="4814528"/>
            <a:ext cx="942808" cy="335266"/>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Legacy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Adaptor</a:t>
            </a:r>
          </a:p>
        </p:txBody>
      </p:sp>
      <p:cxnSp>
        <p:nvCxnSpPr>
          <p:cNvPr id="25" name="Connector: Elbow 24">
            <a:extLst>
              <a:ext uri="{FF2B5EF4-FFF2-40B4-BE49-F238E27FC236}">
                <a16:creationId xmlns:a16="http://schemas.microsoft.com/office/drawing/2014/main" id="{9259E8E4-C9F4-1E6B-80DB-C7F065695363}"/>
              </a:ext>
            </a:extLst>
          </p:cNvPr>
          <p:cNvCxnSpPr>
            <a:cxnSpLocks/>
            <a:stCxn id="13" idx="2"/>
            <a:endCxn id="24" idx="0"/>
          </p:cNvCxnSpPr>
          <p:nvPr/>
        </p:nvCxnSpPr>
        <p:spPr>
          <a:xfrm rot="16200000" flipH="1">
            <a:off x="4059716" y="4344346"/>
            <a:ext cx="937983" cy="2379"/>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8138320B-13A4-DE9A-9881-641299121E1B}"/>
              </a:ext>
            </a:extLst>
          </p:cNvPr>
          <p:cNvCxnSpPr>
            <a:cxnSpLocks/>
            <a:stCxn id="42" idx="1"/>
            <a:endCxn id="9" idx="1"/>
          </p:cNvCxnSpPr>
          <p:nvPr/>
        </p:nvCxnSpPr>
        <p:spPr>
          <a:xfrm rot="5400000" flipH="1" flipV="1">
            <a:off x="1141650" y="1796480"/>
            <a:ext cx="1130248" cy="1944519"/>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37958C0D-5156-3805-A95C-54DC7EB7EAF0}"/>
              </a:ext>
            </a:extLst>
          </p:cNvPr>
          <p:cNvSpPr/>
          <p:nvPr/>
        </p:nvSpPr>
        <p:spPr>
          <a:xfrm>
            <a:off x="5996500" y="2768016"/>
            <a:ext cx="942808" cy="335266"/>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Monitoring Tools</a:t>
            </a:r>
          </a:p>
        </p:txBody>
      </p:sp>
      <p:cxnSp>
        <p:nvCxnSpPr>
          <p:cNvPr id="28" name="Connector: Elbow 27">
            <a:extLst>
              <a:ext uri="{FF2B5EF4-FFF2-40B4-BE49-F238E27FC236}">
                <a16:creationId xmlns:a16="http://schemas.microsoft.com/office/drawing/2014/main" id="{22B3A887-62FA-8682-5408-D2EB55A57FE0}"/>
              </a:ext>
            </a:extLst>
          </p:cNvPr>
          <p:cNvCxnSpPr>
            <a:cxnSpLocks/>
            <a:stCxn id="54" idx="3"/>
            <a:endCxn id="40" idx="2"/>
          </p:cNvCxnSpPr>
          <p:nvPr/>
        </p:nvCxnSpPr>
        <p:spPr>
          <a:xfrm>
            <a:off x="3918540" y="2249247"/>
            <a:ext cx="1539511" cy="683074"/>
          </a:xfrm>
          <a:prstGeom prst="bentConnector3">
            <a:avLst>
              <a:gd name="adj1" fmla="val 6102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3446A884-8DCB-4E49-6F6D-1E07A833B8F0}"/>
              </a:ext>
            </a:extLst>
          </p:cNvPr>
          <p:cNvCxnSpPr>
            <a:cxnSpLocks/>
            <a:stCxn id="9" idx="3"/>
            <a:endCxn id="40" idx="2"/>
          </p:cNvCxnSpPr>
          <p:nvPr/>
        </p:nvCxnSpPr>
        <p:spPr>
          <a:xfrm>
            <a:off x="4358200" y="2203615"/>
            <a:ext cx="1099851" cy="728706"/>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3DEEFFEF-DE72-3188-6E1B-074D9C293377}"/>
              </a:ext>
            </a:extLst>
          </p:cNvPr>
          <p:cNvGrpSpPr/>
          <p:nvPr/>
        </p:nvGrpSpPr>
        <p:grpSpPr>
          <a:xfrm>
            <a:off x="4422032" y="1410695"/>
            <a:ext cx="844771" cy="284934"/>
            <a:chOff x="2436880" y="1158097"/>
            <a:chExt cx="1080000" cy="360000"/>
          </a:xfrm>
          <a:solidFill>
            <a:schemeClr val="bg1"/>
          </a:solidFill>
        </p:grpSpPr>
        <p:sp>
          <p:nvSpPr>
            <p:cNvPr id="31" name="Rectangle 30">
              <a:extLst>
                <a:ext uri="{FF2B5EF4-FFF2-40B4-BE49-F238E27FC236}">
                  <a16:creationId xmlns:a16="http://schemas.microsoft.com/office/drawing/2014/main" id="{EAD3589D-C1B3-E54F-F4E3-551003E34A25}"/>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32" name="Picture 31">
              <a:extLst>
                <a:ext uri="{FF2B5EF4-FFF2-40B4-BE49-F238E27FC236}">
                  <a16:creationId xmlns:a16="http://schemas.microsoft.com/office/drawing/2014/main" id="{8FEDBB6D-AC4F-FE34-719C-3E8DAF8C19FC}"/>
                </a:ext>
              </a:extLst>
            </p:cNvPr>
            <p:cNvPicPr>
              <a:picLocks noChangeAspect="1"/>
            </p:cNvPicPr>
            <p:nvPr/>
          </p:nvPicPr>
          <p:blipFill>
            <a:blip r:embed="rId2"/>
            <a:stretch>
              <a:fillRect/>
            </a:stretch>
          </p:blipFill>
          <p:spPr>
            <a:xfrm>
              <a:off x="2470229" y="1215368"/>
              <a:ext cx="1013303" cy="245459"/>
            </a:xfrm>
            <a:prstGeom prst="rect">
              <a:avLst/>
            </a:prstGeom>
            <a:grpFill/>
          </p:spPr>
        </p:pic>
      </p:grpSp>
      <p:cxnSp>
        <p:nvCxnSpPr>
          <p:cNvPr id="33" name="Connector: Elbow 32">
            <a:extLst>
              <a:ext uri="{FF2B5EF4-FFF2-40B4-BE49-F238E27FC236}">
                <a16:creationId xmlns:a16="http://schemas.microsoft.com/office/drawing/2014/main" id="{92F4E024-76E2-0965-C1DA-3FFC465FD0A4}"/>
              </a:ext>
            </a:extLst>
          </p:cNvPr>
          <p:cNvCxnSpPr>
            <a:cxnSpLocks/>
            <a:stCxn id="24" idx="3"/>
            <a:endCxn id="40" idx="2"/>
          </p:cNvCxnSpPr>
          <p:nvPr/>
        </p:nvCxnSpPr>
        <p:spPr>
          <a:xfrm flipV="1">
            <a:off x="5001301" y="2932321"/>
            <a:ext cx="456750" cy="204984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4" name="TextBox 144">
            <a:extLst>
              <a:ext uri="{FF2B5EF4-FFF2-40B4-BE49-F238E27FC236}">
                <a16:creationId xmlns:a16="http://schemas.microsoft.com/office/drawing/2014/main" id="{D584FF7F-D512-416F-92C1-8D5911A401AD}"/>
              </a:ext>
            </a:extLst>
          </p:cNvPr>
          <p:cNvSpPr txBox="1"/>
          <p:nvPr/>
        </p:nvSpPr>
        <p:spPr>
          <a:xfrm>
            <a:off x="7351070" y="1561320"/>
            <a:ext cx="3804073" cy="3588469"/>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Notes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Complex services are broken down into a sequence of fine-grain services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They are orchestrated and integrated using the same framework (for example </a:t>
            </a:r>
            <a:r>
              <a:rPr kumimoji="0" lang="en-US" sz="1100" b="0" i="0" u="none" strike="noStrike" kern="1200" cap="none" spc="0" normalizeH="0" baseline="0" noProof="0" err="1">
                <a:ln>
                  <a:noFill/>
                </a:ln>
                <a:solidFill>
                  <a:srgbClr val="000000"/>
                </a:solidFill>
                <a:effectLst/>
                <a:uLnTx/>
                <a:uFillTx/>
                <a:latin typeface="Graphik"/>
                <a:ea typeface="+mn-ea"/>
                <a:cs typeface="+mn-cs"/>
              </a:rPr>
              <a:t>Mulesoft</a:t>
            </a:r>
            <a:r>
              <a:rPr kumimoji="0" lang="en-US" sz="1100" b="0" i="0" u="none" strike="noStrike" kern="1200" cap="none" spc="0" normalizeH="0" baseline="0" noProof="0">
                <a:ln>
                  <a:noFill/>
                </a:ln>
                <a:solidFill>
                  <a:srgbClr val="000000"/>
                </a:solidFill>
                <a:effectLst/>
                <a:uLnTx/>
                <a:uFillTx/>
                <a:latin typeface="Graphik"/>
                <a:ea typeface="+mn-ea"/>
                <a:cs typeface="+mn-cs"/>
              </a:rPr>
              <a:t> or Camel)</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Steps in a complex service can follow a sequence or run in parallel</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Interactions among services can be synchronous (RPC) or asynchronous (event-based)</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Fine-grain services may reside on several different platforms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All the components are connected to the monitoring tools, typically via events to register both technical and business facts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NOTE: Not represented here the transaction processing. This is considered a particular case of Service Orchestration that requires atomicity</a:t>
            </a:r>
          </a:p>
        </p:txBody>
      </p:sp>
      <p:cxnSp>
        <p:nvCxnSpPr>
          <p:cNvPr id="35" name="Connector: Elbow 34">
            <a:extLst>
              <a:ext uri="{FF2B5EF4-FFF2-40B4-BE49-F238E27FC236}">
                <a16:creationId xmlns:a16="http://schemas.microsoft.com/office/drawing/2014/main" id="{261F6E85-0B22-7E36-25F4-177D159ACBEF}"/>
              </a:ext>
            </a:extLst>
          </p:cNvPr>
          <p:cNvCxnSpPr>
            <a:cxnSpLocks/>
            <a:stCxn id="24" idx="2"/>
            <a:endCxn id="21" idx="0"/>
          </p:cNvCxnSpPr>
          <p:nvPr/>
        </p:nvCxnSpPr>
        <p:spPr>
          <a:xfrm rot="16200000" flipH="1">
            <a:off x="4411680" y="5268011"/>
            <a:ext cx="237048" cy="61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A345749D-FD05-A820-26EF-AACD13C243AD}"/>
              </a:ext>
            </a:extLst>
          </p:cNvPr>
          <p:cNvSpPr/>
          <p:nvPr/>
        </p:nvSpPr>
        <p:spPr>
          <a:xfrm>
            <a:off x="8419231" y="5585430"/>
            <a:ext cx="2880000" cy="180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Main components of this capability</a:t>
            </a:r>
          </a:p>
        </p:txBody>
      </p:sp>
      <p:sp>
        <p:nvSpPr>
          <p:cNvPr id="37" name="Rectangle 36">
            <a:extLst>
              <a:ext uri="{FF2B5EF4-FFF2-40B4-BE49-F238E27FC236}">
                <a16:creationId xmlns:a16="http://schemas.microsoft.com/office/drawing/2014/main" id="{104D4088-4042-E977-4C00-83501301089E}"/>
              </a:ext>
            </a:extLst>
          </p:cNvPr>
          <p:cNvSpPr/>
          <p:nvPr/>
        </p:nvSpPr>
        <p:spPr>
          <a:xfrm>
            <a:off x="8419231" y="5819582"/>
            <a:ext cx="2880000" cy="18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Components of other related capabilities</a:t>
            </a:r>
          </a:p>
        </p:txBody>
      </p:sp>
      <p:sp>
        <p:nvSpPr>
          <p:cNvPr id="38" name="Rectangle 37">
            <a:extLst>
              <a:ext uri="{FF2B5EF4-FFF2-40B4-BE49-F238E27FC236}">
                <a16:creationId xmlns:a16="http://schemas.microsoft.com/office/drawing/2014/main" id="{02483F42-8F64-F8F3-BDE9-E6418BF4787D}"/>
              </a:ext>
            </a:extLst>
          </p:cNvPr>
          <p:cNvSpPr/>
          <p:nvPr/>
        </p:nvSpPr>
        <p:spPr>
          <a:xfrm>
            <a:off x="8419231" y="6036007"/>
            <a:ext cx="288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Functional Components related to this capability</a:t>
            </a:r>
          </a:p>
        </p:txBody>
      </p:sp>
      <p:sp>
        <p:nvSpPr>
          <p:cNvPr id="39" name="Flowchart: Magnetic Disk 38">
            <a:extLst>
              <a:ext uri="{FF2B5EF4-FFF2-40B4-BE49-F238E27FC236}">
                <a16:creationId xmlns:a16="http://schemas.microsoft.com/office/drawing/2014/main" id="{F6009356-F2CA-3268-3B9D-25D36F77119C}"/>
              </a:ext>
            </a:extLst>
          </p:cNvPr>
          <p:cNvSpPr/>
          <p:nvPr/>
        </p:nvSpPr>
        <p:spPr>
          <a:xfrm>
            <a:off x="2064347" y="5359818"/>
            <a:ext cx="736093" cy="307104"/>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Database 1</a:t>
            </a:r>
          </a:p>
        </p:txBody>
      </p:sp>
      <p:sp>
        <p:nvSpPr>
          <p:cNvPr id="40" name="Can 172">
            <a:extLst>
              <a:ext uri="{FF2B5EF4-FFF2-40B4-BE49-F238E27FC236}">
                <a16:creationId xmlns:a16="http://schemas.microsoft.com/office/drawing/2014/main" id="{14063886-A605-9740-2CB1-3A12B4CC6B1E}"/>
              </a:ext>
            </a:extLst>
          </p:cNvPr>
          <p:cNvSpPr/>
          <p:nvPr/>
        </p:nvSpPr>
        <p:spPr bwMode="auto">
          <a:xfrm>
            <a:off x="5458051" y="2121518"/>
            <a:ext cx="312661" cy="1621605"/>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Monitoring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Event Bus</a:t>
            </a:r>
          </a:p>
        </p:txBody>
      </p:sp>
      <p:cxnSp>
        <p:nvCxnSpPr>
          <p:cNvPr id="41" name="Connector: Elbow 40">
            <a:extLst>
              <a:ext uri="{FF2B5EF4-FFF2-40B4-BE49-F238E27FC236}">
                <a16:creationId xmlns:a16="http://schemas.microsoft.com/office/drawing/2014/main" id="{CBCBC3F8-CE93-8896-CF83-1D7D419D96E5}"/>
              </a:ext>
            </a:extLst>
          </p:cNvPr>
          <p:cNvCxnSpPr>
            <a:cxnSpLocks/>
            <a:stCxn id="40" idx="4"/>
            <a:endCxn id="27" idx="1"/>
          </p:cNvCxnSpPr>
          <p:nvPr/>
        </p:nvCxnSpPr>
        <p:spPr>
          <a:xfrm>
            <a:off x="5770712" y="2932321"/>
            <a:ext cx="225788" cy="3328"/>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2" name="Can 172">
            <a:extLst>
              <a:ext uri="{FF2B5EF4-FFF2-40B4-BE49-F238E27FC236}">
                <a16:creationId xmlns:a16="http://schemas.microsoft.com/office/drawing/2014/main" id="{5B8E8BC3-7B49-9112-566F-0C3CBB44D8E3}"/>
              </a:ext>
            </a:extLst>
          </p:cNvPr>
          <p:cNvSpPr/>
          <p:nvPr/>
        </p:nvSpPr>
        <p:spPr bwMode="auto">
          <a:xfrm>
            <a:off x="631052" y="3333863"/>
            <a:ext cx="206925" cy="1264667"/>
          </a:xfrm>
          <a:prstGeom prst="can">
            <a:avLst>
              <a:gd name="adj" fmla="val 59089"/>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Event  Bus</a:t>
            </a:r>
          </a:p>
        </p:txBody>
      </p:sp>
      <p:cxnSp>
        <p:nvCxnSpPr>
          <p:cNvPr id="43" name="Connector: Elbow 42">
            <a:extLst>
              <a:ext uri="{FF2B5EF4-FFF2-40B4-BE49-F238E27FC236}">
                <a16:creationId xmlns:a16="http://schemas.microsoft.com/office/drawing/2014/main" id="{CE0DA639-EEAB-89EB-0EE9-F4D7E3890A74}"/>
              </a:ext>
            </a:extLst>
          </p:cNvPr>
          <p:cNvCxnSpPr>
            <a:cxnSpLocks/>
            <a:endCxn id="15" idx="1"/>
          </p:cNvCxnSpPr>
          <p:nvPr/>
        </p:nvCxnSpPr>
        <p:spPr>
          <a:xfrm flipV="1">
            <a:off x="837977" y="4073028"/>
            <a:ext cx="1232817" cy="46115"/>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EB516476-B8F2-1DB6-1EC9-D831738E285B}"/>
              </a:ext>
            </a:extLst>
          </p:cNvPr>
          <p:cNvCxnSpPr>
            <a:cxnSpLocks/>
            <a:endCxn id="16" idx="1"/>
          </p:cNvCxnSpPr>
          <p:nvPr/>
        </p:nvCxnSpPr>
        <p:spPr>
          <a:xfrm>
            <a:off x="871765" y="4267145"/>
            <a:ext cx="1199029" cy="14400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C61524D6-8741-CFCA-C2E0-3F0A77D983D2}"/>
              </a:ext>
            </a:extLst>
          </p:cNvPr>
          <p:cNvGrpSpPr/>
          <p:nvPr/>
        </p:nvGrpSpPr>
        <p:grpSpPr>
          <a:xfrm>
            <a:off x="2605321" y="2851697"/>
            <a:ext cx="648519" cy="196483"/>
            <a:chOff x="4509016" y="3576639"/>
            <a:chExt cx="1080000" cy="360000"/>
          </a:xfrm>
          <a:solidFill>
            <a:schemeClr val="bg1"/>
          </a:solidFill>
        </p:grpSpPr>
        <p:sp>
          <p:nvSpPr>
            <p:cNvPr id="46" name="Rectangle 45">
              <a:extLst>
                <a:ext uri="{FF2B5EF4-FFF2-40B4-BE49-F238E27FC236}">
                  <a16:creationId xmlns:a16="http://schemas.microsoft.com/office/drawing/2014/main" id="{2F648846-97D8-E60B-B610-3E0344116403}"/>
                </a:ext>
              </a:extLst>
            </p:cNvPr>
            <p:cNvSpPr/>
            <p:nvPr/>
          </p:nvSpPr>
          <p:spPr>
            <a:xfrm>
              <a:off x="4509016" y="3576639"/>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srgbClr val="000000"/>
                  </a:solidFill>
                  <a:effectLst/>
                  <a:uLnTx/>
                  <a:uFillTx/>
                  <a:latin typeface="Graphik"/>
                  <a:ea typeface="+mn-ea"/>
                  <a:cs typeface="+mn-cs"/>
                </a:rPr>
                <a:t>gRPC</a:t>
              </a: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47" name="Picture 46">
              <a:extLst>
                <a:ext uri="{FF2B5EF4-FFF2-40B4-BE49-F238E27FC236}">
                  <a16:creationId xmlns:a16="http://schemas.microsoft.com/office/drawing/2014/main" id="{89BC84AD-02F3-C3C3-DE36-3B18DAF7B7EA}"/>
                </a:ext>
              </a:extLst>
            </p:cNvPr>
            <p:cNvPicPr>
              <a:picLocks noChangeAspect="1"/>
            </p:cNvPicPr>
            <p:nvPr/>
          </p:nvPicPr>
          <p:blipFill>
            <a:blip r:embed="rId3"/>
            <a:stretch>
              <a:fillRect/>
            </a:stretch>
          </p:blipFill>
          <p:spPr>
            <a:xfrm>
              <a:off x="4746472" y="3602759"/>
              <a:ext cx="605088" cy="307760"/>
            </a:xfrm>
            <a:prstGeom prst="rect">
              <a:avLst/>
            </a:prstGeom>
            <a:grpFill/>
          </p:spPr>
        </p:pic>
      </p:grpSp>
      <p:cxnSp>
        <p:nvCxnSpPr>
          <p:cNvPr id="48" name="Connector: Elbow 47">
            <a:extLst>
              <a:ext uri="{FF2B5EF4-FFF2-40B4-BE49-F238E27FC236}">
                <a16:creationId xmlns:a16="http://schemas.microsoft.com/office/drawing/2014/main" id="{E0181BF7-D9D1-9C99-6806-EECCC19502A4}"/>
              </a:ext>
            </a:extLst>
          </p:cNvPr>
          <p:cNvCxnSpPr>
            <a:cxnSpLocks/>
            <a:stCxn id="54" idx="2"/>
            <a:endCxn id="12" idx="0"/>
          </p:cNvCxnSpPr>
          <p:nvPr/>
        </p:nvCxnSpPr>
        <p:spPr>
          <a:xfrm rot="5400000">
            <a:off x="2879838" y="2976430"/>
            <a:ext cx="1211569" cy="1266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onnector: Elbow 48">
            <a:extLst>
              <a:ext uri="{FF2B5EF4-FFF2-40B4-BE49-F238E27FC236}">
                <a16:creationId xmlns:a16="http://schemas.microsoft.com/office/drawing/2014/main" id="{AD8E7908-D0B5-FE1C-4D01-B9529BCE37E3}"/>
              </a:ext>
            </a:extLst>
          </p:cNvPr>
          <p:cNvCxnSpPr>
            <a:cxnSpLocks/>
            <a:stCxn id="54" idx="2"/>
            <a:endCxn id="13" idx="0"/>
          </p:cNvCxnSpPr>
          <p:nvPr/>
        </p:nvCxnSpPr>
        <p:spPr>
          <a:xfrm rot="16200000" flipH="1">
            <a:off x="3403951" y="2464977"/>
            <a:ext cx="1211569" cy="1035566"/>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C9A54020-5EFF-7F69-D742-272319A70586}"/>
              </a:ext>
            </a:extLst>
          </p:cNvPr>
          <p:cNvSpPr/>
          <p:nvPr/>
        </p:nvSpPr>
        <p:spPr>
          <a:xfrm>
            <a:off x="2896111" y="4318074"/>
            <a:ext cx="1173261"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Integration Framework</a:t>
            </a:r>
          </a:p>
        </p:txBody>
      </p:sp>
      <p:grpSp>
        <p:nvGrpSpPr>
          <p:cNvPr id="51" name="Group 50">
            <a:extLst>
              <a:ext uri="{FF2B5EF4-FFF2-40B4-BE49-F238E27FC236}">
                <a16:creationId xmlns:a16="http://schemas.microsoft.com/office/drawing/2014/main" id="{FB951168-BC57-A4CF-F794-21EB99F64FF4}"/>
              </a:ext>
            </a:extLst>
          </p:cNvPr>
          <p:cNvGrpSpPr/>
          <p:nvPr/>
        </p:nvGrpSpPr>
        <p:grpSpPr>
          <a:xfrm>
            <a:off x="4040347" y="2558283"/>
            <a:ext cx="678368" cy="196483"/>
            <a:chOff x="2377230" y="1704273"/>
            <a:chExt cx="1080000" cy="360000"/>
          </a:xfrm>
          <a:solidFill>
            <a:schemeClr val="bg1"/>
          </a:solidFill>
        </p:grpSpPr>
        <p:sp>
          <p:nvSpPr>
            <p:cNvPr id="52" name="Rectangle 51">
              <a:extLst>
                <a:ext uri="{FF2B5EF4-FFF2-40B4-BE49-F238E27FC236}">
                  <a16:creationId xmlns:a16="http://schemas.microsoft.com/office/drawing/2014/main" id="{3AE7A82D-718B-381B-D4C8-E65825B73D3C}"/>
                </a:ext>
              </a:extLst>
            </p:cNvPr>
            <p:cNvSpPr/>
            <p:nvPr/>
          </p:nvSpPr>
          <p:spPr>
            <a:xfrm>
              <a:off x="2377230" y="1704273"/>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53" name="Picture 52">
              <a:extLst>
                <a:ext uri="{FF2B5EF4-FFF2-40B4-BE49-F238E27FC236}">
                  <a16:creationId xmlns:a16="http://schemas.microsoft.com/office/drawing/2014/main" id="{D27B72DF-E14F-69AF-1981-B7C87A79FEA6}"/>
                </a:ext>
              </a:extLst>
            </p:cNvPr>
            <p:cNvPicPr>
              <a:picLocks noChangeAspect="1"/>
            </p:cNvPicPr>
            <p:nvPr/>
          </p:nvPicPr>
          <p:blipFill>
            <a:blip r:embed="rId4"/>
            <a:stretch>
              <a:fillRect/>
            </a:stretch>
          </p:blipFill>
          <p:spPr>
            <a:xfrm>
              <a:off x="2431022" y="1725511"/>
              <a:ext cx="972417" cy="317524"/>
            </a:xfrm>
            <a:prstGeom prst="rect">
              <a:avLst/>
            </a:prstGeom>
            <a:grpFill/>
          </p:spPr>
        </p:pic>
      </p:grpSp>
      <p:sp>
        <p:nvSpPr>
          <p:cNvPr id="54" name="Rectangle 53">
            <a:extLst>
              <a:ext uri="{FF2B5EF4-FFF2-40B4-BE49-F238E27FC236}">
                <a16:creationId xmlns:a16="http://schemas.microsoft.com/office/drawing/2014/main" id="{9C1377CD-F356-83DD-D8BF-8D6F4D7DCAEE}"/>
              </a:ext>
            </a:extLst>
          </p:cNvPr>
          <p:cNvSpPr/>
          <p:nvPr/>
        </p:nvSpPr>
        <p:spPr>
          <a:xfrm>
            <a:off x="3065363" y="2121518"/>
            <a:ext cx="853177" cy="255458"/>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Complex</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Service</a:t>
            </a:r>
          </a:p>
        </p:txBody>
      </p:sp>
      <p:cxnSp>
        <p:nvCxnSpPr>
          <p:cNvPr id="55" name="Connector: Elbow 54">
            <a:extLst>
              <a:ext uri="{FF2B5EF4-FFF2-40B4-BE49-F238E27FC236}">
                <a16:creationId xmlns:a16="http://schemas.microsoft.com/office/drawing/2014/main" id="{EEC63603-7A6D-321D-3C72-BEF78D5A9619}"/>
              </a:ext>
            </a:extLst>
          </p:cNvPr>
          <p:cNvCxnSpPr>
            <a:cxnSpLocks/>
            <a:stCxn id="50" idx="2"/>
            <a:endCxn id="18" idx="0"/>
          </p:cNvCxnSpPr>
          <p:nvPr/>
        </p:nvCxnSpPr>
        <p:spPr>
          <a:xfrm rot="5400000">
            <a:off x="3169624" y="4918080"/>
            <a:ext cx="625125" cy="1113"/>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6" name="Group 55">
            <a:extLst>
              <a:ext uri="{FF2B5EF4-FFF2-40B4-BE49-F238E27FC236}">
                <a16:creationId xmlns:a16="http://schemas.microsoft.com/office/drawing/2014/main" id="{A52CC138-5F8B-CBE3-DFA7-B37A6004F123}"/>
              </a:ext>
            </a:extLst>
          </p:cNvPr>
          <p:cNvGrpSpPr/>
          <p:nvPr/>
        </p:nvGrpSpPr>
        <p:grpSpPr>
          <a:xfrm>
            <a:off x="3614638" y="4181575"/>
            <a:ext cx="678368" cy="196483"/>
            <a:chOff x="2377230" y="1704273"/>
            <a:chExt cx="1080000" cy="360000"/>
          </a:xfrm>
          <a:solidFill>
            <a:schemeClr val="bg1"/>
          </a:solidFill>
        </p:grpSpPr>
        <p:sp>
          <p:nvSpPr>
            <p:cNvPr id="57" name="Rectangle 56">
              <a:extLst>
                <a:ext uri="{FF2B5EF4-FFF2-40B4-BE49-F238E27FC236}">
                  <a16:creationId xmlns:a16="http://schemas.microsoft.com/office/drawing/2014/main" id="{4DE06682-016D-7BEE-73C6-307A82E63D87}"/>
                </a:ext>
              </a:extLst>
            </p:cNvPr>
            <p:cNvSpPr/>
            <p:nvPr/>
          </p:nvSpPr>
          <p:spPr>
            <a:xfrm>
              <a:off x="2377230" y="1704273"/>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58" name="Picture 57">
              <a:extLst>
                <a:ext uri="{FF2B5EF4-FFF2-40B4-BE49-F238E27FC236}">
                  <a16:creationId xmlns:a16="http://schemas.microsoft.com/office/drawing/2014/main" id="{8597D97B-441E-1657-36FA-0BD67030C614}"/>
                </a:ext>
              </a:extLst>
            </p:cNvPr>
            <p:cNvPicPr>
              <a:picLocks noChangeAspect="1"/>
            </p:cNvPicPr>
            <p:nvPr/>
          </p:nvPicPr>
          <p:blipFill>
            <a:blip r:embed="rId4"/>
            <a:stretch>
              <a:fillRect/>
            </a:stretch>
          </p:blipFill>
          <p:spPr>
            <a:xfrm>
              <a:off x="2431022" y="1725511"/>
              <a:ext cx="972417" cy="317524"/>
            </a:xfrm>
            <a:prstGeom prst="rect">
              <a:avLst/>
            </a:prstGeom>
            <a:grpFill/>
          </p:spPr>
        </p:pic>
      </p:grpSp>
      <p:grpSp>
        <p:nvGrpSpPr>
          <p:cNvPr id="59" name="Group 58">
            <a:extLst>
              <a:ext uri="{FF2B5EF4-FFF2-40B4-BE49-F238E27FC236}">
                <a16:creationId xmlns:a16="http://schemas.microsoft.com/office/drawing/2014/main" id="{FB58D99A-7B06-1A20-90C0-5ABC12F94A41}"/>
              </a:ext>
            </a:extLst>
          </p:cNvPr>
          <p:cNvGrpSpPr/>
          <p:nvPr/>
        </p:nvGrpSpPr>
        <p:grpSpPr>
          <a:xfrm>
            <a:off x="5626141" y="2405851"/>
            <a:ext cx="612000" cy="180000"/>
            <a:chOff x="2461363" y="4801885"/>
            <a:chExt cx="1080000" cy="360000"/>
          </a:xfrm>
        </p:grpSpPr>
        <p:sp>
          <p:nvSpPr>
            <p:cNvPr id="60" name="Rectangle 59">
              <a:extLst>
                <a:ext uri="{FF2B5EF4-FFF2-40B4-BE49-F238E27FC236}">
                  <a16:creationId xmlns:a16="http://schemas.microsoft.com/office/drawing/2014/main" id="{2D54F31C-6D96-4621-B732-004099A4228F}"/>
                </a:ext>
              </a:extLst>
            </p:cNvPr>
            <p:cNvSpPr/>
            <p:nvPr/>
          </p:nvSpPr>
          <p:spPr>
            <a:xfrm>
              <a:off x="2461363" y="4801885"/>
              <a:ext cx="1080000" cy="36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61" name="Picture 60">
              <a:extLst>
                <a:ext uri="{FF2B5EF4-FFF2-40B4-BE49-F238E27FC236}">
                  <a16:creationId xmlns:a16="http://schemas.microsoft.com/office/drawing/2014/main" id="{E1832140-FE59-2B98-1E06-1A52E33FA27B}"/>
                </a:ext>
              </a:extLst>
            </p:cNvPr>
            <p:cNvPicPr>
              <a:picLocks noChangeAspect="1"/>
            </p:cNvPicPr>
            <p:nvPr/>
          </p:nvPicPr>
          <p:blipFill>
            <a:blip r:embed="rId5"/>
            <a:stretch>
              <a:fillRect/>
            </a:stretch>
          </p:blipFill>
          <p:spPr>
            <a:xfrm>
              <a:off x="2654651" y="4822215"/>
              <a:ext cx="693425" cy="319340"/>
            </a:xfrm>
            <a:prstGeom prst="rect">
              <a:avLst/>
            </a:prstGeom>
            <a:solidFill>
              <a:schemeClr val="bg1"/>
            </a:solidFill>
          </p:spPr>
        </p:pic>
      </p:grpSp>
      <p:grpSp>
        <p:nvGrpSpPr>
          <p:cNvPr id="62" name="Group 61">
            <a:extLst>
              <a:ext uri="{FF2B5EF4-FFF2-40B4-BE49-F238E27FC236}">
                <a16:creationId xmlns:a16="http://schemas.microsoft.com/office/drawing/2014/main" id="{6CC14A44-9BCB-A644-0E36-6CDEFEF04CE1}"/>
              </a:ext>
            </a:extLst>
          </p:cNvPr>
          <p:cNvGrpSpPr/>
          <p:nvPr/>
        </p:nvGrpSpPr>
        <p:grpSpPr>
          <a:xfrm>
            <a:off x="761563" y="3497401"/>
            <a:ext cx="612000" cy="180000"/>
            <a:chOff x="2461363" y="4801885"/>
            <a:chExt cx="1080000" cy="360000"/>
          </a:xfrm>
        </p:grpSpPr>
        <p:sp>
          <p:nvSpPr>
            <p:cNvPr id="63" name="Rectangle 62">
              <a:extLst>
                <a:ext uri="{FF2B5EF4-FFF2-40B4-BE49-F238E27FC236}">
                  <a16:creationId xmlns:a16="http://schemas.microsoft.com/office/drawing/2014/main" id="{E5624F02-E99A-740D-CB63-CD1F5A71A3A7}"/>
                </a:ext>
              </a:extLst>
            </p:cNvPr>
            <p:cNvSpPr/>
            <p:nvPr/>
          </p:nvSpPr>
          <p:spPr>
            <a:xfrm>
              <a:off x="2461363" y="4801885"/>
              <a:ext cx="1080000" cy="36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64" name="Picture 63">
              <a:extLst>
                <a:ext uri="{FF2B5EF4-FFF2-40B4-BE49-F238E27FC236}">
                  <a16:creationId xmlns:a16="http://schemas.microsoft.com/office/drawing/2014/main" id="{CF89E427-B5AA-D694-6602-48F60B4913AB}"/>
                </a:ext>
              </a:extLst>
            </p:cNvPr>
            <p:cNvPicPr>
              <a:picLocks noChangeAspect="1"/>
            </p:cNvPicPr>
            <p:nvPr/>
          </p:nvPicPr>
          <p:blipFill>
            <a:blip r:embed="rId5"/>
            <a:stretch>
              <a:fillRect/>
            </a:stretch>
          </p:blipFill>
          <p:spPr>
            <a:xfrm>
              <a:off x="2654651" y="4822215"/>
              <a:ext cx="693425" cy="319340"/>
            </a:xfrm>
            <a:prstGeom prst="rect">
              <a:avLst/>
            </a:prstGeom>
            <a:solidFill>
              <a:schemeClr val="bg1"/>
            </a:solidFill>
          </p:spPr>
        </p:pic>
      </p:grpSp>
      <p:grpSp>
        <p:nvGrpSpPr>
          <p:cNvPr id="65" name="Group 64">
            <a:extLst>
              <a:ext uri="{FF2B5EF4-FFF2-40B4-BE49-F238E27FC236}">
                <a16:creationId xmlns:a16="http://schemas.microsoft.com/office/drawing/2014/main" id="{1119A7F5-485E-3CF9-0209-B0439F581D7B}"/>
              </a:ext>
            </a:extLst>
          </p:cNvPr>
          <p:cNvGrpSpPr/>
          <p:nvPr/>
        </p:nvGrpSpPr>
        <p:grpSpPr>
          <a:xfrm>
            <a:off x="9589089" y="731780"/>
            <a:ext cx="1862854" cy="253275"/>
            <a:chOff x="9929190" y="421028"/>
            <a:chExt cx="1862854" cy="253275"/>
          </a:xfrm>
        </p:grpSpPr>
        <p:sp>
          <p:nvSpPr>
            <p:cNvPr id="66" name="TextBox 63">
              <a:extLst>
                <a:ext uri="{FF2B5EF4-FFF2-40B4-BE49-F238E27FC236}">
                  <a16:creationId xmlns:a16="http://schemas.microsoft.com/office/drawing/2014/main" id="{D4503B56-A5CB-7043-81BD-E9C2BC2A2065}"/>
                </a:ext>
              </a:extLst>
            </p:cNvPr>
            <p:cNvSpPr txBox="1"/>
            <p:nvPr/>
          </p:nvSpPr>
          <p:spPr>
            <a:xfrm>
              <a:off x="9936972" y="460821"/>
              <a:ext cx="1847290" cy="173690"/>
            </a:xfrm>
            <a:prstGeom prst="rect">
              <a:avLst/>
            </a:prstGeom>
            <a:noFill/>
          </p:spPr>
          <p:txBody>
            <a:bodyPr wrap="non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Illustrative non exhaustive</a:t>
              </a:r>
            </a:p>
          </p:txBody>
        </p:sp>
        <p:cxnSp>
          <p:nvCxnSpPr>
            <p:cNvPr id="67" name="Straight Connector 66">
              <a:extLst>
                <a:ext uri="{FF2B5EF4-FFF2-40B4-BE49-F238E27FC236}">
                  <a16:creationId xmlns:a16="http://schemas.microsoft.com/office/drawing/2014/main" id="{8BB77A2B-B821-1DDB-D08B-A008E80D7AAF}"/>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B831DF18-DA7A-450E-6DFB-529073B05FA7}"/>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2" name="TextBox 144">
            <a:extLst>
              <a:ext uri="{FF2B5EF4-FFF2-40B4-BE49-F238E27FC236}">
                <a16:creationId xmlns:a16="http://schemas.microsoft.com/office/drawing/2014/main" id="{901B9225-8144-D43B-202D-B8384783E1C5}"/>
              </a:ext>
            </a:extLst>
          </p:cNvPr>
          <p:cNvSpPr txBox="1"/>
          <p:nvPr/>
        </p:nvSpPr>
        <p:spPr>
          <a:xfrm>
            <a:off x="1616091" y="6216007"/>
            <a:ext cx="4462491" cy="246222"/>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sz="1000" b="0" i="1" u="none" strike="noStrike" kern="1200" cap="none" spc="0" normalizeH="0" baseline="0" noProof="0">
                <a:ln>
                  <a:noFill/>
                </a:ln>
                <a:solidFill>
                  <a:srgbClr val="000000"/>
                </a:solidFill>
                <a:effectLst/>
                <a:uLnTx/>
                <a:uFillTx/>
                <a:latin typeface="Graphik"/>
                <a:ea typeface="+mn-ea"/>
                <a:cs typeface="+mn-cs"/>
              </a:rPr>
              <a:t>Stack components are just examples. Other choices could be applicable</a:t>
            </a:r>
          </a:p>
        </p:txBody>
      </p:sp>
    </p:spTree>
    <p:extLst>
      <p:ext uri="{BB962C8B-B14F-4D97-AF65-F5344CB8AC3E}">
        <p14:creationId xmlns:p14="http://schemas.microsoft.com/office/powerpoint/2010/main" val="4444694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9DF2D-F7ED-C2F8-4BFF-944077506D8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9DDD3A03-1980-FD6F-BAE1-537BA88FAF99}"/>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All rights reserved.</a:t>
            </a:r>
          </a:p>
        </p:txBody>
      </p:sp>
      <p:sp>
        <p:nvSpPr>
          <p:cNvPr id="4" name="Title 1">
            <a:extLst>
              <a:ext uri="{FF2B5EF4-FFF2-40B4-BE49-F238E27FC236}">
                <a16:creationId xmlns:a16="http://schemas.microsoft.com/office/drawing/2014/main" id="{A1A29074-4A44-2899-3FF7-D993BCDEAC7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Interoperability Asset </a:t>
            </a:r>
            <a:r>
              <a:rPr kumimoji="0" lang="en-US" sz="2400" b="1" i="0" u="none" strike="noStrike" kern="1200" cap="none" spc="0" normalizeH="0" baseline="0" noProof="0">
                <a:ln>
                  <a:noFill/>
                </a:ln>
                <a:solidFill>
                  <a:srgbClr val="000000"/>
                </a:solidFill>
                <a:effectLst/>
                <a:uLnTx/>
                <a:uFillTx/>
                <a:latin typeface="Graphik"/>
                <a:ea typeface="+mj-ea"/>
                <a:cs typeface="+mj-cs"/>
              </a:rPr>
              <a:t>| Transaction Management</a:t>
            </a:r>
          </a:p>
        </p:txBody>
      </p:sp>
      <p:sp>
        <p:nvSpPr>
          <p:cNvPr id="5" name="Content Placeholder 34">
            <a:extLst>
              <a:ext uri="{FF2B5EF4-FFF2-40B4-BE49-F238E27FC236}">
                <a16:creationId xmlns:a16="http://schemas.microsoft.com/office/drawing/2014/main" id="{90CEDF88-44CF-7622-3B2F-147D365A3416}"/>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Orchestrated Saga Pattern</a:t>
            </a:r>
          </a:p>
        </p:txBody>
      </p:sp>
      <p:grpSp>
        <p:nvGrpSpPr>
          <p:cNvPr id="6" name="Group 5">
            <a:extLst>
              <a:ext uri="{FF2B5EF4-FFF2-40B4-BE49-F238E27FC236}">
                <a16:creationId xmlns:a16="http://schemas.microsoft.com/office/drawing/2014/main" id="{264F1619-1F3D-39E7-608E-7A78608E3EA7}"/>
              </a:ext>
            </a:extLst>
          </p:cNvPr>
          <p:cNvGrpSpPr/>
          <p:nvPr/>
        </p:nvGrpSpPr>
        <p:grpSpPr>
          <a:xfrm>
            <a:off x="9589089" y="731780"/>
            <a:ext cx="1862854" cy="253275"/>
            <a:chOff x="9929190" y="421028"/>
            <a:chExt cx="1862854" cy="253275"/>
          </a:xfrm>
        </p:grpSpPr>
        <p:sp>
          <p:nvSpPr>
            <p:cNvPr id="7" name="TextBox 63">
              <a:extLst>
                <a:ext uri="{FF2B5EF4-FFF2-40B4-BE49-F238E27FC236}">
                  <a16:creationId xmlns:a16="http://schemas.microsoft.com/office/drawing/2014/main" id="{C8FA9878-51DF-5FE8-DA21-97C331F12030}"/>
                </a:ext>
              </a:extLst>
            </p:cNvPr>
            <p:cNvSpPr txBox="1"/>
            <p:nvPr/>
          </p:nvSpPr>
          <p:spPr>
            <a:xfrm>
              <a:off x="9936972" y="460821"/>
              <a:ext cx="1847290" cy="173690"/>
            </a:xfrm>
            <a:prstGeom prst="rect">
              <a:avLst/>
            </a:prstGeom>
            <a:noFill/>
          </p:spPr>
          <p:txBody>
            <a:bodyPr wrap="non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Illustrative non exhaustive</a:t>
              </a:r>
            </a:p>
          </p:txBody>
        </p:sp>
        <p:cxnSp>
          <p:nvCxnSpPr>
            <p:cNvPr id="8" name="Straight Connector 7">
              <a:extLst>
                <a:ext uri="{FF2B5EF4-FFF2-40B4-BE49-F238E27FC236}">
                  <a16:creationId xmlns:a16="http://schemas.microsoft.com/office/drawing/2014/main" id="{6B5F0728-B75A-A6E5-B13A-F485A3DD7EDF}"/>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752A187-9808-53E7-5A01-B9B476F89CFA}"/>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Rectangle 9">
            <a:extLst>
              <a:ext uri="{FF2B5EF4-FFF2-40B4-BE49-F238E27FC236}">
                <a16:creationId xmlns:a16="http://schemas.microsoft.com/office/drawing/2014/main" id="{BA4FF8D8-C715-AAA8-EB07-6067D62A7F64}"/>
              </a:ext>
            </a:extLst>
          </p:cNvPr>
          <p:cNvSpPr/>
          <p:nvPr/>
        </p:nvSpPr>
        <p:spPr>
          <a:xfrm>
            <a:off x="1599455" y="1306673"/>
            <a:ext cx="4848067" cy="220860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Microservices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Framework</a:t>
            </a:r>
          </a:p>
        </p:txBody>
      </p:sp>
      <p:sp>
        <p:nvSpPr>
          <p:cNvPr id="11" name="Rectangle 10">
            <a:extLst>
              <a:ext uri="{FF2B5EF4-FFF2-40B4-BE49-F238E27FC236}">
                <a16:creationId xmlns:a16="http://schemas.microsoft.com/office/drawing/2014/main" id="{168A3E3E-A97E-0A23-211B-63B9E254A87B}"/>
              </a:ext>
            </a:extLst>
          </p:cNvPr>
          <p:cNvSpPr/>
          <p:nvPr/>
        </p:nvSpPr>
        <p:spPr>
          <a:xfrm>
            <a:off x="3297194" y="1388809"/>
            <a:ext cx="3032880" cy="80900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Service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Orchestrator</a:t>
            </a:r>
          </a:p>
        </p:txBody>
      </p:sp>
      <p:sp>
        <p:nvSpPr>
          <p:cNvPr id="12" name="Rectangle 11">
            <a:extLst>
              <a:ext uri="{FF2B5EF4-FFF2-40B4-BE49-F238E27FC236}">
                <a16:creationId xmlns:a16="http://schemas.microsoft.com/office/drawing/2014/main" id="{9F923F43-4DCF-E84B-8669-FB19BE87ED09}"/>
              </a:ext>
            </a:extLst>
          </p:cNvPr>
          <p:cNvSpPr/>
          <p:nvPr/>
        </p:nvSpPr>
        <p:spPr>
          <a:xfrm>
            <a:off x="3106294" y="5181939"/>
            <a:ext cx="1670782" cy="70043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Open System</a:t>
            </a:r>
          </a:p>
        </p:txBody>
      </p:sp>
      <p:sp>
        <p:nvSpPr>
          <p:cNvPr id="13" name="Rectangle 12">
            <a:extLst>
              <a:ext uri="{FF2B5EF4-FFF2-40B4-BE49-F238E27FC236}">
                <a16:creationId xmlns:a16="http://schemas.microsoft.com/office/drawing/2014/main" id="{93B46D58-7C3F-EDD5-84F1-FFBAB5351101}"/>
              </a:ext>
            </a:extLst>
          </p:cNvPr>
          <p:cNvSpPr/>
          <p:nvPr/>
        </p:nvSpPr>
        <p:spPr>
          <a:xfrm>
            <a:off x="3752329" y="1090912"/>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API Gateway</a:t>
            </a:r>
          </a:p>
        </p:txBody>
      </p:sp>
      <p:sp>
        <p:nvSpPr>
          <p:cNvPr id="14" name="Rectangle 13">
            <a:extLst>
              <a:ext uri="{FF2B5EF4-FFF2-40B4-BE49-F238E27FC236}">
                <a16:creationId xmlns:a16="http://schemas.microsoft.com/office/drawing/2014/main" id="{6A3DA94F-5451-97FB-65DC-A26C058F5A59}"/>
              </a:ext>
            </a:extLst>
          </p:cNvPr>
          <p:cNvSpPr/>
          <p:nvPr/>
        </p:nvSpPr>
        <p:spPr>
          <a:xfrm>
            <a:off x="3303305" y="2314252"/>
            <a:ext cx="3026769" cy="1135803"/>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Transaction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Manager</a:t>
            </a:r>
          </a:p>
        </p:txBody>
      </p:sp>
      <p:sp>
        <p:nvSpPr>
          <p:cNvPr id="15" name="Rectangle 14">
            <a:extLst>
              <a:ext uri="{FF2B5EF4-FFF2-40B4-BE49-F238E27FC236}">
                <a16:creationId xmlns:a16="http://schemas.microsoft.com/office/drawing/2014/main" id="{09E26E1B-9231-5CB5-C021-8E2C9054EA36}"/>
              </a:ext>
            </a:extLst>
          </p:cNvPr>
          <p:cNvSpPr/>
          <p:nvPr/>
        </p:nvSpPr>
        <p:spPr>
          <a:xfrm>
            <a:off x="3443945" y="2847776"/>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Service 2a</a:t>
            </a:r>
          </a:p>
        </p:txBody>
      </p:sp>
      <p:cxnSp>
        <p:nvCxnSpPr>
          <p:cNvPr id="16" name="Straight Arrow Connector 15">
            <a:extLst>
              <a:ext uri="{FF2B5EF4-FFF2-40B4-BE49-F238E27FC236}">
                <a16:creationId xmlns:a16="http://schemas.microsoft.com/office/drawing/2014/main" id="{DB74A573-6585-6E66-F22B-094F4623BB03}"/>
              </a:ext>
            </a:extLst>
          </p:cNvPr>
          <p:cNvCxnSpPr>
            <a:cxnSpLocks/>
            <a:stCxn id="13" idx="2"/>
            <a:endCxn id="63" idx="0"/>
          </p:cNvCxnSpPr>
          <p:nvPr/>
        </p:nvCxnSpPr>
        <p:spPr>
          <a:xfrm>
            <a:off x="4767190" y="1242995"/>
            <a:ext cx="1" cy="244819"/>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944281B5-C0C9-8CA5-7D69-0812F473C8E3}"/>
              </a:ext>
            </a:extLst>
          </p:cNvPr>
          <p:cNvSpPr/>
          <p:nvPr/>
        </p:nvSpPr>
        <p:spPr>
          <a:xfrm>
            <a:off x="4407190" y="2970626"/>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Service 2b</a:t>
            </a:r>
          </a:p>
        </p:txBody>
      </p:sp>
      <p:sp>
        <p:nvSpPr>
          <p:cNvPr id="18" name="Rectangle 17">
            <a:extLst>
              <a:ext uri="{FF2B5EF4-FFF2-40B4-BE49-F238E27FC236}">
                <a16:creationId xmlns:a16="http://schemas.microsoft.com/office/drawing/2014/main" id="{B837E002-CC26-1FE5-A2EC-09937BF249F1}"/>
              </a:ext>
            </a:extLst>
          </p:cNvPr>
          <p:cNvSpPr/>
          <p:nvPr/>
        </p:nvSpPr>
        <p:spPr>
          <a:xfrm>
            <a:off x="5491018" y="3131184"/>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Service 2c</a:t>
            </a:r>
          </a:p>
        </p:txBody>
      </p:sp>
      <p:sp>
        <p:nvSpPr>
          <p:cNvPr id="19" name="Rectangle 18">
            <a:extLst>
              <a:ext uri="{FF2B5EF4-FFF2-40B4-BE49-F238E27FC236}">
                <a16:creationId xmlns:a16="http://schemas.microsoft.com/office/drawing/2014/main" id="{BD1E51E2-D420-6F8F-78CA-81267AD1ACFD}"/>
              </a:ext>
            </a:extLst>
          </p:cNvPr>
          <p:cNvSpPr/>
          <p:nvPr/>
        </p:nvSpPr>
        <p:spPr>
          <a:xfrm>
            <a:off x="1714299" y="3079213"/>
            <a:ext cx="881535"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Transactional Coordinator</a:t>
            </a:r>
          </a:p>
        </p:txBody>
      </p:sp>
      <p:cxnSp>
        <p:nvCxnSpPr>
          <p:cNvPr id="20" name="Connector: Elbow 19">
            <a:extLst>
              <a:ext uri="{FF2B5EF4-FFF2-40B4-BE49-F238E27FC236}">
                <a16:creationId xmlns:a16="http://schemas.microsoft.com/office/drawing/2014/main" id="{51C7A968-F6CA-3E6E-C377-915F0CA16674}"/>
              </a:ext>
            </a:extLst>
          </p:cNvPr>
          <p:cNvCxnSpPr>
            <a:cxnSpLocks/>
            <a:stCxn id="15" idx="1"/>
            <a:endCxn id="19" idx="3"/>
          </p:cNvCxnSpPr>
          <p:nvPr/>
        </p:nvCxnSpPr>
        <p:spPr>
          <a:xfrm rot="10800000" flipV="1">
            <a:off x="2595835" y="2937775"/>
            <a:ext cx="848111" cy="285437"/>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11D6907B-F20D-D02C-3723-697F6C7EDBF0}"/>
              </a:ext>
            </a:extLst>
          </p:cNvPr>
          <p:cNvSpPr/>
          <p:nvPr/>
        </p:nvSpPr>
        <p:spPr>
          <a:xfrm>
            <a:off x="4423500" y="3561228"/>
            <a:ext cx="900000" cy="72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Cloud</a:t>
            </a:r>
          </a:p>
        </p:txBody>
      </p:sp>
      <p:sp>
        <p:nvSpPr>
          <p:cNvPr id="22" name="Rectangle 21">
            <a:extLst>
              <a:ext uri="{FF2B5EF4-FFF2-40B4-BE49-F238E27FC236}">
                <a16:creationId xmlns:a16="http://schemas.microsoft.com/office/drawing/2014/main" id="{52B805A2-5A35-4F1A-20DC-E2B31F46E2BD}"/>
              </a:ext>
            </a:extLst>
          </p:cNvPr>
          <p:cNvSpPr/>
          <p:nvPr/>
        </p:nvSpPr>
        <p:spPr>
          <a:xfrm>
            <a:off x="4513500" y="3716872"/>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Service 2b</a:t>
            </a:r>
          </a:p>
        </p:txBody>
      </p:sp>
      <p:sp>
        <p:nvSpPr>
          <p:cNvPr id="23" name="Rectangle 22">
            <a:extLst>
              <a:ext uri="{FF2B5EF4-FFF2-40B4-BE49-F238E27FC236}">
                <a16:creationId xmlns:a16="http://schemas.microsoft.com/office/drawing/2014/main" id="{933FF882-FFD4-03F8-F147-7B78A5DB2856}"/>
              </a:ext>
            </a:extLst>
          </p:cNvPr>
          <p:cNvSpPr/>
          <p:nvPr/>
        </p:nvSpPr>
        <p:spPr>
          <a:xfrm>
            <a:off x="5410445" y="4682105"/>
            <a:ext cx="900000" cy="72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Legacy</a:t>
            </a:r>
          </a:p>
        </p:txBody>
      </p:sp>
      <p:sp>
        <p:nvSpPr>
          <p:cNvPr id="24" name="Rectangle 23">
            <a:extLst>
              <a:ext uri="{FF2B5EF4-FFF2-40B4-BE49-F238E27FC236}">
                <a16:creationId xmlns:a16="http://schemas.microsoft.com/office/drawing/2014/main" id="{A0803BAA-8661-3413-5EC7-89CF18B0D87D}"/>
              </a:ext>
            </a:extLst>
          </p:cNvPr>
          <p:cNvSpPr/>
          <p:nvPr/>
        </p:nvSpPr>
        <p:spPr>
          <a:xfrm>
            <a:off x="5500445" y="4788588"/>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Service 2c</a:t>
            </a:r>
          </a:p>
        </p:txBody>
      </p:sp>
      <p:cxnSp>
        <p:nvCxnSpPr>
          <p:cNvPr id="25" name="Connector: Elbow 24">
            <a:extLst>
              <a:ext uri="{FF2B5EF4-FFF2-40B4-BE49-F238E27FC236}">
                <a16:creationId xmlns:a16="http://schemas.microsoft.com/office/drawing/2014/main" id="{AEC625FD-1525-6CED-6688-F467B0B1659C}"/>
              </a:ext>
            </a:extLst>
          </p:cNvPr>
          <p:cNvCxnSpPr>
            <a:cxnSpLocks/>
          </p:cNvCxnSpPr>
          <p:nvPr/>
        </p:nvCxnSpPr>
        <p:spPr>
          <a:xfrm rot="5400000">
            <a:off x="4625715" y="3404253"/>
            <a:ext cx="507254" cy="1270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1200CECF-F77A-ACCA-8DB3-E10A1CEEE25A}"/>
              </a:ext>
            </a:extLst>
          </p:cNvPr>
          <p:cNvSpPr/>
          <p:nvPr/>
        </p:nvSpPr>
        <p:spPr>
          <a:xfrm>
            <a:off x="5410445" y="4285098"/>
            <a:ext cx="900000" cy="252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Legacy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Adaptor</a:t>
            </a:r>
          </a:p>
        </p:txBody>
      </p:sp>
      <p:cxnSp>
        <p:nvCxnSpPr>
          <p:cNvPr id="27" name="Connector: Elbow 26">
            <a:extLst>
              <a:ext uri="{FF2B5EF4-FFF2-40B4-BE49-F238E27FC236}">
                <a16:creationId xmlns:a16="http://schemas.microsoft.com/office/drawing/2014/main" id="{F28DC697-2D98-0B95-8187-0C5939B501FC}"/>
              </a:ext>
            </a:extLst>
          </p:cNvPr>
          <p:cNvCxnSpPr>
            <a:cxnSpLocks/>
            <a:stCxn id="18" idx="2"/>
            <a:endCxn id="26" idx="0"/>
          </p:cNvCxnSpPr>
          <p:nvPr/>
        </p:nvCxnSpPr>
        <p:spPr>
          <a:xfrm rot="16200000" flipH="1">
            <a:off x="5368774" y="3793427"/>
            <a:ext cx="973914" cy="9427"/>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C5A3E6CF-A497-66BA-B609-3E7B3E3D945B}"/>
              </a:ext>
            </a:extLst>
          </p:cNvPr>
          <p:cNvGrpSpPr/>
          <p:nvPr/>
        </p:nvGrpSpPr>
        <p:grpSpPr>
          <a:xfrm>
            <a:off x="1359494" y="1081942"/>
            <a:ext cx="844771" cy="284934"/>
            <a:chOff x="2436880" y="1158097"/>
            <a:chExt cx="1080000" cy="360000"/>
          </a:xfrm>
          <a:solidFill>
            <a:schemeClr val="bg1"/>
          </a:solidFill>
        </p:grpSpPr>
        <p:sp>
          <p:nvSpPr>
            <p:cNvPr id="29" name="Rectangle 28">
              <a:extLst>
                <a:ext uri="{FF2B5EF4-FFF2-40B4-BE49-F238E27FC236}">
                  <a16:creationId xmlns:a16="http://schemas.microsoft.com/office/drawing/2014/main" id="{7DA01D98-6C29-B671-CC62-4756347D6F89}"/>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30" name="Picture 29">
              <a:extLst>
                <a:ext uri="{FF2B5EF4-FFF2-40B4-BE49-F238E27FC236}">
                  <a16:creationId xmlns:a16="http://schemas.microsoft.com/office/drawing/2014/main" id="{FF221420-2622-6BE3-FD88-26A8C88EA157}"/>
                </a:ext>
              </a:extLst>
            </p:cNvPr>
            <p:cNvPicPr>
              <a:picLocks noChangeAspect="1"/>
            </p:cNvPicPr>
            <p:nvPr/>
          </p:nvPicPr>
          <p:blipFill>
            <a:blip r:embed="rId2"/>
            <a:stretch>
              <a:fillRect/>
            </a:stretch>
          </p:blipFill>
          <p:spPr>
            <a:xfrm>
              <a:off x="2470229" y="1215368"/>
              <a:ext cx="1013303" cy="245459"/>
            </a:xfrm>
            <a:prstGeom prst="rect">
              <a:avLst/>
            </a:prstGeom>
            <a:grpFill/>
          </p:spPr>
        </p:pic>
      </p:grpSp>
      <p:grpSp>
        <p:nvGrpSpPr>
          <p:cNvPr id="31" name="Group 30">
            <a:extLst>
              <a:ext uri="{FF2B5EF4-FFF2-40B4-BE49-F238E27FC236}">
                <a16:creationId xmlns:a16="http://schemas.microsoft.com/office/drawing/2014/main" id="{D96A7A5D-CDEF-BDA3-0D22-F9A1D9B24770}"/>
              </a:ext>
            </a:extLst>
          </p:cNvPr>
          <p:cNvGrpSpPr/>
          <p:nvPr/>
        </p:nvGrpSpPr>
        <p:grpSpPr>
          <a:xfrm>
            <a:off x="5676833" y="2288602"/>
            <a:ext cx="612000" cy="180000"/>
            <a:chOff x="2389786" y="2095523"/>
            <a:chExt cx="1080000" cy="360000"/>
          </a:xfrm>
          <a:solidFill>
            <a:schemeClr val="bg1"/>
          </a:solidFill>
        </p:grpSpPr>
        <p:sp>
          <p:nvSpPr>
            <p:cNvPr id="32" name="Rectangle 31">
              <a:extLst>
                <a:ext uri="{FF2B5EF4-FFF2-40B4-BE49-F238E27FC236}">
                  <a16:creationId xmlns:a16="http://schemas.microsoft.com/office/drawing/2014/main" id="{6D61E73D-9A5D-0051-8E28-C19E0067F832}"/>
                </a:ext>
              </a:extLst>
            </p:cNvPr>
            <p:cNvSpPr/>
            <p:nvPr/>
          </p:nvSpPr>
          <p:spPr>
            <a:xfrm>
              <a:off x="2389786" y="2095523"/>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Temporal</a:t>
              </a:r>
            </a:p>
          </p:txBody>
        </p:sp>
        <p:pic>
          <p:nvPicPr>
            <p:cNvPr id="33" name="Picture 32">
              <a:extLst>
                <a:ext uri="{FF2B5EF4-FFF2-40B4-BE49-F238E27FC236}">
                  <a16:creationId xmlns:a16="http://schemas.microsoft.com/office/drawing/2014/main" id="{3FCED9AA-0B41-ED53-5967-E5931CFAA412}"/>
                </a:ext>
              </a:extLst>
            </p:cNvPr>
            <p:cNvPicPr>
              <a:picLocks noChangeAspect="1"/>
            </p:cNvPicPr>
            <p:nvPr/>
          </p:nvPicPr>
          <p:blipFill>
            <a:blip r:embed="rId3"/>
            <a:stretch>
              <a:fillRect/>
            </a:stretch>
          </p:blipFill>
          <p:spPr>
            <a:xfrm>
              <a:off x="2450304" y="2118382"/>
              <a:ext cx="958965" cy="314283"/>
            </a:xfrm>
            <a:prstGeom prst="rect">
              <a:avLst/>
            </a:prstGeom>
            <a:grpFill/>
          </p:spPr>
        </p:pic>
      </p:grpSp>
      <p:sp>
        <p:nvSpPr>
          <p:cNvPr id="34" name="TextBox 144">
            <a:extLst>
              <a:ext uri="{FF2B5EF4-FFF2-40B4-BE49-F238E27FC236}">
                <a16:creationId xmlns:a16="http://schemas.microsoft.com/office/drawing/2014/main" id="{FC496128-C9FF-21CF-8030-2A71CEE706E0}"/>
              </a:ext>
            </a:extLst>
          </p:cNvPr>
          <p:cNvSpPr txBox="1"/>
          <p:nvPr/>
        </p:nvSpPr>
        <p:spPr>
          <a:xfrm>
            <a:off x="7496367" y="749107"/>
            <a:ext cx="4425968" cy="478077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Graphik"/>
                <a:ea typeface="+mn-ea"/>
                <a:cs typeface="+mn-cs"/>
              </a:rPr>
              <a:t>Notes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Transaction Management is considered a special case of Service Orchestration that requires atomicity across the participant services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 transactional coordinator keeps track of the success or failure of individual steps.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Then decides to complete a complex service or rollback individual actions through reversals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 messaging backbone serves as the communication mechanism to:</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Ensure notifications of success/failure for individual steps (Transactional Outbox/Inbox pattern)</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Launch reversal actions when necessary</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The status and history of the atomic transactions is recorded in a Transactions Database</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It includes technical monitoring </a:t>
            </a:r>
            <a:r>
              <a:rPr kumimoji="0" lang="en-US" sz="1000" b="0" i="0" u="none" strike="noStrike" kern="1200" cap="none" spc="0" normalizeH="0" baseline="0" noProof="0">
                <a:ln>
                  <a:noFill/>
                </a:ln>
                <a:solidFill>
                  <a:srgbClr val="000000"/>
                </a:solidFill>
                <a:effectLst/>
                <a:uLnTx/>
                <a:uFillTx/>
                <a:latin typeface="Graphik"/>
                <a:ea typeface="+mn-ea"/>
                <a:cs typeface="+mn-cs"/>
              </a:rPr>
              <a:t>events (health </a:t>
            </a:r>
            <a:r>
              <a:rPr kumimoji="0" lang="en-US" sz="1000" b="0" i="0" u="none" strike="noStrike" kern="1200" cap="none" spc="0" normalizeH="0" baseline="0" noProof="0" dirty="0">
                <a:ln>
                  <a:noFill/>
                </a:ln>
                <a:solidFill>
                  <a:srgbClr val="000000"/>
                </a:solidFill>
                <a:effectLst/>
                <a:uLnTx/>
                <a:uFillTx/>
                <a:latin typeface="Graphik"/>
                <a:ea typeface="+mn-ea"/>
                <a:cs typeface="+mn-cs"/>
              </a:rPr>
              <a:t>and relevant facts of the platform components of the Transaction Management) and also operational monitoring events (business events and others) to facilitate the manual or automatic resolution of  problems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The transactional console is the user interface to monitor the status of complex transactions with the ability to retry/cancel/reverse and generate reports.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Service 2a represent a direct access to one or more databases (either relational or supporting JMS) which rely on single or two-phase commit and do not require reversals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NOTE: Temporal is just an example of orchestrator, that guarantees the message delivery through the underlying Kafka infrastructure underpinning the Transactional Inbox and Outbox patterns</a:t>
            </a:r>
          </a:p>
        </p:txBody>
      </p:sp>
      <p:cxnSp>
        <p:nvCxnSpPr>
          <p:cNvPr id="35" name="Connector: Elbow 34">
            <a:extLst>
              <a:ext uri="{FF2B5EF4-FFF2-40B4-BE49-F238E27FC236}">
                <a16:creationId xmlns:a16="http://schemas.microsoft.com/office/drawing/2014/main" id="{155D5066-B14C-8D99-2729-268EA4CACE8F}"/>
              </a:ext>
            </a:extLst>
          </p:cNvPr>
          <p:cNvCxnSpPr>
            <a:cxnSpLocks/>
          </p:cNvCxnSpPr>
          <p:nvPr/>
        </p:nvCxnSpPr>
        <p:spPr>
          <a:xfrm rot="5400000">
            <a:off x="5724868" y="4653011"/>
            <a:ext cx="271154" cy="1270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1E19F783-71F0-E9E7-FB55-54DCECE6E342}"/>
              </a:ext>
            </a:extLst>
          </p:cNvPr>
          <p:cNvCxnSpPr>
            <a:cxnSpLocks/>
            <a:stCxn id="65" idx="2"/>
            <a:endCxn id="15" idx="0"/>
          </p:cNvCxnSpPr>
          <p:nvPr/>
        </p:nvCxnSpPr>
        <p:spPr>
          <a:xfrm rot="5400000">
            <a:off x="4196539" y="2277125"/>
            <a:ext cx="178058" cy="963245"/>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Flowchart: Magnetic Disk 36">
            <a:extLst>
              <a:ext uri="{FF2B5EF4-FFF2-40B4-BE49-F238E27FC236}">
                <a16:creationId xmlns:a16="http://schemas.microsoft.com/office/drawing/2014/main" id="{7465F324-2FCC-9BC0-699F-C72FFB771F43}"/>
              </a:ext>
            </a:extLst>
          </p:cNvPr>
          <p:cNvSpPr/>
          <p:nvPr/>
        </p:nvSpPr>
        <p:spPr>
          <a:xfrm>
            <a:off x="3209654" y="5344374"/>
            <a:ext cx="736093" cy="381552"/>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0" i="0" u="none" strike="noStrike" kern="1200" cap="none" spc="0" normalizeH="0" baseline="0" noProof="0" err="1">
                <a:ln>
                  <a:noFill/>
                </a:ln>
                <a:solidFill>
                  <a:srgbClr val="000000"/>
                </a:solidFill>
                <a:effectLst/>
                <a:uLnTx/>
                <a:uFillTx/>
                <a:latin typeface="Graphik"/>
                <a:ea typeface="+mn-ea"/>
                <a:cs typeface="+mn-cs"/>
              </a:rPr>
              <a:t>Database</a:t>
            </a:r>
            <a:r>
              <a:rPr kumimoji="0" lang="es-ES_tradnl" sz="900" b="0" i="0" u="none" strike="noStrike" kern="1200" cap="none" spc="0" normalizeH="0" baseline="0" noProof="0">
                <a:ln>
                  <a:noFill/>
                </a:ln>
                <a:solidFill>
                  <a:srgbClr val="000000"/>
                </a:solidFill>
                <a:effectLst/>
                <a:uLnTx/>
                <a:uFillTx/>
                <a:latin typeface="Graphik"/>
                <a:ea typeface="+mn-ea"/>
                <a:cs typeface="+mn-cs"/>
              </a:rPr>
              <a:t> A</a:t>
            </a:r>
            <a:endParaRPr kumimoji="0" lang="en-ES" sz="900" b="0" i="0" u="none" strike="noStrike" kern="1200" cap="none" spc="0" normalizeH="0" baseline="0" noProof="0">
              <a:ln>
                <a:noFill/>
              </a:ln>
              <a:solidFill>
                <a:srgbClr val="000000"/>
              </a:solidFill>
              <a:effectLst/>
              <a:uLnTx/>
              <a:uFillTx/>
              <a:latin typeface="Graphik"/>
              <a:ea typeface="+mn-ea"/>
              <a:cs typeface="+mn-cs"/>
            </a:endParaRPr>
          </a:p>
        </p:txBody>
      </p:sp>
      <p:cxnSp>
        <p:nvCxnSpPr>
          <p:cNvPr id="38" name="Connector: Elbow 37">
            <a:extLst>
              <a:ext uri="{FF2B5EF4-FFF2-40B4-BE49-F238E27FC236}">
                <a16:creationId xmlns:a16="http://schemas.microsoft.com/office/drawing/2014/main" id="{74F57F19-0E34-1DA3-D06A-99031A1AF64F}"/>
              </a:ext>
            </a:extLst>
          </p:cNvPr>
          <p:cNvCxnSpPr>
            <a:cxnSpLocks/>
            <a:stCxn id="15" idx="2"/>
            <a:endCxn id="37" idx="1"/>
          </p:cNvCxnSpPr>
          <p:nvPr/>
        </p:nvCxnSpPr>
        <p:spPr>
          <a:xfrm rot="5400000">
            <a:off x="2532524" y="4072953"/>
            <a:ext cx="2316598" cy="226244"/>
          </a:xfrm>
          <a:prstGeom prst="bentConnector3">
            <a:avLst>
              <a:gd name="adj1" fmla="val 87844"/>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7EE94B0D-8FF4-FDBE-EC80-4F58BA72B824}"/>
              </a:ext>
            </a:extLst>
          </p:cNvPr>
          <p:cNvSpPr/>
          <p:nvPr/>
        </p:nvSpPr>
        <p:spPr>
          <a:xfrm>
            <a:off x="4513500" y="3933216"/>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Reversal 2b</a:t>
            </a:r>
          </a:p>
        </p:txBody>
      </p:sp>
      <p:cxnSp>
        <p:nvCxnSpPr>
          <p:cNvPr id="40" name="Connector: Elbow 39">
            <a:extLst>
              <a:ext uri="{FF2B5EF4-FFF2-40B4-BE49-F238E27FC236}">
                <a16:creationId xmlns:a16="http://schemas.microsoft.com/office/drawing/2014/main" id="{9B0D942C-5147-CFCA-6596-6876B575E755}"/>
              </a:ext>
            </a:extLst>
          </p:cNvPr>
          <p:cNvCxnSpPr>
            <a:cxnSpLocks/>
            <a:stCxn id="19" idx="2"/>
            <a:endCxn id="45" idx="2"/>
          </p:cNvCxnSpPr>
          <p:nvPr/>
        </p:nvCxnSpPr>
        <p:spPr>
          <a:xfrm rot="16200000" flipH="1">
            <a:off x="1718500" y="3803780"/>
            <a:ext cx="1104638" cy="231504"/>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FCC293D6-69B9-B27C-3254-32653222A6BB}"/>
              </a:ext>
            </a:extLst>
          </p:cNvPr>
          <p:cNvCxnSpPr>
            <a:cxnSpLocks/>
            <a:endCxn id="37" idx="2"/>
          </p:cNvCxnSpPr>
          <p:nvPr/>
        </p:nvCxnSpPr>
        <p:spPr>
          <a:xfrm rot="16200000" flipH="1">
            <a:off x="1455678" y="3781173"/>
            <a:ext cx="2155099" cy="1352853"/>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3F5A4615-9768-6FCA-FF5B-1462DA761D1D}"/>
              </a:ext>
            </a:extLst>
          </p:cNvPr>
          <p:cNvSpPr/>
          <p:nvPr/>
        </p:nvSpPr>
        <p:spPr>
          <a:xfrm>
            <a:off x="5500445" y="4990059"/>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Reversal 2c</a:t>
            </a:r>
          </a:p>
        </p:txBody>
      </p:sp>
      <p:cxnSp>
        <p:nvCxnSpPr>
          <p:cNvPr id="43" name="Connector: Elbow 42">
            <a:extLst>
              <a:ext uri="{FF2B5EF4-FFF2-40B4-BE49-F238E27FC236}">
                <a16:creationId xmlns:a16="http://schemas.microsoft.com/office/drawing/2014/main" id="{AEDB8208-5E5C-458F-0ABC-7F9D5CEC9679}"/>
              </a:ext>
            </a:extLst>
          </p:cNvPr>
          <p:cNvCxnSpPr>
            <a:cxnSpLocks/>
            <a:stCxn id="17" idx="1"/>
            <a:endCxn id="19" idx="3"/>
          </p:cNvCxnSpPr>
          <p:nvPr/>
        </p:nvCxnSpPr>
        <p:spPr>
          <a:xfrm rot="10800000" flipV="1">
            <a:off x="2595834" y="3060625"/>
            <a:ext cx="1811356" cy="162587"/>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E04C908A-FCAC-76A0-7C8F-A385034CE534}"/>
              </a:ext>
            </a:extLst>
          </p:cNvPr>
          <p:cNvCxnSpPr>
            <a:cxnSpLocks/>
            <a:stCxn id="18" idx="1"/>
            <a:endCxn id="19" idx="3"/>
          </p:cNvCxnSpPr>
          <p:nvPr/>
        </p:nvCxnSpPr>
        <p:spPr>
          <a:xfrm rot="10800000" flipV="1">
            <a:off x="2595834" y="3221183"/>
            <a:ext cx="2895184" cy="2029"/>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5" name="Can 172">
            <a:extLst>
              <a:ext uri="{FF2B5EF4-FFF2-40B4-BE49-F238E27FC236}">
                <a16:creationId xmlns:a16="http://schemas.microsoft.com/office/drawing/2014/main" id="{527606E0-65A6-E857-8FE9-7946FAF53CA3}"/>
              </a:ext>
            </a:extLst>
          </p:cNvPr>
          <p:cNvSpPr/>
          <p:nvPr/>
        </p:nvSpPr>
        <p:spPr bwMode="auto">
          <a:xfrm>
            <a:off x="2386571" y="3661048"/>
            <a:ext cx="312661" cy="1621605"/>
          </a:xfrm>
          <a:prstGeom prst="can">
            <a:avLst>
              <a:gd name="adj" fmla="val 59089"/>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Compensation Topic Event Bus</a:t>
            </a:r>
          </a:p>
        </p:txBody>
      </p:sp>
      <p:cxnSp>
        <p:nvCxnSpPr>
          <p:cNvPr id="46" name="Connector: Elbow 45">
            <a:extLst>
              <a:ext uri="{FF2B5EF4-FFF2-40B4-BE49-F238E27FC236}">
                <a16:creationId xmlns:a16="http://schemas.microsoft.com/office/drawing/2014/main" id="{842DC014-41BF-E3F4-A81B-3C559BF3FD7D}"/>
              </a:ext>
            </a:extLst>
          </p:cNvPr>
          <p:cNvCxnSpPr>
            <a:cxnSpLocks/>
            <a:stCxn id="45" idx="4"/>
            <a:endCxn id="39" idx="1"/>
          </p:cNvCxnSpPr>
          <p:nvPr/>
        </p:nvCxnSpPr>
        <p:spPr>
          <a:xfrm flipV="1">
            <a:off x="2699232" y="4023216"/>
            <a:ext cx="1814268" cy="448635"/>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D9053F12-25A4-9ECE-89BA-7D1DDA8AAEA1}"/>
              </a:ext>
            </a:extLst>
          </p:cNvPr>
          <p:cNvCxnSpPr>
            <a:cxnSpLocks/>
            <a:stCxn id="45" idx="4"/>
            <a:endCxn id="26" idx="1"/>
          </p:cNvCxnSpPr>
          <p:nvPr/>
        </p:nvCxnSpPr>
        <p:spPr>
          <a:xfrm flipV="1">
            <a:off x="2699232" y="4411098"/>
            <a:ext cx="2711213" cy="60753"/>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48" name="Group 47">
            <a:extLst>
              <a:ext uri="{FF2B5EF4-FFF2-40B4-BE49-F238E27FC236}">
                <a16:creationId xmlns:a16="http://schemas.microsoft.com/office/drawing/2014/main" id="{EA423794-B14A-AE90-81D5-E6067405451D}"/>
              </a:ext>
            </a:extLst>
          </p:cNvPr>
          <p:cNvGrpSpPr/>
          <p:nvPr/>
        </p:nvGrpSpPr>
        <p:grpSpPr>
          <a:xfrm>
            <a:off x="2611692" y="3806392"/>
            <a:ext cx="685502" cy="201848"/>
            <a:chOff x="6368576" y="4704022"/>
            <a:chExt cx="1080000" cy="360000"/>
          </a:xfrm>
          <a:solidFill>
            <a:schemeClr val="bg1"/>
          </a:solidFill>
        </p:grpSpPr>
        <p:sp>
          <p:nvSpPr>
            <p:cNvPr id="49" name="Rectangle 48">
              <a:extLst>
                <a:ext uri="{FF2B5EF4-FFF2-40B4-BE49-F238E27FC236}">
                  <a16:creationId xmlns:a16="http://schemas.microsoft.com/office/drawing/2014/main" id="{1D7C7F1C-1B57-90CE-EDF7-E8A77742FBB4}"/>
                </a:ext>
              </a:extLst>
            </p:cNvPr>
            <p:cNvSpPr/>
            <p:nvPr/>
          </p:nvSpPr>
          <p:spPr>
            <a:xfrm>
              <a:off x="6368576" y="4704022"/>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Apache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Kafka</a:t>
              </a:r>
            </a:p>
          </p:txBody>
        </p:sp>
        <p:pic>
          <p:nvPicPr>
            <p:cNvPr id="50" name="Picture 49">
              <a:extLst>
                <a:ext uri="{FF2B5EF4-FFF2-40B4-BE49-F238E27FC236}">
                  <a16:creationId xmlns:a16="http://schemas.microsoft.com/office/drawing/2014/main" id="{87E447E8-D19E-0456-001B-7356B0B019D7}"/>
                </a:ext>
              </a:extLst>
            </p:cNvPr>
            <p:cNvPicPr>
              <a:picLocks noChangeAspect="1"/>
            </p:cNvPicPr>
            <p:nvPr/>
          </p:nvPicPr>
          <p:blipFill>
            <a:blip r:embed="rId4"/>
            <a:stretch>
              <a:fillRect/>
            </a:stretch>
          </p:blipFill>
          <p:spPr>
            <a:xfrm>
              <a:off x="6561864" y="4724352"/>
              <a:ext cx="693425" cy="319340"/>
            </a:xfrm>
            <a:prstGeom prst="rect">
              <a:avLst/>
            </a:prstGeom>
            <a:grpFill/>
          </p:spPr>
        </p:pic>
      </p:grpSp>
      <p:cxnSp>
        <p:nvCxnSpPr>
          <p:cNvPr id="51" name="Connector: Elbow 50">
            <a:extLst>
              <a:ext uri="{FF2B5EF4-FFF2-40B4-BE49-F238E27FC236}">
                <a16:creationId xmlns:a16="http://schemas.microsoft.com/office/drawing/2014/main" id="{A82B1884-6027-1D30-087B-4B047910CAEF}"/>
              </a:ext>
            </a:extLst>
          </p:cNvPr>
          <p:cNvCxnSpPr>
            <a:cxnSpLocks/>
            <a:stCxn id="26" idx="3"/>
            <a:endCxn id="42" idx="3"/>
          </p:cNvCxnSpPr>
          <p:nvPr/>
        </p:nvCxnSpPr>
        <p:spPr>
          <a:xfrm flipH="1">
            <a:off x="6220445" y="4411098"/>
            <a:ext cx="90000" cy="668961"/>
          </a:xfrm>
          <a:prstGeom prst="bentConnector3">
            <a:avLst>
              <a:gd name="adj1" fmla="val -254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DE85B9E4-F445-4744-1E69-1B76F22D01F8}"/>
              </a:ext>
            </a:extLst>
          </p:cNvPr>
          <p:cNvSpPr/>
          <p:nvPr/>
        </p:nvSpPr>
        <p:spPr>
          <a:xfrm>
            <a:off x="469361" y="3073468"/>
            <a:ext cx="917537"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Transactional Console</a:t>
            </a:r>
          </a:p>
        </p:txBody>
      </p:sp>
      <p:cxnSp>
        <p:nvCxnSpPr>
          <p:cNvPr id="53" name="Straight Arrow Connector 52">
            <a:extLst>
              <a:ext uri="{FF2B5EF4-FFF2-40B4-BE49-F238E27FC236}">
                <a16:creationId xmlns:a16="http://schemas.microsoft.com/office/drawing/2014/main" id="{6BB13D2F-1505-E1D0-900E-62A98BAEC106}"/>
              </a:ext>
            </a:extLst>
          </p:cNvPr>
          <p:cNvCxnSpPr>
            <a:cxnSpLocks/>
            <a:stCxn id="52" idx="3"/>
            <a:endCxn id="19" idx="1"/>
          </p:cNvCxnSpPr>
          <p:nvPr/>
        </p:nvCxnSpPr>
        <p:spPr>
          <a:xfrm>
            <a:off x="1386898" y="3217468"/>
            <a:ext cx="327401" cy="574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1E7274BC-94BC-6317-7D61-DEC47E24A07D}"/>
              </a:ext>
            </a:extLst>
          </p:cNvPr>
          <p:cNvSpPr/>
          <p:nvPr/>
        </p:nvSpPr>
        <p:spPr>
          <a:xfrm>
            <a:off x="8846306" y="5770924"/>
            <a:ext cx="2880000" cy="180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Main components of this capability</a:t>
            </a:r>
          </a:p>
        </p:txBody>
      </p:sp>
      <p:sp>
        <p:nvSpPr>
          <p:cNvPr id="55" name="Rectangle 54">
            <a:extLst>
              <a:ext uri="{FF2B5EF4-FFF2-40B4-BE49-F238E27FC236}">
                <a16:creationId xmlns:a16="http://schemas.microsoft.com/office/drawing/2014/main" id="{DB32F588-7D26-6269-022D-0EDC3B74F8B7}"/>
              </a:ext>
            </a:extLst>
          </p:cNvPr>
          <p:cNvSpPr/>
          <p:nvPr/>
        </p:nvSpPr>
        <p:spPr>
          <a:xfrm>
            <a:off x="8846306" y="6005076"/>
            <a:ext cx="2880000" cy="18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Components of other related capabilities</a:t>
            </a:r>
          </a:p>
        </p:txBody>
      </p:sp>
      <p:sp>
        <p:nvSpPr>
          <p:cNvPr id="56" name="Rectangle 55">
            <a:extLst>
              <a:ext uri="{FF2B5EF4-FFF2-40B4-BE49-F238E27FC236}">
                <a16:creationId xmlns:a16="http://schemas.microsoft.com/office/drawing/2014/main" id="{6AE2EDF5-9878-2BAF-7542-E2030908B2AB}"/>
              </a:ext>
            </a:extLst>
          </p:cNvPr>
          <p:cNvSpPr/>
          <p:nvPr/>
        </p:nvSpPr>
        <p:spPr>
          <a:xfrm>
            <a:off x="8846306" y="6221501"/>
            <a:ext cx="288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Functional Components related to this capability</a:t>
            </a:r>
          </a:p>
        </p:txBody>
      </p:sp>
      <p:sp>
        <p:nvSpPr>
          <p:cNvPr id="57" name="Rectangle 56">
            <a:extLst>
              <a:ext uri="{FF2B5EF4-FFF2-40B4-BE49-F238E27FC236}">
                <a16:creationId xmlns:a16="http://schemas.microsoft.com/office/drawing/2014/main" id="{1DCE4F16-5D4B-E735-3649-66C9BEF9032A}"/>
              </a:ext>
            </a:extLst>
          </p:cNvPr>
          <p:cNvSpPr/>
          <p:nvPr/>
        </p:nvSpPr>
        <p:spPr>
          <a:xfrm>
            <a:off x="1713566" y="2881742"/>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Custom or 3</a:t>
            </a:r>
            <a:r>
              <a:rPr kumimoji="0" lang="en-US" sz="700" b="0" i="0" u="none" strike="noStrike" kern="1200" cap="none" spc="0" normalizeH="0" baseline="30000" noProof="0">
                <a:ln>
                  <a:noFill/>
                </a:ln>
                <a:solidFill>
                  <a:srgbClr val="FFFFFF"/>
                </a:solidFill>
                <a:effectLst/>
                <a:uLnTx/>
                <a:uFillTx/>
                <a:latin typeface="Graphik"/>
                <a:ea typeface="+mn-ea"/>
                <a:cs typeface="+mn-cs"/>
              </a:rPr>
              <a:t>rd</a:t>
            </a:r>
            <a:r>
              <a:rPr kumimoji="0" lang="en-US" sz="700" b="0" i="0" u="none" strike="noStrike" kern="1200" cap="none" spc="0" normalizeH="0" baseline="0" noProof="0">
                <a:ln>
                  <a:noFill/>
                </a:ln>
                <a:solidFill>
                  <a:srgbClr val="FFFFFF"/>
                </a:solidFill>
                <a:effectLst/>
                <a:uLnTx/>
                <a:uFillTx/>
                <a:latin typeface="Graphik"/>
                <a:ea typeface="+mn-ea"/>
                <a:cs typeface="+mn-cs"/>
              </a:rPr>
              <a:t> party</a:t>
            </a:r>
          </a:p>
        </p:txBody>
      </p:sp>
      <p:sp>
        <p:nvSpPr>
          <p:cNvPr id="58" name="Rectangle 57">
            <a:extLst>
              <a:ext uri="{FF2B5EF4-FFF2-40B4-BE49-F238E27FC236}">
                <a16:creationId xmlns:a16="http://schemas.microsoft.com/office/drawing/2014/main" id="{4F42EBCD-D56C-A041-2CA1-4502AFB97867}"/>
              </a:ext>
            </a:extLst>
          </p:cNvPr>
          <p:cNvSpPr/>
          <p:nvPr/>
        </p:nvSpPr>
        <p:spPr>
          <a:xfrm>
            <a:off x="269665" y="3331356"/>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Custom or 3</a:t>
            </a:r>
            <a:r>
              <a:rPr kumimoji="0" lang="en-US" sz="700" b="0" i="0" u="none" strike="noStrike" kern="1200" cap="none" spc="0" normalizeH="0" baseline="30000" noProof="0">
                <a:ln>
                  <a:noFill/>
                </a:ln>
                <a:solidFill>
                  <a:srgbClr val="FFFFFF"/>
                </a:solidFill>
                <a:effectLst/>
                <a:uLnTx/>
                <a:uFillTx/>
                <a:latin typeface="Graphik"/>
                <a:ea typeface="+mn-ea"/>
                <a:cs typeface="+mn-cs"/>
              </a:rPr>
              <a:t>rd</a:t>
            </a:r>
            <a:r>
              <a:rPr kumimoji="0" lang="en-US" sz="700" b="0" i="0" u="none" strike="noStrike" kern="1200" cap="none" spc="0" normalizeH="0" baseline="0" noProof="0">
                <a:ln>
                  <a:noFill/>
                </a:ln>
                <a:solidFill>
                  <a:srgbClr val="FFFFFF"/>
                </a:solidFill>
                <a:effectLst/>
                <a:uLnTx/>
                <a:uFillTx/>
                <a:latin typeface="Graphik"/>
                <a:ea typeface="+mn-ea"/>
                <a:cs typeface="+mn-cs"/>
              </a:rPr>
              <a:t> party</a:t>
            </a:r>
          </a:p>
        </p:txBody>
      </p:sp>
      <p:sp>
        <p:nvSpPr>
          <p:cNvPr id="59" name="Can 172">
            <a:extLst>
              <a:ext uri="{FF2B5EF4-FFF2-40B4-BE49-F238E27FC236}">
                <a16:creationId xmlns:a16="http://schemas.microsoft.com/office/drawing/2014/main" id="{D8A253A4-D073-4D31-4C59-8679515DD2FA}"/>
              </a:ext>
            </a:extLst>
          </p:cNvPr>
          <p:cNvSpPr/>
          <p:nvPr/>
        </p:nvSpPr>
        <p:spPr bwMode="auto">
          <a:xfrm>
            <a:off x="6870407" y="1915873"/>
            <a:ext cx="312661" cy="1940873"/>
          </a:xfrm>
          <a:prstGeom prst="can">
            <a:avLst>
              <a:gd name="adj" fmla="val 59089"/>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Atomic Transaction Reporting Topic</a:t>
            </a:r>
          </a:p>
        </p:txBody>
      </p:sp>
      <p:cxnSp>
        <p:nvCxnSpPr>
          <p:cNvPr id="60" name="Straight Arrow Connector 59">
            <a:extLst>
              <a:ext uri="{FF2B5EF4-FFF2-40B4-BE49-F238E27FC236}">
                <a16:creationId xmlns:a16="http://schemas.microsoft.com/office/drawing/2014/main" id="{4B2775F8-9927-2F1D-E637-973ECFCE8D53}"/>
              </a:ext>
            </a:extLst>
          </p:cNvPr>
          <p:cNvCxnSpPr>
            <a:cxnSpLocks/>
            <a:stCxn id="14" idx="3"/>
            <a:endCxn id="59" idx="2"/>
          </p:cNvCxnSpPr>
          <p:nvPr/>
        </p:nvCxnSpPr>
        <p:spPr>
          <a:xfrm>
            <a:off x="6330074" y="2882154"/>
            <a:ext cx="540333" cy="4156"/>
          </a:xfrm>
          <a:prstGeom prst="straightConnector1">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1" name="Flowchart: Magnetic Disk 60">
            <a:extLst>
              <a:ext uri="{FF2B5EF4-FFF2-40B4-BE49-F238E27FC236}">
                <a16:creationId xmlns:a16="http://schemas.microsoft.com/office/drawing/2014/main" id="{0A753296-F12B-2583-526B-9A864D952210}"/>
              </a:ext>
            </a:extLst>
          </p:cNvPr>
          <p:cNvSpPr/>
          <p:nvPr/>
        </p:nvSpPr>
        <p:spPr>
          <a:xfrm>
            <a:off x="6661018" y="4043532"/>
            <a:ext cx="736093" cy="793098"/>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0" i="0" u="none" strike="noStrike" kern="1200" cap="none" spc="0" normalizeH="0" baseline="0" noProof="0" err="1">
                <a:ln>
                  <a:noFill/>
                </a:ln>
                <a:solidFill>
                  <a:srgbClr val="FFFFFF"/>
                </a:solidFill>
                <a:effectLst/>
                <a:uLnTx/>
                <a:uFillTx/>
                <a:latin typeface="Graphik"/>
                <a:ea typeface="+mn-ea"/>
                <a:cs typeface="+mn-cs"/>
              </a:rPr>
              <a:t>Transactions</a:t>
            </a:r>
            <a:r>
              <a:rPr kumimoji="0" lang="es-ES_tradnl" sz="900" b="0" i="0" u="none" strike="noStrike" kern="1200" cap="none" spc="0" normalizeH="0" baseline="0" noProof="0">
                <a:ln>
                  <a:noFill/>
                </a:ln>
                <a:solidFill>
                  <a:srgbClr val="FFFFFF"/>
                </a:solidFill>
                <a:effectLst/>
                <a:uLnTx/>
                <a:uFillTx/>
                <a:latin typeface="Graphik"/>
                <a:ea typeface="+mn-ea"/>
                <a:cs typeface="+mn-cs"/>
              </a:rPr>
              <a:t> </a:t>
            </a:r>
            <a:r>
              <a:rPr kumimoji="0" lang="es-ES_tradnl" sz="900" b="0" i="0" u="none" strike="noStrike" kern="1200" cap="none" spc="0" normalizeH="0" baseline="0" noProof="0" err="1">
                <a:ln>
                  <a:noFill/>
                </a:ln>
                <a:solidFill>
                  <a:srgbClr val="FFFFFF"/>
                </a:solidFill>
                <a:effectLst/>
                <a:uLnTx/>
                <a:uFillTx/>
                <a:latin typeface="Graphik"/>
                <a:ea typeface="+mn-ea"/>
                <a:cs typeface="+mn-cs"/>
              </a:rPr>
              <a:t>Database</a:t>
            </a:r>
            <a:endParaRPr kumimoji="0" lang="es-ES_tradnl" sz="900" b="0" i="0" u="none" strike="noStrike" kern="1200" cap="none" spc="0" normalizeH="0" baseline="0" noProof="0">
              <a:ln>
                <a:noFill/>
              </a:ln>
              <a:solidFill>
                <a:srgbClr val="FFFFFF"/>
              </a:solidFill>
              <a:effectLst/>
              <a:uLnTx/>
              <a:uFillTx/>
              <a:latin typeface="Graphik"/>
              <a:ea typeface="+mn-ea"/>
              <a:cs typeface="+mn-cs"/>
            </a:endParaRPr>
          </a:p>
        </p:txBody>
      </p:sp>
      <p:sp>
        <p:nvSpPr>
          <p:cNvPr id="62" name="Flowchart: Magnetic Disk 61">
            <a:extLst>
              <a:ext uri="{FF2B5EF4-FFF2-40B4-BE49-F238E27FC236}">
                <a16:creationId xmlns:a16="http://schemas.microsoft.com/office/drawing/2014/main" id="{788D73BB-AF84-D760-9DDF-8D0703D2C1AD}"/>
              </a:ext>
            </a:extLst>
          </p:cNvPr>
          <p:cNvSpPr/>
          <p:nvPr/>
        </p:nvSpPr>
        <p:spPr>
          <a:xfrm>
            <a:off x="3993365" y="5344374"/>
            <a:ext cx="736093" cy="381552"/>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0" i="0" u="none" strike="noStrike" kern="1200" cap="none" spc="0" normalizeH="0" baseline="0" noProof="0" err="1">
                <a:ln>
                  <a:noFill/>
                </a:ln>
                <a:solidFill>
                  <a:srgbClr val="000000"/>
                </a:solidFill>
                <a:effectLst/>
                <a:uLnTx/>
                <a:uFillTx/>
                <a:latin typeface="Graphik"/>
                <a:ea typeface="+mn-ea"/>
                <a:cs typeface="+mn-cs"/>
              </a:rPr>
              <a:t>Database</a:t>
            </a:r>
            <a:r>
              <a:rPr kumimoji="0" lang="es-ES_tradnl" sz="900" b="0" i="0" u="none" strike="noStrike" kern="1200" cap="none" spc="0" normalizeH="0" baseline="0" noProof="0">
                <a:ln>
                  <a:noFill/>
                </a:ln>
                <a:solidFill>
                  <a:srgbClr val="000000"/>
                </a:solidFill>
                <a:effectLst/>
                <a:uLnTx/>
                <a:uFillTx/>
                <a:latin typeface="Graphik"/>
                <a:ea typeface="+mn-ea"/>
                <a:cs typeface="+mn-cs"/>
              </a:rPr>
              <a:t> B</a:t>
            </a:r>
            <a:endParaRPr kumimoji="0" lang="en-ES" sz="900" b="0" i="0" u="none" strike="noStrike" kern="1200" cap="none" spc="0" normalizeH="0" baseline="0" noProof="0">
              <a:ln>
                <a:noFill/>
              </a:ln>
              <a:solidFill>
                <a:srgbClr val="000000"/>
              </a:solidFill>
              <a:effectLst/>
              <a:uLnTx/>
              <a:uFillTx/>
              <a:latin typeface="Graphik"/>
              <a:ea typeface="+mn-ea"/>
              <a:cs typeface="+mn-cs"/>
            </a:endParaRPr>
          </a:p>
        </p:txBody>
      </p:sp>
      <p:sp>
        <p:nvSpPr>
          <p:cNvPr id="63" name="Rectangle 62">
            <a:extLst>
              <a:ext uri="{FF2B5EF4-FFF2-40B4-BE49-F238E27FC236}">
                <a16:creationId xmlns:a16="http://schemas.microsoft.com/office/drawing/2014/main" id="{FE32FE45-1CC0-740E-676E-E02A2401F429}"/>
              </a:ext>
            </a:extLst>
          </p:cNvPr>
          <p:cNvSpPr/>
          <p:nvPr/>
        </p:nvSpPr>
        <p:spPr>
          <a:xfrm>
            <a:off x="4144616" y="1487814"/>
            <a:ext cx="1245149" cy="173028"/>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Complex Service</a:t>
            </a:r>
          </a:p>
        </p:txBody>
      </p:sp>
      <p:sp>
        <p:nvSpPr>
          <p:cNvPr id="64" name="Rectangle 63">
            <a:extLst>
              <a:ext uri="{FF2B5EF4-FFF2-40B4-BE49-F238E27FC236}">
                <a16:creationId xmlns:a16="http://schemas.microsoft.com/office/drawing/2014/main" id="{565DEF1C-2E5E-C97F-6693-471383BCC16C}"/>
              </a:ext>
            </a:extLst>
          </p:cNvPr>
          <p:cNvSpPr/>
          <p:nvPr/>
        </p:nvSpPr>
        <p:spPr>
          <a:xfrm>
            <a:off x="3649557" y="1840842"/>
            <a:ext cx="720000" cy="29315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Service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non-atomic</a:t>
            </a:r>
          </a:p>
        </p:txBody>
      </p:sp>
      <p:sp>
        <p:nvSpPr>
          <p:cNvPr id="65" name="Rectangle 64">
            <a:extLst>
              <a:ext uri="{FF2B5EF4-FFF2-40B4-BE49-F238E27FC236}">
                <a16:creationId xmlns:a16="http://schemas.microsoft.com/office/drawing/2014/main" id="{B7CE11F7-8ACD-13EF-C78E-9A942BBD4BAE}"/>
              </a:ext>
            </a:extLst>
          </p:cNvPr>
          <p:cNvSpPr/>
          <p:nvPr/>
        </p:nvSpPr>
        <p:spPr>
          <a:xfrm>
            <a:off x="4407190" y="2376566"/>
            <a:ext cx="720000" cy="29315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Service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(atomic)</a:t>
            </a:r>
          </a:p>
        </p:txBody>
      </p:sp>
      <p:sp>
        <p:nvSpPr>
          <p:cNvPr id="66" name="Rectangle 65">
            <a:extLst>
              <a:ext uri="{FF2B5EF4-FFF2-40B4-BE49-F238E27FC236}">
                <a16:creationId xmlns:a16="http://schemas.microsoft.com/office/drawing/2014/main" id="{2CD27E89-075A-3BC9-8C6F-C17EEB97CC46}"/>
              </a:ext>
            </a:extLst>
          </p:cNvPr>
          <p:cNvSpPr/>
          <p:nvPr/>
        </p:nvSpPr>
        <p:spPr>
          <a:xfrm>
            <a:off x="5017612" y="1840842"/>
            <a:ext cx="720000" cy="29315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Service 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(non-atomic)</a:t>
            </a:r>
          </a:p>
        </p:txBody>
      </p:sp>
      <p:cxnSp>
        <p:nvCxnSpPr>
          <p:cNvPr id="67" name="Connector: Elbow 66">
            <a:extLst>
              <a:ext uri="{FF2B5EF4-FFF2-40B4-BE49-F238E27FC236}">
                <a16:creationId xmlns:a16="http://schemas.microsoft.com/office/drawing/2014/main" id="{ADB91DCE-71C7-B686-296C-7ED9980782F5}"/>
              </a:ext>
            </a:extLst>
          </p:cNvPr>
          <p:cNvCxnSpPr>
            <a:cxnSpLocks/>
            <a:stCxn id="63" idx="2"/>
            <a:endCxn id="64" idx="0"/>
          </p:cNvCxnSpPr>
          <p:nvPr/>
        </p:nvCxnSpPr>
        <p:spPr>
          <a:xfrm rot="5400000">
            <a:off x="4298374" y="1372025"/>
            <a:ext cx="180000" cy="75763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Connector: Elbow 67">
            <a:extLst>
              <a:ext uri="{FF2B5EF4-FFF2-40B4-BE49-F238E27FC236}">
                <a16:creationId xmlns:a16="http://schemas.microsoft.com/office/drawing/2014/main" id="{7E6E6982-4C80-FB73-0FD0-118275D72E3E}"/>
              </a:ext>
            </a:extLst>
          </p:cNvPr>
          <p:cNvCxnSpPr>
            <a:cxnSpLocks/>
            <a:stCxn id="63" idx="2"/>
            <a:endCxn id="65" idx="0"/>
          </p:cNvCxnSpPr>
          <p:nvPr/>
        </p:nvCxnSpPr>
        <p:spPr>
          <a:xfrm rot="5400000">
            <a:off x="4409329" y="2018704"/>
            <a:ext cx="715724" cy="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ECC2D0CC-3EAD-60BF-A4B8-06CFA4CB35E9}"/>
              </a:ext>
            </a:extLst>
          </p:cNvPr>
          <p:cNvCxnSpPr>
            <a:cxnSpLocks/>
            <a:stCxn id="63" idx="2"/>
            <a:endCxn id="66" idx="0"/>
          </p:cNvCxnSpPr>
          <p:nvPr/>
        </p:nvCxnSpPr>
        <p:spPr>
          <a:xfrm rot="16200000" flipH="1">
            <a:off x="4982401" y="1445631"/>
            <a:ext cx="180000" cy="61042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0" name="Group 69">
            <a:extLst>
              <a:ext uri="{FF2B5EF4-FFF2-40B4-BE49-F238E27FC236}">
                <a16:creationId xmlns:a16="http://schemas.microsoft.com/office/drawing/2014/main" id="{069B2CDD-5715-C139-7657-3E36EAEACD11}"/>
              </a:ext>
            </a:extLst>
          </p:cNvPr>
          <p:cNvGrpSpPr/>
          <p:nvPr/>
        </p:nvGrpSpPr>
        <p:grpSpPr>
          <a:xfrm>
            <a:off x="5646351" y="1415861"/>
            <a:ext cx="612000" cy="180000"/>
            <a:chOff x="2377230" y="1704273"/>
            <a:chExt cx="1080000" cy="360000"/>
          </a:xfrm>
          <a:solidFill>
            <a:schemeClr val="bg1"/>
          </a:solidFill>
        </p:grpSpPr>
        <p:sp>
          <p:nvSpPr>
            <p:cNvPr id="71" name="Rectangle 70">
              <a:extLst>
                <a:ext uri="{FF2B5EF4-FFF2-40B4-BE49-F238E27FC236}">
                  <a16:creationId xmlns:a16="http://schemas.microsoft.com/office/drawing/2014/main" id="{76FBFCAA-C08A-FA11-C1D5-54F3BB1FB80B}"/>
                </a:ext>
              </a:extLst>
            </p:cNvPr>
            <p:cNvSpPr/>
            <p:nvPr/>
          </p:nvSpPr>
          <p:spPr>
            <a:xfrm>
              <a:off x="2377230" y="1704273"/>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72" name="Picture 71">
              <a:extLst>
                <a:ext uri="{FF2B5EF4-FFF2-40B4-BE49-F238E27FC236}">
                  <a16:creationId xmlns:a16="http://schemas.microsoft.com/office/drawing/2014/main" id="{8FEA5E7E-AD79-46FC-7C73-8EF04BC8AECB}"/>
                </a:ext>
              </a:extLst>
            </p:cNvPr>
            <p:cNvPicPr>
              <a:picLocks noChangeAspect="1"/>
            </p:cNvPicPr>
            <p:nvPr/>
          </p:nvPicPr>
          <p:blipFill>
            <a:blip r:embed="rId5"/>
            <a:stretch>
              <a:fillRect/>
            </a:stretch>
          </p:blipFill>
          <p:spPr>
            <a:xfrm>
              <a:off x="2431022" y="1725511"/>
              <a:ext cx="972417" cy="317524"/>
            </a:xfrm>
            <a:prstGeom prst="rect">
              <a:avLst/>
            </a:prstGeom>
            <a:grpFill/>
          </p:spPr>
        </p:pic>
      </p:grpSp>
      <p:cxnSp>
        <p:nvCxnSpPr>
          <p:cNvPr id="73" name="Connector: Elbow 72">
            <a:extLst>
              <a:ext uri="{FF2B5EF4-FFF2-40B4-BE49-F238E27FC236}">
                <a16:creationId xmlns:a16="http://schemas.microsoft.com/office/drawing/2014/main" id="{2F698BD2-097B-F1B0-84C5-E0195EA0FF4D}"/>
              </a:ext>
            </a:extLst>
          </p:cNvPr>
          <p:cNvCxnSpPr>
            <a:cxnSpLocks/>
            <a:stCxn id="65" idx="2"/>
            <a:endCxn id="17" idx="0"/>
          </p:cNvCxnSpPr>
          <p:nvPr/>
        </p:nvCxnSpPr>
        <p:spPr>
          <a:xfrm rot="5400000">
            <a:off x="4616736" y="2820172"/>
            <a:ext cx="300908" cy="1270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Connector: Elbow 73">
            <a:extLst>
              <a:ext uri="{FF2B5EF4-FFF2-40B4-BE49-F238E27FC236}">
                <a16:creationId xmlns:a16="http://schemas.microsoft.com/office/drawing/2014/main" id="{8991BC0E-BA94-380B-56EA-C80BD156427C}"/>
              </a:ext>
            </a:extLst>
          </p:cNvPr>
          <p:cNvCxnSpPr>
            <a:cxnSpLocks/>
            <a:stCxn id="65" idx="2"/>
            <a:endCxn id="18" idx="0"/>
          </p:cNvCxnSpPr>
          <p:nvPr/>
        </p:nvCxnSpPr>
        <p:spPr>
          <a:xfrm rot="16200000" flipH="1">
            <a:off x="5078371" y="2358537"/>
            <a:ext cx="461466" cy="108382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Oval 74">
            <a:extLst>
              <a:ext uri="{FF2B5EF4-FFF2-40B4-BE49-F238E27FC236}">
                <a16:creationId xmlns:a16="http://schemas.microsoft.com/office/drawing/2014/main" id="{513207B2-2AA8-29EF-852C-C7084D047198}"/>
              </a:ext>
            </a:extLst>
          </p:cNvPr>
          <p:cNvSpPr/>
          <p:nvPr/>
        </p:nvSpPr>
        <p:spPr>
          <a:xfrm>
            <a:off x="2796792" y="3055472"/>
            <a:ext cx="538692" cy="288001"/>
          </a:xfrm>
          <a:prstGeom prst="ellipse">
            <a:avLst/>
          </a:prstGeom>
          <a:solidFill>
            <a:schemeClr val="bg1"/>
          </a:solidFill>
          <a:ln>
            <a:solidFill>
              <a:schemeClr val="tx1"/>
            </a:solidFill>
          </a:ln>
        </p:spPr>
        <p:txBody>
          <a:bodyPr wrap="non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ES_tradnl" sz="700" b="0" i="1" u="none" strike="noStrike" kern="1200" cap="none" spc="0" normalizeH="0" baseline="0" noProof="0" err="1">
                <a:ln>
                  <a:noFill/>
                </a:ln>
                <a:solidFill>
                  <a:srgbClr val="000000"/>
                </a:solidFill>
                <a:effectLst/>
                <a:uLnTx/>
                <a:uFillTx/>
                <a:latin typeface="Graphik"/>
                <a:ea typeface="+mn-ea"/>
                <a:cs typeface="+mn-cs"/>
              </a:rPr>
              <a:t>Success</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ES_tradnl" sz="700" b="0" i="1" u="none" strike="noStrike" kern="1200" cap="none" spc="0" normalizeH="0" baseline="0" noProof="0" err="1">
                <a:ln>
                  <a:noFill/>
                </a:ln>
                <a:solidFill>
                  <a:srgbClr val="000000"/>
                </a:solidFill>
                <a:effectLst/>
                <a:uLnTx/>
                <a:uFillTx/>
                <a:latin typeface="Graphik"/>
                <a:ea typeface="+mn-ea"/>
                <a:cs typeface="+mn-cs"/>
              </a:rPr>
              <a:t>Failure</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p:txBody>
      </p:sp>
      <p:sp>
        <p:nvSpPr>
          <p:cNvPr id="76" name="Oval 75">
            <a:extLst>
              <a:ext uri="{FF2B5EF4-FFF2-40B4-BE49-F238E27FC236}">
                <a16:creationId xmlns:a16="http://schemas.microsoft.com/office/drawing/2014/main" id="{1E061E4C-DB8B-1980-75AE-67B505C0D921}"/>
              </a:ext>
            </a:extLst>
          </p:cNvPr>
          <p:cNvSpPr/>
          <p:nvPr/>
        </p:nvSpPr>
        <p:spPr>
          <a:xfrm>
            <a:off x="2204265" y="5402930"/>
            <a:ext cx="538692" cy="288001"/>
          </a:xfrm>
          <a:prstGeom prst="ellipse">
            <a:avLst/>
          </a:prstGeom>
          <a:solidFill>
            <a:schemeClr val="bg1"/>
          </a:solidFill>
          <a:ln>
            <a:solidFill>
              <a:schemeClr val="tx1"/>
            </a:solidFill>
          </a:ln>
        </p:spPr>
        <p:txBody>
          <a:bodyPr wrap="non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ES_tradnl" sz="700" b="0" i="1" u="none" strike="noStrike" kern="1200" cap="none" spc="0" normalizeH="0" baseline="0" noProof="0" err="1">
                <a:ln>
                  <a:noFill/>
                </a:ln>
                <a:solidFill>
                  <a:srgbClr val="000000"/>
                </a:solidFill>
                <a:effectLst/>
                <a:uLnTx/>
                <a:uFillTx/>
                <a:latin typeface="Graphik"/>
                <a:ea typeface="+mn-ea"/>
                <a:cs typeface="+mn-cs"/>
              </a:rPr>
              <a:t>Commit</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ES_tradnl" sz="700" b="0" i="1" u="none" strike="noStrike" kern="1200" cap="none" spc="0" normalizeH="0" baseline="0" noProof="0" err="1">
                <a:ln>
                  <a:noFill/>
                </a:ln>
                <a:solidFill>
                  <a:srgbClr val="000000"/>
                </a:solidFill>
                <a:effectLst/>
                <a:uLnTx/>
                <a:uFillTx/>
                <a:latin typeface="Graphik"/>
                <a:ea typeface="+mn-ea"/>
                <a:cs typeface="+mn-cs"/>
              </a:rPr>
              <a:t>Rollback</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p:txBody>
      </p:sp>
      <p:sp>
        <p:nvSpPr>
          <p:cNvPr id="77" name="Oval 76">
            <a:extLst>
              <a:ext uri="{FF2B5EF4-FFF2-40B4-BE49-F238E27FC236}">
                <a16:creationId xmlns:a16="http://schemas.microsoft.com/office/drawing/2014/main" id="{8169CF97-A405-D338-DE41-710885277DEF}"/>
              </a:ext>
            </a:extLst>
          </p:cNvPr>
          <p:cNvSpPr/>
          <p:nvPr/>
        </p:nvSpPr>
        <p:spPr>
          <a:xfrm>
            <a:off x="2780366" y="4329619"/>
            <a:ext cx="538692" cy="288001"/>
          </a:xfrm>
          <a:prstGeom prst="ellipse">
            <a:avLst/>
          </a:prstGeom>
          <a:solidFill>
            <a:schemeClr val="bg1"/>
          </a:solidFill>
          <a:ln>
            <a:solidFill>
              <a:schemeClr val="tx1"/>
            </a:solidFill>
          </a:ln>
        </p:spPr>
        <p:txBody>
          <a:bodyPr wrap="non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ES_tradnl" sz="700" b="0" i="1" u="none" strike="noStrike" kern="1200" cap="none" spc="0" normalizeH="0" baseline="0" noProof="0" err="1">
                <a:ln>
                  <a:noFill/>
                </a:ln>
                <a:solidFill>
                  <a:srgbClr val="000000"/>
                </a:solidFill>
                <a:effectLst/>
                <a:uLnTx/>
                <a:uFillTx/>
                <a:latin typeface="Graphik"/>
                <a:ea typeface="+mn-ea"/>
                <a:cs typeface="+mn-cs"/>
              </a:rPr>
              <a:t>Revert</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p:txBody>
      </p:sp>
      <p:cxnSp>
        <p:nvCxnSpPr>
          <p:cNvPr id="78" name="Connector: Elbow 77">
            <a:extLst>
              <a:ext uri="{FF2B5EF4-FFF2-40B4-BE49-F238E27FC236}">
                <a16:creationId xmlns:a16="http://schemas.microsoft.com/office/drawing/2014/main" id="{C70F833B-32CE-C36F-37F3-2D4ADA317D97}"/>
              </a:ext>
            </a:extLst>
          </p:cNvPr>
          <p:cNvCxnSpPr>
            <a:cxnSpLocks/>
            <a:stCxn id="15" idx="2"/>
            <a:endCxn id="62" idx="1"/>
          </p:cNvCxnSpPr>
          <p:nvPr/>
        </p:nvCxnSpPr>
        <p:spPr>
          <a:xfrm rot="16200000" flipH="1">
            <a:off x="2924379" y="3907341"/>
            <a:ext cx="2316598" cy="557467"/>
          </a:xfrm>
          <a:prstGeom prst="bentConnector3">
            <a:avLst>
              <a:gd name="adj1" fmla="val 87844"/>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9EB8B51E-B35E-C368-0573-748813F94480}"/>
              </a:ext>
            </a:extLst>
          </p:cNvPr>
          <p:cNvCxnSpPr>
            <a:cxnSpLocks/>
            <a:stCxn id="59" idx="3"/>
            <a:endCxn id="61" idx="1"/>
          </p:cNvCxnSpPr>
          <p:nvPr/>
        </p:nvCxnSpPr>
        <p:spPr>
          <a:xfrm>
            <a:off x="7026738" y="3856746"/>
            <a:ext cx="2327" cy="186786"/>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7D658FA4-4317-1A1A-9C32-8A6690D70169}"/>
              </a:ext>
            </a:extLst>
          </p:cNvPr>
          <p:cNvCxnSpPr>
            <a:cxnSpLocks/>
            <a:stCxn id="52" idx="2"/>
            <a:endCxn id="81" idx="0"/>
          </p:cNvCxnSpPr>
          <p:nvPr/>
        </p:nvCxnSpPr>
        <p:spPr>
          <a:xfrm>
            <a:off x="928130" y="3361468"/>
            <a:ext cx="5670" cy="444924"/>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1" name="TextBox 176">
            <a:extLst>
              <a:ext uri="{FF2B5EF4-FFF2-40B4-BE49-F238E27FC236}">
                <a16:creationId xmlns:a16="http://schemas.microsoft.com/office/drawing/2014/main" id="{C65090D4-C856-4CB3-50B5-4368753426AC}"/>
              </a:ext>
            </a:extLst>
          </p:cNvPr>
          <p:cNvSpPr txBox="1"/>
          <p:nvPr/>
        </p:nvSpPr>
        <p:spPr>
          <a:xfrm>
            <a:off x="476600" y="3806392"/>
            <a:ext cx="914399" cy="248520"/>
          </a:xfrm>
          <a:prstGeom prst="rect">
            <a:avLst/>
          </a:prstGeom>
          <a:solidFill>
            <a:schemeClr val="bg1"/>
          </a:solidFill>
          <a:ln>
            <a:noFill/>
          </a:ln>
        </p:spPr>
        <p:txBody>
          <a:bodyPr wrap="none" lIns="0" tIns="0" rIns="0" bIns="0" rtlCol="0" anchor="ctr">
            <a:noAutofit/>
          </a:bodyPr>
          <a:lstStyle>
            <a:defPPr>
              <a:defRPr lang="en-US"/>
            </a:defPPr>
            <a:lvl1pPr marL="0" algn="ctr" defTabSz="228600" rtl="0" eaLnBrk="1" latinLnBrk="0" hangingPunct="1">
              <a:defRPr sz="700" i="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ES_tradnl" sz="700" b="0" i="1" u="none" strike="noStrike" kern="1200" cap="none" spc="0" normalizeH="0" baseline="0" noProof="0">
                <a:ln>
                  <a:noFill/>
                </a:ln>
                <a:solidFill>
                  <a:srgbClr val="000000"/>
                </a:solidFill>
                <a:effectLst/>
                <a:uLnTx/>
                <a:uFillTx/>
                <a:latin typeface="Graphik"/>
                <a:ea typeface="+mn-ea"/>
                <a:cs typeface="+mn-cs"/>
              </a:rPr>
              <a:t>To </a:t>
            </a:r>
            <a:r>
              <a:rPr kumimoji="0" lang="es-ES_tradnl" sz="700" b="0" i="1" u="none" strike="noStrike" kern="1200" cap="none" spc="0" normalizeH="0" baseline="0" noProof="0" err="1">
                <a:ln>
                  <a:noFill/>
                </a:ln>
                <a:solidFill>
                  <a:srgbClr val="000000"/>
                </a:solidFill>
                <a:effectLst/>
                <a:uLnTx/>
                <a:uFillTx/>
                <a:latin typeface="Graphik"/>
                <a:ea typeface="+mn-ea"/>
                <a:cs typeface="+mn-cs"/>
              </a:rPr>
              <a:t>Transactions</a:t>
            </a:r>
            <a:r>
              <a:rPr kumimoji="0" lang="es-ES_tradnl" sz="700" b="0" i="1" u="none" strike="noStrike" kern="1200" cap="none" spc="0" normalizeH="0" baseline="0" noProof="0">
                <a:ln>
                  <a:noFill/>
                </a:ln>
                <a:solidFill>
                  <a:srgbClr val="000000"/>
                </a:solidFill>
                <a:effectLst/>
                <a:uLnTx/>
                <a:uFillTx/>
                <a:latin typeface="Graphik"/>
                <a:ea typeface="+mn-ea"/>
                <a:cs typeface="+mn-cs"/>
              </a:rPr>
              <a:t> </a:t>
            </a: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ES_tradnl" sz="700" b="0" i="1" u="none" strike="noStrike" kern="1200" cap="none" spc="0" normalizeH="0" baseline="0" noProof="0" err="1">
                <a:ln>
                  <a:noFill/>
                </a:ln>
                <a:solidFill>
                  <a:srgbClr val="000000"/>
                </a:solidFill>
                <a:effectLst/>
                <a:uLnTx/>
                <a:uFillTx/>
                <a:latin typeface="Graphik"/>
                <a:ea typeface="+mn-ea"/>
                <a:cs typeface="+mn-cs"/>
              </a:rPr>
              <a:t>Database</a:t>
            </a:r>
            <a:endParaRPr kumimoji="0" lang="en-ES" sz="700" b="0" i="1" u="none" strike="noStrike" kern="1200" cap="none" spc="0" normalizeH="0" baseline="0" noProof="0">
              <a:ln>
                <a:noFill/>
              </a:ln>
              <a:solidFill>
                <a:srgbClr val="000000"/>
              </a:solidFill>
              <a:effectLst/>
              <a:uLnTx/>
              <a:uFillTx/>
              <a:latin typeface="Graphik"/>
              <a:ea typeface="+mn-ea"/>
              <a:cs typeface="+mn-cs"/>
            </a:endParaRPr>
          </a:p>
        </p:txBody>
      </p:sp>
      <p:sp>
        <p:nvSpPr>
          <p:cNvPr id="82" name="TextBox 177">
            <a:extLst>
              <a:ext uri="{FF2B5EF4-FFF2-40B4-BE49-F238E27FC236}">
                <a16:creationId xmlns:a16="http://schemas.microsoft.com/office/drawing/2014/main" id="{F07E32EF-EFAE-C8E8-3C7A-F1AD6F2BC6DC}"/>
              </a:ext>
            </a:extLst>
          </p:cNvPr>
          <p:cNvSpPr txBox="1"/>
          <p:nvPr/>
        </p:nvSpPr>
        <p:spPr>
          <a:xfrm>
            <a:off x="6571865" y="5153584"/>
            <a:ext cx="900000" cy="376293"/>
          </a:xfrm>
          <a:prstGeom prst="rect">
            <a:avLst/>
          </a:prstGeom>
          <a:solidFill>
            <a:schemeClr val="bg1"/>
          </a:solidFill>
          <a:ln>
            <a:noFill/>
          </a:ln>
        </p:spPr>
        <p:txBody>
          <a:bodyPr wrap="none" lIns="0" tIns="0" rIns="0" bIns="0" rtlCol="0" anchor="ctr">
            <a:noAutofit/>
          </a:bodyPr>
          <a:lstStyle>
            <a:defPPr>
              <a:defRPr lang="en-US"/>
            </a:defPPr>
            <a:lvl1pPr marL="0" algn="ctr" defTabSz="228600" rtl="0" eaLnBrk="1" latinLnBrk="0" hangingPunct="1">
              <a:defRPr sz="700" i="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ES_tradnl" sz="700" b="0" i="1" u="none" strike="noStrike" kern="1200" cap="none" spc="0" normalizeH="0" baseline="0" noProof="0" err="1">
                <a:ln>
                  <a:noFill/>
                </a:ln>
                <a:solidFill>
                  <a:srgbClr val="000000"/>
                </a:solidFill>
                <a:effectLst/>
                <a:uLnTx/>
                <a:uFillTx/>
                <a:latin typeface="Graphik"/>
                <a:ea typeface="+mn-ea"/>
                <a:cs typeface="+mn-cs"/>
              </a:rPr>
              <a:t>From</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ES_tradnl" sz="700" b="0" i="1" u="none" strike="noStrike" kern="1200" cap="none" spc="0" normalizeH="0" baseline="0" noProof="0" err="1">
                <a:ln>
                  <a:noFill/>
                </a:ln>
                <a:solidFill>
                  <a:srgbClr val="000000"/>
                </a:solidFill>
                <a:effectLst/>
                <a:uLnTx/>
                <a:uFillTx/>
                <a:latin typeface="Graphik"/>
                <a:ea typeface="+mn-ea"/>
                <a:cs typeface="+mn-cs"/>
              </a:rPr>
              <a:t>Transactional</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ES_tradnl" sz="700" b="0" i="1" u="none" strike="noStrike" kern="1200" cap="none" spc="0" normalizeH="0" baseline="0" noProof="0" err="1">
                <a:ln>
                  <a:noFill/>
                </a:ln>
                <a:solidFill>
                  <a:srgbClr val="000000"/>
                </a:solidFill>
                <a:effectLst/>
                <a:uLnTx/>
                <a:uFillTx/>
                <a:latin typeface="Graphik"/>
                <a:ea typeface="+mn-ea"/>
                <a:cs typeface="+mn-cs"/>
              </a:rPr>
              <a:t>Console</a:t>
            </a:r>
            <a:endParaRPr kumimoji="0" lang="en-ES" sz="700" b="0" i="1" u="none" strike="noStrike" kern="1200" cap="none" spc="0" normalizeH="0" baseline="0" noProof="0">
              <a:ln>
                <a:noFill/>
              </a:ln>
              <a:solidFill>
                <a:srgbClr val="000000"/>
              </a:solidFill>
              <a:effectLst/>
              <a:uLnTx/>
              <a:uFillTx/>
              <a:latin typeface="Graphik"/>
              <a:ea typeface="+mn-ea"/>
              <a:cs typeface="+mn-cs"/>
            </a:endParaRPr>
          </a:p>
        </p:txBody>
      </p:sp>
      <p:cxnSp>
        <p:nvCxnSpPr>
          <p:cNvPr id="83" name="Straight Arrow Connector 82">
            <a:extLst>
              <a:ext uri="{FF2B5EF4-FFF2-40B4-BE49-F238E27FC236}">
                <a16:creationId xmlns:a16="http://schemas.microsoft.com/office/drawing/2014/main" id="{6CDAA440-E93D-566E-D946-F3B3ADFE9E3D}"/>
              </a:ext>
            </a:extLst>
          </p:cNvPr>
          <p:cNvCxnSpPr>
            <a:cxnSpLocks/>
            <a:stCxn id="82" idx="0"/>
            <a:endCxn id="61" idx="3"/>
          </p:cNvCxnSpPr>
          <p:nvPr/>
        </p:nvCxnSpPr>
        <p:spPr>
          <a:xfrm flipV="1">
            <a:off x="7021865" y="4836630"/>
            <a:ext cx="7200" cy="316954"/>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5" name="TextBox 144">
            <a:extLst>
              <a:ext uri="{FF2B5EF4-FFF2-40B4-BE49-F238E27FC236}">
                <a16:creationId xmlns:a16="http://schemas.microsoft.com/office/drawing/2014/main" id="{12426334-B6E3-FAD8-7BF8-0E8BB08A00B9}"/>
              </a:ext>
            </a:extLst>
          </p:cNvPr>
          <p:cNvSpPr txBox="1"/>
          <p:nvPr/>
        </p:nvSpPr>
        <p:spPr>
          <a:xfrm>
            <a:off x="1616091" y="6216007"/>
            <a:ext cx="4462491" cy="246222"/>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sz="1000" b="0" i="1" u="none" strike="noStrike" kern="1200" cap="none" spc="0" normalizeH="0" baseline="0" noProof="0">
                <a:ln>
                  <a:noFill/>
                </a:ln>
                <a:solidFill>
                  <a:srgbClr val="000000"/>
                </a:solidFill>
                <a:effectLst/>
                <a:uLnTx/>
                <a:uFillTx/>
                <a:latin typeface="Graphik"/>
                <a:ea typeface="+mn-ea"/>
                <a:cs typeface="+mn-cs"/>
              </a:rPr>
              <a:t>Stack components are just examples. Other choices could be applicable</a:t>
            </a:r>
          </a:p>
        </p:txBody>
      </p:sp>
    </p:spTree>
    <p:extLst>
      <p:ext uri="{BB962C8B-B14F-4D97-AF65-F5344CB8AC3E}">
        <p14:creationId xmlns:p14="http://schemas.microsoft.com/office/powerpoint/2010/main" val="15109549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30DED-0894-96E2-449D-E76F8F7BEB1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593CE0E-28E7-15B3-1407-451674B47401}"/>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All rights reserved.</a:t>
            </a:r>
          </a:p>
        </p:txBody>
      </p:sp>
      <p:sp>
        <p:nvSpPr>
          <p:cNvPr id="4" name="Title 1">
            <a:extLst>
              <a:ext uri="{FF2B5EF4-FFF2-40B4-BE49-F238E27FC236}">
                <a16:creationId xmlns:a16="http://schemas.microsoft.com/office/drawing/2014/main" id="{A1F10A77-8294-DE64-10EC-B300A73765D7}"/>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Interoperability Asset </a:t>
            </a:r>
            <a:r>
              <a:rPr kumimoji="0" lang="en-US" sz="2400" b="1" i="0" u="none" strike="noStrike" kern="1200" cap="none" spc="0" normalizeH="0" baseline="0" noProof="0">
                <a:ln>
                  <a:noFill/>
                </a:ln>
                <a:solidFill>
                  <a:srgbClr val="000000"/>
                </a:solidFill>
                <a:effectLst/>
                <a:uLnTx/>
                <a:uFillTx/>
                <a:latin typeface="Graphik"/>
                <a:ea typeface="+mj-ea"/>
                <a:cs typeface="+mj-cs"/>
              </a:rPr>
              <a:t>| Transaction Management Scenarios</a:t>
            </a:r>
          </a:p>
        </p:txBody>
      </p:sp>
      <p:sp>
        <p:nvSpPr>
          <p:cNvPr id="5" name="Content Placeholder 34">
            <a:extLst>
              <a:ext uri="{FF2B5EF4-FFF2-40B4-BE49-F238E27FC236}">
                <a16:creationId xmlns:a16="http://schemas.microsoft.com/office/drawing/2014/main" id="{CE62231C-85B5-3C4B-7886-5743BF2E714C}"/>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Orchestrated Saga Pattern</a:t>
            </a:r>
          </a:p>
        </p:txBody>
      </p:sp>
      <p:grpSp>
        <p:nvGrpSpPr>
          <p:cNvPr id="89" name="Group 88">
            <a:extLst>
              <a:ext uri="{FF2B5EF4-FFF2-40B4-BE49-F238E27FC236}">
                <a16:creationId xmlns:a16="http://schemas.microsoft.com/office/drawing/2014/main" id="{58FE84ED-482A-7BC7-8CD6-FB782C3D94AC}"/>
              </a:ext>
            </a:extLst>
          </p:cNvPr>
          <p:cNvGrpSpPr/>
          <p:nvPr/>
        </p:nvGrpSpPr>
        <p:grpSpPr>
          <a:xfrm>
            <a:off x="470693" y="4002525"/>
            <a:ext cx="2256649" cy="1008057"/>
            <a:chOff x="381001" y="3948617"/>
            <a:chExt cx="2256649" cy="1008057"/>
          </a:xfrm>
        </p:grpSpPr>
        <p:sp>
          <p:nvSpPr>
            <p:cNvPr id="90" name="Cylinder 89">
              <a:extLst>
                <a:ext uri="{FF2B5EF4-FFF2-40B4-BE49-F238E27FC236}">
                  <a16:creationId xmlns:a16="http://schemas.microsoft.com/office/drawing/2014/main" id="{4DC9732F-49B2-28C6-727C-1B1A39D90EF7}"/>
                </a:ext>
              </a:extLst>
            </p:cNvPr>
            <p:cNvSpPr/>
            <p:nvPr/>
          </p:nvSpPr>
          <p:spPr>
            <a:xfrm>
              <a:off x="381001" y="4479004"/>
              <a:ext cx="1341022" cy="477670"/>
            </a:xfrm>
            <a:prstGeom prst="can">
              <a:avLst>
                <a:gd name="adj" fmla="val 15538"/>
              </a:avLst>
            </a:prstGeom>
            <a:solidFill>
              <a:schemeClr val="bg1">
                <a:lumMod val="75000"/>
              </a:schemeClr>
            </a:solidFill>
            <a:ln w="3175">
              <a:solidFill>
                <a:schemeClr val="tx1">
                  <a:lumMod val="50000"/>
                  <a:lumOff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6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rPr>
                <a:t>Oracle</a:t>
              </a:r>
            </a:p>
          </p:txBody>
        </p:sp>
        <p:sp>
          <p:nvSpPr>
            <p:cNvPr id="91" name="Rectangle 90">
              <a:extLst>
                <a:ext uri="{FF2B5EF4-FFF2-40B4-BE49-F238E27FC236}">
                  <a16:creationId xmlns:a16="http://schemas.microsoft.com/office/drawing/2014/main" id="{3ADE88C6-B4C6-5B2A-FC06-5AF815D304DB}"/>
                </a:ext>
              </a:extLst>
            </p:cNvPr>
            <p:cNvSpPr/>
            <p:nvPr/>
          </p:nvSpPr>
          <p:spPr>
            <a:xfrm>
              <a:off x="1773650" y="3948617"/>
              <a:ext cx="864000" cy="1002206"/>
            </a:xfrm>
            <a:prstGeom prst="rect">
              <a:avLst/>
            </a:prstGeom>
            <a:solidFill>
              <a:schemeClr val="tx1">
                <a:lumMod val="50000"/>
                <a:lumOff val="50000"/>
              </a:schemeClr>
            </a:solidFill>
            <a:ln w="19050">
              <a:no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lIns="0" r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1" i="0" u="none" strike="noStrike" kern="1200" cap="none" spc="0" normalizeH="0" baseline="0" noProof="0">
                  <a:ln>
                    <a:noFill/>
                  </a:ln>
                  <a:solidFill>
                    <a:srgbClr val="FFFFFF"/>
                  </a:solidFill>
                  <a:effectLst/>
                  <a:uLnTx/>
                  <a:uFillTx/>
                  <a:latin typeface="Graphik" panose="020B0503030202060203" pitchFamily="34" charset="77"/>
                  <a:ea typeface="+mn-ea"/>
                  <a:cs typeface="+mn-cs"/>
                </a:rPr>
                <a:t>Mainframe</a:t>
              </a:r>
            </a:p>
          </p:txBody>
        </p:sp>
        <p:sp>
          <p:nvSpPr>
            <p:cNvPr id="92" name="Flowchart: Magnetic Disk 91">
              <a:extLst>
                <a:ext uri="{FF2B5EF4-FFF2-40B4-BE49-F238E27FC236}">
                  <a16:creationId xmlns:a16="http://schemas.microsoft.com/office/drawing/2014/main" id="{A5633A25-DD3B-1103-85C9-094FF45FC693}"/>
                </a:ext>
              </a:extLst>
            </p:cNvPr>
            <p:cNvSpPr/>
            <p:nvPr/>
          </p:nvSpPr>
          <p:spPr>
            <a:xfrm>
              <a:off x="1900290" y="4297571"/>
              <a:ext cx="610720" cy="537424"/>
            </a:xfrm>
            <a:prstGeom prst="flowChartMagneticDisk">
              <a:avLst/>
            </a:prstGeom>
            <a:solidFill>
              <a:schemeClr val="bg1">
                <a:lumMod val="8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0526" tIns="45262" rIns="90526" bIns="4526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E6E6DC">
                      <a:lumMod val="25000"/>
                    </a:srgbClr>
                  </a:solidFill>
                  <a:effectLst/>
                  <a:uLnTx/>
                  <a:uFillTx/>
                  <a:latin typeface="Arial" panose="020B0604020202020204" pitchFamily="34" charset="0"/>
                  <a:ea typeface="+mn-ea"/>
                  <a:cs typeface="Arial" panose="020B0604020202020204" pitchFamily="34" charset="0"/>
                </a:rPr>
                <a:t>DB2</a:t>
              </a:r>
            </a:p>
          </p:txBody>
        </p:sp>
        <p:sp>
          <p:nvSpPr>
            <p:cNvPr id="93" name="Rectangle 92">
              <a:extLst>
                <a:ext uri="{FF2B5EF4-FFF2-40B4-BE49-F238E27FC236}">
                  <a16:creationId xmlns:a16="http://schemas.microsoft.com/office/drawing/2014/main" id="{6C2445C1-B08E-7293-CBB6-616B4A6B20EF}"/>
                </a:ext>
              </a:extLst>
            </p:cNvPr>
            <p:cNvSpPr/>
            <p:nvPr/>
          </p:nvSpPr>
          <p:spPr>
            <a:xfrm>
              <a:off x="386442" y="3948617"/>
              <a:ext cx="1330140" cy="477671"/>
            </a:xfrm>
            <a:prstGeom prst="rect">
              <a:avLst/>
            </a:prstGeom>
            <a:solidFill>
              <a:srgbClr val="FFCC99"/>
            </a:solidFill>
            <a:ln w="9525">
              <a:solidFill>
                <a:schemeClr val="bg1">
                  <a:lumMod val="9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Ins="25200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s-ES" sz="800" b="1" i="0" u="none" strike="noStrike" kern="1200" cap="none" spc="0" normalizeH="0" baseline="0" noProof="0">
                <a:ln>
                  <a:noFill/>
                </a:ln>
                <a:solidFill>
                  <a:srgbClr val="000000">
                    <a:lumMod val="75000"/>
                    <a:lumOff val="25000"/>
                  </a:srgbClr>
                </a:solidFill>
                <a:effectLst/>
                <a:uLnTx/>
                <a:uFillTx/>
                <a:latin typeface="Arial" charset="0"/>
                <a:ea typeface="+mn-ea"/>
                <a:cs typeface="Arial" charset="0"/>
              </a:endParaRPr>
            </a:p>
          </p:txBody>
        </p:sp>
        <p:sp>
          <p:nvSpPr>
            <p:cNvPr id="94" name="Cylinder 93">
              <a:extLst>
                <a:ext uri="{FF2B5EF4-FFF2-40B4-BE49-F238E27FC236}">
                  <a16:creationId xmlns:a16="http://schemas.microsoft.com/office/drawing/2014/main" id="{F657D3D2-DF1F-1247-EDE7-317D101ADF9E}"/>
                </a:ext>
              </a:extLst>
            </p:cNvPr>
            <p:cNvSpPr/>
            <p:nvPr/>
          </p:nvSpPr>
          <p:spPr>
            <a:xfrm>
              <a:off x="793053" y="4590360"/>
              <a:ext cx="516918" cy="329853"/>
            </a:xfrm>
            <a:prstGeom prst="can">
              <a:avLst/>
            </a:prstGeom>
            <a:solidFill>
              <a:schemeClr val="bg1">
                <a:lumMod val="95000"/>
              </a:schemeClr>
            </a:solidFill>
            <a:ln w="9525">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6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rPr>
                <a:t>DB </a:t>
              </a:r>
              <a:r>
                <a:rPr kumimoji="0" lang="es-ES" sz="600" b="1" i="0" u="none" strike="noStrike" kern="1200" cap="none" spc="0" normalizeH="0" baseline="0" noProof="0" err="1">
                  <a:ln>
                    <a:noFill/>
                  </a:ln>
                  <a:solidFill>
                    <a:srgbClr val="000000">
                      <a:lumMod val="50000"/>
                      <a:lumOff val="50000"/>
                    </a:srgbClr>
                  </a:solidFill>
                  <a:effectLst/>
                  <a:uLnTx/>
                  <a:uFillTx/>
                  <a:latin typeface="Graphik" panose="020B0503030202060203" pitchFamily="34" charset="77"/>
                  <a:ea typeface="+mn-ea"/>
                  <a:cs typeface="+mn-cs"/>
                </a:rPr>
                <a:t>Schema</a:t>
              </a:r>
              <a:endParaRPr kumimoji="0" lang="es-ES" sz="6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95" name="Rectangle 94">
              <a:extLst>
                <a:ext uri="{FF2B5EF4-FFF2-40B4-BE49-F238E27FC236}">
                  <a16:creationId xmlns:a16="http://schemas.microsoft.com/office/drawing/2014/main" id="{98A5B844-59E1-EC22-B0F3-9F1D77813B02}"/>
                </a:ext>
              </a:extLst>
            </p:cNvPr>
            <p:cNvSpPr/>
            <p:nvPr/>
          </p:nvSpPr>
          <p:spPr>
            <a:xfrm>
              <a:off x="574757" y="3993614"/>
              <a:ext cx="953511" cy="387674"/>
            </a:xfrm>
            <a:prstGeom prst="rect">
              <a:avLst/>
            </a:prstGeom>
            <a:solidFill>
              <a:srgbClr val="E3DED1">
                <a:lumMod val="90000"/>
              </a:srgbClr>
            </a:solidFill>
            <a:ln w="12700" cap="flat" cmpd="sng" algn="ctr">
              <a:solidFill>
                <a:sysClr val="window" lastClr="FFFFFF">
                  <a:lumMod val="95000"/>
                </a:sysClr>
              </a:solidFill>
              <a:prstDash val="sysDot"/>
              <a:headEnd type="none" w="med" len="med"/>
              <a:tailEnd type="none" w="med" len="med"/>
            </a:ln>
            <a:effectLst/>
          </p:spPr>
          <p:txBody>
            <a:bodyPr t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700" b="1" i="0" u="none" strike="noStrike" kern="0" cap="none" spc="0" normalizeH="0" baseline="0" noProof="0" err="1">
                  <a:ln>
                    <a:noFill/>
                  </a:ln>
                  <a:solidFill>
                    <a:prstClr val="white"/>
                  </a:solidFill>
                  <a:effectLst/>
                  <a:uLnTx/>
                  <a:uFillTx/>
                  <a:latin typeface="Graphik" panose="020B0503030202060203" pitchFamily="34" charset="77"/>
                  <a:ea typeface="+mn-ea"/>
                  <a:cs typeface="+mn-cs"/>
                </a:rPr>
                <a:t>Subdomain</a:t>
              </a:r>
              <a:endParaRPr kumimoji="0" lang="es-ES" sz="700" b="1" i="0" u="none" strike="noStrike" kern="0" cap="none" spc="0" normalizeH="0" baseline="0" noProof="0">
                <a:ln>
                  <a:noFill/>
                </a:ln>
                <a:solidFill>
                  <a:prstClr val="white"/>
                </a:solidFill>
                <a:effectLst/>
                <a:uLnTx/>
                <a:uFillTx/>
                <a:latin typeface="Graphik" panose="020B0503030202060203" pitchFamily="34" charset="77"/>
                <a:ea typeface="+mn-ea"/>
                <a:cs typeface="+mn-cs"/>
              </a:endParaRPr>
            </a:p>
          </p:txBody>
        </p:sp>
        <p:sp>
          <p:nvSpPr>
            <p:cNvPr id="96" name="Oval 95">
              <a:extLst>
                <a:ext uri="{FF2B5EF4-FFF2-40B4-BE49-F238E27FC236}">
                  <a16:creationId xmlns:a16="http://schemas.microsoft.com/office/drawing/2014/main" id="{9B36AB16-0733-9052-3674-C7056FB9C7E6}"/>
                </a:ext>
              </a:extLst>
            </p:cNvPr>
            <p:cNvSpPr/>
            <p:nvPr/>
          </p:nvSpPr>
          <p:spPr bwMode="auto">
            <a:xfrm>
              <a:off x="793534" y="4151679"/>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n-U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Service</a:t>
              </a:r>
            </a:p>
          </p:txBody>
        </p:sp>
        <p:cxnSp>
          <p:nvCxnSpPr>
            <p:cNvPr id="97" name="Straight Arrow Connector 96">
              <a:extLst>
                <a:ext uri="{FF2B5EF4-FFF2-40B4-BE49-F238E27FC236}">
                  <a16:creationId xmlns:a16="http://schemas.microsoft.com/office/drawing/2014/main" id="{7B5F3A8B-BE94-21FB-A790-BBACDF316F0F}"/>
                </a:ext>
              </a:extLst>
            </p:cNvPr>
            <p:cNvCxnSpPr>
              <a:cxnSpLocks/>
            </p:cNvCxnSpPr>
            <p:nvPr/>
          </p:nvCxnSpPr>
          <p:spPr>
            <a:xfrm>
              <a:off x="1051512" y="4347590"/>
              <a:ext cx="0" cy="262829"/>
            </a:xfrm>
            <a:prstGeom prst="straightConnector1">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grpSp>
      <p:sp>
        <p:nvSpPr>
          <p:cNvPr id="98" name="Text Placeholder 4">
            <a:extLst>
              <a:ext uri="{FF2B5EF4-FFF2-40B4-BE49-F238E27FC236}">
                <a16:creationId xmlns:a16="http://schemas.microsoft.com/office/drawing/2014/main" id="{0E1789D3-4A75-9A79-6BA8-ABF62BBF00C5}"/>
              </a:ext>
            </a:extLst>
          </p:cNvPr>
          <p:cNvSpPr txBox="1">
            <a:spLocks/>
          </p:cNvSpPr>
          <p:nvPr/>
        </p:nvSpPr>
        <p:spPr>
          <a:xfrm>
            <a:off x="189663" y="1348742"/>
            <a:ext cx="2818709" cy="797457"/>
          </a:xfrm>
          <a:prstGeom prst="rect">
            <a:avLst/>
          </a:prstGeom>
        </p:spPr>
        <p:txBody>
          <a:bodyPr vert="horz" lIns="0" tIns="0" rIns="0" bIns="0" rtlCol="0" anchor="ctr">
            <a:noAutofit/>
          </a:bodyPr>
          <a:lstStyle>
            <a:lvl1pPr marL="0" indent="0" algn="l" rtl="0" eaLnBrk="1" fontAlgn="base" hangingPunct="1">
              <a:lnSpc>
                <a:spcPct val="110000"/>
              </a:lnSpc>
              <a:spcBef>
                <a:spcPts val="1200"/>
              </a:spcBef>
              <a:spcAft>
                <a:spcPct val="0"/>
              </a:spcAft>
              <a:buFont typeface="Arial" pitchFamily="34" charset="0"/>
              <a:buNone/>
              <a:defRPr lang="en-US" sz="1600" b="1" i="0" kern="1200" cap="all" baseline="0" dirty="0">
                <a:solidFill>
                  <a:schemeClr val="accent1"/>
                </a:solidFill>
                <a:latin typeface="Graphik"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itchFamily="34" charset="0"/>
              <a:buNone/>
              <a:tabLst/>
              <a:defRPr/>
            </a:pPr>
            <a:r>
              <a:rPr kumimoji="0" lang="en-US" sz="1200" b="1" i="0" u="none" strike="noStrike" kern="1200" cap="all" spc="0" normalizeH="0" baseline="0" noProof="0">
                <a:ln>
                  <a:noFill/>
                </a:ln>
                <a:solidFill>
                  <a:srgbClr val="00D700"/>
                </a:solidFill>
                <a:effectLst/>
                <a:uLnTx/>
                <a:uFillTx/>
                <a:latin typeface="Graphik" panose="020B0503030202060203" pitchFamily="34" charset="77"/>
                <a:ea typeface="Roboto" panose="02000000000000000000" pitchFamily="2" charset="0"/>
                <a:cs typeface="Arial" panose="020B0604020202020204" pitchFamily="34" charset="0"/>
              </a:rPr>
              <a:t>2PC Transaction within the same Service </a:t>
            </a:r>
            <a:br>
              <a:rPr kumimoji="0" lang="en-US" sz="1200" b="1" i="0" u="none" strike="noStrike" kern="1200" cap="all" spc="0" normalizeH="0" baseline="0" noProof="0">
                <a:ln>
                  <a:noFill/>
                </a:ln>
                <a:solidFill>
                  <a:srgbClr val="00D700"/>
                </a:solidFill>
                <a:effectLst/>
                <a:uLnTx/>
                <a:uFillTx/>
                <a:latin typeface="Graphik" panose="020B0503030202060203" pitchFamily="34" charset="77"/>
                <a:ea typeface="Roboto" panose="02000000000000000000" pitchFamily="2" charset="0"/>
                <a:cs typeface="Arial" panose="020B0604020202020204" pitchFamily="34" charset="0"/>
              </a:rPr>
            </a:br>
            <a:r>
              <a:rPr kumimoji="0" lang="en-US" sz="1200" b="1" i="0" u="none" strike="noStrike" kern="1200" cap="all" spc="0" normalizeH="0" baseline="0" noProof="0">
                <a:ln>
                  <a:noFill/>
                </a:ln>
                <a:solidFill>
                  <a:srgbClr val="00D700"/>
                </a:solidFill>
                <a:effectLst/>
                <a:uLnTx/>
                <a:uFillTx/>
                <a:latin typeface="Graphik" panose="020B0503030202060203" pitchFamily="34" charset="77"/>
                <a:ea typeface="Roboto" panose="02000000000000000000" pitchFamily="2" charset="0"/>
                <a:cs typeface="Arial" panose="020B0604020202020204" pitchFamily="34" charset="0"/>
              </a:rPr>
              <a:t>(Business or Orchestration)</a:t>
            </a:r>
            <a:endParaRPr kumimoji="0" lang="es-ES" sz="1600" b="1" i="0" u="none" strike="noStrike" kern="1200" cap="all" spc="0" normalizeH="0" baseline="0" noProof="0">
              <a:ln>
                <a:noFill/>
              </a:ln>
              <a:solidFill>
                <a:srgbClr val="00D700"/>
              </a:solidFill>
              <a:effectLst/>
              <a:uLnTx/>
              <a:uFillTx/>
              <a:latin typeface="Graphik" panose="020B0503030202060203" pitchFamily="34" charset="77"/>
              <a:ea typeface="Roboto" panose="02000000000000000000" pitchFamily="2" charset="0"/>
              <a:cs typeface="Arial" panose="020B0604020202020204" pitchFamily="34" charset="0"/>
            </a:endParaRPr>
          </a:p>
        </p:txBody>
      </p:sp>
      <p:grpSp>
        <p:nvGrpSpPr>
          <p:cNvPr id="99" name="Group 98">
            <a:extLst>
              <a:ext uri="{FF2B5EF4-FFF2-40B4-BE49-F238E27FC236}">
                <a16:creationId xmlns:a16="http://schemas.microsoft.com/office/drawing/2014/main" id="{944FB187-2768-326E-0233-C7EAD4C01D7C}"/>
              </a:ext>
            </a:extLst>
          </p:cNvPr>
          <p:cNvGrpSpPr/>
          <p:nvPr/>
        </p:nvGrpSpPr>
        <p:grpSpPr>
          <a:xfrm>
            <a:off x="3221740" y="3996674"/>
            <a:ext cx="2638760" cy="1764771"/>
            <a:chOff x="3176138" y="3942766"/>
            <a:chExt cx="2638760" cy="1764771"/>
          </a:xfrm>
        </p:grpSpPr>
        <p:sp>
          <p:nvSpPr>
            <p:cNvPr id="100" name="Cylinder 99">
              <a:extLst>
                <a:ext uri="{FF2B5EF4-FFF2-40B4-BE49-F238E27FC236}">
                  <a16:creationId xmlns:a16="http://schemas.microsoft.com/office/drawing/2014/main" id="{6E41A6F4-265C-A7F4-00CC-908C84B5CEE8}"/>
                </a:ext>
              </a:extLst>
            </p:cNvPr>
            <p:cNvSpPr/>
            <p:nvPr/>
          </p:nvSpPr>
          <p:spPr>
            <a:xfrm>
              <a:off x="3176138" y="5229867"/>
              <a:ext cx="1723025" cy="477670"/>
            </a:xfrm>
            <a:prstGeom prst="can">
              <a:avLst>
                <a:gd name="adj" fmla="val 15538"/>
              </a:avLst>
            </a:prstGeom>
            <a:solidFill>
              <a:schemeClr val="bg1">
                <a:lumMod val="75000"/>
              </a:schemeClr>
            </a:solidFill>
            <a:ln w="3175">
              <a:solidFill>
                <a:schemeClr val="tx1">
                  <a:lumMod val="50000"/>
                  <a:lumOff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6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rPr>
                <a:t>Oracle</a:t>
              </a:r>
            </a:p>
          </p:txBody>
        </p:sp>
        <p:sp>
          <p:nvSpPr>
            <p:cNvPr id="101" name="Rectangle 100">
              <a:extLst>
                <a:ext uri="{FF2B5EF4-FFF2-40B4-BE49-F238E27FC236}">
                  <a16:creationId xmlns:a16="http://schemas.microsoft.com/office/drawing/2014/main" id="{0972B8D9-33F4-DE69-AA66-31495BDB5AF4}"/>
                </a:ext>
              </a:extLst>
            </p:cNvPr>
            <p:cNvSpPr/>
            <p:nvPr/>
          </p:nvSpPr>
          <p:spPr>
            <a:xfrm>
              <a:off x="4950898" y="3942766"/>
              <a:ext cx="864000" cy="1002206"/>
            </a:xfrm>
            <a:prstGeom prst="rect">
              <a:avLst/>
            </a:prstGeom>
            <a:solidFill>
              <a:schemeClr val="tx1">
                <a:lumMod val="50000"/>
                <a:lumOff val="50000"/>
              </a:schemeClr>
            </a:solidFill>
            <a:ln w="19050">
              <a:no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lIns="0" r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1" i="0" u="none" strike="noStrike" kern="1200" cap="none" spc="0" normalizeH="0" baseline="0" noProof="0">
                  <a:ln>
                    <a:noFill/>
                  </a:ln>
                  <a:solidFill>
                    <a:srgbClr val="FFFFFF"/>
                  </a:solidFill>
                  <a:effectLst/>
                  <a:uLnTx/>
                  <a:uFillTx/>
                  <a:latin typeface="Graphik" panose="020B0503030202060203" pitchFamily="34" charset="77"/>
                  <a:ea typeface="+mn-ea"/>
                  <a:cs typeface="+mn-cs"/>
                </a:rPr>
                <a:t>Mainframe</a:t>
              </a:r>
            </a:p>
          </p:txBody>
        </p:sp>
        <p:sp>
          <p:nvSpPr>
            <p:cNvPr id="102" name="Flowchart: Magnetic Disk 101">
              <a:extLst>
                <a:ext uri="{FF2B5EF4-FFF2-40B4-BE49-F238E27FC236}">
                  <a16:creationId xmlns:a16="http://schemas.microsoft.com/office/drawing/2014/main" id="{61874D7A-9575-66ED-0B60-C26E4E60E610}"/>
                </a:ext>
              </a:extLst>
            </p:cNvPr>
            <p:cNvSpPr/>
            <p:nvPr/>
          </p:nvSpPr>
          <p:spPr>
            <a:xfrm>
              <a:off x="5077538" y="4291720"/>
              <a:ext cx="610720" cy="537424"/>
            </a:xfrm>
            <a:prstGeom prst="flowChartMagneticDisk">
              <a:avLst/>
            </a:prstGeom>
            <a:solidFill>
              <a:schemeClr val="bg1">
                <a:lumMod val="8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0526" tIns="45262" rIns="90526" bIns="4526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E6E6DC">
                      <a:lumMod val="25000"/>
                    </a:srgbClr>
                  </a:solidFill>
                  <a:effectLst/>
                  <a:uLnTx/>
                  <a:uFillTx/>
                  <a:latin typeface="Arial" panose="020B0604020202020204" pitchFamily="34" charset="0"/>
                  <a:ea typeface="+mn-ea"/>
                  <a:cs typeface="Arial" panose="020B0604020202020204" pitchFamily="34" charset="0"/>
                </a:rPr>
                <a:t>DB2</a:t>
              </a:r>
            </a:p>
          </p:txBody>
        </p:sp>
        <p:sp>
          <p:nvSpPr>
            <p:cNvPr id="103" name="Rectangle 102">
              <a:extLst>
                <a:ext uri="{FF2B5EF4-FFF2-40B4-BE49-F238E27FC236}">
                  <a16:creationId xmlns:a16="http://schemas.microsoft.com/office/drawing/2014/main" id="{47987052-1B34-A4FF-258F-F6BF5BAF4495}"/>
                </a:ext>
              </a:extLst>
            </p:cNvPr>
            <p:cNvSpPr/>
            <p:nvPr/>
          </p:nvSpPr>
          <p:spPr>
            <a:xfrm>
              <a:off x="3176139" y="3942766"/>
              <a:ext cx="1723025" cy="1181684"/>
            </a:xfrm>
            <a:prstGeom prst="rect">
              <a:avLst/>
            </a:prstGeom>
            <a:solidFill>
              <a:srgbClr val="FFCC99"/>
            </a:solidFill>
            <a:ln w="9525">
              <a:solidFill>
                <a:schemeClr val="bg1">
                  <a:lumMod val="9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Ins="25200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s-ES" sz="800" b="1" i="0" u="none" strike="noStrike" kern="1200" cap="none" spc="0" normalizeH="0" baseline="0" noProof="0">
                <a:ln>
                  <a:noFill/>
                </a:ln>
                <a:solidFill>
                  <a:srgbClr val="000000">
                    <a:lumMod val="75000"/>
                    <a:lumOff val="25000"/>
                  </a:srgbClr>
                </a:solidFill>
                <a:effectLst/>
                <a:uLnTx/>
                <a:uFillTx/>
                <a:latin typeface="Arial" charset="0"/>
                <a:ea typeface="+mn-ea"/>
                <a:cs typeface="Arial" charset="0"/>
              </a:endParaRPr>
            </a:p>
          </p:txBody>
        </p:sp>
        <p:sp>
          <p:nvSpPr>
            <p:cNvPr id="104" name="Cylinder 103">
              <a:extLst>
                <a:ext uri="{FF2B5EF4-FFF2-40B4-BE49-F238E27FC236}">
                  <a16:creationId xmlns:a16="http://schemas.microsoft.com/office/drawing/2014/main" id="{E18C9D23-C214-3DA2-E270-6555112A7E82}"/>
                </a:ext>
              </a:extLst>
            </p:cNvPr>
            <p:cNvSpPr/>
            <p:nvPr/>
          </p:nvSpPr>
          <p:spPr>
            <a:xfrm>
              <a:off x="3588191" y="5353923"/>
              <a:ext cx="516918" cy="329853"/>
            </a:xfrm>
            <a:prstGeom prst="can">
              <a:avLst/>
            </a:prstGeom>
            <a:solidFill>
              <a:schemeClr val="bg1">
                <a:lumMod val="95000"/>
              </a:schemeClr>
            </a:solidFill>
            <a:ln w="9525">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rPr>
                <a:t>DB </a:t>
              </a:r>
              <a:r>
                <a:rPr kumimoji="0" lang="es-ES" sz="500" b="1" i="0" u="none" strike="noStrike" kern="1200" cap="none" spc="0" normalizeH="0" baseline="0" noProof="0" err="1">
                  <a:ln>
                    <a:noFill/>
                  </a:ln>
                  <a:solidFill>
                    <a:srgbClr val="000000">
                      <a:lumMod val="50000"/>
                      <a:lumOff val="50000"/>
                    </a:srgbClr>
                  </a:solidFill>
                  <a:effectLst/>
                  <a:uLnTx/>
                  <a:uFillTx/>
                  <a:latin typeface="Graphik" panose="020B0503030202060203" pitchFamily="34" charset="77"/>
                  <a:ea typeface="+mn-ea"/>
                  <a:cs typeface="+mn-cs"/>
                </a:rPr>
                <a:t>Schema</a:t>
              </a:r>
              <a:endParaRPr kumimoji="0" lang="es-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05" name="Rectangle 104">
              <a:extLst>
                <a:ext uri="{FF2B5EF4-FFF2-40B4-BE49-F238E27FC236}">
                  <a16:creationId xmlns:a16="http://schemas.microsoft.com/office/drawing/2014/main" id="{9A42CFC7-56BE-2A51-4AB9-9017D20CC49A}"/>
                </a:ext>
              </a:extLst>
            </p:cNvPr>
            <p:cNvSpPr/>
            <p:nvPr/>
          </p:nvSpPr>
          <p:spPr>
            <a:xfrm>
              <a:off x="3364455" y="3987762"/>
              <a:ext cx="1483911" cy="838328"/>
            </a:xfrm>
            <a:prstGeom prst="rect">
              <a:avLst/>
            </a:prstGeom>
            <a:solidFill>
              <a:srgbClr val="E3DED1">
                <a:lumMod val="90000"/>
              </a:srgbClr>
            </a:solidFill>
            <a:ln w="12700" cap="flat" cmpd="sng" algn="ctr">
              <a:solidFill>
                <a:sysClr val="window" lastClr="FFFFFF">
                  <a:lumMod val="95000"/>
                </a:sysClr>
              </a:solidFill>
              <a:prstDash val="sysDot"/>
              <a:headEnd type="none" w="med" len="med"/>
              <a:tailEnd type="none" w="med" len="med"/>
            </a:ln>
            <a:effectLst/>
          </p:spPr>
          <p:txBody>
            <a:bodyPr t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700" b="1" i="0" u="none" strike="noStrike" kern="0" cap="none" spc="0" normalizeH="0" baseline="0" noProof="0" err="1">
                  <a:ln>
                    <a:noFill/>
                  </a:ln>
                  <a:solidFill>
                    <a:prstClr val="white"/>
                  </a:solidFill>
                  <a:effectLst/>
                  <a:uLnTx/>
                  <a:uFillTx/>
                  <a:latin typeface="Graphik" panose="020B0503030202060203" pitchFamily="34" charset="77"/>
                  <a:ea typeface="+mn-ea"/>
                  <a:cs typeface="+mn-cs"/>
                </a:rPr>
                <a:t>Subdomain</a:t>
              </a:r>
              <a:endParaRPr kumimoji="0" lang="es-ES" sz="700" b="1" i="0" u="none" strike="noStrike" kern="0" cap="none" spc="0" normalizeH="0" baseline="0" noProof="0">
                <a:ln>
                  <a:noFill/>
                </a:ln>
                <a:solidFill>
                  <a:prstClr val="white"/>
                </a:solidFill>
                <a:effectLst/>
                <a:uLnTx/>
                <a:uFillTx/>
                <a:latin typeface="Graphik" panose="020B0503030202060203" pitchFamily="34" charset="77"/>
                <a:ea typeface="+mn-ea"/>
                <a:cs typeface="+mn-cs"/>
              </a:endParaRPr>
            </a:p>
          </p:txBody>
        </p:sp>
        <p:grpSp>
          <p:nvGrpSpPr>
            <p:cNvPr id="106" name="Group 105">
              <a:extLst>
                <a:ext uri="{FF2B5EF4-FFF2-40B4-BE49-F238E27FC236}">
                  <a16:creationId xmlns:a16="http://schemas.microsoft.com/office/drawing/2014/main" id="{ECF6BB36-2F34-A258-7EC4-51FD9B441DCA}"/>
                </a:ext>
              </a:extLst>
            </p:cNvPr>
            <p:cNvGrpSpPr/>
            <p:nvPr/>
          </p:nvGrpSpPr>
          <p:grpSpPr>
            <a:xfrm>
              <a:off x="3401640" y="4160881"/>
              <a:ext cx="1416101" cy="710205"/>
              <a:chOff x="2651314" y="5072928"/>
              <a:chExt cx="1416101" cy="710205"/>
            </a:xfrm>
          </p:grpSpPr>
          <p:sp>
            <p:nvSpPr>
              <p:cNvPr id="110" name="Oval 109">
                <a:extLst>
                  <a:ext uri="{FF2B5EF4-FFF2-40B4-BE49-F238E27FC236}">
                    <a16:creationId xmlns:a16="http://schemas.microsoft.com/office/drawing/2014/main" id="{3A64684F-9F2E-B696-DA3A-9ED26897D939}"/>
                  </a:ext>
                </a:extLst>
              </p:cNvPr>
              <p:cNvSpPr/>
              <p:nvPr/>
            </p:nvSpPr>
            <p:spPr bwMode="auto">
              <a:xfrm>
                <a:off x="3041061" y="5072928"/>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n-U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Service</a:t>
                </a:r>
              </a:p>
            </p:txBody>
          </p:sp>
          <p:sp>
            <p:nvSpPr>
              <p:cNvPr id="111" name="Oval 110">
                <a:extLst>
                  <a:ext uri="{FF2B5EF4-FFF2-40B4-BE49-F238E27FC236}">
                    <a16:creationId xmlns:a16="http://schemas.microsoft.com/office/drawing/2014/main" id="{33550CB0-659F-F78D-800A-FA4A9CA1B568}"/>
                  </a:ext>
                </a:extLst>
              </p:cNvPr>
              <p:cNvSpPr/>
              <p:nvPr/>
            </p:nvSpPr>
            <p:spPr bwMode="auto">
              <a:xfrm>
                <a:off x="2651314" y="5504575"/>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n-U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Service</a:t>
                </a:r>
              </a:p>
            </p:txBody>
          </p:sp>
          <p:sp>
            <p:nvSpPr>
              <p:cNvPr id="112" name="Oval 111">
                <a:extLst>
                  <a:ext uri="{FF2B5EF4-FFF2-40B4-BE49-F238E27FC236}">
                    <a16:creationId xmlns:a16="http://schemas.microsoft.com/office/drawing/2014/main" id="{068845D3-206F-C53F-10ED-AB1FD203477F}"/>
                  </a:ext>
                </a:extLst>
              </p:cNvPr>
              <p:cNvSpPr/>
              <p:nvPr/>
            </p:nvSpPr>
            <p:spPr bwMode="auto">
              <a:xfrm>
                <a:off x="3551458" y="5477170"/>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n-U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Service</a:t>
                </a:r>
              </a:p>
            </p:txBody>
          </p:sp>
          <p:cxnSp>
            <p:nvCxnSpPr>
              <p:cNvPr id="113" name="Straight Arrow Connector 65">
                <a:extLst>
                  <a:ext uri="{FF2B5EF4-FFF2-40B4-BE49-F238E27FC236}">
                    <a16:creationId xmlns:a16="http://schemas.microsoft.com/office/drawing/2014/main" id="{2CC8163C-1C01-7737-A909-173F444DBBE0}"/>
                  </a:ext>
                </a:extLst>
              </p:cNvPr>
              <p:cNvCxnSpPr>
                <a:cxnSpLocks/>
                <a:stCxn id="110" idx="4"/>
                <a:endCxn id="112" idx="0"/>
              </p:cNvCxnSpPr>
              <p:nvPr/>
            </p:nvCxnSpPr>
            <p:spPr>
              <a:xfrm rot="16200000" flipH="1">
                <a:off x="3452440" y="5120172"/>
                <a:ext cx="203597" cy="510397"/>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68">
                <a:extLst>
                  <a:ext uri="{FF2B5EF4-FFF2-40B4-BE49-F238E27FC236}">
                    <a16:creationId xmlns:a16="http://schemas.microsoft.com/office/drawing/2014/main" id="{1B3909C4-A838-2522-CB74-845D44A10503}"/>
                  </a:ext>
                </a:extLst>
              </p:cNvPr>
              <p:cNvCxnSpPr>
                <a:cxnSpLocks/>
                <a:stCxn id="110" idx="4"/>
                <a:endCxn id="111" idx="0"/>
              </p:cNvCxnSpPr>
              <p:nvPr/>
            </p:nvCxnSpPr>
            <p:spPr>
              <a:xfrm rot="5400000">
                <a:off x="2988666" y="5194201"/>
                <a:ext cx="231002" cy="389747"/>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68">
                <a:extLst>
                  <a:ext uri="{FF2B5EF4-FFF2-40B4-BE49-F238E27FC236}">
                    <a16:creationId xmlns:a16="http://schemas.microsoft.com/office/drawing/2014/main" id="{F8DBF7E6-9028-924D-F580-63F50E4D0CA6}"/>
                  </a:ext>
                </a:extLst>
              </p:cNvPr>
              <p:cNvCxnSpPr>
                <a:cxnSpLocks/>
                <a:stCxn id="111" idx="6"/>
              </p:cNvCxnSpPr>
              <p:nvPr/>
            </p:nvCxnSpPr>
            <p:spPr>
              <a:xfrm>
                <a:off x="3167271" y="5604898"/>
                <a:ext cx="139305" cy="178235"/>
              </a:xfrm>
              <a:prstGeom prst="bentConnector2">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07" name="Straight Arrow Connector 68">
              <a:extLst>
                <a:ext uri="{FF2B5EF4-FFF2-40B4-BE49-F238E27FC236}">
                  <a16:creationId xmlns:a16="http://schemas.microsoft.com/office/drawing/2014/main" id="{1E7AC2E9-9E6B-3A43-BDA5-19157CB04F26}"/>
                </a:ext>
              </a:extLst>
            </p:cNvPr>
            <p:cNvCxnSpPr>
              <a:cxnSpLocks/>
              <a:stCxn id="111" idx="4"/>
              <a:endCxn id="104" idx="1"/>
            </p:cNvCxnSpPr>
            <p:nvPr/>
          </p:nvCxnSpPr>
          <p:spPr>
            <a:xfrm rot="16200000" flipH="1">
              <a:off x="3472759" y="4980032"/>
              <a:ext cx="560750" cy="187031"/>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68">
              <a:extLst>
                <a:ext uri="{FF2B5EF4-FFF2-40B4-BE49-F238E27FC236}">
                  <a16:creationId xmlns:a16="http://schemas.microsoft.com/office/drawing/2014/main" id="{C76571E0-20F7-92CE-B823-4C7C76FD8A45}"/>
                </a:ext>
              </a:extLst>
            </p:cNvPr>
            <p:cNvCxnSpPr>
              <a:cxnSpLocks/>
              <a:stCxn id="112" idx="4"/>
              <a:endCxn id="104" idx="1"/>
            </p:cNvCxnSpPr>
            <p:nvPr/>
          </p:nvCxnSpPr>
          <p:spPr>
            <a:xfrm rot="5400000">
              <a:off x="3909130" y="4703289"/>
              <a:ext cx="588155" cy="713113"/>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sp>
          <p:nvSpPr>
            <p:cNvPr id="109" name="Cylinder 108">
              <a:extLst>
                <a:ext uri="{FF2B5EF4-FFF2-40B4-BE49-F238E27FC236}">
                  <a16:creationId xmlns:a16="http://schemas.microsoft.com/office/drawing/2014/main" id="{B8FC7111-A725-F84B-3A30-1F756E6AA4E7}"/>
                </a:ext>
              </a:extLst>
            </p:cNvPr>
            <p:cNvSpPr/>
            <p:nvPr/>
          </p:nvSpPr>
          <p:spPr>
            <a:xfrm rot="16200000">
              <a:off x="4067029" y="4705927"/>
              <a:ext cx="150238" cy="490889"/>
            </a:xfrm>
            <a:prstGeom prst="can">
              <a:avLst/>
            </a:prstGeom>
            <a:solidFill>
              <a:srgbClr val="99CCFF"/>
            </a:solidFill>
            <a:ln w="6350">
              <a:solidFill>
                <a:srgbClr val="00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srgbClr val="FFFFFF"/>
                </a:solidFill>
                <a:effectLst/>
                <a:uLnTx/>
                <a:uFillTx/>
                <a:latin typeface="Graphik"/>
                <a:ea typeface="+mn-ea"/>
                <a:cs typeface="+mn-cs"/>
              </a:endParaRPr>
            </a:p>
          </p:txBody>
        </p:sp>
      </p:grpSp>
      <p:sp>
        <p:nvSpPr>
          <p:cNvPr id="116" name="Text Placeholder 4">
            <a:extLst>
              <a:ext uri="{FF2B5EF4-FFF2-40B4-BE49-F238E27FC236}">
                <a16:creationId xmlns:a16="http://schemas.microsoft.com/office/drawing/2014/main" id="{5A1CFAAF-C7B6-70FA-DE61-1A77B1F0A0FE}"/>
              </a:ext>
            </a:extLst>
          </p:cNvPr>
          <p:cNvSpPr txBox="1">
            <a:spLocks/>
          </p:cNvSpPr>
          <p:nvPr/>
        </p:nvSpPr>
        <p:spPr>
          <a:xfrm>
            <a:off x="3131766" y="1348742"/>
            <a:ext cx="2818709" cy="797457"/>
          </a:xfrm>
          <a:prstGeom prst="rect">
            <a:avLst/>
          </a:prstGeom>
        </p:spPr>
        <p:txBody>
          <a:bodyPr vert="horz" lIns="0" tIns="0" rIns="0" bIns="0" rtlCol="0" anchor="ctr">
            <a:noAutofit/>
          </a:bodyPr>
          <a:lstStyle>
            <a:lvl1pPr marL="0" indent="0" algn="l" rtl="0" eaLnBrk="1" fontAlgn="base" hangingPunct="1">
              <a:lnSpc>
                <a:spcPct val="110000"/>
              </a:lnSpc>
              <a:spcBef>
                <a:spcPts val="1200"/>
              </a:spcBef>
              <a:spcAft>
                <a:spcPct val="0"/>
              </a:spcAft>
              <a:buFont typeface="Arial" pitchFamily="34" charset="0"/>
              <a:buNone/>
              <a:defRPr lang="en-US" sz="1600" b="1" i="0" kern="1200" cap="all" baseline="0" dirty="0">
                <a:solidFill>
                  <a:schemeClr val="accent1"/>
                </a:solidFill>
                <a:latin typeface="Graphik"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itchFamily="34" charset="0"/>
              <a:buNone/>
              <a:tabLst/>
              <a:defRPr/>
            </a:pPr>
            <a:r>
              <a:rPr kumimoji="0" lang="en-U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t>2PC Transaction within the same subdomain</a:t>
            </a:r>
          </a:p>
        </p:txBody>
      </p:sp>
      <p:grpSp>
        <p:nvGrpSpPr>
          <p:cNvPr id="117" name="Group 116">
            <a:extLst>
              <a:ext uri="{FF2B5EF4-FFF2-40B4-BE49-F238E27FC236}">
                <a16:creationId xmlns:a16="http://schemas.microsoft.com/office/drawing/2014/main" id="{6DE60CC1-0780-B05B-3AC7-95CFCB0B171E}"/>
              </a:ext>
            </a:extLst>
          </p:cNvPr>
          <p:cNvGrpSpPr/>
          <p:nvPr/>
        </p:nvGrpSpPr>
        <p:grpSpPr>
          <a:xfrm>
            <a:off x="6210556" y="3996674"/>
            <a:ext cx="2752662" cy="1764771"/>
            <a:chOff x="6254866" y="3942766"/>
            <a:chExt cx="2752662" cy="1764771"/>
          </a:xfrm>
        </p:grpSpPr>
        <p:sp>
          <p:nvSpPr>
            <p:cNvPr id="118" name="Cylinder 117">
              <a:extLst>
                <a:ext uri="{FF2B5EF4-FFF2-40B4-BE49-F238E27FC236}">
                  <a16:creationId xmlns:a16="http://schemas.microsoft.com/office/drawing/2014/main" id="{DD372847-925A-4E48-0C55-619FFA14A309}"/>
                </a:ext>
              </a:extLst>
            </p:cNvPr>
            <p:cNvSpPr/>
            <p:nvPr/>
          </p:nvSpPr>
          <p:spPr>
            <a:xfrm>
              <a:off x="6254866" y="5229867"/>
              <a:ext cx="1832886" cy="477670"/>
            </a:xfrm>
            <a:prstGeom prst="can">
              <a:avLst>
                <a:gd name="adj" fmla="val 15538"/>
              </a:avLst>
            </a:prstGeom>
            <a:solidFill>
              <a:schemeClr val="bg1">
                <a:lumMod val="75000"/>
              </a:schemeClr>
            </a:solidFill>
            <a:ln w="3175">
              <a:solidFill>
                <a:schemeClr val="tx1">
                  <a:lumMod val="50000"/>
                  <a:lumOff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6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rPr>
                <a:t>Oracle</a:t>
              </a:r>
            </a:p>
          </p:txBody>
        </p:sp>
        <p:sp>
          <p:nvSpPr>
            <p:cNvPr id="119" name="Rectangle 118">
              <a:extLst>
                <a:ext uri="{FF2B5EF4-FFF2-40B4-BE49-F238E27FC236}">
                  <a16:creationId xmlns:a16="http://schemas.microsoft.com/office/drawing/2014/main" id="{67C0D6D0-9364-25E3-2093-39FA8DEEAB90}"/>
                </a:ext>
              </a:extLst>
            </p:cNvPr>
            <p:cNvSpPr/>
            <p:nvPr/>
          </p:nvSpPr>
          <p:spPr>
            <a:xfrm>
              <a:off x="8143528" y="3942766"/>
              <a:ext cx="864000" cy="1002206"/>
            </a:xfrm>
            <a:prstGeom prst="rect">
              <a:avLst/>
            </a:prstGeom>
            <a:solidFill>
              <a:schemeClr val="tx1">
                <a:lumMod val="50000"/>
                <a:lumOff val="50000"/>
              </a:schemeClr>
            </a:solidFill>
            <a:ln w="19050">
              <a:no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lIns="0" r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1" i="0" u="none" strike="noStrike" kern="1200" cap="none" spc="0" normalizeH="0" baseline="0" noProof="0">
                  <a:ln>
                    <a:noFill/>
                  </a:ln>
                  <a:solidFill>
                    <a:srgbClr val="FFFFFF"/>
                  </a:solidFill>
                  <a:effectLst/>
                  <a:uLnTx/>
                  <a:uFillTx/>
                  <a:latin typeface="Graphik" panose="020B0503030202060203" pitchFamily="34" charset="77"/>
                  <a:ea typeface="+mn-ea"/>
                  <a:cs typeface="+mn-cs"/>
                </a:rPr>
                <a:t>Mainframe</a:t>
              </a:r>
            </a:p>
          </p:txBody>
        </p:sp>
        <p:sp>
          <p:nvSpPr>
            <p:cNvPr id="120" name="Flowchart: Magnetic Disk 119">
              <a:extLst>
                <a:ext uri="{FF2B5EF4-FFF2-40B4-BE49-F238E27FC236}">
                  <a16:creationId xmlns:a16="http://schemas.microsoft.com/office/drawing/2014/main" id="{BA12934B-87F4-A449-3EF9-C764A3BB2AAC}"/>
                </a:ext>
              </a:extLst>
            </p:cNvPr>
            <p:cNvSpPr/>
            <p:nvPr/>
          </p:nvSpPr>
          <p:spPr>
            <a:xfrm>
              <a:off x="8270168" y="4291720"/>
              <a:ext cx="610720" cy="537424"/>
            </a:xfrm>
            <a:prstGeom prst="flowChartMagneticDisk">
              <a:avLst/>
            </a:prstGeom>
            <a:solidFill>
              <a:schemeClr val="bg1">
                <a:lumMod val="8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0526" tIns="45262" rIns="90526" bIns="4526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E6E6DC">
                      <a:lumMod val="25000"/>
                    </a:srgbClr>
                  </a:solidFill>
                  <a:effectLst/>
                  <a:uLnTx/>
                  <a:uFillTx/>
                  <a:latin typeface="Arial" panose="020B0604020202020204" pitchFamily="34" charset="0"/>
                  <a:ea typeface="+mn-ea"/>
                  <a:cs typeface="Arial" panose="020B0604020202020204" pitchFamily="34" charset="0"/>
                </a:rPr>
                <a:t>DB2</a:t>
              </a:r>
            </a:p>
          </p:txBody>
        </p:sp>
        <p:sp>
          <p:nvSpPr>
            <p:cNvPr id="121" name="Rectangle 120">
              <a:extLst>
                <a:ext uri="{FF2B5EF4-FFF2-40B4-BE49-F238E27FC236}">
                  <a16:creationId xmlns:a16="http://schemas.microsoft.com/office/drawing/2014/main" id="{D45D90BA-F059-4D78-335A-65E9C03ACDFC}"/>
                </a:ext>
              </a:extLst>
            </p:cNvPr>
            <p:cNvSpPr/>
            <p:nvPr/>
          </p:nvSpPr>
          <p:spPr>
            <a:xfrm>
              <a:off x="6254867" y="3942766"/>
              <a:ext cx="1832886" cy="1181684"/>
            </a:xfrm>
            <a:prstGeom prst="rect">
              <a:avLst/>
            </a:prstGeom>
            <a:solidFill>
              <a:srgbClr val="FFCC99"/>
            </a:solidFill>
            <a:ln w="9525">
              <a:solidFill>
                <a:schemeClr val="bg1">
                  <a:lumMod val="9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Ins="25200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s-ES" sz="800" b="1" i="0" u="none" strike="noStrike" kern="1200" cap="none" spc="0" normalizeH="0" baseline="0" noProof="0">
                <a:ln>
                  <a:noFill/>
                </a:ln>
                <a:solidFill>
                  <a:srgbClr val="000000">
                    <a:lumMod val="75000"/>
                    <a:lumOff val="25000"/>
                  </a:srgbClr>
                </a:solidFill>
                <a:effectLst/>
                <a:uLnTx/>
                <a:uFillTx/>
                <a:latin typeface="Arial" charset="0"/>
                <a:ea typeface="+mn-ea"/>
                <a:cs typeface="Arial" charset="0"/>
              </a:endParaRPr>
            </a:p>
          </p:txBody>
        </p:sp>
        <p:sp>
          <p:nvSpPr>
            <p:cNvPr id="122" name="Cylinder 121">
              <a:extLst>
                <a:ext uri="{FF2B5EF4-FFF2-40B4-BE49-F238E27FC236}">
                  <a16:creationId xmlns:a16="http://schemas.microsoft.com/office/drawing/2014/main" id="{5F68E968-28A9-42F4-38BA-9CA4B7C35C9E}"/>
                </a:ext>
              </a:extLst>
            </p:cNvPr>
            <p:cNvSpPr/>
            <p:nvPr/>
          </p:nvSpPr>
          <p:spPr>
            <a:xfrm>
              <a:off x="6666918" y="5353923"/>
              <a:ext cx="516918" cy="329853"/>
            </a:xfrm>
            <a:prstGeom prst="can">
              <a:avLst/>
            </a:prstGeom>
            <a:solidFill>
              <a:schemeClr val="bg1">
                <a:lumMod val="95000"/>
              </a:schemeClr>
            </a:solidFill>
            <a:ln w="9525">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rPr>
                <a:t>DB </a:t>
              </a:r>
              <a:r>
                <a:rPr kumimoji="0" lang="es-ES" sz="500" b="1" i="0" u="none" strike="noStrike" kern="1200" cap="none" spc="0" normalizeH="0" baseline="0" noProof="0" err="1">
                  <a:ln>
                    <a:noFill/>
                  </a:ln>
                  <a:solidFill>
                    <a:srgbClr val="000000">
                      <a:lumMod val="50000"/>
                      <a:lumOff val="50000"/>
                    </a:srgbClr>
                  </a:solidFill>
                  <a:effectLst/>
                  <a:uLnTx/>
                  <a:uFillTx/>
                  <a:latin typeface="Graphik" panose="020B0503030202060203" pitchFamily="34" charset="77"/>
                  <a:ea typeface="+mn-ea"/>
                  <a:cs typeface="+mn-cs"/>
                </a:rPr>
                <a:t>Schema</a:t>
              </a:r>
              <a:endParaRPr kumimoji="0" lang="es-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23" name="Rectangle 122">
              <a:extLst>
                <a:ext uri="{FF2B5EF4-FFF2-40B4-BE49-F238E27FC236}">
                  <a16:creationId xmlns:a16="http://schemas.microsoft.com/office/drawing/2014/main" id="{2EFAAC40-A2FA-E956-5FB2-460B363B35DE}"/>
                </a:ext>
              </a:extLst>
            </p:cNvPr>
            <p:cNvSpPr/>
            <p:nvPr/>
          </p:nvSpPr>
          <p:spPr>
            <a:xfrm>
              <a:off x="6303486" y="3987762"/>
              <a:ext cx="945302" cy="888491"/>
            </a:xfrm>
            <a:prstGeom prst="rect">
              <a:avLst/>
            </a:prstGeom>
            <a:solidFill>
              <a:srgbClr val="E3DED1">
                <a:lumMod val="90000"/>
              </a:srgbClr>
            </a:solidFill>
            <a:ln w="12700" cap="flat" cmpd="sng" algn="ctr">
              <a:solidFill>
                <a:sysClr val="window" lastClr="FFFFFF">
                  <a:lumMod val="95000"/>
                </a:sysClr>
              </a:solidFill>
              <a:prstDash val="sysDot"/>
              <a:headEnd type="none" w="med" len="med"/>
              <a:tailEnd type="none" w="med" len="med"/>
            </a:ln>
            <a:effectLst/>
          </p:spPr>
          <p:txBody>
            <a:bodyPr t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700" b="1" i="0" u="none" strike="noStrike" kern="0" cap="none" spc="0" normalizeH="0" baseline="0" noProof="0" err="1">
                  <a:ln>
                    <a:noFill/>
                  </a:ln>
                  <a:solidFill>
                    <a:prstClr val="white"/>
                  </a:solidFill>
                  <a:effectLst/>
                  <a:uLnTx/>
                  <a:uFillTx/>
                  <a:latin typeface="Graphik" panose="020B0503030202060203" pitchFamily="34" charset="77"/>
                  <a:ea typeface="+mn-ea"/>
                  <a:cs typeface="+mn-cs"/>
                </a:rPr>
                <a:t>Subdomain</a:t>
              </a:r>
              <a:endParaRPr kumimoji="0" lang="es-ES" sz="700" b="1" i="0" u="none" strike="noStrike" kern="0" cap="none" spc="0" normalizeH="0" baseline="0" noProof="0">
                <a:ln>
                  <a:noFill/>
                </a:ln>
                <a:solidFill>
                  <a:prstClr val="white"/>
                </a:solidFill>
                <a:effectLst/>
                <a:uLnTx/>
                <a:uFillTx/>
                <a:latin typeface="Graphik" panose="020B0503030202060203" pitchFamily="34" charset="77"/>
                <a:ea typeface="+mn-ea"/>
                <a:cs typeface="+mn-cs"/>
              </a:endParaRPr>
            </a:p>
          </p:txBody>
        </p:sp>
        <p:cxnSp>
          <p:nvCxnSpPr>
            <p:cNvPr id="124" name="Straight Arrow Connector 68">
              <a:extLst>
                <a:ext uri="{FF2B5EF4-FFF2-40B4-BE49-F238E27FC236}">
                  <a16:creationId xmlns:a16="http://schemas.microsoft.com/office/drawing/2014/main" id="{A7E76B13-BEF7-AFED-E8D5-297608EA2945}"/>
                </a:ext>
              </a:extLst>
            </p:cNvPr>
            <p:cNvCxnSpPr>
              <a:cxnSpLocks/>
              <a:stCxn id="127" idx="4"/>
              <a:endCxn id="122" idx="1"/>
            </p:cNvCxnSpPr>
            <p:nvPr/>
          </p:nvCxnSpPr>
          <p:spPr>
            <a:xfrm rot="16200000" flipH="1">
              <a:off x="6496989" y="4925534"/>
              <a:ext cx="568685" cy="288092"/>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sp>
          <p:nvSpPr>
            <p:cNvPr id="125" name="Rectangle 124">
              <a:extLst>
                <a:ext uri="{FF2B5EF4-FFF2-40B4-BE49-F238E27FC236}">
                  <a16:creationId xmlns:a16="http://schemas.microsoft.com/office/drawing/2014/main" id="{2C630D50-8348-2297-557F-6F290172FDDF}"/>
                </a:ext>
              </a:extLst>
            </p:cNvPr>
            <p:cNvSpPr/>
            <p:nvPr/>
          </p:nvSpPr>
          <p:spPr>
            <a:xfrm>
              <a:off x="7316268" y="3988079"/>
              <a:ext cx="707416" cy="888174"/>
            </a:xfrm>
            <a:prstGeom prst="rect">
              <a:avLst/>
            </a:prstGeom>
            <a:solidFill>
              <a:srgbClr val="E3DED1">
                <a:lumMod val="90000"/>
              </a:srgbClr>
            </a:solidFill>
            <a:ln w="12700" cap="flat" cmpd="sng" algn="ctr">
              <a:solidFill>
                <a:sysClr val="window" lastClr="FFFFFF">
                  <a:lumMod val="95000"/>
                </a:sysClr>
              </a:solidFill>
              <a:prstDash val="sysDot"/>
              <a:headEnd type="none" w="med" len="med"/>
              <a:tailEnd type="none" w="med" len="med"/>
            </a:ln>
            <a:effectLst/>
          </p:spPr>
          <p:txBody>
            <a:bodyPr t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700" b="1" i="0" u="none" strike="noStrike" kern="0" cap="none" spc="0" normalizeH="0" baseline="0" noProof="0" err="1">
                  <a:ln>
                    <a:noFill/>
                  </a:ln>
                  <a:solidFill>
                    <a:prstClr val="white"/>
                  </a:solidFill>
                  <a:effectLst/>
                  <a:uLnTx/>
                  <a:uFillTx/>
                  <a:latin typeface="Graphik" panose="020B0503030202060203" pitchFamily="34" charset="77"/>
                  <a:ea typeface="+mn-ea"/>
                  <a:cs typeface="+mn-cs"/>
                </a:rPr>
                <a:t>Subdomain</a:t>
              </a:r>
              <a:endParaRPr kumimoji="0" lang="es-ES" sz="700" b="1" i="0" u="none" strike="noStrike" kern="0" cap="none" spc="0" normalizeH="0" baseline="0" noProof="0">
                <a:ln>
                  <a:noFill/>
                </a:ln>
                <a:solidFill>
                  <a:prstClr val="white"/>
                </a:solidFill>
                <a:effectLst/>
                <a:uLnTx/>
                <a:uFillTx/>
                <a:latin typeface="Graphik" panose="020B0503030202060203" pitchFamily="34" charset="77"/>
                <a:ea typeface="+mn-ea"/>
                <a:cs typeface="+mn-cs"/>
              </a:endParaRPr>
            </a:p>
          </p:txBody>
        </p:sp>
        <p:sp>
          <p:nvSpPr>
            <p:cNvPr id="126" name="Oval 125">
              <a:extLst>
                <a:ext uri="{FF2B5EF4-FFF2-40B4-BE49-F238E27FC236}">
                  <a16:creationId xmlns:a16="http://schemas.microsoft.com/office/drawing/2014/main" id="{0DE5C3F1-C963-0B07-3B0D-AC8F200FC232}"/>
                </a:ext>
              </a:extLst>
            </p:cNvPr>
            <p:cNvSpPr/>
            <p:nvPr/>
          </p:nvSpPr>
          <p:spPr bwMode="auto">
            <a:xfrm>
              <a:off x="6637285" y="4160881"/>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n-U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Service</a:t>
              </a:r>
            </a:p>
          </p:txBody>
        </p:sp>
        <p:sp>
          <p:nvSpPr>
            <p:cNvPr id="127" name="Oval 126">
              <a:extLst>
                <a:ext uri="{FF2B5EF4-FFF2-40B4-BE49-F238E27FC236}">
                  <a16:creationId xmlns:a16="http://schemas.microsoft.com/office/drawing/2014/main" id="{1FE21BFB-1730-C735-CD3E-6F405A8E077F}"/>
                </a:ext>
              </a:extLst>
            </p:cNvPr>
            <p:cNvSpPr/>
            <p:nvPr/>
          </p:nvSpPr>
          <p:spPr bwMode="auto">
            <a:xfrm>
              <a:off x="6379306" y="4584593"/>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n-U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Service</a:t>
              </a:r>
            </a:p>
          </p:txBody>
        </p:sp>
        <p:sp>
          <p:nvSpPr>
            <p:cNvPr id="128" name="Oval 127">
              <a:extLst>
                <a:ext uri="{FF2B5EF4-FFF2-40B4-BE49-F238E27FC236}">
                  <a16:creationId xmlns:a16="http://schemas.microsoft.com/office/drawing/2014/main" id="{8804E14A-745A-02A0-7794-B81E25097FC8}"/>
                </a:ext>
              </a:extLst>
            </p:cNvPr>
            <p:cNvSpPr/>
            <p:nvPr/>
          </p:nvSpPr>
          <p:spPr bwMode="auto">
            <a:xfrm>
              <a:off x="7399026" y="4625445"/>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n-U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Service</a:t>
              </a:r>
            </a:p>
          </p:txBody>
        </p:sp>
        <p:cxnSp>
          <p:nvCxnSpPr>
            <p:cNvPr id="129" name="Straight Arrow Connector 65">
              <a:extLst>
                <a:ext uri="{FF2B5EF4-FFF2-40B4-BE49-F238E27FC236}">
                  <a16:creationId xmlns:a16="http://schemas.microsoft.com/office/drawing/2014/main" id="{AE6ACEEB-0637-C38A-1D09-10DFE028D812}"/>
                </a:ext>
              </a:extLst>
            </p:cNvPr>
            <p:cNvCxnSpPr>
              <a:cxnSpLocks/>
              <a:stCxn id="126" idx="4"/>
              <a:endCxn id="128" idx="0"/>
            </p:cNvCxnSpPr>
            <p:nvPr/>
          </p:nvCxnSpPr>
          <p:spPr>
            <a:xfrm rot="16200000" flipH="1">
              <a:off x="7144175" y="4112614"/>
              <a:ext cx="263919" cy="761741"/>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68">
              <a:extLst>
                <a:ext uri="{FF2B5EF4-FFF2-40B4-BE49-F238E27FC236}">
                  <a16:creationId xmlns:a16="http://schemas.microsoft.com/office/drawing/2014/main" id="{15BFFD7C-694E-8D63-56B4-0984D90876EF}"/>
                </a:ext>
              </a:extLst>
            </p:cNvPr>
            <p:cNvCxnSpPr>
              <a:cxnSpLocks/>
              <a:stCxn id="126" idx="4"/>
              <a:endCxn id="127" idx="0"/>
            </p:cNvCxnSpPr>
            <p:nvPr/>
          </p:nvCxnSpPr>
          <p:spPr>
            <a:xfrm rot="5400000">
              <a:off x="6654742" y="4344070"/>
              <a:ext cx="223067" cy="257979"/>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68">
              <a:extLst>
                <a:ext uri="{FF2B5EF4-FFF2-40B4-BE49-F238E27FC236}">
                  <a16:creationId xmlns:a16="http://schemas.microsoft.com/office/drawing/2014/main" id="{3F9769D8-6F80-F47A-8EB5-C0F2A74867F0}"/>
                </a:ext>
              </a:extLst>
            </p:cNvPr>
            <p:cNvCxnSpPr>
              <a:cxnSpLocks/>
              <a:stCxn id="128" idx="4"/>
              <a:endCxn id="132" idx="1"/>
            </p:cNvCxnSpPr>
            <p:nvPr/>
          </p:nvCxnSpPr>
          <p:spPr>
            <a:xfrm rot="5400000">
              <a:off x="7334546" y="5036635"/>
              <a:ext cx="533004" cy="111914"/>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sp>
          <p:nvSpPr>
            <p:cNvPr id="132" name="Cylinder 131">
              <a:extLst>
                <a:ext uri="{FF2B5EF4-FFF2-40B4-BE49-F238E27FC236}">
                  <a16:creationId xmlns:a16="http://schemas.microsoft.com/office/drawing/2014/main" id="{5CF8610C-FAF6-64C3-5FE3-2C2C390AB0D1}"/>
                </a:ext>
              </a:extLst>
            </p:cNvPr>
            <p:cNvSpPr/>
            <p:nvPr/>
          </p:nvSpPr>
          <p:spPr>
            <a:xfrm>
              <a:off x="7286632" y="5359094"/>
              <a:ext cx="516918" cy="329853"/>
            </a:xfrm>
            <a:prstGeom prst="can">
              <a:avLst/>
            </a:prstGeom>
            <a:solidFill>
              <a:schemeClr val="bg1">
                <a:lumMod val="95000"/>
              </a:schemeClr>
            </a:solidFill>
            <a:ln w="9525">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rPr>
                <a:t>DB </a:t>
              </a:r>
              <a:r>
                <a:rPr kumimoji="0" lang="es-ES" sz="500" b="1" i="0" u="none" strike="noStrike" kern="1200" cap="none" spc="0" normalizeH="0" baseline="0" noProof="0" err="1">
                  <a:ln>
                    <a:noFill/>
                  </a:ln>
                  <a:solidFill>
                    <a:srgbClr val="000000">
                      <a:lumMod val="50000"/>
                      <a:lumOff val="50000"/>
                    </a:srgbClr>
                  </a:solidFill>
                  <a:effectLst/>
                  <a:uLnTx/>
                  <a:uFillTx/>
                  <a:latin typeface="Graphik" panose="020B0503030202060203" pitchFamily="34" charset="77"/>
                  <a:ea typeface="+mn-ea"/>
                  <a:cs typeface="+mn-cs"/>
                </a:rPr>
                <a:t>Schema</a:t>
              </a:r>
              <a:endParaRPr kumimoji="0" lang="es-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33" name="Cylinder 132">
              <a:extLst>
                <a:ext uri="{FF2B5EF4-FFF2-40B4-BE49-F238E27FC236}">
                  <a16:creationId xmlns:a16="http://schemas.microsoft.com/office/drawing/2014/main" id="{AACF8A35-FC1F-B14E-58F9-D73C686BDAA3}"/>
                </a:ext>
              </a:extLst>
            </p:cNvPr>
            <p:cNvSpPr/>
            <p:nvPr/>
          </p:nvSpPr>
          <p:spPr>
            <a:xfrm rot="16200000">
              <a:off x="7184058" y="4769442"/>
              <a:ext cx="150238" cy="490889"/>
            </a:xfrm>
            <a:prstGeom prst="can">
              <a:avLst/>
            </a:prstGeom>
            <a:solidFill>
              <a:srgbClr val="99CCFF"/>
            </a:solidFill>
            <a:ln w="6350">
              <a:solidFill>
                <a:srgbClr val="00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srgbClr val="FFFFFF"/>
                </a:solidFill>
                <a:effectLst/>
                <a:uLnTx/>
                <a:uFillTx/>
                <a:latin typeface="Graphik"/>
                <a:ea typeface="+mn-ea"/>
                <a:cs typeface="+mn-cs"/>
              </a:endParaRPr>
            </a:p>
          </p:txBody>
        </p:sp>
        <p:cxnSp>
          <p:nvCxnSpPr>
            <p:cNvPr id="134" name="Straight Arrow Connector 68">
              <a:extLst>
                <a:ext uri="{FF2B5EF4-FFF2-40B4-BE49-F238E27FC236}">
                  <a16:creationId xmlns:a16="http://schemas.microsoft.com/office/drawing/2014/main" id="{2AAD50BF-F374-DFA6-9A1B-CDC93FA64355}"/>
                </a:ext>
              </a:extLst>
            </p:cNvPr>
            <p:cNvCxnSpPr>
              <a:cxnSpLocks/>
              <a:stCxn id="127" idx="6"/>
            </p:cNvCxnSpPr>
            <p:nvPr/>
          </p:nvCxnSpPr>
          <p:spPr>
            <a:xfrm>
              <a:off x="6895263" y="4684916"/>
              <a:ext cx="241934" cy="254851"/>
            </a:xfrm>
            <a:prstGeom prst="bentConnector2">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grpSp>
      <p:sp>
        <p:nvSpPr>
          <p:cNvPr id="135" name="Text Placeholder 4">
            <a:extLst>
              <a:ext uri="{FF2B5EF4-FFF2-40B4-BE49-F238E27FC236}">
                <a16:creationId xmlns:a16="http://schemas.microsoft.com/office/drawing/2014/main" id="{81198886-CDEC-465A-5099-4D81F4FCBAE1}"/>
              </a:ext>
            </a:extLst>
          </p:cNvPr>
          <p:cNvSpPr txBox="1">
            <a:spLocks/>
          </p:cNvSpPr>
          <p:nvPr/>
        </p:nvSpPr>
        <p:spPr>
          <a:xfrm>
            <a:off x="6073869" y="1348742"/>
            <a:ext cx="3026037" cy="797457"/>
          </a:xfrm>
          <a:prstGeom prst="rect">
            <a:avLst/>
          </a:prstGeom>
        </p:spPr>
        <p:txBody>
          <a:bodyPr vert="horz" lIns="0" tIns="0" rIns="0" bIns="0" rtlCol="0" anchor="ctr">
            <a:noAutofit/>
          </a:bodyPr>
          <a:lstStyle>
            <a:lvl1pPr marL="0" indent="0" algn="l" rtl="0" eaLnBrk="1" fontAlgn="base" hangingPunct="1">
              <a:lnSpc>
                <a:spcPct val="110000"/>
              </a:lnSpc>
              <a:spcBef>
                <a:spcPts val="1200"/>
              </a:spcBef>
              <a:spcAft>
                <a:spcPct val="0"/>
              </a:spcAft>
              <a:buFont typeface="Arial" pitchFamily="34" charset="0"/>
              <a:buNone/>
              <a:defRPr lang="en-US" sz="1600" b="1" i="0" kern="1200" cap="all" baseline="0" dirty="0">
                <a:solidFill>
                  <a:schemeClr val="accent1"/>
                </a:solidFill>
                <a:latin typeface="Graphik"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itchFamily="34" charset="0"/>
              <a:buNone/>
              <a:tabLst/>
              <a:defRPr/>
            </a:pPr>
            <a:r>
              <a:rPr kumimoji="0" lang="en-U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t>Eventual Consistency Transaction across subdomains </a:t>
            </a:r>
            <a:br>
              <a:rPr kumimoji="0" lang="en-U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br>
            <a:r>
              <a:rPr kumimoji="0" lang="en-U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t>(both sub-domains are in container platform)</a:t>
            </a:r>
          </a:p>
        </p:txBody>
      </p:sp>
      <p:grpSp>
        <p:nvGrpSpPr>
          <p:cNvPr id="136" name="Group 135">
            <a:extLst>
              <a:ext uri="{FF2B5EF4-FFF2-40B4-BE49-F238E27FC236}">
                <a16:creationId xmlns:a16="http://schemas.microsoft.com/office/drawing/2014/main" id="{DC2FB4AD-03ED-FF32-1A7E-5AD175C46AA7}"/>
              </a:ext>
            </a:extLst>
          </p:cNvPr>
          <p:cNvGrpSpPr/>
          <p:nvPr/>
        </p:nvGrpSpPr>
        <p:grpSpPr>
          <a:xfrm>
            <a:off x="9594962" y="3996674"/>
            <a:ext cx="2264983" cy="1764771"/>
            <a:chOff x="9516857" y="4468546"/>
            <a:chExt cx="2264983" cy="1764771"/>
          </a:xfrm>
        </p:grpSpPr>
        <p:sp>
          <p:nvSpPr>
            <p:cNvPr id="137" name="Cylinder 136">
              <a:extLst>
                <a:ext uri="{FF2B5EF4-FFF2-40B4-BE49-F238E27FC236}">
                  <a16:creationId xmlns:a16="http://schemas.microsoft.com/office/drawing/2014/main" id="{D164D099-CE31-2FFA-A392-2EAE10AFD9B8}"/>
                </a:ext>
              </a:extLst>
            </p:cNvPr>
            <p:cNvSpPr/>
            <p:nvPr/>
          </p:nvSpPr>
          <p:spPr>
            <a:xfrm>
              <a:off x="9516857" y="5755647"/>
              <a:ext cx="1354581" cy="477670"/>
            </a:xfrm>
            <a:prstGeom prst="can">
              <a:avLst>
                <a:gd name="adj" fmla="val 15538"/>
              </a:avLst>
            </a:prstGeom>
            <a:solidFill>
              <a:schemeClr val="bg1">
                <a:lumMod val="75000"/>
              </a:schemeClr>
            </a:solidFill>
            <a:ln w="3175">
              <a:solidFill>
                <a:schemeClr val="tx1">
                  <a:lumMod val="50000"/>
                  <a:lumOff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6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rPr>
                <a:t>Oracle</a:t>
              </a:r>
            </a:p>
          </p:txBody>
        </p:sp>
        <p:sp>
          <p:nvSpPr>
            <p:cNvPr id="138" name="Rectangle 137">
              <a:extLst>
                <a:ext uri="{FF2B5EF4-FFF2-40B4-BE49-F238E27FC236}">
                  <a16:creationId xmlns:a16="http://schemas.microsoft.com/office/drawing/2014/main" id="{501B8BBB-F89B-83B7-E515-93716EF9B32A}"/>
                </a:ext>
              </a:extLst>
            </p:cNvPr>
            <p:cNvSpPr/>
            <p:nvPr/>
          </p:nvSpPr>
          <p:spPr>
            <a:xfrm>
              <a:off x="10917840" y="4468546"/>
              <a:ext cx="864000" cy="1002206"/>
            </a:xfrm>
            <a:prstGeom prst="rect">
              <a:avLst/>
            </a:prstGeom>
            <a:solidFill>
              <a:schemeClr val="tx1">
                <a:lumMod val="50000"/>
                <a:lumOff val="50000"/>
              </a:schemeClr>
            </a:solidFill>
            <a:ln w="19050">
              <a:no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lIns="0" r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1" i="0" u="none" strike="noStrike" kern="1200" cap="none" spc="0" normalizeH="0" baseline="0" noProof="0">
                  <a:ln>
                    <a:noFill/>
                  </a:ln>
                  <a:solidFill>
                    <a:srgbClr val="FFFFFF"/>
                  </a:solidFill>
                  <a:effectLst/>
                  <a:uLnTx/>
                  <a:uFillTx/>
                  <a:latin typeface="Graphik" panose="020B0503030202060203" pitchFamily="34" charset="77"/>
                  <a:ea typeface="+mn-ea"/>
                  <a:cs typeface="+mn-cs"/>
                </a:rPr>
                <a:t>Mainframe</a:t>
              </a:r>
            </a:p>
          </p:txBody>
        </p:sp>
        <p:sp>
          <p:nvSpPr>
            <p:cNvPr id="139" name="Flowchart: Magnetic Disk 138">
              <a:extLst>
                <a:ext uri="{FF2B5EF4-FFF2-40B4-BE49-F238E27FC236}">
                  <a16:creationId xmlns:a16="http://schemas.microsoft.com/office/drawing/2014/main" id="{AA82BE0E-23C7-2586-F429-89ACE7F6C832}"/>
                </a:ext>
              </a:extLst>
            </p:cNvPr>
            <p:cNvSpPr/>
            <p:nvPr/>
          </p:nvSpPr>
          <p:spPr>
            <a:xfrm>
              <a:off x="11044480" y="4817500"/>
              <a:ext cx="610720" cy="537424"/>
            </a:xfrm>
            <a:prstGeom prst="flowChartMagneticDisk">
              <a:avLst/>
            </a:prstGeom>
            <a:solidFill>
              <a:schemeClr val="bg1">
                <a:lumMod val="8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0526" tIns="45262" rIns="90526" bIns="4526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E6E6DC">
                      <a:lumMod val="25000"/>
                    </a:srgbClr>
                  </a:solidFill>
                  <a:effectLst/>
                  <a:uLnTx/>
                  <a:uFillTx/>
                  <a:latin typeface="Arial" panose="020B0604020202020204" pitchFamily="34" charset="0"/>
                  <a:ea typeface="+mn-ea"/>
                  <a:cs typeface="Arial" panose="020B0604020202020204" pitchFamily="34" charset="0"/>
                </a:rPr>
                <a:t>DB2</a:t>
              </a:r>
            </a:p>
          </p:txBody>
        </p:sp>
        <p:sp>
          <p:nvSpPr>
            <p:cNvPr id="140" name="Rectangle 139">
              <a:extLst>
                <a:ext uri="{FF2B5EF4-FFF2-40B4-BE49-F238E27FC236}">
                  <a16:creationId xmlns:a16="http://schemas.microsoft.com/office/drawing/2014/main" id="{B7D6054D-E6F6-7628-7D9C-3F209E10ADED}"/>
                </a:ext>
              </a:extLst>
            </p:cNvPr>
            <p:cNvSpPr/>
            <p:nvPr/>
          </p:nvSpPr>
          <p:spPr>
            <a:xfrm>
              <a:off x="9516859" y="4468546"/>
              <a:ext cx="1354582" cy="1181684"/>
            </a:xfrm>
            <a:prstGeom prst="rect">
              <a:avLst/>
            </a:prstGeom>
            <a:solidFill>
              <a:srgbClr val="FFCC99"/>
            </a:solidFill>
            <a:ln w="9525">
              <a:solidFill>
                <a:schemeClr val="bg1">
                  <a:lumMod val="9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Ins="25200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s-ES" sz="800" b="1" i="0" u="none" strike="noStrike" kern="1200" cap="none" spc="0" normalizeH="0" baseline="0" noProof="0">
                <a:ln>
                  <a:noFill/>
                </a:ln>
                <a:solidFill>
                  <a:srgbClr val="000000">
                    <a:lumMod val="75000"/>
                    <a:lumOff val="25000"/>
                  </a:srgbClr>
                </a:solidFill>
                <a:effectLst/>
                <a:uLnTx/>
                <a:uFillTx/>
                <a:latin typeface="Arial" charset="0"/>
                <a:ea typeface="+mn-ea"/>
                <a:cs typeface="Arial" charset="0"/>
              </a:endParaRPr>
            </a:p>
          </p:txBody>
        </p:sp>
        <p:sp>
          <p:nvSpPr>
            <p:cNvPr id="141" name="Cylinder 140">
              <a:extLst>
                <a:ext uri="{FF2B5EF4-FFF2-40B4-BE49-F238E27FC236}">
                  <a16:creationId xmlns:a16="http://schemas.microsoft.com/office/drawing/2014/main" id="{3A71BFD9-4A4B-3B81-C438-3E109EBF8BEC}"/>
                </a:ext>
              </a:extLst>
            </p:cNvPr>
            <p:cNvSpPr/>
            <p:nvPr/>
          </p:nvSpPr>
          <p:spPr>
            <a:xfrm>
              <a:off x="9928910" y="5879703"/>
              <a:ext cx="516918" cy="329853"/>
            </a:xfrm>
            <a:prstGeom prst="can">
              <a:avLst/>
            </a:prstGeom>
            <a:solidFill>
              <a:schemeClr val="bg1">
                <a:lumMod val="95000"/>
              </a:schemeClr>
            </a:solidFill>
            <a:ln w="9525">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rPr>
                <a:t>DB </a:t>
              </a:r>
              <a:r>
                <a:rPr kumimoji="0" lang="es-ES" sz="500" b="1" i="0" u="none" strike="noStrike" kern="1200" cap="none" spc="0" normalizeH="0" baseline="0" noProof="0" err="1">
                  <a:ln>
                    <a:noFill/>
                  </a:ln>
                  <a:solidFill>
                    <a:srgbClr val="000000">
                      <a:lumMod val="50000"/>
                      <a:lumOff val="50000"/>
                    </a:srgbClr>
                  </a:solidFill>
                  <a:effectLst/>
                  <a:uLnTx/>
                  <a:uFillTx/>
                  <a:latin typeface="Graphik" panose="020B0503030202060203" pitchFamily="34" charset="77"/>
                  <a:ea typeface="+mn-ea"/>
                  <a:cs typeface="+mn-cs"/>
                </a:rPr>
                <a:t>Schema</a:t>
              </a:r>
              <a:endParaRPr kumimoji="0" lang="es-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42" name="Rectangle 141">
              <a:extLst>
                <a:ext uri="{FF2B5EF4-FFF2-40B4-BE49-F238E27FC236}">
                  <a16:creationId xmlns:a16="http://schemas.microsoft.com/office/drawing/2014/main" id="{78C7CE78-75FA-82F7-E92F-D578F4FC52B1}"/>
                </a:ext>
              </a:extLst>
            </p:cNvPr>
            <p:cNvSpPr/>
            <p:nvPr/>
          </p:nvSpPr>
          <p:spPr>
            <a:xfrm>
              <a:off x="9565477" y="4513542"/>
              <a:ext cx="718953" cy="1028738"/>
            </a:xfrm>
            <a:prstGeom prst="rect">
              <a:avLst/>
            </a:prstGeom>
            <a:solidFill>
              <a:srgbClr val="E3DED1">
                <a:lumMod val="90000"/>
              </a:srgbClr>
            </a:solidFill>
            <a:ln w="12700" cap="flat" cmpd="sng" algn="ctr">
              <a:solidFill>
                <a:sysClr val="window" lastClr="FFFFFF">
                  <a:lumMod val="95000"/>
                </a:sysClr>
              </a:solidFill>
              <a:prstDash val="sysDot"/>
              <a:headEnd type="none" w="med" len="med"/>
              <a:tailEnd type="none" w="med" len="med"/>
            </a:ln>
            <a:effectLst/>
          </p:spPr>
          <p:txBody>
            <a:bodyPr t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700" b="1" i="0" u="none" strike="noStrike" kern="0" cap="none" spc="0" normalizeH="0" baseline="0" noProof="0" err="1">
                  <a:ln>
                    <a:noFill/>
                  </a:ln>
                  <a:solidFill>
                    <a:prstClr val="white"/>
                  </a:solidFill>
                  <a:effectLst/>
                  <a:uLnTx/>
                  <a:uFillTx/>
                  <a:latin typeface="Graphik" panose="020B0503030202060203" pitchFamily="34" charset="77"/>
                  <a:ea typeface="+mn-ea"/>
                  <a:cs typeface="+mn-cs"/>
                </a:rPr>
                <a:t>Subdomain</a:t>
              </a:r>
              <a:endParaRPr kumimoji="0" lang="es-ES" sz="700" b="1" i="0" u="none" strike="noStrike" kern="0" cap="none" spc="0" normalizeH="0" baseline="0" noProof="0">
                <a:ln>
                  <a:noFill/>
                </a:ln>
                <a:solidFill>
                  <a:prstClr val="white"/>
                </a:solidFill>
                <a:effectLst/>
                <a:uLnTx/>
                <a:uFillTx/>
                <a:latin typeface="Graphik" panose="020B0503030202060203" pitchFamily="34" charset="77"/>
                <a:ea typeface="+mn-ea"/>
                <a:cs typeface="+mn-cs"/>
              </a:endParaRPr>
            </a:p>
          </p:txBody>
        </p:sp>
        <p:cxnSp>
          <p:nvCxnSpPr>
            <p:cNvPr id="143" name="Straight Arrow Connector 68">
              <a:extLst>
                <a:ext uri="{FF2B5EF4-FFF2-40B4-BE49-F238E27FC236}">
                  <a16:creationId xmlns:a16="http://schemas.microsoft.com/office/drawing/2014/main" id="{5EAF1E0B-AF56-636E-4241-73BF7825CB44}"/>
                </a:ext>
              </a:extLst>
            </p:cNvPr>
            <p:cNvCxnSpPr>
              <a:cxnSpLocks/>
              <a:stCxn id="145" idx="4"/>
              <a:endCxn id="141" idx="1"/>
            </p:cNvCxnSpPr>
            <p:nvPr/>
          </p:nvCxnSpPr>
          <p:spPr>
            <a:xfrm rot="16200000" flipH="1">
              <a:off x="9824068" y="5516402"/>
              <a:ext cx="397234" cy="329367"/>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sp>
          <p:nvSpPr>
            <p:cNvPr id="144" name="Oval 143">
              <a:extLst>
                <a:ext uri="{FF2B5EF4-FFF2-40B4-BE49-F238E27FC236}">
                  <a16:creationId xmlns:a16="http://schemas.microsoft.com/office/drawing/2014/main" id="{F3DD2193-9E3E-1D5E-970D-809DFAA77EA9}"/>
                </a:ext>
              </a:extLst>
            </p:cNvPr>
            <p:cNvSpPr/>
            <p:nvPr/>
          </p:nvSpPr>
          <p:spPr bwMode="auto">
            <a:xfrm>
              <a:off x="9696077" y="4686661"/>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n-U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Service</a:t>
              </a:r>
            </a:p>
          </p:txBody>
        </p:sp>
        <p:sp>
          <p:nvSpPr>
            <p:cNvPr id="145" name="Oval 144">
              <a:extLst>
                <a:ext uri="{FF2B5EF4-FFF2-40B4-BE49-F238E27FC236}">
                  <a16:creationId xmlns:a16="http://schemas.microsoft.com/office/drawing/2014/main" id="{BD05A074-BF15-C840-7720-427C189CF431}"/>
                </a:ext>
              </a:extLst>
            </p:cNvPr>
            <p:cNvSpPr/>
            <p:nvPr/>
          </p:nvSpPr>
          <p:spPr bwMode="auto">
            <a:xfrm>
              <a:off x="9600023" y="5281824"/>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n-U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Service</a:t>
              </a:r>
            </a:p>
          </p:txBody>
        </p:sp>
        <p:sp>
          <p:nvSpPr>
            <p:cNvPr id="146" name="Oval 145">
              <a:extLst>
                <a:ext uri="{FF2B5EF4-FFF2-40B4-BE49-F238E27FC236}">
                  <a16:creationId xmlns:a16="http://schemas.microsoft.com/office/drawing/2014/main" id="{6B7BEB38-918D-0EFE-7773-FE4FA6296DAC}"/>
                </a:ext>
              </a:extLst>
            </p:cNvPr>
            <p:cNvSpPr/>
            <p:nvPr/>
          </p:nvSpPr>
          <p:spPr bwMode="auto">
            <a:xfrm>
              <a:off x="10319957" y="5151225"/>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n-U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ACL Service</a:t>
              </a:r>
            </a:p>
          </p:txBody>
        </p:sp>
        <p:cxnSp>
          <p:nvCxnSpPr>
            <p:cNvPr id="147" name="Straight Arrow Connector 65">
              <a:extLst>
                <a:ext uri="{FF2B5EF4-FFF2-40B4-BE49-F238E27FC236}">
                  <a16:creationId xmlns:a16="http://schemas.microsoft.com/office/drawing/2014/main" id="{DAF06B7B-CE68-D3DB-EB72-6A6EA7A15E12}"/>
                </a:ext>
              </a:extLst>
            </p:cNvPr>
            <p:cNvCxnSpPr>
              <a:cxnSpLocks/>
              <a:stCxn id="144" idx="4"/>
              <a:endCxn id="146" idx="0"/>
            </p:cNvCxnSpPr>
            <p:nvPr/>
          </p:nvCxnSpPr>
          <p:spPr>
            <a:xfrm rot="16200000" flipH="1">
              <a:off x="10134037" y="4707325"/>
              <a:ext cx="263919" cy="623880"/>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Straight Arrow Connector 68">
              <a:extLst>
                <a:ext uri="{FF2B5EF4-FFF2-40B4-BE49-F238E27FC236}">
                  <a16:creationId xmlns:a16="http://schemas.microsoft.com/office/drawing/2014/main" id="{64CB87FA-E2B1-4D9A-2B84-B69A1375EA0C}"/>
                </a:ext>
              </a:extLst>
            </p:cNvPr>
            <p:cNvCxnSpPr>
              <a:cxnSpLocks/>
              <a:stCxn id="144" idx="4"/>
              <a:endCxn id="145" idx="0"/>
            </p:cNvCxnSpPr>
            <p:nvPr/>
          </p:nvCxnSpPr>
          <p:spPr>
            <a:xfrm rot="5400000">
              <a:off x="9708770" y="5036538"/>
              <a:ext cx="394518" cy="96054"/>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Straight Arrow Connector 68">
              <a:extLst>
                <a:ext uri="{FF2B5EF4-FFF2-40B4-BE49-F238E27FC236}">
                  <a16:creationId xmlns:a16="http://schemas.microsoft.com/office/drawing/2014/main" id="{F4D00545-2E36-404F-4663-16463BFE7F9F}"/>
                </a:ext>
              </a:extLst>
            </p:cNvPr>
            <p:cNvCxnSpPr>
              <a:cxnSpLocks/>
              <a:stCxn id="146" idx="6"/>
              <a:endCxn id="139" idx="2"/>
            </p:cNvCxnSpPr>
            <p:nvPr/>
          </p:nvCxnSpPr>
          <p:spPr>
            <a:xfrm flipV="1">
              <a:off x="10835914" y="5086212"/>
              <a:ext cx="208566" cy="165336"/>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grpSp>
      <p:sp>
        <p:nvSpPr>
          <p:cNvPr id="150" name="Text Placeholder 4">
            <a:extLst>
              <a:ext uri="{FF2B5EF4-FFF2-40B4-BE49-F238E27FC236}">
                <a16:creationId xmlns:a16="http://schemas.microsoft.com/office/drawing/2014/main" id="{8DB89AAD-8CA3-18FA-DB23-01DB89329883}"/>
              </a:ext>
            </a:extLst>
          </p:cNvPr>
          <p:cNvSpPr txBox="1">
            <a:spLocks/>
          </p:cNvSpPr>
          <p:nvPr/>
        </p:nvSpPr>
        <p:spPr>
          <a:xfrm>
            <a:off x="9223302" y="1348742"/>
            <a:ext cx="3008303" cy="797457"/>
          </a:xfrm>
          <a:prstGeom prst="rect">
            <a:avLst/>
          </a:prstGeom>
        </p:spPr>
        <p:txBody>
          <a:bodyPr vert="horz" lIns="0" tIns="0" rIns="0" bIns="0" rtlCol="0" anchor="ctr">
            <a:noAutofit/>
          </a:bodyPr>
          <a:lstStyle>
            <a:lvl1pPr marL="0" indent="0" algn="l" rtl="0" eaLnBrk="1" fontAlgn="base" hangingPunct="1">
              <a:lnSpc>
                <a:spcPct val="110000"/>
              </a:lnSpc>
              <a:spcBef>
                <a:spcPts val="1200"/>
              </a:spcBef>
              <a:spcAft>
                <a:spcPct val="0"/>
              </a:spcAft>
              <a:buFont typeface="Arial" pitchFamily="34" charset="0"/>
              <a:buNone/>
              <a:defRPr lang="en-US" sz="1600" b="1" i="0" kern="1200" cap="all" baseline="0" dirty="0">
                <a:solidFill>
                  <a:schemeClr val="accent1"/>
                </a:solidFill>
                <a:latin typeface="Graphik"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itchFamily="34" charset="0"/>
              <a:buNone/>
              <a:tabLst/>
              <a:defRPr/>
            </a:pPr>
            <a:r>
              <a:rPr kumimoji="0" lang="en-U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t>Eventual Consistency Transaction across subdomains </a:t>
            </a:r>
            <a:br>
              <a:rPr kumimoji="0" lang="en-U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br>
            <a:r>
              <a:rPr kumimoji="0" lang="en-U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t>(one of the sub-domains is Mainframe)</a:t>
            </a:r>
          </a:p>
        </p:txBody>
      </p:sp>
      <p:cxnSp>
        <p:nvCxnSpPr>
          <p:cNvPr id="151" name="Straight Connector 150">
            <a:extLst>
              <a:ext uri="{FF2B5EF4-FFF2-40B4-BE49-F238E27FC236}">
                <a16:creationId xmlns:a16="http://schemas.microsoft.com/office/drawing/2014/main" id="{CEDA3140-392B-9A32-4785-EDAB9B3D68FA}"/>
              </a:ext>
            </a:extLst>
          </p:cNvPr>
          <p:cNvCxnSpPr/>
          <p:nvPr/>
        </p:nvCxnSpPr>
        <p:spPr>
          <a:xfrm>
            <a:off x="3070069" y="1348742"/>
            <a:ext cx="0" cy="26390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9179A009-71BB-8F9F-2752-D0B4CCE6323F}"/>
              </a:ext>
            </a:extLst>
          </p:cNvPr>
          <p:cNvCxnSpPr/>
          <p:nvPr/>
        </p:nvCxnSpPr>
        <p:spPr>
          <a:xfrm>
            <a:off x="6012172" y="1348742"/>
            <a:ext cx="0" cy="26390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C01F2B16-1708-6012-B43B-DCA129210866}"/>
              </a:ext>
            </a:extLst>
          </p:cNvPr>
          <p:cNvCxnSpPr/>
          <p:nvPr/>
        </p:nvCxnSpPr>
        <p:spPr>
          <a:xfrm>
            <a:off x="9161603" y="1348742"/>
            <a:ext cx="0" cy="2639092"/>
          </a:xfrm>
          <a:prstGeom prst="line">
            <a:avLst/>
          </a:prstGeom>
        </p:spPr>
        <p:style>
          <a:lnRef idx="1">
            <a:schemeClr val="accent1"/>
          </a:lnRef>
          <a:fillRef idx="0">
            <a:schemeClr val="accent1"/>
          </a:fillRef>
          <a:effectRef idx="0">
            <a:schemeClr val="accent1"/>
          </a:effectRef>
          <a:fontRef idx="minor">
            <a:schemeClr val="tx1"/>
          </a:fontRef>
        </p:style>
      </p:cxnSp>
      <p:sp>
        <p:nvSpPr>
          <p:cNvPr id="154" name="Text Placeholder 5">
            <a:extLst>
              <a:ext uri="{FF2B5EF4-FFF2-40B4-BE49-F238E27FC236}">
                <a16:creationId xmlns:a16="http://schemas.microsoft.com/office/drawing/2014/main" id="{A6CEF50B-F6D4-F665-4E76-1B6BC47DC8DE}"/>
              </a:ext>
            </a:extLst>
          </p:cNvPr>
          <p:cNvSpPr txBox="1">
            <a:spLocks/>
          </p:cNvSpPr>
          <p:nvPr/>
        </p:nvSpPr>
        <p:spPr>
          <a:xfrm>
            <a:off x="294813" y="2348696"/>
            <a:ext cx="2608408" cy="1419362"/>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914400" rtl="0" eaLnBrk="1" fontAlgn="base" latinLnBrk="0" hangingPunct="1">
              <a:lnSpc>
                <a:spcPct val="110000"/>
              </a:lnSpc>
              <a:spcBef>
                <a:spcPts val="1200"/>
              </a:spcBef>
              <a:spcAft>
                <a:spcPct val="0"/>
              </a:spcAft>
              <a:buClrTx/>
              <a:buSzTx/>
              <a:buFont typeface="Arial" pitchFamily="34" charset="0"/>
              <a:buNone/>
              <a:tabLst/>
              <a:defRPr/>
            </a:pPr>
            <a:r>
              <a:rPr kumimoji="0" lang="en-US" sz="1400" b="0" i="0" u="none" strike="noStrike" kern="1200" cap="none" spc="0" normalizeH="0" baseline="0" noProof="0">
                <a:ln>
                  <a:noFill/>
                </a:ln>
                <a:solidFill>
                  <a:srgbClr val="000000"/>
                </a:solidFill>
                <a:effectLst/>
                <a:uLnTx/>
                <a:uFillTx/>
                <a:latin typeface="Graphik Regular" panose="020B0503030202060203" pitchFamily="34" charset="77"/>
                <a:ea typeface="Roboto" panose="02000000000000000000" pitchFamily="2" charset="0"/>
                <a:cs typeface="Arial" panose="020B0604020202020204" pitchFamily="34" charset="0"/>
              </a:rPr>
              <a:t>Transaction management based on database</a:t>
            </a:r>
          </a:p>
        </p:txBody>
      </p:sp>
      <p:sp>
        <p:nvSpPr>
          <p:cNvPr id="155" name="Text Placeholder 5">
            <a:extLst>
              <a:ext uri="{FF2B5EF4-FFF2-40B4-BE49-F238E27FC236}">
                <a16:creationId xmlns:a16="http://schemas.microsoft.com/office/drawing/2014/main" id="{147266C6-0438-A447-0D09-DD2B602F6A14}"/>
              </a:ext>
            </a:extLst>
          </p:cNvPr>
          <p:cNvSpPr txBox="1">
            <a:spLocks/>
          </p:cNvSpPr>
          <p:nvPr/>
        </p:nvSpPr>
        <p:spPr>
          <a:xfrm>
            <a:off x="3236916" y="2348696"/>
            <a:ext cx="2608408" cy="1419362"/>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914400" rtl="0" eaLnBrk="1" fontAlgn="base" latinLnBrk="0" hangingPunct="1">
              <a:lnSpc>
                <a:spcPct val="110000"/>
              </a:lnSpc>
              <a:spcBef>
                <a:spcPts val="1200"/>
              </a:spcBef>
              <a:spcAft>
                <a:spcPct val="0"/>
              </a:spcAft>
              <a:buClrTx/>
              <a:buSzTx/>
              <a:buFont typeface="Arial" pitchFamily="34" charset="0"/>
              <a:buNone/>
              <a:tabLst/>
              <a:defRPr/>
            </a:pPr>
            <a:r>
              <a:rPr kumimoji="0" lang="en-US" sz="1400" b="0" i="0" u="none" strike="noStrike" kern="1200" cap="none" spc="0" normalizeH="0" baseline="0" noProof="0" dirty="0">
                <a:ln>
                  <a:noFill/>
                </a:ln>
                <a:solidFill>
                  <a:srgbClr val="000000"/>
                </a:solidFill>
                <a:effectLst/>
                <a:uLnTx/>
                <a:uFillTx/>
                <a:latin typeface="Graphik Regular" panose="020B0503030202060203" pitchFamily="34" charset="77"/>
                <a:ea typeface="Roboto" panose="02000000000000000000" pitchFamily="2" charset="0"/>
                <a:cs typeface="Arial" panose="020B0604020202020204" pitchFamily="34" charset="0"/>
              </a:rPr>
              <a:t>Transaction management based JTA protocol. ActiveMQ must be used as message broker</a:t>
            </a:r>
          </a:p>
        </p:txBody>
      </p:sp>
      <p:sp>
        <p:nvSpPr>
          <p:cNvPr id="156" name="Text Placeholder 5">
            <a:extLst>
              <a:ext uri="{FF2B5EF4-FFF2-40B4-BE49-F238E27FC236}">
                <a16:creationId xmlns:a16="http://schemas.microsoft.com/office/drawing/2014/main" id="{CC0FA6E6-130C-649A-5C24-0089EA5F7E17}"/>
              </a:ext>
            </a:extLst>
          </p:cNvPr>
          <p:cNvSpPr txBox="1">
            <a:spLocks/>
          </p:cNvSpPr>
          <p:nvPr/>
        </p:nvSpPr>
        <p:spPr>
          <a:xfrm>
            <a:off x="6282683" y="2348696"/>
            <a:ext cx="2608408" cy="1419362"/>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914400" rtl="0" eaLnBrk="1" fontAlgn="base" latinLnBrk="0" hangingPunct="1">
              <a:lnSpc>
                <a:spcPct val="110000"/>
              </a:lnSpc>
              <a:spcBef>
                <a:spcPts val="1200"/>
              </a:spcBef>
              <a:spcAft>
                <a:spcPct val="0"/>
              </a:spcAft>
              <a:buClrTx/>
              <a:buSzTx/>
              <a:buFont typeface="Arial" pitchFamily="34" charset="0"/>
              <a:buNone/>
              <a:tabLst/>
              <a:defRPr/>
            </a:pPr>
            <a:r>
              <a:rPr kumimoji="0" lang="en-US" sz="1400" b="0" i="0" u="none" strike="noStrike" kern="1200" cap="none" spc="0" normalizeH="0" baseline="0" noProof="0">
                <a:ln>
                  <a:noFill/>
                </a:ln>
                <a:solidFill>
                  <a:srgbClr val="000000"/>
                </a:solidFill>
                <a:effectLst/>
                <a:uLnTx/>
                <a:uFillTx/>
                <a:latin typeface="Graphik Regular" panose="020B0503030202060203" pitchFamily="34" charset="77"/>
                <a:ea typeface="Roboto" panose="02000000000000000000" pitchFamily="2" charset="0"/>
                <a:cs typeface="Arial" panose="020B0604020202020204" pitchFamily="34" charset="0"/>
              </a:rPr>
              <a:t>Transaction management based on eventual consistency mechanism (SAGA pattern or similar)</a:t>
            </a:r>
          </a:p>
        </p:txBody>
      </p:sp>
      <p:sp>
        <p:nvSpPr>
          <p:cNvPr id="157" name="Text Placeholder 5">
            <a:extLst>
              <a:ext uri="{FF2B5EF4-FFF2-40B4-BE49-F238E27FC236}">
                <a16:creationId xmlns:a16="http://schemas.microsoft.com/office/drawing/2014/main" id="{ED2BA2C4-E8D4-4522-6392-AF77671D8DA8}"/>
              </a:ext>
            </a:extLst>
          </p:cNvPr>
          <p:cNvSpPr txBox="1">
            <a:spLocks/>
          </p:cNvSpPr>
          <p:nvPr/>
        </p:nvSpPr>
        <p:spPr>
          <a:xfrm>
            <a:off x="9423249" y="2348696"/>
            <a:ext cx="2608408" cy="1419362"/>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914400" rtl="0" eaLnBrk="1" fontAlgn="base" latinLnBrk="0" hangingPunct="1">
              <a:lnSpc>
                <a:spcPct val="110000"/>
              </a:lnSpc>
              <a:spcBef>
                <a:spcPts val="1200"/>
              </a:spcBef>
              <a:spcAft>
                <a:spcPct val="0"/>
              </a:spcAft>
              <a:buClrTx/>
              <a:buSzTx/>
              <a:buFont typeface="Arial" pitchFamily="34" charset="0"/>
              <a:buNone/>
              <a:tabLst/>
              <a:defRPr/>
            </a:pPr>
            <a:r>
              <a:rPr kumimoji="0" lang="en-US" sz="1400" b="0" i="0" u="none" strike="noStrike" kern="1200" cap="none" spc="0" normalizeH="0" baseline="0" noProof="0">
                <a:ln>
                  <a:noFill/>
                </a:ln>
                <a:solidFill>
                  <a:srgbClr val="000000"/>
                </a:solidFill>
                <a:effectLst/>
                <a:uLnTx/>
                <a:uFillTx/>
                <a:latin typeface="Graphik Regular" panose="020B0503030202060203" pitchFamily="34" charset="77"/>
                <a:ea typeface="Roboto" panose="02000000000000000000" pitchFamily="2" charset="0"/>
                <a:cs typeface="Arial" panose="020B0604020202020204" pitchFamily="34" charset="0"/>
              </a:rPr>
              <a:t>Transaction management based a eventual consistency mechanism (SAGA pattern)</a:t>
            </a:r>
          </a:p>
        </p:txBody>
      </p:sp>
    </p:spTree>
    <p:extLst>
      <p:ext uri="{BB962C8B-B14F-4D97-AF65-F5344CB8AC3E}">
        <p14:creationId xmlns:p14="http://schemas.microsoft.com/office/powerpoint/2010/main" val="37875926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28B99-E73E-3F93-0D88-E3F6481EEFA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A4FF127-DC7F-0A03-0B0B-36A6DADD3A51}"/>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All rights reserved.</a:t>
            </a:r>
          </a:p>
        </p:txBody>
      </p:sp>
      <p:sp>
        <p:nvSpPr>
          <p:cNvPr id="4" name="Title 1">
            <a:extLst>
              <a:ext uri="{FF2B5EF4-FFF2-40B4-BE49-F238E27FC236}">
                <a16:creationId xmlns:a16="http://schemas.microsoft.com/office/drawing/2014/main" id="{EEDC77DA-95C1-0BCD-88EF-4F736857F3A9}"/>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Interoperability Asset </a:t>
            </a:r>
            <a:r>
              <a:rPr kumimoji="0" lang="en-US" sz="2400" b="1" i="0" u="none" strike="noStrike" kern="1200" cap="none" spc="0" normalizeH="0" baseline="0" noProof="0">
                <a:ln>
                  <a:noFill/>
                </a:ln>
                <a:solidFill>
                  <a:srgbClr val="000000"/>
                </a:solidFill>
                <a:effectLst/>
                <a:uLnTx/>
                <a:uFillTx/>
                <a:latin typeface="Graphik"/>
                <a:ea typeface="+mj-ea"/>
                <a:cs typeface="+mj-cs"/>
              </a:rPr>
              <a:t>| Transaction Management Scenarios</a:t>
            </a:r>
          </a:p>
        </p:txBody>
      </p:sp>
      <p:sp>
        <p:nvSpPr>
          <p:cNvPr id="5" name="Content Placeholder 34">
            <a:extLst>
              <a:ext uri="{FF2B5EF4-FFF2-40B4-BE49-F238E27FC236}">
                <a16:creationId xmlns:a16="http://schemas.microsoft.com/office/drawing/2014/main" id="{83CEB13D-B90C-3635-61FC-D0E2E4081AB5}"/>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Updating Information in a Distributed Architecture – Decision Tree</a:t>
            </a:r>
          </a:p>
        </p:txBody>
      </p:sp>
      <p:sp>
        <p:nvSpPr>
          <p:cNvPr id="6" name="Rectangle 5">
            <a:extLst>
              <a:ext uri="{FF2B5EF4-FFF2-40B4-BE49-F238E27FC236}">
                <a16:creationId xmlns:a16="http://schemas.microsoft.com/office/drawing/2014/main" id="{5E55FF19-14DE-7711-88E2-490DA1269D2E}"/>
              </a:ext>
            </a:extLst>
          </p:cNvPr>
          <p:cNvSpPr/>
          <p:nvPr/>
        </p:nvSpPr>
        <p:spPr>
          <a:xfrm>
            <a:off x="282133" y="3076391"/>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Application to update  information</a:t>
            </a:r>
          </a:p>
        </p:txBody>
      </p:sp>
      <p:sp>
        <p:nvSpPr>
          <p:cNvPr id="7" name="Rectangle 6">
            <a:extLst>
              <a:ext uri="{FF2B5EF4-FFF2-40B4-BE49-F238E27FC236}">
                <a16:creationId xmlns:a16="http://schemas.microsoft.com/office/drawing/2014/main" id="{D78F6C0A-09FD-FA73-C3A8-125D2BEFC6A8}"/>
              </a:ext>
            </a:extLst>
          </p:cNvPr>
          <p:cNvSpPr/>
          <p:nvPr/>
        </p:nvSpPr>
        <p:spPr>
          <a:xfrm>
            <a:off x="2272477" y="1656172"/>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Single resource (database, bucket, JMS, …)</a:t>
            </a:r>
          </a:p>
        </p:txBody>
      </p:sp>
      <p:sp>
        <p:nvSpPr>
          <p:cNvPr id="8" name="Rectangle 7">
            <a:extLst>
              <a:ext uri="{FF2B5EF4-FFF2-40B4-BE49-F238E27FC236}">
                <a16:creationId xmlns:a16="http://schemas.microsoft.com/office/drawing/2014/main" id="{B3D663E1-7C68-04DB-BCD9-2123ACB4A6ED}"/>
              </a:ext>
            </a:extLst>
          </p:cNvPr>
          <p:cNvSpPr/>
          <p:nvPr/>
        </p:nvSpPr>
        <p:spPr>
          <a:xfrm>
            <a:off x="2272477" y="4168952"/>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Multiple resource (DB models, DB+JMS)</a:t>
            </a:r>
          </a:p>
        </p:txBody>
      </p:sp>
      <p:sp>
        <p:nvSpPr>
          <p:cNvPr id="9" name="Rectangle 8">
            <a:extLst>
              <a:ext uri="{FF2B5EF4-FFF2-40B4-BE49-F238E27FC236}">
                <a16:creationId xmlns:a16="http://schemas.microsoft.com/office/drawing/2014/main" id="{7FD306F0-751E-2EDA-C15A-1682973AF49E}"/>
              </a:ext>
            </a:extLst>
          </p:cNvPr>
          <p:cNvSpPr/>
          <p:nvPr/>
        </p:nvSpPr>
        <p:spPr>
          <a:xfrm>
            <a:off x="4262821" y="4168952"/>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Re-design application</a:t>
            </a:r>
          </a:p>
        </p:txBody>
      </p:sp>
      <p:sp>
        <p:nvSpPr>
          <p:cNvPr id="10" name="Rectangle 9">
            <a:extLst>
              <a:ext uri="{FF2B5EF4-FFF2-40B4-BE49-F238E27FC236}">
                <a16:creationId xmlns:a16="http://schemas.microsoft.com/office/drawing/2014/main" id="{2B83B6CF-D783-3B6E-67DA-4D001A09A42A}"/>
              </a:ext>
            </a:extLst>
          </p:cNvPr>
          <p:cNvSpPr/>
          <p:nvPr/>
        </p:nvSpPr>
        <p:spPr>
          <a:xfrm>
            <a:off x="6253165" y="2996381"/>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Same subdomain</a:t>
            </a:r>
          </a:p>
        </p:txBody>
      </p:sp>
      <p:sp>
        <p:nvSpPr>
          <p:cNvPr id="11" name="Rectangle 10">
            <a:extLst>
              <a:ext uri="{FF2B5EF4-FFF2-40B4-BE49-F238E27FC236}">
                <a16:creationId xmlns:a16="http://schemas.microsoft.com/office/drawing/2014/main" id="{8FEE2C8D-C501-3E0E-595F-78015945010C}"/>
              </a:ext>
            </a:extLst>
          </p:cNvPr>
          <p:cNvSpPr/>
          <p:nvPr/>
        </p:nvSpPr>
        <p:spPr>
          <a:xfrm>
            <a:off x="6253165" y="5201440"/>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Different subdomain</a:t>
            </a:r>
          </a:p>
        </p:txBody>
      </p:sp>
      <p:sp>
        <p:nvSpPr>
          <p:cNvPr id="12" name="Rectangle 11">
            <a:extLst>
              <a:ext uri="{FF2B5EF4-FFF2-40B4-BE49-F238E27FC236}">
                <a16:creationId xmlns:a16="http://schemas.microsoft.com/office/drawing/2014/main" id="{7350B57B-4AF5-503A-6BB6-1A050B6992BB}"/>
              </a:ext>
            </a:extLst>
          </p:cNvPr>
          <p:cNvSpPr/>
          <p:nvPr/>
        </p:nvSpPr>
        <p:spPr>
          <a:xfrm>
            <a:off x="10233853" y="1656172"/>
            <a:ext cx="182956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Use 2PC transaction protocol or eventual consistency</a:t>
            </a:r>
          </a:p>
        </p:txBody>
      </p:sp>
      <p:sp>
        <p:nvSpPr>
          <p:cNvPr id="13" name="Rectangle 12">
            <a:extLst>
              <a:ext uri="{FF2B5EF4-FFF2-40B4-BE49-F238E27FC236}">
                <a16:creationId xmlns:a16="http://schemas.microsoft.com/office/drawing/2014/main" id="{E26800F2-31BA-E648-1AD0-32EAA8AE6FC6}"/>
              </a:ext>
            </a:extLst>
          </p:cNvPr>
          <p:cNvSpPr/>
          <p:nvPr/>
        </p:nvSpPr>
        <p:spPr>
          <a:xfrm>
            <a:off x="10233853" y="3538841"/>
            <a:ext cx="182956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Eventual consistency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(SAGA pattern)</a:t>
            </a:r>
          </a:p>
        </p:txBody>
      </p:sp>
      <p:sp>
        <p:nvSpPr>
          <p:cNvPr id="14" name="Rectangle 13">
            <a:extLst>
              <a:ext uri="{FF2B5EF4-FFF2-40B4-BE49-F238E27FC236}">
                <a16:creationId xmlns:a16="http://schemas.microsoft.com/office/drawing/2014/main" id="{95D0FD39-D16D-144B-33F2-9B80872C9691}"/>
              </a:ext>
            </a:extLst>
          </p:cNvPr>
          <p:cNvSpPr/>
          <p:nvPr/>
        </p:nvSpPr>
        <p:spPr>
          <a:xfrm>
            <a:off x="8243509" y="2402021"/>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XA resources</a:t>
            </a:r>
          </a:p>
        </p:txBody>
      </p:sp>
      <p:sp>
        <p:nvSpPr>
          <p:cNvPr id="15" name="Rectangle 14">
            <a:extLst>
              <a:ext uri="{FF2B5EF4-FFF2-40B4-BE49-F238E27FC236}">
                <a16:creationId xmlns:a16="http://schemas.microsoft.com/office/drawing/2014/main" id="{5EF36879-A774-0DA0-A3B6-30864CF148FE}"/>
              </a:ext>
            </a:extLst>
          </p:cNvPr>
          <p:cNvSpPr/>
          <p:nvPr/>
        </p:nvSpPr>
        <p:spPr>
          <a:xfrm>
            <a:off x="8243509" y="3541210"/>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Non XA resources</a:t>
            </a:r>
          </a:p>
        </p:txBody>
      </p:sp>
      <p:cxnSp>
        <p:nvCxnSpPr>
          <p:cNvPr id="16" name="Straight Arrow Connector 6">
            <a:extLst>
              <a:ext uri="{FF2B5EF4-FFF2-40B4-BE49-F238E27FC236}">
                <a16:creationId xmlns:a16="http://schemas.microsoft.com/office/drawing/2014/main" id="{8E06FCC4-5821-A9A9-19D9-BB7E21079C00}"/>
              </a:ext>
            </a:extLst>
          </p:cNvPr>
          <p:cNvCxnSpPr>
            <a:stCxn id="6" idx="3"/>
            <a:endCxn id="7" idx="1"/>
          </p:cNvCxnSpPr>
          <p:nvPr/>
        </p:nvCxnSpPr>
        <p:spPr>
          <a:xfrm flipV="1">
            <a:off x="1840423" y="1946995"/>
            <a:ext cx="432054" cy="1420219"/>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6">
            <a:extLst>
              <a:ext uri="{FF2B5EF4-FFF2-40B4-BE49-F238E27FC236}">
                <a16:creationId xmlns:a16="http://schemas.microsoft.com/office/drawing/2014/main" id="{572A4E2C-F06A-16FA-E177-7F2F448A1AEB}"/>
              </a:ext>
            </a:extLst>
          </p:cNvPr>
          <p:cNvCxnSpPr>
            <a:cxnSpLocks/>
            <a:stCxn id="6" idx="3"/>
            <a:endCxn id="8" idx="1"/>
          </p:cNvCxnSpPr>
          <p:nvPr/>
        </p:nvCxnSpPr>
        <p:spPr>
          <a:xfrm>
            <a:off x="1840423" y="3367214"/>
            <a:ext cx="432054" cy="1092561"/>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6">
            <a:extLst>
              <a:ext uri="{FF2B5EF4-FFF2-40B4-BE49-F238E27FC236}">
                <a16:creationId xmlns:a16="http://schemas.microsoft.com/office/drawing/2014/main" id="{E3A3FDF4-44F9-2DFD-B526-894196385D67}"/>
              </a:ext>
            </a:extLst>
          </p:cNvPr>
          <p:cNvCxnSpPr>
            <a:cxnSpLocks/>
            <a:stCxn id="7" idx="3"/>
            <a:endCxn id="12" idx="1"/>
          </p:cNvCxnSpPr>
          <p:nvPr/>
        </p:nvCxnSpPr>
        <p:spPr>
          <a:xfrm>
            <a:off x="3830767" y="1946995"/>
            <a:ext cx="6403086" cy="0"/>
          </a:xfrm>
          <a:prstGeom prst="straightConnector1">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6">
            <a:extLst>
              <a:ext uri="{FF2B5EF4-FFF2-40B4-BE49-F238E27FC236}">
                <a16:creationId xmlns:a16="http://schemas.microsoft.com/office/drawing/2014/main" id="{17055990-BA07-CF4C-8794-F0C557F70F1F}"/>
              </a:ext>
            </a:extLst>
          </p:cNvPr>
          <p:cNvCxnSpPr>
            <a:cxnSpLocks/>
            <a:stCxn id="8" idx="3"/>
            <a:endCxn id="9" idx="1"/>
          </p:cNvCxnSpPr>
          <p:nvPr/>
        </p:nvCxnSpPr>
        <p:spPr>
          <a:xfrm>
            <a:off x="3830767" y="4459775"/>
            <a:ext cx="432054" cy="0"/>
          </a:xfrm>
          <a:prstGeom prst="straightConnector1">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6">
            <a:extLst>
              <a:ext uri="{FF2B5EF4-FFF2-40B4-BE49-F238E27FC236}">
                <a16:creationId xmlns:a16="http://schemas.microsoft.com/office/drawing/2014/main" id="{0CCF1667-3146-470D-8002-BBC346F7C5B2}"/>
              </a:ext>
            </a:extLst>
          </p:cNvPr>
          <p:cNvCxnSpPr>
            <a:cxnSpLocks/>
            <a:stCxn id="9" idx="3"/>
            <a:endCxn id="10" idx="1"/>
          </p:cNvCxnSpPr>
          <p:nvPr/>
        </p:nvCxnSpPr>
        <p:spPr>
          <a:xfrm flipV="1">
            <a:off x="5821111" y="3287204"/>
            <a:ext cx="432054" cy="1172571"/>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6">
            <a:extLst>
              <a:ext uri="{FF2B5EF4-FFF2-40B4-BE49-F238E27FC236}">
                <a16:creationId xmlns:a16="http://schemas.microsoft.com/office/drawing/2014/main" id="{7A8F941D-A17E-EAB0-F616-40286C5C3E44}"/>
              </a:ext>
            </a:extLst>
          </p:cNvPr>
          <p:cNvCxnSpPr>
            <a:cxnSpLocks/>
            <a:stCxn id="9" idx="3"/>
            <a:endCxn id="11" idx="1"/>
          </p:cNvCxnSpPr>
          <p:nvPr/>
        </p:nvCxnSpPr>
        <p:spPr>
          <a:xfrm>
            <a:off x="5821111" y="4459775"/>
            <a:ext cx="432054" cy="1032488"/>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6">
            <a:extLst>
              <a:ext uri="{FF2B5EF4-FFF2-40B4-BE49-F238E27FC236}">
                <a16:creationId xmlns:a16="http://schemas.microsoft.com/office/drawing/2014/main" id="{E2391643-072F-F694-D88B-8B7AF8DBD893}"/>
              </a:ext>
            </a:extLst>
          </p:cNvPr>
          <p:cNvCxnSpPr>
            <a:cxnSpLocks/>
            <a:stCxn id="10" idx="3"/>
            <a:endCxn id="14" idx="1"/>
          </p:cNvCxnSpPr>
          <p:nvPr/>
        </p:nvCxnSpPr>
        <p:spPr>
          <a:xfrm flipV="1">
            <a:off x="7811455" y="2692844"/>
            <a:ext cx="432054" cy="594360"/>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6">
            <a:extLst>
              <a:ext uri="{FF2B5EF4-FFF2-40B4-BE49-F238E27FC236}">
                <a16:creationId xmlns:a16="http://schemas.microsoft.com/office/drawing/2014/main" id="{40C8FFBA-BB28-2E9A-6EBE-B5AEFCB8C596}"/>
              </a:ext>
            </a:extLst>
          </p:cNvPr>
          <p:cNvCxnSpPr>
            <a:cxnSpLocks/>
            <a:stCxn id="10" idx="3"/>
            <a:endCxn id="15" idx="1"/>
          </p:cNvCxnSpPr>
          <p:nvPr/>
        </p:nvCxnSpPr>
        <p:spPr>
          <a:xfrm>
            <a:off x="7811455" y="3287204"/>
            <a:ext cx="432054" cy="544829"/>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6">
            <a:extLst>
              <a:ext uri="{FF2B5EF4-FFF2-40B4-BE49-F238E27FC236}">
                <a16:creationId xmlns:a16="http://schemas.microsoft.com/office/drawing/2014/main" id="{076AC894-1EF8-E869-2B84-8A70C091FE35}"/>
              </a:ext>
            </a:extLst>
          </p:cNvPr>
          <p:cNvCxnSpPr>
            <a:cxnSpLocks/>
            <a:stCxn id="14" idx="3"/>
            <a:endCxn id="12" idx="1"/>
          </p:cNvCxnSpPr>
          <p:nvPr/>
        </p:nvCxnSpPr>
        <p:spPr>
          <a:xfrm flipV="1">
            <a:off x="9801799" y="1946995"/>
            <a:ext cx="432054" cy="745849"/>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6">
            <a:extLst>
              <a:ext uri="{FF2B5EF4-FFF2-40B4-BE49-F238E27FC236}">
                <a16:creationId xmlns:a16="http://schemas.microsoft.com/office/drawing/2014/main" id="{655D36D4-295C-999C-9BEA-4DA256814FFC}"/>
              </a:ext>
            </a:extLst>
          </p:cNvPr>
          <p:cNvCxnSpPr>
            <a:cxnSpLocks/>
            <a:stCxn id="15" idx="3"/>
            <a:endCxn id="13" idx="1"/>
          </p:cNvCxnSpPr>
          <p:nvPr/>
        </p:nvCxnSpPr>
        <p:spPr>
          <a:xfrm flipV="1">
            <a:off x="9801799" y="3829664"/>
            <a:ext cx="432054" cy="2369"/>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6">
            <a:extLst>
              <a:ext uri="{FF2B5EF4-FFF2-40B4-BE49-F238E27FC236}">
                <a16:creationId xmlns:a16="http://schemas.microsoft.com/office/drawing/2014/main" id="{4711C40F-BD14-22FF-8C7D-82886AFEE09C}"/>
              </a:ext>
            </a:extLst>
          </p:cNvPr>
          <p:cNvCxnSpPr>
            <a:cxnSpLocks/>
            <a:stCxn id="11" idx="3"/>
            <a:endCxn id="13" idx="1"/>
          </p:cNvCxnSpPr>
          <p:nvPr/>
        </p:nvCxnSpPr>
        <p:spPr>
          <a:xfrm flipV="1">
            <a:off x="7811455" y="3829664"/>
            <a:ext cx="2422398" cy="1662599"/>
          </a:xfrm>
          <a:prstGeom prst="bentConnector3">
            <a:avLst>
              <a:gd name="adj1" fmla="val 87748"/>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6">
            <a:extLst>
              <a:ext uri="{FF2B5EF4-FFF2-40B4-BE49-F238E27FC236}">
                <a16:creationId xmlns:a16="http://schemas.microsoft.com/office/drawing/2014/main" id="{87AA9141-7A80-667E-E5BF-7CADA4738C90}"/>
              </a:ext>
            </a:extLst>
          </p:cNvPr>
          <p:cNvCxnSpPr>
            <a:cxnSpLocks/>
          </p:cNvCxnSpPr>
          <p:nvPr/>
        </p:nvCxnSpPr>
        <p:spPr>
          <a:xfrm flipH="1" flipV="1">
            <a:off x="2895793" y="2319919"/>
            <a:ext cx="1981200" cy="1772811"/>
          </a:xfrm>
          <a:prstGeom prst="straightConnector1">
            <a:avLst/>
          </a:prstGeom>
          <a:ln>
            <a:solidFill>
              <a:srgbClr val="0033CC"/>
            </a:solidFill>
            <a:prstDash val="dash"/>
            <a:tailEnd type="triangle" w="lg" len="lg"/>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3BB4BD7A-26F6-D448-0FCF-8996B41F2F85}"/>
              </a:ext>
            </a:extLst>
          </p:cNvPr>
          <p:cNvSpPr/>
          <p:nvPr/>
        </p:nvSpPr>
        <p:spPr>
          <a:xfrm>
            <a:off x="10233853" y="5421510"/>
            <a:ext cx="182956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Async notification with queues</a:t>
            </a:r>
          </a:p>
        </p:txBody>
      </p:sp>
      <p:cxnSp>
        <p:nvCxnSpPr>
          <p:cNvPr id="29" name="Straight Arrow Connector 6">
            <a:extLst>
              <a:ext uri="{FF2B5EF4-FFF2-40B4-BE49-F238E27FC236}">
                <a16:creationId xmlns:a16="http://schemas.microsoft.com/office/drawing/2014/main" id="{24FD711C-36A0-F38F-797D-C44E83FA2ED2}"/>
              </a:ext>
            </a:extLst>
          </p:cNvPr>
          <p:cNvCxnSpPr>
            <a:cxnSpLocks/>
            <a:stCxn id="11" idx="3"/>
            <a:endCxn id="28" idx="1"/>
          </p:cNvCxnSpPr>
          <p:nvPr/>
        </p:nvCxnSpPr>
        <p:spPr>
          <a:xfrm>
            <a:off x="7811455" y="5492263"/>
            <a:ext cx="2422398" cy="220070"/>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2A917BE7-BA20-9B38-3C3A-369218E7BDDB}"/>
              </a:ext>
            </a:extLst>
          </p:cNvPr>
          <p:cNvSpPr txBox="1"/>
          <p:nvPr/>
        </p:nvSpPr>
        <p:spPr>
          <a:xfrm>
            <a:off x="4353499" y="4826820"/>
            <a:ext cx="1467612" cy="815608"/>
          </a:xfrm>
          <a:prstGeom prst="rect">
            <a:avLst/>
          </a:prstGeom>
          <a:noFill/>
        </p:spPr>
        <p:txBody>
          <a:bodyPr wrap="squar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00" b="0" i="0" u="none" strike="noStrike" kern="1200" cap="none" spc="0" normalizeH="0" baseline="0" noProof="0">
                <a:ln>
                  <a:noFill/>
                </a:ln>
                <a:solidFill>
                  <a:srgbClr val="000000"/>
                </a:solidFill>
                <a:effectLst/>
                <a:uLnTx/>
                <a:uFillTx/>
                <a:latin typeface="Graphik"/>
                <a:ea typeface="+mn-ea"/>
                <a:cs typeface="+mn-cs"/>
              </a:rPr>
              <a:t>(*) Distributed Transactional mechanisms will affect performance and scalability</a:t>
            </a:r>
          </a:p>
        </p:txBody>
      </p:sp>
      <p:sp>
        <p:nvSpPr>
          <p:cNvPr id="31" name="TextBox 30">
            <a:extLst>
              <a:ext uri="{FF2B5EF4-FFF2-40B4-BE49-F238E27FC236}">
                <a16:creationId xmlns:a16="http://schemas.microsoft.com/office/drawing/2014/main" id="{CAF6F0DC-5F99-75DF-E976-9B8C75D154AC}"/>
              </a:ext>
            </a:extLst>
          </p:cNvPr>
          <p:cNvSpPr txBox="1"/>
          <p:nvPr/>
        </p:nvSpPr>
        <p:spPr>
          <a:xfrm>
            <a:off x="4056317" y="1688173"/>
            <a:ext cx="4187192" cy="215444"/>
          </a:xfrm>
          <a:prstGeom prst="rect">
            <a:avLst/>
          </a:prstGeom>
          <a:noFill/>
        </p:spPr>
        <p:txBody>
          <a:bodyPr wrap="squar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100" b="1" i="0" u="none" strike="noStrike" kern="1200" cap="none" spc="0" normalizeH="0" baseline="0" noProof="0">
                <a:ln>
                  <a:noFill/>
                </a:ln>
                <a:solidFill>
                  <a:srgbClr val="000000"/>
                </a:solidFill>
                <a:effectLst/>
                <a:uLnTx/>
                <a:uFillTx/>
                <a:latin typeface="Graphik"/>
                <a:ea typeface="+mn-ea"/>
                <a:cs typeface="+mn-cs"/>
              </a:rPr>
              <a:t>Recommended approach</a:t>
            </a:r>
          </a:p>
        </p:txBody>
      </p:sp>
    </p:spTree>
    <p:extLst>
      <p:ext uri="{BB962C8B-B14F-4D97-AF65-F5344CB8AC3E}">
        <p14:creationId xmlns:p14="http://schemas.microsoft.com/office/powerpoint/2010/main" val="22403008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703DB-22FF-8015-D3E8-4172876A0F73}"/>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09746D6-B32D-5E0F-A3C4-11C239B40E0D}"/>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All rights reserved.</a:t>
            </a:r>
          </a:p>
        </p:txBody>
      </p:sp>
      <p:sp>
        <p:nvSpPr>
          <p:cNvPr id="118" name="Title 1">
            <a:extLst>
              <a:ext uri="{FF2B5EF4-FFF2-40B4-BE49-F238E27FC236}">
                <a16:creationId xmlns:a16="http://schemas.microsoft.com/office/drawing/2014/main" id="{6584EB7F-710F-0F1E-3BEF-FFF58E7342E9}"/>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Interoperability Asset </a:t>
            </a:r>
            <a:r>
              <a:rPr kumimoji="0" lang="en-US" sz="2400" b="1" i="0" u="none" strike="noStrike" kern="1200" cap="none" spc="0" normalizeH="0" baseline="0" noProof="0">
                <a:ln>
                  <a:noFill/>
                </a:ln>
                <a:solidFill>
                  <a:srgbClr val="000000"/>
                </a:solidFill>
                <a:effectLst/>
                <a:uLnTx/>
                <a:uFillTx/>
                <a:latin typeface="Graphik"/>
                <a:ea typeface="+mj-ea"/>
                <a:cs typeface="+mj-cs"/>
              </a:rPr>
              <a:t>| Legacy Adaptors</a:t>
            </a:r>
          </a:p>
        </p:txBody>
      </p:sp>
      <p:sp>
        <p:nvSpPr>
          <p:cNvPr id="119" name="Content Placeholder 34">
            <a:extLst>
              <a:ext uri="{FF2B5EF4-FFF2-40B4-BE49-F238E27FC236}">
                <a16:creationId xmlns:a16="http://schemas.microsoft.com/office/drawing/2014/main" id="{F694E460-1D46-F7CD-4816-D31C6C47E4E1}"/>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Integration with Legacy Platforms (e.g. Mainframe, Unisys ,Tandem…)</a:t>
            </a:r>
          </a:p>
        </p:txBody>
      </p:sp>
      <p:sp>
        <p:nvSpPr>
          <p:cNvPr id="121" name="Rectangle 120">
            <a:extLst>
              <a:ext uri="{FF2B5EF4-FFF2-40B4-BE49-F238E27FC236}">
                <a16:creationId xmlns:a16="http://schemas.microsoft.com/office/drawing/2014/main" id="{C89525A7-825C-DE6C-7AF0-F7112E7D67E3}"/>
              </a:ext>
            </a:extLst>
          </p:cNvPr>
          <p:cNvSpPr/>
          <p:nvPr/>
        </p:nvSpPr>
        <p:spPr>
          <a:xfrm>
            <a:off x="2562571" y="1402897"/>
            <a:ext cx="3970265" cy="1134821"/>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Microservices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Framework</a:t>
            </a:r>
          </a:p>
        </p:txBody>
      </p:sp>
      <p:sp>
        <p:nvSpPr>
          <p:cNvPr id="122" name="Rectangle 121">
            <a:extLst>
              <a:ext uri="{FF2B5EF4-FFF2-40B4-BE49-F238E27FC236}">
                <a16:creationId xmlns:a16="http://schemas.microsoft.com/office/drawing/2014/main" id="{21F676D9-E43C-3C2D-02F7-0D5378AE1761}"/>
              </a:ext>
            </a:extLst>
          </p:cNvPr>
          <p:cNvSpPr/>
          <p:nvPr/>
        </p:nvSpPr>
        <p:spPr>
          <a:xfrm>
            <a:off x="3523415" y="1075709"/>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API Gateway</a:t>
            </a:r>
          </a:p>
        </p:txBody>
      </p:sp>
      <p:grpSp>
        <p:nvGrpSpPr>
          <p:cNvPr id="123" name="Group 122">
            <a:extLst>
              <a:ext uri="{FF2B5EF4-FFF2-40B4-BE49-F238E27FC236}">
                <a16:creationId xmlns:a16="http://schemas.microsoft.com/office/drawing/2014/main" id="{BDD943F3-3A83-4E75-0307-8E835AE5C1B8}"/>
              </a:ext>
            </a:extLst>
          </p:cNvPr>
          <p:cNvGrpSpPr/>
          <p:nvPr/>
        </p:nvGrpSpPr>
        <p:grpSpPr>
          <a:xfrm>
            <a:off x="6032115" y="1303163"/>
            <a:ext cx="612000" cy="180000"/>
            <a:chOff x="2436880" y="1158097"/>
            <a:chExt cx="1080000" cy="360000"/>
          </a:xfrm>
          <a:solidFill>
            <a:schemeClr val="bg1"/>
          </a:solidFill>
        </p:grpSpPr>
        <p:sp>
          <p:nvSpPr>
            <p:cNvPr id="124" name="Rectangle 123">
              <a:extLst>
                <a:ext uri="{FF2B5EF4-FFF2-40B4-BE49-F238E27FC236}">
                  <a16:creationId xmlns:a16="http://schemas.microsoft.com/office/drawing/2014/main" id="{4BE8A610-4D9A-1297-027F-BD98E067BFB1}"/>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125" name="Picture 124">
              <a:extLst>
                <a:ext uri="{FF2B5EF4-FFF2-40B4-BE49-F238E27FC236}">
                  <a16:creationId xmlns:a16="http://schemas.microsoft.com/office/drawing/2014/main" id="{C2BCC2CB-E8EE-87CD-4746-EC3BC57DCC75}"/>
                </a:ext>
              </a:extLst>
            </p:cNvPr>
            <p:cNvPicPr>
              <a:picLocks noChangeAspect="1"/>
            </p:cNvPicPr>
            <p:nvPr/>
          </p:nvPicPr>
          <p:blipFill>
            <a:blip r:embed="rId2"/>
            <a:stretch>
              <a:fillRect/>
            </a:stretch>
          </p:blipFill>
          <p:spPr>
            <a:xfrm>
              <a:off x="2470229" y="1215368"/>
              <a:ext cx="1013303" cy="245459"/>
            </a:xfrm>
            <a:prstGeom prst="rect">
              <a:avLst/>
            </a:prstGeom>
            <a:grpFill/>
          </p:spPr>
        </p:pic>
      </p:grpSp>
      <p:sp>
        <p:nvSpPr>
          <p:cNvPr id="126" name="TextBox 125">
            <a:extLst>
              <a:ext uri="{FF2B5EF4-FFF2-40B4-BE49-F238E27FC236}">
                <a16:creationId xmlns:a16="http://schemas.microsoft.com/office/drawing/2014/main" id="{203BC68B-99F6-16AF-D416-BC62A3A01B17}"/>
              </a:ext>
            </a:extLst>
          </p:cNvPr>
          <p:cNvSpPr txBox="1"/>
          <p:nvPr/>
        </p:nvSpPr>
        <p:spPr>
          <a:xfrm>
            <a:off x="7858568" y="1066370"/>
            <a:ext cx="4169965" cy="3810429"/>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a:ln>
                  <a:noFill/>
                </a:ln>
                <a:solidFill>
                  <a:srgbClr val="000000"/>
                </a:solidFill>
                <a:effectLst/>
                <a:uLnTx/>
                <a:uFillTx/>
                <a:latin typeface="Graphik"/>
                <a:ea typeface="+mn-ea"/>
                <a:cs typeface="+mn-cs"/>
              </a:rPr>
              <a:t>Notes</a:t>
            </a: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Service wrappers in the form of microservices to:</a:t>
            </a:r>
          </a:p>
          <a:p>
            <a:pPr marL="742950" marR="0" lvl="1"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Enable legacy-based services in the form of APIs</a:t>
            </a:r>
          </a:p>
          <a:p>
            <a:pPr marL="742950" marR="0" lvl="1"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Facilitate orchestration with other services</a:t>
            </a:r>
          </a:p>
          <a:p>
            <a:pPr marL="742950" marR="0" lvl="1"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Access to the legacy platform where the actual service reside</a:t>
            </a: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Adaptors bridge from the microservices-based architecture and the legacy platforms</a:t>
            </a: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Some of the elements of the integration framework might only be present tactically (e.g. Tibco)</a:t>
            </a: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Ideally both synchronous and asynchronous integration mechanisms would be convenient, for example using REST services for synchronous communication and MQ other event mechanisms based on Change Data Capture + Kafka</a:t>
            </a: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00" b="0" i="1" u="none" strike="noStrike" kern="1200" cap="none" spc="0" normalizeH="0" baseline="0" noProof="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1" u="none" strike="noStrike" kern="1200" cap="none" spc="0" normalizeH="0" baseline="0" noProof="0">
                <a:ln>
                  <a:noFill/>
                </a:ln>
                <a:solidFill>
                  <a:srgbClr val="000000"/>
                </a:solidFill>
                <a:effectLst/>
                <a:uLnTx/>
                <a:uFillTx/>
                <a:latin typeface="Graphik"/>
                <a:ea typeface="+mn-ea"/>
                <a:cs typeface="+mn-cs"/>
              </a:rPr>
              <a:t>Note: Legacies typically require also batch components and data synchronization mechanisms, not represented here</a:t>
            </a:r>
          </a:p>
        </p:txBody>
      </p:sp>
      <p:sp>
        <p:nvSpPr>
          <p:cNvPr id="127" name="Rectangle 126">
            <a:extLst>
              <a:ext uri="{FF2B5EF4-FFF2-40B4-BE49-F238E27FC236}">
                <a16:creationId xmlns:a16="http://schemas.microsoft.com/office/drawing/2014/main" id="{D78451F9-752E-7A42-F9A9-0C988E877F34}"/>
              </a:ext>
            </a:extLst>
          </p:cNvPr>
          <p:cNvSpPr/>
          <p:nvPr/>
        </p:nvSpPr>
        <p:spPr>
          <a:xfrm>
            <a:off x="3136144" y="1791639"/>
            <a:ext cx="720000"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Service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Wrapper</a:t>
            </a:r>
          </a:p>
        </p:txBody>
      </p:sp>
      <p:sp>
        <p:nvSpPr>
          <p:cNvPr id="128" name="Rectangle 127">
            <a:extLst>
              <a:ext uri="{FF2B5EF4-FFF2-40B4-BE49-F238E27FC236}">
                <a16:creationId xmlns:a16="http://schemas.microsoft.com/office/drawing/2014/main" id="{D90BB212-0F81-04DC-02E7-CE21B2C9435F}"/>
              </a:ext>
            </a:extLst>
          </p:cNvPr>
          <p:cNvSpPr/>
          <p:nvPr/>
        </p:nvSpPr>
        <p:spPr>
          <a:xfrm>
            <a:off x="4187703" y="1791639"/>
            <a:ext cx="720000"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Service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Wrapper</a:t>
            </a:r>
          </a:p>
        </p:txBody>
      </p:sp>
      <p:sp>
        <p:nvSpPr>
          <p:cNvPr id="129" name="Rectangle 128">
            <a:extLst>
              <a:ext uri="{FF2B5EF4-FFF2-40B4-BE49-F238E27FC236}">
                <a16:creationId xmlns:a16="http://schemas.microsoft.com/office/drawing/2014/main" id="{882DECAC-D637-03F8-B480-26FDAB3583AB}"/>
              </a:ext>
            </a:extLst>
          </p:cNvPr>
          <p:cNvSpPr/>
          <p:nvPr/>
        </p:nvSpPr>
        <p:spPr>
          <a:xfrm>
            <a:off x="5233068" y="1791639"/>
            <a:ext cx="720000"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Service Wrapper</a:t>
            </a:r>
          </a:p>
        </p:txBody>
      </p:sp>
      <p:cxnSp>
        <p:nvCxnSpPr>
          <p:cNvPr id="130" name="Connector: Elbow 129">
            <a:extLst>
              <a:ext uri="{FF2B5EF4-FFF2-40B4-BE49-F238E27FC236}">
                <a16:creationId xmlns:a16="http://schemas.microsoft.com/office/drawing/2014/main" id="{6362F1D9-2112-FEAB-421A-1C28A54A8658}"/>
              </a:ext>
            </a:extLst>
          </p:cNvPr>
          <p:cNvCxnSpPr>
            <a:cxnSpLocks/>
            <a:stCxn id="122" idx="2"/>
            <a:endCxn id="127" idx="0"/>
          </p:cNvCxnSpPr>
          <p:nvPr/>
        </p:nvCxnSpPr>
        <p:spPr>
          <a:xfrm rot="5400000">
            <a:off x="3735287" y="988649"/>
            <a:ext cx="563847" cy="1042132"/>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Connector: Elbow 130">
            <a:extLst>
              <a:ext uri="{FF2B5EF4-FFF2-40B4-BE49-F238E27FC236}">
                <a16:creationId xmlns:a16="http://schemas.microsoft.com/office/drawing/2014/main" id="{4518FD97-3D55-CFDA-71A8-5E58E48D5FAA}"/>
              </a:ext>
            </a:extLst>
          </p:cNvPr>
          <p:cNvCxnSpPr>
            <a:cxnSpLocks/>
            <a:stCxn id="122" idx="2"/>
            <a:endCxn id="128" idx="0"/>
          </p:cNvCxnSpPr>
          <p:nvPr/>
        </p:nvCxnSpPr>
        <p:spPr>
          <a:xfrm rot="16200000" flipH="1">
            <a:off x="4261066" y="1505001"/>
            <a:ext cx="563847" cy="9427"/>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Connector: Elbow 131">
            <a:extLst>
              <a:ext uri="{FF2B5EF4-FFF2-40B4-BE49-F238E27FC236}">
                <a16:creationId xmlns:a16="http://schemas.microsoft.com/office/drawing/2014/main" id="{BF9F02F8-AFA4-35C1-7435-880AA1A46A90}"/>
              </a:ext>
            </a:extLst>
          </p:cNvPr>
          <p:cNvCxnSpPr>
            <a:cxnSpLocks/>
            <a:stCxn id="122" idx="2"/>
            <a:endCxn id="129" idx="0"/>
          </p:cNvCxnSpPr>
          <p:nvPr/>
        </p:nvCxnSpPr>
        <p:spPr>
          <a:xfrm rot="16200000" flipH="1">
            <a:off x="4783749" y="982319"/>
            <a:ext cx="563847" cy="1054792"/>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Connector: Elbow 132">
            <a:extLst>
              <a:ext uri="{FF2B5EF4-FFF2-40B4-BE49-F238E27FC236}">
                <a16:creationId xmlns:a16="http://schemas.microsoft.com/office/drawing/2014/main" id="{3C856A6A-DCEE-C5D8-A411-A19D63C35B74}"/>
              </a:ext>
            </a:extLst>
          </p:cNvPr>
          <p:cNvCxnSpPr>
            <a:cxnSpLocks/>
            <a:stCxn id="158" idx="2"/>
            <a:endCxn id="156" idx="0"/>
          </p:cNvCxnSpPr>
          <p:nvPr/>
        </p:nvCxnSpPr>
        <p:spPr>
          <a:xfrm rot="16200000" flipH="1">
            <a:off x="3534305" y="2328128"/>
            <a:ext cx="988082" cy="1075306"/>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4" name="Rectangle 133">
            <a:extLst>
              <a:ext uri="{FF2B5EF4-FFF2-40B4-BE49-F238E27FC236}">
                <a16:creationId xmlns:a16="http://schemas.microsoft.com/office/drawing/2014/main" id="{23D2C322-7A65-2DD2-2B46-2E12E1438958}"/>
              </a:ext>
            </a:extLst>
          </p:cNvPr>
          <p:cNvSpPr/>
          <p:nvPr/>
        </p:nvSpPr>
        <p:spPr>
          <a:xfrm>
            <a:off x="2631452" y="4949598"/>
            <a:ext cx="942808" cy="75382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Mainframe</a:t>
            </a:r>
          </a:p>
        </p:txBody>
      </p:sp>
      <p:sp>
        <p:nvSpPr>
          <p:cNvPr id="135" name="Rectangle 134">
            <a:extLst>
              <a:ext uri="{FF2B5EF4-FFF2-40B4-BE49-F238E27FC236}">
                <a16:creationId xmlns:a16="http://schemas.microsoft.com/office/drawing/2014/main" id="{C62E02DD-B9E4-5C16-815D-922686AC2269}"/>
              </a:ext>
            </a:extLst>
          </p:cNvPr>
          <p:cNvSpPr/>
          <p:nvPr/>
        </p:nvSpPr>
        <p:spPr>
          <a:xfrm>
            <a:off x="5668314" y="4979094"/>
            <a:ext cx="942808" cy="75382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Unisys</a:t>
            </a:r>
          </a:p>
        </p:txBody>
      </p:sp>
      <p:sp>
        <p:nvSpPr>
          <p:cNvPr id="136" name="Rectangle 135">
            <a:extLst>
              <a:ext uri="{FF2B5EF4-FFF2-40B4-BE49-F238E27FC236}">
                <a16:creationId xmlns:a16="http://schemas.microsoft.com/office/drawing/2014/main" id="{924069BE-EFD7-04B6-3A4C-F3EF62E60DF0}"/>
              </a:ext>
            </a:extLst>
          </p:cNvPr>
          <p:cNvSpPr/>
          <p:nvPr/>
        </p:nvSpPr>
        <p:spPr>
          <a:xfrm>
            <a:off x="4099109" y="4949598"/>
            <a:ext cx="942808" cy="75382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Tandem</a:t>
            </a:r>
          </a:p>
        </p:txBody>
      </p:sp>
      <p:sp>
        <p:nvSpPr>
          <p:cNvPr id="137" name="Rectangle 136">
            <a:extLst>
              <a:ext uri="{FF2B5EF4-FFF2-40B4-BE49-F238E27FC236}">
                <a16:creationId xmlns:a16="http://schemas.microsoft.com/office/drawing/2014/main" id="{FA16AA94-6104-0447-74E4-DAC3D7FB3023}"/>
              </a:ext>
            </a:extLst>
          </p:cNvPr>
          <p:cNvSpPr/>
          <p:nvPr/>
        </p:nvSpPr>
        <p:spPr>
          <a:xfrm>
            <a:off x="5833718" y="5053277"/>
            <a:ext cx="612001" cy="18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Routing</a:t>
            </a:r>
          </a:p>
        </p:txBody>
      </p:sp>
      <p:sp>
        <p:nvSpPr>
          <p:cNvPr id="138" name="Rectangle 137">
            <a:extLst>
              <a:ext uri="{FF2B5EF4-FFF2-40B4-BE49-F238E27FC236}">
                <a16:creationId xmlns:a16="http://schemas.microsoft.com/office/drawing/2014/main" id="{0F4E7F52-6069-81D4-3ABF-1337F82C40DC}"/>
              </a:ext>
            </a:extLst>
          </p:cNvPr>
          <p:cNvSpPr/>
          <p:nvPr/>
        </p:nvSpPr>
        <p:spPr>
          <a:xfrm>
            <a:off x="2796856" y="5053277"/>
            <a:ext cx="612001" cy="18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CICS</a:t>
            </a:r>
          </a:p>
        </p:txBody>
      </p:sp>
      <p:cxnSp>
        <p:nvCxnSpPr>
          <p:cNvPr id="139" name="Connector: Elbow 138">
            <a:extLst>
              <a:ext uri="{FF2B5EF4-FFF2-40B4-BE49-F238E27FC236}">
                <a16:creationId xmlns:a16="http://schemas.microsoft.com/office/drawing/2014/main" id="{8500A0AA-0581-FA6D-D7CF-B7E9F2FB91C0}"/>
              </a:ext>
            </a:extLst>
          </p:cNvPr>
          <p:cNvCxnSpPr>
            <a:cxnSpLocks/>
            <a:stCxn id="156" idx="2"/>
            <a:endCxn id="145" idx="0"/>
          </p:cNvCxnSpPr>
          <p:nvPr/>
        </p:nvCxnSpPr>
        <p:spPr>
          <a:xfrm rot="5400000">
            <a:off x="3550917" y="3189773"/>
            <a:ext cx="567022" cy="1463143"/>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1" name="Rectangle 140">
            <a:extLst>
              <a:ext uri="{FF2B5EF4-FFF2-40B4-BE49-F238E27FC236}">
                <a16:creationId xmlns:a16="http://schemas.microsoft.com/office/drawing/2014/main" id="{C39DF34D-0151-7278-6FB1-EC47AE05FC62}"/>
              </a:ext>
            </a:extLst>
          </p:cNvPr>
          <p:cNvSpPr/>
          <p:nvPr/>
        </p:nvSpPr>
        <p:spPr>
          <a:xfrm>
            <a:off x="2796856" y="5338024"/>
            <a:ext cx="612001"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Service </a:t>
            </a:r>
          </a:p>
        </p:txBody>
      </p:sp>
      <p:sp>
        <p:nvSpPr>
          <p:cNvPr id="142" name="Rectangle 141">
            <a:extLst>
              <a:ext uri="{FF2B5EF4-FFF2-40B4-BE49-F238E27FC236}">
                <a16:creationId xmlns:a16="http://schemas.microsoft.com/office/drawing/2014/main" id="{AA50A55C-1A82-6D64-E6DE-CA8EE8A1414A}"/>
              </a:ext>
            </a:extLst>
          </p:cNvPr>
          <p:cNvSpPr/>
          <p:nvPr/>
        </p:nvSpPr>
        <p:spPr>
          <a:xfrm>
            <a:off x="5833718" y="5338024"/>
            <a:ext cx="612001"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Service </a:t>
            </a:r>
          </a:p>
        </p:txBody>
      </p:sp>
      <p:sp>
        <p:nvSpPr>
          <p:cNvPr id="143" name="Rectangle 142">
            <a:extLst>
              <a:ext uri="{FF2B5EF4-FFF2-40B4-BE49-F238E27FC236}">
                <a16:creationId xmlns:a16="http://schemas.microsoft.com/office/drawing/2014/main" id="{3F58E5A2-8837-FE76-E42D-08A057BF2413}"/>
              </a:ext>
            </a:extLst>
          </p:cNvPr>
          <p:cNvSpPr/>
          <p:nvPr/>
        </p:nvSpPr>
        <p:spPr>
          <a:xfrm>
            <a:off x="4264513" y="5338024"/>
            <a:ext cx="612001"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Service </a:t>
            </a:r>
          </a:p>
        </p:txBody>
      </p:sp>
      <p:cxnSp>
        <p:nvCxnSpPr>
          <p:cNvPr id="144" name="Connector: Elbow 143">
            <a:extLst>
              <a:ext uri="{FF2B5EF4-FFF2-40B4-BE49-F238E27FC236}">
                <a16:creationId xmlns:a16="http://schemas.microsoft.com/office/drawing/2014/main" id="{97124BDF-E980-D629-4D1F-70C6201D5A5D}"/>
              </a:ext>
            </a:extLst>
          </p:cNvPr>
          <p:cNvCxnSpPr>
            <a:cxnSpLocks/>
            <a:stCxn id="159" idx="2"/>
            <a:endCxn id="156" idx="0"/>
          </p:cNvCxnSpPr>
          <p:nvPr/>
        </p:nvCxnSpPr>
        <p:spPr>
          <a:xfrm rot="16200000" flipH="1">
            <a:off x="4057733" y="2851555"/>
            <a:ext cx="998237" cy="18295"/>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5" name="Rectangle 144">
            <a:extLst>
              <a:ext uri="{FF2B5EF4-FFF2-40B4-BE49-F238E27FC236}">
                <a16:creationId xmlns:a16="http://schemas.microsoft.com/office/drawing/2014/main" id="{B8CB785D-F317-0E1A-E1E4-4F707BBBD96D}"/>
              </a:ext>
            </a:extLst>
          </p:cNvPr>
          <p:cNvSpPr/>
          <p:nvPr/>
        </p:nvSpPr>
        <p:spPr>
          <a:xfrm>
            <a:off x="2752210" y="4204855"/>
            <a:ext cx="701292" cy="292722"/>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IBM MF Adaptor</a:t>
            </a:r>
          </a:p>
        </p:txBody>
      </p:sp>
      <p:sp>
        <p:nvSpPr>
          <p:cNvPr id="146" name="Rectangle 145">
            <a:extLst>
              <a:ext uri="{FF2B5EF4-FFF2-40B4-BE49-F238E27FC236}">
                <a16:creationId xmlns:a16="http://schemas.microsoft.com/office/drawing/2014/main" id="{D23677E0-EFA8-0657-C354-B9717CA27500}"/>
              </a:ext>
            </a:extLst>
          </p:cNvPr>
          <p:cNvSpPr/>
          <p:nvPr/>
        </p:nvSpPr>
        <p:spPr>
          <a:xfrm>
            <a:off x="5770218" y="4196327"/>
            <a:ext cx="701292" cy="292722"/>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Unisys Adaptor</a:t>
            </a:r>
          </a:p>
        </p:txBody>
      </p:sp>
      <p:sp>
        <p:nvSpPr>
          <p:cNvPr id="147" name="Rectangle 146">
            <a:extLst>
              <a:ext uri="{FF2B5EF4-FFF2-40B4-BE49-F238E27FC236}">
                <a16:creationId xmlns:a16="http://schemas.microsoft.com/office/drawing/2014/main" id="{A5AFD4BB-1CE4-8E60-C9C9-DCB216A47B16}"/>
              </a:ext>
            </a:extLst>
          </p:cNvPr>
          <p:cNvSpPr/>
          <p:nvPr/>
        </p:nvSpPr>
        <p:spPr>
          <a:xfrm>
            <a:off x="4219867" y="4191916"/>
            <a:ext cx="701292" cy="292722"/>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Tandem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Adaptor</a:t>
            </a:r>
          </a:p>
        </p:txBody>
      </p:sp>
      <p:cxnSp>
        <p:nvCxnSpPr>
          <p:cNvPr id="149" name="Straight Arrow Connector 148">
            <a:extLst>
              <a:ext uri="{FF2B5EF4-FFF2-40B4-BE49-F238E27FC236}">
                <a16:creationId xmlns:a16="http://schemas.microsoft.com/office/drawing/2014/main" id="{8A6F0223-CA67-3576-A283-800D0D9FF5AF}"/>
              </a:ext>
            </a:extLst>
          </p:cNvPr>
          <p:cNvCxnSpPr>
            <a:stCxn id="147" idx="2"/>
            <a:endCxn id="136" idx="0"/>
          </p:cNvCxnSpPr>
          <p:nvPr/>
        </p:nvCxnSpPr>
        <p:spPr>
          <a:xfrm>
            <a:off x="4570513" y="4484638"/>
            <a:ext cx="0" cy="46496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F8ADD93C-C3A3-67A3-117B-976AEFD0E173}"/>
              </a:ext>
            </a:extLst>
          </p:cNvPr>
          <p:cNvCxnSpPr>
            <a:cxnSpLocks/>
            <a:stCxn id="145" idx="2"/>
            <a:endCxn id="134" idx="0"/>
          </p:cNvCxnSpPr>
          <p:nvPr/>
        </p:nvCxnSpPr>
        <p:spPr>
          <a:xfrm>
            <a:off x="3102856" y="4497577"/>
            <a:ext cx="0" cy="452021"/>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2" name="Rectangle 151">
            <a:extLst>
              <a:ext uri="{FF2B5EF4-FFF2-40B4-BE49-F238E27FC236}">
                <a16:creationId xmlns:a16="http://schemas.microsoft.com/office/drawing/2014/main" id="{26DC5296-8FB7-9A3D-BCCA-6F80EC7C7CF6}"/>
              </a:ext>
            </a:extLst>
          </p:cNvPr>
          <p:cNvSpPr/>
          <p:nvPr/>
        </p:nvSpPr>
        <p:spPr>
          <a:xfrm>
            <a:off x="8889090" y="5653216"/>
            <a:ext cx="2880000" cy="180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Main components of this capability</a:t>
            </a:r>
          </a:p>
        </p:txBody>
      </p:sp>
      <p:sp>
        <p:nvSpPr>
          <p:cNvPr id="153" name="Rectangle 152">
            <a:extLst>
              <a:ext uri="{FF2B5EF4-FFF2-40B4-BE49-F238E27FC236}">
                <a16:creationId xmlns:a16="http://schemas.microsoft.com/office/drawing/2014/main" id="{36255FE8-56B0-5108-4DAA-2BD3A21584B9}"/>
              </a:ext>
            </a:extLst>
          </p:cNvPr>
          <p:cNvSpPr/>
          <p:nvPr/>
        </p:nvSpPr>
        <p:spPr>
          <a:xfrm>
            <a:off x="8889090" y="5887368"/>
            <a:ext cx="2880000" cy="18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Components of other related capabilities</a:t>
            </a:r>
          </a:p>
        </p:txBody>
      </p:sp>
      <p:sp>
        <p:nvSpPr>
          <p:cNvPr id="154" name="Rectangle 153">
            <a:extLst>
              <a:ext uri="{FF2B5EF4-FFF2-40B4-BE49-F238E27FC236}">
                <a16:creationId xmlns:a16="http://schemas.microsoft.com/office/drawing/2014/main" id="{C5E4878E-A52F-3581-B836-2D49140DD5E6}"/>
              </a:ext>
            </a:extLst>
          </p:cNvPr>
          <p:cNvSpPr/>
          <p:nvPr/>
        </p:nvSpPr>
        <p:spPr>
          <a:xfrm>
            <a:off x="8889090" y="6103793"/>
            <a:ext cx="288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Functional Components related to this capability</a:t>
            </a:r>
          </a:p>
        </p:txBody>
      </p:sp>
      <p:sp>
        <p:nvSpPr>
          <p:cNvPr id="155" name="Rectangle 154">
            <a:extLst>
              <a:ext uri="{FF2B5EF4-FFF2-40B4-BE49-F238E27FC236}">
                <a16:creationId xmlns:a16="http://schemas.microsoft.com/office/drawing/2014/main" id="{177213BC-5909-7EDC-E316-3E75954E0013}"/>
              </a:ext>
            </a:extLst>
          </p:cNvPr>
          <p:cNvSpPr/>
          <p:nvPr/>
        </p:nvSpPr>
        <p:spPr>
          <a:xfrm>
            <a:off x="3120816" y="4471195"/>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Custom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Component</a:t>
            </a:r>
          </a:p>
        </p:txBody>
      </p:sp>
      <p:sp>
        <p:nvSpPr>
          <p:cNvPr id="156" name="Rectangle 155">
            <a:extLst>
              <a:ext uri="{FF2B5EF4-FFF2-40B4-BE49-F238E27FC236}">
                <a16:creationId xmlns:a16="http://schemas.microsoft.com/office/drawing/2014/main" id="{1BB0F1E7-AB8C-F8F4-99FC-09F1951B5076}"/>
              </a:ext>
            </a:extLst>
          </p:cNvPr>
          <p:cNvSpPr/>
          <p:nvPr/>
        </p:nvSpPr>
        <p:spPr>
          <a:xfrm>
            <a:off x="3787480" y="3359822"/>
            <a:ext cx="1557037" cy="278011"/>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Service Dispatcher</a:t>
            </a:r>
          </a:p>
        </p:txBody>
      </p:sp>
      <p:sp>
        <p:nvSpPr>
          <p:cNvPr id="158" name="Rectangle 157">
            <a:extLst>
              <a:ext uri="{FF2B5EF4-FFF2-40B4-BE49-F238E27FC236}">
                <a16:creationId xmlns:a16="http://schemas.microsoft.com/office/drawing/2014/main" id="{0DAAAFDC-41B4-ADDC-3A51-7935A8A56732}"/>
              </a:ext>
            </a:extLst>
          </p:cNvPr>
          <p:cNvSpPr/>
          <p:nvPr/>
        </p:nvSpPr>
        <p:spPr>
          <a:xfrm>
            <a:off x="3189002" y="2075498"/>
            <a:ext cx="603381"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Domain API</a:t>
            </a:r>
          </a:p>
        </p:txBody>
      </p:sp>
      <p:sp>
        <p:nvSpPr>
          <p:cNvPr id="159" name="Rectangle 158">
            <a:extLst>
              <a:ext uri="{FF2B5EF4-FFF2-40B4-BE49-F238E27FC236}">
                <a16:creationId xmlns:a16="http://schemas.microsoft.com/office/drawing/2014/main" id="{1C949067-ABE6-C69E-35AA-072F333770BF}"/>
              </a:ext>
            </a:extLst>
          </p:cNvPr>
          <p:cNvSpPr/>
          <p:nvPr/>
        </p:nvSpPr>
        <p:spPr>
          <a:xfrm>
            <a:off x="4246013" y="2065343"/>
            <a:ext cx="603381"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Domain API</a:t>
            </a:r>
          </a:p>
        </p:txBody>
      </p:sp>
      <p:sp>
        <p:nvSpPr>
          <p:cNvPr id="160" name="Rectangle 159">
            <a:extLst>
              <a:ext uri="{FF2B5EF4-FFF2-40B4-BE49-F238E27FC236}">
                <a16:creationId xmlns:a16="http://schemas.microsoft.com/office/drawing/2014/main" id="{7B7DC84B-7B62-A07C-E0F9-2EB8FEF7A96F}"/>
              </a:ext>
            </a:extLst>
          </p:cNvPr>
          <p:cNvSpPr/>
          <p:nvPr/>
        </p:nvSpPr>
        <p:spPr>
          <a:xfrm>
            <a:off x="5286706" y="2075498"/>
            <a:ext cx="603381"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Domain API</a:t>
            </a:r>
          </a:p>
        </p:txBody>
      </p:sp>
      <p:cxnSp>
        <p:nvCxnSpPr>
          <p:cNvPr id="161" name="Connector: Elbow 160">
            <a:extLst>
              <a:ext uri="{FF2B5EF4-FFF2-40B4-BE49-F238E27FC236}">
                <a16:creationId xmlns:a16="http://schemas.microsoft.com/office/drawing/2014/main" id="{D87DB573-2E0F-D9FB-70FD-3294B625FFC8}"/>
              </a:ext>
            </a:extLst>
          </p:cNvPr>
          <p:cNvCxnSpPr>
            <a:cxnSpLocks/>
            <a:stCxn id="160" idx="2"/>
            <a:endCxn id="156" idx="0"/>
          </p:cNvCxnSpPr>
          <p:nvPr/>
        </p:nvCxnSpPr>
        <p:spPr>
          <a:xfrm rot="5400000">
            <a:off x="4583157" y="2354582"/>
            <a:ext cx="988082" cy="102239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5" name="Rectangle 164">
            <a:extLst>
              <a:ext uri="{FF2B5EF4-FFF2-40B4-BE49-F238E27FC236}">
                <a16:creationId xmlns:a16="http://schemas.microsoft.com/office/drawing/2014/main" id="{DEDA369A-5D57-45F2-8679-A5633295C712}"/>
              </a:ext>
            </a:extLst>
          </p:cNvPr>
          <p:cNvSpPr/>
          <p:nvPr/>
        </p:nvSpPr>
        <p:spPr>
          <a:xfrm>
            <a:off x="5018409" y="3598566"/>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Custom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Component</a:t>
            </a:r>
          </a:p>
        </p:txBody>
      </p:sp>
      <p:grpSp>
        <p:nvGrpSpPr>
          <p:cNvPr id="166" name="Group 165">
            <a:extLst>
              <a:ext uri="{FF2B5EF4-FFF2-40B4-BE49-F238E27FC236}">
                <a16:creationId xmlns:a16="http://schemas.microsoft.com/office/drawing/2014/main" id="{151989C5-0890-7416-53A9-F75EBFABD003}"/>
              </a:ext>
            </a:extLst>
          </p:cNvPr>
          <p:cNvGrpSpPr/>
          <p:nvPr/>
        </p:nvGrpSpPr>
        <p:grpSpPr>
          <a:xfrm>
            <a:off x="4787888" y="4447118"/>
            <a:ext cx="612000" cy="180000"/>
            <a:chOff x="8138043" y="3996066"/>
            <a:chExt cx="1080000" cy="360000"/>
          </a:xfrm>
          <a:solidFill>
            <a:schemeClr val="bg1"/>
          </a:solidFill>
        </p:grpSpPr>
        <p:sp>
          <p:nvSpPr>
            <p:cNvPr id="167" name="Rectangle 166">
              <a:extLst>
                <a:ext uri="{FF2B5EF4-FFF2-40B4-BE49-F238E27FC236}">
                  <a16:creationId xmlns:a16="http://schemas.microsoft.com/office/drawing/2014/main" id="{C867786C-5E09-4820-3D6E-0F1FF31DBB68}"/>
                </a:ext>
              </a:extLst>
            </p:cNvPr>
            <p:cNvSpPr/>
            <p:nvPr/>
          </p:nvSpPr>
          <p:spPr>
            <a:xfrm>
              <a:off x="8138043" y="3996066"/>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TIBCO</a:t>
              </a:r>
            </a:p>
          </p:txBody>
        </p:sp>
        <p:pic>
          <p:nvPicPr>
            <p:cNvPr id="168" name="Picture 167">
              <a:extLst>
                <a:ext uri="{FF2B5EF4-FFF2-40B4-BE49-F238E27FC236}">
                  <a16:creationId xmlns:a16="http://schemas.microsoft.com/office/drawing/2014/main" id="{FBCCAB09-186A-5A6D-22A7-41D1F951C7FC}"/>
                </a:ext>
              </a:extLst>
            </p:cNvPr>
            <p:cNvPicPr>
              <a:picLocks noChangeAspect="1"/>
            </p:cNvPicPr>
            <p:nvPr/>
          </p:nvPicPr>
          <p:blipFill>
            <a:blip r:embed="rId3"/>
            <a:stretch>
              <a:fillRect/>
            </a:stretch>
          </p:blipFill>
          <p:spPr>
            <a:xfrm>
              <a:off x="8148798" y="4038275"/>
              <a:ext cx="1058490" cy="275582"/>
            </a:xfrm>
            <a:prstGeom prst="rect">
              <a:avLst/>
            </a:prstGeom>
            <a:grpFill/>
          </p:spPr>
        </p:pic>
      </p:grpSp>
      <p:cxnSp>
        <p:nvCxnSpPr>
          <p:cNvPr id="170" name="Straight Arrow Connector 169">
            <a:extLst>
              <a:ext uri="{FF2B5EF4-FFF2-40B4-BE49-F238E27FC236}">
                <a16:creationId xmlns:a16="http://schemas.microsoft.com/office/drawing/2014/main" id="{B7FA88C0-BD7D-FD5C-1864-187F7DD6FA36}"/>
              </a:ext>
            </a:extLst>
          </p:cNvPr>
          <p:cNvCxnSpPr>
            <a:cxnSpLocks/>
            <a:stCxn id="146" idx="2"/>
            <a:endCxn id="137" idx="0"/>
          </p:cNvCxnSpPr>
          <p:nvPr/>
        </p:nvCxnSpPr>
        <p:spPr>
          <a:xfrm>
            <a:off x="6120864" y="4489049"/>
            <a:ext cx="18855" cy="564228"/>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73" name="Group 172">
            <a:extLst>
              <a:ext uri="{FF2B5EF4-FFF2-40B4-BE49-F238E27FC236}">
                <a16:creationId xmlns:a16="http://schemas.microsoft.com/office/drawing/2014/main" id="{D7F66191-1ABD-5B3F-79C1-A0012F66CA51}"/>
              </a:ext>
            </a:extLst>
          </p:cNvPr>
          <p:cNvGrpSpPr/>
          <p:nvPr/>
        </p:nvGrpSpPr>
        <p:grpSpPr>
          <a:xfrm>
            <a:off x="9914018" y="286451"/>
            <a:ext cx="1862854" cy="253275"/>
            <a:chOff x="9929190" y="421028"/>
            <a:chExt cx="1862854" cy="253275"/>
          </a:xfrm>
        </p:grpSpPr>
        <p:sp>
          <p:nvSpPr>
            <p:cNvPr id="174" name="TextBox 173">
              <a:extLst>
                <a:ext uri="{FF2B5EF4-FFF2-40B4-BE49-F238E27FC236}">
                  <a16:creationId xmlns:a16="http://schemas.microsoft.com/office/drawing/2014/main" id="{0D3A2F15-8E60-F485-CF1E-C8C9E82BAB62}"/>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Illustrative non exhaustive</a:t>
              </a:r>
            </a:p>
          </p:txBody>
        </p:sp>
        <p:cxnSp>
          <p:nvCxnSpPr>
            <p:cNvPr id="175" name="Straight Connector 174">
              <a:extLst>
                <a:ext uri="{FF2B5EF4-FFF2-40B4-BE49-F238E27FC236}">
                  <a16:creationId xmlns:a16="http://schemas.microsoft.com/office/drawing/2014/main" id="{31E258E4-30B3-9A71-1F8C-E12C2DAEB6E2}"/>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0FEDB600-B230-199C-4152-A2D5F526B79A}"/>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 name="Connector: Elbow 3">
            <a:extLst>
              <a:ext uri="{FF2B5EF4-FFF2-40B4-BE49-F238E27FC236}">
                <a16:creationId xmlns:a16="http://schemas.microsoft.com/office/drawing/2014/main" id="{15DB04E0-C64A-EF3C-E677-7C2DBD576C3B}"/>
              </a:ext>
            </a:extLst>
          </p:cNvPr>
          <p:cNvCxnSpPr>
            <a:cxnSpLocks/>
            <a:stCxn id="156" idx="2"/>
            <a:endCxn id="146" idx="0"/>
          </p:cNvCxnSpPr>
          <p:nvPr/>
        </p:nvCxnSpPr>
        <p:spPr>
          <a:xfrm rot="16200000" flipH="1">
            <a:off x="5064184" y="3139647"/>
            <a:ext cx="558494" cy="1554865"/>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nector: Elbow 7">
            <a:extLst>
              <a:ext uri="{FF2B5EF4-FFF2-40B4-BE49-F238E27FC236}">
                <a16:creationId xmlns:a16="http://schemas.microsoft.com/office/drawing/2014/main" id="{6DE200B8-BDB5-C570-A9EE-73B2AD1257A4}"/>
              </a:ext>
            </a:extLst>
          </p:cNvPr>
          <p:cNvCxnSpPr>
            <a:cxnSpLocks/>
            <a:stCxn id="156" idx="2"/>
            <a:endCxn id="147" idx="0"/>
          </p:cNvCxnSpPr>
          <p:nvPr/>
        </p:nvCxnSpPr>
        <p:spPr>
          <a:xfrm rot="16200000" flipH="1">
            <a:off x="4291215" y="3912617"/>
            <a:ext cx="554083" cy="451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99204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927B5-8AC7-8331-ADC9-8D8E9D3CC28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1B4C531-859C-F4C4-5F02-170811504C7B}"/>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All rights reserved.</a:t>
            </a:r>
          </a:p>
        </p:txBody>
      </p:sp>
      <p:sp>
        <p:nvSpPr>
          <p:cNvPr id="118" name="Title 1">
            <a:extLst>
              <a:ext uri="{FF2B5EF4-FFF2-40B4-BE49-F238E27FC236}">
                <a16:creationId xmlns:a16="http://schemas.microsoft.com/office/drawing/2014/main" id="{AA8C6C2B-B54D-5A28-C133-387574D8A324}"/>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Interoperability Asset </a:t>
            </a:r>
            <a:r>
              <a:rPr kumimoji="0" lang="en-US" sz="2400" b="1" i="0" u="none" strike="noStrike" kern="1200" cap="none" spc="0" normalizeH="0" baseline="0" noProof="0">
                <a:ln>
                  <a:noFill/>
                </a:ln>
                <a:solidFill>
                  <a:srgbClr val="000000"/>
                </a:solidFill>
                <a:effectLst/>
                <a:uLnTx/>
                <a:uFillTx/>
                <a:latin typeface="Graphik"/>
                <a:ea typeface="+mj-ea"/>
                <a:cs typeface="+mj-cs"/>
              </a:rPr>
              <a:t>| Store &amp; Forward mechanism</a:t>
            </a:r>
          </a:p>
        </p:txBody>
      </p:sp>
      <p:sp>
        <p:nvSpPr>
          <p:cNvPr id="119" name="Content Placeholder 34">
            <a:extLst>
              <a:ext uri="{FF2B5EF4-FFF2-40B4-BE49-F238E27FC236}">
                <a16:creationId xmlns:a16="http://schemas.microsoft.com/office/drawing/2014/main" id="{85CC1D32-3FEB-B3BD-77DD-078ADCDE2DB8}"/>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Store &amp; Forward mechanism</a:t>
            </a:r>
          </a:p>
        </p:txBody>
      </p:sp>
      <p:grpSp>
        <p:nvGrpSpPr>
          <p:cNvPr id="4" name="Group 3">
            <a:extLst>
              <a:ext uri="{FF2B5EF4-FFF2-40B4-BE49-F238E27FC236}">
                <a16:creationId xmlns:a16="http://schemas.microsoft.com/office/drawing/2014/main" id="{F16D6817-85B3-3BC9-AE01-46E24E98C912}"/>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34894FAE-E7C7-EFD2-FA3E-0ACFB3ACC363}"/>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Illustrative non exhaustive</a:t>
              </a:r>
            </a:p>
          </p:txBody>
        </p:sp>
        <p:cxnSp>
          <p:nvCxnSpPr>
            <p:cNvPr id="6" name="Straight Connector 5">
              <a:extLst>
                <a:ext uri="{FF2B5EF4-FFF2-40B4-BE49-F238E27FC236}">
                  <a16:creationId xmlns:a16="http://schemas.microsoft.com/office/drawing/2014/main" id="{E339E996-1725-95C3-3647-4A1F7EEDE5E5}"/>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0009E08-6796-5BF4-62E6-1DAA3CF0FAB3}"/>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69F9DD58-18D6-276C-1D63-19F53C642F48}"/>
              </a:ext>
            </a:extLst>
          </p:cNvPr>
          <p:cNvSpPr/>
          <p:nvPr/>
        </p:nvSpPr>
        <p:spPr>
          <a:xfrm>
            <a:off x="504904" y="2182654"/>
            <a:ext cx="4981442" cy="211271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Microservices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Framework</a:t>
            </a:r>
          </a:p>
        </p:txBody>
      </p:sp>
      <p:grpSp>
        <p:nvGrpSpPr>
          <p:cNvPr id="9" name="Group 8">
            <a:extLst>
              <a:ext uri="{FF2B5EF4-FFF2-40B4-BE49-F238E27FC236}">
                <a16:creationId xmlns:a16="http://schemas.microsoft.com/office/drawing/2014/main" id="{F39A8FE5-15C8-BD50-400B-7A64280D085C}"/>
              </a:ext>
            </a:extLst>
          </p:cNvPr>
          <p:cNvGrpSpPr/>
          <p:nvPr/>
        </p:nvGrpSpPr>
        <p:grpSpPr>
          <a:xfrm>
            <a:off x="4907077" y="2072739"/>
            <a:ext cx="844771" cy="284934"/>
            <a:chOff x="2436880" y="1158097"/>
            <a:chExt cx="1080000" cy="360000"/>
          </a:xfrm>
          <a:solidFill>
            <a:schemeClr val="bg1"/>
          </a:solidFill>
        </p:grpSpPr>
        <p:sp>
          <p:nvSpPr>
            <p:cNvPr id="10" name="Rectangle 9">
              <a:extLst>
                <a:ext uri="{FF2B5EF4-FFF2-40B4-BE49-F238E27FC236}">
                  <a16:creationId xmlns:a16="http://schemas.microsoft.com/office/drawing/2014/main" id="{CFA46BD6-4020-A671-C3B9-B5EC88DFED2B}"/>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11" name="Picture 10">
              <a:extLst>
                <a:ext uri="{FF2B5EF4-FFF2-40B4-BE49-F238E27FC236}">
                  <a16:creationId xmlns:a16="http://schemas.microsoft.com/office/drawing/2014/main" id="{3E6DEDA3-C44D-77AE-DBA2-296993B32D45}"/>
                </a:ext>
              </a:extLst>
            </p:cNvPr>
            <p:cNvPicPr>
              <a:picLocks noChangeAspect="1"/>
            </p:cNvPicPr>
            <p:nvPr/>
          </p:nvPicPr>
          <p:blipFill>
            <a:blip r:embed="rId2"/>
            <a:stretch>
              <a:fillRect/>
            </a:stretch>
          </p:blipFill>
          <p:spPr>
            <a:xfrm>
              <a:off x="2470229" y="1215368"/>
              <a:ext cx="1013303" cy="245459"/>
            </a:xfrm>
            <a:prstGeom prst="rect">
              <a:avLst/>
            </a:prstGeom>
            <a:grpFill/>
          </p:spPr>
        </p:pic>
      </p:grpSp>
      <p:sp>
        <p:nvSpPr>
          <p:cNvPr id="12" name="Rectangle 11">
            <a:extLst>
              <a:ext uri="{FF2B5EF4-FFF2-40B4-BE49-F238E27FC236}">
                <a16:creationId xmlns:a16="http://schemas.microsoft.com/office/drawing/2014/main" id="{6FF3F33F-A589-47CE-2BB9-4AD283DEB9C5}"/>
              </a:ext>
            </a:extLst>
          </p:cNvPr>
          <p:cNvSpPr/>
          <p:nvPr/>
        </p:nvSpPr>
        <p:spPr>
          <a:xfrm>
            <a:off x="1276396" y="2737399"/>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Service 1</a:t>
            </a:r>
          </a:p>
        </p:txBody>
      </p:sp>
      <p:sp>
        <p:nvSpPr>
          <p:cNvPr id="13" name="Rectangle 12">
            <a:extLst>
              <a:ext uri="{FF2B5EF4-FFF2-40B4-BE49-F238E27FC236}">
                <a16:creationId xmlns:a16="http://schemas.microsoft.com/office/drawing/2014/main" id="{ECD0D046-1276-C112-B59C-C240EC0AAD93}"/>
              </a:ext>
            </a:extLst>
          </p:cNvPr>
          <p:cNvSpPr/>
          <p:nvPr/>
        </p:nvSpPr>
        <p:spPr>
          <a:xfrm>
            <a:off x="736939" y="3453691"/>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Request Manager</a:t>
            </a:r>
          </a:p>
        </p:txBody>
      </p:sp>
      <p:sp>
        <p:nvSpPr>
          <p:cNvPr id="14" name="Rectangle 13">
            <a:extLst>
              <a:ext uri="{FF2B5EF4-FFF2-40B4-BE49-F238E27FC236}">
                <a16:creationId xmlns:a16="http://schemas.microsoft.com/office/drawing/2014/main" id="{14D93689-A639-DCD9-DADE-14CB5D2B7292}"/>
              </a:ext>
            </a:extLst>
          </p:cNvPr>
          <p:cNvSpPr/>
          <p:nvPr/>
        </p:nvSpPr>
        <p:spPr>
          <a:xfrm>
            <a:off x="4048208" y="3764981"/>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Request Processor</a:t>
            </a:r>
          </a:p>
        </p:txBody>
      </p:sp>
      <p:sp>
        <p:nvSpPr>
          <p:cNvPr id="15" name="Rectangle 14">
            <a:extLst>
              <a:ext uri="{FF2B5EF4-FFF2-40B4-BE49-F238E27FC236}">
                <a16:creationId xmlns:a16="http://schemas.microsoft.com/office/drawing/2014/main" id="{ADB689F5-E465-9BE6-FB86-D6C48A1061B5}"/>
              </a:ext>
            </a:extLst>
          </p:cNvPr>
          <p:cNvSpPr/>
          <p:nvPr/>
        </p:nvSpPr>
        <p:spPr>
          <a:xfrm>
            <a:off x="2364005" y="3444627"/>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Request Router</a:t>
            </a:r>
          </a:p>
        </p:txBody>
      </p:sp>
      <p:sp>
        <p:nvSpPr>
          <p:cNvPr id="16" name="Rectangle 15">
            <a:extLst>
              <a:ext uri="{FF2B5EF4-FFF2-40B4-BE49-F238E27FC236}">
                <a16:creationId xmlns:a16="http://schemas.microsoft.com/office/drawing/2014/main" id="{480AFB43-EE28-499F-EA6F-C81D34C62460}"/>
              </a:ext>
            </a:extLst>
          </p:cNvPr>
          <p:cNvSpPr/>
          <p:nvPr/>
        </p:nvSpPr>
        <p:spPr>
          <a:xfrm>
            <a:off x="2275625" y="2731791"/>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Service 2</a:t>
            </a:r>
          </a:p>
        </p:txBody>
      </p:sp>
      <p:sp>
        <p:nvSpPr>
          <p:cNvPr id="17" name="Rectangle 16">
            <a:extLst>
              <a:ext uri="{FF2B5EF4-FFF2-40B4-BE49-F238E27FC236}">
                <a16:creationId xmlns:a16="http://schemas.microsoft.com/office/drawing/2014/main" id="{945300D9-47BB-A782-0027-831B8EBB13CE}"/>
              </a:ext>
            </a:extLst>
          </p:cNvPr>
          <p:cNvSpPr/>
          <p:nvPr/>
        </p:nvSpPr>
        <p:spPr>
          <a:xfrm>
            <a:off x="3508830" y="1347029"/>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S&amp;F Console</a:t>
            </a:r>
          </a:p>
        </p:txBody>
      </p:sp>
      <p:sp>
        <p:nvSpPr>
          <p:cNvPr id="18" name="Rectangle 17">
            <a:extLst>
              <a:ext uri="{FF2B5EF4-FFF2-40B4-BE49-F238E27FC236}">
                <a16:creationId xmlns:a16="http://schemas.microsoft.com/office/drawing/2014/main" id="{825AB9D1-3743-02A0-E973-4B464B44AF05}"/>
              </a:ext>
            </a:extLst>
          </p:cNvPr>
          <p:cNvSpPr/>
          <p:nvPr/>
        </p:nvSpPr>
        <p:spPr>
          <a:xfrm>
            <a:off x="6073344" y="3764981"/>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Scheduler</a:t>
            </a:r>
          </a:p>
        </p:txBody>
      </p:sp>
      <p:cxnSp>
        <p:nvCxnSpPr>
          <p:cNvPr id="19" name="Connector: Elbow 18">
            <a:extLst>
              <a:ext uri="{FF2B5EF4-FFF2-40B4-BE49-F238E27FC236}">
                <a16:creationId xmlns:a16="http://schemas.microsoft.com/office/drawing/2014/main" id="{ABF837F9-3B4B-E0C6-B6CE-8C715B9D740A}"/>
              </a:ext>
            </a:extLst>
          </p:cNvPr>
          <p:cNvCxnSpPr>
            <a:cxnSpLocks/>
            <a:stCxn id="12" idx="2"/>
            <a:endCxn id="13" idx="0"/>
          </p:cNvCxnSpPr>
          <p:nvPr/>
        </p:nvCxnSpPr>
        <p:spPr>
          <a:xfrm rot="5400000">
            <a:off x="1192808" y="3010103"/>
            <a:ext cx="536292" cy="350885"/>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7DF9B777-F313-9FE8-2F7A-C8E611151AD8}"/>
              </a:ext>
            </a:extLst>
          </p:cNvPr>
          <p:cNvCxnSpPr>
            <a:cxnSpLocks/>
            <a:stCxn id="16" idx="2"/>
            <a:endCxn id="13" idx="0"/>
          </p:cNvCxnSpPr>
          <p:nvPr/>
        </p:nvCxnSpPr>
        <p:spPr>
          <a:xfrm rot="5400000">
            <a:off x="1689618" y="2507684"/>
            <a:ext cx="541900" cy="135011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0476F3DF-A3AD-7ACE-68B9-3274CCBEDE79}"/>
              </a:ext>
            </a:extLst>
          </p:cNvPr>
          <p:cNvSpPr txBox="1"/>
          <p:nvPr/>
        </p:nvSpPr>
        <p:spPr>
          <a:xfrm>
            <a:off x="709755" y="3234168"/>
            <a:ext cx="690645" cy="152083"/>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a:ea typeface="+mn-ea"/>
                <a:cs typeface="+mn-cs"/>
              </a:rPr>
              <a:t>a. Failure</a:t>
            </a:r>
          </a:p>
        </p:txBody>
      </p:sp>
      <p:cxnSp>
        <p:nvCxnSpPr>
          <p:cNvPr id="22" name="Connector: Elbow 21">
            <a:extLst>
              <a:ext uri="{FF2B5EF4-FFF2-40B4-BE49-F238E27FC236}">
                <a16:creationId xmlns:a16="http://schemas.microsoft.com/office/drawing/2014/main" id="{1E87DC4B-F3B6-E75E-9C5B-CFEBD55FA1CF}"/>
              </a:ext>
            </a:extLst>
          </p:cNvPr>
          <p:cNvCxnSpPr>
            <a:cxnSpLocks/>
            <a:stCxn id="13" idx="2"/>
            <a:endCxn id="32" idx="1"/>
          </p:cNvCxnSpPr>
          <p:nvPr/>
        </p:nvCxnSpPr>
        <p:spPr>
          <a:xfrm rot="16200000" flipH="1">
            <a:off x="1231515" y="3759686"/>
            <a:ext cx="1182544" cy="1074553"/>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5AF7ECCC-50DA-0744-D3A9-20B35D36D000}"/>
              </a:ext>
            </a:extLst>
          </p:cNvPr>
          <p:cNvSpPr txBox="1"/>
          <p:nvPr/>
        </p:nvSpPr>
        <p:spPr>
          <a:xfrm>
            <a:off x="1519566" y="4745215"/>
            <a:ext cx="690645" cy="152083"/>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a:ea typeface="+mn-ea"/>
                <a:cs typeface="+mn-cs"/>
              </a:rPr>
              <a:t>Store</a:t>
            </a:r>
          </a:p>
        </p:txBody>
      </p:sp>
      <p:sp>
        <p:nvSpPr>
          <p:cNvPr id="24" name="TextBox 23">
            <a:extLst>
              <a:ext uri="{FF2B5EF4-FFF2-40B4-BE49-F238E27FC236}">
                <a16:creationId xmlns:a16="http://schemas.microsoft.com/office/drawing/2014/main" id="{4C520F01-12E2-760D-518C-1C4BED2C099A}"/>
              </a:ext>
            </a:extLst>
          </p:cNvPr>
          <p:cNvSpPr txBox="1"/>
          <p:nvPr/>
        </p:nvSpPr>
        <p:spPr>
          <a:xfrm>
            <a:off x="5434001" y="3738898"/>
            <a:ext cx="690645" cy="152083"/>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a:ea typeface="+mn-ea"/>
                <a:cs typeface="+mn-cs"/>
              </a:rPr>
              <a:t>Trigger</a:t>
            </a:r>
          </a:p>
        </p:txBody>
      </p:sp>
      <p:sp>
        <p:nvSpPr>
          <p:cNvPr id="25" name="Rectangle 24">
            <a:extLst>
              <a:ext uri="{FF2B5EF4-FFF2-40B4-BE49-F238E27FC236}">
                <a16:creationId xmlns:a16="http://schemas.microsoft.com/office/drawing/2014/main" id="{E782871E-8314-5ACE-FE7C-17069A2D56CD}"/>
              </a:ext>
            </a:extLst>
          </p:cNvPr>
          <p:cNvSpPr/>
          <p:nvPr/>
        </p:nvSpPr>
        <p:spPr>
          <a:xfrm>
            <a:off x="3629597" y="2459802"/>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S&amp;F Management</a:t>
            </a:r>
          </a:p>
        </p:txBody>
      </p:sp>
      <p:sp>
        <p:nvSpPr>
          <p:cNvPr id="26" name="Rectangle 25">
            <a:extLst>
              <a:ext uri="{FF2B5EF4-FFF2-40B4-BE49-F238E27FC236}">
                <a16:creationId xmlns:a16="http://schemas.microsoft.com/office/drawing/2014/main" id="{141A95DA-7ADE-DD44-FA45-EF5A3C952E72}"/>
              </a:ext>
            </a:extLst>
          </p:cNvPr>
          <p:cNvSpPr/>
          <p:nvPr/>
        </p:nvSpPr>
        <p:spPr>
          <a:xfrm>
            <a:off x="2275625" y="1825773"/>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API Gateway</a:t>
            </a:r>
          </a:p>
        </p:txBody>
      </p:sp>
      <p:sp>
        <p:nvSpPr>
          <p:cNvPr id="27" name="Rectangle 26">
            <a:extLst>
              <a:ext uri="{FF2B5EF4-FFF2-40B4-BE49-F238E27FC236}">
                <a16:creationId xmlns:a16="http://schemas.microsoft.com/office/drawing/2014/main" id="{FA49F3E3-29EF-3D78-9BC2-D328AB352A3B}"/>
              </a:ext>
            </a:extLst>
          </p:cNvPr>
          <p:cNvSpPr/>
          <p:nvPr/>
        </p:nvSpPr>
        <p:spPr>
          <a:xfrm>
            <a:off x="1010539" y="1420932"/>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Channels</a:t>
            </a:r>
          </a:p>
        </p:txBody>
      </p:sp>
      <p:cxnSp>
        <p:nvCxnSpPr>
          <p:cNvPr id="28" name="Connector: Elbow 27">
            <a:extLst>
              <a:ext uri="{FF2B5EF4-FFF2-40B4-BE49-F238E27FC236}">
                <a16:creationId xmlns:a16="http://schemas.microsoft.com/office/drawing/2014/main" id="{1F98250F-CC60-54B0-EBA9-7DA0AA8A82A7}"/>
              </a:ext>
            </a:extLst>
          </p:cNvPr>
          <p:cNvCxnSpPr>
            <a:cxnSpLocks/>
            <a:stCxn id="27" idx="2"/>
            <a:endCxn id="26" idx="0"/>
          </p:cNvCxnSpPr>
          <p:nvPr/>
        </p:nvCxnSpPr>
        <p:spPr>
          <a:xfrm rot="16200000" flipH="1">
            <a:off x="2531564" y="1066851"/>
            <a:ext cx="252758" cy="1265086"/>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FD17C52C-8C5A-D756-72D9-5440D767B5FE}"/>
              </a:ext>
            </a:extLst>
          </p:cNvPr>
          <p:cNvCxnSpPr>
            <a:cxnSpLocks/>
            <a:stCxn id="17" idx="2"/>
            <a:endCxn id="26" idx="0"/>
          </p:cNvCxnSpPr>
          <p:nvPr/>
        </p:nvCxnSpPr>
        <p:spPr>
          <a:xfrm rot="5400000">
            <a:off x="3560572" y="1328943"/>
            <a:ext cx="226744" cy="766916"/>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28F34228-5272-2AE6-1D11-1D634BB44E10}"/>
              </a:ext>
            </a:extLst>
          </p:cNvPr>
          <p:cNvCxnSpPr>
            <a:cxnSpLocks/>
            <a:stCxn id="26" idx="2"/>
            <a:endCxn id="25" idx="0"/>
          </p:cNvCxnSpPr>
          <p:nvPr/>
        </p:nvCxnSpPr>
        <p:spPr>
          <a:xfrm rot="16200000" flipH="1">
            <a:off x="3493354" y="1774987"/>
            <a:ext cx="481946" cy="887683"/>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370E2F0B-4108-7878-7B1A-E475F0D86B3C}"/>
              </a:ext>
            </a:extLst>
          </p:cNvPr>
          <p:cNvCxnSpPr>
            <a:cxnSpLocks/>
            <a:stCxn id="26" idx="2"/>
            <a:endCxn id="16" idx="0"/>
          </p:cNvCxnSpPr>
          <p:nvPr/>
        </p:nvCxnSpPr>
        <p:spPr>
          <a:xfrm rot="5400000">
            <a:off x="2586089" y="2027393"/>
            <a:ext cx="753935" cy="65486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B59D98AD-A3B2-A3FC-5C75-BA83FE53815C}"/>
              </a:ext>
            </a:extLst>
          </p:cNvPr>
          <p:cNvSpPr/>
          <p:nvPr/>
        </p:nvSpPr>
        <p:spPr>
          <a:xfrm>
            <a:off x="2360064" y="4478411"/>
            <a:ext cx="942808" cy="81964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OSE/Cloud</a:t>
            </a:r>
          </a:p>
        </p:txBody>
      </p:sp>
      <p:sp>
        <p:nvSpPr>
          <p:cNvPr id="33" name="Flowchart: Magnetic Disk 32">
            <a:extLst>
              <a:ext uri="{FF2B5EF4-FFF2-40B4-BE49-F238E27FC236}">
                <a16:creationId xmlns:a16="http://schemas.microsoft.com/office/drawing/2014/main" id="{02952D79-FCD4-3945-2064-8BF1A2460B0C}"/>
              </a:ext>
            </a:extLst>
          </p:cNvPr>
          <p:cNvSpPr/>
          <p:nvPr/>
        </p:nvSpPr>
        <p:spPr>
          <a:xfrm>
            <a:off x="2447745" y="4595347"/>
            <a:ext cx="736093" cy="471419"/>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Store &amp; Forward Registry</a:t>
            </a:r>
          </a:p>
        </p:txBody>
      </p:sp>
      <p:sp>
        <p:nvSpPr>
          <p:cNvPr id="34" name="Rectangle 33">
            <a:extLst>
              <a:ext uri="{FF2B5EF4-FFF2-40B4-BE49-F238E27FC236}">
                <a16:creationId xmlns:a16="http://schemas.microsoft.com/office/drawing/2014/main" id="{0F5D160E-D0CB-5610-CA10-968B30767E7F}"/>
              </a:ext>
            </a:extLst>
          </p:cNvPr>
          <p:cNvSpPr/>
          <p:nvPr/>
        </p:nvSpPr>
        <p:spPr>
          <a:xfrm>
            <a:off x="3085348" y="4569809"/>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Custom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Component</a:t>
            </a:r>
          </a:p>
        </p:txBody>
      </p:sp>
      <p:cxnSp>
        <p:nvCxnSpPr>
          <p:cNvPr id="35" name="Connector: Elbow 34">
            <a:extLst>
              <a:ext uri="{FF2B5EF4-FFF2-40B4-BE49-F238E27FC236}">
                <a16:creationId xmlns:a16="http://schemas.microsoft.com/office/drawing/2014/main" id="{7A6CFF55-797E-AA1E-1D18-18182F53C408}"/>
              </a:ext>
            </a:extLst>
          </p:cNvPr>
          <p:cNvCxnSpPr>
            <a:cxnSpLocks/>
            <a:stCxn id="25" idx="2"/>
            <a:endCxn id="14" idx="0"/>
          </p:cNvCxnSpPr>
          <p:nvPr/>
        </p:nvCxnSpPr>
        <p:spPr>
          <a:xfrm rot="16200000" flipH="1">
            <a:off x="3860885" y="3029085"/>
            <a:ext cx="1053179" cy="41861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F25744A2-0119-B9A2-D4E7-45129C95F1C5}"/>
              </a:ext>
            </a:extLst>
          </p:cNvPr>
          <p:cNvCxnSpPr>
            <a:stCxn id="18" idx="1"/>
            <a:endCxn id="14" idx="3"/>
          </p:cNvCxnSpPr>
          <p:nvPr/>
        </p:nvCxnSpPr>
        <p:spPr>
          <a:xfrm flipH="1">
            <a:off x="5145352" y="3890981"/>
            <a:ext cx="927992" cy="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3152F438-4CB9-998E-8DA1-5DCB6C26EE28}"/>
              </a:ext>
            </a:extLst>
          </p:cNvPr>
          <p:cNvCxnSpPr>
            <a:cxnSpLocks/>
            <a:stCxn id="32" idx="3"/>
            <a:endCxn id="14" idx="2"/>
          </p:cNvCxnSpPr>
          <p:nvPr/>
        </p:nvCxnSpPr>
        <p:spPr>
          <a:xfrm flipV="1">
            <a:off x="3302872" y="4016981"/>
            <a:ext cx="1293908" cy="871254"/>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C07EE8D1-6EF9-8686-508A-2CB7ACA9A476}"/>
              </a:ext>
            </a:extLst>
          </p:cNvPr>
          <p:cNvCxnSpPr>
            <a:cxnSpLocks/>
            <a:stCxn id="14" idx="1"/>
            <a:endCxn id="15" idx="3"/>
          </p:cNvCxnSpPr>
          <p:nvPr/>
        </p:nvCxnSpPr>
        <p:spPr>
          <a:xfrm rot="10800000">
            <a:off x="3461150" y="3570627"/>
            <a:ext cx="587059" cy="32035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987FACCF-D827-7A82-21A6-CD4277D49FE4}"/>
              </a:ext>
            </a:extLst>
          </p:cNvPr>
          <p:cNvSpPr txBox="1"/>
          <p:nvPr/>
        </p:nvSpPr>
        <p:spPr>
          <a:xfrm>
            <a:off x="3522315" y="3386251"/>
            <a:ext cx="690645" cy="152083"/>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a:ea typeface="+mn-ea"/>
                <a:cs typeface="+mn-cs"/>
              </a:rPr>
              <a:t>Retry/Forward</a:t>
            </a:r>
          </a:p>
        </p:txBody>
      </p:sp>
      <p:cxnSp>
        <p:nvCxnSpPr>
          <p:cNvPr id="40" name="Connector: Elbow 39">
            <a:extLst>
              <a:ext uri="{FF2B5EF4-FFF2-40B4-BE49-F238E27FC236}">
                <a16:creationId xmlns:a16="http://schemas.microsoft.com/office/drawing/2014/main" id="{36168B67-19D6-8B1A-C420-9C88B8F26B39}"/>
              </a:ext>
            </a:extLst>
          </p:cNvPr>
          <p:cNvCxnSpPr>
            <a:cxnSpLocks/>
            <a:stCxn id="15" idx="1"/>
            <a:endCxn id="12" idx="3"/>
          </p:cNvCxnSpPr>
          <p:nvPr/>
        </p:nvCxnSpPr>
        <p:spPr>
          <a:xfrm rot="10800000">
            <a:off x="1996397" y="2827399"/>
            <a:ext cx="367609" cy="74322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85A34F8B-0A59-D3E8-B755-0848AE3FFFF5}"/>
              </a:ext>
            </a:extLst>
          </p:cNvPr>
          <p:cNvCxnSpPr>
            <a:cxnSpLocks/>
            <a:stCxn id="15" idx="0"/>
            <a:endCxn id="16" idx="3"/>
          </p:cNvCxnSpPr>
          <p:nvPr/>
        </p:nvCxnSpPr>
        <p:spPr>
          <a:xfrm rot="5400000" flipH="1" flipV="1">
            <a:off x="2642683" y="3091685"/>
            <a:ext cx="622836" cy="83048"/>
          </a:xfrm>
          <a:prstGeom prst="bentConnector4">
            <a:avLst>
              <a:gd name="adj1" fmla="val 42775"/>
              <a:gd name="adj2" fmla="val 37526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F95A982A-F6A0-9ED0-D900-6D01CC87BD22}"/>
              </a:ext>
            </a:extLst>
          </p:cNvPr>
          <p:cNvSpPr txBox="1"/>
          <p:nvPr/>
        </p:nvSpPr>
        <p:spPr>
          <a:xfrm>
            <a:off x="7336370" y="1183416"/>
            <a:ext cx="4527540" cy="4271255"/>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Graphik"/>
                <a:ea typeface="+mn-ea"/>
                <a:cs typeface="+mn-cs"/>
              </a:rPr>
              <a:t>Notes: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There can be two types of services that will leverage the Store &amp; Forward capability</a:t>
            </a:r>
          </a:p>
          <a:p>
            <a:pPr marL="742950" marR="0" lvl="1" indent="-285750" algn="l" defTabSz="228600" rtl="0" eaLnBrk="1" fontAlgn="auto" latinLnBrk="0" hangingPunct="1">
              <a:lnSpc>
                <a:spcPct val="100000"/>
              </a:lnSpc>
              <a:spcBef>
                <a:spcPts val="0"/>
              </a:spcBef>
              <a:spcAft>
                <a:spcPts val="600"/>
              </a:spcAft>
              <a:buClrTx/>
              <a:buSzTx/>
              <a:buFont typeface="+mj-lt"/>
              <a:buAutoNum type="alphaLcPeriod"/>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Services marked as S&amp;F enabled that report some type of failure subject to retry (e.g. backend unavailability)</a:t>
            </a:r>
          </a:p>
          <a:p>
            <a:pPr marL="742950" marR="0" lvl="1" indent="-285750" algn="l" defTabSz="228600" rtl="0" eaLnBrk="1" fontAlgn="auto" latinLnBrk="0" hangingPunct="1">
              <a:lnSpc>
                <a:spcPct val="100000"/>
              </a:lnSpc>
              <a:spcBef>
                <a:spcPts val="0"/>
              </a:spcBef>
              <a:spcAft>
                <a:spcPts val="600"/>
              </a:spcAft>
              <a:buClrTx/>
              <a:buSzTx/>
              <a:buFont typeface="+mj-lt"/>
              <a:buAutoNum type="alphaLcPeriod"/>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Specific services directly requested by the users (clients or employees) as scheduled for the future.</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Both types of services will send to the request manager the pending transaction with all the relevant data for storage</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According to the rules specified for each type of transaction, the Request Processor will decide when and how many times to retry.</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Rules may include schedule transaction priorities, cycles, system availability events, among others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Then the processor will initiate the retry and the Request Router will forward each transaction to the corresponding business service.</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There will be an S&amp;F console to monitor the transactions still pending to retry, as well as for admin purposes.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Stored services for retry should not be part of an atomic transaction. These have their own retry mechanisms as part of transaction management</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000" b="0" i="0" u="none" strike="noStrike" kern="1200" cap="none" spc="0" normalizeH="0" baseline="0" noProof="0" dirty="0">
              <a:ln>
                <a:noFill/>
              </a:ln>
              <a:solidFill>
                <a:srgbClr val="000000"/>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34A440E1-5FB7-F596-F85A-F13FD5841E6C}"/>
              </a:ext>
            </a:extLst>
          </p:cNvPr>
          <p:cNvSpPr/>
          <p:nvPr/>
        </p:nvSpPr>
        <p:spPr>
          <a:xfrm>
            <a:off x="1487902" y="3315512"/>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Graphik"/>
                <a:ea typeface="+mn-ea"/>
                <a:cs typeface="+mn-cs"/>
              </a:rPr>
              <a:t>Custom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Graphik"/>
                <a:ea typeface="+mn-ea"/>
                <a:cs typeface="+mn-cs"/>
              </a:rPr>
              <a:t>Component</a:t>
            </a:r>
          </a:p>
        </p:txBody>
      </p:sp>
      <p:sp>
        <p:nvSpPr>
          <p:cNvPr id="44" name="Rectangle 43">
            <a:extLst>
              <a:ext uri="{FF2B5EF4-FFF2-40B4-BE49-F238E27FC236}">
                <a16:creationId xmlns:a16="http://schemas.microsoft.com/office/drawing/2014/main" id="{BE6CF04D-4082-300D-A262-1B6841E6036C}"/>
              </a:ext>
            </a:extLst>
          </p:cNvPr>
          <p:cNvSpPr/>
          <p:nvPr/>
        </p:nvSpPr>
        <p:spPr>
          <a:xfrm>
            <a:off x="2165279" y="3644838"/>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Custom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Component</a:t>
            </a:r>
          </a:p>
        </p:txBody>
      </p:sp>
      <p:sp>
        <p:nvSpPr>
          <p:cNvPr id="45" name="Rectangle 44">
            <a:extLst>
              <a:ext uri="{FF2B5EF4-FFF2-40B4-BE49-F238E27FC236}">
                <a16:creationId xmlns:a16="http://schemas.microsoft.com/office/drawing/2014/main" id="{1E618077-0885-4322-C21D-B6B2BB038CC5}"/>
              </a:ext>
            </a:extLst>
          </p:cNvPr>
          <p:cNvSpPr/>
          <p:nvPr/>
        </p:nvSpPr>
        <p:spPr>
          <a:xfrm>
            <a:off x="3829348" y="3954639"/>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Custom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Component</a:t>
            </a:r>
          </a:p>
        </p:txBody>
      </p:sp>
      <p:sp>
        <p:nvSpPr>
          <p:cNvPr id="46" name="Rectangle 45">
            <a:extLst>
              <a:ext uri="{FF2B5EF4-FFF2-40B4-BE49-F238E27FC236}">
                <a16:creationId xmlns:a16="http://schemas.microsoft.com/office/drawing/2014/main" id="{C8B3DD11-68A4-9179-EEE2-D2B034E7F039}"/>
              </a:ext>
            </a:extLst>
          </p:cNvPr>
          <p:cNvSpPr/>
          <p:nvPr/>
        </p:nvSpPr>
        <p:spPr>
          <a:xfrm>
            <a:off x="4425299" y="2680459"/>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Custom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Component</a:t>
            </a:r>
          </a:p>
        </p:txBody>
      </p:sp>
      <p:sp>
        <p:nvSpPr>
          <p:cNvPr id="47" name="Rectangle 46">
            <a:extLst>
              <a:ext uri="{FF2B5EF4-FFF2-40B4-BE49-F238E27FC236}">
                <a16:creationId xmlns:a16="http://schemas.microsoft.com/office/drawing/2014/main" id="{FBD3B936-AFA9-0FC3-862A-AD2AE25A4AF4}"/>
              </a:ext>
            </a:extLst>
          </p:cNvPr>
          <p:cNvSpPr/>
          <p:nvPr/>
        </p:nvSpPr>
        <p:spPr>
          <a:xfrm>
            <a:off x="4255511" y="1533629"/>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Custom or 3</a:t>
            </a:r>
            <a:r>
              <a:rPr kumimoji="0" lang="en-US" sz="700" b="0" i="0" u="none" strike="noStrike" kern="1200" cap="none" spc="0" normalizeH="0" baseline="30000" noProof="0">
                <a:ln>
                  <a:noFill/>
                </a:ln>
                <a:solidFill>
                  <a:srgbClr val="FFFFFF"/>
                </a:solidFill>
                <a:effectLst/>
                <a:uLnTx/>
                <a:uFillTx/>
                <a:latin typeface="Graphik"/>
                <a:ea typeface="+mn-ea"/>
                <a:cs typeface="+mn-cs"/>
              </a:rPr>
              <a:t>rd</a:t>
            </a:r>
            <a:r>
              <a:rPr kumimoji="0" lang="en-US" sz="700" b="0" i="0" u="none" strike="noStrike" kern="1200" cap="none" spc="0" normalizeH="0" baseline="0" noProof="0">
                <a:ln>
                  <a:noFill/>
                </a:ln>
                <a:solidFill>
                  <a:srgbClr val="FFFFFF"/>
                </a:solidFill>
                <a:effectLst/>
                <a:uLnTx/>
                <a:uFillTx/>
                <a:latin typeface="Graphik"/>
                <a:ea typeface="+mn-ea"/>
                <a:cs typeface="+mn-cs"/>
              </a:rPr>
              <a:t> party</a:t>
            </a:r>
          </a:p>
        </p:txBody>
      </p:sp>
      <p:sp>
        <p:nvSpPr>
          <p:cNvPr id="48" name="Rectangle 47">
            <a:extLst>
              <a:ext uri="{FF2B5EF4-FFF2-40B4-BE49-F238E27FC236}">
                <a16:creationId xmlns:a16="http://schemas.microsoft.com/office/drawing/2014/main" id="{6A3E4864-39DA-ACDA-C0A3-4C9B64779752}"/>
              </a:ext>
            </a:extLst>
          </p:cNvPr>
          <p:cNvSpPr/>
          <p:nvPr/>
        </p:nvSpPr>
        <p:spPr>
          <a:xfrm>
            <a:off x="8889090" y="5653216"/>
            <a:ext cx="2880000" cy="180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Main components of this capability</a:t>
            </a:r>
          </a:p>
        </p:txBody>
      </p:sp>
      <p:sp>
        <p:nvSpPr>
          <p:cNvPr id="49" name="Rectangle 48">
            <a:extLst>
              <a:ext uri="{FF2B5EF4-FFF2-40B4-BE49-F238E27FC236}">
                <a16:creationId xmlns:a16="http://schemas.microsoft.com/office/drawing/2014/main" id="{A6082715-C9AC-6AF8-E454-E269A71BB6A4}"/>
              </a:ext>
            </a:extLst>
          </p:cNvPr>
          <p:cNvSpPr/>
          <p:nvPr/>
        </p:nvSpPr>
        <p:spPr>
          <a:xfrm>
            <a:off x="8889090" y="5887368"/>
            <a:ext cx="2880000" cy="18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Components of other related capabilities</a:t>
            </a:r>
          </a:p>
        </p:txBody>
      </p:sp>
      <p:sp>
        <p:nvSpPr>
          <p:cNvPr id="50" name="Rectangle 49">
            <a:extLst>
              <a:ext uri="{FF2B5EF4-FFF2-40B4-BE49-F238E27FC236}">
                <a16:creationId xmlns:a16="http://schemas.microsoft.com/office/drawing/2014/main" id="{0665E358-1577-11A9-A75D-2D77FA84433D}"/>
              </a:ext>
            </a:extLst>
          </p:cNvPr>
          <p:cNvSpPr/>
          <p:nvPr/>
        </p:nvSpPr>
        <p:spPr>
          <a:xfrm>
            <a:off x="8889090" y="6103793"/>
            <a:ext cx="288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Functional Components related to this capability</a:t>
            </a:r>
          </a:p>
        </p:txBody>
      </p:sp>
      <p:cxnSp>
        <p:nvCxnSpPr>
          <p:cNvPr id="51" name="Connector: Elbow 50">
            <a:extLst>
              <a:ext uri="{FF2B5EF4-FFF2-40B4-BE49-F238E27FC236}">
                <a16:creationId xmlns:a16="http://schemas.microsoft.com/office/drawing/2014/main" id="{271DC1A0-4979-2841-6EC7-7B961A67B211}"/>
              </a:ext>
            </a:extLst>
          </p:cNvPr>
          <p:cNvCxnSpPr>
            <a:cxnSpLocks/>
            <a:stCxn id="25" idx="1"/>
            <a:endCxn id="13" idx="1"/>
          </p:cNvCxnSpPr>
          <p:nvPr/>
        </p:nvCxnSpPr>
        <p:spPr>
          <a:xfrm rot="10800000" flipV="1">
            <a:off x="736939" y="2585801"/>
            <a:ext cx="2892658" cy="993889"/>
          </a:xfrm>
          <a:prstGeom prst="bentConnector3">
            <a:avLst>
              <a:gd name="adj1" fmla="val 103484"/>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CEE23531-64BD-5427-122B-E8A5CEE91793}"/>
              </a:ext>
            </a:extLst>
          </p:cNvPr>
          <p:cNvSpPr txBox="1"/>
          <p:nvPr/>
        </p:nvSpPr>
        <p:spPr>
          <a:xfrm>
            <a:off x="1725585" y="2466209"/>
            <a:ext cx="690645" cy="152083"/>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a:ea typeface="+mn-ea"/>
                <a:cs typeface="+mn-cs"/>
              </a:rPr>
              <a:t>b. Scheduled Service</a:t>
            </a:r>
          </a:p>
        </p:txBody>
      </p:sp>
    </p:spTree>
    <p:extLst>
      <p:ext uri="{BB962C8B-B14F-4D97-AF65-F5344CB8AC3E}">
        <p14:creationId xmlns:p14="http://schemas.microsoft.com/office/powerpoint/2010/main" val="3353678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1994A-72EA-653A-76EB-C6D2C62B8CB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249E8D3-9975-3272-F482-873BF017A3BA}"/>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All rights reserved.</a:t>
            </a:r>
          </a:p>
        </p:txBody>
      </p:sp>
      <p:sp>
        <p:nvSpPr>
          <p:cNvPr id="118" name="Title 1">
            <a:extLst>
              <a:ext uri="{FF2B5EF4-FFF2-40B4-BE49-F238E27FC236}">
                <a16:creationId xmlns:a16="http://schemas.microsoft.com/office/drawing/2014/main" id="{B1C6998D-F4F3-3C23-6C28-EE7AC8C2F9F3}"/>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Interoperability Asset </a:t>
            </a:r>
            <a:r>
              <a:rPr kumimoji="0" lang="en-US" sz="2400" b="1" i="0" u="none" strike="noStrike" kern="1200" cap="none" spc="0" normalizeH="0" baseline="0" noProof="0">
                <a:ln>
                  <a:noFill/>
                </a:ln>
                <a:solidFill>
                  <a:srgbClr val="000000"/>
                </a:solidFill>
                <a:effectLst/>
                <a:uLnTx/>
                <a:uFillTx/>
                <a:latin typeface="Graphik"/>
                <a:ea typeface="+mj-ea"/>
                <a:cs typeface="+mj-cs"/>
              </a:rPr>
              <a:t>| API Management</a:t>
            </a:r>
          </a:p>
        </p:txBody>
      </p:sp>
      <p:sp>
        <p:nvSpPr>
          <p:cNvPr id="119" name="Content Placeholder 34">
            <a:extLst>
              <a:ext uri="{FF2B5EF4-FFF2-40B4-BE49-F238E27FC236}">
                <a16:creationId xmlns:a16="http://schemas.microsoft.com/office/drawing/2014/main" id="{992002CC-C23B-CC26-7AF0-1FF1ACCED51F}"/>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Main components of Store &amp; Forward Service</a:t>
            </a:r>
          </a:p>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endParaRPr>
          </a:p>
        </p:txBody>
      </p:sp>
      <p:grpSp>
        <p:nvGrpSpPr>
          <p:cNvPr id="4" name="Group 3">
            <a:extLst>
              <a:ext uri="{FF2B5EF4-FFF2-40B4-BE49-F238E27FC236}">
                <a16:creationId xmlns:a16="http://schemas.microsoft.com/office/drawing/2014/main" id="{4FCA2A7A-6178-37E2-3DEC-312BCEAFCDD2}"/>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B588AFC3-A03F-B252-6784-4A728125E791}"/>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Illustrative non exhaustive</a:t>
              </a:r>
            </a:p>
          </p:txBody>
        </p:sp>
        <p:cxnSp>
          <p:nvCxnSpPr>
            <p:cNvPr id="6" name="Straight Connector 5">
              <a:extLst>
                <a:ext uri="{FF2B5EF4-FFF2-40B4-BE49-F238E27FC236}">
                  <a16:creationId xmlns:a16="http://schemas.microsoft.com/office/drawing/2014/main" id="{385CA6CF-B63A-BE3B-9268-17AF1106592E}"/>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680D9CF-5E76-E54E-789E-119D925413E7}"/>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3" name="Rectangle 42">
            <a:extLst>
              <a:ext uri="{FF2B5EF4-FFF2-40B4-BE49-F238E27FC236}">
                <a16:creationId xmlns:a16="http://schemas.microsoft.com/office/drawing/2014/main" id="{71E30FDB-174B-F36B-9F98-8F4B08DA7432}"/>
              </a:ext>
            </a:extLst>
          </p:cNvPr>
          <p:cNvSpPr/>
          <p:nvPr/>
        </p:nvSpPr>
        <p:spPr>
          <a:xfrm>
            <a:off x="9095473" y="1041910"/>
            <a:ext cx="2880000" cy="14865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Main components of this capability</a:t>
            </a:r>
          </a:p>
        </p:txBody>
      </p:sp>
      <p:sp>
        <p:nvSpPr>
          <p:cNvPr id="44" name="Rectangle 43">
            <a:extLst>
              <a:ext uri="{FF2B5EF4-FFF2-40B4-BE49-F238E27FC236}">
                <a16:creationId xmlns:a16="http://schemas.microsoft.com/office/drawing/2014/main" id="{911D4BE6-5BE4-3519-F18B-8BC10CCFCE93}"/>
              </a:ext>
            </a:extLst>
          </p:cNvPr>
          <p:cNvSpPr/>
          <p:nvPr/>
        </p:nvSpPr>
        <p:spPr>
          <a:xfrm>
            <a:off x="9095473" y="1234617"/>
            <a:ext cx="2880000" cy="19270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Components of other related capabilities</a:t>
            </a:r>
          </a:p>
        </p:txBody>
      </p:sp>
      <p:sp>
        <p:nvSpPr>
          <p:cNvPr id="45" name="Rectangle 44">
            <a:extLst>
              <a:ext uri="{FF2B5EF4-FFF2-40B4-BE49-F238E27FC236}">
                <a16:creationId xmlns:a16="http://schemas.microsoft.com/office/drawing/2014/main" id="{E84E6BF8-DBFE-F8F1-DCC4-2767CEA5CE11}"/>
              </a:ext>
            </a:extLst>
          </p:cNvPr>
          <p:cNvSpPr/>
          <p:nvPr/>
        </p:nvSpPr>
        <p:spPr bwMode="blackWhite">
          <a:xfrm>
            <a:off x="515364" y="3071837"/>
            <a:ext cx="11021979" cy="1741063"/>
          </a:xfrm>
          <a:prstGeom prst="rect">
            <a:avLst/>
          </a:prstGeom>
          <a:solidFill>
            <a:schemeClr val="bg1">
              <a:lumMod val="95000"/>
            </a:schemeClr>
          </a:solidFill>
          <a:ln w="19050">
            <a:solidFill>
              <a:schemeClr val="accent2"/>
            </a:solidFill>
          </a:ln>
        </p:spPr>
        <p:txBody>
          <a:bodyPr wrap="non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a:ln>
                <a:noFill/>
              </a:ln>
              <a:solidFill>
                <a:srgbClr val="000000"/>
              </a:solidFill>
              <a:effectLst/>
              <a:uLnTx/>
              <a:uFillTx/>
              <a:latin typeface="Graphik"/>
              <a:ea typeface="+mn-ea"/>
              <a:cs typeface="+mn-cs"/>
            </a:endParaRPr>
          </a:p>
        </p:txBody>
      </p:sp>
      <p:sp>
        <p:nvSpPr>
          <p:cNvPr id="46" name="TextBox 9">
            <a:extLst>
              <a:ext uri="{FF2B5EF4-FFF2-40B4-BE49-F238E27FC236}">
                <a16:creationId xmlns:a16="http://schemas.microsoft.com/office/drawing/2014/main" id="{C346D15E-A162-ABD0-1F22-55047E14153F}"/>
              </a:ext>
            </a:extLst>
          </p:cNvPr>
          <p:cNvSpPr txBox="1"/>
          <p:nvPr/>
        </p:nvSpPr>
        <p:spPr bwMode="gray">
          <a:xfrm>
            <a:off x="1593163" y="2763185"/>
            <a:ext cx="1192833" cy="262957"/>
          </a:xfrm>
          <a:prstGeom prst="rect">
            <a:avLst/>
          </a:prstGeom>
          <a:solidFill>
            <a:schemeClr val="accent2"/>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Integration Flow</a:t>
            </a:r>
          </a:p>
        </p:txBody>
      </p:sp>
      <p:sp>
        <p:nvSpPr>
          <p:cNvPr id="47" name="TextBox 10">
            <a:extLst>
              <a:ext uri="{FF2B5EF4-FFF2-40B4-BE49-F238E27FC236}">
                <a16:creationId xmlns:a16="http://schemas.microsoft.com/office/drawing/2014/main" id="{B979CE20-8911-2A20-FFE0-6393F4CEFE73}"/>
              </a:ext>
            </a:extLst>
          </p:cNvPr>
          <p:cNvSpPr txBox="1"/>
          <p:nvPr/>
        </p:nvSpPr>
        <p:spPr bwMode="gray">
          <a:xfrm>
            <a:off x="2891227" y="2759415"/>
            <a:ext cx="1192833" cy="262957"/>
          </a:xfrm>
          <a:prstGeom prst="rect">
            <a:avLst/>
          </a:prstGeom>
          <a:solidFill>
            <a:schemeClr val="accent2"/>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Integration Flow</a:t>
            </a:r>
          </a:p>
        </p:txBody>
      </p:sp>
      <p:sp>
        <p:nvSpPr>
          <p:cNvPr id="48" name="TextBox 11">
            <a:extLst>
              <a:ext uri="{FF2B5EF4-FFF2-40B4-BE49-F238E27FC236}">
                <a16:creationId xmlns:a16="http://schemas.microsoft.com/office/drawing/2014/main" id="{0BB2A138-CB84-C21A-FEAE-C08EDED70B15}"/>
              </a:ext>
            </a:extLst>
          </p:cNvPr>
          <p:cNvSpPr txBox="1"/>
          <p:nvPr/>
        </p:nvSpPr>
        <p:spPr bwMode="gray">
          <a:xfrm>
            <a:off x="4137200" y="2751247"/>
            <a:ext cx="1192833" cy="262957"/>
          </a:xfrm>
          <a:prstGeom prst="rect">
            <a:avLst/>
          </a:prstGeom>
          <a:solidFill>
            <a:schemeClr val="accent2"/>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Integration Flow</a:t>
            </a:r>
          </a:p>
        </p:txBody>
      </p:sp>
      <p:sp>
        <p:nvSpPr>
          <p:cNvPr id="49" name="TextBox 12">
            <a:extLst>
              <a:ext uri="{FF2B5EF4-FFF2-40B4-BE49-F238E27FC236}">
                <a16:creationId xmlns:a16="http://schemas.microsoft.com/office/drawing/2014/main" id="{EA72D4F9-07B7-6860-320C-0AF34B52DACD}"/>
              </a:ext>
            </a:extLst>
          </p:cNvPr>
          <p:cNvSpPr txBox="1"/>
          <p:nvPr/>
        </p:nvSpPr>
        <p:spPr bwMode="gray">
          <a:xfrm>
            <a:off x="5426213" y="2746902"/>
            <a:ext cx="1192833" cy="262957"/>
          </a:xfrm>
          <a:prstGeom prst="rect">
            <a:avLst/>
          </a:prstGeom>
          <a:solidFill>
            <a:schemeClr val="accent2"/>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Integration Flow</a:t>
            </a:r>
          </a:p>
        </p:txBody>
      </p:sp>
      <p:sp>
        <p:nvSpPr>
          <p:cNvPr id="50" name="Rectangle 49">
            <a:extLst>
              <a:ext uri="{FF2B5EF4-FFF2-40B4-BE49-F238E27FC236}">
                <a16:creationId xmlns:a16="http://schemas.microsoft.com/office/drawing/2014/main" id="{1EA92EA2-7016-2044-F48C-1D80D1F090C1}"/>
              </a:ext>
            </a:extLst>
          </p:cNvPr>
          <p:cNvSpPr/>
          <p:nvPr/>
        </p:nvSpPr>
        <p:spPr bwMode="ltGray">
          <a:xfrm>
            <a:off x="1524376" y="4846504"/>
            <a:ext cx="2499305" cy="325805"/>
          </a:xfrm>
          <a:prstGeom prst="rect">
            <a:avLst/>
          </a:prstGeom>
          <a:solidFill>
            <a:schemeClr val="tx1">
              <a:lumMod val="50000"/>
              <a:lumOff val="50000"/>
            </a:schemeClr>
          </a:solidFill>
          <a:ln w="12700">
            <a:solidFill>
              <a:schemeClr val="bg1"/>
            </a:solidFill>
          </a:ln>
        </p:spPr>
        <p:txBody>
          <a:bodyPr wrap="non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System Infrastructure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rgbClr val="FFFFFF"/>
                </a:solidFill>
                <a:effectLst/>
                <a:uLnTx/>
                <a:uFillTx/>
                <a:latin typeface="Graphik"/>
                <a:ea typeface="+mn-ea"/>
                <a:cs typeface="+mn-cs"/>
              </a:rPr>
              <a:t>(Servers, Storage, Networking and OS</a:t>
            </a:r>
            <a:r>
              <a:rPr kumimoji="0" lang="en-US" sz="900" b="0" i="0" u="none" strike="noStrike" kern="1200" cap="none" spc="0" normalizeH="0" baseline="0" noProof="0">
                <a:ln>
                  <a:noFill/>
                </a:ln>
                <a:solidFill>
                  <a:srgbClr val="FFFFFF"/>
                </a:solidFill>
                <a:effectLst/>
                <a:uLnTx/>
                <a:uFillTx/>
                <a:latin typeface="Graphik"/>
                <a:ea typeface="+mn-ea"/>
                <a:cs typeface="+mn-cs"/>
              </a:rPr>
              <a:t>)</a:t>
            </a:r>
            <a:endParaRPr kumimoji="0" lang="en-US" sz="900" b="0" i="1" u="none" strike="noStrike" kern="1200" cap="none" spc="0" normalizeH="0" baseline="0" noProof="0">
              <a:ln>
                <a:noFill/>
              </a:ln>
              <a:solidFill>
                <a:srgbClr val="FFFFFF"/>
              </a:solidFill>
              <a:effectLst/>
              <a:uLnTx/>
              <a:uFillTx/>
              <a:latin typeface="Graphik"/>
              <a:ea typeface="+mn-ea"/>
              <a:cs typeface="+mn-cs"/>
            </a:endParaRPr>
          </a:p>
        </p:txBody>
      </p:sp>
      <p:sp>
        <p:nvSpPr>
          <p:cNvPr id="51" name="TextBox 14">
            <a:extLst>
              <a:ext uri="{FF2B5EF4-FFF2-40B4-BE49-F238E27FC236}">
                <a16:creationId xmlns:a16="http://schemas.microsoft.com/office/drawing/2014/main" id="{2F5C206A-9436-051E-718F-3644A9A3B1AC}"/>
              </a:ext>
            </a:extLst>
          </p:cNvPr>
          <p:cNvSpPr txBox="1"/>
          <p:nvPr/>
        </p:nvSpPr>
        <p:spPr bwMode="blackWhite">
          <a:xfrm>
            <a:off x="5367980" y="3876522"/>
            <a:ext cx="1155442" cy="752400"/>
          </a:xfrm>
          <a:prstGeom prst="rect">
            <a:avLst/>
          </a:prstGeom>
          <a:solidFill>
            <a:schemeClr val="accent3">
              <a:lumMod val="40000"/>
              <a:lumOff val="60000"/>
            </a:schemeClr>
          </a:solidFill>
          <a:ln w="12700">
            <a:solidFill>
              <a:schemeClr val="accent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API Management Platform  Deployment &amp; Operations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Graphik"/>
              <a:ea typeface="+mn-ea"/>
              <a:cs typeface="+mn-cs"/>
            </a:endParaRPr>
          </a:p>
        </p:txBody>
      </p:sp>
      <p:sp>
        <p:nvSpPr>
          <p:cNvPr id="52" name="TextBox 15">
            <a:extLst>
              <a:ext uri="{FF2B5EF4-FFF2-40B4-BE49-F238E27FC236}">
                <a16:creationId xmlns:a16="http://schemas.microsoft.com/office/drawing/2014/main" id="{79261E06-6156-86F8-6BCC-98D54E91E287}"/>
              </a:ext>
            </a:extLst>
          </p:cNvPr>
          <p:cNvSpPr txBox="1"/>
          <p:nvPr/>
        </p:nvSpPr>
        <p:spPr bwMode="blackWhite">
          <a:xfrm>
            <a:off x="2899814" y="3892430"/>
            <a:ext cx="1155442" cy="752626"/>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API Designer and Developer Portal</a:t>
            </a:r>
          </a:p>
        </p:txBody>
      </p:sp>
      <p:sp>
        <p:nvSpPr>
          <p:cNvPr id="53" name="TextBox 19">
            <a:extLst>
              <a:ext uri="{FF2B5EF4-FFF2-40B4-BE49-F238E27FC236}">
                <a16:creationId xmlns:a16="http://schemas.microsoft.com/office/drawing/2014/main" id="{AFA414CC-C3B0-4FB4-4708-80334A03D304}"/>
              </a:ext>
            </a:extLst>
          </p:cNvPr>
          <p:cNvSpPr txBox="1"/>
          <p:nvPr/>
        </p:nvSpPr>
        <p:spPr bwMode="blackWhite">
          <a:xfrm>
            <a:off x="4133896" y="3884473"/>
            <a:ext cx="1155442" cy="752624"/>
          </a:xfrm>
          <a:prstGeom prst="rect">
            <a:avLst/>
          </a:prstGeom>
          <a:solidFill>
            <a:schemeClr val="accent3">
              <a:lumMod val="40000"/>
              <a:lumOff val="60000"/>
            </a:schemeClr>
          </a:solidFill>
          <a:ln w="12700">
            <a:solidFill>
              <a:schemeClr val="accent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API Life-Cycle Management</a:t>
            </a:r>
          </a:p>
        </p:txBody>
      </p:sp>
      <p:sp>
        <p:nvSpPr>
          <p:cNvPr id="54" name="TextBox 20">
            <a:extLst>
              <a:ext uri="{FF2B5EF4-FFF2-40B4-BE49-F238E27FC236}">
                <a16:creationId xmlns:a16="http://schemas.microsoft.com/office/drawing/2014/main" id="{F426F305-3561-970D-3160-9ABFEFD48DCE}"/>
              </a:ext>
            </a:extLst>
          </p:cNvPr>
          <p:cNvSpPr txBox="1"/>
          <p:nvPr/>
        </p:nvSpPr>
        <p:spPr bwMode="blackWhite">
          <a:xfrm>
            <a:off x="1665730" y="3893005"/>
            <a:ext cx="1155442" cy="752400"/>
          </a:xfrm>
          <a:prstGeom prst="rect">
            <a:avLst/>
          </a:prstGeom>
          <a:solidFill>
            <a:schemeClr val="accent3">
              <a:lumMod val="40000"/>
              <a:lumOff val="60000"/>
            </a:schemeClr>
          </a:solidFill>
          <a:ln w="12700">
            <a:solidFill>
              <a:schemeClr val="accent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API Monitoring, Analytics &amp; Monetization</a:t>
            </a:r>
          </a:p>
        </p:txBody>
      </p:sp>
      <p:sp>
        <p:nvSpPr>
          <p:cNvPr id="55" name="Rectangle 54">
            <a:extLst>
              <a:ext uri="{FF2B5EF4-FFF2-40B4-BE49-F238E27FC236}">
                <a16:creationId xmlns:a16="http://schemas.microsoft.com/office/drawing/2014/main" id="{DB439624-1487-DD41-E175-79824C11CD26}"/>
              </a:ext>
            </a:extLst>
          </p:cNvPr>
          <p:cNvSpPr/>
          <p:nvPr/>
        </p:nvSpPr>
        <p:spPr bwMode="ltGray">
          <a:xfrm>
            <a:off x="4139084" y="4846930"/>
            <a:ext cx="2500227" cy="325805"/>
          </a:xfrm>
          <a:prstGeom prst="rect">
            <a:avLst/>
          </a:prstGeom>
          <a:solidFill>
            <a:schemeClr val="tx1">
              <a:lumMod val="50000"/>
              <a:lumOff val="50000"/>
            </a:schemeClr>
          </a:solidFill>
          <a:ln w="12700">
            <a:solidFill>
              <a:schemeClr val="bg1"/>
            </a:solidFill>
          </a:ln>
        </p:spPr>
        <p:txBody>
          <a:bodyPr wrap="non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System Infrastructure Services</a:t>
            </a:r>
            <a:br>
              <a:rPr kumimoji="0" lang="en-US" sz="900" b="0" i="0" u="none" strike="noStrike" kern="1200" cap="none" spc="0" normalizeH="0" baseline="0" noProof="0">
                <a:ln>
                  <a:noFill/>
                </a:ln>
                <a:solidFill>
                  <a:srgbClr val="FFFFFF"/>
                </a:solidFill>
                <a:effectLst/>
                <a:uLnTx/>
                <a:uFillTx/>
                <a:latin typeface="Graphik"/>
                <a:ea typeface="+mn-ea"/>
                <a:cs typeface="+mn-cs"/>
              </a:rPr>
            </a:br>
            <a:r>
              <a:rPr kumimoji="0" lang="en-US" sz="900" b="0" i="0" u="none" strike="noStrike" kern="1200" cap="none" spc="0" normalizeH="0" baseline="0" noProof="0">
                <a:ln>
                  <a:noFill/>
                </a:ln>
                <a:solidFill>
                  <a:srgbClr val="FFFFFF"/>
                </a:solidFill>
                <a:effectLst/>
                <a:uLnTx/>
                <a:uFillTx/>
                <a:latin typeface="Graphik"/>
                <a:ea typeface="+mn-ea"/>
                <a:cs typeface="+mn-cs"/>
              </a:rPr>
              <a:t>(</a:t>
            </a:r>
            <a:r>
              <a:rPr kumimoji="0" lang="en-US" sz="900" b="0" i="1" u="none" strike="noStrike" kern="1200" cap="none" spc="0" normalizeH="0" baseline="0" noProof="0">
                <a:ln>
                  <a:noFill/>
                </a:ln>
                <a:solidFill>
                  <a:srgbClr val="FFFFFF"/>
                </a:solidFill>
                <a:effectLst/>
                <a:uLnTx/>
                <a:uFillTx/>
                <a:latin typeface="Graphik"/>
                <a:ea typeface="+mn-ea"/>
                <a:cs typeface="+mn-cs"/>
              </a:rPr>
              <a:t>IaaS) </a:t>
            </a:r>
          </a:p>
        </p:txBody>
      </p:sp>
      <p:sp>
        <p:nvSpPr>
          <p:cNvPr id="56" name="Rectangle 55">
            <a:extLst>
              <a:ext uri="{FF2B5EF4-FFF2-40B4-BE49-F238E27FC236}">
                <a16:creationId xmlns:a16="http://schemas.microsoft.com/office/drawing/2014/main" id="{AD081FA2-F7E5-3ED0-CD86-7DAA5EB1B47F}"/>
              </a:ext>
            </a:extLst>
          </p:cNvPr>
          <p:cNvSpPr/>
          <p:nvPr/>
        </p:nvSpPr>
        <p:spPr bwMode="gray">
          <a:xfrm>
            <a:off x="995784" y="5303241"/>
            <a:ext cx="2645667" cy="505560"/>
          </a:xfrm>
          <a:prstGeom prst="rect">
            <a:avLst/>
          </a:prstGeom>
        </p:spPr>
        <p:txBody>
          <a:bodyPr wrap="square" lIns="62198" tIns="0" rIns="0" bIns="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n-US" sz="800" b="0" i="0" u="none" strike="noStrike" kern="1200" cap="none" spc="0" normalizeH="0" baseline="0" noProof="0">
                <a:ln>
                  <a:noFill/>
                </a:ln>
                <a:solidFill>
                  <a:srgbClr val="000000"/>
                </a:solidFill>
                <a:effectLst/>
                <a:uLnTx/>
                <a:uFillTx/>
                <a:latin typeface="Graphik"/>
                <a:ea typeface="+mn-ea"/>
                <a:cs typeface="+mn-cs"/>
              </a:rPr>
              <a:t>Activity Logging</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n-US" sz="800" b="0" i="0" u="none" strike="noStrike" kern="1200" cap="none" spc="0" normalizeH="0" baseline="0" noProof="0">
                <a:ln>
                  <a:noFill/>
                </a:ln>
                <a:solidFill>
                  <a:srgbClr val="000000"/>
                </a:solidFill>
                <a:effectLst/>
                <a:uLnTx/>
                <a:uFillTx/>
                <a:latin typeface="Graphik"/>
                <a:ea typeface="+mn-ea"/>
                <a:cs typeface="+mn-cs"/>
              </a:rPr>
              <a:t>User Auditing</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n-US" sz="800" b="0" i="0" u="none" strike="noStrike" kern="1200" cap="none" spc="0" normalizeH="0" baseline="0" noProof="0">
                <a:ln>
                  <a:noFill/>
                </a:ln>
                <a:solidFill>
                  <a:srgbClr val="000000"/>
                </a:solidFill>
                <a:effectLst/>
                <a:uLnTx/>
                <a:uFillTx/>
                <a:latin typeface="Graphik"/>
                <a:ea typeface="+mn-ea"/>
                <a:cs typeface="+mn-cs"/>
              </a:rPr>
              <a:t>Reporting</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n-US" sz="800" b="0" i="0" u="none" strike="noStrike" kern="1200" cap="none" spc="0" normalizeH="0" baseline="0" noProof="0">
                <a:ln>
                  <a:noFill/>
                </a:ln>
                <a:solidFill>
                  <a:srgbClr val="000000"/>
                </a:solidFill>
                <a:effectLst/>
                <a:uLnTx/>
                <a:uFillTx/>
                <a:latin typeface="Graphik"/>
                <a:ea typeface="+mn-ea"/>
                <a:cs typeface="+mn-cs"/>
              </a:rPr>
              <a:t>Analytics</a:t>
            </a:r>
          </a:p>
        </p:txBody>
      </p:sp>
      <p:cxnSp>
        <p:nvCxnSpPr>
          <p:cNvPr id="57" name="Elbow Connector 40">
            <a:extLst>
              <a:ext uri="{FF2B5EF4-FFF2-40B4-BE49-F238E27FC236}">
                <a16:creationId xmlns:a16="http://schemas.microsoft.com/office/drawing/2014/main" id="{08DB0554-275B-24EE-18F3-35877FF68487}"/>
              </a:ext>
            </a:extLst>
          </p:cNvPr>
          <p:cNvCxnSpPr>
            <a:cxnSpLocks/>
            <a:stCxn id="56" idx="1"/>
            <a:endCxn id="54" idx="1"/>
          </p:cNvCxnSpPr>
          <p:nvPr/>
        </p:nvCxnSpPr>
        <p:spPr bwMode="gray">
          <a:xfrm rot="10800000" flipH="1">
            <a:off x="995784" y="4269205"/>
            <a:ext cx="669946" cy="1286816"/>
          </a:xfrm>
          <a:prstGeom prst="bentConnector3">
            <a:avLst>
              <a:gd name="adj1" fmla="val -34122"/>
            </a:avLst>
          </a:prstGeom>
          <a:solidFill>
            <a:srgbClr val="00529B"/>
          </a:solidFill>
          <a:ln w="12700" cap="flat" cmpd="sng" algn="ctr">
            <a:solidFill>
              <a:schemeClr val="tx1"/>
            </a:solidFill>
            <a:prstDash val="sysDash"/>
            <a:round/>
            <a:headEnd type="none" w="med" len="med"/>
            <a:tailEnd type="triangle" w="med" len="med"/>
          </a:ln>
          <a:effectLst/>
        </p:spPr>
      </p:cxnSp>
      <p:sp>
        <p:nvSpPr>
          <p:cNvPr id="58" name="Rectangle 57">
            <a:extLst>
              <a:ext uri="{FF2B5EF4-FFF2-40B4-BE49-F238E27FC236}">
                <a16:creationId xmlns:a16="http://schemas.microsoft.com/office/drawing/2014/main" id="{E4918D27-F3B2-4A70-DB64-23347449C5C9}"/>
              </a:ext>
            </a:extLst>
          </p:cNvPr>
          <p:cNvSpPr/>
          <p:nvPr/>
        </p:nvSpPr>
        <p:spPr bwMode="gray">
          <a:xfrm>
            <a:off x="6952791" y="5004114"/>
            <a:ext cx="1607331" cy="404447"/>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n-US" sz="800" b="0" i="0" u="none" strike="noStrike" kern="1200" cap="none" spc="0" normalizeH="0" baseline="0" noProof="0">
                <a:ln>
                  <a:noFill/>
                </a:ln>
                <a:solidFill>
                  <a:srgbClr val="000000"/>
                </a:solidFill>
                <a:effectLst/>
                <a:uLnTx/>
                <a:uFillTx/>
                <a:latin typeface="Graphik"/>
                <a:ea typeface="+mn-ea"/>
                <a:cs typeface="+mn-cs"/>
              </a:rPr>
              <a:t>Cloud vs. On-Prem vs. Hybrid</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n-US" sz="800" b="0" i="0" u="none" strike="noStrike" kern="1200" cap="none" spc="0" normalizeH="0" baseline="0" noProof="0">
                <a:ln>
                  <a:noFill/>
                </a:ln>
                <a:solidFill>
                  <a:srgbClr val="000000"/>
                </a:solidFill>
                <a:effectLst/>
                <a:uLnTx/>
                <a:uFillTx/>
                <a:latin typeface="Graphik"/>
                <a:ea typeface="+mn-ea"/>
                <a:cs typeface="+mn-cs"/>
              </a:rPr>
              <a:t>Deployment Topology</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n-US" sz="800" b="0" i="0" u="none" strike="noStrike" kern="1200" cap="none" spc="0" normalizeH="0" baseline="0" noProof="0">
                <a:ln>
                  <a:noFill/>
                </a:ln>
                <a:solidFill>
                  <a:srgbClr val="000000"/>
                </a:solidFill>
                <a:effectLst/>
                <a:uLnTx/>
                <a:uFillTx/>
                <a:latin typeface="Graphik"/>
                <a:ea typeface="+mn-ea"/>
                <a:cs typeface="+mn-cs"/>
              </a:rPr>
              <a:t>Deployment Automation</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n-US" sz="800" b="0" i="0" u="none" strike="noStrike" kern="1200" cap="none" spc="0" normalizeH="0" baseline="0" noProof="0">
                <a:ln>
                  <a:noFill/>
                </a:ln>
                <a:solidFill>
                  <a:srgbClr val="000000"/>
                </a:solidFill>
                <a:effectLst/>
                <a:uLnTx/>
                <a:uFillTx/>
                <a:latin typeface="Graphik"/>
                <a:ea typeface="+mn-ea"/>
                <a:cs typeface="+mn-cs"/>
              </a:rPr>
              <a:t>Operational Support</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n-US" sz="800" b="0" i="0" u="none" strike="noStrike" kern="1200" cap="none" spc="0" normalizeH="0" baseline="0" noProof="0">
                <a:ln>
                  <a:noFill/>
                </a:ln>
                <a:solidFill>
                  <a:srgbClr val="000000"/>
                </a:solidFill>
                <a:effectLst/>
                <a:uLnTx/>
                <a:uFillTx/>
                <a:latin typeface="Graphik"/>
                <a:ea typeface="+mn-ea"/>
                <a:cs typeface="+mn-cs"/>
              </a:rPr>
              <a:t>Platform Upgrades</a:t>
            </a:r>
          </a:p>
          <a:p>
            <a:pPr marL="64789" marR="0" lvl="2" indent="-64789" algn="l" defTabSz="914400" rtl="0" eaLnBrk="1" fontAlgn="auto" latinLnBrk="0" hangingPunct="1">
              <a:lnSpc>
                <a:spcPct val="100000"/>
              </a:lnSpc>
              <a:spcBef>
                <a:spcPts val="0"/>
              </a:spcBef>
              <a:spcAft>
                <a:spcPts val="0"/>
              </a:spcAft>
              <a:buClr>
                <a:srgbClr val="00529B"/>
              </a:buClr>
              <a:buSzTx/>
              <a:buFont typeface="Arial" pitchFamily="34" charset="0"/>
              <a:buChar char="•"/>
              <a:tabLst/>
              <a:defRPr/>
            </a:pPr>
            <a:endParaRPr kumimoji="0" lang="en-US" sz="800" b="0" i="0" u="none" strike="noStrike" kern="1200" cap="none" spc="0" normalizeH="0" baseline="0" noProof="0">
              <a:ln>
                <a:noFill/>
              </a:ln>
              <a:solidFill>
                <a:srgbClr val="000000"/>
              </a:solidFill>
              <a:effectLst/>
              <a:uLnTx/>
              <a:uFillTx/>
              <a:latin typeface="Graphik"/>
              <a:ea typeface="+mn-ea"/>
              <a:cs typeface="+mn-cs"/>
            </a:endParaRPr>
          </a:p>
        </p:txBody>
      </p:sp>
      <p:sp>
        <p:nvSpPr>
          <p:cNvPr id="59" name="Rectangle 58">
            <a:extLst>
              <a:ext uri="{FF2B5EF4-FFF2-40B4-BE49-F238E27FC236}">
                <a16:creationId xmlns:a16="http://schemas.microsoft.com/office/drawing/2014/main" id="{85DA86A8-812D-E2E1-2069-2EE98D1D1651}"/>
              </a:ext>
            </a:extLst>
          </p:cNvPr>
          <p:cNvSpPr/>
          <p:nvPr/>
        </p:nvSpPr>
        <p:spPr bwMode="gray">
          <a:xfrm>
            <a:off x="3675456" y="2056781"/>
            <a:ext cx="1009572" cy="277624"/>
          </a:xfrm>
          <a:prstGeom prst="rect">
            <a:avLst/>
          </a:prstGeom>
        </p:spPr>
        <p:txBody>
          <a:bodyPr wrap="none" lIns="0" tIns="0" rIns="0" bIns="31099">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n-US" sz="800" b="0" i="0" u="none" strike="noStrike" kern="1200" cap="none" spc="0" normalizeH="0" baseline="0" noProof="0">
                <a:ln>
                  <a:noFill/>
                </a:ln>
                <a:solidFill>
                  <a:srgbClr val="000000"/>
                </a:solidFill>
                <a:effectLst/>
                <a:uLnTx/>
                <a:uFillTx/>
                <a:latin typeface="Graphik"/>
                <a:ea typeface="+mn-ea"/>
                <a:cs typeface="+mn-cs"/>
              </a:rPr>
              <a:t>Custom-Developed</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n-US" sz="800" b="0" i="0" u="none" strike="noStrike" kern="1200" cap="none" spc="0" normalizeH="0" baseline="0" noProof="0">
                <a:ln>
                  <a:noFill/>
                </a:ln>
                <a:solidFill>
                  <a:srgbClr val="000000"/>
                </a:solidFill>
                <a:effectLst/>
                <a:uLnTx/>
                <a:uFillTx/>
                <a:latin typeface="Graphik"/>
                <a:ea typeface="+mn-ea"/>
                <a:cs typeface="+mn-cs"/>
              </a:rPr>
              <a:t>Prepackaged</a:t>
            </a:r>
          </a:p>
        </p:txBody>
      </p:sp>
      <p:sp>
        <p:nvSpPr>
          <p:cNvPr id="60" name="Rectangle 59">
            <a:extLst>
              <a:ext uri="{FF2B5EF4-FFF2-40B4-BE49-F238E27FC236}">
                <a16:creationId xmlns:a16="http://schemas.microsoft.com/office/drawing/2014/main" id="{F12F603D-4676-A92F-A3D6-2EF7D1D005D0}"/>
              </a:ext>
            </a:extLst>
          </p:cNvPr>
          <p:cNvSpPr/>
          <p:nvPr/>
        </p:nvSpPr>
        <p:spPr bwMode="gray">
          <a:xfrm>
            <a:off x="5965482" y="1853707"/>
            <a:ext cx="1974618" cy="555248"/>
          </a:xfrm>
          <a:prstGeom prst="rect">
            <a:avLst/>
          </a:prstGeom>
        </p:spPr>
        <p:txBody>
          <a:bodyPr wrap="square" lIns="0" tIns="0" rIns="0" bIns="6219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n-US" sz="800" b="0" i="0" u="none" strike="noStrike" kern="1200" cap="none" spc="0" normalizeH="0" baseline="0" noProof="0">
                <a:ln>
                  <a:noFill/>
                </a:ln>
                <a:solidFill>
                  <a:srgbClr val="000000"/>
                </a:solidFill>
                <a:effectLst/>
                <a:uLnTx/>
                <a:uFillTx/>
                <a:latin typeface="Graphik"/>
                <a:ea typeface="+mn-ea"/>
                <a:cs typeface="+mn-cs"/>
              </a:rPr>
              <a:t>API Development &amp; Publication</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n-US" sz="800" b="0" i="0" u="none" strike="noStrike" kern="1200" cap="none" spc="0" normalizeH="0" baseline="0" noProof="0">
                <a:ln>
                  <a:noFill/>
                </a:ln>
                <a:solidFill>
                  <a:srgbClr val="000000"/>
                </a:solidFill>
                <a:effectLst/>
                <a:uLnTx/>
                <a:uFillTx/>
                <a:latin typeface="Graphik"/>
                <a:ea typeface="+mn-ea"/>
                <a:cs typeface="+mn-cs"/>
              </a:rPr>
              <a:t>Version Management</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n-US" sz="800" b="0" i="0" u="none" strike="noStrike" kern="1200" cap="none" spc="0" normalizeH="0" baseline="0" noProof="0">
                <a:ln>
                  <a:noFill/>
                </a:ln>
                <a:solidFill>
                  <a:srgbClr val="000000"/>
                </a:solidFill>
                <a:effectLst/>
                <a:uLnTx/>
                <a:uFillTx/>
                <a:latin typeface="Graphik"/>
                <a:ea typeface="+mn-ea"/>
                <a:cs typeface="+mn-cs"/>
              </a:rPr>
              <a:t>Change Notification</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n-US" sz="800" b="0" i="0" u="none" strike="noStrike" kern="1200" cap="none" spc="0" normalizeH="0" baseline="0" noProof="0">
                <a:ln>
                  <a:noFill/>
                </a:ln>
                <a:solidFill>
                  <a:srgbClr val="000000"/>
                </a:solidFill>
                <a:effectLst/>
                <a:uLnTx/>
                <a:uFillTx/>
                <a:latin typeface="Graphik"/>
                <a:ea typeface="+mn-ea"/>
                <a:cs typeface="+mn-cs"/>
              </a:rPr>
              <a:t>Issue Management</a:t>
            </a:r>
          </a:p>
        </p:txBody>
      </p:sp>
      <p:cxnSp>
        <p:nvCxnSpPr>
          <p:cNvPr id="61" name="Elbow Connector 33">
            <a:extLst>
              <a:ext uri="{FF2B5EF4-FFF2-40B4-BE49-F238E27FC236}">
                <a16:creationId xmlns:a16="http://schemas.microsoft.com/office/drawing/2014/main" id="{BF694216-BFA0-7E66-264D-7B107E8FA3BA}"/>
              </a:ext>
            </a:extLst>
          </p:cNvPr>
          <p:cNvCxnSpPr>
            <a:cxnSpLocks/>
            <a:stCxn id="60" idx="1"/>
          </p:cNvCxnSpPr>
          <p:nvPr/>
        </p:nvCxnSpPr>
        <p:spPr bwMode="gray">
          <a:xfrm rot="10800000" flipV="1">
            <a:off x="5143442" y="2131330"/>
            <a:ext cx="822040" cy="1592723"/>
          </a:xfrm>
          <a:prstGeom prst="bentConnector2">
            <a:avLst/>
          </a:prstGeom>
          <a:solidFill>
            <a:srgbClr val="00529B"/>
          </a:solidFill>
          <a:ln w="12700" cap="flat" cmpd="sng" algn="ctr">
            <a:solidFill>
              <a:schemeClr val="tx1"/>
            </a:solidFill>
            <a:prstDash val="sysDash"/>
            <a:round/>
            <a:headEnd type="none" w="med" len="med"/>
            <a:tailEnd type="triangle" w="med" len="med"/>
          </a:ln>
          <a:effectLst/>
        </p:spPr>
      </p:cxnSp>
      <p:sp>
        <p:nvSpPr>
          <p:cNvPr id="62" name="Rectangle 61">
            <a:extLst>
              <a:ext uri="{FF2B5EF4-FFF2-40B4-BE49-F238E27FC236}">
                <a16:creationId xmlns:a16="http://schemas.microsoft.com/office/drawing/2014/main" id="{D8F1B22C-E8E0-EBD9-41DC-F4CB642DCAD4}"/>
              </a:ext>
            </a:extLst>
          </p:cNvPr>
          <p:cNvSpPr/>
          <p:nvPr/>
        </p:nvSpPr>
        <p:spPr bwMode="gray">
          <a:xfrm>
            <a:off x="1021342" y="1798730"/>
            <a:ext cx="3015010" cy="910009"/>
          </a:xfrm>
          <a:prstGeom prst="rect">
            <a:avLst/>
          </a:prstGeom>
        </p:spPr>
        <p:txBody>
          <a:bodyPr wrap="square" lIns="62198" tIns="0" rIns="0" bIns="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n-US" sz="800" b="0" i="0" u="none" strike="noStrike" kern="1200" cap="none" spc="0" normalizeH="0" baseline="0" noProof="0">
                <a:ln>
                  <a:noFill/>
                </a:ln>
                <a:solidFill>
                  <a:srgbClr val="000000"/>
                </a:solidFill>
                <a:effectLst/>
                <a:uLnTx/>
                <a:uFillTx/>
                <a:latin typeface="Graphik"/>
                <a:ea typeface="+mn-ea"/>
                <a:cs typeface="+mn-cs"/>
              </a:rPr>
              <a:t>Developer Portal</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n-US" sz="800" b="0" i="0" u="none" strike="noStrike" kern="1200" cap="none" spc="0" normalizeH="0" baseline="0" noProof="0">
                <a:ln>
                  <a:noFill/>
                </a:ln>
                <a:solidFill>
                  <a:srgbClr val="000000"/>
                </a:solidFill>
                <a:effectLst/>
                <a:uLnTx/>
                <a:uFillTx/>
                <a:latin typeface="Graphik"/>
                <a:ea typeface="+mn-ea"/>
                <a:cs typeface="+mn-cs"/>
              </a:rPr>
              <a:t>Developer Registration and Administration</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n-US" sz="800" b="0" i="0" u="none" strike="noStrike" kern="1200" cap="none" spc="0" normalizeH="0" baseline="0" noProof="0">
                <a:ln>
                  <a:noFill/>
                </a:ln>
                <a:solidFill>
                  <a:srgbClr val="000000"/>
                </a:solidFill>
                <a:effectLst/>
                <a:uLnTx/>
                <a:uFillTx/>
                <a:latin typeface="Graphik"/>
                <a:ea typeface="+mn-ea"/>
                <a:cs typeface="+mn-cs"/>
              </a:rPr>
              <a:t>API Documentation &amp; Metadata Discovery</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n-US" sz="800" b="0" i="0" u="none" strike="noStrike" kern="1200" cap="none" spc="0" normalizeH="0" baseline="0" noProof="0">
                <a:ln>
                  <a:noFill/>
                </a:ln>
                <a:solidFill>
                  <a:srgbClr val="000000"/>
                </a:solidFill>
                <a:effectLst/>
                <a:uLnTx/>
                <a:uFillTx/>
                <a:latin typeface="Graphik"/>
                <a:ea typeface="+mn-ea"/>
                <a:cs typeface="+mn-cs"/>
              </a:rPr>
              <a:t>Collaboration &amp; Community Management</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n-US" sz="800" b="0" i="0" u="none" strike="noStrike" kern="1200" cap="none" spc="0" normalizeH="0" baseline="0" noProof="0">
                <a:ln>
                  <a:noFill/>
                </a:ln>
                <a:solidFill>
                  <a:srgbClr val="000000"/>
                </a:solidFill>
                <a:effectLst/>
                <a:uLnTx/>
                <a:uFillTx/>
                <a:latin typeface="Graphik"/>
                <a:ea typeface="+mn-ea"/>
                <a:cs typeface="+mn-cs"/>
              </a:rPr>
              <a:t>Developer Self-Support</a:t>
            </a:r>
          </a:p>
        </p:txBody>
      </p:sp>
      <p:sp>
        <p:nvSpPr>
          <p:cNvPr id="63" name="TextBox 29">
            <a:extLst>
              <a:ext uri="{FF2B5EF4-FFF2-40B4-BE49-F238E27FC236}">
                <a16:creationId xmlns:a16="http://schemas.microsoft.com/office/drawing/2014/main" id="{A0F61D78-8EF7-6F7D-6D53-42D9909A18A5}"/>
              </a:ext>
            </a:extLst>
          </p:cNvPr>
          <p:cNvSpPr txBox="1"/>
          <p:nvPr/>
        </p:nvSpPr>
        <p:spPr bwMode="blackWhite">
          <a:xfrm>
            <a:off x="1665731" y="3176667"/>
            <a:ext cx="4857690" cy="176009"/>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API Gateway-Open APIs</a:t>
            </a:r>
          </a:p>
        </p:txBody>
      </p:sp>
      <p:sp>
        <p:nvSpPr>
          <p:cNvPr id="64" name="TextBox 10">
            <a:extLst>
              <a:ext uri="{FF2B5EF4-FFF2-40B4-BE49-F238E27FC236}">
                <a16:creationId xmlns:a16="http://schemas.microsoft.com/office/drawing/2014/main" id="{94429417-C504-9F37-9B95-C204BE8B2918}"/>
              </a:ext>
            </a:extLst>
          </p:cNvPr>
          <p:cNvSpPr txBox="1"/>
          <p:nvPr/>
        </p:nvSpPr>
        <p:spPr bwMode="gray">
          <a:xfrm>
            <a:off x="9095473" y="849202"/>
            <a:ext cx="2880000" cy="180000"/>
          </a:xfrm>
          <a:prstGeom prst="rect">
            <a:avLst/>
          </a:prstGeom>
          <a:solidFill>
            <a:schemeClr val="accent2"/>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Graphik"/>
                <a:ea typeface="+mn-ea"/>
                <a:cs typeface="+mn-cs"/>
              </a:rPr>
              <a:t>Custom-developed</a:t>
            </a:r>
            <a:r>
              <a:rPr kumimoji="0" lang="en-US" sz="600" b="0" i="0" u="none" strike="noStrike" kern="1200" cap="none" spc="0" normalizeH="0" baseline="0" noProof="0">
                <a:ln>
                  <a:noFill/>
                </a:ln>
                <a:solidFill>
                  <a:srgbClr val="FFFFFF"/>
                </a:solidFill>
                <a:effectLst/>
                <a:uLnTx/>
                <a:uFillTx/>
                <a:latin typeface="Graphik"/>
                <a:ea typeface="+mn-ea"/>
                <a:cs typeface="+mn-cs"/>
              </a:rPr>
              <a:t> / </a:t>
            </a:r>
            <a:r>
              <a:rPr kumimoji="0" lang="en-US" sz="800" b="0" i="0" u="none" strike="noStrike" kern="1200" cap="none" spc="0" normalizeH="0" baseline="0" noProof="0">
                <a:ln>
                  <a:noFill/>
                </a:ln>
                <a:solidFill>
                  <a:srgbClr val="FFFFFF"/>
                </a:solidFill>
                <a:effectLst/>
                <a:uLnTx/>
                <a:uFillTx/>
                <a:latin typeface="Graphik"/>
                <a:ea typeface="+mn-ea"/>
                <a:cs typeface="+mn-cs"/>
              </a:rPr>
              <a:t>prepackaged</a:t>
            </a:r>
            <a:endParaRPr kumimoji="0" lang="en-US" sz="600" b="0" i="0" u="none" strike="noStrike" kern="1200" cap="none" spc="0" normalizeH="0" baseline="0" noProof="0">
              <a:ln>
                <a:noFill/>
              </a:ln>
              <a:solidFill>
                <a:srgbClr val="FFFFFF"/>
              </a:solidFill>
              <a:effectLst/>
              <a:uLnTx/>
              <a:uFillTx/>
              <a:latin typeface="Graphik"/>
              <a:ea typeface="+mn-ea"/>
              <a:cs typeface="+mn-cs"/>
            </a:endParaRPr>
          </a:p>
        </p:txBody>
      </p:sp>
      <p:sp>
        <p:nvSpPr>
          <p:cNvPr id="65" name="TextBox 10">
            <a:extLst>
              <a:ext uri="{FF2B5EF4-FFF2-40B4-BE49-F238E27FC236}">
                <a16:creationId xmlns:a16="http://schemas.microsoft.com/office/drawing/2014/main" id="{67959346-4B6C-1043-5574-09C4C7520339}"/>
              </a:ext>
            </a:extLst>
          </p:cNvPr>
          <p:cNvSpPr txBox="1"/>
          <p:nvPr/>
        </p:nvSpPr>
        <p:spPr bwMode="gray">
          <a:xfrm>
            <a:off x="9095473" y="1427325"/>
            <a:ext cx="2880000" cy="180000"/>
          </a:xfrm>
          <a:prstGeom prst="rect">
            <a:avLst/>
          </a:prstGeom>
          <a:solidFill>
            <a:schemeClr val="tx1">
              <a:lumMod val="50000"/>
              <a:lumOff val="50000"/>
            </a:schemeClr>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Graphik"/>
                <a:ea typeface="+mn-ea"/>
                <a:cs typeface="+mn-cs"/>
              </a:rPr>
              <a:t>Infrastructure</a:t>
            </a:r>
            <a:endParaRPr kumimoji="0" lang="en-US" sz="600" b="0" i="0" u="none" strike="noStrike" kern="1200" cap="none" spc="0" normalizeH="0" baseline="0" noProof="0">
              <a:ln>
                <a:noFill/>
              </a:ln>
              <a:solidFill>
                <a:srgbClr val="FFFFFF"/>
              </a:solidFill>
              <a:effectLst/>
              <a:uLnTx/>
              <a:uFillTx/>
              <a:latin typeface="Graphik"/>
              <a:ea typeface="+mn-ea"/>
              <a:cs typeface="+mn-cs"/>
            </a:endParaRPr>
          </a:p>
        </p:txBody>
      </p:sp>
      <p:sp>
        <p:nvSpPr>
          <p:cNvPr id="66" name="Rechteck 31">
            <a:extLst>
              <a:ext uri="{FF2B5EF4-FFF2-40B4-BE49-F238E27FC236}">
                <a16:creationId xmlns:a16="http://schemas.microsoft.com/office/drawing/2014/main" id="{A94BFD07-34EB-008B-E46F-5A83AA3756E2}"/>
              </a:ext>
            </a:extLst>
          </p:cNvPr>
          <p:cNvSpPr/>
          <p:nvPr/>
        </p:nvSpPr>
        <p:spPr>
          <a:xfrm>
            <a:off x="8242236" y="1733602"/>
            <a:ext cx="2061971" cy="95410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n-US" sz="800" b="1" i="0" u="none" strike="noStrike" kern="1200" cap="none" spc="0" normalizeH="0" baseline="0" noProof="0" dirty="0">
                <a:ln>
                  <a:noFill/>
                </a:ln>
                <a:solidFill>
                  <a:srgbClr val="000000"/>
                </a:solidFill>
                <a:effectLst/>
                <a:uLnTx/>
                <a:uFillTx/>
                <a:latin typeface="Graphik"/>
                <a:ea typeface="+mn-ea"/>
                <a:cs typeface="+mn-cs"/>
              </a:rPr>
              <a:t>API Security &amp; Traffic Mgmt.</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n-US" sz="800" b="0" i="0" u="none" strike="noStrike" kern="1200" cap="none" spc="0" normalizeH="0" baseline="0" noProof="0" dirty="0">
                <a:ln>
                  <a:noFill/>
                </a:ln>
                <a:solidFill>
                  <a:srgbClr val="000000"/>
                </a:solidFill>
                <a:effectLst/>
                <a:uLnTx/>
                <a:uFillTx/>
                <a:latin typeface="Graphik"/>
                <a:ea typeface="+mn-ea"/>
                <a:cs typeface="+mn-cs"/>
              </a:rPr>
              <a:t>Mediation, Routing &amp; Orchestration</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n-US" sz="800" b="0" i="0" u="none" strike="noStrike" kern="1200" cap="none" spc="0" normalizeH="0" baseline="0" noProof="0" dirty="0">
                <a:ln>
                  <a:noFill/>
                </a:ln>
                <a:solidFill>
                  <a:srgbClr val="000000"/>
                </a:solidFill>
                <a:effectLst/>
                <a:uLnTx/>
                <a:uFillTx/>
                <a:latin typeface="Graphik"/>
                <a:ea typeface="+mn-ea"/>
                <a:cs typeface="+mn-cs"/>
              </a:rPr>
              <a:t>Caching</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n-US" sz="800" b="0" i="0" u="none" strike="noStrike" kern="1200" cap="none" spc="0" normalizeH="0" baseline="0" noProof="0" dirty="0">
                <a:ln>
                  <a:noFill/>
                </a:ln>
                <a:solidFill>
                  <a:srgbClr val="000000"/>
                </a:solidFill>
                <a:effectLst/>
                <a:uLnTx/>
                <a:uFillTx/>
                <a:latin typeface="Graphik"/>
                <a:ea typeface="+mn-ea"/>
                <a:cs typeface="+mn-cs"/>
              </a:rPr>
              <a:t>QoS Management</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n-US" sz="800" b="1" i="0" u="none" strike="noStrike" kern="1200" cap="none" spc="0" normalizeH="0" baseline="0" noProof="0" dirty="0">
                <a:ln>
                  <a:noFill/>
                </a:ln>
                <a:solidFill>
                  <a:srgbClr val="000000"/>
                </a:solidFill>
                <a:effectLst/>
                <a:uLnTx/>
                <a:uFillTx/>
                <a:latin typeface="Graphik"/>
                <a:ea typeface="+mn-ea"/>
                <a:cs typeface="+mn-cs"/>
              </a:rPr>
              <a:t>Policy Management &amp; Tracking</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n-US" sz="800" b="0" i="0" u="none" strike="noStrike" kern="1200" cap="none" spc="0" normalizeH="0" baseline="0" noProof="0" dirty="0">
                <a:ln>
                  <a:noFill/>
                </a:ln>
                <a:solidFill>
                  <a:srgbClr val="000000"/>
                </a:solidFill>
                <a:effectLst/>
                <a:uLnTx/>
                <a:uFillTx/>
                <a:latin typeface="Graphik"/>
                <a:ea typeface="+mn-ea"/>
                <a:cs typeface="+mn-cs"/>
              </a:rPr>
              <a:t>Quotas and Rate Limits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n-US" sz="800" b="0" i="0" u="none" strike="noStrike" kern="1200" cap="none" spc="0" normalizeH="0" baseline="0" noProof="0" dirty="0">
                <a:ln>
                  <a:noFill/>
                </a:ln>
                <a:solidFill>
                  <a:srgbClr val="000000"/>
                </a:solidFill>
                <a:effectLst/>
                <a:uLnTx/>
                <a:uFillTx/>
                <a:latin typeface="Graphik"/>
                <a:ea typeface="+mn-ea"/>
                <a:cs typeface="+mn-cs"/>
              </a:rPr>
              <a:t>Access Control</a:t>
            </a:r>
          </a:p>
        </p:txBody>
      </p:sp>
      <p:cxnSp>
        <p:nvCxnSpPr>
          <p:cNvPr id="67" name="Elbow Connector 33">
            <a:extLst>
              <a:ext uri="{FF2B5EF4-FFF2-40B4-BE49-F238E27FC236}">
                <a16:creationId xmlns:a16="http://schemas.microsoft.com/office/drawing/2014/main" id="{6CB52AD2-E5F7-FD40-76E0-4D298F50A057}"/>
              </a:ext>
            </a:extLst>
          </p:cNvPr>
          <p:cNvCxnSpPr>
            <a:cxnSpLocks/>
            <a:stCxn id="66" idx="1"/>
            <a:endCxn id="69" idx="3"/>
          </p:cNvCxnSpPr>
          <p:nvPr/>
        </p:nvCxnSpPr>
        <p:spPr bwMode="gray">
          <a:xfrm rot="10800000" flipV="1">
            <a:off x="6521290" y="2210655"/>
            <a:ext cx="1720946" cy="1311581"/>
          </a:xfrm>
          <a:prstGeom prst="bentConnector3">
            <a:avLst>
              <a:gd name="adj1" fmla="val 50000"/>
            </a:avLst>
          </a:prstGeom>
          <a:solidFill>
            <a:srgbClr val="00529B"/>
          </a:solidFill>
          <a:ln w="12700" cap="flat" cmpd="sng" algn="ctr">
            <a:solidFill>
              <a:schemeClr val="tx1"/>
            </a:solidFill>
            <a:prstDash val="sysDash"/>
            <a:round/>
            <a:headEnd type="none" w="med" len="med"/>
            <a:tailEnd type="triangle" w="med" len="med"/>
          </a:ln>
          <a:effectLst/>
        </p:spPr>
      </p:cxnSp>
      <p:cxnSp>
        <p:nvCxnSpPr>
          <p:cNvPr id="68" name="Elbow Connector 31">
            <a:extLst>
              <a:ext uri="{FF2B5EF4-FFF2-40B4-BE49-F238E27FC236}">
                <a16:creationId xmlns:a16="http://schemas.microsoft.com/office/drawing/2014/main" id="{D5C3FDDA-DDA8-FBAE-EE9D-DC6BCDE5C811}"/>
              </a:ext>
            </a:extLst>
          </p:cNvPr>
          <p:cNvCxnSpPr>
            <a:cxnSpLocks/>
          </p:cNvCxnSpPr>
          <p:nvPr/>
        </p:nvCxnSpPr>
        <p:spPr bwMode="gray">
          <a:xfrm>
            <a:off x="1114479" y="2470684"/>
            <a:ext cx="1807351" cy="1545741"/>
          </a:xfrm>
          <a:prstGeom prst="bentConnector3">
            <a:avLst>
              <a:gd name="adj1" fmla="val -7889"/>
            </a:avLst>
          </a:prstGeom>
          <a:solidFill>
            <a:srgbClr val="00529B"/>
          </a:solidFill>
          <a:ln w="12700" cap="flat" cmpd="sng" algn="ctr">
            <a:solidFill>
              <a:schemeClr val="tx1"/>
            </a:solidFill>
            <a:prstDash val="sysDash"/>
            <a:round/>
            <a:headEnd type="none" w="med" len="med"/>
            <a:tailEnd type="triangle" w="med" len="med"/>
          </a:ln>
          <a:effectLst/>
        </p:spPr>
      </p:cxnSp>
      <p:sp>
        <p:nvSpPr>
          <p:cNvPr id="69" name="TextBox 29">
            <a:extLst>
              <a:ext uri="{FF2B5EF4-FFF2-40B4-BE49-F238E27FC236}">
                <a16:creationId xmlns:a16="http://schemas.microsoft.com/office/drawing/2014/main" id="{71FC9D21-CDA4-375A-7D54-EE2778A18909}"/>
              </a:ext>
            </a:extLst>
          </p:cNvPr>
          <p:cNvSpPr txBox="1"/>
          <p:nvPr/>
        </p:nvSpPr>
        <p:spPr bwMode="blackWhite">
          <a:xfrm>
            <a:off x="1663600" y="3434232"/>
            <a:ext cx="4857690" cy="176009"/>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API Gateway-Partner API</a:t>
            </a:r>
          </a:p>
        </p:txBody>
      </p:sp>
      <p:sp>
        <p:nvSpPr>
          <p:cNvPr id="70" name="TextBox 29">
            <a:extLst>
              <a:ext uri="{FF2B5EF4-FFF2-40B4-BE49-F238E27FC236}">
                <a16:creationId xmlns:a16="http://schemas.microsoft.com/office/drawing/2014/main" id="{E6C1FA95-B8F5-02F4-A230-EE7F108937AE}"/>
              </a:ext>
            </a:extLst>
          </p:cNvPr>
          <p:cNvSpPr txBox="1"/>
          <p:nvPr/>
        </p:nvSpPr>
        <p:spPr bwMode="blackWhite">
          <a:xfrm>
            <a:off x="1663600" y="3668764"/>
            <a:ext cx="4857690" cy="176009"/>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API Gateway – Internal Apis</a:t>
            </a:r>
          </a:p>
        </p:txBody>
      </p:sp>
      <p:sp>
        <p:nvSpPr>
          <p:cNvPr id="71" name="TextBox 15">
            <a:extLst>
              <a:ext uri="{FF2B5EF4-FFF2-40B4-BE49-F238E27FC236}">
                <a16:creationId xmlns:a16="http://schemas.microsoft.com/office/drawing/2014/main" id="{C8931C50-8916-86A6-23E1-92A650A6EFCD}"/>
              </a:ext>
            </a:extLst>
          </p:cNvPr>
          <p:cNvSpPr txBox="1"/>
          <p:nvPr/>
        </p:nvSpPr>
        <p:spPr bwMode="blackWhite">
          <a:xfrm>
            <a:off x="6661237" y="3197007"/>
            <a:ext cx="1092138" cy="752626"/>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Graphik"/>
                <a:ea typeface="+mn-ea"/>
                <a:cs typeface="+mn-cs"/>
              </a:rPr>
              <a:t>API Marketplace</a:t>
            </a:r>
          </a:p>
        </p:txBody>
      </p:sp>
      <p:sp>
        <p:nvSpPr>
          <p:cNvPr id="72" name="TextBox 15">
            <a:extLst>
              <a:ext uri="{FF2B5EF4-FFF2-40B4-BE49-F238E27FC236}">
                <a16:creationId xmlns:a16="http://schemas.microsoft.com/office/drawing/2014/main" id="{52D747CC-D279-6CBA-88AE-831F1288764E}"/>
              </a:ext>
            </a:extLst>
          </p:cNvPr>
          <p:cNvSpPr txBox="1"/>
          <p:nvPr/>
        </p:nvSpPr>
        <p:spPr bwMode="blackWhite">
          <a:xfrm>
            <a:off x="7910612" y="3192068"/>
            <a:ext cx="1155442" cy="752626"/>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API Sandbox</a:t>
            </a:r>
          </a:p>
        </p:txBody>
      </p:sp>
      <p:cxnSp>
        <p:nvCxnSpPr>
          <p:cNvPr id="73" name="Elbow Connector 33">
            <a:extLst>
              <a:ext uri="{FF2B5EF4-FFF2-40B4-BE49-F238E27FC236}">
                <a16:creationId xmlns:a16="http://schemas.microsoft.com/office/drawing/2014/main" id="{7DA5432F-9B87-4AFC-EE2F-168E217A45CE}"/>
              </a:ext>
            </a:extLst>
          </p:cNvPr>
          <p:cNvCxnSpPr>
            <a:cxnSpLocks/>
            <a:stCxn id="58" idx="1"/>
            <a:endCxn id="51" idx="3"/>
          </p:cNvCxnSpPr>
          <p:nvPr/>
        </p:nvCxnSpPr>
        <p:spPr bwMode="gray">
          <a:xfrm rot="10800000">
            <a:off x="6523423" y="4252722"/>
            <a:ext cx="429369" cy="953616"/>
          </a:xfrm>
          <a:prstGeom prst="bentConnector3">
            <a:avLst>
              <a:gd name="adj1" fmla="val 50000"/>
            </a:avLst>
          </a:prstGeom>
          <a:solidFill>
            <a:srgbClr val="00529B"/>
          </a:solidFill>
          <a:ln w="12700" cap="flat" cmpd="sng" algn="ctr">
            <a:solidFill>
              <a:schemeClr val="tx1"/>
            </a:solidFill>
            <a:prstDash val="sysDash"/>
            <a:round/>
            <a:headEnd type="none" w="med" len="med"/>
            <a:tailEnd type="triangle" w="med" len="med"/>
          </a:ln>
          <a:effectLst/>
        </p:spPr>
      </p:cxnSp>
      <p:sp>
        <p:nvSpPr>
          <p:cNvPr id="74" name="TextBox 15">
            <a:extLst>
              <a:ext uri="{FF2B5EF4-FFF2-40B4-BE49-F238E27FC236}">
                <a16:creationId xmlns:a16="http://schemas.microsoft.com/office/drawing/2014/main" id="{D35E02FA-5334-8D14-463D-F120AA98CFDF}"/>
              </a:ext>
            </a:extLst>
          </p:cNvPr>
          <p:cNvSpPr txBox="1"/>
          <p:nvPr/>
        </p:nvSpPr>
        <p:spPr bwMode="blackWhite">
          <a:xfrm>
            <a:off x="9233352" y="3192068"/>
            <a:ext cx="2121059" cy="1607549"/>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Graphik"/>
              <a:ea typeface="+mn-ea"/>
              <a:cs typeface="+mn-cs"/>
            </a:endParaRPr>
          </a:p>
        </p:txBody>
      </p:sp>
      <p:sp>
        <p:nvSpPr>
          <p:cNvPr id="75" name="Rectangle 74">
            <a:extLst>
              <a:ext uri="{FF2B5EF4-FFF2-40B4-BE49-F238E27FC236}">
                <a16:creationId xmlns:a16="http://schemas.microsoft.com/office/drawing/2014/main" id="{8AD44557-1AB0-F66A-F8A9-6C0E5AE45E22}"/>
              </a:ext>
            </a:extLst>
          </p:cNvPr>
          <p:cNvSpPr/>
          <p:nvPr/>
        </p:nvSpPr>
        <p:spPr>
          <a:xfrm>
            <a:off x="9244323" y="4572216"/>
            <a:ext cx="2105597" cy="15079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Traffic Management</a:t>
            </a:r>
          </a:p>
        </p:txBody>
      </p:sp>
      <p:sp>
        <p:nvSpPr>
          <p:cNvPr id="76" name="Rectangle 75">
            <a:extLst>
              <a:ext uri="{FF2B5EF4-FFF2-40B4-BE49-F238E27FC236}">
                <a16:creationId xmlns:a16="http://schemas.microsoft.com/office/drawing/2014/main" id="{403EEB35-1C9F-61F2-E1F4-63D7A2967F39}"/>
              </a:ext>
            </a:extLst>
          </p:cNvPr>
          <p:cNvSpPr/>
          <p:nvPr/>
        </p:nvSpPr>
        <p:spPr>
          <a:xfrm>
            <a:off x="9228861" y="4347532"/>
            <a:ext cx="2121059" cy="15501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Data Encryption</a:t>
            </a:r>
          </a:p>
        </p:txBody>
      </p:sp>
      <p:sp>
        <p:nvSpPr>
          <p:cNvPr id="77" name="Rectangle 76">
            <a:extLst>
              <a:ext uri="{FF2B5EF4-FFF2-40B4-BE49-F238E27FC236}">
                <a16:creationId xmlns:a16="http://schemas.microsoft.com/office/drawing/2014/main" id="{B1DA9A0E-E4FC-5AC9-8FC2-1A789BA257EA}"/>
              </a:ext>
            </a:extLst>
          </p:cNvPr>
          <p:cNvSpPr/>
          <p:nvPr/>
        </p:nvSpPr>
        <p:spPr>
          <a:xfrm>
            <a:off x="9244323" y="4116072"/>
            <a:ext cx="2105597" cy="14695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Graphik"/>
                <a:ea typeface="+mn-ea"/>
                <a:cs typeface="+mn-cs"/>
              </a:rPr>
              <a:t>Message Validation</a:t>
            </a:r>
          </a:p>
        </p:txBody>
      </p:sp>
      <p:sp>
        <p:nvSpPr>
          <p:cNvPr id="78" name="Rectangle 77">
            <a:extLst>
              <a:ext uri="{FF2B5EF4-FFF2-40B4-BE49-F238E27FC236}">
                <a16:creationId xmlns:a16="http://schemas.microsoft.com/office/drawing/2014/main" id="{80F7AEE4-DC96-0A64-B833-51CB647789F0}"/>
              </a:ext>
            </a:extLst>
          </p:cNvPr>
          <p:cNvSpPr/>
          <p:nvPr/>
        </p:nvSpPr>
        <p:spPr>
          <a:xfrm>
            <a:off x="9257281" y="3887906"/>
            <a:ext cx="2097130" cy="15501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Content Based Attacks</a:t>
            </a:r>
          </a:p>
        </p:txBody>
      </p:sp>
      <p:sp>
        <p:nvSpPr>
          <p:cNvPr id="79" name="Rectangle 78">
            <a:extLst>
              <a:ext uri="{FF2B5EF4-FFF2-40B4-BE49-F238E27FC236}">
                <a16:creationId xmlns:a16="http://schemas.microsoft.com/office/drawing/2014/main" id="{90F7C8F7-ACF2-64C8-0DCE-92293158EF9E}"/>
              </a:ext>
            </a:extLst>
          </p:cNvPr>
          <p:cNvSpPr/>
          <p:nvPr/>
        </p:nvSpPr>
        <p:spPr>
          <a:xfrm>
            <a:off x="9252790" y="3669123"/>
            <a:ext cx="2097130" cy="149192"/>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Identity Tracking</a:t>
            </a:r>
          </a:p>
        </p:txBody>
      </p:sp>
      <p:sp>
        <p:nvSpPr>
          <p:cNvPr id="80" name="Rectangle 79">
            <a:extLst>
              <a:ext uri="{FF2B5EF4-FFF2-40B4-BE49-F238E27FC236}">
                <a16:creationId xmlns:a16="http://schemas.microsoft.com/office/drawing/2014/main" id="{16F5AAFF-CF28-CB8D-E423-19475FB70775}"/>
              </a:ext>
            </a:extLst>
          </p:cNvPr>
          <p:cNvSpPr/>
          <p:nvPr/>
        </p:nvSpPr>
        <p:spPr>
          <a:xfrm>
            <a:off x="9240825" y="3462222"/>
            <a:ext cx="2097130" cy="18071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Authentication and Authorization</a:t>
            </a:r>
          </a:p>
        </p:txBody>
      </p:sp>
      <p:sp>
        <p:nvSpPr>
          <p:cNvPr id="81" name="TextBox 15">
            <a:extLst>
              <a:ext uri="{FF2B5EF4-FFF2-40B4-BE49-F238E27FC236}">
                <a16:creationId xmlns:a16="http://schemas.microsoft.com/office/drawing/2014/main" id="{BF74835B-A3E6-8971-66E8-F38A507DA6DC}"/>
              </a:ext>
            </a:extLst>
          </p:cNvPr>
          <p:cNvSpPr txBox="1"/>
          <p:nvPr/>
        </p:nvSpPr>
        <p:spPr bwMode="blackWhite">
          <a:xfrm>
            <a:off x="9254275" y="3200622"/>
            <a:ext cx="1155442" cy="222531"/>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mn-cs"/>
              </a:rPr>
              <a:t>Security</a:t>
            </a:r>
            <a:endParaRPr kumimoji="0" lang="en-US" sz="900" b="0" i="0" u="none" strike="noStrike" kern="1200" cap="none" spc="0" normalizeH="0" baseline="0" noProof="0">
              <a:ln>
                <a:noFill/>
              </a:ln>
              <a:solidFill>
                <a:srgbClr val="FFFFFF"/>
              </a:solidFill>
              <a:effectLst/>
              <a:uLnTx/>
              <a:uFillTx/>
              <a:latin typeface="Graphik"/>
              <a:ea typeface="+mn-ea"/>
              <a:cs typeface="+mn-cs"/>
            </a:endParaRPr>
          </a:p>
        </p:txBody>
      </p:sp>
      <p:sp>
        <p:nvSpPr>
          <p:cNvPr id="82" name="Rectangle 81">
            <a:extLst>
              <a:ext uri="{FF2B5EF4-FFF2-40B4-BE49-F238E27FC236}">
                <a16:creationId xmlns:a16="http://schemas.microsoft.com/office/drawing/2014/main" id="{048ABF54-24F8-868F-D391-347A3057D00F}"/>
              </a:ext>
            </a:extLst>
          </p:cNvPr>
          <p:cNvSpPr/>
          <p:nvPr/>
        </p:nvSpPr>
        <p:spPr>
          <a:xfrm>
            <a:off x="1587263" y="2501225"/>
            <a:ext cx="5031783" cy="17978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highlight>
                <a:srgbClr val="F2F2F2"/>
              </a:highlight>
              <a:uLnTx/>
              <a:uFillTx/>
              <a:latin typeface="Graphik"/>
              <a:ea typeface="+mn-ea"/>
              <a:cs typeface="+mn-cs"/>
            </a:endParaRPr>
          </a:p>
        </p:txBody>
      </p:sp>
      <p:pic>
        <p:nvPicPr>
          <p:cNvPr id="83" name="Picture 82">
            <a:extLst>
              <a:ext uri="{FF2B5EF4-FFF2-40B4-BE49-F238E27FC236}">
                <a16:creationId xmlns:a16="http://schemas.microsoft.com/office/drawing/2014/main" id="{CB294DBC-EC25-720E-9B4D-FC1728A1681A}"/>
              </a:ext>
            </a:extLst>
          </p:cNvPr>
          <p:cNvPicPr>
            <a:picLocks noChangeAspect="1"/>
          </p:cNvPicPr>
          <p:nvPr/>
        </p:nvPicPr>
        <p:blipFill>
          <a:blip r:embed="rId2"/>
          <a:stretch>
            <a:fillRect/>
          </a:stretch>
        </p:blipFill>
        <p:spPr>
          <a:xfrm>
            <a:off x="4016369" y="2556747"/>
            <a:ext cx="282726" cy="93327"/>
          </a:xfrm>
          <a:prstGeom prst="rect">
            <a:avLst/>
          </a:prstGeom>
        </p:spPr>
      </p:pic>
      <p:cxnSp>
        <p:nvCxnSpPr>
          <p:cNvPr id="84" name="Elbow Connector 38">
            <a:extLst>
              <a:ext uri="{FF2B5EF4-FFF2-40B4-BE49-F238E27FC236}">
                <a16:creationId xmlns:a16="http://schemas.microsoft.com/office/drawing/2014/main" id="{89D4C1AD-2511-A42F-915E-4D9696201687}"/>
              </a:ext>
            </a:extLst>
          </p:cNvPr>
          <p:cNvCxnSpPr>
            <a:cxnSpLocks/>
          </p:cNvCxnSpPr>
          <p:nvPr/>
        </p:nvCxnSpPr>
        <p:spPr bwMode="gray">
          <a:xfrm rot="5400000">
            <a:off x="3621438" y="2160856"/>
            <a:ext cx="425010" cy="692598"/>
          </a:xfrm>
          <a:prstGeom prst="bentConnector3">
            <a:avLst>
              <a:gd name="adj1" fmla="val 50000"/>
            </a:avLst>
          </a:prstGeom>
          <a:solidFill>
            <a:srgbClr val="00529B"/>
          </a:solidFill>
          <a:ln w="12700" cap="flat" cmpd="sng" algn="ctr">
            <a:solidFill>
              <a:schemeClr val="tx1"/>
            </a:solidFill>
            <a:prstDash val="sysDash"/>
            <a:round/>
            <a:headEnd type="none" w="med" len="med"/>
            <a:tailEnd type="triangle" w="med" len="med"/>
          </a:ln>
          <a:effectLst/>
        </p:spPr>
      </p:cxnSp>
      <p:cxnSp>
        <p:nvCxnSpPr>
          <p:cNvPr id="85" name="Elbow Connector 37">
            <a:extLst>
              <a:ext uri="{FF2B5EF4-FFF2-40B4-BE49-F238E27FC236}">
                <a16:creationId xmlns:a16="http://schemas.microsoft.com/office/drawing/2014/main" id="{9C765434-4575-756B-6E7A-6CB7BE8A3282}"/>
              </a:ext>
            </a:extLst>
          </p:cNvPr>
          <p:cNvCxnSpPr>
            <a:cxnSpLocks/>
          </p:cNvCxnSpPr>
          <p:nvPr/>
        </p:nvCxnSpPr>
        <p:spPr bwMode="gray">
          <a:xfrm rot="16200000" flipH="1">
            <a:off x="4248508" y="2234334"/>
            <a:ext cx="416842" cy="553375"/>
          </a:xfrm>
          <a:prstGeom prst="bentConnector3">
            <a:avLst>
              <a:gd name="adj1" fmla="val 50000"/>
            </a:avLst>
          </a:prstGeom>
          <a:solidFill>
            <a:srgbClr val="00529B"/>
          </a:solidFill>
          <a:ln w="12700" cap="flat" cmpd="sng" algn="ctr">
            <a:solidFill>
              <a:schemeClr val="tx1"/>
            </a:solidFill>
            <a:prstDash val="sysDash"/>
            <a:round/>
            <a:headEnd type="none" w="med" len="med"/>
            <a:tailEnd type="triangle" w="med" len="med"/>
          </a:ln>
          <a:effectLst/>
        </p:spPr>
      </p:cxnSp>
      <p:sp>
        <p:nvSpPr>
          <p:cNvPr id="86" name="TextBox 10">
            <a:extLst>
              <a:ext uri="{FF2B5EF4-FFF2-40B4-BE49-F238E27FC236}">
                <a16:creationId xmlns:a16="http://schemas.microsoft.com/office/drawing/2014/main" id="{3F55E502-7898-D764-0AF3-0B154F520263}"/>
              </a:ext>
            </a:extLst>
          </p:cNvPr>
          <p:cNvSpPr txBox="1"/>
          <p:nvPr/>
        </p:nvSpPr>
        <p:spPr bwMode="gray">
          <a:xfrm>
            <a:off x="9095473" y="1601827"/>
            <a:ext cx="2880000" cy="180000"/>
          </a:xfrm>
          <a:prstGeom prst="rect">
            <a:avLst/>
          </a:prstGeom>
          <a:solidFill>
            <a:schemeClr val="accent4">
              <a:lumMod val="40000"/>
              <a:lumOff val="60000"/>
            </a:schemeClr>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Graphik"/>
                <a:ea typeface="+mn-ea"/>
                <a:cs typeface="+mn-cs"/>
              </a:rPr>
              <a:t>Reference Only</a:t>
            </a:r>
            <a:endParaRPr kumimoji="0" lang="en-US" sz="600" b="0" i="0" u="none" strike="noStrike" kern="1200" cap="none" spc="0" normalizeH="0" baseline="0" noProof="0">
              <a:ln>
                <a:noFill/>
              </a:ln>
              <a:solidFill>
                <a:srgbClr val="FFFFFF"/>
              </a:solidFill>
              <a:effectLst/>
              <a:uLnTx/>
              <a:uFillTx/>
              <a:latin typeface="Graphik"/>
              <a:ea typeface="+mn-ea"/>
              <a:cs typeface="+mn-cs"/>
            </a:endParaRPr>
          </a:p>
        </p:txBody>
      </p:sp>
    </p:spTree>
    <p:extLst>
      <p:ext uri="{BB962C8B-B14F-4D97-AF65-F5344CB8AC3E}">
        <p14:creationId xmlns:p14="http://schemas.microsoft.com/office/powerpoint/2010/main" val="13305983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4FBB9-49CE-C366-BA52-E980AE6DA89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A6C8A94-F9B2-DDD4-7EDC-FCEE29D5334D}"/>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All rights reserved.</a:t>
            </a:r>
          </a:p>
        </p:txBody>
      </p:sp>
      <p:sp>
        <p:nvSpPr>
          <p:cNvPr id="118" name="Title 1">
            <a:extLst>
              <a:ext uri="{FF2B5EF4-FFF2-40B4-BE49-F238E27FC236}">
                <a16:creationId xmlns:a16="http://schemas.microsoft.com/office/drawing/2014/main" id="{3782DD83-79A7-0F7C-6F2B-23103D1FD27A}"/>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Interoperability Asset </a:t>
            </a:r>
            <a:r>
              <a:rPr kumimoji="0" lang="en-US" sz="2400" b="1" i="0" u="none" strike="noStrike" kern="1200" cap="none" spc="0" normalizeH="0" baseline="0" noProof="0">
                <a:ln>
                  <a:noFill/>
                </a:ln>
                <a:solidFill>
                  <a:srgbClr val="000000"/>
                </a:solidFill>
                <a:effectLst/>
                <a:uLnTx/>
                <a:uFillTx/>
                <a:latin typeface="Graphik"/>
                <a:ea typeface="+mj-ea"/>
                <a:cs typeface="+mj-cs"/>
              </a:rPr>
              <a:t>| Omnichannel</a:t>
            </a:r>
          </a:p>
        </p:txBody>
      </p:sp>
      <p:sp>
        <p:nvSpPr>
          <p:cNvPr id="119" name="Content Placeholder 34">
            <a:extLst>
              <a:ext uri="{FF2B5EF4-FFF2-40B4-BE49-F238E27FC236}">
                <a16:creationId xmlns:a16="http://schemas.microsoft.com/office/drawing/2014/main" id="{6CB2919E-AA40-A1D5-F144-1B2B5257EF74}"/>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Workflow and Omnichannel Data</a:t>
            </a:r>
          </a:p>
        </p:txBody>
      </p:sp>
      <p:grpSp>
        <p:nvGrpSpPr>
          <p:cNvPr id="4" name="Group 3">
            <a:extLst>
              <a:ext uri="{FF2B5EF4-FFF2-40B4-BE49-F238E27FC236}">
                <a16:creationId xmlns:a16="http://schemas.microsoft.com/office/drawing/2014/main" id="{DDFEC414-85EB-1279-63E2-CCE7CD87D611}"/>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5CFB5343-A9B7-7661-6880-4DDEB6CAE989}"/>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Illustrative non exhaustive</a:t>
              </a:r>
            </a:p>
          </p:txBody>
        </p:sp>
        <p:cxnSp>
          <p:nvCxnSpPr>
            <p:cNvPr id="6" name="Straight Connector 5">
              <a:extLst>
                <a:ext uri="{FF2B5EF4-FFF2-40B4-BE49-F238E27FC236}">
                  <a16:creationId xmlns:a16="http://schemas.microsoft.com/office/drawing/2014/main" id="{FD5C366E-2DD6-663A-ECF7-15F7F84B6A5B}"/>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AAA68AE-B81D-AC04-C987-6073064B1996}"/>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FE4CC9C4-D5FE-88DA-FBC6-560161E37CA6}"/>
              </a:ext>
            </a:extLst>
          </p:cNvPr>
          <p:cNvSpPr/>
          <p:nvPr/>
        </p:nvSpPr>
        <p:spPr>
          <a:xfrm>
            <a:off x="2788542" y="2119646"/>
            <a:ext cx="3499922" cy="2170482"/>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Microservices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Framework</a:t>
            </a:r>
          </a:p>
        </p:txBody>
      </p:sp>
      <p:sp>
        <p:nvSpPr>
          <p:cNvPr id="9" name="Rectangle 8">
            <a:extLst>
              <a:ext uri="{FF2B5EF4-FFF2-40B4-BE49-F238E27FC236}">
                <a16:creationId xmlns:a16="http://schemas.microsoft.com/office/drawing/2014/main" id="{4E5E5A0B-0634-4DB3-B0B8-1DD1DC4EE169}"/>
              </a:ext>
            </a:extLst>
          </p:cNvPr>
          <p:cNvSpPr/>
          <p:nvPr/>
        </p:nvSpPr>
        <p:spPr>
          <a:xfrm>
            <a:off x="3315299" y="1799997"/>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API Gateway</a:t>
            </a:r>
          </a:p>
        </p:txBody>
      </p:sp>
      <p:sp>
        <p:nvSpPr>
          <p:cNvPr id="10" name="Rectangle 9">
            <a:extLst>
              <a:ext uri="{FF2B5EF4-FFF2-40B4-BE49-F238E27FC236}">
                <a16:creationId xmlns:a16="http://schemas.microsoft.com/office/drawing/2014/main" id="{69ACF1B1-B23E-6B67-CA73-B27F910ED51D}"/>
              </a:ext>
            </a:extLst>
          </p:cNvPr>
          <p:cNvSpPr/>
          <p:nvPr/>
        </p:nvSpPr>
        <p:spPr>
          <a:xfrm>
            <a:off x="1317688" y="2756777"/>
            <a:ext cx="1141171"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Workflow Tool</a:t>
            </a:r>
          </a:p>
        </p:txBody>
      </p:sp>
      <p:sp>
        <p:nvSpPr>
          <p:cNvPr id="11" name="Rectangle 10">
            <a:extLst>
              <a:ext uri="{FF2B5EF4-FFF2-40B4-BE49-F238E27FC236}">
                <a16:creationId xmlns:a16="http://schemas.microsoft.com/office/drawing/2014/main" id="{2E0E6BAA-E2F4-FD8A-EE66-A205E4C17A10}"/>
              </a:ext>
            </a:extLst>
          </p:cNvPr>
          <p:cNvSpPr/>
          <p:nvPr/>
        </p:nvSpPr>
        <p:spPr>
          <a:xfrm>
            <a:off x="2940912" y="2748841"/>
            <a:ext cx="1294876"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Workflow Services</a:t>
            </a:r>
          </a:p>
        </p:txBody>
      </p:sp>
      <p:grpSp>
        <p:nvGrpSpPr>
          <p:cNvPr id="12" name="Group 11">
            <a:extLst>
              <a:ext uri="{FF2B5EF4-FFF2-40B4-BE49-F238E27FC236}">
                <a16:creationId xmlns:a16="http://schemas.microsoft.com/office/drawing/2014/main" id="{41DE08F2-5A67-A2EB-8DAD-B75FBF37402A}"/>
              </a:ext>
            </a:extLst>
          </p:cNvPr>
          <p:cNvGrpSpPr/>
          <p:nvPr/>
        </p:nvGrpSpPr>
        <p:grpSpPr>
          <a:xfrm>
            <a:off x="5701222" y="2036475"/>
            <a:ext cx="612000" cy="180000"/>
            <a:chOff x="2436880" y="1158097"/>
            <a:chExt cx="1080000" cy="360000"/>
          </a:xfrm>
          <a:solidFill>
            <a:schemeClr val="bg1"/>
          </a:solidFill>
        </p:grpSpPr>
        <p:sp>
          <p:nvSpPr>
            <p:cNvPr id="13" name="Rectangle 12">
              <a:extLst>
                <a:ext uri="{FF2B5EF4-FFF2-40B4-BE49-F238E27FC236}">
                  <a16:creationId xmlns:a16="http://schemas.microsoft.com/office/drawing/2014/main" id="{DA49B3D5-ABA9-304D-944F-2E6DF0EC368D}"/>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14" name="Picture 13">
              <a:extLst>
                <a:ext uri="{FF2B5EF4-FFF2-40B4-BE49-F238E27FC236}">
                  <a16:creationId xmlns:a16="http://schemas.microsoft.com/office/drawing/2014/main" id="{1B754C81-233D-82EE-F27B-2649C4E9200B}"/>
                </a:ext>
              </a:extLst>
            </p:cNvPr>
            <p:cNvPicPr>
              <a:picLocks noChangeAspect="1"/>
            </p:cNvPicPr>
            <p:nvPr/>
          </p:nvPicPr>
          <p:blipFill>
            <a:blip r:embed="rId2"/>
            <a:stretch>
              <a:fillRect/>
            </a:stretch>
          </p:blipFill>
          <p:spPr>
            <a:xfrm>
              <a:off x="2470229" y="1215368"/>
              <a:ext cx="1013303" cy="245459"/>
            </a:xfrm>
            <a:prstGeom prst="rect">
              <a:avLst/>
            </a:prstGeom>
            <a:grpFill/>
          </p:spPr>
        </p:pic>
      </p:grpSp>
      <p:sp>
        <p:nvSpPr>
          <p:cNvPr id="15" name="TextBox 14">
            <a:extLst>
              <a:ext uri="{FF2B5EF4-FFF2-40B4-BE49-F238E27FC236}">
                <a16:creationId xmlns:a16="http://schemas.microsoft.com/office/drawing/2014/main" id="{5559341B-DC03-222D-BBE3-C433C513C84E}"/>
              </a:ext>
            </a:extLst>
          </p:cNvPr>
          <p:cNvSpPr txBox="1"/>
          <p:nvPr/>
        </p:nvSpPr>
        <p:spPr>
          <a:xfrm>
            <a:off x="7308545" y="1413770"/>
            <a:ext cx="4406619" cy="3352869"/>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srgbClr val="000000"/>
                </a:solidFill>
                <a:effectLst/>
                <a:uLnTx/>
                <a:uFillTx/>
                <a:latin typeface="Graphik"/>
                <a:ea typeface="+mn-ea"/>
                <a:cs typeface="+mn-cs"/>
              </a:rPr>
              <a:t>Notes: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The Omnichannel Data Caching Service allows store and retrieval of data captured in the channels via API</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Data are associated with each specific omnichannel workflow </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But the capturing screens do not have to correspond 1:1 with the workflow steps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Appropriate mechanisms to be considered to:</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Commit changes when activities are completed and data submitted to the core systems</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Cleanup data already submitted</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1" u="none" strike="noStrike" kern="1200" cap="none" spc="0" normalizeH="0" baseline="0" noProof="0">
                <a:ln>
                  <a:noFill/>
                </a:ln>
                <a:solidFill>
                  <a:srgbClr val="000000"/>
                </a:solidFill>
                <a:effectLst/>
                <a:uLnTx/>
                <a:uFillTx/>
                <a:latin typeface="Graphik"/>
                <a:ea typeface="+mn-ea"/>
                <a:cs typeface="+mn-cs"/>
              </a:rPr>
              <a:t>It is assumed that a third-party tool to orchestrate long-running processes will be in place. As of now lightweight workflow products (e.g. Camunda, Appian, Temporal) are preferred over enterprise BPM tools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sp>
        <p:nvSpPr>
          <p:cNvPr id="16" name="Rectangle 15">
            <a:extLst>
              <a:ext uri="{FF2B5EF4-FFF2-40B4-BE49-F238E27FC236}">
                <a16:creationId xmlns:a16="http://schemas.microsoft.com/office/drawing/2014/main" id="{F0CED8FE-83EC-38EB-FB50-22900F25115E}"/>
              </a:ext>
            </a:extLst>
          </p:cNvPr>
          <p:cNvSpPr/>
          <p:nvPr/>
        </p:nvSpPr>
        <p:spPr>
          <a:xfrm>
            <a:off x="8889090" y="5653216"/>
            <a:ext cx="2880000" cy="180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Main components of this capability</a:t>
            </a:r>
          </a:p>
        </p:txBody>
      </p:sp>
      <p:sp>
        <p:nvSpPr>
          <p:cNvPr id="17" name="Rectangle 16">
            <a:extLst>
              <a:ext uri="{FF2B5EF4-FFF2-40B4-BE49-F238E27FC236}">
                <a16:creationId xmlns:a16="http://schemas.microsoft.com/office/drawing/2014/main" id="{B9923A5C-B8D8-2F53-E214-2301479B986A}"/>
              </a:ext>
            </a:extLst>
          </p:cNvPr>
          <p:cNvSpPr/>
          <p:nvPr/>
        </p:nvSpPr>
        <p:spPr>
          <a:xfrm>
            <a:off x="8889090" y="5887368"/>
            <a:ext cx="2880000" cy="18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Components of other related capabilities</a:t>
            </a:r>
          </a:p>
        </p:txBody>
      </p:sp>
      <p:sp>
        <p:nvSpPr>
          <p:cNvPr id="18" name="Rectangle 17">
            <a:extLst>
              <a:ext uri="{FF2B5EF4-FFF2-40B4-BE49-F238E27FC236}">
                <a16:creationId xmlns:a16="http://schemas.microsoft.com/office/drawing/2014/main" id="{CCEF21EE-D9AC-1C97-F517-C0876856495F}"/>
              </a:ext>
            </a:extLst>
          </p:cNvPr>
          <p:cNvSpPr/>
          <p:nvPr/>
        </p:nvSpPr>
        <p:spPr>
          <a:xfrm>
            <a:off x="8889090" y="6103793"/>
            <a:ext cx="288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Functional Components related to this capability</a:t>
            </a:r>
          </a:p>
        </p:txBody>
      </p:sp>
      <p:cxnSp>
        <p:nvCxnSpPr>
          <p:cNvPr id="19" name="Connector: Elbow 18">
            <a:extLst>
              <a:ext uri="{FF2B5EF4-FFF2-40B4-BE49-F238E27FC236}">
                <a16:creationId xmlns:a16="http://schemas.microsoft.com/office/drawing/2014/main" id="{E75B3729-20DC-4D27-B5E9-1BEA4C9833AF}"/>
              </a:ext>
            </a:extLst>
          </p:cNvPr>
          <p:cNvCxnSpPr>
            <a:cxnSpLocks/>
            <a:stCxn id="10" idx="2"/>
            <a:endCxn id="24" idx="1"/>
          </p:cNvCxnSpPr>
          <p:nvPr/>
        </p:nvCxnSpPr>
        <p:spPr>
          <a:xfrm rot="16200000" flipH="1">
            <a:off x="2257831" y="2675219"/>
            <a:ext cx="326038" cy="1065153"/>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C97470BB-020E-5F97-8D7F-DDB35B90D090}"/>
              </a:ext>
            </a:extLst>
          </p:cNvPr>
          <p:cNvCxnSpPr>
            <a:cxnSpLocks/>
            <a:stCxn id="9" idx="2"/>
            <a:endCxn id="11" idx="0"/>
          </p:cNvCxnSpPr>
          <p:nvPr/>
        </p:nvCxnSpPr>
        <p:spPr>
          <a:xfrm rot="5400000">
            <a:off x="3560875" y="1979555"/>
            <a:ext cx="796761" cy="74181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E44311E-B482-D751-F32B-F155ED1BB13F}"/>
              </a:ext>
            </a:extLst>
          </p:cNvPr>
          <p:cNvCxnSpPr>
            <a:cxnSpLocks/>
            <a:stCxn id="11" idx="1"/>
            <a:endCxn id="10" idx="3"/>
          </p:cNvCxnSpPr>
          <p:nvPr/>
        </p:nvCxnSpPr>
        <p:spPr>
          <a:xfrm flipH="1">
            <a:off x="2458859" y="2892841"/>
            <a:ext cx="482053" cy="7936"/>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37A885F2-BE1A-F9F5-1DB4-18CE53A2DF0D}"/>
              </a:ext>
            </a:extLst>
          </p:cNvPr>
          <p:cNvSpPr/>
          <p:nvPr/>
        </p:nvSpPr>
        <p:spPr>
          <a:xfrm>
            <a:off x="4406346" y="2748841"/>
            <a:ext cx="1294876"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Omnichannel Data Caching Service</a:t>
            </a:r>
          </a:p>
        </p:txBody>
      </p:sp>
      <p:cxnSp>
        <p:nvCxnSpPr>
          <p:cNvPr id="23" name="Connector: Elbow 22">
            <a:extLst>
              <a:ext uri="{FF2B5EF4-FFF2-40B4-BE49-F238E27FC236}">
                <a16:creationId xmlns:a16="http://schemas.microsoft.com/office/drawing/2014/main" id="{DBADBDCB-BC08-857B-5D1A-8FE213AD239B}"/>
              </a:ext>
            </a:extLst>
          </p:cNvPr>
          <p:cNvCxnSpPr>
            <a:cxnSpLocks/>
            <a:stCxn id="9" idx="2"/>
            <a:endCxn id="22" idx="0"/>
          </p:cNvCxnSpPr>
          <p:nvPr/>
        </p:nvCxnSpPr>
        <p:spPr>
          <a:xfrm rot="16200000" flipH="1">
            <a:off x="4293592" y="1988648"/>
            <a:ext cx="796761" cy="72362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58C254B-48AC-F610-9B39-E259B3215509}"/>
              </a:ext>
            </a:extLst>
          </p:cNvPr>
          <p:cNvSpPr/>
          <p:nvPr/>
        </p:nvSpPr>
        <p:spPr>
          <a:xfrm>
            <a:off x="2953427" y="3226815"/>
            <a:ext cx="987809"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Workflow step 1</a:t>
            </a:r>
          </a:p>
        </p:txBody>
      </p:sp>
      <p:sp>
        <p:nvSpPr>
          <p:cNvPr id="25" name="Rectangle 24">
            <a:extLst>
              <a:ext uri="{FF2B5EF4-FFF2-40B4-BE49-F238E27FC236}">
                <a16:creationId xmlns:a16="http://schemas.microsoft.com/office/drawing/2014/main" id="{BF4E537D-77E4-DBF6-C40D-3331131C3E01}"/>
              </a:ext>
            </a:extLst>
          </p:cNvPr>
          <p:cNvSpPr/>
          <p:nvPr/>
        </p:nvSpPr>
        <p:spPr>
          <a:xfrm>
            <a:off x="2953427" y="3576396"/>
            <a:ext cx="987809"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Workflow step 2</a:t>
            </a:r>
          </a:p>
        </p:txBody>
      </p:sp>
      <p:cxnSp>
        <p:nvCxnSpPr>
          <p:cNvPr id="26" name="Connector: Elbow 25">
            <a:extLst>
              <a:ext uri="{FF2B5EF4-FFF2-40B4-BE49-F238E27FC236}">
                <a16:creationId xmlns:a16="http://schemas.microsoft.com/office/drawing/2014/main" id="{92156FCD-B4AB-0AB7-323A-9FA6B58361F6}"/>
              </a:ext>
            </a:extLst>
          </p:cNvPr>
          <p:cNvCxnSpPr>
            <a:cxnSpLocks/>
            <a:stCxn id="10" idx="2"/>
            <a:endCxn id="25" idx="1"/>
          </p:cNvCxnSpPr>
          <p:nvPr/>
        </p:nvCxnSpPr>
        <p:spPr>
          <a:xfrm rot="16200000" flipH="1">
            <a:off x="2083041" y="2850009"/>
            <a:ext cx="675619" cy="1065153"/>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0ED9F03B-CA86-D080-90EC-ACA90E9F614F}"/>
              </a:ext>
            </a:extLst>
          </p:cNvPr>
          <p:cNvSpPr/>
          <p:nvPr/>
        </p:nvSpPr>
        <p:spPr>
          <a:xfrm>
            <a:off x="2953427" y="3925977"/>
            <a:ext cx="987809"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Workflow step 2</a:t>
            </a:r>
          </a:p>
        </p:txBody>
      </p:sp>
      <p:cxnSp>
        <p:nvCxnSpPr>
          <p:cNvPr id="28" name="Connector: Elbow 27">
            <a:extLst>
              <a:ext uri="{FF2B5EF4-FFF2-40B4-BE49-F238E27FC236}">
                <a16:creationId xmlns:a16="http://schemas.microsoft.com/office/drawing/2014/main" id="{84F4FECC-8DCB-B653-A5AE-262CB2ECC820}"/>
              </a:ext>
            </a:extLst>
          </p:cNvPr>
          <p:cNvCxnSpPr>
            <a:cxnSpLocks/>
            <a:stCxn id="10" idx="2"/>
            <a:endCxn id="27" idx="1"/>
          </p:cNvCxnSpPr>
          <p:nvPr/>
        </p:nvCxnSpPr>
        <p:spPr>
          <a:xfrm rot="16200000" flipH="1">
            <a:off x="1908250" y="3024800"/>
            <a:ext cx="1025200" cy="1065153"/>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662E71B0-9585-6F8A-8585-AFF7AFD032DA}"/>
              </a:ext>
            </a:extLst>
          </p:cNvPr>
          <p:cNvSpPr/>
          <p:nvPr/>
        </p:nvSpPr>
        <p:spPr>
          <a:xfrm>
            <a:off x="4440646" y="3793267"/>
            <a:ext cx="1226276" cy="420329"/>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Omnichannel Data Access Services</a:t>
            </a:r>
          </a:p>
        </p:txBody>
      </p:sp>
      <p:sp>
        <p:nvSpPr>
          <p:cNvPr id="30" name="Rectangle 29">
            <a:extLst>
              <a:ext uri="{FF2B5EF4-FFF2-40B4-BE49-F238E27FC236}">
                <a16:creationId xmlns:a16="http://schemas.microsoft.com/office/drawing/2014/main" id="{5F749E06-8C66-5D1C-3CA3-4A520C8C2727}"/>
              </a:ext>
            </a:extLst>
          </p:cNvPr>
          <p:cNvSpPr/>
          <p:nvPr/>
        </p:nvSpPr>
        <p:spPr>
          <a:xfrm>
            <a:off x="4582380" y="4488722"/>
            <a:ext cx="942808" cy="81964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OSE/Cloud</a:t>
            </a:r>
          </a:p>
        </p:txBody>
      </p:sp>
      <p:sp>
        <p:nvSpPr>
          <p:cNvPr id="31" name="Flowchart: Magnetic Disk 30">
            <a:extLst>
              <a:ext uri="{FF2B5EF4-FFF2-40B4-BE49-F238E27FC236}">
                <a16:creationId xmlns:a16="http://schemas.microsoft.com/office/drawing/2014/main" id="{D134E423-418F-BB0C-21BE-2EF5864A0E60}"/>
              </a:ext>
            </a:extLst>
          </p:cNvPr>
          <p:cNvSpPr/>
          <p:nvPr/>
        </p:nvSpPr>
        <p:spPr>
          <a:xfrm>
            <a:off x="4685738" y="4617341"/>
            <a:ext cx="736093" cy="471419"/>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Omnichannel Data Store</a:t>
            </a:r>
          </a:p>
        </p:txBody>
      </p:sp>
      <p:cxnSp>
        <p:nvCxnSpPr>
          <p:cNvPr id="32" name="Straight Arrow Connector 31">
            <a:extLst>
              <a:ext uri="{FF2B5EF4-FFF2-40B4-BE49-F238E27FC236}">
                <a16:creationId xmlns:a16="http://schemas.microsoft.com/office/drawing/2014/main" id="{5EFDC3DE-329F-926D-3A36-183CE206740A}"/>
              </a:ext>
            </a:extLst>
          </p:cNvPr>
          <p:cNvCxnSpPr>
            <a:cxnSpLocks/>
          </p:cNvCxnSpPr>
          <p:nvPr/>
        </p:nvCxnSpPr>
        <p:spPr>
          <a:xfrm>
            <a:off x="5047044" y="3036841"/>
            <a:ext cx="0" cy="756426"/>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D91F7481-C59E-ACF8-C34C-CC34028AC0F0}"/>
              </a:ext>
            </a:extLst>
          </p:cNvPr>
          <p:cNvCxnSpPr>
            <a:cxnSpLocks/>
          </p:cNvCxnSpPr>
          <p:nvPr/>
        </p:nvCxnSpPr>
        <p:spPr>
          <a:xfrm>
            <a:off x="5050042" y="4213596"/>
            <a:ext cx="1" cy="40374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6DE6717F-5E19-A652-F099-286B0629AB18}"/>
              </a:ext>
            </a:extLst>
          </p:cNvPr>
          <p:cNvSpPr/>
          <p:nvPr/>
        </p:nvSpPr>
        <p:spPr>
          <a:xfrm>
            <a:off x="5571719" y="2645517"/>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Custom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Component</a:t>
            </a:r>
          </a:p>
        </p:txBody>
      </p:sp>
      <p:sp>
        <p:nvSpPr>
          <p:cNvPr id="35" name="Rectangle 34">
            <a:extLst>
              <a:ext uri="{FF2B5EF4-FFF2-40B4-BE49-F238E27FC236}">
                <a16:creationId xmlns:a16="http://schemas.microsoft.com/office/drawing/2014/main" id="{5E0317C0-5817-234A-5ABB-CB5BFC89E639}"/>
              </a:ext>
            </a:extLst>
          </p:cNvPr>
          <p:cNvSpPr/>
          <p:nvPr/>
        </p:nvSpPr>
        <p:spPr>
          <a:xfrm>
            <a:off x="5307664" y="4580120"/>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Custom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Component</a:t>
            </a:r>
          </a:p>
        </p:txBody>
      </p:sp>
      <p:sp>
        <p:nvSpPr>
          <p:cNvPr id="36" name="Rectangle 35">
            <a:extLst>
              <a:ext uri="{FF2B5EF4-FFF2-40B4-BE49-F238E27FC236}">
                <a16:creationId xmlns:a16="http://schemas.microsoft.com/office/drawing/2014/main" id="{41D63737-5E59-5AEA-886F-DD03FC5D133B}"/>
              </a:ext>
            </a:extLst>
          </p:cNvPr>
          <p:cNvSpPr/>
          <p:nvPr/>
        </p:nvSpPr>
        <p:spPr>
          <a:xfrm>
            <a:off x="3781284" y="2628594"/>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Custom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Component</a:t>
            </a:r>
          </a:p>
        </p:txBody>
      </p:sp>
      <p:sp>
        <p:nvSpPr>
          <p:cNvPr id="37" name="Rectangle 36">
            <a:extLst>
              <a:ext uri="{FF2B5EF4-FFF2-40B4-BE49-F238E27FC236}">
                <a16:creationId xmlns:a16="http://schemas.microsoft.com/office/drawing/2014/main" id="{5B594EDE-955C-DC9F-DE9A-29613569A6A9}"/>
              </a:ext>
            </a:extLst>
          </p:cNvPr>
          <p:cNvSpPr/>
          <p:nvPr/>
        </p:nvSpPr>
        <p:spPr>
          <a:xfrm>
            <a:off x="3317726" y="1490071"/>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Channels</a:t>
            </a:r>
          </a:p>
        </p:txBody>
      </p:sp>
      <p:cxnSp>
        <p:nvCxnSpPr>
          <p:cNvPr id="38" name="Straight Arrow Connector 37">
            <a:extLst>
              <a:ext uri="{FF2B5EF4-FFF2-40B4-BE49-F238E27FC236}">
                <a16:creationId xmlns:a16="http://schemas.microsoft.com/office/drawing/2014/main" id="{DFA9C8F4-B086-BA77-68DC-8E10AC2354E3}"/>
              </a:ext>
            </a:extLst>
          </p:cNvPr>
          <p:cNvCxnSpPr>
            <a:cxnSpLocks/>
            <a:stCxn id="37" idx="2"/>
            <a:endCxn id="9" idx="0"/>
          </p:cNvCxnSpPr>
          <p:nvPr/>
        </p:nvCxnSpPr>
        <p:spPr>
          <a:xfrm flipH="1">
            <a:off x="4330160" y="1642154"/>
            <a:ext cx="2427" cy="157843"/>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BCCA4AD6-8A0F-B0D7-EA94-4809ED873951}"/>
              </a:ext>
            </a:extLst>
          </p:cNvPr>
          <p:cNvSpPr/>
          <p:nvPr/>
        </p:nvSpPr>
        <p:spPr>
          <a:xfrm>
            <a:off x="5370565" y="3699649"/>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Custom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Component</a:t>
            </a:r>
          </a:p>
        </p:txBody>
      </p:sp>
      <p:sp>
        <p:nvSpPr>
          <p:cNvPr id="40" name="Rectangle 39">
            <a:extLst>
              <a:ext uri="{FF2B5EF4-FFF2-40B4-BE49-F238E27FC236}">
                <a16:creationId xmlns:a16="http://schemas.microsoft.com/office/drawing/2014/main" id="{08B95971-22F0-C87B-9FC4-220DD165B59E}"/>
              </a:ext>
            </a:extLst>
          </p:cNvPr>
          <p:cNvSpPr/>
          <p:nvPr/>
        </p:nvSpPr>
        <p:spPr>
          <a:xfrm>
            <a:off x="956106" y="2593824"/>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3</a:t>
            </a:r>
            <a:r>
              <a:rPr kumimoji="0" lang="en-US" sz="700" b="0" i="0" u="none" strike="noStrike" kern="1200" cap="none" spc="0" normalizeH="0" baseline="30000" noProof="0">
                <a:ln>
                  <a:noFill/>
                </a:ln>
                <a:solidFill>
                  <a:srgbClr val="FFFFFF"/>
                </a:solidFill>
                <a:effectLst/>
                <a:uLnTx/>
                <a:uFillTx/>
                <a:latin typeface="Graphik"/>
                <a:ea typeface="+mn-ea"/>
                <a:cs typeface="+mn-cs"/>
              </a:rPr>
              <a:t>rd</a:t>
            </a:r>
            <a:r>
              <a:rPr kumimoji="0" lang="en-US" sz="700" b="0" i="0" u="none" strike="noStrike" kern="1200" cap="none" spc="0" normalizeH="0" baseline="0" noProof="0">
                <a:ln>
                  <a:noFill/>
                </a:ln>
                <a:solidFill>
                  <a:srgbClr val="FFFFFF"/>
                </a:solidFill>
                <a:effectLst/>
                <a:uLnTx/>
                <a:uFillTx/>
                <a:latin typeface="Graphik"/>
                <a:ea typeface="+mn-ea"/>
                <a:cs typeface="+mn-cs"/>
              </a:rPr>
              <a:t> party</a:t>
            </a:r>
          </a:p>
        </p:txBody>
      </p:sp>
    </p:spTree>
    <p:extLst>
      <p:ext uri="{BB962C8B-B14F-4D97-AF65-F5344CB8AC3E}">
        <p14:creationId xmlns:p14="http://schemas.microsoft.com/office/powerpoint/2010/main" val="21617449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310E6-66B3-30ED-CE60-A003822B557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1E63D46-E8F4-4CD7-98DA-321570B8C866}"/>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All rights reserved.</a:t>
            </a:r>
          </a:p>
        </p:txBody>
      </p:sp>
      <p:sp>
        <p:nvSpPr>
          <p:cNvPr id="118" name="Title 1">
            <a:extLst>
              <a:ext uri="{FF2B5EF4-FFF2-40B4-BE49-F238E27FC236}">
                <a16:creationId xmlns:a16="http://schemas.microsoft.com/office/drawing/2014/main" id="{F311FD0B-ADDD-F7F2-C3C4-A50A057062F3}"/>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Interoperability Asset </a:t>
            </a:r>
            <a:r>
              <a:rPr kumimoji="0" lang="en-US" sz="2400" b="1" i="0" u="none" strike="noStrike" kern="1200" cap="none" spc="0" normalizeH="0" baseline="0" noProof="0">
                <a:ln>
                  <a:noFill/>
                </a:ln>
                <a:solidFill>
                  <a:srgbClr val="000000"/>
                </a:solidFill>
                <a:effectLst/>
                <a:uLnTx/>
                <a:uFillTx/>
                <a:latin typeface="Graphik"/>
                <a:ea typeface="+mj-ea"/>
                <a:cs typeface="+mj-cs"/>
              </a:rPr>
              <a:t>| Omnichannel</a:t>
            </a:r>
          </a:p>
        </p:txBody>
      </p:sp>
      <p:sp>
        <p:nvSpPr>
          <p:cNvPr id="119" name="Content Placeholder 34">
            <a:extLst>
              <a:ext uri="{FF2B5EF4-FFF2-40B4-BE49-F238E27FC236}">
                <a16:creationId xmlns:a16="http://schemas.microsoft.com/office/drawing/2014/main" id="{A8EB0F61-5CB0-B6A2-CAF4-25A929242AB8}"/>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Approvals</a:t>
            </a:r>
          </a:p>
        </p:txBody>
      </p:sp>
      <p:grpSp>
        <p:nvGrpSpPr>
          <p:cNvPr id="4" name="Group 3">
            <a:extLst>
              <a:ext uri="{FF2B5EF4-FFF2-40B4-BE49-F238E27FC236}">
                <a16:creationId xmlns:a16="http://schemas.microsoft.com/office/drawing/2014/main" id="{6E5489CC-7058-D604-4BD6-24CDD4379F78}"/>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AA0AF132-7301-D357-3EF7-B0040C88D63F}"/>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Illustrative non exhaustive</a:t>
              </a:r>
            </a:p>
          </p:txBody>
        </p:sp>
        <p:cxnSp>
          <p:nvCxnSpPr>
            <p:cNvPr id="6" name="Straight Connector 5">
              <a:extLst>
                <a:ext uri="{FF2B5EF4-FFF2-40B4-BE49-F238E27FC236}">
                  <a16:creationId xmlns:a16="http://schemas.microsoft.com/office/drawing/2014/main" id="{26E8E0AE-6D36-2B76-4A32-825726E146F5}"/>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4933252-8AAF-84D9-C524-E6DE5EC1EABE}"/>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003ECD63-634F-8FA5-354E-FD6B562CAFFC}"/>
              </a:ext>
            </a:extLst>
          </p:cNvPr>
          <p:cNvSpPr/>
          <p:nvPr/>
        </p:nvSpPr>
        <p:spPr>
          <a:xfrm>
            <a:off x="2399433" y="1934819"/>
            <a:ext cx="4253422" cy="269673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Microservices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Framework</a:t>
            </a:r>
          </a:p>
        </p:txBody>
      </p:sp>
      <p:sp>
        <p:nvSpPr>
          <p:cNvPr id="9" name="Rectangle 8">
            <a:extLst>
              <a:ext uri="{FF2B5EF4-FFF2-40B4-BE49-F238E27FC236}">
                <a16:creationId xmlns:a16="http://schemas.microsoft.com/office/drawing/2014/main" id="{5AA89045-3599-A308-C8F5-B87A8DF536EB}"/>
              </a:ext>
            </a:extLst>
          </p:cNvPr>
          <p:cNvSpPr/>
          <p:nvPr/>
        </p:nvSpPr>
        <p:spPr>
          <a:xfrm>
            <a:off x="4243715" y="1615171"/>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API Gateway</a:t>
            </a:r>
          </a:p>
        </p:txBody>
      </p:sp>
      <p:sp>
        <p:nvSpPr>
          <p:cNvPr id="10" name="Rectangle 9">
            <a:extLst>
              <a:ext uri="{FF2B5EF4-FFF2-40B4-BE49-F238E27FC236}">
                <a16:creationId xmlns:a16="http://schemas.microsoft.com/office/drawing/2014/main" id="{5E31C9DA-70E0-E2CE-12A4-DC6399E3CDE3}"/>
              </a:ext>
            </a:extLst>
          </p:cNvPr>
          <p:cNvSpPr/>
          <p:nvPr/>
        </p:nvSpPr>
        <p:spPr>
          <a:xfrm>
            <a:off x="928580" y="3191383"/>
            <a:ext cx="1141171"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Workflow Tool</a:t>
            </a:r>
          </a:p>
        </p:txBody>
      </p:sp>
      <p:sp>
        <p:nvSpPr>
          <p:cNvPr id="11" name="Rectangle 10">
            <a:extLst>
              <a:ext uri="{FF2B5EF4-FFF2-40B4-BE49-F238E27FC236}">
                <a16:creationId xmlns:a16="http://schemas.microsoft.com/office/drawing/2014/main" id="{35CA32BB-EAB2-3208-8933-39AB45F4B79C}"/>
              </a:ext>
            </a:extLst>
          </p:cNvPr>
          <p:cNvSpPr/>
          <p:nvPr/>
        </p:nvSpPr>
        <p:spPr>
          <a:xfrm>
            <a:off x="2551804" y="3183447"/>
            <a:ext cx="1294876"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Workflow Services</a:t>
            </a:r>
          </a:p>
        </p:txBody>
      </p:sp>
      <p:grpSp>
        <p:nvGrpSpPr>
          <p:cNvPr id="12" name="Group 11">
            <a:extLst>
              <a:ext uri="{FF2B5EF4-FFF2-40B4-BE49-F238E27FC236}">
                <a16:creationId xmlns:a16="http://schemas.microsoft.com/office/drawing/2014/main" id="{429EC116-BCB6-841E-A85A-0508D56264F1}"/>
              </a:ext>
            </a:extLst>
          </p:cNvPr>
          <p:cNvGrpSpPr/>
          <p:nvPr/>
        </p:nvGrpSpPr>
        <p:grpSpPr>
          <a:xfrm>
            <a:off x="6400553" y="1854422"/>
            <a:ext cx="612000" cy="180000"/>
            <a:chOff x="2436880" y="1158097"/>
            <a:chExt cx="1080000" cy="360000"/>
          </a:xfrm>
          <a:solidFill>
            <a:schemeClr val="bg1"/>
          </a:solidFill>
        </p:grpSpPr>
        <p:sp>
          <p:nvSpPr>
            <p:cNvPr id="13" name="Rectangle 12">
              <a:extLst>
                <a:ext uri="{FF2B5EF4-FFF2-40B4-BE49-F238E27FC236}">
                  <a16:creationId xmlns:a16="http://schemas.microsoft.com/office/drawing/2014/main" id="{FD100289-C23C-B20E-5AC4-D4A5164ABA6C}"/>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14" name="Picture 13">
              <a:extLst>
                <a:ext uri="{FF2B5EF4-FFF2-40B4-BE49-F238E27FC236}">
                  <a16:creationId xmlns:a16="http://schemas.microsoft.com/office/drawing/2014/main" id="{C748D03F-A5FA-5ECE-018F-6ECBA4B8195A}"/>
                </a:ext>
              </a:extLst>
            </p:cNvPr>
            <p:cNvPicPr>
              <a:picLocks noChangeAspect="1"/>
            </p:cNvPicPr>
            <p:nvPr/>
          </p:nvPicPr>
          <p:blipFill>
            <a:blip r:embed="rId2"/>
            <a:stretch>
              <a:fillRect/>
            </a:stretch>
          </p:blipFill>
          <p:spPr>
            <a:xfrm>
              <a:off x="2470229" y="1215368"/>
              <a:ext cx="1013303" cy="245459"/>
            </a:xfrm>
            <a:prstGeom prst="rect">
              <a:avLst/>
            </a:prstGeom>
            <a:grpFill/>
          </p:spPr>
        </p:pic>
      </p:grpSp>
      <p:sp>
        <p:nvSpPr>
          <p:cNvPr id="15" name="TextBox 14">
            <a:extLst>
              <a:ext uri="{FF2B5EF4-FFF2-40B4-BE49-F238E27FC236}">
                <a16:creationId xmlns:a16="http://schemas.microsoft.com/office/drawing/2014/main" id="{E6D1EB12-FAD6-1786-0252-DAD5228576AE}"/>
              </a:ext>
            </a:extLst>
          </p:cNvPr>
          <p:cNvSpPr txBox="1"/>
          <p:nvPr/>
        </p:nvSpPr>
        <p:spPr>
          <a:xfrm>
            <a:off x="7333618" y="1408519"/>
            <a:ext cx="4307760" cy="4107378"/>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00000"/>
                </a:solidFill>
                <a:effectLst/>
                <a:uLnTx/>
                <a:uFillTx/>
                <a:latin typeface="Graphik"/>
                <a:ea typeface="+mn-ea"/>
                <a:cs typeface="+mn-cs"/>
              </a:rPr>
              <a:t>Notes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According to the permissions assigned to the requestor of the service, an approval process may be necessary.</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In that case the service execution is intercepted, and an approval workflow is triggered</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That flow is controlled by the workflow tool and its task list</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The service is added to the Pending Approvals database</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The configuration of services and rules is in the Service registry, administered through a console</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The workflow tool executes the approval flow according to the rules specified for that service (type of service, role, etc.)</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At some point the workflow will finish with Approval, deny, scalation </a:t>
            </a:r>
            <a:r>
              <a:rPr kumimoji="0" lang="en-US" sz="1000" b="0" i="0" u="none" strike="noStrike" kern="1200" cap="none" spc="0" normalizeH="0" baseline="0" noProof="0" err="1">
                <a:ln>
                  <a:noFill/>
                </a:ln>
                <a:solidFill>
                  <a:srgbClr val="000000"/>
                </a:solidFill>
                <a:effectLst/>
                <a:uLnTx/>
                <a:uFillTx/>
                <a:latin typeface="Graphik"/>
                <a:ea typeface="+mn-ea"/>
                <a:cs typeface="+mn-cs"/>
              </a:rPr>
              <a:t>etc</a:t>
            </a:r>
            <a:r>
              <a:rPr kumimoji="0" lang="en-US" sz="1000" b="0" i="0" u="none" strike="noStrike" kern="1200" cap="none" spc="0" normalizeH="0" baseline="0" noProof="0">
                <a:ln>
                  <a:noFill/>
                </a:ln>
                <a:solidFill>
                  <a:srgbClr val="000000"/>
                </a:solidFill>
                <a:effectLst/>
                <a:uLnTx/>
                <a:uFillTx/>
                <a:latin typeface="Graphik"/>
                <a:ea typeface="+mn-ea"/>
                <a:cs typeface="+mn-cs"/>
              </a:rPr>
              <a:t>…, and eventually will complete</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The list of pending approvals can be controlled by the Console</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Graphik"/>
              <a:ea typeface="+mn-ea"/>
              <a:cs typeface="+mn-cs"/>
            </a:endParaRPr>
          </a:p>
        </p:txBody>
      </p:sp>
      <p:sp>
        <p:nvSpPr>
          <p:cNvPr id="16" name="Rectangle 15">
            <a:extLst>
              <a:ext uri="{FF2B5EF4-FFF2-40B4-BE49-F238E27FC236}">
                <a16:creationId xmlns:a16="http://schemas.microsoft.com/office/drawing/2014/main" id="{7DC6D0AA-A795-F57E-AEAE-E76B8D1BB7DC}"/>
              </a:ext>
            </a:extLst>
          </p:cNvPr>
          <p:cNvSpPr/>
          <p:nvPr/>
        </p:nvSpPr>
        <p:spPr>
          <a:xfrm>
            <a:off x="8889090" y="5653216"/>
            <a:ext cx="2880000" cy="180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Main components of this capability</a:t>
            </a:r>
          </a:p>
        </p:txBody>
      </p:sp>
      <p:sp>
        <p:nvSpPr>
          <p:cNvPr id="17" name="Rectangle 16">
            <a:extLst>
              <a:ext uri="{FF2B5EF4-FFF2-40B4-BE49-F238E27FC236}">
                <a16:creationId xmlns:a16="http://schemas.microsoft.com/office/drawing/2014/main" id="{2E0816BA-6E10-DBF6-D1A3-BC9ACC29964B}"/>
              </a:ext>
            </a:extLst>
          </p:cNvPr>
          <p:cNvSpPr/>
          <p:nvPr/>
        </p:nvSpPr>
        <p:spPr>
          <a:xfrm>
            <a:off x="8889090" y="5887368"/>
            <a:ext cx="2880000" cy="18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Components of other related capabilities</a:t>
            </a:r>
          </a:p>
        </p:txBody>
      </p:sp>
      <p:sp>
        <p:nvSpPr>
          <p:cNvPr id="18" name="Rectangle 17">
            <a:extLst>
              <a:ext uri="{FF2B5EF4-FFF2-40B4-BE49-F238E27FC236}">
                <a16:creationId xmlns:a16="http://schemas.microsoft.com/office/drawing/2014/main" id="{017CD750-7EB4-BBAF-C7D1-DDE0DF20FAD3}"/>
              </a:ext>
            </a:extLst>
          </p:cNvPr>
          <p:cNvSpPr/>
          <p:nvPr/>
        </p:nvSpPr>
        <p:spPr>
          <a:xfrm>
            <a:off x="8889090" y="6103793"/>
            <a:ext cx="288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Functional Components related to this capability</a:t>
            </a:r>
          </a:p>
        </p:txBody>
      </p:sp>
      <p:cxnSp>
        <p:nvCxnSpPr>
          <p:cNvPr id="19" name="Connector: Elbow 18">
            <a:extLst>
              <a:ext uri="{FF2B5EF4-FFF2-40B4-BE49-F238E27FC236}">
                <a16:creationId xmlns:a16="http://schemas.microsoft.com/office/drawing/2014/main" id="{34EC113C-7528-5974-7836-38EB762AF321}"/>
              </a:ext>
            </a:extLst>
          </p:cNvPr>
          <p:cNvCxnSpPr>
            <a:cxnSpLocks/>
            <a:stCxn id="10" idx="2"/>
            <a:endCxn id="22" idx="1"/>
          </p:cNvCxnSpPr>
          <p:nvPr/>
        </p:nvCxnSpPr>
        <p:spPr>
          <a:xfrm rot="16200000" flipH="1">
            <a:off x="1898444" y="3080105"/>
            <a:ext cx="303630" cy="1102186"/>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7A96276-8BCA-4AB3-0219-64CEE924D951}"/>
              </a:ext>
            </a:extLst>
          </p:cNvPr>
          <p:cNvCxnSpPr>
            <a:cxnSpLocks/>
            <a:stCxn id="11" idx="1"/>
            <a:endCxn id="10" idx="3"/>
          </p:cNvCxnSpPr>
          <p:nvPr/>
        </p:nvCxnSpPr>
        <p:spPr>
          <a:xfrm flipH="1">
            <a:off x="2069751" y="3327447"/>
            <a:ext cx="482053" cy="7936"/>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B93DD96E-9FCF-A67B-F458-0814AF7FBC8C}"/>
              </a:ext>
            </a:extLst>
          </p:cNvPr>
          <p:cNvCxnSpPr>
            <a:cxnSpLocks/>
            <a:stCxn id="9" idx="2"/>
            <a:endCxn id="26" idx="0"/>
          </p:cNvCxnSpPr>
          <p:nvPr/>
        </p:nvCxnSpPr>
        <p:spPr>
          <a:xfrm rot="5400000">
            <a:off x="4926793" y="2098141"/>
            <a:ext cx="662670" cy="896"/>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3F119E17-5EAA-7CB4-6E72-468BF8D2C1AA}"/>
              </a:ext>
            </a:extLst>
          </p:cNvPr>
          <p:cNvSpPr/>
          <p:nvPr/>
        </p:nvSpPr>
        <p:spPr>
          <a:xfrm>
            <a:off x="2601352" y="3639013"/>
            <a:ext cx="1524711"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Approval Workflow</a:t>
            </a:r>
          </a:p>
        </p:txBody>
      </p:sp>
      <p:sp>
        <p:nvSpPr>
          <p:cNvPr id="23" name="Rectangle 22">
            <a:extLst>
              <a:ext uri="{FF2B5EF4-FFF2-40B4-BE49-F238E27FC236}">
                <a16:creationId xmlns:a16="http://schemas.microsoft.com/office/drawing/2014/main" id="{46ABFDCF-5C27-DC4D-A6B1-4F0D6BD46491}"/>
              </a:ext>
            </a:extLst>
          </p:cNvPr>
          <p:cNvSpPr/>
          <p:nvPr/>
        </p:nvSpPr>
        <p:spPr>
          <a:xfrm>
            <a:off x="4246142" y="1305245"/>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Channels</a:t>
            </a:r>
          </a:p>
        </p:txBody>
      </p:sp>
      <p:cxnSp>
        <p:nvCxnSpPr>
          <p:cNvPr id="24" name="Straight Arrow Connector 23">
            <a:extLst>
              <a:ext uri="{FF2B5EF4-FFF2-40B4-BE49-F238E27FC236}">
                <a16:creationId xmlns:a16="http://schemas.microsoft.com/office/drawing/2014/main" id="{DF5B066D-0FD2-DC65-CCF5-53C25F5790A9}"/>
              </a:ext>
            </a:extLst>
          </p:cNvPr>
          <p:cNvCxnSpPr>
            <a:cxnSpLocks/>
            <a:stCxn id="23" idx="2"/>
            <a:endCxn id="9" idx="0"/>
          </p:cNvCxnSpPr>
          <p:nvPr/>
        </p:nvCxnSpPr>
        <p:spPr>
          <a:xfrm flipH="1">
            <a:off x="5258576" y="1457328"/>
            <a:ext cx="2427" cy="157843"/>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5150C370-7D3A-CA4E-9531-3973B065A79E}"/>
              </a:ext>
            </a:extLst>
          </p:cNvPr>
          <p:cNvSpPr/>
          <p:nvPr/>
        </p:nvSpPr>
        <p:spPr>
          <a:xfrm>
            <a:off x="566998" y="3028430"/>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3</a:t>
            </a:r>
            <a:r>
              <a:rPr kumimoji="0" lang="en-US" sz="700" b="0" i="0" u="none" strike="noStrike" kern="1200" cap="none" spc="0" normalizeH="0" baseline="30000" noProof="0">
                <a:ln>
                  <a:noFill/>
                </a:ln>
                <a:solidFill>
                  <a:srgbClr val="FFFFFF"/>
                </a:solidFill>
                <a:effectLst/>
                <a:uLnTx/>
                <a:uFillTx/>
                <a:latin typeface="Graphik"/>
                <a:ea typeface="+mn-ea"/>
                <a:cs typeface="+mn-cs"/>
              </a:rPr>
              <a:t>rd</a:t>
            </a:r>
            <a:r>
              <a:rPr kumimoji="0" lang="en-US" sz="700" b="0" i="0" u="none" strike="noStrike" kern="1200" cap="none" spc="0" normalizeH="0" baseline="0" noProof="0">
                <a:ln>
                  <a:noFill/>
                </a:ln>
                <a:solidFill>
                  <a:srgbClr val="FFFFFF"/>
                </a:solidFill>
                <a:effectLst/>
                <a:uLnTx/>
                <a:uFillTx/>
                <a:latin typeface="Graphik"/>
                <a:ea typeface="+mn-ea"/>
                <a:cs typeface="+mn-cs"/>
              </a:rPr>
              <a:t> party</a:t>
            </a:r>
          </a:p>
        </p:txBody>
      </p:sp>
      <p:sp>
        <p:nvSpPr>
          <p:cNvPr id="26" name="Rectangle 25">
            <a:extLst>
              <a:ext uri="{FF2B5EF4-FFF2-40B4-BE49-F238E27FC236}">
                <a16:creationId xmlns:a16="http://schemas.microsoft.com/office/drawing/2014/main" id="{5E82B8B4-2181-8B0D-D91C-6C94C7543BCB}"/>
              </a:ext>
            </a:extLst>
          </p:cNvPr>
          <p:cNvSpPr/>
          <p:nvPr/>
        </p:nvSpPr>
        <p:spPr>
          <a:xfrm>
            <a:off x="4645843" y="2429924"/>
            <a:ext cx="122367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Service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approval-enabled</a:t>
            </a:r>
          </a:p>
        </p:txBody>
      </p:sp>
      <p:cxnSp>
        <p:nvCxnSpPr>
          <p:cNvPr id="27" name="Straight Arrow Connector 26">
            <a:extLst>
              <a:ext uri="{FF2B5EF4-FFF2-40B4-BE49-F238E27FC236}">
                <a16:creationId xmlns:a16="http://schemas.microsoft.com/office/drawing/2014/main" id="{3C592C6B-F395-1F62-F9C9-8F0D8C277CE8}"/>
              </a:ext>
            </a:extLst>
          </p:cNvPr>
          <p:cNvCxnSpPr>
            <a:cxnSpLocks/>
            <a:stCxn id="26" idx="1"/>
            <a:endCxn id="28" idx="3"/>
          </p:cNvCxnSpPr>
          <p:nvPr/>
        </p:nvCxnSpPr>
        <p:spPr>
          <a:xfrm flipH="1" flipV="1">
            <a:off x="3686380" y="2568357"/>
            <a:ext cx="959463" cy="5567"/>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8C4091A0-991E-151F-D66C-55DC85B64924}"/>
              </a:ext>
            </a:extLst>
          </p:cNvPr>
          <p:cNvSpPr/>
          <p:nvPr/>
        </p:nvSpPr>
        <p:spPr>
          <a:xfrm>
            <a:off x="2698470" y="2438867"/>
            <a:ext cx="987910" cy="25898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Graphik"/>
                <a:ea typeface="+mn-ea"/>
                <a:cs typeface="+mn-cs"/>
              </a:rPr>
              <a:t>Approval check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Graphik"/>
                <a:ea typeface="+mn-ea"/>
                <a:cs typeface="+mn-cs"/>
              </a:rPr>
              <a:t>Service</a:t>
            </a:r>
          </a:p>
        </p:txBody>
      </p:sp>
      <p:sp>
        <p:nvSpPr>
          <p:cNvPr id="29" name="Rectangle 28">
            <a:extLst>
              <a:ext uri="{FF2B5EF4-FFF2-40B4-BE49-F238E27FC236}">
                <a16:creationId xmlns:a16="http://schemas.microsoft.com/office/drawing/2014/main" id="{8ACCFB92-CC49-AF41-B1D5-3609AED5ACDF}"/>
              </a:ext>
            </a:extLst>
          </p:cNvPr>
          <p:cNvSpPr/>
          <p:nvPr/>
        </p:nvSpPr>
        <p:spPr>
          <a:xfrm>
            <a:off x="3525941" y="2234672"/>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Custom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Component</a:t>
            </a:r>
          </a:p>
        </p:txBody>
      </p:sp>
      <p:cxnSp>
        <p:nvCxnSpPr>
          <p:cNvPr id="30" name="Straight Arrow Connector 29">
            <a:extLst>
              <a:ext uri="{FF2B5EF4-FFF2-40B4-BE49-F238E27FC236}">
                <a16:creationId xmlns:a16="http://schemas.microsoft.com/office/drawing/2014/main" id="{89F23DBB-9610-25A1-3F82-DBCF4C849211}"/>
              </a:ext>
            </a:extLst>
          </p:cNvPr>
          <p:cNvCxnSpPr>
            <a:cxnSpLocks/>
            <a:stCxn id="28" idx="2"/>
            <a:endCxn id="11" idx="0"/>
          </p:cNvCxnSpPr>
          <p:nvPr/>
        </p:nvCxnSpPr>
        <p:spPr>
          <a:xfrm>
            <a:off x="3192425" y="2697847"/>
            <a:ext cx="6817" cy="48560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Flowchart: Magnetic Disk 30">
            <a:extLst>
              <a:ext uri="{FF2B5EF4-FFF2-40B4-BE49-F238E27FC236}">
                <a16:creationId xmlns:a16="http://schemas.microsoft.com/office/drawing/2014/main" id="{A1408686-7608-D416-5DE2-E7EC30B691A1}"/>
              </a:ext>
            </a:extLst>
          </p:cNvPr>
          <p:cNvSpPr/>
          <p:nvPr/>
        </p:nvSpPr>
        <p:spPr>
          <a:xfrm>
            <a:off x="2999359" y="4114448"/>
            <a:ext cx="736093" cy="471419"/>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Service Registry</a:t>
            </a:r>
          </a:p>
        </p:txBody>
      </p:sp>
      <p:cxnSp>
        <p:nvCxnSpPr>
          <p:cNvPr id="32" name="Connector: Elbow 31">
            <a:extLst>
              <a:ext uri="{FF2B5EF4-FFF2-40B4-BE49-F238E27FC236}">
                <a16:creationId xmlns:a16="http://schemas.microsoft.com/office/drawing/2014/main" id="{F361D2CB-A7EB-1E33-AA7B-BAA03C8D15ED}"/>
              </a:ext>
            </a:extLst>
          </p:cNvPr>
          <p:cNvCxnSpPr>
            <a:cxnSpLocks/>
            <a:stCxn id="31" idx="1"/>
            <a:endCxn id="22" idx="2"/>
          </p:cNvCxnSpPr>
          <p:nvPr/>
        </p:nvCxnSpPr>
        <p:spPr>
          <a:xfrm rot="16200000" flipV="1">
            <a:off x="3271840" y="4018882"/>
            <a:ext cx="187435" cy="369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41556FC2-F940-C858-E69D-FB145DEE7623}"/>
              </a:ext>
            </a:extLst>
          </p:cNvPr>
          <p:cNvSpPr/>
          <p:nvPr/>
        </p:nvSpPr>
        <p:spPr>
          <a:xfrm>
            <a:off x="3825689" y="4842687"/>
            <a:ext cx="1141171"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Approvals Admin Console</a:t>
            </a:r>
          </a:p>
        </p:txBody>
      </p:sp>
      <p:sp>
        <p:nvSpPr>
          <p:cNvPr id="34" name="Oval 33">
            <a:extLst>
              <a:ext uri="{FF2B5EF4-FFF2-40B4-BE49-F238E27FC236}">
                <a16:creationId xmlns:a16="http://schemas.microsoft.com/office/drawing/2014/main" id="{062F0B5F-31ED-F332-0D9C-303F08436930}"/>
              </a:ext>
            </a:extLst>
          </p:cNvPr>
          <p:cNvSpPr/>
          <p:nvPr/>
        </p:nvSpPr>
        <p:spPr>
          <a:xfrm>
            <a:off x="2926191" y="2752382"/>
            <a:ext cx="538692" cy="288001"/>
          </a:xfrm>
          <a:prstGeom prst="ellipse">
            <a:avLst/>
          </a:prstGeom>
          <a:solidFill>
            <a:schemeClr val="bg1"/>
          </a:solidFill>
          <a:ln>
            <a:solidFill>
              <a:schemeClr val="tx1"/>
            </a:solidFill>
          </a:ln>
        </p:spPr>
        <p:txBody>
          <a:bodyPr wrap="none" lIns="0" tIns="0" rIns="0" bIns="0" rtlCol="0"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000000"/>
                </a:solidFill>
                <a:effectLst/>
                <a:uLnTx/>
                <a:uFillTx/>
                <a:latin typeface="Graphik"/>
                <a:ea typeface="+mn-ea"/>
                <a:cs typeface="+mn-cs"/>
              </a:rPr>
              <a:t>Approval</a:t>
            </a: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000000"/>
                </a:solidFill>
                <a:effectLst/>
                <a:uLnTx/>
                <a:uFillTx/>
                <a:latin typeface="Graphik"/>
                <a:ea typeface="+mn-ea"/>
                <a:cs typeface="+mn-cs"/>
              </a:rPr>
              <a:t>Request</a:t>
            </a:r>
          </a:p>
        </p:txBody>
      </p:sp>
      <p:sp>
        <p:nvSpPr>
          <p:cNvPr id="35" name="Flowchart: Magnetic Disk 34">
            <a:extLst>
              <a:ext uri="{FF2B5EF4-FFF2-40B4-BE49-F238E27FC236}">
                <a16:creationId xmlns:a16="http://schemas.microsoft.com/office/drawing/2014/main" id="{569C7A25-60B8-6F8A-1A2D-898117492587}"/>
              </a:ext>
            </a:extLst>
          </p:cNvPr>
          <p:cNvSpPr/>
          <p:nvPr/>
        </p:nvSpPr>
        <p:spPr>
          <a:xfrm>
            <a:off x="4416214" y="4114073"/>
            <a:ext cx="736093" cy="471419"/>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Pending Approvals</a:t>
            </a:r>
          </a:p>
        </p:txBody>
      </p:sp>
      <p:cxnSp>
        <p:nvCxnSpPr>
          <p:cNvPr id="36" name="Connector: Elbow 35">
            <a:extLst>
              <a:ext uri="{FF2B5EF4-FFF2-40B4-BE49-F238E27FC236}">
                <a16:creationId xmlns:a16="http://schemas.microsoft.com/office/drawing/2014/main" id="{8889C62E-B451-8075-1661-630D26D323C4}"/>
              </a:ext>
            </a:extLst>
          </p:cNvPr>
          <p:cNvCxnSpPr>
            <a:cxnSpLocks/>
            <a:endCxn id="35" idx="1"/>
          </p:cNvCxnSpPr>
          <p:nvPr/>
        </p:nvCxnSpPr>
        <p:spPr>
          <a:xfrm>
            <a:off x="4137345" y="3850652"/>
            <a:ext cx="646916" cy="263421"/>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D8B69B84-F2A8-2DA7-3A51-65D4AB28970B}"/>
              </a:ext>
            </a:extLst>
          </p:cNvPr>
          <p:cNvCxnSpPr>
            <a:cxnSpLocks/>
            <a:stCxn id="33" idx="0"/>
            <a:endCxn id="31" idx="3"/>
          </p:cNvCxnSpPr>
          <p:nvPr/>
        </p:nvCxnSpPr>
        <p:spPr>
          <a:xfrm rot="16200000" flipV="1">
            <a:off x="3753431" y="4199842"/>
            <a:ext cx="256820" cy="1028869"/>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8D5C3002-6BC1-598B-D068-4EAC9B9C87A9}"/>
              </a:ext>
            </a:extLst>
          </p:cNvPr>
          <p:cNvCxnSpPr>
            <a:cxnSpLocks/>
            <a:stCxn id="33" idx="0"/>
            <a:endCxn id="35" idx="3"/>
          </p:cNvCxnSpPr>
          <p:nvPr/>
        </p:nvCxnSpPr>
        <p:spPr>
          <a:xfrm rot="5400000" flipH="1" flipV="1">
            <a:off x="4461671" y="4520097"/>
            <a:ext cx="257195" cy="387986"/>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8F64D468-F9A6-4F93-C2A3-5F7E305A11DF}"/>
              </a:ext>
            </a:extLst>
          </p:cNvPr>
          <p:cNvCxnSpPr>
            <a:cxnSpLocks/>
            <a:stCxn id="41" idx="0"/>
            <a:endCxn id="26" idx="2"/>
          </p:cNvCxnSpPr>
          <p:nvPr/>
        </p:nvCxnSpPr>
        <p:spPr>
          <a:xfrm rot="5400000" flipH="1" flipV="1">
            <a:off x="4727585" y="2880568"/>
            <a:ext cx="692738" cy="36745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50362ED1-AD2A-A8B6-5A84-B115121E452D}"/>
              </a:ext>
            </a:extLst>
          </p:cNvPr>
          <p:cNvSpPr/>
          <p:nvPr/>
        </p:nvSpPr>
        <p:spPr>
          <a:xfrm>
            <a:off x="4973463" y="2945772"/>
            <a:ext cx="538692" cy="288001"/>
          </a:xfrm>
          <a:prstGeom prst="ellipse">
            <a:avLst/>
          </a:prstGeom>
          <a:solidFill>
            <a:schemeClr val="bg1"/>
          </a:solidFill>
          <a:ln>
            <a:solidFill>
              <a:schemeClr val="tx1"/>
            </a:solidFill>
          </a:ln>
        </p:spPr>
        <p:txBody>
          <a:bodyPr wrap="none" lIns="0" tIns="0" rIns="0" bIns="0" rtlCol="0"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000000"/>
                </a:solidFill>
                <a:effectLst/>
                <a:uLnTx/>
                <a:uFillTx/>
                <a:latin typeface="Graphik"/>
                <a:ea typeface="+mn-ea"/>
                <a:cs typeface="+mn-cs"/>
              </a:rPr>
              <a:t>Approved</a:t>
            </a:r>
          </a:p>
        </p:txBody>
      </p:sp>
      <p:sp>
        <p:nvSpPr>
          <p:cNvPr id="41" name="Rectangle 40">
            <a:extLst>
              <a:ext uri="{FF2B5EF4-FFF2-40B4-BE49-F238E27FC236}">
                <a16:creationId xmlns:a16="http://schemas.microsoft.com/office/drawing/2014/main" id="{1ADEAD6D-FBA5-D928-C27B-FF8AC0831A83}"/>
              </a:ext>
            </a:extLst>
          </p:cNvPr>
          <p:cNvSpPr/>
          <p:nvPr/>
        </p:nvSpPr>
        <p:spPr>
          <a:xfrm>
            <a:off x="4396274" y="3410662"/>
            <a:ext cx="987910" cy="25898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Restart Service</a:t>
            </a:r>
          </a:p>
        </p:txBody>
      </p:sp>
      <p:cxnSp>
        <p:nvCxnSpPr>
          <p:cNvPr id="42" name="Connector: Elbow 41">
            <a:extLst>
              <a:ext uri="{FF2B5EF4-FFF2-40B4-BE49-F238E27FC236}">
                <a16:creationId xmlns:a16="http://schemas.microsoft.com/office/drawing/2014/main" id="{6CC4E52A-C0FF-B51C-52D5-4B42659D5F58}"/>
              </a:ext>
            </a:extLst>
          </p:cNvPr>
          <p:cNvCxnSpPr>
            <a:cxnSpLocks/>
            <a:stCxn id="22" idx="3"/>
            <a:endCxn id="41" idx="2"/>
          </p:cNvCxnSpPr>
          <p:nvPr/>
        </p:nvCxnSpPr>
        <p:spPr>
          <a:xfrm flipV="1">
            <a:off x="4126063" y="3669642"/>
            <a:ext cx="764166" cy="113371"/>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ED4A44BB-D91F-CFAF-09AD-3ACA97CBDB09}"/>
              </a:ext>
            </a:extLst>
          </p:cNvPr>
          <p:cNvSpPr/>
          <p:nvPr/>
        </p:nvSpPr>
        <p:spPr>
          <a:xfrm>
            <a:off x="5212094" y="3623394"/>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Custom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Component</a:t>
            </a:r>
          </a:p>
        </p:txBody>
      </p:sp>
      <p:sp>
        <p:nvSpPr>
          <p:cNvPr id="44" name="Rectangle 43">
            <a:extLst>
              <a:ext uri="{FF2B5EF4-FFF2-40B4-BE49-F238E27FC236}">
                <a16:creationId xmlns:a16="http://schemas.microsoft.com/office/drawing/2014/main" id="{5BE15280-6367-3131-FE24-944AB4464BCD}"/>
              </a:ext>
            </a:extLst>
          </p:cNvPr>
          <p:cNvSpPr/>
          <p:nvPr/>
        </p:nvSpPr>
        <p:spPr>
          <a:xfrm>
            <a:off x="3530019" y="3064293"/>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3</a:t>
            </a:r>
            <a:r>
              <a:rPr kumimoji="0" lang="en-US" sz="700" b="0" i="0" u="none" strike="noStrike" kern="1200" cap="none" spc="0" normalizeH="0" baseline="30000" noProof="0">
                <a:ln>
                  <a:noFill/>
                </a:ln>
                <a:solidFill>
                  <a:srgbClr val="FFFFFF"/>
                </a:solidFill>
                <a:effectLst/>
                <a:uLnTx/>
                <a:uFillTx/>
                <a:latin typeface="Graphik"/>
                <a:ea typeface="+mn-ea"/>
                <a:cs typeface="+mn-cs"/>
              </a:rPr>
              <a:t>rd</a:t>
            </a:r>
            <a:r>
              <a:rPr kumimoji="0" lang="en-US" sz="700" b="0" i="0" u="none" strike="noStrike" kern="1200" cap="none" spc="0" normalizeH="0" baseline="0" noProof="0">
                <a:ln>
                  <a:noFill/>
                </a:ln>
                <a:solidFill>
                  <a:srgbClr val="FFFFFF"/>
                </a:solidFill>
                <a:effectLst/>
                <a:uLnTx/>
                <a:uFillTx/>
                <a:latin typeface="Graphik"/>
                <a:ea typeface="+mn-ea"/>
                <a:cs typeface="+mn-cs"/>
              </a:rPr>
              <a:t> party TBD</a:t>
            </a:r>
          </a:p>
        </p:txBody>
      </p:sp>
      <p:sp>
        <p:nvSpPr>
          <p:cNvPr id="45" name="Rectangle 44">
            <a:extLst>
              <a:ext uri="{FF2B5EF4-FFF2-40B4-BE49-F238E27FC236}">
                <a16:creationId xmlns:a16="http://schemas.microsoft.com/office/drawing/2014/main" id="{5E875308-79E7-36EA-01D6-C871E21EF968}"/>
              </a:ext>
            </a:extLst>
          </p:cNvPr>
          <p:cNvSpPr/>
          <p:nvPr/>
        </p:nvSpPr>
        <p:spPr>
          <a:xfrm>
            <a:off x="3536881" y="3520263"/>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Custom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Component</a:t>
            </a:r>
          </a:p>
        </p:txBody>
      </p:sp>
    </p:spTree>
    <p:extLst>
      <p:ext uri="{BB962C8B-B14F-4D97-AF65-F5344CB8AC3E}">
        <p14:creationId xmlns:p14="http://schemas.microsoft.com/office/powerpoint/2010/main" val="20707001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9CDBB-F0E0-2F14-7C1B-CEADDBBCCF1E}"/>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6C1E71D-CB98-EEDD-128F-D2B7567BB9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All rights reserved.</a:t>
            </a:r>
          </a:p>
        </p:txBody>
      </p:sp>
      <p:sp>
        <p:nvSpPr>
          <p:cNvPr id="118" name="Title 1">
            <a:extLst>
              <a:ext uri="{FF2B5EF4-FFF2-40B4-BE49-F238E27FC236}">
                <a16:creationId xmlns:a16="http://schemas.microsoft.com/office/drawing/2014/main" id="{D9BEAEB8-C642-85C2-6840-2E411FDC95FB}"/>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Interoperability Asset </a:t>
            </a:r>
            <a:r>
              <a:rPr kumimoji="0" lang="en-US" sz="2400" b="1" i="0" u="none" strike="noStrike" kern="1200" cap="none" spc="0" normalizeH="0" baseline="0" noProof="0">
                <a:ln>
                  <a:noFill/>
                </a:ln>
                <a:solidFill>
                  <a:srgbClr val="000000"/>
                </a:solidFill>
                <a:effectLst/>
                <a:uLnTx/>
                <a:uFillTx/>
                <a:latin typeface="Graphik"/>
                <a:ea typeface="+mj-ea"/>
                <a:cs typeface="+mj-cs"/>
              </a:rPr>
              <a:t>| Observability</a:t>
            </a:r>
          </a:p>
        </p:txBody>
      </p:sp>
      <p:sp>
        <p:nvSpPr>
          <p:cNvPr id="119" name="Content Placeholder 34">
            <a:extLst>
              <a:ext uri="{FF2B5EF4-FFF2-40B4-BE49-F238E27FC236}">
                <a16:creationId xmlns:a16="http://schemas.microsoft.com/office/drawing/2014/main" id="{832531B3-69FA-C995-B096-1ADF736EB5E6}"/>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7500C0"/>
                </a:solidFill>
                <a:effectLst/>
                <a:uLnTx/>
                <a:uFillTx/>
                <a:latin typeface="Graphik" panose="020B0503030202060203" pitchFamily="34" charset="0"/>
                <a:ea typeface="+mn-ea"/>
                <a:cs typeface="+mn-cs"/>
              </a:rPr>
              <a:t>Monitoring | Detection | Response</a:t>
            </a:r>
          </a:p>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600" b="1" i="0" u="none" strike="noStrike" kern="1200" cap="none" spc="0" normalizeH="0" baseline="0" noProof="0" dirty="0">
              <a:ln>
                <a:noFill/>
              </a:ln>
              <a:solidFill>
                <a:srgbClr val="7500C0"/>
              </a:solidFill>
              <a:effectLst/>
              <a:uLnTx/>
              <a:uFillTx/>
              <a:latin typeface="Graphik" panose="020B0503030202060203" pitchFamily="34" charset="0"/>
              <a:ea typeface="+mn-ea"/>
              <a:cs typeface="+mn-cs"/>
            </a:endParaRPr>
          </a:p>
        </p:txBody>
      </p:sp>
      <p:grpSp>
        <p:nvGrpSpPr>
          <p:cNvPr id="4" name="Group 3">
            <a:extLst>
              <a:ext uri="{FF2B5EF4-FFF2-40B4-BE49-F238E27FC236}">
                <a16:creationId xmlns:a16="http://schemas.microsoft.com/office/drawing/2014/main" id="{327A72FF-4358-A0E9-3130-F2F778548836}"/>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01607A77-3310-DF9C-5A85-9A3FF270B686}"/>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Illustrative non exhaustive</a:t>
              </a:r>
            </a:p>
          </p:txBody>
        </p:sp>
        <p:cxnSp>
          <p:nvCxnSpPr>
            <p:cNvPr id="6" name="Straight Connector 5">
              <a:extLst>
                <a:ext uri="{FF2B5EF4-FFF2-40B4-BE49-F238E27FC236}">
                  <a16:creationId xmlns:a16="http://schemas.microsoft.com/office/drawing/2014/main" id="{7350D4A3-929F-BFD9-61F8-086B908190E3}"/>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40611FC-07EB-A4DB-4069-64977B5BA586}"/>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185">
            <a:extLst>
              <a:ext uri="{FF2B5EF4-FFF2-40B4-BE49-F238E27FC236}">
                <a16:creationId xmlns:a16="http://schemas.microsoft.com/office/drawing/2014/main" id="{C4A2FE3E-EB67-C438-7E51-1BA400CA5359}"/>
              </a:ext>
            </a:extLst>
          </p:cNvPr>
          <p:cNvSpPr/>
          <p:nvPr/>
        </p:nvSpPr>
        <p:spPr>
          <a:xfrm>
            <a:off x="5099685" y="3192145"/>
            <a:ext cx="1293495" cy="95377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900" b="0" i="0" u="none" strike="noStrike" kern="1200" cap="none" spc="0" normalizeH="0" baseline="0" noProof="0">
                <a:ln>
                  <a:noFill/>
                </a:ln>
                <a:solidFill>
                  <a:srgbClr val="000000"/>
                </a:solidFill>
                <a:effectLst/>
                <a:uLnTx/>
                <a:uFillTx/>
                <a:latin typeface="Graphik"/>
                <a:ea typeface="+mn-ea"/>
                <a:cs typeface="+mn-cs"/>
              </a:rPr>
              <a:t>Response:</a:t>
            </a:r>
          </a:p>
        </p:txBody>
      </p:sp>
      <p:sp>
        <p:nvSpPr>
          <p:cNvPr id="9" name="Rectangle 8">
            <a:extLst>
              <a:ext uri="{FF2B5EF4-FFF2-40B4-BE49-F238E27FC236}">
                <a16:creationId xmlns:a16="http://schemas.microsoft.com/office/drawing/2014/main" id="{D66BAC23-EA94-981D-ADC6-672B1A6873C9}"/>
              </a:ext>
            </a:extLst>
          </p:cNvPr>
          <p:cNvSpPr/>
          <p:nvPr/>
        </p:nvSpPr>
        <p:spPr>
          <a:xfrm>
            <a:off x="295910" y="4319905"/>
            <a:ext cx="1085850" cy="1931035"/>
          </a:xfrm>
          <a:prstGeom prst="rect">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s-MX" sz="900" b="0" i="0" u="none" strike="noStrike" kern="1200" cap="none" spc="0" normalizeH="0" baseline="0" noProof="0" dirty="0">
                <a:ln>
                  <a:noFill/>
                </a:ln>
                <a:solidFill>
                  <a:srgbClr val="000000"/>
                </a:solidFill>
                <a:effectLst/>
                <a:uLnTx/>
                <a:uFillTx/>
                <a:latin typeface="Graphik"/>
                <a:ea typeface="+mn-ea"/>
                <a:cs typeface="+mn-cs"/>
              </a:rPr>
              <a:t>Current monitoring and data sources</a:t>
            </a:r>
          </a:p>
        </p:txBody>
      </p:sp>
      <p:sp>
        <p:nvSpPr>
          <p:cNvPr id="10" name="Rectangle 9">
            <a:extLst>
              <a:ext uri="{FF2B5EF4-FFF2-40B4-BE49-F238E27FC236}">
                <a16:creationId xmlns:a16="http://schemas.microsoft.com/office/drawing/2014/main" id="{B5DF789B-70C5-1F61-19A7-A2407D52BCEC}"/>
              </a:ext>
            </a:extLst>
          </p:cNvPr>
          <p:cNvSpPr/>
          <p:nvPr/>
        </p:nvSpPr>
        <p:spPr>
          <a:xfrm>
            <a:off x="1506721" y="4083131"/>
            <a:ext cx="2667254" cy="23520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Implemented Uses Cases</a:t>
            </a:r>
          </a:p>
        </p:txBody>
      </p:sp>
      <p:sp>
        <p:nvSpPr>
          <p:cNvPr id="11" name="Rectangle 10">
            <a:extLst>
              <a:ext uri="{FF2B5EF4-FFF2-40B4-BE49-F238E27FC236}">
                <a16:creationId xmlns:a16="http://schemas.microsoft.com/office/drawing/2014/main" id="{5E23D521-BEA0-A51F-DF6B-38228E9D9E47}"/>
              </a:ext>
            </a:extLst>
          </p:cNvPr>
          <p:cNvSpPr/>
          <p:nvPr/>
        </p:nvSpPr>
        <p:spPr>
          <a:xfrm>
            <a:off x="6038907" y="4228552"/>
            <a:ext cx="1880704" cy="206565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Monitoring</a:t>
            </a:r>
          </a:p>
        </p:txBody>
      </p:sp>
      <p:cxnSp>
        <p:nvCxnSpPr>
          <p:cNvPr id="13" name="Connector: Elbow 12">
            <a:extLst>
              <a:ext uri="{FF2B5EF4-FFF2-40B4-BE49-F238E27FC236}">
                <a16:creationId xmlns:a16="http://schemas.microsoft.com/office/drawing/2014/main" id="{EC026195-1890-7D80-AA72-09B880E8CCE0}"/>
              </a:ext>
            </a:extLst>
          </p:cNvPr>
          <p:cNvCxnSpPr>
            <a:stCxn id="14" idx="3"/>
            <a:endCxn id="17" idx="1"/>
          </p:cNvCxnSpPr>
          <p:nvPr/>
        </p:nvCxnSpPr>
        <p:spPr>
          <a:xfrm flipV="1">
            <a:off x="4173855" y="1297305"/>
            <a:ext cx="367665" cy="1270"/>
          </a:xfrm>
          <a:prstGeom prst="bentConnector3">
            <a:avLst>
              <a:gd name="adj1" fmla="val 50086"/>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8F782012-DE3E-EC43-B2D3-76461E27153D}"/>
              </a:ext>
            </a:extLst>
          </p:cNvPr>
          <p:cNvSpPr/>
          <p:nvPr/>
        </p:nvSpPr>
        <p:spPr>
          <a:xfrm>
            <a:off x="3032880" y="1154352"/>
            <a:ext cx="1141171" cy="28800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900" b="0" i="0" u="none" strike="noStrike" kern="1200" cap="none" spc="0" normalizeH="0" baseline="0" noProof="0" dirty="0">
                <a:ln>
                  <a:noFill/>
                </a:ln>
                <a:solidFill>
                  <a:srgbClr val="000000"/>
                </a:solidFill>
                <a:effectLst/>
                <a:uLnTx/>
                <a:uFillTx/>
                <a:latin typeface="Graphik"/>
                <a:ea typeface="+mn-ea"/>
                <a:cs typeface="+mn-cs"/>
                <a:sym typeface="+mn-ea"/>
              </a:rPr>
              <a:t>Heavy Forwarder</a:t>
            </a:r>
          </a:p>
        </p:txBody>
      </p:sp>
      <p:sp>
        <p:nvSpPr>
          <p:cNvPr id="15" name="Can 172">
            <a:extLst>
              <a:ext uri="{FF2B5EF4-FFF2-40B4-BE49-F238E27FC236}">
                <a16:creationId xmlns:a16="http://schemas.microsoft.com/office/drawing/2014/main" id="{8C46FE5B-98C0-AF74-BAB8-1E7FF38442F4}"/>
              </a:ext>
            </a:extLst>
          </p:cNvPr>
          <p:cNvSpPr/>
          <p:nvPr/>
        </p:nvSpPr>
        <p:spPr bwMode="auto">
          <a:xfrm>
            <a:off x="3495040" y="2559685"/>
            <a:ext cx="474980" cy="1264920"/>
          </a:xfrm>
          <a:prstGeom prst="can">
            <a:avLst>
              <a:gd name="adj" fmla="val 59089"/>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900" b="0" i="0" u="none" strike="noStrike" kern="1200" cap="none" spc="0" normalizeH="0" baseline="0" noProof="0">
                <a:ln>
                  <a:noFill/>
                </a:ln>
                <a:solidFill>
                  <a:srgbClr val="000000"/>
                </a:solidFill>
                <a:effectLst/>
                <a:uLnTx/>
                <a:uFillTx/>
                <a:latin typeface="Graphik"/>
                <a:ea typeface="+mn-ea"/>
                <a:cs typeface="+mn-cs"/>
                <a:sym typeface="+mn-ea"/>
              </a:rPr>
              <a:t>Monitoring Core</a:t>
            </a:r>
          </a:p>
        </p:txBody>
      </p:sp>
      <p:pic>
        <p:nvPicPr>
          <p:cNvPr id="16" name="Picture 2" descr="Splunk black logo transparent PNG - StickPNG">
            <a:extLst>
              <a:ext uri="{FF2B5EF4-FFF2-40B4-BE49-F238E27FC236}">
                <a16:creationId xmlns:a16="http://schemas.microsoft.com/office/drawing/2014/main" id="{7AD926DE-3578-407C-9A1F-ECC655FB1EE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588" t="30330" r="10744" b="32049"/>
          <a:stretch>
            <a:fillRect/>
          </a:stretch>
        </p:blipFill>
        <p:spPr bwMode="auto">
          <a:xfrm>
            <a:off x="4008823" y="3214923"/>
            <a:ext cx="677803" cy="245921"/>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B2DA282B-D366-FF73-47CB-DE1065FA8ACA}"/>
              </a:ext>
            </a:extLst>
          </p:cNvPr>
          <p:cNvSpPr/>
          <p:nvPr/>
        </p:nvSpPr>
        <p:spPr>
          <a:xfrm>
            <a:off x="4541356" y="1125612"/>
            <a:ext cx="844771" cy="342045"/>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Custom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Parsing Component</a:t>
            </a:r>
          </a:p>
        </p:txBody>
      </p:sp>
      <p:sp>
        <p:nvSpPr>
          <p:cNvPr id="18" name="Rectangle 17">
            <a:extLst>
              <a:ext uri="{FF2B5EF4-FFF2-40B4-BE49-F238E27FC236}">
                <a16:creationId xmlns:a16="http://schemas.microsoft.com/office/drawing/2014/main" id="{73305762-E02A-DE4D-BAE3-33E0AF9F59B1}"/>
              </a:ext>
            </a:extLst>
          </p:cNvPr>
          <p:cNvSpPr/>
          <p:nvPr/>
        </p:nvSpPr>
        <p:spPr>
          <a:xfrm>
            <a:off x="3032770" y="1749982"/>
            <a:ext cx="1141171" cy="28800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900" b="0" i="0" u="none" strike="noStrike" kern="1200" cap="none" spc="0" normalizeH="0" baseline="0" noProof="0">
                <a:ln>
                  <a:noFill/>
                </a:ln>
                <a:solidFill>
                  <a:srgbClr val="000000"/>
                </a:solidFill>
                <a:effectLst/>
                <a:uLnTx/>
                <a:uFillTx/>
                <a:latin typeface="Graphik"/>
                <a:ea typeface="+mn-ea"/>
                <a:cs typeface="+mn-cs"/>
                <a:sym typeface="+mn-ea"/>
              </a:rPr>
              <a:t>Indexer (Event HUB)</a:t>
            </a:r>
          </a:p>
        </p:txBody>
      </p:sp>
      <p:cxnSp>
        <p:nvCxnSpPr>
          <p:cNvPr id="19" name="Connector: Elbow 140">
            <a:extLst>
              <a:ext uri="{FF2B5EF4-FFF2-40B4-BE49-F238E27FC236}">
                <a16:creationId xmlns:a16="http://schemas.microsoft.com/office/drawing/2014/main" id="{4AC1A47E-BDE8-BB21-261A-04BF451571F9}"/>
              </a:ext>
            </a:extLst>
          </p:cNvPr>
          <p:cNvCxnSpPr>
            <a:stCxn id="18" idx="3"/>
            <a:endCxn id="15" idx="4"/>
          </p:cNvCxnSpPr>
          <p:nvPr/>
        </p:nvCxnSpPr>
        <p:spPr>
          <a:xfrm flipH="1">
            <a:off x="3970020" y="1894205"/>
            <a:ext cx="203835" cy="1297940"/>
          </a:xfrm>
          <a:prstGeom prst="bentConnector3">
            <a:avLst>
              <a:gd name="adj1" fmla="val -11682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24">
            <a:extLst>
              <a:ext uri="{FF2B5EF4-FFF2-40B4-BE49-F238E27FC236}">
                <a16:creationId xmlns:a16="http://schemas.microsoft.com/office/drawing/2014/main" id="{DFEF5F2F-AFA4-9CAB-8AA4-C81CB958D288}"/>
              </a:ext>
            </a:extLst>
          </p:cNvPr>
          <p:cNvCxnSpPr>
            <a:stCxn id="17" idx="2"/>
            <a:endCxn id="18" idx="0"/>
          </p:cNvCxnSpPr>
          <p:nvPr/>
        </p:nvCxnSpPr>
        <p:spPr>
          <a:xfrm rot="5400000">
            <a:off x="4142740" y="929005"/>
            <a:ext cx="281940" cy="136017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Can 172">
            <a:extLst>
              <a:ext uri="{FF2B5EF4-FFF2-40B4-BE49-F238E27FC236}">
                <a16:creationId xmlns:a16="http://schemas.microsoft.com/office/drawing/2014/main" id="{F30B8306-D284-2AF3-9FD5-8EF731A353B4}"/>
              </a:ext>
            </a:extLst>
          </p:cNvPr>
          <p:cNvSpPr/>
          <p:nvPr/>
        </p:nvSpPr>
        <p:spPr bwMode="auto">
          <a:xfrm>
            <a:off x="1011295" y="1153813"/>
            <a:ext cx="312661" cy="1621605"/>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Data  Sources</a:t>
            </a:r>
          </a:p>
        </p:txBody>
      </p:sp>
      <p:cxnSp>
        <p:nvCxnSpPr>
          <p:cNvPr id="22" name="Straight Arrow Connector 21">
            <a:extLst>
              <a:ext uri="{FF2B5EF4-FFF2-40B4-BE49-F238E27FC236}">
                <a16:creationId xmlns:a16="http://schemas.microsoft.com/office/drawing/2014/main" id="{91D0DB44-B305-7F4E-42BA-790D3441D04B}"/>
              </a:ext>
            </a:extLst>
          </p:cNvPr>
          <p:cNvCxnSpPr>
            <a:stCxn id="21" idx="4"/>
          </p:cNvCxnSpPr>
          <p:nvPr/>
        </p:nvCxnSpPr>
        <p:spPr>
          <a:xfrm>
            <a:off x="1323956" y="1964616"/>
            <a:ext cx="422386" cy="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600B4551-FC33-92AF-516B-EF2992542A76}"/>
              </a:ext>
            </a:extLst>
          </p:cNvPr>
          <p:cNvSpPr/>
          <p:nvPr/>
        </p:nvSpPr>
        <p:spPr>
          <a:xfrm>
            <a:off x="2470768" y="4381451"/>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Graphik"/>
                <a:ea typeface="+mn-ea"/>
                <a:cs typeface="+mn-cs"/>
              </a:rPr>
              <a:t>E2E Trancing</a:t>
            </a:r>
          </a:p>
        </p:txBody>
      </p:sp>
      <p:sp>
        <p:nvSpPr>
          <p:cNvPr id="24" name="Rectangle 23">
            <a:extLst>
              <a:ext uri="{FF2B5EF4-FFF2-40B4-BE49-F238E27FC236}">
                <a16:creationId xmlns:a16="http://schemas.microsoft.com/office/drawing/2014/main" id="{6B0AB8B0-51CE-8A5B-C542-5B8821F3A8B0}"/>
              </a:ext>
            </a:extLst>
          </p:cNvPr>
          <p:cNvSpPr/>
          <p:nvPr/>
        </p:nvSpPr>
        <p:spPr>
          <a:xfrm>
            <a:off x="1583638" y="5659486"/>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Graphik"/>
                <a:ea typeface="+mn-ea"/>
                <a:cs typeface="+mn-cs"/>
              </a:rPr>
              <a:t>Feature Flag</a:t>
            </a:r>
          </a:p>
        </p:txBody>
      </p:sp>
      <p:sp>
        <p:nvSpPr>
          <p:cNvPr id="25" name="Rectangle 24">
            <a:extLst>
              <a:ext uri="{FF2B5EF4-FFF2-40B4-BE49-F238E27FC236}">
                <a16:creationId xmlns:a16="http://schemas.microsoft.com/office/drawing/2014/main" id="{3C98096D-4D50-758F-D07B-5EB438C654B6}"/>
              </a:ext>
            </a:extLst>
          </p:cNvPr>
          <p:cNvSpPr/>
          <p:nvPr/>
        </p:nvSpPr>
        <p:spPr>
          <a:xfrm>
            <a:off x="3272234" y="5223483"/>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Folio Operations</a:t>
            </a:r>
          </a:p>
        </p:txBody>
      </p:sp>
      <p:sp>
        <p:nvSpPr>
          <p:cNvPr id="26" name="Rectangle 25">
            <a:extLst>
              <a:ext uri="{FF2B5EF4-FFF2-40B4-BE49-F238E27FC236}">
                <a16:creationId xmlns:a16="http://schemas.microsoft.com/office/drawing/2014/main" id="{C490F54B-0B26-12B9-1BE0-D01D27CE0219}"/>
              </a:ext>
            </a:extLst>
          </p:cNvPr>
          <p:cNvSpPr/>
          <p:nvPr/>
        </p:nvSpPr>
        <p:spPr>
          <a:xfrm>
            <a:off x="3272235" y="4763536"/>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UUID Services</a:t>
            </a:r>
          </a:p>
        </p:txBody>
      </p:sp>
      <p:sp>
        <p:nvSpPr>
          <p:cNvPr id="27" name="Rectangle 26">
            <a:extLst>
              <a:ext uri="{FF2B5EF4-FFF2-40B4-BE49-F238E27FC236}">
                <a16:creationId xmlns:a16="http://schemas.microsoft.com/office/drawing/2014/main" id="{E8CD3EFF-2F11-1810-2959-541482EC0EEC}"/>
              </a:ext>
            </a:extLst>
          </p:cNvPr>
          <p:cNvSpPr/>
          <p:nvPr/>
        </p:nvSpPr>
        <p:spPr>
          <a:xfrm>
            <a:off x="1610221" y="4385096"/>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Audit Logging</a:t>
            </a:r>
          </a:p>
        </p:txBody>
      </p:sp>
      <p:sp>
        <p:nvSpPr>
          <p:cNvPr id="28" name="Rectangle 27">
            <a:extLst>
              <a:ext uri="{FF2B5EF4-FFF2-40B4-BE49-F238E27FC236}">
                <a16:creationId xmlns:a16="http://schemas.microsoft.com/office/drawing/2014/main" id="{7BFB05C9-EFC1-FC8F-C6CF-60F95465B174}"/>
              </a:ext>
            </a:extLst>
          </p:cNvPr>
          <p:cNvSpPr/>
          <p:nvPr/>
        </p:nvSpPr>
        <p:spPr>
          <a:xfrm>
            <a:off x="1597459" y="4767576"/>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Log Aggregation</a:t>
            </a:r>
          </a:p>
        </p:txBody>
      </p:sp>
      <p:sp>
        <p:nvSpPr>
          <p:cNvPr id="29" name="Rectangle 28">
            <a:extLst>
              <a:ext uri="{FF2B5EF4-FFF2-40B4-BE49-F238E27FC236}">
                <a16:creationId xmlns:a16="http://schemas.microsoft.com/office/drawing/2014/main" id="{1FEF22B6-C98B-1375-D9DB-143477FFFBFF}"/>
              </a:ext>
            </a:extLst>
          </p:cNvPr>
          <p:cNvSpPr/>
          <p:nvPr/>
        </p:nvSpPr>
        <p:spPr>
          <a:xfrm>
            <a:off x="3276335" y="4381451"/>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Operational Log</a:t>
            </a:r>
          </a:p>
        </p:txBody>
      </p:sp>
      <p:sp>
        <p:nvSpPr>
          <p:cNvPr id="30" name="Rectangle 29">
            <a:extLst>
              <a:ext uri="{FF2B5EF4-FFF2-40B4-BE49-F238E27FC236}">
                <a16:creationId xmlns:a16="http://schemas.microsoft.com/office/drawing/2014/main" id="{355798B7-C814-3C32-C0D6-F4DF79120069}"/>
              </a:ext>
            </a:extLst>
          </p:cNvPr>
          <p:cNvSpPr/>
          <p:nvPr/>
        </p:nvSpPr>
        <p:spPr>
          <a:xfrm>
            <a:off x="1583639" y="5216124"/>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Distributed Trancing</a:t>
            </a:r>
          </a:p>
        </p:txBody>
      </p:sp>
      <p:sp>
        <p:nvSpPr>
          <p:cNvPr id="31" name="Rectangle 30">
            <a:extLst>
              <a:ext uri="{FF2B5EF4-FFF2-40B4-BE49-F238E27FC236}">
                <a16:creationId xmlns:a16="http://schemas.microsoft.com/office/drawing/2014/main" id="{60998D4B-CCA6-DEF3-DB28-701C4B202869}"/>
              </a:ext>
            </a:extLst>
          </p:cNvPr>
          <p:cNvSpPr/>
          <p:nvPr/>
        </p:nvSpPr>
        <p:spPr>
          <a:xfrm>
            <a:off x="2452585" y="4765688"/>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API Health</a:t>
            </a:r>
            <a:endParaRPr kumimoji="0" lang="en-U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32" name="Rectangle 31">
            <a:extLst>
              <a:ext uri="{FF2B5EF4-FFF2-40B4-BE49-F238E27FC236}">
                <a16:creationId xmlns:a16="http://schemas.microsoft.com/office/drawing/2014/main" id="{D4327D75-FF20-9E0A-8F40-75B1A0BBF8A8}"/>
              </a:ext>
            </a:extLst>
          </p:cNvPr>
          <p:cNvSpPr/>
          <p:nvPr/>
        </p:nvSpPr>
        <p:spPr>
          <a:xfrm>
            <a:off x="2470767" y="5216124"/>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Health </a:t>
            </a:r>
            <a:r>
              <a:rPr kumimoji="0" lang="en-US" sz="900" b="0" i="0" u="none" strike="noStrike" kern="1200" cap="none" spc="0" normalizeH="0" baseline="0" noProof="0" dirty="0">
                <a:ln>
                  <a:noFill/>
                </a:ln>
                <a:solidFill>
                  <a:srgbClr val="000000"/>
                </a:solidFill>
                <a:effectLst/>
                <a:uLnTx/>
                <a:uFillTx/>
                <a:latin typeface="Graphik"/>
                <a:ea typeface="+mn-ea"/>
                <a:cs typeface="+mn-cs"/>
              </a:rPr>
              <a:t>Monitoring</a:t>
            </a:r>
          </a:p>
        </p:txBody>
      </p:sp>
      <p:sp>
        <p:nvSpPr>
          <p:cNvPr id="33" name="Rectangle 32">
            <a:extLst>
              <a:ext uri="{FF2B5EF4-FFF2-40B4-BE49-F238E27FC236}">
                <a16:creationId xmlns:a16="http://schemas.microsoft.com/office/drawing/2014/main" id="{7B38AAB8-E682-C9C2-0479-50E145102ECB}"/>
              </a:ext>
            </a:extLst>
          </p:cNvPr>
          <p:cNvSpPr/>
          <p:nvPr/>
        </p:nvSpPr>
        <p:spPr>
          <a:xfrm>
            <a:off x="6171399" y="4590143"/>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Alerts</a:t>
            </a:r>
          </a:p>
        </p:txBody>
      </p:sp>
      <p:sp>
        <p:nvSpPr>
          <p:cNvPr id="34" name="Rectangle 33">
            <a:extLst>
              <a:ext uri="{FF2B5EF4-FFF2-40B4-BE49-F238E27FC236}">
                <a16:creationId xmlns:a16="http://schemas.microsoft.com/office/drawing/2014/main" id="{56B1FC81-D729-7DCB-CA23-654E14CE1D26}"/>
              </a:ext>
            </a:extLst>
          </p:cNvPr>
          <p:cNvSpPr/>
          <p:nvPr/>
        </p:nvSpPr>
        <p:spPr>
          <a:xfrm>
            <a:off x="7045570" y="4590143"/>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Metrics Analytics</a:t>
            </a:r>
          </a:p>
        </p:txBody>
      </p:sp>
      <p:sp>
        <p:nvSpPr>
          <p:cNvPr id="35" name="Rectangle 34">
            <a:extLst>
              <a:ext uri="{FF2B5EF4-FFF2-40B4-BE49-F238E27FC236}">
                <a16:creationId xmlns:a16="http://schemas.microsoft.com/office/drawing/2014/main" id="{BB919534-13B1-3B95-4281-0E9291CB0642}"/>
              </a:ext>
            </a:extLst>
          </p:cNvPr>
          <p:cNvSpPr/>
          <p:nvPr/>
        </p:nvSpPr>
        <p:spPr>
          <a:xfrm>
            <a:off x="6171398" y="5026405"/>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Reporting</a:t>
            </a:r>
          </a:p>
        </p:txBody>
      </p:sp>
      <p:sp>
        <p:nvSpPr>
          <p:cNvPr id="36" name="TextBox 35">
            <a:extLst>
              <a:ext uri="{FF2B5EF4-FFF2-40B4-BE49-F238E27FC236}">
                <a16:creationId xmlns:a16="http://schemas.microsoft.com/office/drawing/2014/main" id="{375C51A6-D782-67F4-A281-2FA1312F6E9B}"/>
              </a:ext>
            </a:extLst>
          </p:cNvPr>
          <p:cNvSpPr txBox="1"/>
          <p:nvPr/>
        </p:nvSpPr>
        <p:spPr>
          <a:xfrm>
            <a:off x="9459310" y="2354317"/>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37" name="Rectangle 36">
            <a:extLst>
              <a:ext uri="{FF2B5EF4-FFF2-40B4-BE49-F238E27FC236}">
                <a16:creationId xmlns:a16="http://schemas.microsoft.com/office/drawing/2014/main" id="{891413EE-7A27-2479-45CE-6541F88DA2EC}"/>
              </a:ext>
            </a:extLst>
          </p:cNvPr>
          <p:cNvSpPr/>
          <p:nvPr/>
        </p:nvSpPr>
        <p:spPr>
          <a:xfrm>
            <a:off x="1781121" y="1125633"/>
            <a:ext cx="844771" cy="342045"/>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Collector (API, Syslog, Agent)</a:t>
            </a:r>
          </a:p>
        </p:txBody>
      </p:sp>
      <p:cxnSp>
        <p:nvCxnSpPr>
          <p:cNvPr id="38" name="Straight Arrow Connector 37">
            <a:extLst>
              <a:ext uri="{FF2B5EF4-FFF2-40B4-BE49-F238E27FC236}">
                <a16:creationId xmlns:a16="http://schemas.microsoft.com/office/drawing/2014/main" id="{F656C774-DFBD-0EAA-8AC1-0B22E2FA835B}"/>
              </a:ext>
            </a:extLst>
          </p:cNvPr>
          <p:cNvCxnSpPr>
            <a:stCxn id="10" idx="3"/>
          </p:cNvCxnSpPr>
          <p:nvPr/>
        </p:nvCxnSpPr>
        <p:spPr>
          <a:xfrm flipV="1">
            <a:off x="4174080" y="5248043"/>
            <a:ext cx="1045845" cy="1079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5B46E7F5-82FB-42FC-8FD7-026DE763FFD3}"/>
              </a:ext>
            </a:extLst>
          </p:cNvPr>
          <p:cNvSpPr/>
          <p:nvPr/>
        </p:nvSpPr>
        <p:spPr>
          <a:xfrm>
            <a:off x="6187573" y="5438184"/>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Business Dashboards</a:t>
            </a:r>
          </a:p>
        </p:txBody>
      </p:sp>
      <p:sp>
        <p:nvSpPr>
          <p:cNvPr id="40" name="Rectangle 39">
            <a:extLst>
              <a:ext uri="{FF2B5EF4-FFF2-40B4-BE49-F238E27FC236}">
                <a16:creationId xmlns:a16="http://schemas.microsoft.com/office/drawing/2014/main" id="{B5FD1899-D4D5-B44A-FAD9-1BEE2602C73C}"/>
              </a:ext>
            </a:extLst>
          </p:cNvPr>
          <p:cNvSpPr/>
          <p:nvPr/>
        </p:nvSpPr>
        <p:spPr>
          <a:xfrm>
            <a:off x="6187573" y="5861990"/>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Tech Dashboards</a:t>
            </a:r>
          </a:p>
        </p:txBody>
      </p:sp>
      <p:sp>
        <p:nvSpPr>
          <p:cNvPr id="41" name="TextBox 40">
            <a:extLst>
              <a:ext uri="{FF2B5EF4-FFF2-40B4-BE49-F238E27FC236}">
                <a16:creationId xmlns:a16="http://schemas.microsoft.com/office/drawing/2014/main" id="{7B230B89-5260-DFBB-7685-9DE289149A14}"/>
              </a:ext>
            </a:extLst>
          </p:cNvPr>
          <p:cNvSpPr txBox="1"/>
          <p:nvPr/>
        </p:nvSpPr>
        <p:spPr>
          <a:xfrm>
            <a:off x="4300151" y="6250954"/>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cxnSp>
        <p:nvCxnSpPr>
          <p:cNvPr id="42" name="Straight Arrow Connector 41">
            <a:extLst>
              <a:ext uri="{FF2B5EF4-FFF2-40B4-BE49-F238E27FC236}">
                <a16:creationId xmlns:a16="http://schemas.microsoft.com/office/drawing/2014/main" id="{545E0F0C-31B1-B7D2-F84C-3A82AF7B00A2}"/>
              </a:ext>
            </a:extLst>
          </p:cNvPr>
          <p:cNvCxnSpPr/>
          <p:nvPr/>
        </p:nvCxnSpPr>
        <p:spPr>
          <a:xfrm>
            <a:off x="5721576" y="5250627"/>
            <a:ext cx="317500" cy="698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D0074FE2-440C-0D97-BD66-D18C23B13CB3}"/>
              </a:ext>
            </a:extLst>
          </p:cNvPr>
          <p:cNvSpPr/>
          <p:nvPr/>
        </p:nvSpPr>
        <p:spPr>
          <a:xfrm>
            <a:off x="1746265" y="1749775"/>
            <a:ext cx="917761" cy="45791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3</a:t>
            </a:r>
            <a:r>
              <a:rPr kumimoji="0" lang="en-US" sz="700" b="0" i="0" u="none" strike="noStrike" kern="1200" cap="none" spc="0" normalizeH="0" baseline="30000" noProof="0">
                <a:ln>
                  <a:noFill/>
                </a:ln>
                <a:solidFill>
                  <a:srgbClr val="FFFFFF"/>
                </a:solidFill>
                <a:effectLst/>
                <a:uLnTx/>
                <a:uFillTx/>
                <a:latin typeface="Graphik"/>
                <a:ea typeface="+mn-ea"/>
                <a:cs typeface="+mn-cs"/>
              </a:rPr>
              <a:t>rd</a:t>
            </a:r>
            <a:r>
              <a:rPr kumimoji="0" lang="en-US" sz="700" b="0" i="0" u="none" strike="noStrike" kern="1200" cap="none" spc="0" normalizeH="0" baseline="0" noProof="0">
                <a:ln>
                  <a:noFill/>
                </a:ln>
                <a:solidFill>
                  <a:srgbClr val="FFFFFF"/>
                </a:solidFill>
                <a:effectLst/>
                <a:uLnTx/>
                <a:uFillTx/>
                <a:latin typeface="Graphik"/>
                <a:ea typeface="+mn-ea"/>
                <a:cs typeface="+mn-cs"/>
              </a:rPr>
              <a:t> party Routing (S2S, C2S, FIREWALL</a:t>
            </a:r>
          </a:p>
        </p:txBody>
      </p:sp>
      <p:sp>
        <p:nvSpPr>
          <p:cNvPr id="44" name="Rectangle 43">
            <a:extLst>
              <a:ext uri="{FF2B5EF4-FFF2-40B4-BE49-F238E27FC236}">
                <a16:creationId xmlns:a16="http://schemas.microsoft.com/office/drawing/2014/main" id="{05CD9692-9404-37CC-F6C4-129EC9662DFE}"/>
              </a:ext>
            </a:extLst>
          </p:cNvPr>
          <p:cNvSpPr/>
          <p:nvPr/>
        </p:nvSpPr>
        <p:spPr>
          <a:xfrm>
            <a:off x="240757" y="3380294"/>
            <a:ext cx="1141171" cy="28800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900" b="0" i="0" u="none" strike="noStrike" kern="1200" cap="none" spc="0" normalizeH="0" baseline="0" noProof="0">
                <a:ln>
                  <a:noFill/>
                </a:ln>
                <a:solidFill>
                  <a:srgbClr val="000000"/>
                </a:solidFill>
                <a:effectLst/>
                <a:uLnTx/>
                <a:uFillTx/>
                <a:latin typeface="Graphik"/>
                <a:ea typeface="+mn-ea"/>
                <a:cs typeface="+mn-cs"/>
                <a:sym typeface="+mn-ea"/>
              </a:rPr>
              <a:t>Search Header</a:t>
            </a:r>
          </a:p>
        </p:txBody>
      </p:sp>
      <p:cxnSp>
        <p:nvCxnSpPr>
          <p:cNvPr id="45" name="Connector: Elbow 140">
            <a:extLst>
              <a:ext uri="{FF2B5EF4-FFF2-40B4-BE49-F238E27FC236}">
                <a16:creationId xmlns:a16="http://schemas.microsoft.com/office/drawing/2014/main" id="{41D2E064-0A4B-5B49-4EAC-7CB364932CA3}"/>
              </a:ext>
            </a:extLst>
          </p:cNvPr>
          <p:cNvCxnSpPr>
            <a:stCxn id="15" idx="2"/>
            <a:endCxn id="44" idx="0"/>
          </p:cNvCxnSpPr>
          <p:nvPr/>
        </p:nvCxnSpPr>
        <p:spPr>
          <a:xfrm rot="10800000" flipV="1">
            <a:off x="811530" y="3192145"/>
            <a:ext cx="2683510" cy="187960"/>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140">
            <a:extLst>
              <a:ext uri="{FF2B5EF4-FFF2-40B4-BE49-F238E27FC236}">
                <a16:creationId xmlns:a16="http://schemas.microsoft.com/office/drawing/2014/main" id="{34FE29BA-B472-E2E1-6972-95028811D860}"/>
              </a:ext>
            </a:extLst>
          </p:cNvPr>
          <p:cNvCxnSpPr>
            <a:stCxn id="44" idx="2"/>
            <a:endCxn id="10" idx="0"/>
          </p:cNvCxnSpPr>
          <p:nvPr/>
        </p:nvCxnSpPr>
        <p:spPr>
          <a:xfrm rot="5400000" flipV="1">
            <a:off x="1618615" y="2861310"/>
            <a:ext cx="414655" cy="2028825"/>
          </a:xfrm>
          <a:prstGeom prst="bentConnector3">
            <a:avLst>
              <a:gd name="adj1" fmla="val 50077"/>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47" name="Picture 2" descr="Splunk black logo transparent PNG - StickPNG">
            <a:extLst>
              <a:ext uri="{FF2B5EF4-FFF2-40B4-BE49-F238E27FC236}">
                <a16:creationId xmlns:a16="http://schemas.microsoft.com/office/drawing/2014/main" id="{B8D99B4B-379E-E007-1178-47676249F37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588" t="30330" r="10744" b="32049"/>
          <a:stretch>
            <a:fillRect/>
          </a:stretch>
        </p:blipFill>
        <p:spPr bwMode="auto">
          <a:xfrm>
            <a:off x="5200401" y="6124697"/>
            <a:ext cx="677803" cy="245921"/>
          </a:xfrm>
          <a:prstGeom prst="rect">
            <a:avLst/>
          </a:prstGeom>
          <a:noFill/>
          <a:extLst>
            <a:ext uri="{909E8E84-426E-40DD-AFC4-6F175D3DCCD1}">
              <a14:hiddenFill xmlns:a14="http://schemas.microsoft.com/office/drawing/2010/main">
                <a:solidFill>
                  <a:srgbClr val="FFFFFF"/>
                </a:solidFill>
              </a14:hiddenFill>
            </a:ext>
          </a:extLst>
        </p:spPr>
      </p:pic>
      <p:sp>
        <p:nvSpPr>
          <p:cNvPr id="48" name="Can 172">
            <a:extLst>
              <a:ext uri="{FF2B5EF4-FFF2-40B4-BE49-F238E27FC236}">
                <a16:creationId xmlns:a16="http://schemas.microsoft.com/office/drawing/2014/main" id="{9BAB9BA6-0BD9-8C49-1CA0-6DE8863E910F}"/>
              </a:ext>
            </a:extLst>
          </p:cNvPr>
          <p:cNvSpPr/>
          <p:nvPr/>
        </p:nvSpPr>
        <p:spPr bwMode="auto">
          <a:xfrm>
            <a:off x="399949" y="1154238"/>
            <a:ext cx="312661" cy="1621605"/>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Event By Desing</a:t>
            </a:r>
          </a:p>
        </p:txBody>
      </p:sp>
      <p:sp>
        <p:nvSpPr>
          <p:cNvPr id="49" name="Rectangle 48">
            <a:extLst>
              <a:ext uri="{FF2B5EF4-FFF2-40B4-BE49-F238E27FC236}">
                <a16:creationId xmlns:a16="http://schemas.microsoft.com/office/drawing/2014/main" id="{DF5E55A6-8B72-0570-FA8F-159FE10714EB}"/>
              </a:ext>
            </a:extLst>
          </p:cNvPr>
          <p:cNvSpPr/>
          <p:nvPr/>
        </p:nvSpPr>
        <p:spPr>
          <a:xfrm>
            <a:off x="5099685" y="1842135"/>
            <a:ext cx="1557020" cy="126174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Event Storage (S3.. </a:t>
            </a:r>
            <a:r>
              <a:rPr kumimoji="0" lang="en-US" sz="900" b="0" i="0" u="none" strike="noStrike" kern="1200" cap="none" spc="0" normalizeH="0" baseline="0" noProof="0" err="1">
                <a:ln>
                  <a:noFill/>
                </a:ln>
                <a:solidFill>
                  <a:srgbClr val="000000"/>
                </a:solidFill>
                <a:effectLst/>
                <a:uLnTx/>
                <a:uFillTx/>
                <a:latin typeface="Graphik"/>
                <a:ea typeface="+mn-ea"/>
                <a:cs typeface="+mn-cs"/>
              </a:rPr>
              <a:t>Etc</a:t>
            </a:r>
            <a:r>
              <a:rPr kumimoji="0" lang="en-US" sz="900" b="0" i="0" u="none" strike="noStrike" kern="1200" cap="none" spc="0" normalizeH="0" baseline="0" noProof="0">
                <a:ln>
                  <a:noFill/>
                </a:ln>
                <a:solidFill>
                  <a:srgbClr val="000000"/>
                </a:solidFill>
                <a:effectLst/>
                <a:uLnTx/>
                <a:uFillTx/>
                <a:latin typeface="Graphik"/>
                <a:ea typeface="+mn-ea"/>
                <a:cs typeface="+mn-cs"/>
              </a:rPr>
              <a:t>).</a:t>
            </a:r>
          </a:p>
        </p:txBody>
      </p:sp>
      <p:cxnSp>
        <p:nvCxnSpPr>
          <p:cNvPr id="50" name="Connector: Elbow 140">
            <a:extLst>
              <a:ext uri="{FF2B5EF4-FFF2-40B4-BE49-F238E27FC236}">
                <a16:creationId xmlns:a16="http://schemas.microsoft.com/office/drawing/2014/main" id="{799D634D-6563-A11D-DBAC-145A5212C435}"/>
              </a:ext>
            </a:extLst>
          </p:cNvPr>
          <p:cNvCxnSpPr>
            <a:cxnSpLocks/>
            <a:stCxn id="18" idx="3"/>
            <a:endCxn id="49" idx="0"/>
          </p:cNvCxnSpPr>
          <p:nvPr/>
        </p:nvCxnSpPr>
        <p:spPr>
          <a:xfrm flipV="1">
            <a:off x="4173941" y="1842135"/>
            <a:ext cx="1704254" cy="51847"/>
          </a:xfrm>
          <a:prstGeom prst="bentConnector4">
            <a:avLst>
              <a:gd name="adj1" fmla="val 48850"/>
              <a:gd name="adj2" fmla="val 399695"/>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E426D0A3-7E8E-9675-4DF3-102003C39011}"/>
              </a:ext>
            </a:extLst>
          </p:cNvPr>
          <p:cNvSpPr/>
          <p:nvPr/>
        </p:nvSpPr>
        <p:spPr>
          <a:xfrm>
            <a:off x="5201920" y="2141855"/>
            <a:ext cx="1325880" cy="21336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Cloud</a:t>
            </a:r>
          </a:p>
        </p:txBody>
      </p:sp>
      <p:sp>
        <p:nvSpPr>
          <p:cNvPr id="52" name="Rectangle 51">
            <a:extLst>
              <a:ext uri="{FF2B5EF4-FFF2-40B4-BE49-F238E27FC236}">
                <a16:creationId xmlns:a16="http://schemas.microsoft.com/office/drawing/2014/main" id="{7ADA3FBE-89BD-9882-806C-60ED06378CF7}"/>
              </a:ext>
            </a:extLst>
          </p:cNvPr>
          <p:cNvSpPr/>
          <p:nvPr/>
        </p:nvSpPr>
        <p:spPr>
          <a:xfrm>
            <a:off x="5201920" y="2430145"/>
            <a:ext cx="1325880" cy="22098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DB</a:t>
            </a:r>
          </a:p>
        </p:txBody>
      </p:sp>
      <p:sp>
        <p:nvSpPr>
          <p:cNvPr id="53" name="Rectangle 52">
            <a:extLst>
              <a:ext uri="{FF2B5EF4-FFF2-40B4-BE49-F238E27FC236}">
                <a16:creationId xmlns:a16="http://schemas.microsoft.com/office/drawing/2014/main" id="{27F2620D-DBA0-B44A-16B5-5D03C60C72C7}"/>
              </a:ext>
            </a:extLst>
          </p:cNvPr>
          <p:cNvSpPr/>
          <p:nvPr/>
        </p:nvSpPr>
        <p:spPr>
          <a:xfrm>
            <a:off x="5201920" y="2775585"/>
            <a:ext cx="1259840" cy="21209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Log Rotate</a:t>
            </a:r>
          </a:p>
        </p:txBody>
      </p:sp>
      <p:sp>
        <p:nvSpPr>
          <p:cNvPr id="54" name="Rectangle 53">
            <a:extLst>
              <a:ext uri="{FF2B5EF4-FFF2-40B4-BE49-F238E27FC236}">
                <a16:creationId xmlns:a16="http://schemas.microsoft.com/office/drawing/2014/main" id="{2C1AB51A-C928-C8DA-43F2-417D469A0B55}"/>
              </a:ext>
            </a:extLst>
          </p:cNvPr>
          <p:cNvSpPr/>
          <p:nvPr/>
        </p:nvSpPr>
        <p:spPr>
          <a:xfrm>
            <a:off x="8041005" y="4514215"/>
            <a:ext cx="1781175" cy="177990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Notification</a:t>
            </a:r>
          </a:p>
        </p:txBody>
      </p:sp>
      <p:sp>
        <p:nvSpPr>
          <p:cNvPr id="55" name="Rectangle 54">
            <a:extLst>
              <a:ext uri="{FF2B5EF4-FFF2-40B4-BE49-F238E27FC236}">
                <a16:creationId xmlns:a16="http://schemas.microsoft.com/office/drawing/2014/main" id="{A434F84B-AC2B-75AC-FECE-0286024EC6E9}"/>
              </a:ext>
            </a:extLst>
          </p:cNvPr>
          <p:cNvSpPr/>
          <p:nvPr/>
        </p:nvSpPr>
        <p:spPr>
          <a:xfrm>
            <a:off x="8164447" y="4784241"/>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Graphik"/>
                <a:ea typeface="+mn-ea"/>
                <a:cs typeface="+mn-cs"/>
              </a:rPr>
              <a:t>MAIL</a:t>
            </a:r>
          </a:p>
        </p:txBody>
      </p:sp>
      <p:sp>
        <p:nvSpPr>
          <p:cNvPr id="56" name="Rectangle 55">
            <a:extLst>
              <a:ext uri="{FF2B5EF4-FFF2-40B4-BE49-F238E27FC236}">
                <a16:creationId xmlns:a16="http://schemas.microsoft.com/office/drawing/2014/main" id="{43EF9A92-E0B3-767E-ED74-497C52EE29F3}"/>
              </a:ext>
            </a:extLst>
          </p:cNvPr>
          <p:cNvSpPr/>
          <p:nvPr/>
        </p:nvSpPr>
        <p:spPr>
          <a:xfrm>
            <a:off x="8164447" y="5155455"/>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RSS</a:t>
            </a:r>
          </a:p>
        </p:txBody>
      </p:sp>
      <p:sp>
        <p:nvSpPr>
          <p:cNvPr id="57" name="Rectangle 56">
            <a:extLst>
              <a:ext uri="{FF2B5EF4-FFF2-40B4-BE49-F238E27FC236}">
                <a16:creationId xmlns:a16="http://schemas.microsoft.com/office/drawing/2014/main" id="{6706E68C-F9EF-BEB5-9E1E-554798C46EEC}"/>
              </a:ext>
            </a:extLst>
          </p:cNvPr>
          <p:cNvSpPr/>
          <p:nvPr/>
        </p:nvSpPr>
        <p:spPr>
          <a:xfrm>
            <a:off x="8164447" y="5533152"/>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SMS</a:t>
            </a:r>
          </a:p>
        </p:txBody>
      </p:sp>
      <p:sp>
        <p:nvSpPr>
          <p:cNvPr id="58" name="Rectangle 57">
            <a:extLst>
              <a:ext uri="{FF2B5EF4-FFF2-40B4-BE49-F238E27FC236}">
                <a16:creationId xmlns:a16="http://schemas.microsoft.com/office/drawing/2014/main" id="{20F65E03-DD6A-F4BC-5CDA-72A0F1AB25C1}"/>
              </a:ext>
            </a:extLst>
          </p:cNvPr>
          <p:cNvSpPr/>
          <p:nvPr/>
        </p:nvSpPr>
        <p:spPr>
          <a:xfrm>
            <a:off x="8952578" y="5890411"/>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Service Now</a:t>
            </a:r>
          </a:p>
        </p:txBody>
      </p:sp>
      <p:sp>
        <p:nvSpPr>
          <p:cNvPr id="59" name="Rectangle 58">
            <a:extLst>
              <a:ext uri="{FF2B5EF4-FFF2-40B4-BE49-F238E27FC236}">
                <a16:creationId xmlns:a16="http://schemas.microsoft.com/office/drawing/2014/main" id="{7B93860B-4111-9D3B-81A7-9F61BB982ACF}"/>
              </a:ext>
            </a:extLst>
          </p:cNvPr>
          <p:cNvSpPr/>
          <p:nvPr/>
        </p:nvSpPr>
        <p:spPr>
          <a:xfrm>
            <a:off x="1800225" y="2928620"/>
            <a:ext cx="1079500" cy="65849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Security</a:t>
            </a:r>
          </a:p>
        </p:txBody>
      </p:sp>
      <p:sp>
        <p:nvSpPr>
          <p:cNvPr id="60" name="Rectangle 59">
            <a:extLst>
              <a:ext uri="{FF2B5EF4-FFF2-40B4-BE49-F238E27FC236}">
                <a16:creationId xmlns:a16="http://schemas.microsoft.com/office/drawing/2014/main" id="{96590DEA-C550-7945-B7EA-13DEBF0AEBAE}"/>
              </a:ext>
            </a:extLst>
          </p:cNvPr>
          <p:cNvSpPr/>
          <p:nvPr/>
        </p:nvSpPr>
        <p:spPr>
          <a:xfrm>
            <a:off x="1889760" y="3215005"/>
            <a:ext cx="849630" cy="26289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Access</a:t>
            </a:r>
          </a:p>
        </p:txBody>
      </p:sp>
      <p:sp>
        <p:nvSpPr>
          <p:cNvPr id="61" name="Rectangle 60">
            <a:extLst>
              <a:ext uri="{FF2B5EF4-FFF2-40B4-BE49-F238E27FC236}">
                <a16:creationId xmlns:a16="http://schemas.microsoft.com/office/drawing/2014/main" id="{AA9F4D2F-E03F-4AFD-D467-CF0512D75A1E}"/>
              </a:ext>
            </a:extLst>
          </p:cNvPr>
          <p:cNvSpPr/>
          <p:nvPr/>
        </p:nvSpPr>
        <p:spPr>
          <a:xfrm>
            <a:off x="4256405" y="4688840"/>
            <a:ext cx="843280" cy="128333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Automated Use Case:</a:t>
            </a:r>
            <a:br>
              <a:rPr kumimoji="0" lang="en-US" sz="900" b="0" i="0" u="none" strike="noStrike" kern="1200" cap="none" spc="0" normalizeH="0" baseline="0" noProof="0">
                <a:ln>
                  <a:noFill/>
                </a:ln>
                <a:solidFill>
                  <a:srgbClr val="000000"/>
                </a:solidFill>
                <a:effectLst/>
                <a:uLnTx/>
                <a:uFillTx/>
                <a:latin typeface="Graphik"/>
                <a:ea typeface="+mn-ea"/>
                <a:cs typeface="+mn-cs"/>
              </a:rPr>
            </a:br>
            <a:br>
              <a:rPr kumimoji="0" lang="en-US" sz="900" b="0" i="0" u="none" strike="noStrike" kern="1200" cap="none" spc="0" normalizeH="0" baseline="0" noProof="0">
                <a:ln>
                  <a:noFill/>
                </a:ln>
                <a:solidFill>
                  <a:srgbClr val="000000"/>
                </a:solidFill>
                <a:effectLst/>
                <a:uLnTx/>
                <a:uFillTx/>
                <a:latin typeface="Graphik"/>
                <a:ea typeface="+mn-ea"/>
                <a:cs typeface="+mn-cs"/>
              </a:rPr>
            </a:br>
            <a:r>
              <a:rPr kumimoji="0" lang="en-US" altLang="en-US" sz="900" b="0" i="0" u="none" strike="noStrike" kern="1200" cap="none" spc="0" normalizeH="0" baseline="0" noProof="0">
                <a:ln>
                  <a:noFill/>
                </a:ln>
                <a:solidFill>
                  <a:srgbClr val="000000"/>
                </a:solidFill>
                <a:effectLst/>
                <a:uLnTx/>
                <a:uFillTx/>
                <a:latin typeface="Graphik"/>
                <a:ea typeface="+mn-ea"/>
                <a:cs typeface="+mn-cs"/>
              </a:rPr>
              <a:t>- </a:t>
            </a:r>
            <a:r>
              <a:rPr kumimoji="0" lang="en-US" sz="900" b="0" i="0" u="none" strike="noStrike" kern="1200" cap="none" spc="0" normalizeH="0" baseline="0" noProof="0">
                <a:ln>
                  <a:noFill/>
                </a:ln>
                <a:solidFill>
                  <a:srgbClr val="000000"/>
                </a:solidFill>
                <a:effectLst/>
                <a:uLnTx/>
                <a:uFillTx/>
                <a:latin typeface="Graphik"/>
                <a:ea typeface="+mn-ea"/>
                <a:cs typeface="+mn-cs"/>
              </a:rPr>
              <a:t>ML</a:t>
            </a:r>
            <a:br>
              <a:rPr kumimoji="0" lang="en-US" sz="900" b="0" i="0" u="none" strike="noStrike" kern="1200" cap="none" spc="0" normalizeH="0" baseline="0" noProof="0">
                <a:ln>
                  <a:noFill/>
                </a:ln>
                <a:solidFill>
                  <a:srgbClr val="000000"/>
                </a:solidFill>
                <a:effectLst/>
                <a:uLnTx/>
                <a:uFillTx/>
                <a:latin typeface="Graphik"/>
                <a:ea typeface="+mn-ea"/>
                <a:cs typeface="+mn-cs"/>
              </a:rPr>
            </a:br>
            <a:r>
              <a:rPr kumimoji="0" lang="en-US" altLang="en-US" sz="900" b="0" i="0" u="none" strike="noStrike" kern="1200" cap="none" spc="0" normalizeH="0" baseline="0" noProof="0">
                <a:ln>
                  <a:noFill/>
                </a:ln>
                <a:solidFill>
                  <a:srgbClr val="000000"/>
                </a:solidFill>
                <a:effectLst/>
                <a:uLnTx/>
                <a:uFillTx/>
                <a:latin typeface="Graphik"/>
                <a:ea typeface="+mn-ea"/>
                <a:cs typeface="+mn-cs"/>
              </a:rPr>
              <a:t>- </a:t>
            </a:r>
            <a:r>
              <a:rPr kumimoji="0" lang="en-US" sz="900" b="0" i="0" u="none" strike="noStrike" kern="1200" cap="none" spc="0" normalizeH="0" baseline="0" noProof="0">
                <a:ln>
                  <a:noFill/>
                </a:ln>
                <a:solidFill>
                  <a:srgbClr val="000000"/>
                </a:solidFill>
                <a:effectLst/>
                <a:uLnTx/>
                <a:uFillTx/>
                <a:latin typeface="Graphik"/>
                <a:ea typeface="+mn-ea"/>
                <a:cs typeface="+mn-cs"/>
              </a:rPr>
              <a:t>SOAR</a:t>
            </a:r>
            <a:br>
              <a:rPr kumimoji="0" lang="en-US" sz="900" b="0" i="0" u="none" strike="noStrike" kern="1200" cap="none" spc="0" normalizeH="0" baseline="0" noProof="0">
                <a:ln>
                  <a:noFill/>
                </a:ln>
                <a:solidFill>
                  <a:srgbClr val="000000"/>
                </a:solidFill>
                <a:effectLst/>
                <a:uLnTx/>
                <a:uFillTx/>
                <a:latin typeface="Graphik"/>
                <a:ea typeface="+mn-ea"/>
                <a:cs typeface="+mn-cs"/>
              </a:rPr>
            </a:br>
            <a:r>
              <a:rPr kumimoji="0" lang="en-US" altLang="en-US" sz="900" b="0" i="0" u="none" strike="noStrike" kern="1200" cap="none" spc="0" normalizeH="0" baseline="0" noProof="0">
                <a:ln>
                  <a:noFill/>
                </a:ln>
                <a:solidFill>
                  <a:srgbClr val="000000"/>
                </a:solidFill>
                <a:effectLst/>
                <a:uLnTx/>
                <a:uFillTx/>
                <a:latin typeface="Graphik"/>
                <a:ea typeface="+mn-ea"/>
                <a:cs typeface="+mn-cs"/>
              </a:rPr>
              <a:t>- </a:t>
            </a:r>
            <a:r>
              <a:rPr kumimoji="0" lang="en-US" sz="900" b="0" i="0" u="none" strike="noStrike" kern="1200" cap="none" spc="0" normalizeH="0" baseline="0" noProof="0">
                <a:ln>
                  <a:noFill/>
                </a:ln>
                <a:solidFill>
                  <a:srgbClr val="000000"/>
                </a:solidFill>
                <a:effectLst/>
                <a:uLnTx/>
                <a:uFillTx/>
                <a:latin typeface="Graphik"/>
                <a:ea typeface="+mn-ea"/>
                <a:cs typeface="+mn-cs"/>
              </a:rPr>
              <a:t>IA</a:t>
            </a:r>
          </a:p>
        </p:txBody>
      </p:sp>
      <p:sp>
        <p:nvSpPr>
          <p:cNvPr id="62" name="Rectangle 61">
            <a:extLst>
              <a:ext uri="{FF2B5EF4-FFF2-40B4-BE49-F238E27FC236}">
                <a16:creationId xmlns:a16="http://schemas.microsoft.com/office/drawing/2014/main" id="{17B07E57-790B-1D70-D729-CA832A984C91}"/>
              </a:ext>
            </a:extLst>
          </p:cNvPr>
          <p:cNvSpPr/>
          <p:nvPr/>
        </p:nvSpPr>
        <p:spPr>
          <a:xfrm>
            <a:off x="7046574" y="5023058"/>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Business Correlation</a:t>
            </a:r>
          </a:p>
        </p:txBody>
      </p:sp>
      <p:sp>
        <p:nvSpPr>
          <p:cNvPr id="63" name="Rectangle 62">
            <a:extLst>
              <a:ext uri="{FF2B5EF4-FFF2-40B4-BE49-F238E27FC236}">
                <a16:creationId xmlns:a16="http://schemas.microsoft.com/office/drawing/2014/main" id="{62FA7060-719E-B4D4-088B-6E58106D0D15}"/>
              </a:ext>
            </a:extLst>
          </p:cNvPr>
          <p:cNvSpPr/>
          <p:nvPr/>
        </p:nvSpPr>
        <p:spPr>
          <a:xfrm>
            <a:off x="2462167" y="5635210"/>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Incident (Op. Sec, Buss).</a:t>
            </a:r>
          </a:p>
        </p:txBody>
      </p:sp>
      <p:sp>
        <p:nvSpPr>
          <p:cNvPr id="64" name="Rectangle 63">
            <a:extLst>
              <a:ext uri="{FF2B5EF4-FFF2-40B4-BE49-F238E27FC236}">
                <a16:creationId xmlns:a16="http://schemas.microsoft.com/office/drawing/2014/main" id="{6FD01F8D-B17E-9BF8-12AF-12B98469146F}"/>
              </a:ext>
            </a:extLst>
          </p:cNvPr>
          <p:cNvSpPr/>
          <p:nvPr/>
        </p:nvSpPr>
        <p:spPr>
          <a:xfrm>
            <a:off x="8164447" y="5887664"/>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Web Socket</a:t>
            </a:r>
          </a:p>
        </p:txBody>
      </p:sp>
      <p:cxnSp>
        <p:nvCxnSpPr>
          <p:cNvPr id="65" name="Connector: Elbow 140">
            <a:extLst>
              <a:ext uri="{FF2B5EF4-FFF2-40B4-BE49-F238E27FC236}">
                <a16:creationId xmlns:a16="http://schemas.microsoft.com/office/drawing/2014/main" id="{1BC71F56-AB6B-9E7F-6392-81EB824AE235}"/>
              </a:ext>
            </a:extLst>
          </p:cNvPr>
          <p:cNvCxnSpPr>
            <a:stCxn id="11" idx="3"/>
            <a:endCxn id="54" idx="0"/>
          </p:cNvCxnSpPr>
          <p:nvPr/>
        </p:nvCxnSpPr>
        <p:spPr>
          <a:xfrm flipV="1">
            <a:off x="7919720" y="4514215"/>
            <a:ext cx="1012190" cy="747395"/>
          </a:xfrm>
          <a:prstGeom prst="bentConnector4">
            <a:avLst>
              <a:gd name="adj1" fmla="val 6023"/>
              <a:gd name="adj2" fmla="val 124214"/>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01D741BD-5463-61B7-E514-7DBEE7546B10}"/>
              </a:ext>
            </a:extLst>
          </p:cNvPr>
          <p:cNvSpPr/>
          <p:nvPr/>
        </p:nvSpPr>
        <p:spPr>
          <a:xfrm>
            <a:off x="5173439" y="3470578"/>
            <a:ext cx="1141171" cy="2880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ITSM</a:t>
            </a:r>
          </a:p>
        </p:txBody>
      </p:sp>
      <p:sp>
        <p:nvSpPr>
          <p:cNvPr id="67" name="Rectangle 66">
            <a:extLst>
              <a:ext uri="{FF2B5EF4-FFF2-40B4-BE49-F238E27FC236}">
                <a16:creationId xmlns:a16="http://schemas.microsoft.com/office/drawing/2014/main" id="{80AB594C-0A35-CF11-E45F-3357FF496120}"/>
              </a:ext>
            </a:extLst>
          </p:cNvPr>
          <p:cNvSpPr/>
          <p:nvPr/>
        </p:nvSpPr>
        <p:spPr>
          <a:xfrm>
            <a:off x="3281886" y="5624939"/>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DevOps</a:t>
            </a:r>
          </a:p>
        </p:txBody>
      </p:sp>
      <p:sp>
        <p:nvSpPr>
          <p:cNvPr id="68" name="Rectangle 67">
            <a:extLst>
              <a:ext uri="{FF2B5EF4-FFF2-40B4-BE49-F238E27FC236}">
                <a16:creationId xmlns:a16="http://schemas.microsoft.com/office/drawing/2014/main" id="{E384B292-8ACD-4A66-2611-60DF4658F985}"/>
              </a:ext>
            </a:extLst>
          </p:cNvPr>
          <p:cNvSpPr/>
          <p:nvPr/>
        </p:nvSpPr>
        <p:spPr>
          <a:xfrm>
            <a:off x="5182730" y="3824502"/>
            <a:ext cx="1141171" cy="2880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FinOps</a:t>
            </a:r>
          </a:p>
        </p:txBody>
      </p:sp>
      <p:sp>
        <p:nvSpPr>
          <p:cNvPr id="69" name="Rectangle 68">
            <a:extLst>
              <a:ext uri="{FF2B5EF4-FFF2-40B4-BE49-F238E27FC236}">
                <a16:creationId xmlns:a16="http://schemas.microsoft.com/office/drawing/2014/main" id="{40D4A08D-720C-DAA0-C50A-BA01FB2F830D}"/>
              </a:ext>
            </a:extLst>
          </p:cNvPr>
          <p:cNvSpPr/>
          <p:nvPr/>
        </p:nvSpPr>
        <p:spPr>
          <a:xfrm>
            <a:off x="1583637" y="6082159"/>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Cloud Security</a:t>
            </a:r>
          </a:p>
        </p:txBody>
      </p:sp>
      <p:sp>
        <p:nvSpPr>
          <p:cNvPr id="70" name="TextBox 69">
            <a:extLst>
              <a:ext uri="{FF2B5EF4-FFF2-40B4-BE49-F238E27FC236}">
                <a16:creationId xmlns:a16="http://schemas.microsoft.com/office/drawing/2014/main" id="{BC8CF9A6-643E-30D0-469E-D212AFCC7DD0}"/>
              </a:ext>
            </a:extLst>
          </p:cNvPr>
          <p:cNvSpPr txBox="1"/>
          <p:nvPr/>
        </p:nvSpPr>
        <p:spPr>
          <a:xfrm>
            <a:off x="11413067" y="2125133"/>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71" name="TextBox 70">
            <a:extLst>
              <a:ext uri="{FF2B5EF4-FFF2-40B4-BE49-F238E27FC236}">
                <a16:creationId xmlns:a16="http://schemas.microsoft.com/office/drawing/2014/main" id="{F53F06E0-163B-EC7B-4BED-10162CFE16A9}"/>
              </a:ext>
            </a:extLst>
          </p:cNvPr>
          <p:cNvSpPr txBox="1"/>
          <p:nvPr/>
        </p:nvSpPr>
        <p:spPr>
          <a:xfrm>
            <a:off x="11379200" y="2429933"/>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72" name="Can 172">
            <a:extLst>
              <a:ext uri="{FF2B5EF4-FFF2-40B4-BE49-F238E27FC236}">
                <a16:creationId xmlns:a16="http://schemas.microsoft.com/office/drawing/2014/main" id="{AE1E49C2-0206-D95D-57F9-A496FA637130}"/>
              </a:ext>
            </a:extLst>
          </p:cNvPr>
          <p:cNvSpPr/>
          <p:nvPr/>
        </p:nvSpPr>
        <p:spPr bwMode="auto">
          <a:xfrm>
            <a:off x="5230495" y="4469130"/>
            <a:ext cx="481330" cy="1603375"/>
          </a:xfrm>
          <a:prstGeom prst="can">
            <a:avLst>
              <a:gd name="adj" fmla="val 74823"/>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Data Processing (Tables, Correlation, </a:t>
            </a:r>
            <a:r>
              <a:rPr kumimoji="0" lang="en-US" sz="900" b="0" i="0" u="none" strike="noStrike" kern="1200" cap="none" spc="0" normalizeH="0" baseline="0" noProof="0" err="1">
                <a:ln>
                  <a:noFill/>
                </a:ln>
                <a:solidFill>
                  <a:srgbClr val="FFFFFF"/>
                </a:solidFill>
                <a:effectLst/>
                <a:uLnTx/>
                <a:uFillTx/>
                <a:latin typeface="Graphik"/>
                <a:ea typeface="+mn-ea"/>
                <a:cs typeface="+mn-cs"/>
              </a:rPr>
              <a:t>etc</a:t>
            </a:r>
            <a:r>
              <a:rPr kumimoji="0" lang="en-US" sz="900" b="0" i="0" u="none" strike="noStrike" kern="1200" cap="none" spc="0" normalizeH="0" baseline="0" noProof="0">
                <a:ln>
                  <a:noFill/>
                </a:ln>
                <a:solidFill>
                  <a:srgbClr val="FFFFFF"/>
                </a:solidFill>
                <a:effectLst/>
                <a:uLnTx/>
                <a:uFillTx/>
                <a:latin typeface="Graphik"/>
                <a:ea typeface="+mn-ea"/>
                <a:cs typeface="+mn-cs"/>
              </a:rPr>
              <a:t>).</a:t>
            </a:r>
          </a:p>
        </p:txBody>
      </p:sp>
      <p:sp>
        <p:nvSpPr>
          <p:cNvPr id="73" name="Rectangle 72">
            <a:extLst>
              <a:ext uri="{FF2B5EF4-FFF2-40B4-BE49-F238E27FC236}">
                <a16:creationId xmlns:a16="http://schemas.microsoft.com/office/drawing/2014/main" id="{9AC5B727-22BC-9B6D-542F-7BD3CC274905}"/>
              </a:ext>
            </a:extLst>
          </p:cNvPr>
          <p:cNvSpPr/>
          <p:nvPr/>
        </p:nvSpPr>
        <p:spPr>
          <a:xfrm>
            <a:off x="8880136" y="656065"/>
            <a:ext cx="2880000" cy="180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Main components of this capability</a:t>
            </a:r>
          </a:p>
        </p:txBody>
      </p:sp>
      <p:sp>
        <p:nvSpPr>
          <p:cNvPr id="74" name="Rectangle 73">
            <a:extLst>
              <a:ext uri="{FF2B5EF4-FFF2-40B4-BE49-F238E27FC236}">
                <a16:creationId xmlns:a16="http://schemas.microsoft.com/office/drawing/2014/main" id="{4CE60FFC-F622-7976-D2D2-9BC7E5F44B55}"/>
              </a:ext>
            </a:extLst>
          </p:cNvPr>
          <p:cNvSpPr/>
          <p:nvPr/>
        </p:nvSpPr>
        <p:spPr>
          <a:xfrm>
            <a:off x="8880136" y="890217"/>
            <a:ext cx="2880000" cy="18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Components of other related capabilities</a:t>
            </a:r>
          </a:p>
        </p:txBody>
      </p:sp>
      <p:sp>
        <p:nvSpPr>
          <p:cNvPr id="75" name="Rectangle 74">
            <a:extLst>
              <a:ext uri="{FF2B5EF4-FFF2-40B4-BE49-F238E27FC236}">
                <a16:creationId xmlns:a16="http://schemas.microsoft.com/office/drawing/2014/main" id="{571A483F-8838-93BB-6CAA-B72B6E6E5985}"/>
              </a:ext>
            </a:extLst>
          </p:cNvPr>
          <p:cNvSpPr/>
          <p:nvPr/>
        </p:nvSpPr>
        <p:spPr>
          <a:xfrm>
            <a:off x="8880136" y="1106642"/>
            <a:ext cx="288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Functional Components related to this capability</a:t>
            </a:r>
          </a:p>
        </p:txBody>
      </p:sp>
      <p:sp>
        <p:nvSpPr>
          <p:cNvPr id="76" name="TextBox 75">
            <a:extLst>
              <a:ext uri="{FF2B5EF4-FFF2-40B4-BE49-F238E27FC236}">
                <a16:creationId xmlns:a16="http://schemas.microsoft.com/office/drawing/2014/main" id="{4BC4EB07-3C0C-6342-33BD-29B05C572766}"/>
              </a:ext>
            </a:extLst>
          </p:cNvPr>
          <p:cNvSpPr txBox="1"/>
          <p:nvPr/>
        </p:nvSpPr>
        <p:spPr>
          <a:xfrm>
            <a:off x="10038945" y="3492230"/>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77" name="Rectangle 76">
            <a:extLst>
              <a:ext uri="{FF2B5EF4-FFF2-40B4-BE49-F238E27FC236}">
                <a16:creationId xmlns:a16="http://schemas.microsoft.com/office/drawing/2014/main" id="{82030910-F5C7-9346-699F-08A5E793A66A}"/>
              </a:ext>
            </a:extLst>
          </p:cNvPr>
          <p:cNvSpPr/>
          <p:nvPr/>
        </p:nvSpPr>
        <p:spPr>
          <a:xfrm>
            <a:off x="400050" y="5784215"/>
            <a:ext cx="923925" cy="229235"/>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900" b="0" i="0" u="none" strike="noStrike" kern="1200" cap="none" spc="0" normalizeH="0" baseline="0" noProof="0">
                <a:ln>
                  <a:noFill/>
                </a:ln>
                <a:solidFill>
                  <a:srgbClr val="000000"/>
                </a:solidFill>
                <a:effectLst/>
                <a:uLnTx/>
                <a:uFillTx/>
                <a:latin typeface="Graphik"/>
                <a:ea typeface="+mn-ea"/>
                <a:cs typeface="+mn-cs"/>
                <a:sym typeface="+mn-ea"/>
              </a:rPr>
              <a:t>OpenShift</a:t>
            </a:r>
          </a:p>
        </p:txBody>
      </p:sp>
      <p:cxnSp>
        <p:nvCxnSpPr>
          <p:cNvPr id="78" name="Connector: Elbow 140">
            <a:extLst>
              <a:ext uri="{FF2B5EF4-FFF2-40B4-BE49-F238E27FC236}">
                <a16:creationId xmlns:a16="http://schemas.microsoft.com/office/drawing/2014/main" id="{2EF6E7DC-6C2A-F7CC-825B-A8993B44D8C5}"/>
              </a:ext>
            </a:extLst>
          </p:cNvPr>
          <p:cNvCxnSpPr/>
          <p:nvPr/>
        </p:nvCxnSpPr>
        <p:spPr>
          <a:xfrm rot="10800000" flipH="1">
            <a:off x="400050" y="1069975"/>
            <a:ext cx="3307715" cy="4131310"/>
          </a:xfrm>
          <a:prstGeom prst="bentConnector4">
            <a:avLst>
              <a:gd name="adj1" fmla="val -7199"/>
              <a:gd name="adj2" fmla="val 102766"/>
            </a:avLst>
          </a:prstGeom>
          <a:ln w="9525">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9" name="Rectangle 78">
            <a:extLst>
              <a:ext uri="{FF2B5EF4-FFF2-40B4-BE49-F238E27FC236}">
                <a16:creationId xmlns:a16="http://schemas.microsoft.com/office/drawing/2014/main" id="{1B5FF9B4-5032-F540-04E4-ACBEFA7A2DF0}"/>
              </a:ext>
            </a:extLst>
          </p:cNvPr>
          <p:cNvSpPr/>
          <p:nvPr/>
        </p:nvSpPr>
        <p:spPr>
          <a:xfrm>
            <a:off x="400050" y="5413375"/>
            <a:ext cx="924560" cy="27813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900" b="0" i="0" u="none" strike="noStrike" kern="1200" cap="none" spc="0" normalizeH="0" baseline="0" noProof="0">
                <a:ln>
                  <a:noFill/>
                </a:ln>
                <a:solidFill>
                  <a:srgbClr val="000000"/>
                </a:solidFill>
                <a:effectLst/>
                <a:uLnTx/>
                <a:uFillTx/>
                <a:latin typeface="Graphik"/>
                <a:ea typeface="+mn-ea"/>
                <a:cs typeface="+mn-cs"/>
                <a:sym typeface="+mn-ea"/>
              </a:rPr>
              <a:t>Microservi</a:t>
            </a:r>
            <a:r>
              <a:rPr kumimoji="0" lang="en-US" altLang="en-US" sz="900" b="0" i="0" u="none" strike="noStrike" kern="1200" cap="none" spc="0" normalizeH="0" baseline="0" noProof="0">
                <a:ln>
                  <a:noFill/>
                </a:ln>
                <a:solidFill>
                  <a:srgbClr val="000000"/>
                </a:solidFill>
                <a:effectLst/>
                <a:uLnTx/>
                <a:uFillTx/>
                <a:latin typeface="Graphik"/>
                <a:ea typeface="+mn-ea"/>
                <a:cs typeface="+mn-cs"/>
                <a:sym typeface="+mn-ea"/>
              </a:rPr>
              <a:t>ces</a:t>
            </a:r>
          </a:p>
        </p:txBody>
      </p:sp>
      <p:sp>
        <p:nvSpPr>
          <p:cNvPr id="80" name="Rectangle 79">
            <a:extLst>
              <a:ext uri="{FF2B5EF4-FFF2-40B4-BE49-F238E27FC236}">
                <a16:creationId xmlns:a16="http://schemas.microsoft.com/office/drawing/2014/main" id="{5C1F9CCD-944D-9BF2-E670-186125B9688D}"/>
              </a:ext>
            </a:extLst>
          </p:cNvPr>
          <p:cNvSpPr/>
          <p:nvPr/>
        </p:nvSpPr>
        <p:spPr>
          <a:xfrm>
            <a:off x="400050" y="5127625"/>
            <a:ext cx="923925" cy="19177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0" i="0" u="none" strike="noStrike" kern="1200" cap="none" spc="0" normalizeH="0" baseline="0" noProof="0">
                <a:ln>
                  <a:noFill/>
                </a:ln>
                <a:solidFill>
                  <a:srgbClr val="000000"/>
                </a:solidFill>
                <a:effectLst/>
                <a:uLnTx/>
                <a:uFillTx/>
                <a:latin typeface="Graphik"/>
                <a:ea typeface="+mn-ea"/>
                <a:cs typeface="+mn-cs"/>
                <a:sym typeface="+mn-ea"/>
              </a:rPr>
              <a:t>Channels</a:t>
            </a:r>
          </a:p>
        </p:txBody>
      </p:sp>
      <p:sp>
        <p:nvSpPr>
          <p:cNvPr id="81" name="Rectangle 1060">
            <a:extLst>
              <a:ext uri="{FF2B5EF4-FFF2-40B4-BE49-F238E27FC236}">
                <a16:creationId xmlns:a16="http://schemas.microsoft.com/office/drawing/2014/main" id="{CD34E762-4835-56FB-99FB-6D30F41C3DC9}"/>
              </a:ext>
            </a:extLst>
          </p:cNvPr>
          <p:cNvSpPr/>
          <p:nvPr/>
        </p:nvSpPr>
        <p:spPr>
          <a:xfrm>
            <a:off x="8870611" y="1332702"/>
            <a:ext cx="2880000" cy="18000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900" b="0" i="0" u="none" strike="noStrike" kern="1200" cap="none" spc="0" normalizeH="0" baseline="0" noProof="0" dirty="0">
                <a:ln>
                  <a:noFill/>
                </a:ln>
                <a:solidFill>
                  <a:srgbClr val="000000"/>
                </a:solidFill>
                <a:effectLst/>
                <a:uLnTx/>
                <a:uFillTx/>
                <a:latin typeface="Graphik"/>
                <a:ea typeface="+mn-ea"/>
                <a:cs typeface="+mn-cs"/>
              </a:rPr>
              <a:t>Current components</a:t>
            </a:r>
          </a:p>
        </p:txBody>
      </p:sp>
      <p:cxnSp>
        <p:nvCxnSpPr>
          <p:cNvPr id="82" name="Straight Arrow Connector 59">
            <a:extLst>
              <a:ext uri="{FF2B5EF4-FFF2-40B4-BE49-F238E27FC236}">
                <a16:creationId xmlns:a16="http://schemas.microsoft.com/office/drawing/2014/main" id="{744FED20-BE05-CBDF-AFA0-5D89AE3906D6}"/>
              </a:ext>
            </a:extLst>
          </p:cNvPr>
          <p:cNvCxnSpPr/>
          <p:nvPr/>
        </p:nvCxnSpPr>
        <p:spPr>
          <a:xfrm>
            <a:off x="712451" y="1964616"/>
            <a:ext cx="268605" cy="698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59">
            <a:extLst>
              <a:ext uri="{FF2B5EF4-FFF2-40B4-BE49-F238E27FC236}">
                <a16:creationId xmlns:a16="http://schemas.microsoft.com/office/drawing/2014/main" id="{33F7ACE9-0157-D001-4767-18395F5D9BF5}"/>
              </a:ext>
            </a:extLst>
          </p:cNvPr>
          <p:cNvCxnSpPr>
            <a:stCxn id="43" idx="0"/>
            <a:endCxn id="37" idx="2"/>
          </p:cNvCxnSpPr>
          <p:nvPr/>
        </p:nvCxnSpPr>
        <p:spPr>
          <a:xfrm flipH="1" flipV="1">
            <a:off x="2203431" y="1468046"/>
            <a:ext cx="1905" cy="28194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59">
            <a:extLst>
              <a:ext uri="{FF2B5EF4-FFF2-40B4-BE49-F238E27FC236}">
                <a16:creationId xmlns:a16="http://schemas.microsoft.com/office/drawing/2014/main" id="{9D1DB1A9-444B-551F-AA6F-F6B8CDB71684}"/>
              </a:ext>
            </a:extLst>
          </p:cNvPr>
          <p:cNvCxnSpPr>
            <a:stCxn id="37" idx="3"/>
            <a:endCxn id="14" idx="1"/>
          </p:cNvCxnSpPr>
          <p:nvPr/>
        </p:nvCxnSpPr>
        <p:spPr>
          <a:xfrm>
            <a:off x="2625706" y="1297231"/>
            <a:ext cx="407035" cy="127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A84FE9D9-54F9-6D95-1B0D-0A8ADA4DFE10}"/>
              </a:ext>
            </a:extLst>
          </p:cNvPr>
          <p:cNvSpPr txBox="1"/>
          <p:nvPr/>
        </p:nvSpPr>
        <p:spPr>
          <a:xfrm>
            <a:off x="8900795" y="1629410"/>
            <a:ext cx="2868295" cy="2840355"/>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Notes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es-MX" sz="1000" b="0" i="0" u="none" strike="noStrike" kern="1200" cap="none" spc="0" normalizeH="0" baseline="0" noProof="0" dirty="0">
                <a:ln>
                  <a:noFill/>
                </a:ln>
                <a:solidFill>
                  <a:srgbClr val="000000"/>
                </a:solidFill>
                <a:effectLst/>
                <a:uLnTx/>
                <a:uFillTx/>
                <a:latin typeface="Graphik"/>
                <a:ea typeface="+mn-ea"/>
                <a:cs typeface="+mn-cs"/>
              </a:rPr>
              <a:t>Green lines represent the current data flow.</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es-MX" sz="1000" b="0" i="0" u="none" strike="noStrike" kern="1200" cap="none" spc="0" normalizeH="0" baseline="0" noProof="0" dirty="0">
                <a:ln>
                  <a:noFill/>
                </a:ln>
                <a:solidFill>
                  <a:srgbClr val="000000"/>
                </a:solidFill>
                <a:effectLst/>
                <a:uLnTx/>
                <a:uFillTx/>
                <a:latin typeface="Graphik"/>
                <a:ea typeface="+mn-ea"/>
                <a:cs typeface="+mn-cs"/>
              </a:rPr>
              <a:t>There are current performance problems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es-MX" sz="1000" b="0" i="0" u="none" strike="noStrike" kern="1200" cap="none" spc="0" normalizeH="0" baseline="0" noProof="0" dirty="0">
                <a:ln>
                  <a:noFill/>
                </a:ln>
                <a:solidFill>
                  <a:srgbClr val="000000"/>
                </a:solidFill>
                <a:effectLst/>
                <a:uLnTx/>
                <a:uFillTx/>
                <a:latin typeface="Graphik"/>
                <a:ea typeface="+mn-ea"/>
                <a:cs typeface="+mn-cs"/>
              </a:rPr>
              <a:t>A capacity plan must be designed (Measure EPS).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es-MX" sz="1000" b="0" i="0" u="none" strike="noStrike" kern="1200" cap="none" spc="0" normalizeH="0" baseline="0" noProof="0" dirty="0">
                <a:ln>
                  <a:noFill/>
                </a:ln>
                <a:solidFill>
                  <a:srgbClr val="000000"/>
                </a:solidFill>
                <a:effectLst/>
                <a:uLnTx/>
                <a:uFillTx/>
                <a:latin typeface="Graphik"/>
                <a:ea typeface="+mn-ea"/>
                <a:cs typeface="+mn-cs"/>
              </a:rPr>
              <a:t>Currently, there is no observability on </a:t>
            </a:r>
            <a:r>
              <a:rPr kumimoji="0" lang="en-US" altLang="en-US" sz="1000" b="0" i="0" u="none" strike="noStrike" kern="1200" cap="none" spc="0" normalizeH="0" baseline="0" noProof="0" dirty="0">
                <a:ln>
                  <a:noFill/>
                </a:ln>
                <a:solidFill>
                  <a:srgbClr val="000000"/>
                </a:solidFill>
                <a:effectLst/>
                <a:uLnTx/>
                <a:uFillTx/>
                <a:latin typeface="Graphik"/>
                <a:ea typeface="+mn-ea"/>
                <a:cs typeface="+mn-cs"/>
              </a:rPr>
              <a:t>security</a:t>
            </a:r>
            <a:r>
              <a:rPr kumimoji="0" lang="en-US" altLang="es-MX" sz="1000" b="0" i="0" u="none" strike="noStrike" kern="1200" cap="none" spc="0" normalizeH="0" baseline="0" noProof="0" dirty="0">
                <a:ln>
                  <a:noFill/>
                </a:ln>
                <a:solidFill>
                  <a:srgbClr val="000000"/>
                </a:solidFill>
                <a:effectLst/>
                <a:uLnTx/>
                <a:uFillTx/>
                <a:latin typeface="Graphik"/>
                <a:ea typeface="+mn-ea"/>
                <a:cs typeface="+mn-cs"/>
              </a:rPr>
              <a:t>, infrastructure or business.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es-MX" sz="1000" b="0" i="0" u="none" strike="noStrike" kern="1200" cap="none" spc="0" normalizeH="0" baseline="0" noProof="0" dirty="0">
                <a:ln>
                  <a:noFill/>
                </a:ln>
                <a:solidFill>
                  <a:srgbClr val="000000"/>
                </a:solidFill>
                <a:effectLst/>
                <a:uLnTx/>
                <a:uFillTx/>
                <a:latin typeface="Graphik"/>
                <a:ea typeface="+mn-ea"/>
                <a:cs typeface="+mn-cs"/>
              </a:rPr>
              <a:t>It is necessary to analyze, design and implement the necessary use cases for interoperability.</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es-MX" sz="1000" b="0" i="0" u="none" strike="noStrike" kern="1200" cap="none" spc="0" normalizeH="0" baseline="0" noProof="0" dirty="0">
                <a:ln>
                  <a:noFill/>
                </a:ln>
                <a:solidFill>
                  <a:srgbClr val="000000"/>
                </a:solidFill>
                <a:effectLst/>
                <a:uLnTx/>
                <a:uFillTx/>
                <a:latin typeface="Graphik"/>
                <a:ea typeface="+mn-ea"/>
                <a:cs typeface="+mn-cs"/>
              </a:rPr>
              <a:t>Although current capabilities exist, they do not meet the necessary architecture for interoperability.</a:t>
            </a:r>
          </a:p>
        </p:txBody>
      </p:sp>
      <p:cxnSp>
        <p:nvCxnSpPr>
          <p:cNvPr id="86" name="Connector: Elbow 140">
            <a:extLst>
              <a:ext uri="{FF2B5EF4-FFF2-40B4-BE49-F238E27FC236}">
                <a16:creationId xmlns:a16="http://schemas.microsoft.com/office/drawing/2014/main" id="{7D3DBDA7-E3B3-7C25-810F-32FB83A3FE4F}"/>
              </a:ext>
            </a:extLst>
          </p:cNvPr>
          <p:cNvCxnSpPr>
            <a:endCxn id="8" idx="3"/>
          </p:cNvCxnSpPr>
          <p:nvPr/>
        </p:nvCxnSpPr>
        <p:spPr>
          <a:xfrm rot="16200000">
            <a:off x="5936615" y="3771900"/>
            <a:ext cx="559435" cy="353060"/>
          </a:xfrm>
          <a:prstGeom prst="bentConnector4">
            <a:avLst>
              <a:gd name="adj1" fmla="val 7435"/>
              <a:gd name="adj2" fmla="val 177248"/>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54661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F8B67-FA34-6902-B520-9E031199960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6EE023D-D10B-9849-6C2B-08E17C1A8EC5}"/>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All rights reserved.</a:t>
            </a:r>
          </a:p>
        </p:txBody>
      </p:sp>
      <p:sp>
        <p:nvSpPr>
          <p:cNvPr id="118" name="Title 1">
            <a:extLst>
              <a:ext uri="{FF2B5EF4-FFF2-40B4-BE49-F238E27FC236}">
                <a16:creationId xmlns:a16="http://schemas.microsoft.com/office/drawing/2014/main" id="{2CCCDEB8-AB19-8870-74FD-E37E3AC7B042}"/>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Interoperability Asset </a:t>
            </a:r>
            <a:r>
              <a:rPr kumimoji="0" lang="en-US" sz="2400" b="1" i="0" u="none" strike="noStrike" kern="1200" cap="none" spc="0" normalizeH="0" baseline="0" noProof="0">
                <a:ln>
                  <a:noFill/>
                </a:ln>
                <a:solidFill>
                  <a:srgbClr val="000000"/>
                </a:solidFill>
                <a:effectLst/>
                <a:uLnTx/>
                <a:uFillTx/>
                <a:latin typeface="Graphik"/>
                <a:ea typeface="+mj-ea"/>
                <a:cs typeface="+mj-cs"/>
              </a:rPr>
              <a:t>| Gateway Services</a:t>
            </a:r>
          </a:p>
        </p:txBody>
      </p:sp>
      <p:sp>
        <p:nvSpPr>
          <p:cNvPr id="119" name="Content Placeholder 34">
            <a:extLst>
              <a:ext uri="{FF2B5EF4-FFF2-40B4-BE49-F238E27FC236}">
                <a16:creationId xmlns:a16="http://schemas.microsoft.com/office/drawing/2014/main" id="{C4E806CC-DEAA-6D35-D40F-072458FB10C2}"/>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Main components</a:t>
            </a:r>
          </a:p>
        </p:txBody>
      </p:sp>
      <p:grpSp>
        <p:nvGrpSpPr>
          <p:cNvPr id="4" name="Group 3">
            <a:extLst>
              <a:ext uri="{FF2B5EF4-FFF2-40B4-BE49-F238E27FC236}">
                <a16:creationId xmlns:a16="http://schemas.microsoft.com/office/drawing/2014/main" id="{FF8BF94D-AF7E-F011-05DC-7300AB11124B}"/>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FC60861A-E3B5-F0F8-F6A0-41773B10E059}"/>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Illustrative non exhaustive</a:t>
              </a:r>
            </a:p>
          </p:txBody>
        </p:sp>
        <p:cxnSp>
          <p:nvCxnSpPr>
            <p:cNvPr id="6" name="Straight Connector 5">
              <a:extLst>
                <a:ext uri="{FF2B5EF4-FFF2-40B4-BE49-F238E27FC236}">
                  <a16:creationId xmlns:a16="http://schemas.microsoft.com/office/drawing/2014/main" id="{DAFDD7A3-81E7-14C3-8C91-78ED46F4F8D2}"/>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A8A0611-ED87-AAB7-5D73-B5E676D41F13}"/>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EBA4F97A-4529-5B1F-C3ED-56C2A62AF8E0}"/>
              </a:ext>
            </a:extLst>
          </p:cNvPr>
          <p:cNvSpPr/>
          <p:nvPr/>
        </p:nvSpPr>
        <p:spPr>
          <a:xfrm>
            <a:off x="400050" y="2934970"/>
            <a:ext cx="5334635" cy="100838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Core Services</a:t>
            </a:r>
          </a:p>
        </p:txBody>
      </p:sp>
      <p:sp>
        <p:nvSpPr>
          <p:cNvPr id="9" name="Rectangle 8">
            <a:extLst>
              <a:ext uri="{FF2B5EF4-FFF2-40B4-BE49-F238E27FC236}">
                <a16:creationId xmlns:a16="http://schemas.microsoft.com/office/drawing/2014/main" id="{84E46FC8-6374-8C53-4912-1D4EED129FE7}"/>
              </a:ext>
            </a:extLst>
          </p:cNvPr>
          <p:cNvSpPr/>
          <p:nvPr/>
        </p:nvSpPr>
        <p:spPr>
          <a:xfrm>
            <a:off x="400050" y="2268855"/>
            <a:ext cx="5334000" cy="55372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Gateway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Services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Inbound</a:t>
            </a:r>
          </a:p>
        </p:txBody>
      </p:sp>
      <p:sp>
        <p:nvSpPr>
          <p:cNvPr id="10" name="Rectangle 9">
            <a:extLst>
              <a:ext uri="{FF2B5EF4-FFF2-40B4-BE49-F238E27FC236}">
                <a16:creationId xmlns:a16="http://schemas.microsoft.com/office/drawing/2014/main" id="{A7C25BCA-C6AE-8FB2-AE54-3F0B124D25FF}"/>
              </a:ext>
            </a:extLst>
          </p:cNvPr>
          <p:cNvSpPr/>
          <p:nvPr/>
        </p:nvSpPr>
        <p:spPr>
          <a:xfrm>
            <a:off x="1090898" y="2597124"/>
            <a:ext cx="1260000" cy="18000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900" b="0" i="0" u="none" strike="noStrike" kern="1200" cap="none" spc="0" normalizeH="0" baseline="0" noProof="0">
                <a:ln>
                  <a:noFill/>
                </a:ln>
                <a:solidFill>
                  <a:srgbClr val="000000"/>
                </a:solidFill>
                <a:effectLst/>
                <a:uLnTx/>
                <a:uFillTx/>
                <a:latin typeface="Graphik"/>
                <a:ea typeface="+mn-ea"/>
                <a:cs typeface="+mn-cs"/>
                <a:sym typeface="+mn-ea"/>
              </a:rPr>
              <a:t>API Gateway</a:t>
            </a:r>
          </a:p>
        </p:txBody>
      </p:sp>
      <p:sp>
        <p:nvSpPr>
          <p:cNvPr id="11" name="Rectangle 10">
            <a:extLst>
              <a:ext uri="{FF2B5EF4-FFF2-40B4-BE49-F238E27FC236}">
                <a16:creationId xmlns:a16="http://schemas.microsoft.com/office/drawing/2014/main" id="{CD0411E4-3BCB-186A-373F-F8DF78F723BE}"/>
              </a:ext>
            </a:extLst>
          </p:cNvPr>
          <p:cNvSpPr/>
          <p:nvPr/>
        </p:nvSpPr>
        <p:spPr>
          <a:xfrm>
            <a:off x="1136239" y="1655664"/>
            <a:ext cx="1440000" cy="252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Digital Channels</a:t>
            </a:r>
          </a:p>
        </p:txBody>
      </p:sp>
      <p:sp>
        <p:nvSpPr>
          <p:cNvPr id="12" name="TextBox 11">
            <a:extLst>
              <a:ext uri="{FF2B5EF4-FFF2-40B4-BE49-F238E27FC236}">
                <a16:creationId xmlns:a16="http://schemas.microsoft.com/office/drawing/2014/main" id="{EF115ADE-F187-2288-C45C-617C1BC83641}"/>
              </a:ext>
            </a:extLst>
          </p:cNvPr>
          <p:cNvSpPr txBox="1"/>
          <p:nvPr/>
        </p:nvSpPr>
        <p:spPr>
          <a:xfrm>
            <a:off x="8096250" y="769620"/>
            <a:ext cx="3804285" cy="4222115"/>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Graphik"/>
                <a:ea typeface="+mn-ea"/>
                <a:cs typeface="+mn-cs"/>
              </a:rPr>
              <a:t>Notes: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The bank communicates with external systems using different mechanisms</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API calls</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Events (in different technologies (MQ</a:t>
            </a:r>
            <a:r>
              <a:rPr kumimoji="0" lang="es-MX" altLang="en-US" sz="1000" b="0" i="0" u="none" strike="noStrike" kern="1200" cap="none" spc="0" normalizeH="0" baseline="0" noProof="0" dirty="0">
                <a:ln>
                  <a:noFill/>
                </a:ln>
                <a:solidFill>
                  <a:srgbClr val="000000"/>
                </a:solidFill>
                <a:effectLst/>
                <a:uLnTx/>
                <a:uFillTx/>
                <a:latin typeface="Graphik"/>
                <a:ea typeface="+mn-ea"/>
                <a:cs typeface="+mn-cs"/>
              </a:rPr>
              <a:t> and </a:t>
            </a:r>
            <a:r>
              <a:rPr kumimoji="0" lang="es-MX" altLang="en-US" sz="1000" b="0" i="0" u="none" strike="noStrike" kern="1200" cap="none" spc="0" normalizeH="0" baseline="0" noProof="0" dirty="0" err="1">
                <a:ln>
                  <a:noFill/>
                </a:ln>
                <a:solidFill>
                  <a:srgbClr val="000000"/>
                </a:solidFill>
                <a:effectLst/>
                <a:uLnTx/>
                <a:uFillTx/>
                <a:latin typeface="Graphik"/>
                <a:ea typeface="+mn-ea"/>
                <a:cs typeface="+mn-cs"/>
              </a:rPr>
              <a:t>Apigee</a:t>
            </a:r>
            <a:r>
              <a:rPr kumimoji="0" lang="es-MX" altLang="en-US" sz="1000" b="0" i="0" u="none" strike="noStrike" kern="1200" cap="none" spc="0" normalizeH="0" baseline="0" noProof="0" dirty="0">
                <a:ln>
                  <a:noFill/>
                </a:ln>
                <a:solidFill>
                  <a:srgbClr val="000000"/>
                </a:solidFill>
                <a:effectLst/>
                <a:uLnTx/>
                <a:uFillTx/>
                <a:latin typeface="Graphik"/>
                <a:ea typeface="+mn-ea"/>
                <a:cs typeface="+mn-cs"/>
              </a:rPr>
              <a:t>).</a:t>
            </a:r>
            <a:endParaRPr kumimoji="0" lang="en-US" sz="1000" b="0" i="0" u="none" strike="noStrike" kern="1200" cap="none" spc="0" normalizeH="0" baseline="0" noProof="0" dirty="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The systems can be placed upstream (generally channels) or downstream (third parties, payment providers, institutions…)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Security aspects are essentials in the connectivity with the outside world (network zoning, encryption of communications, …)</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es-MX" sz="1000" b="0" i="0" u="none" strike="noStrike" kern="1200" cap="none" spc="0" normalizeH="0" baseline="0" noProof="0" dirty="0">
                <a:ln>
                  <a:noFill/>
                </a:ln>
                <a:solidFill>
                  <a:srgbClr val="000000"/>
                </a:solidFill>
                <a:effectLst/>
                <a:uLnTx/>
                <a:uFillTx/>
                <a:latin typeface="Graphik"/>
                <a:ea typeface="+mn-ea"/>
                <a:cs typeface="+mn-cs"/>
              </a:rPr>
              <a:t>It is necessary to expose  (</a:t>
            </a:r>
            <a:r>
              <a:rPr kumimoji="0" lang="es-MX" altLang="en-US" sz="1000" b="0" i="0" u="none" strike="noStrike" kern="1200" cap="none" spc="0" normalizeH="0" baseline="0" noProof="0" dirty="0" err="1">
                <a:ln>
                  <a:noFill/>
                </a:ln>
                <a:solidFill>
                  <a:srgbClr val="000000"/>
                </a:solidFill>
                <a:effectLst/>
                <a:uLnTx/>
                <a:uFillTx/>
                <a:latin typeface="Graphik"/>
                <a:ea typeface="+mn-ea"/>
                <a:cs typeface="+mn-cs"/>
              </a:rPr>
              <a:t>Outbound</a:t>
            </a:r>
            <a:r>
              <a:rPr kumimoji="0" lang="en-US" altLang="es-MX" sz="1000" b="0" i="0" u="none" strike="noStrike" kern="1200" cap="none" spc="0" normalizeH="0" baseline="0" noProof="0" dirty="0">
                <a:ln>
                  <a:noFill/>
                </a:ln>
                <a:solidFill>
                  <a:srgbClr val="000000"/>
                </a:solidFill>
                <a:effectLst/>
                <a:uLnTx/>
                <a:uFillTx/>
                <a:latin typeface="Graphik"/>
                <a:ea typeface="+mn-ea"/>
                <a:cs typeface="+mn-cs"/>
              </a:rPr>
              <a:t>) through a DMZ.</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es-MX" sz="1000" b="0" i="0" u="none" strike="noStrike" kern="1200" cap="none" spc="0" normalizeH="0" baseline="0" noProof="0" dirty="0">
                <a:ln>
                  <a:noFill/>
                </a:ln>
                <a:solidFill>
                  <a:srgbClr val="000000"/>
                </a:solidFill>
                <a:effectLst/>
                <a:uLnTx/>
                <a:uFillTx/>
                <a:latin typeface="Graphik"/>
                <a:ea typeface="+mn-ea"/>
                <a:cs typeface="+mn-cs"/>
              </a:rPr>
              <a:t>It is necessary to design a File Gateway (</a:t>
            </a:r>
            <a:r>
              <a:rPr kumimoji="0" lang="es-MX" altLang="en-US" sz="1000" b="0" i="0" u="none" strike="noStrike" kern="1200" cap="none" spc="0" normalizeH="0" baseline="0" noProof="0" dirty="0" err="1">
                <a:ln>
                  <a:noFill/>
                </a:ln>
                <a:solidFill>
                  <a:srgbClr val="000000"/>
                </a:solidFill>
                <a:effectLst/>
                <a:uLnTx/>
                <a:uFillTx/>
                <a:latin typeface="Graphik"/>
                <a:ea typeface="+mn-ea"/>
                <a:cs typeface="+mn-cs"/>
              </a:rPr>
              <a:t>Outbound</a:t>
            </a:r>
            <a:r>
              <a:rPr kumimoji="0" lang="en-US" altLang="es-MX" sz="1000" b="0" i="0" u="none" strike="noStrike" kern="1200" cap="none" spc="0" normalizeH="0" baseline="0" noProof="0" dirty="0">
                <a:ln>
                  <a:noFill/>
                </a:ln>
                <a:solidFill>
                  <a:srgbClr val="000000"/>
                </a:solidFill>
                <a:effectLst/>
                <a:uLnTx/>
                <a:uFillTx/>
                <a:latin typeface="Graphik"/>
                <a:ea typeface="+mn-ea"/>
                <a:cs typeface="+mn-cs"/>
              </a:rPr>
              <a:t>), currently a SFTP.</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es-MX" sz="1000" b="0" i="0" u="none" strike="noStrike" kern="1200" cap="none" spc="0" normalizeH="0" baseline="0" noProof="0" dirty="0">
                <a:ln>
                  <a:noFill/>
                </a:ln>
                <a:solidFill>
                  <a:srgbClr val="000000"/>
                </a:solidFill>
                <a:effectLst/>
                <a:uLnTx/>
                <a:uFillTx/>
                <a:latin typeface="Graphik"/>
                <a:ea typeface="+mn-ea"/>
                <a:cs typeface="+mn-cs"/>
              </a:rPr>
              <a:t>No definition yet for Event Gateway (</a:t>
            </a:r>
            <a:r>
              <a:rPr kumimoji="0" lang="es-MX" altLang="en-US" sz="1000" b="0" i="0" u="none" strike="noStrike" kern="1200" cap="none" spc="0" normalizeH="0" baseline="0" noProof="0" dirty="0" err="1">
                <a:ln>
                  <a:noFill/>
                </a:ln>
                <a:solidFill>
                  <a:srgbClr val="000000"/>
                </a:solidFill>
                <a:effectLst/>
                <a:uLnTx/>
                <a:uFillTx/>
                <a:latin typeface="Graphik"/>
                <a:ea typeface="+mn-ea"/>
                <a:cs typeface="+mn-cs"/>
              </a:rPr>
              <a:t>Outbound</a:t>
            </a:r>
            <a:r>
              <a:rPr kumimoji="0" lang="en-US" altLang="es-MX" sz="1000" b="0" i="0" u="none" strike="noStrike" kern="1200" cap="none" spc="0" normalizeH="0" baseline="0" noProof="0" dirty="0">
                <a:ln>
                  <a:noFill/>
                </a:ln>
                <a:solidFill>
                  <a:srgbClr val="000000"/>
                </a:solidFill>
                <a:effectLst/>
                <a:uLnTx/>
                <a:uFillTx/>
                <a:latin typeface="Graphik"/>
                <a:ea typeface="+mn-ea"/>
                <a:cs typeface="+mn-cs"/>
              </a:rPr>
              <a:t>)</a:t>
            </a:r>
            <a:r>
              <a:rPr kumimoji="0" lang="es-MX" altLang="en-US" sz="1000" b="0" i="0" u="none" strike="noStrike" kern="1200" cap="none" spc="0" normalizeH="0" baseline="0" noProof="0" dirty="0">
                <a:ln>
                  <a:noFill/>
                </a:ln>
                <a:solidFill>
                  <a:srgbClr val="000000"/>
                </a:solidFill>
                <a:effectLst/>
                <a:uLnTx/>
                <a:uFillTx/>
                <a:latin typeface="Graphik"/>
                <a:ea typeface="+mn-ea"/>
                <a:cs typeface="+mn-cs"/>
              </a:rPr>
              <a:t>.</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es-MX" sz="1000" b="0" i="0" u="none" strike="noStrike" kern="1200" cap="none" spc="0" normalizeH="0" baseline="0" noProof="0" dirty="0">
                <a:ln>
                  <a:noFill/>
                </a:ln>
                <a:solidFill>
                  <a:srgbClr val="000000"/>
                </a:solidFill>
                <a:effectLst/>
                <a:uLnTx/>
                <a:uFillTx/>
                <a:latin typeface="Graphik"/>
                <a:ea typeface="+mn-ea"/>
                <a:cs typeface="+mn-cs"/>
              </a:rPr>
              <a:t>File y Event Gateway (</a:t>
            </a:r>
            <a:r>
              <a:rPr kumimoji="0" lang="es-MX" altLang="en-US" sz="1000" b="0" i="0" u="none" strike="noStrike" kern="1200" cap="none" spc="0" normalizeH="0" baseline="0" noProof="0" dirty="0" err="1">
                <a:ln>
                  <a:noFill/>
                </a:ln>
                <a:solidFill>
                  <a:srgbClr val="000000"/>
                </a:solidFill>
                <a:effectLst/>
                <a:uLnTx/>
                <a:uFillTx/>
                <a:latin typeface="Graphik"/>
                <a:ea typeface="+mn-ea"/>
                <a:cs typeface="+mn-cs"/>
              </a:rPr>
              <a:t>Inbound</a:t>
            </a:r>
            <a:r>
              <a:rPr kumimoji="0" lang="en-US" altLang="es-MX" sz="1000" b="0" i="0" u="none" strike="noStrike" kern="1200" cap="none" spc="0" normalizeH="0" baseline="0" noProof="0" dirty="0">
                <a:ln>
                  <a:noFill/>
                </a:ln>
                <a:solidFill>
                  <a:srgbClr val="000000"/>
                </a:solidFill>
                <a:effectLst/>
                <a:uLnTx/>
                <a:uFillTx/>
                <a:latin typeface="Graphik"/>
                <a:ea typeface="+mn-ea"/>
                <a:cs typeface="+mn-cs"/>
              </a:rPr>
              <a:t>) </a:t>
            </a:r>
            <a:r>
              <a:rPr kumimoji="0" lang="en-US" altLang="es-MX" sz="1000" b="0" i="0" u="none" strike="noStrike" kern="1200" cap="none" spc="0" normalizeH="0" baseline="0" noProof="0" dirty="0" err="1">
                <a:ln>
                  <a:noFill/>
                </a:ln>
                <a:solidFill>
                  <a:srgbClr val="000000"/>
                </a:solidFill>
                <a:effectLst/>
                <a:uLnTx/>
                <a:uFillTx/>
                <a:latin typeface="Graphik"/>
                <a:ea typeface="+mn-ea"/>
                <a:cs typeface="+mn-cs"/>
              </a:rPr>
              <a:t>a</a:t>
            </a:r>
            <a:r>
              <a:rPr kumimoji="0" lang="en-US" altLang="en-US" sz="1000" b="0" i="0" u="none" strike="noStrike" kern="1200" cap="none" spc="0" normalizeH="0" baseline="0" noProof="0" dirty="0" err="1">
                <a:ln>
                  <a:noFill/>
                </a:ln>
                <a:solidFill>
                  <a:srgbClr val="000000"/>
                </a:solidFill>
                <a:effectLst/>
                <a:uLnTx/>
                <a:uFillTx/>
                <a:latin typeface="Graphik"/>
                <a:ea typeface="+mn-ea"/>
                <a:cs typeface="+mn-cs"/>
              </a:rPr>
              <a:t>ú</a:t>
            </a:r>
            <a:r>
              <a:rPr kumimoji="0" lang="en-US" altLang="es-MX" sz="1000" b="0" i="0" u="none" strike="noStrike" kern="1200" cap="none" spc="0" normalizeH="0" baseline="0" noProof="0" dirty="0" err="1">
                <a:ln>
                  <a:noFill/>
                </a:ln>
                <a:solidFill>
                  <a:srgbClr val="000000"/>
                </a:solidFill>
                <a:effectLst/>
                <a:uLnTx/>
                <a:uFillTx/>
                <a:latin typeface="Graphik"/>
                <a:ea typeface="+mn-ea"/>
                <a:cs typeface="+mn-cs"/>
              </a:rPr>
              <a:t>n</a:t>
            </a:r>
            <a:r>
              <a:rPr kumimoji="0" lang="en-US" altLang="es-MX" sz="1000" b="0" i="0" u="none" strike="noStrike" kern="1200" cap="none" spc="0" normalizeH="0" baseline="0" noProof="0" dirty="0">
                <a:ln>
                  <a:noFill/>
                </a:ln>
                <a:solidFill>
                  <a:srgbClr val="000000"/>
                </a:solidFill>
                <a:effectLst/>
                <a:uLnTx/>
                <a:uFillTx/>
                <a:latin typeface="Graphik"/>
                <a:ea typeface="+mn-ea"/>
                <a:cs typeface="+mn-cs"/>
              </a:rPr>
              <a:t> no </a:t>
            </a:r>
            <a:r>
              <a:rPr kumimoji="0" lang="en-US" altLang="es-MX" sz="1000" b="0" i="0" u="none" strike="noStrike" kern="1200" cap="none" spc="0" normalizeH="0" baseline="0" noProof="0" dirty="0" err="1">
                <a:ln>
                  <a:noFill/>
                </a:ln>
                <a:solidFill>
                  <a:srgbClr val="000000"/>
                </a:solidFill>
                <a:effectLst/>
                <a:uLnTx/>
                <a:uFillTx/>
                <a:latin typeface="Graphik"/>
                <a:ea typeface="+mn-ea"/>
                <a:cs typeface="+mn-cs"/>
              </a:rPr>
              <a:t>tienen</a:t>
            </a:r>
            <a:r>
              <a:rPr kumimoji="0" lang="en-US" altLang="es-MX" sz="1000" b="0" i="0" u="none" strike="noStrike" kern="1200" cap="none" spc="0" normalizeH="0" baseline="0" noProof="0" dirty="0">
                <a:ln>
                  <a:noFill/>
                </a:ln>
                <a:solidFill>
                  <a:srgbClr val="000000"/>
                </a:solidFill>
                <a:effectLst/>
                <a:uLnTx/>
                <a:uFillTx/>
                <a:latin typeface="Graphik"/>
                <a:ea typeface="+mn-ea"/>
                <a:cs typeface="+mn-cs"/>
              </a:rPr>
              <a:t> </a:t>
            </a:r>
            <a:r>
              <a:rPr kumimoji="0" lang="en-US" altLang="es-MX" sz="1000" b="0" i="0" u="none" strike="noStrike" kern="1200" cap="none" spc="0" normalizeH="0" baseline="0" noProof="0" dirty="0" err="1">
                <a:ln>
                  <a:noFill/>
                </a:ln>
                <a:solidFill>
                  <a:srgbClr val="000000"/>
                </a:solidFill>
                <a:effectLst/>
                <a:uLnTx/>
                <a:uFillTx/>
                <a:latin typeface="Graphik"/>
                <a:ea typeface="+mn-ea"/>
                <a:cs typeface="+mn-cs"/>
              </a:rPr>
              <a:t>definici</a:t>
            </a:r>
            <a:r>
              <a:rPr kumimoji="0" lang="en-US" altLang="en-US" sz="1000" b="0" i="0" u="none" strike="noStrike" kern="1200" cap="none" spc="0" normalizeH="0" baseline="0" noProof="0" dirty="0" err="1">
                <a:ln>
                  <a:noFill/>
                </a:ln>
                <a:solidFill>
                  <a:srgbClr val="000000"/>
                </a:solidFill>
                <a:effectLst/>
                <a:uLnTx/>
                <a:uFillTx/>
                <a:latin typeface="Graphik"/>
                <a:ea typeface="+mn-ea"/>
                <a:cs typeface="+mn-cs"/>
              </a:rPr>
              <a:t>ó</a:t>
            </a:r>
            <a:r>
              <a:rPr kumimoji="0" lang="en-US" altLang="es-MX" sz="1000" b="0" i="0" u="none" strike="noStrike" kern="1200" cap="none" spc="0" normalizeH="0" baseline="0" noProof="0" dirty="0" err="1">
                <a:ln>
                  <a:noFill/>
                </a:ln>
                <a:solidFill>
                  <a:srgbClr val="000000"/>
                </a:solidFill>
                <a:effectLst/>
                <a:uLnTx/>
                <a:uFillTx/>
                <a:latin typeface="Graphik"/>
                <a:ea typeface="+mn-ea"/>
                <a:cs typeface="+mn-cs"/>
              </a:rPr>
              <a:t>n</a:t>
            </a:r>
            <a:r>
              <a:rPr kumimoji="0" lang="en-US" altLang="es-MX" sz="1000" b="0" i="0" u="none" strike="noStrike" kern="1200" cap="none" spc="0" normalizeH="0" baseline="0" noProof="0" dirty="0">
                <a:ln>
                  <a:noFill/>
                </a:ln>
                <a:solidFill>
                  <a:srgbClr val="000000"/>
                </a:solidFill>
                <a:effectLst/>
                <a:uLnTx/>
                <a:uFillTx/>
                <a:latin typeface="Graphik"/>
                <a:ea typeface="+mn-ea"/>
                <a:cs typeface="+mn-cs"/>
              </a:rPr>
              <a:t>, es </a:t>
            </a:r>
            <a:r>
              <a:rPr kumimoji="0" lang="en-US" altLang="es-MX" sz="1000" b="0" i="0" u="none" strike="noStrike" kern="1200" cap="none" spc="0" normalizeH="0" baseline="0" noProof="0" dirty="0" err="1">
                <a:ln>
                  <a:noFill/>
                </a:ln>
                <a:solidFill>
                  <a:srgbClr val="000000"/>
                </a:solidFill>
                <a:effectLst/>
                <a:uLnTx/>
                <a:uFillTx/>
                <a:latin typeface="Graphik"/>
                <a:ea typeface="+mn-ea"/>
                <a:cs typeface="+mn-cs"/>
              </a:rPr>
              <a:t>necesario</a:t>
            </a:r>
            <a:r>
              <a:rPr kumimoji="0" lang="en-US" altLang="es-MX" sz="1000" b="0" i="0" u="none" strike="noStrike" kern="1200" cap="none" spc="0" normalizeH="0" baseline="0" noProof="0" dirty="0">
                <a:ln>
                  <a:noFill/>
                </a:ln>
                <a:solidFill>
                  <a:srgbClr val="000000"/>
                </a:solidFill>
                <a:effectLst/>
                <a:uLnTx/>
                <a:uFillTx/>
                <a:latin typeface="Graphik"/>
                <a:ea typeface="+mn-ea"/>
                <a:cs typeface="+mn-cs"/>
              </a:rPr>
              <a:t> </a:t>
            </a:r>
            <a:r>
              <a:rPr kumimoji="0" lang="en-US" altLang="es-MX" sz="1000" b="0" i="0" u="none" strike="noStrike" kern="1200" cap="none" spc="0" normalizeH="0" baseline="0" noProof="0" dirty="0" err="1">
                <a:ln>
                  <a:noFill/>
                </a:ln>
                <a:solidFill>
                  <a:srgbClr val="000000"/>
                </a:solidFill>
                <a:effectLst/>
                <a:uLnTx/>
                <a:uFillTx/>
                <a:latin typeface="Graphik"/>
                <a:ea typeface="+mn-ea"/>
                <a:cs typeface="+mn-cs"/>
              </a:rPr>
              <a:t>proponer</a:t>
            </a:r>
            <a:r>
              <a:rPr kumimoji="0" lang="en-US" altLang="es-MX" sz="1000" b="0" i="0" u="none" strike="noStrike" kern="1200" cap="none" spc="0" normalizeH="0" baseline="0" noProof="0" dirty="0">
                <a:ln>
                  <a:noFill/>
                </a:ln>
                <a:solidFill>
                  <a:srgbClr val="000000"/>
                </a:solidFill>
                <a:effectLst/>
                <a:uLnTx/>
                <a:uFillTx/>
                <a:latin typeface="Graphik"/>
                <a:ea typeface="+mn-ea"/>
                <a:cs typeface="+mn-cs"/>
              </a:rPr>
              <a:t>. </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es-MX" sz="1000" b="0" i="0" u="none" strike="noStrike" kern="1200" cap="none" spc="0" normalizeH="0" baseline="0" noProof="0" dirty="0" err="1">
                <a:ln>
                  <a:noFill/>
                </a:ln>
                <a:solidFill>
                  <a:srgbClr val="000000"/>
                </a:solidFill>
                <a:effectLst/>
                <a:uLnTx/>
                <a:uFillTx/>
                <a:latin typeface="Graphik"/>
                <a:ea typeface="+mn-ea"/>
                <a:cs typeface="+mn-cs"/>
              </a:rPr>
              <a:t>MarketPlace</a:t>
            </a:r>
            <a:r>
              <a:rPr kumimoji="0" lang="en-US" altLang="es-MX" sz="1000" b="0" i="0" u="none" strike="noStrike" kern="1200" cap="none" spc="0" normalizeH="0" baseline="0" noProof="0" dirty="0">
                <a:ln>
                  <a:noFill/>
                </a:ln>
                <a:solidFill>
                  <a:srgbClr val="000000"/>
                </a:solidFill>
                <a:effectLst/>
                <a:uLnTx/>
                <a:uFillTx/>
                <a:latin typeface="Graphik"/>
                <a:ea typeface="+mn-ea"/>
                <a:cs typeface="+mn-cs"/>
              </a:rPr>
              <a:t> has no definition yet.</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es-MX" sz="1000" b="0" i="0" u="none" strike="noStrike" kern="1200" cap="none" spc="0" normalizeH="0" baseline="0" noProof="0" dirty="0" err="1">
                <a:ln>
                  <a:noFill/>
                </a:ln>
                <a:solidFill>
                  <a:srgbClr val="000000"/>
                </a:solidFill>
                <a:effectLst/>
                <a:uLnTx/>
                <a:uFillTx/>
                <a:latin typeface="Graphik"/>
                <a:ea typeface="+mn-ea"/>
                <a:cs typeface="+mn-cs"/>
              </a:rPr>
              <a:t>ApiGee</a:t>
            </a:r>
            <a:r>
              <a:rPr kumimoji="0" lang="en-US" altLang="es-MX" sz="1000" b="0" i="0" u="none" strike="noStrike" kern="1200" cap="none" spc="0" normalizeH="0" baseline="0" noProof="0" dirty="0">
                <a:ln>
                  <a:noFill/>
                </a:ln>
                <a:solidFill>
                  <a:srgbClr val="000000"/>
                </a:solidFill>
                <a:effectLst/>
                <a:uLnTx/>
                <a:uFillTx/>
                <a:latin typeface="Graphik"/>
                <a:ea typeface="+mn-ea"/>
                <a:cs typeface="+mn-cs"/>
              </a:rPr>
              <a:t> is the current leading provider of this architecture.</a:t>
            </a:r>
          </a:p>
        </p:txBody>
      </p:sp>
      <p:sp>
        <p:nvSpPr>
          <p:cNvPr id="13" name="Rectangle 12">
            <a:extLst>
              <a:ext uri="{FF2B5EF4-FFF2-40B4-BE49-F238E27FC236}">
                <a16:creationId xmlns:a16="http://schemas.microsoft.com/office/drawing/2014/main" id="{B5AF7FDD-A01E-5302-69FD-4287EAEBE546}"/>
              </a:ext>
            </a:extLst>
          </p:cNvPr>
          <p:cNvSpPr/>
          <p:nvPr/>
        </p:nvSpPr>
        <p:spPr>
          <a:xfrm>
            <a:off x="8889090" y="5357941"/>
            <a:ext cx="2880000" cy="180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Main components of this capability</a:t>
            </a:r>
          </a:p>
        </p:txBody>
      </p:sp>
      <p:sp>
        <p:nvSpPr>
          <p:cNvPr id="14" name="Rectangle 13">
            <a:extLst>
              <a:ext uri="{FF2B5EF4-FFF2-40B4-BE49-F238E27FC236}">
                <a16:creationId xmlns:a16="http://schemas.microsoft.com/office/drawing/2014/main" id="{4A317B36-EF0A-E2B1-26C9-9E6EE27E40DD}"/>
              </a:ext>
            </a:extLst>
          </p:cNvPr>
          <p:cNvSpPr/>
          <p:nvPr/>
        </p:nvSpPr>
        <p:spPr>
          <a:xfrm>
            <a:off x="8889090" y="5592093"/>
            <a:ext cx="2880000" cy="18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Components of other related capabilities</a:t>
            </a:r>
          </a:p>
        </p:txBody>
      </p:sp>
      <p:sp>
        <p:nvSpPr>
          <p:cNvPr id="15" name="Rectangle 14">
            <a:extLst>
              <a:ext uri="{FF2B5EF4-FFF2-40B4-BE49-F238E27FC236}">
                <a16:creationId xmlns:a16="http://schemas.microsoft.com/office/drawing/2014/main" id="{DE30C6EA-7C75-CF5C-E8CB-53842CABFFA0}"/>
              </a:ext>
            </a:extLst>
          </p:cNvPr>
          <p:cNvSpPr/>
          <p:nvPr/>
        </p:nvSpPr>
        <p:spPr>
          <a:xfrm>
            <a:off x="8889090" y="5808518"/>
            <a:ext cx="288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Functional Components related to this capability</a:t>
            </a:r>
          </a:p>
        </p:txBody>
      </p:sp>
      <p:sp>
        <p:nvSpPr>
          <p:cNvPr id="16" name="Rectangle 15">
            <a:extLst>
              <a:ext uri="{FF2B5EF4-FFF2-40B4-BE49-F238E27FC236}">
                <a16:creationId xmlns:a16="http://schemas.microsoft.com/office/drawing/2014/main" id="{03540869-FBAB-8763-4FB1-80EE0370CC96}"/>
              </a:ext>
            </a:extLst>
          </p:cNvPr>
          <p:cNvSpPr/>
          <p:nvPr/>
        </p:nvSpPr>
        <p:spPr>
          <a:xfrm>
            <a:off x="2476500" y="2597150"/>
            <a:ext cx="1524000" cy="19685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File Gateway (TBD)</a:t>
            </a:r>
          </a:p>
        </p:txBody>
      </p:sp>
      <p:sp>
        <p:nvSpPr>
          <p:cNvPr id="17" name="Rectangle 16">
            <a:extLst>
              <a:ext uri="{FF2B5EF4-FFF2-40B4-BE49-F238E27FC236}">
                <a16:creationId xmlns:a16="http://schemas.microsoft.com/office/drawing/2014/main" id="{156CFED7-FCFC-BD9C-6C04-E1C4E92F385B}"/>
              </a:ext>
            </a:extLst>
          </p:cNvPr>
          <p:cNvSpPr/>
          <p:nvPr/>
        </p:nvSpPr>
        <p:spPr>
          <a:xfrm>
            <a:off x="4076700" y="2597150"/>
            <a:ext cx="1587500" cy="19685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Event Gateway (</a:t>
            </a:r>
            <a:r>
              <a:rPr kumimoji="0" lang="es-MX" altLang="en-US" sz="900" b="0" i="0" u="none" strike="noStrike" kern="1200" cap="none" spc="0" normalizeH="0" baseline="0" noProof="0">
                <a:ln>
                  <a:noFill/>
                </a:ln>
                <a:solidFill>
                  <a:srgbClr val="FFFFFF"/>
                </a:solidFill>
                <a:effectLst/>
                <a:uLnTx/>
                <a:uFillTx/>
                <a:latin typeface="Graphik"/>
                <a:ea typeface="+mn-ea"/>
                <a:cs typeface="+mn-cs"/>
              </a:rPr>
              <a:t> TBD)</a:t>
            </a:r>
          </a:p>
        </p:txBody>
      </p:sp>
      <p:sp>
        <p:nvSpPr>
          <p:cNvPr id="18" name="Rectangle 17">
            <a:extLst>
              <a:ext uri="{FF2B5EF4-FFF2-40B4-BE49-F238E27FC236}">
                <a16:creationId xmlns:a16="http://schemas.microsoft.com/office/drawing/2014/main" id="{D3FB948E-AF63-37EC-DBC7-489A20FAC77D}"/>
              </a:ext>
            </a:extLst>
          </p:cNvPr>
          <p:cNvSpPr/>
          <p:nvPr/>
        </p:nvSpPr>
        <p:spPr>
          <a:xfrm>
            <a:off x="1023879" y="5222527"/>
            <a:ext cx="1197282" cy="268712"/>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Central Bank</a:t>
            </a:r>
          </a:p>
        </p:txBody>
      </p:sp>
      <p:sp>
        <p:nvSpPr>
          <p:cNvPr id="19" name="Rectangle 18">
            <a:extLst>
              <a:ext uri="{FF2B5EF4-FFF2-40B4-BE49-F238E27FC236}">
                <a16:creationId xmlns:a16="http://schemas.microsoft.com/office/drawing/2014/main" id="{203784E0-33FE-5CD8-5255-30F4B3F0DFEF}"/>
              </a:ext>
            </a:extLst>
          </p:cNvPr>
          <p:cNvSpPr/>
          <p:nvPr/>
        </p:nvSpPr>
        <p:spPr>
          <a:xfrm>
            <a:off x="2336486" y="5214288"/>
            <a:ext cx="1197282" cy="268712"/>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Card Processors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(Visa, Mastercard…)</a:t>
            </a:r>
          </a:p>
        </p:txBody>
      </p:sp>
      <p:sp>
        <p:nvSpPr>
          <p:cNvPr id="20" name="Rectangle 19">
            <a:extLst>
              <a:ext uri="{FF2B5EF4-FFF2-40B4-BE49-F238E27FC236}">
                <a16:creationId xmlns:a16="http://schemas.microsoft.com/office/drawing/2014/main" id="{25FB7245-CC4F-3537-3995-E5147BC73DF6}"/>
              </a:ext>
            </a:extLst>
          </p:cNvPr>
          <p:cNvSpPr/>
          <p:nvPr/>
        </p:nvSpPr>
        <p:spPr>
          <a:xfrm>
            <a:off x="3634965" y="5222527"/>
            <a:ext cx="1197282" cy="268712"/>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Payment Schemes</a:t>
            </a:r>
          </a:p>
        </p:txBody>
      </p:sp>
      <p:sp>
        <p:nvSpPr>
          <p:cNvPr id="21" name="Rectangle 20">
            <a:extLst>
              <a:ext uri="{FF2B5EF4-FFF2-40B4-BE49-F238E27FC236}">
                <a16:creationId xmlns:a16="http://schemas.microsoft.com/office/drawing/2014/main" id="{70E5800D-7E2C-A6A9-AEE9-4168F98838CC}"/>
              </a:ext>
            </a:extLst>
          </p:cNvPr>
          <p:cNvSpPr/>
          <p:nvPr/>
        </p:nvSpPr>
        <p:spPr>
          <a:xfrm>
            <a:off x="2715529" y="1655664"/>
            <a:ext cx="1440000" cy="252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Corporate Channels</a:t>
            </a:r>
          </a:p>
        </p:txBody>
      </p:sp>
      <p:cxnSp>
        <p:nvCxnSpPr>
          <p:cNvPr id="22" name="Connector: Elbow 21">
            <a:extLst>
              <a:ext uri="{FF2B5EF4-FFF2-40B4-BE49-F238E27FC236}">
                <a16:creationId xmlns:a16="http://schemas.microsoft.com/office/drawing/2014/main" id="{03D48E8C-E13D-6B8C-F51F-A4960168A5CE}"/>
              </a:ext>
            </a:extLst>
          </p:cNvPr>
          <p:cNvCxnSpPr>
            <a:stCxn id="11" idx="2"/>
            <a:endCxn id="9" idx="0"/>
          </p:cNvCxnSpPr>
          <p:nvPr/>
        </p:nvCxnSpPr>
        <p:spPr>
          <a:xfrm rot="5400000" flipV="1">
            <a:off x="2280920" y="1482725"/>
            <a:ext cx="361315" cy="1210945"/>
          </a:xfrm>
          <a:prstGeom prst="bentConnector3">
            <a:avLst>
              <a:gd name="adj1" fmla="val 500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B1C51259-F8DF-8585-5C91-F6C8C27B5B7B}"/>
              </a:ext>
            </a:extLst>
          </p:cNvPr>
          <p:cNvCxnSpPr>
            <a:stCxn id="21" idx="2"/>
            <a:endCxn id="9" idx="0"/>
          </p:cNvCxnSpPr>
          <p:nvPr/>
        </p:nvCxnSpPr>
        <p:spPr>
          <a:xfrm rot="5400000">
            <a:off x="3070543" y="1904048"/>
            <a:ext cx="361315" cy="368300"/>
          </a:xfrm>
          <a:prstGeom prst="bentConnector3">
            <a:avLst>
              <a:gd name="adj1" fmla="val 50000"/>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F672A89-0DF4-8867-EF47-8268CB718016}"/>
              </a:ext>
            </a:extLst>
          </p:cNvPr>
          <p:cNvCxnSpPr>
            <a:stCxn id="10" idx="0"/>
          </p:cNvCxnSpPr>
          <p:nvPr/>
        </p:nvCxnSpPr>
        <p:spPr>
          <a:xfrm flipV="1">
            <a:off x="1720898" y="2261916"/>
            <a:ext cx="6782" cy="335208"/>
          </a:xfrm>
          <a:prstGeom prst="straightConnector1">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D93E9877-352E-37FC-B08B-3E2B208886B4}"/>
              </a:ext>
            </a:extLst>
          </p:cNvPr>
          <p:cNvCxnSpPr>
            <a:stCxn id="16" idx="0"/>
          </p:cNvCxnSpPr>
          <p:nvPr/>
        </p:nvCxnSpPr>
        <p:spPr>
          <a:xfrm flipV="1">
            <a:off x="3238696" y="2286133"/>
            <a:ext cx="1913" cy="310991"/>
          </a:xfrm>
          <a:prstGeom prst="straightConnector1">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DA0E2B36-AE5B-3778-4B88-EF74B5D7FA9C}"/>
              </a:ext>
            </a:extLst>
          </p:cNvPr>
          <p:cNvCxnSpPr>
            <a:stCxn id="17" idx="0"/>
          </p:cNvCxnSpPr>
          <p:nvPr/>
        </p:nvCxnSpPr>
        <p:spPr>
          <a:xfrm flipH="1" flipV="1">
            <a:off x="4870172" y="2304506"/>
            <a:ext cx="1" cy="292481"/>
          </a:xfrm>
          <a:prstGeom prst="straightConnector1">
            <a:avLst/>
          </a:prstGeom>
          <a:ln w="9525">
            <a:solidFill>
              <a:schemeClr val="tx1"/>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99F9DC19-A3E8-F933-B60C-554032148E96}"/>
              </a:ext>
            </a:extLst>
          </p:cNvPr>
          <p:cNvSpPr/>
          <p:nvPr/>
        </p:nvSpPr>
        <p:spPr>
          <a:xfrm>
            <a:off x="4901120" y="5222527"/>
            <a:ext cx="1197282" cy="268712"/>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Credit Scoring</a:t>
            </a:r>
          </a:p>
        </p:txBody>
      </p:sp>
      <p:sp>
        <p:nvSpPr>
          <p:cNvPr id="28" name="Rectangle 27">
            <a:extLst>
              <a:ext uri="{FF2B5EF4-FFF2-40B4-BE49-F238E27FC236}">
                <a16:creationId xmlns:a16="http://schemas.microsoft.com/office/drawing/2014/main" id="{6964950C-25A4-86F5-A294-817AD176BBC2}"/>
              </a:ext>
            </a:extLst>
          </p:cNvPr>
          <p:cNvSpPr/>
          <p:nvPr/>
        </p:nvSpPr>
        <p:spPr>
          <a:xfrm>
            <a:off x="400050" y="4123055"/>
            <a:ext cx="5335270" cy="55372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Graphik"/>
                <a:ea typeface="+mn-ea"/>
                <a:cs typeface="+mn-cs"/>
              </a:rPr>
              <a:t>Gateway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Graphik"/>
                <a:ea typeface="+mn-ea"/>
                <a:cs typeface="+mn-cs"/>
              </a:rPr>
              <a:t>Services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Graphik"/>
                <a:ea typeface="+mn-ea"/>
                <a:cs typeface="+mn-cs"/>
              </a:rPr>
              <a:t>Outbound</a:t>
            </a:r>
          </a:p>
        </p:txBody>
      </p:sp>
      <p:sp>
        <p:nvSpPr>
          <p:cNvPr id="29" name="Rectangle 28">
            <a:extLst>
              <a:ext uri="{FF2B5EF4-FFF2-40B4-BE49-F238E27FC236}">
                <a16:creationId xmlns:a16="http://schemas.microsoft.com/office/drawing/2014/main" id="{66324819-47E3-857B-3197-9F9C880F332E}"/>
              </a:ext>
            </a:extLst>
          </p:cNvPr>
          <p:cNvSpPr/>
          <p:nvPr/>
        </p:nvSpPr>
        <p:spPr>
          <a:xfrm>
            <a:off x="1226185" y="3592830"/>
            <a:ext cx="1111250" cy="22987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900" b="0" i="0" u="none" strike="noStrike" kern="1200" cap="none" spc="0" normalizeH="0" baseline="0" noProof="0">
                <a:ln>
                  <a:noFill/>
                </a:ln>
                <a:solidFill>
                  <a:srgbClr val="000000"/>
                </a:solidFill>
                <a:effectLst/>
                <a:uLnTx/>
                <a:uFillTx/>
                <a:latin typeface="Graphik"/>
                <a:ea typeface="+mn-ea"/>
                <a:cs typeface="+mn-cs"/>
                <a:sym typeface="+mn-ea"/>
              </a:rPr>
              <a:t>API Gateway</a:t>
            </a:r>
          </a:p>
        </p:txBody>
      </p:sp>
      <p:sp>
        <p:nvSpPr>
          <p:cNvPr id="30" name="Rectangle 29">
            <a:extLst>
              <a:ext uri="{FF2B5EF4-FFF2-40B4-BE49-F238E27FC236}">
                <a16:creationId xmlns:a16="http://schemas.microsoft.com/office/drawing/2014/main" id="{BA6B2FAD-3959-1DBA-3728-FA10FD59AC34}"/>
              </a:ext>
            </a:extLst>
          </p:cNvPr>
          <p:cNvSpPr/>
          <p:nvPr/>
        </p:nvSpPr>
        <p:spPr>
          <a:xfrm>
            <a:off x="2476500" y="4202430"/>
            <a:ext cx="1523365" cy="179705"/>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900" b="0" i="0" u="none" strike="noStrike" kern="1200" cap="none" spc="0" normalizeH="0" baseline="0" noProof="0">
                <a:ln>
                  <a:noFill/>
                </a:ln>
                <a:solidFill>
                  <a:srgbClr val="000000"/>
                </a:solidFill>
                <a:effectLst/>
                <a:uLnTx/>
                <a:uFillTx/>
                <a:latin typeface="Graphik"/>
                <a:ea typeface="+mn-ea"/>
                <a:cs typeface="+mn-cs"/>
                <a:sym typeface="+mn-ea"/>
              </a:rPr>
              <a:t>File Gateway </a:t>
            </a:r>
            <a:r>
              <a:rPr kumimoji="0" lang="es-MX" altLang="en-US" sz="900" b="0" i="0" u="none" strike="noStrike" kern="1200" cap="none" spc="0" normalizeH="0" baseline="0" noProof="0">
                <a:ln>
                  <a:noFill/>
                </a:ln>
                <a:solidFill>
                  <a:srgbClr val="000000"/>
                </a:solidFill>
                <a:effectLst/>
                <a:uLnTx/>
                <a:uFillTx/>
                <a:latin typeface="Graphik"/>
                <a:ea typeface="+mn-ea"/>
                <a:cs typeface="+mn-cs"/>
                <a:sym typeface="+mn-ea"/>
              </a:rPr>
              <a:t>(SFTP)</a:t>
            </a:r>
          </a:p>
        </p:txBody>
      </p:sp>
      <p:cxnSp>
        <p:nvCxnSpPr>
          <p:cNvPr id="31" name="Straight Arrow Connector 30">
            <a:extLst>
              <a:ext uri="{FF2B5EF4-FFF2-40B4-BE49-F238E27FC236}">
                <a16:creationId xmlns:a16="http://schemas.microsoft.com/office/drawing/2014/main" id="{D1AB34B4-CD90-2CED-D4A8-81F33362AE90}"/>
              </a:ext>
            </a:extLst>
          </p:cNvPr>
          <p:cNvCxnSpPr/>
          <p:nvPr/>
        </p:nvCxnSpPr>
        <p:spPr>
          <a:xfrm>
            <a:off x="4680618" y="4677013"/>
            <a:ext cx="0" cy="285621"/>
          </a:xfrm>
          <a:prstGeom prst="straightConnector1">
            <a:avLst/>
          </a:prstGeom>
          <a:ln w="9525">
            <a:solidFill>
              <a:schemeClr val="tx1"/>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2" name="Arrow: Up-Down 31">
            <a:extLst>
              <a:ext uri="{FF2B5EF4-FFF2-40B4-BE49-F238E27FC236}">
                <a16:creationId xmlns:a16="http://schemas.microsoft.com/office/drawing/2014/main" id="{66DA3114-6123-73F4-FDA2-FC26FEE60F05}"/>
              </a:ext>
            </a:extLst>
          </p:cNvPr>
          <p:cNvSpPr/>
          <p:nvPr/>
        </p:nvSpPr>
        <p:spPr>
          <a:xfrm>
            <a:off x="3047970" y="3941240"/>
            <a:ext cx="307065" cy="260998"/>
          </a:xfrm>
          <a:prstGeom prst="upDownArrow">
            <a:avLst>
              <a:gd name="adj1" fmla="val 43596"/>
              <a:gd name="adj2" fmla="val 307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Graphik"/>
              <a:ea typeface="+mn-ea"/>
              <a:cs typeface="+mn-cs"/>
            </a:endParaRPr>
          </a:p>
        </p:txBody>
      </p:sp>
      <p:cxnSp>
        <p:nvCxnSpPr>
          <p:cNvPr id="33" name="Connector: Elbow 32">
            <a:extLst>
              <a:ext uri="{FF2B5EF4-FFF2-40B4-BE49-F238E27FC236}">
                <a16:creationId xmlns:a16="http://schemas.microsoft.com/office/drawing/2014/main" id="{76907C47-3C7C-E5B1-390C-03442E5F37E4}"/>
              </a:ext>
            </a:extLst>
          </p:cNvPr>
          <p:cNvCxnSpPr>
            <a:stCxn id="28" idx="2"/>
            <a:endCxn id="18" idx="0"/>
          </p:cNvCxnSpPr>
          <p:nvPr/>
        </p:nvCxnSpPr>
        <p:spPr>
          <a:xfrm rot="5400000">
            <a:off x="2072323" y="4226878"/>
            <a:ext cx="545465" cy="1445260"/>
          </a:xfrm>
          <a:prstGeom prst="bentConnector3">
            <a:avLst>
              <a:gd name="adj1" fmla="val 50000"/>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FF6CAC54-4669-7314-2607-1174CE6DDB06}"/>
              </a:ext>
            </a:extLst>
          </p:cNvPr>
          <p:cNvCxnSpPr>
            <a:stCxn id="28" idx="2"/>
            <a:endCxn id="19" idx="0"/>
          </p:cNvCxnSpPr>
          <p:nvPr/>
        </p:nvCxnSpPr>
        <p:spPr>
          <a:xfrm rot="5400000">
            <a:off x="2733040" y="4879340"/>
            <a:ext cx="537210" cy="132080"/>
          </a:xfrm>
          <a:prstGeom prst="bentConnector3">
            <a:avLst>
              <a:gd name="adj1" fmla="val 50000"/>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5FDBA73B-0438-4FCF-0CCB-9742B44101F0}"/>
              </a:ext>
            </a:extLst>
          </p:cNvPr>
          <p:cNvCxnSpPr>
            <a:stCxn id="28" idx="2"/>
            <a:endCxn id="20" idx="0"/>
          </p:cNvCxnSpPr>
          <p:nvPr/>
        </p:nvCxnSpPr>
        <p:spPr>
          <a:xfrm rot="5400000" flipV="1">
            <a:off x="3377883" y="4366578"/>
            <a:ext cx="545465" cy="1165860"/>
          </a:xfrm>
          <a:prstGeom prst="bentConnector3">
            <a:avLst>
              <a:gd name="adj1" fmla="val 50000"/>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10E1D8E6-6D42-5513-6AF6-248D39DDD2DA}"/>
              </a:ext>
            </a:extLst>
          </p:cNvPr>
          <p:cNvCxnSpPr>
            <a:stCxn id="28" idx="2"/>
            <a:endCxn id="27" idx="0"/>
          </p:cNvCxnSpPr>
          <p:nvPr/>
        </p:nvCxnSpPr>
        <p:spPr>
          <a:xfrm rot="5400000" flipV="1">
            <a:off x="4010978" y="3733483"/>
            <a:ext cx="545465" cy="2432050"/>
          </a:xfrm>
          <a:prstGeom prst="bentConnector3">
            <a:avLst>
              <a:gd name="adj1" fmla="val 50000"/>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7149C42B-B8FB-701F-F05D-39D58595FA4B}"/>
              </a:ext>
            </a:extLst>
          </p:cNvPr>
          <p:cNvSpPr/>
          <p:nvPr/>
        </p:nvSpPr>
        <p:spPr>
          <a:xfrm>
            <a:off x="1226185" y="3025140"/>
            <a:ext cx="1124585" cy="21844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900" b="0" i="0" u="none" strike="noStrike" kern="1200" cap="none" spc="0" normalizeH="0" baseline="0" noProof="0">
                <a:ln>
                  <a:noFill/>
                </a:ln>
                <a:solidFill>
                  <a:srgbClr val="000000"/>
                </a:solidFill>
                <a:effectLst/>
                <a:uLnTx/>
                <a:uFillTx/>
                <a:latin typeface="Graphik"/>
                <a:ea typeface="+mn-ea"/>
                <a:cs typeface="+mn-cs"/>
                <a:sym typeface="+mn-ea"/>
              </a:rPr>
              <a:t>Open Banking Edge</a:t>
            </a:r>
          </a:p>
        </p:txBody>
      </p:sp>
      <p:sp>
        <p:nvSpPr>
          <p:cNvPr id="38" name="Rectangle 37">
            <a:extLst>
              <a:ext uri="{FF2B5EF4-FFF2-40B4-BE49-F238E27FC236}">
                <a16:creationId xmlns:a16="http://schemas.microsoft.com/office/drawing/2014/main" id="{BA5B979B-F283-E865-CAB4-C6F94E357C1A}"/>
              </a:ext>
            </a:extLst>
          </p:cNvPr>
          <p:cNvSpPr/>
          <p:nvPr/>
        </p:nvSpPr>
        <p:spPr>
          <a:xfrm>
            <a:off x="4294819" y="1655664"/>
            <a:ext cx="1440000" cy="252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Partners</a:t>
            </a:r>
          </a:p>
        </p:txBody>
      </p:sp>
      <p:cxnSp>
        <p:nvCxnSpPr>
          <p:cNvPr id="39" name="Connector: Elbow 38">
            <a:extLst>
              <a:ext uri="{FF2B5EF4-FFF2-40B4-BE49-F238E27FC236}">
                <a16:creationId xmlns:a16="http://schemas.microsoft.com/office/drawing/2014/main" id="{981337D4-869F-B282-3110-EADA0ADB19FD}"/>
              </a:ext>
            </a:extLst>
          </p:cNvPr>
          <p:cNvCxnSpPr>
            <a:stCxn id="38" idx="2"/>
            <a:endCxn id="9" idx="0"/>
          </p:cNvCxnSpPr>
          <p:nvPr/>
        </p:nvCxnSpPr>
        <p:spPr>
          <a:xfrm rot="5400000">
            <a:off x="3860165" y="1114425"/>
            <a:ext cx="361315" cy="1947545"/>
          </a:xfrm>
          <a:prstGeom prst="bentConnector3">
            <a:avLst>
              <a:gd name="adj1" fmla="val 500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95F4A4B5-EE3E-D712-C936-A020104A901B}"/>
              </a:ext>
            </a:extLst>
          </p:cNvPr>
          <p:cNvCxnSpPr/>
          <p:nvPr/>
        </p:nvCxnSpPr>
        <p:spPr>
          <a:xfrm flipH="1" flipV="1">
            <a:off x="2409878" y="3029103"/>
            <a:ext cx="9525" cy="990600"/>
          </a:xfrm>
          <a:prstGeom prst="straightConnector1">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749A6CC3-F1DD-E395-826E-EAC228DCAE82}"/>
              </a:ext>
            </a:extLst>
          </p:cNvPr>
          <p:cNvCxnSpPr>
            <a:endCxn id="30" idx="2"/>
          </p:cNvCxnSpPr>
          <p:nvPr/>
        </p:nvCxnSpPr>
        <p:spPr>
          <a:xfrm flipV="1">
            <a:off x="3237179" y="4381899"/>
            <a:ext cx="1147" cy="270270"/>
          </a:xfrm>
          <a:prstGeom prst="straightConnector1">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42" name="Group 41">
            <a:extLst>
              <a:ext uri="{FF2B5EF4-FFF2-40B4-BE49-F238E27FC236}">
                <a16:creationId xmlns:a16="http://schemas.microsoft.com/office/drawing/2014/main" id="{FCE0EC35-341A-2455-AC53-D91DAC2FF938}"/>
              </a:ext>
            </a:extLst>
          </p:cNvPr>
          <p:cNvGrpSpPr/>
          <p:nvPr/>
        </p:nvGrpSpPr>
        <p:grpSpPr>
          <a:xfrm>
            <a:off x="1791739" y="2392285"/>
            <a:ext cx="612000" cy="180000"/>
            <a:chOff x="6462418" y="5062575"/>
            <a:chExt cx="1080000" cy="360000"/>
          </a:xfrm>
        </p:grpSpPr>
        <p:sp>
          <p:nvSpPr>
            <p:cNvPr id="43" name="Rectangle 42">
              <a:extLst>
                <a:ext uri="{FF2B5EF4-FFF2-40B4-BE49-F238E27FC236}">
                  <a16:creationId xmlns:a16="http://schemas.microsoft.com/office/drawing/2014/main" id="{3F514237-A278-B7C1-A8A4-4834C8C1504A}"/>
                </a:ext>
              </a:extLst>
            </p:cNvPr>
            <p:cNvSpPr/>
            <p:nvPr/>
          </p:nvSpPr>
          <p:spPr>
            <a:xfrm>
              <a:off x="6462418" y="5062575"/>
              <a:ext cx="1080000" cy="3600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srgbClr val="000000"/>
                  </a:solidFill>
                  <a:effectLst/>
                  <a:uLnTx/>
                  <a:uFillTx/>
                  <a:latin typeface="Graphik"/>
                  <a:ea typeface="+mn-ea"/>
                  <a:cs typeface="+mn-cs"/>
                </a:rPr>
                <a:t>apigee</a:t>
              </a: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44" name="Picture 43">
              <a:extLst>
                <a:ext uri="{FF2B5EF4-FFF2-40B4-BE49-F238E27FC236}">
                  <a16:creationId xmlns:a16="http://schemas.microsoft.com/office/drawing/2014/main" id="{41169109-6951-D0E4-9922-9F5D1A564E32}"/>
                </a:ext>
              </a:extLst>
            </p:cNvPr>
            <p:cNvPicPr>
              <a:picLocks noChangeAspect="1"/>
            </p:cNvPicPr>
            <p:nvPr/>
          </p:nvPicPr>
          <p:blipFill>
            <a:blip r:embed="rId2"/>
            <a:stretch>
              <a:fillRect/>
            </a:stretch>
          </p:blipFill>
          <p:spPr>
            <a:xfrm>
              <a:off x="6580383" y="5085295"/>
              <a:ext cx="844070" cy="314561"/>
            </a:xfrm>
            <a:prstGeom prst="rect">
              <a:avLst/>
            </a:prstGeom>
          </p:spPr>
        </p:pic>
      </p:grpSp>
      <p:pic>
        <p:nvPicPr>
          <p:cNvPr id="45" name="Picture 44">
            <a:extLst>
              <a:ext uri="{FF2B5EF4-FFF2-40B4-BE49-F238E27FC236}">
                <a16:creationId xmlns:a16="http://schemas.microsoft.com/office/drawing/2014/main" id="{13A71E76-3B87-6ADA-FDD5-4CE0DCE3CDD1}"/>
              </a:ext>
            </a:extLst>
          </p:cNvPr>
          <p:cNvPicPr>
            <a:picLocks noChangeAspect="1"/>
          </p:cNvPicPr>
          <p:nvPr/>
        </p:nvPicPr>
        <p:blipFill>
          <a:blip r:embed="rId2"/>
          <a:stretch>
            <a:fillRect/>
          </a:stretch>
        </p:blipFill>
        <p:spPr>
          <a:xfrm>
            <a:off x="843418" y="3592830"/>
            <a:ext cx="330559" cy="123190"/>
          </a:xfrm>
          <a:prstGeom prst="rect">
            <a:avLst/>
          </a:prstGeom>
        </p:spPr>
      </p:pic>
      <p:sp>
        <p:nvSpPr>
          <p:cNvPr id="46" name="Rectangle 45">
            <a:extLst>
              <a:ext uri="{FF2B5EF4-FFF2-40B4-BE49-F238E27FC236}">
                <a16:creationId xmlns:a16="http://schemas.microsoft.com/office/drawing/2014/main" id="{439FCE98-9F3B-E564-B511-F0EDFEF12CFD}"/>
              </a:ext>
            </a:extLst>
          </p:cNvPr>
          <p:cNvSpPr/>
          <p:nvPr/>
        </p:nvSpPr>
        <p:spPr>
          <a:xfrm>
            <a:off x="440711" y="3732752"/>
            <a:ext cx="770635" cy="21055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900" b="0" i="0" u="none" strike="noStrike" kern="1200" cap="none" spc="0" normalizeH="0" baseline="0" noProof="0">
                <a:ln>
                  <a:noFill/>
                </a:ln>
                <a:solidFill>
                  <a:srgbClr val="000000"/>
                </a:solidFill>
                <a:effectLst/>
                <a:uLnTx/>
                <a:uFillTx/>
                <a:latin typeface="Graphik"/>
                <a:ea typeface="+mn-ea"/>
                <a:cs typeface="+mn-cs"/>
                <a:sym typeface="+mn-ea"/>
              </a:rPr>
              <a:t>SSG</a:t>
            </a:r>
          </a:p>
        </p:txBody>
      </p:sp>
      <p:sp>
        <p:nvSpPr>
          <p:cNvPr id="47" name="Rectangle 46">
            <a:extLst>
              <a:ext uri="{FF2B5EF4-FFF2-40B4-BE49-F238E27FC236}">
                <a16:creationId xmlns:a16="http://schemas.microsoft.com/office/drawing/2014/main" id="{5C2AE379-9480-F8BD-05C7-ED09D3D310B2}"/>
              </a:ext>
            </a:extLst>
          </p:cNvPr>
          <p:cNvSpPr/>
          <p:nvPr/>
        </p:nvSpPr>
        <p:spPr>
          <a:xfrm>
            <a:off x="1226185" y="4203700"/>
            <a:ext cx="1124585" cy="17145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900" b="0" i="0" u="none" strike="noStrike" kern="1200" cap="none" spc="0" normalizeH="0" baseline="0" noProof="0">
                <a:ln>
                  <a:noFill/>
                </a:ln>
                <a:solidFill>
                  <a:srgbClr val="000000"/>
                </a:solidFill>
                <a:effectLst/>
                <a:uLnTx/>
                <a:uFillTx/>
                <a:latin typeface="Graphik"/>
                <a:ea typeface="+mn-ea"/>
                <a:cs typeface="+mn-cs"/>
                <a:sym typeface="+mn-ea"/>
              </a:rPr>
              <a:t>AKAMAI</a:t>
            </a:r>
          </a:p>
        </p:txBody>
      </p:sp>
      <p:sp>
        <p:nvSpPr>
          <p:cNvPr id="48" name="Rectangle 47">
            <a:extLst>
              <a:ext uri="{FF2B5EF4-FFF2-40B4-BE49-F238E27FC236}">
                <a16:creationId xmlns:a16="http://schemas.microsoft.com/office/drawing/2014/main" id="{BFA075FB-F019-6E7C-3FEB-122B845236BC}"/>
              </a:ext>
            </a:extLst>
          </p:cNvPr>
          <p:cNvSpPr/>
          <p:nvPr/>
        </p:nvSpPr>
        <p:spPr>
          <a:xfrm>
            <a:off x="1226185" y="3331845"/>
            <a:ext cx="1122045" cy="179705"/>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900" b="0" i="0" u="none" strike="noStrike" kern="1200" cap="none" spc="0" normalizeH="0" baseline="0" noProof="0">
                <a:ln>
                  <a:noFill/>
                </a:ln>
                <a:solidFill>
                  <a:srgbClr val="000000"/>
                </a:solidFill>
                <a:effectLst/>
                <a:uLnTx/>
                <a:uFillTx/>
                <a:latin typeface="Graphik"/>
                <a:ea typeface="+mn-ea"/>
                <a:cs typeface="+mn-cs"/>
                <a:sym typeface="+mn-ea"/>
              </a:rPr>
              <a:t>Authorizer</a:t>
            </a:r>
          </a:p>
        </p:txBody>
      </p:sp>
      <p:sp>
        <p:nvSpPr>
          <p:cNvPr id="49" name="Rectangle 48">
            <a:extLst>
              <a:ext uri="{FF2B5EF4-FFF2-40B4-BE49-F238E27FC236}">
                <a16:creationId xmlns:a16="http://schemas.microsoft.com/office/drawing/2014/main" id="{298575CF-CD33-72A6-BFC7-88A798142465}"/>
              </a:ext>
            </a:extLst>
          </p:cNvPr>
          <p:cNvSpPr/>
          <p:nvPr/>
        </p:nvSpPr>
        <p:spPr>
          <a:xfrm>
            <a:off x="440703" y="3025063"/>
            <a:ext cx="739386" cy="218378"/>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900" b="0" i="0" u="none" strike="noStrike" kern="1200" cap="none" spc="0" normalizeH="0" baseline="0" noProof="0">
                <a:ln>
                  <a:noFill/>
                </a:ln>
                <a:solidFill>
                  <a:srgbClr val="000000"/>
                </a:solidFill>
                <a:effectLst/>
                <a:uLnTx/>
                <a:uFillTx/>
                <a:latin typeface="Graphik"/>
                <a:ea typeface="+mn-ea"/>
                <a:cs typeface="+mn-cs"/>
                <a:sym typeface="+mn-ea"/>
              </a:rPr>
              <a:t>Edge</a:t>
            </a:r>
          </a:p>
        </p:txBody>
      </p:sp>
      <p:sp>
        <p:nvSpPr>
          <p:cNvPr id="50" name="Rectangle 49">
            <a:extLst>
              <a:ext uri="{FF2B5EF4-FFF2-40B4-BE49-F238E27FC236}">
                <a16:creationId xmlns:a16="http://schemas.microsoft.com/office/drawing/2014/main" id="{551CC50B-DDF8-05CF-6738-9C6CE61D09F5}"/>
              </a:ext>
            </a:extLst>
          </p:cNvPr>
          <p:cNvSpPr/>
          <p:nvPr/>
        </p:nvSpPr>
        <p:spPr>
          <a:xfrm>
            <a:off x="4076700" y="4202430"/>
            <a:ext cx="1587500" cy="17970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Event Gateway (</a:t>
            </a:r>
            <a:r>
              <a:rPr kumimoji="0" lang="es-MX" altLang="en-US" sz="900" b="0" i="0" u="none" strike="noStrike" kern="1200" cap="none" spc="0" normalizeH="0" baseline="0" noProof="0">
                <a:ln>
                  <a:noFill/>
                </a:ln>
                <a:solidFill>
                  <a:srgbClr val="FFFFFF"/>
                </a:solidFill>
                <a:effectLst/>
                <a:uLnTx/>
                <a:uFillTx/>
                <a:latin typeface="Graphik"/>
                <a:ea typeface="+mn-ea"/>
                <a:cs typeface="+mn-cs"/>
              </a:rPr>
              <a:t>TBD)</a:t>
            </a:r>
          </a:p>
        </p:txBody>
      </p:sp>
      <p:sp>
        <p:nvSpPr>
          <p:cNvPr id="51" name="Rectangle 50">
            <a:extLst>
              <a:ext uri="{FF2B5EF4-FFF2-40B4-BE49-F238E27FC236}">
                <a16:creationId xmlns:a16="http://schemas.microsoft.com/office/drawing/2014/main" id="{C46085AA-5C9C-B588-F752-97411E0C5F18}"/>
              </a:ext>
            </a:extLst>
          </p:cNvPr>
          <p:cNvSpPr/>
          <p:nvPr/>
        </p:nvSpPr>
        <p:spPr>
          <a:xfrm>
            <a:off x="5807710" y="2940685"/>
            <a:ext cx="1111885" cy="100076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Graphik"/>
                <a:ea typeface="+mn-ea"/>
                <a:cs typeface="+mn-cs"/>
              </a:rPr>
              <a:t>SANDBOX (For </a:t>
            </a:r>
            <a:r>
              <a:rPr kumimoji="0" lang="en-US" sz="900" b="0" i="0" u="none" strike="noStrike" kern="1200" cap="none" spc="0" normalizeH="0" baseline="0" noProof="0" dirty="0" err="1">
                <a:ln>
                  <a:noFill/>
                </a:ln>
                <a:solidFill>
                  <a:srgbClr val="FFFFFF"/>
                </a:solidFill>
                <a:effectLst/>
                <a:uLnTx/>
                <a:uFillTx/>
                <a:latin typeface="Graphik"/>
                <a:ea typeface="+mn-ea"/>
                <a:cs typeface="+mn-cs"/>
              </a:rPr>
              <a:t>Parthners</a:t>
            </a:r>
            <a:r>
              <a:rPr kumimoji="0" lang="en-US" sz="900" b="0" i="0" u="none" strike="noStrike" kern="1200" cap="none" spc="0" normalizeH="0" baseline="0" noProof="0" dirty="0">
                <a:ln>
                  <a:noFill/>
                </a:ln>
                <a:solidFill>
                  <a:srgbClr val="FFFFFF"/>
                </a:solidFill>
                <a:effectLst/>
                <a:uLnTx/>
                <a:uFillTx/>
                <a:latin typeface="Graphik"/>
                <a:ea typeface="+mn-ea"/>
                <a:cs typeface="+mn-cs"/>
              </a:rPr>
              <a:t>)</a:t>
            </a:r>
          </a:p>
        </p:txBody>
      </p:sp>
      <p:sp>
        <p:nvSpPr>
          <p:cNvPr id="52" name="Rectangle 51">
            <a:extLst>
              <a:ext uri="{FF2B5EF4-FFF2-40B4-BE49-F238E27FC236}">
                <a16:creationId xmlns:a16="http://schemas.microsoft.com/office/drawing/2014/main" id="{90D8E8B4-E8FB-2160-7025-5E294AC0B4EC}"/>
              </a:ext>
            </a:extLst>
          </p:cNvPr>
          <p:cNvSpPr/>
          <p:nvPr/>
        </p:nvSpPr>
        <p:spPr>
          <a:xfrm>
            <a:off x="5807710" y="2596515"/>
            <a:ext cx="1111885" cy="19748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err="1">
                <a:ln>
                  <a:noFill/>
                </a:ln>
                <a:solidFill>
                  <a:srgbClr val="FFFFFF"/>
                </a:solidFill>
                <a:effectLst/>
                <a:uLnTx/>
                <a:uFillTx/>
                <a:latin typeface="Graphik"/>
                <a:ea typeface="+mn-ea"/>
                <a:cs typeface="+mn-cs"/>
                <a:sym typeface="+mn-ea"/>
              </a:rPr>
              <a:t>MarketPlace</a:t>
            </a:r>
            <a:r>
              <a:rPr kumimoji="0" lang="en-US" sz="900" b="0" i="0" u="none" strike="noStrike" kern="1200" cap="none" spc="0" normalizeH="0" baseline="0" noProof="0" dirty="0">
                <a:ln>
                  <a:noFill/>
                </a:ln>
                <a:solidFill>
                  <a:srgbClr val="FFFFFF"/>
                </a:solidFill>
                <a:effectLst/>
                <a:uLnTx/>
                <a:uFillTx/>
                <a:latin typeface="Graphik"/>
                <a:ea typeface="+mn-ea"/>
                <a:cs typeface="+mn-cs"/>
                <a:sym typeface="+mn-ea"/>
              </a:rPr>
              <a:t> (TBD)</a:t>
            </a:r>
          </a:p>
        </p:txBody>
      </p:sp>
      <p:sp>
        <p:nvSpPr>
          <p:cNvPr id="53" name="Rectangle 1060">
            <a:extLst>
              <a:ext uri="{FF2B5EF4-FFF2-40B4-BE49-F238E27FC236}">
                <a16:creationId xmlns:a16="http://schemas.microsoft.com/office/drawing/2014/main" id="{66B9A512-7147-A0E8-53FA-4D61B22CD130}"/>
              </a:ext>
            </a:extLst>
          </p:cNvPr>
          <p:cNvSpPr/>
          <p:nvPr/>
        </p:nvSpPr>
        <p:spPr>
          <a:xfrm>
            <a:off x="8883946" y="6036147"/>
            <a:ext cx="2880000" cy="18000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900" b="0" i="0" u="none" strike="noStrike" kern="1200" cap="none" spc="0" normalizeH="0" baseline="0" noProof="0" dirty="0">
                <a:ln>
                  <a:noFill/>
                </a:ln>
                <a:solidFill>
                  <a:srgbClr val="000000"/>
                </a:solidFill>
                <a:effectLst/>
                <a:uLnTx/>
                <a:uFillTx/>
                <a:latin typeface="Graphik"/>
                <a:ea typeface="+mn-ea"/>
                <a:cs typeface="+mn-cs"/>
              </a:rPr>
              <a:t>Current components</a:t>
            </a:r>
          </a:p>
        </p:txBody>
      </p:sp>
      <p:cxnSp>
        <p:nvCxnSpPr>
          <p:cNvPr id="54" name="Connector: Elbow 140">
            <a:extLst>
              <a:ext uri="{FF2B5EF4-FFF2-40B4-BE49-F238E27FC236}">
                <a16:creationId xmlns:a16="http://schemas.microsoft.com/office/drawing/2014/main" id="{5D7C1A08-6A0B-31FF-E151-BCAC09DED52C}"/>
              </a:ext>
            </a:extLst>
          </p:cNvPr>
          <p:cNvCxnSpPr>
            <a:stCxn id="47" idx="2"/>
          </p:cNvCxnSpPr>
          <p:nvPr/>
        </p:nvCxnSpPr>
        <p:spPr>
          <a:xfrm rot="5400000" flipV="1">
            <a:off x="2364105" y="3799840"/>
            <a:ext cx="301625" cy="1451610"/>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Arrow: Up-Down 54">
            <a:extLst>
              <a:ext uri="{FF2B5EF4-FFF2-40B4-BE49-F238E27FC236}">
                <a16:creationId xmlns:a16="http://schemas.microsoft.com/office/drawing/2014/main" id="{F170BDBF-0EFD-D088-B440-73DF60424698}"/>
              </a:ext>
            </a:extLst>
          </p:cNvPr>
          <p:cNvSpPr/>
          <p:nvPr/>
        </p:nvSpPr>
        <p:spPr>
          <a:xfrm>
            <a:off x="3006300" y="2823024"/>
            <a:ext cx="307065" cy="260998"/>
          </a:xfrm>
          <a:prstGeom prst="upDownArrow">
            <a:avLst>
              <a:gd name="adj1" fmla="val 43596"/>
              <a:gd name="adj2" fmla="val 307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Graphik"/>
              <a:ea typeface="+mn-ea"/>
              <a:cs typeface="+mn-cs"/>
            </a:endParaRPr>
          </a:p>
        </p:txBody>
      </p:sp>
      <p:sp>
        <p:nvSpPr>
          <p:cNvPr id="56" name="Rectangle 32">
            <a:extLst>
              <a:ext uri="{FF2B5EF4-FFF2-40B4-BE49-F238E27FC236}">
                <a16:creationId xmlns:a16="http://schemas.microsoft.com/office/drawing/2014/main" id="{46CC6183-1267-AAA3-C1BB-2BC5AA8F1E2C}"/>
              </a:ext>
            </a:extLst>
          </p:cNvPr>
          <p:cNvSpPr/>
          <p:nvPr/>
        </p:nvSpPr>
        <p:spPr>
          <a:xfrm>
            <a:off x="1226185" y="3911600"/>
            <a:ext cx="1111885" cy="19748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altLang="en-US" sz="900" b="0" i="0" u="none" strike="noStrike" kern="1200" cap="none" spc="0" normalizeH="0" baseline="0" noProof="0">
                <a:ln>
                  <a:noFill/>
                </a:ln>
                <a:solidFill>
                  <a:srgbClr val="FFFFFF"/>
                </a:solidFill>
                <a:effectLst/>
                <a:uLnTx/>
                <a:uFillTx/>
                <a:latin typeface="Graphik"/>
                <a:ea typeface="+mn-ea"/>
                <a:cs typeface="+mn-cs"/>
                <a:sym typeface="+mn-ea"/>
              </a:rPr>
              <a:t>DMZ</a:t>
            </a:r>
          </a:p>
        </p:txBody>
      </p:sp>
    </p:spTree>
    <p:extLst>
      <p:ext uri="{BB962C8B-B14F-4D97-AF65-F5344CB8AC3E}">
        <p14:creationId xmlns:p14="http://schemas.microsoft.com/office/powerpoint/2010/main" val="25935437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D7636-D3AE-C7F1-5F77-65AFA539A066}"/>
            </a:ext>
          </a:extLst>
        </p:cNvPr>
        <p:cNvGrpSpPr/>
        <p:nvPr/>
      </p:nvGrpSpPr>
      <p:grpSpPr>
        <a:xfrm>
          <a:off x="0" y="0"/>
          <a:ext cx="0" cy="0"/>
          <a:chOff x="0" y="0"/>
          <a:chExt cx="0" cy="0"/>
        </a:xfrm>
      </p:grpSpPr>
      <p:sp>
        <p:nvSpPr>
          <p:cNvPr id="118" name="Title 1">
            <a:extLst>
              <a:ext uri="{FF2B5EF4-FFF2-40B4-BE49-F238E27FC236}">
                <a16:creationId xmlns:a16="http://schemas.microsoft.com/office/drawing/2014/main" id="{21F5739B-AC3D-1414-E7D0-4D980279C598}"/>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Interoperability Asset </a:t>
            </a:r>
            <a:r>
              <a:rPr kumimoji="0" lang="en-US" sz="2400" b="1" i="0" u="none" strike="noStrike" kern="1200" cap="none" spc="0" normalizeH="0" baseline="0" noProof="0">
                <a:ln>
                  <a:noFill/>
                </a:ln>
                <a:solidFill>
                  <a:srgbClr val="000000"/>
                </a:solidFill>
                <a:effectLst/>
                <a:uLnTx/>
                <a:uFillTx/>
                <a:latin typeface="Graphik"/>
                <a:ea typeface="+mj-ea"/>
                <a:cs typeface="+mj-cs"/>
              </a:rPr>
              <a:t>| Security</a:t>
            </a:r>
          </a:p>
        </p:txBody>
      </p:sp>
      <p:grpSp>
        <p:nvGrpSpPr>
          <p:cNvPr id="4" name="Group 3">
            <a:extLst>
              <a:ext uri="{FF2B5EF4-FFF2-40B4-BE49-F238E27FC236}">
                <a16:creationId xmlns:a16="http://schemas.microsoft.com/office/drawing/2014/main" id="{64307479-E53E-44D8-C537-6C0CD8CBCBBF}"/>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35AC0E75-02CE-7512-E4D8-78541B660E1F}"/>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Illustrative non exhaustive</a:t>
              </a:r>
            </a:p>
          </p:txBody>
        </p:sp>
        <p:cxnSp>
          <p:nvCxnSpPr>
            <p:cNvPr id="6" name="Straight Connector 5">
              <a:extLst>
                <a:ext uri="{FF2B5EF4-FFF2-40B4-BE49-F238E27FC236}">
                  <a16:creationId xmlns:a16="http://schemas.microsoft.com/office/drawing/2014/main" id="{17623EBF-0B75-A7E8-A39D-F854C81F910A}"/>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53EAA96-47A1-F70B-C2AC-26BE9DCD648A}"/>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0" name="Rectangle 99">
            <a:extLst>
              <a:ext uri="{FF2B5EF4-FFF2-40B4-BE49-F238E27FC236}">
                <a16:creationId xmlns:a16="http://schemas.microsoft.com/office/drawing/2014/main" id="{00E7A019-5C0B-BD40-7217-068974E57EC5}"/>
              </a:ext>
            </a:extLst>
          </p:cNvPr>
          <p:cNvSpPr/>
          <p:nvPr/>
        </p:nvSpPr>
        <p:spPr>
          <a:xfrm>
            <a:off x="3847488" y="5513159"/>
            <a:ext cx="4795770" cy="1155991"/>
          </a:xfrm>
          <a:prstGeom prst="rect">
            <a:avLst/>
          </a:prstGeom>
          <a:solidFill>
            <a:schemeClr val="accent1">
              <a:alpha val="15932"/>
            </a:schemeClr>
          </a:solidFill>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400" b="0" i="0" u="none" strike="noStrike" kern="1200" cap="none" spc="0" normalizeH="0" baseline="0" noProof="0">
              <a:ln>
                <a:noFill/>
              </a:ln>
              <a:solidFill>
                <a:srgbClr val="000000"/>
              </a:solidFill>
              <a:effectLst/>
              <a:uLnTx/>
              <a:uFillTx/>
              <a:latin typeface="Graphik"/>
              <a:ea typeface="+mn-ea"/>
              <a:cs typeface="+mn-cs"/>
            </a:endParaRPr>
          </a:p>
        </p:txBody>
      </p:sp>
      <p:sp>
        <p:nvSpPr>
          <p:cNvPr id="101" name="Rectangle 100">
            <a:extLst>
              <a:ext uri="{FF2B5EF4-FFF2-40B4-BE49-F238E27FC236}">
                <a16:creationId xmlns:a16="http://schemas.microsoft.com/office/drawing/2014/main" id="{F8A521F0-AD5D-4F8E-53B8-A7982547492A}"/>
              </a:ext>
            </a:extLst>
          </p:cNvPr>
          <p:cNvSpPr/>
          <p:nvPr/>
        </p:nvSpPr>
        <p:spPr>
          <a:xfrm>
            <a:off x="8880136" y="1049355"/>
            <a:ext cx="2880000" cy="180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Main components of this capability</a:t>
            </a:r>
          </a:p>
        </p:txBody>
      </p:sp>
      <p:sp>
        <p:nvSpPr>
          <p:cNvPr id="102" name="Rectangle 101">
            <a:extLst>
              <a:ext uri="{FF2B5EF4-FFF2-40B4-BE49-F238E27FC236}">
                <a16:creationId xmlns:a16="http://schemas.microsoft.com/office/drawing/2014/main" id="{7A61FA34-36A4-0DF7-E1C4-DFFA1956FA09}"/>
              </a:ext>
            </a:extLst>
          </p:cNvPr>
          <p:cNvSpPr/>
          <p:nvPr/>
        </p:nvSpPr>
        <p:spPr>
          <a:xfrm>
            <a:off x="8880136" y="1283507"/>
            <a:ext cx="2880000" cy="18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Components of other related capabilities</a:t>
            </a:r>
          </a:p>
        </p:txBody>
      </p:sp>
      <p:sp>
        <p:nvSpPr>
          <p:cNvPr id="103" name="Rectangle 102">
            <a:extLst>
              <a:ext uri="{FF2B5EF4-FFF2-40B4-BE49-F238E27FC236}">
                <a16:creationId xmlns:a16="http://schemas.microsoft.com/office/drawing/2014/main" id="{6E018093-F538-C609-40FF-5998BC7A1144}"/>
              </a:ext>
            </a:extLst>
          </p:cNvPr>
          <p:cNvSpPr/>
          <p:nvPr/>
        </p:nvSpPr>
        <p:spPr>
          <a:xfrm>
            <a:off x="8880136" y="1499932"/>
            <a:ext cx="288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Functional Components related to this capability</a:t>
            </a:r>
          </a:p>
        </p:txBody>
      </p:sp>
      <p:sp>
        <p:nvSpPr>
          <p:cNvPr id="104" name="Rectangle 103">
            <a:extLst>
              <a:ext uri="{FF2B5EF4-FFF2-40B4-BE49-F238E27FC236}">
                <a16:creationId xmlns:a16="http://schemas.microsoft.com/office/drawing/2014/main" id="{A21890F0-D264-E20F-F4DC-E4627912EFE7}"/>
              </a:ext>
            </a:extLst>
          </p:cNvPr>
          <p:cNvSpPr/>
          <p:nvPr/>
        </p:nvSpPr>
        <p:spPr>
          <a:xfrm>
            <a:off x="3924601" y="1764313"/>
            <a:ext cx="4623332" cy="268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Graphik"/>
                <a:ea typeface="+mn-ea"/>
                <a:cs typeface="+mn-cs"/>
              </a:rPr>
              <a:t>Outbound</a:t>
            </a:r>
          </a:p>
        </p:txBody>
      </p:sp>
      <p:sp>
        <p:nvSpPr>
          <p:cNvPr id="105" name="Rectangle 104">
            <a:extLst>
              <a:ext uri="{FF2B5EF4-FFF2-40B4-BE49-F238E27FC236}">
                <a16:creationId xmlns:a16="http://schemas.microsoft.com/office/drawing/2014/main" id="{2BF9DA2B-9A19-BBA9-9BC6-C4EC5AC361D1}"/>
              </a:ext>
            </a:extLst>
          </p:cNvPr>
          <p:cNvSpPr/>
          <p:nvPr/>
        </p:nvSpPr>
        <p:spPr>
          <a:xfrm>
            <a:off x="3932267" y="1458620"/>
            <a:ext cx="4623332" cy="268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Graphik"/>
                <a:ea typeface="+mn-ea"/>
                <a:cs typeface="+mn-cs"/>
              </a:rPr>
              <a:t>Inbound</a:t>
            </a:r>
          </a:p>
        </p:txBody>
      </p:sp>
      <p:sp>
        <p:nvSpPr>
          <p:cNvPr id="106" name="TextBox 105">
            <a:extLst>
              <a:ext uri="{FF2B5EF4-FFF2-40B4-BE49-F238E27FC236}">
                <a16:creationId xmlns:a16="http://schemas.microsoft.com/office/drawing/2014/main" id="{518D815F-F889-811B-EB63-3277CEE97798}"/>
              </a:ext>
            </a:extLst>
          </p:cNvPr>
          <p:cNvSpPr txBox="1"/>
          <p:nvPr/>
        </p:nvSpPr>
        <p:spPr>
          <a:xfrm>
            <a:off x="3929736" y="1016466"/>
            <a:ext cx="1966403" cy="192392"/>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9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Gateway Services</a:t>
            </a:r>
          </a:p>
        </p:txBody>
      </p:sp>
      <p:sp>
        <p:nvSpPr>
          <p:cNvPr id="107" name="Rectangle 106">
            <a:extLst>
              <a:ext uri="{FF2B5EF4-FFF2-40B4-BE49-F238E27FC236}">
                <a16:creationId xmlns:a16="http://schemas.microsoft.com/office/drawing/2014/main" id="{00A6270B-4F86-51E3-277B-EE70D07215B9}"/>
              </a:ext>
            </a:extLst>
          </p:cNvPr>
          <p:cNvSpPr/>
          <p:nvPr/>
        </p:nvSpPr>
        <p:spPr>
          <a:xfrm>
            <a:off x="3932266" y="2585323"/>
            <a:ext cx="4623333"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Perimetral  Security (FW) Reglas de </a:t>
            </a:r>
            <a:r>
              <a:rPr kumimoji="0" lang="en-US" sz="900" b="0" i="0" u="none" strike="noStrike" kern="1200" cap="none" spc="0" normalizeH="0" baseline="0" noProof="0" err="1">
                <a:ln>
                  <a:noFill/>
                </a:ln>
                <a:solidFill>
                  <a:srgbClr val="FFFFFF"/>
                </a:solidFill>
                <a:effectLst/>
                <a:uLnTx/>
                <a:uFillTx/>
                <a:latin typeface="Graphik"/>
                <a:ea typeface="+mn-ea"/>
                <a:cs typeface="+mn-cs"/>
              </a:rPr>
              <a:t>Ruteo</a:t>
            </a:r>
            <a:endParaRPr kumimoji="0" lang="en-US" sz="900" b="0" i="0" u="none" strike="noStrike" kern="1200" cap="none" spc="0" normalizeH="0" baseline="0" noProof="0">
              <a:ln>
                <a:noFill/>
              </a:ln>
              <a:solidFill>
                <a:srgbClr val="FFFFFF"/>
              </a:solidFill>
              <a:effectLst/>
              <a:uLnTx/>
              <a:uFillTx/>
              <a:latin typeface="Graphik"/>
              <a:ea typeface="+mn-ea"/>
              <a:cs typeface="+mn-cs"/>
            </a:endParaRPr>
          </a:p>
        </p:txBody>
      </p:sp>
      <p:sp>
        <p:nvSpPr>
          <p:cNvPr id="108" name="Rectangle 107">
            <a:extLst>
              <a:ext uri="{FF2B5EF4-FFF2-40B4-BE49-F238E27FC236}">
                <a16:creationId xmlns:a16="http://schemas.microsoft.com/office/drawing/2014/main" id="{36272C7F-5ADD-F870-8753-3D6FD231D985}"/>
              </a:ext>
            </a:extLst>
          </p:cNvPr>
          <p:cNvSpPr/>
          <p:nvPr/>
        </p:nvSpPr>
        <p:spPr>
          <a:xfrm>
            <a:off x="3932266" y="2077762"/>
            <a:ext cx="4623332"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DMZ </a:t>
            </a:r>
          </a:p>
        </p:txBody>
      </p:sp>
      <p:sp>
        <p:nvSpPr>
          <p:cNvPr id="109" name="Can 172">
            <a:extLst>
              <a:ext uri="{FF2B5EF4-FFF2-40B4-BE49-F238E27FC236}">
                <a16:creationId xmlns:a16="http://schemas.microsoft.com/office/drawing/2014/main" id="{D208E0A0-3175-3539-E61C-FA1146970091}"/>
              </a:ext>
            </a:extLst>
          </p:cNvPr>
          <p:cNvSpPr/>
          <p:nvPr/>
        </p:nvSpPr>
        <p:spPr bwMode="auto">
          <a:xfrm>
            <a:off x="2220595" y="2631665"/>
            <a:ext cx="354330" cy="1452245"/>
          </a:xfrm>
          <a:prstGeom prst="can">
            <a:avLst>
              <a:gd name="adj" fmla="val 59089"/>
            </a:avLst>
          </a:prstGeom>
          <a:solidFill>
            <a:srgbClr val="FF000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Security Observability</a:t>
            </a:r>
          </a:p>
        </p:txBody>
      </p:sp>
      <p:cxnSp>
        <p:nvCxnSpPr>
          <p:cNvPr id="110" name="Connector: Elbow 124">
            <a:extLst>
              <a:ext uri="{FF2B5EF4-FFF2-40B4-BE49-F238E27FC236}">
                <a16:creationId xmlns:a16="http://schemas.microsoft.com/office/drawing/2014/main" id="{ABE2A46E-6BB2-DCB5-572D-BE2657D8FA30}"/>
              </a:ext>
            </a:extLst>
          </p:cNvPr>
          <p:cNvCxnSpPr>
            <a:stCxn id="108" idx="1"/>
            <a:endCxn id="109" idx="4"/>
          </p:cNvCxnSpPr>
          <p:nvPr/>
        </p:nvCxnSpPr>
        <p:spPr>
          <a:xfrm rot="10800000" flipV="1">
            <a:off x="2574925" y="2222090"/>
            <a:ext cx="1357630" cy="1136015"/>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9BBF82CE-974F-8FDD-2AFB-4FD071BA0CA7}"/>
              </a:ext>
            </a:extLst>
          </p:cNvPr>
          <p:cNvSpPr txBox="1"/>
          <p:nvPr/>
        </p:nvSpPr>
        <p:spPr>
          <a:xfrm>
            <a:off x="3932266" y="3032794"/>
            <a:ext cx="1966403" cy="230832"/>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9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API Management</a:t>
            </a:r>
          </a:p>
        </p:txBody>
      </p:sp>
      <p:sp>
        <p:nvSpPr>
          <p:cNvPr id="112" name="Rectangle 111">
            <a:extLst>
              <a:ext uri="{FF2B5EF4-FFF2-40B4-BE49-F238E27FC236}">
                <a16:creationId xmlns:a16="http://schemas.microsoft.com/office/drawing/2014/main" id="{2FCA7666-39F0-1494-38EF-37DA4A839138}"/>
              </a:ext>
            </a:extLst>
          </p:cNvPr>
          <p:cNvSpPr/>
          <p:nvPr/>
        </p:nvSpPr>
        <p:spPr>
          <a:xfrm>
            <a:off x="3933115" y="3305635"/>
            <a:ext cx="4623333"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Identity &amp; Access Management</a:t>
            </a:r>
          </a:p>
        </p:txBody>
      </p:sp>
      <p:sp>
        <p:nvSpPr>
          <p:cNvPr id="113" name="Rectangle 112">
            <a:extLst>
              <a:ext uri="{FF2B5EF4-FFF2-40B4-BE49-F238E27FC236}">
                <a16:creationId xmlns:a16="http://schemas.microsoft.com/office/drawing/2014/main" id="{9C6A4068-8E3D-DC80-5D2A-EF2B901B2778}"/>
              </a:ext>
            </a:extLst>
          </p:cNvPr>
          <p:cNvSpPr/>
          <p:nvPr/>
        </p:nvSpPr>
        <p:spPr>
          <a:xfrm>
            <a:off x="3932266" y="3658641"/>
            <a:ext cx="1111041" cy="32995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User Management</a:t>
            </a:r>
          </a:p>
        </p:txBody>
      </p:sp>
      <p:sp>
        <p:nvSpPr>
          <p:cNvPr id="114" name="Rectangle 113">
            <a:extLst>
              <a:ext uri="{FF2B5EF4-FFF2-40B4-BE49-F238E27FC236}">
                <a16:creationId xmlns:a16="http://schemas.microsoft.com/office/drawing/2014/main" id="{F6A48956-6EDF-65AC-8C11-AA2EA2361FD5}"/>
              </a:ext>
            </a:extLst>
          </p:cNvPr>
          <p:cNvSpPr/>
          <p:nvPr/>
        </p:nvSpPr>
        <p:spPr>
          <a:xfrm>
            <a:off x="5099440" y="3658641"/>
            <a:ext cx="1111041" cy="32995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Token Management</a:t>
            </a:r>
          </a:p>
        </p:txBody>
      </p:sp>
      <p:sp>
        <p:nvSpPr>
          <p:cNvPr id="115" name="Rectangle 114">
            <a:extLst>
              <a:ext uri="{FF2B5EF4-FFF2-40B4-BE49-F238E27FC236}">
                <a16:creationId xmlns:a16="http://schemas.microsoft.com/office/drawing/2014/main" id="{447AB55E-2FF0-1AC0-FF7F-05387DB6899B}"/>
              </a:ext>
            </a:extLst>
          </p:cNvPr>
          <p:cNvSpPr/>
          <p:nvPr/>
        </p:nvSpPr>
        <p:spPr>
          <a:xfrm>
            <a:off x="6275015" y="3658641"/>
            <a:ext cx="1111041" cy="32995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Certificate Management</a:t>
            </a:r>
          </a:p>
        </p:txBody>
      </p:sp>
      <p:sp>
        <p:nvSpPr>
          <p:cNvPr id="116" name="Rectangle 115">
            <a:extLst>
              <a:ext uri="{FF2B5EF4-FFF2-40B4-BE49-F238E27FC236}">
                <a16:creationId xmlns:a16="http://schemas.microsoft.com/office/drawing/2014/main" id="{4FE2F994-B06E-B23F-F338-7FBC9F1CA761}"/>
              </a:ext>
            </a:extLst>
          </p:cNvPr>
          <p:cNvSpPr/>
          <p:nvPr/>
        </p:nvSpPr>
        <p:spPr>
          <a:xfrm>
            <a:off x="7445408" y="3660860"/>
            <a:ext cx="1111041" cy="32995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Policy Management</a:t>
            </a:r>
          </a:p>
        </p:txBody>
      </p:sp>
      <p:cxnSp>
        <p:nvCxnSpPr>
          <p:cNvPr id="117" name="Straight Arrow Connector 116">
            <a:extLst>
              <a:ext uri="{FF2B5EF4-FFF2-40B4-BE49-F238E27FC236}">
                <a16:creationId xmlns:a16="http://schemas.microsoft.com/office/drawing/2014/main" id="{8CB6AE69-4E1D-7013-F8DC-A18FE1938C3C}"/>
              </a:ext>
            </a:extLst>
          </p:cNvPr>
          <p:cNvCxnSpPr>
            <a:stCxn id="169" idx="1"/>
            <a:endCxn id="116" idx="3"/>
          </p:cNvCxnSpPr>
          <p:nvPr/>
        </p:nvCxnSpPr>
        <p:spPr>
          <a:xfrm flipH="1">
            <a:off x="8556449" y="3822949"/>
            <a:ext cx="895577" cy="289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09A2206A-083A-B245-7F5E-2111E112DD8F}"/>
              </a:ext>
            </a:extLst>
          </p:cNvPr>
          <p:cNvSpPr txBox="1"/>
          <p:nvPr/>
        </p:nvSpPr>
        <p:spPr>
          <a:xfrm>
            <a:off x="3287317" y="3520825"/>
            <a:ext cx="560170" cy="169277"/>
          </a:xfrm>
          <a:prstGeom prst="rect">
            <a:avLst/>
          </a:prstGeom>
          <a:noFill/>
        </p:spPr>
        <p:txBody>
          <a:bodyPr wrap="squar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a:ea typeface="+mn-ea"/>
                <a:cs typeface="+mn-cs"/>
              </a:rPr>
              <a:t>Developers</a:t>
            </a:r>
          </a:p>
        </p:txBody>
      </p:sp>
      <p:cxnSp>
        <p:nvCxnSpPr>
          <p:cNvPr id="121" name="Straight Arrow Connector 120">
            <a:extLst>
              <a:ext uri="{FF2B5EF4-FFF2-40B4-BE49-F238E27FC236}">
                <a16:creationId xmlns:a16="http://schemas.microsoft.com/office/drawing/2014/main" id="{AADC4529-E40E-21E6-DB32-9046A3266774}"/>
              </a:ext>
            </a:extLst>
          </p:cNvPr>
          <p:cNvCxnSpPr/>
          <p:nvPr/>
        </p:nvCxnSpPr>
        <p:spPr>
          <a:xfrm>
            <a:off x="3760892" y="3591916"/>
            <a:ext cx="17137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2" name="Rectangle 121">
            <a:extLst>
              <a:ext uri="{FF2B5EF4-FFF2-40B4-BE49-F238E27FC236}">
                <a16:creationId xmlns:a16="http://schemas.microsoft.com/office/drawing/2014/main" id="{91383484-BD07-5185-4166-61F391E0D508}"/>
              </a:ext>
            </a:extLst>
          </p:cNvPr>
          <p:cNvSpPr/>
          <p:nvPr/>
        </p:nvSpPr>
        <p:spPr>
          <a:xfrm>
            <a:off x="3933604" y="4078545"/>
            <a:ext cx="4623333"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API Security</a:t>
            </a:r>
          </a:p>
        </p:txBody>
      </p:sp>
      <p:sp>
        <p:nvSpPr>
          <p:cNvPr id="123" name="Rectangle 122">
            <a:extLst>
              <a:ext uri="{FF2B5EF4-FFF2-40B4-BE49-F238E27FC236}">
                <a16:creationId xmlns:a16="http://schemas.microsoft.com/office/drawing/2014/main" id="{3315AF8A-F3D8-F38E-1769-C80230093113}"/>
              </a:ext>
            </a:extLst>
          </p:cNvPr>
          <p:cNvSpPr/>
          <p:nvPr/>
        </p:nvSpPr>
        <p:spPr>
          <a:xfrm>
            <a:off x="3932266" y="4432534"/>
            <a:ext cx="1111041" cy="32995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Authentication</a:t>
            </a:r>
          </a:p>
        </p:txBody>
      </p:sp>
      <p:sp>
        <p:nvSpPr>
          <p:cNvPr id="124" name="Rectangle 123">
            <a:extLst>
              <a:ext uri="{FF2B5EF4-FFF2-40B4-BE49-F238E27FC236}">
                <a16:creationId xmlns:a16="http://schemas.microsoft.com/office/drawing/2014/main" id="{8322BF55-3AD0-B8DE-4829-51D59A16A6DE}"/>
              </a:ext>
            </a:extLst>
          </p:cNvPr>
          <p:cNvSpPr/>
          <p:nvPr/>
        </p:nvSpPr>
        <p:spPr>
          <a:xfrm>
            <a:off x="5119251" y="4432533"/>
            <a:ext cx="1111041" cy="32995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Authorization</a:t>
            </a:r>
          </a:p>
        </p:txBody>
      </p:sp>
      <p:sp>
        <p:nvSpPr>
          <p:cNvPr id="125" name="Rectangle 124">
            <a:extLst>
              <a:ext uri="{FF2B5EF4-FFF2-40B4-BE49-F238E27FC236}">
                <a16:creationId xmlns:a16="http://schemas.microsoft.com/office/drawing/2014/main" id="{6F0D59EE-393E-FC52-B786-04B2ED32067E}"/>
              </a:ext>
            </a:extLst>
          </p:cNvPr>
          <p:cNvSpPr/>
          <p:nvPr/>
        </p:nvSpPr>
        <p:spPr>
          <a:xfrm>
            <a:off x="6305476" y="4432532"/>
            <a:ext cx="1070642" cy="32995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Injection Attacks</a:t>
            </a:r>
          </a:p>
        </p:txBody>
      </p:sp>
      <p:sp>
        <p:nvSpPr>
          <p:cNvPr id="126" name="Rectangle 125">
            <a:extLst>
              <a:ext uri="{FF2B5EF4-FFF2-40B4-BE49-F238E27FC236}">
                <a16:creationId xmlns:a16="http://schemas.microsoft.com/office/drawing/2014/main" id="{9674111B-3931-D0C2-0869-9B736007C9B9}"/>
              </a:ext>
            </a:extLst>
          </p:cNvPr>
          <p:cNvSpPr/>
          <p:nvPr/>
        </p:nvSpPr>
        <p:spPr>
          <a:xfrm>
            <a:off x="7453037" y="4432531"/>
            <a:ext cx="1111041" cy="32995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Policy Enforcement</a:t>
            </a:r>
          </a:p>
        </p:txBody>
      </p:sp>
      <p:sp>
        <p:nvSpPr>
          <p:cNvPr id="127" name="Rectangle 126">
            <a:extLst>
              <a:ext uri="{FF2B5EF4-FFF2-40B4-BE49-F238E27FC236}">
                <a16:creationId xmlns:a16="http://schemas.microsoft.com/office/drawing/2014/main" id="{20B938BA-8F52-7DEA-7AAE-67D75D23A915}"/>
              </a:ext>
            </a:extLst>
          </p:cNvPr>
          <p:cNvSpPr/>
          <p:nvPr/>
        </p:nvSpPr>
        <p:spPr>
          <a:xfrm>
            <a:off x="3932266" y="5161431"/>
            <a:ext cx="4631812" cy="32995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Graphik"/>
                <a:ea typeface="+mn-ea"/>
                <a:cs typeface="+mn-cs"/>
              </a:rPr>
              <a:t>Audit Logging &amp; Auditing</a:t>
            </a:r>
          </a:p>
        </p:txBody>
      </p:sp>
      <p:cxnSp>
        <p:nvCxnSpPr>
          <p:cNvPr id="128" name="Connector: Elbow 124">
            <a:extLst>
              <a:ext uri="{FF2B5EF4-FFF2-40B4-BE49-F238E27FC236}">
                <a16:creationId xmlns:a16="http://schemas.microsoft.com/office/drawing/2014/main" id="{ADE24F68-1046-FD05-4E1B-8E556D231F05}"/>
              </a:ext>
            </a:extLst>
          </p:cNvPr>
          <p:cNvCxnSpPr>
            <a:stCxn id="127" idx="1"/>
            <a:endCxn id="158" idx="3"/>
          </p:cNvCxnSpPr>
          <p:nvPr/>
        </p:nvCxnSpPr>
        <p:spPr>
          <a:xfrm rot="10800000" flipV="1">
            <a:off x="3671102" y="5326409"/>
            <a:ext cx="261164" cy="4903"/>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9" name="Connector: Elbow 124">
            <a:extLst>
              <a:ext uri="{FF2B5EF4-FFF2-40B4-BE49-F238E27FC236}">
                <a16:creationId xmlns:a16="http://schemas.microsoft.com/office/drawing/2014/main" id="{C874352A-D2F2-6E1A-C3CA-367DF737FEAE}"/>
              </a:ext>
            </a:extLst>
          </p:cNvPr>
          <p:cNvCxnSpPr>
            <a:stCxn id="158" idx="1"/>
            <a:endCxn id="109" idx="4"/>
          </p:cNvCxnSpPr>
          <p:nvPr/>
        </p:nvCxnSpPr>
        <p:spPr>
          <a:xfrm rot="10800000">
            <a:off x="2574925" y="3358105"/>
            <a:ext cx="544195" cy="1973580"/>
          </a:xfrm>
          <a:prstGeom prst="bentConnector3">
            <a:avLst>
              <a:gd name="adj1" fmla="val 4994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EEEB7811-D3D0-9FC4-2E0B-AD98BD29199B}"/>
              </a:ext>
            </a:extLst>
          </p:cNvPr>
          <p:cNvCxnSpPr/>
          <p:nvPr/>
        </p:nvCxnSpPr>
        <p:spPr>
          <a:xfrm>
            <a:off x="8564078" y="4328827"/>
            <a:ext cx="25012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A4F09B6A-D871-DD48-FE76-71645B88044B}"/>
              </a:ext>
            </a:extLst>
          </p:cNvPr>
          <p:cNvCxnSpPr/>
          <p:nvPr/>
        </p:nvCxnSpPr>
        <p:spPr>
          <a:xfrm flipV="1">
            <a:off x="8559928" y="4471788"/>
            <a:ext cx="253932" cy="11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2" name="Rectangle: Rounded Corners 55">
            <a:extLst>
              <a:ext uri="{FF2B5EF4-FFF2-40B4-BE49-F238E27FC236}">
                <a16:creationId xmlns:a16="http://schemas.microsoft.com/office/drawing/2014/main" id="{5E208094-EA60-1E65-546A-CADB3BD61425}"/>
              </a:ext>
            </a:extLst>
          </p:cNvPr>
          <p:cNvSpPr/>
          <p:nvPr/>
        </p:nvSpPr>
        <p:spPr>
          <a:xfrm>
            <a:off x="3956810" y="4803024"/>
            <a:ext cx="1021723" cy="290618"/>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Graphik"/>
                <a:ea typeface="+mn-ea"/>
                <a:cs typeface="+mn-cs"/>
              </a:rPr>
              <a:t>KEY store</a:t>
            </a:r>
          </a:p>
        </p:txBody>
      </p:sp>
      <p:sp>
        <p:nvSpPr>
          <p:cNvPr id="133" name="Can 172">
            <a:extLst>
              <a:ext uri="{FF2B5EF4-FFF2-40B4-BE49-F238E27FC236}">
                <a16:creationId xmlns:a16="http://schemas.microsoft.com/office/drawing/2014/main" id="{F8471EE6-C518-2092-6AE6-A540C52E7BEB}"/>
              </a:ext>
            </a:extLst>
          </p:cNvPr>
          <p:cNvSpPr/>
          <p:nvPr/>
        </p:nvSpPr>
        <p:spPr bwMode="auto">
          <a:xfrm>
            <a:off x="2192655" y="4261075"/>
            <a:ext cx="445770" cy="1209040"/>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Omni Channel Components</a:t>
            </a:r>
          </a:p>
        </p:txBody>
      </p:sp>
      <p:pic>
        <p:nvPicPr>
          <p:cNvPr id="134" name="Picture 133">
            <a:extLst>
              <a:ext uri="{FF2B5EF4-FFF2-40B4-BE49-F238E27FC236}">
                <a16:creationId xmlns:a16="http://schemas.microsoft.com/office/drawing/2014/main" id="{8B852413-8AD0-8EA3-BAF8-F01F3821EC94}"/>
              </a:ext>
            </a:extLst>
          </p:cNvPr>
          <p:cNvPicPr>
            <a:picLocks noChangeAspect="1"/>
          </p:cNvPicPr>
          <p:nvPr/>
        </p:nvPicPr>
        <p:blipFill>
          <a:blip r:embed="rId2">
            <a:duotone>
              <a:prstClr val="black"/>
              <a:schemeClr val="bg1">
                <a:tint val="45000"/>
                <a:satMod val="400000"/>
              </a:schemeClr>
            </a:duotone>
          </a:blip>
          <a:stretch>
            <a:fillRect/>
          </a:stretch>
        </p:blipFill>
        <p:spPr>
          <a:xfrm>
            <a:off x="4034869" y="4881312"/>
            <a:ext cx="138994" cy="138994"/>
          </a:xfrm>
          <a:prstGeom prst="rect">
            <a:avLst/>
          </a:prstGeom>
        </p:spPr>
      </p:pic>
      <p:sp>
        <p:nvSpPr>
          <p:cNvPr id="135" name="Rectangle: Rounded Corners 55">
            <a:extLst>
              <a:ext uri="{FF2B5EF4-FFF2-40B4-BE49-F238E27FC236}">
                <a16:creationId xmlns:a16="http://schemas.microsoft.com/office/drawing/2014/main" id="{D6B03170-D0D1-BE82-B976-9CFFD17AC9B6}"/>
              </a:ext>
            </a:extLst>
          </p:cNvPr>
          <p:cNvSpPr/>
          <p:nvPr/>
        </p:nvSpPr>
        <p:spPr>
          <a:xfrm>
            <a:off x="5214099" y="4806743"/>
            <a:ext cx="3199856" cy="290618"/>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Policy Store</a:t>
            </a:r>
          </a:p>
        </p:txBody>
      </p:sp>
      <p:pic>
        <p:nvPicPr>
          <p:cNvPr id="136" name="Picture 135">
            <a:extLst>
              <a:ext uri="{FF2B5EF4-FFF2-40B4-BE49-F238E27FC236}">
                <a16:creationId xmlns:a16="http://schemas.microsoft.com/office/drawing/2014/main" id="{962C4EE0-72D8-7A0D-F7F6-187F7ECE2D63}"/>
              </a:ext>
            </a:extLst>
          </p:cNvPr>
          <p:cNvPicPr>
            <a:picLocks noChangeAspect="1"/>
          </p:cNvPicPr>
          <p:nvPr/>
        </p:nvPicPr>
        <p:blipFill>
          <a:blip r:embed="rId3"/>
          <a:stretch>
            <a:fillRect/>
          </a:stretch>
        </p:blipFill>
        <p:spPr>
          <a:xfrm>
            <a:off x="6210481" y="4857532"/>
            <a:ext cx="200258" cy="200258"/>
          </a:xfrm>
          <a:prstGeom prst="rect">
            <a:avLst/>
          </a:prstGeom>
        </p:spPr>
      </p:pic>
      <p:cxnSp>
        <p:nvCxnSpPr>
          <p:cNvPr id="137" name="Connector: Elbow 124">
            <a:extLst>
              <a:ext uri="{FF2B5EF4-FFF2-40B4-BE49-F238E27FC236}">
                <a16:creationId xmlns:a16="http://schemas.microsoft.com/office/drawing/2014/main" id="{C8F2EA5F-76B3-5414-0D9E-811E9B3DB85F}"/>
              </a:ext>
            </a:extLst>
          </p:cNvPr>
          <p:cNvCxnSpPr>
            <a:stCxn id="124" idx="1"/>
            <a:endCxn id="135" idx="1"/>
          </p:cNvCxnSpPr>
          <p:nvPr/>
        </p:nvCxnSpPr>
        <p:spPr>
          <a:xfrm rot="10800000" flipH="1" flipV="1">
            <a:off x="5119251" y="4597512"/>
            <a:ext cx="94848" cy="354540"/>
          </a:xfrm>
          <a:prstGeom prst="bentConnector3">
            <a:avLst>
              <a:gd name="adj1" fmla="val -241017"/>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38" name="Connector: Elbow 124">
            <a:extLst>
              <a:ext uri="{FF2B5EF4-FFF2-40B4-BE49-F238E27FC236}">
                <a16:creationId xmlns:a16="http://schemas.microsoft.com/office/drawing/2014/main" id="{897E5A7D-D90B-F491-9542-281BF3E84B3A}"/>
              </a:ext>
            </a:extLst>
          </p:cNvPr>
          <p:cNvCxnSpPr>
            <a:stCxn id="126" idx="3"/>
            <a:endCxn id="135" idx="3"/>
          </p:cNvCxnSpPr>
          <p:nvPr/>
        </p:nvCxnSpPr>
        <p:spPr>
          <a:xfrm flipH="1">
            <a:off x="8413955" y="4597510"/>
            <a:ext cx="150123" cy="354542"/>
          </a:xfrm>
          <a:prstGeom prst="bentConnector3">
            <a:avLst>
              <a:gd name="adj1" fmla="val -152275"/>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39" name="Connector: Elbow 124">
            <a:extLst>
              <a:ext uri="{FF2B5EF4-FFF2-40B4-BE49-F238E27FC236}">
                <a16:creationId xmlns:a16="http://schemas.microsoft.com/office/drawing/2014/main" id="{2D11A522-704C-7638-43B3-63CC587703BB}"/>
              </a:ext>
            </a:extLst>
          </p:cNvPr>
          <p:cNvCxnSpPr>
            <a:stCxn id="107" idx="1"/>
            <a:endCxn id="109" idx="4"/>
          </p:cNvCxnSpPr>
          <p:nvPr/>
        </p:nvCxnSpPr>
        <p:spPr>
          <a:xfrm rot="10800000" flipV="1">
            <a:off x="2574925" y="2729455"/>
            <a:ext cx="1357630" cy="62865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0" name="Connector: Elbow 124">
            <a:extLst>
              <a:ext uri="{FF2B5EF4-FFF2-40B4-BE49-F238E27FC236}">
                <a16:creationId xmlns:a16="http://schemas.microsoft.com/office/drawing/2014/main" id="{E4F5A1F6-4185-218B-83A3-3E636D6A7A37}"/>
              </a:ext>
            </a:extLst>
          </p:cNvPr>
          <p:cNvCxnSpPr>
            <a:endCxn id="109" idx="4"/>
          </p:cNvCxnSpPr>
          <p:nvPr/>
        </p:nvCxnSpPr>
        <p:spPr>
          <a:xfrm rot="10800000">
            <a:off x="2574886" y="3357830"/>
            <a:ext cx="1358723" cy="81502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1" name="Can 172">
            <a:extLst>
              <a:ext uri="{FF2B5EF4-FFF2-40B4-BE49-F238E27FC236}">
                <a16:creationId xmlns:a16="http://schemas.microsoft.com/office/drawing/2014/main" id="{0CFBAB36-E49D-1B6D-4A4D-112323B2307F}"/>
              </a:ext>
            </a:extLst>
          </p:cNvPr>
          <p:cNvSpPr/>
          <p:nvPr/>
        </p:nvSpPr>
        <p:spPr bwMode="auto">
          <a:xfrm>
            <a:off x="10052050" y="2446245"/>
            <a:ext cx="612775" cy="1590040"/>
          </a:xfrm>
          <a:prstGeom prst="can">
            <a:avLst>
              <a:gd name="adj" fmla="val 59089"/>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err="1">
                <a:ln>
                  <a:noFill/>
                </a:ln>
                <a:solidFill>
                  <a:srgbClr val="FFFFFF"/>
                </a:solidFill>
                <a:effectLst/>
                <a:uLnTx/>
                <a:uFillTx/>
                <a:latin typeface="Graphik"/>
                <a:ea typeface="+mn-ea"/>
                <a:cs typeface="+mn-cs"/>
              </a:rPr>
              <a:t>Pentesting</a:t>
            </a:r>
            <a:r>
              <a:rPr kumimoji="0" lang="en-US" sz="900" b="0" i="0" u="none" strike="noStrike" kern="1200" cap="none" spc="0" normalizeH="0" baseline="0" noProof="0">
                <a:ln>
                  <a:noFill/>
                </a:ln>
                <a:solidFill>
                  <a:srgbClr val="FFFFFF"/>
                </a:solidFill>
                <a:effectLst/>
                <a:uLnTx/>
                <a:uFillTx/>
                <a:latin typeface="Graphik"/>
                <a:ea typeface="+mn-ea"/>
                <a:cs typeface="+mn-cs"/>
              </a:rPr>
              <a:t> &amp; Vulnerability Management (Capa </a:t>
            </a:r>
            <a:r>
              <a:rPr kumimoji="0" lang="en-US" sz="900" b="0" i="0" u="none" strike="noStrike" kern="1200" cap="none" spc="0" normalizeH="0" baseline="0" noProof="0" err="1">
                <a:ln>
                  <a:noFill/>
                </a:ln>
                <a:solidFill>
                  <a:srgbClr val="FFFFFF"/>
                </a:solidFill>
                <a:effectLst/>
                <a:uLnTx/>
                <a:uFillTx/>
                <a:latin typeface="Graphik"/>
                <a:ea typeface="+mn-ea"/>
                <a:cs typeface="+mn-cs"/>
              </a:rPr>
              <a:t>aislada</a:t>
            </a:r>
            <a:r>
              <a:rPr kumimoji="0" lang="en-US" sz="900" b="0" i="0" u="none" strike="noStrike" kern="1200" cap="none" spc="0" normalizeH="0" baseline="0" noProof="0">
                <a:ln>
                  <a:noFill/>
                </a:ln>
                <a:solidFill>
                  <a:srgbClr val="FFFFFF"/>
                </a:solidFill>
                <a:effectLst/>
                <a:uLnTx/>
                <a:uFillTx/>
                <a:latin typeface="Graphik"/>
                <a:ea typeface="+mn-ea"/>
                <a:cs typeface="+mn-cs"/>
              </a:rPr>
              <a:t>).</a:t>
            </a:r>
          </a:p>
        </p:txBody>
      </p:sp>
      <p:cxnSp>
        <p:nvCxnSpPr>
          <p:cNvPr id="142" name="Connector: Elbow 124">
            <a:extLst>
              <a:ext uri="{FF2B5EF4-FFF2-40B4-BE49-F238E27FC236}">
                <a16:creationId xmlns:a16="http://schemas.microsoft.com/office/drawing/2014/main" id="{E3195040-6745-CBB8-15E1-F7DC6FD8061E}"/>
              </a:ext>
            </a:extLst>
          </p:cNvPr>
          <p:cNvCxnSpPr>
            <a:stCxn id="141" idx="2"/>
            <a:endCxn id="108" idx="3"/>
          </p:cNvCxnSpPr>
          <p:nvPr/>
        </p:nvCxnSpPr>
        <p:spPr>
          <a:xfrm rot="10800000">
            <a:off x="8555990" y="2222090"/>
            <a:ext cx="1496060" cy="1019175"/>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3" name="Connector: Elbow 124">
            <a:extLst>
              <a:ext uri="{FF2B5EF4-FFF2-40B4-BE49-F238E27FC236}">
                <a16:creationId xmlns:a16="http://schemas.microsoft.com/office/drawing/2014/main" id="{53103ADE-94A1-526B-127F-5B12A1F914D4}"/>
              </a:ext>
            </a:extLst>
          </p:cNvPr>
          <p:cNvCxnSpPr>
            <a:stCxn id="141" idx="2"/>
            <a:endCxn id="107" idx="3"/>
          </p:cNvCxnSpPr>
          <p:nvPr/>
        </p:nvCxnSpPr>
        <p:spPr>
          <a:xfrm rot="10800000">
            <a:off x="8555990" y="2729455"/>
            <a:ext cx="1496060" cy="511810"/>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4" name="Connector: Elbow 124">
            <a:extLst>
              <a:ext uri="{FF2B5EF4-FFF2-40B4-BE49-F238E27FC236}">
                <a16:creationId xmlns:a16="http://schemas.microsoft.com/office/drawing/2014/main" id="{80F0AD68-0BF4-B408-8904-0B6FA8789486}"/>
              </a:ext>
            </a:extLst>
          </p:cNvPr>
          <p:cNvCxnSpPr>
            <a:stCxn id="141" idx="2"/>
            <a:endCxn id="112" idx="3"/>
          </p:cNvCxnSpPr>
          <p:nvPr/>
        </p:nvCxnSpPr>
        <p:spPr>
          <a:xfrm rot="10800000" flipV="1">
            <a:off x="8556625" y="3241265"/>
            <a:ext cx="1495425" cy="208280"/>
          </a:xfrm>
          <a:prstGeom prst="bentConnector3">
            <a:avLst>
              <a:gd name="adj1" fmla="val 49979"/>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5" name="Connector: Elbow 124">
            <a:extLst>
              <a:ext uri="{FF2B5EF4-FFF2-40B4-BE49-F238E27FC236}">
                <a16:creationId xmlns:a16="http://schemas.microsoft.com/office/drawing/2014/main" id="{9C832759-CAF1-292E-35A0-2A0E643738AC}"/>
              </a:ext>
            </a:extLst>
          </p:cNvPr>
          <p:cNvCxnSpPr>
            <a:stCxn id="141" idx="2"/>
            <a:endCxn id="122" idx="3"/>
          </p:cNvCxnSpPr>
          <p:nvPr/>
        </p:nvCxnSpPr>
        <p:spPr>
          <a:xfrm rot="10800000" flipV="1">
            <a:off x="8557260" y="3241265"/>
            <a:ext cx="1494790" cy="981710"/>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6" name="Can 172">
            <a:extLst>
              <a:ext uri="{FF2B5EF4-FFF2-40B4-BE49-F238E27FC236}">
                <a16:creationId xmlns:a16="http://schemas.microsoft.com/office/drawing/2014/main" id="{65CB146C-4006-6808-19D4-27620C988209}"/>
              </a:ext>
            </a:extLst>
          </p:cNvPr>
          <p:cNvSpPr/>
          <p:nvPr/>
        </p:nvSpPr>
        <p:spPr bwMode="auto">
          <a:xfrm>
            <a:off x="947290" y="2739698"/>
            <a:ext cx="312661" cy="1236264"/>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Observability Capability</a:t>
            </a:r>
          </a:p>
        </p:txBody>
      </p:sp>
      <p:pic>
        <p:nvPicPr>
          <p:cNvPr id="147" name="Picture 146">
            <a:extLst>
              <a:ext uri="{FF2B5EF4-FFF2-40B4-BE49-F238E27FC236}">
                <a16:creationId xmlns:a16="http://schemas.microsoft.com/office/drawing/2014/main" id="{C3788967-604B-08E6-3F21-3F31F381A7A7}"/>
              </a:ext>
            </a:extLst>
          </p:cNvPr>
          <p:cNvPicPr>
            <a:picLocks noChangeAspect="1"/>
          </p:cNvPicPr>
          <p:nvPr/>
        </p:nvPicPr>
        <p:blipFill>
          <a:blip r:embed="rId4"/>
          <a:stretch>
            <a:fillRect/>
          </a:stretch>
        </p:blipFill>
        <p:spPr>
          <a:xfrm>
            <a:off x="8821001" y="4174502"/>
            <a:ext cx="384084" cy="384084"/>
          </a:xfrm>
          <a:prstGeom prst="rect">
            <a:avLst/>
          </a:prstGeom>
        </p:spPr>
      </p:pic>
      <p:sp>
        <p:nvSpPr>
          <p:cNvPr id="148" name="Rectangle 147">
            <a:extLst>
              <a:ext uri="{FF2B5EF4-FFF2-40B4-BE49-F238E27FC236}">
                <a16:creationId xmlns:a16="http://schemas.microsoft.com/office/drawing/2014/main" id="{13BFD2F4-6976-F8EB-CA6D-182C27BD3783}"/>
              </a:ext>
            </a:extLst>
          </p:cNvPr>
          <p:cNvSpPr/>
          <p:nvPr/>
        </p:nvSpPr>
        <p:spPr>
          <a:xfrm>
            <a:off x="3932266" y="5565274"/>
            <a:ext cx="4631812" cy="32995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Threat Protection (</a:t>
            </a:r>
            <a:r>
              <a:rPr kumimoji="0" lang="en-US" sz="900" b="0" i="0" u="none" strike="noStrike" kern="1200" cap="none" spc="0" normalizeH="0" baseline="0" noProof="0">
                <a:ln>
                  <a:noFill/>
                </a:ln>
                <a:solidFill>
                  <a:srgbClr val="00B050"/>
                </a:solidFill>
                <a:effectLst/>
                <a:uLnTx/>
                <a:uFillTx/>
                <a:latin typeface="Graphik"/>
                <a:ea typeface="+mn-ea"/>
                <a:cs typeface="+mn-cs"/>
              </a:rPr>
              <a:t>OWASP</a:t>
            </a:r>
            <a:r>
              <a:rPr kumimoji="0" lang="en-US" sz="900" b="0" i="0" u="none" strike="noStrike" kern="1200" cap="none" spc="0" normalizeH="0" baseline="0" noProof="0">
                <a:ln>
                  <a:noFill/>
                </a:ln>
                <a:solidFill>
                  <a:srgbClr val="000000"/>
                </a:solidFill>
                <a:effectLst/>
                <a:uLnTx/>
                <a:uFillTx/>
                <a:latin typeface="Graphik"/>
                <a:ea typeface="+mn-ea"/>
                <a:cs typeface="+mn-cs"/>
              </a:rPr>
              <a:t>)</a:t>
            </a:r>
          </a:p>
        </p:txBody>
      </p:sp>
      <p:sp>
        <p:nvSpPr>
          <p:cNvPr id="149" name="Rectangle: Rounded Corners 55">
            <a:extLst>
              <a:ext uri="{FF2B5EF4-FFF2-40B4-BE49-F238E27FC236}">
                <a16:creationId xmlns:a16="http://schemas.microsoft.com/office/drawing/2014/main" id="{CB43E859-E2E7-1C98-DEB1-B4A62CFCAEF5}"/>
              </a:ext>
            </a:extLst>
          </p:cNvPr>
          <p:cNvSpPr/>
          <p:nvPr/>
        </p:nvSpPr>
        <p:spPr>
          <a:xfrm>
            <a:off x="3921110" y="5962256"/>
            <a:ext cx="520262" cy="290618"/>
          </a:xfrm>
          <a:prstGeom prst="round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TLS (</a:t>
            </a:r>
            <a:r>
              <a:rPr kumimoji="0" lang="en-US" sz="900" b="0" i="0" u="none" strike="noStrike" kern="1200" cap="none" spc="0" normalizeH="0" baseline="0" noProof="0" err="1">
                <a:ln>
                  <a:noFill/>
                </a:ln>
                <a:solidFill>
                  <a:srgbClr val="000000"/>
                </a:solidFill>
                <a:effectLst/>
                <a:uLnTx/>
                <a:uFillTx/>
                <a:latin typeface="Graphik"/>
                <a:ea typeface="+mn-ea"/>
                <a:cs typeface="+mn-cs"/>
              </a:rPr>
              <a:t>ApiGee</a:t>
            </a:r>
            <a:r>
              <a:rPr kumimoji="0" lang="en-US" sz="900" b="0" i="0" u="none" strike="noStrike" kern="1200" cap="none" spc="0" normalizeH="0" baseline="0" noProof="0">
                <a:ln>
                  <a:noFill/>
                </a:ln>
                <a:solidFill>
                  <a:srgbClr val="000000"/>
                </a:solidFill>
                <a:effectLst/>
                <a:uLnTx/>
                <a:uFillTx/>
                <a:latin typeface="Graphik"/>
                <a:ea typeface="+mn-ea"/>
                <a:cs typeface="+mn-cs"/>
              </a:rPr>
              <a:t>)</a:t>
            </a:r>
          </a:p>
        </p:txBody>
      </p:sp>
      <p:sp>
        <p:nvSpPr>
          <p:cNvPr id="150" name="Rectangle: Rounded Corners 55">
            <a:extLst>
              <a:ext uri="{FF2B5EF4-FFF2-40B4-BE49-F238E27FC236}">
                <a16:creationId xmlns:a16="http://schemas.microsoft.com/office/drawing/2014/main" id="{50D9AA2F-A772-19A4-A19C-D83214685E38}"/>
              </a:ext>
            </a:extLst>
          </p:cNvPr>
          <p:cNvSpPr/>
          <p:nvPr/>
        </p:nvSpPr>
        <p:spPr>
          <a:xfrm>
            <a:off x="4493854" y="5968974"/>
            <a:ext cx="747662" cy="290618"/>
          </a:xfrm>
          <a:prstGeom prst="round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DDoS (Akamai)</a:t>
            </a:r>
          </a:p>
        </p:txBody>
      </p:sp>
      <p:sp>
        <p:nvSpPr>
          <p:cNvPr id="151" name="Rectangle: Rounded Corners 55">
            <a:extLst>
              <a:ext uri="{FF2B5EF4-FFF2-40B4-BE49-F238E27FC236}">
                <a16:creationId xmlns:a16="http://schemas.microsoft.com/office/drawing/2014/main" id="{042358A4-F700-EBD9-C82B-3C4F5F5F5D30}"/>
              </a:ext>
            </a:extLst>
          </p:cNvPr>
          <p:cNvSpPr/>
          <p:nvPr/>
        </p:nvSpPr>
        <p:spPr>
          <a:xfrm>
            <a:off x="6416490" y="5954871"/>
            <a:ext cx="1021723" cy="290618"/>
          </a:xfrm>
          <a:prstGeom prst="roundRect">
            <a:avLst/>
          </a:prstGeom>
          <a:solidFill>
            <a:srgbClr val="FF000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Quota</a:t>
            </a:r>
          </a:p>
        </p:txBody>
      </p:sp>
      <p:sp>
        <p:nvSpPr>
          <p:cNvPr id="152" name="Rectangle: Rounded Corners 55">
            <a:extLst>
              <a:ext uri="{FF2B5EF4-FFF2-40B4-BE49-F238E27FC236}">
                <a16:creationId xmlns:a16="http://schemas.microsoft.com/office/drawing/2014/main" id="{BECFF9C0-4D69-F7D6-1FD4-6CBEFD90F8D9}"/>
              </a:ext>
            </a:extLst>
          </p:cNvPr>
          <p:cNvSpPr/>
          <p:nvPr/>
        </p:nvSpPr>
        <p:spPr>
          <a:xfrm>
            <a:off x="5283753" y="5965025"/>
            <a:ext cx="1021723" cy="290618"/>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Payload Protection</a:t>
            </a:r>
          </a:p>
        </p:txBody>
      </p:sp>
      <p:sp>
        <p:nvSpPr>
          <p:cNvPr id="153" name="Rectangle: Rounded Corners 55">
            <a:extLst>
              <a:ext uri="{FF2B5EF4-FFF2-40B4-BE49-F238E27FC236}">
                <a16:creationId xmlns:a16="http://schemas.microsoft.com/office/drawing/2014/main" id="{420604D4-C40E-9F40-7DC8-444EDB760D3D}"/>
              </a:ext>
            </a:extLst>
          </p:cNvPr>
          <p:cNvSpPr/>
          <p:nvPr/>
        </p:nvSpPr>
        <p:spPr>
          <a:xfrm>
            <a:off x="7543124" y="5958358"/>
            <a:ext cx="1021723" cy="290618"/>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BOTS</a:t>
            </a:r>
          </a:p>
        </p:txBody>
      </p:sp>
      <p:sp>
        <p:nvSpPr>
          <p:cNvPr id="154" name="Can 172">
            <a:extLst>
              <a:ext uri="{FF2B5EF4-FFF2-40B4-BE49-F238E27FC236}">
                <a16:creationId xmlns:a16="http://schemas.microsoft.com/office/drawing/2014/main" id="{CCC0AF4B-950A-58CA-CE9F-DF9E3A8B7641}"/>
              </a:ext>
            </a:extLst>
          </p:cNvPr>
          <p:cNvSpPr/>
          <p:nvPr/>
        </p:nvSpPr>
        <p:spPr bwMode="auto">
          <a:xfrm rot="5400000">
            <a:off x="7911921" y="5936303"/>
            <a:ext cx="312661" cy="1050255"/>
          </a:xfrm>
          <a:prstGeom prst="can">
            <a:avLst>
              <a:gd name="adj" fmla="val 59089"/>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WAF</a:t>
            </a:r>
          </a:p>
        </p:txBody>
      </p:sp>
      <p:sp>
        <p:nvSpPr>
          <p:cNvPr id="155" name="Rectangle 154">
            <a:extLst>
              <a:ext uri="{FF2B5EF4-FFF2-40B4-BE49-F238E27FC236}">
                <a16:creationId xmlns:a16="http://schemas.microsoft.com/office/drawing/2014/main" id="{EE43BF1C-CD1F-77D4-BE4E-B72C41DB7540}"/>
              </a:ext>
            </a:extLst>
          </p:cNvPr>
          <p:cNvSpPr/>
          <p:nvPr/>
        </p:nvSpPr>
        <p:spPr>
          <a:xfrm>
            <a:off x="3932266" y="2398769"/>
            <a:ext cx="4623332" cy="160548"/>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Threat Protection (AKAMAI)</a:t>
            </a:r>
          </a:p>
        </p:txBody>
      </p:sp>
      <p:cxnSp>
        <p:nvCxnSpPr>
          <p:cNvPr id="156" name="Connector: Elbow 124">
            <a:extLst>
              <a:ext uri="{FF2B5EF4-FFF2-40B4-BE49-F238E27FC236}">
                <a16:creationId xmlns:a16="http://schemas.microsoft.com/office/drawing/2014/main" id="{BD6D2DF4-9973-43CE-62B3-4583E7DD2D0E}"/>
              </a:ext>
            </a:extLst>
          </p:cNvPr>
          <p:cNvCxnSpPr>
            <a:stCxn id="155" idx="1"/>
            <a:endCxn id="109" idx="4"/>
          </p:cNvCxnSpPr>
          <p:nvPr/>
        </p:nvCxnSpPr>
        <p:spPr>
          <a:xfrm rot="10800000" flipV="1">
            <a:off x="2574925" y="2479265"/>
            <a:ext cx="1357630" cy="87884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57" name="Connector: Elbow 124">
            <a:extLst>
              <a:ext uri="{FF2B5EF4-FFF2-40B4-BE49-F238E27FC236}">
                <a16:creationId xmlns:a16="http://schemas.microsoft.com/office/drawing/2014/main" id="{CFAA8A99-C069-479F-CAB9-D42915DB1193}"/>
              </a:ext>
            </a:extLst>
          </p:cNvPr>
          <p:cNvCxnSpPr>
            <a:stCxn id="148" idx="1"/>
            <a:endCxn id="109" idx="4"/>
          </p:cNvCxnSpPr>
          <p:nvPr/>
        </p:nvCxnSpPr>
        <p:spPr>
          <a:xfrm rot="10800000">
            <a:off x="2574925" y="3358105"/>
            <a:ext cx="1357630" cy="237236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58" name="Rectangle 157">
            <a:extLst>
              <a:ext uri="{FF2B5EF4-FFF2-40B4-BE49-F238E27FC236}">
                <a16:creationId xmlns:a16="http://schemas.microsoft.com/office/drawing/2014/main" id="{E2FF96F1-090C-E9D2-117C-BF3D189FCFFB}"/>
              </a:ext>
            </a:extLst>
          </p:cNvPr>
          <p:cNvSpPr/>
          <p:nvPr/>
        </p:nvSpPr>
        <p:spPr>
          <a:xfrm>
            <a:off x="3119380" y="5188888"/>
            <a:ext cx="551722" cy="284850"/>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Log Store</a:t>
            </a:r>
          </a:p>
        </p:txBody>
      </p:sp>
      <p:cxnSp>
        <p:nvCxnSpPr>
          <p:cNvPr id="159" name="Connector: Elbow 124">
            <a:extLst>
              <a:ext uri="{FF2B5EF4-FFF2-40B4-BE49-F238E27FC236}">
                <a16:creationId xmlns:a16="http://schemas.microsoft.com/office/drawing/2014/main" id="{3D7AEA3B-0874-E3F3-8F95-854EC63AA316}"/>
              </a:ext>
            </a:extLst>
          </p:cNvPr>
          <p:cNvCxnSpPr>
            <a:stCxn id="154" idx="1"/>
            <a:endCxn id="155" idx="3"/>
          </p:cNvCxnSpPr>
          <p:nvPr/>
        </p:nvCxnSpPr>
        <p:spPr>
          <a:xfrm flipH="1" flipV="1">
            <a:off x="8555598" y="2479043"/>
            <a:ext cx="37781" cy="3982388"/>
          </a:xfrm>
          <a:prstGeom prst="bentConnector3">
            <a:avLst>
              <a:gd name="adj1" fmla="val -505066"/>
            </a:avLst>
          </a:prstGeom>
          <a:ln w="952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60" name="Connector: Elbow 124">
            <a:extLst>
              <a:ext uri="{FF2B5EF4-FFF2-40B4-BE49-F238E27FC236}">
                <a16:creationId xmlns:a16="http://schemas.microsoft.com/office/drawing/2014/main" id="{A0EDCAE4-2E44-E243-A6F2-E42AFE6BFFDA}"/>
              </a:ext>
            </a:extLst>
          </p:cNvPr>
          <p:cNvCxnSpPr>
            <a:stCxn id="154" idx="1"/>
            <a:endCxn id="148" idx="3"/>
          </p:cNvCxnSpPr>
          <p:nvPr/>
        </p:nvCxnSpPr>
        <p:spPr>
          <a:xfrm flipH="1" flipV="1">
            <a:off x="8564078" y="5730253"/>
            <a:ext cx="29301" cy="731178"/>
          </a:xfrm>
          <a:prstGeom prst="bentConnector3">
            <a:avLst>
              <a:gd name="adj1" fmla="val -1014542"/>
            </a:avLst>
          </a:prstGeom>
          <a:ln w="952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61" name="Can 172">
            <a:extLst>
              <a:ext uri="{FF2B5EF4-FFF2-40B4-BE49-F238E27FC236}">
                <a16:creationId xmlns:a16="http://schemas.microsoft.com/office/drawing/2014/main" id="{97B27A22-9DC4-82BE-06A2-FDE69A1BAA5F}"/>
              </a:ext>
            </a:extLst>
          </p:cNvPr>
          <p:cNvSpPr/>
          <p:nvPr/>
        </p:nvSpPr>
        <p:spPr bwMode="auto">
          <a:xfrm>
            <a:off x="1461135" y="2593565"/>
            <a:ext cx="457200" cy="1547495"/>
          </a:xfrm>
          <a:prstGeom prst="can">
            <a:avLst>
              <a:gd name="adj" fmla="val 59089"/>
            </a:avLst>
          </a:prstGeom>
          <a:solidFill>
            <a:srgbClr val="FF000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Security Alerts, Metrics, Dashboard’s</a:t>
            </a:r>
          </a:p>
        </p:txBody>
      </p:sp>
      <p:cxnSp>
        <p:nvCxnSpPr>
          <p:cNvPr id="162" name="Straight Arrow Connector 161">
            <a:extLst>
              <a:ext uri="{FF2B5EF4-FFF2-40B4-BE49-F238E27FC236}">
                <a16:creationId xmlns:a16="http://schemas.microsoft.com/office/drawing/2014/main" id="{53AA437D-320A-4BA7-8577-59E6E7E01EDC}"/>
              </a:ext>
            </a:extLst>
          </p:cNvPr>
          <p:cNvCxnSpPr>
            <a:stCxn id="109" idx="2"/>
            <a:endCxn id="161" idx="4"/>
          </p:cNvCxnSpPr>
          <p:nvPr/>
        </p:nvCxnSpPr>
        <p:spPr>
          <a:xfrm flipH="1">
            <a:off x="1918054" y="3357830"/>
            <a:ext cx="302260" cy="952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0C1C35F7-0683-59EC-D3D1-BFBEC92EE6D9}"/>
              </a:ext>
            </a:extLst>
          </p:cNvPr>
          <p:cNvCxnSpPr>
            <a:stCxn id="161" idx="2"/>
            <a:endCxn id="146" idx="4"/>
          </p:cNvCxnSpPr>
          <p:nvPr/>
        </p:nvCxnSpPr>
        <p:spPr>
          <a:xfrm flipH="1" flipV="1">
            <a:off x="1259593" y="3357830"/>
            <a:ext cx="201295" cy="952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4" name="TextBox 163">
            <a:extLst>
              <a:ext uri="{FF2B5EF4-FFF2-40B4-BE49-F238E27FC236}">
                <a16:creationId xmlns:a16="http://schemas.microsoft.com/office/drawing/2014/main" id="{695CFEBF-E72F-2369-585A-B44B67009469}"/>
              </a:ext>
            </a:extLst>
          </p:cNvPr>
          <p:cNvSpPr txBox="1"/>
          <p:nvPr/>
        </p:nvSpPr>
        <p:spPr>
          <a:xfrm>
            <a:off x="9356090" y="4148680"/>
            <a:ext cx="2750185" cy="70548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9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Microservices (Open Shift)</a:t>
            </a:r>
            <a:br>
              <a:rPr kumimoji="0" lang="en-US" sz="900" b="1" i="0" u="none" strike="noStrike" kern="1200" cap="none" spc="0" normalizeH="0" baseline="0" noProof="0">
                <a:ln>
                  <a:noFill/>
                </a:ln>
                <a:solidFill>
                  <a:srgbClr val="000000"/>
                </a:solidFill>
                <a:effectLst/>
                <a:uLnTx/>
                <a:uFillTx/>
                <a:latin typeface="Graphik"/>
                <a:ea typeface="+mn-ea"/>
                <a:cs typeface="+mn-cs"/>
              </a:rPr>
            </a:br>
            <a:r>
              <a:rPr kumimoji="0" lang="en-US" sz="900" b="1" i="0" u="none" strike="noStrike" kern="1200" cap="none" spc="0" normalizeH="0" baseline="0" noProof="0">
                <a:ln>
                  <a:noFill/>
                </a:ln>
                <a:solidFill>
                  <a:srgbClr val="000000"/>
                </a:solidFill>
                <a:effectLst/>
                <a:uLnTx/>
                <a:uFillTx/>
                <a:latin typeface="Graphik"/>
                <a:ea typeface="+mn-ea"/>
                <a:cs typeface="+mn-cs"/>
              </a:rPr>
              <a:t>Common Microservice Framework.</a:t>
            </a:r>
            <a:br>
              <a:rPr kumimoji="0" lang="en-US" sz="900" b="1" i="0" u="none" strike="noStrike" kern="1200" cap="none" spc="0" normalizeH="0" baseline="0" noProof="0">
                <a:ln>
                  <a:noFill/>
                </a:ln>
                <a:solidFill>
                  <a:srgbClr val="000000"/>
                </a:solidFill>
                <a:effectLst/>
                <a:uLnTx/>
                <a:uFillTx/>
                <a:latin typeface="Graphik"/>
                <a:ea typeface="+mn-ea"/>
                <a:cs typeface="+mn-cs"/>
              </a:rPr>
            </a:br>
            <a:endParaRPr kumimoji="0" lang="en-US" sz="900" b="1" i="0" u="none" strike="noStrike" kern="1200" cap="none" spc="0" normalizeH="0" baseline="0" noProof="0">
              <a:ln>
                <a:noFill/>
              </a:ln>
              <a:solidFill>
                <a:srgbClr val="000000"/>
              </a:solidFill>
              <a:effectLst/>
              <a:uLnTx/>
              <a:uFillTx/>
              <a:latin typeface="Graphik"/>
              <a:ea typeface="+mn-ea"/>
              <a:cs typeface="+mn-cs"/>
            </a:endParaRPr>
          </a:p>
        </p:txBody>
      </p:sp>
      <p:sp>
        <p:nvSpPr>
          <p:cNvPr id="165" name="Rectangle 164">
            <a:extLst>
              <a:ext uri="{FF2B5EF4-FFF2-40B4-BE49-F238E27FC236}">
                <a16:creationId xmlns:a16="http://schemas.microsoft.com/office/drawing/2014/main" id="{22F5A1B7-16A3-9280-F448-19697EBA1041}"/>
              </a:ext>
            </a:extLst>
          </p:cNvPr>
          <p:cNvSpPr/>
          <p:nvPr/>
        </p:nvSpPr>
        <p:spPr>
          <a:xfrm>
            <a:off x="9342038" y="5224471"/>
            <a:ext cx="2820513" cy="1080629"/>
          </a:xfrm>
          <a:prstGeom prst="rect">
            <a:avLst/>
          </a:prstGeom>
          <a:solidFill>
            <a:schemeClr val="accent1">
              <a:alpha val="15932"/>
            </a:schemeClr>
          </a:solidFill>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400" b="0" i="0" u="none" strike="noStrike" kern="1200" cap="none" spc="0" normalizeH="0" baseline="0" noProof="0">
              <a:ln>
                <a:noFill/>
              </a:ln>
              <a:solidFill>
                <a:srgbClr val="000000"/>
              </a:solidFill>
              <a:effectLst/>
              <a:uLnTx/>
              <a:uFillTx/>
              <a:latin typeface="Graphik"/>
              <a:ea typeface="+mn-ea"/>
              <a:cs typeface="+mn-cs"/>
            </a:endParaRPr>
          </a:p>
        </p:txBody>
      </p:sp>
      <p:sp>
        <p:nvSpPr>
          <p:cNvPr id="166" name="Rectangle 165">
            <a:extLst>
              <a:ext uri="{FF2B5EF4-FFF2-40B4-BE49-F238E27FC236}">
                <a16:creationId xmlns:a16="http://schemas.microsoft.com/office/drawing/2014/main" id="{49A53C03-CD3A-8513-CC48-EA05433D86EC}"/>
              </a:ext>
            </a:extLst>
          </p:cNvPr>
          <p:cNvSpPr/>
          <p:nvPr/>
        </p:nvSpPr>
        <p:spPr>
          <a:xfrm>
            <a:off x="9439229" y="6409146"/>
            <a:ext cx="2703854"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Deployments</a:t>
            </a:r>
          </a:p>
        </p:txBody>
      </p:sp>
      <p:sp>
        <p:nvSpPr>
          <p:cNvPr id="167" name="Rectangle 166">
            <a:extLst>
              <a:ext uri="{FF2B5EF4-FFF2-40B4-BE49-F238E27FC236}">
                <a16:creationId xmlns:a16="http://schemas.microsoft.com/office/drawing/2014/main" id="{29D1175F-A364-74E8-BE90-9D823DAE79CC}"/>
              </a:ext>
            </a:extLst>
          </p:cNvPr>
          <p:cNvSpPr/>
          <p:nvPr/>
        </p:nvSpPr>
        <p:spPr>
          <a:xfrm>
            <a:off x="9402270" y="5977414"/>
            <a:ext cx="2710995" cy="28128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Threat Protection</a:t>
            </a:r>
          </a:p>
        </p:txBody>
      </p:sp>
      <p:cxnSp>
        <p:nvCxnSpPr>
          <p:cNvPr id="168" name="Connector: Elbow 124">
            <a:extLst>
              <a:ext uri="{FF2B5EF4-FFF2-40B4-BE49-F238E27FC236}">
                <a16:creationId xmlns:a16="http://schemas.microsoft.com/office/drawing/2014/main" id="{785A3C43-C2F6-EE7F-7328-B4E3E986E812}"/>
              </a:ext>
            </a:extLst>
          </p:cNvPr>
          <p:cNvCxnSpPr>
            <a:stCxn id="141" idx="2"/>
            <a:endCxn id="166" idx="1"/>
          </p:cNvCxnSpPr>
          <p:nvPr/>
        </p:nvCxnSpPr>
        <p:spPr>
          <a:xfrm rot="10800000" flipV="1">
            <a:off x="9439275" y="3241265"/>
            <a:ext cx="612775" cy="3312160"/>
          </a:xfrm>
          <a:prstGeom prst="bentConnector3">
            <a:avLst>
              <a:gd name="adj1" fmla="val 13886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69" name="TextBox 168">
            <a:extLst>
              <a:ext uri="{FF2B5EF4-FFF2-40B4-BE49-F238E27FC236}">
                <a16:creationId xmlns:a16="http://schemas.microsoft.com/office/drawing/2014/main" id="{D35A5A25-DF68-A13C-E88D-9C9AC9C0FAAC}"/>
              </a:ext>
            </a:extLst>
          </p:cNvPr>
          <p:cNvSpPr txBox="1"/>
          <p:nvPr/>
        </p:nvSpPr>
        <p:spPr>
          <a:xfrm>
            <a:off x="9452026" y="3676755"/>
            <a:ext cx="517475" cy="292388"/>
          </a:xfrm>
          <a:prstGeom prst="rect">
            <a:avLst/>
          </a:prstGeom>
          <a:noFill/>
        </p:spPr>
        <p:txBody>
          <a:bodyPr wrap="squar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a:ea typeface="+mn-ea"/>
                <a:cs typeface="+mn-cs"/>
              </a:rPr>
              <a:t>Architects/ DevOps</a:t>
            </a:r>
          </a:p>
        </p:txBody>
      </p:sp>
      <p:sp>
        <p:nvSpPr>
          <p:cNvPr id="170" name="Can 172">
            <a:extLst>
              <a:ext uri="{FF2B5EF4-FFF2-40B4-BE49-F238E27FC236}">
                <a16:creationId xmlns:a16="http://schemas.microsoft.com/office/drawing/2014/main" id="{34A3D866-604B-AF20-BBD0-1294F56C14F7}"/>
              </a:ext>
            </a:extLst>
          </p:cNvPr>
          <p:cNvSpPr/>
          <p:nvPr/>
        </p:nvSpPr>
        <p:spPr bwMode="auto">
          <a:xfrm>
            <a:off x="11146942" y="2624535"/>
            <a:ext cx="492234" cy="1236264"/>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Chaos Engineering</a:t>
            </a:r>
          </a:p>
        </p:txBody>
      </p:sp>
      <p:cxnSp>
        <p:nvCxnSpPr>
          <p:cNvPr id="173" name="Straight Arrow Connector 172">
            <a:extLst>
              <a:ext uri="{FF2B5EF4-FFF2-40B4-BE49-F238E27FC236}">
                <a16:creationId xmlns:a16="http://schemas.microsoft.com/office/drawing/2014/main" id="{7068717B-995C-9BC5-92F7-252FBFD63EE0}"/>
              </a:ext>
            </a:extLst>
          </p:cNvPr>
          <p:cNvCxnSpPr>
            <a:stCxn id="141" idx="4"/>
            <a:endCxn id="170" idx="2"/>
          </p:cNvCxnSpPr>
          <p:nvPr/>
        </p:nvCxnSpPr>
        <p:spPr>
          <a:xfrm>
            <a:off x="10664660" y="3241533"/>
            <a:ext cx="481965" cy="190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4" name="Rectangle 173">
            <a:extLst>
              <a:ext uri="{FF2B5EF4-FFF2-40B4-BE49-F238E27FC236}">
                <a16:creationId xmlns:a16="http://schemas.microsoft.com/office/drawing/2014/main" id="{AC52D757-099E-F4DB-784D-8F1775EA7DD7}"/>
              </a:ext>
            </a:extLst>
          </p:cNvPr>
          <p:cNvSpPr/>
          <p:nvPr/>
        </p:nvSpPr>
        <p:spPr>
          <a:xfrm>
            <a:off x="9402271" y="5277762"/>
            <a:ext cx="2703854"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Container Security</a:t>
            </a:r>
          </a:p>
        </p:txBody>
      </p:sp>
      <p:sp>
        <p:nvSpPr>
          <p:cNvPr id="175" name="Rectangle 174">
            <a:extLst>
              <a:ext uri="{FF2B5EF4-FFF2-40B4-BE49-F238E27FC236}">
                <a16:creationId xmlns:a16="http://schemas.microsoft.com/office/drawing/2014/main" id="{80633EAA-587D-0217-4746-73C55A0563F4}"/>
              </a:ext>
            </a:extLst>
          </p:cNvPr>
          <p:cNvSpPr/>
          <p:nvPr/>
        </p:nvSpPr>
        <p:spPr>
          <a:xfrm>
            <a:off x="9409412" y="5633090"/>
            <a:ext cx="2703854"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Streaming Security</a:t>
            </a:r>
          </a:p>
        </p:txBody>
      </p:sp>
      <p:cxnSp>
        <p:nvCxnSpPr>
          <p:cNvPr id="176" name="Connector: Elbow 124">
            <a:extLst>
              <a:ext uri="{FF2B5EF4-FFF2-40B4-BE49-F238E27FC236}">
                <a16:creationId xmlns:a16="http://schemas.microsoft.com/office/drawing/2014/main" id="{ABBC1743-05E5-16C1-B697-A210AD268FFB}"/>
              </a:ext>
            </a:extLst>
          </p:cNvPr>
          <p:cNvCxnSpPr>
            <a:stCxn id="154" idx="1"/>
            <a:endCxn id="167" idx="1"/>
          </p:cNvCxnSpPr>
          <p:nvPr/>
        </p:nvCxnSpPr>
        <p:spPr>
          <a:xfrm flipV="1">
            <a:off x="8593379" y="6118058"/>
            <a:ext cx="808891" cy="343373"/>
          </a:xfrm>
          <a:prstGeom prst="bentConnector3">
            <a:avLst>
              <a:gd name="adj1" fmla="val 50000"/>
            </a:avLst>
          </a:prstGeom>
          <a:ln w="952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77" name="Rectangle 176">
            <a:extLst>
              <a:ext uri="{FF2B5EF4-FFF2-40B4-BE49-F238E27FC236}">
                <a16:creationId xmlns:a16="http://schemas.microsoft.com/office/drawing/2014/main" id="{89B60292-6474-51CA-AE54-8A0E675CDF08}"/>
              </a:ext>
            </a:extLst>
          </p:cNvPr>
          <p:cNvSpPr/>
          <p:nvPr/>
        </p:nvSpPr>
        <p:spPr>
          <a:xfrm>
            <a:off x="3934493" y="1251701"/>
            <a:ext cx="4623333" cy="17079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Internal Security (FW + WAF)</a:t>
            </a:r>
          </a:p>
        </p:txBody>
      </p:sp>
      <p:cxnSp>
        <p:nvCxnSpPr>
          <p:cNvPr id="178" name="Connector: Elbow 124">
            <a:extLst>
              <a:ext uri="{FF2B5EF4-FFF2-40B4-BE49-F238E27FC236}">
                <a16:creationId xmlns:a16="http://schemas.microsoft.com/office/drawing/2014/main" id="{0C872D0B-617C-D440-481F-2D7E73CD19F1}"/>
              </a:ext>
            </a:extLst>
          </p:cNvPr>
          <p:cNvCxnSpPr>
            <a:stCxn id="177" idx="1"/>
            <a:endCxn id="109" idx="4"/>
          </p:cNvCxnSpPr>
          <p:nvPr/>
        </p:nvCxnSpPr>
        <p:spPr>
          <a:xfrm rot="10800000" flipV="1">
            <a:off x="2574925" y="1337535"/>
            <a:ext cx="1359535" cy="2020570"/>
          </a:xfrm>
          <a:prstGeom prst="bentConnector3">
            <a:avLst>
              <a:gd name="adj1" fmla="val 49977"/>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79" name="Can 172">
            <a:extLst>
              <a:ext uri="{FF2B5EF4-FFF2-40B4-BE49-F238E27FC236}">
                <a16:creationId xmlns:a16="http://schemas.microsoft.com/office/drawing/2014/main" id="{0B5497B0-000B-A2DD-FFEC-CC5FC69FEB61}"/>
              </a:ext>
            </a:extLst>
          </p:cNvPr>
          <p:cNvSpPr/>
          <p:nvPr/>
        </p:nvSpPr>
        <p:spPr bwMode="auto">
          <a:xfrm>
            <a:off x="1582664" y="5491388"/>
            <a:ext cx="373397" cy="733160"/>
          </a:xfrm>
          <a:prstGeom prst="can">
            <a:avLst>
              <a:gd name="adj" fmla="val 59089"/>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HSM</a:t>
            </a:r>
          </a:p>
        </p:txBody>
      </p:sp>
      <p:cxnSp>
        <p:nvCxnSpPr>
          <p:cNvPr id="180" name="Connector: Elbow 124">
            <a:extLst>
              <a:ext uri="{FF2B5EF4-FFF2-40B4-BE49-F238E27FC236}">
                <a16:creationId xmlns:a16="http://schemas.microsoft.com/office/drawing/2014/main" id="{F21633D0-7A20-7992-2E5E-9C981C77980B}"/>
              </a:ext>
            </a:extLst>
          </p:cNvPr>
          <p:cNvCxnSpPr>
            <a:stCxn id="149" idx="1"/>
            <a:endCxn id="179" idx="4"/>
          </p:cNvCxnSpPr>
          <p:nvPr/>
        </p:nvCxnSpPr>
        <p:spPr>
          <a:xfrm rot="10800000">
            <a:off x="1956062" y="5857969"/>
            <a:ext cx="1965049" cy="249597"/>
          </a:xfrm>
          <a:prstGeom prst="bentConnector3">
            <a:avLst>
              <a:gd name="adj1" fmla="val 50000"/>
            </a:avLst>
          </a:prstGeom>
          <a:ln w="952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81" name="Connector: Elbow 124">
            <a:extLst>
              <a:ext uri="{FF2B5EF4-FFF2-40B4-BE49-F238E27FC236}">
                <a16:creationId xmlns:a16="http://schemas.microsoft.com/office/drawing/2014/main" id="{DBA63C84-5714-74B2-2283-71520F72D6EB}"/>
              </a:ext>
            </a:extLst>
          </p:cNvPr>
          <p:cNvCxnSpPr>
            <a:stCxn id="123" idx="1"/>
            <a:endCxn id="179" idx="4"/>
          </p:cNvCxnSpPr>
          <p:nvPr/>
        </p:nvCxnSpPr>
        <p:spPr>
          <a:xfrm rot="10800000" flipV="1">
            <a:off x="1956062" y="4597512"/>
            <a:ext cx="1976205" cy="1260455"/>
          </a:xfrm>
          <a:prstGeom prst="bentConnector3">
            <a:avLst>
              <a:gd name="adj1" fmla="val 50000"/>
            </a:avLst>
          </a:prstGeom>
          <a:ln w="952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82" name="Connector: Elbow 124">
            <a:extLst>
              <a:ext uri="{FF2B5EF4-FFF2-40B4-BE49-F238E27FC236}">
                <a16:creationId xmlns:a16="http://schemas.microsoft.com/office/drawing/2014/main" id="{5CC0B449-295E-982C-79EF-BD18D59360C9}"/>
              </a:ext>
            </a:extLst>
          </p:cNvPr>
          <p:cNvCxnSpPr>
            <a:stCxn id="133" idx="4"/>
            <a:endCxn id="122" idx="1"/>
          </p:cNvCxnSpPr>
          <p:nvPr/>
        </p:nvCxnSpPr>
        <p:spPr>
          <a:xfrm flipV="1">
            <a:off x="2638425" y="4222975"/>
            <a:ext cx="1295400" cy="64262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83" name="Connector: Elbow 124">
            <a:extLst>
              <a:ext uri="{FF2B5EF4-FFF2-40B4-BE49-F238E27FC236}">
                <a16:creationId xmlns:a16="http://schemas.microsoft.com/office/drawing/2014/main" id="{14729251-32CE-C362-8750-2DC315847E3D}"/>
              </a:ext>
            </a:extLst>
          </p:cNvPr>
          <p:cNvCxnSpPr>
            <a:stCxn id="112" idx="1"/>
            <a:endCxn id="179" idx="4"/>
          </p:cNvCxnSpPr>
          <p:nvPr/>
        </p:nvCxnSpPr>
        <p:spPr>
          <a:xfrm rot="10800000" flipV="1">
            <a:off x="1956061" y="3449634"/>
            <a:ext cx="1977054" cy="2408333"/>
          </a:xfrm>
          <a:prstGeom prst="bentConnector3">
            <a:avLst>
              <a:gd name="adj1" fmla="val 50000"/>
            </a:avLst>
          </a:prstGeom>
          <a:ln w="952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84" name="Connector: Elbow 124">
            <a:extLst>
              <a:ext uri="{FF2B5EF4-FFF2-40B4-BE49-F238E27FC236}">
                <a16:creationId xmlns:a16="http://schemas.microsoft.com/office/drawing/2014/main" id="{50251EBE-21E3-80C9-37D1-556B41D03A35}"/>
              </a:ext>
            </a:extLst>
          </p:cNvPr>
          <p:cNvCxnSpPr>
            <a:stCxn id="104" idx="1"/>
            <a:endCxn id="179" idx="4"/>
          </p:cNvCxnSpPr>
          <p:nvPr/>
        </p:nvCxnSpPr>
        <p:spPr>
          <a:xfrm rot="10800000" flipV="1">
            <a:off x="1956061" y="1898454"/>
            <a:ext cx="1968540" cy="3959513"/>
          </a:xfrm>
          <a:prstGeom prst="bentConnector3">
            <a:avLst>
              <a:gd name="adj1" fmla="val 50000"/>
            </a:avLst>
          </a:prstGeom>
          <a:ln w="952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85" name="Connector: Elbow 124">
            <a:extLst>
              <a:ext uri="{FF2B5EF4-FFF2-40B4-BE49-F238E27FC236}">
                <a16:creationId xmlns:a16="http://schemas.microsoft.com/office/drawing/2014/main" id="{89D6DD59-7971-1945-21F8-166B05053213}"/>
              </a:ext>
            </a:extLst>
          </p:cNvPr>
          <p:cNvCxnSpPr>
            <a:stCxn id="105" idx="1"/>
            <a:endCxn id="179" idx="4"/>
          </p:cNvCxnSpPr>
          <p:nvPr/>
        </p:nvCxnSpPr>
        <p:spPr>
          <a:xfrm rot="10800000" flipV="1">
            <a:off x="1956061" y="1592762"/>
            <a:ext cx="1976206" cy="4265206"/>
          </a:xfrm>
          <a:prstGeom prst="bentConnector3">
            <a:avLst>
              <a:gd name="adj1" fmla="val 50000"/>
            </a:avLst>
          </a:prstGeom>
          <a:ln w="952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86" name="Rectangle 185">
            <a:extLst>
              <a:ext uri="{FF2B5EF4-FFF2-40B4-BE49-F238E27FC236}">
                <a16:creationId xmlns:a16="http://schemas.microsoft.com/office/drawing/2014/main" id="{0DB640B5-8B4A-9146-EF3F-E74EE926C408}"/>
              </a:ext>
            </a:extLst>
          </p:cNvPr>
          <p:cNvSpPr/>
          <p:nvPr/>
        </p:nvSpPr>
        <p:spPr>
          <a:xfrm>
            <a:off x="3686012" y="1990938"/>
            <a:ext cx="1260000" cy="14641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API Gateway</a:t>
            </a:r>
          </a:p>
        </p:txBody>
      </p:sp>
      <p:sp>
        <p:nvSpPr>
          <p:cNvPr id="187" name="Arrow: Up-Down 75">
            <a:extLst>
              <a:ext uri="{FF2B5EF4-FFF2-40B4-BE49-F238E27FC236}">
                <a16:creationId xmlns:a16="http://schemas.microsoft.com/office/drawing/2014/main" id="{B9ABACB1-32C6-8D10-9D8A-356FDE50C75B}"/>
              </a:ext>
            </a:extLst>
          </p:cNvPr>
          <p:cNvSpPr/>
          <p:nvPr/>
        </p:nvSpPr>
        <p:spPr>
          <a:xfrm>
            <a:off x="7847395" y="1287565"/>
            <a:ext cx="307065" cy="260998"/>
          </a:xfrm>
          <a:prstGeom prst="upDownArrow">
            <a:avLst>
              <a:gd name="adj1" fmla="val 43596"/>
              <a:gd name="adj2" fmla="val 307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Graphik"/>
              <a:ea typeface="+mn-ea"/>
              <a:cs typeface="+mn-cs"/>
            </a:endParaRPr>
          </a:p>
        </p:txBody>
      </p:sp>
      <p:sp>
        <p:nvSpPr>
          <p:cNvPr id="188" name="Arrow: Up-Down 75">
            <a:extLst>
              <a:ext uri="{FF2B5EF4-FFF2-40B4-BE49-F238E27FC236}">
                <a16:creationId xmlns:a16="http://schemas.microsoft.com/office/drawing/2014/main" id="{C56EF78A-8C2A-ADFE-BB59-F52A2700146A}"/>
              </a:ext>
            </a:extLst>
          </p:cNvPr>
          <p:cNvSpPr/>
          <p:nvPr/>
        </p:nvSpPr>
        <p:spPr>
          <a:xfrm>
            <a:off x="7847395" y="1921782"/>
            <a:ext cx="307065" cy="260998"/>
          </a:xfrm>
          <a:prstGeom prst="upDownArrow">
            <a:avLst>
              <a:gd name="adj1" fmla="val 43596"/>
              <a:gd name="adj2" fmla="val 307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Graphik"/>
              <a:ea typeface="+mn-ea"/>
              <a:cs typeface="+mn-cs"/>
            </a:endParaRPr>
          </a:p>
        </p:txBody>
      </p:sp>
      <p:sp>
        <p:nvSpPr>
          <p:cNvPr id="189" name="Rectangle 188">
            <a:extLst>
              <a:ext uri="{FF2B5EF4-FFF2-40B4-BE49-F238E27FC236}">
                <a16:creationId xmlns:a16="http://schemas.microsoft.com/office/drawing/2014/main" id="{2C9B4B7D-8D45-921C-B33F-B49569A10318}"/>
              </a:ext>
            </a:extLst>
          </p:cNvPr>
          <p:cNvSpPr/>
          <p:nvPr/>
        </p:nvSpPr>
        <p:spPr>
          <a:xfrm>
            <a:off x="2220747" y="5651204"/>
            <a:ext cx="575302" cy="447906"/>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700" b="0" i="0" u="none" strike="noStrike" kern="1200" cap="none" spc="0" normalizeH="0" baseline="0" noProof="0">
                <a:ln>
                  <a:noFill/>
                </a:ln>
                <a:solidFill>
                  <a:srgbClr val="000000"/>
                </a:solidFill>
                <a:effectLst/>
                <a:uLnTx/>
                <a:uFillTx/>
                <a:latin typeface="Graphik"/>
                <a:ea typeface="+mn-ea"/>
                <a:cs typeface="+mn-cs"/>
                <a:sym typeface="+mn-ea"/>
              </a:rPr>
              <a:t>Luna Controller (infra)</a:t>
            </a:r>
          </a:p>
        </p:txBody>
      </p:sp>
      <p:cxnSp>
        <p:nvCxnSpPr>
          <p:cNvPr id="190" name="Connector: Elbow 124">
            <a:extLst>
              <a:ext uri="{FF2B5EF4-FFF2-40B4-BE49-F238E27FC236}">
                <a16:creationId xmlns:a16="http://schemas.microsoft.com/office/drawing/2014/main" id="{A9DCA53A-D604-9E77-2F2E-0CD451CDC2C1}"/>
              </a:ext>
            </a:extLst>
          </p:cNvPr>
          <p:cNvCxnSpPr>
            <a:stCxn id="179" idx="3"/>
            <a:endCxn id="164" idx="1"/>
          </p:cNvCxnSpPr>
          <p:nvPr/>
        </p:nvCxnSpPr>
        <p:spPr>
          <a:xfrm rot="5400000" flipH="1" flipV="1">
            <a:off x="4700905" y="1569945"/>
            <a:ext cx="1723390" cy="7586980"/>
          </a:xfrm>
          <a:prstGeom prst="bentConnector4">
            <a:avLst>
              <a:gd name="adj1" fmla="val -31503"/>
              <a:gd name="adj2" fmla="val 95672"/>
            </a:avLst>
          </a:prstGeom>
          <a:ln w="9525">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91" name="Rectangle 190">
            <a:extLst>
              <a:ext uri="{FF2B5EF4-FFF2-40B4-BE49-F238E27FC236}">
                <a16:creationId xmlns:a16="http://schemas.microsoft.com/office/drawing/2014/main" id="{2BE9E00D-EE07-7170-447C-EB0AC6510781}"/>
              </a:ext>
            </a:extLst>
          </p:cNvPr>
          <p:cNvSpPr/>
          <p:nvPr/>
        </p:nvSpPr>
        <p:spPr>
          <a:xfrm>
            <a:off x="9383490" y="4671268"/>
            <a:ext cx="2710995" cy="28128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Threat Protection (Gateway)</a:t>
            </a:r>
          </a:p>
        </p:txBody>
      </p:sp>
      <p:sp>
        <p:nvSpPr>
          <p:cNvPr id="192" name="Rectangle: Rounded Corners 55">
            <a:extLst>
              <a:ext uri="{FF2B5EF4-FFF2-40B4-BE49-F238E27FC236}">
                <a16:creationId xmlns:a16="http://schemas.microsoft.com/office/drawing/2014/main" id="{76FCA79D-C9FA-E6D1-94EF-49068483A1A5}"/>
              </a:ext>
            </a:extLst>
          </p:cNvPr>
          <p:cNvSpPr/>
          <p:nvPr/>
        </p:nvSpPr>
        <p:spPr>
          <a:xfrm>
            <a:off x="3928219" y="6316121"/>
            <a:ext cx="966510" cy="290618"/>
          </a:xfrm>
          <a:prstGeom prst="round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err="1">
                <a:ln>
                  <a:noFill/>
                </a:ln>
                <a:solidFill>
                  <a:srgbClr val="000000"/>
                </a:solidFill>
                <a:effectLst/>
                <a:uLnTx/>
                <a:uFillTx/>
                <a:latin typeface="Graphik"/>
                <a:ea typeface="+mn-ea"/>
                <a:cs typeface="+mn-cs"/>
              </a:rPr>
              <a:t>Ratelimit</a:t>
            </a:r>
            <a:r>
              <a:rPr kumimoji="0" lang="en-US" sz="900" b="0" i="0" u="none" strike="noStrike" kern="1200" cap="none" spc="0" normalizeH="0" baseline="0" noProof="0">
                <a:ln>
                  <a:noFill/>
                </a:ln>
                <a:solidFill>
                  <a:srgbClr val="000000"/>
                </a:solidFill>
                <a:effectLst/>
                <a:uLnTx/>
                <a:uFillTx/>
                <a:latin typeface="Graphik"/>
                <a:ea typeface="+mn-ea"/>
                <a:cs typeface="+mn-cs"/>
              </a:rPr>
              <a:t> (</a:t>
            </a:r>
            <a:r>
              <a:rPr kumimoji="0" lang="en-US" sz="900" b="0" i="0" u="none" strike="noStrike" kern="1200" cap="none" spc="0" normalizeH="0" baseline="0" noProof="0" err="1">
                <a:ln>
                  <a:noFill/>
                </a:ln>
                <a:solidFill>
                  <a:srgbClr val="000000"/>
                </a:solidFill>
                <a:effectLst/>
                <a:uLnTx/>
                <a:uFillTx/>
                <a:latin typeface="Graphik"/>
                <a:ea typeface="+mn-ea"/>
                <a:cs typeface="+mn-cs"/>
              </a:rPr>
              <a:t>ApiGee</a:t>
            </a:r>
            <a:r>
              <a:rPr kumimoji="0" lang="en-US" sz="900" b="0" i="0" u="none" strike="noStrike" kern="1200" cap="none" spc="0" normalizeH="0" baseline="0" noProof="0">
                <a:ln>
                  <a:noFill/>
                </a:ln>
                <a:solidFill>
                  <a:srgbClr val="000000"/>
                </a:solidFill>
                <a:effectLst/>
                <a:uLnTx/>
                <a:uFillTx/>
                <a:latin typeface="Graphik"/>
                <a:ea typeface="+mn-ea"/>
                <a:cs typeface="+mn-cs"/>
              </a:rPr>
              <a:t>)</a:t>
            </a:r>
          </a:p>
        </p:txBody>
      </p:sp>
      <p:sp>
        <p:nvSpPr>
          <p:cNvPr id="193" name="Rectangle 1060">
            <a:extLst>
              <a:ext uri="{FF2B5EF4-FFF2-40B4-BE49-F238E27FC236}">
                <a16:creationId xmlns:a16="http://schemas.microsoft.com/office/drawing/2014/main" id="{B30F8B47-EA68-D367-8912-DCA186D1D050}"/>
              </a:ext>
            </a:extLst>
          </p:cNvPr>
          <p:cNvSpPr/>
          <p:nvPr/>
        </p:nvSpPr>
        <p:spPr>
          <a:xfrm>
            <a:off x="8879840" y="1726790"/>
            <a:ext cx="2879725" cy="19558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900" b="0" i="0" u="none" strike="noStrike" kern="1200" cap="none" spc="0" normalizeH="0" baseline="0" noProof="0" dirty="0">
                <a:ln>
                  <a:noFill/>
                </a:ln>
                <a:solidFill>
                  <a:srgbClr val="000000"/>
                </a:solidFill>
                <a:effectLst/>
                <a:uLnTx/>
                <a:uFillTx/>
                <a:latin typeface="Graphik"/>
                <a:ea typeface="+mn-ea"/>
                <a:cs typeface="+mn-cs"/>
              </a:rPr>
              <a:t>Current components</a:t>
            </a:r>
          </a:p>
        </p:txBody>
      </p:sp>
      <p:sp>
        <p:nvSpPr>
          <p:cNvPr id="194" name="TextBox 164">
            <a:extLst>
              <a:ext uri="{FF2B5EF4-FFF2-40B4-BE49-F238E27FC236}">
                <a16:creationId xmlns:a16="http://schemas.microsoft.com/office/drawing/2014/main" id="{D2D72A87-6837-78AD-1F69-63D84C4F0E8D}"/>
              </a:ext>
            </a:extLst>
          </p:cNvPr>
          <p:cNvSpPr txBox="1"/>
          <p:nvPr/>
        </p:nvSpPr>
        <p:spPr>
          <a:xfrm>
            <a:off x="335953" y="1005737"/>
            <a:ext cx="2679700" cy="1586865"/>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sz="800" b="1" i="0" u="none" strike="noStrike" kern="1200" cap="none" spc="0" normalizeH="0" baseline="0" noProof="0" dirty="0">
                <a:ln>
                  <a:noFill/>
                </a:ln>
                <a:solidFill>
                  <a:srgbClr val="000000"/>
                </a:solidFill>
                <a:effectLst/>
                <a:uLnTx/>
                <a:uFillTx/>
                <a:latin typeface="Graphik"/>
                <a:ea typeface="+mn-ea"/>
                <a:cs typeface="+mn-cs"/>
              </a:rPr>
              <a:t>Notes: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es-MX" sz="800" b="0" i="0" u="none" strike="noStrike" kern="1200" cap="none" spc="0" normalizeH="0" baseline="0" noProof="0" dirty="0">
                <a:ln>
                  <a:noFill/>
                </a:ln>
                <a:solidFill>
                  <a:srgbClr val="000000"/>
                </a:solidFill>
                <a:effectLst/>
                <a:uLnTx/>
                <a:uFillTx/>
                <a:latin typeface="Graphik"/>
                <a:ea typeface="+mn-ea"/>
                <a:cs typeface="+mn-cs"/>
              </a:rPr>
              <a:t>The components in red do not exist and are considered critical</a:t>
            </a:r>
            <a:r>
              <a:rPr kumimoji="0" lang="en-US" altLang="es-MX" sz="1000" b="0" i="0" u="none" strike="noStrike" kern="1200" cap="none" spc="0" normalizeH="0" baseline="0" noProof="0" dirty="0">
                <a:ln>
                  <a:noFill/>
                </a:ln>
                <a:solidFill>
                  <a:srgbClr val="000000"/>
                </a:solidFill>
                <a:effectLst/>
                <a:uLnTx/>
                <a:uFillTx/>
                <a:latin typeface="Graphik"/>
                <a:ea typeface="+mn-ea"/>
                <a:cs typeface="+mn-cs"/>
              </a:rPr>
              <a:t>.</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es-MX" sz="800" b="0" i="0" u="none" strike="noStrike" kern="1200" cap="none" spc="0" normalizeH="0" baseline="0" noProof="0" dirty="0">
                <a:ln>
                  <a:noFill/>
                </a:ln>
                <a:solidFill>
                  <a:srgbClr val="000000"/>
                </a:solidFill>
                <a:effectLst/>
                <a:uLnTx/>
                <a:uFillTx/>
                <a:latin typeface="Graphik"/>
                <a:ea typeface="+mn-ea"/>
                <a:cs typeface="+mn-cs"/>
              </a:rPr>
              <a:t>Green lines represent the current flow.</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es-MX" sz="800" b="0" i="0" u="none" strike="noStrike" kern="1200" cap="none" spc="0" normalizeH="0" baseline="0" noProof="0" dirty="0">
                <a:ln>
                  <a:noFill/>
                </a:ln>
                <a:solidFill>
                  <a:srgbClr val="000000"/>
                </a:solidFill>
                <a:effectLst/>
                <a:uLnTx/>
                <a:uFillTx/>
                <a:latin typeface="Graphik"/>
                <a:ea typeface="+mn-ea"/>
                <a:cs typeface="+mn-cs"/>
              </a:rPr>
              <a:t>For the most part, security services are dependent on a microservice.</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es-MX" sz="800" b="0" i="0" u="none" strike="noStrike" kern="1200" cap="none" spc="0" normalizeH="0" baseline="0" noProof="0" dirty="0">
                <a:ln>
                  <a:noFill/>
                </a:ln>
                <a:solidFill>
                  <a:srgbClr val="000000"/>
                </a:solidFill>
                <a:effectLst/>
                <a:uLnTx/>
                <a:uFillTx/>
                <a:latin typeface="Graphik"/>
                <a:ea typeface="+mn-ea"/>
                <a:cs typeface="+mn-cs"/>
              </a:rPr>
              <a:t>No observability and cybersecurity response</a:t>
            </a:r>
            <a:r>
              <a:rPr kumimoji="0" lang="es-MX" altLang="en-US" sz="800" b="0" i="0" u="none" strike="noStrike" kern="1200" cap="none" spc="0" normalizeH="0" baseline="0" noProof="0" dirty="0">
                <a:ln>
                  <a:noFill/>
                </a:ln>
                <a:solidFill>
                  <a:srgbClr val="000000"/>
                </a:solidFill>
                <a:effectLst/>
                <a:uLnTx/>
                <a:uFillTx/>
                <a:latin typeface="Graphik"/>
                <a:ea typeface="+mn-ea"/>
                <a:cs typeface="+mn-cs"/>
              </a:rPr>
              <a:t>.</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es-MX" sz="800" b="0" i="0" u="none" strike="noStrike" kern="1200" cap="none" spc="0" normalizeH="0" baseline="0" noProof="0" dirty="0">
                <a:ln>
                  <a:noFill/>
                </a:ln>
                <a:solidFill>
                  <a:srgbClr val="000000"/>
                </a:solidFill>
                <a:effectLst/>
                <a:uLnTx/>
                <a:uFillTx/>
                <a:latin typeface="Graphik"/>
                <a:ea typeface="+mn-ea"/>
                <a:cs typeface="+mn-cs"/>
              </a:rPr>
              <a:t>It is necessary to evaluate security over the interoperability layers.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altLang="es-MX" sz="800" b="0" i="0" u="none" strike="noStrike" kern="1200" cap="none" spc="0" normalizeH="0" baseline="0" noProof="0" dirty="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s-MX" altLang="en-US" sz="10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95" name="Rectangle 1060">
            <a:extLst>
              <a:ext uri="{FF2B5EF4-FFF2-40B4-BE49-F238E27FC236}">
                <a16:creationId xmlns:a16="http://schemas.microsoft.com/office/drawing/2014/main" id="{491C86F6-7F70-3A2A-79A5-86F988457801}"/>
              </a:ext>
            </a:extLst>
          </p:cNvPr>
          <p:cNvSpPr/>
          <p:nvPr/>
        </p:nvSpPr>
        <p:spPr>
          <a:xfrm>
            <a:off x="8896985" y="1987140"/>
            <a:ext cx="2879725" cy="195580"/>
          </a:xfrm>
          <a:prstGeom prst="rect">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900" b="0" i="0" u="none" strike="noStrike" kern="1200" cap="none" spc="0" normalizeH="0" baseline="0" noProof="0">
                <a:ln>
                  <a:noFill/>
                </a:ln>
                <a:solidFill>
                  <a:srgbClr val="FFFFFF"/>
                </a:solidFill>
                <a:effectLst/>
                <a:uLnTx/>
                <a:uFillTx/>
                <a:latin typeface="Graphik"/>
                <a:ea typeface="+mn-ea"/>
                <a:cs typeface="+mn-cs"/>
              </a:rPr>
              <a:t>Dependence on third parties</a:t>
            </a:r>
          </a:p>
        </p:txBody>
      </p:sp>
    </p:spTree>
    <p:extLst>
      <p:ext uri="{BB962C8B-B14F-4D97-AF65-F5344CB8AC3E}">
        <p14:creationId xmlns:p14="http://schemas.microsoft.com/office/powerpoint/2010/main" val="41424409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1FF38-C5E2-C49F-11D2-CD09F5C9F0F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B053FCC-2CD6-53D4-5ACE-98EBBF92EB17}"/>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All rights reserved.</a:t>
            </a:r>
          </a:p>
        </p:txBody>
      </p:sp>
      <p:sp>
        <p:nvSpPr>
          <p:cNvPr id="118" name="Title 1">
            <a:extLst>
              <a:ext uri="{FF2B5EF4-FFF2-40B4-BE49-F238E27FC236}">
                <a16:creationId xmlns:a16="http://schemas.microsoft.com/office/drawing/2014/main" id="{8499636B-4A4D-9110-DBF0-7937AED24571}"/>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Interoperability Asset </a:t>
            </a:r>
            <a:r>
              <a:rPr kumimoji="0" lang="en-US" sz="2400" b="1" i="0" u="none" strike="noStrike" kern="1200" cap="none" spc="0" normalizeH="0" baseline="0" noProof="0">
                <a:ln>
                  <a:noFill/>
                </a:ln>
                <a:solidFill>
                  <a:srgbClr val="000000"/>
                </a:solidFill>
                <a:effectLst/>
                <a:uLnTx/>
                <a:uFillTx/>
                <a:latin typeface="Graphik"/>
                <a:ea typeface="+mj-ea"/>
                <a:cs typeface="+mj-cs"/>
              </a:rPr>
              <a:t>| Infrastructure</a:t>
            </a:r>
          </a:p>
        </p:txBody>
      </p:sp>
      <p:sp>
        <p:nvSpPr>
          <p:cNvPr id="119" name="Content Placeholder 34">
            <a:extLst>
              <a:ext uri="{FF2B5EF4-FFF2-40B4-BE49-F238E27FC236}">
                <a16:creationId xmlns:a16="http://schemas.microsoft.com/office/drawing/2014/main" id="{2BDE39EB-3FAE-1593-6CEC-584E9DD2BDEF}"/>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Microservices Framework | Caching </a:t>
            </a:r>
          </a:p>
        </p:txBody>
      </p:sp>
      <p:grpSp>
        <p:nvGrpSpPr>
          <p:cNvPr id="4" name="Group 3">
            <a:extLst>
              <a:ext uri="{FF2B5EF4-FFF2-40B4-BE49-F238E27FC236}">
                <a16:creationId xmlns:a16="http://schemas.microsoft.com/office/drawing/2014/main" id="{E7631046-9982-4708-1CDB-6766FC8CF2EF}"/>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A5D2A919-02DB-60CD-D734-9AC255447A24}"/>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Illustrative non exhaustive</a:t>
              </a:r>
            </a:p>
          </p:txBody>
        </p:sp>
        <p:cxnSp>
          <p:nvCxnSpPr>
            <p:cNvPr id="6" name="Straight Connector 5">
              <a:extLst>
                <a:ext uri="{FF2B5EF4-FFF2-40B4-BE49-F238E27FC236}">
                  <a16:creationId xmlns:a16="http://schemas.microsoft.com/office/drawing/2014/main" id="{0DC1DD97-6D75-D6C4-3C88-7E22E1761F3A}"/>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74C7F47-8235-D563-14DC-174F7DD523D9}"/>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E7122525-1D0C-BBB6-F553-762F2D62B3CA}"/>
              </a:ext>
            </a:extLst>
          </p:cNvPr>
          <p:cNvSpPr txBox="1"/>
          <p:nvPr/>
        </p:nvSpPr>
        <p:spPr>
          <a:xfrm>
            <a:off x="2701464" y="2105063"/>
            <a:ext cx="4982983" cy="2853844"/>
          </a:xfrm>
          <a:prstGeom prst="rect">
            <a:avLst/>
          </a:prstGeom>
          <a:no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9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a:t>
            </a:r>
          </a:p>
        </p:txBody>
      </p:sp>
      <p:sp>
        <p:nvSpPr>
          <p:cNvPr id="9" name="Rectangle 8">
            <a:extLst>
              <a:ext uri="{FF2B5EF4-FFF2-40B4-BE49-F238E27FC236}">
                <a16:creationId xmlns:a16="http://schemas.microsoft.com/office/drawing/2014/main" id="{1E30F2F5-807E-076D-4914-39AFA0EDB981}"/>
              </a:ext>
            </a:extLst>
          </p:cNvPr>
          <p:cNvSpPr/>
          <p:nvPr/>
        </p:nvSpPr>
        <p:spPr>
          <a:xfrm>
            <a:off x="4058285" y="998200"/>
            <a:ext cx="2971165" cy="22288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Main components of this capability</a:t>
            </a:r>
          </a:p>
        </p:txBody>
      </p:sp>
      <p:sp>
        <p:nvSpPr>
          <p:cNvPr id="10" name="Rectangle 9">
            <a:extLst>
              <a:ext uri="{FF2B5EF4-FFF2-40B4-BE49-F238E27FC236}">
                <a16:creationId xmlns:a16="http://schemas.microsoft.com/office/drawing/2014/main" id="{FF672440-0AD7-B162-5487-D4F8E94CBAD9}"/>
              </a:ext>
            </a:extLst>
          </p:cNvPr>
          <p:cNvSpPr/>
          <p:nvPr/>
        </p:nvSpPr>
        <p:spPr>
          <a:xfrm>
            <a:off x="4058920" y="1232515"/>
            <a:ext cx="2970530" cy="22288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Components of other related capabilities</a:t>
            </a:r>
          </a:p>
        </p:txBody>
      </p:sp>
      <p:sp>
        <p:nvSpPr>
          <p:cNvPr id="11" name="Rectangle 10">
            <a:extLst>
              <a:ext uri="{FF2B5EF4-FFF2-40B4-BE49-F238E27FC236}">
                <a16:creationId xmlns:a16="http://schemas.microsoft.com/office/drawing/2014/main" id="{D09893B6-98E5-4242-625D-6E277E0D8D4A}"/>
              </a:ext>
            </a:extLst>
          </p:cNvPr>
          <p:cNvSpPr/>
          <p:nvPr/>
        </p:nvSpPr>
        <p:spPr>
          <a:xfrm>
            <a:off x="4058285" y="1449050"/>
            <a:ext cx="2971165" cy="22288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Functional Components related to this capability</a:t>
            </a:r>
          </a:p>
        </p:txBody>
      </p:sp>
      <p:cxnSp>
        <p:nvCxnSpPr>
          <p:cNvPr id="12" name="Straight Arrow Connector 11">
            <a:extLst>
              <a:ext uri="{FF2B5EF4-FFF2-40B4-BE49-F238E27FC236}">
                <a16:creationId xmlns:a16="http://schemas.microsoft.com/office/drawing/2014/main" id="{4002B426-2E67-7B25-F2BD-C41EC5F423EA}"/>
              </a:ext>
            </a:extLst>
          </p:cNvPr>
          <p:cNvCxnSpPr>
            <a:stCxn id="8" idx="3"/>
            <a:endCxn id="13" idx="2"/>
          </p:cNvCxnSpPr>
          <p:nvPr/>
        </p:nvCxnSpPr>
        <p:spPr>
          <a:xfrm>
            <a:off x="7684447" y="3531985"/>
            <a:ext cx="661413" cy="860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Can 172">
            <a:extLst>
              <a:ext uri="{FF2B5EF4-FFF2-40B4-BE49-F238E27FC236}">
                <a16:creationId xmlns:a16="http://schemas.microsoft.com/office/drawing/2014/main" id="{3782FEDB-3050-738C-126D-68FBC47080AD}"/>
              </a:ext>
            </a:extLst>
          </p:cNvPr>
          <p:cNvSpPr/>
          <p:nvPr/>
        </p:nvSpPr>
        <p:spPr bwMode="auto">
          <a:xfrm>
            <a:off x="8345860" y="2115115"/>
            <a:ext cx="332049" cy="2850954"/>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Remote Service</a:t>
            </a:r>
          </a:p>
        </p:txBody>
      </p:sp>
      <p:sp>
        <p:nvSpPr>
          <p:cNvPr id="14" name="Rectangle 13">
            <a:extLst>
              <a:ext uri="{FF2B5EF4-FFF2-40B4-BE49-F238E27FC236}">
                <a16:creationId xmlns:a16="http://schemas.microsoft.com/office/drawing/2014/main" id="{04D4C15A-6115-6D3D-A530-9686C8158B25}"/>
              </a:ext>
            </a:extLst>
          </p:cNvPr>
          <p:cNvSpPr/>
          <p:nvPr/>
        </p:nvSpPr>
        <p:spPr>
          <a:xfrm>
            <a:off x="3291926" y="2406207"/>
            <a:ext cx="4102600" cy="180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Microservices Framework</a:t>
            </a:r>
          </a:p>
        </p:txBody>
      </p:sp>
      <p:sp>
        <p:nvSpPr>
          <p:cNvPr id="15" name="Rectangle: Rounded Corners 55">
            <a:extLst>
              <a:ext uri="{FF2B5EF4-FFF2-40B4-BE49-F238E27FC236}">
                <a16:creationId xmlns:a16="http://schemas.microsoft.com/office/drawing/2014/main" id="{9E7508D1-5276-64B1-F7B7-B6436E4B42BC}"/>
              </a:ext>
            </a:extLst>
          </p:cNvPr>
          <p:cNvSpPr/>
          <p:nvPr/>
        </p:nvSpPr>
        <p:spPr>
          <a:xfrm>
            <a:off x="737066" y="2337297"/>
            <a:ext cx="1021723" cy="3515491"/>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Graphik"/>
              <a:ea typeface="+mn-ea"/>
              <a:cs typeface="+mn-cs"/>
            </a:endParaRPr>
          </a:p>
        </p:txBody>
      </p:sp>
      <p:sp>
        <p:nvSpPr>
          <p:cNvPr id="16" name="Rectangle: Rounded Corners 55">
            <a:extLst>
              <a:ext uri="{FF2B5EF4-FFF2-40B4-BE49-F238E27FC236}">
                <a16:creationId xmlns:a16="http://schemas.microsoft.com/office/drawing/2014/main" id="{3E2BB48E-DC04-975B-CB88-D181A7158621}"/>
              </a:ext>
            </a:extLst>
          </p:cNvPr>
          <p:cNvSpPr/>
          <p:nvPr/>
        </p:nvSpPr>
        <p:spPr>
          <a:xfrm>
            <a:off x="945522" y="2857737"/>
            <a:ext cx="678070"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Mobile App</a:t>
            </a:r>
          </a:p>
        </p:txBody>
      </p:sp>
      <p:sp>
        <p:nvSpPr>
          <p:cNvPr id="17" name="Rectangle: Rounded Corners 55">
            <a:extLst>
              <a:ext uri="{FF2B5EF4-FFF2-40B4-BE49-F238E27FC236}">
                <a16:creationId xmlns:a16="http://schemas.microsoft.com/office/drawing/2014/main" id="{7F8A43D9-1B91-6C25-0ADF-5137982E38A2}"/>
              </a:ext>
            </a:extLst>
          </p:cNvPr>
          <p:cNvSpPr/>
          <p:nvPr/>
        </p:nvSpPr>
        <p:spPr>
          <a:xfrm>
            <a:off x="945521" y="5114216"/>
            <a:ext cx="678070"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Web Site</a:t>
            </a:r>
          </a:p>
        </p:txBody>
      </p:sp>
      <p:sp>
        <p:nvSpPr>
          <p:cNvPr id="18" name="Can 172">
            <a:extLst>
              <a:ext uri="{FF2B5EF4-FFF2-40B4-BE49-F238E27FC236}">
                <a16:creationId xmlns:a16="http://schemas.microsoft.com/office/drawing/2014/main" id="{A65FE65F-88B5-F054-122A-BBC368E0A721}"/>
              </a:ext>
            </a:extLst>
          </p:cNvPr>
          <p:cNvSpPr/>
          <p:nvPr/>
        </p:nvSpPr>
        <p:spPr bwMode="auto">
          <a:xfrm>
            <a:off x="164997" y="2311288"/>
            <a:ext cx="291475" cy="3541500"/>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Omnichannel Components</a:t>
            </a:r>
          </a:p>
        </p:txBody>
      </p:sp>
      <p:cxnSp>
        <p:nvCxnSpPr>
          <p:cNvPr id="19" name="Connector: Elbow 124">
            <a:extLst>
              <a:ext uri="{FF2B5EF4-FFF2-40B4-BE49-F238E27FC236}">
                <a16:creationId xmlns:a16="http://schemas.microsoft.com/office/drawing/2014/main" id="{8B80120B-B9C3-D2C1-F37E-91520B58E309}"/>
              </a:ext>
            </a:extLst>
          </p:cNvPr>
          <p:cNvCxnSpPr>
            <a:stCxn id="18" idx="4"/>
            <a:endCxn id="16" idx="1"/>
          </p:cNvCxnSpPr>
          <p:nvPr/>
        </p:nvCxnSpPr>
        <p:spPr>
          <a:xfrm flipV="1">
            <a:off x="456472" y="3003046"/>
            <a:ext cx="489050" cy="107899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24">
            <a:extLst>
              <a:ext uri="{FF2B5EF4-FFF2-40B4-BE49-F238E27FC236}">
                <a16:creationId xmlns:a16="http://schemas.microsoft.com/office/drawing/2014/main" id="{D6B61B1D-CF47-1F78-2BBE-9B6A4A5909CC}"/>
              </a:ext>
            </a:extLst>
          </p:cNvPr>
          <p:cNvCxnSpPr>
            <a:stCxn id="18" idx="4"/>
            <a:endCxn id="17" idx="1"/>
          </p:cNvCxnSpPr>
          <p:nvPr/>
        </p:nvCxnSpPr>
        <p:spPr>
          <a:xfrm>
            <a:off x="456472" y="4082038"/>
            <a:ext cx="489049" cy="1177487"/>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Rectangle: Rounded Corners 55">
            <a:extLst>
              <a:ext uri="{FF2B5EF4-FFF2-40B4-BE49-F238E27FC236}">
                <a16:creationId xmlns:a16="http://schemas.microsoft.com/office/drawing/2014/main" id="{6683EFBD-EA0F-7654-7AC2-2D5AF9DB7F44}"/>
              </a:ext>
            </a:extLst>
          </p:cNvPr>
          <p:cNvSpPr/>
          <p:nvPr/>
        </p:nvSpPr>
        <p:spPr>
          <a:xfrm>
            <a:off x="601868" y="2234245"/>
            <a:ext cx="1021723"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Client</a:t>
            </a:r>
          </a:p>
        </p:txBody>
      </p:sp>
      <p:sp>
        <p:nvSpPr>
          <p:cNvPr id="22" name="Can 172">
            <a:extLst>
              <a:ext uri="{FF2B5EF4-FFF2-40B4-BE49-F238E27FC236}">
                <a16:creationId xmlns:a16="http://schemas.microsoft.com/office/drawing/2014/main" id="{F08FFA86-AB6A-B08B-A64F-6E1C5D74830A}"/>
              </a:ext>
            </a:extLst>
          </p:cNvPr>
          <p:cNvSpPr/>
          <p:nvPr/>
        </p:nvSpPr>
        <p:spPr bwMode="auto">
          <a:xfrm>
            <a:off x="2173712" y="2375905"/>
            <a:ext cx="237829" cy="2789419"/>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API Gateway</a:t>
            </a:r>
          </a:p>
        </p:txBody>
      </p:sp>
      <p:cxnSp>
        <p:nvCxnSpPr>
          <p:cNvPr id="23" name="Straight Arrow Connector 22">
            <a:extLst>
              <a:ext uri="{FF2B5EF4-FFF2-40B4-BE49-F238E27FC236}">
                <a16:creationId xmlns:a16="http://schemas.microsoft.com/office/drawing/2014/main" id="{6BEF9797-62D5-81B5-A5DE-570A3F571788}"/>
              </a:ext>
            </a:extLst>
          </p:cNvPr>
          <p:cNvCxnSpPr>
            <a:endCxn id="22" idx="2"/>
          </p:cNvCxnSpPr>
          <p:nvPr/>
        </p:nvCxnSpPr>
        <p:spPr>
          <a:xfrm>
            <a:off x="1787955" y="3770614"/>
            <a:ext cx="385757" cy="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Rounded Corners 55">
            <a:extLst>
              <a:ext uri="{FF2B5EF4-FFF2-40B4-BE49-F238E27FC236}">
                <a16:creationId xmlns:a16="http://schemas.microsoft.com/office/drawing/2014/main" id="{F04F0403-BAEE-C626-EB5D-0A62BDAA2464}"/>
              </a:ext>
            </a:extLst>
          </p:cNvPr>
          <p:cNvSpPr/>
          <p:nvPr/>
        </p:nvSpPr>
        <p:spPr>
          <a:xfrm>
            <a:off x="3308985" y="2672060"/>
            <a:ext cx="1649095" cy="330835"/>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Automate Platform Configurations</a:t>
            </a:r>
          </a:p>
        </p:txBody>
      </p:sp>
      <p:sp>
        <p:nvSpPr>
          <p:cNvPr id="25" name="Rectangle: Rounded Corners 55">
            <a:extLst>
              <a:ext uri="{FF2B5EF4-FFF2-40B4-BE49-F238E27FC236}">
                <a16:creationId xmlns:a16="http://schemas.microsoft.com/office/drawing/2014/main" id="{ADC87055-A852-F3CB-A56C-29121F945978}"/>
              </a:ext>
            </a:extLst>
          </p:cNvPr>
          <p:cNvSpPr/>
          <p:nvPr/>
        </p:nvSpPr>
        <p:spPr>
          <a:xfrm>
            <a:off x="3291926" y="3063408"/>
            <a:ext cx="1666459"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Language Runtimes</a:t>
            </a:r>
          </a:p>
        </p:txBody>
      </p:sp>
      <p:sp>
        <p:nvSpPr>
          <p:cNvPr id="26" name="Rectangle: Rounded Corners 25">
            <a:extLst>
              <a:ext uri="{FF2B5EF4-FFF2-40B4-BE49-F238E27FC236}">
                <a16:creationId xmlns:a16="http://schemas.microsoft.com/office/drawing/2014/main" id="{1320838C-7519-B8CE-3ACF-CC814901AD6F}"/>
              </a:ext>
            </a:extLst>
          </p:cNvPr>
          <p:cNvSpPr/>
          <p:nvPr/>
        </p:nvSpPr>
        <p:spPr>
          <a:xfrm>
            <a:off x="3300585" y="3450610"/>
            <a:ext cx="1666459"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Automated Testing</a:t>
            </a:r>
          </a:p>
        </p:txBody>
      </p:sp>
      <p:sp>
        <p:nvSpPr>
          <p:cNvPr id="27" name="Rectangle: Rounded Corners 55">
            <a:extLst>
              <a:ext uri="{FF2B5EF4-FFF2-40B4-BE49-F238E27FC236}">
                <a16:creationId xmlns:a16="http://schemas.microsoft.com/office/drawing/2014/main" id="{50D901D0-2F4D-C501-1452-040923B7EB3C}"/>
              </a:ext>
            </a:extLst>
          </p:cNvPr>
          <p:cNvSpPr/>
          <p:nvPr/>
        </p:nvSpPr>
        <p:spPr>
          <a:xfrm>
            <a:off x="3280820" y="3882602"/>
            <a:ext cx="1666459"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Deployment Strategies</a:t>
            </a:r>
          </a:p>
        </p:txBody>
      </p:sp>
      <p:sp>
        <p:nvSpPr>
          <p:cNvPr id="28" name="Rectangle: Rounded Corners 55">
            <a:extLst>
              <a:ext uri="{FF2B5EF4-FFF2-40B4-BE49-F238E27FC236}">
                <a16:creationId xmlns:a16="http://schemas.microsoft.com/office/drawing/2014/main" id="{C7A520D8-08A3-9004-1BC2-19CA8B8E3822}"/>
              </a:ext>
            </a:extLst>
          </p:cNvPr>
          <p:cNvSpPr/>
          <p:nvPr/>
        </p:nvSpPr>
        <p:spPr>
          <a:xfrm>
            <a:off x="3280821" y="4236039"/>
            <a:ext cx="1686224"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Base </a:t>
            </a:r>
            <a:r>
              <a:rPr kumimoji="0" lang="en-US" sz="900" b="0" i="0" u="none" strike="noStrike" kern="1200" cap="none" spc="0" normalizeH="0" baseline="0" noProof="0" err="1">
                <a:ln>
                  <a:noFill/>
                </a:ln>
                <a:solidFill>
                  <a:srgbClr val="000000"/>
                </a:solidFill>
                <a:effectLst/>
                <a:uLnTx/>
                <a:uFillTx/>
                <a:latin typeface="Graphik"/>
                <a:ea typeface="+mn-ea"/>
                <a:cs typeface="+mn-cs"/>
              </a:rPr>
              <a:t>Libraries</a:t>
            </a:r>
            <a:endParaRPr kumimoji="0" lang="en-US" sz="900" b="0" i="0" u="none" strike="noStrike" kern="1200" cap="none" spc="0" normalizeH="0" baseline="0" noProof="0">
              <a:ln>
                <a:noFill/>
              </a:ln>
              <a:solidFill>
                <a:srgbClr val="000000"/>
              </a:solidFill>
              <a:effectLst/>
              <a:uLnTx/>
              <a:uFillTx/>
              <a:latin typeface="Graphik"/>
              <a:ea typeface="+mn-ea"/>
              <a:cs typeface="+mn-cs"/>
            </a:endParaRPr>
          </a:p>
        </p:txBody>
      </p:sp>
      <p:sp>
        <p:nvSpPr>
          <p:cNvPr id="29" name="Can 172">
            <a:extLst>
              <a:ext uri="{FF2B5EF4-FFF2-40B4-BE49-F238E27FC236}">
                <a16:creationId xmlns:a16="http://schemas.microsoft.com/office/drawing/2014/main" id="{969753D1-1799-BF16-72B7-3F8FF5870AFC}"/>
              </a:ext>
            </a:extLst>
          </p:cNvPr>
          <p:cNvSpPr/>
          <p:nvPr/>
        </p:nvSpPr>
        <p:spPr bwMode="auto">
          <a:xfrm rot="5400000">
            <a:off x="3970544" y="4878457"/>
            <a:ext cx="233770" cy="1741911"/>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Management | Orchestration</a:t>
            </a:r>
          </a:p>
        </p:txBody>
      </p:sp>
      <p:sp>
        <p:nvSpPr>
          <p:cNvPr id="30" name="Can 172">
            <a:extLst>
              <a:ext uri="{FF2B5EF4-FFF2-40B4-BE49-F238E27FC236}">
                <a16:creationId xmlns:a16="http://schemas.microsoft.com/office/drawing/2014/main" id="{35F2F832-5B60-0296-0BE1-117473D703F5}"/>
              </a:ext>
            </a:extLst>
          </p:cNvPr>
          <p:cNvSpPr/>
          <p:nvPr/>
        </p:nvSpPr>
        <p:spPr bwMode="auto">
          <a:xfrm>
            <a:off x="2176231" y="5200368"/>
            <a:ext cx="237829" cy="830303"/>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Static Content</a:t>
            </a:r>
          </a:p>
        </p:txBody>
      </p:sp>
      <p:sp>
        <p:nvSpPr>
          <p:cNvPr id="31" name="Can 172">
            <a:extLst>
              <a:ext uri="{FF2B5EF4-FFF2-40B4-BE49-F238E27FC236}">
                <a16:creationId xmlns:a16="http://schemas.microsoft.com/office/drawing/2014/main" id="{D6C793E8-1739-FE40-4B79-01043F7D29EA}"/>
              </a:ext>
            </a:extLst>
          </p:cNvPr>
          <p:cNvSpPr/>
          <p:nvPr/>
        </p:nvSpPr>
        <p:spPr bwMode="auto">
          <a:xfrm>
            <a:off x="1841663" y="5217725"/>
            <a:ext cx="237829" cy="648572"/>
          </a:xfrm>
          <a:prstGeom prst="can">
            <a:avLst>
              <a:gd name="adj" fmla="val 55717"/>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CDN</a:t>
            </a:r>
          </a:p>
        </p:txBody>
      </p:sp>
      <p:cxnSp>
        <p:nvCxnSpPr>
          <p:cNvPr id="32" name="Straight Arrow Connector 31">
            <a:extLst>
              <a:ext uri="{FF2B5EF4-FFF2-40B4-BE49-F238E27FC236}">
                <a16:creationId xmlns:a16="http://schemas.microsoft.com/office/drawing/2014/main" id="{56B6D6E8-833E-B604-63C4-8FC900391D11}"/>
              </a:ext>
            </a:extLst>
          </p:cNvPr>
          <p:cNvCxnSpPr>
            <a:stCxn id="31" idx="2"/>
          </p:cNvCxnSpPr>
          <p:nvPr/>
        </p:nvCxnSpPr>
        <p:spPr>
          <a:xfrm flipH="1">
            <a:off x="1525797" y="5542011"/>
            <a:ext cx="31586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C523E294-D420-1377-FC3A-5A1D8980DA71}"/>
              </a:ext>
            </a:extLst>
          </p:cNvPr>
          <p:cNvCxnSpPr>
            <a:endCxn id="31" idx="4"/>
          </p:cNvCxnSpPr>
          <p:nvPr/>
        </p:nvCxnSpPr>
        <p:spPr>
          <a:xfrm flipH="1">
            <a:off x="2079492" y="5542011"/>
            <a:ext cx="9775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124">
            <a:extLst>
              <a:ext uri="{FF2B5EF4-FFF2-40B4-BE49-F238E27FC236}">
                <a16:creationId xmlns:a16="http://schemas.microsoft.com/office/drawing/2014/main" id="{F964A386-BA85-9B7E-38FC-C8F383337FBA}"/>
              </a:ext>
            </a:extLst>
          </p:cNvPr>
          <p:cNvCxnSpPr>
            <a:stCxn id="22" idx="4"/>
            <a:endCxn id="24" idx="1"/>
          </p:cNvCxnSpPr>
          <p:nvPr/>
        </p:nvCxnSpPr>
        <p:spPr>
          <a:xfrm flipV="1">
            <a:off x="2411730" y="2837795"/>
            <a:ext cx="897255" cy="933450"/>
          </a:xfrm>
          <a:prstGeom prst="bentConnector3">
            <a:avLst>
              <a:gd name="adj1" fmla="val 50035"/>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124">
            <a:extLst>
              <a:ext uri="{FF2B5EF4-FFF2-40B4-BE49-F238E27FC236}">
                <a16:creationId xmlns:a16="http://schemas.microsoft.com/office/drawing/2014/main" id="{449A9A2D-AEC5-E4D6-1189-4441A05C88F7}"/>
              </a:ext>
            </a:extLst>
          </p:cNvPr>
          <p:cNvCxnSpPr>
            <a:stCxn id="22" idx="4"/>
            <a:endCxn id="28" idx="1"/>
          </p:cNvCxnSpPr>
          <p:nvPr/>
        </p:nvCxnSpPr>
        <p:spPr>
          <a:xfrm>
            <a:off x="2411541" y="3770615"/>
            <a:ext cx="869280" cy="582309"/>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124">
            <a:extLst>
              <a:ext uri="{FF2B5EF4-FFF2-40B4-BE49-F238E27FC236}">
                <a16:creationId xmlns:a16="http://schemas.microsoft.com/office/drawing/2014/main" id="{AAD1ABA0-5EE2-38D8-C13F-19957D274217}"/>
              </a:ext>
            </a:extLst>
          </p:cNvPr>
          <p:cNvCxnSpPr>
            <a:stCxn id="22" idx="4"/>
            <a:endCxn id="25" idx="1"/>
          </p:cNvCxnSpPr>
          <p:nvPr/>
        </p:nvCxnSpPr>
        <p:spPr>
          <a:xfrm flipV="1">
            <a:off x="2411541" y="3180293"/>
            <a:ext cx="880385" cy="59032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124">
            <a:extLst>
              <a:ext uri="{FF2B5EF4-FFF2-40B4-BE49-F238E27FC236}">
                <a16:creationId xmlns:a16="http://schemas.microsoft.com/office/drawing/2014/main" id="{CE5235EE-01E0-6E38-028F-74BEB42AFAE3}"/>
              </a:ext>
            </a:extLst>
          </p:cNvPr>
          <p:cNvCxnSpPr>
            <a:stCxn id="22" idx="4"/>
            <a:endCxn id="26" idx="1"/>
          </p:cNvCxnSpPr>
          <p:nvPr/>
        </p:nvCxnSpPr>
        <p:spPr>
          <a:xfrm flipV="1">
            <a:off x="2411541" y="3567495"/>
            <a:ext cx="889044" cy="20312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124">
            <a:extLst>
              <a:ext uri="{FF2B5EF4-FFF2-40B4-BE49-F238E27FC236}">
                <a16:creationId xmlns:a16="http://schemas.microsoft.com/office/drawing/2014/main" id="{41F722CD-FDD6-DCF6-AFAC-3040AD3E9470}"/>
              </a:ext>
            </a:extLst>
          </p:cNvPr>
          <p:cNvCxnSpPr>
            <a:stCxn id="22" idx="4"/>
            <a:endCxn id="27" idx="1"/>
          </p:cNvCxnSpPr>
          <p:nvPr/>
        </p:nvCxnSpPr>
        <p:spPr>
          <a:xfrm>
            <a:off x="2411541" y="3770615"/>
            <a:ext cx="869279" cy="22887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9" name="Can 172">
            <a:extLst>
              <a:ext uri="{FF2B5EF4-FFF2-40B4-BE49-F238E27FC236}">
                <a16:creationId xmlns:a16="http://schemas.microsoft.com/office/drawing/2014/main" id="{709ED227-A4EB-5A18-9E9F-876C2F789719}"/>
              </a:ext>
            </a:extLst>
          </p:cNvPr>
          <p:cNvSpPr/>
          <p:nvPr/>
        </p:nvSpPr>
        <p:spPr bwMode="auto">
          <a:xfrm rot="5400000">
            <a:off x="6291312" y="4818771"/>
            <a:ext cx="233770" cy="1861283"/>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Service Discovery</a:t>
            </a:r>
          </a:p>
        </p:txBody>
      </p:sp>
      <p:cxnSp>
        <p:nvCxnSpPr>
          <p:cNvPr id="40" name="Straight Arrow Connector 39">
            <a:extLst>
              <a:ext uri="{FF2B5EF4-FFF2-40B4-BE49-F238E27FC236}">
                <a16:creationId xmlns:a16="http://schemas.microsoft.com/office/drawing/2014/main" id="{FEABB27E-E1AC-B329-4EBC-E6425A51D94B}"/>
              </a:ext>
            </a:extLst>
          </p:cNvPr>
          <p:cNvCxnSpPr>
            <a:stCxn id="29" idx="2"/>
          </p:cNvCxnSpPr>
          <p:nvPr/>
        </p:nvCxnSpPr>
        <p:spPr>
          <a:xfrm flipV="1">
            <a:off x="4087429" y="4922029"/>
            <a:ext cx="0" cy="71049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6CDBC02A-B791-D594-D318-D9ADF51E8B08}"/>
              </a:ext>
            </a:extLst>
          </p:cNvPr>
          <p:cNvCxnSpPr>
            <a:stCxn id="29" idx="1"/>
            <a:endCxn id="39" idx="3"/>
          </p:cNvCxnSpPr>
          <p:nvPr/>
        </p:nvCxnSpPr>
        <p:spPr>
          <a:xfrm>
            <a:off x="4958385" y="5749413"/>
            <a:ext cx="51917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7ACEC501-CA80-2FA8-E437-0CBB4D627699}"/>
              </a:ext>
            </a:extLst>
          </p:cNvPr>
          <p:cNvCxnSpPr>
            <a:endCxn id="39" idx="2"/>
          </p:cNvCxnSpPr>
          <p:nvPr/>
        </p:nvCxnSpPr>
        <p:spPr>
          <a:xfrm>
            <a:off x="6408197" y="4945101"/>
            <a:ext cx="0" cy="68742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3" name="Picture 2" descr="Docker, logo, logos icon - Free download on Iconfinder">
            <a:extLst>
              <a:ext uri="{FF2B5EF4-FFF2-40B4-BE49-F238E27FC236}">
                <a16:creationId xmlns:a16="http://schemas.microsoft.com/office/drawing/2014/main" id="{64278174-5DFE-6294-ADCE-37AA392632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8760" y="1807090"/>
            <a:ext cx="448611" cy="448611"/>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 descr="kubernetes&quot; Icon - Download for free – Iconduck">
            <a:extLst>
              <a:ext uri="{FF2B5EF4-FFF2-40B4-BE49-F238E27FC236}">
                <a16:creationId xmlns:a16="http://schemas.microsoft.com/office/drawing/2014/main" id="{FB0C3C83-C829-A51B-203C-2086F2C142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7371" y="1864210"/>
            <a:ext cx="354394" cy="345204"/>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44">
            <a:extLst>
              <a:ext uri="{FF2B5EF4-FFF2-40B4-BE49-F238E27FC236}">
                <a16:creationId xmlns:a16="http://schemas.microsoft.com/office/drawing/2014/main" id="{1914EDE9-40A6-5759-D152-305DFC90D0D8}"/>
              </a:ext>
            </a:extLst>
          </p:cNvPr>
          <p:cNvSpPr txBox="1"/>
          <p:nvPr/>
        </p:nvSpPr>
        <p:spPr>
          <a:xfrm>
            <a:off x="11654589" y="2923286"/>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s-ES_tradnl" sz="1800" b="0" i="0" u="none" strike="noStrike" kern="1200" cap="none" spc="0" normalizeH="0" baseline="0" noProof="0">
              <a:ln>
                <a:noFill/>
              </a:ln>
              <a:solidFill>
                <a:srgbClr val="000000"/>
              </a:solidFill>
              <a:effectLst/>
              <a:uLnTx/>
              <a:uFillTx/>
              <a:latin typeface="Graphik"/>
              <a:ea typeface="+mn-ea"/>
              <a:cs typeface="+mn-cs"/>
            </a:endParaRPr>
          </a:p>
        </p:txBody>
      </p:sp>
      <p:pic>
        <p:nvPicPr>
          <p:cNvPr id="46" name="Picture 6" descr="AWS Containers - The most important information">
            <a:extLst>
              <a:ext uri="{FF2B5EF4-FFF2-40B4-BE49-F238E27FC236}">
                <a16:creationId xmlns:a16="http://schemas.microsoft.com/office/drawing/2014/main" id="{C0B11837-A484-AD98-3615-1380FF3DBB5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8349" t="28042" r="29333" b="28215"/>
          <a:stretch>
            <a:fillRect/>
          </a:stretch>
        </p:blipFill>
        <p:spPr bwMode="auto">
          <a:xfrm>
            <a:off x="3554250" y="1892594"/>
            <a:ext cx="269701" cy="278782"/>
          </a:xfrm>
          <a:prstGeom prst="rect">
            <a:avLst/>
          </a:prstGeom>
          <a:noFill/>
          <a:extLst>
            <a:ext uri="{909E8E84-426E-40DD-AFC4-6F175D3DCCD1}">
              <a14:hiddenFill xmlns:a14="http://schemas.microsoft.com/office/drawing/2010/main">
                <a:solidFill>
                  <a:srgbClr val="FFFFFF"/>
                </a:solidFill>
              </a14:hiddenFill>
            </a:ext>
          </a:extLst>
        </p:spPr>
      </p:pic>
      <p:sp>
        <p:nvSpPr>
          <p:cNvPr id="47" name="Rectangle 46">
            <a:extLst>
              <a:ext uri="{FF2B5EF4-FFF2-40B4-BE49-F238E27FC236}">
                <a16:creationId xmlns:a16="http://schemas.microsoft.com/office/drawing/2014/main" id="{DF85C789-C46F-3972-0F79-DFE2A8E357D2}"/>
              </a:ext>
            </a:extLst>
          </p:cNvPr>
          <p:cNvSpPr/>
          <p:nvPr/>
        </p:nvSpPr>
        <p:spPr>
          <a:xfrm>
            <a:off x="3141655" y="5940673"/>
            <a:ext cx="4102600" cy="180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Caching Components / Session Replication</a:t>
            </a:r>
          </a:p>
        </p:txBody>
      </p:sp>
      <p:cxnSp>
        <p:nvCxnSpPr>
          <p:cNvPr id="48" name="Connector: Elbow 124">
            <a:extLst>
              <a:ext uri="{FF2B5EF4-FFF2-40B4-BE49-F238E27FC236}">
                <a16:creationId xmlns:a16="http://schemas.microsoft.com/office/drawing/2014/main" id="{94EDC763-9CBC-4FBF-9EE1-D03D2D3AFB85}"/>
              </a:ext>
            </a:extLst>
          </p:cNvPr>
          <p:cNvCxnSpPr>
            <a:stCxn id="22" idx="4"/>
            <a:endCxn id="47" idx="1"/>
          </p:cNvCxnSpPr>
          <p:nvPr/>
        </p:nvCxnSpPr>
        <p:spPr>
          <a:xfrm>
            <a:off x="2411541" y="3770615"/>
            <a:ext cx="730114" cy="2260058"/>
          </a:xfrm>
          <a:prstGeom prst="bentConnector3">
            <a:avLst>
              <a:gd name="adj1" fmla="val 50000"/>
            </a:avLst>
          </a:prstGeom>
          <a:ln w="952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Rectangle: Rounded Corners 55">
            <a:extLst>
              <a:ext uri="{FF2B5EF4-FFF2-40B4-BE49-F238E27FC236}">
                <a16:creationId xmlns:a16="http://schemas.microsoft.com/office/drawing/2014/main" id="{E4EB3DCE-E6B6-31F9-5732-89BE06D99D8F}"/>
              </a:ext>
            </a:extLst>
          </p:cNvPr>
          <p:cNvSpPr/>
          <p:nvPr/>
        </p:nvSpPr>
        <p:spPr>
          <a:xfrm>
            <a:off x="5088100" y="2668497"/>
            <a:ext cx="2264298" cy="1846558"/>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900" b="0" i="0" u="none" strike="noStrike" kern="1200" cap="none" spc="0" normalizeH="0" baseline="0" noProof="0">
                <a:ln>
                  <a:noFill/>
                </a:ln>
                <a:solidFill>
                  <a:srgbClr val="000000"/>
                </a:solidFill>
                <a:effectLst/>
                <a:uLnTx/>
                <a:uFillTx/>
                <a:latin typeface="Graphik"/>
                <a:ea typeface="+mn-ea"/>
                <a:cs typeface="+mn-cs"/>
                <a:sym typeface="+mn-ea"/>
              </a:rPr>
              <a:t>Kernel</a:t>
            </a:r>
          </a:p>
        </p:txBody>
      </p:sp>
      <p:sp>
        <p:nvSpPr>
          <p:cNvPr id="50" name="Rectangle: Rounded Corners 55">
            <a:extLst>
              <a:ext uri="{FF2B5EF4-FFF2-40B4-BE49-F238E27FC236}">
                <a16:creationId xmlns:a16="http://schemas.microsoft.com/office/drawing/2014/main" id="{D83B5F55-A11C-4B58-353B-4F67FAF04CB1}"/>
              </a:ext>
            </a:extLst>
          </p:cNvPr>
          <p:cNvSpPr/>
          <p:nvPr/>
        </p:nvSpPr>
        <p:spPr>
          <a:xfrm>
            <a:off x="5410218" y="2769364"/>
            <a:ext cx="1686224" cy="233770"/>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altLang="en-US" sz="900" b="0" i="0" u="none" strike="noStrike" kern="1200" cap="none" spc="0" normalizeH="0" baseline="0" noProof="0">
                <a:ln>
                  <a:noFill/>
                </a:ln>
                <a:solidFill>
                  <a:srgbClr val="000000"/>
                </a:solidFill>
                <a:effectLst/>
                <a:uLnTx/>
                <a:uFillTx/>
                <a:latin typeface="Graphik"/>
                <a:ea typeface="+mn-ea"/>
                <a:cs typeface="+mn-cs"/>
                <a:sym typeface="+mn-ea"/>
              </a:rPr>
              <a:t>Java Microservices</a:t>
            </a:r>
          </a:p>
        </p:txBody>
      </p:sp>
      <p:sp>
        <p:nvSpPr>
          <p:cNvPr id="52" name="Rectangle 1060">
            <a:extLst>
              <a:ext uri="{FF2B5EF4-FFF2-40B4-BE49-F238E27FC236}">
                <a16:creationId xmlns:a16="http://schemas.microsoft.com/office/drawing/2014/main" id="{236D6EBC-F412-04FE-FBC5-F8B6AAF49DA5}"/>
              </a:ext>
            </a:extLst>
          </p:cNvPr>
          <p:cNvSpPr/>
          <p:nvPr/>
        </p:nvSpPr>
        <p:spPr>
          <a:xfrm>
            <a:off x="4058920" y="1671935"/>
            <a:ext cx="2971165" cy="19558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900" b="0" i="0" u="none" strike="noStrike" kern="1200" cap="none" spc="0" normalizeH="0" baseline="0" noProof="0">
                <a:ln>
                  <a:noFill/>
                </a:ln>
                <a:solidFill>
                  <a:srgbClr val="000000"/>
                </a:solidFill>
                <a:effectLst/>
                <a:uLnTx/>
                <a:uFillTx/>
                <a:latin typeface="Graphik"/>
                <a:ea typeface="+mn-ea"/>
                <a:cs typeface="+mn-cs"/>
              </a:rPr>
              <a:t>Current components</a:t>
            </a:r>
          </a:p>
        </p:txBody>
      </p:sp>
      <p:sp>
        <p:nvSpPr>
          <p:cNvPr id="53" name="Rectangle: Rounded Corners 55">
            <a:extLst>
              <a:ext uri="{FF2B5EF4-FFF2-40B4-BE49-F238E27FC236}">
                <a16:creationId xmlns:a16="http://schemas.microsoft.com/office/drawing/2014/main" id="{6555820E-7DC1-33A7-595B-9C57ABFE5C84}"/>
              </a:ext>
            </a:extLst>
          </p:cNvPr>
          <p:cNvSpPr/>
          <p:nvPr/>
        </p:nvSpPr>
        <p:spPr>
          <a:xfrm>
            <a:off x="5410218" y="3130044"/>
            <a:ext cx="1686224"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sym typeface="+mn-ea"/>
              </a:rPr>
              <a:t>Serverless</a:t>
            </a:r>
          </a:p>
        </p:txBody>
      </p:sp>
      <p:sp>
        <p:nvSpPr>
          <p:cNvPr id="54" name="Rectangle: Rounded Corners 55">
            <a:extLst>
              <a:ext uri="{FF2B5EF4-FFF2-40B4-BE49-F238E27FC236}">
                <a16:creationId xmlns:a16="http://schemas.microsoft.com/office/drawing/2014/main" id="{41AF3C86-1CED-0268-DFA5-EA808B70679E}"/>
              </a:ext>
            </a:extLst>
          </p:cNvPr>
          <p:cNvSpPr/>
          <p:nvPr/>
        </p:nvSpPr>
        <p:spPr>
          <a:xfrm>
            <a:off x="5410218" y="3882519"/>
            <a:ext cx="1686224"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altLang="en-US" sz="900" b="0" i="0" u="none" strike="noStrike" kern="1200" cap="none" spc="0" normalizeH="0" baseline="0" noProof="0" dirty="0">
                <a:ln>
                  <a:noFill/>
                </a:ln>
                <a:solidFill>
                  <a:srgbClr val="000000"/>
                </a:solidFill>
                <a:effectLst/>
                <a:uLnTx/>
                <a:uFillTx/>
                <a:latin typeface="Graphik"/>
                <a:ea typeface="+mn-ea"/>
                <a:cs typeface="+mn-cs"/>
                <a:sym typeface="+mn-ea"/>
              </a:rPr>
              <a:t>Service Mesh</a:t>
            </a:r>
          </a:p>
        </p:txBody>
      </p:sp>
      <p:sp>
        <p:nvSpPr>
          <p:cNvPr id="55" name="TextBox 164">
            <a:extLst>
              <a:ext uri="{FF2B5EF4-FFF2-40B4-BE49-F238E27FC236}">
                <a16:creationId xmlns:a16="http://schemas.microsoft.com/office/drawing/2014/main" id="{9DBF3F80-A037-FB15-D3E7-50974142F921}"/>
              </a:ext>
            </a:extLst>
          </p:cNvPr>
          <p:cNvSpPr txBox="1"/>
          <p:nvPr/>
        </p:nvSpPr>
        <p:spPr>
          <a:xfrm>
            <a:off x="8827135" y="886440"/>
            <a:ext cx="2969895" cy="5818505"/>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altLang="es-MX" sz="900" b="0" i="0" u="none" strike="noStrike" kern="1200" cap="none" spc="0" normalizeH="0" baseline="0" noProof="0" dirty="0">
                <a:ln>
                  <a:noFill/>
                </a:ln>
                <a:solidFill>
                  <a:srgbClr val="000000"/>
                </a:solidFill>
                <a:effectLst/>
                <a:uLnTx/>
                <a:uFillTx/>
                <a:latin typeface="Graphik"/>
                <a:ea typeface="+mn-ea"/>
                <a:cs typeface="+mn-cs"/>
              </a:rPr>
              <a:t>Notes:</a:t>
            </a: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altLang="es-MX" sz="900" b="0" i="0" u="none" strike="noStrike" kern="1200" cap="none" spc="0" normalizeH="0" baseline="0" noProof="0" dirty="0">
                <a:ln>
                  <a:noFill/>
                </a:ln>
                <a:solidFill>
                  <a:srgbClr val="000000"/>
                </a:solidFill>
                <a:effectLst/>
                <a:uLnTx/>
                <a:uFillTx/>
                <a:latin typeface="Graphik"/>
                <a:ea typeface="+mn-ea"/>
                <a:cs typeface="+mn-cs"/>
              </a:rPr>
              <a:t>Kernel Microservices:</a:t>
            </a: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altLang="es-MX" sz="900" b="0" i="0" u="none" strike="noStrike" kern="1200" cap="none" spc="0" normalizeH="0" baseline="0" noProof="0" dirty="0">
                <a:ln>
                  <a:noFill/>
                </a:ln>
                <a:solidFill>
                  <a:srgbClr val="000000"/>
                </a:solidFill>
                <a:effectLst/>
                <a:uLnTx/>
                <a:uFillTx/>
                <a:latin typeface="Graphik"/>
                <a:ea typeface="+mn-ea"/>
                <a:cs typeface="+mn-cs"/>
              </a:rPr>
              <a:t>No formal inventory of microservices.</a:t>
            </a: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altLang="es-MX" sz="900" b="0" i="0" u="none" strike="noStrike" kern="1200" cap="none" spc="0" normalizeH="0" baseline="0" noProof="0" dirty="0">
                <a:ln>
                  <a:noFill/>
                </a:ln>
                <a:solidFill>
                  <a:srgbClr val="000000"/>
                </a:solidFill>
                <a:effectLst/>
                <a:uLnTx/>
                <a:uFillTx/>
                <a:latin typeface="Graphik"/>
                <a:ea typeface="+mn-ea"/>
                <a:cs typeface="+mn-cs"/>
              </a:rPr>
              <a:t>Includes some security services.</a:t>
            </a: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altLang="es-MX" sz="900" b="0" i="0" u="none" strike="noStrike" kern="1200" cap="none" spc="0" normalizeH="0" baseline="0" noProof="0" dirty="0">
                <a:ln>
                  <a:noFill/>
                </a:ln>
                <a:solidFill>
                  <a:srgbClr val="000000"/>
                </a:solidFill>
                <a:effectLst/>
                <a:uLnTx/>
                <a:uFillTx/>
                <a:latin typeface="Graphik"/>
                <a:ea typeface="+mn-ea"/>
                <a:cs typeface="+mn-cs"/>
              </a:rPr>
              <a:t>Use of Spring Config Server for configuration.</a:t>
            </a: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altLang="es-MX" sz="900" b="0" i="0" u="none" strike="noStrike" kern="1200" cap="none" spc="0" normalizeH="0" baseline="0" noProof="0" dirty="0">
                <a:ln>
                  <a:noFill/>
                </a:ln>
                <a:solidFill>
                  <a:srgbClr val="000000"/>
                </a:solidFill>
                <a:effectLst/>
                <a:uLnTx/>
                <a:uFillTx/>
                <a:latin typeface="Graphik"/>
                <a:ea typeface="+mn-ea"/>
                <a:cs typeface="+mn-cs"/>
              </a:rPr>
              <a:t>All microservices are developed in Java.</a:t>
            </a: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altLang="es-MX" sz="900" b="0" i="0" u="none" strike="noStrike" kern="1200" cap="none" spc="0" normalizeH="0" baseline="0" noProof="0" dirty="0">
                <a:ln>
                  <a:noFill/>
                </a:ln>
                <a:solidFill>
                  <a:srgbClr val="000000"/>
                </a:solidFill>
                <a:effectLst/>
                <a:uLnTx/>
                <a:uFillTx/>
                <a:latin typeface="Graphik"/>
                <a:ea typeface="+mn-ea"/>
                <a:cs typeface="+mn-cs"/>
              </a:rPr>
              <a:t>Python is being considered for the data layer.</a:t>
            </a: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altLang="es-MX" sz="900" b="0" i="0" u="none" strike="noStrike" kern="1200" cap="none" spc="0" normalizeH="0" baseline="0" noProof="0" dirty="0">
                <a:ln>
                  <a:noFill/>
                </a:ln>
                <a:solidFill>
                  <a:srgbClr val="000000"/>
                </a:solidFill>
                <a:effectLst/>
                <a:uLnTx/>
                <a:uFillTx/>
                <a:latin typeface="Graphik"/>
                <a:ea typeface="+mn-ea"/>
                <a:cs typeface="+mn-cs"/>
              </a:rPr>
              <a:t>A session is proposed to align both frameworks (in-house and external), recognizing that both are imperfect and incomplete.</a:t>
            </a: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altLang="es-MX" sz="900" b="0" i="0" u="none" strike="noStrike" kern="1200" cap="none" spc="0" normalizeH="0" baseline="0" noProof="0" dirty="0">
                <a:ln>
                  <a:noFill/>
                </a:ln>
                <a:solidFill>
                  <a:srgbClr val="000000"/>
                </a:solidFill>
                <a:effectLst/>
                <a:uLnTx/>
                <a:uFillTx/>
                <a:latin typeface="Graphik"/>
                <a:ea typeface="+mn-ea"/>
                <a:cs typeface="+mn-cs"/>
              </a:rPr>
              <a:t>Objective: Reduce cost and time in managing vulnerabilities in microservices.</a:t>
            </a: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altLang="es-MX" sz="900" b="0" i="0" u="none" strike="noStrike" kern="1200" cap="none" spc="0" normalizeH="0" baseline="0" noProof="0" dirty="0">
                <a:ln>
                  <a:noFill/>
                </a:ln>
                <a:solidFill>
                  <a:srgbClr val="000000"/>
                </a:solidFill>
                <a:effectLst/>
                <a:uLnTx/>
                <a:uFillTx/>
                <a:latin typeface="Graphik"/>
                <a:ea typeface="+mn-ea"/>
                <a:cs typeface="+mn-cs"/>
              </a:rPr>
              <a:t>Complexity in manual alert management.</a:t>
            </a: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altLang="es-MX" sz="900" b="0" i="0" u="none" strike="noStrike" kern="1200" cap="none" spc="0" normalizeH="0" baseline="0" noProof="0" dirty="0">
                <a:ln>
                  <a:noFill/>
                </a:ln>
                <a:solidFill>
                  <a:srgbClr val="000000"/>
                </a:solidFill>
                <a:effectLst/>
                <a:uLnTx/>
                <a:uFillTx/>
                <a:latin typeface="Graphik"/>
                <a:ea typeface="+mn-ea"/>
                <a:cs typeface="+mn-cs"/>
              </a:rPr>
              <a:t>Simplify microservices by eliminating unnecessary libraries.</a:t>
            </a: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altLang="es-MX" sz="900" b="0" i="0" u="none" strike="noStrike" kern="1200" cap="none" spc="0" normalizeH="0" baseline="0" noProof="0" dirty="0">
                <a:ln>
                  <a:noFill/>
                </a:ln>
                <a:solidFill>
                  <a:srgbClr val="000000"/>
                </a:solidFill>
                <a:effectLst/>
                <a:uLnTx/>
                <a:uFillTx/>
                <a:latin typeface="Graphik"/>
                <a:ea typeface="+mn-ea"/>
                <a:cs typeface="+mn-cs"/>
              </a:rPr>
              <a:t>Establish standards controlled by a central team regulating the technologies allowed.</a:t>
            </a: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altLang="es-MX" sz="900" b="0" i="0" u="none" strike="noStrike" kern="1200" cap="none" spc="0" normalizeH="0" baseline="0" noProof="0" dirty="0">
                <a:ln>
                  <a:noFill/>
                </a:ln>
                <a:solidFill>
                  <a:srgbClr val="000000"/>
                </a:solidFill>
                <a:effectLst/>
                <a:uLnTx/>
                <a:uFillTx/>
                <a:latin typeface="Graphik"/>
                <a:ea typeface="+mn-ea"/>
                <a:cs typeface="+mn-cs"/>
              </a:rPr>
              <a:t>Microservices Specific Security:</a:t>
            </a: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altLang="es-MX" sz="900" b="0" i="0" u="none" strike="noStrike" kern="1200" cap="none" spc="0" normalizeH="0" baseline="0" noProof="0" dirty="0">
                <a:ln>
                  <a:noFill/>
                </a:ln>
                <a:solidFill>
                  <a:srgbClr val="000000"/>
                </a:solidFill>
                <a:effectLst/>
                <a:uLnTx/>
                <a:uFillTx/>
                <a:latin typeface="Graphik"/>
                <a:ea typeface="+mn-ea"/>
                <a:cs typeface="+mn-cs"/>
              </a:rPr>
              <a:t>Evaluation of Service Mesh for validation of Service Mesh to validate the validation of Service Mesh. </a:t>
            </a: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altLang="es-MX" sz="900" b="0" i="0" u="none" strike="noStrike" kern="1200" cap="none" spc="0" normalizeH="0" baseline="0" noProof="0" dirty="0">
                <a:ln>
                  <a:noFill/>
                </a:ln>
                <a:solidFill>
                  <a:srgbClr val="000000"/>
                </a:solidFill>
                <a:effectLst/>
                <a:uLnTx/>
                <a:uFillTx/>
                <a:latin typeface="Graphik"/>
                <a:ea typeface="+mn-ea"/>
                <a:cs typeface="+mn-cs"/>
              </a:rPr>
              <a:t>Simplify microservices by eliminating unnecessary libraries.</a:t>
            </a: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altLang="es-MX" sz="900" b="0" i="0" u="none" strike="noStrike" kern="1200" cap="none" spc="0" normalizeH="0" baseline="0" noProof="0" dirty="0">
                <a:ln>
                  <a:noFill/>
                </a:ln>
                <a:solidFill>
                  <a:srgbClr val="000000"/>
                </a:solidFill>
                <a:effectLst/>
                <a:uLnTx/>
                <a:uFillTx/>
                <a:latin typeface="Graphik"/>
                <a:ea typeface="+mn-ea"/>
                <a:cs typeface="+mn-cs"/>
              </a:rPr>
              <a:t>Establish standards controlled by a centralized team that regulates the allowed technologies.</a:t>
            </a: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altLang="es-MX" sz="900" b="0" i="0" u="none" strike="noStrike" kern="1200" cap="none" spc="0" normalizeH="0" baseline="0" noProof="0" dirty="0">
                <a:ln>
                  <a:noFill/>
                </a:ln>
                <a:solidFill>
                  <a:srgbClr val="000000"/>
                </a:solidFill>
                <a:effectLst/>
                <a:uLnTx/>
                <a:uFillTx/>
                <a:latin typeface="Graphik"/>
                <a:ea typeface="+mn-ea"/>
                <a:cs typeface="+mn-cs"/>
              </a:rPr>
              <a:t>Microservices Specific Security:</a:t>
            </a:r>
            <a:r>
              <a:rPr kumimoji="0" lang="es-MX" altLang="en-US" sz="900" b="0" i="0" u="none" strike="noStrike" kern="1200" cap="none" spc="0" normalizeH="0" baseline="0" noProof="0" dirty="0">
                <a:ln>
                  <a:noFill/>
                </a:ln>
                <a:solidFill>
                  <a:srgbClr val="000000"/>
                </a:solidFill>
                <a:effectLst/>
                <a:uLnTx/>
                <a:uFillTx/>
                <a:latin typeface="Graphik"/>
                <a:ea typeface="+mn-ea"/>
                <a:cs typeface="+mn-cs"/>
              </a:rPr>
              <a:t> </a:t>
            </a:r>
            <a:r>
              <a:rPr kumimoji="0" lang="en-US" altLang="es-MX" sz="900" b="0" i="0" u="none" strike="noStrike" kern="1200" cap="none" spc="0" normalizeH="0" baseline="0" noProof="0" dirty="0">
                <a:ln>
                  <a:noFill/>
                </a:ln>
                <a:solidFill>
                  <a:srgbClr val="000000"/>
                </a:solidFill>
                <a:effectLst/>
                <a:uLnTx/>
                <a:uFillTx/>
                <a:latin typeface="Graphik"/>
                <a:ea typeface="+mn-ea"/>
                <a:cs typeface="+mn-cs"/>
              </a:rPr>
              <a:t>Evaluation of Service Mesh for validation of calls to the platform (e.g. token validation).</a:t>
            </a: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altLang="es-MX" sz="900" b="0" i="0" u="none" strike="noStrike" kern="1200" cap="none" spc="0" normalizeH="0" baseline="0" noProof="0" dirty="0">
                <a:ln>
                  <a:noFill/>
                </a:ln>
                <a:solidFill>
                  <a:srgbClr val="000000"/>
                </a:solidFill>
                <a:effectLst/>
                <a:uLnTx/>
                <a:uFillTx/>
                <a:latin typeface="Graphik"/>
                <a:ea typeface="+mn-ea"/>
                <a:cs typeface="+mn-cs"/>
              </a:rPr>
              <a:t>The environment chain is requested with its respective backend.</a:t>
            </a: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altLang="es-MX" sz="900" b="0" i="0" u="none" strike="noStrike" kern="1200" cap="none" spc="0" normalizeH="0" baseline="0" noProof="0" dirty="0">
                <a:ln>
                  <a:noFill/>
                </a:ln>
                <a:solidFill>
                  <a:srgbClr val="000000"/>
                </a:solidFill>
                <a:effectLst/>
                <a:uLnTx/>
                <a:uFillTx/>
                <a:latin typeface="Graphik"/>
                <a:ea typeface="+mn-ea"/>
                <a:cs typeface="+mn-cs"/>
              </a:rPr>
              <a:t>Cache Management</a:t>
            </a:r>
            <a:r>
              <a:rPr kumimoji="0" lang="es-MX" altLang="en-US" sz="900" b="0" i="0" u="none" strike="noStrike" kern="1200" cap="none" spc="0" normalizeH="0" baseline="0" noProof="0" dirty="0">
                <a:ln>
                  <a:noFill/>
                </a:ln>
                <a:solidFill>
                  <a:srgbClr val="000000"/>
                </a:solidFill>
                <a:effectLst/>
                <a:uLnTx/>
                <a:uFillTx/>
                <a:latin typeface="Graphik"/>
                <a:ea typeface="+mn-ea"/>
                <a:cs typeface="+mn-cs"/>
              </a:rPr>
              <a:t>: </a:t>
            </a:r>
            <a:r>
              <a:rPr kumimoji="0" lang="en-US" altLang="es-MX" sz="900" b="0" i="0" u="none" strike="noStrike" kern="1200" cap="none" spc="0" normalizeH="0" baseline="0" noProof="0" dirty="0">
                <a:ln>
                  <a:noFill/>
                </a:ln>
                <a:solidFill>
                  <a:srgbClr val="000000"/>
                </a:solidFill>
                <a:effectLst/>
                <a:uLnTx/>
                <a:uFillTx/>
                <a:latin typeface="Graphik"/>
                <a:ea typeface="+mn-ea"/>
                <a:cs typeface="+mn-cs"/>
              </a:rPr>
              <a:t>Inter-domain session replication, likely through Redis</a:t>
            </a:r>
          </a:p>
        </p:txBody>
      </p:sp>
      <p:grpSp>
        <p:nvGrpSpPr>
          <p:cNvPr id="56" name="Group 55">
            <a:extLst>
              <a:ext uri="{FF2B5EF4-FFF2-40B4-BE49-F238E27FC236}">
                <a16:creationId xmlns:a16="http://schemas.microsoft.com/office/drawing/2014/main" id="{D25339B3-C3E1-AFD9-4435-54BC8039CDCB}"/>
              </a:ext>
            </a:extLst>
          </p:cNvPr>
          <p:cNvGrpSpPr/>
          <p:nvPr/>
        </p:nvGrpSpPr>
        <p:grpSpPr>
          <a:xfrm>
            <a:off x="7096442" y="1977172"/>
            <a:ext cx="755110" cy="249134"/>
            <a:chOff x="2436880" y="1158097"/>
            <a:chExt cx="1080000" cy="360000"/>
          </a:xfrm>
          <a:solidFill>
            <a:schemeClr val="bg1"/>
          </a:solidFill>
        </p:grpSpPr>
        <p:sp>
          <p:nvSpPr>
            <p:cNvPr id="57" name="Rectangle 56">
              <a:extLst>
                <a:ext uri="{FF2B5EF4-FFF2-40B4-BE49-F238E27FC236}">
                  <a16:creationId xmlns:a16="http://schemas.microsoft.com/office/drawing/2014/main" id="{596C2DAD-88A2-8940-BA35-9D1E5EF576EB}"/>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58" name="Picture 57">
              <a:extLst>
                <a:ext uri="{FF2B5EF4-FFF2-40B4-BE49-F238E27FC236}">
                  <a16:creationId xmlns:a16="http://schemas.microsoft.com/office/drawing/2014/main" id="{04074895-D698-AB95-FE52-26ED34121833}"/>
                </a:ext>
              </a:extLst>
            </p:cNvPr>
            <p:cNvPicPr>
              <a:picLocks noChangeAspect="1"/>
            </p:cNvPicPr>
            <p:nvPr/>
          </p:nvPicPr>
          <p:blipFill>
            <a:blip r:embed="rId5"/>
            <a:stretch>
              <a:fillRect/>
            </a:stretch>
          </p:blipFill>
          <p:spPr>
            <a:xfrm>
              <a:off x="2470229" y="1215368"/>
              <a:ext cx="1013303" cy="245459"/>
            </a:xfrm>
            <a:prstGeom prst="rect">
              <a:avLst/>
            </a:prstGeom>
            <a:grpFill/>
          </p:spPr>
        </p:pic>
      </p:grpSp>
      <p:grpSp>
        <p:nvGrpSpPr>
          <p:cNvPr id="59" name="Group 58">
            <a:extLst>
              <a:ext uri="{FF2B5EF4-FFF2-40B4-BE49-F238E27FC236}">
                <a16:creationId xmlns:a16="http://schemas.microsoft.com/office/drawing/2014/main" id="{31FAE22D-ACD1-96D3-10AC-78C3C900560C}"/>
              </a:ext>
            </a:extLst>
          </p:cNvPr>
          <p:cNvGrpSpPr/>
          <p:nvPr/>
        </p:nvGrpSpPr>
        <p:grpSpPr>
          <a:xfrm>
            <a:off x="7058105" y="5939535"/>
            <a:ext cx="755700" cy="211805"/>
            <a:chOff x="8249165" y="5550262"/>
            <a:chExt cx="1080000" cy="360000"/>
          </a:xfrm>
        </p:grpSpPr>
        <p:sp>
          <p:nvSpPr>
            <p:cNvPr id="60" name="Rectangle 59">
              <a:extLst>
                <a:ext uri="{FF2B5EF4-FFF2-40B4-BE49-F238E27FC236}">
                  <a16:creationId xmlns:a16="http://schemas.microsoft.com/office/drawing/2014/main" id="{92F49B55-2774-558D-1494-D6C66D52D044}"/>
                </a:ext>
              </a:extLst>
            </p:cNvPr>
            <p:cNvSpPr/>
            <p:nvPr/>
          </p:nvSpPr>
          <p:spPr>
            <a:xfrm>
              <a:off x="8249165" y="5550262"/>
              <a:ext cx="1080000" cy="36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61" name="Picture 60">
              <a:extLst>
                <a:ext uri="{FF2B5EF4-FFF2-40B4-BE49-F238E27FC236}">
                  <a16:creationId xmlns:a16="http://schemas.microsoft.com/office/drawing/2014/main" id="{7D0F61A6-26B9-0E6B-78FA-C04A0BF3756B}"/>
                </a:ext>
              </a:extLst>
            </p:cNvPr>
            <p:cNvPicPr>
              <a:picLocks noChangeAspect="1"/>
            </p:cNvPicPr>
            <p:nvPr/>
          </p:nvPicPr>
          <p:blipFill>
            <a:blip r:embed="rId6"/>
            <a:stretch>
              <a:fillRect/>
            </a:stretch>
          </p:blipFill>
          <p:spPr>
            <a:xfrm>
              <a:off x="8339165" y="5577002"/>
              <a:ext cx="900000" cy="306521"/>
            </a:xfrm>
            <a:prstGeom prst="rect">
              <a:avLst/>
            </a:prstGeom>
          </p:spPr>
        </p:pic>
      </p:grpSp>
    </p:spTree>
    <p:extLst>
      <p:ext uri="{BB962C8B-B14F-4D97-AF65-F5344CB8AC3E}">
        <p14:creationId xmlns:p14="http://schemas.microsoft.com/office/powerpoint/2010/main" val="3787536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8DF4B-2253-FE73-971C-1BFE2D00581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B116424-A229-D100-8334-D13B1B214F2F}"/>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All rights reserved.</a:t>
            </a:r>
          </a:p>
        </p:txBody>
      </p:sp>
      <p:sp>
        <p:nvSpPr>
          <p:cNvPr id="118" name="Title 1">
            <a:extLst>
              <a:ext uri="{FF2B5EF4-FFF2-40B4-BE49-F238E27FC236}">
                <a16:creationId xmlns:a16="http://schemas.microsoft.com/office/drawing/2014/main" id="{54048166-4748-AF27-8EF7-1A61B13D712F}"/>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Interoperability Asset </a:t>
            </a:r>
            <a:r>
              <a:rPr kumimoji="0" lang="en-US" sz="2400" b="1" i="0" u="none" strike="noStrike" kern="1200" cap="none" spc="0" normalizeH="0" baseline="0" noProof="0">
                <a:ln>
                  <a:noFill/>
                </a:ln>
                <a:solidFill>
                  <a:srgbClr val="000000"/>
                </a:solidFill>
                <a:effectLst/>
                <a:uLnTx/>
                <a:uFillTx/>
                <a:latin typeface="Graphik"/>
                <a:ea typeface="+mj-ea"/>
                <a:cs typeface="+mj-cs"/>
              </a:rPr>
              <a:t>| Infrastructure</a:t>
            </a:r>
          </a:p>
        </p:txBody>
      </p:sp>
      <p:sp>
        <p:nvSpPr>
          <p:cNvPr id="119" name="Content Placeholder 34">
            <a:extLst>
              <a:ext uri="{FF2B5EF4-FFF2-40B4-BE49-F238E27FC236}">
                <a16:creationId xmlns:a16="http://schemas.microsoft.com/office/drawing/2014/main" id="{180343EF-A6D3-FF00-CA58-CE07501DABA3}"/>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Chaos Engineering (Resilience)</a:t>
            </a:r>
          </a:p>
        </p:txBody>
      </p:sp>
      <p:grpSp>
        <p:nvGrpSpPr>
          <p:cNvPr id="4" name="Group 3">
            <a:extLst>
              <a:ext uri="{FF2B5EF4-FFF2-40B4-BE49-F238E27FC236}">
                <a16:creationId xmlns:a16="http://schemas.microsoft.com/office/drawing/2014/main" id="{3BC83473-6373-0030-DE11-85C4E3059709}"/>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9092CE9D-9691-3D2D-B161-B656E2C3E979}"/>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Illustrative non exhaustive</a:t>
              </a:r>
            </a:p>
          </p:txBody>
        </p:sp>
        <p:cxnSp>
          <p:nvCxnSpPr>
            <p:cNvPr id="6" name="Straight Connector 5">
              <a:extLst>
                <a:ext uri="{FF2B5EF4-FFF2-40B4-BE49-F238E27FC236}">
                  <a16:creationId xmlns:a16="http://schemas.microsoft.com/office/drawing/2014/main" id="{F736D912-2771-6CFA-4BDB-315A1E7F72DF}"/>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33DF0C1-6B68-B954-4BB7-80D2B8A28882}"/>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8FF46798-F3F5-6962-1BB6-5E6579D9A3BD}"/>
              </a:ext>
            </a:extLst>
          </p:cNvPr>
          <p:cNvSpPr txBox="1"/>
          <p:nvPr/>
        </p:nvSpPr>
        <p:spPr>
          <a:xfrm>
            <a:off x="958850" y="2459379"/>
            <a:ext cx="5652135" cy="3441065"/>
          </a:xfrm>
          <a:prstGeom prst="rect">
            <a:avLst/>
          </a:prstGeom>
          <a:no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9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000000"/>
              </a:solidFill>
              <a:effectLst/>
              <a:uLnTx/>
              <a:uFillTx/>
              <a:latin typeface="Graphik"/>
              <a:ea typeface="+mn-ea"/>
              <a:cs typeface="+mn-cs"/>
            </a:endParaRPr>
          </a:p>
        </p:txBody>
      </p:sp>
      <p:sp>
        <p:nvSpPr>
          <p:cNvPr id="9" name="Rectangle 8">
            <a:extLst>
              <a:ext uri="{FF2B5EF4-FFF2-40B4-BE49-F238E27FC236}">
                <a16:creationId xmlns:a16="http://schemas.microsoft.com/office/drawing/2014/main" id="{352604D8-63E0-73B0-5E8E-2E41C77829F7}"/>
              </a:ext>
            </a:extLst>
          </p:cNvPr>
          <p:cNvSpPr/>
          <p:nvPr/>
        </p:nvSpPr>
        <p:spPr>
          <a:xfrm>
            <a:off x="8969375" y="1202714"/>
            <a:ext cx="2790825" cy="22288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Main components of this capability</a:t>
            </a:r>
          </a:p>
        </p:txBody>
      </p:sp>
      <p:sp>
        <p:nvSpPr>
          <p:cNvPr id="10" name="Rectangle 9">
            <a:extLst>
              <a:ext uri="{FF2B5EF4-FFF2-40B4-BE49-F238E27FC236}">
                <a16:creationId xmlns:a16="http://schemas.microsoft.com/office/drawing/2014/main" id="{DCB3EA95-E42C-33B9-86F7-FC93F5F6B65C}"/>
              </a:ext>
            </a:extLst>
          </p:cNvPr>
          <p:cNvSpPr/>
          <p:nvPr/>
        </p:nvSpPr>
        <p:spPr>
          <a:xfrm>
            <a:off x="8969375" y="1456079"/>
            <a:ext cx="2790825" cy="22288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Components of other related capabilities</a:t>
            </a:r>
          </a:p>
        </p:txBody>
      </p:sp>
      <p:sp>
        <p:nvSpPr>
          <p:cNvPr id="11" name="Rectangle 10">
            <a:extLst>
              <a:ext uri="{FF2B5EF4-FFF2-40B4-BE49-F238E27FC236}">
                <a16:creationId xmlns:a16="http://schemas.microsoft.com/office/drawing/2014/main" id="{4CD48314-FC2E-1AEC-A804-C3505378C0CF}"/>
              </a:ext>
            </a:extLst>
          </p:cNvPr>
          <p:cNvSpPr/>
          <p:nvPr/>
        </p:nvSpPr>
        <p:spPr>
          <a:xfrm>
            <a:off x="8969375" y="1701189"/>
            <a:ext cx="2790825" cy="22288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Functional Components related to this capability</a:t>
            </a:r>
          </a:p>
        </p:txBody>
      </p:sp>
      <p:sp>
        <p:nvSpPr>
          <p:cNvPr id="12" name="Rectangle 11">
            <a:extLst>
              <a:ext uri="{FF2B5EF4-FFF2-40B4-BE49-F238E27FC236}">
                <a16:creationId xmlns:a16="http://schemas.microsoft.com/office/drawing/2014/main" id="{B010A385-2A2C-02E7-FF54-E2D1AFAF7C9A}"/>
              </a:ext>
            </a:extLst>
          </p:cNvPr>
          <p:cNvSpPr/>
          <p:nvPr/>
        </p:nvSpPr>
        <p:spPr>
          <a:xfrm>
            <a:off x="1143635" y="2753384"/>
            <a:ext cx="4132580" cy="29083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Chaos Monkey</a:t>
            </a:r>
          </a:p>
        </p:txBody>
      </p:sp>
      <p:sp>
        <p:nvSpPr>
          <p:cNvPr id="13" name="Rectangle: Rounded Corners 55">
            <a:extLst>
              <a:ext uri="{FF2B5EF4-FFF2-40B4-BE49-F238E27FC236}">
                <a16:creationId xmlns:a16="http://schemas.microsoft.com/office/drawing/2014/main" id="{7EB26394-8A71-5FF0-065A-6F56B1515255}"/>
              </a:ext>
            </a:extLst>
          </p:cNvPr>
          <p:cNvSpPr/>
          <p:nvPr/>
        </p:nvSpPr>
        <p:spPr>
          <a:xfrm>
            <a:off x="6850185" y="2898706"/>
            <a:ext cx="1510666" cy="2394691"/>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Graphik"/>
              <a:ea typeface="+mn-ea"/>
              <a:cs typeface="+mn-cs"/>
            </a:endParaRPr>
          </a:p>
        </p:txBody>
      </p:sp>
      <p:sp>
        <p:nvSpPr>
          <p:cNvPr id="14" name="Can 172">
            <a:extLst>
              <a:ext uri="{FF2B5EF4-FFF2-40B4-BE49-F238E27FC236}">
                <a16:creationId xmlns:a16="http://schemas.microsoft.com/office/drawing/2014/main" id="{BDF8D74C-C926-0D58-D8EB-F9BF4A56F8DA}"/>
              </a:ext>
            </a:extLst>
          </p:cNvPr>
          <p:cNvSpPr/>
          <p:nvPr/>
        </p:nvSpPr>
        <p:spPr bwMode="auto">
          <a:xfrm>
            <a:off x="346042" y="2409582"/>
            <a:ext cx="291475" cy="3541500"/>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Orchestration</a:t>
            </a:r>
          </a:p>
        </p:txBody>
      </p:sp>
      <p:sp>
        <p:nvSpPr>
          <p:cNvPr id="15" name="Rectangle: Rounded Corners 55">
            <a:extLst>
              <a:ext uri="{FF2B5EF4-FFF2-40B4-BE49-F238E27FC236}">
                <a16:creationId xmlns:a16="http://schemas.microsoft.com/office/drawing/2014/main" id="{5FB8204C-D04D-4E88-BB41-FF90F328F344}"/>
              </a:ext>
            </a:extLst>
          </p:cNvPr>
          <p:cNvSpPr/>
          <p:nvPr/>
        </p:nvSpPr>
        <p:spPr>
          <a:xfrm>
            <a:off x="6834505" y="2548279"/>
            <a:ext cx="1451610" cy="350520"/>
          </a:xfrm>
          <a:prstGeom prst="round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sym typeface="+mn-ea"/>
              </a:rPr>
              <a:t>Infra to Test (QA</a:t>
            </a:r>
            <a:r>
              <a:rPr kumimoji="0" lang="es-MX" altLang="en-US" sz="900" b="0" i="0" u="none" strike="noStrike" kern="1200" cap="none" spc="0" normalizeH="0" baseline="0" noProof="0">
                <a:ln>
                  <a:noFill/>
                </a:ln>
                <a:solidFill>
                  <a:srgbClr val="000000"/>
                </a:solidFill>
                <a:effectLst/>
                <a:uLnTx/>
                <a:uFillTx/>
                <a:latin typeface="Graphik"/>
                <a:ea typeface="+mn-ea"/>
                <a:cs typeface="+mn-cs"/>
                <a:sym typeface="+mn-ea"/>
              </a:rPr>
              <a:t> - SIT - UAT</a:t>
            </a:r>
            <a:r>
              <a:rPr kumimoji="0" lang="en-US" sz="900" b="0" i="0" u="none" strike="noStrike" kern="1200" cap="none" spc="0" normalizeH="0" baseline="0" noProof="0">
                <a:ln>
                  <a:noFill/>
                </a:ln>
                <a:solidFill>
                  <a:srgbClr val="000000"/>
                </a:solidFill>
                <a:effectLst/>
                <a:uLnTx/>
                <a:uFillTx/>
                <a:latin typeface="Graphik"/>
                <a:ea typeface="+mn-ea"/>
                <a:cs typeface="+mn-cs"/>
                <a:sym typeface="+mn-ea"/>
              </a:rPr>
              <a:t>)</a:t>
            </a:r>
            <a:endParaRPr kumimoji="0" lang="en-US" sz="900" b="0" i="0" u="none" strike="noStrike" kern="1200" cap="none" spc="0" normalizeH="0" baseline="0" noProof="0">
              <a:ln>
                <a:noFill/>
              </a:ln>
              <a:solidFill>
                <a:srgbClr val="000000"/>
              </a:solidFill>
              <a:effectLst/>
              <a:uLnTx/>
              <a:uFillTx/>
              <a:latin typeface="Graphik"/>
              <a:ea typeface="+mn-ea"/>
              <a:cs typeface="+mn-cs"/>
            </a:endParaRPr>
          </a:p>
        </p:txBody>
      </p:sp>
      <p:sp>
        <p:nvSpPr>
          <p:cNvPr id="16" name="TextBox 15">
            <a:extLst>
              <a:ext uri="{FF2B5EF4-FFF2-40B4-BE49-F238E27FC236}">
                <a16:creationId xmlns:a16="http://schemas.microsoft.com/office/drawing/2014/main" id="{F5C293DC-0921-9D12-44B9-CF3B1955CA6C}"/>
              </a:ext>
            </a:extLst>
          </p:cNvPr>
          <p:cNvSpPr txBox="1"/>
          <p:nvPr/>
        </p:nvSpPr>
        <p:spPr>
          <a:xfrm>
            <a:off x="8159884" y="3254065"/>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s-ES_tradnl" sz="1800" b="0" i="0" u="none" strike="noStrike" kern="1200" cap="none" spc="0" normalizeH="0" baseline="0" noProof="0">
              <a:ln>
                <a:noFill/>
              </a:ln>
              <a:solidFill>
                <a:srgbClr val="000000"/>
              </a:solidFill>
              <a:effectLst/>
              <a:uLnTx/>
              <a:uFillTx/>
              <a:latin typeface="Graphik"/>
              <a:ea typeface="+mn-ea"/>
              <a:cs typeface="+mn-cs"/>
            </a:endParaRPr>
          </a:p>
        </p:txBody>
      </p:sp>
      <p:sp>
        <p:nvSpPr>
          <p:cNvPr id="17" name="Rectangle: Rounded Corners 55">
            <a:extLst>
              <a:ext uri="{FF2B5EF4-FFF2-40B4-BE49-F238E27FC236}">
                <a16:creationId xmlns:a16="http://schemas.microsoft.com/office/drawing/2014/main" id="{56353938-A7BA-BA31-0239-697562BFA681}"/>
              </a:ext>
            </a:extLst>
          </p:cNvPr>
          <p:cNvSpPr/>
          <p:nvPr/>
        </p:nvSpPr>
        <p:spPr>
          <a:xfrm>
            <a:off x="7412597" y="3033275"/>
            <a:ext cx="873518"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18" name="Rectangle: Rounded Corners 55">
            <a:extLst>
              <a:ext uri="{FF2B5EF4-FFF2-40B4-BE49-F238E27FC236}">
                <a16:creationId xmlns:a16="http://schemas.microsoft.com/office/drawing/2014/main" id="{C55BBDB0-C5C7-5202-7586-7B3DD8829CA2}"/>
              </a:ext>
            </a:extLst>
          </p:cNvPr>
          <p:cNvSpPr/>
          <p:nvPr/>
        </p:nvSpPr>
        <p:spPr>
          <a:xfrm>
            <a:off x="7412597" y="3454745"/>
            <a:ext cx="873518"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Graphik"/>
                <a:ea typeface="+mn-ea"/>
                <a:cs typeface="+mn-cs"/>
              </a:rPr>
              <a:t>Microservices</a:t>
            </a:r>
          </a:p>
        </p:txBody>
      </p:sp>
      <p:sp>
        <p:nvSpPr>
          <p:cNvPr id="19" name="Rectangle: Rounded Corners 55">
            <a:extLst>
              <a:ext uri="{FF2B5EF4-FFF2-40B4-BE49-F238E27FC236}">
                <a16:creationId xmlns:a16="http://schemas.microsoft.com/office/drawing/2014/main" id="{6019D8E9-0F18-D3B6-9622-76C426D04B06}"/>
              </a:ext>
            </a:extLst>
          </p:cNvPr>
          <p:cNvSpPr/>
          <p:nvPr/>
        </p:nvSpPr>
        <p:spPr>
          <a:xfrm>
            <a:off x="7412596" y="3876215"/>
            <a:ext cx="851763"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Graphik"/>
                <a:ea typeface="+mn-ea"/>
                <a:cs typeface="+mn-cs"/>
              </a:rPr>
              <a:t>DATA</a:t>
            </a:r>
          </a:p>
        </p:txBody>
      </p:sp>
      <p:sp>
        <p:nvSpPr>
          <p:cNvPr id="20" name="Rectangle: Rounded Corners 55">
            <a:extLst>
              <a:ext uri="{FF2B5EF4-FFF2-40B4-BE49-F238E27FC236}">
                <a16:creationId xmlns:a16="http://schemas.microsoft.com/office/drawing/2014/main" id="{7D408E33-8A68-4FAA-C7A1-023632F88642}"/>
              </a:ext>
            </a:extLst>
          </p:cNvPr>
          <p:cNvSpPr/>
          <p:nvPr/>
        </p:nvSpPr>
        <p:spPr>
          <a:xfrm>
            <a:off x="7425004" y="4301366"/>
            <a:ext cx="839355"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Graphik"/>
                <a:ea typeface="+mn-ea"/>
                <a:cs typeface="+mn-cs"/>
              </a:rPr>
              <a:t>Transaction Manager</a:t>
            </a:r>
          </a:p>
        </p:txBody>
      </p:sp>
      <p:sp>
        <p:nvSpPr>
          <p:cNvPr id="21" name="Rectangle: Rounded Corners 55">
            <a:extLst>
              <a:ext uri="{FF2B5EF4-FFF2-40B4-BE49-F238E27FC236}">
                <a16:creationId xmlns:a16="http://schemas.microsoft.com/office/drawing/2014/main" id="{0EDCC90C-A248-9924-D9B3-F624A172A368}"/>
              </a:ext>
            </a:extLst>
          </p:cNvPr>
          <p:cNvSpPr/>
          <p:nvPr/>
        </p:nvSpPr>
        <p:spPr>
          <a:xfrm>
            <a:off x="7425004" y="4726517"/>
            <a:ext cx="861111"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Any Infra</a:t>
            </a:r>
          </a:p>
        </p:txBody>
      </p:sp>
      <p:sp>
        <p:nvSpPr>
          <p:cNvPr id="22" name="Rectangle 21">
            <a:extLst>
              <a:ext uri="{FF2B5EF4-FFF2-40B4-BE49-F238E27FC236}">
                <a16:creationId xmlns:a16="http://schemas.microsoft.com/office/drawing/2014/main" id="{73D6EE55-BB48-7156-FAEF-6BF6166DA216}"/>
              </a:ext>
            </a:extLst>
          </p:cNvPr>
          <p:cNvSpPr/>
          <p:nvPr/>
        </p:nvSpPr>
        <p:spPr>
          <a:xfrm>
            <a:off x="1143635" y="4820944"/>
            <a:ext cx="4133215" cy="29083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Conformity Monkey</a:t>
            </a:r>
          </a:p>
        </p:txBody>
      </p:sp>
      <p:cxnSp>
        <p:nvCxnSpPr>
          <p:cNvPr id="23" name="Connector: Elbow 124">
            <a:extLst>
              <a:ext uri="{FF2B5EF4-FFF2-40B4-BE49-F238E27FC236}">
                <a16:creationId xmlns:a16="http://schemas.microsoft.com/office/drawing/2014/main" id="{514F2ABD-1B3C-C9C1-A6FA-55B584087C24}"/>
              </a:ext>
            </a:extLst>
          </p:cNvPr>
          <p:cNvCxnSpPr>
            <a:stCxn id="14" idx="4"/>
            <a:endCxn id="12" idx="1"/>
          </p:cNvCxnSpPr>
          <p:nvPr/>
        </p:nvCxnSpPr>
        <p:spPr>
          <a:xfrm flipV="1">
            <a:off x="637540" y="2898799"/>
            <a:ext cx="506095" cy="1282065"/>
          </a:xfrm>
          <a:prstGeom prst="bentConnector3">
            <a:avLst>
              <a:gd name="adj1" fmla="val 50063"/>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124">
            <a:extLst>
              <a:ext uri="{FF2B5EF4-FFF2-40B4-BE49-F238E27FC236}">
                <a16:creationId xmlns:a16="http://schemas.microsoft.com/office/drawing/2014/main" id="{DA1C1240-E836-69AC-F3C6-65E48C774ADB}"/>
              </a:ext>
            </a:extLst>
          </p:cNvPr>
          <p:cNvCxnSpPr>
            <a:cxnSpLocks/>
            <a:stCxn id="12" idx="3"/>
            <a:endCxn id="13" idx="1"/>
          </p:cNvCxnSpPr>
          <p:nvPr/>
        </p:nvCxnSpPr>
        <p:spPr>
          <a:xfrm>
            <a:off x="5276215" y="2898799"/>
            <a:ext cx="1573970" cy="1197253"/>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5" name="Rectangle: Rounded Corners 55">
            <a:extLst>
              <a:ext uri="{FF2B5EF4-FFF2-40B4-BE49-F238E27FC236}">
                <a16:creationId xmlns:a16="http://schemas.microsoft.com/office/drawing/2014/main" id="{62C99CAB-AB54-6BEF-1B59-0C60EBC20018}"/>
              </a:ext>
            </a:extLst>
          </p:cNvPr>
          <p:cNvSpPr/>
          <p:nvPr/>
        </p:nvSpPr>
        <p:spPr>
          <a:xfrm>
            <a:off x="3704118" y="3323860"/>
            <a:ext cx="1572126" cy="711447"/>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Chaos Monkey Control Panel</a:t>
            </a:r>
          </a:p>
        </p:txBody>
      </p:sp>
      <p:sp>
        <p:nvSpPr>
          <p:cNvPr id="26" name="Rectangle: Rounded Corners 55">
            <a:extLst>
              <a:ext uri="{FF2B5EF4-FFF2-40B4-BE49-F238E27FC236}">
                <a16:creationId xmlns:a16="http://schemas.microsoft.com/office/drawing/2014/main" id="{9C849996-CBE1-F0E6-5F01-11418456D5DE}"/>
              </a:ext>
            </a:extLst>
          </p:cNvPr>
          <p:cNvSpPr/>
          <p:nvPr/>
        </p:nvSpPr>
        <p:spPr>
          <a:xfrm>
            <a:off x="1360971" y="3254010"/>
            <a:ext cx="1572126" cy="711447"/>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Real or NR Time Monitoring system</a:t>
            </a:r>
          </a:p>
        </p:txBody>
      </p:sp>
      <p:sp>
        <p:nvSpPr>
          <p:cNvPr id="27" name="Can 172">
            <a:extLst>
              <a:ext uri="{FF2B5EF4-FFF2-40B4-BE49-F238E27FC236}">
                <a16:creationId xmlns:a16="http://schemas.microsoft.com/office/drawing/2014/main" id="{33CE8A24-8ED8-ACD0-6A5C-DEEDC32F9FCE}"/>
              </a:ext>
            </a:extLst>
          </p:cNvPr>
          <p:cNvSpPr/>
          <p:nvPr/>
        </p:nvSpPr>
        <p:spPr bwMode="auto">
          <a:xfrm rot="5400000">
            <a:off x="4514311" y="2696408"/>
            <a:ext cx="361804" cy="3695414"/>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Observability Capability</a:t>
            </a:r>
          </a:p>
        </p:txBody>
      </p:sp>
      <p:sp>
        <p:nvSpPr>
          <p:cNvPr id="28" name="Rectangle: Rounded Corners 55">
            <a:extLst>
              <a:ext uri="{FF2B5EF4-FFF2-40B4-BE49-F238E27FC236}">
                <a16:creationId xmlns:a16="http://schemas.microsoft.com/office/drawing/2014/main" id="{E62F4813-3038-0AF0-ED28-5593A47A49EB}"/>
              </a:ext>
            </a:extLst>
          </p:cNvPr>
          <p:cNvSpPr/>
          <p:nvPr/>
        </p:nvSpPr>
        <p:spPr>
          <a:xfrm>
            <a:off x="1143635" y="5167654"/>
            <a:ext cx="4132580" cy="299085"/>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Continuous Delivery System (Chaos Monkey) </a:t>
            </a:r>
          </a:p>
        </p:txBody>
      </p:sp>
      <p:cxnSp>
        <p:nvCxnSpPr>
          <p:cNvPr id="29" name="Connector: Elbow 124">
            <a:extLst>
              <a:ext uri="{FF2B5EF4-FFF2-40B4-BE49-F238E27FC236}">
                <a16:creationId xmlns:a16="http://schemas.microsoft.com/office/drawing/2014/main" id="{C9A2691B-7887-EA2D-D483-CE8C0BB16036}"/>
              </a:ext>
            </a:extLst>
          </p:cNvPr>
          <p:cNvCxnSpPr>
            <a:endCxn id="25" idx="3"/>
          </p:cNvCxnSpPr>
          <p:nvPr/>
        </p:nvCxnSpPr>
        <p:spPr>
          <a:xfrm rot="10800000">
            <a:off x="5275580" y="3678579"/>
            <a:ext cx="1510665" cy="587375"/>
          </a:xfrm>
          <a:prstGeom prst="bentConnector3">
            <a:avLst>
              <a:gd name="adj1" fmla="val 49979"/>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124">
            <a:extLst>
              <a:ext uri="{FF2B5EF4-FFF2-40B4-BE49-F238E27FC236}">
                <a16:creationId xmlns:a16="http://schemas.microsoft.com/office/drawing/2014/main" id="{27A969BA-D069-6B15-ED4E-660F69566662}"/>
              </a:ext>
            </a:extLst>
          </p:cNvPr>
          <p:cNvCxnSpPr>
            <a:stCxn id="25" idx="1"/>
            <a:endCxn id="26" idx="2"/>
          </p:cNvCxnSpPr>
          <p:nvPr/>
        </p:nvCxnSpPr>
        <p:spPr>
          <a:xfrm rot="10800000" flipV="1">
            <a:off x="2146935" y="3679214"/>
            <a:ext cx="1557020" cy="285750"/>
          </a:xfrm>
          <a:prstGeom prst="bentConnector4">
            <a:avLst>
              <a:gd name="adj1" fmla="val 24755"/>
              <a:gd name="adj2" fmla="val 207778"/>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124">
            <a:extLst>
              <a:ext uri="{FF2B5EF4-FFF2-40B4-BE49-F238E27FC236}">
                <a16:creationId xmlns:a16="http://schemas.microsoft.com/office/drawing/2014/main" id="{ED9963E0-901F-2B8B-060F-77890D54B3D3}"/>
              </a:ext>
            </a:extLst>
          </p:cNvPr>
          <p:cNvCxnSpPr>
            <a:stCxn id="26" idx="1"/>
            <a:endCxn id="27" idx="2"/>
          </p:cNvCxnSpPr>
          <p:nvPr/>
        </p:nvCxnSpPr>
        <p:spPr>
          <a:xfrm rot="10800000" flipH="1" flipV="1">
            <a:off x="1360805" y="3609364"/>
            <a:ext cx="3334385" cy="753745"/>
          </a:xfrm>
          <a:prstGeom prst="bentConnector4">
            <a:avLst>
              <a:gd name="adj1" fmla="val -7141"/>
              <a:gd name="adj2" fmla="val 73631"/>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124">
            <a:extLst>
              <a:ext uri="{FF2B5EF4-FFF2-40B4-BE49-F238E27FC236}">
                <a16:creationId xmlns:a16="http://schemas.microsoft.com/office/drawing/2014/main" id="{9174A59C-334A-2358-8D5D-DF5495F5F3F3}"/>
              </a:ext>
            </a:extLst>
          </p:cNvPr>
          <p:cNvCxnSpPr>
            <a:stCxn id="25" idx="0"/>
          </p:cNvCxnSpPr>
          <p:nvPr/>
        </p:nvCxnSpPr>
        <p:spPr>
          <a:xfrm rot="16200000" flipH="1" flipV="1">
            <a:off x="2035810" y="1935504"/>
            <a:ext cx="1066165" cy="3841750"/>
          </a:xfrm>
          <a:prstGeom prst="bentConnector4">
            <a:avLst>
              <a:gd name="adj1" fmla="val -22365"/>
              <a:gd name="adj2" fmla="val 8971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3" name="Connector: Elbow 124">
            <a:extLst>
              <a:ext uri="{FF2B5EF4-FFF2-40B4-BE49-F238E27FC236}">
                <a16:creationId xmlns:a16="http://schemas.microsoft.com/office/drawing/2014/main" id="{0D450DAA-A722-DD5E-9F34-1DF99549FDC1}"/>
              </a:ext>
            </a:extLst>
          </p:cNvPr>
          <p:cNvCxnSpPr>
            <a:endCxn id="22" idx="3"/>
          </p:cNvCxnSpPr>
          <p:nvPr/>
        </p:nvCxnSpPr>
        <p:spPr>
          <a:xfrm rot="5400000" flipV="1">
            <a:off x="4434205" y="4123714"/>
            <a:ext cx="909320" cy="775970"/>
          </a:xfrm>
          <a:prstGeom prst="bentConnector4">
            <a:avLst>
              <a:gd name="adj1" fmla="val 6424"/>
              <a:gd name="adj2" fmla="val 130687"/>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02E883A8-0DF5-B35E-8DFB-36A1B6A84E4E}"/>
              </a:ext>
            </a:extLst>
          </p:cNvPr>
          <p:cNvSpPr/>
          <p:nvPr/>
        </p:nvSpPr>
        <p:spPr>
          <a:xfrm>
            <a:off x="3714470" y="5466593"/>
            <a:ext cx="722304" cy="30582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3</a:t>
            </a:r>
            <a:r>
              <a:rPr kumimoji="0" lang="en-US" sz="700" b="0" i="0" u="none" strike="noStrike" kern="1200" cap="none" spc="0" normalizeH="0" baseline="30000" noProof="0">
                <a:ln>
                  <a:noFill/>
                </a:ln>
                <a:solidFill>
                  <a:srgbClr val="FFFFFF"/>
                </a:solidFill>
                <a:effectLst/>
                <a:uLnTx/>
                <a:uFillTx/>
                <a:latin typeface="Graphik"/>
                <a:ea typeface="+mn-ea"/>
                <a:cs typeface="+mn-cs"/>
              </a:rPr>
              <a:t>rd</a:t>
            </a:r>
            <a:r>
              <a:rPr kumimoji="0" lang="en-US" sz="700" b="0" i="0" u="none" strike="noStrike" kern="1200" cap="none" spc="0" normalizeH="0" baseline="0" noProof="0">
                <a:ln>
                  <a:noFill/>
                </a:ln>
                <a:solidFill>
                  <a:srgbClr val="FFFFFF"/>
                </a:solidFill>
                <a:effectLst/>
                <a:uLnTx/>
                <a:uFillTx/>
                <a:latin typeface="Graphik"/>
                <a:ea typeface="+mn-ea"/>
                <a:cs typeface="+mn-cs"/>
              </a:rPr>
              <a:t> party Recovery Service</a:t>
            </a:r>
          </a:p>
        </p:txBody>
      </p:sp>
      <p:cxnSp>
        <p:nvCxnSpPr>
          <p:cNvPr id="35" name="Connector: Elbow 124">
            <a:extLst>
              <a:ext uri="{FF2B5EF4-FFF2-40B4-BE49-F238E27FC236}">
                <a16:creationId xmlns:a16="http://schemas.microsoft.com/office/drawing/2014/main" id="{BE3A4241-9B79-2086-7407-4DFC1E13B75E}"/>
              </a:ext>
            </a:extLst>
          </p:cNvPr>
          <p:cNvCxnSpPr/>
          <p:nvPr/>
        </p:nvCxnSpPr>
        <p:spPr>
          <a:xfrm>
            <a:off x="627772" y="4928888"/>
            <a:ext cx="515820" cy="364509"/>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124">
            <a:extLst>
              <a:ext uri="{FF2B5EF4-FFF2-40B4-BE49-F238E27FC236}">
                <a16:creationId xmlns:a16="http://schemas.microsoft.com/office/drawing/2014/main" id="{2E47587D-B3A0-9946-D7FA-9A81AF1058B9}"/>
              </a:ext>
            </a:extLst>
          </p:cNvPr>
          <p:cNvCxnSpPr>
            <a:stCxn id="28" idx="3"/>
          </p:cNvCxnSpPr>
          <p:nvPr/>
        </p:nvCxnSpPr>
        <p:spPr>
          <a:xfrm flipV="1">
            <a:off x="5276215" y="4780939"/>
            <a:ext cx="1558290" cy="536575"/>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7" name="Can 172">
            <a:extLst>
              <a:ext uri="{FF2B5EF4-FFF2-40B4-BE49-F238E27FC236}">
                <a16:creationId xmlns:a16="http://schemas.microsoft.com/office/drawing/2014/main" id="{A719FE01-23C9-C53C-5B4B-290D224376D4}"/>
              </a:ext>
            </a:extLst>
          </p:cNvPr>
          <p:cNvSpPr/>
          <p:nvPr/>
        </p:nvSpPr>
        <p:spPr bwMode="auto">
          <a:xfrm>
            <a:off x="6984656" y="3007386"/>
            <a:ext cx="312661" cy="2104175"/>
          </a:xfrm>
          <a:prstGeom prst="can">
            <a:avLst>
              <a:gd name="adj" fmla="val 59089"/>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Graphik"/>
                <a:ea typeface="+mn-ea"/>
                <a:cs typeface="+mn-cs"/>
              </a:rPr>
              <a:t>Circuit Braker Pattern</a:t>
            </a:r>
          </a:p>
        </p:txBody>
      </p:sp>
      <p:pic>
        <p:nvPicPr>
          <p:cNvPr id="38" name="Picture 2" descr="Home - Chaos Monkey">
            <a:extLst>
              <a:ext uri="{FF2B5EF4-FFF2-40B4-BE49-F238E27FC236}">
                <a16:creationId xmlns:a16="http://schemas.microsoft.com/office/drawing/2014/main" id="{E552F092-E88D-F260-611B-A5C0CD3DDD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1852" y="2621233"/>
            <a:ext cx="503097" cy="507569"/>
          </a:xfrm>
          <a:prstGeom prst="rect">
            <a:avLst/>
          </a:prstGeom>
          <a:noFill/>
          <a:extLst>
            <a:ext uri="{909E8E84-426E-40DD-AFC4-6F175D3DCCD1}">
              <a14:hiddenFill xmlns:a14="http://schemas.microsoft.com/office/drawing/2010/main">
                <a:solidFill>
                  <a:srgbClr val="FFFFFF"/>
                </a:solidFill>
              </a14:hiddenFill>
            </a:ext>
          </a:extLst>
        </p:spPr>
      </p:pic>
      <p:sp>
        <p:nvSpPr>
          <p:cNvPr id="39" name="Rectangle 38">
            <a:extLst>
              <a:ext uri="{FF2B5EF4-FFF2-40B4-BE49-F238E27FC236}">
                <a16:creationId xmlns:a16="http://schemas.microsoft.com/office/drawing/2014/main" id="{5F82B0B2-68E7-902D-3FB3-5E688D375A8D}"/>
              </a:ext>
            </a:extLst>
          </p:cNvPr>
          <p:cNvSpPr/>
          <p:nvPr/>
        </p:nvSpPr>
        <p:spPr>
          <a:xfrm>
            <a:off x="2334260" y="5466104"/>
            <a:ext cx="598805" cy="306070"/>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Issues no </a:t>
            </a:r>
            <a:r>
              <a:rPr kumimoji="0" lang="en-US" sz="700" b="0" i="0" u="none" strike="noStrike" kern="1200" cap="none" spc="0" normalizeH="0" baseline="0" noProof="0" err="1">
                <a:ln>
                  <a:noFill/>
                </a:ln>
                <a:solidFill>
                  <a:srgbClr val="FFFFFF"/>
                </a:solidFill>
                <a:effectLst/>
                <a:uLnTx/>
                <a:uFillTx/>
                <a:latin typeface="Graphik"/>
                <a:ea typeface="+mn-ea"/>
                <a:cs typeface="+mn-cs"/>
              </a:rPr>
              <a:t>replicables</a:t>
            </a:r>
            <a:endParaRPr kumimoji="0" lang="en-US" sz="700" b="0" i="0" u="none" strike="noStrike" kern="1200" cap="none" spc="0" normalizeH="0" baseline="0" noProof="0">
              <a:ln>
                <a:noFill/>
              </a:ln>
              <a:solidFill>
                <a:srgbClr val="FFFFFF"/>
              </a:solidFill>
              <a:effectLst/>
              <a:uLnTx/>
              <a:uFillTx/>
              <a:latin typeface="Graphik"/>
              <a:ea typeface="+mn-ea"/>
              <a:cs typeface="+mn-cs"/>
            </a:endParaRPr>
          </a:p>
        </p:txBody>
      </p:sp>
      <p:sp>
        <p:nvSpPr>
          <p:cNvPr id="40" name="Rectangle 1060">
            <a:extLst>
              <a:ext uri="{FF2B5EF4-FFF2-40B4-BE49-F238E27FC236}">
                <a16:creationId xmlns:a16="http://schemas.microsoft.com/office/drawing/2014/main" id="{67D0BF8C-20DE-D081-04E8-19DB425387CB}"/>
              </a:ext>
            </a:extLst>
          </p:cNvPr>
          <p:cNvSpPr/>
          <p:nvPr/>
        </p:nvSpPr>
        <p:spPr>
          <a:xfrm>
            <a:off x="8969375" y="1944394"/>
            <a:ext cx="2790190" cy="226695"/>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900" b="0" i="0" u="none" strike="noStrike" kern="1200" cap="none" spc="0" normalizeH="0" baseline="0" noProof="0">
                <a:ln>
                  <a:noFill/>
                </a:ln>
                <a:solidFill>
                  <a:srgbClr val="000000"/>
                </a:solidFill>
                <a:effectLst/>
                <a:uLnTx/>
                <a:uFillTx/>
                <a:latin typeface="Graphik"/>
                <a:ea typeface="+mn-ea"/>
                <a:cs typeface="+mn-cs"/>
              </a:rPr>
              <a:t>Current components</a:t>
            </a:r>
          </a:p>
        </p:txBody>
      </p:sp>
      <p:sp>
        <p:nvSpPr>
          <p:cNvPr id="41" name="TextBox 40">
            <a:extLst>
              <a:ext uri="{FF2B5EF4-FFF2-40B4-BE49-F238E27FC236}">
                <a16:creationId xmlns:a16="http://schemas.microsoft.com/office/drawing/2014/main" id="{E68879DD-9742-F554-25F2-4BDDE88F9D60}"/>
              </a:ext>
            </a:extLst>
          </p:cNvPr>
          <p:cNvSpPr txBox="1"/>
          <p:nvPr/>
        </p:nvSpPr>
        <p:spPr>
          <a:xfrm>
            <a:off x="8573135" y="2409849"/>
            <a:ext cx="3186430" cy="2063750"/>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Graphik"/>
                <a:ea typeface="+mn-ea"/>
                <a:cs typeface="+mn-cs"/>
              </a:rPr>
              <a:t>Notes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es-MX" sz="900" b="0" i="0" u="none" strike="noStrike" kern="1200" cap="none" spc="0" normalizeH="0" baseline="0" noProof="0" dirty="0">
                <a:ln>
                  <a:noFill/>
                </a:ln>
                <a:solidFill>
                  <a:srgbClr val="000000"/>
                </a:solidFill>
                <a:effectLst/>
                <a:uLnTx/>
                <a:uFillTx/>
                <a:latin typeface="Graphik"/>
                <a:ea typeface="+mn-ea"/>
                <a:cs typeface="+mn-cs"/>
              </a:rPr>
              <a:t>Chaos engineering is currently a conceptual model; it has not been implemented.</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es-MX" sz="900" b="0" i="0" u="none" strike="noStrike" kern="1200" cap="none" spc="0" normalizeH="0" baseline="0" noProof="0" dirty="0">
                <a:ln>
                  <a:noFill/>
                </a:ln>
                <a:solidFill>
                  <a:srgbClr val="000000"/>
                </a:solidFill>
                <a:effectLst/>
                <a:uLnTx/>
                <a:uFillTx/>
                <a:latin typeface="Graphik"/>
                <a:ea typeface="+mn-ea"/>
                <a:cs typeface="+mn-cs"/>
              </a:rPr>
              <a:t>Technologies for this capability are still being evaluated, Chaos </a:t>
            </a:r>
            <a:r>
              <a:rPr kumimoji="0" lang="en-US" altLang="es-MX" sz="900" b="0" i="0" u="none" strike="noStrike" kern="1200" cap="none" spc="0" normalizeH="0" baseline="0" noProof="0" dirty="0" err="1">
                <a:ln>
                  <a:noFill/>
                </a:ln>
                <a:solidFill>
                  <a:srgbClr val="000000"/>
                </a:solidFill>
                <a:effectLst/>
                <a:uLnTx/>
                <a:uFillTx/>
                <a:latin typeface="Graphik"/>
                <a:ea typeface="+mn-ea"/>
                <a:cs typeface="+mn-cs"/>
              </a:rPr>
              <a:t>Monekey</a:t>
            </a:r>
            <a:r>
              <a:rPr kumimoji="0" lang="en-US" altLang="es-MX" sz="900" b="0" i="0" u="none" strike="noStrike" kern="1200" cap="none" spc="0" normalizeH="0" baseline="0" noProof="0" dirty="0">
                <a:ln>
                  <a:noFill/>
                </a:ln>
                <a:solidFill>
                  <a:srgbClr val="000000"/>
                </a:solidFill>
                <a:effectLst/>
                <a:uLnTx/>
                <a:uFillTx/>
                <a:latin typeface="Graphik"/>
                <a:ea typeface="+mn-ea"/>
                <a:cs typeface="+mn-cs"/>
              </a:rPr>
              <a:t> represents a compatibility risk.</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es-MX" sz="900" b="0" i="0" u="none" strike="noStrike" kern="1200" cap="none" spc="0" normalizeH="0" baseline="0" noProof="0" dirty="0">
                <a:ln>
                  <a:noFill/>
                </a:ln>
                <a:solidFill>
                  <a:srgbClr val="000000"/>
                </a:solidFill>
                <a:effectLst/>
                <a:uLnTx/>
                <a:uFillTx/>
                <a:latin typeface="Graphik"/>
                <a:ea typeface="+mn-ea"/>
                <a:cs typeface="+mn-cs"/>
              </a:rPr>
              <a:t>It is necessary to identify the environments behind the backend (QA, UAT, etc.).</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altLang="es-MX" sz="900" b="0" i="0" u="none" strike="noStrike" kern="1200" cap="none" spc="0" normalizeH="0" baseline="0" noProof="0" dirty="0">
              <a:ln>
                <a:noFill/>
              </a:ln>
              <a:solidFill>
                <a:srgbClr val="000000"/>
              </a:solidFill>
              <a:effectLst/>
              <a:uLnTx/>
              <a:uFillTx/>
              <a:latin typeface="Graphik"/>
              <a:ea typeface="+mn-ea"/>
              <a:cs typeface="+mn-cs"/>
            </a:endParaRPr>
          </a:p>
        </p:txBody>
      </p:sp>
    </p:spTree>
    <p:extLst>
      <p:ext uri="{BB962C8B-B14F-4D97-AF65-F5344CB8AC3E}">
        <p14:creationId xmlns:p14="http://schemas.microsoft.com/office/powerpoint/2010/main" val="34186095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4968C-6731-C559-119B-88300942137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C6B60E1-484E-251C-9CA5-CCC75C924ECB}"/>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All rights reserved.</a:t>
            </a:r>
          </a:p>
        </p:txBody>
      </p:sp>
      <p:sp>
        <p:nvSpPr>
          <p:cNvPr id="118" name="Title 1">
            <a:extLst>
              <a:ext uri="{FF2B5EF4-FFF2-40B4-BE49-F238E27FC236}">
                <a16:creationId xmlns:a16="http://schemas.microsoft.com/office/drawing/2014/main" id="{647DB694-A62F-86CC-850D-6FAB8F693FF1}"/>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Interoperability Asset </a:t>
            </a:r>
            <a:r>
              <a:rPr kumimoji="0" lang="en-US" sz="2400" b="1" i="0" u="none" strike="noStrike" kern="1200" cap="none" spc="0" normalizeH="0" baseline="0" noProof="0">
                <a:ln>
                  <a:noFill/>
                </a:ln>
                <a:solidFill>
                  <a:srgbClr val="000000"/>
                </a:solidFill>
                <a:effectLst/>
                <a:uLnTx/>
                <a:uFillTx/>
                <a:latin typeface="Graphik"/>
                <a:ea typeface="+mj-ea"/>
                <a:cs typeface="+mj-cs"/>
              </a:rPr>
              <a:t>| Event Processing</a:t>
            </a:r>
          </a:p>
        </p:txBody>
      </p:sp>
      <p:sp>
        <p:nvSpPr>
          <p:cNvPr id="119" name="Content Placeholder 34">
            <a:extLst>
              <a:ext uri="{FF2B5EF4-FFF2-40B4-BE49-F238E27FC236}">
                <a16:creationId xmlns:a16="http://schemas.microsoft.com/office/drawing/2014/main" id="{4B954BDD-7472-0920-21A4-310203631F6E}"/>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Event Processing architecture</a:t>
            </a:r>
          </a:p>
        </p:txBody>
      </p:sp>
      <p:grpSp>
        <p:nvGrpSpPr>
          <p:cNvPr id="4" name="Group 3">
            <a:extLst>
              <a:ext uri="{FF2B5EF4-FFF2-40B4-BE49-F238E27FC236}">
                <a16:creationId xmlns:a16="http://schemas.microsoft.com/office/drawing/2014/main" id="{C49BABE7-83B6-5B1D-F186-D79266C1469C}"/>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F582AB04-53B3-425C-0507-EB0C766B56BF}"/>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Illustrative non exhaustive</a:t>
              </a:r>
            </a:p>
          </p:txBody>
        </p:sp>
        <p:cxnSp>
          <p:nvCxnSpPr>
            <p:cNvPr id="6" name="Straight Connector 5">
              <a:extLst>
                <a:ext uri="{FF2B5EF4-FFF2-40B4-BE49-F238E27FC236}">
                  <a16:creationId xmlns:a16="http://schemas.microsoft.com/office/drawing/2014/main" id="{060B1B57-04D0-8BA7-BAB0-AAAD782812B7}"/>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517E827-D9B6-D2FF-143A-CA17B72209EF}"/>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91817231-3397-F269-8895-BE7A8F48B6BA}"/>
              </a:ext>
            </a:extLst>
          </p:cNvPr>
          <p:cNvSpPr/>
          <p:nvPr/>
        </p:nvSpPr>
        <p:spPr>
          <a:xfrm>
            <a:off x="3819678" y="2763116"/>
            <a:ext cx="1639228" cy="2092322"/>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Kafka Event Bus</a:t>
            </a:r>
          </a:p>
        </p:txBody>
      </p:sp>
      <p:sp>
        <p:nvSpPr>
          <p:cNvPr id="9" name="Rectangle 8">
            <a:extLst>
              <a:ext uri="{FF2B5EF4-FFF2-40B4-BE49-F238E27FC236}">
                <a16:creationId xmlns:a16="http://schemas.microsoft.com/office/drawing/2014/main" id="{C58A7D96-69CD-50F9-F607-46916CA04D9D}"/>
              </a:ext>
            </a:extLst>
          </p:cNvPr>
          <p:cNvSpPr/>
          <p:nvPr/>
        </p:nvSpPr>
        <p:spPr>
          <a:xfrm>
            <a:off x="4071120" y="3849976"/>
            <a:ext cx="1171198" cy="7200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CQRS</a:t>
            </a:r>
          </a:p>
        </p:txBody>
      </p:sp>
      <p:sp>
        <p:nvSpPr>
          <p:cNvPr id="10" name="Rectangle 9">
            <a:extLst>
              <a:ext uri="{FF2B5EF4-FFF2-40B4-BE49-F238E27FC236}">
                <a16:creationId xmlns:a16="http://schemas.microsoft.com/office/drawing/2014/main" id="{25AABDF7-D849-3A3A-B2BF-7261EA6D45FE}"/>
              </a:ext>
            </a:extLst>
          </p:cNvPr>
          <p:cNvSpPr/>
          <p:nvPr/>
        </p:nvSpPr>
        <p:spPr>
          <a:xfrm>
            <a:off x="7121846" y="836728"/>
            <a:ext cx="1026261" cy="195174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Event Streaming</a:t>
            </a:r>
          </a:p>
        </p:txBody>
      </p:sp>
      <p:sp>
        <p:nvSpPr>
          <p:cNvPr id="11" name="Rectangle 10">
            <a:extLst>
              <a:ext uri="{FF2B5EF4-FFF2-40B4-BE49-F238E27FC236}">
                <a16:creationId xmlns:a16="http://schemas.microsoft.com/office/drawing/2014/main" id="{7BFF1449-5113-A6FE-049F-F68180C84B67}"/>
              </a:ext>
            </a:extLst>
          </p:cNvPr>
          <p:cNvSpPr/>
          <p:nvPr/>
        </p:nvSpPr>
        <p:spPr>
          <a:xfrm>
            <a:off x="8889090" y="5653216"/>
            <a:ext cx="2880000" cy="180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Main components of this capability</a:t>
            </a:r>
          </a:p>
        </p:txBody>
      </p:sp>
      <p:sp>
        <p:nvSpPr>
          <p:cNvPr id="12" name="Rectangle 11">
            <a:extLst>
              <a:ext uri="{FF2B5EF4-FFF2-40B4-BE49-F238E27FC236}">
                <a16:creationId xmlns:a16="http://schemas.microsoft.com/office/drawing/2014/main" id="{6C989E4C-73EF-FC63-C3A5-98B572AE1C5A}"/>
              </a:ext>
            </a:extLst>
          </p:cNvPr>
          <p:cNvSpPr/>
          <p:nvPr/>
        </p:nvSpPr>
        <p:spPr>
          <a:xfrm>
            <a:off x="8889090" y="5887368"/>
            <a:ext cx="2880000" cy="18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Components of other related capabilities</a:t>
            </a:r>
          </a:p>
        </p:txBody>
      </p:sp>
      <p:sp>
        <p:nvSpPr>
          <p:cNvPr id="13" name="Rectangle 12">
            <a:extLst>
              <a:ext uri="{FF2B5EF4-FFF2-40B4-BE49-F238E27FC236}">
                <a16:creationId xmlns:a16="http://schemas.microsoft.com/office/drawing/2014/main" id="{B857AFAD-6B58-9CF2-088E-D52058A49BFE}"/>
              </a:ext>
            </a:extLst>
          </p:cNvPr>
          <p:cNvSpPr/>
          <p:nvPr/>
        </p:nvSpPr>
        <p:spPr>
          <a:xfrm>
            <a:off x="7214522" y="1062171"/>
            <a:ext cx="819431" cy="23415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Data Pipeline 1</a:t>
            </a:r>
          </a:p>
        </p:txBody>
      </p:sp>
      <p:sp>
        <p:nvSpPr>
          <p:cNvPr id="14" name="Rectangle: Rounded Corners 13">
            <a:extLst>
              <a:ext uri="{FF2B5EF4-FFF2-40B4-BE49-F238E27FC236}">
                <a16:creationId xmlns:a16="http://schemas.microsoft.com/office/drawing/2014/main" id="{1AADCC61-42A4-46FE-71FC-7F55A8317BB6}"/>
              </a:ext>
            </a:extLst>
          </p:cNvPr>
          <p:cNvSpPr/>
          <p:nvPr/>
        </p:nvSpPr>
        <p:spPr>
          <a:xfrm>
            <a:off x="399956" y="3224260"/>
            <a:ext cx="1583036" cy="1791835"/>
          </a:xfrm>
          <a:prstGeom prst="roundRect">
            <a:avLst>
              <a:gd name="adj" fmla="val 768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0" i="0" u="none" strike="noStrike" kern="1200" cap="none" spc="0" normalizeH="0" baseline="0" noProof="0">
                <a:ln>
                  <a:noFill/>
                </a:ln>
                <a:solidFill>
                  <a:srgbClr val="000000"/>
                </a:solidFill>
                <a:effectLst/>
                <a:uLnTx/>
                <a:uFillTx/>
                <a:latin typeface="Graphik"/>
                <a:ea typeface="+mn-ea"/>
                <a:cs typeface="+mn-cs"/>
              </a:rPr>
              <a:t>Data </a:t>
            </a:r>
            <a:r>
              <a:rPr kumimoji="0" lang="es-ES_tradnl" sz="900" b="0" i="0" u="none" strike="noStrike" kern="1200" cap="none" spc="0" normalizeH="0" baseline="0" noProof="0" err="1">
                <a:ln>
                  <a:noFill/>
                </a:ln>
                <a:solidFill>
                  <a:srgbClr val="000000"/>
                </a:solidFill>
                <a:effectLst/>
                <a:uLnTx/>
                <a:uFillTx/>
                <a:latin typeface="Graphik"/>
                <a:ea typeface="+mn-ea"/>
                <a:cs typeface="+mn-cs"/>
              </a:rPr>
              <a:t>Sources</a:t>
            </a:r>
            <a:endParaRPr kumimoji="0" lang="es-ES_tradnl" sz="900" b="0" i="0" u="none" strike="noStrike" kern="1200" cap="none" spc="0" normalizeH="0" baseline="0" noProof="0">
              <a:ln>
                <a:noFill/>
              </a:ln>
              <a:solidFill>
                <a:srgbClr val="000000"/>
              </a:solidFill>
              <a:effectLst/>
              <a:uLnTx/>
              <a:uFillTx/>
              <a:latin typeface="Graphik"/>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0" i="0" u="none" strike="noStrike" kern="1200" cap="none" spc="0" normalizeH="0" baseline="0" noProof="0">
                <a:ln>
                  <a:noFill/>
                </a:ln>
                <a:solidFill>
                  <a:srgbClr val="000000"/>
                </a:solidFill>
                <a:effectLst/>
                <a:uLnTx/>
                <a:uFillTx/>
                <a:latin typeface="Graphik"/>
                <a:ea typeface="+mn-ea"/>
                <a:cs typeface="+mn-cs"/>
              </a:rPr>
              <a:t>(</a:t>
            </a:r>
            <a:r>
              <a:rPr kumimoji="0" lang="es-ES_tradnl" sz="900" b="0" i="0" u="none" strike="noStrike" kern="1200" cap="none" spc="0" normalizeH="0" baseline="0" noProof="0" err="1">
                <a:ln>
                  <a:noFill/>
                </a:ln>
                <a:solidFill>
                  <a:srgbClr val="000000"/>
                </a:solidFill>
                <a:effectLst/>
                <a:uLnTx/>
                <a:uFillTx/>
                <a:latin typeface="Graphik"/>
                <a:ea typeface="+mn-ea"/>
                <a:cs typeface="+mn-cs"/>
              </a:rPr>
              <a:t>Publish</a:t>
            </a:r>
            <a:r>
              <a:rPr kumimoji="0" lang="es-ES_tradnl" sz="900" b="0" i="0" u="none" strike="noStrike" kern="1200" cap="none" spc="0" normalizeH="0" baseline="0" noProof="0">
                <a:ln>
                  <a:noFill/>
                </a:ln>
                <a:solidFill>
                  <a:srgbClr val="000000"/>
                </a:solidFill>
                <a:effectLst/>
                <a:uLnTx/>
                <a:uFillTx/>
                <a:latin typeface="Graphik"/>
                <a:ea typeface="+mn-ea"/>
                <a:cs typeface="+mn-cs"/>
              </a:rPr>
              <a:t>)</a:t>
            </a:r>
            <a:endParaRPr kumimoji="0" lang="en-ES" sz="900" b="0" i="0" u="none" strike="noStrike" kern="1200" cap="none" spc="0" normalizeH="0" baseline="0" noProof="0">
              <a:ln>
                <a:noFill/>
              </a:ln>
              <a:solidFill>
                <a:srgbClr val="000000"/>
              </a:solidFill>
              <a:effectLst/>
              <a:uLnTx/>
              <a:uFillTx/>
              <a:latin typeface="Graphik"/>
              <a:ea typeface="+mn-ea"/>
              <a:cs typeface="+mn-cs"/>
            </a:endParaRPr>
          </a:p>
        </p:txBody>
      </p:sp>
      <p:sp>
        <p:nvSpPr>
          <p:cNvPr id="15" name="Rectangle 14">
            <a:extLst>
              <a:ext uri="{FF2B5EF4-FFF2-40B4-BE49-F238E27FC236}">
                <a16:creationId xmlns:a16="http://schemas.microsoft.com/office/drawing/2014/main" id="{A088711A-6EF7-21F5-861C-EC59AA6B5F45}"/>
              </a:ext>
            </a:extLst>
          </p:cNvPr>
          <p:cNvSpPr/>
          <p:nvPr/>
        </p:nvSpPr>
        <p:spPr>
          <a:xfrm>
            <a:off x="525439" y="3571547"/>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Infrastructure</a:t>
            </a:r>
          </a:p>
        </p:txBody>
      </p:sp>
      <p:sp>
        <p:nvSpPr>
          <p:cNvPr id="16" name="Rectangle 15">
            <a:extLst>
              <a:ext uri="{FF2B5EF4-FFF2-40B4-BE49-F238E27FC236}">
                <a16:creationId xmlns:a16="http://schemas.microsoft.com/office/drawing/2014/main" id="{C10C9522-BE75-C9D4-B408-A3D62A18ADEB}"/>
              </a:ext>
            </a:extLst>
          </p:cNvPr>
          <p:cNvSpPr/>
          <p:nvPr/>
        </p:nvSpPr>
        <p:spPr>
          <a:xfrm>
            <a:off x="525439" y="3777408"/>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Channels</a:t>
            </a:r>
          </a:p>
        </p:txBody>
      </p:sp>
      <p:sp>
        <p:nvSpPr>
          <p:cNvPr id="17" name="Rectangle 16">
            <a:extLst>
              <a:ext uri="{FF2B5EF4-FFF2-40B4-BE49-F238E27FC236}">
                <a16:creationId xmlns:a16="http://schemas.microsoft.com/office/drawing/2014/main" id="{EFFB1DB1-418F-5CA2-88F8-88F70AFC4F4F}"/>
              </a:ext>
            </a:extLst>
          </p:cNvPr>
          <p:cNvSpPr/>
          <p:nvPr/>
        </p:nvSpPr>
        <p:spPr>
          <a:xfrm>
            <a:off x="525439" y="4600852"/>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Logs</a:t>
            </a:r>
          </a:p>
        </p:txBody>
      </p:sp>
      <p:sp>
        <p:nvSpPr>
          <p:cNvPr id="18" name="Rectangle 17">
            <a:extLst>
              <a:ext uri="{FF2B5EF4-FFF2-40B4-BE49-F238E27FC236}">
                <a16:creationId xmlns:a16="http://schemas.microsoft.com/office/drawing/2014/main" id="{468332C8-870B-4D92-6220-9FD013A8C82E}"/>
              </a:ext>
            </a:extLst>
          </p:cNvPr>
          <p:cNvSpPr/>
          <p:nvPr/>
        </p:nvSpPr>
        <p:spPr>
          <a:xfrm>
            <a:off x="525439" y="3983269"/>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Core Services</a:t>
            </a:r>
          </a:p>
        </p:txBody>
      </p:sp>
      <p:sp>
        <p:nvSpPr>
          <p:cNvPr id="19" name="Rectangle 18">
            <a:extLst>
              <a:ext uri="{FF2B5EF4-FFF2-40B4-BE49-F238E27FC236}">
                <a16:creationId xmlns:a16="http://schemas.microsoft.com/office/drawing/2014/main" id="{CFB193E3-1597-E63E-9495-2FC536EB2A96}"/>
              </a:ext>
            </a:extLst>
          </p:cNvPr>
          <p:cNvSpPr/>
          <p:nvPr/>
        </p:nvSpPr>
        <p:spPr>
          <a:xfrm>
            <a:off x="525439" y="4394991"/>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External Data</a:t>
            </a:r>
          </a:p>
        </p:txBody>
      </p:sp>
      <p:sp>
        <p:nvSpPr>
          <p:cNvPr id="20" name="Rectangle 19">
            <a:extLst>
              <a:ext uri="{FF2B5EF4-FFF2-40B4-BE49-F238E27FC236}">
                <a16:creationId xmlns:a16="http://schemas.microsoft.com/office/drawing/2014/main" id="{82E80B10-DAF1-FCA4-E099-D0465E8827DD}"/>
              </a:ext>
            </a:extLst>
          </p:cNvPr>
          <p:cNvSpPr/>
          <p:nvPr/>
        </p:nvSpPr>
        <p:spPr>
          <a:xfrm>
            <a:off x="525439" y="4806713"/>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t>
            </a:r>
          </a:p>
        </p:txBody>
      </p:sp>
      <p:sp>
        <p:nvSpPr>
          <p:cNvPr id="21" name="Rectangle 20">
            <a:extLst>
              <a:ext uri="{FF2B5EF4-FFF2-40B4-BE49-F238E27FC236}">
                <a16:creationId xmlns:a16="http://schemas.microsoft.com/office/drawing/2014/main" id="{0A4FA4CE-C40A-44AB-9396-15965FEF1C17}"/>
              </a:ext>
            </a:extLst>
          </p:cNvPr>
          <p:cNvSpPr/>
          <p:nvPr/>
        </p:nvSpPr>
        <p:spPr>
          <a:xfrm>
            <a:off x="7214522" y="1337612"/>
            <a:ext cx="819431" cy="23415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Data Pipeline 2</a:t>
            </a:r>
          </a:p>
        </p:txBody>
      </p:sp>
      <p:sp>
        <p:nvSpPr>
          <p:cNvPr id="22" name="Rectangle 21">
            <a:extLst>
              <a:ext uri="{FF2B5EF4-FFF2-40B4-BE49-F238E27FC236}">
                <a16:creationId xmlns:a16="http://schemas.microsoft.com/office/drawing/2014/main" id="{513D8D3E-F117-C133-F3FB-CEEC8418D6D9}"/>
              </a:ext>
            </a:extLst>
          </p:cNvPr>
          <p:cNvSpPr/>
          <p:nvPr/>
        </p:nvSpPr>
        <p:spPr>
          <a:xfrm>
            <a:off x="525439" y="4189130"/>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Core </a:t>
            </a:r>
            <a:r>
              <a:rPr kumimoji="0" lang="en-US" sz="900" b="0" i="0" u="none" strike="noStrike" kern="1200" cap="none" spc="0" normalizeH="0" baseline="0" noProof="0" err="1">
                <a:ln>
                  <a:noFill/>
                </a:ln>
                <a:solidFill>
                  <a:srgbClr val="000000"/>
                </a:solidFill>
                <a:effectLst/>
                <a:uLnTx/>
                <a:uFillTx/>
                <a:latin typeface="Graphik"/>
                <a:ea typeface="+mn-ea"/>
                <a:cs typeface="+mn-cs"/>
              </a:rPr>
              <a:t>SoR</a:t>
            </a:r>
            <a:endParaRPr kumimoji="0" lang="en-US" sz="900" b="0" i="0" u="none" strike="noStrike" kern="1200" cap="none" spc="0" normalizeH="0" baseline="0" noProof="0">
              <a:ln>
                <a:noFill/>
              </a:ln>
              <a:solidFill>
                <a:srgbClr val="000000"/>
              </a:solidFill>
              <a:effectLst/>
              <a:uLnTx/>
              <a:uFillTx/>
              <a:latin typeface="Graphik"/>
              <a:ea typeface="+mn-ea"/>
              <a:cs typeface="+mn-cs"/>
            </a:endParaRPr>
          </a:p>
        </p:txBody>
      </p:sp>
      <p:sp>
        <p:nvSpPr>
          <p:cNvPr id="23" name="Can 172">
            <a:extLst>
              <a:ext uri="{FF2B5EF4-FFF2-40B4-BE49-F238E27FC236}">
                <a16:creationId xmlns:a16="http://schemas.microsoft.com/office/drawing/2014/main" id="{F9114441-6233-0809-75C4-EA4D8E1A653B}"/>
              </a:ext>
            </a:extLst>
          </p:cNvPr>
          <p:cNvSpPr/>
          <p:nvPr/>
        </p:nvSpPr>
        <p:spPr bwMode="auto">
          <a:xfrm rot="5400000">
            <a:off x="4579989" y="3744402"/>
            <a:ext cx="140968" cy="745691"/>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Topic 1</a:t>
            </a:r>
          </a:p>
        </p:txBody>
      </p:sp>
      <p:sp>
        <p:nvSpPr>
          <p:cNvPr id="24" name="Can 172">
            <a:extLst>
              <a:ext uri="{FF2B5EF4-FFF2-40B4-BE49-F238E27FC236}">
                <a16:creationId xmlns:a16="http://schemas.microsoft.com/office/drawing/2014/main" id="{7AB678B4-2991-6322-F406-9F0BB2BEE29C}"/>
              </a:ext>
            </a:extLst>
          </p:cNvPr>
          <p:cNvSpPr/>
          <p:nvPr/>
        </p:nvSpPr>
        <p:spPr bwMode="auto">
          <a:xfrm rot="5400000">
            <a:off x="4579989" y="4056678"/>
            <a:ext cx="140968" cy="745691"/>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Topic 2</a:t>
            </a:r>
          </a:p>
        </p:txBody>
      </p:sp>
      <p:grpSp>
        <p:nvGrpSpPr>
          <p:cNvPr id="25" name="Group 24">
            <a:extLst>
              <a:ext uri="{FF2B5EF4-FFF2-40B4-BE49-F238E27FC236}">
                <a16:creationId xmlns:a16="http://schemas.microsoft.com/office/drawing/2014/main" id="{270D4BE5-F8C6-60D3-99C3-C08B87A4737E}"/>
              </a:ext>
            </a:extLst>
          </p:cNvPr>
          <p:cNvGrpSpPr/>
          <p:nvPr/>
        </p:nvGrpSpPr>
        <p:grpSpPr>
          <a:xfrm>
            <a:off x="5359090" y="3065856"/>
            <a:ext cx="612000" cy="180000"/>
            <a:chOff x="2461363" y="4801885"/>
            <a:chExt cx="1080000" cy="360000"/>
          </a:xfrm>
        </p:grpSpPr>
        <p:sp>
          <p:nvSpPr>
            <p:cNvPr id="26" name="Rectangle 25">
              <a:extLst>
                <a:ext uri="{FF2B5EF4-FFF2-40B4-BE49-F238E27FC236}">
                  <a16:creationId xmlns:a16="http://schemas.microsoft.com/office/drawing/2014/main" id="{476E8BA7-3797-8CC5-55FD-34008D8DF72E}"/>
                </a:ext>
              </a:extLst>
            </p:cNvPr>
            <p:cNvSpPr/>
            <p:nvPr/>
          </p:nvSpPr>
          <p:spPr>
            <a:xfrm>
              <a:off x="2461363" y="4801885"/>
              <a:ext cx="1080000" cy="36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27" name="Picture 26">
              <a:extLst>
                <a:ext uri="{FF2B5EF4-FFF2-40B4-BE49-F238E27FC236}">
                  <a16:creationId xmlns:a16="http://schemas.microsoft.com/office/drawing/2014/main" id="{4B945018-8DA2-CC91-C8D2-F204DB2AD2C8}"/>
                </a:ext>
              </a:extLst>
            </p:cNvPr>
            <p:cNvPicPr>
              <a:picLocks noChangeAspect="1"/>
            </p:cNvPicPr>
            <p:nvPr/>
          </p:nvPicPr>
          <p:blipFill>
            <a:blip r:embed="rId2"/>
            <a:stretch>
              <a:fillRect/>
            </a:stretch>
          </p:blipFill>
          <p:spPr>
            <a:xfrm>
              <a:off x="2654651" y="4822215"/>
              <a:ext cx="693425" cy="319340"/>
            </a:xfrm>
            <a:prstGeom prst="rect">
              <a:avLst/>
            </a:prstGeom>
            <a:solidFill>
              <a:schemeClr val="bg1"/>
            </a:solidFill>
          </p:spPr>
        </p:pic>
      </p:grpSp>
      <p:grpSp>
        <p:nvGrpSpPr>
          <p:cNvPr id="28" name="Group 27">
            <a:extLst>
              <a:ext uri="{FF2B5EF4-FFF2-40B4-BE49-F238E27FC236}">
                <a16:creationId xmlns:a16="http://schemas.microsoft.com/office/drawing/2014/main" id="{AC283804-4A84-AC26-2F70-E2979E14BA7C}"/>
              </a:ext>
            </a:extLst>
          </p:cNvPr>
          <p:cNvGrpSpPr/>
          <p:nvPr/>
        </p:nvGrpSpPr>
        <p:grpSpPr>
          <a:xfrm>
            <a:off x="8094463" y="647331"/>
            <a:ext cx="612000" cy="180000"/>
            <a:chOff x="5725733" y="5189404"/>
            <a:chExt cx="1080000" cy="360000"/>
          </a:xfrm>
          <a:solidFill>
            <a:schemeClr val="bg1"/>
          </a:solidFill>
        </p:grpSpPr>
        <p:sp>
          <p:nvSpPr>
            <p:cNvPr id="29" name="Rectangle 28">
              <a:extLst>
                <a:ext uri="{FF2B5EF4-FFF2-40B4-BE49-F238E27FC236}">
                  <a16:creationId xmlns:a16="http://schemas.microsoft.com/office/drawing/2014/main" id="{D108BE11-45D8-C9D1-EED5-30D5FE0D9A48}"/>
                </a:ext>
              </a:extLst>
            </p:cNvPr>
            <p:cNvSpPr/>
            <p:nvPr/>
          </p:nvSpPr>
          <p:spPr>
            <a:xfrm>
              <a:off x="5725733" y="5189404"/>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Confluent</a:t>
              </a:r>
            </a:p>
          </p:txBody>
        </p:sp>
        <p:pic>
          <p:nvPicPr>
            <p:cNvPr id="30" name="Picture 29">
              <a:extLst>
                <a:ext uri="{FF2B5EF4-FFF2-40B4-BE49-F238E27FC236}">
                  <a16:creationId xmlns:a16="http://schemas.microsoft.com/office/drawing/2014/main" id="{435436BF-EEA7-C51D-A7BB-31CB64E6EAA4}"/>
                </a:ext>
              </a:extLst>
            </p:cNvPr>
            <p:cNvPicPr>
              <a:picLocks noChangeAspect="1"/>
            </p:cNvPicPr>
            <p:nvPr/>
          </p:nvPicPr>
          <p:blipFill>
            <a:blip r:embed="rId3"/>
            <a:stretch>
              <a:fillRect/>
            </a:stretch>
          </p:blipFill>
          <p:spPr>
            <a:xfrm>
              <a:off x="5755534" y="5223097"/>
              <a:ext cx="1020399" cy="292615"/>
            </a:xfrm>
            <a:prstGeom prst="rect">
              <a:avLst/>
            </a:prstGeom>
            <a:grpFill/>
          </p:spPr>
        </p:pic>
      </p:grpSp>
      <p:grpSp>
        <p:nvGrpSpPr>
          <p:cNvPr id="31" name="Group 30">
            <a:extLst>
              <a:ext uri="{FF2B5EF4-FFF2-40B4-BE49-F238E27FC236}">
                <a16:creationId xmlns:a16="http://schemas.microsoft.com/office/drawing/2014/main" id="{85B31440-D3E2-68ED-3603-0ED48F88E5F3}"/>
              </a:ext>
            </a:extLst>
          </p:cNvPr>
          <p:cNvGrpSpPr/>
          <p:nvPr/>
        </p:nvGrpSpPr>
        <p:grpSpPr>
          <a:xfrm>
            <a:off x="5359090" y="2867476"/>
            <a:ext cx="612000" cy="180000"/>
            <a:chOff x="5725733" y="5189404"/>
            <a:chExt cx="1080000" cy="360000"/>
          </a:xfrm>
          <a:solidFill>
            <a:schemeClr val="bg1"/>
          </a:solidFill>
        </p:grpSpPr>
        <p:sp>
          <p:nvSpPr>
            <p:cNvPr id="32" name="Rectangle 31">
              <a:extLst>
                <a:ext uri="{FF2B5EF4-FFF2-40B4-BE49-F238E27FC236}">
                  <a16:creationId xmlns:a16="http://schemas.microsoft.com/office/drawing/2014/main" id="{6C789540-6417-D1C4-89F2-EBC05699015F}"/>
                </a:ext>
              </a:extLst>
            </p:cNvPr>
            <p:cNvSpPr/>
            <p:nvPr/>
          </p:nvSpPr>
          <p:spPr>
            <a:xfrm>
              <a:off x="5725733" y="5189404"/>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Confluent</a:t>
              </a:r>
            </a:p>
          </p:txBody>
        </p:sp>
        <p:pic>
          <p:nvPicPr>
            <p:cNvPr id="33" name="Picture 32">
              <a:extLst>
                <a:ext uri="{FF2B5EF4-FFF2-40B4-BE49-F238E27FC236}">
                  <a16:creationId xmlns:a16="http://schemas.microsoft.com/office/drawing/2014/main" id="{69A6EDF5-11A2-9E7F-3033-5203FDC7D22B}"/>
                </a:ext>
              </a:extLst>
            </p:cNvPr>
            <p:cNvPicPr>
              <a:picLocks noChangeAspect="1"/>
            </p:cNvPicPr>
            <p:nvPr/>
          </p:nvPicPr>
          <p:blipFill>
            <a:blip r:embed="rId3"/>
            <a:stretch>
              <a:fillRect/>
            </a:stretch>
          </p:blipFill>
          <p:spPr>
            <a:xfrm>
              <a:off x="5755534" y="5223097"/>
              <a:ext cx="1020399" cy="292615"/>
            </a:xfrm>
            <a:prstGeom prst="rect">
              <a:avLst/>
            </a:prstGeom>
            <a:grpFill/>
          </p:spPr>
        </p:pic>
      </p:grpSp>
      <p:sp>
        <p:nvSpPr>
          <p:cNvPr id="34" name="Rectangle: Rounded Corners 33">
            <a:extLst>
              <a:ext uri="{FF2B5EF4-FFF2-40B4-BE49-F238E27FC236}">
                <a16:creationId xmlns:a16="http://schemas.microsoft.com/office/drawing/2014/main" id="{8F312940-1E63-0D66-ADA0-A8768C157538}"/>
              </a:ext>
            </a:extLst>
          </p:cNvPr>
          <p:cNvSpPr/>
          <p:nvPr/>
        </p:nvSpPr>
        <p:spPr>
          <a:xfrm>
            <a:off x="8622890" y="3001906"/>
            <a:ext cx="1583036" cy="2187362"/>
          </a:xfrm>
          <a:prstGeom prst="roundRect">
            <a:avLst>
              <a:gd name="adj" fmla="val 768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0" i="0" u="none" strike="noStrike" kern="1200" cap="none" spc="0" normalizeH="0" baseline="0" noProof="0">
                <a:ln>
                  <a:noFill/>
                </a:ln>
                <a:solidFill>
                  <a:srgbClr val="000000"/>
                </a:solidFill>
                <a:effectLst/>
                <a:uLnTx/>
                <a:uFillTx/>
                <a:latin typeface="Graphik"/>
                <a:ea typeface="+mn-ea"/>
                <a:cs typeface="+mn-cs"/>
              </a:rPr>
              <a:t>Data </a:t>
            </a:r>
            <a:r>
              <a:rPr kumimoji="0" lang="es-ES_tradnl" sz="900" b="0" i="0" u="none" strike="noStrike" kern="1200" cap="none" spc="0" normalizeH="0" baseline="0" noProof="0" err="1">
                <a:ln>
                  <a:noFill/>
                </a:ln>
                <a:solidFill>
                  <a:srgbClr val="000000"/>
                </a:solidFill>
                <a:effectLst/>
                <a:uLnTx/>
                <a:uFillTx/>
                <a:latin typeface="Graphik"/>
                <a:ea typeface="+mn-ea"/>
                <a:cs typeface="+mn-cs"/>
              </a:rPr>
              <a:t>Consumers</a:t>
            </a:r>
            <a:endParaRPr kumimoji="0" lang="es-ES_tradnl" sz="900" b="0" i="0" u="none" strike="noStrike" kern="1200" cap="none" spc="0" normalizeH="0" baseline="0" noProof="0">
              <a:ln>
                <a:noFill/>
              </a:ln>
              <a:solidFill>
                <a:srgbClr val="000000"/>
              </a:solidFill>
              <a:effectLst/>
              <a:uLnTx/>
              <a:uFillTx/>
              <a:latin typeface="Graphik"/>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0" i="0" u="none" strike="noStrike" kern="1200" cap="none" spc="0" normalizeH="0" baseline="0" noProof="0">
                <a:ln>
                  <a:noFill/>
                </a:ln>
                <a:solidFill>
                  <a:srgbClr val="000000"/>
                </a:solidFill>
                <a:effectLst/>
                <a:uLnTx/>
                <a:uFillTx/>
                <a:latin typeface="Graphik"/>
                <a:ea typeface="+mn-ea"/>
                <a:cs typeface="+mn-cs"/>
              </a:rPr>
              <a:t>(Subscribe)</a:t>
            </a:r>
            <a:endParaRPr kumimoji="0" lang="en-ES" sz="900" b="0" i="0" u="none" strike="noStrike" kern="1200" cap="none" spc="0" normalizeH="0" baseline="0" noProof="0">
              <a:ln>
                <a:noFill/>
              </a:ln>
              <a:solidFill>
                <a:srgbClr val="000000"/>
              </a:solidFill>
              <a:effectLst/>
              <a:uLnTx/>
              <a:uFillTx/>
              <a:latin typeface="Graphik"/>
              <a:ea typeface="+mn-ea"/>
              <a:cs typeface="+mn-cs"/>
            </a:endParaRPr>
          </a:p>
        </p:txBody>
      </p:sp>
      <p:sp>
        <p:nvSpPr>
          <p:cNvPr id="35" name="Rectangle 34">
            <a:extLst>
              <a:ext uri="{FF2B5EF4-FFF2-40B4-BE49-F238E27FC236}">
                <a16:creationId xmlns:a16="http://schemas.microsoft.com/office/drawing/2014/main" id="{059DEEBF-D420-6D55-A29A-F4F67C51FFAD}"/>
              </a:ext>
            </a:extLst>
          </p:cNvPr>
          <p:cNvSpPr/>
          <p:nvPr/>
        </p:nvSpPr>
        <p:spPr>
          <a:xfrm>
            <a:off x="8748373" y="3349192"/>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Infrastructure</a:t>
            </a:r>
          </a:p>
        </p:txBody>
      </p:sp>
      <p:sp>
        <p:nvSpPr>
          <p:cNvPr id="36" name="Rectangle 35">
            <a:extLst>
              <a:ext uri="{FF2B5EF4-FFF2-40B4-BE49-F238E27FC236}">
                <a16:creationId xmlns:a16="http://schemas.microsoft.com/office/drawing/2014/main" id="{CDEBB742-0E30-3703-9A39-6EB44859871D}"/>
              </a:ext>
            </a:extLst>
          </p:cNvPr>
          <p:cNvSpPr/>
          <p:nvPr/>
        </p:nvSpPr>
        <p:spPr>
          <a:xfrm>
            <a:off x="8748373" y="3555053"/>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Channels</a:t>
            </a:r>
          </a:p>
        </p:txBody>
      </p:sp>
      <p:sp>
        <p:nvSpPr>
          <p:cNvPr id="37" name="Rectangle 36">
            <a:extLst>
              <a:ext uri="{FF2B5EF4-FFF2-40B4-BE49-F238E27FC236}">
                <a16:creationId xmlns:a16="http://schemas.microsoft.com/office/drawing/2014/main" id="{F0182B25-BEF5-7992-2172-B3E05C685A0B}"/>
              </a:ext>
            </a:extLst>
          </p:cNvPr>
          <p:cNvSpPr/>
          <p:nvPr/>
        </p:nvSpPr>
        <p:spPr>
          <a:xfrm>
            <a:off x="8748373" y="4378497"/>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Logs</a:t>
            </a:r>
          </a:p>
        </p:txBody>
      </p:sp>
      <p:sp>
        <p:nvSpPr>
          <p:cNvPr id="38" name="Rectangle 37">
            <a:extLst>
              <a:ext uri="{FF2B5EF4-FFF2-40B4-BE49-F238E27FC236}">
                <a16:creationId xmlns:a16="http://schemas.microsoft.com/office/drawing/2014/main" id="{D0E15718-F0AB-B574-8293-A6A514483176}"/>
              </a:ext>
            </a:extLst>
          </p:cNvPr>
          <p:cNvSpPr/>
          <p:nvPr/>
        </p:nvSpPr>
        <p:spPr>
          <a:xfrm>
            <a:off x="8748373" y="3760914"/>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Core Services</a:t>
            </a:r>
          </a:p>
        </p:txBody>
      </p:sp>
      <p:sp>
        <p:nvSpPr>
          <p:cNvPr id="39" name="Rectangle 38">
            <a:extLst>
              <a:ext uri="{FF2B5EF4-FFF2-40B4-BE49-F238E27FC236}">
                <a16:creationId xmlns:a16="http://schemas.microsoft.com/office/drawing/2014/main" id="{D7B4BF73-3EEB-DEF8-3FAE-8861C54A3406}"/>
              </a:ext>
            </a:extLst>
          </p:cNvPr>
          <p:cNvSpPr/>
          <p:nvPr/>
        </p:nvSpPr>
        <p:spPr>
          <a:xfrm>
            <a:off x="8748373" y="4172636"/>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External Data</a:t>
            </a:r>
          </a:p>
        </p:txBody>
      </p:sp>
      <p:sp>
        <p:nvSpPr>
          <p:cNvPr id="40" name="Rectangle 39">
            <a:extLst>
              <a:ext uri="{FF2B5EF4-FFF2-40B4-BE49-F238E27FC236}">
                <a16:creationId xmlns:a16="http://schemas.microsoft.com/office/drawing/2014/main" id="{C04FAFC3-14E6-5E32-46BE-BD996616626B}"/>
              </a:ext>
            </a:extLst>
          </p:cNvPr>
          <p:cNvSpPr/>
          <p:nvPr/>
        </p:nvSpPr>
        <p:spPr>
          <a:xfrm>
            <a:off x="8748373" y="4584358"/>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t>
            </a:r>
          </a:p>
        </p:txBody>
      </p:sp>
      <p:sp>
        <p:nvSpPr>
          <p:cNvPr id="41" name="Rectangle 40">
            <a:extLst>
              <a:ext uri="{FF2B5EF4-FFF2-40B4-BE49-F238E27FC236}">
                <a16:creationId xmlns:a16="http://schemas.microsoft.com/office/drawing/2014/main" id="{B836F4AE-5B12-DB7D-2119-C53051FB8255}"/>
              </a:ext>
            </a:extLst>
          </p:cNvPr>
          <p:cNvSpPr/>
          <p:nvPr/>
        </p:nvSpPr>
        <p:spPr>
          <a:xfrm>
            <a:off x="8748373" y="3966775"/>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Core </a:t>
            </a:r>
            <a:r>
              <a:rPr kumimoji="0" lang="en-US" sz="900" b="0" i="0" u="none" strike="noStrike" kern="1200" cap="none" spc="0" normalizeH="0" baseline="0" noProof="0" err="1">
                <a:ln>
                  <a:noFill/>
                </a:ln>
                <a:solidFill>
                  <a:srgbClr val="000000"/>
                </a:solidFill>
                <a:effectLst/>
                <a:uLnTx/>
                <a:uFillTx/>
                <a:latin typeface="Graphik"/>
                <a:ea typeface="+mn-ea"/>
                <a:cs typeface="+mn-cs"/>
              </a:rPr>
              <a:t>SoR</a:t>
            </a:r>
            <a:endParaRPr kumimoji="0" lang="en-US" sz="900" b="0" i="0" u="none" strike="noStrike" kern="1200" cap="none" spc="0" normalizeH="0" baseline="0" noProof="0">
              <a:ln>
                <a:noFill/>
              </a:ln>
              <a:solidFill>
                <a:srgbClr val="000000"/>
              </a:solidFill>
              <a:effectLst/>
              <a:uLnTx/>
              <a:uFillTx/>
              <a:latin typeface="Graphik"/>
              <a:ea typeface="+mn-ea"/>
              <a:cs typeface="+mn-cs"/>
            </a:endParaRPr>
          </a:p>
        </p:txBody>
      </p:sp>
      <p:sp>
        <p:nvSpPr>
          <p:cNvPr id="42" name="Flowchart: Magnetic Disk 41">
            <a:extLst>
              <a:ext uri="{FF2B5EF4-FFF2-40B4-BE49-F238E27FC236}">
                <a16:creationId xmlns:a16="http://schemas.microsoft.com/office/drawing/2014/main" id="{79B62217-7346-F208-0738-37710DE22FE5}"/>
              </a:ext>
            </a:extLst>
          </p:cNvPr>
          <p:cNvSpPr/>
          <p:nvPr/>
        </p:nvSpPr>
        <p:spPr>
          <a:xfrm>
            <a:off x="8743144" y="4788546"/>
            <a:ext cx="1331195" cy="289473"/>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Event </a:t>
            </a:r>
            <a:r>
              <a:rPr kumimoji="0" lang="en-US" sz="900" b="0" i="0" u="none" strike="noStrike" kern="1200" cap="none" spc="0" normalizeH="0" baseline="0" noProof="0" err="1">
                <a:ln>
                  <a:noFill/>
                </a:ln>
                <a:solidFill>
                  <a:srgbClr val="FFFFFF"/>
                </a:solidFill>
                <a:effectLst/>
                <a:uLnTx/>
                <a:uFillTx/>
                <a:latin typeface="Graphik"/>
                <a:ea typeface="+mn-ea"/>
                <a:cs typeface="+mn-cs"/>
              </a:rPr>
              <a:t>Regisltry</a:t>
            </a:r>
            <a:endParaRPr kumimoji="0" lang="en-US" sz="900" b="0" i="0" u="none" strike="noStrike" kern="1200" cap="none" spc="0" normalizeH="0" baseline="0" noProof="0">
              <a:ln>
                <a:noFill/>
              </a:ln>
              <a:solidFill>
                <a:srgbClr val="FFFFFF"/>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20361BC8-2574-C3D3-5F48-4A2347C07A67}"/>
              </a:ext>
            </a:extLst>
          </p:cNvPr>
          <p:cNvSpPr/>
          <p:nvPr/>
        </p:nvSpPr>
        <p:spPr>
          <a:xfrm>
            <a:off x="4030946" y="2921018"/>
            <a:ext cx="1171198" cy="159611"/>
          </a:xfrm>
          <a:prstGeom prst="rect">
            <a:avLst/>
          </a:prstGeom>
          <a:solidFill>
            <a:schemeClr val="accent3">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Guaranteed Delivery</a:t>
            </a:r>
          </a:p>
        </p:txBody>
      </p:sp>
      <p:sp>
        <p:nvSpPr>
          <p:cNvPr id="44" name="Rectangle 43">
            <a:extLst>
              <a:ext uri="{FF2B5EF4-FFF2-40B4-BE49-F238E27FC236}">
                <a16:creationId xmlns:a16="http://schemas.microsoft.com/office/drawing/2014/main" id="{8F317CE7-B463-8746-B8F9-E0C5E8CD9FB5}"/>
              </a:ext>
            </a:extLst>
          </p:cNvPr>
          <p:cNvSpPr/>
          <p:nvPr/>
        </p:nvSpPr>
        <p:spPr>
          <a:xfrm>
            <a:off x="4030946" y="3132357"/>
            <a:ext cx="1171198" cy="159611"/>
          </a:xfrm>
          <a:prstGeom prst="rect">
            <a:avLst/>
          </a:prstGeom>
          <a:solidFill>
            <a:schemeClr val="accent3">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Event Monitoring</a:t>
            </a:r>
          </a:p>
        </p:txBody>
      </p:sp>
      <p:sp>
        <p:nvSpPr>
          <p:cNvPr id="45" name="Rectangle 44">
            <a:extLst>
              <a:ext uri="{FF2B5EF4-FFF2-40B4-BE49-F238E27FC236}">
                <a16:creationId xmlns:a16="http://schemas.microsoft.com/office/drawing/2014/main" id="{A413AFFE-14C9-AD5C-C3A1-023DF3BC6F33}"/>
              </a:ext>
            </a:extLst>
          </p:cNvPr>
          <p:cNvSpPr/>
          <p:nvPr/>
        </p:nvSpPr>
        <p:spPr>
          <a:xfrm>
            <a:off x="3817502" y="2284977"/>
            <a:ext cx="1639228" cy="188522"/>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Kafka Tools</a:t>
            </a:r>
          </a:p>
        </p:txBody>
      </p:sp>
      <p:cxnSp>
        <p:nvCxnSpPr>
          <p:cNvPr id="46" name="Straight Arrow Connector 45">
            <a:extLst>
              <a:ext uri="{FF2B5EF4-FFF2-40B4-BE49-F238E27FC236}">
                <a16:creationId xmlns:a16="http://schemas.microsoft.com/office/drawing/2014/main" id="{4A688197-E6BA-9DDB-0A71-64ECAF2A34A6}"/>
              </a:ext>
            </a:extLst>
          </p:cNvPr>
          <p:cNvCxnSpPr>
            <a:cxnSpLocks/>
            <a:stCxn id="45" idx="2"/>
            <a:endCxn id="8" idx="0"/>
          </p:cNvCxnSpPr>
          <p:nvPr/>
        </p:nvCxnSpPr>
        <p:spPr>
          <a:xfrm>
            <a:off x="4637116" y="2473499"/>
            <a:ext cx="2176" cy="289617"/>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ABA5CF67-B703-039B-8D12-FF9B33A776B0}"/>
              </a:ext>
            </a:extLst>
          </p:cNvPr>
          <p:cNvCxnSpPr>
            <a:cxnSpLocks/>
            <a:stCxn id="23" idx="1"/>
            <a:endCxn id="34" idx="1"/>
          </p:cNvCxnSpPr>
          <p:nvPr/>
        </p:nvCxnSpPr>
        <p:spPr>
          <a:xfrm flipV="1">
            <a:off x="5023319" y="4095587"/>
            <a:ext cx="3599571" cy="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EF17F4FB-CAED-F72E-619B-911468B40524}"/>
              </a:ext>
            </a:extLst>
          </p:cNvPr>
          <p:cNvCxnSpPr>
            <a:cxnSpLocks/>
            <a:stCxn id="14" idx="3"/>
            <a:endCxn id="23" idx="3"/>
          </p:cNvCxnSpPr>
          <p:nvPr/>
        </p:nvCxnSpPr>
        <p:spPr>
          <a:xfrm flipV="1">
            <a:off x="1982992" y="4117248"/>
            <a:ext cx="2294636" cy="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7601B100-D9B7-D6BD-5123-E1099DFFAD25}"/>
              </a:ext>
            </a:extLst>
          </p:cNvPr>
          <p:cNvCxnSpPr>
            <a:cxnSpLocks/>
            <a:stCxn id="10" idx="1"/>
          </p:cNvCxnSpPr>
          <p:nvPr/>
        </p:nvCxnSpPr>
        <p:spPr>
          <a:xfrm flipH="1">
            <a:off x="5438040" y="1812601"/>
            <a:ext cx="1683806" cy="536948"/>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4F7DA6DE-566D-52AA-6D3B-89EB68833450}"/>
              </a:ext>
            </a:extLst>
          </p:cNvPr>
          <p:cNvCxnSpPr>
            <a:cxnSpLocks/>
            <a:stCxn id="10" idx="3"/>
            <a:endCxn id="34" idx="0"/>
          </p:cNvCxnSpPr>
          <p:nvPr/>
        </p:nvCxnSpPr>
        <p:spPr>
          <a:xfrm>
            <a:off x="8148107" y="1812601"/>
            <a:ext cx="1266301" cy="1189305"/>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7EBB2FB6-2F7D-7332-3B28-062055D9259C}"/>
              </a:ext>
            </a:extLst>
          </p:cNvPr>
          <p:cNvSpPr/>
          <p:nvPr/>
        </p:nvSpPr>
        <p:spPr>
          <a:xfrm>
            <a:off x="8103300" y="833575"/>
            <a:ext cx="600122" cy="191240"/>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Custom</a:t>
            </a:r>
          </a:p>
        </p:txBody>
      </p:sp>
      <p:sp>
        <p:nvSpPr>
          <p:cNvPr id="52" name="Rectangle 51">
            <a:extLst>
              <a:ext uri="{FF2B5EF4-FFF2-40B4-BE49-F238E27FC236}">
                <a16:creationId xmlns:a16="http://schemas.microsoft.com/office/drawing/2014/main" id="{2B9311BE-B50F-F390-06EF-095D56462E9F}"/>
              </a:ext>
            </a:extLst>
          </p:cNvPr>
          <p:cNvSpPr/>
          <p:nvPr/>
        </p:nvSpPr>
        <p:spPr>
          <a:xfrm>
            <a:off x="4030946" y="3343696"/>
            <a:ext cx="1171198" cy="159611"/>
          </a:xfrm>
          <a:prstGeom prst="rect">
            <a:avLst/>
          </a:prstGeom>
          <a:solidFill>
            <a:schemeClr val="accent3">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Clustering/Routing</a:t>
            </a:r>
          </a:p>
        </p:txBody>
      </p:sp>
      <p:sp>
        <p:nvSpPr>
          <p:cNvPr id="53" name="Rectangle 52">
            <a:extLst>
              <a:ext uri="{FF2B5EF4-FFF2-40B4-BE49-F238E27FC236}">
                <a16:creationId xmlns:a16="http://schemas.microsoft.com/office/drawing/2014/main" id="{74313583-BB99-5346-A1C2-A0450A6BD4E0}"/>
              </a:ext>
            </a:extLst>
          </p:cNvPr>
          <p:cNvSpPr/>
          <p:nvPr/>
        </p:nvSpPr>
        <p:spPr>
          <a:xfrm>
            <a:off x="7214522" y="1620071"/>
            <a:ext cx="819431" cy="234152"/>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Event Sourcing</a:t>
            </a:r>
          </a:p>
        </p:txBody>
      </p:sp>
      <p:sp>
        <p:nvSpPr>
          <p:cNvPr id="54" name="Rectangle 53">
            <a:extLst>
              <a:ext uri="{FF2B5EF4-FFF2-40B4-BE49-F238E27FC236}">
                <a16:creationId xmlns:a16="http://schemas.microsoft.com/office/drawing/2014/main" id="{C9025F1D-9E3C-7AA3-664C-99FB9FF40985}"/>
              </a:ext>
            </a:extLst>
          </p:cNvPr>
          <p:cNvSpPr/>
          <p:nvPr/>
        </p:nvSpPr>
        <p:spPr>
          <a:xfrm>
            <a:off x="7219133" y="1909331"/>
            <a:ext cx="819431" cy="234152"/>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Lambda</a:t>
            </a:r>
          </a:p>
        </p:txBody>
      </p:sp>
      <p:sp>
        <p:nvSpPr>
          <p:cNvPr id="55" name="Rectangle 54">
            <a:extLst>
              <a:ext uri="{FF2B5EF4-FFF2-40B4-BE49-F238E27FC236}">
                <a16:creationId xmlns:a16="http://schemas.microsoft.com/office/drawing/2014/main" id="{C68E0F57-5F34-B08C-C307-CE8EBC7A47E9}"/>
              </a:ext>
            </a:extLst>
          </p:cNvPr>
          <p:cNvSpPr/>
          <p:nvPr/>
        </p:nvSpPr>
        <p:spPr>
          <a:xfrm>
            <a:off x="7224314" y="2209664"/>
            <a:ext cx="819431" cy="234152"/>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Kappa</a:t>
            </a:r>
          </a:p>
        </p:txBody>
      </p:sp>
      <p:grpSp>
        <p:nvGrpSpPr>
          <p:cNvPr id="56" name="Group 55">
            <a:extLst>
              <a:ext uri="{FF2B5EF4-FFF2-40B4-BE49-F238E27FC236}">
                <a16:creationId xmlns:a16="http://schemas.microsoft.com/office/drawing/2014/main" id="{202EE1ED-4CB1-C99B-C199-8C7226626300}"/>
              </a:ext>
            </a:extLst>
          </p:cNvPr>
          <p:cNvGrpSpPr/>
          <p:nvPr/>
        </p:nvGrpSpPr>
        <p:grpSpPr>
          <a:xfrm>
            <a:off x="5243545" y="2159694"/>
            <a:ext cx="612000" cy="180000"/>
            <a:chOff x="5725733" y="5189404"/>
            <a:chExt cx="1080000" cy="360000"/>
          </a:xfrm>
          <a:solidFill>
            <a:schemeClr val="bg1"/>
          </a:solidFill>
        </p:grpSpPr>
        <p:sp>
          <p:nvSpPr>
            <p:cNvPr id="57" name="Rectangle 56">
              <a:extLst>
                <a:ext uri="{FF2B5EF4-FFF2-40B4-BE49-F238E27FC236}">
                  <a16:creationId xmlns:a16="http://schemas.microsoft.com/office/drawing/2014/main" id="{6AB89A9C-BD7C-8F4F-144B-225A90144E0E}"/>
                </a:ext>
              </a:extLst>
            </p:cNvPr>
            <p:cNvSpPr/>
            <p:nvPr/>
          </p:nvSpPr>
          <p:spPr>
            <a:xfrm>
              <a:off x="5725733" y="5189404"/>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Confluent</a:t>
              </a:r>
            </a:p>
          </p:txBody>
        </p:sp>
        <p:pic>
          <p:nvPicPr>
            <p:cNvPr id="58" name="Picture 57">
              <a:extLst>
                <a:ext uri="{FF2B5EF4-FFF2-40B4-BE49-F238E27FC236}">
                  <a16:creationId xmlns:a16="http://schemas.microsoft.com/office/drawing/2014/main" id="{346E7EA7-5A97-F091-1EC7-31E82733A596}"/>
                </a:ext>
              </a:extLst>
            </p:cNvPr>
            <p:cNvPicPr>
              <a:picLocks noChangeAspect="1"/>
            </p:cNvPicPr>
            <p:nvPr/>
          </p:nvPicPr>
          <p:blipFill>
            <a:blip r:embed="rId3"/>
            <a:stretch>
              <a:fillRect/>
            </a:stretch>
          </p:blipFill>
          <p:spPr>
            <a:xfrm>
              <a:off x="5755534" y="5223097"/>
              <a:ext cx="1020399" cy="292615"/>
            </a:xfrm>
            <a:prstGeom prst="rect">
              <a:avLst/>
            </a:prstGeom>
            <a:grpFill/>
          </p:spPr>
        </p:pic>
      </p:grpSp>
      <p:sp>
        <p:nvSpPr>
          <p:cNvPr id="59" name="Rectangle 58">
            <a:extLst>
              <a:ext uri="{FF2B5EF4-FFF2-40B4-BE49-F238E27FC236}">
                <a16:creationId xmlns:a16="http://schemas.microsoft.com/office/drawing/2014/main" id="{0A90CAB3-E338-0403-BF20-153D4DBCD5E8}"/>
              </a:ext>
            </a:extLst>
          </p:cNvPr>
          <p:cNvSpPr/>
          <p:nvPr/>
        </p:nvSpPr>
        <p:spPr>
          <a:xfrm>
            <a:off x="5234591" y="2345517"/>
            <a:ext cx="600122" cy="191240"/>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Graphik"/>
                <a:ea typeface="+mn-ea"/>
                <a:cs typeface="+mn-cs"/>
              </a:rPr>
              <a:t>Custom</a:t>
            </a:r>
          </a:p>
        </p:txBody>
      </p:sp>
      <p:sp>
        <p:nvSpPr>
          <p:cNvPr id="60" name="Rectangle 59">
            <a:extLst>
              <a:ext uri="{FF2B5EF4-FFF2-40B4-BE49-F238E27FC236}">
                <a16:creationId xmlns:a16="http://schemas.microsoft.com/office/drawing/2014/main" id="{B721975F-6570-87B0-A597-2838071DDB1D}"/>
              </a:ext>
            </a:extLst>
          </p:cNvPr>
          <p:cNvSpPr/>
          <p:nvPr/>
        </p:nvSpPr>
        <p:spPr>
          <a:xfrm>
            <a:off x="4030946" y="3555035"/>
            <a:ext cx="1171198" cy="159611"/>
          </a:xfrm>
          <a:prstGeom prst="rect">
            <a:avLst/>
          </a:prstGeom>
          <a:solidFill>
            <a:schemeClr val="accent3">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Event Handler</a:t>
            </a:r>
          </a:p>
        </p:txBody>
      </p:sp>
      <p:sp>
        <p:nvSpPr>
          <p:cNvPr id="61" name="TextBox 60">
            <a:extLst>
              <a:ext uri="{FF2B5EF4-FFF2-40B4-BE49-F238E27FC236}">
                <a16:creationId xmlns:a16="http://schemas.microsoft.com/office/drawing/2014/main" id="{3A0A212C-FC36-ABF8-2856-216E815894FD}"/>
              </a:ext>
            </a:extLst>
          </p:cNvPr>
          <p:cNvSpPr txBox="1"/>
          <p:nvPr/>
        </p:nvSpPr>
        <p:spPr>
          <a:xfrm>
            <a:off x="6491447" y="4205119"/>
            <a:ext cx="914400" cy="22253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MX" sz="1200" b="0" i="0" u="none" strike="noStrike" kern="1200" cap="none" spc="0" normalizeH="0" baseline="0" noProof="0" dirty="0" err="1">
                <a:ln>
                  <a:noFill/>
                </a:ln>
                <a:solidFill>
                  <a:srgbClr val="000000"/>
                </a:solidFill>
                <a:effectLst/>
                <a:uLnTx/>
                <a:uFillTx/>
                <a:latin typeface="Graphik"/>
                <a:ea typeface="+mn-ea"/>
                <a:cs typeface="+mn-cs"/>
              </a:rPr>
              <a:t>Command</a:t>
            </a:r>
            <a:endParaRPr kumimoji="0" lang="es-MX" sz="1200" b="0" i="0" u="none" strike="noStrike" kern="1200" cap="none" spc="0" normalizeH="0" baseline="0" noProof="0" dirty="0">
              <a:ln>
                <a:noFill/>
              </a:ln>
              <a:solidFill>
                <a:srgbClr val="000000"/>
              </a:solidFill>
              <a:effectLst/>
              <a:uLnTx/>
              <a:uFillTx/>
              <a:latin typeface="Graphik"/>
              <a:ea typeface="+mn-ea"/>
              <a:cs typeface="+mn-cs"/>
            </a:endParaRPr>
          </a:p>
        </p:txBody>
      </p:sp>
      <p:sp>
        <p:nvSpPr>
          <p:cNvPr id="62" name="TextBox 61">
            <a:extLst>
              <a:ext uri="{FF2B5EF4-FFF2-40B4-BE49-F238E27FC236}">
                <a16:creationId xmlns:a16="http://schemas.microsoft.com/office/drawing/2014/main" id="{64EC0E39-0A6A-DD63-AE38-39E1700459A8}"/>
              </a:ext>
            </a:extLst>
          </p:cNvPr>
          <p:cNvSpPr txBox="1"/>
          <p:nvPr/>
        </p:nvSpPr>
        <p:spPr>
          <a:xfrm>
            <a:off x="2659760" y="3908850"/>
            <a:ext cx="914400" cy="159957"/>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MX" sz="1200" b="0" i="0" u="none" strike="noStrike" kern="1200" cap="none" spc="0" normalizeH="0" baseline="0" noProof="0" err="1">
                <a:ln>
                  <a:noFill/>
                </a:ln>
                <a:solidFill>
                  <a:srgbClr val="000000"/>
                </a:solidFill>
                <a:effectLst/>
                <a:uLnTx/>
                <a:uFillTx/>
                <a:latin typeface="Graphik"/>
                <a:ea typeface="+mn-ea"/>
                <a:cs typeface="+mn-cs"/>
              </a:rPr>
              <a:t>Query</a:t>
            </a:r>
            <a:endParaRPr kumimoji="0" lang="es-MX" sz="1200" b="0" i="0" u="none" strike="noStrike" kern="1200" cap="none" spc="0" normalizeH="0" baseline="0" noProof="0">
              <a:ln>
                <a:noFill/>
              </a:ln>
              <a:solidFill>
                <a:srgbClr val="000000"/>
              </a:solidFill>
              <a:effectLst/>
              <a:uLnTx/>
              <a:uFillTx/>
              <a:latin typeface="Graphik"/>
              <a:ea typeface="+mn-ea"/>
              <a:cs typeface="+mn-cs"/>
            </a:endParaRPr>
          </a:p>
        </p:txBody>
      </p:sp>
      <p:cxnSp>
        <p:nvCxnSpPr>
          <p:cNvPr id="63" name="Connector: Elbow 62">
            <a:extLst>
              <a:ext uri="{FF2B5EF4-FFF2-40B4-BE49-F238E27FC236}">
                <a16:creationId xmlns:a16="http://schemas.microsoft.com/office/drawing/2014/main" id="{3BB49737-8FFB-96CA-527C-953623137B37}"/>
              </a:ext>
            </a:extLst>
          </p:cNvPr>
          <p:cNvCxnSpPr>
            <a:cxnSpLocks/>
            <a:endCxn id="24" idx="1"/>
          </p:cNvCxnSpPr>
          <p:nvPr/>
        </p:nvCxnSpPr>
        <p:spPr>
          <a:xfrm rot="10800000" flipV="1">
            <a:off x="5023320" y="4429524"/>
            <a:ext cx="3599571" cy="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07FF11FA-C720-0D1A-BEEF-584EF2D4236D}"/>
              </a:ext>
            </a:extLst>
          </p:cNvPr>
          <p:cNvCxnSpPr>
            <a:cxnSpLocks/>
            <a:stCxn id="24" idx="3"/>
          </p:cNvCxnSpPr>
          <p:nvPr/>
        </p:nvCxnSpPr>
        <p:spPr>
          <a:xfrm rot="10800000" flipV="1">
            <a:off x="1982992" y="4429523"/>
            <a:ext cx="2294636" cy="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47900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7A2CC-8CB3-43C3-21A2-57ABE1970EC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6B17AA1-577C-7A19-CB54-79EAA26BD969}"/>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All rights reserved.</a:t>
            </a:r>
          </a:p>
        </p:txBody>
      </p:sp>
      <p:sp>
        <p:nvSpPr>
          <p:cNvPr id="84" name="Title 1">
            <a:extLst>
              <a:ext uri="{FF2B5EF4-FFF2-40B4-BE49-F238E27FC236}">
                <a16:creationId xmlns:a16="http://schemas.microsoft.com/office/drawing/2014/main" id="{D4DE9E58-931B-96C3-CFBE-AD877FA6A381}"/>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Interoperability Asset </a:t>
            </a:r>
            <a:r>
              <a:rPr kumimoji="0" lang="en-US" sz="2400" b="1" i="0" u="none" strike="noStrike" kern="1200" cap="none" spc="0" normalizeH="0" baseline="0" noProof="0">
                <a:ln>
                  <a:noFill/>
                </a:ln>
                <a:solidFill>
                  <a:srgbClr val="000000"/>
                </a:solidFill>
                <a:effectLst/>
                <a:uLnTx/>
                <a:uFillTx/>
                <a:latin typeface="Graphik"/>
                <a:ea typeface="+mj-ea"/>
                <a:cs typeface="+mj-cs"/>
              </a:rPr>
              <a:t>| Candidate use cases (I)</a:t>
            </a:r>
          </a:p>
        </p:txBody>
      </p:sp>
      <p:sp>
        <p:nvSpPr>
          <p:cNvPr id="85" name="Content Placeholder 34">
            <a:extLst>
              <a:ext uri="{FF2B5EF4-FFF2-40B4-BE49-F238E27FC236}">
                <a16:creationId xmlns:a16="http://schemas.microsoft.com/office/drawing/2014/main" id="{937FA7DD-9429-64AD-605C-8BF690A22F6F}"/>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Orchestration and Event Processing</a:t>
            </a:r>
          </a:p>
        </p:txBody>
      </p:sp>
      <p:sp>
        <p:nvSpPr>
          <p:cNvPr id="86" name="Rectangle 85">
            <a:extLst>
              <a:ext uri="{FF2B5EF4-FFF2-40B4-BE49-F238E27FC236}">
                <a16:creationId xmlns:a16="http://schemas.microsoft.com/office/drawing/2014/main" id="{C228187A-3D30-A066-F0FC-0060FD49ECDF}"/>
              </a:ext>
            </a:extLst>
          </p:cNvPr>
          <p:cNvSpPr/>
          <p:nvPr/>
        </p:nvSpPr>
        <p:spPr>
          <a:xfrm>
            <a:off x="591113" y="4730467"/>
            <a:ext cx="3665511" cy="1024304"/>
          </a:xfrm>
          <a:prstGeom prst="rect">
            <a:avLst/>
          </a:prstGeom>
          <a:solidFill>
            <a:srgbClr val="FFEAE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Data Domain</a:t>
            </a:r>
          </a:p>
        </p:txBody>
      </p:sp>
      <p:sp>
        <p:nvSpPr>
          <p:cNvPr id="87" name="Rectangle 86">
            <a:extLst>
              <a:ext uri="{FF2B5EF4-FFF2-40B4-BE49-F238E27FC236}">
                <a16:creationId xmlns:a16="http://schemas.microsoft.com/office/drawing/2014/main" id="{1755474F-14FD-54C2-0123-12C0F90DC3DA}"/>
              </a:ext>
            </a:extLst>
          </p:cNvPr>
          <p:cNvSpPr/>
          <p:nvPr/>
        </p:nvSpPr>
        <p:spPr>
          <a:xfrm>
            <a:off x="2217425" y="162530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a:ea typeface="+mn-ea"/>
                <a:cs typeface="+mn-cs"/>
              </a:rPr>
              <a:t>API Gateway</a:t>
            </a:r>
          </a:p>
        </p:txBody>
      </p:sp>
      <p:sp>
        <p:nvSpPr>
          <p:cNvPr id="88" name="Rectangle 87">
            <a:extLst>
              <a:ext uri="{FF2B5EF4-FFF2-40B4-BE49-F238E27FC236}">
                <a16:creationId xmlns:a16="http://schemas.microsoft.com/office/drawing/2014/main" id="{69B18175-EB20-1A50-3149-94144B0418AB}"/>
              </a:ext>
            </a:extLst>
          </p:cNvPr>
          <p:cNvSpPr/>
          <p:nvPr/>
        </p:nvSpPr>
        <p:spPr>
          <a:xfrm>
            <a:off x="2217424" y="117089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Internet Banking</a:t>
            </a:r>
          </a:p>
        </p:txBody>
      </p:sp>
      <p:sp>
        <p:nvSpPr>
          <p:cNvPr id="89" name="Rectangle 88">
            <a:extLst>
              <a:ext uri="{FF2B5EF4-FFF2-40B4-BE49-F238E27FC236}">
                <a16:creationId xmlns:a16="http://schemas.microsoft.com/office/drawing/2014/main" id="{6588EF7C-1B34-E866-1CEE-0A478E410B64}"/>
              </a:ext>
            </a:extLst>
          </p:cNvPr>
          <p:cNvSpPr/>
          <p:nvPr/>
        </p:nvSpPr>
        <p:spPr>
          <a:xfrm>
            <a:off x="285990" y="2106737"/>
            <a:ext cx="7596000" cy="2539512"/>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Data Pipeline Processing</a:t>
            </a:r>
          </a:p>
        </p:txBody>
      </p:sp>
      <p:sp>
        <p:nvSpPr>
          <p:cNvPr id="90" name="Rectangle 89">
            <a:extLst>
              <a:ext uri="{FF2B5EF4-FFF2-40B4-BE49-F238E27FC236}">
                <a16:creationId xmlns:a16="http://schemas.microsoft.com/office/drawing/2014/main" id="{208B2C03-A7A5-DFAA-F6BC-94872CA43A1C}"/>
              </a:ext>
            </a:extLst>
          </p:cNvPr>
          <p:cNvSpPr/>
          <p:nvPr/>
        </p:nvSpPr>
        <p:spPr>
          <a:xfrm>
            <a:off x="911471" y="162530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a:ea typeface="+mn-ea"/>
                <a:cs typeface="+mn-cs"/>
              </a:rPr>
              <a:t>Event Gateway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a:ea typeface="+mn-ea"/>
                <a:cs typeface="+mn-cs"/>
              </a:rPr>
              <a:t>(</a:t>
            </a:r>
            <a:r>
              <a:rPr kumimoji="0" lang="en-US" sz="800" b="0" i="0" u="none" strike="noStrike" kern="1200" cap="none" spc="0" normalizeH="0" baseline="0" noProof="0" err="1">
                <a:ln>
                  <a:noFill/>
                </a:ln>
                <a:solidFill>
                  <a:srgbClr val="000000"/>
                </a:solidFill>
                <a:effectLst/>
                <a:uLnTx/>
                <a:uFillTx/>
                <a:latin typeface="Graphik"/>
                <a:ea typeface="+mn-ea"/>
                <a:cs typeface="+mn-cs"/>
              </a:rPr>
              <a:t>WebSockets</a:t>
            </a:r>
            <a:r>
              <a:rPr kumimoji="0" lang="en-US" sz="800" b="0" i="0" u="none" strike="noStrike" kern="1200" cap="none" spc="0" normalizeH="0" baseline="0" noProof="0">
                <a:ln>
                  <a:noFill/>
                </a:ln>
                <a:solidFill>
                  <a:srgbClr val="000000"/>
                </a:solidFill>
                <a:effectLst/>
                <a:uLnTx/>
                <a:uFillTx/>
                <a:latin typeface="Graphik"/>
                <a:ea typeface="+mn-ea"/>
                <a:cs typeface="+mn-cs"/>
              </a:rPr>
              <a:t>)</a:t>
            </a:r>
          </a:p>
        </p:txBody>
      </p:sp>
      <p:cxnSp>
        <p:nvCxnSpPr>
          <p:cNvPr id="91" name="Connector: Elbow 90">
            <a:extLst>
              <a:ext uri="{FF2B5EF4-FFF2-40B4-BE49-F238E27FC236}">
                <a16:creationId xmlns:a16="http://schemas.microsoft.com/office/drawing/2014/main" id="{D6BB184B-9A2F-00C1-4A44-32AEC0281759}"/>
              </a:ext>
            </a:extLst>
          </p:cNvPr>
          <p:cNvCxnSpPr>
            <a:cxnSpLocks/>
            <a:stCxn id="90" idx="0"/>
            <a:endCxn id="88" idx="1"/>
          </p:cNvCxnSpPr>
          <p:nvPr/>
        </p:nvCxnSpPr>
        <p:spPr>
          <a:xfrm rot="5400000" flipH="1" flipV="1">
            <a:off x="1706513" y="1114392"/>
            <a:ext cx="332473" cy="689350"/>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92" name="Group 91">
            <a:extLst>
              <a:ext uri="{FF2B5EF4-FFF2-40B4-BE49-F238E27FC236}">
                <a16:creationId xmlns:a16="http://schemas.microsoft.com/office/drawing/2014/main" id="{6D965CC5-9BDB-E9AA-AA9A-1B58863CDA5F}"/>
              </a:ext>
            </a:extLst>
          </p:cNvPr>
          <p:cNvGrpSpPr/>
          <p:nvPr/>
        </p:nvGrpSpPr>
        <p:grpSpPr>
          <a:xfrm>
            <a:off x="6984612" y="4254944"/>
            <a:ext cx="612000" cy="180000"/>
            <a:chOff x="2461363" y="4801885"/>
            <a:chExt cx="1080000" cy="360000"/>
          </a:xfrm>
        </p:grpSpPr>
        <p:sp>
          <p:nvSpPr>
            <p:cNvPr id="93" name="Rectangle 92">
              <a:extLst>
                <a:ext uri="{FF2B5EF4-FFF2-40B4-BE49-F238E27FC236}">
                  <a16:creationId xmlns:a16="http://schemas.microsoft.com/office/drawing/2014/main" id="{D95405D8-3EE2-E78F-4069-910F8553B9A7}"/>
                </a:ext>
              </a:extLst>
            </p:cNvPr>
            <p:cNvSpPr/>
            <p:nvPr/>
          </p:nvSpPr>
          <p:spPr>
            <a:xfrm>
              <a:off x="2461363" y="4801885"/>
              <a:ext cx="1080000" cy="36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94" name="Picture 93">
              <a:extLst>
                <a:ext uri="{FF2B5EF4-FFF2-40B4-BE49-F238E27FC236}">
                  <a16:creationId xmlns:a16="http://schemas.microsoft.com/office/drawing/2014/main" id="{3B5E43F1-CBEE-9A48-784F-337E1B51CEFA}"/>
                </a:ext>
              </a:extLst>
            </p:cNvPr>
            <p:cNvPicPr>
              <a:picLocks noChangeAspect="1"/>
            </p:cNvPicPr>
            <p:nvPr/>
          </p:nvPicPr>
          <p:blipFill>
            <a:blip r:embed="rId2"/>
            <a:stretch>
              <a:fillRect/>
            </a:stretch>
          </p:blipFill>
          <p:spPr>
            <a:xfrm>
              <a:off x="2654651" y="4822215"/>
              <a:ext cx="693425" cy="319340"/>
            </a:xfrm>
            <a:prstGeom prst="rect">
              <a:avLst/>
            </a:prstGeom>
            <a:solidFill>
              <a:schemeClr val="bg1"/>
            </a:solidFill>
          </p:spPr>
        </p:pic>
      </p:grpSp>
      <p:grpSp>
        <p:nvGrpSpPr>
          <p:cNvPr id="95" name="Group 94">
            <a:extLst>
              <a:ext uri="{FF2B5EF4-FFF2-40B4-BE49-F238E27FC236}">
                <a16:creationId xmlns:a16="http://schemas.microsoft.com/office/drawing/2014/main" id="{828DFDB7-AAB5-8B33-4763-7F6947F9C3BD}"/>
              </a:ext>
            </a:extLst>
          </p:cNvPr>
          <p:cNvGrpSpPr/>
          <p:nvPr/>
        </p:nvGrpSpPr>
        <p:grpSpPr>
          <a:xfrm>
            <a:off x="6984612" y="4056564"/>
            <a:ext cx="612000" cy="180000"/>
            <a:chOff x="5725733" y="5189404"/>
            <a:chExt cx="1080000" cy="360000"/>
          </a:xfrm>
          <a:solidFill>
            <a:schemeClr val="bg1"/>
          </a:solidFill>
        </p:grpSpPr>
        <p:sp>
          <p:nvSpPr>
            <p:cNvPr id="96" name="Rectangle 95">
              <a:extLst>
                <a:ext uri="{FF2B5EF4-FFF2-40B4-BE49-F238E27FC236}">
                  <a16:creationId xmlns:a16="http://schemas.microsoft.com/office/drawing/2014/main" id="{F93B34CB-AB77-AB5A-B84F-3941419632D3}"/>
                </a:ext>
              </a:extLst>
            </p:cNvPr>
            <p:cNvSpPr/>
            <p:nvPr/>
          </p:nvSpPr>
          <p:spPr>
            <a:xfrm>
              <a:off x="5725733" y="5189404"/>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Confluent</a:t>
              </a:r>
            </a:p>
          </p:txBody>
        </p:sp>
        <p:pic>
          <p:nvPicPr>
            <p:cNvPr id="97" name="Picture 96">
              <a:extLst>
                <a:ext uri="{FF2B5EF4-FFF2-40B4-BE49-F238E27FC236}">
                  <a16:creationId xmlns:a16="http://schemas.microsoft.com/office/drawing/2014/main" id="{5BA0D11F-F10C-3BBA-BC6C-8F7405E2E76A}"/>
                </a:ext>
              </a:extLst>
            </p:cNvPr>
            <p:cNvPicPr>
              <a:picLocks noChangeAspect="1"/>
            </p:cNvPicPr>
            <p:nvPr/>
          </p:nvPicPr>
          <p:blipFill>
            <a:blip r:embed="rId3"/>
            <a:stretch>
              <a:fillRect/>
            </a:stretch>
          </p:blipFill>
          <p:spPr>
            <a:xfrm>
              <a:off x="5755534" y="5223097"/>
              <a:ext cx="1020399" cy="292615"/>
            </a:xfrm>
            <a:prstGeom prst="rect">
              <a:avLst/>
            </a:prstGeom>
            <a:grpFill/>
          </p:spPr>
        </p:pic>
      </p:grpSp>
      <p:sp>
        <p:nvSpPr>
          <p:cNvPr id="98" name="Rectangle 97">
            <a:extLst>
              <a:ext uri="{FF2B5EF4-FFF2-40B4-BE49-F238E27FC236}">
                <a16:creationId xmlns:a16="http://schemas.microsoft.com/office/drawing/2014/main" id="{E06E4E64-4A66-4A28-DB67-8554A68045D0}"/>
              </a:ext>
            </a:extLst>
          </p:cNvPr>
          <p:cNvSpPr/>
          <p:nvPr/>
        </p:nvSpPr>
        <p:spPr>
          <a:xfrm>
            <a:off x="873836" y="2430866"/>
            <a:ext cx="683991" cy="136990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Credit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Transfer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Service</a:t>
            </a:r>
          </a:p>
        </p:txBody>
      </p:sp>
      <p:cxnSp>
        <p:nvCxnSpPr>
          <p:cNvPr id="99" name="Connector: Elbow 98">
            <a:extLst>
              <a:ext uri="{FF2B5EF4-FFF2-40B4-BE49-F238E27FC236}">
                <a16:creationId xmlns:a16="http://schemas.microsoft.com/office/drawing/2014/main" id="{311BD16B-E9D6-CC7C-2E6E-0DC13AB835F6}"/>
              </a:ext>
            </a:extLst>
          </p:cNvPr>
          <p:cNvCxnSpPr>
            <a:cxnSpLocks/>
            <a:stCxn id="87" idx="2"/>
            <a:endCxn id="98" idx="0"/>
          </p:cNvCxnSpPr>
          <p:nvPr/>
        </p:nvCxnSpPr>
        <p:spPr>
          <a:xfrm rot="5400000">
            <a:off x="1744085" y="1340923"/>
            <a:ext cx="561690" cy="1618196"/>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0" name="Rectangle 99">
            <a:extLst>
              <a:ext uri="{FF2B5EF4-FFF2-40B4-BE49-F238E27FC236}">
                <a16:creationId xmlns:a16="http://schemas.microsoft.com/office/drawing/2014/main" id="{361A2086-8404-4552-A8BB-17B7AD15B9D6}"/>
              </a:ext>
            </a:extLst>
          </p:cNvPr>
          <p:cNvSpPr/>
          <p:nvPr/>
        </p:nvSpPr>
        <p:spPr>
          <a:xfrm>
            <a:off x="1508371" y="2514136"/>
            <a:ext cx="897295"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Account Validation</a:t>
            </a:r>
          </a:p>
        </p:txBody>
      </p:sp>
      <p:sp>
        <p:nvSpPr>
          <p:cNvPr id="101" name="Rectangle 100">
            <a:extLst>
              <a:ext uri="{FF2B5EF4-FFF2-40B4-BE49-F238E27FC236}">
                <a16:creationId xmlns:a16="http://schemas.microsoft.com/office/drawing/2014/main" id="{582B74FD-FA9F-DEB9-EF86-593C11A7A96C}"/>
              </a:ext>
            </a:extLst>
          </p:cNvPr>
          <p:cNvSpPr/>
          <p:nvPr/>
        </p:nvSpPr>
        <p:spPr>
          <a:xfrm>
            <a:off x="1508371" y="2744539"/>
            <a:ext cx="897295"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Balance Check</a:t>
            </a:r>
          </a:p>
        </p:txBody>
      </p:sp>
      <p:sp>
        <p:nvSpPr>
          <p:cNvPr id="102" name="Rectangle 101">
            <a:extLst>
              <a:ext uri="{FF2B5EF4-FFF2-40B4-BE49-F238E27FC236}">
                <a16:creationId xmlns:a16="http://schemas.microsoft.com/office/drawing/2014/main" id="{36FADDA8-1973-8957-4C09-9FE9AC96B2EB}"/>
              </a:ext>
            </a:extLst>
          </p:cNvPr>
          <p:cNvSpPr/>
          <p:nvPr/>
        </p:nvSpPr>
        <p:spPr>
          <a:xfrm>
            <a:off x="1508371" y="3435749"/>
            <a:ext cx="897295"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Debit/Credit</a:t>
            </a:r>
          </a:p>
        </p:txBody>
      </p:sp>
      <p:sp>
        <p:nvSpPr>
          <p:cNvPr id="103" name="Can 172">
            <a:extLst>
              <a:ext uri="{FF2B5EF4-FFF2-40B4-BE49-F238E27FC236}">
                <a16:creationId xmlns:a16="http://schemas.microsoft.com/office/drawing/2014/main" id="{3CF6574C-5A0F-72C2-3359-5B6BD4975FA0}"/>
              </a:ext>
            </a:extLst>
          </p:cNvPr>
          <p:cNvSpPr/>
          <p:nvPr/>
        </p:nvSpPr>
        <p:spPr bwMode="auto">
          <a:xfrm rot="5400000">
            <a:off x="3245894" y="2950830"/>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Postings</a:t>
            </a:r>
          </a:p>
        </p:txBody>
      </p:sp>
      <p:cxnSp>
        <p:nvCxnSpPr>
          <p:cNvPr id="104" name="Connector: Elbow 103">
            <a:extLst>
              <a:ext uri="{FF2B5EF4-FFF2-40B4-BE49-F238E27FC236}">
                <a16:creationId xmlns:a16="http://schemas.microsoft.com/office/drawing/2014/main" id="{2573E048-90E7-E2EF-BB96-C6FA22CFF21D}"/>
              </a:ext>
            </a:extLst>
          </p:cNvPr>
          <p:cNvCxnSpPr>
            <a:cxnSpLocks/>
            <a:stCxn id="102" idx="3"/>
            <a:endCxn id="103" idx="3"/>
          </p:cNvCxnSpPr>
          <p:nvPr/>
        </p:nvCxnSpPr>
        <p:spPr>
          <a:xfrm>
            <a:off x="2405666" y="3525749"/>
            <a:ext cx="354228" cy="1081"/>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05" name="Rectangle 104">
            <a:extLst>
              <a:ext uri="{FF2B5EF4-FFF2-40B4-BE49-F238E27FC236}">
                <a16:creationId xmlns:a16="http://schemas.microsoft.com/office/drawing/2014/main" id="{28FCBCF9-D80F-39FF-67B1-E1B7ADAFEADF}"/>
              </a:ext>
            </a:extLst>
          </p:cNvPr>
          <p:cNvSpPr/>
          <p:nvPr/>
        </p:nvSpPr>
        <p:spPr>
          <a:xfrm>
            <a:off x="4256624" y="3432606"/>
            <a:ext cx="1080000" cy="18000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Accounting</a:t>
            </a:r>
          </a:p>
        </p:txBody>
      </p:sp>
      <p:cxnSp>
        <p:nvCxnSpPr>
          <p:cNvPr id="106" name="Connector: Elbow 105">
            <a:extLst>
              <a:ext uri="{FF2B5EF4-FFF2-40B4-BE49-F238E27FC236}">
                <a16:creationId xmlns:a16="http://schemas.microsoft.com/office/drawing/2014/main" id="{F671778E-3F93-7BD3-543C-1EACEAF5C6C7}"/>
              </a:ext>
            </a:extLst>
          </p:cNvPr>
          <p:cNvCxnSpPr>
            <a:cxnSpLocks/>
            <a:stCxn id="107" idx="3"/>
            <a:endCxn id="108" idx="3"/>
          </p:cNvCxnSpPr>
          <p:nvPr/>
        </p:nvCxnSpPr>
        <p:spPr>
          <a:xfrm flipV="1">
            <a:off x="2405666" y="3141051"/>
            <a:ext cx="354228" cy="154294"/>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07" name="Rectangle 106">
            <a:extLst>
              <a:ext uri="{FF2B5EF4-FFF2-40B4-BE49-F238E27FC236}">
                <a16:creationId xmlns:a16="http://schemas.microsoft.com/office/drawing/2014/main" id="{6AFE4359-5C79-EDE0-091F-8E058D00C45F}"/>
              </a:ext>
            </a:extLst>
          </p:cNvPr>
          <p:cNvSpPr/>
          <p:nvPr/>
        </p:nvSpPr>
        <p:spPr>
          <a:xfrm>
            <a:off x="1508371" y="3205345"/>
            <a:ext cx="897295"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Request Payment</a:t>
            </a:r>
          </a:p>
        </p:txBody>
      </p:sp>
      <p:sp>
        <p:nvSpPr>
          <p:cNvPr id="108" name="Can 172">
            <a:extLst>
              <a:ext uri="{FF2B5EF4-FFF2-40B4-BE49-F238E27FC236}">
                <a16:creationId xmlns:a16="http://schemas.microsoft.com/office/drawing/2014/main" id="{A10EAB24-CC38-D3DB-8FA6-28677ED8838E}"/>
              </a:ext>
            </a:extLst>
          </p:cNvPr>
          <p:cNvSpPr/>
          <p:nvPr/>
        </p:nvSpPr>
        <p:spPr bwMode="auto">
          <a:xfrm rot="5400000">
            <a:off x="3245894" y="2565051"/>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Credit Transfers</a:t>
            </a:r>
          </a:p>
        </p:txBody>
      </p:sp>
      <p:sp>
        <p:nvSpPr>
          <p:cNvPr id="109" name="Rectangle 108">
            <a:extLst>
              <a:ext uri="{FF2B5EF4-FFF2-40B4-BE49-F238E27FC236}">
                <a16:creationId xmlns:a16="http://schemas.microsoft.com/office/drawing/2014/main" id="{0503BBC6-A998-01F4-65B5-BCEE21671F79}"/>
              </a:ext>
            </a:extLst>
          </p:cNvPr>
          <p:cNvSpPr/>
          <p:nvPr/>
        </p:nvSpPr>
        <p:spPr>
          <a:xfrm>
            <a:off x="4231556" y="3167639"/>
            <a:ext cx="1080000" cy="18000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Process Payment Order</a:t>
            </a:r>
          </a:p>
        </p:txBody>
      </p:sp>
      <p:sp>
        <p:nvSpPr>
          <p:cNvPr id="110" name="Rectangle 109">
            <a:extLst>
              <a:ext uri="{FF2B5EF4-FFF2-40B4-BE49-F238E27FC236}">
                <a16:creationId xmlns:a16="http://schemas.microsoft.com/office/drawing/2014/main" id="{C87CD91D-31E8-B81A-993F-06EB1030E14A}"/>
              </a:ext>
            </a:extLst>
          </p:cNvPr>
          <p:cNvSpPr/>
          <p:nvPr/>
        </p:nvSpPr>
        <p:spPr>
          <a:xfrm>
            <a:off x="1508371" y="2974942"/>
            <a:ext cx="897295"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Reserve Funds</a:t>
            </a:r>
          </a:p>
        </p:txBody>
      </p:sp>
      <p:cxnSp>
        <p:nvCxnSpPr>
          <p:cNvPr id="111" name="Connector: Elbow 110">
            <a:extLst>
              <a:ext uri="{FF2B5EF4-FFF2-40B4-BE49-F238E27FC236}">
                <a16:creationId xmlns:a16="http://schemas.microsoft.com/office/drawing/2014/main" id="{95A53E9B-C317-07DD-A18A-08C3AC23B7D7}"/>
              </a:ext>
            </a:extLst>
          </p:cNvPr>
          <p:cNvCxnSpPr>
            <a:cxnSpLocks/>
            <a:stCxn id="110" idx="3"/>
            <a:endCxn id="112" idx="3"/>
          </p:cNvCxnSpPr>
          <p:nvPr/>
        </p:nvCxnSpPr>
        <p:spPr>
          <a:xfrm flipV="1">
            <a:off x="2405666" y="2584053"/>
            <a:ext cx="354228" cy="480889"/>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2" name="Can 172">
            <a:extLst>
              <a:ext uri="{FF2B5EF4-FFF2-40B4-BE49-F238E27FC236}">
                <a16:creationId xmlns:a16="http://schemas.microsoft.com/office/drawing/2014/main" id="{3F2C9DA8-5E94-88B4-5CFF-36404BE9F147}"/>
              </a:ext>
            </a:extLst>
          </p:cNvPr>
          <p:cNvSpPr/>
          <p:nvPr/>
        </p:nvSpPr>
        <p:spPr bwMode="auto">
          <a:xfrm rot="5400000">
            <a:off x="3245894" y="2008053"/>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Liquidity Risk</a:t>
            </a:r>
          </a:p>
        </p:txBody>
      </p:sp>
      <p:sp>
        <p:nvSpPr>
          <p:cNvPr id="113" name="Rectangle 112">
            <a:extLst>
              <a:ext uri="{FF2B5EF4-FFF2-40B4-BE49-F238E27FC236}">
                <a16:creationId xmlns:a16="http://schemas.microsoft.com/office/drawing/2014/main" id="{E2D48233-064E-89F4-9D41-D556093E42B9}"/>
              </a:ext>
            </a:extLst>
          </p:cNvPr>
          <p:cNvSpPr/>
          <p:nvPr/>
        </p:nvSpPr>
        <p:spPr>
          <a:xfrm>
            <a:off x="4222573" y="2494052"/>
            <a:ext cx="1080000" cy="18000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Check Liquidity</a:t>
            </a:r>
          </a:p>
        </p:txBody>
      </p:sp>
      <p:cxnSp>
        <p:nvCxnSpPr>
          <p:cNvPr id="114" name="Straight Arrow Connector 113">
            <a:extLst>
              <a:ext uri="{FF2B5EF4-FFF2-40B4-BE49-F238E27FC236}">
                <a16:creationId xmlns:a16="http://schemas.microsoft.com/office/drawing/2014/main" id="{1532465E-0993-CFE7-41D3-4610A41D419D}"/>
              </a:ext>
            </a:extLst>
          </p:cNvPr>
          <p:cNvCxnSpPr>
            <a:cxnSpLocks/>
            <a:stCxn id="112" idx="1"/>
            <a:endCxn id="113" idx="1"/>
          </p:cNvCxnSpPr>
          <p:nvPr/>
        </p:nvCxnSpPr>
        <p:spPr>
          <a:xfrm>
            <a:off x="3911894" y="2584053"/>
            <a:ext cx="310679" cy="0"/>
          </a:xfrm>
          <a:prstGeom prst="straightConnector1">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5" name="Can 172">
            <a:extLst>
              <a:ext uri="{FF2B5EF4-FFF2-40B4-BE49-F238E27FC236}">
                <a16:creationId xmlns:a16="http://schemas.microsoft.com/office/drawing/2014/main" id="{312CBED0-CD63-DDDF-ECDC-9AC52A7A0936}"/>
              </a:ext>
            </a:extLst>
          </p:cNvPr>
          <p:cNvSpPr/>
          <p:nvPr/>
        </p:nvSpPr>
        <p:spPr bwMode="auto">
          <a:xfrm rot="5400000">
            <a:off x="6229956" y="2189459"/>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Business Alerts</a:t>
            </a:r>
          </a:p>
        </p:txBody>
      </p:sp>
      <p:sp>
        <p:nvSpPr>
          <p:cNvPr id="116" name="Flowchart: Magnetic Disk 115">
            <a:extLst>
              <a:ext uri="{FF2B5EF4-FFF2-40B4-BE49-F238E27FC236}">
                <a16:creationId xmlns:a16="http://schemas.microsoft.com/office/drawing/2014/main" id="{193D3D3E-D6F0-4FEB-ED9D-CCAA57B2589D}"/>
              </a:ext>
            </a:extLst>
          </p:cNvPr>
          <p:cNvSpPr/>
          <p:nvPr/>
        </p:nvSpPr>
        <p:spPr>
          <a:xfrm>
            <a:off x="7206506" y="2511396"/>
            <a:ext cx="540776" cy="507834"/>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Business Alerts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Database</a:t>
            </a:r>
          </a:p>
        </p:txBody>
      </p:sp>
      <p:cxnSp>
        <p:nvCxnSpPr>
          <p:cNvPr id="117" name="Connector: Elbow 116">
            <a:extLst>
              <a:ext uri="{FF2B5EF4-FFF2-40B4-BE49-F238E27FC236}">
                <a16:creationId xmlns:a16="http://schemas.microsoft.com/office/drawing/2014/main" id="{A3D2DA3C-822C-77F8-8879-6DE88FD737A8}"/>
              </a:ext>
            </a:extLst>
          </p:cNvPr>
          <p:cNvCxnSpPr>
            <a:cxnSpLocks/>
            <a:stCxn id="113" idx="3"/>
            <a:endCxn id="115" idx="3"/>
          </p:cNvCxnSpPr>
          <p:nvPr/>
        </p:nvCxnSpPr>
        <p:spPr>
          <a:xfrm>
            <a:off x="5302573" y="2584053"/>
            <a:ext cx="441383" cy="181406"/>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0" name="Rectangle 119">
            <a:extLst>
              <a:ext uri="{FF2B5EF4-FFF2-40B4-BE49-F238E27FC236}">
                <a16:creationId xmlns:a16="http://schemas.microsoft.com/office/drawing/2014/main" id="{F63FD311-9BB2-8198-FA08-2924F4812550}"/>
              </a:ext>
            </a:extLst>
          </p:cNvPr>
          <p:cNvSpPr/>
          <p:nvPr/>
        </p:nvSpPr>
        <p:spPr>
          <a:xfrm>
            <a:off x="4231556" y="2928547"/>
            <a:ext cx="1080000" cy="18000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AML Check</a:t>
            </a:r>
          </a:p>
        </p:txBody>
      </p:sp>
      <p:cxnSp>
        <p:nvCxnSpPr>
          <p:cNvPr id="121" name="Connector: Elbow 120">
            <a:extLst>
              <a:ext uri="{FF2B5EF4-FFF2-40B4-BE49-F238E27FC236}">
                <a16:creationId xmlns:a16="http://schemas.microsoft.com/office/drawing/2014/main" id="{20649219-66A8-731E-C748-2FF6CC9B88F7}"/>
              </a:ext>
            </a:extLst>
          </p:cNvPr>
          <p:cNvCxnSpPr>
            <a:cxnSpLocks/>
            <a:stCxn id="108" idx="1"/>
            <a:endCxn id="120" idx="1"/>
          </p:cNvCxnSpPr>
          <p:nvPr/>
        </p:nvCxnSpPr>
        <p:spPr>
          <a:xfrm flipV="1">
            <a:off x="3911894" y="3018548"/>
            <a:ext cx="319662" cy="122503"/>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2" name="Connector: Elbow 121">
            <a:extLst>
              <a:ext uri="{FF2B5EF4-FFF2-40B4-BE49-F238E27FC236}">
                <a16:creationId xmlns:a16="http://schemas.microsoft.com/office/drawing/2014/main" id="{5F9C1161-894D-225D-8A26-A93BFBA52EA7}"/>
              </a:ext>
            </a:extLst>
          </p:cNvPr>
          <p:cNvCxnSpPr>
            <a:cxnSpLocks/>
            <a:stCxn id="108" idx="1"/>
            <a:endCxn id="109" idx="1"/>
          </p:cNvCxnSpPr>
          <p:nvPr/>
        </p:nvCxnSpPr>
        <p:spPr>
          <a:xfrm>
            <a:off x="3911894" y="3141051"/>
            <a:ext cx="319662" cy="116589"/>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3" name="Connector: Elbow 122">
            <a:extLst>
              <a:ext uri="{FF2B5EF4-FFF2-40B4-BE49-F238E27FC236}">
                <a16:creationId xmlns:a16="http://schemas.microsoft.com/office/drawing/2014/main" id="{FA2D2629-B452-CCF7-5CF3-5258D5E73420}"/>
              </a:ext>
            </a:extLst>
          </p:cNvPr>
          <p:cNvCxnSpPr>
            <a:cxnSpLocks/>
            <a:stCxn id="103" idx="1"/>
            <a:endCxn id="105" idx="1"/>
          </p:cNvCxnSpPr>
          <p:nvPr/>
        </p:nvCxnSpPr>
        <p:spPr>
          <a:xfrm flipV="1">
            <a:off x="3911894" y="3522607"/>
            <a:ext cx="344730" cy="4223"/>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4" name="Connector: Elbow 123">
            <a:extLst>
              <a:ext uri="{FF2B5EF4-FFF2-40B4-BE49-F238E27FC236}">
                <a16:creationId xmlns:a16="http://schemas.microsoft.com/office/drawing/2014/main" id="{0D4B76CC-012A-1968-B1E5-BB0F5C2DF89B}"/>
              </a:ext>
            </a:extLst>
          </p:cNvPr>
          <p:cNvCxnSpPr>
            <a:cxnSpLocks/>
            <a:stCxn id="120" idx="3"/>
            <a:endCxn id="115" idx="3"/>
          </p:cNvCxnSpPr>
          <p:nvPr/>
        </p:nvCxnSpPr>
        <p:spPr>
          <a:xfrm flipV="1">
            <a:off x="5311556" y="2765459"/>
            <a:ext cx="432400" cy="253089"/>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3C0F8247-CE22-B25E-6069-1EF8DAB74DE4}"/>
              </a:ext>
            </a:extLst>
          </p:cNvPr>
          <p:cNvCxnSpPr>
            <a:cxnSpLocks/>
            <a:stCxn id="115" idx="1"/>
            <a:endCxn id="116" idx="2"/>
          </p:cNvCxnSpPr>
          <p:nvPr/>
        </p:nvCxnSpPr>
        <p:spPr>
          <a:xfrm flipV="1">
            <a:off x="6895956" y="2765313"/>
            <a:ext cx="310550" cy="146"/>
          </a:xfrm>
          <a:prstGeom prst="straightConnector1">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6" name="Flowchart: Magnetic Disk 125">
            <a:extLst>
              <a:ext uri="{FF2B5EF4-FFF2-40B4-BE49-F238E27FC236}">
                <a16:creationId xmlns:a16="http://schemas.microsoft.com/office/drawing/2014/main" id="{3767FD09-31FD-C456-09FB-F746A975CB0E}"/>
              </a:ext>
            </a:extLst>
          </p:cNvPr>
          <p:cNvSpPr/>
          <p:nvPr/>
        </p:nvSpPr>
        <p:spPr>
          <a:xfrm>
            <a:off x="7214661" y="3344734"/>
            <a:ext cx="540776" cy="349920"/>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GL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Database</a:t>
            </a:r>
          </a:p>
        </p:txBody>
      </p:sp>
      <p:cxnSp>
        <p:nvCxnSpPr>
          <p:cNvPr id="127" name="Connector: Elbow 126">
            <a:extLst>
              <a:ext uri="{FF2B5EF4-FFF2-40B4-BE49-F238E27FC236}">
                <a16:creationId xmlns:a16="http://schemas.microsoft.com/office/drawing/2014/main" id="{B42F6F20-84F3-A3F7-CBF7-52242EAA6CF7}"/>
              </a:ext>
            </a:extLst>
          </p:cNvPr>
          <p:cNvCxnSpPr>
            <a:cxnSpLocks/>
            <a:stCxn id="105" idx="3"/>
            <a:endCxn id="128" idx="3"/>
          </p:cNvCxnSpPr>
          <p:nvPr/>
        </p:nvCxnSpPr>
        <p:spPr>
          <a:xfrm flipV="1">
            <a:off x="5336624" y="3518226"/>
            <a:ext cx="407332" cy="4381"/>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8" name="Can 172">
            <a:extLst>
              <a:ext uri="{FF2B5EF4-FFF2-40B4-BE49-F238E27FC236}">
                <a16:creationId xmlns:a16="http://schemas.microsoft.com/office/drawing/2014/main" id="{C55AFFD2-4B39-4FFE-A2C3-F30B63F3C92A}"/>
              </a:ext>
            </a:extLst>
          </p:cNvPr>
          <p:cNvSpPr/>
          <p:nvPr/>
        </p:nvSpPr>
        <p:spPr bwMode="auto">
          <a:xfrm rot="5400000">
            <a:off x="6229956" y="2942226"/>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GL</a:t>
            </a:r>
          </a:p>
        </p:txBody>
      </p:sp>
      <p:sp>
        <p:nvSpPr>
          <p:cNvPr id="129" name="Flowchart: Magnetic Disk 128">
            <a:extLst>
              <a:ext uri="{FF2B5EF4-FFF2-40B4-BE49-F238E27FC236}">
                <a16:creationId xmlns:a16="http://schemas.microsoft.com/office/drawing/2014/main" id="{F2164993-3CAB-9F71-AE0B-FF930CD5AA6C}"/>
              </a:ext>
            </a:extLst>
          </p:cNvPr>
          <p:cNvSpPr/>
          <p:nvPr/>
        </p:nvSpPr>
        <p:spPr>
          <a:xfrm>
            <a:off x="1642691" y="3837139"/>
            <a:ext cx="628654" cy="430013"/>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Accounts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Database</a:t>
            </a:r>
          </a:p>
        </p:txBody>
      </p:sp>
      <p:cxnSp>
        <p:nvCxnSpPr>
          <p:cNvPr id="130" name="Straight Arrow Connector 129">
            <a:extLst>
              <a:ext uri="{FF2B5EF4-FFF2-40B4-BE49-F238E27FC236}">
                <a16:creationId xmlns:a16="http://schemas.microsoft.com/office/drawing/2014/main" id="{38C5A0E7-36F6-32BF-3216-3E1673CAB869}"/>
              </a:ext>
            </a:extLst>
          </p:cNvPr>
          <p:cNvCxnSpPr>
            <a:cxnSpLocks/>
            <a:stCxn id="102" idx="2"/>
            <a:endCxn id="129" idx="1"/>
          </p:cNvCxnSpPr>
          <p:nvPr/>
        </p:nvCxnSpPr>
        <p:spPr>
          <a:xfrm flipH="1">
            <a:off x="1957018" y="3615749"/>
            <a:ext cx="1" cy="22139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C0042A39-BC3D-9E31-CD28-4907E4F0FAA7}"/>
              </a:ext>
            </a:extLst>
          </p:cNvPr>
          <p:cNvCxnSpPr>
            <a:cxnSpLocks/>
            <a:stCxn id="128" idx="1"/>
            <a:endCxn id="126" idx="2"/>
          </p:cNvCxnSpPr>
          <p:nvPr/>
        </p:nvCxnSpPr>
        <p:spPr>
          <a:xfrm>
            <a:off x="6895956" y="3518226"/>
            <a:ext cx="318705" cy="1468"/>
          </a:xfrm>
          <a:prstGeom prst="straightConnector1">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32" name="Rectangle 131">
            <a:extLst>
              <a:ext uri="{FF2B5EF4-FFF2-40B4-BE49-F238E27FC236}">
                <a16:creationId xmlns:a16="http://schemas.microsoft.com/office/drawing/2014/main" id="{9409727C-023B-B9E0-C775-3A6777C34C06}"/>
              </a:ext>
            </a:extLst>
          </p:cNvPr>
          <p:cNvSpPr/>
          <p:nvPr/>
        </p:nvSpPr>
        <p:spPr>
          <a:xfrm>
            <a:off x="4442738" y="117089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Backoffice Portal</a:t>
            </a:r>
          </a:p>
        </p:txBody>
      </p:sp>
      <p:sp>
        <p:nvSpPr>
          <p:cNvPr id="133" name="Rectangle 132">
            <a:extLst>
              <a:ext uri="{FF2B5EF4-FFF2-40B4-BE49-F238E27FC236}">
                <a16:creationId xmlns:a16="http://schemas.microsoft.com/office/drawing/2014/main" id="{5CCC8C0F-589F-7487-7373-DAF544A851F2}"/>
              </a:ext>
            </a:extLst>
          </p:cNvPr>
          <p:cNvSpPr/>
          <p:nvPr/>
        </p:nvSpPr>
        <p:spPr>
          <a:xfrm>
            <a:off x="4442739" y="162530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a:ea typeface="+mn-ea"/>
                <a:cs typeface="+mn-cs"/>
              </a:rPr>
              <a:t>API Gateway</a:t>
            </a:r>
          </a:p>
        </p:txBody>
      </p:sp>
      <p:sp>
        <p:nvSpPr>
          <p:cNvPr id="134" name="Rectangle 133">
            <a:extLst>
              <a:ext uri="{FF2B5EF4-FFF2-40B4-BE49-F238E27FC236}">
                <a16:creationId xmlns:a16="http://schemas.microsoft.com/office/drawing/2014/main" id="{30B9CB03-97DF-DD7A-FFBA-BF4F294F8534}"/>
              </a:ext>
            </a:extLst>
          </p:cNvPr>
          <p:cNvSpPr/>
          <p:nvPr/>
        </p:nvSpPr>
        <p:spPr>
          <a:xfrm>
            <a:off x="5887452" y="162530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a:ea typeface="+mn-ea"/>
                <a:cs typeface="+mn-cs"/>
              </a:rPr>
              <a:t>Event Gateway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a:ea typeface="+mn-ea"/>
                <a:cs typeface="+mn-cs"/>
              </a:rPr>
              <a:t>(</a:t>
            </a:r>
            <a:r>
              <a:rPr kumimoji="0" lang="en-US" sz="800" b="0" i="0" u="none" strike="noStrike" kern="1200" cap="none" spc="0" normalizeH="0" baseline="0" noProof="0" err="1">
                <a:ln>
                  <a:noFill/>
                </a:ln>
                <a:solidFill>
                  <a:srgbClr val="000000"/>
                </a:solidFill>
                <a:effectLst/>
                <a:uLnTx/>
                <a:uFillTx/>
                <a:latin typeface="Graphik"/>
                <a:ea typeface="+mn-ea"/>
                <a:cs typeface="+mn-cs"/>
              </a:rPr>
              <a:t>WebSockets</a:t>
            </a:r>
            <a:r>
              <a:rPr kumimoji="0" lang="en-US" sz="800" b="0" i="0" u="none" strike="noStrike" kern="1200" cap="none" spc="0" normalizeH="0" baseline="0" noProof="0">
                <a:ln>
                  <a:noFill/>
                </a:ln>
                <a:solidFill>
                  <a:srgbClr val="000000"/>
                </a:solidFill>
                <a:effectLst/>
                <a:uLnTx/>
                <a:uFillTx/>
                <a:latin typeface="Graphik"/>
                <a:ea typeface="+mn-ea"/>
                <a:cs typeface="+mn-cs"/>
              </a:rPr>
              <a:t>)</a:t>
            </a:r>
          </a:p>
        </p:txBody>
      </p:sp>
      <p:sp>
        <p:nvSpPr>
          <p:cNvPr id="135" name="Can 172">
            <a:extLst>
              <a:ext uri="{FF2B5EF4-FFF2-40B4-BE49-F238E27FC236}">
                <a16:creationId xmlns:a16="http://schemas.microsoft.com/office/drawing/2014/main" id="{A4FA963E-84F7-4719-E1DF-361EF0EA4C4D}"/>
              </a:ext>
            </a:extLst>
          </p:cNvPr>
          <p:cNvSpPr/>
          <p:nvPr/>
        </p:nvSpPr>
        <p:spPr bwMode="auto">
          <a:xfrm rot="5400000">
            <a:off x="3245894" y="3758351"/>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Account Balance</a:t>
            </a:r>
          </a:p>
        </p:txBody>
      </p:sp>
      <p:sp>
        <p:nvSpPr>
          <p:cNvPr id="136" name="Rectangle 135">
            <a:extLst>
              <a:ext uri="{FF2B5EF4-FFF2-40B4-BE49-F238E27FC236}">
                <a16:creationId xmlns:a16="http://schemas.microsoft.com/office/drawing/2014/main" id="{FF5C0287-795C-B4C1-3C6F-C6E7A1A192F0}"/>
              </a:ext>
            </a:extLst>
          </p:cNvPr>
          <p:cNvSpPr/>
          <p:nvPr/>
        </p:nvSpPr>
        <p:spPr>
          <a:xfrm>
            <a:off x="1779681" y="4267152"/>
            <a:ext cx="301657" cy="14430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CDC</a:t>
            </a:r>
          </a:p>
        </p:txBody>
      </p:sp>
      <p:sp>
        <p:nvSpPr>
          <p:cNvPr id="137" name="Flowchart: Magnetic Disk 136">
            <a:extLst>
              <a:ext uri="{FF2B5EF4-FFF2-40B4-BE49-F238E27FC236}">
                <a16:creationId xmlns:a16="http://schemas.microsoft.com/office/drawing/2014/main" id="{8C496DDA-9EBE-7DE2-9451-B8293FBD929F}"/>
              </a:ext>
            </a:extLst>
          </p:cNvPr>
          <p:cNvSpPr/>
          <p:nvPr/>
        </p:nvSpPr>
        <p:spPr>
          <a:xfrm>
            <a:off x="2879311" y="5057091"/>
            <a:ext cx="890327" cy="503599"/>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Graphik"/>
                <a:ea typeface="+mn-ea"/>
                <a:cs typeface="+mn-cs"/>
              </a:rPr>
              <a:t>Data Warehouse</a:t>
            </a:r>
          </a:p>
        </p:txBody>
      </p:sp>
      <p:sp>
        <p:nvSpPr>
          <p:cNvPr id="138" name="Rectangle 137">
            <a:extLst>
              <a:ext uri="{FF2B5EF4-FFF2-40B4-BE49-F238E27FC236}">
                <a16:creationId xmlns:a16="http://schemas.microsoft.com/office/drawing/2014/main" id="{2B632C78-AEC4-A9AB-897C-7A0D3785713D}"/>
              </a:ext>
            </a:extLst>
          </p:cNvPr>
          <p:cNvSpPr/>
          <p:nvPr/>
        </p:nvSpPr>
        <p:spPr>
          <a:xfrm>
            <a:off x="1557827" y="5208270"/>
            <a:ext cx="1080000" cy="18000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BI/ML/AI Processes</a:t>
            </a:r>
          </a:p>
        </p:txBody>
      </p:sp>
      <p:cxnSp>
        <p:nvCxnSpPr>
          <p:cNvPr id="139" name="Straight Arrow Connector 138">
            <a:extLst>
              <a:ext uri="{FF2B5EF4-FFF2-40B4-BE49-F238E27FC236}">
                <a16:creationId xmlns:a16="http://schemas.microsoft.com/office/drawing/2014/main" id="{044309A4-2FAB-3B8D-C4D1-CEA205968F8C}"/>
              </a:ext>
            </a:extLst>
          </p:cNvPr>
          <p:cNvCxnSpPr>
            <a:cxnSpLocks/>
            <a:stCxn id="136" idx="3"/>
            <a:endCxn id="135" idx="3"/>
          </p:cNvCxnSpPr>
          <p:nvPr/>
        </p:nvCxnSpPr>
        <p:spPr>
          <a:xfrm flipV="1">
            <a:off x="2081338" y="4334351"/>
            <a:ext cx="678556" cy="4954"/>
          </a:xfrm>
          <a:prstGeom prst="straightConnector1">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58A6E818-6251-DC30-D9A0-79E79B5336DF}"/>
              </a:ext>
            </a:extLst>
          </p:cNvPr>
          <p:cNvCxnSpPr>
            <a:cxnSpLocks/>
            <a:stCxn id="135" idx="4"/>
            <a:endCxn id="137" idx="1"/>
          </p:cNvCxnSpPr>
          <p:nvPr/>
        </p:nvCxnSpPr>
        <p:spPr>
          <a:xfrm flipH="1">
            <a:off x="3324475" y="4424351"/>
            <a:ext cx="11419" cy="63274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a16="http://schemas.microsoft.com/office/drawing/2014/main" id="{A61F30B1-FC22-C1C2-C235-760195596A6F}"/>
              </a:ext>
            </a:extLst>
          </p:cNvPr>
          <p:cNvCxnSpPr>
            <a:cxnSpLocks/>
            <a:stCxn id="137" idx="2"/>
            <a:endCxn id="138" idx="3"/>
          </p:cNvCxnSpPr>
          <p:nvPr/>
        </p:nvCxnSpPr>
        <p:spPr>
          <a:xfrm flipH="1" flipV="1">
            <a:off x="2637827" y="5298271"/>
            <a:ext cx="241484" cy="1062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2" name="Can 172">
            <a:extLst>
              <a:ext uri="{FF2B5EF4-FFF2-40B4-BE49-F238E27FC236}">
                <a16:creationId xmlns:a16="http://schemas.microsoft.com/office/drawing/2014/main" id="{D16DCA3F-5AAB-8F10-312A-07556A32896B}"/>
              </a:ext>
            </a:extLst>
          </p:cNvPr>
          <p:cNvSpPr/>
          <p:nvPr/>
        </p:nvSpPr>
        <p:spPr bwMode="auto">
          <a:xfrm rot="5400000">
            <a:off x="911959" y="3849320"/>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Commercial Leads</a:t>
            </a:r>
          </a:p>
        </p:txBody>
      </p:sp>
      <p:cxnSp>
        <p:nvCxnSpPr>
          <p:cNvPr id="143" name="Connector: Elbow 142">
            <a:extLst>
              <a:ext uri="{FF2B5EF4-FFF2-40B4-BE49-F238E27FC236}">
                <a16:creationId xmlns:a16="http://schemas.microsoft.com/office/drawing/2014/main" id="{8382768C-6D9D-F39C-9385-10E4BE6D9746}"/>
              </a:ext>
            </a:extLst>
          </p:cNvPr>
          <p:cNvCxnSpPr>
            <a:cxnSpLocks/>
            <a:stCxn id="142" idx="3"/>
            <a:endCxn id="90" idx="1"/>
          </p:cNvCxnSpPr>
          <p:nvPr/>
        </p:nvCxnSpPr>
        <p:spPr>
          <a:xfrm rot="10800000" flipH="1">
            <a:off x="425959" y="1747240"/>
            <a:ext cx="485512" cy="2678080"/>
          </a:xfrm>
          <a:prstGeom prst="bentConnector3">
            <a:avLst>
              <a:gd name="adj1" fmla="val -6329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4" name="Connector: Elbow 143">
            <a:extLst>
              <a:ext uri="{FF2B5EF4-FFF2-40B4-BE49-F238E27FC236}">
                <a16:creationId xmlns:a16="http://schemas.microsoft.com/office/drawing/2014/main" id="{A64D5B93-BE05-E7EA-ADCA-7508D5807BAF}"/>
              </a:ext>
            </a:extLst>
          </p:cNvPr>
          <p:cNvCxnSpPr>
            <a:cxnSpLocks/>
            <a:stCxn id="116" idx="1"/>
            <a:endCxn id="145" idx="2"/>
          </p:cNvCxnSpPr>
          <p:nvPr/>
        </p:nvCxnSpPr>
        <p:spPr>
          <a:xfrm rot="16200000" flipV="1">
            <a:off x="6872220" y="1906722"/>
            <a:ext cx="177067" cy="103228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5" name="Rectangle 144">
            <a:extLst>
              <a:ext uri="{FF2B5EF4-FFF2-40B4-BE49-F238E27FC236}">
                <a16:creationId xmlns:a16="http://schemas.microsoft.com/office/drawing/2014/main" id="{01C9BB41-F209-F5BF-2F95-C0476CCA09ED}"/>
              </a:ext>
            </a:extLst>
          </p:cNvPr>
          <p:cNvSpPr/>
          <p:nvPr/>
        </p:nvSpPr>
        <p:spPr>
          <a:xfrm>
            <a:off x="5904612" y="2154328"/>
            <a:ext cx="1080000" cy="18000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Business Dashboard</a:t>
            </a:r>
          </a:p>
        </p:txBody>
      </p:sp>
      <p:cxnSp>
        <p:nvCxnSpPr>
          <p:cNvPr id="146" name="Connector: Elbow 145">
            <a:extLst>
              <a:ext uri="{FF2B5EF4-FFF2-40B4-BE49-F238E27FC236}">
                <a16:creationId xmlns:a16="http://schemas.microsoft.com/office/drawing/2014/main" id="{F556EB3D-8422-FFE4-19B1-90A53F909D66}"/>
              </a:ext>
            </a:extLst>
          </p:cNvPr>
          <p:cNvCxnSpPr>
            <a:cxnSpLocks/>
            <a:stCxn id="133" idx="2"/>
            <a:endCxn id="145" idx="0"/>
          </p:cNvCxnSpPr>
          <p:nvPr/>
        </p:nvCxnSpPr>
        <p:spPr>
          <a:xfrm rot="16200000" flipH="1">
            <a:off x="5609401" y="1319117"/>
            <a:ext cx="285152" cy="138527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Connector: Elbow 146">
            <a:extLst>
              <a:ext uri="{FF2B5EF4-FFF2-40B4-BE49-F238E27FC236}">
                <a16:creationId xmlns:a16="http://schemas.microsoft.com/office/drawing/2014/main" id="{0A0E7EA5-0B6C-4D1C-1017-15AF6C2BE42D}"/>
              </a:ext>
            </a:extLst>
          </p:cNvPr>
          <p:cNvCxnSpPr>
            <a:cxnSpLocks/>
            <a:stCxn id="132" idx="2"/>
            <a:endCxn id="133" idx="0"/>
          </p:cNvCxnSpPr>
          <p:nvPr/>
        </p:nvCxnSpPr>
        <p:spPr>
          <a:xfrm rot="16200000" flipH="1">
            <a:off x="4954073" y="1520033"/>
            <a:ext cx="210537" cy="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Connector: Elbow 147">
            <a:extLst>
              <a:ext uri="{FF2B5EF4-FFF2-40B4-BE49-F238E27FC236}">
                <a16:creationId xmlns:a16="http://schemas.microsoft.com/office/drawing/2014/main" id="{6D2E0CC4-9BE6-4517-5E78-C6FC51EA8EDE}"/>
              </a:ext>
            </a:extLst>
          </p:cNvPr>
          <p:cNvCxnSpPr>
            <a:cxnSpLocks/>
            <a:stCxn id="145" idx="3"/>
            <a:endCxn id="134" idx="3"/>
          </p:cNvCxnSpPr>
          <p:nvPr/>
        </p:nvCxnSpPr>
        <p:spPr>
          <a:xfrm flipV="1">
            <a:off x="6984612" y="1747240"/>
            <a:ext cx="136045" cy="497089"/>
          </a:xfrm>
          <a:prstGeom prst="bentConnector3">
            <a:avLst>
              <a:gd name="adj1" fmla="val 268033"/>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9" name="Connector: Elbow 148">
            <a:extLst>
              <a:ext uri="{FF2B5EF4-FFF2-40B4-BE49-F238E27FC236}">
                <a16:creationId xmlns:a16="http://schemas.microsoft.com/office/drawing/2014/main" id="{03AD4CBC-0A44-07F4-366F-E28EF3F083B3}"/>
              </a:ext>
            </a:extLst>
          </p:cNvPr>
          <p:cNvCxnSpPr>
            <a:cxnSpLocks/>
            <a:stCxn id="88" idx="2"/>
            <a:endCxn id="87" idx="0"/>
          </p:cNvCxnSpPr>
          <p:nvPr/>
        </p:nvCxnSpPr>
        <p:spPr>
          <a:xfrm rot="16200000" flipH="1">
            <a:off x="2728759" y="1520033"/>
            <a:ext cx="210537" cy="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Connector: Elbow 149">
            <a:extLst>
              <a:ext uri="{FF2B5EF4-FFF2-40B4-BE49-F238E27FC236}">
                <a16:creationId xmlns:a16="http://schemas.microsoft.com/office/drawing/2014/main" id="{C2C6EB20-D244-4302-79F5-1E31EBEBA5DC}"/>
              </a:ext>
            </a:extLst>
          </p:cNvPr>
          <p:cNvCxnSpPr>
            <a:cxnSpLocks/>
            <a:stCxn id="138" idx="1"/>
            <a:endCxn id="142" idx="4"/>
          </p:cNvCxnSpPr>
          <p:nvPr/>
        </p:nvCxnSpPr>
        <p:spPr>
          <a:xfrm rot="10800000">
            <a:off x="1001959" y="4515321"/>
            <a:ext cx="555868" cy="782951"/>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51" name="Oval 150">
            <a:extLst>
              <a:ext uri="{FF2B5EF4-FFF2-40B4-BE49-F238E27FC236}">
                <a16:creationId xmlns:a16="http://schemas.microsoft.com/office/drawing/2014/main" id="{18A31018-D3A1-F1B9-3EB0-21D5652AF3C7}"/>
              </a:ext>
            </a:extLst>
          </p:cNvPr>
          <p:cNvSpPr/>
          <p:nvPr/>
        </p:nvSpPr>
        <p:spPr>
          <a:xfrm>
            <a:off x="1295154" y="1149207"/>
            <a:ext cx="538692" cy="288001"/>
          </a:xfrm>
          <a:prstGeom prst="ellipse">
            <a:avLst/>
          </a:prstGeom>
          <a:solidFill>
            <a:schemeClr val="bg1"/>
          </a:solidFill>
          <a:ln>
            <a:solidFill>
              <a:schemeClr val="tx1"/>
            </a:solidFill>
          </a:ln>
        </p:spPr>
        <p:txBody>
          <a:bodyPr wrap="none" lIns="0" tIns="0" rIns="0" bIns="0" rtlCol="0"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ES_tradnl" sz="700" b="0" i="1" u="none" strike="noStrike" kern="1200" cap="none" spc="0" normalizeH="0" baseline="0" noProof="0">
                <a:ln>
                  <a:noFill/>
                </a:ln>
                <a:solidFill>
                  <a:srgbClr val="000000"/>
                </a:solidFill>
                <a:effectLst/>
                <a:uLnTx/>
                <a:uFillTx/>
                <a:latin typeface="Graphik"/>
                <a:ea typeface="+mn-ea"/>
                <a:cs typeface="+mn-cs"/>
              </a:rPr>
              <a:t>Loan </a:t>
            </a:r>
            <a:r>
              <a:rPr kumimoji="0" lang="es-ES_tradnl" sz="700" b="0" i="1" u="none" strike="noStrike" kern="1200" cap="none" spc="0" normalizeH="0" baseline="0" noProof="0" err="1">
                <a:ln>
                  <a:noFill/>
                </a:ln>
                <a:solidFill>
                  <a:srgbClr val="000000"/>
                </a:solidFill>
                <a:effectLst/>
                <a:uLnTx/>
                <a:uFillTx/>
                <a:latin typeface="Graphik"/>
                <a:ea typeface="+mn-ea"/>
                <a:cs typeface="+mn-cs"/>
              </a:rPr>
              <a:t>Offer</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p:txBody>
      </p:sp>
      <p:cxnSp>
        <p:nvCxnSpPr>
          <p:cNvPr id="152" name="Connector: Elbow 151">
            <a:extLst>
              <a:ext uri="{FF2B5EF4-FFF2-40B4-BE49-F238E27FC236}">
                <a16:creationId xmlns:a16="http://schemas.microsoft.com/office/drawing/2014/main" id="{013D2BCC-BEEE-89E0-DD21-C4AAC0320CF1}"/>
              </a:ext>
            </a:extLst>
          </p:cNvPr>
          <p:cNvCxnSpPr>
            <a:cxnSpLocks/>
            <a:stCxn id="134" idx="0"/>
            <a:endCxn id="132" idx="3"/>
          </p:cNvCxnSpPr>
          <p:nvPr/>
        </p:nvCxnSpPr>
        <p:spPr>
          <a:xfrm rot="16200000" flipV="1">
            <a:off x="5923763" y="1045011"/>
            <a:ext cx="332473" cy="828112"/>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53" name="Oval 152">
            <a:extLst>
              <a:ext uri="{FF2B5EF4-FFF2-40B4-BE49-F238E27FC236}">
                <a16:creationId xmlns:a16="http://schemas.microsoft.com/office/drawing/2014/main" id="{AED656A7-4A60-4955-BB72-5F18639D80A1}"/>
              </a:ext>
            </a:extLst>
          </p:cNvPr>
          <p:cNvSpPr/>
          <p:nvPr/>
        </p:nvSpPr>
        <p:spPr>
          <a:xfrm>
            <a:off x="6234708" y="1149207"/>
            <a:ext cx="538692" cy="288001"/>
          </a:xfrm>
          <a:prstGeom prst="ellipse">
            <a:avLst/>
          </a:prstGeom>
          <a:solidFill>
            <a:schemeClr val="bg1"/>
          </a:solidFill>
          <a:ln>
            <a:solidFill>
              <a:schemeClr val="tx1"/>
            </a:solidFill>
          </a:ln>
        </p:spPr>
        <p:txBody>
          <a:bodyPr wrap="none" lIns="0" tIns="0" rIns="0" bIns="0" rtlCol="0"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ES_tradnl" sz="700" b="0" i="1" u="none" strike="noStrike" kern="1200" cap="none" spc="0" normalizeH="0" baseline="0" noProof="0" err="1">
                <a:ln>
                  <a:noFill/>
                </a:ln>
                <a:solidFill>
                  <a:srgbClr val="000000"/>
                </a:solidFill>
                <a:effectLst/>
                <a:uLnTx/>
                <a:uFillTx/>
                <a:latin typeface="Graphik"/>
                <a:ea typeface="+mn-ea"/>
                <a:cs typeface="+mn-cs"/>
              </a:rPr>
              <a:t>Alerts</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p:txBody>
      </p:sp>
      <p:sp>
        <p:nvSpPr>
          <p:cNvPr id="154" name="Rectangle 153">
            <a:extLst>
              <a:ext uri="{FF2B5EF4-FFF2-40B4-BE49-F238E27FC236}">
                <a16:creationId xmlns:a16="http://schemas.microsoft.com/office/drawing/2014/main" id="{4F04262B-0B38-ACCC-AC55-53F4EFD3B7E9}"/>
              </a:ext>
            </a:extLst>
          </p:cNvPr>
          <p:cNvSpPr/>
          <p:nvPr/>
        </p:nvSpPr>
        <p:spPr>
          <a:xfrm>
            <a:off x="6515846" y="4833442"/>
            <a:ext cx="801374" cy="18000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Services</a:t>
            </a:r>
          </a:p>
        </p:txBody>
      </p:sp>
      <p:sp>
        <p:nvSpPr>
          <p:cNvPr id="155" name="Can 172">
            <a:extLst>
              <a:ext uri="{FF2B5EF4-FFF2-40B4-BE49-F238E27FC236}">
                <a16:creationId xmlns:a16="http://schemas.microsoft.com/office/drawing/2014/main" id="{A1E51F80-6B79-458E-4EE6-6B4D7FF0FE4D}"/>
              </a:ext>
            </a:extLst>
          </p:cNvPr>
          <p:cNvSpPr/>
          <p:nvPr/>
        </p:nvSpPr>
        <p:spPr bwMode="auto">
          <a:xfrm rot="5400000">
            <a:off x="6826533" y="4811782"/>
            <a:ext cx="180000" cy="801373"/>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Kafka Topics</a:t>
            </a:r>
          </a:p>
        </p:txBody>
      </p:sp>
      <p:sp>
        <p:nvSpPr>
          <p:cNvPr id="156" name="TextBox 155">
            <a:extLst>
              <a:ext uri="{FF2B5EF4-FFF2-40B4-BE49-F238E27FC236}">
                <a16:creationId xmlns:a16="http://schemas.microsoft.com/office/drawing/2014/main" id="{1593B945-E994-71D2-42F5-C70DCCC171FE}"/>
              </a:ext>
            </a:extLst>
          </p:cNvPr>
          <p:cNvSpPr txBox="1"/>
          <p:nvPr/>
        </p:nvSpPr>
        <p:spPr>
          <a:xfrm>
            <a:off x="8123474" y="1847779"/>
            <a:ext cx="3777940" cy="4114749"/>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The intention is to leverage several </a:t>
            </a:r>
            <a:r>
              <a:rPr kumimoji="0" lang="en-US" sz="1100" b="1" i="0" u="none" strike="noStrike" kern="1200" cap="none" spc="0" normalizeH="0" baseline="0" noProof="0">
                <a:ln>
                  <a:noFill/>
                </a:ln>
                <a:solidFill>
                  <a:srgbClr val="000000"/>
                </a:solidFill>
                <a:effectLst/>
                <a:uLnTx/>
                <a:uFillTx/>
                <a:latin typeface="Graphik"/>
                <a:ea typeface="+mn-ea"/>
                <a:cs typeface="+mn-cs"/>
              </a:rPr>
              <a:t>components and patterns of the Interoperability Architecture </a:t>
            </a:r>
            <a:r>
              <a:rPr kumimoji="0" lang="en-US" sz="1100" b="0" i="0" u="none" strike="noStrike" kern="1200" cap="none" spc="0" normalizeH="0" baseline="0" noProof="0">
                <a:ln>
                  <a:noFill/>
                </a:ln>
                <a:solidFill>
                  <a:srgbClr val="000000"/>
                </a:solidFill>
                <a:effectLst/>
                <a:uLnTx/>
                <a:uFillTx/>
                <a:latin typeface="Graphik"/>
                <a:ea typeface="+mn-ea"/>
                <a:cs typeface="+mn-cs"/>
              </a:rPr>
              <a:t>in the context of a Core Banking use case:</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Initiation of a Credit Transfer on Internet Banking via API</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Orchestration of different steps in the Credit Transfer using several components (Risk, AML check, Payment Order, Accounting…)</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Update of the balance on the datastore</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Monitoring of the business activity by an agent through the </a:t>
            </a:r>
            <a:r>
              <a:rPr kumimoji="0" lang="en-US" sz="1100" b="0" i="0" u="none" strike="noStrike" kern="1200" cap="none" spc="0" normalizeH="0" baseline="0" noProof="0" err="1">
                <a:ln>
                  <a:noFill/>
                </a:ln>
                <a:solidFill>
                  <a:srgbClr val="000000"/>
                </a:solidFill>
                <a:effectLst/>
                <a:uLnTx/>
                <a:uFillTx/>
                <a:latin typeface="Graphik"/>
                <a:ea typeface="+mn-ea"/>
                <a:cs typeface="+mn-cs"/>
              </a:rPr>
              <a:t>backoffice</a:t>
            </a:r>
            <a:r>
              <a:rPr kumimoji="0" lang="en-US" sz="1100" b="0" i="0" u="none" strike="noStrike" kern="1200" cap="none" spc="0" normalizeH="0" baseline="0" noProof="0">
                <a:ln>
                  <a:noFill/>
                </a:ln>
                <a:solidFill>
                  <a:srgbClr val="000000"/>
                </a:solidFill>
                <a:effectLst/>
                <a:uLnTx/>
                <a:uFillTx/>
                <a:latin typeface="Graphik"/>
                <a:ea typeface="+mn-ea"/>
                <a:cs typeface="+mn-cs"/>
              </a:rPr>
              <a:t> portal</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Generation of a personalized proposal from the Data Domain (BI/ML/AI) and notification to the client</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These processes require different </a:t>
            </a:r>
            <a:r>
              <a:rPr kumimoji="0" lang="en-US" sz="1100" b="1" i="0" u="none" strike="noStrike" kern="1200" cap="none" spc="0" normalizeH="0" baseline="0" noProof="0">
                <a:ln>
                  <a:noFill/>
                </a:ln>
                <a:solidFill>
                  <a:srgbClr val="000000"/>
                </a:solidFill>
                <a:effectLst/>
                <a:uLnTx/>
                <a:uFillTx/>
                <a:latin typeface="Graphik"/>
                <a:ea typeface="+mn-ea"/>
                <a:cs typeface="+mn-cs"/>
              </a:rPr>
              <a:t>synchronous and asynchronous interactions among microservices.</a:t>
            </a:r>
            <a:endParaRPr kumimoji="0" lang="en-US" sz="1100" b="0" i="0" u="none" strike="noStrike" kern="1200" cap="none" spc="0" normalizeH="0" baseline="0" noProof="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As part of the exercise, different stack components would be discussed/selected, prioritizing Open Source or consolidated vendor packages</a:t>
            </a:r>
          </a:p>
          <a:p>
            <a:pPr marL="171450" marR="0" lvl="0" indent="-1714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a:p>
            <a:pPr marL="171450" marR="0" lvl="0" indent="-171450" algn="l" defTabSz="2286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sp>
        <p:nvSpPr>
          <p:cNvPr id="157" name="Oval 156">
            <a:extLst>
              <a:ext uri="{FF2B5EF4-FFF2-40B4-BE49-F238E27FC236}">
                <a16:creationId xmlns:a16="http://schemas.microsoft.com/office/drawing/2014/main" id="{19968113-474A-BE85-2CF9-0F39E3D9444D}"/>
              </a:ext>
            </a:extLst>
          </p:cNvPr>
          <p:cNvSpPr/>
          <p:nvPr/>
        </p:nvSpPr>
        <p:spPr>
          <a:xfrm>
            <a:off x="2926328" y="1340251"/>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100" b="1" i="0" u="none" strike="noStrike" kern="1200" cap="none" spc="0" normalizeH="0" baseline="0" noProof="0">
                <a:ln>
                  <a:noFill/>
                </a:ln>
                <a:solidFill>
                  <a:srgbClr val="FFFFFF"/>
                </a:solidFill>
                <a:effectLst/>
                <a:uLnTx/>
                <a:uFillTx/>
                <a:latin typeface="Graphik"/>
                <a:ea typeface="+mn-ea"/>
                <a:cs typeface="+mn-cs"/>
              </a:rPr>
              <a:t>1</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158" name="Oval 157">
            <a:extLst>
              <a:ext uri="{FF2B5EF4-FFF2-40B4-BE49-F238E27FC236}">
                <a16:creationId xmlns:a16="http://schemas.microsoft.com/office/drawing/2014/main" id="{5DC709E4-E505-64AA-1F84-E9F2A4180019}"/>
              </a:ext>
            </a:extLst>
          </p:cNvPr>
          <p:cNvSpPr/>
          <p:nvPr/>
        </p:nvSpPr>
        <p:spPr>
          <a:xfrm>
            <a:off x="1211521" y="2577794"/>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100" b="1" i="0" u="none" strike="noStrike" kern="1200" cap="none" spc="0" normalizeH="0" baseline="0" noProof="0">
                <a:ln>
                  <a:noFill/>
                </a:ln>
                <a:solidFill>
                  <a:srgbClr val="FFFFFF"/>
                </a:solidFill>
                <a:effectLst/>
                <a:uLnTx/>
                <a:uFillTx/>
                <a:latin typeface="Graphik"/>
                <a:ea typeface="+mn-ea"/>
                <a:cs typeface="+mn-cs"/>
              </a:rPr>
              <a:t>2</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159" name="Oval 158">
            <a:extLst>
              <a:ext uri="{FF2B5EF4-FFF2-40B4-BE49-F238E27FC236}">
                <a16:creationId xmlns:a16="http://schemas.microsoft.com/office/drawing/2014/main" id="{B8D438D3-13AB-0DEA-2CD3-6E87E844B89E}"/>
              </a:ext>
            </a:extLst>
          </p:cNvPr>
          <p:cNvSpPr/>
          <p:nvPr/>
        </p:nvSpPr>
        <p:spPr>
          <a:xfrm>
            <a:off x="2204616" y="3930564"/>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100" b="1" i="0" u="none" strike="noStrike" kern="1200" cap="none" spc="0" normalizeH="0" baseline="0" noProof="0">
                <a:ln>
                  <a:noFill/>
                </a:ln>
                <a:solidFill>
                  <a:srgbClr val="FFFFFF"/>
                </a:solidFill>
                <a:effectLst/>
                <a:uLnTx/>
                <a:uFillTx/>
                <a:latin typeface="Graphik"/>
                <a:ea typeface="+mn-ea"/>
                <a:cs typeface="+mn-cs"/>
              </a:rPr>
              <a:t>3</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160" name="Oval 159">
            <a:extLst>
              <a:ext uri="{FF2B5EF4-FFF2-40B4-BE49-F238E27FC236}">
                <a16:creationId xmlns:a16="http://schemas.microsoft.com/office/drawing/2014/main" id="{80397A94-1D65-53C8-7ACB-C0D1119F4FA1}"/>
              </a:ext>
            </a:extLst>
          </p:cNvPr>
          <p:cNvSpPr/>
          <p:nvPr/>
        </p:nvSpPr>
        <p:spPr>
          <a:xfrm>
            <a:off x="7235378" y="1918961"/>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100" b="1" i="0" u="none" strike="noStrike" kern="1200" cap="none" spc="0" normalizeH="0" baseline="0" noProof="0">
                <a:ln>
                  <a:noFill/>
                </a:ln>
                <a:solidFill>
                  <a:srgbClr val="FFFFFF"/>
                </a:solidFill>
                <a:effectLst/>
                <a:uLnTx/>
                <a:uFillTx/>
                <a:latin typeface="Graphik"/>
                <a:ea typeface="+mn-ea"/>
                <a:cs typeface="+mn-cs"/>
              </a:rPr>
              <a:t>4</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161" name="Oval 160">
            <a:extLst>
              <a:ext uri="{FF2B5EF4-FFF2-40B4-BE49-F238E27FC236}">
                <a16:creationId xmlns:a16="http://schemas.microsoft.com/office/drawing/2014/main" id="{C8CD9078-4F1D-644E-7E40-D393753D3772}"/>
              </a:ext>
            </a:extLst>
          </p:cNvPr>
          <p:cNvSpPr/>
          <p:nvPr/>
        </p:nvSpPr>
        <p:spPr>
          <a:xfrm>
            <a:off x="893959" y="4841091"/>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100" b="1" i="0" u="none" strike="noStrike" kern="1200" cap="none" spc="0" normalizeH="0" baseline="0" noProof="0">
                <a:ln>
                  <a:noFill/>
                </a:ln>
                <a:solidFill>
                  <a:srgbClr val="FFFFFF"/>
                </a:solidFill>
                <a:effectLst/>
                <a:uLnTx/>
                <a:uFillTx/>
                <a:latin typeface="Graphik"/>
                <a:ea typeface="+mn-ea"/>
                <a:cs typeface="+mn-cs"/>
              </a:rPr>
              <a:t>5</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Tree>
    <p:extLst>
      <p:ext uri="{BB962C8B-B14F-4D97-AF65-F5344CB8AC3E}">
        <p14:creationId xmlns:p14="http://schemas.microsoft.com/office/powerpoint/2010/main" val="26798866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7471DEF-AA97-EDF5-8A1E-A4195AB586E5}"/>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All rights reserved.</a:t>
            </a:r>
          </a:p>
        </p:txBody>
      </p:sp>
      <p:sp>
        <p:nvSpPr>
          <p:cNvPr id="4" name="Title 1">
            <a:extLst>
              <a:ext uri="{FF2B5EF4-FFF2-40B4-BE49-F238E27FC236}">
                <a16:creationId xmlns:a16="http://schemas.microsoft.com/office/drawing/2014/main" id="{EA2A44FF-0D31-D843-FC4E-2CAAEB298FB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Interoperability Asset </a:t>
            </a:r>
            <a:r>
              <a:rPr kumimoji="0" lang="en-US" sz="2400" b="1" i="0" u="none" strike="noStrike" kern="1200" cap="none" spc="0" normalizeH="0" baseline="0" noProof="0">
                <a:ln>
                  <a:noFill/>
                </a:ln>
                <a:solidFill>
                  <a:srgbClr val="000000"/>
                </a:solidFill>
                <a:effectLst/>
                <a:uLnTx/>
                <a:uFillTx/>
                <a:latin typeface="Graphik"/>
                <a:ea typeface="+mj-ea"/>
                <a:cs typeface="+mj-cs"/>
              </a:rPr>
              <a:t>| Candidate use cases (II)</a:t>
            </a:r>
          </a:p>
        </p:txBody>
      </p:sp>
      <p:sp>
        <p:nvSpPr>
          <p:cNvPr id="5" name="Content Placeholder 34">
            <a:extLst>
              <a:ext uri="{FF2B5EF4-FFF2-40B4-BE49-F238E27FC236}">
                <a16:creationId xmlns:a16="http://schemas.microsoft.com/office/drawing/2014/main" id="{6974F5D9-21B8-CE5E-4BFF-45E9A28BD7F1}"/>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Data Processing and Delivery: combining batch and real-time processing</a:t>
            </a:r>
          </a:p>
        </p:txBody>
      </p:sp>
      <p:sp>
        <p:nvSpPr>
          <p:cNvPr id="6" name="Rectangle 5">
            <a:extLst>
              <a:ext uri="{FF2B5EF4-FFF2-40B4-BE49-F238E27FC236}">
                <a16:creationId xmlns:a16="http://schemas.microsoft.com/office/drawing/2014/main" id="{0FED3087-EF75-42A5-FCB3-0069A00B1514}"/>
              </a:ext>
            </a:extLst>
          </p:cNvPr>
          <p:cNvSpPr/>
          <p:nvPr/>
        </p:nvSpPr>
        <p:spPr>
          <a:xfrm>
            <a:off x="165892" y="2012436"/>
            <a:ext cx="8224009" cy="3284218"/>
          </a:xfrm>
          <a:prstGeom prst="rect">
            <a:avLst/>
          </a:prstGeom>
          <a:solidFill>
            <a:srgbClr val="FFEAE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Graphik"/>
                <a:ea typeface="+mn-ea"/>
                <a:cs typeface="+mn-cs"/>
              </a:rPr>
              <a:t>Data Domain</a:t>
            </a:r>
          </a:p>
        </p:txBody>
      </p:sp>
      <p:sp>
        <p:nvSpPr>
          <p:cNvPr id="7" name="Flowchart: Magnetic Disk 6">
            <a:extLst>
              <a:ext uri="{FF2B5EF4-FFF2-40B4-BE49-F238E27FC236}">
                <a16:creationId xmlns:a16="http://schemas.microsoft.com/office/drawing/2014/main" id="{B1C13EDD-6EEE-01BF-7C04-F7B7426758C3}"/>
              </a:ext>
            </a:extLst>
          </p:cNvPr>
          <p:cNvSpPr/>
          <p:nvPr/>
        </p:nvSpPr>
        <p:spPr>
          <a:xfrm>
            <a:off x="315004" y="3730138"/>
            <a:ext cx="925363" cy="664675"/>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Legacy system</a:t>
            </a:r>
          </a:p>
        </p:txBody>
      </p:sp>
      <p:sp>
        <p:nvSpPr>
          <p:cNvPr id="8" name="Rectangle 7">
            <a:extLst>
              <a:ext uri="{FF2B5EF4-FFF2-40B4-BE49-F238E27FC236}">
                <a16:creationId xmlns:a16="http://schemas.microsoft.com/office/drawing/2014/main" id="{B08EB6FC-FCEC-6310-2095-A7DD0C624611}"/>
              </a:ext>
            </a:extLst>
          </p:cNvPr>
          <p:cNvSpPr/>
          <p:nvPr/>
        </p:nvSpPr>
        <p:spPr>
          <a:xfrm>
            <a:off x="1631664" y="3271555"/>
            <a:ext cx="1128323" cy="928520"/>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cxnSp>
        <p:nvCxnSpPr>
          <p:cNvPr id="9" name="Straight Arrow Connector 8">
            <a:extLst>
              <a:ext uri="{FF2B5EF4-FFF2-40B4-BE49-F238E27FC236}">
                <a16:creationId xmlns:a16="http://schemas.microsoft.com/office/drawing/2014/main" id="{404270FA-9C44-58A4-3AFA-4F0FBD2F0E25}"/>
              </a:ext>
            </a:extLst>
          </p:cNvPr>
          <p:cNvCxnSpPr>
            <a:cxnSpLocks/>
            <a:stCxn id="7" idx="4"/>
            <a:endCxn id="8" idx="1"/>
          </p:cNvCxnSpPr>
          <p:nvPr/>
        </p:nvCxnSpPr>
        <p:spPr>
          <a:xfrm flipV="1">
            <a:off x="1240367" y="3735815"/>
            <a:ext cx="391297" cy="326661"/>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AE05187-60B4-FCCE-576A-96515051C790}"/>
              </a:ext>
            </a:extLst>
          </p:cNvPr>
          <p:cNvSpPr/>
          <p:nvPr/>
        </p:nvSpPr>
        <p:spPr>
          <a:xfrm>
            <a:off x="1835825" y="3322293"/>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Cron jobs</a:t>
            </a:r>
          </a:p>
        </p:txBody>
      </p:sp>
      <p:sp>
        <p:nvSpPr>
          <p:cNvPr id="11" name="Rectangle 10">
            <a:extLst>
              <a:ext uri="{FF2B5EF4-FFF2-40B4-BE49-F238E27FC236}">
                <a16:creationId xmlns:a16="http://schemas.microsoft.com/office/drawing/2014/main" id="{2B709F9E-F597-2B97-1E81-88A6D060E831}"/>
              </a:ext>
            </a:extLst>
          </p:cNvPr>
          <p:cNvSpPr/>
          <p:nvPr/>
        </p:nvSpPr>
        <p:spPr>
          <a:xfrm>
            <a:off x="1835825" y="3539342"/>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Event Hub</a:t>
            </a:r>
          </a:p>
        </p:txBody>
      </p:sp>
      <p:sp>
        <p:nvSpPr>
          <p:cNvPr id="12" name="Rectangle 11">
            <a:extLst>
              <a:ext uri="{FF2B5EF4-FFF2-40B4-BE49-F238E27FC236}">
                <a16:creationId xmlns:a16="http://schemas.microsoft.com/office/drawing/2014/main" id="{CD2E5331-828A-0F09-1BE0-351296D55E74}"/>
              </a:ext>
            </a:extLst>
          </p:cNvPr>
          <p:cNvSpPr/>
          <p:nvPr/>
        </p:nvSpPr>
        <p:spPr>
          <a:xfrm>
            <a:off x="1835825" y="3756391"/>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ETL</a:t>
            </a:r>
          </a:p>
        </p:txBody>
      </p:sp>
      <p:sp>
        <p:nvSpPr>
          <p:cNvPr id="13" name="Rectangle 12">
            <a:extLst>
              <a:ext uri="{FF2B5EF4-FFF2-40B4-BE49-F238E27FC236}">
                <a16:creationId xmlns:a16="http://schemas.microsoft.com/office/drawing/2014/main" id="{D52FF81F-7AE7-A9AD-1ED0-52F084C98459}"/>
              </a:ext>
            </a:extLst>
          </p:cNvPr>
          <p:cNvSpPr/>
          <p:nvPr/>
        </p:nvSpPr>
        <p:spPr>
          <a:xfrm>
            <a:off x="2926392" y="3362211"/>
            <a:ext cx="1086009" cy="735853"/>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4" name="Rectangle 13">
            <a:extLst>
              <a:ext uri="{FF2B5EF4-FFF2-40B4-BE49-F238E27FC236}">
                <a16:creationId xmlns:a16="http://schemas.microsoft.com/office/drawing/2014/main" id="{06286ED6-8020-DA3D-A973-F32B07482C97}"/>
              </a:ext>
            </a:extLst>
          </p:cNvPr>
          <p:cNvSpPr/>
          <p:nvPr/>
        </p:nvSpPr>
        <p:spPr>
          <a:xfrm>
            <a:off x="1835825" y="3973441"/>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AI/ML</a:t>
            </a:r>
          </a:p>
        </p:txBody>
      </p:sp>
      <p:cxnSp>
        <p:nvCxnSpPr>
          <p:cNvPr id="15" name="Straight Arrow Connector 14">
            <a:extLst>
              <a:ext uri="{FF2B5EF4-FFF2-40B4-BE49-F238E27FC236}">
                <a16:creationId xmlns:a16="http://schemas.microsoft.com/office/drawing/2014/main" id="{74BBB1CB-0264-143A-76A1-BF3169517122}"/>
              </a:ext>
            </a:extLst>
          </p:cNvPr>
          <p:cNvCxnSpPr>
            <a:cxnSpLocks/>
            <a:stCxn id="8" idx="3"/>
            <a:endCxn id="13" idx="1"/>
          </p:cNvCxnSpPr>
          <p:nvPr/>
        </p:nvCxnSpPr>
        <p:spPr>
          <a:xfrm flipV="1">
            <a:off x="2759987" y="3730138"/>
            <a:ext cx="166405" cy="5677"/>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CABFBEA5-99FF-E532-AE0C-31355CC9E38B}"/>
              </a:ext>
            </a:extLst>
          </p:cNvPr>
          <p:cNvSpPr/>
          <p:nvPr/>
        </p:nvSpPr>
        <p:spPr>
          <a:xfrm>
            <a:off x="213524" y="2602238"/>
            <a:ext cx="1128323" cy="972907"/>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7" name="Rectangle 16">
            <a:extLst>
              <a:ext uri="{FF2B5EF4-FFF2-40B4-BE49-F238E27FC236}">
                <a16:creationId xmlns:a16="http://schemas.microsoft.com/office/drawing/2014/main" id="{B67A5189-09EF-62A1-474E-8C5D75651407}"/>
              </a:ext>
            </a:extLst>
          </p:cNvPr>
          <p:cNvSpPr/>
          <p:nvPr/>
        </p:nvSpPr>
        <p:spPr>
          <a:xfrm>
            <a:off x="417685" y="2692047"/>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API REST</a:t>
            </a:r>
          </a:p>
        </p:txBody>
      </p:sp>
      <p:sp>
        <p:nvSpPr>
          <p:cNvPr id="18" name="Rectangle 17">
            <a:extLst>
              <a:ext uri="{FF2B5EF4-FFF2-40B4-BE49-F238E27FC236}">
                <a16:creationId xmlns:a16="http://schemas.microsoft.com/office/drawing/2014/main" id="{C2C52CBB-A646-2123-7948-F1DC94884545}"/>
              </a:ext>
            </a:extLst>
          </p:cNvPr>
          <p:cNvSpPr/>
          <p:nvPr/>
        </p:nvSpPr>
        <p:spPr>
          <a:xfrm>
            <a:off x="417685" y="2894237"/>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Files</a:t>
            </a:r>
          </a:p>
        </p:txBody>
      </p:sp>
      <p:sp>
        <p:nvSpPr>
          <p:cNvPr id="19" name="Rectangle 18">
            <a:extLst>
              <a:ext uri="{FF2B5EF4-FFF2-40B4-BE49-F238E27FC236}">
                <a16:creationId xmlns:a16="http://schemas.microsoft.com/office/drawing/2014/main" id="{A96563C8-8A1F-1DF7-E7E0-9A52D6D49A3A}"/>
              </a:ext>
            </a:extLst>
          </p:cNvPr>
          <p:cNvSpPr/>
          <p:nvPr/>
        </p:nvSpPr>
        <p:spPr>
          <a:xfrm>
            <a:off x="417685" y="3096427"/>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err="1">
                <a:ln>
                  <a:noFill/>
                </a:ln>
                <a:solidFill>
                  <a:srgbClr val="000000"/>
                </a:solidFill>
                <a:effectLst/>
                <a:uLnTx/>
                <a:uFillTx/>
                <a:latin typeface="Graphik"/>
                <a:ea typeface="+mn-ea"/>
                <a:cs typeface="+mn-cs"/>
              </a:rPr>
              <a:t>WebHook</a:t>
            </a:r>
            <a:endParaRPr kumimoji="0" lang="en-US" sz="900" b="0" i="0" u="none" strike="noStrike" kern="1200" cap="none" spc="0" normalizeH="0" baseline="0" noProof="0">
              <a:ln>
                <a:noFill/>
              </a:ln>
              <a:solidFill>
                <a:srgbClr val="000000"/>
              </a:solidFill>
              <a:effectLst/>
              <a:uLnTx/>
              <a:uFillTx/>
              <a:latin typeface="Graphik"/>
              <a:ea typeface="+mn-ea"/>
              <a:cs typeface="+mn-cs"/>
            </a:endParaRPr>
          </a:p>
        </p:txBody>
      </p:sp>
      <p:cxnSp>
        <p:nvCxnSpPr>
          <p:cNvPr id="20" name="Straight Arrow Connector 19">
            <a:extLst>
              <a:ext uri="{FF2B5EF4-FFF2-40B4-BE49-F238E27FC236}">
                <a16:creationId xmlns:a16="http://schemas.microsoft.com/office/drawing/2014/main" id="{5B193548-6F39-43B4-70C6-6BB9E9554538}"/>
              </a:ext>
            </a:extLst>
          </p:cNvPr>
          <p:cNvCxnSpPr>
            <a:cxnSpLocks/>
            <a:stCxn id="16" idx="3"/>
            <a:endCxn id="8" idx="1"/>
          </p:cNvCxnSpPr>
          <p:nvPr/>
        </p:nvCxnSpPr>
        <p:spPr>
          <a:xfrm>
            <a:off x="1341847" y="3088692"/>
            <a:ext cx="289817" cy="647123"/>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B21CDF4-BC3A-BF88-745D-95C55BDFFE1A}"/>
              </a:ext>
            </a:extLst>
          </p:cNvPr>
          <p:cNvSpPr txBox="1"/>
          <p:nvPr/>
        </p:nvSpPr>
        <p:spPr>
          <a:xfrm>
            <a:off x="129416" y="2372216"/>
            <a:ext cx="1296538" cy="151297"/>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MX" sz="1050" b="0" i="0" u="none" strike="noStrike" kern="1200" cap="none" spc="0" normalizeH="0" baseline="0" noProof="0" err="1">
                <a:ln>
                  <a:noFill/>
                </a:ln>
                <a:solidFill>
                  <a:srgbClr val="000000"/>
                </a:solidFill>
                <a:effectLst/>
                <a:uLnTx/>
                <a:uFillTx/>
                <a:latin typeface="Graphik"/>
                <a:ea typeface="+mn-ea"/>
                <a:cs typeface="+mn-cs"/>
              </a:rPr>
              <a:t>External</a:t>
            </a:r>
            <a:r>
              <a:rPr kumimoji="0" lang="es-MX" sz="1050" b="0" i="0" u="none" strike="noStrike" kern="1200" cap="none" spc="0" normalizeH="0" baseline="0" noProof="0">
                <a:ln>
                  <a:noFill/>
                </a:ln>
                <a:solidFill>
                  <a:srgbClr val="000000"/>
                </a:solidFill>
                <a:effectLst/>
                <a:uLnTx/>
                <a:uFillTx/>
                <a:latin typeface="Graphik"/>
                <a:ea typeface="+mn-ea"/>
                <a:cs typeface="+mn-cs"/>
              </a:rPr>
              <a:t> </a:t>
            </a:r>
            <a:r>
              <a:rPr kumimoji="0" lang="es-MX" sz="1050" b="0" i="0" u="none" strike="noStrike" kern="1200" cap="none" spc="0" normalizeH="0" baseline="0" noProof="0" err="1">
                <a:ln>
                  <a:noFill/>
                </a:ln>
                <a:solidFill>
                  <a:srgbClr val="000000"/>
                </a:solidFill>
                <a:effectLst/>
                <a:uLnTx/>
                <a:uFillTx/>
                <a:latin typeface="Graphik"/>
                <a:ea typeface="+mn-ea"/>
                <a:cs typeface="+mn-cs"/>
              </a:rPr>
              <a:t>Source</a:t>
            </a:r>
            <a:endParaRPr kumimoji="0" lang="es-MX" sz="1050" b="0" i="0" u="none" strike="noStrike" kern="1200" cap="none" spc="0" normalizeH="0" baseline="0" noProof="0">
              <a:ln>
                <a:noFill/>
              </a:ln>
              <a:solidFill>
                <a:srgbClr val="000000"/>
              </a:solidFill>
              <a:effectLst/>
              <a:uLnTx/>
              <a:uFillTx/>
              <a:latin typeface="Graphik"/>
              <a:ea typeface="+mn-ea"/>
              <a:cs typeface="+mn-cs"/>
            </a:endParaRPr>
          </a:p>
        </p:txBody>
      </p:sp>
      <p:sp>
        <p:nvSpPr>
          <p:cNvPr id="22" name="Flowchart: Magnetic Disk 21">
            <a:extLst>
              <a:ext uri="{FF2B5EF4-FFF2-40B4-BE49-F238E27FC236}">
                <a16:creationId xmlns:a16="http://schemas.microsoft.com/office/drawing/2014/main" id="{E2A9B34E-32CE-D0C0-5DE1-18B58B21C518}"/>
              </a:ext>
            </a:extLst>
          </p:cNvPr>
          <p:cNvSpPr/>
          <p:nvPr/>
        </p:nvSpPr>
        <p:spPr>
          <a:xfrm>
            <a:off x="481669" y="3298617"/>
            <a:ext cx="592033" cy="219570"/>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DBs</a:t>
            </a:r>
          </a:p>
        </p:txBody>
      </p:sp>
      <p:sp>
        <p:nvSpPr>
          <p:cNvPr id="23" name="Rectangle 22">
            <a:extLst>
              <a:ext uri="{FF2B5EF4-FFF2-40B4-BE49-F238E27FC236}">
                <a16:creationId xmlns:a16="http://schemas.microsoft.com/office/drawing/2014/main" id="{C4E07D64-12B9-0ABC-A874-9EF3EDE1720D}"/>
              </a:ext>
            </a:extLst>
          </p:cNvPr>
          <p:cNvSpPr/>
          <p:nvPr/>
        </p:nvSpPr>
        <p:spPr>
          <a:xfrm>
            <a:off x="3141558" y="3434141"/>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Dataset</a:t>
            </a:r>
          </a:p>
        </p:txBody>
      </p:sp>
      <p:sp>
        <p:nvSpPr>
          <p:cNvPr id="24" name="Rectangle 23">
            <a:extLst>
              <a:ext uri="{FF2B5EF4-FFF2-40B4-BE49-F238E27FC236}">
                <a16:creationId xmlns:a16="http://schemas.microsoft.com/office/drawing/2014/main" id="{6F6B3C26-C11A-9783-DB35-5686F502F6CB}"/>
              </a:ext>
            </a:extLst>
          </p:cNvPr>
          <p:cNvSpPr/>
          <p:nvPr/>
        </p:nvSpPr>
        <p:spPr>
          <a:xfrm>
            <a:off x="3141558" y="3654545"/>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CSV</a:t>
            </a:r>
          </a:p>
        </p:txBody>
      </p:sp>
      <p:sp>
        <p:nvSpPr>
          <p:cNvPr id="25" name="Rectangle 24">
            <a:extLst>
              <a:ext uri="{FF2B5EF4-FFF2-40B4-BE49-F238E27FC236}">
                <a16:creationId xmlns:a16="http://schemas.microsoft.com/office/drawing/2014/main" id="{BDB0FDC0-265C-4975-3E4E-C16CD28F5A1C}"/>
              </a:ext>
            </a:extLst>
          </p:cNvPr>
          <p:cNvSpPr/>
          <p:nvPr/>
        </p:nvSpPr>
        <p:spPr>
          <a:xfrm>
            <a:off x="3141558" y="3874949"/>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JSON</a:t>
            </a:r>
          </a:p>
        </p:txBody>
      </p:sp>
      <p:sp>
        <p:nvSpPr>
          <p:cNvPr id="26" name="TextBox 25">
            <a:extLst>
              <a:ext uri="{FF2B5EF4-FFF2-40B4-BE49-F238E27FC236}">
                <a16:creationId xmlns:a16="http://schemas.microsoft.com/office/drawing/2014/main" id="{6A8374EF-09CF-D361-247C-5A0C18C6B4BD}"/>
              </a:ext>
            </a:extLst>
          </p:cNvPr>
          <p:cNvSpPr txBox="1"/>
          <p:nvPr/>
        </p:nvSpPr>
        <p:spPr>
          <a:xfrm>
            <a:off x="3008503" y="4123200"/>
            <a:ext cx="986110" cy="251805"/>
          </a:xfrm>
          <a:prstGeom prst="rect">
            <a:avLst/>
          </a:prstGeom>
          <a:noFill/>
        </p:spPr>
        <p:txBody>
          <a:bodyPr wrap="square" lIns="0" tIns="0" rIns="0" bIns="0" rtlCol="0">
            <a:noAutofit/>
          </a:bodyPr>
          <a:lstStyle>
            <a:defPPr>
              <a:defRPr lang="en-US"/>
            </a:defPPr>
            <a:lvl1pPr algn="ctr" defTabSz="228600">
              <a:spcAft>
                <a:spcPts val="1200"/>
              </a:spcAft>
              <a:defRPr sz="1050"/>
            </a:lvl1p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MX" sz="1050" b="0" i="0" u="none" strike="noStrike" kern="1200" cap="none" spc="0" normalizeH="0" baseline="0" noProof="0" err="1">
                <a:ln>
                  <a:noFill/>
                </a:ln>
                <a:solidFill>
                  <a:srgbClr val="000000"/>
                </a:solidFill>
                <a:effectLst/>
                <a:uLnTx/>
                <a:uFillTx/>
                <a:latin typeface="Graphik"/>
                <a:ea typeface="+mn-ea"/>
                <a:cs typeface="+mn-cs"/>
              </a:rPr>
              <a:t>Datalake</a:t>
            </a:r>
            <a:endParaRPr kumimoji="0" lang="es-MX" sz="1050" b="0" i="0" u="none" strike="noStrike" kern="1200" cap="none" spc="0" normalizeH="0" baseline="0" noProof="0">
              <a:ln>
                <a:noFill/>
              </a:ln>
              <a:solidFill>
                <a:srgbClr val="000000"/>
              </a:solidFill>
              <a:effectLst/>
              <a:uLnTx/>
              <a:uFillTx/>
              <a:latin typeface="Graphik"/>
              <a:ea typeface="+mn-ea"/>
              <a:cs typeface="+mn-cs"/>
            </a:endParaRPr>
          </a:p>
        </p:txBody>
      </p:sp>
      <p:cxnSp>
        <p:nvCxnSpPr>
          <p:cNvPr id="27" name="Straight Arrow Connector 26">
            <a:extLst>
              <a:ext uri="{FF2B5EF4-FFF2-40B4-BE49-F238E27FC236}">
                <a16:creationId xmlns:a16="http://schemas.microsoft.com/office/drawing/2014/main" id="{1C35EFDF-119F-EFE7-F39A-E1BE2EAD3C37}"/>
              </a:ext>
            </a:extLst>
          </p:cNvPr>
          <p:cNvCxnSpPr>
            <a:cxnSpLocks/>
            <a:stCxn id="13" idx="3"/>
            <a:endCxn id="40" idx="1"/>
          </p:cNvCxnSpPr>
          <p:nvPr/>
        </p:nvCxnSpPr>
        <p:spPr>
          <a:xfrm flipV="1">
            <a:off x="4012401" y="3729322"/>
            <a:ext cx="306244" cy="816"/>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8895CCD4-B02E-1F1C-FB9B-2CD84084E5B1}"/>
              </a:ext>
            </a:extLst>
          </p:cNvPr>
          <p:cNvSpPr/>
          <p:nvPr/>
        </p:nvSpPr>
        <p:spPr>
          <a:xfrm>
            <a:off x="6989376" y="3088692"/>
            <a:ext cx="1239753" cy="884749"/>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cxnSp>
        <p:nvCxnSpPr>
          <p:cNvPr id="29" name="Straight Arrow Connector 28">
            <a:extLst>
              <a:ext uri="{FF2B5EF4-FFF2-40B4-BE49-F238E27FC236}">
                <a16:creationId xmlns:a16="http://schemas.microsoft.com/office/drawing/2014/main" id="{6275B1DB-AC9E-D828-1376-EC9A87166DDE}"/>
              </a:ext>
            </a:extLst>
          </p:cNvPr>
          <p:cNvCxnSpPr>
            <a:cxnSpLocks/>
            <a:stCxn id="45" idx="3"/>
            <a:endCxn id="28" idx="1"/>
          </p:cNvCxnSpPr>
          <p:nvPr/>
        </p:nvCxnSpPr>
        <p:spPr>
          <a:xfrm flipV="1">
            <a:off x="6749468" y="3531067"/>
            <a:ext cx="239908" cy="202173"/>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28742D5D-E093-18FE-8C5E-5EB961F09ED1}"/>
              </a:ext>
            </a:extLst>
          </p:cNvPr>
          <p:cNvSpPr/>
          <p:nvPr/>
        </p:nvSpPr>
        <p:spPr>
          <a:xfrm>
            <a:off x="7054057" y="3155586"/>
            <a:ext cx="108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err="1">
                <a:ln>
                  <a:noFill/>
                </a:ln>
                <a:solidFill>
                  <a:srgbClr val="000000"/>
                </a:solidFill>
                <a:effectLst/>
                <a:uLnTx/>
                <a:uFillTx/>
                <a:latin typeface="Graphik"/>
                <a:ea typeface="+mn-ea"/>
                <a:cs typeface="+mn-cs"/>
              </a:rPr>
              <a:t>DataVirtualization</a:t>
            </a:r>
            <a:r>
              <a:rPr kumimoji="0" lang="en-US" sz="900" b="0" i="0" u="none" strike="noStrike" kern="1200" cap="none" spc="0" normalizeH="0" baseline="0" noProof="0">
                <a:ln>
                  <a:noFill/>
                </a:ln>
                <a:solidFill>
                  <a:srgbClr val="000000"/>
                </a:solidFill>
                <a:effectLst/>
                <a:uLnTx/>
                <a:uFillTx/>
                <a:latin typeface="Graphik"/>
                <a:ea typeface="+mn-ea"/>
                <a:cs typeface="+mn-cs"/>
              </a:rPr>
              <a:t> </a:t>
            </a:r>
          </a:p>
        </p:txBody>
      </p:sp>
      <p:sp>
        <p:nvSpPr>
          <p:cNvPr id="31" name="Rectangle 30">
            <a:extLst>
              <a:ext uri="{FF2B5EF4-FFF2-40B4-BE49-F238E27FC236}">
                <a16:creationId xmlns:a16="http://schemas.microsoft.com/office/drawing/2014/main" id="{4F67422E-D299-F2C9-E05A-C292934D2547}"/>
              </a:ext>
            </a:extLst>
          </p:cNvPr>
          <p:cNvSpPr/>
          <p:nvPr/>
        </p:nvSpPr>
        <p:spPr>
          <a:xfrm>
            <a:off x="7054057" y="3355854"/>
            <a:ext cx="108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Catalogs</a:t>
            </a:r>
          </a:p>
        </p:txBody>
      </p:sp>
      <p:sp>
        <p:nvSpPr>
          <p:cNvPr id="32" name="Rectangle 31">
            <a:extLst>
              <a:ext uri="{FF2B5EF4-FFF2-40B4-BE49-F238E27FC236}">
                <a16:creationId xmlns:a16="http://schemas.microsoft.com/office/drawing/2014/main" id="{182EBE97-5B3A-AC08-5A01-E9B7BC7F466F}"/>
              </a:ext>
            </a:extLst>
          </p:cNvPr>
          <p:cNvSpPr/>
          <p:nvPr/>
        </p:nvSpPr>
        <p:spPr>
          <a:xfrm>
            <a:off x="7094767" y="4515802"/>
            <a:ext cx="108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Cache</a:t>
            </a:r>
          </a:p>
        </p:txBody>
      </p:sp>
      <p:cxnSp>
        <p:nvCxnSpPr>
          <p:cNvPr id="33" name="Straight Arrow Connector 32">
            <a:extLst>
              <a:ext uri="{FF2B5EF4-FFF2-40B4-BE49-F238E27FC236}">
                <a16:creationId xmlns:a16="http://schemas.microsoft.com/office/drawing/2014/main" id="{A3578F67-27E8-3742-3E96-266125EE2831}"/>
              </a:ext>
            </a:extLst>
          </p:cNvPr>
          <p:cNvCxnSpPr>
            <a:cxnSpLocks/>
            <a:stCxn id="45" idx="3"/>
            <a:endCxn id="32" idx="1"/>
          </p:cNvCxnSpPr>
          <p:nvPr/>
        </p:nvCxnSpPr>
        <p:spPr>
          <a:xfrm>
            <a:off x="6749468" y="3733240"/>
            <a:ext cx="345299" cy="854562"/>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FE2D0944-FDCF-1311-9542-9F02353AB002}"/>
              </a:ext>
            </a:extLst>
          </p:cNvPr>
          <p:cNvSpPr/>
          <p:nvPr/>
        </p:nvSpPr>
        <p:spPr>
          <a:xfrm>
            <a:off x="7054057" y="3556122"/>
            <a:ext cx="108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Quality</a:t>
            </a:r>
          </a:p>
        </p:txBody>
      </p:sp>
      <p:sp>
        <p:nvSpPr>
          <p:cNvPr id="35" name="Rectangle 34">
            <a:extLst>
              <a:ext uri="{FF2B5EF4-FFF2-40B4-BE49-F238E27FC236}">
                <a16:creationId xmlns:a16="http://schemas.microsoft.com/office/drawing/2014/main" id="{D8AFA4EF-3C5C-D860-9AAE-1773C65EE581}"/>
              </a:ext>
            </a:extLst>
          </p:cNvPr>
          <p:cNvSpPr/>
          <p:nvPr/>
        </p:nvSpPr>
        <p:spPr>
          <a:xfrm>
            <a:off x="7054057" y="3756391"/>
            <a:ext cx="108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Linage</a:t>
            </a:r>
          </a:p>
        </p:txBody>
      </p:sp>
      <p:sp>
        <p:nvSpPr>
          <p:cNvPr id="36" name="Rectangle 35">
            <a:extLst>
              <a:ext uri="{FF2B5EF4-FFF2-40B4-BE49-F238E27FC236}">
                <a16:creationId xmlns:a16="http://schemas.microsoft.com/office/drawing/2014/main" id="{1CCD7F36-A579-6872-3768-4D345F3C5A91}"/>
              </a:ext>
            </a:extLst>
          </p:cNvPr>
          <p:cNvSpPr/>
          <p:nvPr/>
        </p:nvSpPr>
        <p:spPr>
          <a:xfrm>
            <a:off x="2816663" y="2490856"/>
            <a:ext cx="1305245" cy="277036"/>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100" b="0" i="0" u="none" strike="noStrike" kern="1200" cap="none" spc="0" normalizeH="0" baseline="0" noProof="0">
                <a:ln>
                  <a:noFill/>
                </a:ln>
                <a:solidFill>
                  <a:srgbClr val="000000"/>
                </a:solidFill>
                <a:effectLst/>
                <a:uLnTx/>
                <a:uFillTx/>
                <a:latin typeface="Graphik"/>
                <a:ea typeface="+mn-ea"/>
                <a:cs typeface="+mn-cs"/>
              </a:rPr>
              <a:t>Data </a:t>
            </a:r>
            <a:r>
              <a:rPr kumimoji="0" lang="es-MX" sz="1100" b="0" i="0" u="none" strike="noStrike" kern="1200" cap="none" spc="0" normalizeH="0" baseline="0" noProof="0" err="1">
                <a:ln>
                  <a:noFill/>
                </a:ln>
                <a:solidFill>
                  <a:srgbClr val="000000"/>
                </a:solidFill>
                <a:effectLst/>
                <a:uLnTx/>
                <a:uFillTx/>
                <a:latin typeface="Graphik"/>
                <a:ea typeface="+mn-ea"/>
                <a:cs typeface="+mn-cs"/>
              </a:rPr>
              <a:t>Streaming</a:t>
            </a:r>
            <a:endParaRPr kumimoji="0" lang="es-MX" sz="1100" b="0" i="0" u="none" strike="noStrike" kern="1200" cap="none" spc="0" normalizeH="0" baseline="0" noProof="0">
              <a:ln>
                <a:noFill/>
              </a:ln>
              <a:solidFill>
                <a:srgbClr val="000000"/>
              </a:solidFill>
              <a:effectLst/>
              <a:uLnTx/>
              <a:uFillTx/>
              <a:latin typeface="Graphik"/>
              <a:ea typeface="+mn-ea"/>
              <a:cs typeface="+mn-cs"/>
            </a:endParaRPr>
          </a:p>
        </p:txBody>
      </p:sp>
      <p:cxnSp>
        <p:nvCxnSpPr>
          <p:cNvPr id="37" name="Straight Arrow Connector 36">
            <a:extLst>
              <a:ext uri="{FF2B5EF4-FFF2-40B4-BE49-F238E27FC236}">
                <a16:creationId xmlns:a16="http://schemas.microsoft.com/office/drawing/2014/main" id="{01C4E352-14BC-EDDE-7350-95052784EAC5}"/>
              </a:ext>
            </a:extLst>
          </p:cNvPr>
          <p:cNvCxnSpPr>
            <a:cxnSpLocks/>
            <a:stCxn id="36" idx="2"/>
            <a:endCxn id="13" idx="0"/>
          </p:cNvCxnSpPr>
          <p:nvPr/>
        </p:nvCxnSpPr>
        <p:spPr>
          <a:xfrm>
            <a:off x="3469286" y="2767892"/>
            <a:ext cx="111" cy="594319"/>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8" name="Flowchart: Magnetic Disk 37">
            <a:extLst>
              <a:ext uri="{FF2B5EF4-FFF2-40B4-BE49-F238E27FC236}">
                <a16:creationId xmlns:a16="http://schemas.microsoft.com/office/drawing/2014/main" id="{B6FA50F1-105D-BBA5-068B-425FBEB50FFA}"/>
              </a:ext>
            </a:extLst>
          </p:cNvPr>
          <p:cNvSpPr/>
          <p:nvPr/>
        </p:nvSpPr>
        <p:spPr>
          <a:xfrm>
            <a:off x="315004" y="4491971"/>
            <a:ext cx="925363" cy="664675"/>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Transactional database</a:t>
            </a:r>
          </a:p>
        </p:txBody>
      </p:sp>
      <p:cxnSp>
        <p:nvCxnSpPr>
          <p:cNvPr id="39" name="Straight Arrow Connector 38">
            <a:extLst>
              <a:ext uri="{FF2B5EF4-FFF2-40B4-BE49-F238E27FC236}">
                <a16:creationId xmlns:a16="http://schemas.microsoft.com/office/drawing/2014/main" id="{858C85D0-004F-084F-228A-B9B4CAEFC0E5}"/>
              </a:ext>
            </a:extLst>
          </p:cNvPr>
          <p:cNvCxnSpPr>
            <a:cxnSpLocks/>
            <a:stCxn id="38" idx="4"/>
            <a:endCxn id="8" idx="1"/>
          </p:cNvCxnSpPr>
          <p:nvPr/>
        </p:nvCxnSpPr>
        <p:spPr>
          <a:xfrm flipV="1">
            <a:off x="1240367" y="3735815"/>
            <a:ext cx="391297" cy="1088494"/>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8EDD9F5F-8413-7A9B-6C80-B31F0A7DA82F}"/>
              </a:ext>
            </a:extLst>
          </p:cNvPr>
          <p:cNvSpPr/>
          <p:nvPr/>
        </p:nvSpPr>
        <p:spPr>
          <a:xfrm>
            <a:off x="4318645" y="3265062"/>
            <a:ext cx="1128323" cy="928520"/>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41" name="Rectangle 40">
            <a:extLst>
              <a:ext uri="{FF2B5EF4-FFF2-40B4-BE49-F238E27FC236}">
                <a16:creationId xmlns:a16="http://schemas.microsoft.com/office/drawing/2014/main" id="{89696BDB-20A1-3BB5-BA3C-223F667B455C}"/>
              </a:ext>
            </a:extLst>
          </p:cNvPr>
          <p:cNvSpPr/>
          <p:nvPr/>
        </p:nvSpPr>
        <p:spPr>
          <a:xfrm>
            <a:off x="4522806" y="3315800"/>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Cron jobs</a:t>
            </a:r>
          </a:p>
        </p:txBody>
      </p:sp>
      <p:sp>
        <p:nvSpPr>
          <p:cNvPr id="42" name="Rectangle 41">
            <a:extLst>
              <a:ext uri="{FF2B5EF4-FFF2-40B4-BE49-F238E27FC236}">
                <a16:creationId xmlns:a16="http://schemas.microsoft.com/office/drawing/2014/main" id="{A519E6F2-49B7-AC6B-0690-F74DDB6FD81C}"/>
              </a:ext>
            </a:extLst>
          </p:cNvPr>
          <p:cNvSpPr/>
          <p:nvPr/>
        </p:nvSpPr>
        <p:spPr>
          <a:xfrm>
            <a:off x="4522806" y="3532849"/>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Event Hub</a:t>
            </a:r>
          </a:p>
        </p:txBody>
      </p:sp>
      <p:sp>
        <p:nvSpPr>
          <p:cNvPr id="43" name="Rectangle 42">
            <a:extLst>
              <a:ext uri="{FF2B5EF4-FFF2-40B4-BE49-F238E27FC236}">
                <a16:creationId xmlns:a16="http://schemas.microsoft.com/office/drawing/2014/main" id="{C52FE58B-F48E-138A-C114-C419AD49F556}"/>
              </a:ext>
            </a:extLst>
          </p:cNvPr>
          <p:cNvSpPr/>
          <p:nvPr/>
        </p:nvSpPr>
        <p:spPr>
          <a:xfrm>
            <a:off x="4522806" y="3749898"/>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ETL</a:t>
            </a:r>
          </a:p>
        </p:txBody>
      </p:sp>
      <p:sp>
        <p:nvSpPr>
          <p:cNvPr id="44" name="Rectangle 43">
            <a:extLst>
              <a:ext uri="{FF2B5EF4-FFF2-40B4-BE49-F238E27FC236}">
                <a16:creationId xmlns:a16="http://schemas.microsoft.com/office/drawing/2014/main" id="{77F05322-6F1A-E10B-9FA0-0330F21B2C5A}"/>
              </a:ext>
            </a:extLst>
          </p:cNvPr>
          <p:cNvSpPr/>
          <p:nvPr/>
        </p:nvSpPr>
        <p:spPr>
          <a:xfrm>
            <a:off x="4522806" y="3966948"/>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AI/ML</a:t>
            </a:r>
          </a:p>
        </p:txBody>
      </p:sp>
      <p:sp>
        <p:nvSpPr>
          <p:cNvPr id="45" name="Rectangle 44">
            <a:extLst>
              <a:ext uri="{FF2B5EF4-FFF2-40B4-BE49-F238E27FC236}">
                <a16:creationId xmlns:a16="http://schemas.microsoft.com/office/drawing/2014/main" id="{34E50DD4-229B-D19E-898C-D727DA187170}"/>
              </a:ext>
            </a:extLst>
          </p:cNvPr>
          <p:cNvSpPr/>
          <p:nvPr/>
        </p:nvSpPr>
        <p:spPr>
          <a:xfrm>
            <a:off x="5663459" y="3365313"/>
            <a:ext cx="1086009" cy="735853"/>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46" name="Rectangle 45">
            <a:extLst>
              <a:ext uri="{FF2B5EF4-FFF2-40B4-BE49-F238E27FC236}">
                <a16:creationId xmlns:a16="http://schemas.microsoft.com/office/drawing/2014/main" id="{B3F0576B-D2CE-AFEE-D07D-3F2B73538471}"/>
              </a:ext>
            </a:extLst>
          </p:cNvPr>
          <p:cNvSpPr/>
          <p:nvPr/>
        </p:nvSpPr>
        <p:spPr>
          <a:xfrm>
            <a:off x="5878625" y="3437243"/>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Dataset</a:t>
            </a:r>
          </a:p>
        </p:txBody>
      </p:sp>
      <p:sp>
        <p:nvSpPr>
          <p:cNvPr id="47" name="Rectangle 46">
            <a:extLst>
              <a:ext uri="{FF2B5EF4-FFF2-40B4-BE49-F238E27FC236}">
                <a16:creationId xmlns:a16="http://schemas.microsoft.com/office/drawing/2014/main" id="{6FDF67BB-D007-498F-EF89-768DF89C9310}"/>
              </a:ext>
            </a:extLst>
          </p:cNvPr>
          <p:cNvSpPr/>
          <p:nvPr/>
        </p:nvSpPr>
        <p:spPr>
          <a:xfrm>
            <a:off x="5878625" y="3657647"/>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Dataset</a:t>
            </a:r>
          </a:p>
        </p:txBody>
      </p:sp>
      <p:sp>
        <p:nvSpPr>
          <p:cNvPr id="48" name="Rectangle 47">
            <a:extLst>
              <a:ext uri="{FF2B5EF4-FFF2-40B4-BE49-F238E27FC236}">
                <a16:creationId xmlns:a16="http://schemas.microsoft.com/office/drawing/2014/main" id="{B5721B29-2A52-A8F7-AF7E-FD33D01C385C}"/>
              </a:ext>
            </a:extLst>
          </p:cNvPr>
          <p:cNvSpPr/>
          <p:nvPr/>
        </p:nvSpPr>
        <p:spPr>
          <a:xfrm>
            <a:off x="5878625" y="3878051"/>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Dataset</a:t>
            </a:r>
          </a:p>
        </p:txBody>
      </p:sp>
      <p:sp>
        <p:nvSpPr>
          <p:cNvPr id="49" name="TextBox 48">
            <a:extLst>
              <a:ext uri="{FF2B5EF4-FFF2-40B4-BE49-F238E27FC236}">
                <a16:creationId xmlns:a16="http://schemas.microsoft.com/office/drawing/2014/main" id="{3A6223D8-116B-E509-EA8B-F9E619541339}"/>
              </a:ext>
            </a:extLst>
          </p:cNvPr>
          <p:cNvSpPr txBox="1"/>
          <p:nvPr/>
        </p:nvSpPr>
        <p:spPr>
          <a:xfrm>
            <a:off x="5745570" y="4126302"/>
            <a:ext cx="986110" cy="251805"/>
          </a:xfrm>
          <a:prstGeom prst="rect">
            <a:avLst/>
          </a:prstGeom>
          <a:noFill/>
        </p:spPr>
        <p:txBody>
          <a:bodyPr wrap="square" lIns="0" tIns="0" rIns="0" bIns="0" rtlCol="0">
            <a:noAutofit/>
          </a:bodyPr>
          <a:lstStyle>
            <a:defPPr>
              <a:defRPr lang="en-US"/>
            </a:defPPr>
            <a:lvl1pPr algn="ctr" defTabSz="228600">
              <a:spcAft>
                <a:spcPts val="1200"/>
              </a:spcAft>
              <a:defRPr sz="1050"/>
            </a:lvl1p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MX" sz="1050" b="0" i="0" u="none" strike="noStrike" kern="1200" cap="none" spc="0" normalizeH="0" baseline="0" noProof="0" dirty="0">
                <a:ln>
                  <a:noFill/>
                </a:ln>
                <a:solidFill>
                  <a:srgbClr val="000000"/>
                </a:solidFill>
                <a:effectLst/>
                <a:uLnTx/>
                <a:uFillTx/>
                <a:latin typeface="Graphik"/>
                <a:ea typeface="+mn-ea"/>
                <a:cs typeface="+mn-cs"/>
              </a:rPr>
              <a:t>Data </a:t>
            </a:r>
            <a:r>
              <a:rPr kumimoji="0" lang="es-MX" sz="1050" b="0" i="0" u="none" strike="noStrike" kern="1200" cap="none" spc="0" normalizeH="0" baseline="0" noProof="0" dirty="0" err="1">
                <a:ln>
                  <a:noFill/>
                </a:ln>
                <a:solidFill>
                  <a:srgbClr val="000000"/>
                </a:solidFill>
                <a:effectLst/>
                <a:uLnTx/>
                <a:uFillTx/>
                <a:latin typeface="Graphik"/>
                <a:ea typeface="+mn-ea"/>
                <a:cs typeface="+mn-cs"/>
              </a:rPr>
              <a:t>Warehouse</a:t>
            </a:r>
            <a:endParaRPr kumimoji="0" lang="es-MX" sz="1050" b="0" i="0" u="none" strike="noStrike" kern="1200" cap="none" spc="0" normalizeH="0" baseline="0" noProof="0" dirty="0">
              <a:ln>
                <a:noFill/>
              </a:ln>
              <a:solidFill>
                <a:srgbClr val="000000"/>
              </a:solidFill>
              <a:effectLst/>
              <a:uLnTx/>
              <a:uFillTx/>
              <a:latin typeface="Graphik"/>
              <a:ea typeface="+mn-ea"/>
              <a:cs typeface="+mn-cs"/>
            </a:endParaRPr>
          </a:p>
        </p:txBody>
      </p:sp>
      <p:cxnSp>
        <p:nvCxnSpPr>
          <p:cNvPr id="50" name="Straight Arrow Connector 49">
            <a:extLst>
              <a:ext uri="{FF2B5EF4-FFF2-40B4-BE49-F238E27FC236}">
                <a16:creationId xmlns:a16="http://schemas.microsoft.com/office/drawing/2014/main" id="{D5B33141-B3EA-DA6A-F6E6-72D5BD5CD3E2}"/>
              </a:ext>
            </a:extLst>
          </p:cNvPr>
          <p:cNvCxnSpPr>
            <a:cxnSpLocks/>
            <a:stCxn id="40" idx="3"/>
            <a:endCxn id="45" idx="1"/>
          </p:cNvCxnSpPr>
          <p:nvPr/>
        </p:nvCxnSpPr>
        <p:spPr>
          <a:xfrm>
            <a:off x="5446968" y="3729322"/>
            <a:ext cx="216491" cy="3918"/>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A212A922-824F-B4CC-1CB6-16C3E788CD2D}"/>
              </a:ext>
            </a:extLst>
          </p:cNvPr>
          <p:cNvSpPr txBox="1"/>
          <p:nvPr/>
        </p:nvSpPr>
        <p:spPr>
          <a:xfrm>
            <a:off x="8621415" y="1745177"/>
            <a:ext cx="3469520" cy="3531673"/>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It is also proposed to illustrate the data processing pipelines in the Data Domain:</a:t>
            </a:r>
          </a:p>
          <a:p>
            <a:pPr marL="0" marR="0" lvl="0" indent="0" algn="l" defTabSz="2286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Ingestion of data from different internal and external sources at different speeds</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Processing of the data for different purposes: data refresh, data aggregation, curation, data exposure for transactional consumption…</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Exposure of the data to be consumed synchronously or asynchronously by the transactional engines</a:t>
            </a:r>
          </a:p>
          <a:p>
            <a:pPr marL="0" marR="0" lvl="0" indent="0" algn="l" defTabSz="2286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These interactions require the application of </a:t>
            </a:r>
            <a:r>
              <a:rPr kumimoji="0" lang="en-US" sz="1100" b="1" i="0" u="none" strike="noStrike" kern="1200" cap="none" spc="0" normalizeH="0" baseline="0" noProof="0">
                <a:ln>
                  <a:noFill/>
                </a:ln>
                <a:solidFill>
                  <a:srgbClr val="000000"/>
                </a:solidFill>
                <a:effectLst/>
                <a:uLnTx/>
                <a:uFillTx/>
                <a:latin typeface="Graphik"/>
                <a:ea typeface="+mn-ea"/>
                <a:cs typeface="+mn-cs"/>
              </a:rPr>
              <a:t>data integration patterns </a:t>
            </a:r>
            <a:r>
              <a:rPr kumimoji="0" lang="en-US" sz="1100" b="0" i="0" u="none" strike="noStrike" kern="1200" cap="none" spc="0" normalizeH="0" baseline="0" noProof="0">
                <a:ln>
                  <a:noFill/>
                </a:ln>
                <a:solidFill>
                  <a:srgbClr val="000000"/>
                </a:solidFill>
                <a:effectLst/>
                <a:uLnTx/>
                <a:uFillTx/>
                <a:latin typeface="Graphik"/>
                <a:ea typeface="+mn-ea"/>
                <a:cs typeface="+mn-cs"/>
              </a:rPr>
              <a:t>like CDC, CQRS, Event Sourcing o Lambda/Kappa.</a:t>
            </a:r>
          </a:p>
          <a:p>
            <a:pPr marL="0" marR="0" lvl="0" indent="0" algn="l" defTabSz="2286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During the exercise, selected pipelines will be prototyped in the context of banking use cases</a:t>
            </a:r>
          </a:p>
          <a:p>
            <a:pPr marL="171450" marR="0" lvl="0" indent="-1714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a:p>
            <a:pPr marL="171450" marR="0" lvl="0" indent="-171450" algn="l" defTabSz="2286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sp>
        <p:nvSpPr>
          <p:cNvPr id="52" name="Oval 51">
            <a:extLst>
              <a:ext uri="{FF2B5EF4-FFF2-40B4-BE49-F238E27FC236}">
                <a16:creationId xmlns:a16="http://schemas.microsoft.com/office/drawing/2014/main" id="{7E830CCE-739E-C53F-74FB-B72E70A2F81A}"/>
              </a:ext>
            </a:extLst>
          </p:cNvPr>
          <p:cNvSpPr/>
          <p:nvPr/>
        </p:nvSpPr>
        <p:spPr>
          <a:xfrm>
            <a:off x="1537223" y="3311598"/>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100" b="1" i="0" u="none" strike="noStrike" kern="1200" cap="none" spc="0" normalizeH="0" baseline="0" noProof="0">
                <a:ln>
                  <a:noFill/>
                </a:ln>
                <a:solidFill>
                  <a:srgbClr val="FFFFFF"/>
                </a:solidFill>
                <a:effectLst/>
                <a:uLnTx/>
                <a:uFillTx/>
                <a:latin typeface="Graphik"/>
                <a:ea typeface="+mn-ea"/>
                <a:cs typeface="+mn-cs"/>
              </a:rPr>
              <a:t>1</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53" name="Oval 52">
            <a:extLst>
              <a:ext uri="{FF2B5EF4-FFF2-40B4-BE49-F238E27FC236}">
                <a16:creationId xmlns:a16="http://schemas.microsoft.com/office/drawing/2014/main" id="{06CA6558-D5F6-AA18-E24E-5C6EA81CFF7C}"/>
              </a:ext>
            </a:extLst>
          </p:cNvPr>
          <p:cNvSpPr/>
          <p:nvPr/>
        </p:nvSpPr>
        <p:spPr>
          <a:xfrm>
            <a:off x="5470876" y="3419598"/>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100" b="1" i="0" u="none" strike="noStrike" kern="1200" cap="none" spc="0" normalizeH="0" baseline="0" noProof="0">
                <a:ln>
                  <a:noFill/>
                </a:ln>
                <a:solidFill>
                  <a:srgbClr val="FFFFFF"/>
                </a:solidFill>
                <a:effectLst/>
                <a:uLnTx/>
                <a:uFillTx/>
                <a:latin typeface="Graphik"/>
                <a:ea typeface="+mn-ea"/>
                <a:cs typeface="+mn-cs"/>
              </a:rPr>
              <a:t>2</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54" name="Oval 53">
            <a:extLst>
              <a:ext uri="{FF2B5EF4-FFF2-40B4-BE49-F238E27FC236}">
                <a16:creationId xmlns:a16="http://schemas.microsoft.com/office/drawing/2014/main" id="{6E93147E-3399-A967-2DA9-E66BD815F401}"/>
              </a:ext>
            </a:extLst>
          </p:cNvPr>
          <p:cNvSpPr/>
          <p:nvPr/>
        </p:nvSpPr>
        <p:spPr>
          <a:xfrm>
            <a:off x="3225333" y="3025891"/>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100" b="1" i="0" u="none" strike="noStrike" kern="1200" cap="none" spc="0" normalizeH="0" baseline="0" noProof="0">
                <a:ln>
                  <a:noFill/>
                </a:ln>
                <a:solidFill>
                  <a:srgbClr val="FFFFFF"/>
                </a:solidFill>
                <a:effectLst/>
                <a:uLnTx/>
                <a:uFillTx/>
                <a:latin typeface="Graphik"/>
                <a:ea typeface="+mn-ea"/>
                <a:cs typeface="+mn-cs"/>
              </a:rPr>
              <a:t>1</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55" name="Oval 54">
            <a:extLst>
              <a:ext uri="{FF2B5EF4-FFF2-40B4-BE49-F238E27FC236}">
                <a16:creationId xmlns:a16="http://schemas.microsoft.com/office/drawing/2014/main" id="{65397FC0-F26D-3360-E072-1CEDD2DEEE8D}"/>
              </a:ext>
            </a:extLst>
          </p:cNvPr>
          <p:cNvSpPr/>
          <p:nvPr/>
        </p:nvSpPr>
        <p:spPr>
          <a:xfrm>
            <a:off x="6869346" y="3348786"/>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100" b="1" i="0" u="none" strike="noStrike" kern="1200" cap="none" spc="0" normalizeH="0" baseline="0" noProof="0">
                <a:ln>
                  <a:noFill/>
                </a:ln>
                <a:solidFill>
                  <a:srgbClr val="FFFFFF"/>
                </a:solidFill>
                <a:effectLst/>
                <a:uLnTx/>
                <a:uFillTx/>
                <a:latin typeface="Graphik"/>
                <a:ea typeface="+mn-ea"/>
                <a:cs typeface="+mn-cs"/>
              </a:rPr>
              <a:t>3</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56" name="Rectangle 55">
            <a:extLst>
              <a:ext uri="{FF2B5EF4-FFF2-40B4-BE49-F238E27FC236}">
                <a16:creationId xmlns:a16="http://schemas.microsoft.com/office/drawing/2014/main" id="{DF21A6B3-B169-323E-E0D4-08EDE2BCD727}"/>
              </a:ext>
            </a:extLst>
          </p:cNvPr>
          <p:cNvSpPr/>
          <p:nvPr/>
        </p:nvSpPr>
        <p:spPr>
          <a:xfrm>
            <a:off x="7039252" y="2626726"/>
            <a:ext cx="1128660" cy="186368"/>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100" b="0" i="0" u="none" strike="noStrike" kern="1200" cap="none" spc="0" normalizeH="0" baseline="0" noProof="0" err="1">
                <a:ln>
                  <a:noFill/>
                </a:ln>
                <a:solidFill>
                  <a:srgbClr val="000000"/>
                </a:solidFill>
                <a:effectLst/>
                <a:uLnTx/>
                <a:uFillTx/>
                <a:latin typeface="Graphik"/>
                <a:ea typeface="+mn-ea"/>
                <a:cs typeface="+mn-cs"/>
              </a:rPr>
              <a:t>Notifications</a:t>
            </a:r>
            <a:endParaRPr kumimoji="0" lang="es-MX" sz="1100" b="0" i="0" u="none" strike="noStrike" kern="1200" cap="none" spc="0" normalizeH="0" baseline="0" noProof="0">
              <a:ln>
                <a:noFill/>
              </a:ln>
              <a:solidFill>
                <a:srgbClr val="000000"/>
              </a:solidFill>
              <a:effectLst/>
              <a:uLnTx/>
              <a:uFillTx/>
              <a:latin typeface="Graphik"/>
              <a:ea typeface="+mn-ea"/>
              <a:cs typeface="+mn-cs"/>
            </a:endParaRPr>
          </a:p>
        </p:txBody>
      </p:sp>
      <p:cxnSp>
        <p:nvCxnSpPr>
          <p:cNvPr id="57" name="Straight Arrow Connector 56">
            <a:extLst>
              <a:ext uri="{FF2B5EF4-FFF2-40B4-BE49-F238E27FC236}">
                <a16:creationId xmlns:a16="http://schemas.microsoft.com/office/drawing/2014/main" id="{D43A8FC2-5D50-D22A-59D0-29AFD3C65796}"/>
              </a:ext>
            </a:extLst>
          </p:cNvPr>
          <p:cNvCxnSpPr>
            <a:cxnSpLocks/>
            <a:stCxn id="28" idx="0"/>
            <a:endCxn id="56" idx="2"/>
          </p:cNvCxnSpPr>
          <p:nvPr/>
        </p:nvCxnSpPr>
        <p:spPr>
          <a:xfrm flipH="1" flipV="1">
            <a:off x="7603582" y="2813094"/>
            <a:ext cx="5671" cy="275598"/>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0231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D9A3F-77D7-A3D2-CB20-540E0AB2C38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660C6B4-DAA1-217F-C7E9-C8ECA2B01ACD}"/>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All rights reserved.</a:t>
            </a:r>
          </a:p>
        </p:txBody>
      </p:sp>
      <p:sp>
        <p:nvSpPr>
          <p:cNvPr id="118" name="Title 1">
            <a:extLst>
              <a:ext uri="{FF2B5EF4-FFF2-40B4-BE49-F238E27FC236}">
                <a16:creationId xmlns:a16="http://schemas.microsoft.com/office/drawing/2014/main" id="{0809E1BF-81CB-C98E-7EE2-9040E176B982}"/>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400" b="1" i="0" u="none" strike="noStrike" kern="1200" cap="none" spc="0" normalizeH="0" baseline="0" noProof="0">
                <a:ln>
                  <a:noFill/>
                </a:ln>
                <a:solidFill>
                  <a:srgbClr val="7500C0"/>
                </a:solidFill>
                <a:effectLst/>
                <a:uLnTx/>
                <a:uFillTx/>
                <a:latin typeface="Graphik"/>
                <a:ea typeface="+mj-ea"/>
                <a:cs typeface="+mj-cs"/>
              </a:rPr>
              <a:t>Interoperability Asset </a:t>
            </a:r>
            <a:r>
              <a:rPr kumimoji="0" lang="en-US" sz="2400" b="1" i="0" u="none" strike="noStrike" kern="1200" cap="none" spc="0" normalizeH="0" baseline="0" noProof="0">
                <a:ln>
                  <a:noFill/>
                </a:ln>
                <a:solidFill>
                  <a:srgbClr val="000000"/>
                </a:solidFill>
                <a:effectLst/>
                <a:uLnTx/>
                <a:uFillTx/>
                <a:latin typeface="Graphik"/>
                <a:ea typeface="+mj-ea"/>
                <a:cs typeface="+mj-cs"/>
              </a:rPr>
              <a:t>| Data Delivery</a:t>
            </a:r>
          </a:p>
        </p:txBody>
      </p:sp>
      <p:sp>
        <p:nvSpPr>
          <p:cNvPr id="119" name="Content Placeholder 34">
            <a:extLst>
              <a:ext uri="{FF2B5EF4-FFF2-40B4-BE49-F238E27FC236}">
                <a16:creationId xmlns:a16="http://schemas.microsoft.com/office/drawing/2014/main" id="{417F537E-F03E-010F-5D43-E6F78B5F1D7A}"/>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Event Processing architecture</a:t>
            </a:r>
          </a:p>
        </p:txBody>
      </p:sp>
      <p:grpSp>
        <p:nvGrpSpPr>
          <p:cNvPr id="4" name="Group 3">
            <a:extLst>
              <a:ext uri="{FF2B5EF4-FFF2-40B4-BE49-F238E27FC236}">
                <a16:creationId xmlns:a16="http://schemas.microsoft.com/office/drawing/2014/main" id="{819372CE-CE02-E176-4CF6-FF1D99574AB3}"/>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31319662-AC8B-E505-E951-86299CF31B0F}"/>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Illustrative non exhaustive</a:t>
              </a:r>
            </a:p>
          </p:txBody>
        </p:sp>
        <p:cxnSp>
          <p:nvCxnSpPr>
            <p:cNvPr id="6" name="Straight Connector 5">
              <a:extLst>
                <a:ext uri="{FF2B5EF4-FFF2-40B4-BE49-F238E27FC236}">
                  <a16:creationId xmlns:a16="http://schemas.microsoft.com/office/drawing/2014/main" id="{424B589A-A790-3454-E995-312C08A6AB0E}"/>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1624379-A50C-5373-7EC6-9FF5F24A25CC}"/>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5" name="Connector: Elbow 64">
            <a:extLst>
              <a:ext uri="{FF2B5EF4-FFF2-40B4-BE49-F238E27FC236}">
                <a16:creationId xmlns:a16="http://schemas.microsoft.com/office/drawing/2014/main" id="{CC56321D-52B9-174B-4416-0A520C6EDB22}"/>
              </a:ext>
            </a:extLst>
          </p:cNvPr>
          <p:cNvCxnSpPr>
            <a:cxnSpLocks/>
          </p:cNvCxnSpPr>
          <p:nvPr/>
        </p:nvCxnSpPr>
        <p:spPr>
          <a:xfrm flipV="1">
            <a:off x="1769727" y="1487349"/>
            <a:ext cx="535083" cy="211882"/>
          </a:xfrm>
          <a:prstGeom prst="bentConnector3">
            <a:avLst>
              <a:gd name="adj1" fmla="val 41006"/>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6" name="Group 65">
            <a:extLst>
              <a:ext uri="{FF2B5EF4-FFF2-40B4-BE49-F238E27FC236}">
                <a16:creationId xmlns:a16="http://schemas.microsoft.com/office/drawing/2014/main" id="{26CFB799-AB07-7D62-4B6B-970000429FD1}"/>
              </a:ext>
            </a:extLst>
          </p:cNvPr>
          <p:cNvGrpSpPr/>
          <p:nvPr/>
        </p:nvGrpSpPr>
        <p:grpSpPr>
          <a:xfrm>
            <a:off x="186691" y="1523878"/>
            <a:ext cx="1583036" cy="3368362"/>
            <a:chOff x="123353" y="2136006"/>
            <a:chExt cx="1583036" cy="3368362"/>
          </a:xfrm>
        </p:grpSpPr>
        <p:sp>
          <p:nvSpPr>
            <p:cNvPr id="67" name="Rectangle: Rounded Corners 66">
              <a:extLst>
                <a:ext uri="{FF2B5EF4-FFF2-40B4-BE49-F238E27FC236}">
                  <a16:creationId xmlns:a16="http://schemas.microsoft.com/office/drawing/2014/main" id="{3ECF0AD4-AA87-D43B-74A4-68B9B3BBDFED}"/>
                </a:ext>
              </a:extLst>
            </p:cNvPr>
            <p:cNvSpPr/>
            <p:nvPr/>
          </p:nvSpPr>
          <p:spPr>
            <a:xfrm>
              <a:off x="123353" y="2136006"/>
              <a:ext cx="1583036" cy="3368362"/>
            </a:xfrm>
            <a:prstGeom prst="roundRect">
              <a:avLst>
                <a:gd name="adj" fmla="val 768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0" i="0" u="none" strike="noStrike" kern="1200" cap="none" spc="0" normalizeH="0" baseline="0" noProof="0">
                  <a:ln>
                    <a:noFill/>
                  </a:ln>
                  <a:solidFill>
                    <a:srgbClr val="000000"/>
                  </a:solidFill>
                  <a:effectLst/>
                  <a:uLnTx/>
                  <a:uFillTx/>
                  <a:latin typeface="Graphik"/>
                  <a:ea typeface="+mn-ea"/>
                  <a:cs typeface="+mn-cs"/>
                </a:rPr>
                <a:t>Data </a:t>
              </a:r>
              <a:r>
                <a:rPr kumimoji="0" lang="es-ES_tradnl" sz="900" b="0" i="0" u="none" strike="noStrike" kern="1200" cap="none" spc="0" normalizeH="0" baseline="0" noProof="0" err="1">
                  <a:ln>
                    <a:noFill/>
                  </a:ln>
                  <a:solidFill>
                    <a:srgbClr val="000000"/>
                  </a:solidFill>
                  <a:effectLst/>
                  <a:uLnTx/>
                  <a:uFillTx/>
                  <a:latin typeface="Graphik"/>
                  <a:ea typeface="+mn-ea"/>
                  <a:cs typeface="+mn-cs"/>
                </a:rPr>
                <a:t>Sources</a:t>
              </a:r>
              <a:r>
                <a:rPr kumimoji="0" lang="es-ES_tradnl" sz="900" b="0" i="0" u="none" strike="noStrike" kern="1200" cap="none" spc="0" normalizeH="0" baseline="0" noProof="0">
                  <a:ln>
                    <a:noFill/>
                  </a:ln>
                  <a:solidFill>
                    <a:srgbClr val="000000"/>
                  </a:solidFill>
                  <a:effectLst/>
                  <a:uLnTx/>
                  <a:uFillTx/>
                  <a:latin typeface="Graphik"/>
                  <a:ea typeface="+mn-ea"/>
                  <a:cs typeface="+mn-cs"/>
                </a:rPr>
                <a:t> &amp;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0" i="0" u="none" strike="noStrike" kern="1200" cap="none" spc="0" normalizeH="0" baseline="0" noProof="0">
                  <a:ln>
                    <a:noFill/>
                  </a:ln>
                  <a:solidFill>
                    <a:srgbClr val="000000"/>
                  </a:solidFill>
                  <a:effectLst/>
                  <a:uLnTx/>
                  <a:uFillTx/>
                  <a:latin typeface="Graphik"/>
                  <a:ea typeface="+mn-ea"/>
                  <a:cs typeface="+mn-cs"/>
                </a:rPr>
                <a:t>Data </a:t>
              </a:r>
              <a:r>
                <a:rPr kumimoji="0" lang="es-ES_tradnl" sz="900" b="0" i="0" u="none" strike="noStrike" kern="1200" cap="none" spc="0" normalizeH="0" baseline="0" noProof="0" err="1">
                  <a:ln>
                    <a:noFill/>
                  </a:ln>
                  <a:solidFill>
                    <a:srgbClr val="000000"/>
                  </a:solidFill>
                  <a:effectLst/>
                  <a:uLnTx/>
                  <a:uFillTx/>
                  <a:latin typeface="Graphik"/>
                  <a:ea typeface="+mn-ea"/>
                  <a:cs typeface="+mn-cs"/>
                </a:rPr>
                <a:t>Stores</a:t>
              </a:r>
              <a:endParaRPr kumimoji="0" lang="es-ES_tradnl" sz="900" b="0" i="0" u="none" strike="noStrike" kern="1200" cap="none" spc="0" normalizeH="0" baseline="0" noProof="0">
                <a:ln>
                  <a:noFill/>
                </a:ln>
                <a:solidFill>
                  <a:srgbClr val="000000"/>
                </a:solidFill>
                <a:effectLst/>
                <a:uLnTx/>
                <a:uFillTx/>
                <a:latin typeface="Graphik"/>
                <a:ea typeface="+mn-ea"/>
                <a:cs typeface="+mn-cs"/>
              </a:endParaRPr>
            </a:p>
          </p:txBody>
        </p:sp>
        <p:sp>
          <p:nvSpPr>
            <p:cNvPr id="68" name="Rectangle 67">
              <a:extLst>
                <a:ext uri="{FF2B5EF4-FFF2-40B4-BE49-F238E27FC236}">
                  <a16:creationId xmlns:a16="http://schemas.microsoft.com/office/drawing/2014/main" id="{22AB2C99-24C9-6967-B7DE-840D15A98EEE}"/>
                </a:ext>
              </a:extLst>
            </p:cNvPr>
            <p:cNvSpPr/>
            <p:nvPr/>
          </p:nvSpPr>
          <p:spPr>
            <a:xfrm>
              <a:off x="223950" y="259302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Legacy Systems</a:t>
              </a:r>
            </a:p>
          </p:txBody>
        </p:sp>
        <p:sp>
          <p:nvSpPr>
            <p:cNvPr id="69" name="Rectangle 68">
              <a:extLst>
                <a:ext uri="{FF2B5EF4-FFF2-40B4-BE49-F238E27FC236}">
                  <a16:creationId xmlns:a16="http://schemas.microsoft.com/office/drawing/2014/main" id="{CB90EB01-206A-D39B-529B-75BABB931CEE}"/>
                </a:ext>
              </a:extLst>
            </p:cNvPr>
            <p:cNvSpPr/>
            <p:nvPr/>
          </p:nvSpPr>
          <p:spPr>
            <a:xfrm>
              <a:off x="223950" y="293946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Flat Files</a:t>
              </a:r>
            </a:p>
          </p:txBody>
        </p:sp>
        <p:sp>
          <p:nvSpPr>
            <p:cNvPr id="70" name="Rectangle 69">
              <a:extLst>
                <a:ext uri="{FF2B5EF4-FFF2-40B4-BE49-F238E27FC236}">
                  <a16:creationId xmlns:a16="http://schemas.microsoft.com/office/drawing/2014/main" id="{3812070B-2D2A-13AE-7C81-97EDD6B3748B}"/>
                </a:ext>
              </a:extLst>
            </p:cNvPr>
            <p:cNvSpPr/>
            <p:nvPr/>
          </p:nvSpPr>
          <p:spPr>
            <a:xfrm>
              <a:off x="223949" y="4714317"/>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Data Lakes</a:t>
              </a:r>
            </a:p>
          </p:txBody>
        </p:sp>
        <p:sp>
          <p:nvSpPr>
            <p:cNvPr id="71" name="Rectangle 70">
              <a:extLst>
                <a:ext uri="{FF2B5EF4-FFF2-40B4-BE49-F238E27FC236}">
                  <a16:creationId xmlns:a16="http://schemas.microsoft.com/office/drawing/2014/main" id="{3BB4317B-A9F9-D15A-C3B7-B50E6D0314B9}"/>
                </a:ext>
              </a:extLst>
            </p:cNvPr>
            <p:cNvSpPr/>
            <p:nvPr/>
          </p:nvSpPr>
          <p:spPr>
            <a:xfrm>
              <a:off x="223950" y="328590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External Data</a:t>
              </a:r>
            </a:p>
          </p:txBody>
        </p:sp>
        <p:sp>
          <p:nvSpPr>
            <p:cNvPr id="72" name="Rectangle 71">
              <a:extLst>
                <a:ext uri="{FF2B5EF4-FFF2-40B4-BE49-F238E27FC236}">
                  <a16:creationId xmlns:a16="http://schemas.microsoft.com/office/drawing/2014/main" id="{56053CA9-1B3D-795F-DC38-44D5BC2B70B1}"/>
                </a:ext>
              </a:extLst>
            </p:cNvPr>
            <p:cNvSpPr/>
            <p:nvPr/>
          </p:nvSpPr>
          <p:spPr>
            <a:xfrm>
              <a:off x="223950" y="397878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Cloud Data Stores</a:t>
              </a:r>
            </a:p>
          </p:txBody>
        </p:sp>
        <p:sp>
          <p:nvSpPr>
            <p:cNvPr id="73" name="Rectangle 72">
              <a:extLst>
                <a:ext uri="{FF2B5EF4-FFF2-40B4-BE49-F238E27FC236}">
                  <a16:creationId xmlns:a16="http://schemas.microsoft.com/office/drawing/2014/main" id="{95314672-1F76-EEC7-2472-8DB90DCC22A5}"/>
                </a:ext>
              </a:extLst>
            </p:cNvPr>
            <p:cNvSpPr/>
            <p:nvPr/>
          </p:nvSpPr>
          <p:spPr>
            <a:xfrm>
              <a:off x="223949" y="4342285"/>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DWH / BI</a:t>
              </a:r>
            </a:p>
          </p:txBody>
        </p:sp>
        <p:sp>
          <p:nvSpPr>
            <p:cNvPr id="74" name="Rectangle 73">
              <a:extLst>
                <a:ext uri="{FF2B5EF4-FFF2-40B4-BE49-F238E27FC236}">
                  <a16:creationId xmlns:a16="http://schemas.microsoft.com/office/drawing/2014/main" id="{B6B0BDC2-10E5-1F55-3E45-EC0D90A560A4}"/>
                </a:ext>
              </a:extLst>
            </p:cNvPr>
            <p:cNvSpPr/>
            <p:nvPr/>
          </p:nvSpPr>
          <p:spPr>
            <a:xfrm>
              <a:off x="223950" y="363234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Apps &amp; Docs Repositories</a:t>
              </a:r>
            </a:p>
          </p:txBody>
        </p:sp>
      </p:grpSp>
      <p:sp>
        <p:nvSpPr>
          <p:cNvPr id="75" name="Rectangle 74">
            <a:extLst>
              <a:ext uri="{FF2B5EF4-FFF2-40B4-BE49-F238E27FC236}">
                <a16:creationId xmlns:a16="http://schemas.microsoft.com/office/drawing/2014/main" id="{C21BDE3C-7D28-77BA-A3BA-55F030DF8C92}"/>
              </a:ext>
            </a:extLst>
          </p:cNvPr>
          <p:cNvSpPr/>
          <p:nvPr/>
        </p:nvSpPr>
        <p:spPr>
          <a:xfrm>
            <a:off x="2314208" y="1940282"/>
            <a:ext cx="1035960"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Batch Data  Integration</a:t>
            </a:r>
          </a:p>
        </p:txBody>
      </p:sp>
      <p:sp>
        <p:nvSpPr>
          <p:cNvPr id="76" name="Rectangle 75">
            <a:extLst>
              <a:ext uri="{FF2B5EF4-FFF2-40B4-BE49-F238E27FC236}">
                <a16:creationId xmlns:a16="http://schemas.microsoft.com/office/drawing/2014/main" id="{9254AB9A-B762-081C-6EE8-E5B0760EB47A}"/>
              </a:ext>
            </a:extLst>
          </p:cNvPr>
          <p:cNvSpPr/>
          <p:nvPr/>
        </p:nvSpPr>
        <p:spPr>
          <a:xfrm>
            <a:off x="2309837" y="1231663"/>
            <a:ext cx="1035960"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Graphik"/>
                <a:ea typeface="+mn-ea"/>
                <a:cs typeface="+mn-cs"/>
              </a:rPr>
              <a:t>Stream Data Integration</a:t>
            </a:r>
          </a:p>
        </p:txBody>
      </p:sp>
      <p:sp>
        <p:nvSpPr>
          <p:cNvPr id="77" name="Rectangle 76">
            <a:extLst>
              <a:ext uri="{FF2B5EF4-FFF2-40B4-BE49-F238E27FC236}">
                <a16:creationId xmlns:a16="http://schemas.microsoft.com/office/drawing/2014/main" id="{6DB2ADF1-908E-11EF-0813-CEDE928A2961}"/>
              </a:ext>
            </a:extLst>
          </p:cNvPr>
          <p:cNvSpPr/>
          <p:nvPr/>
        </p:nvSpPr>
        <p:spPr>
          <a:xfrm>
            <a:off x="7704551" y="4525206"/>
            <a:ext cx="2465469"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Data replication</a:t>
            </a:r>
          </a:p>
        </p:txBody>
      </p:sp>
      <p:sp>
        <p:nvSpPr>
          <p:cNvPr id="78" name="Rectangle 77">
            <a:extLst>
              <a:ext uri="{FF2B5EF4-FFF2-40B4-BE49-F238E27FC236}">
                <a16:creationId xmlns:a16="http://schemas.microsoft.com/office/drawing/2014/main" id="{1A3825E3-C12C-36B5-C8C9-B8F50A140575}"/>
              </a:ext>
            </a:extLst>
          </p:cNvPr>
          <p:cNvSpPr/>
          <p:nvPr/>
        </p:nvSpPr>
        <p:spPr>
          <a:xfrm>
            <a:off x="7704551" y="4892240"/>
            <a:ext cx="1122444"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ODS (Unified Data Model)</a:t>
            </a:r>
          </a:p>
        </p:txBody>
      </p:sp>
      <p:sp>
        <p:nvSpPr>
          <p:cNvPr id="79" name="Rectangle 78">
            <a:extLst>
              <a:ext uri="{FF2B5EF4-FFF2-40B4-BE49-F238E27FC236}">
                <a16:creationId xmlns:a16="http://schemas.microsoft.com/office/drawing/2014/main" id="{FB4053CF-AF01-6F03-A23A-9F45E1CEF6C8}"/>
              </a:ext>
            </a:extLst>
          </p:cNvPr>
          <p:cNvSpPr/>
          <p:nvPr/>
        </p:nvSpPr>
        <p:spPr>
          <a:xfrm>
            <a:off x="8924559" y="4892240"/>
            <a:ext cx="1245461" cy="287999"/>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Lake House</a:t>
            </a:r>
          </a:p>
        </p:txBody>
      </p:sp>
      <p:sp>
        <p:nvSpPr>
          <p:cNvPr id="80" name="Rectangle 79">
            <a:extLst>
              <a:ext uri="{FF2B5EF4-FFF2-40B4-BE49-F238E27FC236}">
                <a16:creationId xmlns:a16="http://schemas.microsoft.com/office/drawing/2014/main" id="{11E01D4E-48F7-7E4A-EC6E-35DAD52213D7}"/>
              </a:ext>
            </a:extLst>
          </p:cNvPr>
          <p:cNvSpPr/>
          <p:nvPr/>
        </p:nvSpPr>
        <p:spPr>
          <a:xfrm>
            <a:off x="7687235" y="2756839"/>
            <a:ext cx="2465469"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Data Virtualization</a:t>
            </a:r>
          </a:p>
        </p:txBody>
      </p:sp>
      <p:sp>
        <p:nvSpPr>
          <p:cNvPr id="81" name="Rectangle 80">
            <a:extLst>
              <a:ext uri="{FF2B5EF4-FFF2-40B4-BE49-F238E27FC236}">
                <a16:creationId xmlns:a16="http://schemas.microsoft.com/office/drawing/2014/main" id="{55531A71-25B3-36BF-2B47-62624935D1A3}"/>
              </a:ext>
            </a:extLst>
          </p:cNvPr>
          <p:cNvSpPr/>
          <p:nvPr/>
        </p:nvSpPr>
        <p:spPr>
          <a:xfrm>
            <a:off x="8524207" y="3108714"/>
            <a:ext cx="764356"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Data Governance</a:t>
            </a:r>
          </a:p>
        </p:txBody>
      </p:sp>
      <p:sp>
        <p:nvSpPr>
          <p:cNvPr id="82" name="Rectangle 81">
            <a:extLst>
              <a:ext uri="{FF2B5EF4-FFF2-40B4-BE49-F238E27FC236}">
                <a16:creationId xmlns:a16="http://schemas.microsoft.com/office/drawing/2014/main" id="{84805C25-24AC-8C22-7587-07ADC8EA1789}"/>
              </a:ext>
            </a:extLst>
          </p:cNvPr>
          <p:cNvSpPr/>
          <p:nvPr/>
        </p:nvSpPr>
        <p:spPr>
          <a:xfrm>
            <a:off x="9374638" y="3106053"/>
            <a:ext cx="751476"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Data Domains</a:t>
            </a:r>
          </a:p>
        </p:txBody>
      </p:sp>
      <p:sp>
        <p:nvSpPr>
          <p:cNvPr id="83" name="Rectangle: Rounded Corners 82">
            <a:extLst>
              <a:ext uri="{FF2B5EF4-FFF2-40B4-BE49-F238E27FC236}">
                <a16:creationId xmlns:a16="http://schemas.microsoft.com/office/drawing/2014/main" id="{BE2E567E-FC69-C836-C417-86A359D11EA2}"/>
              </a:ext>
            </a:extLst>
          </p:cNvPr>
          <p:cNvSpPr/>
          <p:nvPr/>
        </p:nvSpPr>
        <p:spPr>
          <a:xfrm>
            <a:off x="10489890" y="2145133"/>
            <a:ext cx="1583036" cy="2950344"/>
          </a:xfrm>
          <a:prstGeom prst="roundRect">
            <a:avLst>
              <a:gd name="adj" fmla="val 768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0" i="0" u="none" strike="noStrike" kern="1200" cap="none" spc="0" normalizeH="0" baseline="0" noProof="0">
                <a:ln>
                  <a:noFill/>
                </a:ln>
                <a:solidFill>
                  <a:srgbClr val="000000"/>
                </a:solidFill>
                <a:effectLst/>
                <a:uLnTx/>
                <a:uFillTx/>
                <a:latin typeface="Graphik"/>
                <a:ea typeface="+mn-ea"/>
                <a:cs typeface="+mn-cs"/>
              </a:rPr>
              <a:t>Data Consume</a:t>
            </a:r>
          </a:p>
        </p:txBody>
      </p:sp>
      <p:sp>
        <p:nvSpPr>
          <p:cNvPr id="84" name="Rectangle 83">
            <a:extLst>
              <a:ext uri="{FF2B5EF4-FFF2-40B4-BE49-F238E27FC236}">
                <a16:creationId xmlns:a16="http://schemas.microsoft.com/office/drawing/2014/main" id="{C2A36C50-0F65-DBBA-93DC-0060B3B79440}"/>
              </a:ext>
            </a:extLst>
          </p:cNvPr>
          <p:cNvSpPr/>
          <p:nvPr/>
        </p:nvSpPr>
        <p:spPr>
          <a:xfrm>
            <a:off x="10629303" y="305834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APIs</a:t>
            </a:r>
          </a:p>
        </p:txBody>
      </p:sp>
      <p:sp>
        <p:nvSpPr>
          <p:cNvPr id="85" name="Rectangle 84">
            <a:extLst>
              <a:ext uri="{FF2B5EF4-FFF2-40B4-BE49-F238E27FC236}">
                <a16:creationId xmlns:a16="http://schemas.microsoft.com/office/drawing/2014/main" id="{64312FE4-BE2E-EEA8-F38A-FBA11879933A}"/>
              </a:ext>
            </a:extLst>
          </p:cNvPr>
          <p:cNvSpPr/>
          <p:nvPr/>
        </p:nvSpPr>
        <p:spPr>
          <a:xfrm>
            <a:off x="10629303" y="3795572"/>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Analytics</a:t>
            </a:r>
          </a:p>
        </p:txBody>
      </p:sp>
      <p:sp>
        <p:nvSpPr>
          <p:cNvPr id="86" name="Rectangle 85">
            <a:extLst>
              <a:ext uri="{FF2B5EF4-FFF2-40B4-BE49-F238E27FC236}">
                <a16:creationId xmlns:a16="http://schemas.microsoft.com/office/drawing/2014/main" id="{024D33D8-8F4D-CA61-098A-9E0758D58627}"/>
              </a:ext>
            </a:extLst>
          </p:cNvPr>
          <p:cNvSpPr/>
          <p:nvPr/>
        </p:nvSpPr>
        <p:spPr>
          <a:xfrm>
            <a:off x="531578" y="1126163"/>
            <a:ext cx="1122444"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Event Streaming</a:t>
            </a:r>
          </a:p>
        </p:txBody>
      </p:sp>
      <p:sp>
        <p:nvSpPr>
          <p:cNvPr id="87" name="Rectangle 86">
            <a:extLst>
              <a:ext uri="{FF2B5EF4-FFF2-40B4-BE49-F238E27FC236}">
                <a16:creationId xmlns:a16="http://schemas.microsoft.com/office/drawing/2014/main" id="{BD8BBFD4-9D25-5034-CC77-8BBFDEB36BAD}"/>
              </a:ext>
            </a:extLst>
          </p:cNvPr>
          <p:cNvSpPr/>
          <p:nvPr/>
        </p:nvSpPr>
        <p:spPr>
          <a:xfrm>
            <a:off x="2362791" y="1555231"/>
            <a:ext cx="93005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CDC</a:t>
            </a:r>
          </a:p>
        </p:txBody>
      </p:sp>
      <p:sp>
        <p:nvSpPr>
          <p:cNvPr id="88" name="Rectangle 87">
            <a:extLst>
              <a:ext uri="{FF2B5EF4-FFF2-40B4-BE49-F238E27FC236}">
                <a16:creationId xmlns:a16="http://schemas.microsoft.com/office/drawing/2014/main" id="{B01836CC-B6C6-CB5E-3A11-E0B36C142041}"/>
              </a:ext>
            </a:extLst>
          </p:cNvPr>
          <p:cNvSpPr/>
          <p:nvPr/>
        </p:nvSpPr>
        <p:spPr>
          <a:xfrm>
            <a:off x="2346390" y="2283099"/>
            <a:ext cx="93005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ETLs / ELTs</a:t>
            </a:r>
          </a:p>
        </p:txBody>
      </p:sp>
      <p:grpSp>
        <p:nvGrpSpPr>
          <p:cNvPr id="89" name="Group 88">
            <a:extLst>
              <a:ext uri="{FF2B5EF4-FFF2-40B4-BE49-F238E27FC236}">
                <a16:creationId xmlns:a16="http://schemas.microsoft.com/office/drawing/2014/main" id="{985C1D4B-7B20-07B4-D9D1-D29974CD88E3}"/>
              </a:ext>
            </a:extLst>
          </p:cNvPr>
          <p:cNvGrpSpPr/>
          <p:nvPr/>
        </p:nvGrpSpPr>
        <p:grpSpPr>
          <a:xfrm>
            <a:off x="3539644" y="2756839"/>
            <a:ext cx="3591854" cy="1804016"/>
            <a:chOff x="3115306" y="2432376"/>
            <a:chExt cx="3591854" cy="1804016"/>
          </a:xfrm>
        </p:grpSpPr>
        <p:sp>
          <p:nvSpPr>
            <p:cNvPr id="90" name="Rectangle 89">
              <a:extLst>
                <a:ext uri="{FF2B5EF4-FFF2-40B4-BE49-F238E27FC236}">
                  <a16:creationId xmlns:a16="http://schemas.microsoft.com/office/drawing/2014/main" id="{AF82C012-7BC9-98CF-DBCF-A4D232752729}"/>
                </a:ext>
              </a:extLst>
            </p:cNvPr>
            <p:cNvSpPr/>
            <p:nvPr/>
          </p:nvSpPr>
          <p:spPr>
            <a:xfrm>
              <a:off x="3279107" y="2432376"/>
              <a:ext cx="3272597"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Data Catalog</a:t>
              </a:r>
            </a:p>
          </p:txBody>
        </p:sp>
        <p:sp>
          <p:nvSpPr>
            <p:cNvPr id="91" name="Cylinder 90">
              <a:extLst>
                <a:ext uri="{FF2B5EF4-FFF2-40B4-BE49-F238E27FC236}">
                  <a16:creationId xmlns:a16="http://schemas.microsoft.com/office/drawing/2014/main" id="{A765AADB-1156-C209-38F8-DF2D33A81BEC}"/>
                </a:ext>
              </a:extLst>
            </p:cNvPr>
            <p:cNvSpPr/>
            <p:nvPr/>
          </p:nvSpPr>
          <p:spPr>
            <a:xfrm>
              <a:off x="3867416" y="3852428"/>
              <a:ext cx="751476" cy="383964"/>
            </a:xfrm>
            <a:prstGeom prst="can">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900" b="0" i="0" u="none" strike="noStrike" kern="1200" cap="none" spc="0" normalizeH="0" baseline="0" noProof="0">
                  <a:ln>
                    <a:noFill/>
                  </a:ln>
                  <a:solidFill>
                    <a:srgbClr val="000000"/>
                  </a:solidFill>
                  <a:effectLst/>
                  <a:uLnTx/>
                  <a:uFillTx/>
                  <a:latin typeface="Graphik"/>
                  <a:ea typeface="+mn-ea"/>
                  <a:cs typeface="+mn-cs"/>
                </a:rPr>
                <a:t>Data </a:t>
              </a:r>
              <a:r>
                <a:rPr kumimoji="0" lang="es-MX" sz="900" b="0" i="0" u="none" strike="noStrike" kern="1200" cap="none" spc="0" normalizeH="0" baseline="0" noProof="0" err="1">
                  <a:ln>
                    <a:noFill/>
                  </a:ln>
                  <a:solidFill>
                    <a:srgbClr val="000000"/>
                  </a:solidFill>
                  <a:effectLst/>
                  <a:uLnTx/>
                  <a:uFillTx/>
                  <a:latin typeface="Graphik"/>
                  <a:ea typeface="+mn-ea"/>
                  <a:cs typeface="+mn-cs"/>
                </a:rPr>
                <a:t>Inventory</a:t>
              </a:r>
              <a:endParaRPr kumimoji="0" lang="es-MX" sz="900" b="0" i="0" u="none" strike="noStrike" kern="1200" cap="none" spc="0" normalizeH="0" baseline="0" noProof="0">
                <a:ln>
                  <a:noFill/>
                </a:ln>
                <a:solidFill>
                  <a:srgbClr val="000000"/>
                </a:solidFill>
                <a:effectLst/>
                <a:uLnTx/>
                <a:uFillTx/>
                <a:latin typeface="Graphik"/>
                <a:ea typeface="+mn-ea"/>
                <a:cs typeface="+mn-cs"/>
              </a:endParaRPr>
            </a:p>
          </p:txBody>
        </p:sp>
        <p:sp>
          <p:nvSpPr>
            <p:cNvPr id="92" name="Cylinder 91">
              <a:extLst>
                <a:ext uri="{FF2B5EF4-FFF2-40B4-BE49-F238E27FC236}">
                  <a16:creationId xmlns:a16="http://schemas.microsoft.com/office/drawing/2014/main" id="{7A0C7A75-F058-B8C6-A571-829442E95421}"/>
                </a:ext>
              </a:extLst>
            </p:cNvPr>
            <p:cNvSpPr/>
            <p:nvPr/>
          </p:nvSpPr>
          <p:spPr>
            <a:xfrm>
              <a:off x="5143137" y="3852428"/>
              <a:ext cx="751476" cy="383964"/>
            </a:xfrm>
            <a:prstGeom prst="can">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900" b="0" i="0" u="none" strike="noStrike" kern="1200" cap="none" spc="0" normalizeH="0" baseline="0" noProof="0" err="1">
                  <a:ln>
                    <a:noFill/>
                  </a:ln>
                  <a:solidFill>
                    <a:srgbClr val="000000"/>
                  </a:solidFill>
                  <a:effectLst/>
                  <a:uLnTx/>
                  <a:uFillTx/>
                  <a:latin typeface="Graphik"/>
                  <a:ea typeface="+mn-ea"/>
                  <a:cs typeface="+mn-cs"/>
                </a:rPr>
                <a:t>Metadata</a:t>
              </a:r>
              <a:r>
                <a:rPr kumimoji="0" lang="es-MX" sz="900" b="0" i="0" u="none" strike="noStrike" kern="1200" cap="none" spc="0" normalizeH="0" baseline="0" noProof="0">
                  <a:ln>
                    <a:noFill/>
                  </a:ln>
                  <a:solidFill>
                    <a:srgbClr val="000000"/>
                  </a:solidFill>
                  <a:effectLst/>
                  <a:uLnTx/>
                  <a:uFillTx/>
                  <a:latin typeface="Graphik"/>
                  <a:ea typeface="+mn-ea"/>
                  <a:cs typeface="+mn-cs"/>
                </a:rPr>
                <a:t> </a:t>
              </a:r>
              <a:r>
                <a:rPr kumimoji="0" lang="es-MX" sz="900" b="0" i="0" u="none" strike="noStrike" kern="1200" cap="none" spc="0" normalizeH="0" baseline="0" noProof="0" err="1">
                  <a:ln>
                    <a:noFill/>
                  </a:ln>
                  <a:solidFill>
                    <a:srgbClr val="000000"/>
                  </a:solidFill>
                  <a:effectLst/>
                  <a:uLnTx/>
                  <a:uFillTx/>
                  <a:latin typeface="Graphik"/>
                  <a:ea typeface="+mn-ea"/>
                  <a:cs typeface="+mn-cs"/>
                </a:rPr>
                <a:t>Repository</a:t>
              </a:r>
              <a:endParaRPr kumimoji="0" lang="es-MX" sz="900" b="0" i="0" u="none" strike="noStrike" kern="1200" cap="none" spc="0" normalizeH="0" baseline="0" noProof="0">
                <a:ln>
                  <a:noFill/>
                </a:ln>
                <a:solidFill>
                  <a:srgbClr val="000000"/>
                </a:solidFill>
                <a:effectLst/>
                <a:uLnTx/>
                <a:uFillTx/>
                <a:latin typeface="Graphik"/>
                <a:ea typeface="+mn-ea"/>
                <a:cs typeface="+mn-cs"/>
              </a:endParaRPr>
            </a:p>
          </p:txBody>
        </p:sp>
        <p:grpSp>
          <p:nvGrpSpPr>
            <p:cNvPr id="93" name="Group 92">
              <a:extLst>
                <a:ext uri="{FF2B5EF4-FFF2-40B4-BE49-F238E27FC236}">
                  <a16:creationId xmlns:a16="http://schemas.microsoft.com/office/drawing/2014/main" id="{903E456C-F9FE-E559-98A7-FE72CE589F8D}"/>
                </a:ext>
              </a:extLst>
            </p:cNvPr>
            <p:cNvGrpSpPr/>
            <p:nvPr/>
          </p:nvGrpSpPr>
          <p:grpSpPr>
            <a:xfrm>
              <a:off x="3115306" y="2823659"/>
              <a:ext cx="3591854" cy="801792"/>
              <a:chOff x="3354252" y="1889360"/>
              <a:chExt cx="3591854" cy="801792"/>
            </a:xfrm>
          </p:grpSpPr>
          <p:sp>
            <p:nvSpPr>
              <p:cNvPr id="96" name="Rectangle: Rounded Corners 95">
                <a:extLst>
                  <a:ext uri="{FF2B5EF4-FFF2-40B4-BE49-F238E27FC236}">
                    <a16:creationId xmlns:a16="http://schemas.microsoft.com/office/drawing/2014/main" id="{F7822664-8C43-D9CF-F5FA-0DCD9067C418}"/>
                  </a:ext>
                </a:extLst>
              </p:cNvPr>
              <p:cNvSpPr/>
              <p:nvPr/>
            </p:nvSpPr>
            <p:spPr>
              <a:xfrm>
                <a:off x="3361610" y="1958432"/>
                <a:ext cx="3532721" cy="653842"/>
              </a:xfrm>
              <a:prstGeom prst="roundRect">
                <a:avLst>
                  <a:gd name="adj" fmla="val 50000"/>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97" name="Rectangle 96">
                <a:extLst>
                  <a:ext uri="{FF2B5EF4-FFF2-40B4-BE49-F238E27FC236}">
                    <a16:creationId xmlns:a16="http://schemas.microsoft.com/office/drawing/2014/main" id="{A024316B-5BB3-0CAB-E49E-C5C4E4FFE65C}"/>
                  </a:ext>
                </a:extLst>
              </p:cNvPr>
              <p:cNvSpPr/>
              <p:nvPr/>
            </p:nvSpPr>
            <p:spPr>
              <a:xfrm>
                <a:off x="3540033" y="2151666"/>
                <a:ext cx="954246"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Data Discovery</a:t>
                </a:r>
              </a:p>
            </p:txBody>
          </p:sp>
          <p:sp>
            <p:nvSpPr>
              <p:cNvPr id="98" name="Rectangle 97">
                <a:extLst>
                  <a:ext uri="{FF2B5EF4-FFF2-40B4-BE49-F238E27FC236}">
                    <a16:creationId xmlns:a16="http://schemas.microsoft.com/office/drawing/2014/main" id="{C008C1EE-CE45-BD35-6DDE-0523824FE160}"/>
                  </a:ext>
                </a:extLst>
              </p:cNvPr>
              <p:cNvSpPr/>
              <p:nvPr/>
            </p:nvSpPr>
            <p:spPr>
              <a:xfrm>
                <a:off x="4715827" y="2150382"/>
                <a:ext cx="954246"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Accountability &amp; Governance</a:t>
                </a:r>
              </a:p>
            </p:txBody>
          </p:sp>
          <p:sp>
            <p:nvSpPr>
              <p:cNvPr id="99" name="Rectangle 98">
                <a:extLst>
                  <a:ext uri="{FF2B5EF4-FFF2-40B4-BE49-F238E27FC236}">
                    <a16:creationId xmlns:a16="http://schemas.microsoft.com/office/drawing/2014/main" id="{52F98366-AD45-F033-40F0-52F911E2BEF2}"/>
                  </a:ext>
                </a:extLst>
              </p:cNvPr>
              <p:cNvSpPr/>
              <p:nvPr/>
            </p:nvSpPr>
            <p:spPr>
              <a:xfrm>
                <a:off x="5891622" y="2150382"/>
                <a:ext cx="857591"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Data Profiling &amp; Quality</a:t>
                </a:r>
              </a:p>
            </p:txBody>
          </p:sp>
          <p:sp>
            <p:nvSpPr>
              <p:cNvPr id="100" name="TextBox 99">
                <a:extLst>
                  <a:ext uri="{FF2B5EF4-FFF2-40B4-BE49-F238E27FC236}">
                    <a16:creationId xmlns:a16="http://schemas.microsoft.com/office/drawing/2014/main" id="{E4489438-2522-70D5-C2E4-B47B6A5CE58A}"/>
                  </a:ext>
                </a:extLst>
              </p:cNvPr>
              <p:cNvSpPr txBox="1"/>
              <p:nvPr/>
            </p:nvSpPr>
            <p:spPr>
              <a:xfrm>
                <a:off x="4160174" y="1889360"/>
                <a:ext cx="1944000" cy="179233"/>
              </a:xfrm>
              <a:prstGeom prst="rect">
                <a:avLst/>
              </a:prstGeom>
              <a:solidFill>
                <a:schemeClr val="bg1"/>
              </a:solid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Use ML to automate processes</a:t>
                </a:r>
                <a:endParaRPr kumimoji="0" lang="es-MX" sz="900" b="0" i="0" u="none" strike="noStrike" kern="1200" cap="none" spc="0" normalizeH="0" baseline="0" noProof="0">
                  <a:ln>
                    <a:noFill/>
                  </a:ln>
                  <a:solidFill>
                    <a:srgbClr val="000000"/>
                  </a:solidFill>
                  <a:effectLst/>
                  <a:uLnTx/>
                  <a:uFillTx/>
                  <a:latin typeface="Graphik"/>
                  <a:ea typeface="+mn-ea"/>
                  <a:cs typeface="+mn-cs"/>
                </a:endParaRPr>
              </a:p>
            </p:txBody>
          </p:sp>
          <p:sp>
            <p:nvSpPr>
              <p:cNvPr id="101" name="Isosceles Triangle 100">
                <a:extLst>
                  <a:ext uri="{FF2B5EF4-FFF2-40B4-BE49-F238E27FC236}">
                    <a16:creationId xmlns:a16="http://schemas.microsoft.com/office/drawing/2014/main" id="{B95BEEBC-5D8D-A4FA-B2EB-E64CE8FDFDA7}"/>
                  </a:ext>
                </a:extLst>
              </p:cNvPr>
              <p:cNvSpPr/>
              <p:nvPr/>
            </p:nvSpPr>
            <p:spPr>
              <a:xfrm rot="5400000">
                <a:off x="6324256" y="1932137"/>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02" name="Isosceles Triangle 101">
                <a:extLst>
                  <a:ext uri="{FF2B5EF4-FFF2-40B4-BE49-F238E27FC236}">
                    <a16:creationId xmlns:a16="http://schemas.microsoft.com/office/drawing/2014/main" id="{4A209ECE-B7D4-32FF-9389-23C27AEA481F}"/>
                  </a:ext>
                </a:extLst>
              </p:cNvPr>
              <p:cNvSpPr/>
              <p:nvPr/>
            </p:nvSpPr>
            <p:spPr>
              <a:xfrm rot="12399715">
                <a:off x="6802106" y="2349427"/>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03" name="Isosceles Triangle 102">
                <a:extLst>
                  <a:ext uri="{FF2B5EF4-FFF2-40B4-BE49-F238E27FC236}">
                    <a16:creationId xmlns:a16="http://schemas.microsoft.com/office/drawing/2014/main" id="{73497C1F-8EEB-ADD3-ED3C-AA6E33A3FABE}"/>
                  </a:ext>
                </a:extLst>
              </p:cNvPr>
              <p:cNvSpPr/>
              <p:nvPr/>
            </p:nvSpPr>
            <p:spPr>
              <a:xfrm rot="16200000" flipH="1">
                <a:off x="6026995" y="2581827"/>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04" name="Isosceles Triangle 103">
                <a:extLst>
                  <a:ext uri="{FF2B5EF4-FFF2-40B4-BE49-F238E27FC236}">
                    <a16:creationId xmlns:a16="http://schemas.microsoft.com/office/drawing/2014/main" id="{C2365132-44DA-6312-CF0B-781AC4FF77B5}"/>
                  </a:ext>
                </a:extLst>
              </p:cNvPr>
              <p:cNvSpPr/>
              <p:nvPr/>
            </p:nvSpPr>
            <p:spPr>
              <a:xfrm rot="16200000" flipH="1">
                <a:off x="4302887" y="2583152"/>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05" name="Isosceles Triangle 104">
                <a:extLst>
                  <a:ext uri="{FF2B5EF4-FFF2-40B4-BE49-F238E27FC236}">
                    <a16:creationId xmlns:a16="http://schemas.microsoft.com/office/drawing/2014/main" id="{3B63E7C9-BE3D-A5EC-ECB3-F6FCA7B0B8DF}"/>
                  </a:ext>
                </a:extLst>
              </p:cNvPr>
              <p:cNvSpPr/>
              <p:nvPr/>
            </p:nvSpPr>
            <p:spPr>
              <a:xfrm rot="18647906" flipH="1">
                <a:off x="3318252" y="2377744"/>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06" name="Isosceles Triangle 105">
                <a:extLst>
                  <a:ext uri="{FF2B5EF4-FFF2-40B4-BE49-F238E27FC236}">
                    <a16:creationId xmlns:a16="http://schemas.microsoft.com/office/drawing/2014/main" id="{5BCBD579-607A-B357-8342-910CC539DCEE}"/>
                  </a:ext>
                </a:extLst>
              </p:cNvPr>
              <p:cNvSpPr/>
              <p:nvPr/>
            </p:nvSpPr>
            <p:spPr>
              <a:xfrm rot="5400000">
                <a:off x="3765805" y="1930739"/>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grpSp>
        <p:sp>
          <p:nvSpPr>
            <p:cNvPr id="94" name="Arrow: Down 93">
              <a:extLst>
                <a:ext uri="{FF2B5EF4-FFF2-40B4-BE49-F238E27FC236}">
                  <a16:creationId xmlns:a16="http://schemas.microsoft.com/office/drawing/2014/main" id="{CE32DD6B-EC20-22CA-0097-DA4D4B7078E4}"/>
                </a:ext>
              </a:extLst>
            </p:cNvPr>
            <p:cNvSpPr/>
            <p:nvPr/>
          </p:nvSpPr>
          <p:spPr>
            <a:xfrm>
              <a:off x="4169300" y="3631385"/>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95" name="Arrow: Down 94">
              <a:extLst>
                <a:ext uri="{FF2B5EF4-FFF2-40B4-BE49-F238E27FC236}">
                  <a16:creationId xmlns:a16="http://schemas.microsoft.com/office/drawing/2014/main" id="{588CD9FA-674A-89F5-93BA-F4BD3E14B1B9}"/>
                </a:ext>
              </a:extLst>
            </p:cNvPr>
            <p:cNvSpPr/>
            <p:nvPr/>
          </p:nvSpPr>
          <p:spPr>
            <a:xfrm>
              <a:off x="5465468" y="3631385"/>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grpSp>
      <p:sp>
        <p:nvSpPr>
          <p:cNvPr id="107" name="Rectangle 106">
            <a:extLst>
              <a:ext uri="{FF2B5EF4-FFF2-40B4-BE49-F238E27FC236}">
                <a16:creationId xmlns:a16="http://schemas.microsoft.com/office/drawing/2014/main" id="{0EBA33FD-E8E3-0ED9-24F9-A3B9B528A2D5}"/>
              </a:ext>
            </a:extLst>
          </p:cNvPr>
          <p:cNvSpPr/>
          <p:nvPr/>
        </p:nvSpPr>
        <p:spPr>
          <a:xfrm>
            <a:off x="10629303" y="414016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BI / Reporting</a:t>
            </a:r>
          </a:p>
        </p:txBody>
      </p:sp>
      <p:sp>
        <p:nvSpPr>
          <p:cNvPr id="108" name="Rectangle 107">
            <a:extLst>
              <a:ext uri="{FF2B5EF4-FFF2-40B4-BE49-F238E27FC236}">
                <a16:creationId xmlns:a16="http://schemas.microsoft.com/office/drawing/2014/main" id="{EF96BE6B-2F0C-9EA7-A293-A85D295453DC}"/>
              </a:ext>
            </a:extLst>
          </p:cNvPr>
          <p:cNvSpPr/>
          <p:nvPr/>
        </p:nvSpPr>
        <p:spPr>
          <a:xfrm>
            <a:off x="10629303" y="3434312"/>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Sandbox</a:t>
            </a:r>
          </a:p>
        </p:txBody>
      </p:sp>
      <p:cxnSp>
        <p:nvCxnSpPr>
          <p:cNvPr id="109" name="Connector: Elbow 108">
            <a:extLst>
              <a:ext uri="{FF2B5EF4-FFF2-40B4-BE49-F238E27FC236}">
                <a16:creationId xmlns:a16="http://schemas.microsoft.com/office/drawing/2014/main" id="{3EE928BA-904A-DAEC-9979-C5D4DAB2C346}"/>
              </a:ext>
            </a:extLst>
          </p:cNvPr>
          <p:cNvCxnSpPr>
            <a:cxnSpLocks/>
            <a:stCxn id="86" idx="3"/>
            <a:endCxn id="76" idx="1"/>
          </p:cNvCxnSpPr>
          <p:nvPr/>
        </p:nvCxnSpPr>
        <p:spPr>
          <a:xfrm>
            <a:off x="1654022" y="1270163"/>
            <a:ext cx="655815" cy="10550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10" name="Group 109">
            <a:extLst>
              <a:ext uri="{FF2B5EF4-FFF2-40B4-BE49-F238E27FC236}">
                <a16:creationId xmlns:a16="http://schemas.microsoft.com/office/drawing/2014/main" id="{073AECD3-B836-05F5-459F-705BADCE8979}"/>
              </a:ext>
            </a:extLst>
          </p:cNvPr>
          <p:cNvGrpSpPr/>
          <p:nvPr/>
        </p:nvGrpSpPr>
        <p:grpSpPr>
          <a:xfrm>
            <a:off x="3699067" y="5599174"/>
            <a:ext cx="3273009" cy="901933"/>
            <a:chOff x="3458499" y="1543507"/>
            <a:chExt cx="3273009" cy="901933"/>
          </a:xfrm>
        </p:grpSpPr>
        <p:sp>
          <p:nvSpPr>
            <p:cNvPr id="111" name="Rectangle 110">
              <a:extLst>
                <a:ext uri="{FF2B5EF4-FFF2-40B4-BE49-F238E27FC236}">
                  <a16:creationId xmlns:a16="http://schemas.microsoft.com/office/drawing/2014/main" id="{DD9A07FF-7F30-FBEF-12EE-D03C50C55D94}"/>
                </a:ext>
              </a:extLst>
            </p:cNvPr>
            <p:cNvSpPr/>
            <p:nvPr/>
          </p:nvSpPr>
          <p:spPr>
            <a:xfrm>
              <a:off x="3458499" y="1543507"/>
              <a:ext cx="3273009"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Metadata Management</a:t>
              </a:r>
            </a:p>
          </p:txBody>
        </p:sp>
        <p:sp>
          <p:nvSpPr>
            <p:cNvPr id="112" name="Rectangle 111">
              <a:extLst>
                <a:ext uri="{FF2B5EF4-FFF2-40B4-BE49-F238E27FC236}">
                  <a16:creationId xmlns:a16="http://schemas.microsoft.com/office/drawing/2014/main" id="{10799EAE-9C2E-3817-8AC9-2CDECFC69087}"/>
                </a:ext>
              </a:extLst>
            </p:cNvPr>
            <p:cNvSpPr/>
            <p:nvPr/>
          </p:nvSpPr>
          <p:spPr>
            <a:xfrm>
              <a:off x="3507226" y="1912214"/>
              <a:ext cx="684393"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Passive Metadata</a:t>
              </a:r>
            </a:p>
          </p:txBody>
        </p:sp>
        <p:sp>
          <p:nvSpPr>
            <p:cNvPr id="113" name="Rectangle 112">
              <a:extLst>
                <a:ext uri="{FF2B5EF4-FFF2-40B4-BE49-F238E27FC236}">
                  <a16:creationId xmlns:a16="http://schemas.microsoft.com/office/drawing/2014/main" id="{9C3A7FF3-0FEE-A56A-4F02-FD6DC46DAB97}"/>
                </a:ext>
              </a:extLst>
            </p:cNvPr>
            <p:cNvSpPr/>
            <p:nvPr/>
          </p:nvSpPr>
          <p:spPr>
            <a:xfrm>
              <a:off x="4327221" y="1904499"/>
              <a:ext cx="779683"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Runtime Metadata</a:t>
              </a:r>
            </a:p>
          </p:txBody>
        </p:sp>
        <p:cxnSp>
          <p:nvCxnSpPr>
            <p:cNvPr id="114" name="Connector: Curved 113">
              <a:extLst>
                <a:ext uri="{FF2B5EF4-FFF2-40B4-BE49-F238E27FC236}">
                  <a16:creationId xmlns:a16="http://schemas.microsoft.com/office/drawing/2014/main" id="{39D41E18-29BC-B907-CD3B-D9CE58DE0E5A}"/>
                </a:ext>
              </a:extLst>
            </p:cNvPr>
            <p:cNvCxnSpPr>
              <a:cxnSpLocks/>
            </p:cNvCxnSpPr>
            <p:nvPr/>
          </p:nvCxnSpPr>
          <p:spPr>
            <a:xfrm rot="5400000" flipH="1" flipV="1">
              <a:off x="4144629" y="1762536"/>
              <a:ext cx="7715" cy="867640"/>
            </a:xfrm>
            <a:prstGeom prst="curvedConnector3">
              <a:avLst>
                <a:gd name="adj1" fmla="val -2963059"/>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5" name="TextBox 114">
              <a:extLst>
                <a:ext uri="{FF2B5EF4-FFF2-40B4-BE49-F238E27FC236}">
                  <a16:creationId xmlns:a16="http://schemas.microsoft.com/office/drawing/2014/main" id="{433E250A-EFF9-41F2-6BF5-254ED3929908}"/>
                </a:ext>
              </a:extLst>
            </p:cNvPr>
            <p:cNvSpPr txBox="1"/>
            <p:nvPr/>
          </p:nvSpPr>
          <p:spPr>
            <a:xfrm>
              <a:off x="3722825" y="2261988"/>
              <a:ext cx="810071" cy="143092"/>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MX" sz="900" b="0" i="0" u="none" strike="noStrike" kern="1200" cap="none" spc="0" normalizeH="0" baseline="0" noProof="0">
                  <a:ln>
                    <a:noFill/>
                  </a:ln>
                  <a:solidFill>
                    <a:srgbClr val="000000"/>
                  </a:solidFill>
                  <a:effectLst/>
                  <a:uLnTx/>
                  <a:uFillTx/>
                  <a:latin typeface="Graphik"/>
                  <a:ea typeface="+mn-ea"/>
                  <a:cs typeface="+mn-cs"/>
                </a:rPr>
                <a:t>Compare</a:t>
              </a:r>
            </a:p>
          </p:txBody>
        </p:sp>
        <p:sp>
          <p:nvSpPr>
            <p:cNvPr id="116" name="Rectangle 115">
              <a:extLst>
                <a:ext uri="{FF2B5EF4-FFF2-40B4-BE49-F238E27FC236}">
                  <a16:creationId xmlns:a16="http://schemas.microsoft.com/office/drawing/2014/main" id="{6CDF7152-FCFD-F41E-E8F0-C85F33A0359D}"/>
                </a:ext>
              </a:extLst>
            </p:cNvPr>
            <p:cNvSpPr/>
            <p:nvPr/>
          </p:nvSpPr>
          <p:spPr>
            <a:xfrm>
              <a:off x="5232657" y="1904498"/>
              <a:ext cx="684393"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AI / ML </a:t>
              </a:r>
              <a:r>
                <a:rPr kumimoji="0" lang="en-US" sz="700" b="0" i="0" u="none" strike="noStrike" kern="1200" cap="none" spc="0" normalizeH="0" baseline="0" noProof="0" err="1">
                  <a:ln>
                    <a:noFill/>
                  </a:ln>
                  <a:solidFill>
                    <a:srgbClr val="000000"/>
                  </a:solidFill>
                  <a:effectLst/>
                  <a:uLnTx/>
                  <a:uFillTx/>
                  <a:latin typeface="Graphik"/>
                  <a:ea typeface="+mn-ea"/>
                  <a:cs typeface="+mn-cs"/>
                </a:rPr>
                <a:t>Recommen</a:t>
              </a:r>
              <a:r>
                <a:rPr kumimoji="0" lang="en-US" sz="700" b="0" i="0" u="none" strike="noStrike" kern="1200" cap="none" spc="0" normalizeH="0" baseline="0" noProof="0">
                  <a:ln>
                    <a:noFill/>
                  </a:ln>
                  <a:solidFill>
                    <a:srgbClr val="000000"/>
                  </a:solidFill>
                  <a:effectLst/>
                  <a:uLnTx/>
                  <a:uFillTx/>
                  <a:latin typeface="Graphik"/>
                  <a:ea typeface="+mn-ea"/>
                  <a:cs typeface="+mn-cs"/>
                </a:rPr>
                <a:t>-dations</a:t>
              </a:r>
            </a:p>
          </p:txBody>
        </p:sp>
        <p:cxnSp>
          <p:nvCxnSpPr>
            <p:cNvPr id="117" name="Connector: Curved 116">
              <a:extLst>
                <a:ext uri="{FF2B5EF4-FFF2-40B4-BE49-F238E27FC236}">
                  <a16:creationId xmlns:a16="http://schemas.microsoft.com/office/drawing/2014/main" id="{64AFAC6C-B743-EBDF-801C-1C5DA673E070}"/>
                </a:ext>
              </a:extLst>
            </p:cNvPr>
            <p:cNvCxnSpPr/>
            <p:nvPr/>
          </p:nvCxnSpPr>
          <p:spPr>
            <a:xfrm rot="5400000" flipH="1" flipV="1">
              <a:off x="5252204" y="1786409"/>
              <a:ext cx="7715" cy="835322"/>
            </a:xfrm>
            <a:prstGeom prst="curvedConnector3">
              <a:avLst>
                <a:gd name="adj1" fmla="val -2963059"/>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DB5F3EF0-F831-E6D1-C1EE-3B72D639169C}"/>
                </a:ext>
              </a:extLst>
            </p:cNvPr>
            <p:cNvSpPr txBox="1"/>
            <p:nvPr/>
          </p:nvSpPr>
          <p:spPr>
            <a:xfrm>
              <a:off x="4727888" y="2277000"/>
              <a:ext cx="1057373" cy="16844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Alerts</a:t>
              </a:r>
            </a:p>
          </p:txBody>
        </p:sp>
        <p:sp>
          <p:nvSpPr>
            <p:cNvPr id="121" name="Rectangle 120">
              <a:extLst>
                <a:ext uri="{FF2B5EF4-FFF2-40B4-BE49-F238E27FC236}">
                  <a16:creationId xmlns:a16="http://schemas.microsoft.com/office/drawing/2014/main" id="{E65CF5C1-46DA-D46F-E083-F35850E93E3A}"/>
                </a:ext>
              </a:extLst>
            </p:cNvPr>
            <p:cNvSpPr/>
            <p:nvPr/>
          </p:nvSpPr>
          <p:spPr>
            <a:xfrm>
              <a:off x="6013505" y="1904497"/>
              <a:ext cx="684393"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Active Metadata</a:t>
              </a:r>
            </a:p>
          </p:txBody>
        </p:sp>
        <p:cxnSp>
          <p:nvCxnSpPr>
            <p:cNvPr id="122" name="Connector: Curved 121">
              <a:extLst>
                <a:ext uri="{FF2B5EF4-FFF2-40B4-BE49-F238E27FC236}">
                  <a16:creationId xmlns:a16="http://schemas.microsoft.com/office/drawing/2014/main" id="{FF472A56-7686-9D65-051D-8656BB1ED716}"/>
                </a:ext>
              </a:extLst>
            </p:cNvPr>
            <p:cNvCxnSpPr/>
            <p:nvPr/>
          </p:nvCxnSpPr>
          <p:spPr>
            <a:xfrm rot="5400000" flipH="1" flipV="1">
              <a:off x="6198039" y="1796823"/>
              <a:ext cx="7715" cy="835322"/>
            </a:xfrm>
            <a:prstGeom prst="curvedConnector3">
              <a:avLst>
                <a:gd name="adj1" fmla="val -2963059"/>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3" name="TextBox 122">
              <a:extLst>
                <a:ext uri="{FF2B5EF4-FFF2-40B4-BE49-F238E27FC236}">
                  <a16:creationId xmlns:a16="http://schemas.microsoft.com/office/drawing/2014/main" id="{D5F2F1C1-8A32-1F94-38BF-9C4B7FD6A303}"/>
                </a:ext>
              </a:extLst>
            </p:cNvPr>
            <p:cNvSpPr txBox="1"/>
            <p:nvPr/>
          </p:nvSpPr>
          <p:spPr>
            <a:xfrm>
              <a:off x="5673723" y="2249314"/>
              <a:ext cx="1057373" cy="16844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Inferences</a:t>
              </a:r>
            </a:p>
          </p:txBody>
        </p:sp>
      </p:grpSp>
      <p:cxnSp>
        <p:nvCxnSpPr>
          <p:cNvPr id="124" name="Connector: Elbow 123">
            <a:extLst>
              <a:ext uri="{FF2B5EF4-FFF2-40B4-BE49-F238E27FC236}">
                <a16:creationId xmlns:a16="http://schemas.microsoft.com/office/drawing/2014/main" id="{8658F008-37B8-71BE-AF25-AB42DA3A2492}"/>
              </a:ext>
            </a:extLst>
          </p:cNvPr>
          <p:cNvCxnSpPr>
            <a:cxnSpLocks/>
            <a:stCxn id="67" idx="3"/>
            <a:endCxn id="75" idx="1"/>
          </p:cNvCxnSpPr>
          <p:nvPr/>
        </p:nvCxnSpPr>
        <p:spPr>
          <a:xfrm flipV="1">
            <a:off x="1769727" y="2084282"/>
            <a:ext cx="544481" cy="1123777"/>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5" name="Rectangle 124">
            <a:extLst>
              <a:ext uri="{FF2B5EF4-FFF2-40B4-BE49-F238E27FC236}">
                <a16:creationId xmlns:a16="http://schemas.microsoft.com/office/drawing/2014/main" id="{4A29A9F2-3C92-33FC-401F-5557A8769FE0}"/>
              </a:ext>
            </a:extLst>
          </p:cNvPr>
          <p:cNvSpPr/>
          <p:nvPr/>
        </p:nvSpPr>
        <p:spPr>
          <a:xfrm>
            <a:off x="8263345" y="3458969"/>
            <a:ext cx="764356"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Data Lineage</a:t>
            </a:r>
          </a:p>
        </p:txBody>
      </p:sp>
      <p:sp>
        <p:nvSpPr>
          <p:cNvPr id="126" name="Rectangle 125">
            <a:extLst>
              <a:ext uri="{FF2B5EF4-FFF2-40B4-BE49-F238E27FC236}">
                <a16:creationId xmlns:a16="http://schemas.microsoft.com/office/drawing/2014/main" id="{E70A337A-D3D7-3921-816F-096B02A26D66}"/>
              </a:ext>
            </a:extLst>
          </p:cNvPr>
          <p:cNvSpPr/>
          <p:nvPr/>
        </p:nvSpPr>
        <p:spPr>
          <a:xfrm>
            <a:off x="7687235" y="3097996"/>
            <a:ext cx="764356"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Access &amp; Privacy</a:t>
            </a:r>
          </a:p>
        </p:txBody>
      </p:sp>
      <p:sp>
        <p:nvSpPr>
          <p:cNvPr id="127" name="Arrow: Up-Down 126">
            <a:extLst>
              <a:ext uri="{FF2B5EF4-FFF2-40B4-BE49-F238E27FC236}">
                <a16:creationId xmlns:a16="http://schemas.microsoft.com/office/drawing/2014/main" id="{CCBB3834-977A-45CA-6E5C-956AB36E4544}"/>
              </a:ext>
            </a:extLst>
          </p:cNvPr>
          <p:cNvSpPr/>
          <p:nvPr/>
        </p:nvSpPr>
        <p:spPr>
          <a:xfrm>
            <a:off x="8809011" y="3979585"/>
            <a:ext cx="186300" cy="419707"/>
          </a:xfrm>
          <a:prstGeom prst="up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cxnSp>
        <p:nvCxnSpPr>
          <p:cNvPr id="128" name="Connector: Elbow 127">
            <a:extLst>
              <a:ext uri="{FF2B5EF4-FFF2-40B4-BE49-F238E27FC236}">
                <a16:creationId xmlns:a16="http://schemas.microsoft.com/office/drawing/2014/main" id="{96A855EF-40FC-74C2-6C88-61D28C03FBCE}"/>
              </a:ext>
            </a:extLst>
          </p:cNvPr>
          <p:cNvCxnSpPr>
            <a:cxnSpLocks/>
            <a:stCxn id="87" idx="3"/>
            <a:endCxn id="80" idx="0"/>
          </p:cNvCxnSpPr>
          <p:nvPr/>
        </p:nvCxnSpPr>
        <p:spPr>
          <a:xfrm>
            <a:off x="3292843" y="1699231"/>
            <a:ext cx="5627127" cy="1057608"/>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9" name="Arrow: Down 128">
            <a:extLst>
              <a:ext uri="{FF2B5EF4-FFF2-40B4-BE49-F238E27FC236}">
                <a16:creationId xmlns:a16="http://schemas.microsoft.com/office/drawing/2014/main" id="{449DACDD-D216-44C6-4C0A-E00016E45DDF}"/>
              </a:ext>
            </a:extLst>
          </p:cNvPr>
          <p:cNvSpPr/>
          <p:nvPr/>
        </p:nvSpPr>
        <p:spPr>
          <a:xfrm rot="16200000">
            <a:off x="10237514" y="2967989"/>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sp>
        <p:nvSpPr>
          <p:cNvPr id="130" name="Rectangle 129">
            <a:extLst>
              <a:ext uri="{FF2B5EF4-FFF2-40B4-BE49-F238E27FC236}">
                <a16:creationId xmlns:a16="http://schemas.microsoft.com/office/drawing/2014/main" id="{F35B9076-D60B-2BD6-20B2-6740493F9D21}"/>
              </a:ext>
            </a:extLst>
          </p:cNvPr>
          <p:cNvSpPr/>
          <p:nvPr/>
        </p:nvSpPr>
        <p:spPr>
          <a:xfrm>
            <a:off x="9105131" y="3458969"/>
            <a:ext cx="764356"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Data Cache</a:t>
            </a:r>
          </a:p>
        </p:txBody>
      </p:sp>
      <p:sp>
        <p:nvSpPr>
          <p:cNvPr id="131" name="Arrow: Down 130">
            <a:extLst>
              <a:ext uri="{FF2B5EF4-FFF2-40B4-BE49-F238E27FC236}">
                <a16:creationId xmlns:a16="http://schemas.microsoft.com/office/drawing/2014/main" id="{EC5D584F-F381-B6C2-4877-4C40883A1844}"/>
              </a:ext>
            </a:extLst>
          </p:cNvPr>
          <p:cNvSpPr/>
          <p:nvPr/>
        </p:nvSpPr>
        <p:spPr>
          <a:xfrm rot="16200000">
            <a:off x="10261260" y="4702713"/>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grpSp>
        <p:nvGrpSpPr>
          <p:cNvPr id="132" name="Group 131">
            <a:extLst>
              <a:ext uri="{FF2B5EF4-FFF2-40B4-BE49-F238E27FC236}">
                <a16:creationId xmlns:a16="http://schemas.microsoft.com/office/drawing/2014/main" id="{9FA22452-90A8-AE0D-3BC7-3192E85894C1}"/>
              </a:ext>
            </a:extLst>
          </p:cNvPr>
          <p:cNvGrpSpPr/>
          <p:nvPr/>
        </p:nvGrpSpPr>
        <p:grpSpPr>
          <a:xfrm>
            <a:off x="3699273" y="4670922"/>
            <a:ext cx="3272597" cy="736600"/>
            <a:chOff x="3284052" y="4346459"/>
            <a:chExt cx="3272597" cy="736600"/>
          </a:xfrm>
        </p:grpSpPr>
        <p:sp>
          <p:nvSpPr>
            <p:cNvPr id="133" name="Rectangle 132">
              <a:extLst>
                <a:ext uri="{FF2B5EF4-FFF2-40B4-BE49-F238E27FC236}">
                  <a16:creationId xmlns:a16="http://schemas.microsoft.com/office/drawing/2014/main" id="{A859B2D9-1710-9151-BD21-EC4EE8DC02FC}"/>
                </a:ext>
              </a:extLst>
            </p:cNvPr>
            <p:cNvSpPr/>
            <p:nvPr/>
          </p:nvSpPr>
          <p:spPr>
            <a:xfrm>
              <a:off x="3284052" y="4346459"/>
              <a:ext cx="3272597"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Knowledge Graph &amp; Enrichment</a:t>
              </a:r>
            </a:p>
          </p:txBody>
        </p:sp>
        <p:sp>
          <p:nvSpPr>
            <p:cNvPr id="134" name="Rectangle 133">
              <a:extLst>
                <a:ext uri="{FF2B5EF4-FFF2-40B4-BE49-F238E27FC236}">
                  <a16:creationId xmlns:a16="http://schemas.microsoft.com/office/drawing/2014/main" id="{5310DF8A-BFE7-7020-00FD-F23DF6B6D0A3}"/>
                </a:ext>
              </a:extLst>
            </p:cNvPr>
            <p:cNvSpPr/>
            <p:nvPr/>
          </p:nvSpPr>
          <p:spPr>
            <a:xfrm>
              <a:off x="3304509" y="4717968"/>
              <a:ext cx="93005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Graphik"/>
                  <a:ea typeface="+mn-ea"/>
                  <a:cs typeface="+mn-cs"/>
                </a:rPr>
                <a:t>Mapping</a:t>
              </a:r>
            </a:p>
          </p:txBody>
        </p:sp>
        <p:sp>
          <p:nvSpPr>
            <p:cNvPr id="135" name="Rectangle 134">
              <a:extLst>
                <a:ext uri="{FF2B5EF4-FFF2-40B4-BE49-F238E27FC236}">
                  <a16:creationId xmlns:a16="http://schemas.microsoft.com/office/drawing/2014/main" id="{5968BED7-BA50-4BFB-5D3A-EA3F546B7096}"/>
                </a:ext>
              </a:extLst>
            </p:cNvPr>
            <p:cNvSpPr/>
            <p:nvPr/>
          </p:nvSpPr>
          <p:spPr>
            <a:xfrm>
              <a:off x="4433294" y="4715165"/>
              <a:ext cx="93005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Ontology notation </a:t>
              </a:r>
            </a:p>
          </p:txBody>
        </p:sp>
        <p:sp>
          <p:nvSpPr>
            <p:cNvPr id="136" name="Cylinder 135">
              <a:extLst>
                <a:ext uri="{FF2B5EF4-FFF2-40B4-BE49-F238E27FC236}">
                  <a16:creationId xmlns:a16="http://schemas.microsoft.com/office/drawing/2014/main" id="{9A82C37D-D5AA-1406-6A34-56D2556C182D}"/>
                </a:ext>
              </a:extLst>
            </p:cNvPr>
            <p:cNvSpPr/>
            <p:nvPr/>
          </p:nvSpPr>
          <p:spPr>
            <a:xfrm>
              <a:off x="5613177" y="4699095"/>
              <a:ext cx="751476" cy="383964"/>
            </a:xfrm>
            <a:prstGeom prst="can">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900" b="0" i="0" u="none" strike="noStrike" kern="1200" cap="none" spc="0" normalizeH="0" baseline="0" noProof="0" err="1">
                  <a:ln>
                    <a:noFill/>
                  </a:ln>
                  <a:solidFill>
                    <a:srgbClr val="000000"/>
                  </a:solidFill>
                  <a:effectLst/>
                  <a:uLnTx/>
                  <a:uFillTx/>
                  <a:latin typeface="Graphik"/>
                  <a:ea typeface="+mn-ea"/>
                  <a:cs typeface="+mn-cs"/>
                </a:rPr>
                <a:t>Knowledge</a:t>
              </a:r>
              <a:r>
                <a:rPr kumimoji="0" lang="es-MX" sz="900" b="0" i="0" u="none" strike="noStrike" kern="1200" cap="none" spc="0" normalizeH="0" baseline="0" noProof="0">
                  <a:ln>
                    <a:noFill/>
                  </a:ln>
                  <a:solidFill>
                    <a:srgbClr val="000000"/>
                  </a:solidFill>
                  <a:effectLst/>
                  <a:uLnTx/>
                  <a:uFillTx/>
                  <a:latin typeface="Graphik"/>
                  <a:ea typeface="+mn-ea"/>
                  <a:cs typeface="+mn-cs"/>
                </a:rPr>
                <a:t> </a:t>
              </a:r>
              <a:r>
                <a:rPr kumimoji="0" lang="es-MX" sz="900" b="0" i="0" u="none" strike="noStrike" kern="1200" cap="none" spc="0" normalizeH="0" baseline="0" noProof="0" err="1">
                  <a:ln>
                    <a:noFill/>
                  </a:ln>
                  <a:solidFill>
                    <a:srgbClr val="000000"/>
                  </a:solidFill>
                  <a:effectLst/>
                  <a:uLnTx/>
                  <a:uFillTx/>
                  <a:latin typeface="Graphik"/>
                  <a:ea typeface="+mn-ea"/>
                  <a:cs typeface="+mn-cs"/>
                </a:rPr>
                <a:t>Graph</a:t>
              </a:r>
              <a:endParaRPr kumimoji="0" lang="es-MX" sz="900" b="0" i="0" u="none" strike="noStrike" kern="1200" cap="none" spc="0" normalizeH="0" baseline="0" noProof="0">
                <a:ln>
                  <a:noFill/>
                </a:ln>
                <a:solidFill>
                  <a:srgbClr val="000000"/>
                </a:solidFill>
                <a:effectLst/>
                <a:uLnTx/>
                <a:uFillTx/>
                <a:latin typeface="Graphik"/>
                <a:ea typeface="+mn-ea"/>
                <a:cs typeface="+mn-cs"/>
              </a:endParaRPr>
            </a:p>
          </p:txBody>
        </p:sp>
      </p:grpSp>
      <p:sp>
        <p:nvSpPr>
          <p:cNvPr id="137" name="Rectangle: Rounded Corners 136">
            <a:extLst>
              <a:ext uri="{FF2B5EF4-FFF2-40B4-BE49-F238E27FC236}">
                <a16:creationId xmlns:a16="http://schemas.microsoft.com/office/drawing/2014/main" id="{FCEF95AE-3010-B72C-B26D-C9599F0D3251}"/>
              </a:ext>
            </a:extLst>
          </p:cNvPr>
          <p:cNvSpPr/>
          <p:nvPr/>
        </p:nvSpPr>
        <p:spPr>
          <a:xfrm>
            <a:off x="3483571" y="2523349"/>
            <a:ext cx="3727802" cy="4037207"/>
          </a:xfrm>
          <a:prstGeom prst="roundRect">
            <a:avLst>
              <a:gd name="adj" fmla="val 3757"/>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a:ln>
                  <a:noFill/>
                </a:ln>
                <a:solidFill>
                  <a:srgbClr val="000000"/>
                </a:solidFill>
                <a:effectLst/>
                <a:uLnTx/>
                <a:uFillTx/>
                <a:latin typeface="Graphik"/>
                <a:ea typeface="+mn-ea"/>
                <a:cs typeface="+mn-cs"/>
              </a:rPr>
              <a:t>Data </a:t>
            </a:r>
            <a:r>
              <a:rPr kumimoji="0" lang="es-MX" sz="1000" b="1" i="0" u="none" strike="noStrike" kern="1200" cap="none" spc="0" normalizeH="0" baseline="0" noProof="0" err="1">
                <a:ln>
                  <a:noFill/>
                </a:ln>
                <a:solidFill>
                  <a:srgbClr val="000000"/>
                </a:solidFill>
                <a:effectLst/>
                <a:uLnTx/>
                <a:uFillTx/>
                <a:latin typeface="Graphik"/>
                <a:ea typeface="+mn-ea"/>
                <a:cs typeface="+mn-cs"/>
              </a:rPr>
              <a:t>Catalog</a:t>
            </a:r>
            <a:r>
              <a:rPr kumimoji="0" lang="es-MX" sz="1000" b="1" i="0" u="none" strike="noStrike" kern="1200" cap="none" spc="0" normalizeH="0" baseline="0" noProof="0">
                <a:ln>
                  <a:noFill/>
                </a:ln>
                <a:solidFill>
                  <a:srgbClr val="000000"/>
                </a:solidFill>
                <a:effectLst/>
                <a:uLnTx/>
                <a:uFillTx/>
                <a:latin typeface="Graphik"/>
                <a:ea typeface="+mn-ea"/>
                <a:cs typeface="+mn-cs"/>
              </a:rPr>
              <a:t> &amp; </a:t>
            </a:r>
            <a:r>
              <a:rPr kumimoji="0" lang="es-MX" sz="1000" b="1" i="0" u="none" strike="noStrike" kern="1200" cap="none" spc="0" normalizeH="0" baseline="0" noProof="0" err="1">
                <a:ln>
                  <a:noFill/>
                </a:ln>
                <a:solidFill>
                  <a:srgbClr val="000000"/>
                </a:solidFill>
                <a:effectLst/>
                <a:uLnTx/>
                <a:uFillTx/>
                <a:latin typeface="Graphik"/>
                <a:ea typeface="+mn-ea"/>
                <a:cs typeface="+mn-cs"/>
              </a:rPr>
              <a:t>Modeling</a:t>
            </a:r>
            <a:endParaRPr kumimoji="0" lang="es-MX" sz="1000" b="1" i="0" u="none" strike="noStrike" kern="1200" cap="none" spc="0" normalizeH="0" baseline="0" noProof="0">
              <a:ln>
                <a:noFill/>
              </a:ln>
              <a:solidFill>
                <a:srgbClr val="000000"/>
              </a:solidFill>
              <a:effectLst/>
              <a:uLnTx/>
              <a:uFillTx/>
              <a:latin typeface="Graphik"/>
              <a:ea typeface="+mn-ea"/>
              <a:cs typeface="+mn-cs"/>
            </a:endParaRPr>
          </a:p>
        </p:txBody>
      </p:sp>
      <p:cxnSp>
        <p:nvCxnSpPr>
          <p:cNvPr id="138" name="Connector: Elbow 137">
            <a:extLst>
              <a:ext uri="{FF2B5EF4-FFF2-40B4-BE49-F238E27FC236}">
                <a16:creationId xmlns:a16="http://schemas.microsoft.com/office/drawing/2014/main" id="{582F12F0-9E37-6E69-7E4F-15FB8EE39EEA}"/>
              </a:ext>
            </a:extLst>
          </p:cNvPr>
          <p:cNvCxnSpPr>
            <a:cxnSpLocks/>
            <a:stCxn id="88" idx="3"/>
            <a:endCxn id="80" idx="0"/>
          </p:cNvCxnSpPr>
          <p:nvPr/>
        </p:nvCxnSpPr>
        <p:spPr>
          <a:xfrm>
            <a:off x="3276442" y="2427099"/>
            <a:ext cx="5643528" cy="329740"/>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9" name="Rectangle 138">
            <a:extLst>
              <a:ext uri="{FF2B5EF4-FFF2-40B4-BE49-F238E27FC236}">
                <a16:creationId xmlns:a16="http://schemas.microsoft.com/office/drawing/2014/main" id="{45D9D988-A0A8-8C85-CC7F-EECE4B0B7692}"/>
              </a:ext>
            </a:extLst>
          </p:cNvPr>
          <p:cNvSpPr/>
          <p:nvPr/>
        </p:nvSpPr>
        <p:spPr>
          <a:xfrm>
            <a:off x="2194523" y="3463034"/>
            <a:ext cx="93005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Connectors</a:t>
            </a:r>
          </a:p>
        </p:txBody>
      </p:sp>
      <p:sp>
        <p:nvSpPr>
          <p:cNvPr id="140" name="Rectangle 139">
            <a:extLst>
              <a:ext uri="{FF2B5EF4-FFF2-40B4-BE49-F238E27FC236}">
                <a16:creationId xmlns:a16="http://schemas.microsoft.com/office/drawing/2014/main" id="{AD8DC327-AA9E-0C5E-34B4-E1117A049D9D}"/>
              </a:ext>
            </a:extLst>
          </p:cNvPr>
          <p:cNvSpPr/>
          <p:nvPr/>
        </p:nvSpPr>
        <p:spPr>
          <a:xfrm>
            <a:off x="2194524" y="3874157"/>
            <a:ext cx="930052"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APIs</a:t>
            </a:r>
          </a:p>
        </p:txBody>
      </p:sp>
      <p:sp>
        <p:nvSpPr>
          <p:cNvPr id="141" name="Arrow: Down 140">
            <a:extLst>
              <a:ext uri="{FF2B5EF4-FFF2-40B4-BE49-F238E27FC236}">
                <a16:creationId xmlns:a16="http://schemas.microsoft.com/office/drawing/2014/main" id="{2BD2674B-A440-6536-456A-380E056D19CE}"/>
              </a:ext>
            </a:extLst>
          </p:cNvPr>
          <p:cNvSpPr/>
          <p:nvPr/>
        </p:nvSpPr>
        <p:spPr>
          <a:xfrm rot="16200000">
            <a:off x="1908086" y="3663104"/>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sp>
        <p:nvSpPr>
          <p:cNvPr id="142" name="Arrow: Down 141">
            <a:extLst>
              <a:ext uri="{FF2B5EF4-FFF2-40B4-BE49-F238E27FC236}">
                <a16:creationId xmlns:a16="http://schemas.microsoft.com/office/drawing/2014/main" id="{BDDA44C0-E245-660F-E527-6A1D28451834}"/>
              </a:ext>
            </a:extLst>
          </p:cNvPr>
          <p:cNvSpPr/>
          <p:nvPr/>
        </p:nvSpPr>
        <p:spPr>
          <a:xfrm rot="16200000">
            <a:off x="3258166" y="3705808"/>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sp>
        <p:nvSpPr>
          <p:cNvPr id="143" name="Rectangle 142">
            <a:extLst>
              <a:ext uri="{FF2B5EF4-FFF2-40B4-BE49-F238E27FC236}">
                <a16:creationId xmlns:a16="http://schemas.microsoft.com/office/drawing/2014/main" id="{F31938FF-08BD-007A-0822-096C288EDDF7}"/>
              </a:ext>
            </a:extLst>
          </p:cNvPr>
          <p:cNvSpPr/>
          <p:nvPr/>
        </p:nvSpPr>
        <p:spPr>
          <a:xfrm>
            <a:off x="10629302" y="4488306"/>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t>
            </a:r>
          </a:p>
        </p:txBody>
      </p:sp>
      <p:sp>
        <p:nvSpPr>
          <p:cNvPr id="144" name="Rectangle 143">
            <a:extLst>
              <a:ext uri="{FF2B5EF4-FFF2-40B4-BE49-F238E27FC236}">
                <a16:creationId xmlns:a16="http://schemas.microsoft.com/office/drawing/2014/main" id="{CF96E24E-BF62-DBEB-253A-869F286D85A9}"/>
              </a:ext>
            </a:extLst>
          </p:cNvPr>
          <p:cNvSpPr/>
          <p:nvPr/>
        </p:nvSpPr>
        <p:spPr>
          <a:xfrm>
            <a:off x="275458" y="4468850"/>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a:t>
            </a:r>
          </a:p>
        </p:txBody>
      </p:sp>
      <p:sp>
        <p:nvSpPr>
          <p:cNvPr id="145" name="TextBox 144">
            <a:extLst>
              <a:ext uri="{FF2B5EF4-FFF2-40B4-BE49-F238E27FC236}">
                <a16:creationId xmlns:a16="http://schemas.microsoft.com/office/drawing/2014/main" id="{64D977A7-898E-B795-1C7A-2B588947CACF}"/>
              </a:ext>
            </a:extLst>
          </p:cNvPr>
          <p:cNvSpPr txBox="1"/>
          <p:nvPr/>
        </p:nvSpPr>
        <p:spPr>
          <a:xfrm>
            <a:off x="2801772" y="1188484"/>
            <a:ext cx="2861944" cy="24622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rgbClr val="000000"/>
                </a:solidFill>
                <a:effectLst/>
                <a:uLnTx/>
                <a:uFillTx/>
                <a:latin typeface="Graphik"/>
                <a:ea typeface="+mn-ea"/>
                <a:cs typeface="+mn-cs"/>
              </a:rPr>
              <a:t>Data pipelines &amp; </a:t>
            </a:r>
            <a:r>
              <a:rPr kumimoji="0" lang="es-MX" sz="1000" b="1" i="0" u="none" strike="noStrike" kern="1200" cap="none" spc="0" normalizeH="0" baseline="0" noProof="0" dirty="0" err="1">
                <a:ln>
                  <a:noFill/>
                </a:ln>
                <a:solidFill>
                  <a:srgbClr val="000000"/>
                </a:solidFill>
                <a:effectLst/>
                <a:uLnTx/>
                <a:uFillTx/>
                <a:latin typeface="Graphik"/>
                <a:ea typeface="+mn-ea"/>
                <a:cs typeface="+mn-cs"/>
              </a:rPr>
              <a:t>delivery</a:t>
            </a:r>
            <a:endParaRPr kumimoji="0" lang="es-MX" sz="1000" b="1" i="0" u="none" strike="noStrike" kern="1200" cap="none" spc="0" normalizeH="0" baseline="0" noProof="0" dirty="0">
              <a:ln>
                <a:noFill/>
              </a:ln>
              <a:solidFill>
                <a:srgbClr val="000000"/>
              </a:solidFill>
              <a:effectLst/>
              <a:uLnTx/>
              <a:uFillTx/>
              <a:latin typeface="Graphik"/>
              <a:ea typeface="+mn-ea"/>
              <a:cs typeface="+mn-cs"/>
            </a:endParaRPr>
          </a:p>
        </p:txBody>
      </p:sp>
      <p:sp>
        <p:nvSpPr>
          <p:cNvPr id="146" name="TextBox 145">
            <a:extLst>
              <a:ext uri="{FF2B5EF4-FFF2-40B4-BE49-F238E27FC236}">
                <a16:creationId xmlns:a16="http://schemas.microsoft.com/office/drawing/2014/main" id="{A62830A0-C134-BD77-9C75-297D0753B1A0}"/>
              </a:ext>
            </a:extLst>
          </p:cNvPr>
          <p:cNvSpPr txBox="1"/>
          <p:nvPr/>
        </p:nvSpPr>
        <p:spPr>
          <a:xfrm>
            <a:off x="2759966" y="1962733"/>
            <a:ext cx="2861944" cy="24622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a:ln>
                  <a:noFill/>
                </a:ln>
                <a:solidFill>
                  <a:srgbClr val="000000"/>
                </a:solidFill>
                <a:effectLst/>
                <a:uLnTx/>
                <a:uFillTx/>
                <a:latin typeface="Graphik"/>
                <a:ea typeface="+mn-ea"/>
                <a:cs typeface="+mn-cs"/>
              </a:rPr>
              <a:t>Data pipelines &amp; </a:t>
            </a:r>
            <a:r>
              <a:rPr kumimoji="0" lang="es-MX" sz="1000" b="1" i="0" u="none" strike="noStrike" kern="1200" cap="none" spc="0" normalizeH="0" baseline="0" noProof="0" err="1">
                <a:ln>
                  <a:noFill/>
                </a:ln>
                <a:solidFill>
                  <a:srgbClr val="000000"/>
                </a:solidFill>
                <a:effectLst/>
                <a:uLnTx/>
                <a:uFillTx/>
                <a:latin typeface="Graphik"/>
                <a:ea typeface="+mn-ea"/>
                <a:cs typeface="+mn-cs"/>
              </a:rPr>
              <a:t>delivery</a:t>
            </a:r>
            <a:endParaRPr kumimoji="0" lang="es-MX" sz="1000" b="1" i="0" u="none" strike="noStrike" kern="1200" cap="none" spc="0" normalizeH="0" baseline="0" noProof="0">
              <a:ln>
                <a:noFill/>
              </a:ln>
              <a:solidFill>
                <a:srgbClr val="000000"/>
              </a:solidFill>
              <a:effectLst/>
              <a:uLnTx/>
              <a:uFillTx/>
              <a:latin typeface="Graphik"/>
              <a:ea typeface="+mn-ea"/>
              <a:cs typeface="+mn-cs"/>
            </a:endParaRPr>
          </a:p>
        </p:txBody>
      </p:sp>
      <p:cxnSp>
        <p:nvCxnSpPr>
          <p:cNvPr id="147" name="Connector: Elbow 146">
            <a:extLst>
              <a:ext uri="{FF2B5EF4-FFF2-40B4-BE49-F238E27FC236}">
                <a16:creationId xmlns:a16="http://schemas.microsoft.com/office/drawing/2014/main" id="{B286E070-9F79-8C83-3696-E1A0B666F2EF}"/>
              </a:ext>
            </a:extLst>
          </p:cNvPr>
          <p:cNvCxnSpPr>
            <a:stCxn id="87" idx="3"/>
            <a:endCxn id="77" idx="1"/>
          </p:cNvCxnSpPr>
          <p:nvPr/>
        </p:nvCxnSpPr>
        <p:spPr>
          <a:xfrm>
            <a:off x="3292843" y="1699231"/>
            <a:ext cx="4411708" cy="2969975"/>
          </a:xfrm>
          <a:prstGeom prst="bentConnector3">
            <a:avLst>
              <a:gd name="adj1" fmla="val 93658"/>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Connector: Elbow 147">
            <a:extLst>
              <a:ext uri="{FF2B5EF4-FFF2-40B4-BE49-F238E27FC236}">
                <a16:creationId xmlns:a16="http://schemas.microsoft.com/office/drawing/2014/main" id="{B947090F-B5EC-46B2-F431-56BFAFF7AC38}"/>
              </a:ext>
            </a:extLst>
          </p:cNvPr>
          <p:cNvCxnSpPr>
            <a:cxnSpLocks/>
            <a:stCxn id="88" idx="3"/>
            <a:endCxn id="80" idx="1"/>
          </p:cNvCxnSpPr>
          <p:nvPr/>
        </p:nvCxnSpPr>
        <p:spPr>
          <a:xfrm>
            <a:off x="3276442" y="2427099"/>
            <a:ext cx="4410793" cy="473740"/>
          </a:xfrm>
          <a:prstGeom prst="bentConnector3">
            <a:avLst>
              <a:gd name="adj1" fmla="val 93888"/>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9" name="Arrow: Down 148">
            <a:extLst>
              <a:ext uri="{FF2B5EF4-FFF2-40B4-BE49-F238E27FC236}">
                <a16:creationId xmlns:a16="http://schemas.microsoft.com/office/drawing/2014/main" id="{BB8ECB69-282B-0521-F1FB-2CF47E9763D3}"/>
              </a:ext>
            </a:extLst>
          </p:cNvPr>
          <p:cNvSpPr/>
          <p:nvPr/>
        </p:nvSpPr>
        <p:spPr>
          <a:xfrm rot="16200000">
            <a:off x="7349182" y="3061301"/>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sp>
        <p:nvSpPr>
          <p:cNvPr id="150" name="Rectangle 149">
            <a:extLst>
              <a:ext uri="{FF2B5EF4-FFF2-40B4-BE49-F238E27FC236}">
                <a16:creationId xmlns:a16="http://schemas.microsoft.com/office/drawing/2014/main" id="{5F15F3D0-D2B1-2B12-3B8A-44478CBB0011}"/>
              </a:ext>
            </a:extLst>
          </p:cNvPr>
          <p:cNvSpPr/>
          <p:nvPr/>
        </p:nvSpPr>
        <p:spPr>
          <a:xfrm>
            <a:off x="8928418" y="5977679"/>
            <a:ext cx="2880000" cy="180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mn-cs"/>
              </a:rPr>
              <a:t>Main components of this capability</a:t>
            </a:r>
          </a:p>
        </p:txBody>
      </p:sp>
      <p:sp>
        <p:nvSpPr>
          <p:cNvPr id="151" name="Rectangle 150">
            <a:extLst>
              <a:ext uri="{FF2B5EF4-FFF2-40B4-BE49-F238E27FC236}">
                <a16:creationId xmlns:a16="http://schemas.microsoft.com/office/drawing/2014/main" id="{887E2987-E3B0-824F-A870-69F9B6476F6A}"/>
              </a:ext>
            </a:extLst>
          </p:cNvPr>
          <p:cNvSpPr/>
          <p:nvPr/>
        </p:nvSpPr>
        <p:spPr>
          <a:xfrm>
            <a:off x="8928418" y="6211831"/>
            <a:ext cx="2880000" cy="18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Components of other related capabilities</a:t>
            </a:r>
          </a:p>
        </p:txBody>
      </p:sp>
      <p:sp>
        <p:nvSpPr>
          <p:cNvPr id="152" name="Rectangle 151">
            <a:extLst>
              <a:ext uri="{FF2B5EF4-FFF2-40B4-BE49-F238E27FC236}">
                <a16:creationId xmlns:a16="http://schemas.microsoft.com/office/drawing/2014/main" id="{4F2C8E21-1BCD-D338-D620-E9E057656443}"/>
              </a:ext>
            </a:extLst>
          </p:cNvPr>
          <p:cNvSpPr/>
          <p:nvPr/>
        </p:nvSpPr>
        <p:spPr>
          <a:xfrm>
            <a:off x="8928418" y="6428256"/>
            <a:ext cx="288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Functional Components related to this capability</a:t>
            </a:r>
          </a:p>
        </p:txBody>
      </p:sp>
      <p:sp>
        <p:nvSpPr>
          <p:cNvPr id="153" name="Rectangle 152">
            <a:extLst>
              <a:ext uri="{FF2B5EF4-FFF2-40B4-BE49-F238E27FC236}">
                <a16:creationId xmlns:a16="http://schemas.microsoft.com/office/drawing/2014/main" id="{2E528A92-60E0-7BAA-8D33-0F4C1B683384}"/>
              </a:ext>
            </a:extLst>
          </p:cNvPr>
          <p:cNvSpPr/>
          <p:nvPr/>
        </p:nvSpPr>
        <p:spPr>
          <a:xfrm>
            <a:off x="1788777" y="980466"/>
            <a:ext cx="7972474" cy="141451"/>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a:ea typeface="+mn-ea"/>
                <a:cs typeface="+mn-cs"/>
              </a:rPr>
              <a:t>Observability</a:t>
            </a:r>
          </a:p>
        </p:txBody>
      </p:sp>
    </p:spTree>
    <p:extLst>
      <p:ext uri="{BB962C8B-B14F-4D97-AF65-F5344CB8AC3E}">
        <p14:creationId xmlns:p14="http://schemas.microsoft.com/office/powerpoint/2010/main" val="32182403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QPT_STAMP" val="00"/>
</p:tagLst>
</file>

<file path=ppt/theme/theme1.xml><?xml version="1.0" encoding="utf-8"?>
<a:theme xmlns:a="http://schemas.openxmlformats.org/drawingml/2006/main" name="Accenture 2020">
  <a:themeElements>
    <a:clrScheme name="accenture new">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Accenture - 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custClrLst>
    <a:custClr name="Accent Purple 1">
      <a:srgbClr val="B455AA"/>
    </a:custClr>
    <a:custClr name="Accent Purple 2">
      <a:srgbClr val="A055F5"/>
    </a:custClr>
    <a:custClr name="Accent Purple 3">
      <a:srgbClr val="BE82FF"/>
    </a:custClr>
    <a:custClr name="Accent Purple 4">
      <a:srgbClr val="DCAFFF"/>
    </a:custClr>
    <a:custClr name="Accent Purple 5">
      <a:srgbClr val="E6DCFF"/>
    </a:custClr>
    <a:custClr name="BLANK">
      <a:srgbClr val="FFFFFF"/>
    </a:custClr>
    <a:custClr name="BLANK">
      <a:srgbClr val="FFFFFF"/>
    </a:custClr>
    <a:custClr name="BLANK">
      <a:srgbClr val="FFFFFF"/>
    </a:custClr>
    <a:custClr name="BLANK">
      <a:srgbClr val="FFFFFF"/>
    </a:custClr>
    <a:custClr name="BLANK">
      <a:srgbClr val="FFFFFF"/>
    </a:custClr>
    <a:custClr name="Blue">
      <a:srgbClr val="0041F0"/>
    </a:custClr>
    <a:custClr name="Light Blue">
      <a:srgbClr val="00FFFF"/>
    </a:custClr>
    <a:custClr name="Green">
      <a:srgbClr val="64FF50"/>
    </a:custClr>
    <a:custClr name="Blue Green">
      <a:srgbClr val="05F0A5"/>
    </a:custClr>
    <a:custClr name="Red">
      <a:srgbClr val="FF3246"/>
    </a:custClr>
    <a:custClr name="Pink">
      <a:srgbClr val="FF50A0"/>
    </a:custClr>
    <a:custClr name="Orange">
      <a:srgbClr val="FF7800"/>
    </a:custClr>
    <a:custClr name="Yellow">
      <a:srgbClr val="FFEB32"/>
    </a:custClr>
    <a:custClr name="BLANK">
      <a:srgbClr val="FFFFFF"/>
    </a:custClr>
    <a:custClr name="BLANK">
      <a:srgbClr val="FFFFFF"/>
    </a:custClr>
  </a:custClrLst>
  <a:extLst>
    <a:ext uri="{05A4C25C-085E-4340-85A3-A5531E510DB2}">
      <thm15:themeFamily xmlns:thm15="http://schemas.microsoft.com/office/thememl/2012/main" name="IMP_Acc_PPT_Tmplt_Graphik_210225_Fixed_Accessible.potx" id="{80BF15C9-A5DA-472C-9F1E-82F4EBB43D59}" vid="{02DD174B-CE7A-418B-90DA-AC9D16AAE5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cf21e1d-e7b2-4ba8-bb72-ca5e3ff425f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C2648767ADDAC4198CE9FAE936A0E2E" ma:contentTypeVersion="10" ma:contentTypeDescription="Create a new document." ma:contentTypeScope="" ma:versionID="bfce7f8d432cf4f2b54d649024185cc8">
  <xsd:schema xmlns:xsd="http://www.w3.org/2001/XMLSchema" xmlns:xs="http://www.w3.org/2001/XMLSchema" xmlns:p="http://schemas.microsoft.com/office/2006/metadata/properties" xmlns:ns2="bcf21e1d-e7b2-4ba8-bb72-ca5e3ff425f9" targetNamespace="http://schemas.microsoft.com/office/2006/metadata/properties" ma:root="true" ma:fieldsID="db0e3ff7a073da1765cf4c642dfd2d3e" ns2:_="">
    <xsd:import namespace="bcf21e1d-e7b2-4ba8-bb72-ca5e3ff425f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f21e1d-e7b2-4ba8-bb72-ca5e3ff425f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displayName="Image Tags_0" ma:hidden="true" ma:internalName="lcf76f155ced4ddcb4097134ff3c332f">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BillingMetadata" ma:index="1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8AD657-25AC-4F50-95F1-0B029CF60CB1}">
  <ds:schemaRefs>
    <ds:schemaRef ds:uri="http://schemas.microsoft.com/sharepoint/v3/contenttype/forms"/>
  </ds:schemaRefs>
</ds:datastoreItem>
</file>

<file path=customXml/itemProps2.xml><?xml version="1.0" encoding="utf-8"?>
<ds:datastoreItem xmlns:ds="http://schemas.openxmlformats.org/officeDocument/2006/customXml" ds:itemID="{C1CD996F-457C-414C-8BBE-D8D5442B4851}">
  <ds:schemaRefs>
    <ds:schemaRef ds:uri="http://schemas.microsoft.com/office/2006/metadata/properties"/>
    <ds:schemaRef ds:uri="http://schemas.microsoft.com/office/infopath/2007/PartnerControls"/>
    <ds:schemaRef ds:uri="bcf21e1d-e7b2-4ba8-bb72-ca5e3ff425f9"/>
  </ds:schemaRefs>
</ds:datastoreItem>
</file>

<file path=customXml/itemProps3.xml><?xml version="1.0" encoding="utf-8"?>
<ds:datastoreItem xmlns:ds="http://schemas.openxmlformats.org/officeDocument/2006/customXml" ds:itemID="{A7E6439D-DCA4-4980-9C0F-BCC30A2154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cf21e1d-e7b2-4ba8-bb72-ca5e3ff425f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otalTime>1859</TotalTime>
  <Words>12671</Words>
  <Application>Microsoft Office PowerPoint</Application>
  <PresentationFormat>Widescreen</PresentationFormat>
  <Paragraphs>2055</Paragraphs>
  <Slides>49</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49</vt:i4>
      </vt:variant>
    </vt:vector>
  </HeadingPairs>
  <TitlesOfParts>
    <vt:vector size="59" baseType="lpstr">
      <vt:lpstr>Aptos</vt:lpstr>
      <vt:lpstr>Arial</vt:lpstr>
      <vt:lpstr>Calibri</vt:lpstr>
      <vt:lpstr>Graphik</vt:lpstr>
      <vt:lpstr>Graphik (Body)</vt:lpstr>
      <vt:lpstr>Graphik Light</vt:lpstr>
      <vt:lpstr>Graphik Medium</vt:lpstr>
      <vt:lpstr>Graphik Regular</vt:lpstr>
      <vt:lpstr>Graphik Semibold</vt:lpstr>
      <vt:lpstr>Accenture 2020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Pietrzyk, Lukasz</dc:creator>
  <cp:lastModifiedBy>Villena, Jose</cp:lastModifiedBy>
  <cp:revision>5</cp:revision>
  <dcterms:created xsi:type="dcterms:W3CDTF">2026-08-04T17:07:05Z</dcterms:created>
  <dcterms:modified xsi:type="dcterms:W3CDTF">2026-08-11T00:29:04Z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0x010100CC2648767ADDAC4198CE9FAE936A0E2E</vt:lpwstr>
  </property>
</Properties>
</file>