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3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notesSlides/notesSlide9.xml" ContentType="application/vnd.openxmlformats-officedocument.presentationml.notesSlide+xml"/>
  <Override PartName="/ppt/tags/tag22.xml" ContentType="application/vnd.openxmlformats-officedocument.presentationml.tags+xml"/>
  <Override PartName="/ppt/notesSlides/notesSlide10.xml" ContentType="application/vnd.openxmlformats-officedocument.presentationml.notesSlide+xml"/>
  <Override PartName="/ppt/comments/modernComment_10F_E54290C6.xml" ContentType="application/vnd.ms-powerpoint.comments+xml"/>
  <Override PartName="/ppt/tags/tag23.xml" ContentType="application/vnd.openxmlformats-officedocument.presentationml.tags+xml"/>
  <Override PartName="/ppt/notesSlides/notesSlide11.xml" ContentType="application/vnd.openxmlformats-officedocument.presentationml.notesSlide+xml"/>
  <Override PartName="/ppt/comments/modernComment_133_9AF6697E.xml" ContentType="application/vnd.ms-powerpoint.comment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0" r:id="rId4"/>
    <p:sldMasterId id="2147484641" r:id="rId5"/>
  </p:sldMasterIdLst>
  <p:notesMasterIdLst>
    <p:notesMasterId r:id="rId23"/>
  </p:notesMasterIdLst>
  <p:sldIdLst>
    <p:sldId id="2147483644" r:id="rId6"/>
    <p:sldId id="2147483645" r:id="rId7"/>
    <p:sldId id="276" r:id="rId8"/>
    <p:sldId id="283" r:id="rId9"/>
    <p:sldId id="339" r:id="rId10"/>
    <p:sldId id="340" r:id="rId11"/>
    <p:sldId id="341" r:id="rId12"/>
    <p:sldId id="2147483646" r:id="rId13"/>
    <p:sldId id="295" r:id="rId14"/>
    <p:sldId id="264" r:id="rId15"/>
    <p:sldId id="269" r:id="rId16"/>
    <p:sldId id="266" r:id="rId17"/>
    <p:sldId id="271" r:id="rId18"/>
    <p:sldId id="307" r:id="rId19"/>
    <p:sldId id="2147483647" r:id="rId20"/>
    <p:sldId id="279" r:id="rId21"/>
    <p:sldId id="327" r:id="rId22"/>
  </p:sldIdLst>
  <p:sldSz cx="12192000" cy="6858000"/>
  <p:notesSz cx="9388475" cy="7102475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3272564-A6C6-4369-8E37-565D1A829957}">
          <p14:sldIdLst>
            <p14:sldId id="2147483644"/>
            <p14:sldId id="2147483645"/>
            <p14:sldId id="276"/>
          </p14:sldIdLst>
        </p14:section>
        <p14:section name="Hallazgos" id="{1FFB6C62-BF96-46B4-A6F7-C4B83441B597}">
          <p14:sldIdLst>
            <p14:sldId id="283"/>
            <p14:sldId id="339"/>
            <p14:sldId id="340"/>
            <p14:sldId id="341"/>
          </p14:sldIdLst>
        </p14:section>
        <p14:section name="Entregables" id="{38866C47-F99E-491C-8251-45ED6DB59568}">
          <p14:sldIdLst>
            <p14:sldId id="2147483646"/>
            <p14:sldId id="295"/>
            <p14:sldId id="264"/>
            <p14:sldId id="269"/>
            <p14:sldId id="266"/>
            <p14:sldId id="271"/>
            <p14:sldId id="307"/>
          </p14:sldIdLst>
        </p14:section>
        <p14:section name="Soporte" id="{7F1A0A5E-22F0-4BB2-9112-B3BDA16CDA90}">
          <p14:sldIdLst>
            <p14:sldId id="2147483647"/>
            <p14:sldId id="279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8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FDCF3741-9776-F151-1B5A-E3C9C995371B}" name="Velasco, Mayra" initials="VM" userId="S::mayra.ignacio@accenture.com::ca589417-dd7d-483b-b619-475b463faa7f" providerId="AD"/>
  <p188:author id="{FCCFEC43-BE54-30AF-1E48-68AFF5B3CA67}" name="Lorenzo Díaz, Pablo" initials="PL" userId="S::p.lorenzo.diaz@accenture.com::bac49e77-f39a-40a2-af48-1e84dc2b788f" providerId="AD"/>
  <p188:author id="{80DC394E-8828-81B9-0686-8BAAC24BC3FE}" name="Gerarduzzi, Danisa" initials="DG" userId="S::elsa.gerarduzzi@accenture.com::46b3a2a2-768c-4f1d-8a74-0808aa2d11a8" providerId="AD"/>
  <p188:author id="{025ED881-E16D-3EB1-CBC8-37A11153A06F}" name="Navajas, Joaquin" initials="" userId="S::joaquin.navajas@accenture.com::d368d708-ba4f-4036-b211-e6c4f80108fd" providerId="AD"/>
  <p188:author id="{A770F4AC-A2E9-F326-CBFC-2127823AE038}" name="Gonzalez, Ricardo" initials="RG" userId="S::r.e.gonzalez@accenture.com::5c406df1-76ad-4907-9fdb-7671f9b71e65" providerId="AD"/>
  <p188:author id="{44A5B0AD-993A-E73E-016F-DF169FEE2D52}" name="Morales, Daniela" initials="DM" userId="S::daniela.morales.b@accenture.com::faaedd4a-4fb0-4be0-9ccb-3a03645f3132" providerId="AD"/>
  <p188:author id="{6771E5C5-D74F-8E8A-4AAC-9AFA63E3500D}" name="Pietrzyk, Lukasz" initials="LP" userId="S::lukasz.pietrzyk@accenture.com::3c523eea-d990-46ae-90d9-b9bf542e4057" providerId="AD"/>
  <p188:author id="{0235FBC8-C135-BBA1-CA85-8CE39297297B}" name="Ugalde, Santiago" initials="SU" userId="S::santiago.ugalde@accenture.com::58928153-44f0-4c2d-9a65-cb7fc0e44e61" providerId="AD"/>
  <p188:author id="{BCB5EDE9-F8E2-29FB-1561-2DAA8D006911}" name="Garcia, Alejandro Alonso" initials="" userId="S::alejandro.alonso@accenture.com::646a68a4-4dae-4858-8776-bd713d25ccb0" providerId="AD"/>
  <p188:author id="{FB84A7F9-1274-78D6-CBE6-B0D03601A912}" name="Antonio Pichardo, Joaquín Ernesto" initials="JA" userId="S::j.antonio.pichardo@accenture.com::c87ddcfd-47b6-4d33-88ec-183604329254" providerId="AD"/>
  <p188:author id="{9DF6B3FD-F33B-E7E1-62D2-0647B5CE509C}" name="Monroy, salomon" initials="sM" userId="S::salomon.monroy@accenture.com::ab7d8846-b743-44af-a94c-cdcf62ed275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1DF3"/>
    <a:srgbClr val="F0D224"/>
    <a:srgbClr val="F2F2F2"/>
    <a:srgbClr val="D9E0FB"/>
    <a:srgbClr val="595959"/>
    <a:srgbClr val="D9D9D9"/>
    <a:srgbClr val="2E9E4F"/>
    <a:srgbClr val="FFFFFF"/>
    <a:srgbClr val="1CA8F7"/>
    <a:srgbClr val="F3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F6E35A-490A-471E-B348-56A2FF04B38D}" v="798" dt="2026-07-06T23:54:36.109"/>
    <p1510:client id="{FC6D8632-152C-42F0-996A-582A7D9765DF}" v="19" dt="2026-07-07T16:23:04.908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8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gs" Target="tags/tag1.xml"/><Relationship Id="rId32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ales, Daniela" userId="faaedd4a-4fb0-4be0-9ccb-3a03645f3132" providerId="ADAL" clId="{E6C242E2-81BD-4BF8-BD0B-125D290A62DB}"/>
    <pc:docChg chg="undo custSel addSld delSld modSld sldOrd delMainMaster addSection delSection modSection">
      <pc:chgData name="Morales, Daniela" userId="faaedd4a-4fb0-4be0-9ccb-3a03645f3132" providerId="ADAL" clId="{E6C242E2-81BD-4BF8-BD0B-125D290A62DB}" dt="2026-07-06T23:54:36.109" v="1024" actId="1076"/>
      <pc:docMkLst>
        <pc:docMk/>
      </pc:docMkLst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1546650541" sldId="256"/>
        </pc:sldMkLst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3574751035" sldId="257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2806038456" sldId="258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440857544" sldId="259"/>
        </pc:sldMkLst>
      </pc:sldChg>
      <pc:sldChg chg="del">
        <pc:chgData name="Morales, Daniela" userId="faaedd4a-4fb0-4be0-9ccb-3a03645f3132" providerId="ADAL" clId="{E6C242E2-81BD-4BF8-BD0B-125D290A62DB}" dt="2026-07-06T23:36:01.637" v="9" actId="47"/>
        <pc:sldMkLst>
          <pc:docMk/>
          <pc:sldMk cId="2904582358" sldId="260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4281891707" sldId="261"/>
        </pc:sldMkLst>
      </pc:sldChg>
      <pc:sldChg chg="del">
        <pc:chgData name="Morales, Daniela" userId="faaedd4a-4fb0-4be0-9ccb-3a03645f3132" providerId="ADAL" clId="{E6C242E2-81BD-4BF8-BD0B-125D290A62DB}" dt="2026-07-06T23:35:59.717" v="8" actId="47"/>
        <pc:sldMkLst>
          <pc:docMk/>
          <pc:sldMk cId="862776976" sldId="262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202463853" sldId="263"/>
        </pc:sldMkLst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1016493752" sldId="265"/>
        </pc:sldMkLst>
      </pc:sldChg>
      <pc:sldChg chg="del">
        <pc:chgData name="Morales, Daniela" userId="faaedd4a-4fb0-4be0-9ccb-3a03645f3132" providerId="ADAL" clId="{E6C242E2-81BD-4BF8-BD0B-125D290A62DB}" dt="2026-07-06T23:36:02.657" v="10" actId="47"/>
        <pc:sldMkLst>
          <pc:docMk/>
          <pc:sldMk cId="2195854400" sldId="267"/>
        </pc:sldMkLst>
      </pc:sldChg>
      <pc:sldChg chg="del">
        <pc:chgData name="Morales, Daniela" userId="faaedd4a-4fb0-4be0-9ccb-3a03645f3132" providerId="ADAL" clId="{E6C242E2-81BD-4BF8-BD0B-125D290A62DB}" dt="2026-07-06T23:35:47.131" v="7" actId="47"/>
        <pc:sldMkLst>
          <pc:docMk/>
          <pc:sldMk cId="538246667" sldId="268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1503000974" sldId="270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1642445776" sldId="272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498263326" sldId="273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2125456202" sldId="274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949445018" sldId="275"/>
        </pc:sldMkLst>
      </pc:sldChg>
      <pc:sldChg chg="ord">
        <pc:chgData name="Morales, Daniela" userId="faaedd4a-4fb0-4be0-9ccb-3a03645f3132" providerId="ADAL" clId="{E6C242E2-81BD-4BF8-BD0B-125D290A62DB}" dt="2026-07-06T23:34:31.866" v="1"/>
        <pc:sldMkLst>
          <pc:docMk/>
          <pc:sldMk cId="2686525761" sldId="276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4226847579" sldId="277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824234774" sldId="278"/>
        </pc:sldMkLst>
      </pc:sldChg>
      <pc:sldChg chg="ord">
        <pc:chgData name="Morales, Daniela" userId="faaedd4a-4fb0-4be0-9ccb-3a03645f3132" providerId="ADAL" clId="{E6C242E2-81BD-4BF8-BD0B-125D290A62DB}" dt="2026-07-06T23:39:58.367" v="167"/>
        <pc:sldMkLst>
          <pc:docMk/>
          <pc:sldMk cId="1149383207" sldId="279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1881417960" sldId="280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233986134" sldId="281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1445575402" sldId="282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641651986" sldId="283"/>
        </pc:sldMkLst>
      </pc:sldChg>
      <pc:sldChg chg="modSp add mod">
        <pc:chgData name="Morales, Daniela" userId="faaedd4a-4fb0-4be0-9ccb-3a03645f3132" providerId="ADAL" clId="{E6C242E2-81BD-4BF8-BD0B-125D290A62DB}" dt="2026-07-06T23:40:44.491" v="210" actId="299"/>
        <pc:sldMkLst>
          <pc:docMk/>
          <pc:sldMk cId="3268912720" sldId="283"/>
        </pc:sldMkLst>
        <pc:spChg chg="mod">
          <ac:chgData name="Morales, Daniela" userId="faaedd4a-4fb0-4be0-9ccb-3a03645f3132" providerId="ADAL" clId="{E6C242E2-81BD-4BF8-BD0B-125D290A62DB}" dt="2026-07-06T23:40:44.491" v="210" actId="299"/>
          <ac:spMkLst>
            <pc:docMk/>
            <pc:sldMk cId="3268912720" sldId="283"/>
            <ac:spMk id="2" creationId="{B8BB2004-AA8A-67A9-2BCB-5BE565E7CD14}"/>
          </ac:spMkLst>
        </pc:spChg>
      </pc:sldChg>
      <pc:sldChg chg="del">
        <pc:chgData name="Morales, Daniela" userId="faaedd4a-4fb0-4be0-9ccb-3a03645f3132" providerId="ADAL" clId="{E6C242E2-81BD-4BF8-BD0B-125D290A62DB}" dt="2026-07-06T23:35:46.170" v="6" actId="47"/>
        <pc:sldMkLst>
          <pc:docMk/>
          <pc:sldMk cId="1566192282" sldId="284"/>
        </pc:sldMkLst>
      </pc:sldChg>
      <pc:sldChg chg="del">
        <pc:chgData name="Morales, Daniela" userId="faaedd4a-4fb0-4be0-9ccb-3a03645f3132" providerId="ADAL" clId="{E6C242E2-81BD-4BF8-BD0B-125D290A62DB}" dt="2026-07-06T23:35:44.706" v="5" actId="47"/>
        <pc:sldMkLst>
          <pc:docMk/>
          <pc:sldMk cId="1754997701" sldId="285"/>
        </pc:sldMkLst>
      </pc:sldChg>
      <pc:sldChg chg="del">
        <pc:chgData name="Morales, Daniela" userId="faaedd4a-4fb0-4be0-9ccb-3a03645f3132" providerId="ADAL" clId="{E6C242E2-81BD-4BF8-BD0B-125D290A62DB}" dt="2026-07-06T23:35:32.088" v="4" actId="47"/>
        <pc:sldMkLst>
          <pc:docMk/>
          <pc:sldMk cId="387937194" sldId="286"/>
        </pc:sldMkLst>
      </pc:sldChg>
      <pc:sldChg chg="del">
        <pc:chgData name="Morales, Daniela" userId="faaedd4a-4fb0-4be0-9ccb-3a03645f3132" providerId="ADAL" clId="{E6C242E2-81BD-4BF8-BD0B-125D290A62DB}" dt="2026-07-06T23:35:32.088" v="4" actId="47"/>
        <pc:sldMkLst>
          <pc:docMk/>
          <pc:sldMk cId="3050448963" sldId="287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777232718" sldId="288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824025411" sldId="289"/>
        </pc:sldMkLst>
      </pc:sldChg>
      <pc:sldChg chg="del">
        <pc:chgData name="Morales, Daniela" userId="faaedd4a-4fb0-4be0-9ccb-3a03645f3132" providerId="ADAL" clId="{E6C242E2-81BD-4BF8-BD0B-125D290A62DB}" dt="2026-07-06T23:35:22.495" v="3" actId="47"/>
        <pc:sldMkLst>
          <pc:docMk/>
          <pc:sldMk cId="708772770" sldId="290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1467102379" sldId="291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133172752" sldId="292"/>
        </pc:sldMkLst>
      </pc:sldChg>
      <pc:sldChg chg="del">
        <pc:chgData name="Morales, Daniela" userId="faaedd4a-4fb0-4be0-9ccb-3a03645f3132" providerId="ADAL" clId="{E6C242E2-81BD-4BF8-BD0B-125D290A62DB}" dt="2026-07-06T23:35:32.088" v="4" actId="47"/>
        <pc:sldMkLst>
          <pc:docMk/>
          <pc:sldMk cId="1061491038" sldId="293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1376621514" sldId="294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568329380" sldId="296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252007540" sldId="297"/>
        </pc:sldMkLst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2199561494" sldId="298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471127798" sldId="299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495860248" sldId="300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449378433" sldId="301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731034199" sldId="302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2673019117" sldId="303"/>
        </pc:sldMkLst>
      </pc:sldChg>
      <pc:sldChg chg="del">
        <pc:chgData name="Morales, Daniela" userId="faaedd4a-4fb0-4be0-9ccb-3a03645f3132" providerId="ADAL" clId="{E6C242E2-81BD-4BF8-BD0B-125D290A62DB}" dt="2026-07-06T23:35:22.495" v="3" actId="47"/>
        <pc:sldMkLst>
          <pc:docMk/>
          <pc:sldMk cId="797363210" sldId="304"/>
        </pc:sldMkLst>
      </pc:sldChg>
      <pc:sldChg chg="del">
        <pc:chgData name="Morales, Daniela" userId="faaedd4a-4fb0-4be0-9ccb-3a03645f3132" providerId="ADAL" clId="{E6C242E2-81BD-4BF8-BD0B-125D290A62DB}" dt="2026-07-06T23:35:22.495" v="3" actId="47"/>
        <pc:sldMkLst>
          <pc:docMk/>
          <pc:sldMk cId="1116103339" sldId="305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2897341557" sldId="306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1538307779" sldId="308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579855195" sldId="309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4041981121" sldId="310"/>
        </pc:sldMkLst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2490330972" sldId="311"/>
        </pc:sldMkLst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4036010289" sldId="312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4022185415" sldId="313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664711784" sldId="314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1525643877" sldId="315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295705040" sldId="316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2517803602" sldId="317"/>
        </pc:sldMkLst>
      </pc:sldChg>
      <pc:sldChg chg="del">
        <pc:chgData name="Morales, Daniela" userId="faaedd4a-4fb0-4be0-9ccb-3a03645f3132" providerId="ADAL" clId="{E6C242E2-81BD-4BF8-BD0B-125D290A62DB}" dt="2026-07-06T23:36:56.157" v="16" actId="47"/>
        <pc:sldMkLst>
          <pc:docMk/>
          <pc:sldMk cId="2188156359" sldId="318"/>
        </pc:sldMkLst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2472885715" sldId="319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79214757" sldId="320"/>
        </pc:sldMkLst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3726170863" sldId="321"/>
        </pc:sldMkLst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2811444490" sldId="322"/>
        </pc:sldMkLst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4228379994" sldId="323"/>
        </pc:sldMkLst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930522238" sldId="324"/>
        </pc:sldMkLst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3042702343" sldId="325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1590808942" sldId="326"/>
        </pc:sldMkLst>
      </pc:sldChg>
      <pc:sldChg chg="ord">
        <pc:chgData name="Morales, Daniela" userId="faaedd4a-4fb0-4be0-9ccb-3a03645f3132" providerId="ADAL" clId="{E6C242E2-81BD-4BF8-BD0B-125D290A62DB}" dt="2026-07-06T23:39:58.367" v="167"/>
        <pc:sldMkLst>
          <pc:docMk/>
          <pc:sldMk cId="3616202886" sldId="327"/>
        </pc:sldMkLst>
      </pc:sldChg>
      <pc:sldChg chg="del">
        <pc:chgData name="Morales, Daniela" userId="faaedd4a-4fb0-4be0-9ccb-3a03645f3132" providerId="ADAL" clId="{E6C242E2-81BD-4BF8-BD0B-125D290A62DB}" dt="2026-07-06T23:37:16.807" v="19" actId="47"/>
        <pc:sldMkLst>
          <pc:docMk/>
          <pc:sldMk cId="614038004" sldId="328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1734433566" sldId="329"/>
        </pc:sldMkLst>
      </pc:sldChg>
      <pc:sldChg chg="del">
        <pc:chgData name="Morales, Daniela" userId="faaedd4a-4fb0-4be0-9ccb-3a03645f3132" providerId="ADAL" clId="{E6C242E2-81BD-4BF8-BD0B-125D290A62DB}" dt="2026-07-06T23:39:38.124" v="160" actId="47"/>
        <pc:sldMkLst>
          <pc:docMk/>
          <pc:sldMk cId="752912383" sldId="330"/>
        </pc:sldMkLst>
      </pc:sldChg>
      <pc:sldChg chg="del">
        <pc:chgData name="Morales, Daniela" userId="faaedd4a-4fb0-4be0-9ccb-3a03645f3132" providerId="ADAL" clId="{E6C242E2-81BD-4BF8-BD0B-125D290A62DB}" dt="2026-07-06T23:39:38.124" v="160" actId="47"/>
        <pc:sldMkLst>
          <pc:docMk/>
          <pc:sldMk cId="2702061453" sldId="331"/>
        </pc:sldMkLst>
      </pc:sldChg>
      <pc:sldChg chg="del">
        <pc:chgData name="Morales, Daniela" userId="faaedd4a-4fb0-4be0-9ccb-3a03645f3132" providerId="ADAL" clId="{E6C242E2-81BD-4BF8-BD0B-125D290A62DB}" dt="2026-07-06T23:39:38.124" v="160" actId="47"/>
        <pc:sldMkLst>
          <pc:docMk/>
          <pc:sldMk cId="3948064783" sldId="332"/>
        </pc:sldMkLst>
      </pc:sldChg>
      <pc:sldChg chg="del">
        <pc:chgData name="Morales, Daniela" userId="faaedd4a-4fb0-4be0-9ccb-3a03645f3132" providerId="ADAL" clId="{E6C242E2-81BD-4BF8-BD0B-125D290A62DB}" dt="2026-07-06T23:39:38.124" v="160" actId="47"/>
        <pc:sldMkLst>
          <pc:docMk/>
          <pc:sldMk cId="806223025" sldId="333"/>
        </pc:sldMkLst>
      </pc:sldChg>
      <pc:sldChg chg="del">
        <pc:chgData name="Morales, Daniela" userId="faaedd4a-4fb0-4be0-9ccb-3a03645f3132" providerId="ADAL" clId="{E6C242E2-81BD-4BF8-BD0B-125D290A62DB}" dt="2026-07-06T23:39:38.124" v="160" actId="47"/>
        <pc:sldMkLst>
          <pc:docMk/>
          <pc:sldMk cId="442053384" sldId="334"/>
        </pc:sldMkLst>
      </pc:sldChg>
      <pc:sldChg chg="del">
        <pc:chgData name="Morales, Daniela" userId="faaedd4a-4fb0-4be0-9ccb-3a03645f3132" providerId="ADAL" clId="{E6C242E2-81BD-4BF8-BD0B-125D290A62DB}" dt="2026-07-06T23:39:38.124" v="160" actId="47"/>
        <pc:sldMkLst>
          <pc:docMk/>
          <pc:sldMk cId="1651774771" sldId="335"/>
        </pc:sldMkLst>
      </pc:sldChg>
      <pc:sldChg chg="del">
        <pc:chgData name="Morales, Daniela" userId="faaedd4a-4fb0-4be0-9ccb-3a03645f3132" providerId="ADAL" clId="{E6C242E2-81BD-4BF8-BD0B-125D290A62DB}" dt="2026-07-06T23:36:33.591" v="14" actId="47"/>
        <pc:sldMkLst>
          <pc:docMk/>
          <pc:sldMk cId="4252922613" sldId="336"/>
        </pc:sldMkLst>
      </pc:sldChg>
      <pc:sldChg chg="del">
        <pc:chgData name="Morales, Daniela" userId="faaedd4a-4fb0-4be0-9ccb-3a03645f3132" providerId="ADAL" clId="{E6C242E2-81BD-4BF8-BD0B-125D290A62DB}" dt="2026-07-06T23:36:35.203" v="15" actId="47"/>
        <pc:sldMkLst>
          <pc:docMk/>
          <pc:sldMk cId="1651902115" sldId="337"/>
        </pc:sldMkLst>
      </pc:sldChg>
      <pc:sldChg chg="modSp add del mod">
        <pc:chgData name="Morales, Daniela" userId="faaedd4a-4fb0-4be0-9ccb-3a03645f3132" providerId="ADAL" clId="{E6C242E2-81BD-4BF8-BD0B-125D290A62DB}" dt="2026-07-06T23:39:44.676" v="165" actId="47"/>
        <pc:sldMkLst>
          <pc:docMk/>
          <pc:sldMk cId="2864178986" sldId="338"/>
        </pc:sldMkLst>
        <pc:graphicFrameChg chg="mod">
          <ac:chgData name="Morales, Daniela" userId="faaedd4a-4fb0-4be0-9ccb-3a03645f3132" providerId="ADAL" clId="{E6C242E2-81BD-4BF8-BD0B-125D290A62DB}" dt="2026-07-06T23:39:43.108" v="164"/>
          <ac:graphicFrameMkLst>
            <pc:docMk/>
            <pc:sldMk cId="2864178986" sldId="338"/>
            <ac:graphicFrameMk id="2" creationId="{8129BCA2-5B2F-4ABF-1D4B-597A0728A02E}"/>
          </ac:graphicFrameMkLst>
        </pc:graphicFrameChg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2968452605" sldId="342"/>
        </pc:sldMkLst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3385467591" sldId="343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765037259" sldId="344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221383670" sldId="345"/>
        </pc:sldMkLst>
      </pc:sldChg>
      <pc:sldChg chg="del">
        <pc:chgData name="Morales, Daniela" userId="faaedd4a-4fb0-4be0-9ccb-3a03645f3132" providerId="ADAL" clId="{E6C242E2-81BD-4BF8-BD0B-125D290A62DB}" dt="2026-07-06T23:36:56.157" v="16" actId="47"/>
        <pc:sldMkLst>
          <pc:docMk/>
          <pc:sldMk cId="3328562157" sldId="346"/>
        </pc:sldMkLst>
      </pc:sldChg>
      <pc:sldChg chg="del">
        <pc:chgData name="Morales, Daniela" userId="faaedd4a-4fb0-4be0-9ccb-3a03645f3132" providerId="ADAL" clId="{E6C242E2-81BD-4BF8-BD0B-125D290A62DB}" dt="2026-07-06T23:37:17.840" v="20" actId="47"/>
        <pc:sldMkLst>
          <pc:docMk/>
          <pc:sldMk cId="2902553247" sldId="347"/>
        </pc:sldMkLst>
      </pc:sldChg>
      <pc:sldChg chg="del">
        <pc:chgData name="Morales, Daniela" userId="faaedd4a-4fb0-4be0-9ccb-3a03645f3132" providerId="ADAL" clId="{E6C242E2-81BD-4BF8-BD0B-125D290A62DB}" dt="2026-07-06T23:37:18.921" v="21" actId="47"/>
        <pc:sldMkLst>
          <pc:docMk/>
          <pc:sldMk cId="163723678" sldId="348"/>
        </pc:sldMkLst>
      </pc:sldChg>
      <pc:sldChg chg="del">
        <pc:chgData name="Morales, Daniela" userId="faaedd4a-4fb0-4be0-9ccb-3a03645f3132" providerId="ADAL" clId="{E6C242E2-81BD-4BF8-BD0B-125D290A62DB}" dt="2026-07-06T23:37:20.490" v="22" actId="47"/>
        <pc:sldMkLst>
          <pc:docMk/>
          <pc:sldMk cId="617059427" sldId="349"/>
        </pc:sldMkLst>
      </pc:sldChg>
      <pc:sldChg chg="del">
        <pc:chgData name="Morales, Daniela" userId="faaedd4a-4fb0-4be0-9ccb-3a03645f3132" providerId="ADAL" clId="{E6C242E2-81BD-4BF8-BD0B-125D290A62DB}" dt="2026-07-06T23:37:22.020" v="23" actId="47"/>
        <pc:sldMkLst>
          <pc:docMk/>
          <pc:sldMk cId="2964457824" sldId="350"/>
        </pc:sldMkLst>
      </pc:sldChg>
      <pc:sldChg chg="del">
        <pc:chgData name="Morales, Daniela" userId="faaedd4a-4fb0-4be0-9ccb-3a03645f3132" providerId="ADAL" clId="{E6C242E2-81BD-4BF8-BD0B-125D290A62DB}" dt="2026-07-06T23:37:23.070" v="24" actId="47"/>
        <pc:sldMkLst>
          <pc:docMk/>
          <pc:sldMk cId="1913052638" sldId="351"/>
        </pc:sldMkLst>
      </pc:sldChg>
      <pc:sldChg chg="del">
        <pc:chgData name="Morales, Daniela" userId="faaedd4a-4fb0-4be0-9ccb-3a03645f3132" providerId="ADAL" clId="{E6C242E2-81BD-4BF8-BD0B-125D290A62DB}" dt="2026-07-06T23:37:26.291" v="25" actId="47"/>
        <pc:sldMkLst>
          <pc:docMk/>
          <pc:sldMk cId="0" sldId="352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4203379513" sldId="353"/>
        </pc:sldMkLst>
      </pc:sldChg>
      <pc:sldChg chg="del">
        <pc:chgData name="Morales, Daniela" userId="faaedd4a-4fb0-4be0-9ccb-3a03645f3132" providerId="ADAL" clId="{E6C242E2-81BD-4BF8-BD0B-125D290A62DB}" dt="2026-07-06T23:36:56.157" v="16" actId="47"/>
        <pc:sldMkLst>
          <pc:docMk/>
          <pc:sldMk cId="3713692205" sldId="354"/>
        </pc:sldMkLst>
      </pc:sldChg>
      <pc:sldChg chg="del">
        <pc:chgData name="Morales, Daniela" userId="faaedd4a-4fb0-4be0-9ccb-3a03645f3132" providerId="ADAL" clId="{E6C242E2-81BD-4BF8-BD0B-125D290A62DB}" dt="2026-07-06T23:36:56.157" v="16" actId="47"/>
        <pc:sldMkLst>
          <pc:docMk/>
          <pc:sldMk cId="2479696456" sldId="355"/>
        </pc:sldMkLst>
      </pc:sldChg>
      <pc:sldChg chg="del">
        <pc:chgData name="Morales, Daniela" userId="faaedd4a-4fb0-4be0-9ccb-3a03645f3132" providerId="ADAL" clId="{E6C242E2-81BD-4BF8-BD0B-125D290A62DB}" dt="2026-07-06T23:36:56.157" v="16" actId="47"/>
        <pc:sldMkLst>
          <pc:docMk/>
          <pc:sldMk cId="810434971" sldId="356"/>
        </pc:sldMkLst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534862841" sldId="358"/>
        </pc:sldMkLst>
      </pc:sldChg>
      <pc:sldChg chg="del">
        <pc:chgData name="Morales, Daniela" userId="faaedd4a-4fb0-4be0-9ccb-3a03645f3132" providerId="ADAL" clId="{E6C242E2-81BD-4BF8-BD0B-125D290A62DB}" dt="2026-07-06T23:36:56.157" v="16" actId="47"/>
        <pc:sldMkLst>
          <pc:docMk/>
          <pc:sldMk cId="153050258" sldId="359"/>
        </pc:sldMkLst>
      </pc:sldChg>
      <pc:sldChg chg="del">
        <pc:chgData name="Morales, Daniela" userId="faaedd4a-4fb0-4be0-9ccb-3a03645f3132" providerId="ADAL" clId="{E6C242E2-81BD-4BF8-BD0B-125D290A62DB}" dt="2026-07-06T23:37:10.378" v="17" actId="47"/>
        <pc:sldMkLst>
          <pc:docMk/>
          <pc:sldMk cId="2397319047" sldId="510"/>
        </pc:sldMkLst>
      </pc:sldChg>
      <pc:sldChg chg="del">
        <pc:chgData name="Morales, Daniela" userId="faaedd4a-4fb0-4be0-9ccb-3a03645f3132" providerId="ADAL" clId="{E6C242E2-81BD-4BF8-BD0B-125D290A62DB}" dt="2026-07-06T23:36:56.157" v="16" actId="47"/>
        <pc:sldMkLst>
          <pc:docMk/>
          <pc:sldMk cId="577619610" sldId="513"/>
        </pc:sldMkLst>
      </pc:sldChg>
      <pc:sldChg chg="del">
        <pc:chgData name="Morales, Daniela" userId="faaedd4a-4fb0-4be0-9ccb-3a03645f3132" providerId="ADAL" clId="{E6C242E2-81BD-4BF8-BD0B-125D290A62DB}" dt="2026-07-06T23:37:12.151" v="18" actId="47"/>
        <pc:sldMkLst>
          <pc:docMk/>
          <pc:sldMk cId="4158957023" sldId="518"/>
        </pc:sldMkLst>
      </pc:sldChg>
      <pc:sldChg chg="del">
        <pc:chgData name="Morales, Daniela" userId="faaedd4a-4fb0-4be0-9ccb-3a03645f3132" providerId="ADAL" clId="{E6C242E2-81BD-4BF8-BD0B-125D290A62DB}" dt="2026-07-06T23:36:56.157" v="16" actId="47"/>
        <pc:sldMkLst>
          <pc:docMk/>
          <pc:sldMk cId="1359880307" sldId="519"/>
        </pc:sldMkLst>
      </pc:sldChg>
      <pc:sldChg chg="modSp mod">
        <pc:chgData name="Morales, Daniela" userId="faaedd4a-4fb0-4be0-9ccb-3a03645f3132" providerId="ADAL" clId="{E6C242E2-81BD-4BF8-BD0B-125D290A62DB}" dt="2026-07-06T23:39:01.129" v="159" actId="20577"/>
        <pc:sldMkLst>
          <pc:docMk/>
          <pc:sldMk cId="3057309035" sldId="2147483644"/>
        </pc:sldMkLst>
        <pc:spChg chg="mod">
          <ac:chgData name="Morales, Daniela" userId="faaedd4a-4fb0-4be0-9ccb-3a03645f3132" providerId="ADAL" clId="{E6C242E2-81BD-4BF8-BD0B-125D290A62DB}" dt="2026-07-06T23:38:50.980" v="146" actId="299"/>
          <ac:spMkLst>
            <pc:docMk/>
            <pc:sldMk cId="3057309035" sldId="2147483644"/>
            <ac:spMk id="5" creationId="{39E837A8-7F88-6603-96C8-99FC36BC5228}"/>
          </ac:spMkLst>
        </pc:spChg>
        <pc:spChg chg="mod">
          <ac:chgData name="Morales, Daniela" userId="faaedd4a-4fb0-4be0-9ccb-3a03645f3132" providerId="ADAL" clId="{E6C242E2-81BD-4BF8-BD0B-125D290A62DB}" dt="2026-07-06T23:38:54.548" v="147" actId="6549"/>
          <ac:spMkLst>
            <pc:docMk/>
            <pc:sldMk cId="3057309035" sldId="2147483644"/>
            <ac:spMk id="6" creationId="{5D0DBCE1-CFCC-612C-134B-0DBC5EBBA6A9}"/>
          </ac:spMkLst>
        </pc:spChg>
        <pc:spChg chg="mod">
          <ac:chgData name="Morales, Daniela" userId="faaedd4a-4fb0-4be0-9ccb-3a03645f3132" providerId="ADAL" clId="{E6C242E2-81BD-4BF8-BD0B-125D290A62DB}" dt="2026-07-06T23:39:01.129" v="159" actId="20577"/>
          <ac:spMkLst>
            <pc:docMk/>
            <pc:sldMk cId="3057309035" sldId="2147483644"/>
            <ac:spMk id="16" creationId="{A5FE71FC-D52B-8760-63A9-F27C8DA5F43C}"/>
          </ac:spMkLst>
        </pc:spChg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2664696" sldId="2147483645"/>
        </pc:sldMkLst>
      </pc:sldChg>
      <pc:sldChg chg="addSp modSp new mod">
        <pc:chgData name="Morales, Daniela" userId="faaedd4a-4fb0-4be0-9ccb-3a03645f3132" providerId="ADAL" clId="{E6C242E2-81BD-4BF8-BD0B-125D290A62DB}" dt="2026-07-06T23:54:36.109" v="1024" actId="1076"/>
        <pc:sldMkLst>
          <pc:docMk/>
          <pc:sldMk cId="2433555739" sldId="2147483645"/>
        </pc:sldMkLst>
        <pc:spChg chg="mod">
          <ac:chgData name="Morales, Daniela" userId="faaedd4a-4fb0-4be0-9ccb-3a03645f3132" providerId="ADAL" clId="{E6C242E2-81BD-4BF8-BD0B-125D290A62DB}" dt="2026-07-06T23:37:50.130" v="77" actId="299"/>
          <ac:spMkLst>
            <pc:docMk/>
            <pc:sldMk cId="2433555739" sldId="2147483645"/>
            <ac:spMk id="2" creationId="{C673126B-8A90-6BA8-54C5-B55EFD6C77C5}"/>
          </ac:spMkLst>
        </pc:spChg>
        <pc:spChg chg="add mod">
          <ac:chgData name="Morales, Daniela" userId="faaedd4a-4fb0-4be0-9ccb-3a03645f3132" providerId="ADAL" clId="{E6C242E2-81BD-4BF8-BD0B-125D290A62DB}" dt="2026-07-06T23:54:36.109" v="1024" actId="1076"/>
          <ac:spMkLst>
            <pc:docMk/>
            <pc:sldMk cId="2433555739" sldId="2147483645"/>
            <ac:spMk id="5" creationId="{D88AA510-DC70-8E86-76FF-A69A6154F365}"/>
          </ac:spMkLst>
        </pc:spChg>
        <pc:graphicFrameChg chg="add mod ord modVis">
          <ac:chgData name="Morales, Daniela" userId="faaedd4a-4fb0-4be0-9ccb-3a03645f3132" providerId="ADAL" clId="{E6C242E2-81BD-4BF8-BD0B-125D290A62DB}" dt="2026-07-06T23:37:43.816" v="49"/>
          <ac:graphicFrameMkLst>
            <pc:docMk/>
            <pc:sldMk cId="2433555739" sldId="2147483645"/>
            <ac:graphicFrameMk id="4" creationId="{AE418A56-D047-CFF8-710A-E8E726950C50}"/>
          </ac:graphicFrameMkLst>
        </pc:graphicFrameChg>
      </pc:sldChg>
      <pc:sldChg chg="modSp add mod">
        <pc:chgData name="Morales, Daniela" userId="faaedd4a-4fb0-4be0-9ccb-3a03645f3132" providerId="ADAL" clId="{E6C242E2-81BD-4BF8-BD0B-125D290A62DB}" dt="2026-07-06T23:40:53.955" v="236" actId="299"/>
        <pc:sldMkLst>
          <pc:docMk/>
          <pc:sldMk cId="2022782662" sldId="2147483646"/>
        </pc:sldMkLst>
        <pc:spChg chg="mod">
          <ac:chgData name="Morales, Daniela" userId="faaedd4a-4fb0-4be0-9ccb-3a03645f3132" providerId="ADAL" clId="{E6C242E2-81BD-4BF8-BD0B-125D290A62DB}" dt="2026-07-06T23:40:53.955" v="236" actId="299"/>
          <ac:spMkLst>
            <pc:docMk/>
            <pc:sldMk cId="2022782662" sldId="2147483646"/>
            <ac:spMk id="2" creationId="{B8BB2004-AA8A-67A9-2BCB-5BE565E7CD14}"/>
          </ac:spMkLst>
        </pc:spChg>
      </pc:sldChg>
      <pc:sldChg chg="del">
        <pc:chgData name="Morales, Daniela" userId="faaedd4a-4fb0-4be0-9ccb-3a03645f3132" providerId="ADAL" clId="{E6C242E2-81BD-4BF8-BD0B-125D290A62DB}" dt="2026-07-06T23:35:14.681" v="2" actId="47"/>
        <pc:sldMkLst>
          <pc:docMk/>
          <pc:sldMk cId="2068463912" sldId="2147483646"/>
        </pc:sldMkLst>
      </pc:sldChg>
      <pc:sldChg chg="addSp delSp modSp new del mod chgLayout">
        <pc:chgData name="Morales, Daniela" userId="faaedd4a-4fb0-4be0-9ccb-3a03645f3132" providerId="ADAL" clId="{E6C242E2-81BD-4BF8-BD0B-125D290A62DB}" dt="2026-07-06T23:40:38.169" v="188" actId="47"/>
        <pc:sldMkLst>
          <pc:docMk/>
          <pc:sldMk cId="3091846029" sldId="2147483646"/>
        </pc:sldMkLst>
        <pc:spChg chg="del mod ord">
          <ac:chgData name="Morales, Daniela" userId="faaedd4a-4fb0-4be0-9ccb-3a03645f3132" providerId="ADAL" clId="{E6C242E2-81BD-4BF8-BD0B-125D290A62DB}" dt="2026-07-06T23:40:25.795" v="172" actId="700"/>
          <ac:spMkLst>
            <pc:docMk/>
            <pc:sldMk cId="3091846029" sldId="2147483646"/>
            <ac:spMk id="2" creationId="{69C90A5B-8A7A-0C0A-4966-17B1EA8E48F4}"/>
          </ac:spMkLst>
        </pc:spChg>
        <pc:spChg chg="del">
          <ac:chgData name="Morales, Daniela" userId="faaedd4a-4fb0-4be0-9ccb-3a03645f3132" providerId="ADAL" clId="{E6C242E2-81BD-4BF8-BD0B-125D290A62DB}" dt="2026-07-06T23:40:25.795" v="172" actId="700"/>
          <ac:spMkLst>
            <pc:docMk/>
            <pc:sldMk cId="3091846029" sldId="2147483646"/>
            <ac:spMk id="3" creationId="{EB0EAB08-D5C6-C98E-4912-2CD7507BCC64}"/>
          </ac:spMkLst>
        </pc:spChg>
        <pc:spChg chg="add mod ord">
          <ac:chgData name="Morales, Daniela" userId="faaedd4a-4fb0-4be0-9ccb-3a03645f3132" providerId="ADAL" clId="{E6C242E2-81BD-4BF8-BD0B-125D290A62DB}" dt="2026-07-06T23:40:25.795" v="172" actId="700"/>
          <ac:spMkLst>
            <pc:docMk/>
            <pc:sldMk cId="3091846029" sldId="2147483646"/>
            <ac:spMk id="4" creationId="{E0BA8C5D-AED6-0554-9A19-17D1EEBF2184}"/>
          </ac:spMkLst>
        </pc:spChg>
        <pc:graphicFrameChg chg="add mod ord modVis">
          <ac:chgData name="Morales, Daniela" userId="faaedd4a-4fb0-4be0-9ccb-3a03645f3132" providerId="ADAL" clId="{E6C242E2-81BD-4BF8-BD0B-125D290A62DB}" dt="2026-07-06T23:40:26.321" v="186"/>
          <ac:graphicFrameMkLst>
            <pc:docMk/>
            <pc:sldMk cId="3091846029" sldId="2147483646"/>
            <ac:graphicFrameMk id="5" creationId="{63803EDB-26FA-31F5-B2E7-D234ED9B12A0}"/>
          </ac:graphicFrameMkLst>
        </pc:graphicFrameChg>
      </pc:sldChg>
      <pc:sldChg chg="modSp add mod">
        <pc:chgData name="Morales, Daniela" userId="faaedd4a-4fb0-4be0-9ccb-3a03645f3132" providerId="ADAL" clId="{E6C242E2-81BD-4BF8-BD0B-125D290A62DB}" dt="2026-07-06T23:41:04.265" v="247" actId="299"/>
        <pc:sldMkLst>
          <pc:docMk/>
          <pc:sldMk cId="1217646290" sldId="2147483647"/>
        </pc:sldMkLst>
        <pc:spChg chg="mod">
          <ac:chgData name="Morales, Daniela" userId="faaedd4a-4fb0-4be0-9ccb-3a03645f3132" providerId="ADAL" clId="{E6C242E2-81BD-4BF8-BD0B-125D290A62DB}" dt="2026-07-06T23:41:04.265" v="247" actId="299"/>
          <ac:spMkLst>
            <pc:docMk/>
            <pc:sldMk cId="1217646290" sldId="2147483647"/>
            <ac:spMk id="2" creationId="{B8BB2004-AA8A-67A9-2BCB-5BE565E7CD14}"/>
          </ac:spMkLst>
        </pc:spChg>
      </pc:sldChg>
      <pc:sldChg chg="del">
        <pc:chgData name="Morales, Daniela" userId="faaedd4a-4fb0-4be0-9ccb-3a03645f3132" providerId="ADAL" clId="{E6C242E2-81BD-4BF8-BD0B-125D290A62DB}" dt="2026-07-06T23:36:17.910" v="11" actId="47"/>
        <pc:sldMkLst>
          <pc:docMk/>
          <pc:sldMk cId="3000619315" sldId="2147483647"/>
        </pc:sldMkLst>
      </pc:sldChg>
      <pc:sldMasterChg chg="delSldLayout">
        <pc:chgData name="Morales, Daniela" userId="faaedd4a-4fb0-4be0-9ccb-3a03645f3132" providerId="ADAL" clId="{E6C242E2-81BD-4BF8-BD0B-125D290A62DB}" dt="2026-07-06T23:37:23.070" v="24" actId="47"/>
        <pc:sldMasterMkLst>
          <pc:docMk/>
          <pc:sldMasterMk cId="1670228014" sldId="2147484030"/>
        </pc:sldMasterMkLst>
        <pc:sldLayoutChg chg="del">
          <pc:chgData name="Morales, Daniela" userId="faaedd4a-4fb0-4be0-9ccb-3a03645f3132" providerId="ADAL" clId="{E6C242E2-81BD-4BF8-BD0B-125D290A62DB}" dt="2026-07-06T23:37:23.070" v="24" actId="47"/>
          <pc:sldLayoutMkLst>
            <pc:docMk/>
            <pc:sldMasterMk cId="1670228014" sldId="2147484030"/>
            <pc:sldLayoutMk cId="310782440" sldId="2147484660"/>
          </pc:sldLayoutMkLst>
        </pc:sldLayoutChg>
      </pc:sldMasterChg>
      <pc:sldMasterChg chg="delSldLayout">
        <pc:chgData name="Morales, Daniela" userId="faaedd4a-4fb0-4be0-9ccb-3a03645f3132" providerId="ADAL" clId="{E6C242E2-81BD-4BF8-BD0B-125D290A62DB}" dt="2026-07-06T23:36:56.157" v="16" actId="47"/>
        <pc:sldMasterMkLst>
          <pc:docMk/>
          <pc:sldMasterMk cId="463193907" sldId="2147484641"/>
        </pc:sldMasterMkLst>
        <pc:sldLayoutChg chg="del">
          <pc:chgData name="Morales, Daniela" userId="faaedd4a-4fb0-4be0-9ccb-3a03645f3132" providerId="ADAL" clId="{E6C242E2-81BD-4BF8-BD0B-125D290A62DB}" dt="2026-07-06T23:36:56.157" v="16" actId="47"/>
          <pc:sldLayoutMkLst>
            <pc:docMk/>
            <pc:sldMasterMk cId="463193907" sldId="2147484641"/>
            <pc:sldLayoutMk cId="4110212146" sldId="2147484642"/>
          </pc:sldLayoutMkLst>
        </pc:sldLayoutChg>
      </pc:sldMasterChg>
      <pc:sldMasterChg chg="del delSldLayout">
        <pc:chgData name="Morales, Daniela" userId="faaedd4a-4fb0-4be0-9ccb-3a03645f3132" providerId="ADAL" clId="{E6C242E2-81BD-4BF8-BD0B-125D290A62DB}" dt="2026-07-06T23:36:17.910" v="11" actId="47"/>
        <pc:sldMasterMkLst>
          <pc:docMk/>
          <pc:sldMasterMk cId="3666443755" sldId="2147484648"/>
        </pc:sldMasterMkLst>
        <pc:sldLayoutChg chg="del">
          <pc:chgData name="Morales, Daniela" userId="faaedd4a-4fb0-4be0-9ccb-3a03645f3132" providerId="ADAL" clId="{E6C242E2-81BD-4BF8-BD0B-125D290A62DB}" dt="2026-07-06T23:36:17.910" v="11" actId="47"/>
          <pc:sldLayoutMkLst>
            <pc:docMk/>
            <pc:sldMasterMk cId="3666443755" sldId="2147484648"/>
            <pc:sldLayoutMk cId="2397819783" sldId="2147484649"/>
          </pc:sldLayoutMkLst>
        </pc:sldLayoutChg>
        <pc:sldLayoutChg chg="del">
          <pc:chgData name="Morales, Daniela" userId="faaedd4a-4fb0-4be0-9ccb-3a03645f3132" providerId="ADAL" clId="{E6C242E2-81BD-4BF8-BD0B-125D290A62DB}" dt="2026-07-06T23:36:17.910" v="11" actId="47"/>
          <pc:sldLayoutMkLst>
            <pc:docMk/>
            <pc:sldMasterMk cId="3666443755" sldId="2147484648"/>
            <pc:sldLayoutMk cId="3787358947" sldId="2147484650"/>
          </pc:sldLayoutMkLst>
        </pc:sldLayoutChg>
        <pc:sldLayoutChg chg="del">
          <pc:chgData name="Morales, Daniela" userId="faaedd4a-4fb0-4be0-9ccb-3a03645f3132" providerId="ADAL" clId="{E6C242E2-81BD-4BF8-BD0B-125D290A62DB}" dt="2026-07-06T23:36:17.910" v="11" actId="47"/>
          <pc:sldLayoutMkLst>
            <pc:docMk/>
            <pc:sldMasterMk cId="3666443755" sldId="2147484648"/>
            <pc:sldLayoutMk cId="722860948" sldId="2147484651"/>
          </pc:sldLayoutMkLst>
        </pc:sldLayoutChg>
      </pc:sldMasterChg>
      <pc:sldMasterChg chg="del delSldLayout">
        <pc:chgData name="Morales, Daniela" userId="faaedd4a-4fb0-4be0-9ccb-3a03645f3132" providerId="ADAL" clId="{E6C242E2-81BD-4BF8-BD0B-125D290A62DB}" dt="2026-07-06T23:36:17.910" v="11" actId="47"/>
        <pc:sldMasterMkLst>
          <pc:docMk/>
          <pc:sldMasterMk cId="206402949" sldId="2147484656"/>
        </pc:sldMasterMkLst>
        <pc:sldLayoutChg chg="del">
          <pc:chgData name="Morales, Daniela" userId="faaedd4a-4fb0-4be0-9ccb-3a03645f3132" providerId="ADAL" clId="{E6C242E2-81BD-4BF8-BD0B-125D290A62DB}" dt="2026-07-06T23:36:17.910" v="11" actId="47"/>
          <pc:sldLayoutMkLst>
            <pc:docMk/>
            <pc:sldMasterMk cId="206402949" sldId="2147484656"/>
            <pc:sldLayoutMk cId="666175092" sldId="2147484657"/>
          </pc:sldLayoutMkLst>
        </pc:sldLayoutChg>
        <pc:sldLayoutChg chg="del">
          <pc:chgData name="Morales, Daniela" userId="faaedd4a-4fb0-4be0-9ccb-3a03645f3132" providerId="ADAL" clId="{E6C242E2-81BD-4BF8-BD0B-125D290A62DB}" dt="2026-07-06T23:36:17.910" v="11" actId="47"/>
          <pc:sldLayoutMkLst>
            <pc:docMk/>
            <pc:sldMasterMk cId="206402949" sldId="2147484656"/>
            <pc:sldLayoutMk cId="2417885782" sldId="2147484658"/>
          </pc:sldLayoutMkLst>
        </pc:sldLayoutChg>
        <pc:sldLayoutChg chg="del">
          <pc:chgData name="Morales, Daniela" userId="faaedd4a-4fb0-4be0-9ccb-3a03645f3132" providerId="ADAL" clId="{E6C242E2-81BD-4BF8-BD0B-125D290A62DB}" dt="2026-07-06T23:36:17.910" v="11" actId="47"/>
          <pc:sldLayoutMkLst>
            <pc:docMk/>
            <pc:sldMasterMk cId="206402949" sldId="2147484656"/>
            <pc:sldLayoutMk cId="3697226180" sldId="2147484659"/>
          </pc:sldLayoutMkLst>
        </pc:sldLayoutChg>
      </pc:sldMasterChg>
    </pc:docChg>
  </pc:docChgLst>
  <pc:docChgLst>
    <pc:chgData name="Antonio Pichardo, Joaquín Ernesto" userId="c87ddcfd-47b6-4d33-88ec-183604329254" providerId="ADAL" clId="{FEED0C0E-EE09-4E8C-9317-9489866A5FB2}"/>
    <pc:docChg chg="custSel modSld">
      <pc:chgData name="Antonio Pichardo, Joaquín Ernesto" userId="c87ddcfd-47b6-4d33-88ec-183604329254" providerId="ADAL" clId="{FEED0C0E-EE09-4E8C-9317-9489866A5FB2}" dt="2026-07-07T16:23:04.908" v="18" actId="20577"/>
      <pc:docMkLst>
        <pc:docMk/>
      </pc:docMkLst>
      <pc:sldChg chg="modSp mod">
        <pc:chgData name="Antonio Pichardo, Joaquín Ernesto" userId="c87ddcfd-47b6-4d33-88ec-183604329254" providerId="ADAL" clId="{FEED0C0E-EE09-4E8C-9317-9489866A5FB2}" dt="2026-07-07T16:14:09.908" v="2" actId="21"/>
        <pc:sldMkLst>
          <pc:docMk/>
          <pc:sldMk cId="2686525761" sldId="276"/>
        </pc:sldMkLst>
        <pc:spChg chg="mod">
          <ac:chgData name="Antonio Pichardo, Joaquín Ernesto" userId="c87ddcfd-47b6-4d33-88ec-183604329254" providerId="ADAL" clId="{FEED0C0E-EE09-4E8C-9317-9489866A5FB2}" dt="2026-07-07T16:14:09.908" v="2" actId="21"/>
          <ac:spMkLst>
            <pc:docMk/>
            <pc:sldMk cId="2686525761" sldId="276"/>
            <ac:spMk id="5" creationId="{5446964C-0D20-3588-BD45-86EE39F8E0EC}"/>
          </ac:spMkLst>
        </pc:spChg>
      </pc:sldChg>
      <pc:sldChg chg="modSp mod">
        <pc:chgData name="Antonio Pichardo, Joaquín Ernesto" userId="c87ddcfd-47b6-4d33-88ec-183604329254" providerId="ADAL" clId="{FEED0C0E-EE09-4E8C-9317-9489866A5FB2}" dt="2026-07-07T16:23:04.908" v="18" actId="20577"/>
        <pc:sldMkLst>
          <pc:docMk/>
          <pc:sldMk cId="2626666204" sldId="339"/>
        </pc:sldMkLst>
        <pc:spChg chg="mod">
          <ac:chgData name="Antonio Pichardo, Joaquín Ernesto" userId="c87ddcfd-47b6-4d33-88ec-183604329254" providerId="ADAL" clId="{FEED0C0E-EE09-4E8C-9317-9489866A5FB2}" dt="2026-07-07T16:18:12.827" v="4" actId="207"/>
          <ac:spMkLst>
            <pc:docMk/>
            <pc:sldMk cId="2626666204" sldId="339"/>
            <ac:spMk id="62" creationId="{3E3ADAC3-CE44-76F6-D995-39E15A26EF9B}"/>
          </ac:spMkLst>
        </pc:spChg>
        <pc:spChg chg="mod">
          <ac:chgData name="Antonio Pichardo, Joaquín Ernesto" userId="c87ddcfd-47b6-4d33-88ec-183604329254" providerId="ADAL" clId="{FEED0C0E-EE09-4E8C-9317-9489866A5FB2}" dt="2026-07-07T16:17:52.428" v="3" actId="207"/>
          <ac:spMkLst>
            <pc:docMk/>
            <pc:sldMk cId="2626666204" sldId="339"/>
            <ac:spMk id="63" creationId="{1F3BCDB9-91E6-234F-5E2A-8E6A06F532B0}"/>
          </ac:spMkLst>
        </pc:spChg>
        <pc:graphicFrameChg chg="modGraphic">
          <ac:chgData name="Antonio Pichardo, Joaquín Ernesto" userId="c87ddcfd-47b6-4d33-88ec-183604329254" providerId="ADAL" clId="{FEED0C0E-EE09-4E8C-9317-9489866A5FB2}" dt="2026-07-07T16:23:04.908" v="18" actId="20577"/>
          <ac:graphicFrameMkLst>
            <pc:docMk/>
            <pc:sldMk cId="2626666204" sldId="339"/>
            <ac:graphicFrameMk id="4" creationId="{3A557996-3414-E4A7-1813-D6EC1512903F}"/>
          </ac:graphicFrameMkLst>
        </pc:graphicFrameChg>
      </pc:sldChg>
      <pc:sldChg chg="modSp mod">
        <pc:chgData name="Antonio Pichardo, Joaquín Ernesto" userId="c87ddcfd-47b6-4d33-88ec-183604329254" providerId="ADAL" clId="{FEED0C0E-EE09-4E8C-9317-9489866A5FB2}" dt="2026-07-07T16:21:48.488" v="8" actId="207"/>
        <pc:sldMkLst>
          <pc:docMk/>
          <pc:sldMk cId="3191859505" sldId="340"/>
        </pc:sldMkLst>
        <pc:spChg chg="mod">
          <ac:chgData name="Antonio Pichardo, Joaquín Ernesto" userId="c87ddcfd-47b6-4d33-88ec-183604329254" providerId="ADAL" clId="{FEED0C0E-EE09-4E8C-9317-9489866A5FB2}" dt="2026-07-07T16:19:05.826" v="5" actId="207"/>
          <ac:spMkLst>
            <pc:docMk/>
            <pc:sldMk cId="3191859505" sldId="340"/>
            <ac:spMk id="8" creationId="{9D7B157E-4399-825A-F84B-196856EA905D}"/>
          </ac:spMkLst>
        </pc:spChg>
        <pc:spChg chg="mod">
          <ac:chgData name="Antonio Pichardo, Joaquín Ernesto" userId="c87ddcfd-47b6-4d33-88ec-183604329254" providerId="ADAL" clId="{FEED0C0E-EE09-4E8C-9317-9489866A5FB2}" dt="2026-07-07T16:19:29.678" v="6" actId="207"/>
          <ac:spMkLst>
            <pc:docMk/>
            <pc:sldMk cId="3191859505" sldId="340"/>
            <ac:spMk id="10" creationId="{817A335A-99B3-FD47-6CAD-2AC1E9AA1974}"/>
          </ac:spMkLst>
        </pc:spChg>
        <pc:spChg chg="mod">
          <ac:chgData name="Antonio Pichardo, Joaquín Ernesto" userId="c87ddcfd-47b6-4d33-88ec-183604329254" providerId="ADAL" clId="{FEED0C0E-EE09-4E8C-9317-9489866A5FB2}" dt="2026-07-07T16:21:48.488" v="8" actId="207"/>
          <ac:spMkLst>
            <pc:docMk/>
            <pc:sldMk cId="3191859505" sldId="340"/>
            <ac:spMk id="23" creationId="{78D7C611-0179-70F3-29BC-8DF340442324}"/>
          </ac:spMkLst>
        </pc:spChg>
        <pc:graphicFrameChg chg="modGraphic">
          <ac:chgData name="Antonio Pichardo, Joaquín Ernesto" userId="c87ddcfd-47b6-4d33-88ec-183604329254" providerId="ADAL" clId="{FEED0C0E-EE09-4E8C-9317-9489866A5FB2}" dt="2026-07-07T15:37:19.071" v="1" actId="207"/>
          <ac:graphicFrameMkLst>
            <pc:docMk/>
            <pc:sldMk cId="3191859505" sldId="340"/>
            <ac:graphicFrameMk id="4" creationId="{65E7CF13-9140-A8BC-52F0-47D84811E2BB}"/>
          </ac:graphicFrameMkLst>
        </pc:graphicFrameChg>
      </pc:sldChg>
    </pc:docChg>
  </pc:docChgLst>
</pc:chgInfo>
</file>

<file path=ppt/comments/modernComment_10F_E54290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A13877-918E-4322-8E77-1352074475DB}" authorId="{BCB5EDE9-F8E2-29FB-1561-2DAA8D006911}" created="2026-06-10T23:29:48.98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46344902" sldId="271"/>
      <ac:spMk id="38" creationId="{BB53580E-2A33-FDA9-515F-A1B4B0FE5C20}"/>
    </ac:deMkLst>
    <p188:txBody>
      <a:bodyPr/>
      <a:lstStyle/>
      <a:p>
        <a:r>
          <a:rPr lang="es-MX"/>
          <a:t>Revision de alcance
</a:t>
        </a:r>
      </a:p>
    </p188:txBody>
  </p188:cm>
</p188:cmLst>
</file>

<file path=ppt/comments/modernComment_133_9AF6697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B13464-9458-4DD8-A927-13FA07BDDF7B}" authorId="{BCB5EDE9-F8E2-29FB-1561-2DAA8D006911}" created="2026-06-11T04:23:33.37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99840126" sldId="307"/>
      <ac:spMk id="39" creationId="{B790A564-1C5A-B892-F8EA-28203CB20B09}"/>
    </ac:deMkLst>
    <p188:txBody>
      <a:bodyPr/>
      <a:lstStyle/>
      <a:p>
        <a:r>
          <a:rPr lang="es-MX"/>
          <a:t>Revisar alcance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068339" cy="356357"/>
          </a:xfrm>
          <a:prstGeom prst="rect">
            <a:avLst/>
          </a:prstGeom>
        </p:spPr>
        <p:txBody>
          <a:bodyPr vert="horz" lIns="94218" tIns="47108" rIns="94218" bIns="47108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6" y="2"/>
            <a:ext cx="4068339" cy="356357"/>
          </a:xfrm>
          <a:prstGeom prst="rect">
            <a:avLst/>
          </a:prstGeom>
        </p:spPr>
        <p:txBody>
          <a:bodyPr vert="horz" lIns="94218" tIns="47108" rIns="94218" bIns="47108" rtlCol="0"/>
          <a:lstStyle>
            <a:lvl1pPr algn="r">
              <a:defRPr sz="1200"/>
            </a:lvl1pPr>
          </a:lstStyle>
          <a:p>
            <a:fld id="{9FC16A05-8790-4117-92B3-5F66A2A22E6C}" type="datetimeFigureOut">
              <a:rPr lang="es-MX" smtClean="0"/>
              <a:t>07/07/2026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18" tIns="47108" rIns="94218" bIns="471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18" tIns="47108" rIns="94218" bIns="47108" rtlCol="0"/>
          <a:lstStyle/>
          <a:p>
            <a:pPr lvl="0"/>
            <a:r>
              <a:rPr lang="es-MX"/>
              <a:t>Click to edit Master text styles</a:t>
            </a:r>
          </a:p>
          <a:p>
            <a:pPr lvl="1"/>
            <a:r>
              <a:rPr lang="es-MX"/>
              <a:t>Second level</a:t>
            </a:r>
          </a:p>
          <a:p>
            <a:pPr lvl="2"/>
            <a:r>
              <a:rPr lang="es-MX"/>
              <a:t>Third level</a:t>
            </a:r>
          </a:p>
          <a:p>
            <a:pPr lvl="3"/>
            <a:r>
              <a:rPr lang="es-MX"/>
              <a:t>Fourth level</a:t>
            </a:r>
          </a:p>
          <a:p>
            <a:pPr lvl="4"/>
            <a:r>
              <a:rPr lang="es-MX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6119"/>
            <a:ext cx="4068339" cy="356356"/>
          </a:xfrm>
          <a:prstGeom prst="rect">
            <a:avLst/>
          </a:prstGeom>
        </p:spPr>
        <p:txBody>
          <a:bodyPr vert="horz" lIns="94218" tIns="47108" rIns="94218" bIns="47108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6" y="6746119"/>
            <a:ext cx="4068339" cy="356356"/>
          </a:xfrm>
          <a:prstGeom prst="rect">
            <a:avLst/>
          </a:prstGeom>
        </p:spPr>
        <p:txBody>
          <a:bodyPr vert="horz" lIns="94218" tIns="47108" rIns="94218" bIns="47108" rtlCol="0" anchor="b"/>
          <a:lstStyle>
            <a:lvl1pPr algn="r">
              <a:defRPr sz="1200"/>
            </a:lvl1pPr>
          </a:lstStyle>
          <a:p>
            <a:fld id="{6072C5D8-91B8-40D4-9C9A-31EB0EF7358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88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C5D8-91B8-40D4-9C9A-31EB0EF7358E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653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C5D8-91B8-40D4-9C9A-31EB0EF7358E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1360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s-MX" smtClean="0"/>
              <a:pPr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8209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29BA6-2BC2-86F8-E766-B8438ADD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82596-A06E-D82C-CF37-920073D2C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427556-8227-1ADB-11CA-ED4FE9B73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B1C4F-0480-5692-54CB-B3225187F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s-MX" smtClean="0"/>
              <a:pPr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1173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03974-7479-57C6-99C5-1FA6D6D88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AA24A-4DA9-307C-D382-FEBC14AD9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2EC89-AD13-D172-4547-827F700A9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1AA38-E7D3-4E60-625C-525E0C465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s-MX" smtClean="0"/>
              <a:pPr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6324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8775-A26C-1441-D03C-CBBF7CC26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B8D4A-CEBA-8702-41A7-89035AB1E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11F24-7847-5777-D3FF-C30205E1E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FC567-5FF7-DD4A-7656-D03C67F3D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C5D8-91B8-40D4-9C9A-31EB0EF7358E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5239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72A47-6B19-576C-9054-98C54684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0D6CC-C42F-E9A6-752E-A1D068FDE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26734-7686-1BDB-984E-31396D83E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D3963-8DD2-D458-26BE-709CA9F21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C5D8-91B8-40D4-9C9A-31EB0EF7358E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1525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C5D8-91B8-40D4-9C9A-31EB0EF7358E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5186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C5D8-91B8-40D4-9C9A-31EB0EF7358E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8269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C5D8-91B8-40D4-9C9A-31EB0EF7358E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2712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52D30-01D8-2050-433E-27554399A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90D3B-1B6F-2F6C-C2AD-6B6699C46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6C0DD-AE10-D8FA-AD07-841242E0C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B3DCF-68AB-FE39-AF26-E7A20E381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2C5D8-91B8-40D4-9C9A-31EB0EF7358E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1655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29125-16F9-B7FD-3532-6D0BDC18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7F268-E9B8-5785-93BF-8FEE0DB7E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0800" y="274638"/>
            <a:ext cx="4733925" cy="266223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04E54-682A-E82C-B2E4-34F60C2A3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FFAF3-B2B2-CDA8-24DE-B546168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s-MX" smtClean="0"/>
              <a:pPr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7591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erson using a touch screen device&#10;&#10;AI-generated content may be incorrect.">
            <a:extLst>
              <a:ext uri="{FF2B5EF4-FFF2-40B4-BE49-F238E27FC236}">
                <a16:creationId xmlns:a16="http://schemas.microsoft.com/office/drawing/2014/main" id="{BAE2F574-6D9D-D170-7CC9-D5369BF9F7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259214-9187-BC39-B7CE-21BF4286F5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6000">
                <a:schemeClr val="bg1">
                  <a:alpha val="0"/>
                </a:schemeClr>
              </a:gs>
              <a:gs pos="99000">
                <a:schemeClr val="bg1">
                  <a:alpha val="50224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7524701-2790-4705-8FD4-F1B02CBB78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1090024" y="2737373"/>
            <a:ext cx="10027921" cy="1459477"/>
          </a:xfrm>
        </p:spPr>
        <p:txBody>
          <a:bodyPr anchor="b"/>
          <a:lstStyle>
            <a:lvl1pPr algn="l">
              <a:lnSpc>
                <a:spcPct val="90000"/>
              </a:lnSpc>
              <a:defRPr sz="4800" b="1">
                <a:solidFill>
                  <a:schemeClr val="tx1"/>
                </a:solidFill>
                <a:latin typeface="Graphik (Body)"/>
              </a:defRPr>
            </a:lvl1pPr>
          </a:lstStyle>
          <a:p>
            <a:r>
              <a:rPr lang="es-MX"/>
              <a:t>Place title</a:t>
            </a:r>
            <a:br>
              <a:rPr lang="es-MX"/>
            </a:br>
            <a:r>
              <a:rPr lang="es-MX"/>
              <a:t>here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2B04ECA-6F5D-4ABE-B739-A5A4917247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90024" y="4355303"/>
            <a:ext cx="10027921" cy="481496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1200"/>
              </a:spcAft>
              <a:buNone/>
              <a:defRPr sz="2000" b="0" i="0" spc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s-MX"/>
              <a:t>Place subtitle here in 20pt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A0B5E4-5205-03DD-3E5C-7072165945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940" y="419615"/>
            <a:ext cx="2934341" cy="33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86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B7CF7BC-FF1E-5B4B-9A83-BFEA75E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49" y="245794"/>
            <a:ext cx="11143252" cy="954708"/>
          </a:xfrm>
        </p:spPr>
        <p:txBody>
          <a:bodyPr vert="horz" anchor="ctr">
            <a:normAutofit/>
          </a:bodyPr>
          <a:lstStyle>
            <a:lvl1pPr>
              <a:defRPr sz="3200" b="1"/>
            </a:lvl1pPr>
          </a:lstStyle>
          <a:p>
            <a:r>
              <a:rPr lang="es-MX" err="1"/>
              <a:t>Click</a:t>
            </a:r>
            <a:r>
              <a:rPr lang="es-MX"/>
              <a:t> </a:t>
            </a:r>
            <a:r>
              <a:rPr lang="es-MX" err="1"/>
              <a:t>to</a:t>
            </a:r>
            <a:r>
              <a:rPr lang="es-MX"/>
              <a:t> </a:t>
            </a:r>
            <a:r>
              <a:rPr lang="es-MX" err="1"/>
              <a:t>edit</a:t>
            </a:r>
            <a:r>
              <a:rPr lang="es-MX"/>
              <a:t> Master </a:t>
            </a:r>
            <a:r>
              <a:rPr lang="es-MX" err="1"/>
              <a:t>title</a:t>
            </a:r>
            <a:r>
              <a:rPr lang="es-MX"/>
              <a:t> </a:t>
            </a:r>
            <a:r>
              <a:rPr lang="es-MX" err="1"/>
              <a:t>style</a:t>
            </a:r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D2119-EBE8-FD44-BEB1-EBA89E65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0229639-62D8-64C3-3A91-8C86EFDE090E}"/>
              </a:ext>
            </a:extLst>
          </p:cNvPr>
          <p:cNvSpPr/>
          <p:nvPr userDrawn="1"/>
        </p:nvSpPr>
        <p:spPr>
          <a:xfrm>
            <a:off x="11458505" y="6407757"/>
            <a:ext cx="352495" cy="3524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E401DCC-0F9E-6666-F59D-532931D15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144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2512F92-76DF-292C-E9E4-32424D324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0866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BD55E7F-5EFA-59AA-8A2E-F48510DC5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3982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B7CF7BC-FF1E-5B4B-9A83-BFEA75EC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49" y="245794"/>
            <a:ext cx="11143252" cy="954708"/>
          </a:xfrm>
        </p:spPr>
        <p:txBody>
          <a:bodyPr vert="horz" anchor="ctr">
            <a:normAutofit/>
          </a:bodyPr>
          <a:lstStyle>
            <a:lvl1pPr>
              <a:defRPr sz="3200" b="1"/>
            </a:lvl1pPr>
          </a:lstStyle>
          <a:p>
            <a:r>
              <a:rPr lang="es-MX" err="1"/>
              <a:t>Click</a:t>
            </a:r>
            <a:r>
              <a:rPr lang="es-MX"/>
              <a:t> </a:t>
            </a:r>
            <a:r>
              <a:rPr lang="es-MX" err="1"/>
              <a:t>to</a:t>
            </a:r>
            <a:r>
              <a:rPr lang="es-MX"/>
              <a:t> </a:t>
            </a:r>
            <a:r>
              <a:rPr lang="es-MX" err="1"/>
              <a:t>edit</a:t>
            </a:r>
            <a:r>
              <a:rPr lang="es-MX"/>
              <a:t> Master </a:t>
            </a:r>
            <a:r>
              <a:rPr lang="es-MX" err="1"/>
              <a:t>title</a:t>
            </a:r>
            <a:r>
              <a:rPr lang="es-MX"/>
              <a:t> </a:t>
            </a:r>
            <a:r>
              <a:rPr lang="es-MX" err="1"/>
              <a:t>style</a:t>
            </a:r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D2119-EBE8-FD44-BEB1-EBA89E65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84D7BB-AC94-545B-AC3C-2B86C5875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1444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1F04F1A-84B6-130A-8190-A440F7C49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0866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98CCB9B-96E8-04A3-7D20-5CE363AC85B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0823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CCB9B-96E8-04A3-7D20-5CE363AC8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BD55E7F-5EFA-59AA-8A2E-F48510DC5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398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BDA5F76-71C1-1564-C2FC-275CC2486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0280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ags" Target="../tags/tag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EAFB520D-C066-8D1A-E67B-BDB98A0C7486}"/>
              </a:ext>
            </a:extLst>
          </p:cNvPr>
          <p:cNvSpPr/>
          <p:nvPr userDrawn="1"/>
        </p:nvSpPr>
        <p:spPr>
          <a:xfrm rot="16200000">
            <a:off x="9717391" y="4285641"/>
            <a:ext cx="352494" cy="45967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E4BEC9-9890-3349-9E67-823D9343ABD2}"/>
              </a:ext>
            </a:extLst>
          </p:cNvPr>
          <p:cNvGraphicFramePr>
            <a:graphicFrameLocks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697792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4" progId="TCLayout.ActiveDocument.1">
                  <p:embed/>
                </p:oleObj>
              </mc:Choice>
              <mc:Fallback>
                <p:oleObj name="think-cell Slide" r:id="rId7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E4BEC9-9890-3349-9E67-823D9343AB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E722738-7C96-E8CF-04DC-3D2F9296DDD7}"/>
              </a:ext>
            </a:extLst>
          </p:cNvPr>
          <p:cNvSpPr txBox="1"/>
          <p:nvPr userDrawn="1"/>
        </p:nvSpPr>
        <p:spPr>
          <a:xfrm>
            <a:off x="7744022" y="6536348"/>
            <a:ext cx="3706394" cy="1293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All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rights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reserved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.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For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internal</a:t>
            </a: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 use </a:t>
            </a:r>
            <a:r>
              <a:rPr lang="es-MX" sz="800" b="0" i="0" err="1">
                <a:solidFill>
                  <a:schemeClr val="bg1"/>
                </a:solidFill>
                <a:latin typeface="Graphik" panose="020B0503030202060203" pitchFamily="34" charset="77"/>
              </a:rPr>
              <a:t>only</a:t>
            </a:r>
            <a:endParaRPr lang="es-MX" sz="800" b="0" i="0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F41F2D-1C50-0F94-9101-DA1CBDA3D526}"/>
              </a:ext>
            </a:extLst>
          </p:cNvPr>
          <p:cNvSpPr/>
          <p:nvPr userDrawn="1"/>
        </p:nvSpPr>
        <p:spPr>
          <a:xfrm>
            <a:off x="11458505" y="6407757"/>
            <a:ext cx="352495" cy="3524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0547A-D4D8-E0AE-BA2C-9B1BBFB7EB0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37055" y="6437763"/>
            <a:ext cx="1969699" cy="227899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9C5277BC-A3BB-C054-BC04-1BAEC5D46FF6}"/>
              </a:ext>
            </a:extLst>
          </p:cNvPr>
          <p:cNvSpPr/>
          <p:nvPr userDrawn="1"/>
        </p:nvSpPr>
        <p:spPr>
          <a:xfrm rot="16200000">
            <a:off x="11752405" y="125598"/>
            <a:ext cx="381000" cy="498191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43CD3F4-7A2D-EAA7-4585-CFC2755F3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022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52" r:id="rId2"/>
    <p:sldLayoutId id="2147484653" r:id="rId3"/>
    <p:sldLayoutId id="2147484654" r:id="rId4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EAFB520D-C066-8D1A-E67B-BDB98A0C7486}"/>
              </a:ext>
            </a:extLst>
          </p:cNvPr>
          <p:cNvSpPr/>
          <p:nvPr userDrawn="1"/>
        </p:nvSpPr>
        <p:spPr>
          <a:xfrm rot="16200000">
            <a:off x="9717391" y="4285641"/>
            <a:ext cx="352494" cy="45967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E4BEC9-9890-3349-9E67-823D9343ABD2}"/>
              </a:ext>
            </a:extLst>
          </p:cNvPr>
          <p:cNvGraphicFramePr>
            <a:graphicFrameLocks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697792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4" progId="TCLayout.ActiveDocument.1">
                  <p:embed/>
                </p:oleObj>
              </mc:Choice>
              <mc:Fallback>
                <p:oleObj name="think-cell Slide" r:id="rId7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E4BEC9-9890-3349-9E67-823D9343AB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E722738-7C96-E8CF-04DC-3D2F9296DDD7}"/>
              </a:ext>
            </a:extLst>
          </p:cNvPr>
          <p:cNvSpPr txBox="1"/>
          <p:nvPr userDrawn="1"/>
        </p:nvSpPr>
        <p:spPr>
          <a:xfrm>
            <a:off x="7744022" y="6536348"/>
            <a:ext cx="3706394" cy="1293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s-MX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All rights reserved. For internal use only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F41F2D-1C50-0F94-9101-DA1CBDA3D526}"/>
              </a:ext>
            </a:extLst>
          </p:cNvPr>
          <p:cNvSpPr/>
          <p:nvPr userDrawn="1"/>
        </p:nvSpPr>
        <p:spPr>
          <a:xfrm>
            <a:off x="11458505" y="6407757"/>
            <a:ext cx="352495" cy="3524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0547A-D4D8-E0AE-BA2C-9B1BBFB7EB0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37055" y="6437763"/>
            <a:ext cx="1969699" cy="227899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9C5277BC-A3BB-C054-BC04-1BAEC5D46FF6}"/>
              </a:ext>
            </a:extLst>
          </p:cNvPr>
          <p:cNvSpPr/>
          <p:nvPr userDrawn="1"/>
        </p:nvSpPr>
        <p:spPr>
          <a:xfrm rot="16200000">
            <a:off x="11752405" y="125598"/>
            <a:ext cx="381000" cy="498191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43CD3F4-7A2D-EAA7-4585-CFC2755F3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rgbClr val="0041F0"/>
                </a:solidFill>
              </a:defRPr>
            </a:lvl1pPr>
          </a:lstStyle>
          <a:p>
            <a:fld id="{1F90F471-3972-4120-B8B3-0237DE626C35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319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3" r:id="rId1"/>
    <p:sldLayoutId id="2147484644" r:id="rId2"/>
    <p:sldLayoutId id="2147484645" r:id="rId3"/>
    <p:sldLayoutId id="2147484647" r:id="rId4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sv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9.bin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3.bin"/><Relationship Id="rId4" Type="http://schemas.microsoft.com/office/2018/10/relationships/comments" Target="../comments/modernComment_10F_E54290C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4.bin"/><Relationship Id="rId4" Type="http://schemas.microsoft.com/office/2018/10/relationships/comments" Target="../comments/modernComment_133_9AF6697E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6.bin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70D0AC6-E458-5A06-11D9-F04ADA9B1E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3784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0D0AC6-E458-5A06-11D9-F04ADA9B1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39E837A8-7F88-6603-96C8-99FC36BC5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783381"/>
            <a:ext cx="6393023" cy="1459477"/>
          </a:xfrm>
        </p:spPr>
        <p:txBody>
          <a:bodyPr vert="horz" rIns="91440"/>
          <a:lstStyle/>
          <a:p>
            <a:r>
              <a:rPr lang="es-MX" noProof="0">
                <a:latin typeface="Graphik" panose="020B0503030202060203" pitchFamily="34" charset="77"/>
              </a:rPr>
              <a:t>Alineación Arquitectura Unity</a:t>
            </a:r>
            <a:endParaRPr lang="es-MX" b="0" noProof="0">
              <a:latin typeface="Graphik" panose="020B0503030202060203" pitchFamily="34" charset="77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D0DBCE1-CFCC-612C-134B-0DBC5EBBA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265681"/>
            <a:ext cx="7829550" cy="924063"/>
          </a:xfrm>
        </p:spPr>
        <p:txBody>
          <a:bodyPr/>
          <a:lstStyle/>
          <a:p>
            <a:endParaRPr lang="es-MX" noProof="0">
              <a:latin typeface="+mj-lt"/>
            </a:endParaRPr>
          </a:p>
        </p:txBody>
      </p:sp>
      <p:sp>
        <p:nvSpPr>
          <p:cNvPr id="16" name="Subtitle 5">
            <a:extLst>
              <a:ext uri="{FF2B5EF4-FFF2-40B4-BE49-F238E27FC236}">
                <a16:creationId xmlns:a16="http://schemas.microsoft.com/office/drawing/2014/main" id="{A5FE71FC-D52B-8760-63A9-F27C8DA5F43C}"/>
              </a:ext>
            </a:extLst>
          </p:cNvPr>
          <p:cNvSpPr txBox="1">
            <a:spLocks/>
          </p:cNvSpPr>
          <p:nvPr/>
        </p:nvSpPr>
        <p:spPr bwMode="black">
          <a:xfrm>
            <a:off x="513271" y="6114211"/>
            <a:ext cx="1756104" cy="266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 i="0" kern="1200" spc="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503030202060203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 b="1">
                <a:latin typeface="Graphik" panose="020B0503030202060203" pitchFamily="34" charset="77"/>
              </a:rPr>
              <a:t>Julio</a:t>
            </a:r>
            <a:r>
              <a:rPr lang="es-MX" sz="1400" b="1" noProof="0">
                <a:latin typeface="Graphik" panose="020B0503030202060203" pitchFamily="34" charset="77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305730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E418A56-D047-CFF8-710A-E8E726950C5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79432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418A56-D047-CFF8-710A-E8E726950C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673126B-8A90-6BA8-54C5-B55EFD6C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/>
              <a:t>Objetivos de la sesión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B8E07F-A7FA-D5FC-99F6-81A3F59C7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F90F471-3972-4120-B8B3-0237DE626C35}" type="slidenum">
              <a:rPr lang="es-MX" smtClean="0"/>
              <a:pPr/>
              <a:t>2</a:t>
            </a:fld>
            <a:endParaRPr lang="es-MX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AA510-DC70-8E86-76FF-A69A6154F365}"/>
              </a:ext>
            </a:extLst>
          </p:cNvPr>
          <p:cNvSpPr txBox="1"/>
          <p:nvPr/>
        </p:nvSpPr>
        <p:spPr>
          <a:xfrm>
            <a:off x="1354955" y="1563624"/>
            <a:ext cx="9006840" cy="42611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algn="l" defTabSz="228600">
              <a:lnSpc>
                <a:spcPct val="150000"/>
              </a:lnSpc>
              <a:spcAft>
                <a:spcPts val="1800"/>
              </a:spcAft>
              <a:buClr>
                <a:schemeClr val="accent3"/>
              </a:buClr>
              <a:buSzPct val="130000"/>
              <a:buAutoNum type="arabicPeriod"/>
            </a:pPr>
            <a:r>
              <a:rPr lang="en-US" b="1" noProof="0"/>
              <a:t> </a:t>
            </a:r>
            <a:r>
              <a:rPr lang="en-US" noProof="0" err="1"/>
              <a:t>Entender</a:t>
            </a:r>
            <a:r>
              <a:rPr lang="en-US" noProof="0"/>
              <a:t> </a:t>
            </a:r>
            <a:r>
              <a:rPr lang="en-US" noProof="0" err="1"/>
              <a:t>el</a:t>
            </a:r>
            <a:r>
              <a:rPr lang="en-US" noProof="0"/>
              <a:t> </a:t>
            </a:r>
            <a:r>
              <a:rPr lang="en-US" noProof="0" err="1"/>
              <a:t>alcance</a:t>
            </a:r>
            <a:r>
              <a:rPr lang="en-US" noProof="0"/>
              <a:t>, </a:t>
            </a:r>
            <a:r>
              <a:rPr lang="en-US" noProof="0" err="1"/>
              <a:t>responsabilidades</a:t>
            </a:r>
            <a:r>
              <a:rPr lang="en-US" noProof="0"/>
              <a:t> y </a:t>
            </a:r>
            <a:r>
              <a:rPr lang="en-US" noProof="0" err="1"/>
              <a:t>prioridades</a:t>
            </a:r>
            <a:r>
              <a:rPr lang="en-US" noProof="0"/>
              <a:t> del nuevo </a:t>
            </a:r>
            <a:r>
              <a:rPr lang="en-US" noProof="0" err="1"/>
              <a:t>equipo</a:t>
            </a:r>
            <a:r>
              <a:rPr lang="en-US" noProof="0"/>
              <a:t> de </a:t>
            </a:r>
            <a:r>
              <a:rPr lang="en-US" noProof="0" err="1"/>
              <a:t>Arquitectura</a:t>
            </a:r>
            <a:r>
              <a:rPr lang="en-US" noProof="0"/>
              <a:t> </a:t>
            </a:r>
            <a:r>
              <a:rPr lang="en-US" err="1"/>
              <a:t>liderado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noProof="0"/>
              <a:t>Edgar Mejía</a:t>
            </a:r>
          </a:p>
          <a:p>
            <a:pPr marL="342900" indent="-342900" algn="l" defTabSz="228600">
              <a:lnSpc>
                <a:spcPct val="150000"/>
              </a:lnSpc>
              <a:spcAft>
                <a:spcPts val="1800"/>
              </a:spcAft>
              <a:buClr>
                <a:schemeClr val="accent3"/>
              </a:buClr>
              <a:buSzPct val="130000"/>
              <a:buAutoNum type="arabicPeriod"/>
            </a:pPr>
            <a:r>
              <a:rPr lang="en-US" b="1"/>
              <a:t> </a:t>
            </a:r>
            <a:r>
              <a:rPr lang="en-US" err="1"/>
              <a:t>Compartir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principales</a:t>
            </a:r>
            <a:r>
              <a:rPr lang="en-US"/>
              <a:t> </a:t>
            </a:r>
            <a:r>
              <a:rPr lang="en-US" err="1"/>
              <a:t>hallazgos</a:t>
            </a:r>
            <a:r>
              <a:rPr lang="en-US"/>
              <a:t> y </a:t>
            </a:r>
            <a:r>
              <a:rPr lang="en-US" err="1"/>
              <a:t>oportunidades</a:t>
            </a:r>
            <a:r>
              <a:rPr lang="en-US"/>
              <a:t> de </a:t>
            </a:r>
            <a:r>
              <a:rPr lang="en-US" err="1"/>
              <a:t>mejora</a:t>
            </a:r>
            <a:r>
              <a:rPr lang="en-US"/>
              <a:t> </a:t>
            </a:r>
            <a:r>
              <a:rPr lang="en-US" err="1"/>
              <a:t>identificados</a:t>
            </a:r>
            <a:r>
              <a:rPr lang="en-US"/>
              <a:t> </a:t>
            </a:r>
            <a:r>
              <a:rPr lang="en-US" err="1"/>
              <a:t>durante</a:t>
            </a:r>
            <a:r>
              <a:rPr lang="en-US"/>
              <a:t> la </a:t>
            </a:r>
            <a:r>
              <a:rPr lang="en-US" err="1"/>
              <a:t>fase</a:t>
            </a:r>
            <a:r>
              <a:rPr lang="en-US"/>
              <a:t> de Diligence </a:t>
            </a:r>
          </a:p>
          <a:p>
            <a:pPr marL="342900" indent="-342900" algn="l" defTabSz="228600">
              <a:lnSpc>
                <a:spcPct val="150000"/>
              </a:lnSpc>
              <a:spcAft>
                <a:spcPts val="1800"/>
              </a:spcAft>
              <a:buClr>
                <a:schemeClr val="accent3"/>
              </a:buClr>
              <a:buSzPct val="130000"/>
              <a:buAutoNum type="arabicPeriod"/>
            </a:pPr>
            <a:r>
              <a:rPr lang="en-US" b="1" noProof="0"/>
              <a:t> </a:t>
            </a:r>
            <a:r>
              <a:rPr lang="en-US" noProof="0" err="1"/>
              <a:t>Presentar</a:t>
            </a:r>
            <a:r>
              <a:rPr lang="en-US" noProof="0"/>
              <a:t> </a:t>
            </a:r>
            <a:r>
              <a:rPr lang="en-US" noProof="0" err="1"/>
              <a:t>los</a:t>
            </a:r>
            <a:r>
              <a:rPr lang="en-US" noProof="0"/>
              <a:t> </a:t>
            </a:r>
            <a:r>
              <a:rPr lang="en-US" err="1"/>
              <a:t>entregables</a:t>
            </a:r>
            <a:r>
              <a:rPr lang="en-US"/>
              <a:t> y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alcance</a:t>
            </a:r>
            <a:r>
              <a:rPr lang="en-US"/>
              <a:t> </a:t>
            </a:r>
            <a:r>
              <a:rPr lang="en-US" err="1"/>
              <a:t>comprometido</a:t>
            </a:r>
            <a:r>
              <a:rPr lang="en-US"/>
              <a:t> para la </a:t>
            </a:r>
            <a:r>
              <a:rPr lang="en-US" err="1"/>
              <a:t>fase</a:t>
            </a:r>
            <a:r>
              <a:rPr lang="en-US"/>
              <a:t> de </a:t>
            </a:r>
            <a:r>
              <a:rPr lang="en-US" err="1"/>
              <a:t>Reingeniería</a:t>
            </a:r>
            <a:endParaRPr lang="en-US"/>
          </a:p>
          <a:p>
            <a:pPr marL="342900" indent="-342900" algn="l" defTabSz="228600">
              <a:lnSpc>
                <a:spcPct val="150000"/>
              </a:lnSpc>
              <a:spcAft>
                <a:spcPts val="1800"/>
              </a:spcAft>
              <a:buClr>
                <a:schemeClr val="accent3"/>
              </a:buClr>
              <a:buSzPct val="130000"/>
              <a:buAutoNum type="arabicPeriod"/>
            </a:pPr>
            <a:r>
              <a:rPr lang="en-US" b="1" noProof="0"/>
              <a:t> </a:t>
            </a:r>
            <a:r>
              <a:rPr lang="en-US" noProof="0" err="1"/>
              <a:t>Alinear</a:t>
            </a:r>
            <a:r>
              <a:rPr lang="en-US" noProof="0"/>
              <a:t> </a:t>
            </a:r>
            <a:r>
              <a:rPr lang="en-US" noProof="0" err="1"/>
              <a:t>modelo</a:t>
            </a:r>
            <a:r>
              <a:rPr lang="en-US" noProof="0"/>
              <a:t> de </a:t>
            </a:r>
            <a:r>
              <a:rPr lang="en-US" noProof="0" err="1"/>
              <a:t>colaboración</a:t>
            </a:r>
            <a:r>
              <a:rPr lang="en-US" noProof="0"/>
              <a:t>, </a:t>
            </a:r>
            <a:r>
              <a:rPr lang="en-US" noProof="0" err="1"/>
              <a:t>mecanismos</a:t>
            </a:r>
            <a:r>
              <a:rPr lang="en-US" noProof="0"/>
              <a:t> de </a:t>
            </a:r>
            <a:r>
              <a:rPr lang="en-US" noProof="0" err="1"/>
              <a:t>trabajo</a:t>
            </a:r>
            <a:r>
              <a:rPr lang="en-US" noProof="0"/>
              <a:t> y </a:t>
            </a:r>
            <a:r>
              <a:rPr lang="en-US" noProof="0" err="1"/>
              <a:t>próximos</a:t>
            </a:r>
            <a:r>
              <a:rPr lang="en-US" noProof="0"/>
              <a:t> pasos con </a:t>
            </a:r>
            <a:r>
              <a:rPr lang="en-US" noProof="0" err="1"/>
              <a:t>el</a:t>
            </a:r>
            <a:r>
              <a:rPr lang="en-US" noProof="0"/>
              <a:t> </a:t>
            </a:r>
            <a:r>
              <a:rPr lang="en-US" noProof="0" err="1"/>
              <a:t>equipo</a:t>
            </a:r>
            <a:r>
              <a:rPr lang="en-US" noProof="0"/>
              <a:t> de </a:t>
            </a:r>
            <a:r>
              <a:rPr lang="en-US"/>
              <a:t>Edgar Mejía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33555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F7F88CA-E65A-4368-05B6-1D5EE178CDE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758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7F88CA-E65A-4368-05B6-1D5EE178CD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Shape 15">
            <a:extLst>
              <a:ext uri="{FF2B5EF4-FFF2-40B4-BE49-F238E27FC236}">
                <a16:creationId xmlns:a16="http://schemas.microsoft.com/office/drawing/2014/main" id="{6B3AF578-83EA-FE4C-C828-0773AA9B23AA}"/>
              </a:ext>
            </a:extLst>
          </p:cNvPr>
          <p:cNvSpPr/>
          <p:nvPr/>
        </p:nvSpPr>
        <p:spPr>
          <a:xfrm>
            <a:off x="365760" y="2110132"/>
            <a:ext cx="2613630" cy="113000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r>
              <a:rPr lang="es-MX" sz="1000"/>
              <a:t>INPUT (AMS ACCENTURE)</a:t>
            </a:r>
          </a:p>
          <a:p>
            <a:endParaRPr lang="es-MX" sz="6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SUDs</a:t>
            </a:r>
            <a:r>
              <a:rPr lang="es-MX" sz="1000" baseline="30000"/>
              <a:t>1</a:t>
            </a:r>
            <a:endParaRPr lang="es-MX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CMDB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Mapeo de procesos de negocio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Diagramas de arquitectura de BCP algunos aplicativos (fecha sin definir)</a:t>
            </a: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44CED280-42EF-8416-E9CE-283197689B81}"/>
              </a:ext>
            </a:extLst>
          </p:cNvPr>
          <p:cNvSpPr/>
          <p:nvPr/>
        </p:nvSpPr>
        <p:spPr>
          <a:xfrm>
            <a:off x="365760" y="3301871"/>
            <a:ext cx="2613630" cy="1514511"/>
          </a:xfrm>
          <a:prstGeom prst="rect">
            <a:avLst/>
          </a:prstGeom>
          <a:solidFill>
            <a:srgbClr val="EDF0FD"/>
          </a:solidFill>
          <a:ln w="6350">
            <a:solidFill>
              <a:srgbClr val="C5CEFC"/>
            </a:solidFill>
            <a:prstDash val="solid"/>
          </a:ln>
        </p:spPr>
        <p:txBody>
          <a:bodyPr/>
          <a:lstStyle/>
          <a:p>
            <a:r>
              <a:rPr lang="es-MX" sz="1000">
                <a:solidFill>
                  <a:srgbClr val="2B3A8F"/>
                </a:solidFill>
              </a:rPr>
              <a:t>ACTIVIDADES A REALIZAR</a:t>
            </a:r>
          </a:p>
          <a:p>
            <a:endParaRPr lang="es-MX" sz="600">
              <a:solidFill>
                <a:srgbClr val="2B3A8F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>
                <a:solidFill>
                  <a:schemeClr val="accent1">
                    <a:lumMod val="50000"/>
                  </a:schemeClr>
                </a:solidFill>
              </a:rPr>
              <a:t>Elaborar un </a:t>
            </a:r>
            <a:r>
              <a:rPr lang="es-MX" sz="1000" err="1">
                <a:solidFill>
                  <a:schemeClr val="accent1">
                    <a:lumMod val="50000"/>
                  </a:schemeClr>
                </a:solidFill>
              </a:rPr>
              <a:t>template</a:t>
            </a:r>
            <a:r>
              <a:rPr lang="es-MX" sz="100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s-MX" sz="1000" err="1">
                <a:solidFill>
                  <a:schemeClr val="accent1">
                    <a:lumMod val="50000"/>
                  </a:schemeClr>
                </a:solidFill>
              </a:rPr>
              <a:t>blueprint</a:t>
            </a:r>
            <a:r>
              <a:rPr lang="es-MX" sz="100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MX" sz="1000" err="1">
                <a:solidFill>
                  <a:schemeClr val="accent1">
                    <a:lumMod val="50000"/>
                  </a:schemeClr>
                </a:solidFill>
              </a:rPr>
              <a:t>high</a:t>
            </a:r>
            <a:r>
              <a:rPr lang="es-MX" sz="100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MX" sz="1000" err="1">
                <a:solidFill>
                  <a:schemeClr val="accent1">
                    <a:lumMod val="50000"/>
                  </a:schemeClr>
                </a:solidFill>
              </a:rPr>
              <a:t>level</a:t>
            </a:r>
            <a:r>
              <a:rPr lang="es-MX" sz="1000">
                <a:solidFill>
                  <a:schemeClr val="accent1">
                    <a:lumMod val="50000"/>
                  </a:schemeClr>
                </a:solidFill>
              </a:rPr>
              <a:t> de Arquitectura para mapeo homologado de Legado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1000" b="1">
              <a:solidFill>
                <a:srgbClr val="2B3A8F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>
                <a:solidFill>
                  <a:srgbClr val="2B3A8F"/>
                </a:solidFill>
              </a:rPr>
              <a:t>Workshops de validación del mapeo inicial de arquitectura de legado</a:t>
            </a:r>
            <a:r>
              <a:rPr lang="es-MX" sz="1000" baseline="30000">
                <a:solidFill>
                  <a:srgbClr val="2B3A8F"/>
                </a:solidFill>
              </a:rPr>
              <a:t>2</a:t>
            </a:r>
            <a:endParaRPr lang="es-MX" sz="1000">
              <a:solidFill>
                <a:srgbClr val="2B3A8F"/>
              </a:solidFill>
            </a:endParaRPr>
          </a:p>
          <a:p>
            <a:endParaRPr lang="es-MX" sz="1000">
              <a:solidFill>
                <a:srgbClr val="2B3A8F"/>
              </a:solidFill>
            </a:endParaRPr>
          </a:p>
          <a:p>
            <a:endParaRPr lang="es-MX" sz="1000">
              <a:solidFill>
                <a:srgbClr val="2B3A8F"/>
              </a:solidFill>
            </a:endParaRP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64516894-48E0-E506-6F59-958D6832A23B}"/>
              </a:ext>
            </a:extLst>
          </p:cNvPr>
          <p:cNvSpPr/>
          <p:nvPr/>
        </p:nvSpPr>
        <p:spPr>
          <a:xfrm>
            <a:off x="3166078" y="2110134"/>
            <a:ext cx="3733757" cy="11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pPr>
              <a:buSzPct val="100000"/>
            </a:pPr>
            <a:r>
              <a:rPr lang="es-MX" sz="1000">
                <a:solidFill>
                  <a:srgbClr val="3D3D3D"/>
                </a:solidFill>
              </a:rPr>
              <a:t>INPUT</a:t>
            </a:r>
          </a:p>
          <a:p>
            <a:pPr>
              <a:buSzPct val="100000"/>
            </a:pPr>
            <a:endParaRPr lang="es-MX" sz="600">
              <a:solidFill>
                <a:srgbClr val="3D3D3D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s-MX" sz="1000">
                <a:solidFill>
                  <a:srgbClr val="3D3D3D"/>
                </a:solidFill>
              </a:rPr>
              <a:t>Primera iteración de la arquitectura de Legado</a:t>
            </a:r>
          </a:p>
          <a:p>
            <a:pPr marL="342900" indent="-342900">
              <a:buSzPct val="100000"/>
              <a:buChar char="•"/>
            </a:pPr>
            <a:r>
              <a:rPr lang="es-MX" sz="1000" err="1">
                <a:solidFill>
                  <a:srgbClr val="3D3D3D"/>
                </a:solidFill>
              </a:rPr>
              <a:t>Template</a:t>
            </a:r>
            <a:r>
              <a:rPr lang="es-MX" sz="1000">
                <a:solidFill>
                  <a:srgbClr val="3D3D3D"/>
                </a:solidFill>
              </a:rPr>
              <a:t> de </a:t>
            </a:r>
            <a:r>
              <a:rPr lang="es-MX" sz="1000" err="1">
                <a:solidFill>
                  <a:srgbClr val="3D3D3D"/>
                </a:solidFill>
              </a:rPr>
              <a:t>Blueprint</a:t>
            </a:r>
            <a:r>
              <a:rPr lang="es-MX" sz="1000">
                <a:solidFill>
                  <a:srgbClr val="3D3D3D"/>
                </a:solidFill>
              </a:rPr>
              <a:t> de arquitectura</a:t>
            </a:r>
            <a:endParaRPr lang="es-MX" sz="100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31E01970-EF6A-B279-0C76-F9811F7F04E1}"/>
              </a:ext>
            </a:extLst>
          </p:cNvPr>
          <p:cNvSpPr/>
          <p:nvPr/>
        </p:nvSpPr>
        <p:spPr>
          <a:xfrm>
            <a:off x="7061631" y="2110134"/>
            <a:ext cx="4604967" cy="11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pPr>
              <a:buSzPct val="100000"/>
            </a:pPr>
            <a:r>
              <a:rPr lang="es-MX" sz="1000">
                <a:solidFill>
                  <a:srgbClr val="3D3D3D"/>
                </a:solidFill>
              </a:rPr>
              <a:t>INPUT</a:t>
            </a:r>
          </a:p>
          <a:p>
            <a:pPr>
              <a:buSzPct val="100000"/>
            </a:pPr>
            <a:endParaRPr lang="es-MX" sz="600">
              <a:solidFill>
                <a:srgbClr val="3D3D3D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s-MX" sz="1000"/>
              <a:t>Arquitectura TO-BE 2030 conceptual</a:t>
            </a:r>
          </a:p>
          <a:p>
            <a:pPr marL="342900" indent="-342900">
              <a:buSzPct val="100000"/>
              <a:buChar char="•"/>
            </a:pPr>
            <a:r>
              <a:rPr lang="es-MX" sz="1000"/>
              <a:t>Arquitectura de interoperabilidad de referencia de Accenture </a:t>
            </a:r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821BD877-1493-8162-E256-8BB3A8ABE28F}"/>
              </a:ext>
            </a:extLst>
          </p:cNvPr>
          <p:cNvSpPr/>
          <p:nvPr/>
        </p:nvSpPr>
        <p:spPr>
          <a:xfrm>
            <a:off x="7061631" y="3301871"/>
            <a:ext cx="4604967" cy="483446"/>
          </a:xfrm>
          <a:prstGeom prst="rect">
            <a:avLst/>
          </a:prstGeom>
          <a:solidFill>
            <a:srgbClr val="FFF8EC"/>
          </a:solidFill>
          <a:ln w="6350">
            <a:solidFill>
              <a:srgbClr val="F5D98A"/>
            </a:solidFill>
            <a:prstDash val="solid"/>
          </a:ln>
        </p:spPr>
        <p:txBody>
          <a:bodyPr/>
          <a:lstStyle/>
          <a:p>
            <a:r>
              <a:rPr lang="es-MX" sz="1000">
                <a:solidFill>
                  <a:schemeClr val="accent2">
                    <a:lumMod val="50000"/>
                  </a:schemeClr>
                </a:solidFill>
              </a:rPr>
              <a:t>DEPENDENCIA</a:t>
            </a:r>
          </a:p>
          <a:p>
            <a:endParaRPr lang="es-MX" sz="500">
              <a:solidFill>
                <a:srgbClr val="7A5800"/>
              </a:solidFill>
            </a:endParaRPr>
          </a:p>
          <a:p>
            <a:r>
              <a:rPr lang="es-MX" sz="1000">
                <a:solidFill>
                  <a:srgbClr val="7A5800"/>
                </a:solidFill>
              </a:rPr>
              <a:t>Secuencia de transformación por negocio (roadmap)</a:t>
            </a:r>
            <a:endParaRPr lang="es-MX" sz="1000"/>
          </a:p>
          <a:p>
            <a:endParaRPr lang="es-MX" sz="10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8" name="Arrow: Pentagon 37">
            <a:extLst>
              <a:ext uri="{FF2B5EF4-FFF2-40B4-BE49-F238E27FC236}">
                <a16:creationId xmlns:a16="http://schemas.microsoft.com/office/drawing/2014/main" id="{60A24119-424B-7248-AAA4-04360AFD30FB}"/>
              </a:ext>
            </a:extLst>
          </p:cNvPr>
          <p:cNvSpPr/>
          <p:nvPr/>
        </p:nvSpPr>
        <p:spPr>
          <a:xfrm>
            <a:off x="365760" y="1514956"/>
            <a:ext cx="2962114" cy="538545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s-MX" sz="800">
                <a:solidFill>
                  <a:schemeClr val="bg1"/>
                </a:solidFill>
              </a:rPr>
              <a:t>2 SEMANAS</a:t>
            </a:r>
          </a:p>
          <a:p>
            <a:pPr algn="ctr"/>
            <a:r>
              <a:rPr lang="es-MX" sz="1100" b="1">
                <a:solidFill>
                  <a:schemeClr val="bg1"/>
                </a:solidFill>
              </a:rPr>
              <a:t>Cerrar mapeo </a:t>
            </a:r>
            <a:r>
              <a:rPr lang="es-MX" sz="1100" b="1" err="1">
                <a:solidFill>
                  <a:schemeClr val="bg1"/>
                </a:solidFill>
              </a:rPr>
              <a:t>Legacy</a:t>
            </a:r>
            <a:endParaRPr lang="es-MX" sz="1100" b="1">
              <a:solidFill>
                <a:schemeClr val="bg1"/>
              </a:solidFill>
            </a:endParaRPr>
          </a:p>
        </p:txBody>
      </p:sp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F06B71A5-C92B-8225-98C2-41887730B136}"/>
              </a:ext>
            </a:extLst>
          </p:cNvPr>
          <p:cNvSpPr/>
          <p:nvPr/>
        </p:nvSpPr>
        <p:spPr>
          <a:xfrm>
            <a:off x="3139630" y="1514956"/>
            <a:ext cx="4110244" cy="538545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s-MX" sz="900">
                <a:solidFill>
                  <a:schemeClr val="bg1"/>
                </a:solidFill>
              </a:rPr>
              <a:t>8 SEMANAS</a:t>
            </a:r>
          </a:p>
          <a:p>
            <a:pPr algn="ctr"/>
            <a:r>
              <a:rPr lang="es-MX" sz="1100" b="1">
                <a:solidFill>
                  <a:schemeClr val="bg1"/>
                </a:solidFill>
              </a:rPr>
              <a:t>Reingeniería coexistencias / </a:t>
            </a:r>
          </a:p>
          <a:p>
            <a:pPr algn="ctr"/>
            <a:r>
              <a:rPr lang="es-MX" sz="1100" b="1">
                <a:solidFill>
                  <a:schemeClr val="bg1"/>
                </a:solidFill>
              </a:rPr>
              <a:t>arquitectura 2026</a:t>
            </a:r>
          </a:p>
        </p:txBody>
      </p:sp>
      <p:sp>
        <p:nvSpPr>
          <p:cNvPr id="40" name="Arrow: Chevron 39">
            <a:extLst>
              <a:ext uri="{FF2B5EF4-FFF2-40B4-BE49-F238E27FC236}">
                <a16:creationId xmlns:a16="http://schemas.microsoft.com/office/drawing/2014/main" id="{4DAA767E-1D37-B203-EEB9-D1B864552CA3}"/>
              </a:ext>
            </a:extLst>
          </p:cNvPr>
          <p:cNvSpPr/>
          <p:nvPr/>
        </p:nvSpPr>
        <p:spPr>
          <a:xfrm>
            <a:off x="7061631" y="1514956"/>
            <a:ext cx="4764608" cy="538545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s-MX" sz="900">
                <a:solidFill>
                  <a:schemeClr val="bg1"/>
                </a:solidFill>
              </a:rPr>
              <a:t>20 SEMANAS</a:t>
            </a:r>
          </a:p>
          <a:p>
            <a:pPr algn="ctr"/>
            <a:r>
              <a:rPr lang="es-MX" sz="1100" b="1">
                <a:solidFill>
                  <a:schemeClr val="bg1"/>
                </a:solidFill>
              </a:rPr>
              <a:t>Cierre de arquitectura futura</a:t>
            </a: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DEA0F5EF-818D-68BB-E604-A048A8175320}"/>
              </a:ext>
            </a:extLst>
          </p:cNvPr>
          <p:cNvSpPr/>
          <p:nvPr/>
        </p:nvSpPr>
        <p:spPr>
          <a:xfrm>
            <a:off x="365761" y="4879468"/>
            <a:ext cx="2613630" cy="11081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s-MX" sz="1000"/>
              <a:t>ENTREGABLE</a:t>
            </a:r>
          </a:p>
          <a:p>
            <a:endParaRPr lang="es-MX" sz="6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Template de Blueprint de arquitectura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Arquitectura Legado - primera iteración</a:t>
            </a:r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34FECD6C-5975-4176-3E0A-60C11DD03AA2}"/>
              </a:ext>
            </a:extLst>
          </p:cNvPr>
          <p:cNvSpPr/>
          <p:nvPr/>
        </p:nvSpPr>
        <p:spPr>
          <a:xfrm>
            <a:off x="3166078" y="4879468"/>
            <a:ext cx="3733757" cy="11081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s-MX" sz="1000"/>
              <a:t>ENTREGABLE</a:t>
            </a:r>
          </a:p>
          <a:p>
            <a:endParaRPr lang="es-MX" sz="6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Arquitecturas transitorias por iniciativa del 2026 </a:t>
            </a:r>
            <a:r>
              <a:rPr lang="es-MX" sz="1000">
                <a:solidFill>
                  <a:srgbClr val="3D3D3D"/>
                </a:solidFill>
              </a:rPr>
              <a:t>(Cuenta efectiva digital N4, Cuenta efectiva digital N2 y N4, TDC Clásica R2, R3, R4, R5, Préstamo Simple)</a:t>
            </a:r>
            <a:endParaRPr lang="es-MX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Plan de decomisos alineados a iniciativas del 2026 con foco específico en funcionalidades de PISA</a:t>
            </a:r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CDAA3D00-3F82-7AE2-B36C-6A721F8BF33B}"/>
              </a:ext>
            </a:extLst>
          </p:cNvPr>
          <p:cNvSpPr/>
          <p:nvPr/>
        </p:nvSpPr>
        <p:spPr>
          <a:xfrm>
            <a:off x="7061631" y="4879468"/>
            <a:ext cx="4604967" cy="11081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s-MX" sz="1000"/>
              <a:t>ENTREGABLE</a:t>
            </a:r>
          </a:p>
          <a:p>
            <a:endParaRPr lang="es-MX" sz="6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Arquitectura refinada de Legado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err="1"/>
              <a:t>Blueprint</a:t>
            </a:r>
            <a:r>
              <a:rPr lang="es-MX" sz="1000"/>
              <a:t> de arquitectura TO-BE BanCoppel 2030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Arquitecturas de transición por iniciativa refinadas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Arquitectura funcional por aplicativo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Plan refinado y </a:t>
            </a:r>
            <a:r>
              <a:rPr lang="es-MX" sz="1000" err="1"/>
              <a:t>roadmap</a:t>
            </a:r>
            <a:r>
              <a:rPr lang="es-MX" sz="1000"/>
              <a:t> de decomiso visión 2030 (incluyendo PISA)</a:t>
            </a:r>
          </a:p>
        </p:txBody>
      </p:sp>
      <p:sp>
        <p:nvSpPr>
          <p:cNvPr id="5" name="Shape 18">
            <a:extLst>
              <a:ext uri="{FF2B5EF4-FFF2-40B4-BE49-F238E27FC236}">
                <a16:creationId xmlns:a16="http://schemas.microsoft.com/office/drawing/2014/main" id="{5446964C-0D20-3588-BD45-86EE39F8E0EC}"/>
              </a:ext>
            </a:extLst>
          </p:cNvPr>
          <p:cNvSpPr/>
          <p:nvPr/>
        </p:nvSpPr>
        <p:spPr>
          <a:xfrm>
            <a:off x="3139630" y="3301871"/>
            <a:ext cx="3733756" cy="1514511"/>
          </a:xfrm>
          <a:prstGeom prst="rect">
            <a:avLst/>
          </a:prstGeom>
          <a:solidFill>
            <a:srgbClr val="EDF0FD"/>
          </a:solidFill>
          <a:ln w="6350">
            <a:solidFill>
              <a:srgbClr val="C5CEFC"/>
            </a:solidFill>
            <a:prstDash val="solid"/>
          </a:ln>
        </p:spPr>
        <p:txBody>
          <a:bodyPr/>
          <a:lstStyle/>
          <a:p>
            <a:r>
              <a:rPr lang="es-MX" sz="1000">
                <a:solidFill>
                  <a:srgbClr val="2B3A8F"/>
                </a:solidFill>
              </a:rPr>
              <a:t>ACTIVIDADES A REALIZAR</a:t>
            </a:r>
          </a:p>
          <a:p>
            <a:endParaRPr lang="es-MX" sz="600">
              <a:solidFill>
                <a:srgbClr val="2B3A8F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>
                <a:solidFill>
                  <a:srgbClr val="2B3A8F"/>
                </a:solidFill>
              </a:rPr>
              <a:t>Identificar arquitecturas target utilizadas para iniciativas 2026 y determinar sus arquitecturas transitorias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>
                <a:solidFill>
                  <a:srgbClr val="2B3A8F"/>
                </a:solidFill>
              </a:rPr>
              <a:t>Identificar y validar aplicaciones por decomisar relacionadas a iniciativas al 2026</a:t>
            </a:r>
          </a:p>
          <a:p>
            <a:endParaRPr lang="es-MX" sz="1000">
              <a:solidFill>
                <a:srgbClr val="2B3A8F"/>
              </a:solidFill>
            </a:endParaRPr>
          </a:p>
          <a:p>
            <a:endParaRPr lang="es-MX" sz="1000">
              <a:solidFill>
                <a:srgbClr val="2B3A8F"/>
              </a:solidFill>
            </a:endParaRPr>
          </a:p>
        </p:txBody>
      </p:sp>
      <p:sp>
        <p:nvSpPr>
          <p:cNvPr id="6" name="Shape 18">
            <a:extLst>
              <a:ext uri="{FF2B5EF4-FFF2-40B4-BE49-F238E27FC236}">
                <a16:creationId xmlns:a16="http://schemas.microsoft.com/office/drawing/2014/main" id="{04F368C5-0989-4904-249F-3A8586490B88}"/>
              </a:ext>
            </a:extLst>
          </p:cNvPr>
          <p:cNvSpPr/>
          <p:nvPr/>
        </p:nvSpPr>
        <p:spPr>
          <a:xfrm>
            <a:off x="7061631" y="3870477"/>
            <a:ext cx="4604967" cy="945905"/>
          </a:xfrm>
          <a:prstGeom prst="rect">
            <a:avLst/>
          </a:prstGeom>
          <a:solidFill>
            <a:srgbClr val="EDF0FD"/>
          </a:solidFill>
          <a:ln w="6350">
            <a:solidFill>
              <a:srgbClr val="C5CEFC"/>
            </a:solidFill>
            <a:prstDash val="solid"/>
          </a:ln>
        </p:spPr>
        <p:txBody>
          <a:bodyPr/>
          <a:lstStyle/>
          <a:p>
            <a:r>
              <a:rPr lang="es-MX" sz="1000">
                <a:solidFill>
                  <a:srgbClr val="2B3A8F"/>
                </a:solidFill>
              </a:rPr>
              <a:t>ACTIVIDADES A REALIZAR</a:t>
            </a:r>
          </a:p>
          <a:p>
            <a:endParaRPr lang="es-MX" sz="600">
              <a:solidFill>
                <a:srgbClr val="2B3A8F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>
                <a:solidFill>
                  <a:srgbClr val="2B3A8F"/>
                </a:solidFill>
              </a:rPr>
              <a:t>Iteración del mapeo de arquitectura de Legado con inputs adicionales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>
                <a:solidFill>
                  <a:srgbClr val="2B3A8F"/>
                </a:solidFill>
              </a:rPr>
              <a:t>Mapeo de arquitectura TO-BE, transitorias con visión al 2030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>
                <a:solidFill>
                  <a:srgbClr val="2B3A8F"/>
                </a:solidFill>
              </a:rPr>
              <a:t>Mapeo de arquitectura funcional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>
                <a:solidFill>
                  <a:srgbClr val="2B3A8F"/>
                </a:solidFill>
              </a:rPr>
              <a:t>Identificación de aplicaciones a decomisar con visión 2030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1EAA72-DAFE-52B9-0D32-98DF29D586AE}"/>
              </a:ext>
            </a:extLst>
          </p:cNvPr>
          <p:cNvCxnSpPr>
            <a:cxnSpLocks/>
          </p:cNvCxnSpPr>
          <p:nvPr/>
        </p:nvCxnSpPr>
        <p:spPr>
          <a:xfrm>
            <a:off x="365760" y="1395133"/>
            <a:ext cx="648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4FCBB5-199B-D58B-B4B3-7E7E9C174F75}"/>
              </a:ext>
            </a:extLst>
          </p:cNvPr>
          <p:cNvSpPr txBox="1"/>
          <p:nvPr/>
        </p:nvSpPr>
        <p:spPr>
          <a:xfrm>
            <a:off x="2741760" y="1297853"/>
            <a:ext cx="1728000" cy="11913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1050" noProof="0"/>
              <a:t>Fase de Reingeniería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0434D3-CC27-81B8-F20A-1EEF6A0C19F9}"/>
              </a:ext>
            </a:extLst>
          </p:cNvPr>
          <p:cNvCxnSpPr>
            <a:cxnSpLocks/>
          </p:cNvCxnSpPr>
          <p:nvPr/>
        </p:nvCxnSpPr>
        <p:spPr>
          <a:xfrm>
            <a:off x="7059700" y="1395133"/>
            <a:ext cx="4428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C1CA0A5-BB47-17B7-1691-2EEEDD4A990F}"/>
              </a:ext>
            </a:extLst>
          </p:cNvPr>
          <p:cNvSpPr txBox="1"/>
          <p:nvPr/>
        </p:nvSpPr>
        <p:spPr>
          <a:xfrm>
            <a:off x="8553700" y="1297853"/>
            <a:ext cx="1440000" cy="11913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1050" noProof="0"/>
              <a:t>Fase de ejecución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242F68-94EE-AA8A-D581-B61ECACC791C}"/>
              </a:ext>
            </a:extLst>
          </p:cNvPr>
          <p:cNvSpPr txBox="1"/>
          <p:nvPr/>
        </p:nvSpPr>
        <p:spPr>
          <a:xfrm>
            <a:off x="461028" y="6074662"/>
            <a:ext cx="6289463" cy="4272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/>
            <a:r>
              <a:rPr lang="es-MX" sz="900" i="1" baseline="30000">
                <a:solidFill>
                  <a:schemeClr val="tx2"/>
                </a:solidFill>
              </a:rPr>
              <a:t>1</a:t>
            </a:r>
            <a:r>
              <a:rPr lang="es-MX" sz="900" i="1">
                <a:solidFill>
                  <a:schemeClr val="tx2"/>
                </a:solidFill>
              </a:rPr>
              <a:t>SUD - </a:t>
            </a:r>
            <a:r>
              <a:rPr lang="es-MX" sz="900" i="1" err="1">
                <a:solidFill>
                  <a:schemeClr val="tx2"/>
                </a:solidFill>
              </a:rPr>
              <a:t>System</a:t>
            </a:r>
            <a:r>
              <a:rPr lang="es-MX" sz="900" i="1">
                <a:solidFill>
                  <a:schemeClr val="tx2"/>
                </a:solidFill>
              </a:rPr>
              <a:t> </a:t>
            </a:r>
            <a:r>
              <a:rPr lang="es-MX" sz="900" i="1" err="1">
                <a:solidFill>
                  <a:schemeClr val="tx2"/>
                </a:solidFill>
              </a:rPr>
              <a:t>Understanding</a:t>
            </a:r>
            <a:r>
              <a:rPr lang="es-MX" sz="900" i="1">
                <a:solidFill>
                  <a:schemeClr val="tx2"/>
                </a:solidFill>
              </a:rPr>
              <a:t> </a:t>
            </a:r>
            <a:r>
              <a:rPr lang="es-MX" sz="900" i="1" err="1">
                <a:solidFill>
                  <a:schemeClr val="tx2"/>
                </a:solidFill>
              </a:rPr>
              <a:t>Document</a:t>
            </a:r>
            <a:r>
              <a:rPr lang="es-MX" sz="900" i="1">
                <a:solidFill>
                  <a:schemeClr val="tx2"/>
                </a:solidFill>
              </a:rPr>
              <a:t>: documento output de proceso de Knowledge Transfer</a:t>
            </a:r>
          </a:p>
          <a:p>
            <a:pPr defTabSz="228600"/>
            <a:r>
              <a:rPr lang="es-MX" sz="900" i="1" baseline="30000">
                <a:solidFill>
                  <a:schemeClr val="tx2"/>
                </a:solidFill>
              </a:rPr>
              <a:t>2</a:t>
            </a:r>
            <a:r>
              <a:rPr lang="es-MX" sz="900" i="1">
                <a:solidFill>
                  <a:schemeClr val="tx2"/>
                </a:solidFill>
              </a:rPr>
              <a:t>Incluir Business </a:t>
            </a:r>
            <a:r>
              <a:rPr lang="es-MX" sz="900" i="1" err="1">
                <a:solidFill>
                  <a:schemeClr val="tx2"/>
                </a:solidFill>
              </a:rPr>
              <a:t>Unit</a:t>
            </a:r>
            <a:r>
              <a:rPr lang="es-MX" sz="900" i="1">
                <a:solidFill>
                  <a:schemeClr val="tx2"/>
                </a:solidFill>
              </a:rPr>
              <a:t> Leads AMS ACN, </a:t>
            </a:r>
            <a:r>
              <a:rPr lang="es-MX" sz="900" i="1" err="1">
                <a:solidFill>
                  <a:schemeClr val="tx2"/>
                </a:solidFill>
              </a:rPr>
              <a:t>Technical</a:t>
            </a:r>
            <a:r>
              <a:rPr lang="es-MX" sz="900" i="1">
                <a:solidFill>
                  <a:schemeClr val="tx2"/>
                </a:solidFill>
              </a:rPr>
              <a:t> Leads AMS ACN y Gerentes de Legado de BanCoppel. </a:t>
            </a:r>
            <a:endParaRPr lang="es-MX" sz="900" i="1" baseline="30000" noProof="0">
              <a:solidFill>
                <a:schemeClr val="tx2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BE1FF5A-A2C9-810B-9E79-A3D331F01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s-MX" smtClean="0"/>
              <a:pPr/>
              <a:t>3</a:t>
            </a:fld>
            <a:endParaRPr lang="es-MX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762C1A-47B2-327B-20A2-E45D3C34EBD1}"/>
              </a:ext>
            </a:extLst>
          </p:cNvPr>
          <p:cNvSpPr/>
          <p:nvPr/>
        </p:nvSpPr>
        <p:spPr>
          <a:xfrm>
            <a:off x="376522" y="197535"/>
            <a:ext cx="457200" cy="4572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s-MX" sz="2000" b="1"/>
              <a:t>2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C50D883-D361-0D7F-1ECF-DAFC4D8F3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198" y="245794"/>
            <a:ext cx="11143252" cy="954708"/>
          </a:xfrm>
        </p:spPr>
        <p:txBody>
          <a:bodyPr vert="horz" rIns="91440" anchor="t">
            <a:normAutofit/>
          </a:bodyPr>
          <a:lstStyle/>
          <a:p>
            <a:r>
              <a:rPr lang="es-MX" sz="2800"/>
              <a:t>Análisis de Ecosistema existente y Arquitectura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FFA0CA-27FB-A24A-658E-9FF53099A9B1}"/>
              </a:ext>
            </a:extLst>
          </p:cNvPr>
          <p:cNvSpPr txBox="1"/>
          <p:nvPr/>
        </p:nvSpPr>
        <p:spPr>
          <a:xfrm>
            <a:off x="861198" y="644845"/>
            <a:ext cx="112592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s-ES" sz="1600" i="1">
                <a:solidFill>
                  <a:srgbClr val="000000"/>
                </a:solidFill>
                <a:latin typeface="Graphik Light" panose="020B0403030202060203" pitchFamily="34" charset="0"/>
              </a:rPr>
              <a:t>Ejercicio de Reingeniería para mapear el estado actual del legado y definir los estados de coexistencia hacia las iniciativas de transformación, identificando decomisos y minimizando nuevos desarrollos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8225BF-8A10-F54B-D6D5-FAC235A7A543}"/>
              </a:ext>
            </a:extLst>
          </p:cNvPr>
          <p:cNvSpPr/>
          <p:nvPr/>
        </p:nvSpPr>
        <p:spPr>
          <a:xfrm>
            <a:off x="0" y="0"/>
            <a:ext cx="131561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</p:spTree>
    <p:extLst>
      <p:ext uri="{BB962C8B-B14F-4D97-AF65-F5344CB8AC3E}">
        <p14:creationId xmlns:p14="http://schemas.microsoft.com/office/powerpoint/2010/main" val="2686525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1640-D2D7-2C56-C1CD-910951BA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C85B3ED-F733-F206-DD82-9078C4819EA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85B3ED-F733-F206-DD82-9078C4819E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8BB2004-AA8A-67A9-2BCB-5BE565E7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36" y="2551673"/>
            <a:ext cx="11143252" cy="954708"/>
          </a:xfrm>
        </p:spPr>
        <p:txBody>
          <a:bodyPr vert="horz" rIns="91440"/>
          <a:lstStyle/>
          <a:p>
            <a:r>
              <a:rPr lang="en-US"/>
              <a:t>HALLAZGOS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E4DE9F-A1EB-77DD-0CD8-25ECC1765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rgbClr val="0041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s-MX" smtClean="0"/>
              <a:pPr/>
              <a:t>4</a:t>
            </a:fld>
            <a:endParaRPr lang="es-MX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C13E35-8C5C-8345-80B1-45FCE4744342}"/>
              </a:ext>
            </a:extLst>
          </p:cNvPr>
          <p:cNvSpPr/>
          <p:nvPr/>
        </p:nvSpPr>
        <p:spPr>
          <a:xfrm>
            <a:off x="-266700" y="3351773"/>
            <a:ext cx="7708900" cy="11938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</p:spTree>
    <p:extLst>
      <p:ext uri="{BB962C8B-B14F-4D97-AF65-F5344CB8AC3E}">
        <p14:creationId xmlns:p14="http://schemas.microsoft.com/office/powerpoint/2010/main" val="3268912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52A93-A891-9266-4F14-F1AEA833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414D84E-6205-E240-7EA9-0CF1DFA4BEF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3" progId="TCLayout.ActiveDocument.1">
                  <p:embed/>
                </p:oleObj>
              </mc:Choice>
              <mc:Fallback>
                <p:oleObj name="think-cell Slide" r:id="rId5" imgW="404" imgH="40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14D84E-6205-E240-7EA9-0CF1DFA4BE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F05018D-D53F-CB85-E159-EBF12005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 noProof="0"/>
              <a:t>Observaciones – Estrategia TI (1 / 3)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9FA292-5727-A43D-CAA6-F5F97F0179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64975" y="6489700"/>
            <a:ext cx="327025" cy="201613"/>
          </a:xfr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s-MX" sz="800" b="0" i="0" u="none" strike="noStrike" kern="1200" cap="none" spc="0" normalizeH="0" baseline="0" noProof="0" smtClean="0">
                <a:ln>
                  <a:noFill/>
                </a:ln>
                <a:solidFill>
                  <a:srgbClr val="0041F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MX" sz="800" b="0" i="0" u="none" strike="noStrike" kern="1200" cap="none" spc="0" normalizeH="0" baseline="0" noProof="0">
              <a:ln>
                <a:noFill/>
              </a:ln>
              <a:solidFill>
                <a:srgbClr val="0041F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4BE0532B-E100-A30C-320C-B2676D71E353}"/>
              </a:ext>
            </a:extLst>
          </p:cNvPr>
          <p:cNvSpPr txBox="1">
            <a:spLocks/>
          </p:cNvSpPr>
          <p:nvPr/>
        </p:nvSpPr>
        <p:spPr>
          <a:xfrm>
            <a:off x="1147512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s-MX" sz="800" b="0" i="0" u="none" strike="noStrike" kern="1200" cap="none" spc="0" normalizeH="0" baseline="0" noProof="0" smtClean="0">
                <a:ln>
                  <a:noFill/>
                </a:ln>
                <a:solidFill>
                  <a:srgbClr val="1C41E8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MX" sz="800" b="0" i="0" u="none" strike="noStrike" kern="1200" cap="none" spc="0" normalizeH="0" baseline="0" noProof="0">
              <a:ln>
                <a:noFill/>
              </a:ln>
              <a:solidFill>
                <a:srgbClr val="1C41E8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aphicFrame>
        <p:nvGraphicFramePr>
          <p:cNvPr id="4" name="Table 39">
            <a:extLst>
              <a:ext uri="{FF2B5EF4-FFF2-40B4-BE49-F238E27FC236}">
                <a16:creationId xmlns:a16="http://schemas.microsoft.com/office/drawing/2014/main" id="{3A557996-3414-E4A7-1813-D6EC15129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878077"/>
              </p:ext>
            </p:extLst>
          </p:nvPr>
        </p:nvGraphicFramePr>
        <p:xfrm>
          <a:off x="353626" y="960686"/>
          <a:ext cx="1148474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825">
                  <a:extLst>
                    <a:ext uri="{9D8B030D-6E8A-4147-A177-3AD203B41FA5}">
                      <a16:colId xmlns:a16="http://schemas.microsoft.com/office/drawing/2014/main" val="3727717906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1195672427"/>
                    </a:ext>
                  </a:extLst>
                </a:gridCol>
                <a:gridCol w="3576320">
                  <a:extLst>
                    <a:ext uri="{9D8B030D-6E8A-4147-A177-3AD203B41FA5}">
                      <a16:colId xmlns:a16="http://schemas.microsoft.com/office/drawing/2014/main" val="61164670"/>
                    </a:ext>
                  </a:extLst>
                </a:gridCol>
                <a:gridCol w="2972526">
                  <a:extLst>
                    <a:ext uri="{9D8B030D-6E8A-4147-A177-3AD203B41FA5}">
                      <a16:colId xmlns:a16="http://schemas.microsoft.com/office/drawing/2014/main" val="1339714640"/>
                    </a:ext>
                  </a:extLst>
                </a:gridCol>
                <a:gridCol w="2973047">
                  <a:extLst>
                    <a:ext uri="{9D8B030D-6E8A-4147-A177-3AD203B41FA5}">
                      <a16:colId xmlns:a16="http://schemas.microsoft.com/office/drawing/2014/main" val="2573992423"/>
                    </a:ext>
                  </a:extLst>
                </a:gridCol>
              </a:tblGrid>
              <a:tr h="320040">
                <a:tc gridSpan="3"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Resumen de observaciones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ts val="1100"/>
                        </a:lnSpc>
                      </a:pPr>
                      <a:endParaRPr lang="en-US" sz="10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ts val="1100"/>
                        </a:lnSpc>
                      </a:pPr>
                      <a:endParaRPr lang="en-US" sz="10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Resumen de impacto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ts val="1100"/>
                        </a:lnSpc>
                      </a:pPr>
                      <a:endParaRPr lang="en-US" sz="10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564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ID de categoría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Temas clave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Observaciones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Impactos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Matriz de impactos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91508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North Star de Negocio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UNITY fue concebido en 2023 como proyecto de </a:t>
                      </a:r>
                      <a:r>
                        <a:rPr lang="es-MX" sz="900" b="0" i="1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</a:t>
                      </a:r>
                      <a:r>
                        <a:rPr lang="es-MX" sz="900" b="0" i="1" u="none" strike="noStrike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</a:t>
                      </a:r>
                      <a:r>
                        <a:rPr lang="es-MX" sz="900" b="0" i="1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IT </a:t>
                      </a: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 alineación con un North </a:t>
                      </a:r>
                      <a:r>
                        <a:rPr lang="es-MX" sz="900" b="0" i="0" u="none" strike="noStrike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</a:t>
                      </a: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negocio. Esta alineación no aparece hasta que se toma UNITY como input para el plan 2030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una alineación de como el programa va a habilitar una visión de negocio en términos de nuevos productos y sus impactos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75190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North Star de Negocio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UNITY fue concebido como una colección de proyectos individuales por dominio en lugar de una transformación integral del banco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kern="12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No existe una estrategia integrada que maximice el valor de negocio considerando las distintas entregas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68393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North Star de Negocio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se mide el valor generado por el progreso de la transformación 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Ausencia de KPIs de valor y de gestión del programa y sus prioridades en una estructura orientada a la aportación de valor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86533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 de TI</a:t>
                      </a:r>
                    </a:p>
                  </a:txBody>
                  <a:tcPr marL="27432" marR="182880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un modelo centralizado de arquitectura objetivo definido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1" u="none" strike="noStrike" kern="1200" noProof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72139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 de TI</a:t>
                      </a:r>
                    </a:p>
                  </a:txBody>
                  <a:tcPr marL="27432" marR="182880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una definición de principios de arquitectura centralizada, tal y como requiere una transformación integral como UNITY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  <a:endParaRPr lang="es-MX" sz="9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0621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 de TI</a:t>
                      </a:r>
                    </a:p>
                  </a:txBody>
                  <a:tcPr marL="27432" marR="182880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una estrategia de arquitectura que posicione al banco para afrontar los retos 2030 (principios de arquitectura de interoperabilidad)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  <a:endParaRPr lang="es-MX" sz="9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7842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 de TI</a:t>
                      </a:r>
                    </a:p>
                  </a:txBody>
                  <a:tcPr marL="27432" marR="182880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una arquitectura para asegurar escenarios de coexistencia (principio de coexistencia estructural)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  <a:endParaRPr lang="es-MX" sz="9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57076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 de TI</a:t>
                      </a:r>
                    </a:p>
                  </a:txBody>
                  <a:tcPr marL="27432" marR="182880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una arquitectura de negocio explicando el alcance del sistema Legado que será cubierto por el programa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  <a:endParaRPr lang="es-MX" sz="9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28335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A30461-86B9-3397-A839-79789FF5C3D3}"/>
              </a:ext>
            </a:extLst>
          </p:cNvPr>
          <p:cNvGraphicFramePr>
            <a:graphicFrameLocks noGrp="1"/>
          </p:cNvGraphicFramePr>
          <p:nvPr/>
        </p:nvGraphicFramePr>
        <p:xfrm>
          <a:off x="9172872" y="2426996"/>
          <a:ext cx="2612252" cy="2693760"/>
        </p:xfrm>
        <a:graphic>
          <a:graphicData uri="http://schemas.openxmlformats.org/drawingml/2006/table">
            <a:tbl>
              <a:tblPr firstRow="1" bandRow="1"/>
              <a:tblGrid>
                <a:gridCol w="653063">
                  <a:extLst>
                    <a:ext uri="{9D8B030D-6E8A-4147-A177-3AD203B41FA5}">
                      <a16:colId xmlns:a16="http://schemas.microsoft.com/office/drawing/2014/main" val="3958754274"/>
                    </a:ext>
                  </a:extLst>
                </a:gridCol>
                <a:gridCol w="653063">
                  <a:extLst>
                    <a:ext uri="{9D8B030D-6E8A-4147-A177-3AD203B41FA5}">
                      <a16:colId xmlns:a16="http://schemas.microsoft.com/office/drawing/2014/main" val="2427521991"/>
                    </a:ext>
                  </a:extLst>
                </a:gridCol>
                <a:gridCol w="653063">
                  <a:extLst>
                    <a:ext uri="{9D8B030D-6E8A-4147-A177-3AD203B41FA5}">
                      <a16:colId xmlns:a16="http://schemas.microsoft.com/office/drawing/2014/main" val="3693408718"/>
                    </a:ext>
                  </a:extLst>
                </a:gridCol>
                <a:gridCol w="653063">
                  <a:extLst>
                    <a:ext uri="{9D8B030D-6E8A-4147-A177-3AD203B41FA5}">
                      <a16:colId xmlns:a16="http://schemas.microsoft.com/office/drawing/2014/main" val="827123561"/>
                    </a:ext>
                  </a:extLst>
                </a:gridCol>
              </a:tblGrid>
              <a:tr h="673440"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275694"/>
                  </a:ext>
                </a:extLst>
              </a:tr>
              <a:tr h="673440"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0541"/>
                  </a:ext>
                </a:extLst>
              </a:tr>
              <a:tr h="673440"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832238"/>
                  </a:ext>
                </a:extLst>
              </a:tr>
              <a:tr h="673440"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3117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587F9D5-080A-24B4-D96D-621911211512}"/>
              </a:ext>
            </a:extLst>
          </p:cNvPr>
          <p:cNvSpPr txBox="1">
            <a:spLocks/>
          </p:cNvSpPr>
          <p:nvPr/>
        </p:nvSpPr>
        <p:spPr>
          <a:xfrm>
            <a:off x="9961859" y="5119569"/>
            <a:ext cx="1034277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900" b="1" noProof="0"/>
              <a:t>Urgencia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8C721C-D67F-7E61-D092-BB729AFB8D6F}"/>
              </a:ext>
            </a:extLst>
          </p:cNvPr>
          <p:cNvSpPr txBox="1">
            <a:spLocks/>
          </p:cNvSpPr>
          <p:nvPr/>
        </p:nvSpPr>
        <p:spPr>
          <a:xfrm>
            <a:off x="9106158" y="5119569"/>
            <a:ext cx="625278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700" i="1" noProof="0"/>
              <a:t>Menor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4DD048-BBB8-7C7B-A39F-2ABBA06ABBCF}"/>
              </a:ext>
            </a:extLst>
          </p:cNvPr>
          <p:cNvSpPr txBox="1">
            <a:spLocks/>
          </p:cNvSpPr>
          <p:nvPr/>
        </p:nvSpPr>
        <p:spPr>
          <a:xfrm>
            <a:off x="11112599" y="5119569"/>
            <a:ext cx="625278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700" i="1" noProof="0"/>
              <a:t>Crítica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FDC422-0B40-CE83-DA11-A1148FEC97B1}"/>
              </a:ext>
            </a:extLst>
          </p:cNvPr>
          <p:cNvSpPr txBox="1">
            <a:spLocks/>
          </p:cNvSpPr>
          <p:nvPr/>
        </p:nvSpPr>
        <p:spPr>
          <a:xfrm rot="16200000">
            <a:off x="8723701" y="4664522"/>
            <a:ext cx="625278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700" i="1" noProof="0"/>
              <a:t>Menor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CE437A-EE38-181E-7A47-E89D826FD3DE}"/>
              </a:ext>
            </a:extLst>
          </p:cNvPr>
          <p:cNvSpPr txBox="1">
            <a:spLocks/>
          </p:cNvSpPr>
          <p:nvPr/>
        </p:nvSpPr>
        <p:spPr>
          <a:xfrm rot="16200000">
            <a:off x="8723701" y="2532006"/>
            <a:ext cx="625278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700" i="1" noProof="0"/>
              <a:t>Crítica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D552E9-D2DB-9937-3F43-10038E83E206}"/>
              </a:ext>
            </a:extLst>
          </p:cNvPr>
          <p:cNvSpPr txBox="1">
            <a:spLocks/>
          </p:cNvSpPr>
          <p:nvPr/>
        </p:nvSpPr>
        <p:spPr>
          <a:xfrm rot="16200000">
            <a:off x="8519908" y="3602267"/>
            <a:ext cx="1034277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900" b="1" noProof="0"/>
              <a:t>Severidad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12D6FC9-F856-DD08-C5C1-4E38F25392BC}"/>
              </a:ext>
            </a:extLst>
          </p:cNvPr>
          <p:cNvSpPr>
            <a:spLocks noChangeAspect="1"/>
          </p:cNvSpPr>
          <p:nvPr/>
        </p:nvSpPr>
        <p:spPr>
          <a:xfrm>
            <a:off x="397171" y="1800593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9DDB257-1222-60D7-52B4-9C2A12C84418}"/>
              </a:ext>
            </a:extLst>
          </p:cNvPr>
          <p:cNvSpPr>
            <a:spLocks noChangeAspect="1"/>
          </p:cNvSpPr>
          <p:nvPr/>
        </p:nvSpPr>
        <p:spPr>
          <a:xfrm>
            <a:off x="397171" y="2324225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2.1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E7266FC-233D-4771-6B9E-86487AC08C10}"/>
              </a:ext>
            </a:extLst>
          </p:cNvPr>
          <p:cNvSpPr>
            <a:spLocks noChangeAspect="1"/>
          </p:cNvSpPr>
          <p:nvPr/>
        </p:nvSpPr>
        <p:spPr>
          <a:xfrm>
            <a:off x="397171" y="2866173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29689A1-0F15-81AB-8661-23F252FF9E32}"/>
              </a:ext>
            </a:extLst>
          </p:cNvPr>
          <p:cNvSpPr>
            <a:spLocks noChangeAspect="1"/>
          </p:cNvSpPr>
          <p:nvPr/>
        </p:nvSpPr>
        <p:spPr>
          <a:xfrm>
            <a:off x="397171" y="3350453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2.2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83BC087-B704-9E0F-0454-152F44F906EF}"/>
              </a:ext>
            </a:extLst>
          </p:cNvPr>
          <p:cNvSpPr>
            <a:spLocks noChangeAspect="1"/>
          </p:cNvSpPr>
          <p:nvPr/>
        </p:nvSpPr>
        <p:spPr>
          <a:xfrm>
            <a:off x="397171" y="3833065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EE45A4F-DE25-DAE8-745F-220D544C42A7}"/>
              </a:ext>
            </a:extLst>
          </p:cNvPr>
          <p:cNvSpPr>
            <a:spLocks noChangeAspect="1"/>
          </p:cNvSpPr>
          <p:nvPr/>
        </p:nvSpPr>
        <p:spPr>
          <a:xfrm>
            <a:off x="397171" y="4341455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2.2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E3ADAC3-CE44-76F6-D995-39E15A26EF9B}"/>
              </a:ext>
            </a:extLst>
          </p:cNvPr>
          <p:cNvSpPr>
            <a:spLocks noChangeAspect="1"/>
          </p:cNvSpPr>
          <p:nvPr/>
        </p:nvSpPr>
        <p:spPr>
          <a:xfrm>
            <a:off x="397171" y="4862546"/>
            <a:ext cx="320040" cy="32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2.2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F3BCDB9-91E6-234F-5E2A-8E6A06F532B0}"/>
              </a:ext>
            </a:extLst>
          </p:cNvPr>
          <p:cNvSpPr>
            <a:spLocks noChangeAspect="1"/>
          </p:cNvSpPr>
          <p:nvPr/>
        </p:nvSpPr>
        <p:spPr>
          <a:xfrm>
            <a:off x="397171" y="5370936"/>
            <a:ext cx="320040" cy="32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48C9C1B-C103-9674-A670-0A2FDAE05B0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189124" y="622510"/>
            <a:ext cx="2612252" cy="266244"/>
            <a:chOff x="-2851743" y="228600"/>
            <a:chExt cx="2851743" cy="2662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009BC1-188C-0892-9886-4DBFC3A331CF}"/>
                </a:ext>
              </a:extLst>
            </p:cNvPr>
            <p:cNvSpPr txBox="1"/>
            <p:nvPr/>
          </p:nvSpPr>
          <p:spPr>
            <a:xfrm>
              <a:off x="-2851743" y="261694"/>
              <a:ext cx="2851743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s-MX" sz="1300" b="1" noProof="0" err="1">
                  <a:solidFill>
                    <a:srgbClr val="000000"/>
                  </a:solidFill>
                  <a:latin typeface="Arial" panose="020B0604020202020204" pitchFamily="34" charset="0"/>
                </a:rPr>
                <a:t>Preliminary</a:t>
              </a:r>
              <a:r>
                <a:rPr lang="es-MX" sz="1300" b="1" noProof="0">
                  <a:solidFill>
                    <a:srgbClr val="000000"/>
                  </a:solidFill>
                  <a:latin typeface="Arial" panose="020B0604020202020204" pitchFamily="34" charset="0"/>
                </a:rPr>
                <a:t> | 2nd </a:t>
              </a:r>
              <a:r>
                <a:rPr lang="es-MX" sz="1300" b="1" noProof="0" err="1">
                  <a:solidFill>
                    <a:srgbClr val="000000"/>
                  </a:solidFill>
                  <a:latin typeface="Arial" panose="020B0604020202020204" pitchFamily="34" charset="0"/>
                </a:rPr>
                <a:t>Week</a:t>
              </a:r>
              <a:r>
                <a:rPr lang="es-MX" sz="1300" b="1" noProof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MX" sz="1300" b="1" noProof="0" err="1">
                  <a:solidFill>
                    <a:srgbClr val="000000"/>
                  </a:solidFill>
                  <a:latin typeface="Arial" panose="020B0604020202020204" pitchFamily="34" charset="0"/>
                </a:rPr>
                <a:t>Findings</a:t>
              </a:r>
              <a:endParaRPr lang="es-MX" sz="1300" b="1" noProof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08DE7C8-3284-CE05-B8FA-4812DB079073}"/>
                </a:ext>
              </a:extLst>
            </p:cNvPr>
            <p:cNvCxnSpPr>
              <a:cxnSpLocks/>
            </p:cNvCxnSpPr>
            <p:nvPr/>
          </p:nvCxnSpPr>
          <p:spPr>
            <a:xfrm>
              <a:off x="-2851743" y="228600"/>
              <a:ext cx="2851743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8E105AC-7221-2431-403F-5D843905CB1D}"/>
                </a:ext>
              </a:extLst>
            </p:cNvPr>
            <p:cNvCxnSpPr>
              <a:cxnSpLocks/>
            </p:cNvCxnSpPr>
            <p:nvPr/>
          </p:nvCxnSpPr>
          <p:spPr>
            <a:xfrm>
              <a:off x="-2851743" y="494844"/>
              <a:ext cx="2851743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29AB2AC-B507-8EA2-AB4B-1081987BFAEC}"/>
              </a:ext>
            </a:extLst>
          </p:cNvPr>
          <p:cNvSpPr>
            <a:spLocks/>
          </p:cNvSpPr>
          <p:nvPr/>
        </p:nvSpPr>
        <p:spPr>
          <a:xfrm>
            <a:off x="10600439" y="362519"/>
            <a:ext cx="877977" cy="18288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3600" b="0" i="0" u="none" strike="noStrike" kern="1200" cap="none" spc="0" normalizeH="0" baseline="0" noProof="0">
              <a:ln>
                <a:noFill/>
              </a:ln>
              <a:solidFill>
                <a:schemeClr val="accent4">
                  <a:lumMod val="100000"/>
                </a:schemeClr>
              </a:solidFill>
              <a:effectLst/>
              <a:uLnTx/>
              <a:uFillTx/>
              <a:latin typeface="SimSun" panose="02010600030101010101" pitchFamily="2" charset="-122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047B1B-FCE8-35B8-0499-83B7F6A29367}"/>
              </a:ext>
            </a:extLst>
          </p:cNvPr>
          <p:cNvSpPr/>
          <p:nvPr/>
        </p:nvSpPr>
        <p:spPr>
          <a:xfrm>
            <a:off x="10726134" y="245793"/>
            <a:ext cx="256032" cy="258206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noProof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9ACA57-D1A3-B185-00A1-EA900D656581}"/>
              </a:ext>
            </a:extLst>
          </p:cNvPr>
          <p:cNvSpPr/>
          <p:nvPr/>
        </p:nvSpPr>
        <p:spPr>
          <a:xfrm>
            <a:off x="11096688" y="245793"/>
            <a:ext cx="256032" cy="258206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noProof="0"/>
          </a:p>
        </p:txBody>
      </p:sp>
      <p:pic>
        <p:nvPicPr>
          <p:cNvPr id="22" name="Graphic 21" descr="Blueprint outline">
            <a:extLst>
              <a:ext uri="{FF2B5EF4-FFF2-40B4-BE49-F238E27FC236}">
                <a16:creationId xmlns:a16="http://schemas.microsoft.com/office/drawing/2014/main" id="{A61A6011-9DB6-F138-EA59-F372284D2C1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35381" y="281339"/>
            <a:ext cx="18288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666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7951-7911-342D-0A2B-3B616DAC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FC84E77-BEBD-6572-9676-BB269F8A8D3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3" progId="TCLayout.ActiveDocument.1">
                  <p:embed/>
                </p:oleObj>
              </mc:Choice>
              <mc:Fallback>
                <p:oleObj name="think-cell Slide" r:id="rId5" imgW="404" imgH="40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C84E77-BEBD-6572-9676-BB269F8A8D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8BBF2F3-014D-7718-35D5-FE7D69D8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 noProof="0"/>
              <a:t>Observaciones – Estrategia TI (2 / 3)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1737DE-CBD4-7E4E-F053-6EE50C0566C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64975" y="6489700"/>
            <a:ext cx="327025" cy="201613"/>
          </a:xfr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s-MX" sz="800" b="0" i="0" u="none" strike="noStrike" kern="1200" cap="none" spc="0" normalizeH="0" baseline="0" noProof="0" smtClean="0">
                <a:ln>
                  <a:noFill/>
                </a:ln>
                <a:solidFill>
                  <a:srgbClr val="0041F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MX" sz="800" b="0" i="0" u="none" strike="noStrike" kern="1200" cap="none" spc="0" normalizeH="0" baseline="0" noProof="0">
              <a:ln>
                <a:noFill/>
              </a:ln>
              <a:solidFill>
                <a:srgbClr val="0041F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20E9B154-F015-15B2-67F8-1CB308469086}"/>
              </a:ext>
            </a:extLst>
          </p:cNvPr>
          <p:cNvSpPr txBox="1">
            <a:spLocks/>
          </p:cNvSpPr>
          <p:nvPr/>
        </p:nvSpPr>
        <p:spPr>
          <a:xfrm>
            <a:off x="1147512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s-MX" sz="800" b="0" i="0" u="none" strike="noStrike" kern="1200" cap="none" spc="0" normalizeH="0" baseline="0" noProof="0" smtClean="0">
                <a:ln>
                  <a:noFill/>
                </a:ln>
                <a:solidFill>
                  <a:srgbClr val="1C41E8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MX" sz="800" b="0" i="0" u="none" strike="noStrike" kern="1200" cap="none" spc="0" normalizeH="0" baseline="0" noProof="0">
              <a:ln>
                <a:noFill/>
              </a:ln>
              <a:solidFill>
                <a:srgbClr val="1C41E8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aphicFrame>
        <p:nvGraphicFramePr>
          <p:cNvPr id="4" name="Table 39">
            <a:extLst>
              <a:ext uri="{FF2B5EF4-FFF2-40B4-BE49-F238E27FC236}">
                <a16:creationId xmlns:a16="http://schemas.microsoft.com/office/drawing/2014/main" id="{65E7CF13-9140-A8BC-52F0-47D84811E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290803"/>
              </p:ext>
            </p:extLst>
          </p:nvPr>
        </p:nvGraphicFramePr>
        <p:xfrm>
          <a:off x="353626" y="960686"/>
          <a:ext cx="11484747" cy="47564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825">
                  <a:extLst>
                    <a:ext uri="{9D8B030D-6E8A-4147-A177-3AD203B41FA5}">
                      <a16:colId xmlns:a16="http://schemas.microsoft.com/office/drawing/2014/main" val="3727717906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1195672427"/>
                    </a:ext>
                  </a:extLst>
                </a:gridCol>
                <a:gridCol w="3500846">
                  <a:extLst>
                    <a:ext uri="{9D8B030D-6E8A-4147-A177-3AD203B41FA5}">
                      <a16:colId xmlns:a16="http://schemas.microsoft.com/office/drawing/2014/main" val="611646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39714640"/>
                    </a:ext>
                  </a:extLst>
                </a:gridCol>
                <a:gridCol w="2973047">
                  <a:extLst>
                    <a:ext uri="{9D8B030D-6E8A-4147-A177-3AD203B41FA5}">
                      <a16:colId xmlns:a16="http://schemas.microsoft.com/office/drawing/2014/main" val="2573992423"/>
                    </a:ext>
                  </a:extLst>
                </a:gridCol>
              </a:tblGrid>
              <a:tr h="320040">
                <a:tc gridSpan="3"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Resumen de observaciones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ts val="1100"/>
                        </a:lnSpc>
                      </a:pPr>
                      <a:endParaRPr lang="en-US" sz="10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ts val="1100"/>
                        </a:lnSpc>
                      </a:pPr>
                      <a:endParaRPr lang="en-US" sz="10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Resumen de impacto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ts val="1100"/>
                        </a:lnSpc>
                      </a:pPr>
                      <a:endParaRPr lang="en-US" sz="10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564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ID de categoría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Temas clave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Observaciones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Impactos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Matriz de impactos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91508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 de TI</a:t>
                      </a:r>
                    </a:p>
                  </a:txBody>
                  <a:tcPr marL="27432" marR="182880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hay un planteamiento común para las integraciones y no se analizan </a:t>
                      </a:r>
                      <a:r>
                        <a:rPr lang="es-MX" sz="900" b="0" i="0" u="none" strike="noStrike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end-to-end</a:t>
                      </a: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considerando todos los componentes con los que se cuenta para la integración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1" u="none" strike="noStrike" kern="1200" noProof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75190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 de TI</a:t>
                      </a:r>
                    </a:p>
                  </a:txBody>
                  <a:tcPr marL="27432" marR="182880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estrategia integral de decomiso UNITY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86533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 de TI</a:t>
                      </a:r>
                    </a:p>
                  </a:txBody>
                  <a:tcPr marL="27432" marR="182880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estrategia integral de coexistencia UNITY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4959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 de TI</a:t>
                      </a:r>
                    </a:p>
                  </a:txBody>
                  <a:tcPr marL="27432" marR="182880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 requerimientos no funcionales no están definidos y el performance de las soluciones no están dimensionadas ni comprobadas con vistas a su paso a producción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53552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Arquitectura de TI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Roadmap</a:t>
                      </a:r>
                      <a:endParaRPr kumimoji="0" lang="es-MX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182880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un </a:t>
                      </a:r>
                      <a:r>
                        <a:rPr lang="es-MX" sz="900" b="0" i="0" u="none" strike="noStrike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roadmap</a:t>
                      </a: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integrado de la mínima fundación de arquitectura necesaria a asociar a cada paso de </a:t>
                      </a:r>
                      <a:r>
                        <a:rPr lang="es-MX" sz="900" b="0" i="0" u="none" strike="noStrike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tranformación</a:t>
                      </a: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negocio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es possible asegurar que cada pieza de transformación es una pieza final de la solución target (</a:t>
                      </a:r>
                      <a:r>
                        <a:rPr lang="es-MX" sz="900" b="0" i="1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regret moves</a:t>
                      </a: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7842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Roadmap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Como consecuencia de la falta de una visión integral de UNITY, no existe un </a:t>
                      </a:r>
                      <a:r>
                        <a:rPr lang="es-MX" sz="900" b="0" i="0" u="none" strike="noStrike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roadmap</a:t>
                      </a: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maestro que cubra transversalmente todos los dominios o </a:t>
                      </a:r>
                      <a:r>
                        <a:rPr lang="es-MX" sz="900" b="0" i="0" u="none" strike="noStrike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900" b="0" i="0" u="none" strike="noStrike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streams</a:t>
                      </a:r>
                      <a:endParaRPr lang="es-MX" sz="9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0321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Roadmap</a:t>
                      </a:r>
                      <a:endParaRPr kumimoji="0" lang="es-MX" sz="9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Los </a:t>
                      </a:r>
                      <a:r>
                        <a:rPr lang="es-MX" sz="900" b="0" i="0" u="none" strike="noStrike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roadmaps</a:t>
                      </a: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por dominio/</a:t>
                      </a:r>
                      <a:r>
                        <a:rPr lang="es-MX" sz="900" b="0" i="0" u="none" strike="noStrike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900" b="0" i="0" u="none" strike="noStrike" kern="120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stream</a:t>
                      </a: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tienen un compromiso de seguridad y cumplimiento limitado a 6 meses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17972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Modelo Operativo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un planteamiento del modelo operativo necesario para habilitar UNITY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8464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187931-A49F-3612-7B95-DB4A085075E8}"/>
              </a:ext>
            </a:extLst>
          </p:cNvPr>
          <p:cNvGraphicFramePr>
            <a:graphicFrameLocks noGrp="1"/>
          </p:cNvGraphicFramePr>
          <p:nvPr/>
        </p:nvGraphicFramePr>
        <p:xfrm>
          <a:off x="9172872" y="2426996"/>
          <a:ext cx="2612252" cy="2693760"/>
        </p:xfrm>
        <a:graphic>
          <a:graphicData uri="http://schemas.openxmlformats.org/drawingml/2006/table">
            <a:tbl>
              <a:tblPr firstRow="1" bandRow="1"/>
              <a:tblGrid>
                <a:gridCol w="653063">
                  <a:extLst>
                    <a:ext uri="{9D8B030D-6E8A-4147-A177-3AD203B41FA5}">
                      <a16:colId xmlns:a16="http://schemas.microsoft.com/office/drawing/2014/main" val="3958754274"/>
                    </a:ext>
                  </a:extLst>
                </a:gridCol>
                <a:gridCol w="653063">
                  <a:extLst>
                    <a:ext uri="{9D8B030D-6E8A-4147-A177-3AD203B41FA5}">
                      <a16:colId xmlns:a16="http://schemas.microsoft.com/office/drawing/2014/main" val="2427521991"/>
                    </a:ext>
                  </a:extLst>
                </a:gridCol>
                <a:gridCol w="653063">
                  <a:extLst>
                    <a:ext uri="{9D8B030D-6E8A-4147-A177-3AD203B41FA5}">
                      <a16:colId xmlns:a16="http://schemas.microsoft.com/office/drawing/2014/main" val="3693408718"/>
                    </a:ext>
                  </a:extLst>
                </a:gridCol>
                <a:gridCol w="653063">
                  <a:extLst>
                    <a:ext uri="{9D8B030D-6E8A-4147-A177-3AD203B41FA5}">
                      <a16:colId xmlns:a16="http://schemas.microsoft.com/office/drawing/2014/main" val="827123561"/>
                    </a:ext>
                  </a:extLst>
                </a:gridCol>
              </a:tblGrid>
              <a:tr h="673440"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275694"/>
                  </a:ext>
                </a:extLst>
              </a:tr>
              <a:tr h="673440"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0541"/>
                  </a:ext>
                </a:extLst>
              </a:tr>
              <a:tr h="673440"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832238"/>
                  </a:ext>
                </a:extLst>
              </a:tr>
              <a:tr h="673440"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3117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320A388-4609-E8A7-978D-86B2F8B35BEB}"/>
              </a:ext>
            </a:extLst>
          </p:cNvPr>
          <p:cNvSpPr txBox="1">
            <a:spLocks/>
          </p:cNvSpPr>
          <p:nvPr/>
        </p:nvSpPr>
        <p:spPr>
          <a:xfrm>
            <a:off x="9961859" y="5119569"/>
            <a:ext cx="1034277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900" b="1" noProof="0"/>
              <a:t>Urgencia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6D2E4-3358-9F42-E625-F29C2F36C884}"/>
              </a:ext>
            </a:extLst>
          </p:cNvPr>
          <p:cNvSpPr txBox="1">
            <a:spLocks/>
          </p:cNvSpPr>
          <p:nvPr/>
        </p:nvSpPr>
        <p:spPr>
          <a:xfrm>
            <a:off x="9106158" y="5119569"/>
            <a:ext cx="625278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700" i="1" noProof="0"/>
              <a:t>Menor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D876C7-D1E3-3F34-E72A-D96CA62ECE2E}"/>
              </a:ext>
            </a:extLst>
          </p:cNvPr>
          <p:cNvSpPr txBox="1">
            <a:spLocks/>
          </p:cNvSpPr>
          <p:nvPr/>
        </p:nvSpPr>
        <p:spPr>
          <a:xfrm>
            <a:off x="11112599" y="5119569"/>
            <a:ext cx="625278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700" i="1" noProof="0"/>
              <a:t>Crítica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90F0E7-2FAC-4F87-ECE0-CE0A39D36138}"/>
              </a:ext>
            </a:extLst>
          </p:cNvPr>
          <p:cNvSpPr txBox="1">
            <a:spLocks/>
          </p:cNvSpPr>
          <p:nvPr/>
        </p:nvSpPr>
        <p:spPr>
          <a:xfrm rot="16200000">
            <a:off x="8723701" y="4664522"/>
            <a:ext cx="625278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700" i="1" noProof="0"/>
              <a:t>Menor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306751-F822-A2D4-69BB-F240BE5A2162}"/>
              </a:ext>
            </a:extLst>
          </p:cNvPr>
          <p:cNvSpPr txBox="1">
            <a:spLocks/>
          </p:cNvSpPr>
          <p:nvPr/>
        </p:nvSpPr>
        <p:spPr>
          <a:xfrm rot="16200000">
            <a:off x="8723701" y="2532006"/>
            <a:ext cx="625278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700" i="1" noProof="0"/>
              <a:t>Crítica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71BF3A-E0DF-BA2E-460F-E3E1AB04CEB7}"/>
              </a:ext>
            </a:extLst>
          </p:cNvPr>
          <p:cNvSpPr txBox="1">
            <a:spLocks/>
          </p:cNvSpPr>
          <p:nvPr/>
        </p:nvSpPr>
        <p:spPr>
          <a:xfrm rot="16200000">
            <a:off x="8519908" y="3602267"/>
            <a:ext cx="1034277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900" b="1" noProof="0"/>
              <a:t>Severidad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7B157E-4399-825A-F84B-196856EA905D}"/>
              </a:ext>
            </a:extLst>
          </p:cNvPr>
          <p:cNvSpPr>
            <a:spLocks noChangeAspect="1"/>
          </p:cNvSpPr>
          <p:nvPr/>
        </p:nvSpPr>
        <p:spPr>
          <a:xfrm>
            <a:off x="380251" y="1755272"/>
            <a:ext cx="320040" cy="32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7A335A-99B3-FD47-6CAD-2AC1E9AA1974}"/>
              </a:ext>
            </a:extLst>
          </p:cNvPr>
          <p:cNvSpPr>
            <a:spLocks noChangeAspect="1"/>
          </p:cNvSpPr>
          <p:nvPr/>
        </p:nvSpPr>
        <p:spPr>
          <a:xfrm>
            <a:off x="380251" y="2258099"/>
            <a:ext cx="320040" cy="320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1A81A3-B5EC-D19A-EA93-6252A84024FA}"/>
              </a:ext>
            </a:extLst>
          </p:cNvPr>
          <p:cNvSpPr>
            <a:spLocks noChangeAspect="1"/>
          </p:cNvSpPr>
          <p:nvPr/>
        </p:nvSpPr>
        <p:spPr>
          <a:xfrm>
            <a:off x="380251" y="3263753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BD330D-A6EF-7E56-F826-DD0544E394DC}"/>
              </a:ext>
            </a:extLst>
          </p:cNvPr>
          <p:cNvSpPr>
            <a:spLocks noChangeAspect="1"/>
          </p:cNvSpPr>
          <p:nvPr/>
        </p:nvSpPr>
        <p:spPr>
          <a:xfrm>
            <a:off x="380251" y="4269407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8D7C611-0179-70F3-29BC-8DF340442324}"/>
              </a:ext>
            </a:extLst>
          </p:cNvPr>
          <p:cNvSpPr>
            <a:spLocks noChangeAspect="1"/>
          </p:cNvSpPr>
          <p:nvPr/>
        </p:nvSpPr>
        <p:spPr>
          <a:xfrm>
            <a:off x="380251" y="2760926"/>
            <a:ext cx="320040" cy="320040"/>
          </a:xfrm>
          <a:prstGeom prst="ellipse">
            <a:avLst/>
          </a:prstGeom>
          <a:solidFill>
            <a:srgbClr val="004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4E9DF2-F76C-A906-64C0-D79482AB2AFF}"/>
              </a:ext>
            </a:extLst>
          </p:cNvPr>
          <p:cNvSpPr>
            <a:spLocks noChangeAspect="1"/>
          </p:cNvSpPr>
          <p:nvPr/>
        </p:nvSpPr>
        <p:spPr>
          <a:xfrm>
            <a:off x="380251" y="3766580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C940277-4CF0-95D9-9F0B-E459BB07664D}"/>
              </a:ext>
            </a:extLst>
          </p:cNvPr>
          <p:cNvSpPr>
            <a:spLocks noChangeAspect="1"/>
          </p:cNvSpPr>
          <p:nvPr/>
        </p:nvSpPr>
        <p:spPr>
          <a:xfrm>
            <a:off x="727004" y="3766580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E912442-EC99-1CAA-2E91-C33116685E3E}"/>
              </a:ext>
            </a:extLst>
          </p:cNvPr>
          <p:cNvSpPr>
            <a:spLocks noChangeAspect="1"/>
          </p:cNvSpPr>
          <p:nvPr/>
        </p:nvSpPr>
        <p:spPr>
          <a:xfrm>
            <a:off x="380251" y="4772234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1E3D7A2-2F10-2F34-9167-0CB11E60EB39}"/>
              </a:ext>
            </a:extLst>
          </p:cNvPr>
          <p:cNvSpPr>
            <a:spLocks noChangeAspect="1"/>
          </p:cNvSpPr>
          <p:nvPr/>
        </p:nvSpPr>
        <p:spPr>
          <a:xfrm>
            <a:off x="380251" y="5275060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2.4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526023-43FE-B3A4-1831-95C480751C8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189124" y="622510"/>
            <a:ext cx="2612252" cy="266244"/>
            <a:chOff x="-2851743" y="228600"/>
            <a:chExt cx="2851743" cy="26624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A1C6DC-07AE-F747-062A-FA5D47D797B7}"/>
                </a:ext>
              </a:extLst>
            </p:cNvPr>
            <p:cNvSpPr txBox="1"/>
            <p:nvPr/>
          </p:nvSpPr>
          <p:spPr>
            <a:xfrm>
              <a:off x="-2851743" y="261694"/>
              <a:ext cx="2851743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s-MX" sz="1300" b="1" noProof="0" err="1">
                  <a:solidFill>
                    <a:srgbClr val="000000"/>
                  </a:solidFill>
                  <a:latin typeface="Arial" panose="020B0604020202020204" pitchFamily="34" charset="0"/>
                </a:rPr>
                <a:t>Preliminary</a:t>
              </a:r>
              <a:r>
                <a:rPr lang="es-MX" sz="1300" b="1" noProof="0">
                  <a:solidFill>
                    <a:srgbClr val="000000"/>
                  </a:solidFill>
                  <a:latin typeface="Arial" panose="020B0604020202020204" pitchFamily="34" charset="0"/>
                </a:rPr>
                <a:t> | 2nd </a:t>
              </a:r>
              <a:r>
                <a:rPr lang="es-MX" sz="1300" b="1" noProof="0" err="1">
                  <a:solidFill>
                    <a:srgbClr val="000000"/>
                  </a:solidFill>
                  <a:latin typeface="Arial" panose="020B0604020202020204" pitchFamily="34" charset="0"/>
                </a:rPr>
                <a:t>Week</a:t>
              </a:r>
              <a:r>
                <a:rPr lang="es-MX" sz="1300" b="1" noProof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MX" sz="1300" b="1" noProof="0" err="1">
                  <a:solidFill>
                    <a:srgbClr val="000000"/>
                  </a:solidFill>
                  <a:latin typeface="Arial" panose="020B0604020202020204" pitchFamily="34" charset="0"/>
                </a:rPr>
                <a:t>Findings</a:t>
              </a:r>
              <a:endParaRPr lang="es-MX" sz="1300" b="1" noProof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6062D64-B772-8C97-B35F-27F7710FFC2D}"/>
                </a:ext>
              </a:extLst>
            </p:cNvPr>
            <p:cNvCxnSpPr>
              <a:cxnSpLocks/>
            </p:cNvCxnSpPr>
            <p:nvPr/>
          </p:nvCxnSpPr>
          <p:spPr>
            <a:xfrm>
              <a:off x="-2851743" y="228600"/>
              <a:ext cx="2851743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157F07E-2471-6F47-0F57-158438D55FEE}"/>
                </a:ext>
              </a:extLst>
            </p:cNvPr>
            <p:cNvCxnSpPr>
              <a:cxnSpLocks/>
            </p:cNvCxnSpPr>
            <p:nvPr/>
          </p:nvCxnSpPr>
          <p:spPr>
            <a:xfrm>
              <a:off x="-2851743" y="494844"/>
              <a:ext cx="2851743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C551270-6D28-6497-53ED-B828D35F6EF5}"/>
              </a:ext>
            </a:extLst>
          </p:cNvPr>
          <p:cNvSpPr>
            <a:spLocks/>
          </p:cNvSpPr>
          <p:nvPr/>
        </p:nvSpPr>
        <p:spPr>
          <a:xfrm>
            <a:off x="10600439" y="362519"/>
            <a:ext cx="877977" cy="18288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3600" b="0" i="0" u="none" strike="noStrike" kern="1200" cap="none" spc="0" normalizeH="0" baseline="0" noProof="0">
              <a:ln>
                <a:noFill/>
              </a:ln>
              <a:solidFill>
                <a:schemeClr val="accent4">
                  <a:lumMod val="100000"/>
                </a:schemeClr>
              </a:solidFill>
              <a:effectLst/>
              <a:uLnTx/>
              <a:uFillTx/>
              <a:latin typeface="SimSun" panose="02010600030101010101" pitchFamily="2" charset="-122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35DFCA6-052B-A9C9-2B90-8E7882451FEA}"/>
              </a:ext>
            </a:extLst>
          </p:cNvPr>
          <p:cNvSpPr/>
          <p:nvPr/>
        </p:nvSpPr>
        <p:spPr>
          <a:xfrm>
            <a:off x="10726134" y="245793"/>
            <a:ext cx="256032" cy="258206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noProof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CA51066-184A-E70E-DC36-877DFFAA24FA}"/>
              </a:ext>
            </a:extLst>
          </p:cNvPr>
          <p:cNvSpPr/>
          <p:nvPr/>
        </p:nvSpPr>
        <p:spPr>
          <a:xfrm>
            <a:off x="11096688" y="245793"/>
            <a:ext cx="256032" cy="258206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noProof="0"/>
          </a:p>
        </p:txBody>
      </p:sp>
      <p:pic>
        <p:nvPicPr>
          <p:cNvPr id="36" name="Graphic 35" descr="Blueprint outline">
            <a:extLst>
              <a:ext uri="{FF2B5EF4-FFF2-40B4-BE49-F238E27FC236}">
                <a16:creationId xmlns:a16="http://schemas.microsoft.com/office/drawing/2014/main" id="{AC784FFA-558A-5CBE-2712-46BA6EA8BB7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35381" y="281339"/>
            <a:ext cx="18288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59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0FD4E-37E2-3E18-26D2-25DE05EE5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8E76497-3690-3E6A-9EC8-FD049E52D0F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3" progId="TCLayout.ActiveDocument.1">
                  <p:embed/>
                </p:oleObj>
              </mc:Choice>
              <mc:Fallback>
                <p:oleObj name="think-cell Slide" r:id="rId5" imgW="404" imgH="40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E76497-3690-3E6A-9EC8-FD049E52D0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B9B02C8-3B6F-34B2-3A09-100DDE7FE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 noProof="0"/>
              <a:t>Observaciones – Estrategia TI (3 / 3)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9A8F9A-13A5-687C-0F79-3A6FAAA313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64975" y="6489700"/>
            <a:ext cx="327025" cy="201613"/>
          </a:xfr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s-MX" sz="800" b="0" i="0" u="none" strike="noStrike" kern="1200" cap="none" spc="0" normalizeH="0" baseline="0" noProof="0" smtClean="0">
                <a:ln>
                  <a:noFill/>
                </a:ln>
                <a:solidFill>
                  <a:srgbClr val="0041F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800" b="0" i="0" u="none" strike="noStrike" kern="1200" cap="none" spc="0" normalizeH="0" baseline="0" noProof="0">
              <a:ln>
                <a:noFill/>
              </a:ln>
              <a:solidFill>
                <a:srgbClr val="0041F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DCE401B-0605-90D8-6E90-3380F894DBB3}"/>
              </a:ext>
            </a:extLst>
          </p:cNvPr>
          <p:cNvSpPr txBox="1">
            <a:spLocks/>
          </p:cNvSpPr>
          <p:nvPr/>
        </p:nvSpPr>
        <p:spPr>
          <a:xfrm>
            <a:off x="1147512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s-MX" sz="800" b="0" i="0" u="none" strike="noStrike" kern="1200" cap="none" spc="0" normalizeH="0" baseline="0" noProof="0" smtClean="0">
                <a:ln>
                  <a:noFill/>
                </a:ln>
                <a:solidFill>
                  <a:srgbClr val="1C41E8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800" b="0" i="0" u="none" strike="noStrike" kern="1200" cap="none" spc="0" normalizeH="0" baseline="0" noProof="0">
              <a:ln>
                <a:noFill/>
              </a:ln>
              <a:solidFill>
                <a:srgbClr val="1C41E8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aphicFrame>
        <p:nvGraphicFramePr>
          <p:cNvPr id="4" name="Table 39">
            <a:extLst>
              <a:ext uri="{FF2B5EF4-FFF2-40B4-BE49-F238E27FC236}">
                <a16:creationId xmlns:a16="http://schemas.microsoft.com/office/drawing/2014/main" id="{AC3502B3-17A9-0AF0-55D1-3293339B74EB}"/>
              </a:ext>
            </a:extLst>
          </p:cNvPr>
          <p:cNvGraphicFramePr>
            <a:graphicFrameLocks noGrp="1"/>
          </p:cNvGraphicFramePr>
          <p:nvPr/>
        </p:nvGraphicFramePr>
        <p:xfrm>
          <a:off x="353626" y="960686"/>
          <a:ext cx="1148474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825">
                  <a:extLst>
                    <a:ext uri="{9D8B030D-6E8A-4147-A177-3AD203B41FA5}">
                      <a16:colId xmlns:a16="http://schemas.microsoft.com/office/drawing/2014/main" val="3727717906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1195672427"/>
                    </a:ext>
                  </a:extLst>
                </a:gridCol>
                <a:gridCol w="3500846">
                  <a:extLst>
                    <a:ext uri="{9D8B030D-6E8A-4147-A177-3AD203B41FA5}">
                      <a16:colId xmlns:a16="http://schemas.microsoft.com/office/drawing/2014/main" val="611646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39714640"/>
                    </a:ext>
                  </a:extLst>
                </a:gridCol>
                <a:gridCol w="2973047">
                  <a:extLst>
                    <a:ext uri="{9D8B030D-6E8A-4147-A177-3AD203B41FA5}">
                      <a16:colId xmlns:a16="http://schemas.microsoft.com/office/drawing/2014/main" val="2573992423"/>
                    </a:ext>
                  </a:extLst>
                </a:gridCol>
              </a:tblGrid>
              <a:tr h="320040">
                <a:tc gridSpan="3"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Resumen de observaciones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ts val="1100"/>
                        </a:lnSpc>
                      </a:pPr>
                      <a:endParaRPr lang="en-US" sz="10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ts val="1100"/>
                        </a:lnSpc>
                      </a:pPr>
                      <a:endParaRPr lang="en-US" sz="10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Resumen de impacto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lnSpc>
                          <a:spcPts val="1100"/>
                        </a:lnSpc>
                      </a:pPr>
                      <a:endParaRPr lang="en-US" sz="10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5648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ID de categoría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Temas clave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Observaciones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Impactos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lnSpc>
                          <a:spcPts val="1100"/>
                        </a:lnSpc>
                      </a:pPr>
                      <a:r>
                        <a:rPr lang="es-MX" sz="1200" b="1" i="0" u="none" strike="noStrike" noProof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Matriz de impactos</a:t>
                      </a:r>
                    </a:p>
                  </a:txBody>
                  <a:tcPr marR="45720" marT="36000" marB="3600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91508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Modelo Operativo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una capacidad COE de testing dentro de Coppel SSFF 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1" u="none" strike="noStrike" kern="1200" noProof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75190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Modelo Operativo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Falta de capacidad de equipo de migración para atender solicitudes de proyectos UNITY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1" u="none" strike="noStrike" kern="1200" noProof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WIP</a:t>
                      </a:r>
                      <a:endParaRPr lang="es-MX" sz="9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68393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Modelo Operativo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un proceso centralizado de cumplimiento de los principios fundamentales de diseño de arquitectura 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Retrabajo porque estas brechas se detectan en etapas avanzadas de la entrega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86533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Gestión del Cambio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 no existir un roadmap y un modelo integrado de UNITY, no existe una estrategia de gestión del cambio asociada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  <a:endParaRPr lang="es-MX" sz="9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72139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Caso de Negocio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Roadmap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 dimensión de valor aportado a negocio está basado en un roadmap con una gran incertidumbre de ejecución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  <a:endParaRPr lang="es-MX" sz="900" kern="1200" noProof="0">
                        <a:solidFill>
                          <a:schemeClr val="dk1"/>
                        </a:solidFill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0621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Caso de Negocio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gran componente del caso de negocio es el decomiso del Sistema Legado, el cual no está confirmado si se puede realizar ni como se realizaría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Graphik"/>
                          <a:ea typeface="+mn-ea"/>
                          <a:cs typeface="+mn-cs"/>
                        </a:rPr>
                        <a:t>WIP</a:t>
                      </a:r>
                      <a:endParaRPr lang="es-MX" sz="9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77842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Caso de Negocio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 un caso de negocio integral de UNITY que considere tanto la aportación de valor a negocio como la reducción de costo en el stack tecnológico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es posible priorizar la ejecución de iniciativas con orientación al valor generado por cada una de ellas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57076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Calibri" panose="020F0502020204030204" pitchFamily="34" charset="0"/>
                        <a:buNone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Caso de Negocio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existen casos de negocio individualizados para decidir el tipo de transformación a aplicar en cada dominio 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Tx/>
                        <a:buNone/>
                        <a:tabLst/>
                        <a:defRPr/>
                      </a:pPr>
                      <a:r>
                        <a:rPr lang="es-MX" sz="9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Roadmap no optimizado </a:t>
                      </a:r>
                    </a:p>
                  </a:txBody>
                  <a:tcPr marL="27432" marR="27432" marT="27432" marB="27432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000" b="0" i="0" u="none" strike="noStrike" kern="120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7432" marR="27432" marT="27432" marB="27432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28335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34944F-2A33-FB64-2F66-D2431E54AFBA}"/>
              </a:ext>
            </a:extLst>
          </p:cNvPr>
          <p:cNvGraphicFramePr>
            <a:graphicFrameLocks noGrp="1"/>
          </p:cNvGraphicFramePr>
          <p:nvPr/>
        </p:nvGraphicFramePr>
        <p:xfrm>
          <a:off x="9172872" y="2426996"/>
          <a:ext cx="2612252" cy="2693760"/>
        </p:xfrm>
        <a:graphic>
          <a:graphicData uri="http://schemas.openxmlformats.org/drawingml/2006/table">
            <a:tbl>
              <a:tblPr firstRow="1" bandRow="1"/>
              <a:tblGrid>
                <a:gridCol w="653063">
                  <a:extLst>
                    <a:ext uri="{9D8B030D-6E8A-4147-A177-3AD203B41FA5}">
                      <a16:colId xmlns:a16="http://schemas.microsoft.com/office/drawing/2014/main" val="3958754274"/>
                    </a:ext>
                  </a:extLst>
                </a:gridCol>
                <a:gridCol w="653063">
                  <a:extLst>
                    <a:ext uri="{9D8B030D-6E8A-4147-A177-3AD203B41FA5}">
                      <a16:colId xmlns:a16="http://schemas.microsoft.com/office/drawing/2014/main" val="2427521991"/>
                    </a:ext>
                  </a:extLst>
                </a:gridCol>
                <a:gridCol w="653063">
                  <a:extLst>
                    <a:ext uri="{9D8B030D-6E8A-4147-A177-3AD203B41FA5}">
                      <a16:colId xmlns:a16="http://schemas.microsoft.com/office/drawing/2014/main" val="3693408718"/>
                    </a:ext>
                  </a:extLst>
                </a:gridCol>
                <a:gridCol w="653063">
                  <a:extLst>
                    <a:ext uri="{9D8B030D-6E8A-4147-A177-3AD203B41FA5}">
                      <a16:colId xmlns:a16="http://schemas.microsoft.com/office/drawing/2014/main" val="827123561"/>
                    </a:ext>
                  </a:extLst>
                </a:gridCol>
              </a:tblGrid>
              <a:tr h="673440"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0" cmpd="sng">
                      <a:noFill/>
                    </a:lnR>
                    <a:lnT w="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275694"/>
                  </a:ext>
                </a:extLst>
              </a:tr>
              <a:tr h="673440"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60541"/>
                  </a:ext>
                </a:extLst>
              </a:tr>
              <a:tr h="673440"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832238"/>
                  </a:ext>
                </a:extLst>
              </a:tr>
              <a:tr h="673440"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MX" noProof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31171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5FF27A-356F-3ECB-48A6-6034B1755D4B}"/>
              </a:ext>
            </a:extLst>
          </p:cNvPr>
          <p:cNvSpPr txBox="1">
            <a:spLocks/>
          </p:cNvSpPr>
          <p:nvPr/>
        </p:nvSpPr>
        <p:spPr>
          <a:xfrm>
            <a:off x="9961859" y="5119569"/>
            <a:ext cx="1034277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900" b="1" noProof="0"/>
              <a:t>Urgencia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D01167-B3BC-2508-3795-B528C0EC93DE}"/>
              </a:ext>
            </a:extLst>
          </p:cNvPr>
          <p:cNvSpPr txBox="1">
            <a:spLocks/>
          </p:cNvSpPr>
          <p:nvPr/>
        </p:nvSpPr>
        <p:spPr>
          <a:xfrm>
            <a:off x="9106158" y="5119569"/>
            <a:ext cx="625278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700" i="1" noProof="0"/>
              <a:t>Menor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99EA6-DE41-E290-EEB5-2A9E9679BD02}"/>
              </a:ext>
            </a:extLst>
          </p:cNvPr>
          <p:cNvSpPr txBox="1">
            <a:spLocks/>
          </p:cNvSpPr>
          <p:nvPr/>
        </p:nvSpPr>
        <p:spPr>
          <a:xfrm>
            <a:off x="11112599" y="5119569"/>
            <a:ext cx="625278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700" i="1" noProof="0"/>
              <a:t>Crítica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055F13-550B-36D6-CDEA-654629350352}"/>
              </a:ext>
            </a:extLst>
          </p:cNvPr>
          <p:cNvSpPr txBox="1">
            <a:spLocks/>
          </p:cNvSpPr>
          <p:nvPr/>
        </p:nvSpPr>
        <p:spPr>
          <a:xfrm rot="16200000">
            <a:off x="8723701" y="4664522"/>
            <a:ext cx="625278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700" i="1" noProof="0"/>
              <a:t>Menor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24BC0E-289D-02E2-BBD8-BDBB3DC11B00}"/>
              </a:ext>
            </a:extLst>
          </p:cNvPr>
          <p:cNvSpPr txBox="1">
            <a:spLocks/>
          </p:cNvSpPr>
          <p:nvPr/>
        </p:nvSpPr>
        <p:spPr>
          <a:xfrm rot="16200000">
            <a:off x="8723701" y="2532006"/>
            <a:ext cx="625278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700" i="1" noProof="0"/>
              <a:t>Crítica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74505A-FA3C-266F-3798-D7BFE422E906}"/>
              </a:ext>
            </a:extLst>
          </p:cNvPr>
          <p:cNvSpPr txBox="1">
            <a:spLocks/>
          </p:cNvSpPr>
          <p:nvPr/>
        </p:nvSpPr>
        <p:spPr>
          <a:xfrm rot="16200000">
            <a:off x="8519908" y="3602267"/>
            <a:ext cx="1034277" cy="1932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s-MX" sz="900" b="1" noProof="0"/>
              <a:t>Severidad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C938FA9-0ED2-C250-9968-4939844D9409}"/>
              </a:ext>
            </a:extLst>
          </p:cNvPr>
          <p:cNvSpPr>
            <a:spLocks noChangeAspect="1"/>
          </p:cNvSpPr>
          <p:nvPr/>
        </p:nvSpPr>
        <p:spPr>
          <a:xfrm>
            <a:off x="380251" y="1755272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64BB49A-FA9F-305A-E2B5-CF972D86C891}"/>
              </a:ext>
            </a:extLst>
          </p:cNvPr>
          <p:cNvSpPr>
            <a:spLocks noChangeAspect="1"/>
          </p:cNvSpPr>
          <p:nvPr/>
        </p:nvSpPr>
        <p:spPr>
          <a:xfrm>
            <a:off x="380251" y="2258099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2.4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1843A63-4AC7-8163-CBA5-C9D90A4C1D03}"/>
              </a:ext>
            </a:extLst>
          </p:cNvPr>
          <p:cNvSpPr>
            <a:spLocks noChangeAspect="1"/>
          </p:cNvSpPr>
          <p:nvPr/>
        </p:nvSpPr>
        <p:spPr>
          <a:xfrm>
            <a:off x="380251" y="3263753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E4E4B8A-3F5D-5D9A-9B85-C767B4B99DEE}"/>
              </a:ext>
            </a:extLst>
          </p:cNvPr>
          <p:cNvSpPr>
            <a:spLocks noChangeAspect="1"/>
          </p:cNvSpPr>
          <p:nvPr/>
        </p:nvSpPr>
        <p:spPr>
          <a:xfrm>
            <a:off x="380251" y="4269407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2.6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EA21FF1-24C6-D0B5-9007-4FF76DF14916}"/>
              </a:ext>
            </a:extLst>
          </p:cNvPr>
          <p:cNvSpPr>
            <a:spLocks noChangeAspect="1"/>
          </p:cNvSpPr>
          <p:nvPr/>
        </p:nvSpPr>
        <p:spPr>
          <a:xfrm>
            <a:off x="380251" y="2760926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4AC2D60-D1AE-1BE0-4401-1DBAFB8AB241}"/>
              </a:ext>
            </a:extLst>
          </p:cNvPr>
          <p:cNvSpPr>
            <a:spLocks noChangeAspect="1"/>
          </p:cNvSpPr>
          <p:nvPr/>
        </p:nvSpPr>
        <p:spPr>
          <a:xfrm>
            <a:off x="380251" y="3766580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2.6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38B4C3F-6DC1-1223-1773-8678963C9418}"/>
              </a:ext>
            </a:extLst>
          </p:cNvPr>
          <p:cNvSpPr>
            <a:spLocks noChangeAspect="1"/>
          </p:cNvSpPr>
          <p:nvPr/>
        </p:nvSpPr>
        <p:spPr>
          <a:xfrm>
            <a:off x="727004" y="3766580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839BE0E-99FB-7193-1FA2-E85A4EAB5D38}"/>
              </a:ext>
            </a:extLst>
          </p:cNvPr>
          <p:cNvSpPr>
            <a:spLocks noChangeAspect="1"/>
          </p:cNvSpPr>
          <p:nvPr/>
        </p:nvSpPr>
        <p:spPr>
          <a:xfrm>
            <a:off x="380251" y="4772234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2.6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59587BE-7211-EFFD-5D4B-619F2F145EF8}"/>
              </a:ext>
            </a:extLst>
          </p:cNvPr>
          <p:cNvSpPr>
            <a:spLocks noChangeAspect="1"/>
          </p:cNvSpPr>
          <p:nvPr/>
        </p:nvSpPr>
        <p:spPr>
          <a:xfrm>
            <a:off x="380251" y="5275060"/>
            <a:ext cx="320040" cy="320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MX" sz="700" b="1" noProof="0"/>
              <a:t>2.6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455521B-D6EB-297C-A839-61969DCB3FD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189124" y="622510"/>
            <a:ext cx="2612252" cy="266244"/>
            <a:chOff x="-2851743" y="228600"/>
            <a:chExt cx="2851743" cy="26624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E7ADA9E-5B3A-4755-619C-83FDB835EBEA}"/>
                </a:ext>
              </a:extLst>
            </p:cNvPr>
            <p:cNvSpPr txBox="1"/>
            <p:nvPr/>
          </p:nvSpPr>
          <p:spPr>
            <a:xfrm>
              <a:off x="-2851743" y="261694"/>
              <a:ext cx="2851743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s-MX" sz="1300" b="1" noProof="0" err="1">
                  <a:solidFill>
                    <a:srgbClr val="000000"/>
                  </a:solidFill>
                  <a:latin typeface="Arial" panose="020B0604020202020204" pitchFamily="34" charset="0"/>
                </a:rPr>
                <a:t>Preliminary</a:t>
              </a:r>
              <a:r>
                <a:rPr lang="es-MX" sz="1300" b="1" noProof="0">
                  <a:solidFill>
                    <a:srgbClr val="000000"/>
                  </a:solidFill>
                  <a:latin typeface="Arial" panose="020B0604020202020204" pitchFamily="34" charset="0"/>
                </a:rPr>
                <a:t> | 2nd </a:t>
              </a:r>
              <a:r>
                <a:rPr lang="es-MX" sz="1300" b="1" noProof="0" err="1">
                  <a:solidFill>
                    <a:srgbClr val="000000"/>
                  </a:solidFill>
                  <a:latin typeface="Arial" panose="020B0604020202020204" pitchFamily="34" charset="0"/>
                </a:rPr>
                <a:t>Week</a:t>
              </a:r>
              <a:r>
                <a:rPr lang="es-MX" sz="1300" b="1" noProof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r>
                <a:rPr lang="es-MX" sz="1300" b="1" noProof="0" err="1">
                  <a:solidFill>
                    <a:srgbClr val="000000"/>
                  </a:solidFill>
                  <a:latin typeface="Arial" panose="020B0604020202020204" pitchFamily="34" charset="0"/>
                </a:rPr>
                <a:t>Findings</a:t>
              </a:r>
              <a:endParaRPr lang="es-MX" sz="1300" b="1" noProof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BB259F-3CD8-F376-75C2-849A7B22AB79}"/>
                </a:ext>
              </a:extLst>
            </p:cNvPr>
            <p:cNvCxnSpPr>
              <a:cxnSpLocks/>
            </p:cNvCxnSpPr>
            <p:nvPr/>
          </p:nvCxnSpPr>
          <p:spPr>
            <a:xfrm>
              <a:off x="-2851743" y="228600"/>
              <a:ext cx="2851743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6EB6A2A-D88D-8B4D-71E3-52E4B9B7EEF7}"/>
                </a:ext>
              </a:extLst>
            </p:cNvPr>
            <p:cNvCxnSpPr>
              <a:cxnSpLocks/>
            </p:cNvCxnSpPr>
            <p:nvPr/>
          </p:nvCxnSpPr>
          <p:spPr>
            <a:xfrm>
              <a:off x="-2851743" y="494844"/>
              <a:ext cx="2851743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6820BF1-1CAC-271B-5D6F-6CFF6ECBB2DF}"/>
              </a:ext>
            </a:extLst>
          </p:cNvPr>
          <p:cNvSpPr>
            <a:spLocks/>
          </p:cNvSpPr>
          <p:nvPr/>
        </p:nvSpPr>
        <p:spPr>
          <a:xfrm>
            <a:off x="10600439" y="362519"/>
            <a:ext cx="877977" cy="18288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3600" b="0" i="0" u="none" strike="noStrike" kern="1200" cap="none" spc="0" normalizeH="0" baseline="0" noProof="0">
              <a:ln>
                <a:noFill/>
              </a:ln>
              <a:solidFill>
                <a:schemeClr val="accent4">
                  <a:lumMod val="100000"/>
                </a:schemeClr>
              </a:solidFill>
              <a:effectLst/>
              <a:uLnTx/>
              <a:uFillTx/>
              <a:latin typeface="SimSun" panose="02010600030101010101" pitchFamily="2" charset="-122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1F6221-71AD-AB26-A6C0-A86386C978E1}"/>
              </a:ext>
            </a:extLst>
          </p:cNvPr>
          <p:cNvSpPr/>
          <p:nvPr/>
        </p:nvSpPr>
        <p:spPr>
          <a:xfrm>
            <a:off x="10726134" y="245793"/>
            <a:ext cx="256032" cy="258206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9D7783-D23F-1493-38F6-564A80CEA630}"/>
              </a:ext>
            </a:extLst>
          </p:cNvPr>
          <p:cNvSpPr/>
          <p:nvPr/>
        </p:nvSpPr>
        <p:spPr>
          <a:xfrm>
            <a:off x="11096688" y="245793"/>
            <a:ext cx="256032" cy="258206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noProof="0"/>
          </a:p>
        </p:txBody>
      </p:sp>
      <p:pic>
        <p:nvPicPr>
          <p:cNvPr id="11" name="Graphic 10" descr="Blueprint outline">
            <a:extLst>
              <a:ext uri="{FF2B5EF4-FFF2-40B4-BE49-F238E27FC236}">
                <a16:creationId xmlns:a16="http://schemas.microsoft.com/office/drawing/2014/main" id="{066AAFFC-1976-4FF5-A504-2BF42F8A313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35381" y="281339"/>
            <a:ext cx="18288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674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1640-D2D7-2C56-C1CD-910951BA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C85B3ED-F733-F206-DD82-9078C4819EA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85B3ED-F733-F206-DD82-9078C4819E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8BB2004-AA8A-67A9-2BCB-5BE565E7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36" y="2551673"/>
            <a:ext cx="11143252" cy="954708"/>
          </a:xfrm>
        </p:spPr>
        <p:txBody>
          <a:bodyPr vert="horz" rIns="91440"/>
          <a:lstStyle/>
          <a:p>
            <a:r>
              <a:rPr lang="en-US"/>
              <a:t>ENTREGABLES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E4DE9F-A1EB-77DD-0CD8-25ECC1765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rgbClr val="0041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s-MX" smtClean="0"/>
              <a:pPr/>
              <a:t>8</a:t>
            </a:fld>
            <a:endParaRPr lang="es-MX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C13E35-8C5C-8345-80B1-45FCE4744342}"/>
              </a:ext>
            </a:extLst>
          </p:cNvPr>
          <p:cNvSpPr/>
          <p:nvPr/>
        </p:nvSpPr>
        <p:spPr>
          <a:xfrm>
            <a:off x="-266700" y="3351773"/>
            <a:ext cx="7708900" cy="11938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</p:spTree>
    <p:extLst>
      <p:ext uri="{BB962C8B-B14F-4D97-AF65-F5344CB8AC3E}">
        <p14:creationId xmlns:p14="http://schemas.microsoft.com/office/powerpoint/2010/main" val="2022782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9B012-6F4A-D079-2242-43F840D5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01831D-068F-33CC-49B1-4A33C5221639}"/>
              </a:ext>
            </a:extLst>
          </p:cNvPr>
          <p:cNvSpPr/>
          <p:nvPr/>
        </p:nvSpPr>
        <p:spPr>
          <a:xfrm>
            <a:off x="376522" y="197535"/>
            <a:ext cx="457200" cy="4572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/>
          <a:lstStyle/>
          <a:p>
            <a:pPr algn="ctr"/>
            <a:r>
              <a:rPr lang="es-MX" sz="2000" b="1"/>
              <a:t>2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4032D9-FA09-BE6B-3050-6CFF8CF81D31}"/>
              </a:ext>
            </a:extLst>
          </p:cNvPr>
          <p:cNvSpPr txBox="1">
            <a:spLocks/>
          </p:cNvSpPr>
          <p:nvPr/>
        </p:nvSpPr>
        <p:spPr>
          <a:xfrm>
            <a:off x="861198" y="245794"/>
            <a:ext cx="11143252" cy="954708"/>
          </a:xfrm>
        </p:spPr>
        <p:txBody>
          <a:bodyPr vert="horz" rIns="9144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/>
              <a:t>Entregables | </a:t>
            </a:r>
            <a:r>
              <a:rPr lang="es-MX" sz="2800" b="0"/>
              <a:t>Arquitectura TI (1/2)</a:t>
            </a:r>
            <a:endParaRPr lang="es-MX" sz="2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0D21BF-D9FD-CA35-9DEA-EDD07CD2436D}"/>
              </a:ext>
            </a:extLst>
          </p:cNvPr>
          <p:cNvCxnSpPr/>
          <p:nvPr/>
        </p:nvCxnSpPr>
        <p:spPr>
          <a:xfrm>
            <a:off x="6157135" y="1200502"/>
            <a:ext cx="0" cy="47160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F72CD11-EBD6-13EF-8ABB-8A65ECBB1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952385"/>
              </p:ext>
            </p:extLst>
          </p:nvPr>
        </p:nvGraphicFramePr>
        <p:xfrm>
          <a:off x="376523" y="1227027"/>
          <a:ext cx="5486400" cy="380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394">
                  <a:extLst>
                    <a:ext uri="{9D8B030D-6E8A-4147-A177-3AD203B41FA5}">
                      <a16:colId xmlns:a16="http://schemas.microsoft.com/office/drawing/2014/main" val="1213060286"/>
                    </a:ext>
                  </a:extLst>
                </a:gridCol>
                <a:gridCol w="3602778">
                  <a:extLst>
                    <a:ext uri="{9D8B030D-6E8A-4147-A177-3AD203B41FA5}">
                      <a16:colId xmlns:a16="http://schemas.microsoft.com/office/drawing/2014/main" val="1086162567"/>
                    </a:ext>
                  </a:extLst>
                </a:gridCol>
                <a:gridCol w="779228">
                  <a:extLst>
                    <a:ext uri="{9D8B030D-6E8A-4147-A177-3AD203B41FA5}">
                      <a16:colId xmlns:a16="http://schemas.microsoft.com/office/drawing/2014/main" val="2274282712"/>
                    </a:ext>
                  </a:extLst>
                </a:gridCol>
              </a:tblGrid>
              <a:tr h="245495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Entregable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Descripción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Impacto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13368"/>
                  </a:ext>
                </a:extLst>
              </a:tr>
              <a:tr h="282055"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E-AQ-01 </a:t>
                      </a: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Template Blueprint de Arquitectura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Template estándar</a:t>
                      </a: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para documentar la </a:t>
                      </a: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arquitectura de las aplicaciones legacy</a:t>
                      </a: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a nivel empresarial, cubriendo: capacidades funcionales por módulo, componentes, dependencias transversales e interfaces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ARQ-02 ARQ-07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76680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E-AQ-02 </a:t>
                      </a: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Arquitectura Legado - </a:t>
                      </a: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Primera iteración</a:t>
                      </a:r>
                      <a:endParaRPr lang="es-MX" sz="9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 b="1"/>
                        <a:t>Arquitectura de referencia (AS-IS):</a:t>
                      </a:r>
                      <a:r>
                        <a:rPr lang="es-MX" sz="900"/>
                        <a:t> Diagnóstico del estado actual de las capacidades de procesos, aplicaciones e infraestructura de los sistemas legados (con foco específico en funcionalidades de PISA).</a:t>
                      </a:r>
                      <a:endParaRPr lang="es-MX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ARQ-02 ARQ-07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870516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E-AQ-03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Arquitecturas Transitorias por iniciativa al 2026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 b="1"/>
                        <a:t>Arquitectura de transición: </a:t>
                      </a:r>
                      <a:r>
                        <a:rPr lang="es-MX" sz="900"/>
                        <a:t>Definición de los estados intermedios y de coexistencia por iniciativa, brechas y plan de migración entre la arquitectura actual (Legacy) y la objetivo, para las </a:t>
                      </a:r>
                      <a:r>
                        <a:rPr lang="es-MX" sz="900" b="1"/>
                        <a:t>iniciativas del 2026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ARQ-01 ARQ-02 ARQ-08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2897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E-AQ-04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Tablero de Deuda Técnica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Dashboard que clasifica hallazgos críticos/altos</a:t>
                      </a: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como gates de release con owner, fecha, aceptación y evidencia de cierre. Incluye burn-down de deuda, excepciones aprobadas y riesgos residuales.</a:t>
                      </a:r>
                      <a:endParaRPr kumimoji="0" lang="es-MX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ARQ-05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236094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E-AQ-05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Análisis preliminar de decomiso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Documento de análisis de componentes críticos con identificación preliminar de qué se conserva / reemplaza / desacopla (con foco específico en funcionalidades de PISA) con dependencias y criterios de retiro.</a:t>
                      </a:r>
                      <a:endParaRPr kumimoji="0" lang="es-MX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ARQ-02 ARQ-07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6007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10CB570-E59D-0778-A866-3C2FADC8E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722153"/>
              </p:ext>
            </p:extLst>
          </p:nvPr>
        </p:nvGraphicFramePr>
        <p:xfrm>
          <a:off x="6376548" y="1227027"/>
          <a:ext cx="5486400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394">
                  <a:extLst>
                    <a:ext uri="{9D8B030D-6E8A-4147-A177-3AD203B41FA5}">
                      <a16:colId xmlns:a16="http://schemas.microsoft.com/office/drawing/2014/main" val="1213060286"/>
                    </a:ext>
                  </a:extLst>
                </a:gridCol>
                <a:gridCol w="3602778">
                  <a:extLst>
                    <a:ext uri="{9D8B030D-6E8A-4147-A177-3AD203B41FA5}">
                      <a16:colId xmlns:a16="http://schemas.microsoft.com/office/drawing/2014/main" val="1086162567"/>
                    </a:ext>
                  </a:extLst>
                </a:gridCol>
                <a:gridCol w="779228">
                  <a:extLst>
                    <a:ext uri="{9D8B030D-6E8A-4147-A177-3AD203B41FA5}">
                      <a16:colId xmlns:a16="http://schemas.microsoft.com/office/drawing/2014/main" val="2274282712"/>
                    </a:ext>
                  </a:extLst>
                </a:gridCol>
              </a:tblGrid>
              <a:tr h="245495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Entregable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Descripción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Impacto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13368"/>
                  </a:ext>
                </a:extLst>
              </a:tr>
              <a:tr h="643953"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E-AQ-07</a:t>
                      </a:r>
                    </a:p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Arquitectura de Legado – Refinada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 b="1"/>
                        <a:t>Arquitectura de referencia (AS-IS) refinada </a:t>
                      </a:r>
                      <a:r>
                        <a:rPr lang="es-MX" sz="900" b="0"/>
                        <a:t>(incluyendo PISA)</a:t>
                      </a:r>
                      <a:r>
                        <a:rPr lang="es-MX" sz="900"/>
                        <a:t> con el diagnóstico del estado actual de las capacidades de procesos, aplicaciones e infraestructura de los sistemas legados.</a:t>
                      </a:r>
                      <a:endParaRPr lang="es-MX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ARQ-02 ARQ-06 ARQ-07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88908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E-AQ-08</a:t>
                      </a:r>
                      <a:b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Arquitectura To-Be</a:t>
                      </a:r>
                      <a:endParaRPr lang="es-MX" sz="9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indent="-173736" algn="l" defTabSz="9144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s-MX" sz="900" b="1"/>
                        <a:t>Arquitectura objetivo (TO-BE):</a:t>
                      </a:r>
                      <a:r>
                        <a:rPr lang="es-MX" sz="900"/>
                        <a:t> Blueprint de la arquitectura target que define el modelo de negocio, tecnológico y operativo al que el Banco debe evolucionar con la iniciativa de</a:t>
                      </a: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UNITY (Apolo, Transact, SmartVista),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ARQ-01  ARQ-08</a:t>
                      </a:r>
                      <a:endParaRPr lang="es-MX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327692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E-AQ-09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Arquitecturas Transitorias por iniciativa al 2030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 b="1"/>
                        <a:t>Arquitectura de transición: </a:t>
                      </a:r>
                      <a:r>
                        <a:rPr lang="es-MX" sz="900"/>
                        <a:t>Definición de los estados intermedios por iniciativa, brechas y plan de migración entre la arquitectura actual y la objetivo, para las </a:t>
                      </a:r>
                      <a:r>
                        <a:rPr lang="es-MX" sz="900" b="1"/>
                        <a:t>iniciativas al 2030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ARQ-01 ARQ-02 ARQ-08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236094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E-AQ-10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Plan refinado y roadmap de decomiso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Documento que define componentes críticos, decisión de qué se conserva/reemplaza/desacopla, y </a:t>
                      </a: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roadmap de decomiso </a:t>
                      </a: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(incluyendo PISA) con dependencias y criterios de retiro.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ARQ-02 ARQ-07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357220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E-AQ-11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Repositorio Único de Arquitectura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3736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MX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Repositorio centralizado</a:t>
                      </a: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con control de versiones, ADRs, decisiones, diagramas, APIs, riesgos y backlog técnico por value stream. </a:t>
                      </a:r>
                      <a:endParaRPr kumimoji="0" lang="es-MX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ARQ-04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08182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D80237E2-79F3-2C3B-07CC-CE1F0783B8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8194705"/>
                  </p:ext>
                </p:extLst>
              </p:nvPr>
            </p:nvGraphicFramePr>
            <p:xfrm>
              <a:off x="3031143" y="5329269"/>
              <a:ext cx="1576363" cy="886705"/>
            </p:xfrm>
            <a:graphic>
              <a:graphicData uri="http://schemas.microsoft.com/office/powerpoint/2016/slidezoom">
                <pslz:sldZm>
                  <pslz:sldZmObj sldId="276" cId="2686525761">
                    <pslz:zmPr id="{CC87DB0F-4BB7-4E8B-8D97-EBF410C4DE09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76363" cy="886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9" name="Slide Zoom 18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D80237E2-79F3-2C3B-07CC-CE1F0783B8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1143" y="5329269"/>
                <a:ext cx="1576363" cy="88670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6A71546-EB7A-09E9-18CB-1EF4D474E11D}"/>
              </a:ext>
            </a:extLst>
          </p:cNvPr>
          <p:cNvSpPr txBox="1"/>
          <p:nvPr/>
        </p:nvSpPr>
        <p:spPr>
          <a:xfrm>
            <a:off x="376522" y="5741916"/>
            <a:ext cx="2628000" cy="23870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s-MX" sz="1100" i="1" u="sng"/>
              <a:t>Plan de construcción de arquitectura</a:t>
            </a:r>
            <a:endParaRPr lang="es-MX" sz="1100" i="1" u="sng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26DAB-9E35-FA43-E920-DE3AA5995304}"/>
              </a:ext>
            </a:extLst>
          </p:cNvPr>
          <p:cNvSpPr txBox="1"/>
          <p:nvPr/>
        </p:nvSpPr>
        <p:spPr>
          <a:xfrm>
            <a:off x="8111065" y="5887627"/>
            <a:ext cx="3978265" cy="5348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/>
            <a:r>
              <a:rPr lang="es-MX" sz="900" u="sng" noProof="0"/>
              <a:t>Notas: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s-MX" sz="900"/>
              <a:t>ARQ-03/09: contemplada en entregables de plan de integración</a:t>
            </a:r>
            <a:r>
              <a:rPr lang="es-MX" sz="900" noProof="0"/>
              <a:t> </a:t>
            </a:r>
          </a:p>
          <a:p>
            <a:pPr marL="171450" indent="-171450" algn="l" defTabSz="228600">
              <a:buFont typeface="Arial" panose="020B0604020202020204" pitchFamily="34" charset="0"/>
              <a:buChar char="•"/>
            </a:pPr>
            <a:r>
              <a:rPr lang="es-MX" sz="900" noProof="0"/>
              <a:t>ARQ-10: responsabilidad de EY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C497F-3E79-9DE4-CD1A-893DC511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rgbClr val="0041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s-MX" smtClean="0"/>
              <a:pPr/>
              <a:t>9</a:t>
            </a:fld>
            <a:endParaRPr lang="es-MX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9F3165-727D-E7F0-ABA0-D003864E8A0F}"/>
              </a:ext>
            </a:extLst>
          </p:cNvPr>
          <p:cNvSpPr/>
          <p:nvPr/>
        </p:nvSpPr>
        <p:spPr>
          <a:xfrm>
            <a:off x="6329077" y="1504727"/>
            <a:ext cx="5486400" cy="634372"/>
          </a:xfrm>
          <a:prstGeom prst="rect">
            <a:avLst/>
          </a:prstGeom>
          <a:solidFill>
            <a:srgbClr val="FFFFFF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E8F819-1304-019C-4243-3F4A01EFD8D7}"/>
              </a:ext>
            </a:extLst>
          </p:cNvPr>
          <p:cNvSpPr/>
          <p:nvPr/>
        </p:nvSpPr>
        <p:spPr>
          <a:xfrm>
            <a:off x="376522" y="3711921"/>
            <a:ext cx="5486400" cy="597529"/>
          </a:xfrm>
          <a:prstGeom prst="rect">
            <a:avLst/>
          </a:prstGeom>
          <a:solidFill>
            <a:srgbClr val="FFFFFF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88C6FB-952E-6E1C-0755-580CF46AD990}"/>
              </a:ext>
            </a:extLst>
          </p:cNvPr>
          <p:cNvSpPr/>
          <p:nvPr/>
        </p:nvSpPr>
        <p:spPr>
          <a:xfrm>
            <a:off x="245855" y="1233570"/>
            <a:ext cx="108000" cy="252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FB4124-5E7C-E50D-C313-B953FF64EE93}"/>
              </a:ext>
            </a:extLst>
          </p:cNvPr>
          <p:cNvSpPr/>
          <p:nvPr/>
        </p:nvSpPr>
        <p:spPr>
          <a:xfrm>
            <a:off x="6258274" y="1223520"/>
            <a:ext cx="108000" cy="25200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82D084-F2F8-7BC4-6B9D-E523FF363BD6}"/>
              </a:ext>
            </a:extLst>
          </p:cNvPr>
          <p:cNvSpPr/>
          <p:nvPr/>
        </p:nvSpPr>
        <p:spPr>
          <a:xfrm>
            <a:off x="245855" y="1504726"/>
            <a:ext cx="108000" cy="57600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19FA80E-1952-A9D6-8C10-AA6417107C55}"/>
              </a:ext>
            </a:extLst>
          </p:cNvPr>
          <p:cNvSpPr/>
          <p:nvPr/>
        </p:nvSpPr>
        <p:spPr>
          <a:xfrm>
            <a:off x="6258274" y="1496181"/>
            <a:ext cx="108000" cy="6480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74CC0FB-AD8E-F49A-79A1-43DD2772FC73}"/>
              </a:ext>
            </a:extLst>
          </p:cNvPr>
          <p:cNvSpPr/>
          <p:nvPr/>
        </p:nvSpPr>
        <p:spPr>
          <a:xfrm>
            <a:off x="245855" y="2150501"/>
            <a:ext cx="108000" cy="72000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ABEEE72-5A88-ED8D-4ACB-A35E6C4CACBA}"/>
              </a:ext>
            </a:extLst>
          </p:cNvPr>
          <p:cNvSpPr/>
          <p:nvPr/>
        </p:nvSpPr>
        <p:spPr>
          <a:xfrm>
            <a:off x="245855" y="2940276"/>
            <a:ext cx="108000" cy="72000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1679ED9-0345-91E8-61EB-E72DD6788E6C}"/>
              </a:ext>
            </a:extLst>
          </p:cNvPr>
          <p:cNvSpPr/>
          <p:nvPr/>
        </p:nvSpPr>
        <p:spPr>
          <a:xfrm>
            <a:off x="245855" y="3730051"/>
            <a:ext cx="108000" cy="5760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0620200-A789-95EE-B4BA-3E1C0D0826AA}"/>
              </a:ext>
            </a:extLst>
          </p:cNvPr>
          <p:cNvSpPr/>
          <p:nvPr/>
        </p:nvSpPr>
        <p:spPr>
          <a:xfrm>
            <a:off x="245855" y="4375824"/>
            <a:ext cx="108000" cy="61200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EE73CB8-FAE6-15B9-5093-172487C43A1D}"/>
              </a:ext>
            </a:extLst>
          </p:cNvPr>
          <p:cNvSpPr/>
          <p:nvPr/>
        </p:nvSpPr>
        <p:spPr>
          <a:xfrm>
            <a:off x="6258274" y="2206676"/>
            <a:ext cx="108000" cy="576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917F163-23B1-77B4-BC27-907773A35E19}"/>
              </a:ext>
            </a:extLst>
          </p:cNvPr>
          <p:cNvSpPr/>
          <p:nvPr/>
        </p:nvSpPr>
        <p:spPr>
          <a:xfrm>
            <a:off x="6258274" y="2845171"/>
            <a:ext cx="108000" cy="6840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040538E-4986-34AC-2C3E-FA56A535178F}"/>
              </a:ext>
            </a:extLst>
          </p:cNvPr>
          <p:cNvSpPr/>
          <p:nvPr/>
        </p:nvSpPr>
        <p:spPr>
          <a:xfrm>
            <a:off x="6258274" y="3591666"/>
            <a:ext cx="108000" cy="576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093B624-6BF3-A0E3-EE53-1F8D17ECE3DD}"/>
              </a:ext>
            </a:extLst>
          </p:cNvPr>
          <p:cNvSpPr/>
          <p:nvPr/>
        </p:nvSpPr>
        <p:spPr>
          <a:xfrm>
            <a:off x="6258274" y="4230162"/>
            <a:ext cx="108000" cy="6120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35" name="Star: 5 Points 34">
            <a:extLst>
              <a:ext uri="{FF2B5EF4-FFF2-40B4-BE49-F238E27FC236}">
                <a16:creationId xmlns:a16="http://schemas.microsoft.com/office/drawing/2014/main" id="{68D48DC7-34D5-6D57-3399-E35D47FCAD0A}"/>
              </a:ext>
            </a:extLst>
          </p:cNvPr>
          <p:cNvSpPr/>
          <p:nvPr/>
        </p:nvSpPr>
        <p:spPr>
          <a:xfrm>
            <a:off x="11920175" y="2206676"/>
            <a:ext cx="552604" cy="552604"/>
          </a:xfrm>
          <a:prstGeom prst="star5">
            <a:avLst>
              <a:gd name="adj" fmla="val 2903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10C2F1-B318-D147-EB8C-A4CA17C0AA0E}"/>
              </a:ext>
            </a:extLst>
          </p:cNvPr>
          <p:cNvSpPr/>
          <p:nvPr/>
        </p:nvSpPr>
        <p:spPr>
          <a:xfrm>
            <a:off x="6386822" y="2809200"/>
            <a:ext cx="5486400" cy="746495"/>
          </a:xfrm>
          <a:prstGeom prst="rect">
            <a:avLst/>
          </a:prstGeom>
          <a:solidFill>
            <a:srgbClr val="FFFFFF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FD5FB509-7BF1-2167-BD1E-9D75D0710D4A}"/>
              </a:ext>
            </a:extLst>
          </p:cNvPr>
          <p:cNvSpPr/>
          <p:nvPr/>
        </p:nvSpPr>
        <p:spPr>
          <a:xfrm>
            <a:off x="11920175" y="3603364"/>
            <a:ext cx="552604" cy="552604"/>
          </a:xfrm>
          <a:prstGeom prst="star5">
            <a:avLst>
              <a:gd name="adj" fmla="val 2903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70BB27-E885-241A-6EBF-448DAD0F523B}"/>
              </a:ext>
            </a:extLst>
          </p:cNvPr>
          <p:cNvSpPr/>
          <p:nvPr/>
        </p:nvSpPr>
        <p:spPr>
          <a:xfrm>
            <a:off x="6376548" y="4248326"/>
            <a:ext cx="5486400" cy="634372"/>
          </a:xfrm>
          <a:prstGeom prst="rect">
            <a:avLst/>
          </a:prstGeom>
          <a:solidFill>
            <a:srgbClr val="FFFFFF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54418EBE-2EBB-41FE-CB19-B03B1F5383E8}"/>
              </a:ext>
            </a:extLst>
          </p:cNvPr>
          <p:cNvSpPr/>
          <p:nvPr/>
        </p:nvSpPr>
        <p:spPr>
          <a:xfrm>
            <a:off x="11920175" y="1452247"/>
            <a:ext cx="552604" cy="552604"/>
          </a:xfrm>
          <a:prstGeom prst="star5">
            <a:avLst>
              <a:gd name="adj" fmla="val 2903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F8098E1-AF8C-5E54-69C4-AF023F7C6D58}"/>
              </a:ext>
            </a:extLst>
          </p:cNvPr>
          <p:cNvGrpSpPr/>
          <p:nvPr/>
        </p:nvGrpSpPr>
        <p:grpSpPr>
          <a:xfrm>
            <a:off x="8314538" y="215815"/>
            <a:ext cx="3084023" cy="790044"/>
            <a:chOff x="8739631" y="215815"/>
            <a:chExt cx="3084023" cy="790044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0332036B-4B5D-8212-5855-46EA7BFDEF41}"/>
                </a:ext>
              </a:extLst>
            </p:cNvPr>
            <p:cNvSpPr/>
            <p:nvPr/>
          </p:nvSpPr>
          <p:spPr>
            <a:xfrm flipV="1">
              <a:off x="8739631" y="230142"/>
              <a:ext cx="250813" cy="140819"/>
            </a:xfrm>
            <a:prstGeom prst="roundRect">
              <a:avLst/>
            </a:prstGeom>
            <a:solidFill>
              <a:srgbClr val="2E9E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2B7B2B26-485F-1D79-99DC-B98C46C461D6}"/>
                </a:ext>
              </a:extLst>
            </p:cNvPr>
            <p:cNvSpPr/>
            <p:nvPr/>
          </p:nvSpPr>
          <p:spPr>
            <a:xfrm flipV="1">
              <a:off x="8739631" y="441775"/>
              <a:ext cx="250813" cy="14081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 err="1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694844A-A8B4-B240-E16B-BEED3DF33808}"/>
                </a:ext>
              </a:extLst>
            </p:cNvPr>
            <p:cNvSpPr txBox="1"/>
            <p:nvPr/>
          </p:nvSpPr>
          <p:spPr>
            <a:xfrm>
              <a:off x="9072636" y="640625"/>
              <a:ext cx="2256862" cy="1576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err="1"/>
                <a:t>Artefacto</a:t>
              </a:r>
              <a:r>
                <a:rPr lang="en-CA" sz="1000"/>
                <a:t> vivo de </a:t>
              </a:r>
              <a:r>
                <a:rPr lang="en-CA" sz="1000" err="1"/>
                <a:t>ejecución</a:t>
              </a:r>
              <a:endParaRPr lang="en-CA" sz="1000" noProof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1ABF4C9-E3B2-7755-3013-EB0E5B4BE4C0}"/>
                </a:ext>
              </a:extLst>
            </p:cNvPr>
            <p:cNvSpPr txBox="1"/>
            <p:nvPr/>
          </p:nvSpPr>
          <p:spPr>
            <a:xfrm>
              <a:off x="9072635" y="428220"/>
              <a:ext cx="2517282" cy="1437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 err="1"/>
                <a:t>Reingeniería</a:t>
              </a:r>
              <a:r>
                <a:rPr lang="en-CA" sz="1000" noProof="0"/>
                <a:t> y Entrega Fase B (2026)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420D0699-8E72-1457-B7E2-372424FCFC68}"/>
                </a:ext>
              </a:extLst>
            </p:cNvPr>
            <p:cNvSpPr/>
            <p:nvPr/>
          </p:nvSpPr>
          <p:spPr>
            <a:xfrm flipV="1">
              <a:off x="8739631" y="653408"/>
              <a:ext cx="250813" cy="140819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0FFA80-B374-9C0A-AC09-A9D8B00E22D1}"/>
                </a:ext>
              </a:extLst>
            </p:cNvPr>
            <p:cNvSpPr txBox="1"/>
            <p:nvPr/>
          </p:nvSpPr>
          <p:spPr>
            <a:xfrm>
              <a:off x="9072636" y="215815"/>
              <a:ext cx="2751018" cy="1408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 err="1"/>
                <a:t>Reingeniería</a:t>
              </a:r>
              <a:r>
                <a:rPr lang="en-CA" sz="1000" noProof="0"/>
                <a:t> </a:t>
              </a:r>
              <a:r>
                <a:rPr lang="en-CA" sz="1000"/>
                <a:t>y Entrega </a:t>
              </a:r>
              <a:r>
                <a:rPr lang="en-CA" sz="1000" noProof="0"/>
                <a:t>Fase A (~10 </a:t>
              </a:r>
              <a:r>
                <a:rPr lang="en-CA" sz="1000" noProof="0" err="1"/>
                <a:t>sem</a:t>
              </a:r>
              <a:r>
                <a:rPr lang="en-CA" sz="1000" noProof="0"/>
                <a:t>)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F3AE0D0-F4C2-1448-E0F8-9CDCFB00E654}"/>
                </a:ext>
              </a:extLst>
            </p:cNvPr>
            <p:cNvSpPr/>
            <p:nvPr/>
          </p:nvSpPr>
          <p:spPr>
            <a:xfrm flipV="1">
              <a:off x="8739631" y="865040"/>
              <a:ext cx="250813" cy="14081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 err="1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33F1216-1736-D5A8-237B-88F8A95A944D}"/>
                </a:ext>
              </a:extLst>
            </p:cNvPr>
            <p:cNvSpPr txBox="1"/>
            <p:nvPr/>
          </p:nvSpPr>
          <p:spPr>
            <a:xfrm>
              <a:off x="9072635" y="853029"/>
              <a:ext cx="2017427" cy="1408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/>
                <a:t>Fuera de </a:t>
              </a:r>
              <a:r>
                <a:rPr lang="en-CA" sz="1000" noProof="0" err="1"/>
                <a:t>alcance</a:t>
              </a:r>
              <a:endParaRPr lang="en-CA" sz="10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472604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004C9-89E1-6D27-E8DF-664CEE22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D8D74410-1D4B-25B4-9210-26FE4223954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22977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D74410-1D4B-25B4-9210-26FE422395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390724AC-416E-F3E1-DC1B-4F3765BFD306}"/>
              </a:ext>
            </a:extLst>
          </p:cNvPr>
          <p:cNvSpPr txBox="1">
            <a:spLocks/>
          </p:cNvSpPr>
          <p:nvPr/>
        </p:nvSpPr>
        <p:spPr>
          <a:xfrm>
            <a:off x="861198" y="245794"/>
            <a:ext cx="11143252" cy="954708"/>
          </a:xfrm>
        </p:spPr>
        <p:txBody>
          <a:bodyPr vert="horz" rIns="9144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/>
              <a:t>Entregables | </a:t>
            </a:r>
            <a:r>
              <a:rPr lang="es-MX" sz="2800" b="0"/>
              <a:t>Arquitectura TI (2/2)</a:t>
            </a:r>
            <a:endParaRPr lang="es-MX" sz="2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944CAF7-B4FA-A16A-37E5-1428F5272043}"/>
              </a:ext>
            </a:extLst>
          </p:cNvPr>
          <p:cNvCxnSpPr>
            <a:cxnSpLocks/>
          </p:cNvCxnSpPr>
          <p:nvPr/>
        </p:nvCxnSpPr>
        <p:spPr>
          <a:xfrm>
            <a:off x="6157135" y="1200502"/>
            <a:ext cx="0" cy="52079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0B8DFC9-8D7C-D39C-FDEA-4DF50D9478B0}"/>
              </a:ext>
            </a:extLst>
          </p:cNvPr>
          <p:cNvSpPr/>
          <p:nvPr/>
        </p:nvSpPr>
        <p:spPr>
          <a:xfrm>
            <a:off x="376522" y="5200846"/>
            <a:ext cx="5486389" cy="111876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r>
              <a:rPr lang="es-MX" sz="800" b="1" u="sng">
                <a:solidFill>
                  <a:schemeClr val="tx1"/>
                </a:solidFill>
              </a:rPr>
              <a:t>Nota: Dependencias de Entregables</a:t>
            </a:r>
            <a:endParaRPr lang="es-MX" altLang="es-MX" sz="800">
              <a:solidFill>
                <a:schemeClr val="tx1"/>
              </a:solidFill>
            </a:endParaRPr>
          </a:p>
          <a:p>
            <a:pPr marL="171450" lvl="0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Disponibilidad de arquitectos, </a:t>
            </a:r>
            <a:r>
              <a:rPr lang="es-MX" altLang="es-MX" sz="800" err="1">
                <a:solidFill>
                  <a:schemeClr val="tx1"/>
                </a:solidFill>
              </a:rPr>
              <a:t>SMEs</a:t>
            </a:r>
            <a:r>
              <a:rPr lang="es-MX" altLang="es-MX" sz="800">
                <a:solidFill>
                  <a:schemeClr val="tx1"/>
                </a:solidFill>
              </a:rPr>
              <a:t> y lideres técnicos de Apolo, </a:t>
            </a:r>
            <a:r>
              <a:rPr lang="es-MX" altLang="es-MX" sz="800" err="1">
                <a:solidFill>
                  <a:schemeClr val="tx1"/>
                </a:solidFill>
              </a:rPr>
              <a:t>SmartVista</a:t>
            </a:r>
            <a:r>
              <a:rPr lang="es-MX" altLang="es-MX" sz="800">
                <a:solidFill>
                  <a:schemeClr val="tx1"/>
                </a:solidFill>
              </a:rPr>
              <a:t>, </a:t>
            </a:r>
            <a:r>
              <a:rPr lang="es-MX" altLang="es-MX" sz="800" err="1">
                <a:solidFill>
                  <a:schemeClr val="tx1"/>
                </a:solidFill>
              </a:rPr>
              <a:t>Transact</a:t>
            </a:r>
            <a:r>
              <a:rPr lang="es-MX" altLang="es-MX" sz="800">
                <a:solidFill>
                  <a:schemeClr val="tx1"/>
                </a:solidFill>
              </a:rPr>
              <a:t> y Legacy para sesiones de definición y validación.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Entrega oportuna por parte del banco de inventarios de interfaces existente, capacidades funcionales y e información de componentes </a:t>
            </a:r>
            <a:r>
              <a:rPr lang="es-MX" altLang="es-MX" sz="800" err="1">
                <a:solidFill>
                  <a:schemeClr val="tx1"/>
                </a:solidFill>
              </a:rPr>
              <a:t>legacy</a:t>
            </a:r>
            <a:r>
              <a:rPr lang="es-MX" altLang="es-MX" sz="800">
                <a:solidFill>
                  <a:schemeClr val="tx1"/>
                </a:solidFill>
              </a:rPr>
              <a:t>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Confirmación de alcance funcional y dependencias críticas, Atlas y migración de las iniciativas en 2026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Definición y aprobación de </a:t>
            </a:r>
            <a:r>
              <a:rPr lang="es-MX" altLang="es-MX" sz="800" err="1">
                <a:solidFill>
                  <a:schemeClr val="tx1"/>
                </a:solidFill>
              </a:rPr>
              <a:t>owners</a:t>
            </a:r>
            <a:r>
              <a:rPr lang="es-MX" altLang="es-MX" sz="800">
                <a:solidFill>
                  <a:schemeClr val="tx1"/>
                </a:solidFill>
              </a:rPr>
              <a:t>, criterios de severidad, </a:t>
            </a:r>
            <a:r>
              <a:rPr lang="es-MX" altLang="es-MX" sz="800" err="1">
                <a:solidFill>
                  <a:schemeClr val="tx1"/>
                </a:solidFill>
              </a:rPr>
              <a:t>governance</a:t>
            </a:r>
            <a:r>
              <a:rPr lang="es-MX" altLang="es-MX" sz="800">
                <a:solidFill>
                  <a:schemeClr val="tx1"/>
                </a:solidFill>
              </a:rPr>
              <a:t> y procesos de </a:t>
            </a:r>
            <a:r>
              <a:rPr lang="es-MX" altLang="es-MX" sz="800" err="1">
                <a:solidFill>
                  <a:schemeClr val="tx1"/>
                </a:solidFill>
              </a:rPr>
              <a:t>Design</a:t>
            </a:r>
            <a:r>
              <a:rPr lang="es-MX" altLang="es-MX" sz="800">
                <a:solidFill>
                  <a:schemeClr val="tx1"/>
                </a:solidFill>
              </a:rPr>
              <a:t> </a:t>
            </a:r>
            <a:r>
              <a:rPr lang="es-MX" altLang="es-MX" sz="800" err="1">
                <a:solidFill>
                  <a:schemeClr val="tx1"/>
                </a:solidFill>
              </a:rPr>
              <a:t>Authority</a:t>
            </a:r>
            <a:r>
              <a:rPr lang="es-MX" altLang="es-MX" sz="800">
                <a:solidFill>
                  <a:schemeClr val="tx1"/>
                </a:solidFill>
              </a:rPr>
              <a:t>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Acceso a las actualizaciones de la documentación de arquitectura y backlog técnico. </a:t>
            </a:r>
          </a:p>
          <a:p>
            <a:endParaRPr lang="es-MX" sz="800" b="1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EF3CC5-A163-A99A-B80B-A507FF123546}"/>
              </a:ext>
            </a:extLst>
          </p:cNvPr>
          <p:cNvSpPr/>
          <p:nvPr/>
        </p:nvSpPr>
        <p:spPr>
          <a:xfrm>
            <a:off x="6376559" y="5200846"/>
            <a:ext cx="5627889" cy="111876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r>
              <a:rPr lang="es-MX" sz="800" b="1" u="sng">
                <a:solidFill>
                  <a:schemeClr val="tx1"/>
                </a:solidFill>
              </a:rPr>
              <a:t>Nota: Dependencias de Entregables</a:t>
            </a:r>
            <a:endParaRPr lang="es-MX" altLang="es-MX" sz="800">
              <a:solidFill>
                <a:schemeClr val="tx1"/>
              </a:solidFill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Validación ejecutiva y técnica de la arquitectura To-Be y arquitecturas transitorias por iniciativa.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Confirmación de decisiones de coexistencia, desacople y decomiso de </a:t>
            </a:r>
            <a:r>
              <a:rPr lang="es-MX" altLang="es-MX" sz="800" err="1">
                <a:solidFill>
                  <a:schemeClr val="tx1"/>
                </a:solidFill>
              </a:rPr>
              <a:t>legacy</a:t>
            </a:r>
            <a:r>
              <a:rPr lang="es-MX" altLang="es-MX" sz="800">
                <a:solidFill>
                  <a:schemeClr val="tx1"/>
                </a:solidFill>
              </a:rPr>
              <a:t>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Participación recurrente de equipos de arquitectura en sesiones de seguimiento y toma de decisiones.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Actualización continua de cambios en las integraciones, dependencias y cambios de alcance que impacten </a:t>
            </a:r>
            <a:r>
              <a:rPr lang="es-MX" altLang="es-MX" sz="800" err="1">
                <a:solidFill>
                  <a:schemeClr val="tx1"/>
                </a:solidFill>
              </a:rPr>
              <a:t>releases</a:t>
            </a:r>
            <a:r>
              <a:rPr lang="es-MX" altLang="es-MX" sz="800">
                <a:solidFill>
                  <a:schemeClr val="tx1"/>
                </a:solidFill>
              </a:rPr>
              <a:t> o roadmap.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Acceso a repositorios, herramientas y responsables para mantener </a:t>
            </a:r>
            <a:r>
              <a:rPr lang="es-MX" altLang="es-MX" sz="800" err="1">
                <a:solidFill>
                  <a:schemeClr val="tx1"/>
                </a:solidFill>
              </a:rPr>
              <a:t>ADRs</a:t>
            </a:r>
            <a:r>
              <a:rPr lang="es-MX" altLang="es-MX" sz="800">
                <a:solidFill>
                  <a:schemeClr val="tx1"/>
                </a:solidFill>
              </a:rPr>
              <a:t>, diagramas, y </a:t>
            </a:r>
            <a:r>
              <a:rPr lang="es-MX" altLang="es-MX" sz="800" err="1">
                <a:solidFill>
                  <a:schemeClr val="tx1"/>
                </a:solidFill>
              </a:rPr>
              <a:t>decision</a:t>
            </a:r>
            <a:r>
              <a:rPr lang="es-MX" altLang="es-MX" sz="800">
                <a:solidFill>
                  <a:schemeClr val="tx1"/>
                </a:solidFill>
              </a:rPr>
              <a:t> logs actualizados.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MX" altLang="es-MX" sz="800">
              <a:solidFill>
                <a:schemeClr val="tx1"/>
              </a:solidFill>
            </a:endParaRPr>
          </a:p>
          <a:p>
            <a:endParaRPr lang="es-MX" sz="800" b="1">
              <a:solidFill>
                <a:schemeClr val="tx1"/>
              </a:solidFill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51F5333-4680-592D-A2B8-E4490B548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585863"/>
              </p:ext>
            </p:extLst>
          </p:nvPr>
        </p:nvGraphicFramePr>
        <p:xfrm>
          <a:off x="376522" y="1227027"/>
          <a:ext cx="5639114" cy="102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182">
                  <a:extLst>
                    <a:ext uri="{9D8B030D-6E8A-4147-A177-3AD203B41FA5}">
                      <a16:colId xmlns:a16="http://schemas.microsoft.com/office/drawing/2014/main" val="1213060286"/>
                    </a:ext>
                  </a:extLst>
                </a:gridCol>
                <a:gridCol w="3765085">
                  <a:extLst>
                    <a:ext uri="{9D8B030D-6E8A-4147-A177-3AD203B41FA5}">
                      <a16:colId xmlns:a16="http://schemas.microsoft.com/office/drawing/2014/main" val="1086162567"/>
                    </a:ext>
                  </a:extLst>
                </a:gridCol>
                <a:gridCol w="751847">
                  <a:extLst>
                    <a:ext uri="{9D8B030D-6E8A-4147-A177-3AD203B41FA5}">
                      <a16:colId xmlns:a16="http://schemas.microsoft.com/office/drawing/2014/main" val="2274282712"/>
                    </a:ext>
                  </a:extLst>
                </a:gridCol>
              </a:tblGrid>
              <a:tr h="245495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Entregable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Descripción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Impacto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13368"/>
                  </a:ext>
                </a:extLst>
              </a:tr>
              <a:tr h="643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E-AQ-06</a:t>
                      </a:r>
                      <a:br>
                        <a:rPr lang="en-US" sz="900" b="0"/>
                      </a:br>
                      <a:r>
                        <a:rPr lang="es-MX" sz="900" b="1"/>
                        <a:t>Modelo de Design Authority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900"/>
                        <a:t>Procesos de Design Authority para resolver gaps, dependencias, excepciones de diseño, prioridades cross-stream y decisiones de arquitectura.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900"/>
                        <a:t>Agenda de criterios, mecanismos para la toma de decisión, decision log y seguimiento de acciones.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900" b="0"/>
                        <a:t>ARQ-01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88908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5CF59D9-9580-8EFB-4C0E-9B22014CB106}"/>
              </a:ext>
            </a:extLst>
          </p:cNvPr>
          <p:cNvGraphicFramePr>
            <a:graphicFrameLocks noGrp="1"/>
          </p:cNvGraphicFramePr>
          <p:nvPr/>
        </p:nvGraphicFramePr>
        <p:xfrm>
          <a:off x="6376548" y="1227027"/>
          <a:ext cx="548640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394">
                  <a:extLst>
                    <a:ext uri="{9D8B030D-6E8A-4147-A177-3AD203B41FA5}">
                      <a16:colId xmlns:a16="http://schemas.microsoft.com/office/drawing/2014/main" val="1213060286"/>
                    </a:ext>
                  </a:extLst>
                </a:gridCol>
                <a:gridCol w="3602778">
                  <a:extLst>
                    <a:ext uri="{9D8B030D-6E8A-4147-A177-3AD203B41FA5}">
                      <a16:colId xmlns:a16="http://schemas.microsoft.com/office/drawing/2014/main" val="1086162567"/>
                    </a:ext>
                  </a:extLst>
                </a:gridCol>
                <a:gridCol w="779228">
                  <a:extLst>
                    <a:ext uri="{9D8B030D-6E8A-4147-A177-3AD203B41FA5}">
                      <a16:colId xmlns:a16="http://schemas.microsoft.com/office/drawing/2014/main" val="2274282712"/>
                    </a:ext>
                  </a:extLst>
                </a:gridCol>
              </a:tblGrid>
              <a:tr h="245495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Entregable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Descripción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Impacto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13368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/>
                        <a:t>E-AQ-12</a:t>
                      </a:r>
                    </a:p>
                    <a:p>
                      <a:pPr>
                        <a:buNone/>
                      </a:pPr>
                      <a:r>
                        <a:rPr lang="es-ES" sz="900" b="1"/>
                        <a:t>Historial y Logs de Design Authority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900"/>
                        <a:t>Decisión log actualizado para procesos de Design Authority con detalle de seguimiento de acciones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MX" sz="900" b="0"/>
                        <a:t>ARQ-01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0142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B213F4-3AFE-464F-5F63-D8A11EF33E75}"/>
              </a:ext>
            </a:extLst>
          </p:cNvPr>
          <p:cNvSpPr/>
          <p:nvPr/>
        </p:nvSpPr>
        <p:spPr>
          <a:xfrm>
            <a:off x="376522" y="197535"/>
            <a:ext cx="457200" cy="4572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/>
          <a:lstStyle/>
          <a:p>
            <a:pPr algn="ctr"/>
            <a:r>
              <a:rPr lang="es-MX" sz="2000" b="1"/>
              <a:t>2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92760DD4-A08A-E1FC-CE55-1354990CF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rgbClr val="0041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s-MX" smtClean="0"/>
              <a:pPr/>
              <a:t>10</a:t>
            </a:fld>
            <a:endParaRPr lang="es-MX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B4843A-CC33-7193-5848-068042BC64A4}"/>
              </a:ext>
            </a:extLst>
          </p:cNvPr>
          <p:cNvSpPr/>
          <p:nvPr/>
        </p:nvSpPr>
        <p:spPr>
          <a:xfrm>
            <a:off x="245855" y="1233570"/>
            <a:ext cx="108000" cy="252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96145F-DE98-D39F-4DBD-1EFF42F7AB7B}"/>
              </a:ext>
            </a:extLst>
          </p:cNvPr>
          <p:cNvSpPr/>
          <p:nvPr/>
        </p:nvSpPr>
        <p:spPr>
          <a:xfrm>
            <a:off x="6258274" y="1223520"/>
            <a:ext cx="108000" cy="25200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77B148-D159-BED4-F501-63E6A1B4CA54}"/>
              </a:ext>
            </a:extLst>
          </p:cNvPr>
          <p:cNvSpPr/>
          <p:nvPr/>
        </p:nvSpPr>
        <p:spPr>
          <a:xfrm>
            <a:off x="245855" y="1504726"/>
            <a:ext cx="108000" cy="72000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406778-066D-F911-256C-07F9C879D465}"/>
              </a:ext>
            </a:extLst>
          </p:cNvPr>
          <p:cNvSpPr/>
          <p:nvPr/>
        </p:nvSpPr>
        <p:spPr>
          <a:xfrm>
            <a:off x="6258274" y="1487792"/>
            <a:ext cx="108000" cy="612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21E248C-6E00-64A2-BC05-CE1FFAA849CD}"/>
              </a:ext>
            </a:extLst>
          </p:cNvPr>
          <p:cNvGrpSpPr/>
          <p:nvPr/>
        </p:nvGrpSpPr>
        <p:grpSpPr>
          <a:xfrm>
            <a:off x="8314538" y="215815"/>
            <a:ext cx="3084023" cy="790044"/>
            <a:chOff x="8739631" y="215815"/>
            <a:chExt cx="3084023" cy="790044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BAE2E549-2B55-4282-29B3-BFA0B651B104}"/>
                </a:ext>
              </a:extLst>
            </p:cNvPr>
            <p:cNvSpPr/>
            <p:nvPr/>
          </p:nvSpPr>
          <p:spPr>
            <a:xfrm flipV="1">
              <a:off x="8739631" y="230142"/>
              <a:ext cx="250813" cy="140819"/>
            </a:xfrm>
            <a:prstGeom prst="roundRect">
              <a:avLst/>
            </a:prstGeom>
            <a:solidFill>
              <a:srgbClr val="2E9E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87BCA0CE-1443-03A9-3DD0-6A46AEA18336}"/>
                </a:ext>
              </a:extLst>
            </p:cNvPr>
            <p:cNvSpPr/>
            <p:nvPr/>
          </p:nvSpPr>
          <p:spPr>
            <a:xfrm flipV="1">
              <a:off x="8739631" y="441775"/>
              <a:ext cx="250813" cy="14081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 err="1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07CFA5E-E1ED-DC9E-A37F-F725344CFA56}"/>
                </a:ext>
              </a:extLst>
            </p:cNvPr>
            <p:cNvSpPr txBox="1"/>
            <p:nvPr/>
          </p:nvSpPr>
          <p:spPr>
            <a:xfrm>
              <a:off x="9072636" y="640625"/>
              <a:ext cx="2256862" cy="1576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err="1"/>
                <a:t>Artefacto</a:t>
              </a:r>
              <a:r>
                <a:rPr lang="en-CA" sz="1000"/>
                <a:t> vivo de </a:t>
              </a:r>
              <a:r>
                <a:rPr lang="en-CA" sz="1000" err="1"/>
                <a:t>ejecución</a:t>
              </a:r>
              <a:endParaRPr lang="en-CA" sz="1000" noProof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E50481E-1C28-5446-6D2E-AF289E84584E}"/>
                </a:ext>
              </a:extLst>
            </p:cNvPr>
            <p:cNvSpPr txBox="1"/>
            <p:nvPr/>
          </p:nvSpPr>
          <p:spPr>
            <a:xfrm>
              <a:off x="9072635" y="428220"/>
              <a:ext cx="2517282" cy="1437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 err="1"/>
                <a:t>Reingeniería</a:t>
              </a:r>
              <a:r>
                <a:rPr lang="en-CA" sz="1000" noProof="0"/>
                <a:t> y Entrega Fase B (2026)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C919D312-1839-A573-A79E-A9C2C9AB9E36}"/>
                </a:ext>
              </a:extLst>
            </p:cNvPr>
            <p:cNvSpPr/>
            <p:nvPr/>
          </p:nvSpPr>
          <p:spPr>
            <a:xfrm flipV="1">
              <a:off x="8739631" y="653408"/>
              <a:ext cx="250813" cy="140819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BC0D19F-FBE9-C89D-0789-D218CAB40105}"/>
                </a:ext>
              </a:extLst>
            </p:cNvPr>
            <p:cNvSpPr txBox="1"/>
            <p:nvPr/>
          </p:nvSpPr>
          <p:spPr>
            <a:xfrm>
              <a:off x="9072636" y="215815"/>
              <a:ext cx="2751018" cy="1408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 err="1"/>
                <a:t>Reingeniería</a:t>
              </a:r>
              <a:r>
                <a:rPr lang="en-CA" sz="1000" noProof="0"/>
                <a:t> </a:t>
              </a:r>
              <a:r>
                <a:rPr lang="en-CA" sz="1000"/>
                <a:t>y Entrega </a:t>
              </a:r>
              <a:r>
                <a:rPr lang="en-CA" sz="1000" noProof="0"/>
                <a:t>Fase A (~10 </a:t>
              </a:r>
              <a:r>
                <a:rPr lang="en-CA" sz="1000" noProof="0" err="1"/>
                <a:t>sem</a:t>
              </a:r>
              <a:r>
                <a:rPr lang="en-CA" sz="1000" noProof="0"/>
                <a:t>)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063274AE-2CE4-0939-029D-B236319323F4}"/>
                </a:ext>
              </a:extLst>
            </p:cNvPr>
            <p:cNvSpPr/>
            <p:nvPr/>
          </p:nvSpPr>
          <p:spPr>
            <a:xfrm flipV="1">
              <a:off x="8739631" y="865040"/>
              <a:ext cx="250813" cy="14081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 err="1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885EE5C-3F56-3021-D204-D8ED09272D3E}"/>
                </a:ext>
              </a:extLst>
            </p:cNvPr>
            <p:cNvSpPr txBox="1"/>
            <p:nvPr/>
          </p:nvSpPr>
          <p:spPr>
            <a:xfrm>
              <a:off x="9072635" y="853029"/>
              <a:ext cx="2017427" cy="1408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/>
                <a:t>Fuera de </a:t>
              </a:r>
              <a:r>
                <a:rPr lang="en-CA" sz="1000" noProof="0" err="1"/>
                <a:t>alcance</a:t>
              </a:r>
              <a:endParaRPr lang="en-CA" sz="10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476865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9AB3A-9431-070A-53BB-76CCD5DAF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51D2B8BA-36C3-5BBE-D493-0BCBE6DB664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D2B8BA-36C3-5BBE-D493-0BCBE6DB66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DD681DCD-D64B-CBC3-F7BF-71A12B1B7895}"/>
              </a:ext>
            </a:extLst>
          </p:cNvPr>
          <p:cNvSpPr txBox="1">
            <a:spLocks/>
          </p:cNvSpPr>
          <p:nvPr/>
        </p:nvSpPr>
        <p:spPr>
          <a:xfrm>
            <a:off x="861198" y="245794"/>
            <a:ext cx="11143252" cy="954708"/>
          </a:xfrm>
        </p:spPr>
        <p:txBody>
          <a:bodyPr vert="horz" rIns="9144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/>
              <a:t>Entregables | </a:t>
            </a:r>
            <a:r>
              <a:rPr lang="es-MX" sz="2800" b="0"/>
              <a:t>Integración</a:t>
            </a:r>
            <a:endParaRPr lang="es-MX" sz="2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EC9EDB7-3C03-8190-D4C2-62E4439EAB3A}"/>
              </a:ext>
            </a:extLst>
          </p:cNvPr>
          <p:cNvCxnSpPr/>
          <p:nvPr/>
        </p:nvCxnSpPr>
        <p:spPr>
          <a:xfrm>
            <a:off x="6157135" y="1200502"/>
            <a:ext cx="0" cy="51113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2497CF5-07FF-4BA8-D156-EF10081F7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66882"/>
              </p:ext>
            </p:extLst>
          </p:nvPr>
        </p:nvGraphicFramePr>
        <p:xfrm>
          <a:off x="376517" y="1227027"/>
          <a:ext cx="5486400" cy="3979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083">
                  <a:extLst>
                    <a:ext uri="{9D8B030D-6E8A-4147-A177-3AD203B41FA5}">
                      <a16:colId xmlns:a16="http://schemas.microsoft.com/office/drawing/2014/main" val="1213060286"/>
                    </a:ext>
                  </a:extLst>
                </a:gridCol>
                <a:gridCol w="3585089">
                  <a:extLst>
                    <a:ext uri="{9D8B030D-6E8A-4147-A177-3AD203B41FA5}">
                      <a16:colId xmlns:a16="http://schemas.microsoft.com/office/drawing/2014/main" val="1086162567"/>
                    </a:ext>
                  </a:extLst>
                </a:gridCol>
                <a:gridCol w="779228">
                  <a:extLst>
                    <a:ext uri="{9D8B030D-6E8A-4147-A177-3AD203B41FA5}">
                      <a16:colId xmlns:a16="http://schemas.microsoft.com/office/drawing/2014/main" val="2274282712"/>
                    </a:ext>
                  </a:extLst>
                </a:gridCol>
              </a:tblGrid>
              <a:tr h="213617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Entregable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Descripción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Impacto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13368"/>
                  </a:ext>
                </a:extLst>
              </a:tr>
              <a:tr h="776789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E-IN-01 </a:t>
                      </a:r>
                      <a:b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es-MX" sz="900" b="1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Playbook</a:t>
                      </a: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 </a:t>
                      </a:r>
                      <a:r>
                        <a:rPr lang="es-MX" sz="900" b="1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OnBoarding</a:t>
                      </a: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procesos de  Integración y </a:t>
                      </a:r>
                      <a:r>
                        <a:rPr lang="es-MX" sz="900" b="1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APIficación</a:t>
                      </a:r>
                      <a:endParaRPr lang="es-MX" sz="9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Playbook de onboarding al proceso de APIficación con pre requisitos, accesos requeridos, estándares y lineamientos a seguir incluyendo checklist de diseño de APIs (Paths, certificados, tokens, secrets, etc)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INT-02 INT-03</a:t>
                      </a:r>
                      <a:endParaRPr lang="es-MX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988908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E-IN-02</a:t>
                      </a:r>
                      <a:b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Plan de Reingeniería de Latencia Apolo</a:t>
                      </a:r>
                      <a:endParaRPr lang="es-MX" sz="9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Plan formal de atención, que asegure que los tiempos de respuesta son adecuados para mercado abierto de cada </a:t>
                      </a:r>
                      <a:r>
                        <a:rPr lang="es-MX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endpoint</a:t>
                      </a: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 Considerando los requerimientos NFT que se deben cumplir como condición para ir a Mercado Abierto.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ARQ-03 ARQ-09 INT-11</a:t>
                      </a:r>
                      <a:endParaRPr lang="es-MX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92522"/>
                  </a:ext>
                </a:extLst>
              </a:tr>
              <a:tr h="692637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E-IN-03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Plantilla para inventario de interfaces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Documento base y </a:t>
                      </a:r>
                      <a:r>
                        <a:rPr lang="es-MX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playbook</a:t>
                      </a: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de mantenimiento del inventario de interfaces (Apis, Batch, eventos, colas, etc.), que permita tener de manera centralizadas todas las interfaces por plataforma</a:t>
                      </a:r>
                    </a:p>
                    <a:p>
                      <a:pPr marL="171450" indent="-171450" algn="l" defTabSz="914400" rtl="0" eaLnBrk="1" latinLnBrk="0" hangingPunct="1"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Primera versión del inventario de interfaces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INT-01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INT-04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INT-10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3283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E-IN-04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Principios de desacople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Definición de los estándares y lineamientos a seguir para determinar los mecanismos de desacople a implementar.</a:t>
                      </a:r>
                      <a:endParaRPr kumimoji="0" lang="es-MX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+mj-lt"/>
                        </a:rPr>
                        <a:t>INT-06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40504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E-IN-05</a:t>
                      </a:r>
                      <a:b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Bases de la estrategia de </a:t>
                      </a:r>
                      <a:r>
                        <a:rPr lang="es-MX" sz="900" b="1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interoperabili</a:t>
                      </a: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-dad</a:t>
                      </a:r>
                      <a:endParaRPr lang="es-MX" sz="9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Evaluación de bloques que componen la estrategia de interoperabilidad en la arquitectura tecnológica futura: </a:t>
                      </a:r>
                      <a:r>
                        <a:rPr lang="es-MX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APIs</a:t>
                      </a: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datos (ETL/data </a:t>
                      </a:r>
                      <a:r>
                        <a:rPr lang="es-MX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hub</a:t>
                      </a: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), eventos (</a:t>
                      </a:r>
                      <a:r>
                        <a:rPr lang="es-MX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AsyncAPI</a:t>
                      </a: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), y </a:t>
                      </a:r>
                      <a:r>
                        <a:rPr lang="es-MX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observabilidad</a:t>
                      </a:r>
                      <a:endParaRPr lang="es-MX" sz="9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INT-01</a:t>
                      </a:r>
                      <a:endParaRPr lang="es-MX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17740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C401783-11A9-7237-54FE-31BD9C4A0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772258"/>
              </p:ext>
            </p:extLst>
          </p:nvPr>
        </p:nvGraphicFramePr>
        <p:xfrm>
          <a:off x="6376548" y="1227027"/>
          <a:ext cx="5486400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394">
                  <a:extLst>
                    <a:ext uri="{9D8B030D-6E8A-4147-A177-3AD203B41FA5}">
                      <a16:colId xmlns:a16="http://schemas.microsoft.com/office/drawing/2014/main" val="1213060286"/>
                    </a:ext>
                  </a:extLst>
                </a:gridCol>
                <a:gridCol w="3602778">
                  <a:extLst>
                    <a:ext uri="{9D8B030D-6E8A-4147-A177-3AD203B41FA5}">
                      <a16:colId xmlns:a16="http://schemas.microsoft.com/office/drawing/2014/main" val="1086162567"/>
                    </a:ext>
                  </a:extLst>
                </a:gridCol>
                <a:gridCol w="779228">
                  <a:extLst>
                    <a:ext uri="{9D8B030D-6E8A-4147-A177-3AD203B41FA5}">
                      <a16:colId xmlns:a16="http://schemas.microsoft.com/office/drawing/2014/main" val="2274282712"/>
                    </a:ext>
                  </a:extLst>
                </a:gridCol>
              </a:tblGrid>
              <a:tr h="245495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Entregable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Descripción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Impacto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13368"/>
                  </a:ext>
                </a:extLst>
              </a:tr>
              <a:tr h="643953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E-IN-06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Arquitectura de Integración ATLAS – SV/</a:t>
                      </a:r>
                      <a:r>
                        <a:rPr lang="es-MX" sz="900" b="1" err="1">
                          <a:solidFill>
                            <a:schemeClr val="tx1"/>
                          </a:solidFill>
                          <a:latin typeface="+mj-lt"/>
                        </a:rPr>
                        <a:t>Transact</a:t>
                      </a:r>
                      <a:endParaRPr lang="es-MX" sz="9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Documento de arquitectura de integración que describe la dependencia y mecanismos de integración  de ATLAS con </a:t>
                      </a:r>
                      <a:r>
                        <a:rPr kumimoji="0" lang="es-MX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SmartVista</a:t>
                      </a: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s-MX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Transact</a:t>
                      </a: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y canales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RAID que formalice los riesgos, supuestos, problemas y dependencia de ATLAS con fechas compromiso, criterios de salida y responsables</a:t>
                      </a:r>
                      <a:endParaRPr kumimoji="0" lang="es-MX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INT-09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88908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E-IN-07</a:t>
                      </a:r>
                      <a:b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Estrategia de interoperabili-dad</a:t>
                      </a:r>
                      <a:endParaRPr lang="es-MX" sz="9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Documento de estrategia que define el modelo de interoperabilidad completo: APIs, datos (ETL/data hub), eventos (AsyncAPI), observabilidad, orquestación de procesos y MDM cliente.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INT-01</a:t>
                      </a:r>
                      <a:endParaRPr lang="es-MX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126660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E-IN-08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Mantenimiento del  catálogo central de Interfaces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Actualización del inventario único de interfaces por iniciativa y por release, con source/target, frecuencia, patrón de integración, owner, estado y evidencia de pruebas, en un repositorio controlado y vinculado a SIT/UAT/NFT. </a:t>
                      </a:r>
                      <a:endParaRPr kumimoji="0" lang="es-MX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INT-01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INT-04 INT-05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INT-07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236094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E-IN-09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Inventario consolidado de APIs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Inventario por dominio, building block, API, source/target, release y criticidad de las APIs identificadas</a:t>
                      </a:r>
                      <a:endParaRPr kumimoji="0" lang="es-MX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INT-10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01421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E-IN-10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Plan unificado de integraciones Transact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s-MX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Plan unificado con fechas, dependencias y responsables de implementar las integración de Transact (canales, Golden Record, SV…).</a:t>
                      </a:r>
                      <a:endParaRPr kumimoji="0" lang="es-MX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INT-08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357220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A3A68D6D-B934-16C8-7373-36D53FC6A0E6}"/>
              </a:ext>
            </a:extLst>
          </p:cNvPr>
          <p:cNvSpPr/>
          <p:nvPr/>
        </p:nvSpPr>
        <p:spPr>
          <a:xfrm>
            <a:off x="245855" y="5399324"/>
            <a:ext cx="5875532" cy="13550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r>
              <a:rPr lang="es-MX" sz="800" b="1" u="sng">
                <a:solidFill>
                  <a:schemeClr val="tx1"/>
                </a:solidFill>
                <a:latin typeface="+mj-lt"/>
              </a:rPr>
              <a:t>Nota: Dependencias de Entregables</a:t>
            </a:r>
            <a:endParaRPr lang="es-MX" altLang="es-MX" sz="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  <a:latin typeface="+mj-lt"/>
              </a:rPr>
              <a:t>Disponibilidad de equipos de desarrollo, habilitadores,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Apigee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,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MuleSoft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 y arquitectura para definir estándares y lineamientos.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  <a:latin typeface="+mj-lt"/>
              </a:rPr>
              <a:t>Acceso a inventarios existentes de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APIs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,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batch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,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source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/target y flujos actuales de Apolo,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SmartVista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,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Transact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 y Legacy.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  <a:latin typeface="+mj-lt"/>
              </a:rPr>
              <a:t>Participación de lideres técnicos para validar dependencias de integración con ATLAS, canales y sistemas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legacy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  <a:latin typeface="+mj-lt"/>
              </a:rPr>
              <a:t>Disponibilidad de métricas reales de performance/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NFRs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 (latencia, TPS, disponibilidad) y resultados de pruebas actuales.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D38B2D-CEE5-6B7D-6279-7270F93405F6}"/>
              </a:ext>
            </a:extLst>
          </p:cNvPr>
          <p:cNvSpPr/>
          <p:nvPr/>
        </p:nvSpPr>
        <p:spPr>
          <a:xfrm>
            <a:off x="6293339" y="5399324"/>
            <a:ext cx="5617065" cy="119103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r>
              <a:rPr lang="es-MX" sz="800" b="1" u="sng">
                <a:solidFill>
                  <a:schemeClr val="tx1"/>
                </a:solidFill>
                <a:latin typeface="+mj-lt"/>
              </a:rPr>
              <a:t>Nota: Dependencias de Entregables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  <a:latin typeface="+mj-lt"/>
              </a:rPr>
              <a:t>Actualización continua del inventario de interfaces y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APIs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 por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release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,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owner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 y estado de pruebas.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  <a:latin typeface="+mj-lt"/>
              </a:rPr>
              <a:t>Validación de mecanismos de interoperabilidad entre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APIs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,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ETLs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, eventos, MDM y procesos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batch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  <a:latin typeface="+mj-lt"/>
              </a:rPr>
              <a:t>Participación activa de equipos de arquitectura, habilitadores y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streams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 en sesiones de definición y gobierno de integraciones.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  <a:latin typeface="+mj-lt"/>
              </a:rPr>
              <a:t>Acceso a repositorios y documentación actualizada de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APIs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, contratos, diagramas y patrones de integración.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  <a:latin typeface="+mj-lt"/>
              </a:rPr>
              <a:t>Notificación oportuna de cambios en diseño, desacople y dependencias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cross-stream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 que impacten interfaces o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releases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. 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8290E54-0F66-520B-7C96-D831D8076DBB}"/>
              </a:ext>
            </a:extLst>
          </p:cNvPr>
          <p:cNvSpPr/>
          <p:nvPr/>
        </p:nvSpPr>
        <p:spPr>
          <a:xfrm>
            <a:off x="376522" y="197535"/>
            <a:ext cx="457200" cy="4572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/>
          <a:lstStyle/>
          <a:p>
            <a:pPr algn="ctr"/>
            <a:r>
              <a:rPr lang="es-MX" sz="2000" b="1"/>
              <a:t>3.2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ED056470-94E4-D9E9-2469-805800C22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rgbClr val="0041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s-MX" smtClean="0"/>
              <a:pPr/>
              <a:t>11</a:t>
            </a:fld>
            <a:endParaRPr lang="es-MX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B1589E-6B8B-1C3E-AEEF-D86E4969CBAF}"/>
              </a:ext>
            </a:extLst>
          </p:cNvPr>
          <p:cNvSpPr/>
          <p:nvPr/>
        </p:nvSpPr>
        <p:spPr>
          <a:xfrm>
            <a:off x="6329076" y="3051426"/>
            <a:ext cx="5617065" cy="2283474"/>
          </a:xfrm>
          <a:prstGeom prst="rect">
            <a:avLst/>
          </a:prstGeom>
          <a:solidFill>
            <a:srgbClr val="FFFFFF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595D8C-64BB-5E7A-6445-1DDC4F138D69}"/>
              </a:ext>
            </a:extLst>
          </p:cNvPr>
          <p:cNvSpPr/>
          <p:nvPr/>
        </p:nvSpPr>
        <p:spPr>
          <a:xfrm>
            <a:off x="245855" y="1233570"/>
            <a:ext cx="108000" cy="252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84A763-C27B-C534-86C4-2DCA73965D9C}"/>
              </a:ext>
            </a:extLst>
          </p:cNvPr>
          <p:cNvSpPr/>
          <p:nvPr/>
        </p:nvSpPr>
        <p:spPr>
          <a:xfrm>
            <a:off x="6258274" y="1223520"/>
            <a:ext cx="108000" cy="25200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B038E5-6D74-CCD3-AB8E-C2F7DDD25A9F}"/>
              </a:ext>
            </a:extLst>
          </p:cNvPr>
          <p:cNvSpPr/>
          <p:nvPr/>
        </p:nvSpPr>
        <p:spPr>
          <a:xfrm>
            <a:off x="245855" y="1504726"/>
            <a:ext cx="108000" cy="864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551E0F-C6BF-3E6F-9CBD-B64CF8571013}"/>
              </a:ext>
            </a:extLst>
          </p:cNvPr>
          <p:cNvSpPr/>
          <p:nvPr/>
        </p:nvSpPr>
        <p:spPr>
          <a:xfrm>
            <a:off x="6258274" y="1487792"/>
            <a:ext cx="108000" cy="90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DEEF28-55F3-EDAC-38C6-933AFA383446}"/>
              </a:ext>
            </a:extLst>
          </p:cNvPr>
          <p:cNvSpPr/>
          <p:nvPr/>
        </p:nvSpPr>
        <p:spPr>
          <a:xfrm>
            <a:off x="245855" y="2441726"/>
            <a:ext cx="108000" cy="6840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D985B3-6853-F430-B7B9-753EE1567B63}"/>
              </a:ext>
            </a:extLst>
          </p:cNvPr>
          <p:cNvSpPr/>
          <p:nvPr/>
        </p:nvSpPr>
        <p:spPr>
          <a:xfrm>
            <a:off x="245855" y="3198726"/>
            <a:ext cx="108000" cy="684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F8A915-D157-1D71-817C-0FF27CE90BCA}"/>
              </a:ext>
            </a:extLst>
          </p:cNvPr>
          <p:cNvSpPr/>
          <p:nvPr/>
        </p:nvSpPr>
        <p:spPr>
          <a:xfrm>
            <a:off x="245855" y="3937438"/>
            <a:ext cx="108000" cy="46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AC53347-954E-9963-F81F-14EC47DC942B}"/>
              </a:ext>
            </a:extLst>
          </p:cNvPr>
          <p:cNvSpPr/>
          <p:nvPr/>
        </p:nvSpPr>
        <p:spPr>
          <a:xfrm>
            <a:off x="6258274" y="2457065"/>
            <a:ext cx="108000" cy="5943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B646BCB-5D96-5249-2BB2-AA745219E0EF}"/>
              </a:ext>
            </a:extLst>
          </p:cNvPr>
          <p:cNvSpPr/>
          <p:nvPr/>
        </p:nvSpPr>
        <p:spPr>
          <a:xfrm>
            <a:off x="6248006" y="3103216"/>
            <a:ext cx="128536" cy="7200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0979688-AFEB-83E5-5BB8-10A57CA060C2}"/>
              </a:ext>
            </a:extLst>
          </p:cNvPr>
          <p:cNvSpPr/>
          <p:nvPr/>
        </p:nvSpPr>
        <p:spPr>
          <a:xfrm>
            <a:off x="6248006" y="3884538"/>
            <a:ext cx="128536" cy="56692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D0F7624-0D24-CD00-B452-A783AAD73E0B}"/>
              </a:ext>
            </a:extLst>
          </p:cNvPr>
          <p:cNvSpPr/>
          <p:nvPr/>
        </p:nvSpPr>
        <p:spPr>
          <a:xfrm>
            <a:off x="6248006" y="4526055"/>
            <a:ext cx="128536" cy="7200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55B5B1-22EC-72D0-A443-208694912289}"/>
              </a:ext>
            </a:extLst>
          </p:cNvPr>
          <p:cNvSpPr/>
          <p:nvPr/>
        </p:nvSpPr>
        <p:spPr>
          <a:xfrm>
            <a:off x="245855" y="4461316"/>
            <a:ext cx="108000" cy="725086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A55EE7B-E9E9-F73F-3974-367F83261918}"/>
              </a:ext>
            </a:extLst>
          </p:cNvPr>
          <p:cNvSpPr/>
          <p:nvPr/>
        </p:nvSpPr>
        <p:spPr>
          <a:xfrm>
            <a:off x="401327" y="2472189"/>
            <a:ext cx="5617065" cy="621987"/>
          </a:xfrm>
          <a:prstGeom prst="rect">
            <a:avLst/>
          </a:prstGeom>
          <a:solidFill>
            <a:srgbClr val="FFFFFF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424A361-70CE-B165-0BA5-4BDDD6D686C5}"/>
              </a:ext>
            </a:extLst>
          </p:cNvPr>
          <p:cNvGrpSpPr/>
          <p:nvPr/>
        </p:nvGrpSpPr>
        <p:grpSpPr>
          <a:xfrm>
            <a:off x="8314538" y="215815"/>
            <a:ext cx="3084023" cy="790044"/>
            <a:chOff x="8739631" y="215815"/>
            <a:chExt cx="3084023" cy="790044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1BEC8ED5-6A32-2F52-B686-E54D612E8A01}"/>
                </a:ext>
              </a:extLst>
            </p:cNvPr>
            <p:cNvSpPr/>
            <p:nvPr/>
          </p:nvSpPr>
          <p:spPr>
            <a:xfrm flipV="1">
              <a:off x="8739631" y="230142"/>
              <a:ext cx="250813" cy="140819"/>
            </a:xfrm>
            <a:prstGeom prst="roundRect">
              <a:avLst/>
            </a:prstGeom>
            <a:solidFill>
              <a:srgbClr val="2E9E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EE8629BE-2B31-5B6F-F711-B130AC4B6767}"/>
                </a:ext>
              </a:extLst>
            </p:cNvPr>
            <p:cNvSpPr/>
            <p:nvPr/>
          </p:nvSpPr>
          <p:spPr>
            <a:xfrm flipV="1">
              <a:off x="8739631" y="441775"/>
              <a:ext cx="250813" cy="14081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 err="1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3AEC967-E234-9C6E-1301-3D0B38777B86}"/>
                </a:ext>
              </a:extLst>
            </p:cNvPr>
            <p:cNvSpPr txBox="1"/>
            <p:nvPr/>
          </p:nvSpPr>
          <p:spPr>
            <a:xfrm>
              <a:off x="9072636" y="640625"/>
              <a:ext cx="2256862" cy="1576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err="1"/>
                <a:t>Artefacto</a:t>
              </a:r>
              <a:r>
                <a:rPr lang="en-CA" sz="1000"/>
                <a:t> vivo de </a:t>
              </a:r>
              <a:r>
                <a:rPr lang="en-CA" sz="1000" err="1"/>
                <a:t>ejecución</a:t>
              </a:r>
              <a:endParaRPr lang="en-CA" sz="1000" noProof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BC2AED-CFDC-5B61-2819-4FB2419663F4}"/>
                </a:ext>
              </a:extLst>
            </p:cNvPr>
            <p:cNvSpPr txBox="1"/>
            <p:nvPr/>
          </p:nvSpPr>
          <p:spPr>
            <a:xfrm>
              <a:off x="9072635" y="428220"/>
              <a:ext cx="2517282" cy="1437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 err="1"/>
                <a:t>Reingeniería</a:t>
              </a:r>
              <a:r>
                <a:rPr lang="en-CA" sz="1000" noProof="0"/>
                <a:t> y Entrega Fase B (2026)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21EE8F4C-DE90-2294-9151-693B903F87B5}"/>
                </a:ext>
              </a:extLst>
            </p:cNvPr>
            <p:cNvSpPr/>
            <p:nvPr/>
          </p:nvSpPr>
          <p:spPr>
            <a:xfrm flipV="1">
              <a:off x="8739631" y="653408"/>
              <a:ext cx="250813" cy="140819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4B61B6D-26B6-04AB-E934-1577BA444A1F}"/>
                </a:ext>
              </a:extLst>
            </p:cNvPr>
            <p:cNvSpPr txBox="1"/>
            <p:nvPr/>
          </p:nvSpPr>
          <p:spPr>
            <a:xfrm>
              <a:off x="9072636" y="215815"/>
              <a:ext cx="2751018" cy="1408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 err="1"/>
                <a:t>Reingeniería</a:t>
              </a:r>
              <a:r>
                <a:rPr lang="en-CA" sz="1000" noProof="0"/>
                <a:t> </a:t>
              </a:r>
              <a:r>
                <a:rPr lang="en-CA" sz="1000"/>
                <a:t>y Entrega </a:t>
              </a:r>
              <a:r>
                <a:rPr lang="en-CA" sz="1000" noProof="0"/>
                <a:t>Fase A (~10 </a:t>
              </a:r>
              <a:r>
                <a:rPr lang="en-CA" sz="1000" noProof="0" err="1"/>
                <a:t>sem</a:t>
              </a:r>
              <a:r>
                <a:rPr lang="en-CA" sz="1000" noProof="0"/>
                <a:t>)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AD4F33E-9922-1F1C-CB64-1BF3BF39EFD6}"/>
                </a:ext>
              </a:extLst>
            </p:cNvPr>
            <p:cNvSpPr/>
            <p:nvPr/>
          </p:nvSpPr>
          <p:spPr>
            <a:xfrm flipV="1">
              <a:off x="8739631" y="865040"/>
              <a:ext cx="250813" cy="14081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 err="1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38D4CFB-8EBC-EFD6-4D98-9484026B3255}"/>
                </a:ext>
              </a:extLst>
            </p:cNvPr>
            <p:cNvSpPr txBox="1"/>
            <p:nvPr/>
          </p:nvSpPr>
          <p:spPr>
            <a:xfrm>
              <a:off x="9072635" y="853029"/>
              <a:ext cx="2017427" cy="1408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/>
                <a:t>Fuera de </a:t>
              </a:r>
              <a:r>
                <a:rPr lang="en-CA" sz="1000" noProof="0" err="1"/>
                <a:t>alcance</a:t>
              </a:r>
              <a:endParaRPr lang="en-CA" sz="10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945990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EBEB-39F2-9A5E-EFE1-201E16406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C6AFD967-47A4-7141-3F1D-09189128FFB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AFD967-47A4-7141-3F1D-09189128FF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732D3206-29A2-E797-0AFF-EAD6A5C795DE}"/>
              </a:ext>
            </a:extLst>
          </p:cNvPr>
          <p:cNvSpPr txBox="1">
            <a:spLocks/>
          </p:cNvSpPr>
          <p:nvPr/>
        </p:nvSpPr>
        <p:spPr>
          <a:xfrm>
            <a:off x="861198" y="245794"/>
            <a:ext cx="11143252" cy="954708"/>
          </a:xfrm>
        </p:spPr>
        <p:txBody>
          <a:bodyPr vert="horz" rIns="9144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/>
              <a:t>Entregables | </a:t>
            </a:r>
            <a:r>
              <a:rPr lang="es-MX" sz="2800" b="0"/>
              <a:t>Plan de Migración E2E</a:t>
            </a:r>
            <a:endParaRPr lang="es-MX" sz="2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CB8E07-1C25-676F-1233-E661413FA768}"/>
              </a:ext>
            </a:extLst>
          </p:cNvPr>
          <p:cNvCxnSpPr/>
          <p:nvPr/>
        </p:nvCxnSpPr>
        <p:spPr>
          <a:xfrm>
            <a:off x="6157135" y="1200502"/>
            <a:ext cx="0" cy="51113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2A33259-B6C2-37A1-5702-CFACE40A4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36218"/>
              </p:ext>
            </p:extLst>
          </p:nvPr>
        </p:nvGraphicFramePr>
        <p:xfrm>
          <a:off x="363997" y="1227027"/>
          <a:ext cx="5486400" cy="3089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394">
                  <a:extLst>
                    <a:ext uri="{9D8B030D-6E8A-4147-A177-3AD203B41FA5}">
                      <a16:colId xmlns:a16="http://schemas.microsoft.com/office/drawing/2014/main" val="1213060286"/>
                    </a:ext>
                  </a:extLst>
                </a:gridCol>
                <a:gridCol w="3602778">
                  <a:extLst>
                    <a:ext uri="{9D8B030D-6E8A-4147-A177-3AD203B41FA5}">
                      <a16:colId xmlns:a16="http://schemas.microsoft.com/office/drawing/2014/main" val="1086162567"/>
                    </a:ext>
                  </a:extLst>
                </a:gridCol>
                <a:gridCol w="779228">
                  <a:extLst>
                    <a:ext uri="{9D8B030D-6E8A-4147-A177-3AD203B41FA5}">
                      <a16:colId xmlns:a16="http://schemas.microsoft.com/office/drawing/2014/main" val="2274282712"/>
                    </a:ext>
                  </a:extLst>
                </a:gridCol>
              </a:tblGrid>
              <a:tr h="245495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Entregable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Descripción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Impacto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13368"/>
                  </a:ext>
                </a:extLst>
              </a:tr>
              <a:tr h="643953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E-MG-01 </a:t>
                      </a:r>
                      <a:b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Marco Metodológico de Dry Runs</a:t>
                      </a:r>
                      <a:endParaRPr lang="es-MX" sz="9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Marco metodológico para la ejecución de Dry Runs iterativos con criterios de éxito, lineamientos de reconciliación y requerimientos del entorno dedicado.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MIG-03 MIG-04</a:t>
                      </a:r>
                      <a:endParaRPr lang="es-MX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88908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E-MG-02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 err="1">
                          <a:solidFill>
                            <a:schemeClr val="tx1"/>
                          </a:solidFill>
                          <a:latin typeface="+mj-lt"/>
                        </a:rPr>
                        <a:t>Mapping</a:t>
                      </a: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 Regulatorio ID Producto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 err="1"/>
                        <a:t>Checklist</a:t>
                      </a:r>
                      <a:r>
                        <a:rPr lang="es-MX" sz="900"/>
                        <a:t> de control para asegurar resultados del </a:t>
                      </a:r>
                      <a:r>
                        <a:rPr lang="es-MX" sz="900" err="1"/>
                        <a:t>assessment</a:t>
                      </a:r>
                      <a:r>
                        <a:rPr lang="es-MX" sz="900"/>
                        <a:t> regulatorio del cambio de ID 6001→4900, que incluye: </a:t>
                      </a:r>
                      <a:r>
                        <a:rPr lang="es-MX" sz="900" err="1"/>
                        <a:t>mapping</a:t>
                      </a:r>
                      <a:r>
                        <a:rPr lang="es-MX" sz="900"/>
                        <a:t> dual de convivencia, reportes regulatorios impactados y lineamientos de coordinación con Banxico/CNBV.</a:t>
                      </a:r>
                      <a:endParaRPr lang="es-MX" sz="900" kern="1200" noProof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MIG-09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236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E-MG-03</a:t>
                      </a:r>
                      <a:b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es-MX" sz="900" b="1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Decision</a:t>
                      </a: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s-MX" sz="900" b="1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Paper</a:t>
                      </a: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Préstamo Simple</a:t>
                      </a:r>
                      <a:endParaRPr lang="es-MX" sz="9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Decision paper para determiner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si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se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hace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un F&amp;F o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una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migración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del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producto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Prestamo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Simple,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siguiendo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criterios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de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negocio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operación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datos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riesgos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y </a:t>
                      </a:r>
                      <a:r>
                        <a:rPr lang="en-US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fechas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MIG-07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MX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01421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E-MG-04 </a:t>
                      </a:r>
                      <a:b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Marco metodológico de estrategia de migración E2E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Documento que define el marco metodológico para que BanCoppel defina la estrategia de migración E2E.</a:t>
                      </a:r>
                      <a:endParaRPr lang="es-MX" sz="9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 kern="1200">
                          <a:solidFill>
                            <a:schemeClr val="tx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MIG-01 MIG-02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MX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484729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869F407E-0DC3-3318-C3C4-5C869E3A0022}"/>
              </a:ext>
            </a:extLst>
          </p:cNvPr>
          <p:cNvSpPr/>
          <p:nvPr/>
        </p:nvSpPr>
        <p:spPr>
          <a:xfrm>
            <a:off x="298607" y="5253614"/>
            <a:ext cx="5486389" cy="110304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r>
              <a:rPr lang="es-MX" sz="800" b="1" u="sng">
                <a:solidFill>
                  <a:schemeClr val="tx1"/>
                </a:solidFill>
              </a:rPr>
              <a:t>Nota: Dependencias de Entregables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Disponibilidad de ambientes ETL E2E dedicados para </a:t>
            </a:r>
            <a:r>
              <a:rPr lang="es-MX" altLang="es-MX" sz="800" err="1">
                <a:solidFill>
                  <a:schemeClr val="tx1"/>
                </a:solidFill>
              </a:rPr>
              <a:t>dry</a:t>
            </a:r>
            <a:r>
              <a:rPr lang="es-MX" altLang="es-MX" sz="800">
                <a:solidFill>
                  <a:schemeClr val="tx1"/>
                </a:solidFill>
              </a:rPr>
              <a:t> </a:t>
            </a:r>
            <a:r>
              <a:rPr lang="es-MX" altLang="es-MX" sz="800" err="1">
                <a:solidFill>
                  <a:schemeClr val="tx1"/>
                </a:solidFill>
              </a:rPr>
              <a:t>runs</a:t>
            </a:r>
            <a:r>
              <a:rPr lang="es-MX" altLang="es-MX" sz="800">
                <a:solidFill>
                  <a:schemeClr val="tx1"/>
                </a:solidFill>
              </a:rPr>
              <a:t> y </a:t>
            </a:r>
            <a:r>
              <a:rPr lang="es-MX" altLang="es-MX" sz="800" err="1">
                <a:solidFill>
                  <a:schemeClr val="tx1"/>
                </a:solidFill>
              </a:rPr>
              <a:t>mocks</a:t>
            </a:r>
            <a:r>
              <a:rPr lang="es-MX" altLang="es-MX" sz="800">
                <a:solidFill>
                  <a:schemeClr val="tx1"/>
                </a:solidFill>
              </a:rPr>
              <a:t> construidos.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Definición de </a:t>
            </a:r>
            <a:r>
              <a:rPr lang="es-MX" altLang="es-MX" sz="800" err="1">
                <a:solidFill>
                  <a:schemeClr val="tx1"/>
                </a:solidFill>
              </a:rPr>
              <a:t>source</a:t>
            </a:r>
            <a:r>
              <a:rPr lang="es-MX" altLang="es-MX" sz="800">
                <a:solidFill>
                  <a:schemeClr val="tx1"/>
                </a:solidFill>
              </a:rPr>
              <a:t>/target, reglas de negocio y criterios de reconciliación funcional/contable.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sz="800">
                <a:solidFill>
                  <a:schemeClr val="tx1"/>
                </a:solidFill>
              </a:rPr>
              <a:t>Disponibilidad de negocio, migración, </a:t>
            </a:r>
            <a:r>
              <a:rPr lang="es-MX" sz="800" err="1">
                <a:solidFill>
                  <a:schemeClr val="tx1"/>
                </a:solidFill>
              </a:rPr>
              <a:t>testing</a:t>
            </a:r>
            <a:r>
              <a:rPr lang="es-MX" sz="800">
                <a:solidFill>
                  <a:schemeClr val="tx1"/>
                </a:solidFill>
              </a:rPr>
              <a:t> y operación para sesiones de validación de criterios.</a:t>
            </a:r>
            <a:r>
              <a:rPr lang="es-MX" altLang="es-MX" sz="800">
                <a:solidFill>
                  <a:schemeClr val="tx1"/>
                </a:solidFill>
              </a:rPr>
              <a:t> 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Disponibilidad de información regulatoria y coordinación con Banxico/CNBV para cambios de </a:t>
            </a:r>
            <a:r>
              <a:rPr lang="es-MX" altLang="es-MX" sz="800" err="1">
                <a:solidFill>
                  <a:schemeClr val="tx1"/>
                </a:solidFill>
              </a:rPr>
              <a:t>IDs</a:t>
            </a:r>
            <a:r>
              <a:rPr lang="es-MX" altLang="es-MX" sz="800">
                <a:solidFill>
                  <a:schemeClr val="tx1"/>
                </a:solidFill>
              </a:rPr>
              <a:t>/productos.</a:t>
            </a: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sz="800" err="1">
                <a:solidFill>
                  <a:schemeClr val="tx1"/>
                </a:solidFill>
              </a:rPr>
              <a:t>Preautorizador</a:t>
            </a:r>
            <a:r>
              <a:rPr lang="es-MX" sz="800">
                <a:solidFill>
                  <a:schemeClr val="tx1"/>
                </a:solidFill>
              </a:rPr>
              <a:t> </a:t>
            </a:r>
            <a:r>
              <a:rPr lang="es-MX" sz="800" err="1">
                <a:solidFill>
                  <a:schemeClr val="tx1"/>
                </a:solidFill>
              </a:rPr>
              <a:t>SmartVista</a:t>
            </a:r>
            <a:r>
              <a:rPr lang="es-MX" sz="800">
                <a:solidFill>
                  <a:schemeClr val="tx1"/>
                </a:solidFill>
              </a:rPr>
              <a:t> habilitado y estabilizado.</a:t>
            </a:r>
            <a:endParaRPr lang="es-MX" altLang="es-MX" sz="800">
              <a:solidFill>
                <a:schemeClr val="tx1"/>
              </a:solidFill>
            </a:endParaRP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sz="800">
                <a:solidFill>
                  <a:schemeClr val="tx1"/>
                </a:solidFill>
              </a:rPr>
              <a:t>Separación formal entre ambiente de </a:t>
            </a:r>
            <a:r>
              <a:rPr lang="es-MX" sz="800" err="1">
                <a:solidFill>
                  <a:schemeClr val="tx1"/>
                </a:solidFill>
              </a:rPr>
              <a:t>mocks</a:t>
            </a:r>
            <a:r>
              <a:rPr lang="es-MX" sz="800">
                <a:solidFill>
                  <a:schemeClr val="tx1"/>
                </a:solidFill>
              </a:rPr>
              <a:t> migratorios y ambiente homologado de pruebas funcionales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800" b="1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5F9CE0-6624-E6EC-BE83-2ED20B74C797}"/>
              </a:ext>
            </a:extLst>
          </p:cNvPr>
          <p:cNvSpPr/>
          <p:nvPr/>
        </p:nvSpPr>
        <p:spPr>
          <a:xfrm>
            <a:off x="6376548" y="5253614"/>
            <a:ext cx="5486389" cy="110304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r>
              <a:rPr lang="es-MX" sz="800" b="1" u="sng">
                <a:solidFill>
                  <a:schemeClr val="tx1"/>
                </a:solidFill>
              </a:rPr>
              <a:t>Nota: Dependencias de Entregables</a:t>
            </a:r>
            <a:endParaRPr lang="es-MX" altLang="es-MX" sz="800">
              <a:solidFill>
                <a:schemeClr val="tx1"/>
              </a:solidFill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sz="800">
                <a:solidFill>
                  <a:schemeClr val="tx1"/>
                </a:solidFill>
              </a:rPr>
              <a:t>Conformación del equipo transversal de migración con roles dedicados (PM, ETL, datos y operaciones),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Confirmación continua del </a:t>
            </a:r>
            <a:r>
              <a:rPr lang="es-MX" altLang="es-MX" sz="800" err="1">
                <a:solidFill>
                  <a:schemeClr val="tx1"/>
                </a:solidFill>
              </a:rPr>
              <a:t>roadmap</a:t>
            </a:r>
            <a:r>
              <a:rPr lang="es-MX" altLang="es-MX" sz="800">
                <a:solidFill>
                  <a:schemeClr val="tx1"/>
                </a:solidFill>
              </a:rPr>
              <a:t> de migración, </a:t>
            </a:r>
            <a:r>
              <a:rPr lang="es-MX" altLang="es-MX" sz="800" err="1">
                <a:solidFill>
                  <a:schemeClr val="tx1"/>
                </a:solidFill>
              </a:rPr>
              <a:t>releases</a:t>
            </a:r>
            <a:r>
              <a:rPr lang="es-MX" altLang="es-MX" sz="800">
                <a:solidFill>
                  <a:schemeClr val="tx1"/>
                </a:solidFill>
              </a:rPr>
              <a:t> y dependencias </a:t>
            </a:r>
            <a:r>
              <a:rPr lang="es-MX" altLang="es-MX" sz="800" err="1">
                <a:solidFill>
                  <a:schemeClr val="tx1"/>
                </a:solidFill>
              </a:rPr>
              <a:t>cross-stream</a:t>
            </a:r>
            <a:r>
              <a:rPr lang="es-MX" altLang="es-MX" sz="800">
                <a:solidFill>
                  <a:schemeClr val="tx1"/>
                </a:solidFill>
              </a:rPr>
              <a:t>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Alineación continua con </a:t>
            </a:r>
            <a:r>
              <a:rPr lang="es-MX" altLang="es-MX" sz="800" err="1">
                <a:solidFill>
                  <a:schemeClr val="tx1"/>
                </a:solidFill>
              </a:rPr>
              <a:t>testing</a:t>
            </a:r>
            <a:r>
              <a:rPr lang="es-MX" altLang="es-MX" sz="800">
                <a:solidFill>
                  <a:schemeClr val="tx1"/>
                </a:solidFill>
              </a:rPr>
              <a:t>, arquitectura, ATLAS y </a:t>
            </a:r>
            <a:r>
              <a:rPr lang="es-MX" altLang="es-MX" sz="800" err="1">
                <a:solidFill>
                  <a:schemeClr val="tx1"/>
                </a:solidFill>
              </a:rPr>
              <a:t>readiness</a:t>
            </a:r>
            <a:r>
              <a:rPr lang="es-MX" altLang="es-MX" sz="800">
                <a:solidFill>
                  <a:schemeClr val="tx1"/>
                </a:solidFill>
              </a:rPr>
              <a:t> operativo para ejecución E2E.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Actualización periódica de riesgos, </a:t>
            </a:r>
            <a:r>
              <a:rPr lang="es-MX" altLang="es-MX" sz="800" err="1">
                <a:solidFill>
                  <a:schemeClr val="tx1"/>
                </a:solidFill>
              </a:rPr>
              <a:t>assumptions</a:t>
            </a:r>
            <a:r>
              <a:rPr lang="es-MX" altLang="es-MX" sz="800">
                <a:solidFill>
                  <a:schemeClr val="tx1"/>
                </a:solidFill>
              </a:rPr>
              <a:t> y dependencias de migración dentro del gobierno del programa.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AA5E3E-C5E5-C8C0-C6F1-4289B3B6B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938900"/>
              </p:ext>
            </p:extLst>
          </p:nvPr>
        </p:nvGraphicFramePr>
        <p:xfrm>
          <a:off x="6376548" y="1227027"/>
          <a:ext cx="5486400" cy="258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394">
                  <a:extLst>
                    <a:ext uri="{9D8B030D-6E8A-4147-A177-3AD203B41FA5}">
                      <a16:colId xmlns:a16="http://schemas.microsoft.com/office/drawing/2014/main" val="1213060286"/>
                    </a:ext>
                  </a:extLst>
                </a:gridCol>
                <a:gridCol w="3602778">
                  <a:extLst>
                    <a:ext uri="{9D8B030D-6E8A-4147-A177-3AD203B41FA5}">
                      <a16:colId xmlns:a16="http://schemas.microsoft.com/office/drawing/2014/main" val="1086162567"/>
                    </a:ext>
                  </a:extLst>
                </a:gridCol>
                <a:gridCol w="779228">
                  <a:extLst>
                    <a:ext uri="{9D8B030D-6E8A-4147-A177-3AD203B41FA5}">
                      <a16:colId xmlns:a16="http://schemas.microsoft.com/office/drawing/2014/main" val="2274282712"/>
                    </a:ext>
                  </a:extLst>
                </a:gridCol>
              </a:tblGrid>
              <a:tr h="245495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Entregable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Descripción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Impacto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13368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E-MG-05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Revisión de Plan de migración TDC Clásica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(PISA </a:t>
                      </a: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SV)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Revisión y validación del plan de migración de cartera TDC Clásica construido por los equipos de BanCoppel, con recomendaciones de buenas prácticas y gaps identificados.</a:t>
                      </a:r>
                      <a:endParaRPr kumimoji="0" lang="es-MX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Graphik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MIG-05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MIG-06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171323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E-MG-06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Revisión Plan Migración Préstamo Simple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Documento de revisión y validación del plan de migración de Préstamo Simple construido por los equipos de BanCoppel, si E-MG-03 resulta en migración. </a:t>
                      </a:r>
                      <a:endParaRPr lang="en-US" sz="9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900" b="0" kern="120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MIG-07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900" b="0" i="1" kern="120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(si hay migración)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40142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>
                          <a:solidFill>
                            <a:srgbClr val="1C1C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E-MG-08</a:t>
                      </a:r>
                      <a:endParaRPr lang="en-US" sz="900" b="0">
                        <a:latin typeface="+mj-lt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C1C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Data Quality + </a:t>
                      </a:r>
                      <a:r>
                        <a:rPr lang="en-US" sz="900" b="1" err="1">
                          <a:solidFill>
                            <a:srgbClr val="1C1C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Aceleradores</a:t>
                      </a:r>
                      <a:r>
                        <a:rPr lang="en-US" sz="900" b="1">
                          <a:solidFill>
                            <a:srgbClr val="1C1C3A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 ETL</a:t>
                      </a:r>
                      <a:endParaRPr lang="en-US" sz="900" b="1">
                        <a:latin typeface="+mj-lt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Documento con recomendaciones y buenas prácticas sobre calidad de datos y estrategia de aceleradores ETL, para revisión y adopción por los equipos correspondientes de BanCoppel.</a:t>
                      </a:r>
                      <a:endParaRPr lang="en-US" sz="9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MIG-10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746802"/>
                  </a:ext>
                </a:extLst>
              </a:tr>
            </a:tbl>
          </a:graphicData>
        </a:graphic>
      </p:graphicFrame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AF78913-8175-FFC8-E0AF-73C7F9E9B817}"/>
              </a:ext>
            </a:extLst>
          </p:cNvPr>
          <p:cNvSpPr/>
          <p:nvPr/>
        </p:nvSpPr>
        <p:spPr>
          <a:xfrm>
            <a:off x="376522" y="197535"/>
            <a:ext cx="457200" cy="4572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/>
          <a:lstStyle/>
          <a:p>
            <a:pPr algn="ctr"/>
            <a:r>
              <a:rPr lang="es-MX" sz="2000" b="1"/>
              <a:t>3.3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2C930024-8FE9-40D5-8E3E-049EB0CF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rgbClr val="0041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s-MX" smtClean="0"/>
              <a:pPr/>
              <a:t>12</a:t>
            </a:fld>
            <a:endParaRPr lang="es-MX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F6DEF5-CE76-378F-F335-A98E162EDDD7}"/>
              </a:ext>
            </a:extLst>
          </p:cNvPr>
          <p:cNvSpPr/>
          <p:nvPr/>
        </p:nvSpPr>
        <p:spPr>
          <a:xfrm>
            <a:off x="381880" y="2146830"/>
            <a:ext cx="5539265" cy="1387526"/>
          </a:xfrm>
          <a:prstGeom prst="rect">
            <a:avLst/>
          </a:prstGeom>
          <a:solidFill>
            <a:srgbClr val="FFFFFF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0F4A5D-99D5-17BA-9462-527271D885D6}"/>
              </a:ext>
            </a:extLst>
          </p:cNvPr>
          <p:cNvSpPr/>
          <p:nvPr/>
        </p:nvSpPr>
        <p:spPr>
          <a:xfrm>
            <a:off x="245855" y="1233570"/>
            <a:ext cx="108000" cy="252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AB2F5E-8B61-E63C-D875-982F65BCE468}"/>
              </a:ext>
            </a:extLst>
          </p:cNvPr>
          <p:cNvSpPr/>
          <p:nvPr/>
        </p:nvSpPr>
        <p:spPr>
          <a:xfrm>
            <a:off x="6258274" y="1223520"/>
            <a:ext cx="108000" cy="25200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C84BF5-9BEB-0377-8C0F-613F2C855AAC}"/>
              </a:ext>
            </a:extLst>
          </p:cNvPr>
          <p:cNvSpPr/>
          <p:nvPr/>
        </p:nvSpPr>
        <p:spPr>
          <a:xfrm>
            <a:off x="245855" y="1504726"/>
            <a:ext cx="108000" cy="584424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0B16281-3C3F-91B1-A8C1-F6DF42E24ED3}"/>
              </a:ext>
            </a:extLst>
          </p:cNvPr>
          <p:cNvSpPr/>
          <p:nvPr/>
        </p:nvSpPr>
        <p:spPr>
          <a:xfrm>
            <a:off x="245855" y="2146831"/>
            <a:ext cx="108000" cy="71066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30C238-D249-9FA1-44B2-3AADE9AD4184}"/>
              </a:ext>
            </a:extLst>
          </p:cNvPr>
          <p:cNvSpPr/>
          <p:nvPr/>
        </p:nvSpPr>
        <p:spPr>
          <a:xfrm>
            <a:off x="245855" y="2946286"/>
            <a:ext cx="108000" cy="55891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DBBD5E5-09A4-9CB6-D623-87F8F32E4D11}"/>
              </a:ext>
            </a:extLst>
          </p:cNvPr>
          <p:cNvSpPr/>
          <p:nvPr/>
        </p:nvSpPr>
        <p:spPr>
          <a:xfrm>
            <a:off x="245855" y="3557887"/>
            <a:ext cx="108000" cy="73152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AF6D410-9D6E-42FE-B773-123B7D16955C}"/>
              </a:ext>
            </a:extLst>
          </p:cNvPr>
          <p:cNvSpPr/>
          <p:nvPr/>
        </p:nvSpPr>
        <p:spPr>
          <a:xfrm>
            <a:off x="6255167" y="2416931"/>
            <a:ext cx="108000" cy="72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B00582C-572F-5BEB-4CCE-318567B7E16B}"/>
              </a:ext>
            </a:extLst>
          </p:cNvPr>
          <p:cNvSpPr/>
          <p:nvPr/>
        </p:nvSpPr>
        <p:spPr>
          <a:xfrm>
            <a:off x="6255167" y="3198207"/>
            <a:ext cx="108000" cy="612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624DBB-4822-AA92-CC58-62B9E60677A8}"/>
              </a:ext>
            </a:extLst>
          </p:cNvPr>
          <p:cNvSpPr/>
          <p:nvPr/>
        </p:nvSpPr>
        <p:spPr>
          <a:xfrm>
            <a:off x="6260637" y="1520330"/>
            <a:ext cx="108000" cy="82296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7D4DE10-15E9-60ED-2737-B55A8963EBE7}"/>
              </a:ext>
            </a:extLst>
          </p:cNvPr>
          <p:cNvGrpSpPr/>
          <p:nvPr/>
        </p:nvGrpSpPr>
        <p:grpSpPr>
          <a:xfrm>
            <a:off x="8314538" y="215815"/>
            <a:ext cx="3084023" cy="790044"/>
            <a:chOff x="8739631" y="215815"/>
            <a:chExt cx="3084023" cy="790044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D8519FF3-4243-613C-393C-EB767A7FCDEC}"/>
                </a:ext>
              </a:extLst>
            </p:cNvPr>
            <p:cNvSpPr/>
            <p:nvPr/>
          </p:nvSpPr>
          <p:spPr>
            <a:xfrm flipV="1">
              <a:off x="8739631" y="230142"/>
              <a:ext cx="250813" cy="140819"/>
            </a:xfrm>
            <a:prstGeom prst="roundRect">
              <a:avLst/>
            </a:prstGeom>
            <a:solidFill>
              <a:srgbClr val="2E9E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0B459A35-D565-85BF-F94A-34C4DBE87C17}"/>
                </a:ext>
              </a:extLst>
            </p:cNvPr>
            <p:cNvSpPr/>
            <p:nvPr/>
          </p:nvSpPr>
          <p:spPr>
            <a:xfrm flipV="1">
              <a:off x="8739631" y="441775"/>
              <a:ext cx="250813" cy="14081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 err="1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24D294F-2FA0-B504-EA2A-D49445C979DF}"/>
                </a:ext>
              </a:extLst>
            </p:cNvPr>
            <p:cNvSpPr txBox="1"/>
            <p:nvPr/>
          </p:nvSpPr>
          <p:spPr>
            <a:xfrm>
              <a:off x="9072636" y="640625"/>
              <a:ext cx="2256862" cy="1576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err="1"/>
                <a:t>Artefacto</a:t>
              </a:r>
              <a:r>
                <a:rPr lang="en-CA" sz="1000"/>
                <a:t> vivo de </a:t>
              </a:r>
              <a:r>
                <a:rPr lang="en-CA" sz="1000" err="1"/>
                <a:t>ejecución</a:t>
              </a:r>
              <a:endParaRPr lang="en-CA" sz="1000" noProof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448C824-34E1-8EE5-FB7F-7183C9244D5D}"/>
                </a:ext>
              </a:extLst>
            </p:cNvPr>
            <p:cNvSpPr txBox="1"/>
            <p:nvPr/>
          </p:nvSpPr>
          <p:spPr>
            <a:xfrm>
              <a:off x="9072635" y="428220"/>
              <a:ext cx="2517282" cy="1437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 err="1"/>
                <a:t>Reingeniería</a:t>
              </a:r>
              <a:r>
                <a:rPr lang="en-CA" sz="1000" noProof="0"/>
                <a:t> y Entrega Fase B (2026)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7E02ED5-7988-4967-D67B-67441276772B}"/>
                </a:ext>
              </a:extLst>
            </p:cNvPr>
            <p:cNvSpPr/>
            <p:nvPr/>
          </p:nvSpPr>
          <p:spPr>
            <a:xfrm flipV="1">
              <a:off x="8739631" y="653408"/>
              <a:ext cx="250813" cy="140819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0E2C672-5B2C-75FD-994F-1B43DA37AEB4}"/>
                </a:ext>
              </a:extLst>
            </p:cNvPr>
            <p:cNvSpPr txBox="1"/>
            <p:nvPr/>
          </p:nvSpPr>
          <p:spPr>
            <a:xfrm>
              <a:off x="9072636" y="215815"/>
              <a:ext cx="2751018" cy="1408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 err="1"/>
                <a:t>Reingeniería</a:t>
              </a:r>
              <a:r>
                <a:rPr lang="en-CA" sz="1000" noProof="0"/>
                <a:t> </a:t>
              </a:r>
              <a:r>
                <a:rPr lang="en-CA" sz="1000"/>
                <a:t>y Entrega </a:t>
              </a:r>
              <a:r>
                <a:rPr lang="en-CA" sz="1000" noProof="0"/>
                <a:t>Fase A (~10 </a:t>
              </a:r>
              <a:r>
                <a:rPr lang="en-CA" sz="1000" noProof="0" err="1"/>
                <a:t>sem</a:t>
              </a:r>
              <a:r>
                <a:rPr lang="en-CA" sz="1000" noProof="0"/>
                <a:t>)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F315068-D9BF-F373-815C-526089B8B795}"/>
                </a:ext>
              </a:extLst>
            </p:cNvPr>
            <p:cNvSpPr/>
            <p:nvPr/>
          </p:nvSpPr>
          <p:spPr>
            <a:xfrm flipV="1">
              <a:off x="8739631" y="865040"/>
              <a:ext cx="250813" cy="14081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 err="1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4EFB840-0CD5-2CEC-B246-041CFA98069D}"/>
                </a:ext>
              </a:extLst>
            </p:cNvPr>
            <p:cNvSpPr txBox="1"/>
            <p:nvPr/>
          </p:nvSpPr>
          <p:spPr>
            <a:xfrm>
              <a:off x="9072635" y="853029"/>
              <a:ext cx="2017427" cy="1408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/>
                <a:t>Fuera de </a:t>
              </a:r>
              <a:r>
                <a:rPr lang="en-CA" sz="1000" noProof="0" err="1"/>
                <a:t>alcance</a:t>
              </a:r>
              <a:endParaRPr lang="en-CA" sz="10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652186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D2D8-3B18-89BE-09B4-3B13B4BE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B472D0D3-ABF9-CFB9-5DC1-FAA20E87B89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3" progId="TCLayout.ActiveDocument.1">
                  <p:embed/>
                </p:oleObj>
              </mc:Choice>
              <mc:Fallback>
                <p:oleObj name="think-cell Slide" r:id="rId5" imgW="404" imgH="403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72D0D3-ABF9-CFB9-5DC1-FAA20E87B8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3C300FC2-A395-9EF4-B93D-68CB90BFB12E}"/>
              </a:ext>
            </a:extLst>
          </p:cNvPr>
          <p:cNvSpPr txBox="1">
            <a:spLocks/>
          </p:cNvSpPr>
          <p:nvPr/>
        </p:nvSpPr>
        <p:spPr>
          <a:xfrm>
            <a:off x="861198" y="245794"/>
            <a:ext cx="11143252" cy="954708"/>
          </a:xfrm>
        </p:spPr>
        <p:txBody>
          <a:bodyPr vert="horz" rIns="9144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/>
              <a:t>ENTREGABLES | </a:t>
            </a:r>
            <a:r>
              <a:rPr lang="es-MX" sz="2800" b="0"/>
              <a:t>Plan de </a:t>
            </a:r>
            <a:r>
              <a:rPr lang="es-MX" sz="2800" b="0" err="1"/>
              <a:t>Testing</a:t>
            </a:r>
            <a:r>
              <a:rPr lang="es-MX" sz="2800" b="0"/>
              <a:t> E2E</a:t>
            </a:r>
            <a:endParaRPr lang="es-MX" sz="2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1A4C96-1FAE-9C52-FCF0-834CCF9A7657}"/>
              </a:ext>
            </a:extLst>
          </p:cNvPr>
          <p:cNvCxnSpPr/>
          <p:nvPr/>
        </p:nvCxnSpPr>
        <p:spPr>
          <a:xfrm>
            <a:off x="6157135" y="1200502"/>
            <a:ext cx="0" cy="51113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C0BB27-123B-B392-1846-E672182FE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407466"/>
              </p:ext>
            </p:extLst>
          </p:nvPr>
        </p:nvGraphicFramePr>
        <p:xfrm>
          <a:off x="386748" y="1227027"/>
          <a:ext cx="5486400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394">
                  <a:extLst>
                    <a:ext uri="{9D8B030D-6E8A-4147-A177-3AD203B41FA5}">
                      <a16:colId xmlns:a16="http://schemas.microsoft.com/office/drawing/2014/main" val="1213060286"/>
                    </a:ext>
                  </a:extLst>
                </a:gridCol>
                <a:gridCol w="3602778">
                  <a:extLst>
                    <a:ext uri="{9D8B030D-6E8A-4147-A177-3AD203B41FA5}">
                      <a16:colId xmlns:a16="http://schemas.microsoft.com/office/drawing/2014/main" val="1086162567"/>
                    </a:ext>
                  </a:extLst>
                </a:gridCol>
                <a:gridCol w="779228">
                  <a:extLst>
                    <a:ext uri="{9D8B030D-6E8A-4147-A177-3AD203B41FA5}">
                      <a16:colId xmlns:a16="http://schemas.microsoft.com/office/drawing/2014/main" val="2274282712"/>
                    </a:ext>
                  </a:extLst>
                </a:gridCol>
              </a:tblGrid>
              <a:tr h="245495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Entregable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Descripción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Impacto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13368"/>
                  </a:ext>
                </a:extLst>
              </a:tr>
              <a:tr h="643953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ES" sz="900">
                          <a:solidFill>
                            <a:schemeClr val="tx1"/>
                          </a:solidFill>
                          <a:latin typeface="+mj-lt"/>
                        </a:rPr>
                        <a:t>E-TS-01 </a:t>
                      </a:r>
                      <a:br>
                        <a:rPr lang="es-ES" sz="9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es-ES" sz="900" b="1">
                          <a:solidFill>
                            <a:schemeClr val="tx1"/>
                          </a:solidFill>
                          <a:latin typeface="+mj-lt"/>
                        </a:rPr>
                        <a:t>Definition of Done + Framework de Evaluación de Calidad de Reqs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DoD formal para análisis, historias y UT/ST con evidencias mínimas</a:t>
                      </a:r>
                    </a:p>
                    <a:p>
                      <a:pPr marL="171450" indent="-171450" algn="l" defTabSz="9144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Framework de evaluación de calidad de requerimientos e historias de usuario con score mínimo requerido para aprobar ingreso a desarrollo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TST-03</a:t>
                      </a:r>
                      <a:endParaRPr lang="es-MX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88908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ES" sz="900">
                          <a:solidFill>
                            <a:schemeClr val="tx1"/>
                          </a:solidFill>
                          <a:latin typeface="+mj-lt"/>
                        </a:rPr>
                        <a:t>E-TS-02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ES" sz="900" b="1">
                          <a:solidFill>
                            <a:schemeClr val="tx1"/>
                          </a:solidFill>
                          <a:latin typeface="+mj-lt"/>
                        </a:rPr>
                        <a:t>Entorno Adicional + Calendario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Documento con recomendaciones y requerimientos para la habilitación de entornos adicionales de testing y propuesta de calendario maestro de uso.</a:t>
                      </a:r>
                      <a:endParaRPr lang="es-ES" sz="900" kern="1200" noProof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TST-02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236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E-TS-03 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(parcial)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NFR Baseline por canal / producto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Documento con recomendaciones de NFRs, métricas de rendimiento y umbrales de referencia basados en benchmarks de industria bancaria, como criterios de gate para go-live por canal/producto, sujeto a validación con datos operativos de BanCoppel.</a:t>
                      </a:r>
                      <a:endParaRPr lang="es-ES" sz="9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TST-06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MX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01421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E-TS-04 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(parcial)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Estrategia TDM</a:t>
                      </a:r>
                      <a:r>
                        <a:rPr lang="es-MX" sz="900" b="1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endParaRPr lang="es-MX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Estrategia TDM con perfiles y criterios definidos en colaboración con el equipo de datos de BanCoppel</a:t>
                      </a:r>
                      <a:endParaRPr lang="es-ES" sz="900" kern="1200" noProof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TST-07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91048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D85E8A1-2799-FB92-24D8-572FD81B3EB2}"/>
              </a:ext>
            </a:extLst>
          </p:cNvPr>
          <p:cNvGraphicFramePr>
            <a:graphicFrameLocks noGrp="1"/>
          </p:cNvGraphicFramePr>
          <p:nvPr/>
        </p:nvGraphicFramePr>
        <p:xfrm>
          <a:off x="6376548" y="1227027"/>
          <a:ext cx="548640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394">
                  <a:extLst>
                    <a:ext uri="{9D8B030D-6E8A-4147-A177-3AD203B41FA5}">
                      <a16:colId xmlns:a16="http://schemas.microsoft.com/office/drawing/2014/main" val="1213060286"/>
                    </a:ext>
                  </a:extLst>
                </a:gridCol>
                <a:gridCol w="3602778">
                  <a:extLst>
                    <a:ext uri="{9D8B030D-6E8A-4147-A177-3AD203B41FA5}">
                      <a16:colId xmlns:a16="http://schemas.microsoft.com/office/drawing/2014/main" val="1086162567"/>
                    </a:ext>
                  </a:extLst>
                </a:gridCol>
                <a:gridCol w="779228">
                  <a:extLst>
                    <a:ext uri="{9D8B030D-6E8A-4147-A177-3AD203B41FA5}">
                      <a16:colId xmlns:a16="http://schemas.microsoft.com/office/drawing/2014/main" val="2274282712"/>
                    </a:ext>
                  </a:extLst>
                </a:gridCol>
              </a:tblGrid>
              <a:tr h="245495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Entregable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Descripción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Impacto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13368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+mj-lt"/>
                        </a:rPr>
                        <a:t>E-TS-05 </a:t>
                      </a:r>
                      <a:br>
                        <a:rPr lang="en-US" sz="9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en-US" sz="900" b="1">
                          <a:solidFill>
                            <a:schemeClr val="tx1"/>
                          </a:solidFill>
                          <a:latin typeface="+mj-lt"/>
                        </a:rPr>
                        <a:t>Master Test Plan alineado al nuevo roadmap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s-MX" sz="900"/>
                        <a:t>Documento con el marco metodológico y recomendaciones para la estructuración del Master Test Plan, construido en colaboración con los equipos de BanCoppel, EY, BPC y otros vendors, para revisión, decisión y activación por los equipos correspondientes de BanCoppel.</a:t>
                      </a:r>
                      <a:endParaRPr lang="es-ES" sz="9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TST-01 TST-04 TST-05 TST-08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01421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E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E-TS-06</a:t>
                      </a:r>
                    </a:p>
                    <a:p>
                      <a:pPr marL="0" indent="0">
                        <a:buNone/>
                      </a:pPr>
                      <a:r>
                        <a:rPr lang="es-ES" sz="9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Ambiente Performance + TDM Ejecución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Documento que define los criterios de aceptación para el ambiente performance y lineamientos de uso del subset de datos de prueba por ciclo.</a:t>
                      </a:r>
                      <a:endParaRPr lang="es-ES" sz="9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900" b="0" kern="120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TST-06 TST-07</a:t>
                      </a:r>
                      <a:endParaRPr lang="es-MX" sz="900" b="0" i="1" kern="1200">
                        <a:solidFill>
                          <a:schemeClr val="tx1"/>
                        </a:solidFill>
                        <a:latin typeface="+mj-lt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171323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E-TS-07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Plan Migración a Herramientas QA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Documento con la estrategia de transición a X-ray en Jira como herramienta única de gestión de pruebas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Lineamientos de automatización CI/CD, criterios de cobertura objetivo para rutas críticas y plan de eliminación progresiva de dashboards externos. </a:t>
                      </a:r>
                      <a:endParaRPr lang="es-ES" sz="90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TST-09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082118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66527DC5-EB52-DB9D-1441-F14FA047E765}"/>
              </a:ext>
            </a:extLst>
          </p:cNvPr>
          <p:cNvSpPr/>
          <p:nvPr/>
        </p:nvSpPr>
        <p:spPr>
          <a:xfrm>
            <a:off x="298607" y="5208854"/>
            <a:ext cx="5486389" cy="110304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r>
              <a:rPr lang="es-MX" sz="800" b="1" u="sng">
                <a:solidFill>
                  <a:schemeClr val="tx1"/>
                </a:solidFill>
              </a:rPr>
              <a:t>Nota: Dependencias de Entregables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Disponibilidad de negocio, QA y desarrollo para definir </a:t>
            </a:r>
            <a:r>
              <a:rPr lang="es-MX" altLang="es-MX" sz="800" err="1">
                <a:solidFill>
                  <a:schemeClr val="tx1"/>
                </a:solidFill>
              </a:rPr>
              <a:t>DoD</a:t>
            </a:r>
            <a:r>
              <a:rPr lang="es-MX" altLang="es-MX" sz="800">
                <a:solidFill>
                  <a:schemeClr val="tx1"/>
                </a:solidFill>
              </a:rPr>
              <a:t>, criterios mínimos y </a:t>
            </a:r>
            <a:r>
              <a:rPr lang="es-MX" altLang="es-MX" sz="800" err="1">
                <a:solidFill>
                  <a:schemeClr val="tx1"/>
                </a:solidFill>
              </a:rPr>
              <a:t>quality</a:t>
            </a:r>
            <a:r>
              <a:rPr lang="es-MX" altLang="es-MX" sz="800">
                <a:solidFill>
                  <a:schemeClr val="tx1"/>
                </a:solidFill>
              </a:rPr>
              <a:t> gates de ingreso.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Definición de </a:t>
            </a:r>
            <a:r>
              <a:rPr lang="es-MX" altLang="es-MX" sz="800" err="1">
                <a:solidFill>
                  <a:schemeClr val="tx1"/>
                </a:solidFill>
              </a:rPr>
              <a:t>NFRs</a:t>
            </a:r>
            <a:r>
              <a:rPr lang="es-MX" altLang="es-MX" sz="800">
                <a:solidFill>
                  <a:schemeClr val="tx1"/>
                </a:solidFill>
              </a:rPr>
              <a:t> existentes actualmente.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Disponibilidad de datos de prueba anonimizados y estrategia TDM validada entre SIT/UAT/NFT.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Participación de </a:t>
            </a:r>
            <a:r>
              <a:rPr lang="es-MX" altLang="es-MX" sz="800" err="1">
                <a:solidFill>
                  <a:schemeClr val="tx1"/>
                </a:solidFill>
              </a:rPr>
              <a:t>owners</a:t>
            </a:r>
            <a:r>
              <a:rPr lang="es-MX" altLang="es-MX" sz="800">
                <a:solidFill>
                  <a:schemeClr val="tx1"/>
                </a:solidFill>
              </a:rPr>
              <a:t> funcionales y técnicos para aprobación de </a:t>
            </a:r>
            <a:r>
              <a:rPr lang="es-MX" altLang="es-MX" sz="800" err="1">
                <a:solidFill>
                  <a:schemeClr val="tx1"/>
                </a:solidFill>
              </a:rPr>
              <a:t>entry</a:t>
            </a:r>
            <a:r>
              <a:rPr lang="es-MX" altLang="es-MX" sz="800">
                <a:solidFill>
                  <a:schemeClr val="tx1"/>
                </a:solidFill>
              </a:rPr>
              <a:t>/</a:t>
            </a:r>
            <a:r>
              <a:rPr lang="es-MX" altLang="es-MX" sz="800" err="1">
                <a:solidFill>
                  <a:schemeClr val="tx1"/>
                </a:solidFill>
              </a:rPr>
              <a:t>exit</a:t>
            </a:r>
            <a:r>
              <a:rPr lang="es-MX" altLang="es-MX" sz="800">
                <a:solidFill>
                  <a:schemeClr val="tx1"/>
                </a:solidFill>
              </a:rPr>
              <a:t> </a:t>
            </a:r>
            <a:r>
              <a:rPr lang="es-MX" altLang="es-MX" sz="800" err="1">
                <a:solidFill>
                  <a:schemeClr val="tx1"/>
                </a:solidFill>
              </a:rPr>
              <a:t>criteria</a:t>
            </a:r>
            <a:r>
              <a:rPr lang="es-MX" altLang="es-MX" sz="800">
                <a:solidFill>
                  <a:schemeClr val="tx1"/>
                </a:solidFill>
              </a:rPr>
              <a:t> y </a:t>
            </a:r>
            <a:r>
              <a:rPr lang="es-MX" altLang="es-MX" sz="800" err="1">
                <a:solidFill>
                  <a:schemeClr val="tx1"/>
                </a:solidFill>
              </a:rPr>
              <a:t>defect</a:t>
            </a:r>
            <a:r>
              <a:rPr lang="es-MX" altLang="es-MX" sz="800">
                <a:solidFill>
                  <a:schemeClr val="tx1"/>
                </a:solidFill>
              </a:rPr>
              <a:t> </a:t>
            </a:r>
            <a:r>
              <a:rPr lang="es-MX" altLang="es-MX" sz="800" err="1">
                <a:solidFill>
                  <a:schemeClr val="tx1"/>
                </a:solidFill>
              </a:rPr>
              <a:t>management</a:t>
            </a:r>
            <a:r>
              <a:rPr lang="es-MX" altLang="es-MX" sz="800">
                <a:solidFill>
                  <a:schemeClr val="tx1"/>
                </a:solidFill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800">
                <a:solidFill>
                  <a:schemeClr val="tx1"/>
                </a:solidFill>
              </a:rPr>
              <a:t>Acceso a dominios de datos del banco con inventario de perfiles, volúmenes y restricciones regulatorias de </a:t>
            </a:r>
            <a:r>
              <a:rPr lang="es-MX" sz="800" err="1">
                <a:solidFill>
                  <a:schemeClr val="tx1"/>
                </a:solidFill>
              </a:rPr>
              <a:t>anonimización</a:t>
            </a:r>
            <a:endParaRPr lang="es-MX" sz="800" b="1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FFC0F6-79BE-C39A-E003-6FFAE850889D}"/>
              </a:ext>
            </a:extLst>
          </p:cNvPr>
          <p:cNvSpPr/>
          <p:nvPr/>
        </p:nvSpPr>
        <p:spPr>
          <a:xfrm>
            <a:off x="6407004" y="5208854"/>
            <a:ext cx="5486389" cy="110304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t"/>
          <a:lstStyle/>
          <a:p>
            <a:r>
              <a:rPr lang="es-MX" sz="800" b="1" u="sng">
                <a:solidFill>
                  <a:schemeClr val="tx1"/>
                </a:solidFill>
              </a:rPr>
              <a:t>Nota: Dependencias de Entregables</a:t>
            </a:r>
            <a:endParaRPr lang="es-MX" sz="8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800">
                <a:solidFill>
                  <a:schemeClr val="tx1"/>
                </a:solidFill>
              </a:rPr>
              <a:t>Confirmación continua de ventanas SIT/UAT/NFT, ambientes y dependencias </a:t>
            </a:r>
            <a:r>
              <a:rPr lang="es-MX" sz="800" err="1">
                <a:solidFill>
                  <a:schemeClr val="tx1"/>
                </a:solidFill>
              </a:rPr>
              <a:t>cross-stream</a:t>
            </a:r>
            <a:r>
              <a:rPr lang="es-MX" sz="80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800">
                <a:solidFill>
                  <a:schemeClr val="tx1"/>
                </a:solidFill>
              </a:rPr>
              <a:t>Disponibilidad de ambientes performance representativos y datos productivos anonimizados para NFT.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800">
                <a:solidFill>
                  <a:schemeClr val="tx1"/>
                </a:solidFill>
              </a:rPr>
              <a:t>Decisión de migración a X-</a:t>
            </a:r>
            <a:r>
              <a:rPr lang="es-MX" sz="800" err="1">
                <a:solidFill>
                  <a:schemeClr val="tx1"/>
                </a:solidFill>
              </a:rPr>
              <a:t>ray</a:t>
            </a:r>
            <a:r>
              <a:rPr lang="es-MX" sz="800">
                <a:solidFill>
                  <a:schemeClr val="tx1"/>
                </a:solidFill>
              </a:rPr>
              <a:t> integrado en Jira aprobada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800" err="1">
                <a:solidFill>
                  <a:schemeClr val="tx1"/>
                </a:solidFill>
              </a:rPr>
              <a:t>Dashboards</a:t>
            </a:r>
            <a:r>
              <a:rPr lang="es-MX" sz="800">
                <a:solidFill>
                  <a:schemeClr val="tx1"/>
                </a:solidFill>
              </a:rPr>
              <a:t> externos identificados para incluirlos en plan.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800">
                <a:solidFill>
                  <a:schemeClr val="tx1"/>
                </a:solidFill>
              </a:rPr>
              <a:t>Estrategia de automatización CI/CD alineada con X-</a:t>
            </a:r>
            <a:r>
              <a:rPr lang="es-MX" sz="800" err="1">
                <a:solidFill>
                  <a:schemeClr val="tx1"/>
                </a:solidFill>
              </a:rPr>
              <a:t>ray</a:t>
            </a:r>
            <a:endParaRPr lang="es-MX" sz="8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TST-02 (ambiente adicional) aprobado para separar datos de cada ciclo.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AC1514-B099-2A4A-6EC8-FC1FEABF2E5F}"/>
              </a:ext>
            </a:extLst>
          </p:cNvPr>
          <p:cNvSpPr txBox="1"/>
          <p:nvPr/>
        </p:nvSpPr>
        <p:spPr>
          <a:xfrm>
            <a:off x="2550693" y="6478034"/>
            <a:ext cx="4533501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r>
              <a:rPr lang="es-MX" sz="800" baseline="30000" noProof="0"/>
              <a:t>1</a:t>
            </a:r>
            <a:r>
              <a:rPr lang="es-MX" sz="800" noProof="0"/>
              <a:t>Estrategia TDM – Test Data Management: estrategia para gestionar los datos que se usan durante pruebas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7B043C5-9DC3-31D5-984C-6529E7F0E8CA}"/>
              </a:ext>
            </a:extLst>
          </p:cNvPr>
          <p:cNvSpPr/>
          <p:nvPr/>
        </p:nvSpPr>
        <p:spPr>
          <a:xfrm>
            <a:off x="376522" y="197535"/>
            <a:ext cx="457200" cy="4572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/>
          <a:lstStyle/>
          <a:p>
            <a:pPr algn="ctr"/>
            <a:r>
              <a:rPr lang="es-MX" sz="2000" b="1"/>
              <a:t>3.4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E0A27C90-7A83-1EEB-0CE5-CCEDDB633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rgbClr val="0041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s-MX" smtClean="0"/>
              <a:pPr/>
              <a:t>13</a:t>
            </a:fld>
            <a:endParaRPr lang="es-MX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07CBB7-B7BF-D5D6-AF2A-D1B72FAF16A7}"/>
              </a:ext>
            </a:extLst>
          </p:cNvPr>
          <p:cNvSpPr/>
          <p:nvPr/>
        </p:nvSpPr>
        <p:spPr>
          <a:xfrm>
            <a:off x="256871" y="1233570"/>
            <a:ext cx="108000" cy="252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2550E5-32C8-199B-80B3-D6135A7E2818}"/>
              </a:ext>
            </a:extLst>
          </p:cNvPr>
          <p:cNvSpPr/>
          <p:nvPr/>
        </p:nvSpPr>
        <p:spPr>
          <a:xfrm>
            <a:off x="6258274" y="1223520"/>
            <a:ext cx="108000" cy="25200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CB67FE-7DF6-05A6-D6B9-518884ADE5DE}"/>
              </a:ext>
            </a:extLst>
          </p:cNvPr>
          <p:cNvSpPr/>
          <p:nvPr/>
        </p:nvSpPr>
        <p:spPr>
          <a:xfrm>
            <a:off x="256871" y="1504726"/>
            <a:ext cx="108000" cy="86400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B12BC0-5A6B-9708-9253-B5F0C50E7126}"/>
              </a:ext>
            </a:extLst>
          </p:cNvPr>
          <p:cNvSpPr/>
          <p:nvPr/>
        </p:nvSpPr>
        <p:spPr>
          <a:xfrm>
            <a:off x="6258274" y="1504726"/>
            <a:ext cx="108000" cy="864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441C30-EE5A-06ED-57E1-E88ED84ED2B3}"/>
              </a:ext>
            </a:extLst>
          </p:cNvPr>
          <p:cNvSpPr/>
          <p:nvPr/>
        </p:nvSpPr>
        <p:spPr>
          <a:xfrm>
            <a:off x="256871" y="2406630"/>
            <a:ext cx="108000" cy="61200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5FFDCD-F2ED-1F20-2102-688F3C4A66FC}"/>
              </a:ext>
            </a:extLst>
          </p:cNvPr>
          <p:cNvSpPr/>
          <p:nvPr/>
        </p:nvSpPr>
        <p:spPr>
          <a:xfrm>
            <a:off x="256871" y="3056534"/>
            <a:ext cx="108000" cy="72000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56C877-9673-02EA-7EDC-C943F1994038}"/>
              </a:ext>
            </a:extLst>
          </p:cNvPr>
          <p:cNvSpPr/>
          <p:nvPr/>
        </p:nvSpPr>
        <p:spPr>
          <a:xfrm>
            <a:off x="256871" y="3814439"/>
            <a:ext cx="108000" cy="50400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453F3E0-21D2-E365-7D14-E9EAEDBD761E}"/>
              </a:ext>
            </a:extLst>
          </p:cNvPr>
          <p:cNvSpPr/>
          <p:nvPr/>
        </p:nvSpPr>
        <p:spPr>
          <a:xfrm>
            <a:off x="6258274" y="2405114"/>
            <a:ext cx="108000" cy="612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F20D649-0949-0F4A-B8AC-21B649079E21}"/>
              </a:ext>
            </a:extLst>
          </p:cNvPr>
          <p:cNvSpPr/>
          <p:nvPr/>
        </p:nvSpPr>
        <p:spPr>
          <a:xfrm>
            <a:off x="6258274" y="3053502"/>
            <a:ext cx="108000" cy="756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38" name="Star: 5 Points 37">
            <a:extLst>
              <a:ext uri="{FF2B5EF4-FFF2-40B4-BE49-F238E27FC236}">
                <a16:creationId xmlns:a16="http://schemas.microsoft.com/office/drawing/2014/main" id="{BB53580E-2A33-FDA9-515F-A1B4B0FE5C20}"/>
              </a:ext>
            </a:extLst>
          </p:cNvPr>
          <p:cNvSpPr/>
          <p:nvPr/>
        </p:nvSpPr>
        <p:spPr>
          <a:xfrm>
            <a:off x="11920175" y="1452247"/>
            <a:ext cx="552604" cy="552604"/>
          </a:xfrm>
          <a:prstGeom prst="star5">
            <a:avLst>
              <a:gd name="adj" fmla="val 2903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CEC8E60-2940-A588-4347-1D74B78E4D63}"/>
              </a:ext>
            </a:extLst>
          </p:cNvPr>
          <p:cNvGrpSpPr/>
          <p:nvPr/>
        </p:nvGrpSpPr>
        <p:grpSpPr>
          <a:xfrm>
            <a:off x="8314538" y="215815"/>
            <a:ext cx="3084023" cy="790044"/>
            <a:chOff x="8739631" y="215815"/>
            <a:chExt cx="3084023" cy="790044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DA3070B2-8248-7650-E5DB-1D553DF59B7D}"/>
                </a:ext>
              </a:extLst>
            </p:cNvPr>
            <p:cNvSpPr/>
            <p:nvPr/>
          </p:nvSpPr>
          <p:spPr>
            <a:xfrm flipV="1">
              <a:off x="8739631" y="230142"/>
              <a:ext cx="250813" cy="140819"/>
            </a:xfrm>
            <a:prstGeom prst="roundRect">
              <a:avLst/>
            </a:prstGeom>
            <a:solidFill>
              <a:srgbClr val="2E9E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D639CBF9-58F9-93A0-23A9-2B1BA271E81A}"/>
                </a:ext>
              </a:extLst>
            </p:cNvPr>
            <p:cNvSpPr/>
            <p:nvPr/>
          </p:nvSpPr>
          <p:spPr>
            <a:xfrm flipV="1">
              <a:off x="8739631" y="441775"/>
              <a:ext cx="250813" cy="14081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 err="1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F15B106-35E9-4ACA-B555-A19308F77087}"/>
                </a:ext>
              </a:extLst>
            </p:cNvPr>
            <p:cNvSpPr txBox="1"/>
            <p:nvPr/>
          </p:nvSpPr>
          <p:spPr>
            <a:xfrm>
              <a:off x="9072636" y="640625"/>
              <a:ext cx="2256862" cy="1576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err="1"/>
                <a:t>Artefacto</a:t>
              </a:r>
              <a:r>
                <a:rPr lang="en-CA" sz="1000"/>
                <a:t> vivo de </a:t>
              </a:r>
              <a:r>
                <a:rPr lang="en-CA" sz="1000" err="1"/>
                <a:t>ejecución</a:t>
              </a:r>
              <a:endParaRPr lang="en-CA" sz="1000" noProof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50296F7-2A1B-8B08-3EFE-8C92807864FD}"/>
                </a:ext>
              </a:extLst>
            </p:cNvPr>
            <p:cNvSpPr txBox="1"/>
            <p:nvPr/>
          </p:nvSpPr>
          <p:spPr>
            <a:xfrm>
              <a:off x="9072635" y="428220"/>
              <a:ext cx="2517282" cy="1437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 err="1"/>
                <a:t>Reingeniería</a:t>
              </a:r>
              <a:r>
                <a:rPr lang="en-CA" sz="1000" noProof="0"/>
                <a:t> y Entrega Fase B (2026)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E95F044B-FB4B-D4BD-1E37-A9C4B97673CD}"/>
                </a:ext>
              </a:extLst>
            </p:cNvPr>
            <p:cNvSpPr/>
            <p:nvPr/>
          </p:nvSpPr>
          <p:spPr>
            <a:xfrm flipV="1">
              <a:off x="8739631" y="653408"/>
              <a:ext cx="250813" cy="140819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BD1583E-3D37-E63C-28AC-DF61D26EE819}"/>
                </a:ext>
              </a:extLst>
            </p:cNvPr>
            <p:cNvSpPr txBox="1"/>
            <p:nvPr/>
          </p:nvSpPr>
          <p:spPr>
            <a:xfrm>
              <a:off x="9072636" y="215815"/>
              <a:ext cx="2751018" cy="1408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 err="1"/>
                <a:t>Reingeniería</a:t>
              </a:r>
              <a:r>
                <a:rPr lang="en-CA" sz="1000" noProof="0"/>
                <a:t> </a:t>
              </a:r>
              <a:r>
                <a:rPr lang="en-CA" sz="1000"/>
                <a:t>y Entrega </a:t>
              </a:r>
              <a:r>
                <a:rPr lang="en-CA" sz="1000" noProof="0"/>
                <a:t>Fase A (~10 </a:t>
              </a:r>
              <a:r>
                <a:rPr lang="en-CA" sz="1000" noProof="0" err="1"/>
                <a:t>sem</a:t>
              </a:r>
              <a:r>
                <a:rPr lang="en-CA" sz="1000" noProof="0"/>
                <a:t>)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57C6949A-7A78-0323-CEEF-EADB6E7D9A1B}"/>
                </a:ext>
              </a:extLst>
            </p:cNvPr>
            <p:cNvSpPr/>
            <p:nvPr/>
          </p:nvSpPr>
          <p:spPr>
            <a:xfrm flipV="1">
              <a:off x="8739631" y="865040"/>
              <a:ext cx="250813" cy="14081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 err="1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D6CF923-0170-8678-0AEC-B183662DFF46}"/>
                </a:ext>
              </a:extLst>
            </p:cNvPr>
            <p:cNvSpPr txBox="1"/>
            <p:nvPr/>
          </p:nvSpPr>
          <p:spPr>
            <a:xfrm>
              <a:off x="9072635" y="853029"/>
              <a:ext cx="2017427" cy="1408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/>
                <a:t>Fuera de </a:t>
              </a:r>
              <a:r>
                <a:rPr lang="en-CA" sz="1000" noProof="0" err="1"/>
                <a:t>alcance</a:t>
              </a:r>
              <a:endParaRPr lang="en-CA" sz="10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38463449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87235-5B75-9A68-7267-2B573A9F7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hink-cell data - do not delete" hidden="1">
            <a:extLst>
              <a:ext uri="{FF2B5EF4-FFF2-40B4-BE49-F238E27FC236}">
                <a16:creationId xmlns:a16="http://schemas.microsoft.com/office/drawing/2014/main" id="{7CBBC163-2F1E-BC2A-EAED-A2285B68C63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3" progId="TCLayout.ActiveDocument.1">
                  <p:embed/>
                </p:oleObj>
              </mc:Choice>
              <mc:Fallback>
                <p:oleObj name="think-cell Slide" r:id="rId5" imgW="404" imgH="403" progId="TCLayout.ActiveDocument.1">
                  <p:embed/>
                  <p:pic>
                    <p:nvPicPr>
                      <p:cNvPr id="2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BBC163-2F1E-BC2A-EAED-A2285B68C6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46706180-1F79-D427-6328-88D2D4A4D592}"/>
              </a:ext>
            </a:extLst>
          </p:cNvPr>
          <p:cNvSpPr txBox="1">
            <a:spLocks/>
          </p:cNvSpPr>
          <p:nvPr/>
        </p:nvSpPr>
        <p:spPr>
          <a:xfrm>
            <a:off x="861198" y="245794"/>
            <a:ext cx="11143252" cy="954708"/>
          </a:xfrm>
        </p:spPr>
        <p:txBody>
          <a:bodyPr vert="horz" rIns="9144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/>
              <a:t>ENTREGABLES | </a:t>
            </a:r>
            <a:r>
              <a:rPr lang="es-MX" sz="2800" b="0"/>
              <a:t>Plan de Despliegue &amp; TTR</a:t>
            </a:r>
            <a:endParaRPr lang="es-MX" sz="2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100E27-B261-70B9-24D7-1876E085AB53}"/>
              </a:ext>
            </a:extLst>
          </p:cNvPr>
          <p:cNvCxnSpPr/>
          <p:nvPr/>
        </p:nvCxnSpPr>
        <p:spPr>
          <a:xfrm>
            <a:off x="6157135" y="1200502"/>
            <a:ext cx="0" cy="51113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16FC5C8-A86A-2324-CEF5-FCB6D954B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844307"/>
              </p:ext>
            </p:extLst>
          </p:nvPr>
        </p:nvGraphicFramePr>
        <p:xfrm>
          <a:off x="376523" y="1227027"/>
          <a:ext cx="5486400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394">
                  <a:extLst>
                    <a:ext uri="{9D8B030D-6E8A-4147-A177-3AD203B41FA5}">
                      <a16:colId xmlns:a16="http://schemas.microsoft.com/office/drawing/2014/main" val="1213060286"/>
                    </a:ext>
                  </a:extLst>
                </a:gridCol>
                <a:gridCol w="3602778">
                  <a:extLst>
                    <a:ext uri="{9D8B030D-6E8A-4147-A177-3AD203B41FA5}">
                      <a16:colId xmlns:a16="http://schemas.microsoft.com/office/drawing/2014/main" val="1086162567"/>
                    </a:ext>
                  </a:extLst>
                </a:gridCol>
                <a:gridCol w="779228">
                  <a:extLst>
                    <a:ext uri="{9D8B030D-6E8A-4147-A177-3AD203B41FA5}">
                      <a16:colId xmlns:a16="http://schemas.microsoft.com/office/drawing/2014/main" val="2274282712"/>
                    </a:ext>
                  </a:extLst>
                </a:gridCol>
              </a:tblGrid>
              <a:tr h="245495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Entregable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Descripción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solidFill>
                            <a:schemeClr val="bg1"/>
                          </a:solidFill>
                          <a:latin typeface="+mj-lt"/>
                        </a:rPr>
                        <a:t>Impacto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13368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E-DP-01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Análisis cuantificado + Freeze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Documento con el análisis cuantificado de capacidad, ambientes y defectos para definir el escenario óptimo de despliegue TDC R4, incluyendo criterios de go/no-go.</a:t>
                      </a:r>
                      <a:endParaRPr kumimoji="0" lang="es-MX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DEP-03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01421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E-DP-02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Framework Seguridad para Go-Live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Framework para dar visibilidad de la atención a vulnerabilidades con el objetivo de que se atiendan en tiempo y no pongan en riesgo las fechas de Go Live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DEP-05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345678"/>
                  </a:ext>
                </a:extLst>
              </a:tr>
              <a:tr h="24549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E-DP-03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>
                          <a:solidFill>
                            <a:schemeClr val="tx1"/>
                          </a:solidFill>
                          <a:latin typeface="+mj-lt"/>
                        </a:rPr>
                        <a:t>Plan Transition to Run iniciativas 2026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Plan de T2R considerando actividades pre y post go live, RACI y criterios de Go/No Go para las iniciativas programadas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DEP-01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04135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31C4EE-775A-2776-6611-564733A78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877542"/>
              </p:ext>
            </p:extLst>
          </p:nvPr>
        </p:nvGraphicFramePr>
        <p:xfrm>
          <a:off x="6376548" y="1227028"/>
          <a:ext cx="5486400" cy="4137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452">
                  <a:extLst>
                    <a:ext uri="{9D8B030D-6E8A-4147-A177-3AD203B41FA5}">
                      <a16:colId xmlns:a16="http://schemas.microsoft.com/office/drawing/2014/main" val="1213060286"/>
                    </a:ext>
                  </a:extLst>
                </a:gridCol>
                <a:gridCol w="3495675">
                  <a:extLst>
                    <a:ext uri="{9D8B030D-6E8A-4147-A177-3AD203B41FA5}">
                      <a16:colId xmlns:a16="http://schemas.microsoft.com/office/drawing/2014/main" val="1086162567"/>
                    </a:ext>
                  </a:extLst>
                </a:gridCol>
                <a:gridCol w="747273">
                  <a:extLst>
                    <a:ext uri="{9D8B030D-6E8A-4147-A177-3AD203B41FA5}">
                      <a16:colId xmlns:a16="http://schemas.microsoft.com/office/drawing/2014/main" val="2274282712"/>
                    </a:ext>
                  </a:extLst>
                </a:gridCol>
              </a:tblGrid>
              <a:tr h="220898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Entregable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</a:pPr>
                      <a:r>
                        <a:rPr lang="es-MX" sz="1050">
                          <a:latin typeface="+mj-lt"/>
                        </a:rPr>
                        <a:t>Descripción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</a:pPr>
                      <a:r>
                        <a:rPr lang="es-MX" sz="1050" b="1">
                          <a:latin typeface="+mj-lt"/>
                        </a:rPr>
                        <a:t>Impacto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13368"/>
                  </a:ext>
                </a:extLst>
              </a:tr>
              <a:tr h="827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E-DP-04</a:t>
                      </a:r>
                      <a:b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Deployment + Runbook Cutover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endParaRPr lang="es-MX" sz="9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Documento operativo de </a:t>
                      </a:r>
                      <a:r>
                        <a:rPr lang="es-MX" sz="900" err="1"/>
                        <a:t>deployment</a:t>
                      </a:r>
                      <a:r>
                        <a:rPr lang="es-MX" sz="900"/>
                        <a:t> y </a:t>
                      </a:r>
                      <a:r>
                        <a:rPr lang="es-MX" sz="900" err="1"/>
                        <a:t>cutover</a:t>
                      </a:r>
                      <a:r>
                        <a:rPr lang="es-MX" sz="900"/>
                        <a:t> para </a:t>
                      </a:r>
                      <a:r>
                        <a:rPr lang="es-MX" sz="900" err="1"/>
                        <a:t>releases</a:t>
                      </a:r>
                      <a:r>
                        <a:rPr lang="es-MX" sz="900"/>
                        <a:t> R3/R4, incluyendo modelo de gobierno, calendario integrado, lineamientos para el DRP conjunto Apolo-</a:t>
                      </a:r>
                      <a:r>
                        <a:rPr lang="es-MX" sz="900" err="1"/>
                        <a:t>SmartVista</a:t>
                      </a:r>
                      <a:r>
                        <a:rPr lang="es-MX" sz="900"/>
                        <a:t>, responsables por </a:t>
                      </a:r>
                      <a:r>
                        <a:rPr lang="es-MX" sz="900" err="1"/>
                        <a:t>stream</a:t>
                      </a:r>
                      <a:r>
                        <a:rPr lang="es-MX" sz="900"/>
                        <a:t>, secuencia de despliegue, criterios </a:t>
                      </a:r>
                      <a:r>
                        <a:rPr lang="es-MX" sz="900" err="1"/>
                        <a:t>Go</a:t>
                      </a:r>
                      <a:r>
                        <a:rPr lang="es-MX" sz="900"/>
                        <a:t>/No-</a:t>
                      </a:r>
                      <a:r>
                        <a:rPr lang="es-MX" sz="900" err="1"/>
                        <a:t>Go</a:t>
                      </a:r>
                      <a:r>
                        <a:rPr lang="es-MX" sz="900"/>
                        <a:t>, procedimientos de </a:t>
                      </a:r>
                      <a:r>
                        <a:rPr lang="es-MX" sz="900" err="1"/>
                        <a:t>rollback</a:t>
                      </a:r>
                      <a:r>
                        <a:rPr lang="es-MX" sz="900"/>
                        <a:t>/</a:t>
                      </a:r>
                      <a:r>
                        <a:rPr lang="es-MX" sz="900" err="1"/>
                        <a:t>fallback</a:t>
                      </a:r>
                      <a:r>
                        <a:rPr lang="es-MX" sz="900"/>
                        <a:t> y plan de ejecución de </a:t>
                      </a:r>
                      <a:r>
                        <a:rPr lang="es-MX" sz="900" err="1"/>
                        <a:t>dress</a:t>
                      </a:r>
                      <a:r>
                        <a:rPr lang="es-MX" sz="900"/>
                        <a:t> </a:t>
                      </a:r>
                      <a:r>
                        <a:rPr lang="es-MX" sz="900" err="1"/>
                        <a:t>rehearsals</a:t>
                      </a:r>
                      <a:r>
                        <a:rPr lang="es-MX" sz="900"/>
                        <a:t>.</a:t>
                      </a:r>
                      <a:endParaRPr kumimoji="0" lang="en-US" sz="9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DEP-01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DEP-02</a:t>
                      </a:r>
                      <a:endParaRPr lang="es-MX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88908"/>
                  </a:ext>
                </a:extLst>
              </a:tr>
              <a:tr h="803264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>
                          <a:solidFill>
                            <a:schemeClr val="tx1"/>
                          </a:solidFill>
                          <a:latin typeface="+mj-lt"/>
                        </a:rPr>
                        <a:t>E-DP-05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Carpeta CNBV + Readiness Negocio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Framework de readiness operativo y regulatorio para salida a mercado abierto, incluyendo checklist de evidencias CNBV, criterios de validación de seguridad, matriz de riesgos, lineamientos de supercare y modelo de aprobación Go/No-Go para negocio, operaciones y tecnología.</a:t>
                      </a:r>
                      <a:endParaRPr kumimoji="0" lang="en-US" sz="9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DEP-05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DEP-07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DEP-08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236094"/>
                  </a:ext>
                </a:extLst>
              </a:tr>
              <a:tr h="68277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E-DP-06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Plan T2R iniciativas posteriores a 2026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Plan de T2R considerando actividades pre y post go live, RACI y criterios de Go/No Go para las iniciativas posteriores a 2026, incluida cuenta efectiva digital N4 (con producto sobre Legado)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DEP-01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DEP-02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101421"/>
                  </a:ext>
                </a:extLst>
              </a:tr>
              <a:tr h="562285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E-DP-07</a:t>
                      </a:r>
                    </a:p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Plan </a:t>
                      </a:r>
                      <a:r>
                        <a:rPr lang="en-US" sz="900" b="1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despliegue</a:t>
                      </a:r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R4 </a:t>
                      </a:r>
                      <a:endParaRPr lang="es-MX" sz="9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/>
                        <a:t>Plan integrado de despliegue para R4, incluyendo estrategia SIT/UAT end-to-end, regresión automatizada, validación de integraciones críticas, ejecución de rehearsals y plan de estabilización post producción.</a:t>
                      </a:r>
                      <a:endParaRPr kumimoji="0" lang="es-MX" sz="9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DEP-03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900" b="0">
                          <a:solidFill>
                            <a:schemeClr val="tx1"/>
                          </a:solidFill>
                          <a:latin typeface="+mj-lt"/>
                        </a:rPr>
                        <a:t>DEP-04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456789"/>
                  </a:ext>
                </a:extLst>
              </a:tr>
              <a:tr h="562285"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E-DP-08</a:t>
                      </a:r>
                    </a:p>
                    <a:p>
                      <a:pPr marL="0" indent="0"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s-MX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Marco para diseño de enfoque de despliegue E2E</a:t>
                      </a:r>
                      <a:r>
                        <a:rPr lang="es-MX" sz="900" b="1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Marco metodológico para diseño de enfoque de despliegue E2E: </a:t>
                      </a:r>
                      <a:r>
                        <a:rPr lang="es-MX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Runbook</a:t>
                      </a: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E2E, Simulacros, Dress </a:t>
                      </a:r>
                      <a:r>
                        <a:rPr lang="es-MX" sz="90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Rehearsals</a:t>
                      </a:r>
                      <a:r>
                        <a:rPr lang="es-MX" sz="90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, Coordinación entre los equipos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MX" sz="9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500762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35B1A05-FD19-803F-36A7-3F9664DB8E8E}"/>
              </a:ext>
            </a:extLst>
          </p:cNvPr>
          <p:cNvSpPr/>
          <p:nvPr/>
        </p:nvSpPr>
        <p:spPr>
          <a:xfrm>
            <a:off x="363997" y="5601940"/>
            <a:ext cx="5486389" cy="76998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r>
              <a:rPr lang="es-MX" sz="800" b="1" u="sng">
                <a:solidFill>
                  <a:schemeClr val="tx1"/>
                </a:solidFill>
              </a:rPr>
              <a:t>Nota: Dependencias de Entregables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Disponibilidad de métricas reales de capacidad, defectos, ambientes y </a:t>
            </a:r>
            <a:r>
              <a:rPr lang="es-MX" altLang="es-MX" sz="800" err="1">
                <a:solidFill>
                  <a:schemeClr val="tx1"/>
                </a:solidFill>
              </a:rPr>
              <a:t>readiness</a:t>
            </a:r>
            <a:r>
              <a:rPr lang="es-MX" altLang="es-MX" sz="800">
                <a:solidFill>
                  <a:schemeClr val="tx1"/>
                </a:solidFill>
              </a:rPr>
              <a:t> por </a:t>
            </a:r>
            <a:r>
              <a:rPr lang="es-MX" altLang="es-MX" sz="800" err="1">
                <a:solidFill>
                  <a:schemeClr val="tx1"/>
                </a:solidFill>
              </a:rPr>
              <a:t>stream</a:t>
            </a:r>
            <a:r>
              <a:rPr lang="es-MX" altLang="es-MX" sz="800">
                <a:solidFill>
                  <a:schemeClr val="tx1"/>
                </a:solidFill>
              </a:rPr>
              <a:t>/</a:t>
            </a:r>
            <a:r>
              <a:rPr lang="es-MX" altLang="es-MX" sz="800" err="1">
                <a:solidFill>
                  <a:schemeClr val="tx1"/>
                </a:solidFill>
              </a:rPr>
              <a:t>release</a:t>
            </a:r>
            <a:r>
              <a:rPr lang="es-MX" altLang="es-MX" sz="800">
                <a:solidFill>
                  <a:schemeClr val="tx1"/>
                </a:solidFill>
              </a:rPr>
              <a:t>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Participación de seguridad, infraestructura, QA y operación para validar criterios </a:t>
            </a:r>
            <a:r>
              <a:rPr lang="es-MX" altLang="es-MX" sz="800" err="1">
                <a:solidFill>
                  <a:schemeClr val="tx1"/>
                </a:solidFill>
              </a:rPr>
              <a:t>go</a:t>
            </a:r>
            <a:r>
              <a:rPr lang="es-MX" altLang="es-MX" sz="800">
                <a:solidFill>
                  <a:schemeClr val="tx1"/>
                </a:solidFill>
              </a:rPr>
              <a:t>/no-</a:t>
            </a:r>
            <a:r>
              <a:rPr lang="es-MX" altLang="es-MX" sz="800" err="1">
                <a:solidFill>
                  <a:schemeClr val="tx1"/>
                </a:solidFill>
              </a:rPr>
              <a:t>go</a:t>
            </a:r>
            <a:r>
              <a:rPr lang="es-MX" altLang="es-MX" sz="800">
                <a:solidFill>
                  <a:schemeClr val="tx1"/>
                </a:solidFill>
              </a:rPr>
              <a:t> y </a:t>
            </a:r>
            <a:r>
              <a:rPr lang="es-MX" altLang="es-MX" sz="800" err="1">
                <a:solidFill>
                  <a:schemeClr val="tx1"/>
                </a:solidFill>
              </a:rPr>
              <a:t>re-testing</a:t>
            </a:r>
            <a:r>
              <a:rPr lang="es-MX" altLang="es-MX" sz="800">
                <a:solidFill>
                  <a:schemeClr val="tx1"/>
                </a:solidFill>
              </a:rPr>
              <a:t>.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</a:rPr>
              <a:t>Definición de </a:t>
            </a:r>
            <a:r>
              <a:rPr lang="es-MX" altLang="es-MX" sz="800" err="1">
                <a:solidFill>
                  <a:schemeClr val="tx1"/>
                </a:solidFill>
              </a:rPr>
              <a:t>owners</a:t>
            </a:r>
            <a:r>
              <a:rPr lang="es-MX" altLang="es-MX" sz="800">
                <a:solidFill>
                  <a:schemeClr val="tx1"/>
                </a:solidFill>
              </a:rPr>
              <a:t>, </a:t>
            </a:r>
            <a:r>
              <a:rPr lang="es-MX" altLang="es-MX" sz="800" err="1">
                <a:solidFill>
                  <a:schemeClr val="tx1"/>
                </a:solidFill>
              </a:rPr>
              <a:t>SLAs</a:t>
            </a:r>
            <a:r>
              <a:rPr lang="es-MX" altLang="es-MX" sz="800">
                <a:solidFill>
                  <a:schemeClr val="tx1"/>
                </a:solidFill>
              </a:rPr>
              <a:t> y </a:t>
            </a:r>
            <a:r>
              <a:rPr lang="es-MX" altLang="es-MX" sz="800" err="1">
                <a:solidFill>
                  <a:schemeClr val="tx1"/>
                </a:solidFill>
              </a:rPr>
              <a:t>governance</a:t>
            </a:r>
            <a:r>
              <a:rPr lang="es-MX" altLang="es-MX" sz="800">
                <a:solidFill>
                  <a:schemeClr val="tx1"/>
                </a:solidFill>
              </a:rPr>
              <a:t> para riesgos de despliegue y seguridad por </a:t>
            </a:r>
            <a:r>
              <a:rPr lang="es-MX" altLang="es-MX" sz="800" err="1">
                <a:solidFill>
                  <a:schemeClr val="tx1"/>
                </a:solidFill>
              </a:rPr>
              <a:t>release</a:t>
            </a:r>
            <a:r>
              <a:rPr lang="es-MX" altLang="es-MX" sz="800">
                <a:solidFill>
                  <a:schemeClr val="tx1"/>
                </a:solidFill>
              </a:rPr>
              <a:t>. </a:t>
            </a: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sz="800">
                <a:solidFill>
                  <a:schemeClr val="tx1"/>
                </a:solidFill>
              </a:rPr>
              <a:t>Ventanas alternativas Q1-2027 reservadas en plan maestro.</a:t>
            </a:r>
            <a:endParaRPr lang="es-MX" altLang="es-MX" sz="800">
              <a:solidFill>
                <a:schemeClr val="tx1"/>
              </a:solidFill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MX" altLang="es-MX" sz="8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5E6BA8-089F-FF87-A534-D9B71635C251}"/>
              </a:ext>
            </a:extLst>
          </p:cNvPr>
          <p:cNvSpPr/>
          <p:nvPr/>
        </p:nvSpPr>
        <p:spPr>
          <a:xfrm>
            <a:off x="6280808" y="5334868"/>
            <a:ext cx="5486389" cy="110803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r>
              <a:rPr lang="es-MX" sz="800" b="1" u="sng">
                <a:solidFill>
                  <a:schemeClr val="tx1"/>
                </a:solidFill>
                <a:latin typeface="+mj-lt"/>
              </a:rPr>
              <a:t>Nota: Dependencias de Entregables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  <a:latin typeface="+mj-lt"/>
              </a:rPr>
              <a:t>Disponibilidad de equipo transversal de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deployment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 y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owners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 de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cutover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 por 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stream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. </a:t>
            </a: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sz="800">
                <a:solidFill>
                  <a:schemeClr val="tx1"/>
                </a:solidFill>
                <a:latin typeface="+mj-lt"/>
              </a:rPr>
              <a:t>Criterios de aceptación de seguridad con evidencias requeridas por </a:t>
            </a:r>
            <a:r>
              <a:rPr lang="es-MX" sz="800" err="1">
                <a:solidFill>
                  <a:schemeClr val="tx1"/>
                </a:solidFill>
                <a:latin typeface="+mj-lt"/>
              </a:rPr>
              <a:t>release</a:t>
            </a:r>
            <a:r>
              <a:rPr lang="es-MX" sz="800">
                <a:solidFill>
                  <a:schemeClr val="tx1"/>
                </a:solidFill>
                <a:latin typeface="+mj-lt"/>
              </a:rPr>
              <a:t> definidos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  <a:latin typeface="+mj-lt"/>
              </a:rPr>
              <a:t>Disponibilidad de ambientes, automatización CI/CD y evidencia de regresión/SIT/UAT para despliegues integrados. </a:t>
            </a: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sz="800">
                <a:solidFill>
                  <a:schemeClr val="tx1"/>
                </a:solidFill>
                <a:latin typeface="+mj-lt"/>
              </a:rPr>
              <a:t>Confirmación oportuna de excepciones de </a:t>
            </a:r>
            <a:r>
              <a:rPr lang="es-MX" sz="800" err="1">
                <a:solidFill>
                  <a:schemeClr val="tx1"/>
                </a:solidFill>
                <a:latin typeface="+mj-lt"/>
              </a:rPr>
              <a:t>freeze</a:t>
            </a:r>
            <a:r>
              <a:rPr lang="es-MX" sz="800">
                <a:solidFill>
                  <a:schemeClr val="tx1"/>
                </a:solidFill>
                <a:latin typeface="+mj-lt"/>
              </a:rPr>
              <a:t> por BanCoppel.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MX" sz="800">
                <a:solidFill>
                  <a:schemeClr val="tx1"/>
                </a:solidFill>
                <a:latin typeface="+mj-lt"/>
              </a:rPr>
              <a:t>Actualización continua de riesgos, dependencias y planes de transición a operación (T2R/</a:t>
            </a:r>
            <a:r>
              <a:rPr lang="es-MX" altLang="es-MX" sz="800" err="1">
                <a:solidFill>
                  <a:schemeClr val="tx1"/>
                </a:solidFill>
                <a:latin typeface="+mj-lt"/>
              </a:rPr>
              <a:t>supercare</a:t>
            </a:r>
            <a:r>
              <a:rPr lang="es-MX" altLang="es-MX" sz="800">
                <a:solidFill>
                  <a:schemeClr val="tx1"/>
                </a:solidFill>
                <a:latin typeface="+mj-lt"/>
              </a:rPr>
              <a:t>). </a:t>
            </a:r>
            <a:endParaRPr lang="es-MX" sz="800">
              <a:solidFill>
                <a:schemeClr val="tx1"/>
              </a:solidFill>
              <a:latin typeface="+mj-lt"/>
            </a:endParaRP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sz="800">
                <a:solidFill>
                  <a:schemeClr val="tx1"/>
                </a:solidFill>
                <a:latin typeface="+mj-lt"/>
              </a:rPr>
              <a:t>TST-02 (ambientes adicionales) aprobado para separar SIT/UAT y evitar paralelismo en R4</a:t>
            </a:r>
            <a:endParaRPr lang="es-MX" altLang="es-MX" sz="800">
              <a:solidFill>
                <a:schemeClr val="tx1"/>
              </a:solidFill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altLang="es-MX" sz="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A012FBF-9230-D00C-E30F-AC59168C7BD2}"/>
              </a:ext>
            </a:extLst>
          </p:cNvPr>
          <p:cNvSpPr/>
          <p:nvPr/>
        </p:nvSpPr>
        <p:spPr>
          <a:xfrm>
            <a:off x="376522" y="197535"/>
            <a:ext cx="457200" cy="4572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91440" bIns="91440" rtlCol="0" anchor="ctr"/>
          <a:lstStyle/>
          <a:p>
            <a:pPr algn="ctr"/>
            <a:r>
              <a:rPr lang="es-MX" sz="2000" b="1"/>
              <a:t>3.5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C5D124B8-0096-0D60-E280-4A70977EF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rgbClr val="0041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s-MX" smtClean="0"/>
              <a:pPr/>
              <a:t>14</a:t>
            </a:fld>
            <a:endParaRPr lang="es-MX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D35B6A-85F3-5BD6-BB0A-6992D110A217}"/>
              </a:ext>
            </a:extLst>
          </p:cNvPr>
          <p:cNvSpPr/>
          <p:nvPr/>
        </p:nvSpPr>
        <p:spPr>
          <a:xfrm>
            <a:off x="2615439" y="6456832"/>
            <a:ext cx="4299709" cy="201168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800">
                <a:solidFill>
                  <a:schemeClr val="tx1"/>
                </a:solidFill>
              </a:rPr>
              <a:t>1.- Para despliegues posteriores a </a:t>
            </a:r>
            <a:r>
              <a:rPr lang="pt-BR" sz="800">
                <a:solidFill>
                  <a:schemeClr val="tx1"/>
                </a:solidFill>
              </a:rPr>
              <a:t>: TDC R3, TDC R4 y Cuenta efectiva digital N4 </a:t>
            </a:r>
            <a:endParaRPr lang="es-MX" sz="8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749077-F9AE-C5AD-0816-378173ACBC72}"/>
              </a:ext>
            </a:extLst>
          </p:cNvPr>
          <p:cNvSpPr/>
          <p:nvPr/>
        </p:nvSpPr>
        <p:spPr>
          <a:xfrm>
            <a:off x="6371971" y="2417336"/>
            <a:ext cx="5539265" cy="1611952"/>
          </a:xfrm>
          <a:prstGeom prst="rect">
            <a:avLst/>
          </a:prstGeom>
          <a:solidFill>
            <a:srgbClr val="FFFFFF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9B30F95-F652-99D7-571F-800FCBF84A65}"/>
              </a:ext>
            </a:extLst>
          </p:cNvPr>
          <p:cNvSpPr/>
          <p:nvPr/>
        </p:nvSpPr>
        <p:spPr>
          <a:xfrm>
            <a:off x="245853" y="1233570"/>
            <a:ext cx="108000" cy="252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621D18-44FA-67F2-3C44-6CC301FE4D1C}"/>
              </a:ext>
            </a:extLst>
          </p:cNvPr>
          <p:cNvSpPr/>
          <p:nvPr/>
        </p:nvSpPr>
        <p:spPr>
          <a:xfrm>
            <a:off x="6258274" y="1223520"/>
            <a:ext cx="108000" cy="25200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747431-AD25-55FB-0CD3-4F64DE896D51}"/>
              </a:ext>
            </a:extLst>
          </p:cNvPr>
          <p:cNvSpPr/>
          <p:nvPr/>
        </p:nvSpPr>
        <p:spPr>
          <a:xfrm>
            <a:off x="245853" y="1504726"/>
            <a:ext cx="108000" cy="57600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B6D7E2-98A0-4EC0-C49F-FB7A86546B58}"/>
              </a:ext>
            </a:extLst>
          </p:cNvPr>
          <p:cNvSpPr/>
          <p:nvPr/>
        </p:nvSpPr>
        <p:spPr>
          <a:xfrm>
            <a:off x="6258274" y="1504726"/>
            <a:ext cx="108000" cy="8280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C4248E-DA17-7EED-F970-B934B807B63A}"/>
              </a:ext>
            </a:extLst>
          </p:cNvPr>
          <p:cNvSpPr/>
          <p:nvPr/>
        </p:nvSpPr>
        <p:spPr>
          <a:xfrm>
            <a:off x="245853" y="2151453"/>
            <a:ext cx="108000" cy="57600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39BA5A7-4528-535A-48F6-87691CAA02A8}"/>
              </a:ext>
            </a:extLst>
          </p:cNvPr>
          <p:cNvSpPr/>
          <p:nvPr/>
        </p:nvSpPr>
        <p:spPr>
          <a:xfrm>
            <a:off x="245853" y="2798181"/>
            <a:ext cx="118144" cy="576000"/>
          </a:xfrm>
          <a:prstGeom prst="roundRect">
            <a:avLst/>
          </a:prstGeom>
          <a:solidFill>
            <a:srgbClr val="2E9E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B366F4-B6AD-8F09-E954-2EDF0E8CB6B5}"/>
              </a:ext>
            </a:extLst>
          </p:cNvPr>
          <p:cNvSpPr/>
          <p:nvPr/>
        </p:nvSpPr>
        <p:spPr>
          <a:xfrm>
            <a:off x="6258274" y="2389007"/>
            <a:ext cx="108000" cy="8640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B2324C-79B5-4970-3995-22F121706277}"/>
              </a:ext>
            </a:extLst>
          </p:cNvPr>
          <p:cNvSpPr/>
          <p:nvPr/>
        </p:nvSpPr>
        <p:spPr>
          <a:xfrm>
            <a:off x="6258274" y="3309288"/>
            <a:ext cx="108000" cy="7200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76E96A6-9AE3-00D0-83F6-67EABE77661E}"/>
              </a:ext>
            </a:extLst>
          </p:cNvPr>
          <p:cNvSpPr/>
          <p:nvPr/>
        </p:nvSpPr>
        <p:spPr>
          <a:xfrm>
            <a:off x="6258274" y="4085569"/>
            <a:ext cx="108000" cy="612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593E55B-FA36-60EC-1606-DD197FC36DFA}"/>
              </a:ext>
            </a:extLst>
          </p:cNvPr>
          <p:cNvSpPr/>
          <p:nvPr/>
        </p:nvSpPr>
        <p:spPr>
          <a:xfrm>
            <a:off x="6258274" y="4753850"/>
            <a:ext cx="108000" cy="576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B790A564-1C5A-B892-F8EA-28203CB20B09}"/>
              </a:ext>
            </a:extLst>
          </p:cNvPr>
          <p:cNvSpPr/>
          <p:nvPr/>
        </p:nvSpPr>
        <p:spPr>
          <a:xfrm>
            <a:off x="11728148" y="1610378"/>
            <a:ext cx="552604" cy="552604"/>
          </a:xfrm>
          <a:prstGeom prst="star5">
            <a:avLst>
              <a:gd name="adj" fmla="val 29038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3BBBCC8-9FB3-2CA1-8EF3-9E770D01061A}"/>
              </a:ext>
            </a:extLst>
          </p:cNvPr>
          <p:cNvGrpSpPr/>
          <p:nvPr/>
        </p:nvGrpSpPr>
        <p:grpSpPr>
          <a:xfrm>
            <a:off x="8314538" y="215815"/>
            <a:ext cx="3084023" cy="790044"/>
            <a:chOff x="8739631" y="215815"/>
            <a:chExt cx="3084023" cy="790044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DB9E6C9-1294-0FF2-A31D-F10986E7E0E8}"/>
                </a:ext>
              </a:extLst>
            </p:cNvPr>
            <p:cNvSpPr/>
            <p:nvPr/>
          </p:nvSpPr>
          <p:spPr>
            <a:xfrm flipV="1">
              <a:off x="8739631" y="230142"/>
              <a:ext cx="250813" cy="140819"/>
            </a:xfrm>
            <a:prstGeom prst="roundRect">
              <a:avLst/>
            </a:prstGeom>
            <a:solidFill>
              <a:srgbClr val="2E9E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F38A0696-B3D1-ED00-9844-3376E92C8CF3}"/>
                </a:ext>
              </a:extLst>
            </p:cNvPr>
            <p:cNvSpPr/>
            <p:nvPr/>
          </p:nvSpPr>
          <p:spPr>
            <a:xfrm flipV="1">
              <a:off x="8739631" y="441775"/>
              <a:ext cx="250813" cy="140819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 err="1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FE8AF91-EE00-38D5-6F5E-514F7D4DC44A}"/>
                </a:ext>
              </a:extLst>
            </p:cNvPr>
            <p:cNvSpPr txBox="1"/>
            <p:nvPr/>
          </p:nvSpPr>
          <p:spPr>
            <a:xfrm>
              <a:off x="9072636" y="640625"/>
              <a:ext cx="2256862" cy="1576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err="1"/>
                <a:t>Artefacto</a:t>
              </a:r>
              <a:r>
                <a:rPr lang="en-CA" sz="1000"/>
                <a:t> vivo de </a:t>
              </a:r>
              <a:r>
                <a:rPr lang="en-CA" sz="1000" err="1"/>
                <a:t>ejecución</a:t>
              </a:r>
              <a:endParaRPr lang="en-CA" sz="1000" noProof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BA737D0-A731-5C54-DB0D-B9F0C8908ED7}"/>
                </a:ext>
              </a:extLst>
            </p:cNvPr>
            <p:cNvSpPr txBox="1"/>
            <p:nvPr/>
          </p:nvSpPr>
          <p:spPr>
            <a:xfrm>
              <a:off x="9072635" y="428220"/>
              <a:ext cx="2517282" cy="1437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 err="1"/>
                <a:t>Reingeniería</a:t>
              </a:r>
              <a:r>
                <a:rPr lang="en-CA" sz="1000" noProof="0"/>
                <a:t> y Entrega Fase B (2026)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38368C86-0CAF-E153-7252-D3916AF40795}"/>
                </a:ext>
              </a:extLst>
            </p:cNvPr>
            <p:cNvSpPr/>
            <p:nvPr/>
          </p:nvSpPr>
          <p:spPr>
            <a:xfrm flipV="1">
              <a:off x="8739631" y="653408"/>
              <a:ext cx="250813" cy="140819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4CE48CE-0645-B77A-55D9-D6006E6BCDCB}"/>
                </a:ext>
              </a:extLst>
            </p:cNvPr>
            <p:cNvSpPr txBox="1"/>
            <p:nvPr/>
          </p:nvSpPr>
          <p:spPr>
            <a:xfrm>
              <a:off x="9072636" y="215815"/>
              <a:ext cx="2751018" cy="1408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 err="1"/>
                <a:t>Reingeniería</a:t>
              </a:r>
              <a:r>
                <a:rPr lang="en-CA" sz="1000" noProof="0"/>
                <a:t> </a:t>
              </a:r>
              <a:r>
                <a:rPr lang="en-CA" sz="1000"/>
                <a:t>y Entrega </a:t>
              </a:r>
              <a:r>
                <a:rPr lang="en-CA" sz="1000" noProof="0"/>
                <a:t>Fase A (~10 </a:t>
              </a:r>
              <a:r>
                <a:rPr lang="en-CA" sz="1000" noProof="0" err="1"/>
                <a:t>sem</a:t>
              </a:r>
              <a:r>
                <a:rPr lang="en-CA" sz="1000" noProof="0"/>
                <a:t>)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92A4BCD-976C-244C-F3C7-13F9BD322356}"/>
                </a:ext>
              </a:extLst>
            </p:cNvPr>
            <p:cNvSpPr/>
            <p:nvPr/>
          </p:nvSpPr>
          <p:spPr>
            <a:xfrm flipV="1">
              <a:off x="8739631" y="865040"/>
              <a:ext cx="250813" cy="14081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s-MX" err="1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ADED024-FD94-F898-8B79-1C5300079F71}"/>
                </a:ext>
              </a:extLst>
            </p:cNvPr>
            <p:cNvSpPr txBox="1"/>
            <p:nvPr/>
          </p:nvSpPr>
          <p:spPr>
            <a:xfrm>
              <a:off x="9072635" y="853029"/>
              <a:ext cx="2017427" cy="1408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en-CA" sz="1000" noProof="0"/>
                <a:t>Fuera de </a:t>
              </a:r>
              <a:r>
                <a:rPr lang="en-CA" sz="1000" noProof="0" err="1"/>
                <a:t>alcance</a:t>
              </a:r>
              <a:endParaRPr lang="en-CA" sz="10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5998401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41640-D2D7-2C56-C1CD-910951BA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C85B3ED-F733-F206-DD82-9078C4819EA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85B3ED-F733-F206-DD82-9078C4819E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8BB2004-AA8A-67A9-2BCB-5BE565E7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36" y="2551673"/>
            <a:ext cx="11143252" cy="954708"/>
          </a:xfrm>
        </p:spPr>
        <p:txBody>
          <a:bodyPr vert="horz" rIns="91440"/>
          <a:lstStyle/>
          <a:p>
            <a:r>
              <a:rPr lang="en-US"/>
              <a:t>SOPORTE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E4DE9F-A1EB-77DD-0CD8-25ECC1765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856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rgbClr val="0041F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es-MX" smtClean="0"/>
              <a:pPr/>
              <a:t>15</a:t>
            </a:fld>
            <a:endParaRPr lang="es-MX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C13E35-8C5C-8345-80B1-45FCE4744342}"/>
              </a:ext>
            </a:extLst>
          </p:cNvPr>
          <p:cNvSpPr/>
          <p:nvPr/>
        </p:nvSpPr>
        <p:spPr>
          <a:xfrm>
            <a:off x="-266700" y="3351773"/>
            <a:ext cx="7708900" cy="11938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</p:spTree>
    <p:extLst>
      <p:ext uri="{BB962C8B-B14F-4D97-AF65-F5344CB8AC3E}">
        <p14:creationId xmlns:p14="http://schemas.microsoft.com/office/powerpoint/2010/main" val="1217646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140D6-8798-1F7A-3625-2AD55BE5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hink-cell data - do not delete" hidden="1">
            <a:extLst>
              <a:ext uri="{FF2B5EF4-FFF2-40B4-BE49-F238E27FC236}">
                <a16:creationId xmlns:a16="http://schemas.microsoft.com/office/drawing/2014/main" id="{C4566940-23F4-3F47-42D8-76A855124B5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924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8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566940-23F4-3F47-42D8-76A855124B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AFA465D-BB78-3CC9-DA53-19A2C7C99D83}"/>
              </a:ext>
            </a:extLst>
          </p:cNvPr>
          <p:cNvSpPr/>
          <p:nvPr/>
        </p:nvSpPr>
        <p:spPr>
          <a:xfrm>
            <a:off x="10257235" y="3551230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Funcionales</a:t>
            </a:r>
            <a:endParaRPr lang="en-U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F0BB830-6539-E7ED-CDE9-6C392F458D60}"/>
              </a:ext>
            </a:extLst>
          </p:cNvPr>
          <p:cNvSpPr/>
          <p:nvPr/>
        </p:nvSpPr>
        <p:spPr>
          <a:xfrm>
            <a:off x="10257235" y="3362293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Preparación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Ejecución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UAT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CFD2251-0587-7525-49B1-4C3C0A3E0592}"/>
              </a:ext>
            </a:extLst>
          </p:cNvPr>
          <p:cNvSpPr/>
          <p:nvPr/>
        </p:nvSpPr>
        <p:spPr>
          <a:xfrm>
            <a:off x="10257235" y="3173359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Preparación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Ejecución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SIT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8A6E755-C816-D86A-CC6B-FB28DBF29FE2}"/>
              </a:ext>
            </a:extLst>
          </p:cNvPr>
          <p:cNvSpPr/>
          <p:nvPr/>
        </p:nvSpPr>
        <p:spPr>
          <a:xfrm>
            <a:off x="8614481" y="4796711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Cutover / Go-Live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51142E47-ECE2-752F-D999-81AD48BB5268}"/>
              </a:ext>
            </a:extLst>
          </p:cNvPr>
          <p:cNvSpPr/>
          <p:nvPr/>
        </p:nvSpPr>
        <p:spPr>
          <a:xfrm>
            <a:off x="5115640" y="2924066"/>
            <a:ext cx="1496152" cy="148751"/>
          </a:xfrm>
          <a:prstGeom prst="roundRect">
            <a:avLst/>
          </a:prstGeom>
          <a:solidFill>
            <a:schemeClr val="accent6">
              <a:lumMod val="90000"/>
              <a:alpha val="50196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Set-Up de Requerimientos 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(Metod)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AFF44765-E3D2-CD29-906B-48F193A6B9B5}"/>
              </a:ext>
            </a:extLst>
          </p:cNvPr>
          <p:cNvSpPr/>
          <p:nvPr/>
        </p:nvSpPr>
        <p:spPr>
          <a:xfrm>
            <a:off x="5115640" y="3477536"/>
            <a:ext cx="1496152" cy="148751"/>
          </a:xfrm>
          <a:prstGeom prst="roundRect">
            <a:avLst/>
          </a:prstGeom>
          <a:solidFill>
            <a:schemeClr val="accent6">
              <a:lumMod val="90000"/>
              <a:alpha val="50196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Modelado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Procesos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Negocio</a:t>
            </a:r>
            <a:endParaRPr lang="en-U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89B9FA2B-535F-ED69-9785-C73374CCA0CB}"/>
              </a:ext>
            </a:extLst>
          </p:cNvPr>
          <p:cNvSpPr/>
          <p:nvPr/>
        </p:nvSpPr>
        <p:spPr>
          <a:xfrm>
            <a:off x="5115640" y="3108556"/>
            <a:ext cx="1496152" cy="148751"/>
          </a:xfrm>
          <a:prstGeom prst="roundRect">
            <a:avLst/>
          </a:prstGeom>
          <a:solidFill>
            <a:schemeClr val="accent6">
              <a:lumMod val="90000"/>
              <a:alpha val="50196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 </a:t>
            </a:r>
            <a:r>
              <a:rPr lang="es-E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  <a:endParaRPr lang="es-E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FCF929F-6312-EE02-24BB-0065F17D78B1}"/>
              </a:ext>
            </a:extLst>
          </p:cNvPr>
          <p:cNvSpPr/>
          <p:nvPr/>
        </p:nvSpPr>
        <p:spPr>
          <a:xfrm>
            <a:off x="5115639" y="4891077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 cap="flat" cmpd="sng" algn="ctr">
            <a:solidFill>
              <a:schemeClr val="accent6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Entrega &amp; Best Practices (Metod)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AE9FEEE7-3CAD-1C33-6C17-52030293BA23}"/>
              </a:ext>
            </a:extLst>
          </p:cNvPr>
          <p:cNvSpPr/>
          <p:nvPr/>
        </p:nvSpPr>
        <p:spPr>
          <a:xfrm>
            <a:off x="5115639" y="5076193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 cap="flat" cmpd="sng" algn="ctr">
            <a:solidFill>
              <a:schemeClr val="accent6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Pruebas de Producto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3670CBEC-3C7B-7F08-15C2-C8973FF76685}"/>
              </a:ext>
            </a:extLst>
          </p:cNvPr>
          <p:cNvSpPr/>
          <p:nvPr/>
        </p:nvSpPr>
        <p:spPr>
          <a:xfrm>
            <a:off x="8642995" y="3929100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Pruebas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Migración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E2E (Mocks)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B54BB6FB-EE87-13FB-4849-0ECF3F338B13}"/>
              </a:ext>
            </a:extLst>
          </p:cNvPr>
          <p:cNvSpPr/>
          <p:nvPr/>
        </p:nvSpPr>
        <p:spPr>
          <a:xfrm>
            <a:off x="8642995" y="3173359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Mapeo y Limpieza de Datos</a:t>
            </a: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0DF315CE-ECAA-825F-BBAF-0A47C44B4867}"/>
              </a:ext>
            </a:extLst>
          </p:cNvPr>
          <p:cNvSpPr/>
          <p:nvPr/>
        </p:nvSpPr>
        <p:spPr>
          <a:xfrm>
            <a:off x="8642995" y="3362295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Coord. de Extracción de Datos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EEF358F0-7B4E-ADE0-D19F-B440D0CEE8F2}"/>
              </a:ext>
            </a:extLst>
          </p:cNvPr>
          <p:cNvSpPr/>
          <p:nvPr/>
        </p:nvSpPr>
        <p:spPr>
          <a:xfrm>
            <a:off x="8642995" y="3551230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Transformación y Carga de Datos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D980A550-19F6-9944-5901-95E8D39CF39F}"/>
              </a:ext>
            </a:extLst>
          </p:cNvPr>
          <p:cNvSpPr/>
          <p:nvPr/>
        </p:nvSpPr>
        <p:spPr>
          <a:xfrm>
            <a:off x="8642995" y="3740167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Reconciliación de Datos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E276318C-B8F3-95FE-3179-9AB1CCAFFF0C}"/>
              </a:ext>
            </a:extLst>
          </p:cNvPr>
          <p:cNvSpPr/>
          <p:nvPr/>
        </p:nvSpPr>
        <p:spPr>
          <a:xfrm>
            <a:off x="6979919" y="3551230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Diseño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Interfaces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43098AA6-E76A-586A-203C-2D3426EDAA25}"/>
              </a:ext>
            </a:extLst>
          </p:cNvPr>
          <p:cNvSpPr/>
          <p:nvPr/>
        </p:nvSpPr>
        <p:spPr>
          <a:xfrm>
            <a:off x="6979919" y="3173359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Configuración de Integraciones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F0ED3265-EA74-21A2-48A6-BA8359F4D92C}"/>
              </a:ext>
            </a:extLst>
          </p:cNvPr>
          <p:cNvSpPr/>
          <p:nvPr/>
        </p:nvSpPr>
        <p:spPr>
          <a:xfrm>
            <a:off x="6979919" y="3740167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>
              <a:defRPr/>
            </a:pP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/>
                <a:ea typeface="Calibri"/>
                <a:cs typeface="Calibri"/>
              </a:rPr>
              <a:t>Validación de SDLC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E7BAE4D8-A33D-6214-715E-33B694EEAD6E}"/>
              </a:ext>
            </a:extLst>
          </p:cNvPr>
          <p:cNvSpPr/>
          <p:nvPr/>
        </p:nvSpPr>
        <p:spPr>
          <a:xfrm>
            <a:off x="6979919" y="3362295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>
              <a:defRPr/>
            </a:pP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Levantamiento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Req. Interfaces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76EE4DA0-E03C-E8E9-13E2-60FBB290587B}"/>
              </a:ext>
            </a:extLst>
          </p:cNvPr>
          <p:cNvSpPr/>
          <p:nvPr/>
        </p:nvSpPr>
        <p:spPr>
          <a:xfrm>
            <a:off x="6979919" y="3929100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>
              <a:defRPr/>
            </a:pP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Cambios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Sistemas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Legados</a:t>
            </a:r>
            <a:endParaRPr lang="en-U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B27BE223-9912-EAC0-1C3A-4F201A9F8C98}"/>
              </a:ext>
            </a:extLst>
          </p:cNvPr>
          <p:cNvSpPr/>
          <p:nvPr/>
        </p:nvSpPr>
        <p:spPr>
          <a:xfrm>
            <a:off x="10257235" y="3740164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Gestión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Defectos</a:t>
            </a:r>
            <a:endParaRPr lang="en-U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782638B3-8D7F-E7A9-A408-3B6FF83EC7B2}"/>
              </a:ext>
            </a:extLst>
          </p:cNvPr>
          <p:cNvSpPr/>
          <p:nvPr/>
        </p:nvSpPr>
        <p:spPr>
          <a:xfrm>
            <a:off x="6979919" y="4424092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de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Capacitación</a:t>
            </a:r>
            <a:endParaRPr lang="en-U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2BA385C5-FE0F-98A7-4F6C-ADA5C879615B}"/>
              </a:ext>
            </a:extLst>
          </p:cNvPr>
          <p:cNvSpPr/>
          <p:nvPr/>
        </p:nvSpPr>
        <p:spPr>
          <a:xfrm>
            <a:off x="6979919" y="4610507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Ejecución de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Capacitaciones</a:t>
            </a:r>
            <a:endParaRPr lang="es-E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1FAEEF69-3131-DF8E-B8DC-08A54A7DCE47}"/>
              </a:ext>
            </a:extLst>
          </p:cNvPr>
          <p:cNvSpPr/>
          <p:nvPr/>
        </p:nvSpPr>
        <p:spPr>
          <a:xfrm>
            <a:off x="6979919" y="4983339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Ejecución de Comunicaciones</a:t>
            </a: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CB02A34E-BEE5-6D64-4847-B1EB930509EA}"/>
              </a:ext>
            </a:extLst>
          </p:cNvPr>
          <p:cNvSpPr/>
          <p:nvPr/>
        </p:nvSpPr>
        <p:spPr>
          <a:xfrm>
            <a:off x="6979919" y="4796923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de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Comunicación</a:t>
            </a:r>
            <a:endParaRPr lang="en-U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BF56572C-7DD6-BF3E-39A9-0DC081AB8328}"/>
              </a:ext>
            </a:extLst>
          </p:cNvPr>
          <p:cNvSpPr/>
          <p:nvPr/>
        </p:nvSpPr>
        <p:spPr>
          <a:xfrm>
            <a:off x="10257235" y="4430325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Authority</a:t>
            </a: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ED633CB7-09D9-8123-FF02-CFB624F44F9B}"/>
              </a:ext>
            </a:extLst>
          </p:cNvPr>
          <p:cNvSpPr/>
          <p:nvPr/>
        </p:nvSpPr>
        <p:spPr>
          <a:xfrm>
            <a:off x="5115639" y="5261309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 cap="flat" cmpd="sng" algn="ctr">
            <a:solidFill>
              <a:schemeClr val="accent6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Release</a:t>
            </a: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 Management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680D506D-95F1-58B8-3C69-AC9C7111FBEE}"/>
              </a:ext>
            </a:extLst>
          </p:cNvPr>
          <p:cNvSpPr/>
          <p:nvPr/>
        </p:nvSpPr>
        <p:spPr>
          <a:xfrm>
            <a:off x="6979919" y="5612403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s-E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</a:t>
            </a: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y Operación de Infra. </a:t>
            </a:r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5E1C0131-B1BE-D05E-B834-F4B611D08B84}"/>
              </a:ext>
            </a:extLst>
          </p:cNvPr>
          <p:cNvSpPr/>
          <p:nvPr/>
        </p:nvSpPr>
        <p:spPr>
          <a:xfrm>
            <a:off x="6979919" y="5430798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s-E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</a:t>
            </a: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y </a:t>
            </a:r>
            <a:r>
              <a:rPr lang="es-E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</a:t>
            </a: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de Infra. y </a:t>
            </a:r>
            <a:r>
              <a:rPr lang="es-E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</a:t>
            </a: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AAF0E86F-D0D6-EAB0-364A-FF5A4F3C2F51}"/>
              </a:ext>
            </a:extLst>
          </p:cNvPr>
          <p:cNvSpPr/>
          <p:nvPr/>
        </p:nvSpPr>
        <p:spPr>
          <a:xfrm>
            <a:off x="8614481" y="5612411"/>
            <a:ext cx="1496152" cy="148752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Hypercare y DRP</a:t>
            </a: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ECB3D5F8-B805-863A-D737-520392CF575F}"/>
              </a:ext>
            </a:extLst>
          </p:cNvPr>
          <p:cNvSpPr/>
          <p:nvPr/>
        </p:nvSpPr>
        <p:spPr>
          <a:xfrm>
            <a:off x="8614481" y="5430805"/>
            <a:ext cx="1496152" cy="148752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>
            <a:solidFill>
              <a:schemeClr val="accent6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Readiness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8485753D-2D2A-62E9-018F-7E142EF810FF}"/>
              </a:ext>
            </a:extLst>
          </p:cNvPr>
          <p:cNvSpPr/>
          <p:nvPr/>
        </p:nvSpPr>
        <p:spPr>
          <a:xfrm>
            <a:off x="5115639" y="5446426"/>
            <a:ext cx="1496152" cy="148751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 cap="flat" cmpd="sng" algn="ctr">
            <a:solidFill>
              <a:schemeClr val="accent6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Dependencias</a:t>
            </a:r>
          </a:p>
        </p:txBody>
      </p:sp>
      <p:sp>
        <p:nvSpPr>
          <p:cNvPr id="182" name="Rectangle: Top Corners Rounded 50">
            <a:extLst>
              <a:ext uri="{FF2B5EF4-FFF2-40B4-BE49-F238E27FC236}">
                <a16:creationId xmlns:a16="http://schemas.microsoft.com/office/drawing/2014/main" id="{117B69F0-189B-DE77-B2B5-EFB214568B1E}"/>
              </a:ext>
            </a:extLst>
          </p:cNvPr>
          <p:cNvSpPr/>
          <p:nvPr/>
        </p:nvSpPr>
        <p:spPr bwMode="auto">
          <a:xfrm>
            <a:off x="5156914" y="1742824"/>
            <a:ext cx="1343497" cy="136782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 cap="flat" cmpd="sng" algn="ctr">
            <a:solidFill>
              <a:schemeClr val="accent6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Graphik" panose="020B0503030202060203" pitchFamily="34" charset="0"/>
                <a:cs typeface="Calibri" panose="020F0502020204030204" pitchFamily="34" charset="0"/>
              </a:rPr>
              <a:t>Gestión Plan de Ejecución (PM)</a:t>
            </a:r>
          </a:p>
        </p:txBody>
      </p:sp>
      <p:sp>
        <p:nvSpPr>
          <p:cNvPr id="186" name="Rectangle: Top Corners Rounded 46">
            <a:extLst>
              <a:ext uri="{FF2B5EF4-FFF2-40B4-BE49-F238E27FC236}">
                <a16:creationId xmlns:a16="http://schemas.microsoft.com/office/drawing/2014/main" id="{BAB14F20-FB94-A105-6383-B30918C50C30}"/>
              </a:ext>
            </a:extLst>
          </p:cNvPr>
          <p:cNvSpPr>
            <a:spLocks/>
          </p:cNvSpPr>
          <p:nvPr/>
        </p:nvSpPr>
        <p:spPr bwMode="auto">
          <a:xfrm>
            <a:off x="6674364" y="1740182"/>
            <a:ext cx="1143786" cy="139426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 cap="flat" cmpd="sng" algn="ctr">
            <a:solidFill>
              <a:schemeClr val="accent6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Graphik" panose="020B0503030202060203" pitchFamily="34" charset="0"/>
                <a:cs typeface="Calibri" panose="020F0502020204030204" pitchFamily="34" charset="0"/>
              </a:rPr>
              <a:t>Gestión de Recursos</a:t>
            </a:r>
          </a:p>
        </p:txBody>
      </p:sp>
      <p:sp>
        <p:nvSpPr>
          <p:cNvPr id="187" name="Rectangle: Top Corners Rounded 46">
            <a:extLst>
              <a:ext uri="{FF2B5EF4-FFF2-40B4-BE49-F238E27FC236}">
                <a16:creationId xmlns:a16="http://schemas.microsoft.com/office/drawing/2014/main" id="{90A79E7A-9761-6AF8-65E8-0BE678BCA816}"/>
              </a:ext>
            </a:extLst>
          </p:cNvPr>
          <p:cNvSpPr>
            <a:spLocks/>
          </p:cNvSpPr>
          <p:nvPr/>
        </p:nvSpPr>
        <p:spPr bwMode="auto">
          <a:xfrm>
            <a:off x="9090817" y="1740182"/>
            <a:ext cx="1143786" cy="139426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 cap="flat" cmpd="sng" algn="ctr">
            <a:solidFill>
              <a:schemeClr val="accent6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Graphik" panose="020B0503030202060203" pitchFamily="34" charset="0"/>
                <a:cs typeface="Calibri" panose="020F0502020204030204" pitchFamily="34" charset="0"/>
              </a:rPr>
              <a:t>Gestión de </a:t>
            </a:r>
            <a:r>
              <a:rPr lang="es-MX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Comms</a:t>
            </a:r>
            <a:r>
              <a:rPr lang="es-MX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.</a:t>
            </a:r>
            <a:endParaRPr kumimoji="0" lang="es-MX" sz="70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188" name="Rectangle: Top Corners Rounded 46">
            <a:extLst>
              <a:ext uri="{FF2B5EF4-FFF2-40B4-BE49-F238E27FC236}">
                <a16:creationId xmlns:a16="http://schemas.microsoft.com/office/drawing/2014/main" id="{F0353AC7-D435-CE69-9BBD-9C740DCFA519}"/>
              </a:ext>
            </a:extLst>
          </p:cNvPr>
          <p:cNvSpPr>
            <a:spLocks/>
          </p:cNvSpPr>
          <p:nvPr/>
        </p:nvSpPr>
        <p:spPr bwMode="auto">
          <a:xfrm>
            <a:off x="6674364" y="1539427"/>
            <a:ext cx="1143786" cy="139426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 cap="flat" cmpd="sng" algn="ctr">
            <a:solidFill>
              <a:schemeClr val="accent6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Graphik" panose="020B0503030202060203" pitchFamily="34" charset="0"/>
                <a:cs typeface="Calibri" panose="020F0502020204030204" pitchFamily="34" charset="0"/>
              </a:rPr>
              <a:t>Gestión de Alcances</a:t>
            </a:r>
          </a:p>
        </p:txBody>
      </p:sp>
      <p:sp>
        <p:nvSpPr>
          <p:cNvPr id="190" name="Rectangle: Top Corners Rounded 46">
            <a:extLst>
              <a:ext uri="{FF2B5EF4-FFF2-40B4-BE49-F238E27FC236}">
                <a16:creationId xmlns:a16="http://schemas.microsoft.com/office/drawing/2014/main" id="{539DC996-8A0D-896A-0756-CB27E5561E1C}"/>
              </a:ext>
            </a:extLst>
          </p:cNvPr>
          <p:cNvSpPr>
            <a:spLocks/>
          </p:cNvSpPr>
          <p:nvPr/>
        </p:nvSpPr>
        <p:spPr bwMode="auto">
          <a:xfrm>
            <a:off x="9090817" y="1546062"/>
            <a:ext cx="1143786" cy="139426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 cap="flat" cmpd="sng" algn="ctr">
            <a:solidFill>
              <a:schemeClr val="accent6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Gestión Documental</a:t>
            </a:r>
          </a:p>
        </p:txBody>
      </p:sp>
      <p:sp>
        <p:nvSpPr>
          <p:cNvPr id="191" name="Rectangle: Top Corners Rounded 46">
            <a:extLst>
              <a:ext uri="{FF2B5EF4-FFF2-40B4-BE49-F238E27FC236}">
                <a16:creationId xmlns:a16="http://schemas.microsoft.com/office/drawing/2014/main" id="{286A4D11-E702-FD90-E459-5BB6D764CA61}"/>
              </a:ext>
            </a:extLst>
          </p:cNvPr>
          <p:cNvSpPr>
            <a:spLocks/>
          </p:cNvSpPr>
          <p:nvPr/>
        </p:nvSpPr>
        <p:spPr bwMode="auto">
          <a:xfrm>
            <a:off x="9090817" y="1940936"/>
            <a:ext cx="1143786" cy="139426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 cap="flat" cmpd="sng" algn="ctr">
            <a:solidFill>
              <a:schemeClr val="accent6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Gestión de Conocimiento</a:t>
            </a:r>
          </a:p>
        </p:txBody>
      </p:sp>
      <p:sp>
        <p:nvSpPr>
          <p:cNvPr id="196" name="Freeform 3">
            <a:extLst>
              <a:ext uri="{FF2B5EF4-FFF2-40B4-BE49-F238E27FC236}">
                <a16:creationId xmlns:a16="http://schemas.microsoft.com/office/drawing/2014/main" id="{3AB3388A-8C96-3B30-268D-2885D7D0FF1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726339" y="1640505"/>
            <a:ext cx="3337056" cy="5048472"/>
          </a:xfrm>
          <a:prstGeom prst="roundRect">
            <a:avLst>
              <a:gd name="adj" fmla="val 4624"/>
            </a:avLst>
          </a:prstGeom>
          <a:solidFill>
            <a:srgbClr val="F2F2F2">
              <a:alpha val="74902"/>
            </a:srgbClr>
          </a:solidFill>
          <a:ln w="38100">
            <a:solidFill>
              <a:schemeClr val="bg1"/>
            </a:solidFill>
          </a:ln>
          <a:effectLst/>
        </p:spPr>
        <p:txBody>
          <a:bodyPr wrap="none" anchor="ctr"/>
          <a:lstStyle/>
          <a:p>
            <a:endParaRPr lang="en-US" sz="3200">
              <a:latin typeface="+mj-lt"/>
            </a:endParaRPr>
          </a:p>
        </p:txBody>
      </p:sp>
      <p:sp>
        <p:nvSpPr>
          <p:cNvPr id="89" name="Title 1">
            <a:extLst>
              <a:ext uri="{FF2B5EF4-FFF2-40B4-BE49-F238E27FC236}">
                <a16:creationId xmlns:a16="http://schemas.microsoft.com/office/drawing/2014/main" id="{62ECD1EF-0F2C-8070-FBD7-930A17C09534}"/>
              </a:ext>
            </a:extLst>
          </p:cNvPr>
          <p:cNvSpPr txBox="1">
            <a:spLocks/>
          </p:cNvSpPr>
          <p:nvPr/>
        </p:nvSpPr>
        <p:spPr>
          <a:xfrm>
            <a:off x="896111" y="235161"/>
            <a:ext cx="10558775" cy="541015"/>
          </a:xfrm>
        </p:spPr>
        <p:txBody>
          <a:bodyPr vert="horz" rIns="9144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/>
              <a:t>Entrega: Oficina de Gestión y acompañamiento técnico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B3B32AF-59C9-AB29-ED25-2DFDC107FDD5}"/>
              </a:ext>
            </a:extLst>
          </p:cNvPr>
          <p:cNvSpPr txBox="1"/>
          <p:nvPr/>
        </p:nvSpPr>
        <p:spPr>
          <a:xfrm>
            <a:off x="5732722" y="5988820"/>
            <a:ext cx="1920240" cy="215444"/>
          </a:xfrm>
          <a:prstGeom prst="rect">
            <a:avLst/>
          </a:prstGeom>
          <a:noFill/>
        </p:spPr>
        <p:txBody>
          <a:bodyPr wrap="square" lIns="9144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kern="0">
                <a:solidFill>
                  <a:srgbClr val="000000"/>
                </a:solidFill>
                <a:latin typeface="Graphik" panose="020B0503030202060203" pitchFamily="34" charset="0"/>
              </a:rPr>
              <a:t>Bases de Modelo de </a:t>
            </a:r>
            <a:r>
              <a:rPr lang="en-US" sz="800" i="1" kern="0" err="1">
                <a:solidFill>
                  <a:srgbClr val="000000"/>
                </a:solidFill>
                <a:latin typeface="Graphik" panose="020B0503030202060203" pitchFamily="34" charset="0"/>
              </a:rPr>
              <a:t>Gobierno</a:t>
            </a:r>
            <a:endParaRPr lang="en-US" sz="800" i="1" kern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97" name="Rectangle: Top Corners Rounded 50">
            <a:extLst>
              <a:ext uri="{FF2B5EF4-FFF2-40B4-BE49-F238E27FC236}">
                <a16:creationId xmlns:a16="http://schemas.microsoft.com/office/drawing/2014/main" id="{7D12C732-8C77-E28D-DE21-5B5F9ADCDB6F}"/>
              </a:ext>
            </a:extLst>
          </p:cNvPr>
          <p:cNvSpPr/>
          <p:nvPr/>
        </p:nvSpPr>
        <p:spPr bwMode="auto">
          <a:xfrm>
            <a:off x="5561448" y="6025002"/>
            <a:ext cx="179886" cy="166536"/>
          </a:xfrm>
          <a:prstGeom prst="roundRect">
            <a:avLst/>
          </a:prstGeom>
          <a:solidFill>
            <a:srgbClr val="D2D9FA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sz="8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68DE461-7D37-BC61-FB84-ECE5D3A6A021}"/>
              </a:ext>
            </a:extLst>
          </p:cNvPr>
          <p:cNvSpPr txBox="1"/>
          <p:nvPr/>
        </p:nvSpPr>
        <p:spPr>
          <a:xfrm>
            <a:off x="10083394" y="5988820"/>
            <a:ext cx="1920240" cy="215444"/>
          </a:xfrm>
          <a:prstGeom prst="rect">
            <a:avLst/>
          </a:prstGeom>
          <a:noFill/>
        </p:spPr>
        <p:txBody>
          <a:bodyPr wrap="square" lIns="91440">
            <a:spAutoFit/>
          </a:bodyPr>
          <a:lstStyle/>
          <a:p>
            <a:pPr>
              <a:spcAft>
                <a:spcPts val="400"/>
              </a:spcAft>
              <a:buClr>
                <a:schemeClr val="bg1"/>
              </a:buClr>
            </a:pPr>
            <a:r>
              <a:rPr lang="es-ES" sz="800" i="1"/>
              <a:t>Fuera del alcance</a:t>
            </a:r>
            <a:endParaRPr lang="es-ES" sz="800" i="1">
              <a:solidFill>
                <a:schemeClr val="tx1"/>
              </a:solidFill>
            </a:endParaRPr>
          </a:p>
        </p:txBody>
      </p:sp>
      <p:sp>
        <p:nvSpPr>
          <p:cNvPr id="102" name="Rectangle: Top Corners Rounded 50">
            <a:extLst>
              <a:ext uri="{FF2B5EF4-FFF2-40B4-BE49-F238E27FC236}">
                <a16:creationId xmlns:a16="http://schemas.microsoft.com/office/drawing/2014/main" id="{75D5A456-671A-8774-2B12-F483934DA323}"/>
              </a:ext>
            </a:extLst>
          </p:cNvPr>
          <p:cNvSpPr/>
          <p:nvPr/>
        </p:nvSpPr>
        <p:spPr bwMode="auto">
          <a:xfrm>
            <a:off x="7601688" y="6025002"/>
            <a:ext cx="179886" cy="16653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sz="8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103" name="Rectangle: Top Corners Rounded 50">
            <a:extLst>
              <a:ext uri="{FF2B5EF4-FFF2-40B4-BE49-F238E27FC236}">
                <a16:creationId xmlns:a16="http://schemas.microsoft.com/office/drawing/2014/main" id="{E31FFA33-EC9F-A0A6-E641-2FFE4629B593}"/>
              </a:ext>
            </a:extLst>
          </p:cNvPr>
          <p:cNvSpPr/>
          <p:nvPr/>
        </p:nvSpPr>
        <p:spPr bwMode="auto">
          <a:xfrm>
            <a:off x="9912120" y="6025002"/>
            <a:ext cx="179886" cy="166536"/>
          </a:xfrm>
          <a:prstGeom prst="roundRect">
            <a:avLst/>
          </a:prstGeom>
          <a:solidFill>
            <a:schemeClr val="accent6">
              <a:lumMod val="90000"/>
            </a:schemeClr>
          </a:solidFill>
          <a:ln w="19050" cap="flat" cmpd="sng" algn="ctr">
            <a:solidFill>
              <a:schemeClr val="accent6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sz="8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C212D2F-680E-2541-4221-CE99487E355A}"/>
              </a:ext>
            </a:extLst>
          </p:cNvPr>
          <p:cNvSpPr/>
          <p:nvPr/>
        </p:nvSpPr>
        <p:spPr>
          <a:xfrm>
            <a:off x="381001" y="1510485"/>
            <a:ext cx="4210785" cy="1452139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t"/>
          <a:lstStyle/>
          <a:p>
            <a:pPr marL="225425" marR="0" lvl="2" indent="-1079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Definir la Oficina de Gestión, sus responsabilidades, mecanismos de operación y principales interacciones con los equipos del programa</a:t>
            </a:r>
          </a:p>
          <a:p>
            <a:pPr marL="225425" marR="0" lvl="2" indent="-1079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Establecer el Modelo de Gobierno, incluyendo foros, cadencia, participantes, objetivos, insumos y mecanismos de toma de decisión</a:t>
            </a:r>
          </a:p>
          <a:p>
            <a:pPr marL="225425" marR="0" lvl="2" indent="-1079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Acompañar los foros ejecutivos definidos en el Modelo de Gobierno, incluyendo </a:t>
            </a:r>
            <a:r>
              <a:rPr kumimoji="0" lang="es-E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weeklys</a:t>
            </a:r>
            <a:r>
              <a:rPr kumimoji="0" lang="es-E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s-E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SteerCos</a:t>
            </a:r>
            <a:r>
              <a:rPr kumimoji="0" lang="es-E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comités clave, para asegurar alineación, visibilidad y escalamiento oportuno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5136C22-8AC7-0F0A-7530-291D97AFC91D}"/>
              </a:ext>
            </a:extLst>
          </p:cNvPr>
          <p:cNvSpPr/>
          <p:nvPr/>
        </p:nvSpPr>
        <p:spPr>
          <a:xfrm>
            <a:off x="380999" y="3885995"/>
            <a:ext cx="4206241" cy="229859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t"/>
          <a:lstStyle/>
          <a:p>
            <a:pPr marL="225425" lvl="2" indent="-1079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000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Fortalecer las estrategias de </a:t>
            </a:r>
            <a:r>
              <a:rPr lang="es-ES" sz="1000" b="1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integración e interoperabilidad</a:t>
            </a:r>
            <a:r>
              <a:rPr lang="es-ES" sz="1000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000" b="1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migración</a:t>
            </a:r>
            <a:r>
              <a:rPr lang="es-ES" sz="1000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000" b="1" err="1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</a:t>
            </a:r>
            <a:r>
              <a:rPr lang="es-ES" sz="1000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000" b="1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despliegue</a:t>
            </a:r>
            <a:r>
              <a:rPr lang="es-ES" sz="1000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1000" b="1" err="1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decomisionamiento</a:t>
            </a:r>
            <a:r>
              <a:rPr lang="es-ES" sz="1000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asegurando claridad en lineamientos, supuestos y dependencias; e identificación de riesgos principales</a:t>
            </a:r>
          </a:p>
          <a:p>
            <a:pPr marL="225425" lvl="2" indent="-1079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000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Definir el </a:t>
            </a:r>
            <a:r>
              <a:rPr lang="es-ES" sz="1000" b="1" err="1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Blueprint</a:t>
            </a:r>
            <a:r>
              <a:rPr lang="es-ES" sz="1000" b="1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Arquitectura </a:t>
            </a:r>
            <a:r>
              <a:rPr lang="es-ES" sz="1000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 marco de referencia para la toma de decisiones técnicas y alineamiento entre </a:t>
            </a:r>
            <a:r>
              <a:rPr lang="es-ES" sz="1000" err="1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workstreams</a:t>
            </a:r>
            <a:endParaRPr lang="es-ES" sz="1000">
              <a:solidFill>
                <a:prstClr val="black"/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25" lvl="2" indent="-1079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000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Proveer </a:t>
            </a:r>
            <a:r>
              <a:rPr lang="es-ES" sz="1000" b="1" err="1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templates</a:t>
            </a:r>
            <a:r>
              <a:rPr lang="es-ES" sz="1000" b="1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mejores prácticas para el levantamiento de requerimientos</a:t>
            </a:r>
            <a:r>
              <a:rPr lang="es-ES" sz="1000">
                <a:solidFill>
                  <a:prstClr val="black"/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habilitando mayor consistencia, completitud y trazabilidad de la información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47511D5-D3F9-C797-B38D-6DA6FBE7702D}"/>
              </a:ext>
            </a:extLst>
          </p:cNvPr>
          <p:cNvSpPr txBox="1"/>
          <p:nvPr/>
        </p:nvSpPr>
        <p:spPr>
          <a:xfrm>
            <a:off x="7772962" y="5988820"/>
            <a:ext cx="1920240" cy="338554"/>
          </a:xfrm>
          <a:prstGeom prst="rect">
            <a:avLst/>
          </a:prstGeom>
          <a:noFill/>
        </p:spPr>
        <p:txBody>
          <a:bodyPr wrap="square" lIns="91440">
            <a:spAutoFit/>
          </a:bodyPr>
          <a:lstStyle/>
          <a:p>
            <a:pPr>
              <a:spcAft>
                <a:spcPts val="400"/>
              </a:spcAft>
              <a:buClr>
                <a:schemeClr val="bg1"/>
              </a:buClr>
            </a:pPr>
            <a:r>
              <a:rPr lang="es-ES" sz="800" i="1"/>
              <a:t>Bases de Acompañamiento Técnico</a:t>
            </a:r>
            <a:endParaRPr lang="es-ES" sz="800" i="1">
              <a:solidFill>
                <a:schemeClr val="tx1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E3FB9AF-4F59-14F5-2543-7B2ED589D41C}"/>
              </a:ext>
            </a:extLst>
          </p:cNvPr>
          <p:cNvSpPr txBox="1"/>
          <p:nvPr/>
        </p:nvSpPr>
        <p:spPr>
          <a:xfrm>
            <a:off x="381001" y="1131882"/>
            <a:ext cx="4297680" cy="1828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FORTALECIMIENTO DE LAS BASES DEL MODELO DE GOBIERNO DESDE LA OFICINA DE GESTIÓN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B42E0DC-00E7-DA8B-19E1-A9A5EF591D54}"/>
              </a:ext>
            </a:extLst>
          </p:cNvPr>
          <p:cNvSpPr txBox="1"/>
          <p:nvPr/>
        </p:nvSpPr>
        <p:spPr>
          <a:xfrm>
            <a:off x="381000" y="3498243"/>
            <a:ext cx="4297680" cy="1828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R="0" lvl="0" indent="0" defTabSz="228600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>
              <a:defRPr/>
            </a:pPr>
            <a:r>
              <a:rPr lang="es-ES" sz="1200"/>
              <a:t>REINGENIERÍA DE ESTRATEGIAS DE ENTREGA Y SU ACOMPAÑAMIENTO TÉCNICO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7153A25-F33A-5ABA-C01A-192930834E3D}"/>
              </a:ext>
            </a:extLst>
          </p:cNvPr>
          <p:cNvCxnSpPr>
            <a:cxnSpLocks/>
          </p:cNvCxnSpPr>
          <p:nvPr/>
        </p:nvCxnSpPr>
        <p:spPr>
          <a:xfrm>
            <a:off x="381000" y="1510485"/>
            <a:ext cx="420624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D1087CF-54B1-EABB-2853-361272C740CC}"/>
              </a:ext>
            </a:extLst>
          </p:cNvPr>
          <p:cNvCxnSpPr>
            <a:cxnSpLocks/>
          </p:cNvCxnSpPr>
          <p:nvPr/>
        </p:nvCxnSpPr>
        <p:spPr>
          <a:xfrm>
            <a:off x="381000" y="3885994"/>
            <a:ext cx="4206240" cy="0"/>
          </a:xfrm>
          <a:prstGeom prst="line">
            <a:avLst/>
          </a:prstGeom>
          <a:ln w="381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DC05218-B775-0CF6-8AB0-D883E79D95D4}"/>
              </a:ext>
            </a:extLst>
          </p:cNvPr>
          <p:cNvSpPr/>
          <p:nvPr/>
        </p:nvSpPr>
        <p:spPr>
          <a:xfrm>
            <a:off x="5344418" y="5935213"/>
            <a:ext cx="6060341" cy="327927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  <p:sp>
        <p:nvSpPr>
          <p:cNvPr id="2" name="Freeform 9">
            <a:extLst>
              <a:ext uri="{FF2B5EF4-FFF2-40B4-BE49-F238E27FC236}">
                <a16:creationId xmlns:a16="http://schemas.microsoft.com/office/drawing/2014/main" id="{7ED3247E-2633-A3AD-1280-FCFE48F58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512" y="2183295"/>
            <a:ext cx="6974626" cy="247401"/>
          </a:xfrm>
          <a:prstGeom prst="round2SameRect">
            <a:avLst>
              <a:gd name="adj1" fmla="val 27344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38100">
            <a:solidFill>
              <a:schemeClr val="bg1"/>
            </a:solidFill>
          </a:ln>
          <a:effectLst/>
        </p:spPr>
        <p:txBody>
          <a:bodyPr wrap="none" anchor="ctr"/>
          <a:lstStyle/>
          <a:p>
            <a:endParaRPr lang="en-US" sz="1400">
              <a:latin typeface="+mj-l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BB53EB-9831-2517-282D-6252622F17FC}"/>
              </a:ext>
            </a:extLst>
          </p:cNvPr>
          <p:cNvSpPr txBox="1"/>
          <p:nvPr/>
        </p:nvSpPr>
        <p:spPr>
          <a:xfrm>
            <a:off x="5051703" y="2201040"/>
            <a:ext cx="682269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 err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Acompañamiento</a:t>
            </a:r>
            <a:r>
              <a:rPr lang="en-US" sz="900" b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 Técnico</a:t>
            </a:r>
          </a:p>
        </p:txBody>
      </p:sp>
      <p:sp>
        <p:nvSpPr>
          <p:cNvPr id="98" name="Freeform 3">
            <a:extLst>
              <a:ext uri="{FF2B5EF4-FFF2-40B4-BE49-F238E27FC236}">
                <a16:creationId xmlns:a16="http://schemas.microsoft.com/office/drawing/2014/main" id="{050227BB-B47F-7E05-3342-F7A22178E62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950923" y="2501419"/>
            <a:ext cx="1754822" cy="1743678"/>
          </a:xfrm>
          <a:prstGeom prst="roundRect">
            <a:avLst>
              <a:gd name="adj" fmla="val 9445"/>
            </a:avLst>
          </a:prstGeom>
          <a:solidFill>
            <a:srgbClr val="F2F2F2">
              <a:alpha val="74902"/>
            </a:srgbClr>
          </a:solidFill>
          <a:ln w="38100">
            <a:solidFill>
              <a:schemeClr val="bg1"/>
            </a:solidFill>
          </a:ln>
          <a:effectLst/>
        </p:spPr>
        <p:txBody>
          <a:bodyPr wrap="none" anchor="ctr"/>
          <a:lstStyle/>
          <a:p>
            <a:endParaRPr lang="en-US" sz="3200">
              <a:latin typeface="+mj-lt"/>
            </a:endParaRPr>
          </a:p>
        </p:txBody>
      </p:sp>
      <p:sp>
        <p:nvSpPr>
          <p:cNvPr id="100" name="Freeform 9">
            <a:extLst>
              <a:ext uri="{FF2B5EF4-FFF2-40B4-BE49-F238E27FC236}">
                <a16:creationId xmlns:a16="http://schemas.microsoft.com/office/drawing/2014/main" id="{F304C5EB-5DD0-A69E-01DD-23E57292E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498" y="2434675"/>
            <a:ext cx="1809433" cy="282759"/>
          </a:xfrm>
          <a:prstGeom prst="round2SameRect">
            <a:avLst>
              <a:gd name="adj1" fmla="val 27344"/>
              <a:gd name="adj2" fmla="val 0"/>
            </a:avLst>
          </a:prstGeom>
          <a:solidFill>
            <a:schemeClr val="bg1">
              <a:lumMod val="50000"/>
            </a:schemeClr>
          </a:solidFill>
          <a:ln w="38100">
            <a:solidFill>
              <a:schemeClr val="bg1"/>
            </a:solidFill>
          </a:ln>
          <a:effectLst/>
        </p:spPr>
        <p:txBody>
          <a:bodyPr wrap="none" anchor="ctr"/>
          <a:lstStyle/>
          <a:p>
            <a:endParaRPr lang="en-US" sz="1400">
              <a:latin typeface="+mj-lt"/>
            </a:endParaRPr>
          </a:p>
        </p:txBody>
      </p:sp>
      <p:sp>
        <p:nvSpPr>
          <p:cNvPr id="101" name="Freeform 3">
            <a:extLst>
              <a:ext uri="{FF2B5EF4-FFF2-40B4-BE49-F238E27FC236}">
                <a16:creationId xmlns:a16="http://schemas.microsoft.com/office/drawing/2014/main" id="{BDE48C35-8656-3E09-F04C-9D1E6E77702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136766" y="4127072"/>
            <a:ext cx="1448885" cy="1809435"/>
          </a:xfrm>
          <a:prstGeom prst="roundRect">
            <a:avLst>
              <a:gd name="adj" fmla="val 9445"/>
            </a:avLst>
          </a:prstGeom>
          <a:solidFill>
            <a:srgbClr val="F2F2F2">
              <a:alpha val="74902"/>
            </a:srgbClr>
          </a:solidFill>
          <a:ln w="38100">
            <a:solidFill>
              <a:schemeClr val="bg1"/>
            </a:solidFill>
          </a:ln>
          <a:effectLst/>
        </p:spPr>
        <p:txBody>
          <a:bodyPr wrap="none" anchor="ctr"/>
          <a:lstStyle/>
          <a:p>
            <a:endParaRPr lang="en-US" sz="3200">
              <a:latin typeface="+mj-lt"/>
            </a:endParaRPr>
          </a:p>
        </p:txBody>
      </p:sp>
      <p:sp>
        <p:nvSpPr>
          <p:cNvPr id="115" name="Freeform 9">
            <a:extLst>
              <a:ext uri="{FF2B5EF4-FFF2-40B4-BE49-F238E27FC236}">
                <a16:creationId xmlns:a16="http://schemas.microsoft.com/office/drawing/2014/main" id="{DDFCA2B1-3A36-A345-528E-ED2069606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498" y="4246458"/>
            <a:ext cx="1809433" cy="282759"/>
          </a:xfrm>
          <a:prstGeom prst="round2SameRect">
            <a:avLst>
              <a:gd name="adj1" fmla="val 27344"/>
              <a:gd name="adj2" fmla="val 0"/>
            </a:avLst>
          </a:prstGeom>
          <a:solidFill>
            <a:schemeClr val="bg1">
              <a:lumMod val="50000"/>
            </a:schemeClr>
          </a:solidFill>
          <a:ln w="38100">
            <a:solidFill>
              <a:schemeClr val="bg1"/>
            </a:solidFill>
          </a:ln>
          <a:effectLst/>
        </p:spPr>
        <p:txBody>
          <a:bodyPr wrap="none" anchor="ctr"/>
          <a:lstStyle/>
          <a:p>
            <a:endParaRPr lang="en-US" sz="1400">
              <a:latin typeface="+mj-lt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49887D3-2373-2816-77AA-A4583A0BDA73}"/>
              </a:ext>
            </a:extLst>
          </p:cNvPr>
          <p:cNvSpPr txBox="1"/>
          <p:nvPr/>
        </p:nvSpPr>
        <p:spPr>
          <a:xfrm>
            <a:off x="4956496" y="4278080"/>
            <a:ext cx="1809437" cy="230832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sz="900" b="1" err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Dimensiones</a:t>
            </a:r>
            <a:r>
              <a:rPr lang="en-US" sz="900" b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 </a:t>
            </a:r>
            <a:r>
              <a:rPr lang="en-US" sz="900" b="1" err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por</a:t>
            </a:r>
            <a:r>
              <a:rPr lang="en-US" sz="900" b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 </a:t>
            </a:r>
            <a:r>
              <a:rPr lang="en-US" sz="900" b="1" err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plataforma</a:t>
            </a:r>
            <a:endParaRPr lang="en-US" sz="900" b="1">
              <a:solidFill>
                <a:schemeClr val="bg1"/>
              </a:solidFill>
              <a:latin typeface="+mj-lt"/>
              <a:ea typeface="League Spartan" charset="0"/>
              <a:cs typeface="Poppins SemiBold" pitchFamily="2" charset="7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CDA50E6-4919-1096-43C1-816ED888CB4D}"/>
              </a:ext>
            </a:extLst>
          </p:cNvPr>
          <p:cNvSpPr txBox="1"/>
          <p:nvPr/>
        </p:nvSpPr>
        <p:spPr>
          <a:xfrm>
            <a:off x="4976304" y="2461321"/>
            <a:ext cx="17700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 err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Dimensiones</a:t>
            </a:r>
            <a:r>
              <a:rPr lang="en-US" sz="900" b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 </a:t>
            </a:r>
            <a:r>
              <a:rPr lang="en-US" sz="900" b="1" err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por</a:t>
            </a:r>
            <a:r>
              <a:rPr lang="en-US" sz="900" b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 </a:t>
            </a:r>
            <a:r>
              <a:rPr lang="en-US" sz="900" b="1" err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producto</a:t>
            </a:r>
            <a:endParaRPr lang="en-US" sz="900" b="1">
              <a:solidFill>
                <a:schemeClr val="bg1"/>
              </a:solidFill>
              <a:latin typeface="+mj-lt"/>
              <a:ea typeface="League Spartan" charset="0"/>
              <a:cs typeface="Poppins SemiBold" pitchFamily="2" charset="77"/>
            </a:endParaRPr>
          </a:p>
        </p:txBody>
      </p:sp>
      <p:sp>
        <p:nvSpPr>
          <p:cNvPr id="131" name="Freeform 9">
            <a:extLst>
              <a:ext uri="{FF2B5EF4-FFF2-40B4-BE49-F238E27FC236}">
                <a16:creationId xmlns:a16="http://schemas.microsoft.com/office/drawing/2014/main" id="{50C31445-15C4-F493-68DE-5D7DD58CD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0471" y="2434675"/>
            <a:ext cx="5067265" cy="271359"/>
          </a:xfrm>
          <a:prstGeom prst="round2SameRect">
            <a:avLst>
              <a:gd name="adj1" fmla="val 27344"/>
              <a:gd name="adj2" fmla="val 0"/>
            </a:avLst>
          </a:prstGeom>
          <a:solidFill>
            <a:schemeClr val="bg1">
              <a:lumMod val="50000"/>
            </a:schemeClr>
          </a:solidFill>
          <a:ln w="38100">
            <a:solidFill>
              <a:schemeClr val="bg1"/>
            </a:solidFill>
          </a:ln>
          <a:effectLst/>
        </p:spPr>
        <p:txBody>
          <a:bodyPr wrap="none" anchor="ctr"/>
          <a:lstStyle/>
          <a:p>
            <a:endParaRPr lang="en-US" sz="1050">
              <a:latin typeface="+mj-lt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CFCC995-9390-6990-AB3B-D626F582D617}"/>
              </a:ext>
            </a:extLst>
          </p:cNvPr>
          <p:cNvSpPr txBox="1"/>
          <p:nvPr/>
        </p:nvSpPr>
        <p:spPr>
          <a:xfrm>
            <a:off x="8451542" y="2461321"/>
            <a:ext cx="180943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 err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Dimensiones</a:t>
            </a:r>
            <a:r>
              <a:rPr lang="en-US" sz="900" b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 cross</a:t>
            </a:r>
          </a:p>
        </p:txBody>
      </p:sp>
      <p:sp>
        <p:nvSpPr>
          <p:cNvPr id="177" name="Freeform 3">
            <a:extLst>
              <a:ext uri="{FF2B5EF4-FFF2-40B4-BE49-F238E27FC236}">
                <a16:creationId xmlns:a16="http://schemas.microsoft.com/office/drawing/2014/main" id="{38CDE225-027C-DE9D-37A9-7D16DC6AA90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918899" y="-1846648"/>
            <a:ext cx="1049827" cy="6974635"/>
          </a:xfrm>
          <a:prstGeom prst="roundRect">
            <a:avLst>
              <a:gd name="adj" fmla="val 9445"/>
            </a:avLst>
          </a:prstGeom>
          <a:solidFill>
            <a:srgbClr val="F2F2F2">
              <a:alpha val="74902"/>
            </a:srgbClr>
          </a:solidFill>
          <a:ln w="38100">
            <a:solidFill>
              <a:schemeClr val="bg1"/>
            </a:solidFill>
          </a:ln>
          <a:effectLst/>
        </p:spPr>
        <p:txBody>
          <a:bodyPr wrap="none" anchor="ctr"/>
          <a:lstStyle/>
          <a:p>
            <a:endParaRPr lang="en-US" sz="3200">
              <a:latin typeface="+mj-lt"/>
            </a:endParaRPr>
          </a:p>
        </p:txBody>
      </p:sp>
      <p:sp>
        <p:nvSpPr>
          <p:cNvPr id="178" name="Freeform 9">
            <a:extLst>
              <a:ext uri="{FF2B5EF4-FFF2-40B4-BE49-F238E27FC236}">
                <a16:creationId xmlns:a16="http://schemas.microsoft.com/office/drawing/2014/main" id="{B117D313-D7BD-607E-DA57-CB4F27DDD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512" y="1101768"/>
            <a:ext cx="6974625" cy="247401"/>
          </a:xfrm>
          <a:prstGeom prst="round2SameRect">
            <a:avLst>
              <a:gd name="adj1" fmla="val 27344"/>
              <a:gd name="adj2" fmla="val 0"/>
            </a:avLst>
          </a:prstGeom>
          <a:solidFill>
            <a:srgbClr val="1C41E8"/>
          </a:solidFill>
          <a:ln w="38100">
            <a:solidFill>
              <a:schemeClr val="bg1"/>
            </a:solidFill>
          </a:ln>
          <a:effectLst/>
        </p:spPr>
        <p:txBody>
          <a:bodyPr wrap="none" anchor="ctr"/>
          <a:lstStyle/>
          <a:p>
            <a:endParaRPr lang="en-US" sz="1400">
              <a:latin typeface="+mj-lt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2AFA8D1-A2B5-08B6-C95E-0BAC2CB17E9C}"/>
              </a:ext>
            </a:extLst>
          </p:cNvPr>
          <p:cNvSpPr txBox="1"/>
          <p:nvPr/>
        </p:nvSpPr>
        <p:spPr>
          <a:xfrm>
            <a:off x="5032852" y="1119513"/>
            <a:ext cx="682269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 err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Oficina</a:t>
            </a:r>
            <a:r>
              <a:rPr lang="en-US" sz="900" b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 de </a:t>
            </a:r>
            <a:r>
              <a:rPr lang="en-US" sz="900" b="1" err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Gestión</a:t>
            </a:r>
            <a:r>
              <a:rPr lang="en-US" sz="900" b="1">
                <a:solidFill>
                  <a:schemeClr val="bg1"/>
                </a:solidFill>
                <a:latin typeface="+mj-lt"/>
                <a:ea typeface="League Spartan" charset="0"/>
                <a:cs typeface="Poppins SemiBold" pitchFamily="2" charset="77"/>
              </a:rPr>
              <a:t> / PM Office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9DD102C-79B2-0822-BF6A-67598A259B7A}"/>
              </a:ext>
            </a:extLst>
          </p:cNvPr>
          <p:cNvSpPr txBox="1"/>
          <p:nvPr/>
        </p:nvSpPr>
        <p:spPr>
          <a:xfrm>
            <a:off x="5301872" y="1304117"/>
            <a:ext cx="101428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Dirección</a:t>
            </a:r>
            <a:endParaRPr lang="en-US" sz="900" b="1">
              <a:solidFill>
                <a:schemeClr val="bg2">
                  <a:lumMod val="50000"/>
                </a:schemeClr>
              </a:solidFill>
              <a:latin typeface="+mj-lt"/>
              <a:ea typeface="League Spartan" charset="0"/>
              <a:cs typeface="Poppins SemiBold" pitchFamily="2" charset="77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2C9E00A0-9ACF-A3F2-F809-B89CB6651623}"/>
              </a:ext>
            </a:extLst>
          </p:cNvPr>
          <p:cNvSpPr txBox="1"/>
          <p:nvPr/>
        </p:nvSpPr>
        <p:spPr>
          <a:xfrm>
            <a:off x="7970994" y="1306073"/>
            <a:ext cx="1014285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Gestión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5EA3EDB-24DB-5ADC-DA4D-9252030CC29A}"/>
              </a:ext>
            </a:extLst>
          </p:cNvPr>
          <p:cNvSpPr txBox="1"/>
          <p:nvPr/>
        </p:nvSpPr>
        <p:spPr>
          <a:xfrm>
            <a:off x="10682705" y="1306073"/>
            <a:ext cx="78513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Medición</a:t>
            </a:r>
            <a:endParaRPr lang="en-US" sz="900" b="1">
              <a:solidFill>
                <a:schemeClr val="bg2">
                  <a:lumMod val="50000"/>
                </a:schemeClr>
              </a:solidFill>
              <a:latin typeface="+mj-lt"/>
              <a:ea typeface="League Spartan" charset="0"/>
              <a:cs typeface="Poppins SemiBold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85D0B-918C-34D3-019A-4C6B606F60FA}"/>
              </a:ext>
            </a:extLst>
          </p:cNvPr>
          <p:cNvSpPr txBox="1"/>
          <p:nvPr/>
        </p:nvSpPr>
        <p:spPr>
          <a:xfrm>
            <a:off x="889701" y="622811"/>
            <a:ext cx="108925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i="1">
                <a:latin typeface="Graphik Light" panose="020B0403030202060203" pitchFamily="34" charset="0"/>
              </a:rPr>
              <a:t>Accenture fortalecerá las el gobierno (PM Office) y la entrega técnica con foco en las siguientes capacidades</a:t>
            </a:r>
            <a:endParaRPr lang="es-MX" sz="1600"/>
          </a:p>
        </p:txBody>
      </p:sp>
      <p:sp>
        <p:nvSpPr>
          <p:cNvPr id="201" name="Slide Number Placeholder 200">
            <a:extLst>
              <a:ext uri="{FF2B5EF4-FFF2-40B4-BE49-F238E27FC236}">
                <a16:creationId xmlns:a16="http://schemas.microsoft.com/office/drawing/2014/main" id="{D824F53F-0C80-1510-B9CC-7A95B00AC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4121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es-MX" smtClean="0"/>
              <a:pPr/>
              <a:t>16</a:t>
            </a:fld>
            <a:endParaRPr lang="es-MX"/>
          </a:p>
        </p:txBody>
      </p:sp>
      <p:sp>
        <p:nvSpPr>
          <p:cNvPr id="16" name="Rectangle: Top Corners Rounded 50">
            <a:extLst>
              <a:ext uri="{FF2B5EF4-FFF2-40B4-BE49-F238E27FC236}">
                <a16:creationId xmlns:a16="http://schemas.microsoft.com/office/drawing/2014/main" id="{6E2335EC-5DAF-52FD-FC64-3801FD5DEEEC}"/>
              </a:ext>
            </a:extLst>
          </p:cNvPr>
          <p:cNvSpPr/>
          <p:nvPr/>
        </p:nvSpPr>
        <p:spPr bwMode="auto">
          <a:xfrm>
            <a:off x="5156914" y="1539427"/>
            <a:ext cx="1343497" cy="1367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Graphik" panose="020B0503030202060203" pitchFamily="34" charset="0"/>
                <a:cs typeface="Calibri" panose="020F0502020204030204" pitchFamily="34" charset="0"/>
              </a:rPr>
              <a:t>Foros de Gobierno</a:t>
            </a:r>
          </a:p>
        </p:txBody>
      </p:sp>
      <p:sp>
        <p:nvSpPr>
          <p:cNvPr id="17" name="Rectangle: Top Corners Rounded 49">
            <a:extLst>
              <a:ext uri="{FF2B5EF4-FFF2-40B4-BE49-F238E27FC236}">
                <a16:creationId xmlns:a16="http://schemas.microsoft.com/office/drawing/2014/main" id="{79E5AF46-DF02-CACA-32A5-3BCB620F2E3C}"/>
              </a:ext>
            </a:extLst>
          </p:cNvPr>
          <p:cNvSpPr/>
          <p:nvPr/>
        </p:nvSpPr>
        <p:spPr bwMode="auto">
          <a:xfrm>
            <a:off x="6674364" y="1940936"/>
            <a:ext cx="1143786" cy="1394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G. riesgos y dependencias</a:t>
            </a:r>
          </a:p>
        </p:txBody>
      </p:sp>
      <p:sp>
        <p:nvSpPr>
          <p:cNvPr id="18" name="Rectangle: Top Corners Rounded 46">
            <a:extLst>
              <a:ext uri="{FF2B5EF4-FFF2-40B4-BE49-F238E27FC236}">
                <a16:creationId xmlns:a16="http://schemas.microsoft.com/office/drawing/2014/main" id="{767BEFE0-271C-CF39-6869-0DEF2FAEA5C8}"/>
              </a:ext>
            </a:extLst>
          </p:cNvPr>
          <p:cNvSpPr>
            <a:spLocks/>
          </p:cNvSpPr>
          <p:nvPr/>
        </p:nvSpPr>
        <p:spPr bwMode="auto">
          <a:xfrm>
            <a:off x="7899010" y="1538121"/>
            <a:ext cx="1143786" cy="1394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Gestión de Calidad</a:t>
            </a:r>
          </a:p>
        </p:txBody>
      </p:sp>
      <p:sp>
        <p:nvSpPr>
          <p:cNvPr id="19" name="Rectangle: Top Corners Rounded 46">
            <a:extLst>
              <a:ext uri="{FF2B5EF4-FFF2-40B4-BE49-F238E27FC236}">
                <a16:creationId xmlns:a16="http://schemas.microsoft.com/office/drawing/2014/main" id="{46841CBB-83AC-8D73-3527-E2D331E0E983}"/>
              </a:ext>
            </a:extLst>
          </p:cNvPr>
          <p:cNvSpPr>
            <a:spLocks/>
          </p:cNvSpPr>
          <p:nvPr/>
        </p:nvSpPr>
        <p:spPr bwMode="auto">
          <a:xfrm>
            <a:off x="7899010" y="1940936"/>
            <a:ext cx="1143786" cy="1394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Gestión de Costos</a:t>
            </a:r>
          </a:p>
        </p:txBody>
      </p:sp>
      <p:sp>
        <p:nvSpPr>
          <p:cNvPr id="20" name="Rectangle: Top Corners Rounded 46">
            <a:extLst>
              <a:ext uri="{FF2B5EF4-FFF2-40B4-BE49-F238E27FC236}">
                <a16:creationId xmlns:a16="http://schemas.microsoft.com/office/drawing/2014/main" id="{B6F130D2-8E4A-5B03-F045-461C023341F4}"/>
              </a:ext>
            </a:extLst>
          </p:cNvPr>
          <p:cNvSpPr>
            <a:spLocks/>
          </p:cNvSpPr>
          <p:nvPr/>
        </p:nvSpPr>
        <p:spPr bwMode="auto">
          <a:xfrm>
            <a:off x="7899010" y="1740182"/>
            <a:ext cx="1143786" cy="1394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Gestión de Proveedores</a:t>
            </a:r>
          </a:p>
        </p:txBody>
      </p:sp>
      <p:sp>
        <p:nvSpPr>
          <p:cNvPr id="21" name="Rectangle: Top Corners Rounded 49">
            <a:extLst>
              <a:ext uri="{FF2B5EF4-FFF2-40B4-BE49-F238E27FC236}">
                <a16:creationId xmlns:a16="http://schemas.microsoft.com/office/drawing/2014/main" id="{076112BD-7332-772F-CCD7-DF8C39211E0D}"/>
              </a:ext>
            </a:extLst>
          </p:cNvPr>
          <p:cNvSpPr/>
          <p:nvPr/>
        </p:nvSpPr>
        <p:spPr bwMode="auto">
          <a:xfrm>
            <a:off x="10403526" y="1546062"/>
            <a:ext cx="1343497" cy="1394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Desempeño y Reportes</a:t>
            </a:r>
          </a:p>
        </p:txBody>
      </p:sp>
      <p:sp>
        <p:nvSpPr>
          <p:cNvPr id="23" name="Rectangle: Top Corners Rounded 46">
            <a:extLst>
              <a:ext uri="{FF2B5EF4-FFF2-40B4-BE49-F238E27FC236}">
                <a16:creationId xmlns:a16="http://schemas.microsoft.com/office/drawing/2014/main" id="{922AFBF7-8CDD-FEE8-30EB-7E430568DB3C}"/>
              </a:ext>
            </a:extLst>
          </p:cNvPr>
          <p:cNvSpPr>
            <a:spLocks/>
          </p:cNvSpPr>
          <p:nvPr/>
        </p:nvSpPr>
        <p:spPr bwMode="auto">
          <a:xfrm>
            <a:off x="10403525" y="1740182"/>
            <a:ext cx="1343497" cy="1394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cs typeface="Calibri" panose="020F0502020204030204" pitchFamily="34" charset="0"/>
              </a:rPr>
              <a:t>Realización de Valor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7CA6A5-6FB8-FE2B-9F22-E0026871D8C7}"/>
              </a:ext>
            </a:extLst>
          </p:cNvPr>
          <p:cNvSpPr txBox="1"/>
          <p:nvPr/>
        </p:nvSpPr>
        <p:spPr>
          <a:xfrm>
            <a:off x="5031524" y="2687013"/>
            <a:ext cx="164592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1. </a:t>
            </a:r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Adaptación</a:t>
            </a:r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 de </a:t>
            </a:r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Negocio</a:t>
            </a:r>
            <a:endParaRPr lang="en-US" sz="900" b="1">
              <a:solidFill>
                <a:schemeClr val="bg2">
                  <a:lumMod val="50000"/>
                </a:schemeClr>
              </a:solidFill>
              <a:latin typeface="+mj-lt"/>
              <a:ea typeface="League Spartan" charset="0"/>
              <a:cs typeface="Poppins SemiBold" pitchFamily="2" charset="77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873CE0F-A1C3-B3D5-6EBB-5E9A024C0DEA}"/>
              </a:ext>
            </a:extLst>
          </p:cNvPr>
          <p:cNvSpPr/>
          <p:nvPr/>
        </p:nvSpPr>
        <p:spPr>
          <a:xfrm>
            <a:off x="5115640" y="3293046"/>
            <a:ext cx="1496152" cy="148751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Levantamiento Requerimientos 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4A79E16-8188-EE53-6A76-F9D0136C47A2}"/>
              </a:ext>
            </a:extLst>
          </p:cNvPr>
          <p:cNvSpPr/>
          <p:nvPr/>
        </p:nvSpPr>
        <p:spPr>
          <a:xfrm>
            <a:off x="5115640" y="3662028"/>
            <a:ext cx="1496152" cy="148751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Doc. Específica Funcional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0F4E28-817E-9B0B-F2C2-3983C0F18107}"/>
              </a:ext>
            </a:extLst>
          </p:cNvPr>
          <p:cNvSpPr txBox="1"/>
          <p:nvPr/>
        </p:nvSpPr>
        <p:spPr>
          <a:xfrm>
            <a:off x="5155856" y="3805158"/>
            <a:ext cx="141071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11. Caso de </a:t>
            </a:r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Negocio</a:t>
            </a:r>
            <a:endParaRPr lang="en-US" sz="900" b="1">
              <a:solidFill>
                <a:schemeClr val="bg2">
                  <a:lumMod val="50000"/>
                </a:schemeClr>
              </a:solidFill>
              <a:latin typeface="+mj-lt"/>
              <a:ea typeface="League Spartan" charset="0"/>
              <a:cs typeface="Poppins SemiBold" pitchFamily="2" charset="77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02D93D2-EED6-F513-6353-C4A6E3312562}"/>
              </a:ext>
            </a:extLst>
          </p:cNvPr>
          <p:cNvSpPr/>
          <p:nvPr/>
        </p:nvSpPr>
        <p:spPr>
          <a:xfrm>
            <a:off x="5115640" y="4037694"/>
            <a:ext cx="1496152" cy="148751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Mant. y </a:t>
            </a:r>
            <a:r>
              <a:rPr lang="es-E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</a:t>
            </a: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de Caso de Negocio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C8BBCD-A381-21F6-2398-62FCC03E3D66}"/>
              </a:ext>
            </a:extLst>
          </p:cNvPr>
          <p:cNvSpPr txBox="1"/>
          <p:nvPr/>
        </p:nvSpPr>
        <p:spPr>
          <a:xfrm>
            <a:off x="4977816" y="4489950"/>
            <a:ext cx="1775599" cy="369332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2. </a:t>
            </a:r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Implementación</a:t>
            </a:r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 Plataforma y </a:t>
            </a:r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Cambios</a:t>
            </a:r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 </a:t>
            </a:r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en</a:t>
            </a:r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 Sist. Legados</a:t>
            </a:r>
            <a:r>
              <a:rPr lang="en-US" sz="900" b="1" baseline="30000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1FAD5B-CD47-8208-AA4C-36A8E7D88D7F}"/>
              </a:ext>
            </a:extLst>
          </p:cNvPr>
          <p:cNvSpPr txBox="1"/>
          <p:nvPr/>
        </p:nvSpPr>
        <p:spPr>
          <a:xfrm>
            <a:off x="8647073" y="2688799"/>
            <a:ext cx="1477846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4. </a:t>
            </a:r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Migración</a:t>
            </a:r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 de Datos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18BC62B-1B02-B863-A685-5EE788D3F969}"/>
              </a:ext>
            </a:extLst>
          </p:cNvPr>
          <p:cNvSpPr/>
          <p:nvPr/>
        </p:nvSpPr>
        <p:spPr>
          <a:xfrm>
            <a:off x="8642995" y="2984424"/>
            <a:ext cx="1496152" cy="148751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de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Migración</a:t>
            </a:r>
            <a:endParaRPr lang="en-U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1E3F8D-D70E-3315-21F8-C2A6ADEDF8CA}"/>
              </a:ext>
            </a:extLst>
          </p:cNvPr>
          <p:cNvSpPr txBox="1"/>
          <p:nvPr/>
        </p:nvSpPr>
        <p:spPr>
          <a:xfrm>
            <a:off x="7098809" y="2688799"/>
            <a:ext cx="125336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3. </a:t>
            </a:r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Integración</a:t>
            </a:r>
            <a:endParaRPr lang="en-US" sz="900" b="1">
              <a:solidFill>
                <a:schemeClr val="bg2">
                  <a:lumMod val="50000"/>
                </a:schemeClr>
              </a:solidFill>
              <a:latin typeface="+mj-lt"/>
              <a:ea typeface="League Spartan" charset="0"/>
              <a:cs typeface="Poppins SemiBold" pitchFamily="2" charset="77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A793ADD-3F0B-847D-5004-CD856E08E0AC}"/>
              </a:ext>
            </a:extLst>
          </p:cNvPr>
          <p:cNvSpPr/>
          <p:nvPr/>
        </p:nvSpPr>
        <p:spPr>
          <a:xfrm>
            <a:off x="6979919" y="2984424"/>
            <a:ext cx="1496152" cy="148751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de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Integración</a:t>
            </a:r>
            <a:endParaRPr lang="en-U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D36FA9-E376-3F6B-7DF9-65A0D7D99183}"/>
              </a:ext>
            </a:extLst>
          </p:cNvPr>
          <p:cNvSpPr txBox="1"/>
          <p:nvPr/>
        </p:nvSpPr>
        <p:spPr>
          <a:xfrm>
            <a:off x="10531971" y="2688799"/>
            <a:ext cx="94167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5. Testing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40F312F-7129-1263-B1AA-717243F91945}"/>
              </a:ext>
            </a:extLst>
          </p:cNvPr>
          <p:cNvSpPr/>
          <p:nvPr/>
        </p:nvSpPr>
        <p:spPr>
          <a:xfrm>
            <a:off x="10257235" y="2984424"/>
            <a:ext cx="1496152" cy="148751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de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Pruebas</a:t>
            </a:r>
            <a:endParaRPr lang="en-U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5F5FAF-F634-DB61-E863-834E3067C7AE}"/>
              </a:ext>
            </a:extLst>
          </p:cNvPr>
          <p:cNvSpPr txBox="1"/>
          <p:nvPr/>
        </p:nvSpPr>
        <p:spPr>
          <a:xfrm>
            <a:off x="6926346" y="4120859"/>
            <a:ext cx="160667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6. </a:t>
            </a:r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Adopción</a:t>
            </a:r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 del Cambio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C686A1-AD1E-7A4A-F90F-D37DA1E27B9B}"/>
              </a:ext>
            </a:extLst>
          </p:cNvPr>
          <p:cNvSpPr txBox="1"/>
          <p:nvPr/>
        </p:nvSpPr>
        <p:spPr>
          <a:xfrm>
            <a:off x="8781553" y="4125885"/>
            <a:ext cx="1179726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7. </a:t>
            </a:r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Despliegue</a:t>
            </a:r>
            <a:endParaRPr lang="en-US" sz="900" b="1">
              <a:solidFill>
                <a:schemeClr val="bg2">
                  <a:lumMod val="50000"/>
                </a:schemeClr>
              </a:solidFill>
              <a:latin typeface="+mj-lt"/>
              <a:ea typeface="League Spartan" charset="0"/>
              <a:cs typeface="Poppins SemiBold" pitchFamily="2" charset="77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1DAAB4E-06D2-B440-DBA8-D798F35ECD1A}"/>
              </a:ext>
            </a:extLst>
          </p:cNvPr>
          <p:cNvSpPr/>
          <p:nvPr/>
        </p:nvSpPr>
        <p:spPr>
          <a:xfrm>
            <a:off x="8614481" y="4613519"/>
            <a:ext cx="1496152" cy="148751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Plan. y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Ejec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de Dress Rehearsals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03216F4-4E01-7D65-933B-E9C77D92D1B1}"/>
              </a:ext>
            </a:extLst>
          </p:cNvPr>
          <p:cNvSpPr/>
          <p:nvPr/>
        </p:nvSpPr>
        <p:spPr>
          <a:xfrm>
            <a:off x="8614481" y="4430325"/>
            <a:ext cx="1496152" cy="148751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 de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Despliegue</a:t>
            </a:r>
            <a:endParaRPr lang="en-U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279070-89B3-B136-D9BB-FD96E948CD9D}"/>
              </a:ext>
            </a:extLst>
          </p:cNvPr>
          <p:cNvSpPr txBox="1"/>
          <p:nvPr/>
        </p:nvSpPr>
        <p:spPr>
          <a:xfrm>
            <a:off x="10440152" y="4137902"/>
            <a:ext cx="1125309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8. </a:t>
            </a:r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Arquitectura</a:t>
            </a:r>
            <a:endParaRPr lang="en-US" sz="900" b="1">
              <a:solidFill>
                <a:schemeClr val="bg2">
                  <a:lumMod val="50000"/>
                </a:schemeClr>
              </a:solidFill>
              <a:latin typeface="+mj-lt"/>
              <a:ea typeface="League Spartan" charset="0"/>
              <a:cs typeface="Poppins SemiBold" pitchFamily="2" charset="77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C127AA2-B043-6E50-D5BC-B7F3EBC87C1D}"/>
              </a:ext>
            </a:extLst>
          </p:cNvPr>
          <p:cNvSpPr/>
          <p:nvPr/>
        </p:nvSpPr>
        <p:spPr>
          <a:xfrm>
            <a:off x="10257235" y="4613519"/>
            <a:ext cx="1496152" cy="148751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algn="ctr"/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Levant. Req. No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Funcionales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(NFR)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4C7C160-A40B-CB69-A072-9B678E75E884}"/>
              </a:ext>
            </a:extLst>
          </p:cNvPr>
          <p:cNvSpPr/>
          <p:nvPr/>
        </p:nvSpPr>
        <p:spPr>
          <a:xfrm>
            <a:off x="10257235" y="4796711"/>
            <a:ext cx="1496152" cy="148751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s-E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Blueprint</a:t>
            </a:r>
            <a:r>
              <a:rPr lang="es-E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Arquitectura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451682-34CB-735A-D484-C0EBF3B74E1A}"/>
              </a:ext>
            </a:extLst>
          </p:cNvPr>
          <p:cNvSpPr txBox="1"/>
          <p:nvPr/>
        </p:nvSpPr>
        <p:spPr>
          <a:xfrm>
            <a:off x="7053742" y="5147433"/>
            <a:ext cx="134057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9. </a:t>
            </a:r>
            <a:r>
              <a:rPr lang="en-US" sz="900" b="1" err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Infraestructura</a:t>
            </a:r>
            <a:endParaRPr lang="en-US" sz="900" b="1">
              <a:solidFill>
                <a:schemeClr val="bg2">
                  <a:lumMod val="50000"/>
                </a:schemeClr>
              </a:solidFill>
              <a:latin typeface="+mj-lt"/>
              <a:ea typeface="League Spartan" charset="0"/>
              <a:cs typeface="Poppins SemiBold" pitchFamily="2" charset="7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B798D61-F084-0A9B-A208-4C3EC379173F}"/>
              </a:ext>
            </a:extLst>
          </p:cNvPr>
          <p:cNvSpPr txBox="1"/>
          <p:nvPr/>
        </p:nvSpPr>
        <p:spPr>
          <a:xfrm>
            <a:off x="8644856" y="5152465"/>
            <a:ext cx="142746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b="1">
                <a:solidFill>
                  <a:schemeClr val="bg2">
                    <a:lumMod val="50000"/>
                  </a:schemeClr>
                </a:solidFill>
                <a:latin typeface="+mj-lt"/>
                <a:ea typeface="League Spartan" charset="0"/>
                <a:cs typeface="Poppins SemiBold" pitchFamily="2" charset="77"/>
              </a:rPr>
              <a:t>10. Transition to Run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B199356-8F09-8639-6B7C-0A920E6AD3AB}"/>
              </a:ext>
            </a:extLst>
          </p:cNvPr>
          <p:cNvSpPr/>
          <p:nvPr/>
        </p:nvSpPr>
        <p:spPr>
          <a:xfrm>
            <a:off x="8614481" y="4984326"/>
            <a:ext cx="1496152" cy="148751"/>
          </a:xfrm>
          <a:prstGeom prst="round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45720" rIns="9144" bIns="45720" rtlCol="0" anchor="ctr"/>
          <a:lstStyle/>
          <a:p>
            <a:pPr lvl="0" algn="ctr">
              <a:defRPr/>
            </a:pP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Archivado</a:t>
            </a:r>
            <a:r>
              <a:rPr lang="en-US" sz="700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n-US" sz="700" err="1">
                <a:solidFill>
                  <a:schemeClr val="tx2">
                    <a:lumMod val="50000"/>
                  </a:schemeClr>
                </a:solidFill>
                <a:latin typeface="Graphik" panose="020B050303020206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Decomisionamiento</a:t>
            </a:r>
            <a:endParaRPr lang="en-US" sz="700">
              <a:solidFill>
                <a:schemeClr val="tx2">
                  <a:lumMod val="50000"/>
                </a:schemeClr>
              </a:solidFill>
              <a:latin typeface="Graphik" panose="020B0503030202060203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660CE438-A812-4B4C-238E-4027F63E726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9885243" y="5986991"/>
            <a:ext cx="234464" cy="242887"/>
          </a:xfrm>
          <a:prstGeom prst="roundRect">
            <a:avLst>
              <a:gd name="adj" fmla="val 24505"/>
            </a:avLst>
          </a:prstGeom>
          <a:solidFill>
            <a:srgbClr val="F2F2F2">
              <a:alpha val="74902"/>
            </a:srgbClr>
          </a:solidFill>
          <a:ln w="38100">
            <a:solidFill>
              <a:schemeClr val="bg1"/>
            </a:solidFill>
          </a:ln>
          <a:effectLst/>
        </p:spPr>
        <p:txBody>
          <a:bodyPr wrap="none" anchor="ctr"/>
          <a:lstStyle/>
          <a:p>
            <a:endParaRPr lang="en-US" sz="3200">
              <a:latin typeface="+mj-lt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74B237-21A9-A59A-0371-D71CD8A589D3}"/>
              </a:ext>
            </a:extLst>
          </p:cNvPr>
          <p:cNvSpPr/>
          <p:nvPr/>
        </p:nvSpPr>
        <p:spPr>
          <a:xfrm>
            <a:off x="376522" y="197535"/>
            <a:ext cx="457200" cy="4572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s-MX" sz="2000" b="1"/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632EB5-69D8-A3A9-9790-36FD07906F3B}"/>
              </a:ext>
            </a:extLst>
          </p:cNvPr>
          <p:cNvSpPr/>
          <p:nvPr/>
        </p:nvSpPr>
        <p:spPr>
          <a:xfrm>
            <a:off x="0" y="0"/>
            <a:ext cx="131561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MX" err="1"/>
          </a:p>
        </p:txBody>
      </p:sp>
    </p:spTree>
    <p:extLst>
      <p:ext uri="{BB962C8B-B14F-4D97-AF65-F5344CB8AC3E}">
        <p14:creationId xmlns:p14="http://schemas.microsoft.com/office/powerpoint/2010/main" val="1149383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126C5-28BB-C426-934E-A639E3040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2C545FF-7F01-5EF7-DE3C-0080491CE9E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3" progId="TCLayout.ActiveDocument.1">
                  <p:embed/>
                </p:oleObj>
              </mc:Choice>
              <mc:Fallback>
                <p:oleObj name="think-cell Slide" r:id="rId5" imgW="404" imgH="40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C545FF-7F01-5EF7-DE3C-0080491CE9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322782E-1477-2678-BCAD-13A3B7AC5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s-MX" noProof="0"/>
              <a:t>Categorías de impacto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4985E5-F44E-3264-BCAF-AAE483D8F59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64975" y="6489700"/>
            <a:ext cx="327025" cy="201613"/>
          </a:xfr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s-MX" sz="800" b="0" i="0" u="none" strike="noStrike" kern="1200" cap="none" spc="0" normalizeH="0" baseline="0" noProof="0" smtClean="0">
                <a:ln>
                  <a:noFill/>
                </a:ln>
                <a:solidFill>
                  <a:srgbClr val="0041F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MX" sz="800" b="0" i="0" u="none" strike="noStrike" kern="1200" cap="none" spc="0" normalizeH="0" baseline="0" noProof="0">
              <a:ln>
                <a:noFill/>
              </a:ln>
              <a:solidFill>
                <a:srgbClr val="0041F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3" name="Slide Number Placeholder 3">
            <a:extLst>
              <a:ext uri="{FF2B5EF4-FFF2-40B4-BE49-F238E27FC236}">
                <a16:creationId xmlns:a16="http://schemas.microsoft.com/office/drawing/2014/main" id="{A5B87893-AAF7-36C7-C35D-79471AFF300E}"/>
              </a:ext>
            </a:extLst>
          </p:cNvPr>
          <p:cNvSpPr txBox="1">
            <a:spLocks/>
          </p:cNvSpPr>
          <p:nvPr/>
        </p:nvSpPr>
        <p:spPr>
          <a:xfrm>
            <a:off x="11475121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es-MX" sz="8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MX" sz="8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72D5EE-82B4-73D2-52D0-5319763C7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246253"/>
              </p:ext>
            </p:extLst>
          </p:nvPr>
        </p:nvGraphicFramePr>
        <p:xfrm>
          <a:off x="933456" y="1019079"/>
          <a:ext cx="2194560" cy="522288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9597272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200" b="1" u="none" strike="noStrike" noProof="0">
                          <a:effectLst/>
                        </a:rPr>
                        <a:t>Gobierno de UNITY</a:t>
                      </a:r>
                      <a:endParaRPr lang="es-MX" sz="1200" b="1" i="0" u="none" strike="noStrike" noProof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4267069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200" b="1" u="none" strike="noStrike" noProof="0">
                          <a:effectLst/>
                        </a:rPr>
                        <a:t>Fundamentos </a:t>
                      </a:r>
                      <a:endParaRPr lang="es-MX" sz="1200" b="1" i="0" u="none" strike="noStrike" noProof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1705895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100" b="0" u="none" strike="noStrike" noProof="0">
                          <a:effectLst/>
                        </a:rPr>
                        <a:t>Metodología Integral</a:t>
                      </a:r>
                    </a:p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Plan de trabajo detallado de entregables   e hitos del proyecto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456545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100" b="0" u="none" strike="noStrike" noProof="0">
                          <a:effectLst/>
                        </a:rPr>
                        <a:t>Planificación y Estimación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Cálculo de esfuerzos, tiempos y recursos necesarios para la ejecución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6469448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100" b="0" u="none" strike="noStrike" noProof="0">
                          <a:effectLst/>
                        </a:rPr>
                        <a:t>Estrategia de Migración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Procesos de transferencia de datos, sistemas y servicios al nuevo entorno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13187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100" b="0" u="none" strike="noStrike" noProof="0">
                          <a:effectLst/>
                        </a:rPr>
                        <a:t>Estrategia de Testing</a:t>
                      </a:r>
                    </a:p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Estrategia de validación para asegurar el funcionamiento técnico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201684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100" b="0" u="none" strike="noStrike" noProof="0">
                          <a:effectLst/>
                        </a:rPr>
                        <a:t>Estrategia de Despliegue</a:t>
                      </a:r>
                    </a:p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Planificación y ejecución del paso a producción y puesta en marcha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0422899"/>
                  </a:ext>
                </a:extLst>
              </a:tr>
              <a:tr h="678319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100" b="0" u="none" strike="noStrike" noProof="0">
                          <a:effectLst/>
                        </a:rPr>
                        <a:t>Herramientas de gestión</a:t>
                      </a:r>
                    </a:p>
                    <a:p>
                      <a:pPr rtl="0"/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Plataformas para seguimiento de tareas, colaboración y control documental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6259916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51B03C7F-3279-5955-A5BC-F0418AACB5CE}"/>
              </a:ext>
            </a:extLst>
          </p:cNvPr>
          <p:cNvSpPr/>
          <p:nvPr/>
        </p:nvSpPr>
        <p:spPr>
          <a:xfrm>
            <a:off x="426134" y="1845431"/>
            <a:ext cx="394361" cy="39436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BD053D-845B-BF73-6AE5-92120D85D085}"/>
              </a:ext>
            </a:extLst>
          </p:cNvPr>
          <p:cNvSpPr/>
          <p:nvPr/>
        </p:nvSpPr>
        <p:spPr>
          <a:xfrm>
            <a:off x="426134" y="2482077"/>
            <a:ext cx="394361" cy="394361"/>
          </a:xfrm>
          <a:prstGeom prst="ellipse">
            <a:avLst/>
          </a:prstGeom>
          <a:solidFill>
            <a:srgbClr val="004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1.1.1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C3669C-9F7E-7C0C-AF8E-E0F8CEBFD31F}"/>
              </a:ext>
            </a:extLst>
          </p:cNvPr>
          <p:cNvSpPr/>
          <p:nvPr/>
        </p:nvSpPr>
        <p:spPr>
          <a:xfrm>
            <a:off x="426134" y="3118723"/>
            <a:ext cx="394361" cy="394361"/>
          </a:xfrm>
          <a:prstGeom prst="ellipse">
            <a:avLst/>
          </a:prstGeom>
          <a:solidFill>
            <a:srgbClr val="004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1.1.2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0C1B2A0-7C4E-3EB4-90F3-6B721CD8FEC7}"/>
              </a:ext>
            </a:extLst>
          </p:cNvPr>
          <p:cNvSpPr/>
          <p:nvPr/>
        </p:nvSpPr>
        <p:spPr>
          <a:xfrm>
            <a:off x="426134" y="4392015"/>
            <a:ext cx="394361" cy="39436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1.1.4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A2868F-85CB-DC99-ADBB-A09EF2479EAB}"/>
              </a:ext>
            </a:extLst>
          </p:cNvPr>
          <p:cNvSpPr/>
          <p:nvPr/>
        </p:nvSpPr>
        <p:spPr>
          <a:xfrm>
            <a:off x="426134" y="3755369"/>
            <a:ext cx="394361" cy="394361"/>
          </a:xfrm>
          <a:prstGeom prst="ellipse">
            <a:avLst/>
          </a:prstGeom>
          <a:solidFill>
            <a:srgbClr val="004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1.1.3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D1D201-152D-8396-B962-4C63502BE0E3}"/>
              </a:ext>
            </a:extLst>
          </p:cNvPr>
          <p:cNvSpPr/>
          <p:nvPr/>
        </p:nvSpPr>
        <p:spPr>
          <a:xfrm>
            <a:off x="394714" y="1145946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74E6D9C-59F1-F3C4-6DC1-5E11C51D37AA}"/>
              </a:ext>
            </a:extLst>
          </p:cNvPr>
          <p:cNvSpPr/>
          <p:nvPr/>
        </p:nvSpPr>
        <p:spPr>
          <a:xfrm>
            <a:off x="426134" y="5028661"/>
            <a:ext cx="394361" cy="394361"/>
          </a:xfrm>
          <a:prstGeom prst="ellipse">
            <a:avLst/>
          </a:prstGeom>
          <a:solidFill>
            <a:srgbClr val="004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1.1.5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496A91A-BA3D-A325-14E1-97D428E15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093015"/>
              </p:ext>
            </p:extLst>
          </p:nvPr>
        </p:nvGraphicFramePr>
        <p:xfrm>
          <a:off x="3827964" y="1019079"/>
          <a:ext cx="2194560" cy="519379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9597272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200" b="1" u="none" strike="noStrike" noProof="0">
                          <a:effectLst/>
                        </a:rPr>
                        <a:t>Estructura y Dirección</a:t>
                      </a:r>
                      <a:endParaRPr lang="es-MX" sz="1200" b="1" i="0" u="none" strike="noStrike" noProof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4267069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100" b="0" u="none" strike="noStrike" noProof="0">
                          <a:effectLst/>
                        </a:rPr>
                        <a:t>Modelo de Gobierno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Claridad en toma de decisiones y accountability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1705895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100" b="0" u="none" strike="noStrike" noProof="0">
                          <a:effectLst/>
                        </a:rPr>
                        <a:t>Organización en Workstreams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Estructura de equipos, responsabilidades e interdependencias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456545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100" b="0" u="none" strike="noStrike" noProof="0">
                          <a:effectLst/>
                        </a:rPr>
                        <a:t>Reporteo del Programa</a:t>
                      </a:r>
                    </a:p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Frecuencia, audiencias, contenido de reportes y flujo de información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6469448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Gestión de Métricas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KPIs del programa, indicadores de salud, medición de avances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13187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200" b="1" u="none" strike="noStrike" noProof="0">
                          <a:effectLst/>
                        </a:rPr>
                        <a:t>Gestión de Recursos</a:t>
                      </a:r>
                      <a:endParaRPr lang="es-MX" sz="1200" b="1" i="0" u="none" strike="noStrike" noProof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201684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spcAft>
                          <a:spcPts val="300"/>
                        </a:spcAft>
                        <a:buNone/>
                      </a:pPr>
                      <a:r>
                        <a:rPr lang="es-MX" sz="1200" b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Gestión Financiera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Presupuesto, burn rate, forecasting, control de desvíos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0422899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spcAft>
                          <a:spcPts val="300"/>
                        </a:spcAft>
                        <a:buNone/>
                      </a:pPr>
                      <a:r>
                        <a:rPr lang="es-MX" sz="1200" b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Gestión de Talento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Staffing, capacidades, retención, transferencia de conocimiento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0671471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AAA169DE-580D-2015-F518-9D81A7672292}"/>
              </a:ext>
            </a:extLst>
          </p:cNvPr>
          <p:cNvGraphicFramePr>
            <a:graphicFrameLocks noGrp="1"/>
          </p:cNvGraphicFramePr>
          <p:nvPr/>
        </p:nvGraphicFramePr>
        <p:xfrm>
          <a:off x="6865338" y="1028704"/>
          <a:ext cx="2244261" cy="5193792"/>
        </p:xfrm>
        <a:graphic>
          <a:graphicData uri="http://schemas.openxmlformats.org/drawingml/2006/table">
            <a:tbl>
              <a:tblPr/>
              <a:tblGrid>
                <a:gridCol w="2244261">
                  <a:extLst>
                    <a:ext uri="{9D8B030D-6E8A-4147-A177-3AD203B41FA5}">
                      <a16:colId xmlns:a16="http://schemas.microsoft.com/office/drawing/2014/main" val="209597272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Gestión de Proveedores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Contratos, SLAs, performance de vendors, gobierno con terceros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1705895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 rtl="0" fontAlgn="ctr">
                        <a:spcAft>
                          <a:spcPts val="300"/>
                        </a:spcAft>
                        <a:buNone/>
                      </a:pPr>
                      <a:r>
                        <a:rPr lang="es-MX" sz="1200" b="1" u="none" strike="noStrike" noProof="0">
                          <a:effectLst/>
                        </a:rPr>
                        <a:t>Control Técnico</a:t>
                      </a:r>
                      <a:endParaRPr lang="es-MX" sz="1200" b="1" i="0" u="none" strike="noStrike" noProof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456545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Development Life Cycle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Control de requerimientos para el desarrollo de iniciativas y soluciones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6469448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spcAft>
                          <a:spcPts val="300"/>
                        </a:spcAft>
                        <a:buNone/>
                      </a:pPr>
                      <a:r>
                        <a:rPr lang="es-MX" sz="1200" b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 Blueprint Catalog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Gestión del inventario de aplicativos y su información funcional y técnica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13187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spcAft>
                          <a:spcPts val="300"/>
                        </a:spcAft>
                        <a:buNone/>
                      </a:pPr>
                      <a:r>
                        <a:rPr lang="es-MX" sz="1200" b="1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 y Aseguramiento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201684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Gestión de Riesgos y Problemas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Identificación, seguimiento y mitigación de riesgos, dependencias e issues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0422899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spcAft>
                          <a:spcPts val="300"/>
                        </a:spcAft>
                        <a:buNone/>
                      </a:pPr>
                      <a:r>
                        <a:rPr lang="es-MX" sz="1200" b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Gestión de Alcance y Cambios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Baseline de alcance, control de cambios, gestión de scope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067147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Gestión de Calidad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9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Estándares, criterios de aceptación, testing, gestión de defectos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2025764"/>
                  </a:ext>
                </a:extLst>
              </a:tr>
            </a:tbl>
          </a:graphicData>
        </a:graphic>
      </p:graphicFrame>
      <p:sp>
        <p:nvSpPr>
          <p:cNvPr id="45" name="Oval 44">
            <a:extLst>
              <a:ext uri="{FF2B5EF4-FFF2-40B4-BE49-F238E27FC236}">
                <a16:creationId xmlns:a16="http://schemas.microsoft.com/office/drawing/2014/main" id="{FCCA7F5C-3573-89C1-3B9B-FAC987D96E8A}"/>
              </a:ext>
            </a:extLst>
          </p:cNvPr>
          <p:cNvSpPr/>
          <p:nvPr/>
        </p:nvSpPr>
        <p:spPr>
          <a:xfrm>
            <a:off x="6386896" y="1177950"/>
            <a:ext cx="393192" cy="3931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1.3.3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D43CD49-4285-BA59-9989-67D430227E84}"/>
              </a:ext>
            </a:extLst>
          </p:cNvPr>
          <p:cNvSpPr/>
          <p:nvPr/>
        </p:nvSpPr>
        <p:spPr>
          <a:xfrm>
            <a:off x="6386896" y="1821199"/>
            <a:ext cx="393192" cy="393192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1.4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9AD9D79-DF90-0B7E-51CB-C8B7B63ACA7D}"/>
              </a:ext>
            </a:extLst>
          </p:cNvPr>
          <p:cNvSpPr/>
          <p:nvPr/>
        </p:nvSpPr>
        <p:spPr>
          <a:xfrm>
            <a:off x="6386896" y="2456200"/>
            <a:ext cx="393192" cy="3931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1.4.1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144B022-CF62-E15A-D0E8-3126F972C2F3}"/>
              </a:ext>
            </a:extLst>
          </p:cNvPr>
          <p:cNvSpPr/>
          <p:nvPr/>
        </p:nvSpPr>
        <p:spPr>
          <a:xfrm>
            <a:off x="6386896" y="3091201"/>
            <a:ext cx="393192" cy="3931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b="1" noProof="0">
                <a:solidFill>
                  <a:srgbClr val="FFFFFF"/>
                </a:solidFill>
                <a:latin typeface="Graphik"/>
              </a:rPr>
              <a:t>1.4.2</a:t>
            </a:r>
            <a:endParaRPr kumimoji="0" lang="es-MX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DA4AB9B-2C56-E12B-01DE-493D314DAA00}"/>
              </a:ext>
            </a:extLst>
          </p:cNvPr>
          <p:cNvSpPr/>
          <p:nvPr/>
        </p:nvSpPr>
        <p:spPr>
          <a:xfrm>
            <a:off x="6386896" y="3751603"/>
            <a:ext cx="394361" cy="39436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1.5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3A9BFCB-1828-AC58-AAEE-113FFA00FC66}"/>
              </a:ext>
            </a:extLst>
          </p:cNvPr>
          <p:cNvSpPr/>
          <p:nvPr/>
        </p:nvSpPr>
        <p:spPr>
          <a:xfrm>
            <a:off x="6386896" y="4387773"/>
            <a:ext cx="394361" cy="394361"/>
          </a:xfrm>
          <a:prstGeom prst="ellipse">
            <a:avLst/>
          </a:prstGeom>
          <a:solidFill>
            <a:srgbClr val="004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1.5.1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61807AE-2046-F520-A584-D9067586CB8B}"/>
              </a:ext>
            </a:extLst>
          </p:cNvPr>
          <p:cNvSpPr/>
          <p:nvPr/>
        </p:nvSpPr>
        <p:spPr>
          <a:xfrm>
            <a:off x="6386896" y="5028661"/>
            <a:ext cx="394361" cy="394361"/>
          </a:xfrm>
          <a:prstGeom prst="ellipse">
            <a:avLst/>
          </a:prstGeom>
          <a:solidFill>
            <a:srgbClr val="004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1.5.2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11ADCA7-EE3D-1388-2AF9-EC89EA0D4BEE}"/>
              </a:ext>
            </a:extLst>
          </p:cNvPr>
          <p:cNvSpPr/>
          <p:nvPr/>
        </p:nvSpPr>
        <p:spPr>
          <a:xfrm>
            <a:off x="6386896" y="5660115"/>
            <a:ext cx="394361" cy="394361"/>
          </a:xfrm>
          <a:prstGeom prst="ellipse">
            <a:avLst/>
          </a:prstGeom>
          <a:solidFill>
            <a:srgbClr val="004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1.5.3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D98BC0E-DC29-9A32-505B-BB89BEA7DEB0}"/>
              </a:ext>
            </a:extLst>
          </p:cNvPr>
          <p:cNvSpPr/>
          <p:nvPr/>
        </p:nvSpPr>
        <p:spPr>
          <a:xfrm>
            <a:off x="3349523" y="3770252"/>
            <a:ext cx="393192" cy="3827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1.2</a:t>
            </a:r>
            <a:r>
              <a:rPr lang="es-MX" sz="900" b="1" noProof="0">
                <a:solidFill>
                  <a:srgbClr val="FFFFFF"/>
                </a:solidFill>
                <a:latin typeface="Graphik"/>
              </a:rPr>
              <a:t>.4</a:t>
            </a:r>
            <a:endParaRPr kumimoji="0" lang="es-MX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B2E4868-7018-86DC-4428-87AE7E4393B8}"/>
              </a:ext>
            </a:extLst>
          </p:cNvPr>
          <p:cNvSpPr/>
          <p:nvPr/>
        </p:nvSpPr>
        <p:spPr>
          <a:xfrm>
            <a:off x="3349523" y="5660115"/>
            <a:ext cx="393192" cy="3827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b="1" noProof="0">
                <a:solidFill>
                  <a:srgbClr val="FFFFFF"/>
                </a:solidFill>
                <a:latin typeface="Graphik"/>
              </a:rPr>
              <a:t>1.3.2</a:t>
            </a:r>
            <a:endParaRPr kumimoji="0" lang="es-MX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157FBCE-74AD-5BAD-E1F2-A2ADF6EE2BDD}"/>
              </a:ext>
            </a:extLst>
          </p:cNvPr>
          <p:cNvSpPr>
            <a:spLocks noChangeAspect="1"/>
          </p:cNvSpPr>
          <p:nvPr/>
        </p:nvSpPr>
        <p:spPr>
          <a:xfrm>
            <a:off x="3349523" y="4400206"/>
            <a:ext cx="393192" cy="38270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5B07195-116F-F005-C1F4-FDEEDE9C126A}"/>
              </a:ext>
            </a:extLst>
          </p:cNvPr>
          <p:cNvSpPr/>
          <p:nvPr/>
        </p:nvSpPr>
        <p:spPr>
          <a:xfrm>
            <a:off x="3349523" y="5030160"/>
            <a:ext cx="393192" cy="3827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1.3.1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1FF9BE9-8AD3-AA85-713B-1973BE39BE3F}"/>
              </a:ext>
            </a:extLst>
          </p:cNvPr>
          <p:cNvSpPr/>
          <p:nvPr/>
        </p:nvSpPr>
        <p:spPr>
          <a:xfrm>
            <a:off x="3349523" y="1177366"/>
            <a:ext cx="394361" cy="39436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</a:t>
            </a:r>
            <a:r>
              <a:rPr lang="es-MX" sz="900" b="1" noProof="0">
                <a:solidFill>
                  <a:srgbClr val="FFFFFF"/>
                </a:solidFill>
                <a:latin typeface="Graphik"/>
              </a:rPr>
              <a:t>2</a:t>
            </a:r>
            <a:endParaRPr kumimoji="0" lang="es-MX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1CF2814-6BC4-57B3-0FD3-7D4B342E8775}"/>
              </a:ext>
            </a:extLst>
          </p:cNvPr>
          <p:cNvSpPr/>
          <p:nvPr/>
        </p:nvSpPr>
        <p:spPr>
          <a:xfrm>
            <a:off x="3349523" y="1811563"/>
            <a:ext cx="394361" cy="394361"/>
          </a:xfrm>
          <a:prstGeom prst="ellipse">
            <a:avLst/>
          </a:prstGeom>
          <a:solidFill>
            <a:srgbClr val="004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</a:t>
            </a:r>
            <a:r>
              <a:rPr lang="es-MX" sz="900" b="1" noProof="0">
                <a:solidFill>
                  <a:srgbClr val="FFFFFF"/>
                </a:solidFill>
                <a:latin typeface="Graphik"/>
              </a:rPr>
              <a:t>2.1</a:t>
            </a:r>
            <a:endParaRPr kumimoji="0" lang="es-MX" sz="9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ACD9CE0-AC10-96A4-2ECE-3BA5FFA6E738}"/>
              </a:ext>
            </a:extLst>
          </p:cNvPr>
          <p:cNvSpPr/>
          <p:nvPr/>
        </p:nvSpPr>
        <p:spPr>
          <a:xfrm>
            <a:off x="3349523" y="3094777"/>
            <a:ext cx="394361" cy="394361"/>
          </a:xfrm>
          <a:prstGeom prst="ellipse">
            <a:avLst/>
          </a:prstGeom>
          <a:solidFill>
            <a:srgbClr val="004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1.2.3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6ABF3FA-4243-ADA5-E34A-6DE274FB6A2E}"/>
              </a:ext>
            </a:extLst>
          </p:cNvPr>
          <p:cNvSpPr/>
          <p:nvPr/>
        </p:nvSpPr>
        <p:spPr>
          <a:xfrm>
            <a:off x="3349523" y="2453170"/>
            <a:ext cx="394361" cy="394361"/>
          </a:xfrm>
          <a:prstGeom prst="ellipse">
            <a:avLst/>
          </a:prstGeom>
          <a:solidFill>
            <a:srgbClr val="004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1.2.2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CFCA769-ACE6-2197-FE57-6B3BA22A5539}"/>
              </a:ext>
            </a:extLst>
          </p:cNvPr>
          <p:cNvGraphicFramePr>
            <a:graphicFrameLocks noGrp="1"/>
          </p:cNvGraphicFramePr>
          <p:nvPr/>
        </p:nvGraphicFramePr>
        <p:xfrm>
          <a:off x="9989801" y="1019079"/>
          <a:ext cx="2194560" cy="454456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9597272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200" b="1" u="none" strike="noStrike" noProof="0">
                          <a:effectLst/>
                        </a:rPr>
                        <a:t>Estrategia TI</a:t>
                      </a:r>
                      <a:endParaRPr lang="es-MX" sz="1200" b="1" i="0" u="none" strike="noStrike" noProof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4267069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MX" sz="1200" b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North Star del Negocio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1705895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MX" sz="1200" b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Arquitectura de TI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456545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MX" sz="1200" b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Roadmap Ejecutable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6469448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MX" sz="1200" b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Modelo Operativo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13187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MX" sz="1200" b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Gestión del Cambio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201684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MX" sz="1200" b="0" u="none" strike="noStrike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Caso de Negocio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0422899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4D271838-D860-52C5-BFAF-B625A1CA116C}"/>
              </a:ext>
            </a:extLst>
          </p:cNvPr>
          <p:cNvGrpSpPr/>
          <p:nvPr/>
        </p:nvGrpSpPr>
        <p:grpSpPr>
          <a:xfrm>
            <a:off x="9451062" y="1145946"/>
            <a:ext cx="457200" cy="4277076"/>
            <a:chOff x="9065235" y="1232571"/>
            <a:chExt cx="457200" cy="4277076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181338B-6444-D4C7-4E53-D54756AEB256}"/>
                </a:ext>
              </a:extLst>
            </p:cNvPr>
            <p:cNvSpPr/>
            <p:nvPr/>
          </p:nvSpPr>
          <p:spPr>
            <a:xfrm>
              <a:off x="9065235" y="1232571"/>
              <a:ext cx="457200" cy="457200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sz="900" b="1" noProof="0">
                  <a:solidFill>
                    <a:srgbClr val="FFFFFF"/>
                  </a:solidFill>
                  <a:latin typeface="Graphik"/>
                </a:rPr>
                <a:t>2</a:t>
              </a:r>
              <a:endPara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7013633-466B-F497-6BE5-EB5D6B7E32C5}"/>
                </a:ext>
              </a:extLst>
            </p:cNvPr>
            <p:cNvSpPr/>
            <p:nvPr/>
          </p:nvSpPr>
          <p:spPr>
            <a:xfrm>
              <a:off x="9096655" y="1932056"/>
              <a:ext cx="394361" cy="3943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sz="900" b="1" noProof="0">
                  <a:solidFill>
                    <a:srgbClr val="FFFFFF"/>
                  </a:solidFill>
                  <a:latin typeface="Graphik"/>
                </a:rPr>
                <a:t>2.</a:t>
              </a:r>
              <a:r>
                <a:rPr kumimoji="0" lang="es-MX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C648F6B-B960-F3B7-0134-67F824609FAF}"/>
                </a:ext>
              </a:extLst>
            </p:cNvPr>
            <p:cNvSpPr/>
            <p:nvPr/>
          </p:nvSpPr>
          <p:spPr>
            <a:xfrm>
              <a:off x="9096655" y="2568702"/>
              <a:ext cx="394361" cy="3943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2.2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8204BA4-7254-93DF-0A7A-F29D8D8A55DE}"/>
                </a:ext>
              </a:extLst>
            </p:cNvPr>
            <p:cNvSpPr/>
            <p:nvPr/>
          </p:nvSpPr>
          <p:spPr>
            <a:xfrm>
              <a:off x="9096655" y="3205348"/>
              <a:ext cx="394361" cy="3943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2.3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1D64659-2FD1-6856-749E-EF54213E19C8}"/>
                </a:ext>
              </a:extLst>
            </p:cNvPr>
            <p:cNvSpPr/>
            <p:nvPr/>
          </p:nvSpPr>
          <p:spPr>
            <a:xfrm>
              <a:off x="9096655" y="4478640"/>
              <a:ext cx="394361" cy="3943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B9C3BA4-3AFF-3698-8A93-47C92B6E0DC5}"/>
                </a:ext>
              </a:extLst>
            </p:cNvPr>
            <p:cNvSpPr/>
            <p:nvPr/>
          </p:nvSpPr>
          <p:spPr>
            <a:xfrm>
              <a:off x="9096655" y="3841994"/>
              <a:ext cx="394361" cy="3943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2.4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90B8A84-0103-D333-77A6-65A415CD44F8}"/>
                </a:ext>
              </a:extLst>
            </p:cNvPr>
            <p:cNvSpPr/>
            <p:nvPr/>
          </p:nvSpPr>
          <p:spPr>
            <a:xfrm>
              <a:off x="9096655" y="5115286"/>
              <a:ext cx="394361" cy="39436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9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2.6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05EACA1-290E-F58F-E278-1D6042E4F01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-339837" y="254000"/>
            <a:ext cx="339837" cy="266244"/>
            <a:chOff x="-339837" y="228600"/>
            <a:chExt cx="339837" cy="26624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142DA30-DBD0-7345-53EA-549B41E86409}"/>
                </a:ext>
              </a:extLst>
            </p:cNvPr>
            <p:cNvSpPr txBox="1"/>
            <p:nvPr/>
          </p:nvSpPr>
          <p:spPr>
            <a:xfrm>
              <a:off x="-339837" y="254000"/>
              <a:ext cx="339837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 anchorCtr="1">
              <a:sp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es-MX" sz="1400" b="1" noProof="0">
                  <a:solidFill>
                    <a:srgbClr val="000000"/>
                  </a:solidFill>
                  <a:latin typeface="Arial" panose="020B0604020202020204" pitchFamily="34" charset="0"/>
                </a:rPr>
                <a:t>WIP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1CB82D1-6562-116E-C5A3-F97AAF2B2E57}"/>
                </a:ext>
              </a:extLst>
            </p:cNvPr>
            <p:cNvCxnSpPr>
              <a:cxnSpLocks/>
            </p:cNvCxnSpPr>
            <p:nvPr/>
          </p:nvCxnSpPr>
          <p:spPr>
            <a:xfrm>
              <a:off x="-339837" y="228600"/>
              <a:ext cx="339837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59C2C1C-393C-DB48-2834-A307160FDBE9}"/>
                </a:ext>
              </a:extLst>
            </p:cNvPr>
            <p:cNvCxnSpPr>
              <a:cxnSpLocks/>
            </p:cNvCxnSpPr>
            <p:nvPr/>
          </p:nvCxnSpPr>
          <p:spPr>
            <a:xfrm>
              <a:off x="-339837" y="494844"/>
              <a:ext cx="339837" cy="0"/>
            </a:xfrm>
            <a:prstGeom prst="line">
              <a:avLst/>
            </a:prstGeom>
            <a:ln w="12700" cmpd="sng">
              <a:solidFill>
                <a:srgbClr val="000000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B6DB856B-3D7B-A952-BDEC-DDAB758DE3F0}"/>
              </a:ext>
            </a:extLst>
          </p:cNvPr>
          <p:cNvSpPr/>
          <p:nvPr/>
        </p:nvSpPr>
        <p:spPr>
          <a:xfrm>
            <a:off x="426134" y="5648462"/>
            <a:ext cx="394361" cy="394361"/>
          </a:xfrm>
          <a:prstGeom prst="ellipse">
            <a:avLst/>
          </a:prstGeom>
          <a:solidFill>
            <a:srgbClr val="0041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1.1.6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D98471E-8EEE-1F46-445E-9FA6D7EDF9F8}"/>
              </a:ext>
            </a:extLst>
          </p:cNvPr>
          <p:cNvCxnSpPr/>
          <p:nvPr/>
        </p:nvCxnSpPr>
        <p:spPr>
          <a:xfrm>
            <a:off x="9232237" y="1019079"/>
            <a:ext cx="0" cy="5159829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2028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QPT_STAMP" val="00"/>
</p:tagLst>
</file>

<file path=ppt/theme/theme1.xml><?xml version="1.0" encoding="utf-8"?>
<a:theme xmlns:a="http://schemas.openxmlformats.org/drawingml/2006/main" name="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2_Accenture 2020">
  <a:themeElements>
    <a:clrScheme name="BanCoppel_2025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C41E8"/>
      </a:accent1>
      <a:accent2>
        <a:srgbClr val="F0D224"/>
      </a:accent2>
      <a:accent3>
        <a:srgbClr val="052879"/>
      </a:accent3>
      <a:accent4>
        <a:srgbClr val="081754"/>
      </a:accent4>
      <a:accent5>
        <a:srgbClr val="1CA8F7"/>
      </a:accent5>
      <a:accent6>
        <a:srgbClr val="EEE8E3"/>
      </a:accent6>
      <a:hlink>
        <a:srgbClr val="0097A7"/>
      </a:hlink>
      <a:folHlink>
        <a:srgbClr val="0097A7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f21e1d-e7b2-4ba8-bb72-ca5e3ff425f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648767ADDAC4198CE9FAE936A0E2E" ma:contentTypeVersion="10" ma:contentTypeDescription="Create a new document." ma:contentTypeScope="" ma:versionID="bfce7f8d432cf4f2b54d649024185cc8">
  <xsd:schema xmlns:xsd="http://www.w3.org/2001/XMLSchema" xmlns:xs="http://www.w3.org/2001/XMLSchema" xmlns:p="http://schemas.microsoft.com/office/2006/metadata/properties" xmlns:ns2="bcf21e1d-e7b2-4ba8-bb72-ca5e3ff425f9" targetNamespace="http://schemas.microsoft.com/office/2006/metadata/properties" ma:root="true" ma:fieldsID="db0e3ff7a073da1765cf4c642dfd2d3e" ns2:_="">
    <xsd:import namespace="bcf21e1d-e7b2-4ba8-bb72-ca5e3ff425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f21e1d-e7b2-4ba8-bb72-ca5e3ff42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5A9715-4822-4D4B-B502-AAF583F78BD8}">
  <ds:schemaRefs>
    <ds:schemaRef ds:uri="bcf21e1d-e7b2-4ba8-bb72-ca5e3ff425f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AAF184F-D41D-4152-9453-168A413CA2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9D7836-5096-4F16-80E0-8309CADCE46D}">
  <ds:schemaRefs>
    <ds:schemaRef ds:uri="bcf21e1d-e7b2-4ba8-bb72-ca5e3ff425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4832</Words>
  <Application>Microsoft Office PowerPoint</Application>
  <PresentationFormat>Widescreen</PresentationFormat>
  <Paragraphs>736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SimSun</vt:lpstr>
      <vt:lpstr>Arial</vt:lpstr>
      <vt:lpstr>Calibri</vt:lpstr>
      <vt:lpstr>Graphik</vt:lpstr>
      <vt:lpstr>Graphik (Body)</vt:lpstr>
      <vt:lpstr>Graphik Light</vt:lpstr>
      <vt:lpstr>Accenture 2020</vt:lpstr>
      <vt:lpstr>2_Accenture 2020</vt:lpstr>
      <vt:lpstr>Alineación Arquitectura Unity</vt:lpstr>
      <vt:lpstr>Objetivos de la sesión</vt:lpstr>
      <vt:lpstr>Análisis de Ecosistema existente y Arquitectura</vt:lpstr>
      <vt:lpstr>HALLAZGOS</vt:lpstr>
      <vt:lpstr>Observaciones – Estrategia TI (1 / 3)</vt:lpstr>
      <vt:lpstr>Observaciones – Estrategia TI (2 / 3)</vt:lpstr>
      <vt:lpstr>Observaciones – Estrategia TI (3 / 3)</vt:lpstr>
      <vt:lpstr>ENTREGABLES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SOPORTE</vt:lpstr>
      <vt:lpstr>PowerPoint Presentation</vt:lpstr>
      <vt:lpstr>Categorías de impacto </vt:lpstr>
    </vt:vector>
  </TitlesOfParts>
  <Manager/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Banking Modernization</dc:subject>
  <dc:creator>m.a.de.tomas.mures@accenture.com</dc:creator>
  <cp:keywords/>
  <cp:lastModifiedBy>Morales, Daniela</cp:lastModifiedBy>
  <cp:revision>1</cp:revision>
  <cp:lastPrinted>2025-11-14T08:57:03Z</cp:lastPrinted>
  <dcterms:created xsi:type="dcterms:W3CDTF">2022-04-27T16:46:11Z</dcterms:created>
  <dcterms:modified xsi:type="dcterms:W3CDTF">2026-07-07T16:23:36Z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0x010100CC2648767ADDAC4198CE9FAE936A0E2E</vt:lpwstr>
  </property>
  <property fmtid="{D5CDD505-2E9C-101B-9397-08002B2CF9AE}" pid="3" name="NXPowerLiteLastOptimized">
    <vt:lpwstr>3154886</vt:lpwstr>
  </property>
  <property fmtid="{D5CDD505-2E9C-101B-9397-08002B2CF9AE}" pid="4" name="NXPowerLiteSettings">
    <vt:lpwstr>F78007B004F000</vt:lpwstr>
  </property>
  <property fmtid="{D5CDD505-2E9C-101B-9397-08002B2CF9AE}" pid="5" name="NXPowerLiteVersion">
    <vt:lpwstr>D9.1.2</vt:lpwstr>
  </property>
</Properties>
</file>