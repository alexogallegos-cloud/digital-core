
<file path=[Content_Types].xml><?xml version="1.0" encoding="utf-8"?>
<Types xmlns="http://schemas.openxmlformats.org/package/2006/content-types">
  <Default Extension="fntdata" ContentType="application/x-fontdata"/>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Montserra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SKdywgFLG81KpaAVgeFByM8r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6" Type="http://schemas.openxmlformats.org/officeDocument/2006/relationships/font" Target="fonts/Montserrat-regular.fntdata"/><Relationship Id="rId13" Type="http://schemas.openxmlformats.org/officeDocument/2006/relationships/slide" Target="slides/slide9.xml"/><Relationship Id="rId18" Type="http://schemas.openxmlformats.org/officeDocument/2006/relationships/slide" Target="slides/slide14.xml"/><Relationship Id="rId21" Type="http://schemas.openxmlformats.org/officeDocument/2006/relationships/slide" Target="slides/slide17.xml"/><Relationship Id="rId3" Type="http://schemas.openxmlformats.org/officeDocument/2006/relationships/slideMaster" Target="slideMasters/slideMaster1.xml"/><Relationship Id="rId25" Type="http://schemas.openxmlformats.org/officeDocument/2006/relationships/slide" Target="slides/slide2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customXml" Target="../customXml/item3.xml"/><Relationship Id="rId20" Type="http://schemas.openxmlformats.org/officeDocument/2006/relationships/slide" Target="slides/slide16.xml"/><Relationship Id="rId2" Type="http://schemas.openxmlformats.org/officeDocument/2006/relationships/presProps" Target="presProps.xml"/><Relationship Id="rId29" Type="http://schemas.openxmlformats.org/officeDocument/2006/relationships/font" Target="fonts/Montserrat-boldItalic.fntdata"/><Relationship Id="rId16" Type="http://schemas.openxmlformats.org/officeDocument/2006/relationships/slide" Target="slides/slide12.xml"/><Relationship Id="rId24" Type="http://schemas.openxmlformats.org/officeDocument/2006/relationships/slide" Target="slides/slide20.xml"/><Relationship Id="rId1" Type="http://schemas.openxmlformats.org/officeDocument/2006/relationships/theme" Target="theme/theme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customXml" Target="../customXml/item2.xml"/><Relationship Id="rId23" Type="http://schemas.openxmlformats.org/officeDocument/2006/relationships/slide" Target="slides/slide19.xml"/><Relationship Id="rId28" Type="http://schemas.openxmlformats.org/officeDocument/2006/relationships/font" Target="fonts/Montserrat-italic.fnt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ustomXml" Target="../customXml/item1.xml"/><Relationship Id="rId22" Type="http://schemas.openxmlformats.org/officeDocument/2006/relationships/slide" Target="slides/slide18.xml"/><Relationship Id="rId4" Type="http://schemas.openxmlformats.org/officeDocument/2006/relationships/notesMaster" Target="notesMasters/notesMaster1.xml"/><Relationship Id="rId9" Type="http://schemas.openxmlformats.org/officeDocument/2006/relationships/slide" Target="slides/slide5.xml"/><Relationship Id="rId27" Type="http://schemas.openxmlformats.org/officeDocument/2006/relationships/font" Target="fonts/Montserrat-bold.fntdata"/><Relationship Id="rId30" Type="http://customschemas.google.com/relationships/presentationmetadata" Target="metadata"/><Relationship Id="rId14" Type="http://schemas.openxmlformats.org/officeDocument/2006/relationships/slide" Target="slides/slide10.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La arquitectura BIAN (Banking Industry Architecture Network) es una iniciativa global que busca estandarizar la forma en que los bancos diseñan y organizan sus sistemas de tecnología de la información.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Imagina que un banco es como una ciudad y sus diferentes sistemas y aplicaciones informáticas son como los edificios de esa ciudad. Cada edificio tiene una función específica, como la banca en línea, el procesamiento de préstamos, la emisión de tarjetas de crédito, entre otros.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Ahora, para que esta ciudad funcione de manera eficiente, necesitamos un buen plan de ciudad, un mapa que muestre dónde deben ir los edificios, cómo deben conectarse entre sí y cómo deben interactuar. Eso es básicamente lo que hace BIAN.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BIAN proporciona un "plan de ciudad" estándar para los bancos, mostrándoles cómo organizar sus sistemas informáticos para que funcionen de manera eficiente y segura. También muestra cómo estos sistemas deben conectarse e interactuar entre sí.</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Este enfoque estandarizado puede hacer que sea más fácil y rápido para los bancos agregar nuevos servicios o actualizar los existentes. También puede mejorar la seguridad y facilitar el cumplimiento de las regulaciones financieras. En resumen, BIAN puede ayudar a los bancos a operar de manera más eficiente y a adaptarse mejor a las cambiantes necesidades del mercado y de los clientes.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a:t>
            </a:r>
            <a:endParaRPr/>
          </a:p>
          <a:p>
            <a:pPr indent="0" lvl="0" marL="0" rtl="0" algn="l">
              <a:lnSpc>
                <a:spcPct val="100000"/>
              </a:lnSpc>
              <a:spcBef>
                <a:spcPts val="0"/>
              </a:spcBef>
              <a:spcAft>
                <a:spcPts val="0"/>
              </a:spcAft>
              <a:buSzPts val="1100"/>
              <a:buNone/>
            </a:pPr>
            <a:r>
              <a:rPr b="0" i="0" lang="es">
                <a:solidFill>
                  <a:srgbClr val="D1D5DB"/>
                </a:solidFill>
                <a:latin typeface="Arial"/>
                <a:ea typeface="Arial"/>
                <a:cs typeface="Arial"/>
                <a:sym typeface="Arial"/>
              </a:rPr>
              <a:t>Aunque BIAN no es una herramienta de seguridad en sí misma, su uso puede mejorar la seguridad de los sistemas bancarios al promover la estandarización, el diseño seguro, la segregación de funciones, una gestión de riesgos mejorada y una comprobación más fácil del cumplimiento.</a:t>
            </a:r>
            <a:endParaRPr/>
          </a:p>
        </p:txBody>
      </p:sp>
      <p:sp>
        <p:nvSpPr>
          <p:cNvPr id="586" name="Google Shape;58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2" name="Google Shape;65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Aplicar el patrón de la higuera estranguladora (Strangler Fig Pattern) para reemplazar un sistema legado implica los siguientes pasos: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1. **Identificación de Funciones**: Analiza el sistema legado e identifica todas sus funciones y procesos importantes.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2. **Diseño de la Nueva Plataforma**: Diseña la nueva plataforma con las mismas funciones que el sistema legado, pero con mejoras y actualizaciones según sea necesario.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3. **Implementación Parcial**: Implementa partes de la nueva plataforma que replican algunas funciones del sistema legado. Asegúrate de que estas nuevas implementaciones se integren correctamente con el sistema legado.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4. **Redirección de Tráfico**: Redirige el tráfico o las solicitudes desde la función replicada del sistema legado hacia la nueva plataforma.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5. **Validación y Ajustes**: Comprueba que la nueva plataforma esté funcionando correctamente y realiza los ajustes necesarios.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6. **Replicación Gradual**: Repite los pasos 3 a 5 para cada función del sistema legado hasta que todas las funciones se hayan replicado en la nueva plataforma.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7. **Retirada del Sistema Legado**: Una vez que todas las funciones del sistema legado se han replicado en la nueva plataforma y todo el tráfico se ha redirigido, puedes retirar de manera segura el sistema legado.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8. **Optimización Continua**: Continúa optimizando y actualizando la nueva plataforma según sea necesario.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Es importante destacar que este proceso debe llevarse a cabo de manera gradual y cuidadosa para evitar interrupciones del servicio y minimizar los riesgos.</a:t>
            </a:r>
            <a:endParaRPr/>
          </a:p>
        </p:txBody>
      </p:sp>
      <p:sp>
        <p:nvSpPr>
          <p:cNvPr id="901" name="Google Shape;90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El proceso de desacoplamiento de los canales de un core bancario legado puede ser bastante complejo y depende de la arquitectura específica del sistema bancario. Sin embargo, aquí te proporciono una serie de pasos generales que puedes seguir: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1. **Identificación de los Canales**: Identifica los canales actuales que están acoplados con el core bancario. Estos podrían incluir canales online, móviles, de sucursal, de cajero automático, etc.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2. **Análisis de Funcionalidades**: Analiza las funcionalidades y procesos que cada canal utiliza del core bancario. Esto te ayudará a entender qué necesidades debe cumplir el nuevo canal desacoplado.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3. **Diseño de la Nueva Arquitectura**: Diseña la nueva arquitectura de canales desacoplados. Esto podría incluir la creación de APIs o microservicios para facilitar la comunicación entre los canales y el core bancario.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4. **Desarrollo e Implementación**: Desarrolla e implementa los nuevos canales desacoplados según el diseño. Este proceso puede realizarse gradualmente, comenzando con un canal y luego pasando al siguiente.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5. **Pruebas**: Realiza pruebas exhaustivas para asegurarte de que los nuevos canales funcionan correctamente y se comunican de manera eficiente con el core bancario.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6. **Transición**: Una vez que estés satisfecho con el funcionamiento del nuevo canal, comienza a redirigir el tráfico del canal antiguo al nuevo. Esto también debería hacerse gradualmente para minimizar las interrupciones.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7. **Retiro de los Canales Antiguos**: Cuando todos los canales hayan sido reemplazados con éxito y estén funcionando correctamente, puedes proceder a retirar los canales antiguos.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8. **Mantenimiento y Mejora Continua**: Finalmente, deberás mantener y mejorar continuamente tus nuevos canales desacoplados para asegurarte de que sigan satisfaciendo las necesidades de los clientes y del banco.</a:t>
            </a:r>
            <a:endParaRPr/>
          </a:p>
        </p:txBody>
      </p:sp>
      <p:sp>
        <p:nvSpPr>
          <p:cNvPr id="1002" name="Google Shape;100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3" name="Google Shape;109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251d93618e3_0_13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6" name="Google Shape;1296;g251d93618e3_0_1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2" name="Google Shape;130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8" name="Google Shape;14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7" name="Google Shape;173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g251d934671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6" name="Google Shape;1996;g251d934671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7" name="Google Shape;225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3" name="Shape 2513"/>
        <p:cNvGrpSpPr/>
        <p:nvPr/>
      </p:nvGrpSpPr>
      <p:grpSpPr>
        <a:xfrm>
          <a:off x="0" y="0"/>
          <a:ext cx="0" cy="0"/>
          <a:chOff x="0" y="0"/>
          <a:chExt cx="0" cy="0"/>
        </a:xfrm>
      </p:grpSpPr>
      <p:sp>
        <p:nvSpPr>
          <p:cNvPr id="2514" name="Google Shape;251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5" name="Google Shape;251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3" name="Google Shape;277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2" name="Google Shape;303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9" name="Shape 3289"/>
        <p:cNvGrpSpPr/>
        <p:nvPr/>
      </p:nvGrpSpPr>
      <p:grpSpPr>
        <a:xfrm>
          <a:off x="0" y="0"/>
          <a:ext cx="0" cy="0"/>
          <a:chOff x="0" y="0"/>
          <a:chExt cx="0" cy="0"/>
        </a:xfrm>
      </p:grpSpPr>
      <p:sp>
        <p:nvSpPr>
          <p:cNvPr id="3290" name="Google Shape;3290;g251d9346719_0_1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1" name="Google Shape;3291;g251d9346719_0_1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se refiere a las etapas de preparación y planificación requeridas antes de que las transacciones sean procesadas. Aquí hay algunos elementos clave que se deben considerar: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Tipos de Transacciones</a:t>
            </a:r>
            <a:r>
              <a:rPr b="0" i="0" lang="es">
                <a:latin typeface="Arial"/>
                <a:ea typeface="Arial"/>
                <a:cs typeface="Arial"/>
                <a:sym typeface="Arial"/>
              </a:rPr>
              <a:t>: Es necesario tener en cuenta qué tipos de transacciones se procesarán. Esto podría incluir transferencias de dinero, pagos de facturas, depósitos, retiros,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Capacidad del Sistema</a:t>
            </a:r>
            <a:r>
              <a:rPr b="0" i="0" lang="es">
                <a:latin typeface="Arial"/>
                <a:ea typeface="Arial"/>
                <a:cs typeface="Arial"/>
                <a:sym typeface="Arial"/>
              </a:rPr>
              <a:t>: El sistema debe tener la capacidad de manejar el volumen esperado de transacciones. Esto puede requerir la evaluación y, posiblemente, la mejora de la infraestructura tecnológica.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Seguridad y Cumplimiento</a:t>
            </a:r>
            <a:r>
              <a:rPr b="0" i="0" lang="es">
                <a:latin typeface="Arial"/>
                <a:ea typeface="Arial"/>
                <a:cs typeface="Arial"/>
                <a:sym typeface="Arial"/>
              </a:rPr>
              <a:t>: Es esencial garantizar que todas las transacciones se procesen de manera segura y que se cumplan todas las leyes y regulaciones pertinentes.</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Procesos de Verificación</a:t>
            </a:r>
            <a:r>
              <a:rPr b="0" i="0" lang="es">
                <a:latin typeface="Arial"/>
                <a:ea typeface="Arial"/>
                <a:cs typeface="Arial"/>
                <a:sym typeface="Arial"/>
              </a:rPr>
              <a:t>: Los procesos para verificar la identidad de los usuarios y la validez de las transacciones deben estar en su lugar.</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Respuesta a Errores</a:t>
            </a:r>
            <a:r>
              <a:rPr b="0" i="0" lang="es">
                <a:latin typeface="Arial"/>
                <a:ea typeface="Arial"/>
                <a:cs typeface="Arial"/>
                <a:sym typeface="Arial"/>
              </a:rPr>
              <a:t>: Deben existir protocolos claros para cómo se manejarán los errores en las transacciones. Esto podría incluir errores en la entrada de datos, transacciones duplicadas, etc.</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Respaldo y Recuperación</a:t>
            </a:r>
            <a:r>
              <a:rPr b="0" i="0" lang="es">
                <a:latin typeface="Arial"/>
                <a:ea typeface="Arial"/>
                <a:cs typeface="Arial"/>
                <a:sym typeface="Arial"/>
              </a:rPr>
              <a:t>: Deben existir planes para respaldar los datos de las transacciones y recuperarlos en caso de un fallo del sistema.</a:t>
            </a:r>
            <a:endParaRPr/>
          </a:p>
          <a:p>
            <a:pPr indent="-298450" lvl="0" marL="457200" rtl="0" algn="l">
              <a:lnSpc>
                <a:spcPct val="100000"/>
              </a:lnSpc>
              <a:spcBef>
                <a:spcPts val="0"/>
              </a:spcBef>
              <a:spcAft>
                <a:spcPts val="0"/>
              </a:spcAft>
              <a:buSzPts val="1100"/>
              <a:buFont typeface="Arial"/>
              <a:buAutoNum type="arabicPeriod"/>
            </a:pPr>
            <a:r>
              <a:rPr b="1" i="0" lang="es">
                <a:latin typeface="Arial"/>
                <a:ea typeface="Arial"/>
                <a:cs typeface="Arial"/>
                <a:sym typeface="Arial"/>
              </a:rPr>
              <a:t>Interfaz de Usuario</a:t>
            </a:r>
            <a:r>
              <a:rPr b="0" i="0" lang="es">
                <a:latin typeface="Arial"/>
                <a:ea typeface="Arial"/>
                <a:cs typeface="Arial"/>
                <a:sym typeface="Arial"/>
              </a:rPr>
              <a:t>: La interfaz de usuario para ingresar y procesar transacciones debe ser fácil de usar y eficiente.</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Por lo tanto, las "preparation considerations" implican un análisis detallado y la planificación de todos estos aspectos antes de que se pueda comenzar a procesar transacciones bancarias de manera eficaz y eficiente</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Los servicios de sobregiro (Overdraft Services) se refieren a una característica que ofrecen muchos bancos que permite a los titulares de cuentas retirar más dinero de lo que tienen en su cuenta, esencialmente proporcionando un pequeño préstamo a corto plazo. Esto puede ocurrir, por ejemplo, cuando se emite un cheque o se hace una compra con tarjeta de débito que excede el saldo disponible en la cuenta.</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En el contexto del procesamiento de transacciones bancarias, el banco tendría que tener sistemas en su lugar para reconocer cuando una cuenta está en sobregiro, para aplicar las tasas de interés o cargos correspondientes, y para informar a los clientes sobre su estado de sobregiro.</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Es importante tener en cuenta que los sobregiros generalmente involucran cargos o tasas de interés, que pueden ser bastante altos. Algunos bancos también ofrecen servicios de "protección de sobregiro", que pueden vincular la cuenta corriente a una cuenta de ahorros, tarjeta de crédito, o línea de crédito para cubrir cualquier sobregiro que ocurra, a menudo por una tarifa menor que la tarifa de sobregiro estándar.</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PROCESAMIENTO DIA 1 y DIA 2</a:t>
            </a:r>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procesamiento de Día 1 y Día 2 se refiere a los procedimientos y actividades que ocurren en diferentes fases del ciclo de procesamiento de transacciones bancarias.</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1 (Day 1)**: Este es el día en que se realiza una transacción. Durante el procesamiento de Día 1, las transacciones son aceptadas, autenticadas, registradas y procesadas preliminarmente. Algunas de estas transacciones podrían ser pagos realizados por los clientes, depósitos en efectivo, transferencias electrónicas, entre otros. Las transacciones suelen ser revisadas y autorizadas durante el día, y luego se "termina el día" (un término bancario para concluir el ciclo de procesamiento del día) y se prepara para la compensación nocturna.</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**Día 2 (Day 2)**: Durante el procesamiento de Día 2, las transacciones son reconciliadas, compensadas y contabilizadas finalmente en los sistemas del banco. Las actividades de Día 2 pueden incluir la publicación final de las transacciones, la revisión de excepciones o errores que surjan, la emisión de informes y la resolución de cualquier asunto pendiente de Día 1.</a:t>
            </a:r>
            <a:endParaRPr/>
          </a:p>
          <a:p>
            <a:pPr indent="-228600" lvl="0" marL="457200" rtl="0" algn="l">
              <a:lnSpc>
                <a:spcPct val="100000"/>
              </a:lnSpc>
              <a:spcBef>
                <a:spcPts val="0"/>
              </a:spcBef>
              <a:spcAft>
                <a:spcPts val="0"/>
              </a:spcAft>
              <a:buSzPts val="1100"/>
              <a:buNone/>
            </a:pPr>
            <a:r>
              <a:t/>
            </a:r>
            <a:endParaRPr b="0" i="0">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s">
                <a:latin typeface="Arial"/>
                <a:ea typeface="Arial"/>
                <a:cs typeface="Arial"/>
                <a:sym typeface="Arial"/>
              </a:rPr>
              <a:t>El objetivo de este proceso es asegurar que todas las transacciones sean procesadas correctamente, eficientemente y de acuerdo con las regulaciones bancarias. El tiempo exacto que abarca el Día 1 y el Día 2 puede variar dependiendo del banco y del tipo específico de transacción.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 name="Shape 12"/>
        <p:cNvGrpSpPr/>
        <p:nvPr/>
      </p:nvGrpSpPr>
      <p:grpSpPr>
        <a:xfrm>
          <a:off x="0" y="0"/>
          <a:ext cx="0" cy="0"/>
          <a:chOff x="0" y="0"/>
          <a:chExt cx="0" cy="0"/>
        </a:xfrm>
      </p:grpSpPr>
      <p:sp>
        <p:nvSpPr>
          <p:cNvPr id="13" name="Google Shape;13;p75"/>
          <p:cNvSpPr/>
          <p:nvPr/>
        </p:nvSpPr>
        <p:spPr>
          <a:xfrm>
            <a:off x="0" y="4852483"/>
            <a:ext cx="9144000" cy="291000"/>
          </a:xfrm>
          <a:prstGeom prst="rect">
            <a:avLst/>
          </a:prstGeom>
          <a:solidFill>
            <a:schemeClr val="accent4"/>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4" name="Google Shape;14;p75"/>
          <p:cNvSpPr/>
          <p:nvPr/>
        </p:nvSpPr>
        <p:spPr>
          <a:xfrm>
            <a:off x="3114331" y="4888259"/>
            <a:ext cx="219300" cy="219300"/>
          </a:xfrm>
          <a:prstGeom prst="ellipse">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5" name="Google Shape;15;p75"/>
          <p:cNvSpPr/>
          <p:nvPr/>
        </p:nvSpPr>
        <p:spPr>
          <a:xfrm rot="-6177018">
            <a:off x="2863931" y="4897369"/>
            <a:ext cx="203475" cy="201246"/>
          </a:xfrm>
          <a:prstGeom prst="chord">
            <a:avLst>
              <a:gd fmla="val 2700000" name="adj1"/>
              <a:gd fmla="val 16200000" name="adj2"/>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6" name="Google Shape;16;p75"/>
          <p:cNvSpPr/>
          <p:nvPr/>
        </p:nvSpPr>
        <p:spPr>
          <a:xfrm>
            <a:off x="2597436" y="4888259"/>
            <a:ext cx="219300" cy="219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7" name="Google Shape;17;p75"/>
          <p:cNvSpPr/>
          <p:nvPr/>
        </p:nvSpPr>
        <p:spPr>
          <a:xfrm rot="-6177018">
            <a:off x="2347034" y="4897369"/>
            <a:ext cx="203475" cy="201246"/>
          </a:xfrm>
          <a:prstGeom prst="chord">
            <a:avLst>
              <a:gd fmla="val 2700000" name="adj1"/>
              <a:gd fmla="val 16200000" name="adj2"/>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8" name="Google Shape;18;p75"/>
          <p:cNvSpPr/>
          <p:nvPr/>
        </p:nvSpPr>
        <p:spPr>
          <a:xfrm>
            <a:off x="2080539" y="4888259"/>
            <a:ext cx="219300" cy="219300"/>
          </a:xfrm>
          <a:prstGeom prst="ellipse">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9" name="Google Shape;19;p75"/>
          <p:cNvSpPr/>
          <p:nvPr/>
        </p:nvSpPr>
        <p:spPr>
          <a:xfrm rot="-6177018">
            <a:off x="1830138" y="4897369"/>
            <a:ext cx="203475" cy="201246"/>
          </a:xfrm>
          <a:prstGeom prst="chord">
            <a:avLst>
              <a:gd fmla="val 2700000" name="adj1"/>
              <a:gd fmla="val 16200000" name="adj2"/>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0" name="Google Shape;20;p75"/>
          <p:cNvSpPr/>
          <p:nvPr/>
        </p:nvSpPr>
        <p:spPr>
          <a:xfrm>
            <a:off x="1563644" y="4888259"/>
            <a:ext cx="219300" cy="219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1" name="Google Shape;21;p75"/>
          <p:cNvSpPr/>
          <p:nvPr/>
        </p:nvSpPr>
        <p:spPr>
          <a:xfrm rot="-6177018">
            <a:off x="1313244" y="4897369"/>
            <a:ext cx="203475" cy="201246"/>
          </a:xfrm>
          <a:prstGeom prst="chord">
            <a:avLst>
              <a:gd fmla="val 2700000" name="adj1"/>
              <a:gd fmla="val 16200000" name="adj2"/>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 name="Google Shape;22;p75"/>
          <p:cNvSpPr/>
          <p:nvPr/>
        </p:nvSpPr>
        <p:spPr>
          <a:xfrm>
            <a:off x="1046749" y="4888259"/>
            <a:ext cx="219300" cy="219300"/>
          </a:xfrm>
          <a:prstGeom prst="ellipse">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3" name="Google Shape;23;p75"/>
          <p:cNvSpPr/>
          <p:nvPr/>
        </p:nvSpPr>
        <p:spPr>
          <a:xfrm rot="-6177018">
            <a:off x="796349" y="4897369"/>
            <a:ext cx="203475" cy="201246"/>
          </a:xfrm>
          <a:prstGeom prst="chord">
            <a:avLst>
              <a:gd fmla="val 2700000" name="adj1"/>
              <a:gd fmla="val 16200000" name="adj2"/>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4" name="Google Shape;24;p75"/>
          <p:cNvSpPr/>
          <p:nvPr/>
        </p:nvSpPr>
        <p:spPr>
          <a:xfrm>
            <a:off x="529852" y="4888259"/>
            <a:ext cx="219300" cy="219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5" name="Google Shape;25;p75"/>
          <p:cNvSpPr/>
          <p:nvPr/>
        </p:nvSpPr>
        <p:spPr>
          <a:xfrm rot="-6177018">
            <a:off x="279452" y="4897369"/>
            <a:ext cx="203475" cy="201246"/>
          </a:xfrm>
          <a:prstGeom prst="chord">
            <a:avLst>
              <a:gd fmla="val 2700000" name="adj1"/>
              <a:gd fmla="val 16200000" name="adj2"/>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76"/>
          <p:cNvSpPr txBox="1"/>
          <p:nvPr>
            <p:ph idx="12" type="sldNum"/>
          </p:nvPr>
        </p:nvSpPr>
        <p:spPr>
          <a:xfrm>
            <a:off x="8275792" y="187067"/>
            <a:ext cx="548700" cy="393600"/>
          </a:xfrm>
          <a:prstGeom prst="rect">
            <a:avLst/>
          </a:prstGeom>
          <a:noFill/>
          <a:ln>
            <a:noFill/>
          </a:ln>
        </p:spPr>
        <p:txBody>
          <a:bodyPr anchorCtr="0" anchor="ctr" bIns="58875" lIns="58875" spcFirstLastPara="1" rIns="58875" wrap="square" tIns="58875">
            <a:noAutofit/>
          </a:bodyPr>
          <a:lstStyle>
            <a:lvl1pPr indent="0" lvl="0"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C4E3EF"/>
        </a:solidFill>
      </p:bgPr>
    </p:bg>
    <p:spTree>
      <p:nvGrpSpPr>
        <p:cNvPr id="28" name="Shape 28"/>
        <p:cNvGrpSpPr/>
        <p:nvPr/>
      </p:nvGrpSpPr>
      <p:grpSpPr>
        <a:xfrm>
          <a:off x="0" y="0"/>
          <a:ext cx="0" cy="0"/>
          <a:chOff x="0" y="0"/>
          <a:chExt cx="0" cy="0"/>
        </a:xfrm>
      </p:grpSpPr>
      <p:sp>
        <p:nvSpPr>
          <p:cNvPr id="29" name="Google Shape;29;p77"/>
          <p:cNvSpPr/>
          <p:nvPr/>
        </p:nvSpPr>
        <p:spPr>
          <a:xfrm flipH="1" rot="-8298886">
            <a:off x="7283157" y="1664883"/>
            <a:ext cx="692007" cy="616244"/>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1"/>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 name="Google Shape;30;p77"/>
          <p:cNvSpPr/>
          <p:nvPr/>
        </p:nvSpPr>
        <p:spPr>
          <a:xfrm flipH="1" rot="-8298843">
            <a:off x="8010339" y="1933488"/>
            <a:ext cx="450077" cy="400811"/>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3"/>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 name="Google Shape;31;p77"/>
          <p:cNvSpPr/>
          <p:nvPr/>
        </p:nvSpPr>
        <p:spPr>
          <a:xfrm>
            <a:off x="7154707" y="-973076"/>
            <a:ext cx="2646900" cy="2646900"/>
          </a:xfrm>
          <a:prstGeom prst="ellipse">
            <a:avLst/>
          </a:prstGeom>
          <a:solidFill>
            <a:schemeClr val="accent1"/>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 name="Google Shape;32;p77"/>
          <p:cNvSpPr/>
          <p:nvPr/>
        </p:nvSpPr>
        <p:spPr>
          <a:xfrm>
            <a:off x="5810280" y="542676"/>
            <a:ext cx="1511400" cy="15114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78"/>
          <p:cNvSpPr txBox="1"/>
          <p:nvPr>
            <p:ph type="title"/>
          </p:nvPr>
        </p:nvSpPr>
        <p:spPr>
          <a:xfrm>
            <a:off x="311705" y="445026"/>
            <a:ext cx="8520600" cy="572700"/>
          </a:xfrm>
          <a:prstGeom prst="rect">
            <a:avLst/>
          </a:prstGeom>
          <a:noFill/>
          <a:ln>
            <a:noFill/>
          </a:ln>
        </p:spPr>
        <p:txBody>
          <a:bodyPr anchorCtr="0" anchor="t" bIns="58875" lIns="58875" spcFirstLastPara="1" rIns="58875" wrap="square" tIns="58875">
            <a:norm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35" name="Google Shape;35;p78"/>
          <p:cNvSpPr/>
          <p:nvPr/>
        </p:nvSpPr>
        <p:spPr>
          <a:xfrm>
            <a:off x="105000" y="4502650"/>
            <a:ext cx="513300" cy="513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6" name="Google Shape;36;p78"/>
          <p:cNvSpPr/>
          <p:nvPr/>
        </p:nvSpPr>
        <p:spPr>
          <a:xfrm rot="-7723832">
            <a:off x="419612" y="4064629"/>
            <a:ext cx="493400" cy="456152"/>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7" name="Google Shape;37;p78"/>
          <p:cNvSpPr/>
          <p:nvPr/>
        </p:nvSpPr>
        <p:spPr>
          <a:xfrm>
            <a:off x="105000" y="3791886"/>
            <a:ext cx="513300" cy="513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8" name="Google Shape;38;p78"/>
          <p:cNvSpPr/>
          <p:nvPr/>
        </p:nvSpPr>
        <p:spPr>
          <a:xfrm rot="-1221696">
            <a:off x="128769" y="3241784"/>
            <a:ext cx="465592" cy="481818"/>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9" name="Google Shape;39;p78"/>
          <p:cNvSpPr/>
          <p:nvPr/>
        </p:nvSpPr>
        <p:spPr>
          <a:xfrm>
            <a:off x="8583084" y="1233133"/>
            <a:ext cx="513300" cy="513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0" name="Google Shape;40;p78"/>
          <p:cNvSpPr/>
          <p:nvPr/>
        </p:nvSpPr>
        <p:spPr>
          <a:xfrm rot="9167033">
            <a:off x="8609477" y="732451"/>
            <a:ext cx="460481" cy="488037"/>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79"/>
          <p:cNvSpPr txBox="1"/>
          <p:nvPr>
            <p:ph type="title"/>
          </p:nvPr>
        </p:nvSpPr>
        <p:spPr>
          <a:xfrm>
            <a:off x="490250" y="450152"/>
            <a:ext cx="6367800" cy="4090800"/>
          </a:xfrm>
          <a:prstGeom prst="rect">
            <a:avLst/>
          </a:prstGeom>
          <a:noFill/>
          <a:ln>
            <a:noFill/>
          </a:ln>
        </p:spPr>
        <p:txBody>
          <a:bodyPr anchorCtr="0" anchor="ctr" bIns="58875" lIns="58875" spcFirstLastPara="1" rIns="58875" wrap="square" tIns="58875">
            <a:norm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43" name="Google Shape;43;p79"/>
          <p:cNvSpPr/>
          <p:nvPr/>
        </p:nvSpPr>
        <p:spPr>
          <a:xfrm>
            <a:off x="0" y="4852483"/>
            <a:ext cx="9144000" cy="291000"/>
          </a:xfrm>
          <a:prstGeom prst="rect">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4" name="Google Shape;44;p79"/>
          <p:cNvSpPr/>
          <p:nvPr/>
        </p:nvSpPr>
        <p:spPr>
          <a:xfrm>
            <a:off x="3114331" y="4888259"/>
            <a:ext cx="219300" cy="219300"/>
          </a:xfrm>
          <a:prstGeom prst="ellipse">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5" name="Google Shape;45;p79"/>
          <p:cNvSpPr/>
          <p:nvPr/>
        </p:nvSpPr>
        <p:spPr>
          <a:xfrm rot="-6177018">
            <a:off x="2863931" y="4897369"/>
            <a:ext cx="203475" cy="201246"/>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6" name="Google Shape;46;p79"/>
          <p:cNvSpPr/>
          <p:nvPr/>
        </p:nvSpPr>
        <p:spPr>
          <a:xfrm>
            <a:off x="2597436" y="4888259"/>
            <a:ext cx="219300" cy="2193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7" name="Google Shape;47;p79"/>
          <p:cNvSpPr/>
          <p:nvPr/>
        </p:nvSpPr>
        <p:spPr>
          <a:xfrm rot="-6177018">
            <a:off x="2347034" y="4897369"/>
            <a:ext cx="203475" cy="201246"/>
          </a:xfrm>
          <a:prstGeom prst="chord">
            <a:avLst>
              <a:gd fmla="val 2700000" name="adj1"/>
              <a:gd fmla="val 16200000" name="adj2"/>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8" name="Google Shape;48;p79"/>
          <p:cNvSpPr/>
          <p:nvPr/>
        </p:nvSpPr>
        <p:spPr>
          <a:xfrm>
            <a:off x="2080539" y="4888259"/>
            <a:ext cx="219300" cy="219300"/>
          </a:xfrm>
          <a:prstGeom prst="ellipse">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 name="Google Shape;49;p79"/>
          <p:cNvSpPr/>
          <p:nvPr/>
        </p:nvSpPr>
        <p:spPr>
          <a:xfrm rot="-6177018">
            <a:off x="1830138" y="4897369"/>
            <a:ext cx="203475" cy="201246"/>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0" name="Google Shape;50;p79"/>
          <p:cNvSpPr/>
          <p:nvPr/>
        </p:nvSpPr>
        <p:spPr>
          <a:xfrm>
            <a:off x="1563644" y="4888259"/>
            <a:ext cx="219300" cy="2193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1" name="Google Shape;51;p79"/>
          <p:cNvSpPr/>
          <p:nvPr/>
        </p:nvSpPr>
        <p:spPr>
          <a:xfrm rot="-6177018">
            <a:off x="1313244" y="4897369"/>
            <a:ext cx="203475" cy="201246"/>
          </a:xfrm>
          <a:prstGeom prst="chord">
            <a:avLst>
              <a:gd fmla="val 2700000" name="adj1"/>
              <a:gd fmla="val 16200000" name="adj2"/>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2" name="Google Shape;52;p79"/>
          <p:cNvSpPr/>
          <p:nvPr/>
        </p:nvSpPr>
        <p:spPr>
          <a:xfrm>
            <a:off x="1046749" y="4888259"/>
            <a:ext cx="219300" cy="219300"/>
          </a:xfrm>
          <a:prstGeom prst="ellipse">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3" name="Google Shape;53;p79"/>
          <p:cNvSpPr/>
          <p:nvPr/>
        </p:nvSpPr>
        <p:spPr>
          <a:xfrm rot="-6177018">
            <a:off x="796349" y="4897369"/>
            <a:ext cx="203475" cy="201246"/>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4" name="Google Shape;54;p79"/>
          <p:cNvSpPr/>
          <p:nvPr/>
        </p:nvSpPr>
        <p:spPr>
          <a:xfrm>
            <a:off x="529852" y="4888259"/>
            <a:ext cx="219300" cy="2193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5" name="Google Shape;55;p79"/>
          <p:cNvSpPr/>
          <p:nvPr/>
        </p:nvSpPr>
        <p:spPr>
          <a:xfrm rot="-6177018">
            <a:off x="279452" y="4897369"/>
            <a:ext cx="203475" cy="201246"/>
          </a:xfrm>
          <a:prstGeom prst="chord">
            <a:avLst>
              <a:gd fmla="val 2700000" name="adj1"/>
              <a:gd fmla="val 16200000" name="adj2"/>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s Servicios Financieros" type="title">
  <p:cSld name="TITLE">
    <p:spTree>
      <p:nvGrpSpPr>
        <p:cNvPr id="56" name="Shape 56"/>
        <p:cNvGrpSpPr/>
        <p:nvPr/>
      </p:nvGrpSpPr>
      <p:grpSpPr>
        <a:xfrm>
          <a:off x="0" y="0"/>
          <a:ext cx="0" cy="0"/>
          <a:chOff x="0" y="0"/>
          <a:chExt cx="0" cy="0"/>
        </a:xfrm>
      </p:grpSpPr>
      <p:sp>
        <p:nvSpPr>
          <p:cNvPr id="57" name="Google Shape;57;p80"/>
          <p:cNvSpPr/>
          <p:nvPr/>
        </p:nvSpPr>
        <p:spPr>
          <a:xfrm>
            <a:off x="7154707" y="-973076"/>
            <a:ext cx="2646900" cy="26469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8" name="Google Shape;58;p80"/>
          <p:cNvSpPr/>
          <p:nvPr/>
        </p:nvSpPr>
        <p:spPr>
          <a:xfrm>
            <a:off x="5810280" y="542676"/>
            <a:ext cx="1511400" cy="15114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 2">
    <p:spTree>
      <p:nvGrpSpPr>
        <p:cNvPr id="59" name="Shape 59"/>
        <p:cNvGrpSpPr/>
        <p:nvPr/>
      </p:nvGrpSpPr>
      <p:grpSpPr>
        <a:xfrm>
          <a:off x="0" y="0"/>
          <a:ext cx="0" cy="0"/>
          <a:chOff x="0" y="0"/>
          <a:chExt cx="0" cy="0"/>
        </a:xfrm>
      </p:grpSpPr>
      <p:sp>
        <p:nvSpPr>
          <p:cNvPr id="60" name="Google Shape;60;p81"/>
          <p:cNvSpPr/>
          <p:nvPr/>
        </p:nvSpPr>
        <p:spPr>
          <a:xfrm>
            <a:off x="0" y="0"/>
            <a:ext cx="2555100" cy="5143500"/>
          </a:xfrm>
          <a:prstGeom prst="rect">
            <a:avLst/>
          </a:prstGeom>
          <a:solidFill>
            <a:schemeClr val="accent4"/>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81"/>
          <p:cNvSpPr/>
          <p:nvPr/>
        </p:nvSpPr>
        <p:spPr>
          <a:xfrm rot="9933826">
            <a:off x="836013" y="4159837"/>
            <a:ext cx="646203" cy="650721"/>
          </a:xfrm>
          <a:prstGeom prst="chord">
            <a:avLst>
              <a:gd fmla="val 2700000" name="adj1"/>
              <a:gd fmla="val 16200000" name="adj2"/>
            </a:avLst>
          </a:prstGeom>
          <a:solidFill>
            <a:srgbClr val="FFE400"/>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81"/>
          <p:cNvSpPr/>
          <p:nvPr/>
        </p:nvSpPr>
        <p:spPr>
          <a:xfrm>
            <a:off x="371836" y="3386144"/>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81"/>
          <p:cNvSpPr/>
          <p:nvPr/>
        </p:nvSpPr>
        <p:spPr>
          <a:xfrm>
            <a:off x="1465491" y="3557163"/>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81"/>
          <p:cNvSpPr/>
          <p:nvPr/>
        </p:nvSpPr>
        <p:spPr>
          <a:xfrm rot="-7583861">
            <a:off x="988134" y="3081895"/>
            <a:ext cx="655222" cy="646301"/>
          </a:xfrm>
          <a:prstGeom prst="chord">
            <a:avLst>
              <a:gd fmla="val 2700000" name="adj1"/>
              <a:gd fmla="val 16200000" name="adj2"/>
            </a:avLst>
          </a:prstGeom>
          <a:solidFill>
            <a:srgbClr val="FFE400"/>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81"/>
          <p:cNvSpPr/>
          <p:nvPr/>
        </p:nvSpPr>
        <p:spPr>
          <a:xfrm>
            <a:off x="1503483" y="2601904"/>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81"/>
          <p:cNvSpPr/>
          <p:nvPr/>
        </p:nvSpPr>
        <p:spPr>
          <a:xfrm>
            <a:off x="687008" y="2431997"/>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81"/>
          <p:cNvSpPr/>
          <p:nvPr/>
        </p:nvSpPr>
        <p:spPr>
          <a:xfrm rot="-1049530">
            <a:off x="1588873" y="1908642"/>
            <a:ext cx="645761" cy="652126"/>
          </a:xfrm>
          <a:prstGeom prst="chord">
            <a:avLst>
              <a:gd fmla="val 2700000" name="adj1"/>
              <a:gd fmla="val 16200000" name="adj2"/>
            </a:avLst>
          </a:prstGeom>
          <a:solidFill>
            <a:srgbClr val="FFE400"/>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81"/>
          <p:cNvSpPr/>
          <p:nvPr/>
        </p:nvSpPr>
        <p:spPr>
          <a:xfrm rot="-6119134">
            <a:off x="194529" y="1910946"/>
            <a:ext cx="648640" cy="647963"/>
          </a:xfrm>
          <a:prstGeom prst="chord">
            <a:avLst>
              <a:gd fmla="val 2700000" name="adj1"/>
              <a:gd fmla="val 16200000" name="adj2"/>
            </a:avLst>
          </a:prstGeom>
          <a:solidFill>
            <a:srgbClr val="FFE400"/>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81"/>
          <p:cNvSpPr/>
          <p:nvPr/>
        </p:nvSpPr>
        <p:spPr>
          <a:xfrm>
            <a:off x="807676" y="1373941"/>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81"/>
          <p:cNvSpPr/>
          <p:nvPr/>
        </p:nvSpPr>
        <p:spPr>
          <a:xfrm rot="9933826">
            <a:off x="880926" y="581361"/>
            <a:ext cx="646203" cy="650721"/>
          </a:xfrm>
          <a:prstGeom prst="chord">
            <a:avLst>
              <a:gd fmla="val 2700000" name="adj1"/>
              <a:gd fmla="val 16200000" name="adj2"/>
            </a:avLst>
          </a:prstGeom>
          <a:solidFill>
            <a:srgbClr val="FFE400"/>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81"/>
          <p:cNvSpPr/>
          <p:nvPr/>
        </p:nvSpPr>
        <p:spPr>
          <a:xfrm>
            <a:off x="1560442" y="138799"/>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81"/>
          <p:cNvSpPr/>
          <p:nvPr/>
        </p:nvSpPr>
        <p:spPr>
          <a:xfrm>
            <a:off x="1600231" y="982661"/>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81"/>
          <p:cNvSpPr/>
          <p:nvPr/>
        </p:nvSpPr>
        <p:spPr>
          <a:xfrm>
            <a:off x="167317" y="748933"/>
            <a:ext cx="702600" cy="702600"/>
          </a:xfrm>
          <a:prstGeom prst="ellipse">
            <a:avLst/>
          </a:prstGeom>
          <a:solidFill>
            <a:schemeClr val="accent1"/>
          </a:solidFill>
          <a:ln>
            <a:noFill/>
          </a:ln>
        </p:spPr>
        <p:txBody>
          <a:bodyPr anchorCtr="0" anchor="ctr" bIns="90625" lIns="90625" spcFirstLastPara="1" rIns="90625" wrap="square" tIns="90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74" name="Shape 74"/>
        <p:cNvGrpSpPr/>
        <p:nvPr/>
      </p:nvGrpSpPr>
      <p:grpSpPr>
        <a:xfrm>
          <a:off x="0" y="0"/>
          <a:ext cx="0" cy="0"/>
          <a:chOff x="0" y="0"/>
          <a:chExt cx="0" cy="0"/>
        </a:xfrm>
      </p:grpSpPr>
      <p:sp>
        <p:nvSpPr>
          <p:cNvPr id="75" name="Google Shape;75;p82"/>
          <p:cNvSpPr txBox="1"/>
          <p:nvPr>
            <p:ph type="title"/>
          </p:nvPr>
        </p:nvSpPr>
        <p:spPr>
          <a:xfrm>
            <a:off x="363950" y="166800"/>
            <a:ext cx="8426700" cy="3942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2000"/>
              <a:buNone/>
              <a:defRPr b="1" sz="2000">
                <a:solidFill>
                  <a:schemeClr val="accent1"/>
                </a:solidFill>
              </a:defRPr>
            </a:lvl1pPr>
            <a:lvl2pPr lvl="1" algn="l">
              <a:lnSpc>
                <a:spcPct val="100000"/>
              </a:lnSpc>
              <a:spcBef>
                <a:spcPts val="0"/>
              </a:spcBef>
              <a:spcAft>
                <a:spcPts val="0"/>
              </a:spcAft>
              <a:buClr>
                <a:schemeClr val="accent1"/>
              </a:buClr>
              <a:buSzPts val="2000"/>
              <a:buNone/>
              <a:defRPr sz="2000">
                <a:solidFill>
                  <a:schemeClr val="accent1"/>
                </a:solidFill>
              </a:defRPr>
            </a:lvl2pPr>
            <a:lvl3pPr lvl="2" algn="l">
              <a:lnSpc>
                <a:spcPct val="100000"/>
              </a:lnSpc>
              <a:spcBef>
                <a:spcPts val="0"/>
              </a:spcBef>
              <a:spcAft>
                <a:spcPts val="0"/>
              </a:spcAft>
              <a:buClr>
                <a:schemeClr val="accent1"/>
              </a:buClr>
              <a:buSzPts val="2000"/>
              <a:buNone/>
              <a:defRPr sz="2000">
                <a:solidFill>
                  <a:schemeClr val="accent1"/>
                </a:solidFill>
              </a:defRPr>
            </a:lvl3pPr>
            <a:lvl4pPr lvl="3" algn="l">
              <a:lnSpc>
                <a:spcPct val="100000"/>
              </a:lnSpc>
              <a:spcBef>
                <a:spcPts val="0"/>
              </a:spcBef>
              <a:spcAft>
                <a:spcPts val="0"/>
              </a:spcAft>
              <a:buClr>
                <a:schemeClr val="accent1"/>
              </a:buClr>
              <a:buSzPts val="2000"/>
              <a:buNone/>
              <a:defRPr sz="2000">
                <a:solidFill>
                  <a:schemeClr val="accent1"/>
                </a:solidFill>
              </a:defRPr>
            </a:lvl4pPr>
            <a:lvl5pPr lvl="4" algn="l">
              <a:lnSpc>
                <a:spcPct val="100000"/>
              </a:lnSpc>
              <a:spcBef>
                <a:spcPts val="0"/>
              </a:spcBef>
              <a:spcAft>
                <a:spcPts val="0"/>
              </a:spcAft>
              <a:buClr>
                <a:schemeClr val="accent1"/>
              </a:buClr>
              <a:buSzPts val="2000"/>
              <a:buNone/>
              <a:defRPr sz="2000">
                <a:solidFill>
                  <a:schemeClr val="accent1"/>
                </a:solidFill>
              </a:defRPr>
            </a:lvl5pPr>
            <a:lvl6pPr lvl="5" algn="l">
              <a:lnSpc>
                <a:spcPct val="100000"/>
              </a:lnSpc>
              <a:spcBef>
                <a:spcPts val="0"/>
              </a:spcBef>
              <a:spcAft>
                <a:spcPts val="0"/>
              </a:spcAft>
              <a:buClr>
                <a:schemeClr val="accent1"/>
              </a:buClr>
              <a:buSzPts val="2000"/>
              <a:buNone/>
              <a:defRPr sz="2000">
                <a:solidFill>
                  <a:schemeClr val="accent1"/>
                </a:solidFill>
              </a:defRPr>
            </a:lvl6pPr>
            <a:lvl7pPr lvl="6" algn="l">
              <a:lnSpc>
                <a:spcPct val="100000"/>
              </a:lnSpc>
              <a:spcBef>
                <a:spcPts val="0"/>
              </a:spcBef>
              <a:spcAft>
                <a:spcPts val="0"/>
              </a:spcAft>
              <a:buClr>
                <a:schemeClr val="accent1"/>
              </a:buClr>
              <a:buSzPts val="2000"/>
              <a:buNone/>
              <a:defRPr sz="2000">
                <a:solidFill>
                  <a:schemeClr val="accent1"/>
                </a:solidFill>
              </a:defRPr>
            </a:lvl7pPr>
            <a:lvl8pPr lvl="7" algn="l">
              <a:lnSpc>
                <a:spcPct val="100000"/>
              </a:lnSpc>
              <a:spcBef>
                <a:spcPts val="0"/>
              </a:spcBef>
              <a:spcAft>
                <a:spcPts val="0"/>
              </a:spcAft>
              <a:buClr>
                <a:schemeClr val="accent1"/>
              </a:buClr>
              <a:buSzPts val="2000"/>
              <a:buNone/>
              <a:defRPr sz="2000">
                <a:solidFill>
                  <a:schemeClr val="accent1"/>
                </a:solidFill>
              </a:defRPr>
            </a:lvl8pPr>
            <a:lvl9pPr lvl="8" algn="l">
              <a:lnSpc>
                <a:spcPct val="100000"/>
              </a:lnSpc>
              <a:spcBef>
                <a:spcPts val="0"/>
              </a:spcBef>
              <a:spcAft>
                <a:spcPts val="0"/>
              </a:spcAft>
              <a:buClr>
                <a:schemeClr val="accent1"/>
              </a:buClr>
              <a:buSzPts val="2000"/>
              <a:buNone/>
              <a:defRPr sz="2000">
                <a:solidFill>
                  <a:schemeClr val="accent1"/>
                </a:solidFill>
              </a:defRPr>
            </a:lvl9pPr>
          </a:lstStyle>
          <a:p/>
        </p:txBody>
      </p:sp>
      <p:sp>
        <p:nvSpPr>
          <p:cNvPr id="76" name="Google Shape;76;p82"/>
          <p:cNvSpPr txBox="1"/>
          <p:nvPr>
            <p:ph idx="1" type="subTitle"/>
          </p:nvPr>
        </p:nvSpPr>
        <p:spPr>
          <a:xfrm>
            <a:off x="363950" y="485250"/>
            <a:ext cx="8416200" cy="6141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rgbClr val="434343"/>
              </a:buClr>
              <a:buSzPts val="1400"/>
              <a:buNone/>
              <a:defRPr sz="1400">
                <a:solidFill>
                  <a:srgbClr val="434343"/>
                </a:solidFill>
              </a:defRPr>
            </a:lvl1pPr>
            <a:lvl2pPr lvl="1" algn="l">
              <a:lnSpc>
                <a:spcPct val="100000"/>
              </a:lnSpc>
              <a:spcBef>
                <a:spcPts val="0"/>
              </a:spcBef>
              <a:spcAft>
                <a:spcPts val="0"/>
              </a:spcAft>
              <a:buClr>
                <a:srgbClr val="434343"/>
              </a:buClr>
              <a:buSzPts val="1200"/>
              <a:buNone/>
              <a:defRPr>
                <a:solidFill>
                  <a:srgbClr val="434343"/>
                </a:solidFill>
              </a:defRPr>
            </a:lvl2pPr>
            <a:lvl3pPr lvl="2" algn="l">
              <a:lnSpc>
                <a:spcPct val="100000"/>
              </a:lnSpc>
              <a:spcBef>
                <a:spcPts val="0"/>
              </a:spcBef>
              <a:spcAft>
                <a:spcPts val="0"/>
              </a:spcAft>
              <a:buClr>
                <a:srgbClr val="434343"/>
              </a:buClr>
              <a:buSzPts val="1200"/>
              <a:buNone/>
              <a:defRPr>
                <a:solidFill>
                  <a:srgbClr val="434343"/>
                </a:solidFill>
              </a:defRPr>
            </a:lvl3pPr>
            <a:lvl4pPr lvl="3" algn="l">
              <a:lnSpc>
                <a:spcPct val="100000"/>
              </a:lnSpc>
              <a:spcBef>
                <a:spcPts val="0"/>
              </a:spcBef>
              <a:spcAft>
                <a:spcPts val="0"/>
              </a:spcAft>
              <a:buClr>
                <a:srgbClr val="434343"/>
              </a:buClr>
              <a:buSzPts val="1200"/>
              <a:buNone/>
              <a:defRPr>
                <a:solidFill>
                  <a:srgbClr val="434343"/>
                </a:solidFill>
              </a:defRPr>
            </a:lvl4pPr>
            <a:lvl5pPr lvl="4" algn="l">
              <a:lnSpc>
                <a:spcPct val="100000"/>
              </a:lnSpc>
              <a:spcBef>
                <a:spcPts val="0"/>
              </a:spcBef>
              <a:spcAft>
                <a:spcPts val="0"/>
              </a:spcAft>
              <a:buClr>
                <a:srgbClr val="434343"/>
              </a:buClr>
              <a:buSzPts val="1200"/>
              <a:buNone/>
              <a:defRPr>
                <a:solidFill>
                  <a:srgbClr val="434343"/>
                </a:solidFill>
              </a:defRPr>
            </a:lvl5pPr>
            <a:lvl6pPr lvl="5" algn="l">
              <a:lnSpc>
                <a:spcPct val="100000"/>
              </a:lnSpc>
              <a:spcBef>
                <a:spcPts val="0"/>
              </a:spcBef>
              <a:spcAft>
                <a:spcPts val="0"/>
              </a:spcAft>
              <a:buClr>
                <a:srgbClr val="434343"/>
              </a:buClr>
              <a:buSzPts val="1200"/>
              <a:buNone/>
              <a:defRPr>
                <a:solidFill>
                  <a:srgbClr val="434343"/>
                </a:solidFill>
              </a:defRPr>
            </a:lvl6pPr>
            <a:lvl7pPr lvl="6" algn="l">
              <a:lnSpc>
                <a:spcPct val="100000"/>
              </a:lnSpc>
              <a:spcBef>
                <a:spcPts val="0"/>
              </a:spcBef>
              <a:spcAft>
                <a:spcPts val="0"/>
              </a:spcAft>
              <a:buClr>
                <a:srgbClr val="434343"/>
              </a:buClr>
              <a:buSzPts val="1200"/>
              <a:buNone/>
              <a:defRPr>
                <a:solidFill>
                  <a:srgbClr val="434343"/>
                </a:solidFill>
              </a:defRPr>
            </a:lvl7pPr>
            <a:lvl8pPr lvl="7" algn="l">
              <a:lnSpc>
                <a:spcPct val="100000"/>
              </a:lnSpc>
              <a:spcBef>
                <a:spcPts val="0"/>
              </a:spcBef>
              <a:spcAft>
                <a:spcPts val="0"/>
              </a:spcAft>
              <a:buClr>
                <a:srgbClr val="434343"/>
              </a:buClr>
              <a:buSzPts val="1200"/>
              <a:buNone/>
              <a:defRPr>
                <a:solidFill>
                  <a:srgbClr val="434343"/>
                </a:solidFill>
              </a:defRPr>
            </a:lvl8pPr>
            <a:lvl9pPr lvl="8" algn="l">
              <a:lnSpc>
                <a:spcPct val="100000"/>
              </a:lnSpc>
              <a:spcBef>
                <a:spcPts val="0"/>
              </a:spcBef>
              <a:spcAft>
                <a:spcPts val="0"/>
              </a:spcAft>
              <a:buClr>
                <a:srgbClr val="434343"/>
              </a:buClr>
              <a:buSzPts val="1200"/>
              <a:buNone/>
              <a:defRPr>
                <a:solidFill>
                  <a:srgbClr val="434343"/>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77" name="Shape 77"/>
        <p:cNvGrpSpPr/>
        <p:nvPr/>
      </p:nvGrpSpPr>
      <p:grpSpPr>
        <a:xfrm>
          <a:off x="0" y="0"/>
          <a:ext cx="0" cy="0"/>
          <a:chOff x="0" y="0"/>
          <a:chExt cx="0" cy="0"/>
        </a:xfrm>
      </p:grpSpPr>
      <p:sp>
        <p:nvSpPr>
          <p:cNvPr id="78" name="Google Shape;78;p98"/>
          <p:cNvSpPr/>
          <p:nvPr/>
        </p:nvSpPr>
        <p:spPr>
          <a:xfrm>
            <a:off x="7154707" y="-973076"/>
            <a:ext cx="2646900" cy="2646900"/>
          </a:xfrm>
          <a:prstGeom prst="ellipse">
            <a:avLst/>
          </a:prstGeom>
          <a:solidFill>
            <a:schemeClr val="accent4"/>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9" name="Google Shape;79;p98"/>
          <p:cNvSpPr/>
          <p:nvPr/>
        </p:nvSpPr>
        <p:spPr>
          <a:xfrm>
            <a:off x="5810280" y="542676"/>
            <a:ext cx="1511400" cy="15114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cxnSp>
        <p:nvCxnSpPr>
          <p:cNvPr id="80" name="Google Shape;80;p98"/>
          <p:cNvCxnSpPr/>
          <p:nvPr/>
        </p:nvCxnSpPr>
        <p:spPr>
          <a:xfrm>
            <a:off x="8371719" y="4489970"/>
            <a:ext cx="0" cy="147300"/>
          </a:xfrm>
          <a:prstGeom prst="straightConnector1">
            <a:avLst/>
          </a:prstGeom>
          <a:noFill/>
          <a:ln cap="flat" cmpd="sng" w="9525">
            <a:solidFill>
              <a:srgbClr val="FFFFFF"/>
            </a:solidFill>
            <a:prstDash val="solid"/>
            <a:round/>
            <a:headEnd len="sm" w="sm" type="none"/>
            <a:tailEnd len="sm" w="sm" type="none"/>
          </a:ln>
        </p:spPr>
      </p:cxnSp>
      <p:pic>
        <p:nvPicPr>
          <p:cNvPr id="81" name="Google Shape;81;p98"/>
          <p:cNvPicPr preferRelativeResize="0"/>
          <p:nvPr/>
        </p:nvPicPr>
        <p:blipFill rotWithShape="1">
          <a:blip r:embed="rId2">
            <a:alphaModFix/>
          </a:blip>
          <a:srcRect b="0" l="0" r="0" t="0"/>
          <a:stretch/>
        </p:blipFill>
        <p:spPr>
          <a:xfrm>
            <a:off x="8449047" y="4493426"/>
            <a:ext cx="381422" cy="147300"/>
          </a:xfrm>
          <a:prstGeom prst="rect">
            <a:avLst/>
          </a:prstGeom>
          <a:noFill/>
          <a:ln>
            <a:noFill/>
          </a:ln>
        </p:spPr>
      </p:pic>
      <p:pic>
        <p:nvPicPr>
          <p:cNvPr id="82" name="Google Shape;82;p98"/>
          <p:cNvPicPr preferRelativeResize="0"/>
          <p:nvPr/>
        </p:nvPicPr>
        <p:blipFill rotWithShape="1">
          <a:blip r:embed="rId3">
            <a:alphaModFix/>
          </a:blip>
          <a:srcRect b="13111" l="0" r="0" t="13104"/>
          <a:stretch/>
        </p:blipFill>
        <p:spPr>
          <a:xfrm>
            <a:off x="7388458" y="4258579"/>
            <a:ext cx="1256596" cy="5727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3" name="Shape 83"/>
        <p:cNvGrpSpPr/>
        <p:nvPr/>
      </p:nvGrpSpPr>
      <p:grpSpPr>
        <a:xfrm>
          <a:off x="0" y="0"/>
          <a:ext cx="0" cy="0"/>
          <a:chOff x="0" y="0"/>
          <a:chExt cx="0" cy="0"/>
        </a:xfrm>
      </p:grpSpPr>
      <p:sp>
        <p:nvSpPr>
          <p:cNvPr id="84" name="Google Shape;84;p99"/>
          <p:cNvSpPr/>
          <p:nvPr/>
        </p:nvSpPr>
        <p:spPr>
          <a:xfrm flipH="1" rot="-3422595">
            <a:off x="165515" y="3998572"/>
            <a:ext cx="382705" cy="361081"/>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3"/>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5" name="Google Shape;85;p99"/>
          <p:cNvSpPr/>
          <p:nvPr/>
        </p:nvSpPr>
        <p:spPr>
          <a:xfrm flipH="1" rot="-3422683">
            <a:off x="585572" y="3547235"/>
            <a:ext cx="259063" cy="245789"/>
          </a:xfrm>
          <a:custGeom>
            <a:rect b="b" l="l" r="r" t="t"/>
            <a:pathLst>
              <a:path extrusionOk="0" h="3972" w="3950">
                <a:moveTo>
                  <a:pt x="1256" y="2146"/>
                </a:moveTo>
                <a:cubicBezTo>
                  <a:pt x="1347" y="2534"/>
                  <a:pt x="1712" y="2762"/>
                  <a:pt x="2101" y="2694"/>
                </a:cubicBezTo>
                <a:cubicBezTo>
                  <a:pt x="2489" y="2602"/>
                  <a:pt x="2717" y="2214"/>
                  <a:pt x="2625" y="1849"/>
                </a:cubicBezTo>
                <a:cubicBezTo>
                  <a:pt x="2557" y="1461"/>
                  <a:pt x="2169" y="1210"/>
                  <a:pt x="1781" y="1301"/>
                </a:cubicBezTo>
                <a:cubicBezTo>
                  <a:pt x="1416" y="1392"/>
                  <a:pt x="1165" y="1758"/>
                  <a:pt x="1256" y="2146"/>
                </a:cubicBezTo>
                <a:close/>
                <a:moveTo>
                  <a:pt x="1210" y="548"/>
                </a:moveTo>
                <a:lnTo>
                  <a:pt x="1233" y="160"/>
                </a:lnTo>
                <a:lnTo>
                  <a:pt x="1872" y="0"/>
                </a:lnTo>
                <a:lnTo>
                  <a:pt x="2032" y="365"/>
                </a:lnTo>
                <a:cubicBezTo>
                  <a:pt x="2192" y="365"/>
                  <a:pt x="2329" y="388"/>
                  <a:pt x="2466" y="434"/>
                </a:cubicBezTo>
                <a:lnTo>
                  <a:pt x="2740" y="160"/>
                </a:lnTo>
                <a:lnTo>
                  <a:pt x="3287" y="502"/>
                </a:lnTo>
                <a:lnTo>
                  <a:pt x="3173" y="890"/>
                </a:lnTo>
                <a:cubicBezTo>
                  <a:pt x="3265" y="982"/>
                  <a:pt x="3333" y="1119"/>
                  <a:pt x="3402" y="1233"/>
                </a:cubicBezTo>
                <a:lnTo>
                  <a:pt x="3812" y="1233"/>
                </a:lnTo>
                <a:lnTo>
                  <a:pt x="3949" y="1872"/>
                </a:lnTo>
                <a:lnTo>
                  <a:pt x="3584" y="2054"/>
                </a:lnTo>
                <a:cubicBezTo>
                  <a:pt x="3584" y="2191"/>
                  <a:pt x="3561" y="2328"/>
                  <a:pt x="3516" y="2465"/>
                </a:cubicBezTo>
                <a:lnTo>
                  <a:pt x="3790" y="2762"/>
                </a:lnTo>
                <a:lnTo>
                  <a:pt x="3447" y="3310"/>
                </a:lnTo>
                <a:lnTo>
                  <a:pt x="3082" y="3173"/>
                </a:lnTo>
                <a:cubicBezTo>
                  <a:pt x="2968" y="3264"/>
                  <a:pt x="2854" y="3355"/>
                  <a:pt x="2717" y="3424"/>
                </a:cubicBezTo>
                <a:lnTo>
                  <a:pt x="2717" y="3835"/>
                </a:lnTo>
                <a:lnTo>
                  <a:pt x="2078" y="3972"/>
                </a:lnTo>
                <a:lnTo>
                  <a:pt x="1918" y="3607"/>
                </a:lnTo>
                <a:cubicBezTo>
                  <a:pt x="1758" y="3607"/>
                  <a:pt x="1621" y="3584"/>
                  <a:pt x="1484" y="3538"/>
                </a:cubicBezTo>
                <a:lnTo>
                  <a:pt x="1210" y="3812"/>
                </a:lnTo>
                <a:lnTo>
                  <a:pt x="640" y="3470"/>
                </a:lnTo>
                <a:lnTo>
                  <a:pt x="777" y="3082"/>
                </a:lnTo>
                <a:cubicBezTo>
                  <a:pt x="685" y="2990"/>
                  <a:pt x="594" y="2876"/>
                  <a:pt x="526" y="2739"/>
                </a:cubicBezTo>
                <a:lnTo>
                  <a:pt x="138" y="2739"/>
                </a:lnTo>
                <a:lnTo>
                  <a:pt x="1" y="2100"/>
                </a:lnTo>
                <a:lnTo>
                  <a:pt x="343" y="1917"/>
                </a:lnTo>
                <a:cubicBezTo>
                  <a:pt x="366" y="1781"/>
                  <a:pt x="389" y="1644"/>
                  <a:pt x="434" y="1507"/>
                </a:cubicBezTo>
                <a:lnTo>
                  <a:pt x="138" y="1210"/>
                </a:lnTo>
                <a:lnTo>
                  <a:pt x="503" y="662"/>
                </a:lnTo>
                <a:lnTo>
                  <a:pt x="868" y="799"/>
                </a:lnTo>
                <a:cubicBezTo>
                  <a:pt x="982" y="708"/>
                  <a:pt x="1096" y="616"/>
                  <a:pt x="1210" y="548"/>
                </a:cubicBezTo>
                <a:close/>
              </a:path>
            </a:pathLst>
          </a:custGeom>
          <a:noFill/>
          <a:ln cap="flat" cmpd="sng" w="9525">
            <a:solidFill>
              <a:schemeClr val="accent2"/>
            </a:solidFill>
            <a:prstDash val="solid"/>
            <a:round/>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6" name="Google Shape;86;p99"/>
          <p:cNvSpPr/>
          <p:nvPr/>
        </p:nvSpPr>
        <p:spPr>
          <a:xfrm flipH="1" rot="-3422570">
            <a:off x="563960" y="4417161"/>
            <a:ext cx="504644" cy="476103"/>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1"/>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7" name="Google Shape;87;p99"/>
          <p:cNvSpPr/>
          <p:nvPr/>
        </p:nvSpPr>
        <p:spPr>
          <a:xfrm flipH="1" rot="-3422683">
            <a:off x="8356505" y="362356"/>
            <a:ext cx="259063" cy="245789"/>
          </a:xfrm>
          <a:custGeom>
            <a:rect b="b" l="l" r="r" t="t"/>
            <a:pathLst>
              <a:path extrusionOk="0" h="3972" w="3950">
                <a:moveTo>
                  <a:pt x="1256" y="2146"/>
                </a:moveTo>
                <a:cubicBezTo>
                  <a:pt x="1347" y="2534"/>
                  <a:pt x="1712" y="2762"/>
                  <a:pt x="2101" y="2694"/>
                </a:cubicBezTo>
                <a:cubicBezTo>
                  <a:pt x="2489" y="2602"/>
                  <a:pt x="2717" y="2214"/>
                  <a:pt x="2625" y="1849"/>
                </a:cubicBezTo>
                <a:cubicBezTo>
                  <a:pt x="2557" y="1461"/>
                  <a:pt x="2169" y="1210"/>
                  <a:pt x="1781" y="1301"/>
                </a:cubicBezTo>
                <a:cubicBezTo>
                  <a:pt x="1416" y="1392"/>
                  <a:pt x="1165" y="1758"/>
                  <a:pt x="1256" y="2146"/>
                </a:cubicBezTo>
                <a:close/>
                <a:moveTo>
                  <a:pt x="1210" y="548"/>
                </a:moveTo>
                <a:lnTo>
                  <a:pt x="1233" y="160"/>
                </a:lnTo>
                <a:lnTo>
                  <a:pt x="1872" y="0"/>
                </a:lnTo>
                <a:lnTo>
                  <a:pt x="2032" y="365"/>
                </a:lnTo>
                <a:cubicBezTo>
                  <a:pt x="2192" y="365"/>
                  <a:pt x="2329" y="388"/>
                  <a:pt x="2466" y="434"/>
                </a:cubicBezTo>
                <a:lnTo>
                  <a:pt x="2740" y="160"/>
                </a:lnTo>
                <a:lnTo>
                  <a:pt x="3287" y="502"/>
                </a:lnTo>
                <a:lnTo>
                  <a:pt x="3173" y="890"/>
                </a:lnTo>
                <a:cubicBezTo>
                  <a:pt x="3265" y="982"/>
                  <a:pt x="3333" y="1119"/>
                  <a:pt x="3402" y="1233"/>
                </a:cubicBezTo>
                <a:lnTo>
                  <a:pt x="3812" y="1233"/>
                </a:lnTo>
                <a:lnTo>
                  <a:pt x="3949" y="1872"/>
                </a:lnTo>
                <a:lnTo>
                  <a:pt x="3584" y="2054"/>
                </a:lnTo>
                <a:cubicBezTo>
                  <a:pt x="3584" y="2191"/>
                  <a:pt x="3561" y="2328"/>
                  <a:pt x="3516" y="2465"/>
                </a:cubicBezTo>
                <a:lnTo>
                  <a:pt x="3790" y="2762"/>
                </a:lnTo>
                <a:lnTo>
                  <a:pt x="3447" y="3310"/>
                </a:lnTo>
                <a:lnTo>
                  <a:pt x="3082" y="3173"/>
                </a:lnTo>
                <a:cubicBezTo>
                  <a:pt x="2968" y="3264"/>
                  <a:pt x="2854" y="3355"/>
                  <a:pt x="2717" y="3424"/>
                </a:cubicBezTo>
                <a:lnTo>
                  <a:pt x="2717" y="3835"/>
                </a:lnTo>
                <a:lnTo>
                  <a:pt x="2078" y="3972"/>
                </a:lnTo>
                <a:lnTo>
                  <a:pt x="1918" y="3607"/>
                </a:lnTo>
                <a:cubicBezTo>
                  <a:pt x="1758" y="3607"/>
                  <a:pt x="1621" y="3584"/>
                  <a:pt x="1484" y="3538"/>
                </a:cubicBezTo>
                <a:lnTo>
                  <a:pt x="1210" y="3812"/>
                </a:lnTo>
                <a:lnTo>
                  <a:pt x="640" y="3470"/>
                </a:lnTo>
                <a:lnTo>
                  <a:pt x="777" y="3082"/>
                </a:lnTo>
                <a:cubicBezTo>
                  <a:pt x="685" y="2990"/>
                  <a:pt x="594" y="2876"/>
                  <a:pt x="526" y="2739"/>
                </a:cubicBezTo>
                <a:lnTo>
                  <a:pt x="138" y="2739"/>
                </a:lnTo>
                <a:lnTo>
                  <a:pt x="1" y="2100"/>
                </a:lnTo>
                <a:lnTo>
                  <a:pt x="343" y="1917"/>
                </a:lnTo>
                <a:cubicBezTo>
                  <a:pt x="366" y="1781"/>
                  <a:pt x="389" y="1644"/>
                  <a:pt x="434" y="1507"/>
                </a:cubicBezTo>
                <a:lnTo>
                  <a:pt x="138" y="1210"/>
                </a:lnTo>
                <a:lnTo>
                  <a:pt x="503" y="662"/>
                </a:lnTo>
                <a:lnTo>
                  <a:pt x="868" y="799"/>
                </a:lnTo>
                <a:cubicBezTo>
                  <a:pt x="982" y="708"/>
                  <a:pt x="1096" y="616"/>
                  <a:pt x="1210" y="548"/>
                </a:cubicBezTo>
                <a:close/>
              </a:path>
            </a:pathLst>
          </a:custGeom>
          <a:noFill/>
          <a:ln cap="flat" cmpd="sng" w="9525">
            <a:solidFill>
              <a:schemeClr val="accent1"/>
            </a:solidFill>
            <a:prstDash val="solid"/>
            <a:round/>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8" name="Google Shape;88;p99"/>
          <p:cNvSpPr/>
          <p:nvPr/>
        </p:nvSpPr>
        <p:spPr>
          <a:xfrm flipH="1" rot="-3422595">
            <a:off x="8588198" y="957969"/>
            <a:ext cx="382705" cy="361081"/>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3"/>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01"/>
          <p:cNvSpPr/>
          <p:nvPr/>
        </p:nvSpPr>
        <p:spPr>
          <a:xfrm>
            <a:off x="7404732" y="4371183"/>
            <a:ext cx="1549800" cy="590700"/>
          </a:xfrm>
          <a:prstGeom prst="rect">
            <a:avLst/>
          </a:prstGeom>
          <a:solidFill>
            <a:srgbClr val="FFFFFF"/>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id="92" name="Google Shape;92;p101"/>
          <p:cNvPicPr preferRelativeResize="0"/>
          <p:nvPr/>
        </p:nvPicPr>
        <p:blipFill rotWithShape="1">
          <a:blip r:embed="rId2">
            <a:alphaModFix/>
          </a:blip>
          <a:srcRect b="0" l="0" r="0" t="0"/>
          <a:stretch/>
        </p:blipFill>
        <p:spPr>
          <a:xfrm>
            <a:off x="7454653" y="4211544"/>
            <a:ext cx="1151086" cy="434575"/>
          </a:xfrm>
          <a:prstGeom prst="rect">
            <a:avLst/>
          </a:prstGeom>
          <a:noFill/>
          <a:ln>
            <a:noFill/>
          </a:ln>
        </p:spPr>
      </p:pic>
      <p:sp>
        <p:nvSpPr>
          <p:cNvPr id="93" name="Google Shape;93;p101"/>
          <p:cNvSpPr/>
          <p:nvPr/>
        </p:nvSpPr>
        <p:spPr>
          <a:xfrm>
            <a:off x="7838913" y="-973075"/>
            <a:ext cx="2038800" cy="20388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94" name="Google Shape;94;p101"/>
          <p:cNvSpPr/>
          <p:nvPr/>
        </p:nvSpPr>
        <p:spPr>
          <a:xfrm>
            <a:off x="8605745" y="1362325"/>
            <a:ext cx="1164300" cy="1164300"/>
          </a:xfrm>
          <a:prstGeom prst="ellipse">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95" name="Google Shape;95;p101"/>
          <p:cNvSpPr/>
          <p:nvPr/>
        </p:nvSpPr>
        <p:spPr>
          <a:xfrm>
            <a:off x="8762011" y="1158994"/>
            <a:ext cx="192600" cy="1926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102"/>
          <p:cNvSpPr txBox="1"/>
          <p:nvPr>
            <p:ph type="title"/>
          </p:nvPr>
        </p:nvSpPr>
        <p:spPr>
          <a:xfrm>
            <a:off x="311705" y="445026"/>
            <a:ext cx="8520600" cy="572700"/>
          </a:xfrm>
          <a:prstGeom prst="rect">
            <a:avLst/>
          </a:prstGeom>
          <a:noFill/>
          <a:ln>
            <a:noFill/>
          </a:ln>
        </p:spPr>
        <p:txBody>
          <a:bodyPr anchorCtr="0" anchor="t" bIns="58875" lIns="58875" spcFirstLastPara="1" rIns="58875" wrap="square" tIns="58875">
            <a:norm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98" name="Google Shape;98;p102"/>
          <p:cNvSpPr/>
          <p:nvPr/>
        </p:nvSpPr>
        <p:spPr>
          <a:xfrm>
            <a:off x="105000" y="3791886"/>
            <a:ext cx="513300" cy="513300"/>
          </a:xfrm>
          <a:prstGeom prst="ellipse">
            <a:avLst/>
          </a:prstGeom>
          <a:solidFill>
            <a:schemeClr val="accent2"/>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99" name="Google Shape;99;p102"/>
          <p:cNvSpPr/>
          <p:nvPr/>
        </p:nvSpPr>
        <p:spPr>
          <a:xfrm rot="-1221696">
            <a:off x="128769" y="3241784"/>
            <a:ext cx="465592" cy="481818"/>
          </a:xfrm>
          <a:prstGeom prst="chord">
            <a:avLst>
              <a:gd fmla="val 2700000" name="adj1"/>
              <a:gd fmla="val 16200000" name="adj2"/>
            </a:avLst>
          </a:prstGeom>
          <a:solidFill>
            <a:schemeClr val="accent1"/>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00" name="Google Shape;100;p102"/>
          <p:cNvSpPr/>
          <p:nvPr/>
        </p:nvSpPr>
        <p:spPr>
          <a:xfrm>
            <a:off x="8583084" y="1233133"/>
            <a:ext cx="513300" cy="513300"/>
          </a:xfrm>
          <a:prstGeom prst="ellipse">
            <a:avLst/>
          </a:prstGeom>
          <a:solidFill>
            <a:srgbClr val="265AA7"/>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01" name="Google Shape;101;p102"/>
          <p:cNvSpPr/>
          <p:nvPr/>
        </p:nvSpPr>
        <p:spPr>
          <a:xfrm rot="9167033">
            <a:off x="8609477" y="732451"/>
            <a:ext cx="460481" cy="488037"/>
          </a:xfrm>
          <a:prstGeom prst="chord">
            <a:avLst>
              <a:gd fmla="val 2700000" name="adj1"/>
              <a:gd fmla="val 16200000" name="adj2"/>
            </a:avLst>
          </a:prstGeom>
          <a:solidFill>
            <a:srgbClr val="FFE400"/>
          </a:solid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1">
  <p:cSld name="3_Custom Layout_1">
    <p:spTree>
      <p:nvGrpSpPr>
        <p:cNvPr id="102" name="Shape 102"/>
        <p:cNvGrpSpPr/>
        <p:nvPr/>
      </p:nvGrpSpPr>
      <p:grpSpPr>
        <a:xfrm>
          <a:off x="0" y="0"/>
          <a:ext cx="0" cy="0"/>
          <a:chOff x="0" y="0"/>
          <a:chExt cx="0" cy="0"/>
        </a:xfrm>
      </p:grpSpPr>
      <p:sp>
        <p:nvSpPr>
          <p:cNvPr id="103" name="Google Shape;103;p103"/>
          <p:cNvSpPr/>
          <p:nvPr/>
        </p:nvSpPr>
        <p:spPr>
          <a:xfrm>
            <a:off x="0" y="0"/>
            <a:ext cx="9144000" cy="5143500"/>
          </a:xfrm>
          <a:prstGeom prst="rect">
            <a:avLst/>
          </a:prstGeom>
          <a:solidFill>
            <a:schemeClr val="lt1"/>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pic>
        <p:nvPicPr>
          <p:cNvPr id="104" name="Google Shape;104;p103"/>
          <p:cNvPicPr preferRelativeResize="0"/>
          <p:nvPr/>
        </p:nvPicPr>
        <p:blipFill rotWithShape="1">
          <a:blip r:embed="rId2">
            <a:alphaModFix/>
          </a:blip>
          <a:srcRect b="0" l="12411" r="0" t="0"/>
          <a:stretch/>
        </p:blipFill>
        <p:spPr>
          <a:xfrm>
            <a:off x="0" y="1"/>
            <a:ext cx="3671456" cy="636815"/>
          </a:xfrm>
          <a:prstGeom prst="rect">
            <a:avLst/>
          </a:prstGeom>
          <a:noFill/>
          <a:ln>
            <a:noFill/>
          </a:ln>
        </p:spPr>
      </p:pic>
      <p:pic>
        <p:nvPicPr>
          <p:cNvPr id="105" name="Google Shape;105;p103"/>
          <p:cNvPicPr preferRelativeResize="0"/>
          <p:nvPr/>
        </p:nvPicPr>
        <p:blipFill rotWithShape="1">
          <a:blip r:embed="rId2">
            <a:alphaModFix/>
          </a:blip>
          <a:srcRect b="0" l="12411" r="0" t="0"/>
          <a:stretch/>
        </p:blipFill>
        <p:spPr>
          <a:xfrm rot="10800000">
            <a:off x="5472545" y="4506688"/>
            <a:ext cx="3671456" cy="636813"/>
          </a:xfrm>
          <a:prstGeom prst="rect">
            <a:avLst/>
          </a:prstGeom>
          <a:noFill/>
          <a:ln>
            <a:noFill/>
          </a:ln>
        </p:spPr>
      </p:pic>
      <p:grpSp>
        <p:nvGrpSpPr>
          <p:cNvPr id="106" name="Google Shape;106;p103"/>
          <p:cNvGrpSpPr/>
          <p:nvPr/>
        </p:nvGrpSpPr>
        <p:grpSpPr>
          <a:xfrm>
            <a:off x="170582" y="501816"/>
            <a:ext cx="545806" cy="296999"/>
            <a:chOff x="227443" y="669088"/>
            <a:chExt cx="727741" cy="395998"/>
          </a:xfrm>
        </p:grpSpPr>
        <p:sp>
          <p:nvSpPr>
            <p:cNvPr id="107" name="Google Shape;107;p103"/>
            <p:cNvSpPr/>
            <p:nvPr/>
          </p:nvSpPr>
          <p:spPr>
            <a:xfrm>
              <a:off x="227443" y="669088"/>
              <a:ext cx="360000" cy="360000"/>
            </a:xfrm>
            <a:prstGeom prst="ellipse">
              <a:avLst/>
            </a:prstGeom>
            <a:solidFill>
              <a:srgbClr val="275BA7"/>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108" name="Google Shape;108;p103"/>
            <p:cNvSpPr/>
            <p:nvPr/>
          </p:nvSpPr>
          <p:spPr>
            <a:xfrm>
              <a:off x="739184" y="849086"/>
              <a:ext cx="216000" cy="216000"/>
            </a:xfrm>
            <a:prstGeom prst="ellipse">
              <a:avLst/>
            </a:prstGeom>
            <a:solidFill>
              <a:srgbClr val="FFE539"/>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grpSp>
        <p:nvGrpSpPr>
          <p:cNvPr id="109" name="Google Shape;109;p103"/>
          <p:cNvGrpSpPr/>
          <p:nvPr/>
        </p:nvGrpSpPr>
        <p:grpSpPr>
          <a:xfrm rot="10198353">
            <a:off x="7947844" y="4717069"/>
            <a:ext cx="545848" cy="297008"/>
            <a:chOff x="227443" y="669088"/>
            <a:chExt cx="727741" cy="395998"/>
          </a:xfrm>
        </p:grpSpPr>
        <p:sp>
          <p:nvSpPr>
            <p:cNvPr id="110" name="Google Shape;110;p103"/>
            <p:cNvSpPr/>
            <p:nvPr/>
          </p:nvSpPr>
          <p:spPr>
            <a:xfrm>
              <a:off x="227443" y="669088"/>
              <a:ext cx="360000" cy="360000"/>
            </a:xfrm>
            <a:prstGeom prst="ellipse">
              <a:avLst/>
            </a:prstGeom>
            <a:solidFill>
              <a:srgbClr val="275BA7"/>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111" name="Google Shape;111;p103"/>
            <p:cNvSpPr/>
            <p:nvPr/>
          </p:nvSpPr>
          <p:spPr>
            <a:xfrm>
              <a:off x="739184" y="849086"/>
              <a:ext cx="216000" cy="216000"/>
            </a:xfrm>
            <a:prstGeom prst="ellipse">
              <a:avLst/>
            </a:prstGeom>
            <a:solidFill>
              <a:srgbClr val="FFE539"/>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pic>
        <p:nvPicPr>
          <p:cNvPr id="112" name="Google Shape;112;p103"/>
          <p:cNvPicPr preferRelativeResize="0"/>
          <p:nvPr/>
        </p:nvPicPr>
        <p:blipFill rotWithShape="1">
          <a:blip r:embed="rId3">
            <a:alphaModFix/>
          </a:blip>
          <a:srcRect b="0" l="0" r="0" t="0"/>
          <a:stretch/>
        </p:blipFill>
        <p:spPr>
          <a:xfrm>
            <a:off x="8426999" y="4981500"/>
            <a:ext cx="350822" cy="16183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6.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1.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4"/>
          <p:cNvSpPr txBox="1"/>
          <p:nvPr>
            <p:ph type="title"/>
          </p:nvPr>
        </p:nvSpPr>
        <p:spPr>
          <a:xfrm>
            <a:off x="311705" y="445026"/>
            <a:ext cx="8520600" cy="572700"/>
          </a:xfrm>
          <a:prstGeom prst="rect">
            <a:avLst/>
          </a:prstGeom>
          <a:noFill/>
          <a:ln>
            <a:noFill/>
          </a:ln>
        </p:spPr>
        <p:txBody>
          <a:bodyPr anchorCtr="0" anchor="t" bIns="58875" lIns="58875" spcFirstLastPara="1" rIns="58875" wrap="square" tIns="58875">
            <a:normAutofit/>
          </a:bodyPr>
          <a:lstStyle>
            <a:lvl1pPr lvl="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p74"/>
          <p:cNvSpPr txBox="1"/>
          <p:nvPr>
            <p:ph idx="1" type="body"/>
          </p:nvPr>
        </p:nvSpPr>
        <p:spPr>
          <a:xfrm>
            <a:off x="311705" y="1152477"/>
            <a:ext cx="8520600" cy="3416400"/>
          </a:xfrm>
          <a:prstGeom prst="rect">
            <a:avLst/>
          </a:prstGeom>
          <a:noFill/>
          <a:ln>
            <a:noFill/>
          </a:ln>
        </p:spPr>
        <p:txBody>
          <a:bodyPr anchorCtr="0" anchor="t" bIns="58875" lIns="58875" spcFirstLastPara="1" rIns="58875" wrap="square" tIns="58875">
            <a:normAutofit/>
          </a:bodyPr>
          <a:lstStyle>
            <a:lvl1pPr indent="-304800" lvl="0" marL="457200" marR="0" rtl="0" algn="l">
              <a:lnSpc>
                <a:spcPct val="115000"/>
              </a:lnSpc>
              <a:spcBef>
                <a:spcPts val="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1pPr>
            <a:lvl2pPr indent="-285750" lvl="1" marL="9144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2pPr>
            <a:lvl3pPr indent="-285750" lvl="2" marL="13716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3pPr>
            <a:lvl4pPr indent="-285750" lvl="3" marL="18288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4pPr>
            <a:lvl5pPr indent="-285750" lvl="4" marL="22860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5pPr>
            <a:lvl6pPr indent="-285750" lvl="5" marL="27432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6pPr>
            <a:lvl7pPr indent="-285750" lvl="6" marL="32004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7pPr>
            <a:lvl8pPr indent="-285750" lvl="7" marL="36576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8pPr>
            <a:lvl9pPr indent="-285750" lvl="8" marL="4114800" marR="0" rtl="0" algn="l">
              <a:lnSpc>
                <a:spcPct val="115000"/>
              </a:lnSpc>
              <a:spcBef>
                <a:spcPts val="0"/>
              </a:spcBef>
              <a:spcAft>
                <a:spcPts val="0"/>
              </a:spcAft>
              <a:buClr>
                <a:schemeClr val="dk2"/>
              </a:buClr>
              <a:buSzPts val="900"/>
              <a:buFont typeface="Arial"/>
              <a:buChar char="■"/>
              <a:defRPr b="0" i="0" sz="900" u="none" cap="none" strike="noStrike">
                <a:solidFill>
                  <a:schemeClr val="dk2"/>
                </a:solidFill>
                <a:latin typeface="Arial"/>
                <a:ea typeface="Arial"/>
                <a:cs typeface="Arial"/>
                <a:sym typeface="Arial"/>
              </a:defRPr>
            </a:lvl9pPr>
          </a:lstStyle>
          <a:p/>
        </p:txBody>
      </p:sp>
      <p:sp>
        <p:nvSpPr>
          <p:cNvPr id="8" name="Google Shape;8;p74"/>
          <p:cNvSpPr txBox="1"/>
          <p:nvPr/>
        </p:nvSpPr>
        <p:spPr>
          <a:xfrm>
            <a:off x="8396269" y="167418"/>
            <a:ext cx="548700" cy="393600"/>
          </a:xfrm>
          <a:prstGeom prst="rect">
            <a:avLst/>
          </a:prstGeom>
          <a:noFill/>
          <a:ln>
            <a:noFill/>
          </a:ln>
        </p:spPr>
        <p:txBody>
          <a:bodyPr anchorCtr="0" anchor="ctr" bIns="58875" lIns="58875" spcFirstLastPara="1" rIns="58875" wrap="square" tIns="58875">
            <a:norm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s" sz="700" u="none" cap="none" strike="noStrike">
                <a:solidFill>
                  <a:srgbClr val="666666"/>
                </a:solidFill>
                <a:latin typeface="Montserrat"/>
                <a:ea typeface="Montserrat"/>
                <a:cs typeface="Montserrat"/>
                <a:sym typeface="Montserrat"/>
              </a:rPr>
              <a:t>‹#›</a:t>
            </a:fld>
            <a:endParaRPr b="1" i="0" sz="700" u="none" cap="none" strike="noStrike">
              <a:solidFill>
                <a:srgbClr val="666666"/>
              </a:solidFill>
              <a:latin typeface="Montserrat"/>
              <a:ea typeface="Montserrat"/>
              <a:cs typeface="Montserrat"/>
              <a:sym typeface="Montserrat"/>
            </a:endParaRPr>
          </a:p>
        </p:txBody>
      </p:sp>
      <p:pic>
        <p:nvPicPr>
          <p:cNvPr id="9" name="Google Shape;9;p74"/>
          <p:cNvPicPr preferRelativeResize="0"/>
          <p:nvPr/>
        </p:nvPicPr>
        <p:blipFill rotWithShape="1">
          <a:blip r:embed="rId1">
            <a:alphaModFix/>
          </a:blip>
          <a:srcRect b="19924" l="0" r="0" t="30050"/>
          <a:stretch/>
        </p:blipFill>
        <p:spPr>
          <a:xfrm>
            <a:off x="8453269" y="4482046"/>
            <a:ext cx="427525" cy="163126"/>
          </a:xfrm>
          <a:prstGeom prst="rect">
            <a:avLst/>
          </a:prstGeom>
          <a:noFill/>
          <a:ln>
            <a:noFill/>
          </a:ln>
        </p:spPr>
      </p:pic>
      <p:pic>
        <p:nvPicPr>
          <p:cNvPr id="10" name="Google Shape;10;p74"/>
          <p:cNvPicPr preferRelativeResize="0"/>
          <p:nvPr/>
        </p:nvPicPr>
        <p:blipFill rotWithShape="1">
          <a:blip r:embed="rId2">
            <a:alphaModFix/>
          </a:blip>
          <a:srcRect b="0" l="0" r="0" t="0"/>
          <a:stretch/>
        </p:blipFill>
        <p:spPr>
          <a:xfrm>
            <a:off x="7640947" y="4347733"/>
            <a:ext cx="698999" cy="431751"/>
          </a:xfrm>
          <a:prstGeom prst="rect">
            <a:avLst/>
          </a:prstGeom>
          <a:noFill/>
          <a:ln>
            <a:noFill/>
          </a:ln>
        </p:spPr>
      </p:pic>
      <p:cxnSp>
        <p:nvCxnSpPr>
          <p:cNvPr id="11" name="Google Shape;11;p74"/>
          <p:cNvCxnSpPr/>
          <p:nvPr/>
        </p:nvCxnSpPr>
        <p:spPr>
          <a:xfrm>
            <a:off x="8409818" y="4489970"/>
            <a:ext cx="0" cy="147300"/>
          </a:xfrm>
          <a:prstGeom prst="straightConnector1">
            <a:avLst/>
          </a:prstGeom>
          <a:noFill/>
          <a:ln cap="flat" cmpd="sng" w="9525">
            <a:solidFill>
              <a:srgbClr val="2F5D9D"/>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2.png"/><Relationship Id="rId15" Type="http://schemas.openxmlformats.org/officeDocument/2006/relationships/image" Target="../media/image14.png"/><Relationship Id="rId14" Type="http://schemas.openxmlformats.org/officeDocument/2006/relationships/image" Target="../media/image23.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png"/><Relationship Id="rId13" Type="http://schemas.openxmlformats.org/officeDocument/2006/relationships/image" Target="../media/image15.png"/><Relationship Id="rId12"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16.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32.jpg"/><Relationship Id="rId6"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9.png"/></Relationships>
</file>

<file path=ppt/slides/_rels/slide21.xml.rels><?xml version="1.0" encoding="UTF-8" standalone="yes"?><Relationships xmlns="http://schemas.openxmlformats.org/package/2006/relationships"><Relationship Id="rId10"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1"/>
          <p:cNvSpPr txBox="1"/>
          <p:nvPr/>
        </p:nvSpPr>
        <p:spPr>
          <a:xfrm>
            <a:off x="428742" y="98193"/>
            <a:ext cx="6003300" cy="312300"/>
          </a:xfrm>
          <a:prstGeom prst="rect">
            <a:avLst/>
          </a:prstGeom>
          <a:noFill/>
          <a:ln>
            <a:noFill/>
          </a:ln>
        </p:spPr>
        <p:txBody>
          <a:bodyPr anchorCtr="0" anchor="t" bIns="29450" lIns="58875" spcFirstLastPara="1" rIns="58875" wrap="square" tIns="29450">
            <a:noAutofit/>
          </a:bodyPr>
          <a:lstStyle/>
          <a:p>
            <a:pPr indent="0" lvl="0" marL="0" marR="0" rtl="0" algn="l">
              <a:lnSpc>
                <a:spcPct val="9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¿Qué es el programa Unity? | Alcance</a:t>
            </a:r>
            <a:endParaRPr b="1" i="0" sz="1500" u="none" cap="none" strike="noStrike">
              <a:solidFill>
                <a:srgbClr val="000000"/>
              </a:solidFill>
              <a:latin typeface="Arial"/>
              <a:ea typeface="Arial"/>
              <a:cs typeface="Arial"/>
              <a:sym typeface="Arial"/>
            </a:endParaRPr>
          </a:p>
        </p:txBody>
      </p:sp>
      <p:sp>
        <p:nvSpPr>
          <p:cNvPr id="118" name="Google Shape;118;p11"/>
          <p:cNvSpPr txBox="1"/>
          <p:nvPr/>
        </p:nvSpPr>
        <p:spPr>
          <a:xfrm>
            <a:off x="1611420" y="483680"/>
            <a:ext cx="5921100" cy="282900"/>
          </a:xfrm>
          <a:prstGeom prst="rect">
            <a:avLst/>
          </a:prstGeom>
          <a:solidFill>
            <a:srgbClr val="FFFFFF"/>
          </a:solidFill>
          <a:ln>
            <a:noFill/>
          </a:ln>
          <a:effectLst>
            <a:outerShdw blurRad="57150" rotWithShape="0" algn="bl" dir="5400000" dist="19050">
              <a:srgbClr val="000000">
                <a:alpha val="48235"/>
              </a:srgbClr>
            </a:outerShdw>
          </a:effectLst>
        </p:spPr>
        <p:txBody>
          <a:bodyPr anchorCtr="0" anchor="ctr" bIns="58875" lIns="58875" spcFirstLastPara="1" rIns="58875" wrap="square" tIns="58875">
            <a:noAutofit/>
          </a:bodyPr>
          <a:lstStyle/>
          <a:p>
            <a:pPr indent="0" lvl="0" marL="0" marR="0" rtl="0" algn="ctr">
              <a:lnSpc>
                <a:spcPct val="90000"/>
              </a:lnSpc>
              <a:spcBef>
                <a:spcPts val="0"/>
              </a:spcBef>
              <a:spcAft>
                <a:spcPts val="0"/>
              </a:spcAft>
              <a:buClr>
                <a:srgbClr val="000000"/>
              </a:buClr>
              <a:buSzPts val="900"/>
              <a:buFont typeface="Arial"/>
              <a:buNone/>
            </a:pPr>
            <a:r>
              <a:rPr b="0" i="0" lang="es" sz="900" u="none" cap="none" strike="noStrike">
                <a:solidFill>
                  <a:srgbClr val="44546A"/>
                </a:solidFill>
                <a:latin typeface="Montserrat"/>
                <a:ea typeface="Montserrat"/>
                <a:cs typeface="Montserrat"/>
                <a:sym typeface="Montserrat"/>
              </a:rPr>
              <a:t>El programa </a:t>
            </a:r>
            <a:r>
              <a:rPr b="1" i="0" lang="es" sz="900" u="none" cap="none" strike="noStrike">
                <a:solidFill>
                  <a:srgbClr val="44546A"/>
                </a:solidFill>
                <a:latin typeface="Montserrat"/>
                <a:ea typeface="Montserrat"/>
                <a:cs typeface="Montserrat"/>
                <a:sym typeface="Montserrat"/>
              </a:rPr>
              <a:t>Unity</a:t>
            </a:r>
            <a:r>
              <a:rPr b="0" i="0" lang="es" sz="900" u="none" cap="none" strike="noStrike">
                <a:solidFill>
                  <a:srgbClr val="44546A"/>
                </a:solidFill>
                <a:latin typeface="Montserrat"/>
                <a:ea typeface="Montserrat"/>
                <a:cs typeface="Montserrat"/>
                <a:sym typeface="Montserrat"/>
              </a:rPr>
              <a:t> se </a:t>
            </a:r>
            <a:r>
              <a:rPr b="1" i="0" lang="es" sz="900" u="none" cap="none" strike="noStrike">
                <a:solidFill>
                  <a:srgbClr val="44546A"/>
                </a:solidFill>
                <a:latin typeface="Montserrat"/>
                <a:ea typeface="Montserrat"/>
                <a:cs typeface="Montserrat"/>
                <a:sym typeface="Montserrat"/>
              </a:rPr>
              <a:t>conforma</a:t>
            </a:r>
            <a:r>
              <a:rPr b="0" i="0" lang="es" sz="900" u="none" cap="none" strike="noStrike">
                <a:solidFill>
                  <a:srgbClr val="44546A"/>
                </a:solidFill>
                <a:latin typeface="Montserrat"/>
                <a:ea typeface="Montserrat"/>
                <a:cs typeface="Montserrat"/>
                <a:sym typeface="Montserrat"/>
              </a:rPr>
              <a:t> por </a:t>
            </a:r>
            <a:r>
              <a:rPr b="1" i="0" lang="es" sz="900" u="none" cap="none" strike="noStrike">
                <a:solidFill>
                  <a:srgbClr val="44546A"/>
                </a:solidFill>
                <a:latin typeface="Montserrat"/>
                <a:ea typeface="Montserrat"/>
                <a:cs typeface="Montserrat"/>
                <a:sym typeface="Montserrat"/>
              </a:rPr>
              <a:t>10 iniciativas</a:t>
            </a:r>
            <a:r>
              <a:rPr b="0" i="0" lang="es" sz="900" u="none" cap="none" strike="noStrike">
                <a:solidFill>
                  <a:srgbClr val="44546A"/>
                </a:solidFill>
                <a:latin typeface="Montserrat"/>
                <a:ea typeface="Montserrat"/>
                <a:cs typeface="Montserrat"/>
                <a:sym typeface="Montserrat"/>
              </a:rPr>
              <a:t> de </a:t>
            </a:r>
            <a:r>
              <a:rPr b="1" i="0" lang="es" sz="900" u="none" cap="none" strike="noStrike">
                <a:solidFill>
                  <a:srgbClr val="44546A"/>
                </a:solidFill>
                <a:latin typeface="Montserrat"/>
                <a:ea typeface="Montserrat"/>
                <a:cs typeface="Montserrat"/>
                <a:sym typeface="Montserrat"/>
              </a:rPr>
              <a:t>Transformación</a:t>
            </a:r>
            <a:r>
              <a:rPr b="0" i="0" lang="es" sz="900" u="none" cap="none" strike="noStrike">
                <a:solidFill>
                  <a:srgbClr val="44546A"/>
                </a:solidFill>
                <a:latin typeface="Montserrat"/>
                <a:ea typeface="Montserrat"/>
                <a:cs typeface="Montserrat"/>
                <a:sym typeface="Montserrat"/>
              </a:rPr>
              <a:t> y </a:t>
            </a:r>
            <a:r>
              <a:rPr b="1" i="0" lang="es" sz="900" u="none" cap="none" strike="noStrike">
                <a:solidFill>
                  <a:srgbClr val="44546A"/>
                </a:solidFill>
                <a:latin typeface="Montserrat"/>
                <a:ea typeface="Montserrat"/>
                <a:cs typeface="Montserrat"/>
                <a:sym typeface="Montserrat"/>
              </a:rPr>
              <a:t>3 iniciativas estratégicas</a:t>
            </a:r>
            <a:endParaRPr b="1" i="0" sz="1000" u="none" cap="none" strike="noStrike">
              <a:solidFill>
                <a:srgbClr val="44546A"/>
              </a:solidFill>
              <a:latin typeface="Montserrat"/>
              <a:ea typeface="Montserrat"/>
              <a:cs typeface="Montserrat"/>
              <a:sym typeface="Montserrat"/>
            </a:endParaRPr>
          </a:p>
        </p:txBody>
      </p:sp>
      <p:grpSp>
        <p:nvGrpSpPr>
          <p:cNvPr id="119" name="Google Shape;119;p11"/>
          <p:cNvGrpSpPr/>
          <p:nvPr/>
        </p:nvGrpSpPr>
        <p:grpSpPr>
          <a:xfrm>
            <a:off x="914657" y="3980452"/>
            <a:ext cx="2337743" cy="321502"/>
            <a:chOff x="1003800" y="6235670"/>
            <a:chExt cx="3371420" cy="504000"/>
          </a:xfrm>
        </p:grpSpPr>
        <p:grpSp>
          <p:nvGrpSpPr>
            <p:cNvPr id="120" name="Google Shape;120;p11"/>
            <p:cNvGrpSpPr/>
            <p:nvPr/>
          </p:nvGrpSpPr>
          <p:grpSpPr>
            <a:xfrm>
              <a:off x="1003800" y="6235670"/>
              <a:ext cx="504000" cy="504000"/>
              <a:chOff x="-833278" y="5247769"/>
              <a:chExt cx="504000" cy="504000"/>
            </a:xfrm>
          </p:grpSpPr>
          <p:sp>
            <p:nvSpPr>
              <p:cNvPr id="121" name="Google Shape;121;p11"/>
              <p:cNvSpPr/>
              <p:nvPr/>
            </p:nvSpPr>
            <p:spPr>
              <a:xfrm>
                <a:off x="-833278" y="5247769"/>
                <a:ext cx="504000" cy="504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22" name="Google Shape;122;p11"/>
              <p:cNvSpPr/>
              <p:nvPr/>
            </p:nvSpPr>
            <p:spPr>
              <a:xfrm>
                <a:off x="-761278" y="5319769"/>
                <a:ext cx="360000" cy="360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23" name="Google Shape;123;p11"/>
              <p:cNvSpPr/>
              <p:nvPr/>
            </p:nvSpPr>
            <p:spPr>
              <a:xfrm>
                <a:off x="-707278" y="5373769"/>
                <a:ext cx="252000" cy="252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grpSp>
        <p:sp>
          <p:nvSpPr>
            <p:cNvPr id="124" name="Google Shape;124;p11"/>
            <p:cNvSpPr txBox="1"/>
            <p:nvPr/>
          </p:nvSpPr>
          <p:spPr>
            <a:xfrm>
              <a:off x="1447820" y="6235985"/>
              <a:ext cx="2927400" cy="382800"/>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Frentes estratégicos que brindan soporte a la Transformación del Ecosistema Tecnológico.</a:t>
              </a:r>
              <a:endParaRPr b="0" i="0" sz="900" u="none" cap="none" strike="noStrike">
                <a:solidFill>
                  <a:srgbClr val="000000"/>
                </a:solidFill>
                <a:latin typeface="Arial"/>
                <a:ea typeface="Arial"/>
                <a:cs typeface="Arial"/>
                <a:sym typeface="Arial"/>
              </a:endParaRPr>
            </a:p>
          </p:txBody>
        </p:sp>
      </p:grpSp>
      <p:pic>
        <p:nvPicPr>
          <p:cNvPr id="125" name="Google Shape;125;p11"/>
          <p:cNvPicPr preferRelativeResize="0"/>
          <p:nvPr/>
        </p:nvPicPr>
        <p:blipFill rotWithShape="1">
          <a:blip r:embed="rId3">
            <a:alphaModFix/>
          </a:blip>
          <a:srcRect b="0" l="0" r="0" t="0"/>
          <a:stretch/>
        </p:blipFill>
        <p:spPr>
          <a:xfrm>
            <a:off x="678961" y="929865"/>
            <a:ext cx="3087394" cy="3445957"/>
          </a:xfrm>
          <a:prstGeom prst="rect">
            <a:avLst/>
          </a:prstGeom>
          <a:noFill/>
          <a:ln>
            <a:noFill/>
          </a:ln>
        </p:spPr>
      </p:pic>
      <p:sp>
        <p:nvSpPr>
          <p:cNvPr id="126" name="Google Shape;126;p11"/>
          <p:cNvSpPr/>
          <p:nvPr/>
        </p:nvSpPr>
        <p:spPr>
          <a:xfrm>
            <a:off x="3975185" y="952352"/>
            <a:ext cx="4761000" cy="3447900"/>
          </a:xfrm>
          <a:prstGeom prst="roundRect">
            <a:avLst>
              <a:gd fmla="val 14594" name="adj"/>
            </a:avLst>
          </a:prstGeom>
          <a:solidFill>
            <a:srgbClr val="F2F2F2"/>
          </a:solid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127" name="Google Shape;127;p11"/>
          <p:cNvSpPr txBox="1"/>
          <p:nvPr/>
        </p:nvSpPr>
        <p:spPr>
          <a:xfrm>
            <a:off x="3935346" y="1409189"/>
            <a:ext cx="1617300" cy="156000"/>
          </a:xfrm>
          <a:prstGeom prst="rect">
            <a:avLst/>
          </a:prstGeom>
          <a:noFill/>
          <a:ln>
            <a:noFill/>
          </a:ln>
        </p:spPr>
        <p:txBody>
          <a:bodyPr anchorCtr="0" anchor="t" bIns="29425" lIns="58875" spcFirstLastPara="1" rIns="58875" wrap="square" tIns="29425">
            <a:noAutofit/>
          </a:bodyPr>
          <a:lstStyle/>
          <a:p>
            <a:pPr indent="0" lvl="0" marL="0" marR="0" rtl="0" algn="ctr">
              <a:lnSpc>
                <a:spcPct val="90000"/>
              </a:lnSpc>
              <a:spcBef>
                <a:spcPts val="0"/>
              </a:spcBef>
              <a:spcAft>
                <a:spcPts val="0"/>
              </a:spcAft>
              <a:buClr>
                <a:srgbClr val="000000"/>
              </a:buClr>
              <a:buSzPts val="700"/>
              <a:buFont typeface="Arial"/>
              <a:buNone/>
            </a:pPr>
            <a:r>
              <a:rPr b="1" i="0" lang="es" sz="700" u="none" cap="none" strike="noStrike">
                <a:solidFill>
                  <a:srgbClr val="265AA7"/>
                </a:solidFill>
                <a:latin typeface="Montserrat"/>
                <a:ea typeface="Montserrat"/>
                <a:cs typeface="Montserrat"/>
                <a:sym typeface="Montserrat"/>
              </a:rPr>
              <a:t>Iniciativa</a:t>
            </a:r>
            <a:endParaRPr b="0" i="0" sz="900" u="none" cap="none" strike="noStrike">
              <a:solidFill>
                <a:srgbClr val="000000"/>
              </a:solidFill>
              <a:latin typeface="Arial"/>
              <a:ea typeface="Arial"/>
              <a:cs typeface="Arial"/>
              <a:sym typeface="Arial"/>
            </a:endParaRPr>
          </a:p>
        </p:txBody>
      </p:sp>
      <p:sp>
        <p:nvSpPr>
          <p:cNvPr id="128" name="Google Shape;128;p11"/>
          <p:cNvSpPr/>
          <p:nvPr/>
        </p:nvSpPr>
        <p:spPr>
          <a:xfrm>
            <a:off x="3816752" y="2149835"/>
            <a:ext cx="317100" cy="1147200"/>
          </a:xfrm>
          <a:prstGeom prst="rightArrow">
            <a:avLst>
              <a:gd fmla="val 50000" name="adj1"/>
              <a:gd fmla="val 50000" name="adj2"/>
            </a:avLst>
          </a:prstGeom>
          <a:solidFill>
            <a:srgbClr val="265AA7"/>
          </a:solid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129" name="Google Shape;129;p11"/>
          <p:cNvSpPr txBox="1"/>
          <p:nvPr/>
        </p:nvSpPr>
        <p:spPr>
          <a:xfrm>
            <a:off x="5250434" y="1572324"/>
            <a:ext cx="11148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Implementar los productos de colocación Crédito Simple y Préstamo Tradicional.</a:t>
            </a:r>
            <a:endParaRPr b="0" i="0" sz="900" u="none" cap="none" strike="noStrike">
              <a:solidFill>
                <a:srgbClr val="000000"/>
              </a:solidFill>
              <a:latin typeface="Arial"/>
              <a:ea typeface="Arial"/>
              <a:cs typeface="Arial"/>
              <a:sym typeface="Arial"/>
            </a:endParaRPr>
          </a:p>
        </p:txBody>
      </p:sp>
      <p:grpSp>
        <p:nvGrpSpPr>
          <p:cNvPr id="130" name="Google Shape;130;p11"/>
          <p:cNvGrpSpPr/>
          <p:nvPr/>
        </p:nvGrpSpPr>
        <p:grpSpPr>
          <a:xfrm>
            <a:off x="4182851" y="1563445"/>
            <a:ext cx="1076914" cy="320472"/>
            <a:chOff x="13814589" y="1926698"/>
            <a:chExt cx="2486526" cy="804600"/>
          </a:xfrm>
        </p:grpSpPr>
        <p:sp>
          <p:nvSpPr>
            <p:cNvPr id="131" name="Google Shape;131;p11"/>
            <p:cNvSpPr/>
            <p:nvPr/>
          </p:nvSpPr>
          <p:spPr>
            <a:xfrm>
              <a:off x="14062515" y="1977408"/>
              <a:ext cx="2238600" cy="703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MVP 1</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(Discovery MVP) </a:t>
              </a:r>
              <a:endParaRPr b="0" i="0" sz="900" u="none" cap="none" strike="noStrike">
                <a:solidFill>
                  <a:srgbClr val="000000"/>
                </a:solidFill>
                <a:latin typeface="Arial"/>
                <a:ea typeface="Arial"/>
                <a:cs typeface="Arial"/>
                <a:sym typeface="Arial"/>
              </a:endParaRPr>
            </a:p>
          </p:txBody>
        </p:sp>
        <p:grpSp>
          <p:nvGrpSpPr>
            <p:cNvPr id="132" name="Google Shape;132;p11"/>
            <p:cNvGrpSpPr/>
            <p:nvPr/>
          </p:nvGrpSpPr>
          <p:grpSpPr>
            <a:xfrm>
              <a:off x="14018731" y="2168949"/>
              <a:ext cx="396177" cy="320504"/>
              <a:chOff x="-3757613" y="5049838"/>
              <a:chExt cx="5826126" cy="4713288"/>
            </a:xfrm>
          </p:grpSpPr>
          <p:sp>
            <p:nvSpPr>
              <p:cNvPr id="133" name="Google Shape;133;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34" name="Google Shape;134;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35" name="Google Shape;135;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36" name="Google Shape;136;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37" name="Google Shape;137;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38" name="Google Shape;138;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39" name="Google Shape;139;p11"/>
            <p:cNvSpPr/>
            <p:nvPr/>
          </p:nvSpPr>
          <p:spPr>
            <a:xfrm>
              <a:off x="13814589" y="1926698"/>
              <a:ext cx="804600" cy="8046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40" name="Google Shape;140;p11"/>
          <p:cNvSpPr txBox="1"/>
          <p:nvPr/>
        </p:nvSpPr>
        <p:spPr>
          <a:xfrm>
            <a:off x="5250434" y="2128645"/>
            <a:ext cx="11199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Lograr la implementación del MVP de tarjeta de crédito.</a:t>
            </a:r>
            <a:endParaRPr b="0" i="0" sz="900" u="none" cap="none" strike="noStrike">
              <a:solidFill>
                <a:srgbClr val="000000"/>
              </a:solidFill>
              <a:latin typeface="Arial"/>
              <a:ea typeface="Arial"/>
              <a:cs typeface="Arial"/>
              <a:sym typeface="Arial"/>
            </a:endParaRPr>
          </a:p>
        </p:txBody>
      </p:sp>
      <p:grpSp>
        <p:nvGrpSpPr>
          <p:cNvPr id="141" name="Google Shape;141;p11"/>
          <p:cNvGrpSpPr/>
          <p:nvPr/>
        </p:nvGrpSpPr>
        <p:grpSpPr>
          <a:xfrm>
            <a:off x="4182845" y="2119766"/>
            <a:ext cx="1076916" cy="320472"/>
            <a:chOff x="13814585" y="1926698"/>
            <a:chExt cx="2486530" cy="804600"/>
          </a:xfrm>
        </p:grpSpPr>
        <p:sp>
          <p:nvSpPr>
            <p:cNvPr id="142" name="Google Shape;142;p11"/>
            <p:cNvSpPr/>
            <p:nvPr/>
          </p:nvSpPr>
          <p:spPr>
            <a:xfrm>
              <a:off x="14062515" y="1977408"/>
              <a:ext cx="2238600" cy="703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MVP 1</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(Discovery MVP) </a:t>
              </a:r>
              <a:endParaRPr b="0" i="0" sz="900" u="none" cap="none" strike="noStrike">
                <a:solidFill>
                  <a:srgbClr val="000000"/>
                </a:solidFill>
                <a:latin typeface="Arial"/>
                <a:ea typeface="Arial"/>
                <a:cs typeface="Arial"/>
                <a:sym typeface="Arial"/>
              </a:endParaRPr>
            </a:p>
          </p:txBody>
        </p:sp>
        <p:grpSp>
          <p:nvGrpSpPr>
            <p:cNvPr id="143" name="Google Shape;143;p11"/>
            <p:cNvGrpSpPr/>
            <p:nvPr/>
          </p:nvGrpSpPr>
          <p:grpSpPr>
            <a:xfrm>
              <a:off x="14018731" y="2168949"/>
              <a:ext cx="396177" cy="320504"/>
              <a:chOff x="-3757613" y="5049838"/>
              <a:chExt cx="5826126" cy="4713288"/>
            </a:xfrm>
          </p:grpSpPr>
          <p:sp>
            <p:nvSpPr>
              <p:cNvPr id="144" name="Google Shape;144;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45" name="Google Shape;145;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46" name="Google Shape;146;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47" name="Google Shape;147;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48" name="Google Shape;148;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49" name="Google Shape;149;p11"/>
            <p:cNvSpPr/>
            <p:nvPr/>
          </p:nvSpPr>
          <p:spPr>
            <a:xfrm>
              <a:off x="13814585" y="1926698"/>
              <a:ext cx="804600" cy="8046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50" name="Google Shape;150;p11"/>
          <p:cNvSpPr txBox="1"/>
          <p:nvPr/>
        </p:nvSpPr>
        <p:spPr>
          <a:xfrm>
            <a:off x="5250434" y="2684965"/>
            <a:ext cx="11256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Evolucionar la plataforma DevSecOps integrando aspectos de seguridad y flujos de desarrollo automatizados.</a:t>
            </a:r>
            <a:endParaRPr b="0" i="0" sz="900" u="none" cap="none" strike="noStrike">
              <a:solidFill>
                <a:srgbClr val="000000"/>
              </a:solidFill>
              <a:latin typeface="Arial"/>
              <a:ea typeface="Arial"/>
              <a:cs typeface="Arial"/>
              <a:sym typeface="Arial"/>
            </a:endParaRPr>
          </a:p>
        </p:txBody>
      </p:sp>
      <p:grpSp>
        <p:nvGrpSpPr>
          <p:cNvPr id="151" name="Google Shape;151;p11"/>
          <p:cNvGrpSpPr/>
          <p:nvPr/>
        </p:nvGrpSpPr>
        <p:grpSpPr>
          <a:xfrm>
            <a:off x="4182851" y="2676086"/>
            <a:ext cx="1076914" cy="320472"/>
            <a:chOff x="13814589" y="1926698"/>
            <a:chExt cx="2486526" cy="804600"/>
          </a:xfrm>
        </p:grpSpPr>
        <p:sp>
          <p:nvSpPr>
            <p:cNvPr id="152" name="Google Shape;152;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DevSecOps</a:t>
              </a:r>
              <a:endParaRPr b="1" i="0" sz="500" u="none" cap="none" strike="noStrike">
                <a:solidFill>
                  <a:srgbClr val="FFFFFF"/>
                </a:solidFill>
                <a:latin typeface="Montserrat"/>
                <a:ea typeface="Montserrat"/>
                <a:cs typeface="Montserrat"/>
                <a:sym typeface="Montserrat"/>
              </a:endParaRPr>
            </a:p>
          </p:txBody>
        </p:sp>
        <p:grpSp>
          <p:nvGrpSpPr>
            <p:cNvPr id="153" name="Google Shape;153;p11"/>
            <p:cNvGrpSpPr/>
            <p:nvPr/>
          </p:nvGrpSpPr>
          <p:grpSpPr>
            <a:xfrm>
              <a:off x="14018731" y="2168949"/>
              <a:ext cx="396177" cy="320504"/>
              <a:chOff x="-3757613" y="5049838"/>
              <a:chExt cx="5826126" cy="4713288"/>
            </a:xfrm>
          </p:grpSpPr>
          <p:sp>
            <p:nvSpPr>
              <p:cNvPr id="154" name="Google Shape;154;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55" name="Google Shape;155;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56" name="Google Shape;156;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57" name="Google Shape;157;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58" name="Google Shape;158;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59" name="Google Shape;159;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60" name="Google Shape;160;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61" name="Google Shape;161;p11"/>
          <p:cNvSpPr txBox="1"/>
          <p:nvPr/>
        </p:nvSpPr>
        <p:spPr>
          <a:xfrm>
            <a:off x="5250434" y="3253438"/>
            <a:ext cx="11256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Instalar los ambientes requeridos para la producción, DRP, Pruebas, Desarrollo y Ambientes adicionales para pruebas integrales.</a:t>
            </a:r>
            <a:endParaRPr b="0" i="0" sz="900" u="none" cap="none" strike="noStrike">
              <a:solidFill>
                <a:srgbClr val="000000"/>
              </a:solidFill>
              <a:latin typeface="Arial"/>
              <a:ea typeface="Arial"/>
              <a:cs typeface="Arial"/>
              <a:sym typeface="Arial"/>
            </a:endParaRPr>
          </a:p>
        </p:txBody>
      </p:sp>
      <p:grpSp>
        <p:nvGrpSpPr>
          <p:cNvPr id="162" name="Google Shape;162;p11"/>
          <p:cNvGrpSpPr/>
          <p:nvPr/>
        </p:nvGrpSpPr>
        <p:grpSpPr>
          <a:xfrm>
            <a:off x="4182851" y="3232406"/>
            <a:ext cx="1076914" cy="320472"/>
            <a:chOff x="13814589" y="1926698"/>
            <a:chExt cx="2486526" cy="804600"/>
          </a:xfrm>
        </p:grpSpPr>
        <p:sp>
          <p:nvSpPr>
            <p:cNvPr id="163" name="Google Shape;163;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Homologación de Ambientes</a:t>
              </a:r>
              <a:endParaRPr b="0" i="0" sz="900" u="none" cap="none" strike="noStrike">
                <a:solidFill>
                  <a:srgbClr val="000000"/>
                </a:solidFill>
                <a:latin typeface="Arial"/>
                <a:ea typeface="Arial"/>
                <a:cs typeface="Arial"/>
                <a:sym typeface="Arial"/>
              </a:endParaRPr>
            </a:p>
          </p:txBody>
        </p:sp>
        <p:grpSp>
          <p:nvGrpSpPr>
            <p:cNvPr id="164" name="Google Shape;164;p11"/>
            <p:cNvGrpSpPr/>
            <p:nvPr/>
          </p:nvGrpSpPr>
          <p:grpSpPr>
            <a:xfrm>
              <a:off x="14018731" y="2168949"/>
              <a:ext cx="396177" cy="320504"/>
              <a:chOff x="-3757613" y="5049838"/>
              <a:chExt cx="5826126" cy="4713288"/>
            </a:xfrm>
          </p:grpSpPr>
          <p:sp>
            <p:nvSpPr>
              <p:cNvPr id="165" name="Google Shape;165;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66" name="Google Shape;166;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67" name="Google Shape;167;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68" name="Google Shape;168;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69" name="Google Shape;169;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70" name="Google Shape;170;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71" name="Google Shape;171;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72" name="Google Shape;172;p11"/>
          <p:cNvSpPr txBox="1"/>
          <p:nvPr/>
        </p:nvSpPr>
        <p:spPr>
          <a:xfrm>
            <a:off x="5250434" y="3797605"/>
            <a:ext cx="10650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Desarrollar todas las interfaces necesarias para conectar el nuevo ecosistema tecnológico.</a:t>
            </a:r>
            <a:endParaRPr b="0" i="0" sz="900" u="none" cap="none" strike="noStrike">
              <a:solidFill>
                <a:srgbClr val="000000"/>
              </a:solidFill>
              <a:latin typeface="Arial"/>
              <a:ea typeface="Arial"/>
              <a:cs typeface="Arial"/>
              <a:sym typeface="Arial"/>
            </a:endParaRPr>
          </a:p>
        </p:txBody>
      </p:sp>
      <p:grpSp>
        <p:nvGrpSpPr>
          <p:cNvPr id="173" name="Google Shape;173;p11"/>
          <p:cNvGrpSpPr/>
          <p:nvPr/>
        </p:nvGrpSpPr>
        <p:grpSpPr>
          <a:xfrm>
            <a:off x="4182851" y="3788726"/>
            <a:ext cx="1076914" cy="320472"/>
            <a:chOff x="13814589" y="1926698"/>
            <a:chExt cx="2486526" cy="804600"/>
          </a:xfrm>
        </p:grpSpPr>
        <p:sp>
          <p:nvSpPr>
            <p:cNvPr id="174" name="Google Shape;174;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Desarrollo de interfaces Temporales</a:t>
              </a:r>
              <a:endParaRPr b="0" i="0" sz="900" u="none" cap="none" strike="noStrike">
                <a:solidFill>
                  <a:srgbClr val="000000"/>
                </a:solidFill>
                <a:latin typeface="Arial"/>
                <a:ea typeface="Arial"/>
                <a:cs typeface="Arial"/>
                <a:sym typeface="Arial"/>
              </a:endParaRPr>
            </a:p>
          </p:txBody>
        </p:sp>
        <p:grpSp>
          <p:nvGrpSpPr>
            <p:cNvPr id="175" name="Google Shape;175;p11"/>
            <p:cNvGrpSpPr/>
            <p:nvPr/>
          </p:nvGrpSpPr>
          <p:grpSpPr>
            <a:xfrm>
              <a:off x="14018731" y="2168949"/>
              <a:ext cx="396177" cy="320504"/>
              <a:chOff x="-3757613" y="5049838"/>
              <a:chExt cx="5826126" cy="4713288"/>
            </a:xfrm>
          </p:grpSpPr>
          <p:sp>
            <p:nvSpPr>
              <p:cNvPr id="176" name="Google Shape;176;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77" name="Google Shape;177;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78" name="Google Shape;178;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79" name="Google Shape;179;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80" name="Google Shape;180;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81" name="Google Shape;181;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82" name="Google Shape;182;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83" name="Google Shape;183;p11"/>
          <p:cNvSpPr txBox="1"/>
          <p:nvPr/>
        </p:nvSpPr>
        <p:spPr>
          <a:xfrm>
            <a:off x="7533963" y="1572324"/>
            <a:ext cx="9696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Desacoplar canales usando modelo BIAN.</a:t>
            </a:r>
            <a:endParaRPr b="0" i="0" sz="900" u="none" cap="none" strike="noStrike">
              <a:solidFill>
                <a:srgbClr val="000000"/>
              </a:solidFill>
              <a:latin typeface="Arial"/>
              <a:ea typeface="Arial"/>
              <a:cs typeface="Arial"/>
              <a:sym typeface="Arial"/>
            </a:endParaRPr>
          </a:p>
        </p:txBody>
      </p:sp>
      <p:grpSp>
        <p:nvGrpSpPr>
          <p:cNvPr id="184" name="Google Shape;184;p11"/>
          <p:cNvGrpSpPr/>
          <p:nvPr/>
        </p:nvGrpSpPr>
        <p:grpSpPr>
          <a:xfrm>
            <a:off x="6466378" y="1563445"/>
            <a:ext cx="1076914" cy="320472"/>
            <a:chOff x="13814589" y="1926698"/>
            <a:chExt cx="2486526" cy="804600"/>
          </a:xfrm>
        </p:grpSpPr>
        <p:sp>
          <p:nvSpPr>
            <p:cNvPr id="185" name="Google Shape;185;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 de Canales</a:t>
              </a:r>
              <a:endParaRPr b="0" i="0" sz="900" u="none" cap="none" strike="noStrike">
                <a:solidFill>
                  <a:srgbClr val="000000"/>
                </a:solidFill>
                <a:latin typeface="Arial"/>
                <a:ea typeface="Arial"/>
                <a:cs typeface="Arial"/>
                <a:sym typeface="Arial"/>
              </a:endParaRPr>
            </a:p>
          </p:txBody>
        </p:sp>
        <p:grpSp>
          <p:nvGrpSpPr>
            <p:cNvPr id="186" name="Google Shape;186;p11"/>
            <p:cNvGrpSpPr/>
            <p:nvPr/>
          </p:nvGrpSpPr>
          <p:grpSpPr>
            <a:xfrm>
              <a:off x="14018731" y="2168949"/>
              <a:ext cx="396177" cy="320504"/>
              <a:chOff x="-3757613" y="5049838"/>
              <a:chExt cx="5826126" cy="4713288"/>
            </a:xfrm>
          </p:grpSpPr>
          <p:sp>
            <p:nvSpPr>
              <p:cNvPr id="187" name="Google Shape;187;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88" name="Google Shape;188;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89" name="Google Shape;189;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90" name="Google Shape;190;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91" name="Google Shape;191;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92" name="Google Shape;192;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193" name="Google Shape;193;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194" name="Google Shape;194;p11"/>
          <p:cNvSpPr txBox="1"/>
          <p:nvPr/>
        </p:nvSpPr>
        <p:spPr>
          <a:xfrm>
            <a:off x="7533963" y="2105156"/>
            <a:ext cx="9696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Desarrollar los reportes regulatorios requeridos.</a:t>
            </a:r>
            <a:endParaRPr b="0" i="0" sz="900" u="none" cap="none" strike="noStrike">
              <a:solidFill>
                <a:srgbClr val="000000"/>
              </a:solidFill>
              <a:latin typeface="Arial"/>
              <a:ea typeface="Arial"/>
              <a:cs typeface="Arial"/>
              <a:sym typeface="Arial"/>
            </a:endParaRPr>
          </a:p>
        </p:txBody>
      </p:sp>
      <p:grpSp>
        <p:nvGrpSpPr>
          <p:cNvPr id="195" name="Google Shape;195;p11"/>
          <p:cNvGrpSpPr/>
          <p:nvPr/>
        </p:nvGrpSpPr>
        <p:grpSpPr>
          <a:xfrm>
            <a:off x="6466378" y="2119766"/>
            <a:ext cx="1076914" cy="320472"/>
            <a:chOff x="13814589" y="1926698"/>
            <a:chExt cx="2486526" cy="804600"/>
          </a:xfrm>
        </p:grpSpPr>
        <p:sp>
          <p:nvSpPr>
            <p:cNvPr id="196" name="Google Shape;196;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Reportería Regulatoria</a:t>
              </a:r>
              <a:endParaRPr b="0" i="0" sz="900" u="none" cap="none" strike="noStrike">
                <a:solidFill>
                  <a:srgbClr val="000000"/>
                </a:solidFill>
                <a:latin typeface="Arial"/>
                <a:ea typeface="Arial"/>
                <a:cs typeface="Arial"/>
                <a:sym typeface="Arial"/>
              </a:endParaRPr>
            </a:p>
          </p:txBody>
        </p:sp>
        <p:grpSp>
          <p:nvGrpSpPr>
            <p:cNvPr id="197" name="Google Shape;197;p11"/>
            <p:cNvGrpSpPr/>
            <p:nvPr/>
          </p:nvGrpSpPr>
          <p:grpSpPr>
            <a:xfrm>
              <a:off x="14018731" y="2168949"/>
              <a:ext cx="396176" cy="320504"/>
              <a:chOff x="-3757613" y="5049838"/>
              <a:chExt cx="5826126" cy="4713288"/>
            </a:xfrm>
          </p:grpSpPr>
          <p:sp>
            <p:nvSpPr>
              <p:cNvPr id="198" name="Google Shape;198;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199" name="Google Shape;199;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00" name="Google Shape;200;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01" name="Google Shape;201;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02" name="Google Shape;202;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03" name="Google Shape;203;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204" name="Google Shape;204;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205" name="Google Shape;205;p11"/>
          <p:cNvSpPr txBox="1"/>
          <p:nvPr/>
        </p:nvSpPr>
        <p:spPr>
          <a:xfrm>
            <a:off x="7533963" y="2684966"/>
            <a:ext cx="969600" cy="2781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Realizar el onboarding digital de los MVPs con el esquema desacoplado de BIAN.</a:t>
            </a:r>
            <a:endParaRPr b="0" i="0" sz="900" u="none" cap="none" strike="noStrike">
              <a:solidFill>
                <a:srgbClr val="000000"/>
              </a:solidFill>
              <a:latin typeface="Arial"/>
              <a:ea typeface="Arial"/>
              <a:cs typeface="Arial"/>
              <a:sym typeface="Arial"/>
            </a:endParaRPr>
          </a:p>
        </p:txBody>
      </p:sp>
      <p:grpSp>
        <p:nvGrpSpPr>
          <p:cNvPr id="206" name="Google Shape;206;p11"/>
          <p:cNvGrpSpPr/>
          <p:nvPr/>
        </p:nvGrpSpPr>
        <p:grpSpPr>
          <a:xfrm>
            <a:off x="6466378" y="2676086"/>
            <a:ext cx="1076914" cy="320472"/>
            <a:chOff x="13814589" y="1926698"/>
            <a:chExt cx="2486526" cy="804600"/>
          </a:xfrm>
        </p:grpSpPr>
        <p:sp>
          <p:nvSpPr>
            <p:cNvPr id="207" name="Google Shape;207;p11"/>
            <p:cNvSpPr/>
            <p:nvPr/>
          </p:nvSpPr>
          <p:spPr>
            <a:xfrm>
              <a:off x="14062515" y="1977408"/>
              <a:ext cx="2238600" cy="703200"/>
            </a:xfrm>
            <a:prstGeom prst="roundRect">
              <a:avLst>
                <a:gd fmla="val 50000" name="adj"/>
              </a:avLst>
            </a:prstGeom>
            <a:solidFill>
              <a:srgbClr val="BFCC13"/>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br>
                <a:rPr b="1" i="0" lang="es" sz="500" u="none" cap="none" strike="noStrike">
                  <a:solidFill>
                    <a:srgbClr val="FFFFFF"/>
                  </a:solidFill>
                  <a:latin typeface="Montserrat"/>
                  <a:ea typeface="Montserrat"/>
                  <a:cs typeface="Montserrat"/>
                  <a:sym typeface="Montserrat"/>
                </a:rPr>
              </a:br>
              <a:r>
                <a:rPr b="1" i="0" lang="es" sz="500" u="none" cap="none" strike="noStrike">
                  <a:solidFill>
                    <a:srgbClr val="FFFFFF"/>
                  </a:solidFill>
                  <a:latin typeface="Montserrat"/>
                  <a:ea typeface="Montserrat"/>
                  <a:cs typeface="Montserrat"/>
                  <a:sym typeface="Montserrat"/>
                </a:rPr>
                <a:t>Apolo</a:t>
              </a:r>
              <a:endParaRPr b="1" i="0" sz="500" u="none" cap="none" strike="noStrike">
                <a:solidFill>
                  <a:srgbClr val="FFFFFF"/>
                </a:solidFill>
                <a:latin typeface="Montserrat"/>
                <a:ea typeface="Montserrat"/>
                <a:cs typeface="Montserrat"/>
                <a:sym typeface="Montserrat"/>
              </a:endParaRPr>
            </a:p>
          </p:txBody>
        </p:sp>
        <p:grpSp>
          <p:nvGrpSpPr>
            <p:cNvPr id="208" name="Google Shape;208;p11"/>
            <p:cNvGrpSpPr/>
            <p:nvPr/>
          </p:nvGrpSpPr>
          <p:grpSpPr>
            <a:xfrm>
              <a:off x="14018731" y="2168949"/>
              <a:ext cx="396177" cy="320504"/>
              <a:chOff x="-3757613" y="5049838"/>
              <a:chExt cx="5826126" cy="4713288"/>
            </a:xfrm>
          </p:grpSpPr>
          <p:sp>
            <p:nvSpPr>
              <p:cNvPr id="209" name="Google Shape;209;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210" name="Google Shape;210;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211" name="Google Shape;211;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212" name="Google Shape;212;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213" name="Google Shape;213;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214" name="Google Shape;214;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grpSp>
        <p:sp>
          <p:nvSpPr>
            <p:cNvPr id="215" name="Google Shape;215;p11"/>
            <p:cNvSpPr/>
            <p:nvPr/>
          </p:nvSpPr>
          <p:spPr>
            <a:xfrm>
              <a:off x="13814589" y="1926698"/>
              <a:ext cx="804600" cy="804600"/>
            </a:xfrm>
            <a:prstGeom prst="ellipse">
              <a:avLst/>
            </a:prstGeom>
            <a:solidFill>
              <a:srgbClr val="BFCC13"/>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700" u="none" cap="none" strike="noStrike">
                <a:solidFill>
                  <a:srgbClr val="808080"/>
                </a:solidFill>
                <a:latin typeface="Montserrat"/>
                <a:ea typeface="Montserrat"/>
                <a:cs typeface="Montserrat"/>
                <a:sym typeface="Montserrat"/>
              </a:endParaRPr>
            </a:p>
          </p:txBody>
        </p:sp>
      </p:grpSp>
      <p:sp>
        <p:nvSpPr>
          <p:cNvPr id="216" name="Google Shape;216;p11"/>
          <p:cNvSpPr txBox="1"/>
          <p:nvPr/>
        </p:nvSpPr>
        <p:spPr>
          <a:xfrm>
            <a:off x="7533962" y="3228323"/>
            <a:ext cx="10632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Desacoplar las funcionalidades de BanCoppel Web para post-venta.</a:t>
            </a:r>
            <a:endParaRPr b="0" i="0" sz="900" u="none" cap="none" strike="noStrike">
              <a:solidFill>
                <a:srgbClr val="000000"/>
              </a:solidFill>
              <a:latin typeface="Arial"/>
              <a:ea typeface="Arial"/>
              <a:cs typeface="Arial"/>
              <a:sym typeface="Arial"/>
            </a:endParaRPr>
          </a:p>
        </p:txBody>
      </p:sp>
      <p:grpSp>
        <p:nvGrpSpPr>
          <p:cNvPr id="217" name="Google Shape;217;p11"/>
          <p:cNvGrpSpPr/>
          <p:nvPr/>
        </p:nvGrpSpPr>
        <p:grpSpPr>
          <a:xfrm>
            <a:off x="6466378" y="3232406"/>
            <a:ext cx="1076914" cy="320472"/>
            <a:chOff x="13814589" y="1926698"/>
            <a:chExt cx="2486526" cy="804600"/>
          </a:xfrm>
        </p:grpSpPr>
        <p:sp>
          <p:nvSpPr>
            <p:cNvPr id="218" name="Google Shape;218;p11"/>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 OFI Web</a:t>
              </a:r>
              <a:endParaRPr b="0" i="0" sz="900" u="none" cap="none" strike="noStrike">
                <a:solidFill>
                  <a:srgbClr val="000000"/>
                </a:solidFill>
                <a:latin typeface="Arial"/>
                <a:ea typeface="Arial"/>
                <a:cs typeface="Arial"/>
                <a:sym typeface="Arial"/>
              </a:endParaRPr>
            </a:p>
          </p:txBody>
        </p:sp>
        <p:grpSp>
          <p:nvGrpSpPr>
            <p:cNvPr id="219" name="Google Shape;219;p11"/>
            <p:cNvGrpSpPr/>
            <p:nvPr/>
          </p:nvGrpSpPr>
          <p:grpSpPr>
            <a:xfrm>
              <a:off x="14018731" y="2168949"/>
              <a:ext cx="396177" cy="320504"/>
              <a:chOff x="-3757613" y="5049838"/>
              <a:chExt cx="5826126" cy="4713288"/>
            </a:xfrm>
          </p:grpSpPr>
          <p:sp>
            <p:nvSpPr>
              <p:cNvPr id="220" name="Google Shape;220;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21" name="Google Shape;221;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22" name="Google Shape;222;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23" name="Google Shape;223;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24" name="Google Shape;224;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25" name="Google Shape;225;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226" name="Google Shape;226;p1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227" name="Google Shape;227;p11"/>
          <p:cNvSpPr txBox="1"/>
          <p:nvPr/>
        </p:nvSpPr>
        <p:spPr>
          <a:xfrm>
            <a:off x="7533963" y="3765618"/>
            <a:ext cx="1150200" cy="296400"/>
          </a:xfrm>
          <a:prstGeom prst="rect">
            <a:avLst/>
          </a:prstGeom>
          <a:noFill/>
          <a:ln>
            <a:noFill/>
          </a:ln>
        </p:spPr>
        <p:txBody>
          <a:bodyPr anchorCtr="0" anchor="ctr" bIns="0" lIns="57925" spcFirstLastPara="1" rIns="0" wrap="square" tIns="14700">
            <a:noAutofit/>
          </a:bodyPr>
          <a:lstStyle/>
          <a:p>
            <a:pPr indent="0" lvl="0" marL="0" marR="0" rtl="0" algn="l">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Implementar una herramienta de ventanilla Multi Core que cumpla con los estándares de industria.</a:t>
            </a:r>
            <a:endParaRPr b="0" i="0" sz="900" u="none" cap="none" strike="noStrike">
              <a:solidFill>
                <a:srgbClr val="000000"/>
              </a:solidFill>
              <a:latin typeface="Arial"/>
              <a:ea typeface="Arial"/>
              <a:cs typeface="Arial"/>
              <a:sym typeface="Arial"/>
            </a:endParaRPr>
          </a:p>
        </p:txBody>
      </p:sp>
      <p:grpSp>
        <p:nvGrpSpPr>
          <p:cNvPr id="228" name="Google Shape;228;p11"/>
          <p:cNvGrpSpPr/>
          <p:nvPr/>
        </p:nvGrpSpPr>
        <p:grpSpPr>
          <a:xfrm>
            <a:off x="6466378" y="3788726"/>
            <a:ext cx="1076914" cy="320472"/>
            <a:chOff x="13814589" y="1926698"/>
            <a:chExt cx="2486526" cy="804600"/>
          </a:xfrm>
        </p:grpSpPr>
        <p:sp>
          <p:nvSpPr>
            <p:cNvPr id="229" name="Google Shape;229;p11"/>
            <p:cNvSpPr/>
            <p:nvPr/>
          </p:nvSpPr>
          <p:spPr>
            <a:xfrm>
              <a:off x="14062515" y="1977408"/>
              <a:ext cx="2238600" cy="703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0" i="0" sz="900" u="none" cap="none" strike="noStrike">
                <a:solidFill>
                  <a:srgbClr val="000000"/>
                </a:solidFill>
                <a:latin typeface="Arial"/>
                <a:ea typeface="Arial"/>
                <a:cs typeface="Arial"/>
                <a:sym typeface="Arial"/>
              </a:endParaRPr>
            </a:p>
          </p:txBody>
        </p:sp>
        <p:grpSp>
          <p:nvGrpSpPr>
            <p:cNvPr id="230" name="Google Shape;230;p11"/>
            <p:cNvGrpSpPr/>
            <p:nvPr/>
          </p:nvGrpSpPr>
          <p:grpSpPr>
            <a:xfrm>
              <a:off x="14018731" y="2168949"/>
              <a:ext cx="396177" cy="320504"/>
              <a:chOff x="-3757613" y="5049838"/>
              <a:chExt cx="5826126" cy="4713288"/>
            </a:xfrm>
          </p:grpSpPr>
          <p:sp>
            <p:nvSpPr>
              <p:cNvPr id="231" name="Google Shape;231;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32" name="Google Shape;232;p1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33" name="Google Shape;233;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34" name="Google Shape;234;p1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35" name="Google Shape;235;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236" name="Google Shape;236;p1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237" name="Google Shape;237;p11"/>
            <p:cNvSpPr/>
            <p:nvPr/>
          </p:nvSpPr>
          <p:spPr>
            <a:xfrm>
              <a:off x="13814589" y="1926698"/>
              <a:ext cx="804600" cy="8046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sp>
        <p:nvSpPr>
          <p:cNvPr id="238" name="Google Shape;238;p11"/>
          <p:cNvSpPr txBox="1"/>
          <p:nvPr/>
        </p:nvSpPr>
        <p:spPr>
          <a:xfrm>
            <a:off x="4434451" y="1072713"/>
            <a:ext cx="4105800" cy="156000"/>
          </a:xfrm>
          <a:prstGeom prst="rect">
            <a:avLst/>
          </a:prstGeom>
          <a:noFill/>
          <a:ln>
            <a:noFill/>
          </a:ln>
        </p:spPr>
        <p:txBody>
          <a:bodyPr anchorCtr="0" anchor="t" bIns="29425" lIns="58875" spcFirstLastPara="1" rIns="58875" wrap="square" tIns="29425">
            <a:noAutofit/>
          </a:bodyPr>
          <a:lstStyle/>
          <a:p>
            <a:pPr indent="0" lvl="0" marL="0" marR="0" rtl="0" algn="ctr">
              <a:lnSpc>
                <a:spcPct val="90000"/>
              </a:lnSpc>
              <a:spcBef>
                <a:spcPts val="0"/>
              </a:spcBef>
              <a:spcAft>
                <a:spcPts val="0"/>
              </a:spcAft>
              <a:buClr>
                <a:srgbClr val="000000"/>
              </a:buClr>
              <a:buSzPts val="800"/>
              <a:buFont typeface="Arial"/>
              <a:buNone/>
            </a:pPr>
            <a:r>
              <a:rPr b="1" i="0" lang="es" sz="800" u="none" cap="none" strike="noStrike">
                <a:solidFill>
                  <a:srgbClr val="265AA7"/>
                </a:solidFill>
                <a:latin typeface="Montserrat"/>
                <a:ea typeface="Montserrat"/>
                <a:cs typeface="Montserrat"/>
                <a:sym typeface="Montserrat"/>
              </a:rPr>
              <a:t>Iniciativas de la Transformación del Ecosistema Tecnológico</a:t>
            </a:r>
            <a:endParaRPr b="0" i="0" sz="900" u="none" cap="none" strike="noStrike">
              <a:solidFill>
                <a:srgbClr val="000000"/>
              </a:solidFill>
              <a:latin typeface="Arial"/>
              <a:ea typeface="Arial"/>
              <a:cs typeface="Arial"/>
              <a:sym typeface="Arial"/>
            </a:endParaRPr>
          </a:p>
        </p:txBody>
      </p:sp>
      <p:sp>
        <p:nvSpPr>
          <p:cNvPr id="239" name="Google Shape;239;p11"/>
          <p:cNvSpPr txBox="1"/>
          <p:nvPr/>
        </p:nvSpPr>
        <p:spPr>
          <a:xfrm>
            <a:off x="5426859" y="1392338"/>
            <a:ext cx="649800" cy="167100"/>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65AA7"/>
                </a:solidFill>
                <a:latin typeface="Montserrat"/>
                <a:ea typeface="Montserrat"/>
                <a:cs typeface="Montserrat"/>
                <a:sym typeface="Montserrat"/>
              </a:rPr>
              <a:t>Objetivo</a:t>
            </a:r>
            <a:endParaRPr b="1" i="0" sz="700" u="none" cap="none" strike="noStrike">
              <a:solidFill>
                <a:srgbClr val="265AA7"/>
              </a:solidFill>
              <a:latin typeface="Montserrat"/>
              <a:ea typeface="Montserrat"/>
              <a:cs typeface="Montserrat"/>
              <a:sym typeface="Montserrat"/>
            </a:endParaRPr>
          </a:p>
        </p:txBody>
      </p:sp>
      <p:sp>
        <p:nvSpPr>
          <p:cNvPr id="240" name="Google Shape;240;p11"/>
          <p:cNvSpPr txBox="1"/>
          <p:nvPr/>
        </p:nvSpPr>
        <p:spPr>
          <a:xfrm>
            <a:off x="6291814" y="1383391"/>
            <a:ext cx="1617300" cy="156000"/>
          </a:xfrm>
          <a:prstGeom prst="rect">
            <a:avLst/>
          </a:prstGeom>
          <a:noFill/>
          <a:ln>
            <a:noFill/>
          </a:ln>
        </p:spPr>
        <p:txBody>
          <a:bodyPr anchorCtr="0" anchor="t" bIns="29425" lIns="58875" spcFirstLastPara="1" rIns="58875" wrap="square" tIns="29425">
            <a:noAutofit/>
          </a:bodyPr>
          <a:lstStyle/>
          <a:p>
            <a:pPr indent="0" lvl="0" marL="0" marR="0" rtl="0" algn="ctr">
              <a:lnSpc>
                <a:spcPct val="90000"/>
              </a:lnSpc>
              <a:spcBef>
                <a:spcPts val="0"/>
              </a:spcBef>
              <a:spcAft>
                <a:spcPts val="0"/>
              </a:spcAft>
              <a:buClr>
                <a:srgbClr val="000000"/>
              </a:buClr>
              <a:buSzPts val="700"/>
              <a:buFont typeface="Arial"/>
              <a:buNone/>
            </a:pPr>
            <a:r>
              <a:rPr b="1" i="0" lang="es" sz="700" u="none" cap="none" strike="noStrike">
                <a:solidFill>
                  <a:srgbClr val="265AA7"/>
                </a:solidFill>
                <a:latin typeface="Montserrat"/>
                <a:ea typeface="Montserrat"/>
                <a:cs typeface="Montserrat"/>
                <a:sym typeface="Montserrat"/>
              </a:rPr>
              <a:t>Iniciativa</a:t>
            </a:r>
            <a:endParaRPr b="0" i="0" sz="900" u="none" cap="none" strike="noStrike">
              <a:solidFill>
                <a:srgbClr val="000000"/>
              </a:solidFill>
              <a:latin typeface="Arial"/>
              <a:ea typeface="Arial"/>
              <a:cs typeface="Arial"/>
              <a:sym typeface="Arial"/>
            </a:endParaRPr>
          </a:p>
        </p:txBody>
      </p:sp>
      <p:sp>
        <p:nvSpPr>
          <p:cNvPr id="241" name="Google Shape;241;p11"/>
          <p:cNvSpPr txBox="1"/>
          <p:nvPr/>
        </p:nvSpPr>
        <p:spPr>
          <a:xfrm>
            <a:off x="7639693" y="1366540"/>
            <a:ext cx="649800" cy="167100"/>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65AA7"/>
                </a:solidFill>
                <a:latin typeface="Montserrat"/>
                <a:ea typeface="Montserrat"/>
                <a:cs typeface="Montserrat"/>
                <a:sym typeface="Montserrat"/>
              </a:rPr>
              <a:t>Objetivo</a:t>
            </a:r>
            <a:endParaRPr b="1" i="0" sz="700" u="none" cap="none" strike="noStrike">
              <a:solidFill>
                <a:srgbClr val="265AA7"/>
              </a:solidFill>
              <a:latin typeface="Montserrat"/>
              <a:ea typeface="Montserrat"/>
              <a:cs typeface="Montserrat"/>
              <a:sym typeface="Montserrat"/>
            </a:endParaRPr>
          </a:p>
        </p:txBody>
      </p:sp>
      <p:pic>
        <p:nvPicPr>
          <p:cNvPr id="242" name="Google Shape;242;p11"/>
          <p:cNvPicPr preferRelativeResize="0"/>
          <p:nvPr/>
        </p:nvPicPr>
        <p:blipFill rotWithShape="1">
          <a:blip r:embed="rId4">
            <a:alphaModFix/>
          </a:blip>
          <a:srcRect b="0" l="0" r="0" t="0"/>
          <a:stretch/>
        </p:blipFill>
        <p:spPr>
          <a:xfrm>
            <a:off x="4209135" y="2144743"/>
            <a:ext cx="256595" cy="237356"/>
          </a:xfrm>
          <a:prstGeom prst="rect">
            <a:avLst/>
          </a:prstGeom>
          <a:noFill/>
          <a:ln>
            <a:noFill/>
          </a:ln>
        </p:spPr>
      </p:pic>
      <p:pic>
        <p:nvPicPr>
          <p:cNvPr id="243" name="Google Shape;243;p11"/>
          <p:cNvPicPr preferRelativeResize="0"/>
          <p:nvPr/>
        </p:nvPicPr>
        <p:blipFill rotWithShape="1">
          <a:blip r:embed="rId5">
            <a:alphaModFix/>
          </a:blip>
          <a:srcRect b="0" l="0" r="0" t="0"/>
          <a:stretch/>
        </p:blipFill>
        <p:spPr>
          <a:xfrm>
            <a:off x="4220546" y="1595964"/>
            <a:ext cx="259736" cy="240263"/>
          </a:xfrm>
          <a:prstGeom prst="rect">
            <a:avLst/>
          </a:prstGeom>
          <a:noFill/>
          <a:ln>
            <a:noFill/>
          </a:ln>
        </p:spPr>
      </p:pic>
      <p:pic>
        <p:nvPicPr>
          <p:cNvPr id="244" name="Google Shape;244;p11"/>
          <p:cNvPicPr preferRelativeResize="0"/>
          <p:nvPr/>
        </p:nvPicPr>
        <p:blipFill rotWithShape="1">
          <a:blip r:embed="rId6">
            <a:alphaModFix/>
          </a:blip>
          <a:srcRect b="0" l="0" r="0" t="0"/>
          <a:stretch/>
        </p:blipFill>
        <p:spPr>
          <a:xfrm>
            <a:off x="6522487" y="2178329"/>
            <a:ext cx="237223" cy="210318"/>
          </a:xfrm>
          <a:prstGeom prst="rect">
            <a:avLst/>
          </a:prstGeom>
          <a:noFill/>
          <a:ln>
            <a:noFill/>
          </a:ln>
        </p:spPr>
      </p:pic>
      <p:pic>
        <p:nvPicPr>
          <p:cNvPr id="245" name="Google Shape;245;p11"/>
          <p:cNvPicPr preferRelativeResize="0"/>
          <p:nvPr/>
        </p:nvPicPr>
        <p:blipFill rotWithShape="1">
          <a:blip r:embed="rId7">
            <a:alphaModFix/>
          </a:blip>
          <a:srcRect b="0" l="0" r="0" t="0"/>
          <a:stretch/>
        </p:blipFill>
        <p:spPr>
          <a:xfrm>
            <a:off x="6511293" y="2717180"/>
            <a:ext cx="272555" cy="252119"/>
          </a:xfrm>
          <a:prstGeom prst="rect">
            <a:avLst/>
          </a:prstGeom>
          <a:noFill/>
          <a:ln>
            <a:noFill/>
          </a:ln>
        </p:spPr>
      </p:pic>
      <p:pic>
        <p:nvPicPr>
          <p:cNvPr id="246" name="Google Shape;246;p11"/>
          <p:cNvPicPr preferRelativeResize="0"/>
          <p:nvPr/>
        </p:nvPicPr>
        <p:blipFill rotWithShape="1">
          <a:blip r:embed="rId8">
            <a:alphaModFix/>
          </a:blip>
          <a:srcRect b="0" l="0" r="0" t="0"/>
          <a:stretch/>
        </p:blipFill>
        <p:spPr>
          <a:xfrm>
            <a:off x="4256945" y="3286031"/>
            <a:ext cx="243216" cy="223734"/>
          </a:xfrm>
          <a:prstGeom prst="rect">
            <a:avLst/>
          </a:prstGeom>
          <a:noFill/>
          <a:ln>
            <a:noFill/>
          </a:ln>
        </p:spPr>
      </p:pic>
      <p:pic>
        <p:nvPicPr>
          <p:cNvPr id="247" name="Google Shape;247;p11"/>
          <p:cNvPicPr preferRelativeResize="0"/>
          <p:nvPr/>
        </p:nvPicPr>
        <p:blipFill rotWithShape="1">
          <a:blip r:embed="rId9">
            <a:alphaModFix/>
          </a:blip>
          <a:srcRect b="0" l="0" r="0" t="0"/>
          <a:stretch/>
        </p:blipFill>
        <p:spPr>
          <a:xfrm>
            <a:off x="4256242" y="3849047"/>
            <a:ext cx="201507" cy="185365"/>
          </a:xfrm>
          <a:prstGeom prst="rect">
            <a:avLst/>
          </a:prstGeom>
          <a:noFill/>
          <a:ln>
            <a:noFill/>
          </a:ln>
        </p:spPr>
      </p:pic>
      <p:pic>
        <p:nvPicPr>
          <p:cNvPr id="248" name="Google Shape;248;p11"/>
          <p:cNvPicPr preferRelativeResize="0"/>
          <p:nvPr/>
        </p:nvPicPr>
        <p:blipFill rotWithShape="1">
          <a:blip r:embed="rId10">
            <a:alphaModFix/>
          </a:blip>
          <a:srcRect b="0" l="0" r="0" t="0"/>
          <a:stretch/>
        </p:blipFill>
        <p:spPr>
          <a:xfrm>
            <a:off x="6535564" y="3283100"/>
            <a:ext cx="223168" cy="205291"/>
          </a:xfrm>
          <a:prstGeom prst="rect">
            <a:avLst/>
          </a:prstGeom>
          <a:noFill/>
          <a:ln>
            <a:noFill/>
          </a:ln>
        </p:spPr>
      </p:pic>
      <p:pic>
        <p:nvPicPr>
          <p:cNvPr id="249" name="Google Shape;249;p11"/>
          <p:cNvPicPr preferRelativeResize="0"/>
          <p:nvPr/>
        </p:nvPicPr>
        <p:blipFill rotWithShape="1">
          <a:blip r:embed="rId11">
            <a:alphaModFix/>
          </a:blip>
          <a:srcRect b="0" l="0" r="0" t="0"/>
          <a:stretch/>
        </p:blipFill>
        <p:spPr>
          <a:xfrm>
            <a:off x="4227304" y="2710406"/>
            <a:ext cx="252977" cy="232712"/>
          </a:xfrm>
          <a:prstGeom prst="rect">
            <a:avLst/>
          </a:prstGeom>
          <a:noFill/>
          <a:ln>
            <a:noFill/>
          </a:ln>
        </p:spPr>
      </p:pic>
      <p:pic>
        <p:nvPicPr>
          <p:cNvPr id="250" name="Google Shape;250;p11"/>
          <p:cNvPicPr preferRelativeResize="0"/>
          <p:nvPr/>
        </p:nvPicPr>
        <p:blipFill rotWithShape="1">
          <a:blip r:embed="rId12">
            <a:alphaModFix/>
          </a:blip>
          <a:srcRect b="0" l="0" r="0" t="0"/>
          <a:stretch/>
        </p:blipFill>
        <p:spPr>
          <a:xfrm>
            <a:off x="6518476" y="1613313"/>
            <a:ext cx="231350" cy="212818"/>
          </a:xfrm>
          <a:prstGeom prst="rect">
            <a:avLst/>
          </a:prstGeom>
          <a:noFill/>
          <a:ln>
            <a:noFill/>
          </a:ln>
        </p:spPr>
      </p:pic>
      <p:pic>
        <p:nvPicPr>
          <p:cNvPr descr="Icon&#10;&#10;Description automatically generated" id="251" name="Google Shape;251;p11"/>
          <p:cNvPicPr preferRelativeResize="0"/>
          <p:nvPr/>
        </p:nvPicPr>
        <p:blipFill rotWithShape="1">
          <a:blip r:embed="rId13">
            <a:alphaModFix/>
          </a:blip>
          <a:srcRect b="0" l="0" r="0" t="0"/>
          <a:stretch/>
        </p:blipFill>
        <p:spPr>
          <a:xfrm>
            <a:off x="6535740" y="3834009"/>
            <a:ext cx="230642" cy="212165"/>
          </a:xfrm>
          <a:prstGeom prst="rect">
            <a:avLst/>
          </a:prstGeom>
          <a:noFill/>
          <a:ln>
            <a:noFill/>
          </a:ln>
        </p:spPr>
      </p:pic>
      <p:grpSp>
        <p:nvGrpSpPr>
          <p:cNvPr id="252" name="Google Shape;252;p11"/>
          <p:cNvGrpSpPr/>
          <p:nvPr/>
        </p:nvGrpSpPr>
        <p:grpSpPr>
          <a:xfrm>
            <a:off x="1013734" y="4057832"/>
            <a:ext cx="2337743" cy="321502"/>
            <a:chOff x="1003800" y="6235670"/>
            <a:chExt cx="3371420" cy="504000"/>
          </a:xfrm>
        </p:grpSpPr>
        <p:grpSp>
          <p:nvGrpSpPr>
            <p:cNvPr id="253" name="Google Shape;253;p11"/>
            <p:cNvGrpSpPr/>
            <p:nvPr/>
          </p:nvGrpSpPr>
          <p:grpSpPr>
            <a:xfrm>
              <a:off x="1003800" y="6235670"/>
              <a:ext cx="504000" cy="504000"/>
              <a:chOff x="-833278" y="5247769"/>
              <a:chExt cx="504000" cy="504000"/>
            </a:xfrm>
          </p:grpSpPr>
          <p:sp>
            <p:nvSpPr>
              <p:cNvPr id="254" name="Google Shape;254;p11"/>
              <p:cNvSpPr/>
              <p:nvPr/>
            </p:nvSpPr>
            <p:spPr>
              <a:xfrm>
                <a:off x="-833278" y="5247769"/>
                <a:ext cx="504000" cy="504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5" name="Google Shape;255;p11"/>
              <p:cNvSpPr/>
              <p:nvPr/>
            </p:nvSpPr>
            <p:spPr>
              <a:xfrm>
                <a:off x="-761278" y="5319769"/>
                <a:ext cx="360000" cy="360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6" name="Google Shape;256;p11"/>
              <p:cNvSpPr/>
              <p:nvPr/>
            </p:nvSpPr>
            <p:spPr>
              <a:xfrm>
                <a:off x="-707278" y="5373769"/>
                <a:ext cx="252000" cy="252000"/>
              </a:xfrm>
              <a:prstGeom prst="rect">
                <a:avLst/>
              </a:prstGeom>
              <a:noFill/>
              <a:ln>
                <a:noFill/>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grpSp>
        <p:sp>
          <p:nvSpPr>
            <p:cNvPr id="257" name="Google Shape;257;p11"/>
            <p:cNvSpPr txBox="1"/>
            <p:nvPr/>
          </p:nvSpPr>
          <p:spPr>
            <a:xfrm>
              <a:off x="1447820" y="6235985"/>
              <a:ext cx="2927400" cy="382800"/>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600"/>
                <a:buFont typeface="Arial"/>
                <a:buNone/>
              </a:pPr>
              <a:r>
                <a:rPr b="0" i="0" lang="es" sz="600" u="none" cap="none" strike="noStrike">
                  <a:solidFill>
                    <a:srgbClr val="000000"/>
                  </a:solidFill>
                  <a:latin typeface="Montserrat"/>
                  <a:ea typeface="Montserrat"/>
                  <a:cs typeface="Montserrat"/>
                  <a:sym typeface="Montserrat"/>
                </a:rPr>
                <a:t>Frentes estratégicos que brindan soporte a la Transformación del Ecosistema Tecnológico.</a:t>
              </a:r>
              <a:endParaRPr b="0" i="0" sz="900" u="none" cap="none" strike="noStrike">
                <a:solidFill>
                  <a:srgbClr val="000000"/>
                </a:solidFill>
                <a:latin typeface="Arial"/>
                <a:ea typeface="Arial"/>
                <a:cs typeface="Arial"/>
                <a:sym typeface="Arial"/>
              </a:endParaRPr>
            </a:p>
          </p:txBody>
        </p:sp>
      </p:grpSp>
      <p:sp>
        <p:nvSpPr>
          <p:cNvPr id="258" name="Google Shape;258;p11"/>
          <p:cNvSpPr/>
          <p:nvPr/>
        </p:nvSpPr>
        <p:spPr>
          <a:xfrm flipH="1" rot="10800000">
            <a:off x="1271966" y="3919480"/>
            <a:ext cx="1858200" cy="142500"/>
          </a:xfrm>
          <a:prstGeom prst="triangle">
            <a:avLst>
              <a:gd fmla="val 50000" name="adj"/>
            </a:avLst>
          </a:prstGeom>
          <a:solidFill>
            <a:srgbClr val="A5A5A5"/>
          </a:solid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pic>
        <p:nvPicPr>
          <p:cNvPr id="259" name="Google Shape;259;p11"/>
          <p:cNvPicPr preferRelativeResize="0"/>
          <p:nvPr/>
        </p:nvPicPr>
        <p:blipFill rotWithShape="1">
          <a:blip r:embed="rId14">
            <a:alphaModFix/>
          </a:blip>
          <a:srcRect b="0" l="0" r="0" t="0"/>
          <a:stretch/>
        </p:blipFill>
        <p:spPr>
          <a:xfrm>
            <a:off x="949873" y="3968057"/>
            <a:ext cx="422729" cy="401018"/>
          </a:xfrm>
          <a:prstGeom prst="rect">
            <a:avLst/>
          </a:prstGeom>
          <a:noFill/>
          <a:ln>
            <a:noFill/>
          </a:ln>
        </p:spPr>
      </p:pic>
      <p:sp>
        <p:nvSpPr>
          <p:cNvPr id="260" name="Google Shape;260;p11"/>
          <p:cNvSpPr txBox="1"/>
          <p:nvPr/>
        </p:nvSpPr>
        <p:spPr>
          <a:xfrm>
            <a:off x="753749" y="963363"/>
            <a:ext cx="2895000" cy="226200"/>
          </a:xfrm>
          <a:prstGeom prst="rect">
            <a:avLst/>
          </a:prstGeom>
          <a:noFill/>
          <a:ln>
            <a:noFill/>
          </a:ln>
        </p:spPr>
        <p:txBody>
          <a:bodyPr anchorCtr="0" anchor="t" bIns="29425" lIns="58850" spcFirstLastPara="1" rIns="58850" wrap="square" tIns="29425">
            <a:noAutofit/>
          </a:bodyPr>
          <a:lstStyle/>
          <a:p>
            <a:pPr indent="0" lvl="0" marL="0" marR="0" rtl="0" algn="ctr">
              <a:lnSpc>
                <a:spcPct val="90000"/>
              </a:lnSpc>
              <a:spcBef>
                <a:spcPts val="0"/>
              </a:spcBef>
              <a:spcAft>
                <a:spcPts val="0"/>
              </a:spcAft>
              <a:buClr>
                <a:srgbClr val="000000"/>
              </a:buClr>
              <a:buSzPts val="800"/>
              <a:buFont typeface="Arial"/>
              <a:buNone/>
            </a:pPr>
            <a:r>
              <a:rPr b="1" i="0" lang="es" sz="800" u="none" cap="none" strike="noStrike">
                <a:solidFill>
                  <a:srgbClr val="265AA7"/>
                </a:solidFill>
                <a:latin typeface="Montserrat"/>
                <a:ea typeface="Montserrat"/>
                <a:cs typeface="Montserrat"/>
                <a:sym typeface="Montserrat"/>
              </a:rPr>
              <a:t>Modelo de Transformación del                               Ecosistema Tecnológico</a:t>
            </a:r>
            <a:endParaRPr b="0" i="0" sz="800" u="none" cap="none" strike="noStrike">
              <a:solidFill>
                <a:srgbClr val="000000"/>
              </a:solidFill>
              <a:latin typeface="Arial"/>
              <a:ea typeface="Arial"/>
              <a:cs typeface="Arial"/>
              <a:sym typeface="Arial"/>
            </a:endParaRPr>
          </a:p>
        </p:txBody>
      </p:sp>
      <p:pic>
        <p:nvPicPr>
          <p:cNvPr id="261" name="Google Shape;261;p11"/>
          <p:cNvPicPr preferRelativeResize="0"/>
          <p:nvPr/>
        </p:nvPicPr>
        <p:blipFill rotWithShape="1">
          <a:blip r:embed="rId15">
            <a:alphaModFix/>
          </a:blip>
          <a:srcRect b="0" l="0" r="0" t="0"/>
          <a:stretch/>
        </p:blipFill>
        <p:spPr>
          <a:xfrm>
            <a:off x="816488" y="1300967"/>
            <a:ext cx="2769341" cy="2551183"/>
          </a:xfrm>
          <a:prstGeom prst="rect">
            <a:avLst/>
          </a:prstGeom>
          <a:noFill/>
          <a:ln>
            <a:noFill/>
          </a:ln>
        </p:spPr>
      </p:pic>
      <p:sp>
        <p:nvSpPr>
          <p:cNvPr id="262" name="Google Shape;262;p11"/>
          <p:cNvSpPr txBox="1"/>
          <p:nvPr/>
        </p:nvSpPr>
        <p:spPr>
          <a:xfrm>
            <a:off x="6055858" y="4247556"/>
            <a:ext cx="934500" cy="120900"/>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000000"/>
                </a:solidFill>
                <a:latin typeface="Montserrat"/>
                <a:ea typeface="Montserrat"/>
                <a:cs typeface="Montserrat"/>
                <a:sym typeface="Montserrat"/>
              </a:rPr>
              <a:t>Habilitadores</a:t>
            </a:r>
            <a:endParaRPr b="0" i="0" sz="600" u="none" cap="none" strike="noStrike">
              <a:solidFill>
                <a:srgbClr val="000000"/>
              </a:solidFill>
              <a:latin typeface="Arial"/>
              <a:ea typeface="Arial"/>
              <a:cs typeface="Arial"/>
              <a:sym typeface="Arial"/>
            </a:endParaRPr>
          </a:p>
        </p:txBody>
      </p:sp>
      <p:sp>
        <p:nvSpPr>
          <p:cNvPr id="263" name="Google Shape;263;p11"/>
          <p:cNvSpPr txBox="1"/>
          <p:nvPr/>
        </p:nvSpPr>
        <p:spPr>
          <a:xfrm>
            <a:off x="5164163" y="4247556"/>
            <a:ext cx="934500" cy="120900"/>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000000"/>
                </a:solidFill>
                <a:latin typeface="Montserrat"/>
                <a:ea typeface="Montserrat"/>
                <a:cs typeface="Montserrat"/>
                <a:sym typeface="Montserrat"/>
              </a:rPr>
              <a:t>Onboarding Apolo</a:t>
            </a:r>
            <a:endParaRPr b="0" i="0" sz="600" u="none" cap="none" strike="noStrike">
              <a:solidFill>
                <a:srgbClr val="000000"/>
              </a:solidFill>
              <a:latin typeface="Arial"/>
              <a:ea typeface="Arial"/>
              <a:cs typeface="Arial"/>
              <a:sym typeface="Arial"/>
            </a:endParaRPr>
          </a:p>
        </p:txBody>
      </p:sp>
      <p:sp>
        <p:nvSpPr>
          <p:cNvPr id="264" name="Google Shape;264;p11"/>
          <p:cNvSpPr/>
          <p:nvPr/>
        </p:nvSpPr>
        <p:spPr>
          <a:xfrm>
            <a:off x="5111323" y="4271000"/>
            <a:ext cx="201600" cy="71100"/>
          </a:xfrm>
          <a:prstGeom prst="roundRect">
            <a:avLst>
              <a:gd fmla="val 50000" name="adj"/>
            </a:avLst>
          </a:prstGeom>
          <a:solidFill>
            <a:srgbClr val="BFCC13"/>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100"/>
              <a:buFont typeface="Arial"/>
              <a:buNone/>
            </a:pPr>
            <a:r>
              <a:t/>
            </a:r>
            <a:endParaRPr b="1" i="0" sz="100" u="none" cap="none" strike="noStrike">
              <a:solidFill>
                <a:srgbClr val="FFFFFF"/>
              </a:solidFill>
              <a:latin typeface="Montserrat"/>
              <a:ea typeface="Montserrat"/>
              <a:cs typeface="Montserrat"/>
              <a:sym typeface="Montserrat"/>
            </a:endParaRPr>
          </a:p>
        </p:txBody>
      </p:sp>
      <p:sp>
        <p:nvSpPr>
          <p:cNvPr id="265" name="Google Shape;265;p11"/>
          <p:cNvSpPr/>
          <p:nvPr/>
        </p:nvSpPr>
        <p:spPr>
          <a:xfrm>
            <a:off x="6103941" y="4270998"/>
            <a:ext cx="201600" cy="711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100"/>
              <a:buFont typeface="Arial"/>
              <a:buNone/>
            </a:pPr>
            <a:r>
              <a:t/>
            </a:r>
            <a:endParaRPr b="1" i="0" sz="100" u="none" cap="none" strike="noStrike">
              <a:solidFill>
                <a:srgbClr val="FFFFFF"/>
              </a:solidFill>
              <a:latin typeface="Montserrat"/>
              <a:ea typeface="Montserrat"/>
              <a:cs typeface="Montserrat"/>
              <a:sym typeface="Montserrat"/>
            </a:endParaRPr>
          </a:p>
        </p:txBody>
      </p:sp>
      <p:sp>
        <p:nvSpPr>
          <p:cNvPr id="266" name="Google Shape;266;p11"/>
          <p:cNvSpPr txBox="1"/>
          <p:nvPr/>
        </p:nvSpPr>
        <p:spPr>
          <a:xfrm>
            <a:off x="7072513" y="4247556"/>
            <a:ext cx="934500" cy="120900"/>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000000"/>
                </a:solidFill>
                <a:latin typeface="Montserrat"/>
                <a:ea typeface="Montserrat"/>
                <a:cs typeface="Montserrat"/>
                <a:sym typeface="Montserrat"/>
              </a:rPr>
              <a:t>Sistemas Core</a:t>
            </a:r>
            <a:endParaRPr b="0" i="0" sz="600" u="none" cap="none" strike="noStrike">
              <a:solidFill>
                <a:srgbClr val="000000"/>
              </a:solidFill>
              <a:latin typeface="Arial"/>
              <a:ea typeface="Arial"/>
              <a:cs typeface="Arial"/>
              <a:sym typeface="Arial"/>
            </a:endParaRPr>
          </a:p>
        </p:txBody>
      </p:sp>
      <p:sp>
        <p:nvSpPr>
          <p:cNvPr id="267" name="Google Shape;267;p11"/>
          <p:cNvSpPr/>
          <p:nvPr/>
        </p:nvSpPr>
        <p:spPr>
          <a:xfrm>
            <a:off x="7096559" y="4270998"/>
            <a:ext cx="201600" cy="711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100"/>
              <a:buFont typeface="Arial"/>
              <a:buNone/>
            </a:pPr>
            <a:r>
              <a:t/>
            </a:r>
            <a:endParaRPr b="1" i="0" sz="1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3"/>
          <p:cNvSpPr txBox="1"/>
          <p:nvPr/>
        </p:nvSpPr>
        <p:spPr>
          <a:xfrm>
            <a:off x="464486" y="152736"/>
            <a:ext cx="8430132" cy="351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65AA7"/>
              </a:buClr>
              <a:buSzPts val="1500"/>
              <a:buFont typeface="Arial"/>
              <a:buNone/>
            </a:pPr>
            <a:r>
              <a:rPr b="1" i="0" lang="es" sz="1500" u="none" cap="none" strike="noStrike">
                <a:solidFill>
                  <a:srgbClr val="265AA7"/>
                </a:solidFill>
                <a:latin typeface="Montserrat"/>
                <a:ea typeface="Montserrat"/>
                <a:cs typeface="Montserrat"/>
                <a:sym typeface="Montserrat"/>
              </a:rPr>
              <a:t>A continuación, se describen las principales operaciones de negocio bancarias N1 que se utilizarán como referencia para el Programa de Transformación UNITY</a:t>
            </a:r>
            <a:endParaRPr b="0" i="0" sz="900" u="none" cap="none" strike="noStrike">
              <a:solidFill>
                <a:srgbClr val="000000"/>
              </a:solidFill>
              <a:latin typeface="Arial"/>
              <a:ea typeface="Arial"/>
              <a:cs typeface="Arial"/>
              <a:sym typeface="Arial"/>
            </a:endParaRPr>
          </a:p>
        </p:txBody>
      </p:sp>
      <p:grpSp>
        <p:nvGrpSpPr>
          <p:cNvPr id="273" name="Google Shape;273;p13"/>
          <p:cNvGrpSpPr/>
          <p:nvPr/>
        </p:nvGrpSpPr>
        <p:grpSpPr>
          <a:xfrm>
            <a:off x="464486" y="707891"/>
            <a:ext cx="8281581" cy="3318835"/>
            <a:chOff x="729585" y="890187"/>
            <a:chExt cx="7684812" cy="3150137"/>
          </a:xfrm>
        </p:grpSpPr>
        <p:sp>
          <p:nvSpPr>
            <p:cNvPr id="274" name="Google Shape;274;p13"/>
            <p:cNvSpPr txBox="1"/>
            <p:nvPr/>
          </p:nvSpPr>
          <p:spPr>
            <a:xfrm>
              <a:off x="729639" y="3480986"/>
              <a:ext cx="2502600" cy="2613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Homologación de Ambientes</a:t>
              </a:r>
              <a:endParaRPr b="0" i="0" sz="900" u="none" cap="none" strike="noStrike">
                <a:solidFill>
                  <a:srgbClr val="171717"/>
                </a:solidFill>
                <a:latin typeface="Arial"/>
                <a:ea typeface="Arial"/>
                <a:cs typeface="Arial"/>
                <a:sym typeface="Arial"/>
              </a:endParaRPr>
            </a:p>
          </p:txBody>
        </p:sp>
        <p:sp>
          <p:nvSpPr>
            <p:cNvPr id="275" name="Google Shape;275;p13"/>
            <p:cNvSpPr txBox="1"/>
            <p:nvPr/>
          </p:nvSpPr>
          <p:spPr>
            <a:xfrm>
              <a:off x="729639" y="3778424"/>
              <a:ext cx="25026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Apificación de OfiWeb</a:t>
              </a:r>
              <a:endParaRPr b="0" i="0" sz="900" u="none" cap="none" strike="noStrike">
                <a:solidFill>
                  <a:srgbClr val="171717"/>
                </a:solidFill>
                <a:latin typeface="Arial"/>
                <a:ea typeface="Arial"/>
                <a:cs typeface="Arial"/>
                <a:sym typeface="Arial"/>
              </a:endParaRPr>
            </a:p>
          </p:txBody>
        </p:sp>
        <p:sp>
          <p:nvSpPr>
            <p:cNvPr id="276" name="Google Shape;276;p13"/>
            <p:cNvSpPr txBox="1"/>
            <p:nvPr/>
          </p:nvSpPr>
          <p:spPr>
            <a:xfrm>
              <a:off x="3291202" y="3480986"/>
              <a:ext cx="2502600" cy="2613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Dev Sec Ops</a:t>
              </a:r>
              <a:endParaRPr b="0" i="0" sz="900" u="none" cap="none" strike="noStrike">
                <a:solidFill>
                  <a:srgbClr val="171717"/>
                </a:solidFill>
                <a:latin typeface="Arial"/>
                <a:ea typeface="Arial"/>
                <a:cs typeface="Arial"/>
                <a:sym typeface="Arial"/>
              </a:endParaRPr>
            </a:p>
          </p:txBody>
        </p:sp>
        <p:sp>
          <p:nvSpPr>
            <p:cNvPr id="277" name="Google Shape;277;p13"/>
            <p:cNvSpPr txBox="1"/>
            <p:nvPr/>
          </p:nvSpPr>
          <p:spPr>
            <a:xfrm>
              <a:off x="3291202" y="3778424"/>
              <a:ext cx="25026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Apificació de Canales</a:t>
              </a:r>
              <a:endParaRPr b="0" i="0" sz="900" u="none" cap="none" strike="noStrike">
                <a:solidFill>
                  <a:srgbClr val="171717"/>
                </a:solidFill>
                <a:latin typeface="Arial"/>
                <a:ea typeface="Arial"/>
                <a:cs typeface="Arial"/>
                <a:sym typeface="Arial"/>
              </a:endParaRPr>
            </a:p>
          </p:txBody>
        </p:sp>
        <p:sp>
          <p:nvSpPr>
            <p:cNvPr id="278" name="Google Shape;278;p13"/>
            <p:cNvSpPr txBox="1"/>
            <p:nvPr/>
          </p:nvSpPr>
          <p:spPr>
            <a:xfrm>
              <a:off x="5852764" y="3480986"/>
              <a:ext cx="2502600" cy="2613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Interfaces Temporales</a:t>
              </a:r>
              <a:endParaRPr b="0" i="0" sz="900" u="none" cap="none" strike="noStrike">
                <a:solidFill>
                  <a:srgbClr val="171717"/>
                </a:solidFill>
                <a:latin typeface="Arial"/>
                <a:ea typeface="Arial"/>
                <a:cs typeface="Arial"/>
                <a:sym typeface="Arial"/>
              </a:endParaRPr>
            </a:p>
          </p:txBody>
        </p:sp>
        <p:sp>
          <p:nvSpPr>
            <p:cNvPr id="279" name="Google Shape;279;p13"/>
            <p:cNvSpPr/>
            <p:nvPr/>
          </p:nvSpPr>
          <p:spPr>
            <a:xfrm>
              <a:off x="4583858" y="890187"/>
              <a:ext cx="2551176" cy="232257"/>
            </a:xfrm>
            <a:custGeom>
              <a:rect b="b" l="l" r="r" t="t"/>
              <a:pathLst>
                <a:path extrusionOk="0" h="365759" w="3657600">
                  <a:moveTo>
                    <a:pt x="3561511" y="0"/>
                  </a:moveTo>
                  <a:lnTo>
                    <a:pt x="0" y="0"/>
                  </a:lnTo>
                  <a:lnTo>
                    <a:pt x="0" y="365760"/>
                  </a:lnTo>
                  <a:lnTo>
                    <a:pt x="3561511" y="365760"/>
                  </a:lnTo>
                  <a:lnTo>
                    <a:pt x="3657600" y="182880"/>
                  </a:lnTo>
                  <a:lnTo>
                    <a:pt x="3561511" y="0"/>
                  </a:lnTo>
                  <a:close/>
                </a:path>
              </a:pathLst>
            </a:custGeom>
            <a:solidFill>
              <a:srgbClr val="265AA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4. Entrega de Servicios y Operaciones</a:t>
              </a:r>
              <a:endParaRPr b="0" i="0" sz="600" u="none" cap="none" strike="noStrike">
                <a:solidFill>
                  <a:srgbClr val="FFFFFF"/>
                </a:solidFill>
                <a:latin typeface="Montserrat"/>
                <a:ea typeface="Montserrat"/>
                <a:cs typeface="Montserrat"/>
                <a:sym typeface="Montserrat"/>
              </a:endParaRPr>
            </a:p>
          </p:txBody>
        </p:sp>
        <p:sp>
          <p:nvSpPr>
            <p:cNvPr id="280" name="Google Shape;280;p13"/>
            <p:cNvSpPr/>
            <p:nvPr/>
          </p:nvSpPr>
          <p:spPr>
            <a:xfrm>
              <a:off x="7174344" y="890187"/>
              <a:ext cx="1239012" cy="23225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65AA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5. Apoyo al Negocio</a:t>
              </a:r>
              <a:endParaRPr b="0" i="0" sz="600" u="none" cap="none" strike="noStrike">
                <a:solidFill>
                  <a:srgbClr val="FFFFFF"/>
                </a:solidFill>
                <a:latin typeface="Montserrat"/>
                <a:ea typeface="Montserrat"/>
                <a:cs typeface="Montserrat"/>
                <a:sym typeface="Montserrat"/>
              </a:endParaRPr>
            </a:p>
          </p:txBody>
        </p:sp>
        <p:sp>
          <p:nvSpPr>
            <p:cNvPr id="281" name="Google Shape;281;p13"/>
            <p:cNvSpPr txBox="1"/>
            <p:nvPr/>
          </p:nvSpPr>
          <p:spPr>
            <a:xfrm>
              <a:off x="7174345"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Riesgo y Cumplimiento</a:t>
              </a:r>
              <a:endParaRPr b="0" i="0" sz="900" u="none" cap="none" strike="noStrike">
                <a:solidFill>
                  <a:srgbClr val="171717"/>
                </a:solidFill>
                <a:latin typeface="Arial"/>
                <a:ea typeface="Arial"/>
                <a:cs typeface="Arial"/>
                <a:sym typeface="Arial"/>
              </a:endParaRPr>
            </a:p>
          </p:txBody>
        </p:sp>
        <p:sp>
          <p:nvSpPr>
            <p:cNvPr id="282" name="Google Shape;282;p13"/>
            <p:cNvSpPr/>
            <p:nvPr/>
          </p:nvSpPr>
          <p:spPr>
            <a:xfrm>
              <a:off x="7174345" y="1443821"/>
              <a:ext cx="1175004" cy="261665"/>
            </a:xfrm>
            <a:custGeom>
              <a:rect b="b" l="l" r="r" t="t"/>
              <a:pathLst>
                <a:path extrusionOk="0" h="208914" w="1828800">
                  <a:moveTo>
                    <a:pt x="0" y="0"/>
                  </a:moveTo>
                  <a:lnTo>
                    <a:pt x="1828800" y="0"/>
                  </a:lnTo>
                  <a:lnTo>
                    <a:pt x="1828800" y="208724"/>
                  </a:lnTo>
                  <a:lnTo>
                    <a:pt x="0" y="208724"/>
                  </a:lnTo>
                  <a:lnTo>
                    <a:pt x="0" y="0"/>
                  </a:lnTo>
                  <a:close/>
                </a:path>
              </a:pathLst>
            </a:cu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las Finanzas</a:t>
              </a:r>
              <a:endParaRPr b="0" i="0" sz="900" u="none" cap="none" strike="noStrike">
                <a:solidFill>
                  <a:srgbClr val="171717"/>
                </a:solidFill>
                <a:latin typeface="Arial"/>
                <a:ea typeface="Arial"/>
                <a:cs typeface="Arial"/>
                <a:sym typeface="Arial"/>
              </a:endParaRPr>
            </a:p>
          </p:txBody>
        </p:sp>
        <p:sp>
          <p:nvSpPr>
            <p:cNvPr id="283" name="Google Shape;283;p13"/>
            <p:cNvSpPr txBox="1"/>
            <p:nvPr/>
          </p:nvSpPr>
          <p:spPr>
            <a:xfrm>
              <a:off x="7174345" y="1732738"/>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Tecnología de la Información</a:t>
              </a:r>
              <a:endParaRPr b="1" i="0" sz="600" u="none" cap="none" strike="noStrike">
                <a:solidFill>
                  <a:srgbClr val="171717"/>
                </a:solidFill>
                <a:latin typeface="Montserrat"/>
                <a:ea typeface="Montserrat"/>
                <a:cs typeface="Montserrat"/>
                <a:sym typeface="Montserrat"/>
              </a:endParaRPr>
            </a:p>
          </p:txBody>
        </p:sp>
        <p:sp>
          <p:nvSpPr>
            <p:cNvPr id="284" name="Google Shape;284;p13"/>
            <p:cNvSpPr txBox="1"/>
            <p:nvPr/>
          </p:nvSpPr>
          <p:spPr>
            <a:xfrm>
              <a:off x="7174345" y="202165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Seguridad de la Información</a:t>
              </a:r>
              <a:endParaRPr b="0" i="0" sz="900" u="none" cap="none" strike="noStrike">
                <a:solidFill>
                  <a:srgbClr val="171717"/>
                </a:solidFill>
                <a:latin typeface="Arial"/>
                <a:ea typeface="Arial"/>
                <a:cs typeface="Arial"/>
                <a:sym typeface="Arial"/>
              </a:endParaRPr>
            </a:p>
          </p:txBody>
        </p:sp>
        <p:sp>
          <p:nvSpPr>
            <p:cNvPr id="285" name="Google Shape;285;p13"/>
            <p:cNvSpPr txBox="1"/>
            <p:nvPr/>
          </p:nvSpPr>
          <p:spPr>
            <a:xfrm>
              <a:off x="7174345" y="2310570"/>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Recursos Humanos</a:t>
              </a:r>
              <a:endParaRPr b="0" i="0" sz="900" u="none" cap="none" strike="noStrike">
                <a:solidFill>
                  <a:srgbClr val="171717"/>
                </a:solidFill>
                <a:latin typeface="Arial"/>
                <a:ea typeface="Arial"/>
                <a:cs typeface="Arial"/>
                <a:sym typeface="Arial"/>
              </a:endParaRPr>
            </a:p>
          </p:txBody>
        </p:sp>
        <p:sp>
          <p:nvSpPr>
            <p:cNvPr id="286" name="Google Shape;286;p13"/>
            <p:cNvSpPr txBox="1"/>
            <p:nvPr/>
          </p:nvSpPr>
          <p:spPr>
            <a:xfrm>
              <a:off x="7174345" y="2599487"/>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Adquisiciones</a:t>
              </a:r>
              <a:endParaRPr b="0" i="0" sz="900" u="none" cap="none" strike="noStrike">
                <a:solidFill>
                  <a:srgbClr val="171717"/>
                </a:solidFill>
                <a:latin typeface="Arial"/>
                <a:ea typeface="Arial"/>
                <a:cs typeface="Arial"/>
                <a:sym typeface="Arial"/>
              </a:endParaRPr>
            </a:p>
          </p:txBody>
        </p:sp>
        <p:sp>
          <p:nvSpPr>
            <p:cNvPr id="287" name="Google Shape;287;p13"/>
            <p:cNvSpPr txBox="1"/>
            <p:nvPr/>
          </p:nvSpPr>
          <p:spPr>
            <a:xfrm>
              <a:off x="7174345" y="2888403"/>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Instalaciones, equipos y edificios</a:t>
              </a:r>
              <a:endParaRPr b="0" i="0" sz="900" u="none" cap="none" strike="noStrike">
                <a:solidFill>
                  <a:srgbClr val="171717"/>
                </a:solidFill>
                <a:latin typeface="Arial"/>
                <a:ea typeface="Arial"/>
                <a:cs typeface="Arial"/>
                <a:sym typeface="Arial"/>
              </a:endParaRPr>
            </a:p>
          </p:txBody>
        </p:sp>
        <p:sp>
          <p:nvSpPr>
            <p:cNvPr id="288" name="Google Shape;288;p13"/>
            <p:cNvSpPr/>
            <p:nvPr/>
          </p:nvSpPr>
          <p:spPr>
            <a:xfrm>
              <a:off x="741870" y="890187"/>
              <a:ext cx="1239012" cy="23225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65AA7"/>
            </a:solidFill>
            <a:ln>
              <a:noFill/>
            </a:ln>
          </p:spPr>
          <p:txBody>
            <a:bodyPr anchorCtr="0" anchor="ctr" bIns="17675" lIns="17675" spcFirstLastPara="1" rIns="17675" wrap="square" tIns="17675">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1. Marketing y Gestión del Producto</a:t>
              </a:r>
              <a:endParaRPr b="0" i="0" sz="600" u="none" cap="none" strike="noStrike">
                <a:solidFill>
                  <a:srgbClr val="FFFFFF"/>
                </a:solidFill>
                <a:latin typeface="Montserrat"/>
                <a:ea typeface="Montserrat"/>
                <a:cs typeface="Montserrat"/>
                <a:sym typeface="Montserrat"/>
              </a:endParaRPr>
            </a:p>
          </p:txBody>
        </p:sp>
        <p:sp>
          <p:nvSpPr>
            <p:cNvPr id="289" name="Google Shape;289;p13"/>
            <p:cNvSpPr txBox="1"/>
            <p:nvPr/>
          </p:nvSpPr>
          <p:spPr>
            <a:xfrm>
              <a:off x="741871" y="1443821"/>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del Producto</a:t>
              </a:r>
              <a:endParaRPr b="0" i="0" sz="900" u="none" cap="none" strike="noStrike">
                <a:solidFill>
                  <a:srgbClr val="171717"/>
                </a:solidFill>
                <a:latin typeface="Arial"/>
                <a:ea typeface="Arial"/>
                <a:cs typeface="Arial"/>
                <a:sym typeface="Arial"/>
              </a:endParaRPr>
            </a:p>
          </p:txBody>
        </p:sp>
        <p:sp>
          <p:nvSpPr>
            <p:cNvPr id="290" name="Google Shape;290;p13"/>
            <p:cNvSpPr/>
            <p:nvPr/>
          </p:nvSpPr>
          <p:spPr>
            <a:xfrm>
              <a:off x="741871" y="1732738"/>
              <a:ext cx="1175004" cy="261665"/>
            </a:xfrm>
            <a:custGeom>
              <a:rect b="b" l="l" r="r" t="t"/>
              <a:pathLst>
                <a:path extrusionOk="0" h="208914" w="1828800">
                  <a:moveTo>
                    <a:pt x="0" y="0"/>
                  </a:moveTo>
                  <a:lnTo>
                    <a:pt x="1828800" y="0"/>
                  </a:lnTo>
                  <a:lnTo>
                    <a:pt x="1828800" y="208724"/>
                  </a:lnTo>
                  <a:lnTo>
                    <a:pt x="0" y="208724"/>
                  </a:lnTo>
                  <a:lnTo>
                    <a:pt x="0" y="0"/>
                  </a:lnTo>
                  <a:close/>
                </a:path>
              </a:pathLst>
            </a:cu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Administración de Tarifas</a:t>
              </a:r>
              <a:endParaRPr b="0" i="0" sz="900" u="none" cap="none" strike="noStrike">
                <a:solidFill>
                  <a:srgbClr val="171717"/>
                </a:solidFill>
                <a:latin typeface="Arial"/>
                <a:ea typeface="Arial"/>
                <a:cs typeface="Arial"/>
                <a:sym typeface="Arial"/>
              </a:endParaRPr>
            </a:p>
          </p:txBody>
        </p:sp>
        <p:sp>
          <p:nvSpPr>
            <p:cNvPr id="291" name="Google Shape;291;p13"/>
            <p:cNvSpPr txBox="1"/>
            <p:nvPr/>
          </p:nvSpPr>
          <p:spPr>
            <a:xfrm>
              <a:off x="741871"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Marketing	</a:t>
              </a:r>
              <a:endParaRPr b="0" i="0" sz="900" u="none" cap="none" strike="noStrike">
                <a:solidFill>
                  <a:srgbClr val="171717"/>
                </a:solidFill>
                <a:latin typeface="Arial"/>
                <a:ea typeface="Arial"/>
                <a:cs typeface="Arial"/>
                <a:sym typeface="Arial"/>
              </a:endParaRPr>
            </a:p>
          </p:txBody>
        </p:sp>
        <p:sp>
          <p:nvSpPr>
            <p:cNvPr id="292" name="Google Shape;292;p13"/>
            <p:cNvSpPr/>
            <p:nvPr/>
          </p:nvSpPr>
          <p:spPr>
            <a:xfrm>
              <a:off x="2022534" y="890187"/>
              <a:ext cx="1239012" cy="23225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65AA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2. Interacción con el Cliente</a:t>
              </a:r>
              <a:endParaRPr b="0" i="0" sz="600" u="none" cap="none" strike="noStrike">
                <a:solidFill>
                  <a:srgbClr val="FFFFFF"/>
                </a:solidFill>
                <a:latin typeface="Montserrat"/>
                <a:ea typeface="Montserrat"/>
                <a:cs typeface="Montserrat"/>
                <a:sym typeface="Montserrat"/>
              </a:endParaRPr>
            </a:p>
          </p:txBody>
        </p:sp>
        <p:sp>
          <p:nvSpPr>
            <p:cNvPr id="293" name="Google Shape;293;p13"/>
            <p:cNvSpPr txBox="1"/>
            <p:nvPr/>
          </p:nvSpPr>
          <p:spPr>
            <a:xfrm>
              <a:off x="2022535" y="1443821"/>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Canales Asistidos</a:t>
              </a:r>
              <a:endParaRPr b="0" i="0" sz="900" u="none" cap="none" strike="noStrike">
                <a:solidFill>
                  <a:srgbClr val="171717"/>
                </a:solidFill>
                <a:latin typeface="Arial"/>
                <a:ea typeface="Arial"/>
                <a:cs typeface="Arial"/>
                <a:sym typeface="Arial"/>
              </a:endParaRPr>
            </a:p>
          </p:txBody>
        </p:sp>
        <p:sp>
          <p:nvSpPr>
            <p:cNvPr id="294" name="Google Shape;294;p13"/>
            <p:cNvSpPr txBox="1"/>
            <p:nvPr/>
          </p:nvSpPr>
          <p:spPr>
            <a:xfrm>
              <a:off x="2022535"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Canales</a:t>
              </a:r>
              <a:endParaRPr b="0" i="0" sz="900" u="none" cap="none" strike="noStrike">
                <a:solidFill>
                  <a:srgbClr val="171717"/>
                </a:solidFill>
                <a:latin typeface="Arial"/>
                <a:ea typeface="Arial"/>
                <a:cs typeface="Arial"/>
                <a:sym typeface="Arial"/>
              </a:endParaRPr>
            </a:p>
          </p:txBody>
        </p:sp>
        <p:sp>
          <p:nvSpPr>
            <p:cNvPr id="295" name="Google Shape;295;p13"/>
            <p:cNvSpPr/>
            <p:nvPr/>
          </p:nvSpPr>
          <p:spPr>
            <a:xfrm>
              <a:off x="3303196" y="890187"/>
              <a:ext cx="1239012" cy="23225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65AA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3. Ventas y Distribución</a:t>
              </a:r>
              <a:endParaRPr b="0" i="0" sz="600" u="none" cap="none" strike="noStrike">
                <a:solidFill>
                  <a:srgbClr val="FFFFFF"/>
                </a:solidFill>
                <a:latin typeface="Montserrat"/>
                <a:ea typeface="Montserrat"/>
                <a:cs typeface="Montserrat"/>
                <a:sym typeface="Montserrat"/>
              </a:endParaRPr>
            </a:p>
          </p:txBody>
        </p:sp>
        <p:sp>
          <p:nvSpPr>
            <p:cNvPr id="296" name="Google Shape;296;p13"/>
            <p:cNvSpPr txBox="1"/>
            <p:nvPr/>
          </p:nvSpPr>
          <p:spPr>
            <a:xfrm>
              <a:off x="3303196" y="1443821"/>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Oportunidades</a:t>
              </a:r>
              <a:endParaRPr b="0" i="0" sz="900" u="none" cap="none" strike="noStrike">
                <a:solidFill>
                  <a:srgbClr val="171717"/>
                </a:solidFill>
                <a:latin typeface="Arial"/>
                <a:ea typeface="Arial"/>
                <a:cs typeface="Arial"/>
                <a:sym typeface="Arial"/>
              </a:endParaRPr>
            </a:p>
          </p:txBody>
        </p:sp>
        <p:sp>
          <p:nvSpPr>
            <p:cNvPr id="297" name="Google Shape;297;p13"/>
            <p:cNvSpPr txBox="1"/>
            <p:nvPr/>
          </p:nvSpPr>
          <p:spPr>
            <a:xfrm>
              <a:off x="3303196" y="1732738"/>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Originación de Cuentas</a:t>
              </a:r>
              <a:endParaRPr b="0" i="0" sz="900" u="none" cap="none" strike="noStrike">
                <a:solidFill>
                  <a:srgbClr val="171717"/>
                </a:solidFill>
                <a:latin typeface="Arial"/>
                <a:ea typeface="Arial"/>
                <a:cs typeface="Arial"/>
                <a:sym typeface="Arial"/>
              </a:endParaRPr>
            </a:p>
          </p:txBody>
        </p:sp>
        <p:sp>
          <p:nvSpPr>
            <p:cNvPr id="298" name="Google Shape;298;p13"/>
            <p:cNvSpPr/>
            <p:nvPr/>
          </p:nvSpPr>
          <p:spPr>
            <a:xfrm>
              <a:off x="3303196" y="2021654"/>
              <a:ext cx="1175004" cy="261665"/>
            </a:xfrm>
            <a:custGeom>
              <a:rect b="b" l="l" r="r" t="t"/>
              <a:pathLst>
                <a:path extrusionOk="0" h="208914" w="1828800">
                  <a:moveTo>
                    <a:pt x="0" y="0"/>
                  </a:moveTo>
                  <a:lnTo>
                    <a:pt x="1828800" y="0"/>
                  </a:lnTo>
                  <a:lnTo>
                    <a:pt x="1828800" y="208724"/>
                  </a:lnTo>
                  <a:lnTo>
                    <a:pt x="0" y="208724"/>
                  </a:lnTo>
                  <a:lnTo>
                    <a:pt x="0" y="0"/>
                  </a:lnTo>
                  <a:close/>
                </a:path>
              </a:pathLst>
            </a:cu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Incorporación de Clientes</a:t>
              </a:r>
              <a:endParaRPr b="1" i="0" sz="600" u="none" cap="none" strike="noStrike">
                <a:solidFill>
                  <a:srgbClr val="171717"/>
                </a:solidFill>
                <a:latin typeface="Montserrat"/>
                <a:ea typeface="Montserrat"/>
                <a:cs typeface="Montserrat"/>
                <a:sym typeface="Montserrat"/>
              </a:endParaRPr>
            </a:p>
          </p:txBody>
        </p:sp>
        <p:sp>
          <p:nvSpPr>
            <p:cNvPr id="299" name="Google Shape;299;p13"/>
            <p:cNvSpPr txBox="1"/>
            <p:nvPr/>
          </p:nvSpPr>
          <p:spPr>
            <a:xfrm>
              <a:off x="3303196"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del Cliente</a:t>
              </a:r>
              <a:endParaRPr b="0" i="0" sz="900" u="none" cap="none" strike="noStrike">
                <a:solidFill>
                  <a:srgbClr val="171717"/>
                </a:solidFill>
                <a:latin typeface="Arial"/>
                <a:ea typeface="Arial"/>
                <a:cs typeface="Arial"/>
                <a:sym typeface="Arial"/>
              </a:endParaRPr>
            </a:p>
          </p:txBody>
        </p:sp>
        <p:sp>
          <p:nvSpPr>
            <p:cNvPr id="300" name="Google Shape;300;p13"/>
            <p:cNvSpPr txBox="1"/>
            <p:nvPr/>
          </p:nvSpPr>
          <p:spPr>
            <a:xfrm>
              <a:off x="4583858" y="2310570"/>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Intereses y Comisiones</a:t>
              </a:r>
              <a:endParaRPr b="0" i="0" sz="900" u="none" cap="none" strike="noStrike">
                <a:solidFill>
                  <a:srgbClr val="171717"/>
                </a:solidFill>
                <a:latin typeface="Arial"/>
                <a:ea typeface="Arial"/>
                <a:cs typeface="Arial"/>
                <a:sym typeface="Arial"/>
              </a:endParaRPr>
            </a:p>
          </p:txBody>
        </p:sp>
        <p:sp>
          <p:nvSpPr>
            <p:cNvPr id="301" name="Google Shape;301;p13"/>
            <p:cNvSpPr/>
            <p:nvPr/>
          </p:nvSpPr>
          <p:spPr>
            <a:xfrm>
              <a:off x="4583858" y="1443821"/>
              <a:ext cx="1175004" cy="261665"/>
            </a:xfrm>
            <a:custGeom>
              <a:rect b="b" l="l" r="r" t="t"/>
              <a:pathLst>
                <a:path extrusionOk="0" h="208914" w="1828800">
                  <a:moveTo>
                    <a:pt x="0" y="0"/>
                  </a:moveTo>
                  <a:lnTo>
                    <a:pt x="1828800" y="0"/>
                  </a:lnTo>
                  <a:lnTo>
                    <a:pt x="1828800" y="208724"/>
                  </a:lnTo>
                  <a:lnTo>
                    <a:pt x="0" y="208724"/>
                  </a:lnTo>
                  <a:lnTo>
                    <a:pt x="0" y="0"/>
                  </a:lnTo>
                  <a:close/>
                </a:path>
              </a:pathLst>
            </a:cu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Procesamiento de Transacciones</a:t>
              </a:r>
              <a:endParaRPr b="0" i="0" sz="900" u="none" cap="none" strike="noStrike">
                <a:solidFill>
                  <a:srgbClr val="171717"/>
                </a:solidFill>
                <a:latin typeface="Arial"/>
                <a:ea typeface="Arial"/>
                <a:cs typeface="Arial"/>
                <a:sym typeface="Arial"/>
              </a:endParaRPr>
            </a:p>
          </p:txBody>
        </p:sp>
        <p:sp>
          <p:nvSpPr>
            <p:cNvPr id="302" name="Google Shape;302;p13"/>
            <p:cNvSpPr txBox="1"/>
            <p:nvPr/>
          </p:nvSpPr>
          <p:spPr>
            <a:xfrm>
              <a:off x="4583858" y="1732738"/>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Procesamiento de Cheques/Efectivo</a:t>
              </a:r>
              <a:endParaRPr b="0" i="0" sz="900" u="none" cap="none" strike="noStrike">
                <a:solidFill>
                  <a:srgbClr val="171717"/>
                </a:solidFill>
                <a:latin typeface="Arial"/>
                <a:ea typeface="Arial"/>
                <a:cs typeface="Arial"/>
                <a:sym typeface="Arial"/>
              </a:endParaRPr>
            </a:p>
          </p:txBody>
        </p:sp>
        <p:sp>
          <p:nvSpPr>
            <p:cNvPr id="303" name="Google Shape;303;p13"/>
            <p:cNvSpPr txBox="1"/>
            <p:nvPr/>
          </p:nvSpPr>
          <p:spPr>
            <a:xfrm>
              <a:off x="4583858" y="202165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Servicio y Mantenimiento de Cuentas</a:t>
              </a:r>
              <a:endParaRPr b="0" i="0" sz="900" u="none" cap="none" strike="noStrike">
                <a:solidFill>
                  <a:srgbClr val="171717"/>
                </a:solidFill>
                <a:latin typeface="Arial"/>
                <a:ea typeface="Arial"/>
                <a:cs typeface="Arial"/>
                <a:sym typeface="Arial"/>
              </a:endParaRPr>
            </a:p>
          </p:txBody>
        </p:sp>
        <p:sp>
          <p:nvSpPr>
            <p:cNvPr id="304" name="Google Shape;304;p13"/>
            <p:cNvSpPr txBox="1"/>
            <p:nvPr/>
          </p:nvSpPr>
          <p:spPr>
            <a:xfrm>
              <a:off x="4583858"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Consultas del Cliente</a:t>
              </a:r>
              <a:endParaRPr b="0" i="0" sz="900" u="none" cap="none" strike="noStrike">
                <a:solidFill>
                  <a:srgbClr val="171717"/>
                </a:solidFill>
                <a:latin typeface="Arial"/>
                <a:ea typeface="Arial"/>
                <a:cs typeface="Arial"/>
                <a:sym typeface="Arial"/>
              </a:endParaRPr>
            </a:p>
          </p:txBody>
        </p:sp>
        <p:sp>
          <p:nvSpPr>
            <p:cNvPr id="305" name="Google Shape;305;p13"/>
            <p:cNvSpPr/>
            <p:nvPr/>
          </p:nvSpPr>
          <p:spPr>
            <a:xfrm>
              <a:off x="5883055" y="1443821"/>
              <a:ext cx="1175004" cy="261665"/>
            </a:xfrm>
            <a:custGeom>
              <a:rect b="b" l="l" r="r" t="t"/>
              <a:pathLst>
                <a:path extrusionOk="0" h="208914" w="1828800">
                  <a:moveTo>
                    <a:pt x="0" y="0"/>
                  </a:moveTo>
                  <a:lnTo>
                    <a:pt x="1828800" y="0"/>
                  </a:lnTo>
                  <a:lnTo>
                    <a:pt x="1828800" y="208724"/>
                  </a:lnTo>
                  <a:lnTo>
                    <a:pt x="0" y="208724"/>
                  </a:lnTo>
                  <a:lnTo>
                    <a:pt x="0" y="0"/>
                  </a:lnTo>
                  <a:close/>
                </a:path>
              </a:pathLst>
            </a:cu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Alertas y Notificaciones</a:t>
              </a:r>
              <a:endParaRPr b="0" i="0" sz="900" u="none" cap="none" strike="noStrike">
                <a:solidFill>
                  <a:srgbClr val="171717"/>
                </a:solidFill>
                <a:latin typeface="Arial"/>
                <a:ea typeface="Arial"/>
                <a:cs typeface="Arial"/>
                <a:sym typeface="Arial"/>
              </a:endParaRPr>
            </a:p>
          </p:txBody>
        </p:sp>
        <p:sp>
          <p:nvSpPr>
            <p:cNvPr id="306" name="Google Shape;306;p13"/>
            <p:cNvSpPr txBox="1"/>
            <p:nvPr/>
          </p:nvSpPr>
          <p:spPr>
            <a:xfrm>
              <a:off x="5883055" y="1732738"/>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Cobros y Reclamos</a:t>
              </a:r>
              <a:endParaRPr b="0" i="0" sz="900" u="none" cap="none" strike="noStrike">
                <a:solidFill>
                  <a:srgbClr val="171717"/>
                </a:solidFill>
                <a:latin typeface="Arial"/>
                <a:ea typeface="Arial"/>
                <a:cs typeface="Arial"/>
                <a:sym typeface="Arial"/>
              </a:endParaRPr>
            </a:p>
          </p:txBody>
        </p:sp>
        <p:sp>
          <p:nvSpPr>
            <p:cNvPr id="307" name="Google Shape;307;p13"/>
            <p:cNvSpPr txBox="1"/>
            <p:nvPr/>
          </p:nvSpPr>
          <p:spPr>
            <a:xfrm>
              <a:off x="5883055" y="202165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Tarjetas</a:t>
              </a:r>
              <a:endParaRPr b="0" i="0" sz="900" u="none" cap="none" strike="noStrike">
                <a:solidFill>
                  <a:srgbClr val="171717"/>
                </a:solidFill>
                <a:latin typeface="Arial"/>
                <a:ea typeface="Arial"/>
                <a:cs typeface="Arial"/>
                <a:sym typeface="Arial"/>
              </a:endParaRPr>
            </a:p>
          </p:txBody>
        </p:sp>
        <p:sp>
          <p:nvSpPr>
            <p:cNvPr id="308" name="Google Shape;308;p13"/>
            <p:cNvSpPr txBox="1"/>
            <p:nvPr/>
          </p:nvSpPr>
          <p:spPr>
            <a:xfrm>
              <a:off x="5883055" y="2310570"/>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Operaciones entre Productos</a:t>
              </a:r>
              <a:endParaRPr b="0" i="0" sz="900" u="none" cap="none" strike="noStrike">
                <a:solidFill>
                  <a:srgbClr val="171717"/>
                </a:solidFill>
                <a:latin typeface="Arial"/>
                <a:ea typeface="Arial"/>
                <a:cs typeface="Arial"/>
                <a:sym typeface="Arial"/>
              </a:endParaRPr>
            </a:p>
          </p:txBody>
        </p:sp>
        <p:sp>
          <p:nvSpPr>
            <p:cNvPr id="309" name="Google Shape;309;p13"/>
            <p:cNvSpPr txBox="1"/>
            <p:nvPr/>
          </p:nvSpPr>
          <p:spPr>
            <a:xfrm>
              <a:off x="5883055" y="1154904"/>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Gestión de Households</a:t>
              </a:r>
              <a:endParaRPr b="1" i="0" sz="600" u="none" cap="none" strike="noStrike">
                <a:solidFill>
                  <a:srgbClr val="171717"/>
                </a:solidFill>
                <a:latin typeface="Montserrat"/>
                <a:ea typeface="Montserrat"/>
                <a:cs typeface="Montserrat"/>
                <a:sym typeface="Montserrat"/>
              </a:endParaRPr>
            </a:p>
          </p:txBody>
        </p:sp>
        <p:sp>
          <p:nvSpPr>
            <p:cNvPr id="310" name="Google Shape;310;p13"/>
            <p:cNvSpPr txBox="1"/>
            <p:nvPr/>
          </p:nvSpPr>
          <p:spPr>
            <a:xfrm>
              <a:off x="2022534" y="1732737"/>
              <a:ext cx="1176300" cy="261900"/>
            </a:xfrm>
            <a:prstGeom prst="rect">
              <a:avLst/>
            </a:prstGeom>
            <a:solidFill>
              <a:schemeClr val="dk1"/>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Experiencia del Cliente</a:t>
              </a:r>
              <a:endParaRPr b="0" i="0" sz="900" u="none" cap="none" strike="noStrike">
                <a:solidFill>
                  <a:srgbClr val="171717"/>
                </a:solidFill>
                <a:latin typeface="Arial"/>
                <a:ea typeface="Arial"/>
                <a:cs typeface="Arial"/>
                <a:sym typeface="Arial"/>
              </a:endParaRPr>
            </a:p>
          </p:txBody>
        </p:sp>
        <p:grpSp>
          <p:nvGrpSpPr>
            <p:cNvPr id="311" name="Google Shape;311;p13"/>
            <p:cNvGrpSpPr/>
            <p:nvPr/>
          </p:nvGrpSpPr>
          <p:grpSpPr>
            <a:xfrm>
              <a:off x="729585" y="3199880"/>
              <a:ext cx="7684812" cy="231889"/>
              <a:chOff x="1164027" y="5099873"/>
              <a:chExt cx="11497325" cy="389533"/>
            </a:xfrm>
          </p:grpSpPr>
          <p:sp>
            <p:nvSpPr>
              <p:cNvPr id="312" name="Google Shape;312;p13"/>
              <p:cNvSpPr/>
              <p:nvPr/>
            </p:nvSpPr>
            <p:spPr>
              <a:xfrm>
                <a:off x="1164027" y="5112765"/>
                <a:ext cx="9501000" cy="363600"/>
              </a:xfrm>
              <a:prstGeom prst="rect">
                <a:avLst/>
              </a:prstGeom>
              <a:solidFill>
                <a:srgbClr val="265AA7"/>
              </a:solidFill>
              <a:ln cap="flat" cmpd="sng" w="254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6. Capacidades Básicas</a:t>
                </a:r>
                <a:endParaRPr b="0" i="0" sz="900" u="none" cap="none" strike="noStrike">
                  <a:solidFill>
                    <a:srgbClr val="000000"/>
                  </a:solidFill>
                  <a:latin typeface="Arial"/>
                  <a:ea typeface="Arial"/>
                  <a:cs typeface="Arial"/>
                  <a:sym typeface="Arial"/>
                </a:endParaRPr>
              </a:p>
            </p:txBody>
          </p:sp>
          <p:sp>
            <p:nvSpPr>
              <p:cNvPr id="313" name="Google Shape;313;p13"/>
              <p:cNvSpPr/>
              <p:nvPr/>
            </p:nvSpPr>
            <p:spPr>
              <a:xfrm>
                <a:off x="8857448" y="5099873"/>
                <a:ext cx="3803904" cy="389533"/>
              </a:xfrm>
              <a:custGeom>
                <a:rect b="b" l="l" r="r" t="t"/>
                <a:pathLst>
                  <a:path extrusionOk="0" h="365759" w="3657600">
                    <a:moveTo>
                      <a:pt x="3561511" y="0"/>
                    </a:moveTo>
                    <a:lnTo>
                      <a:pt x="0" y="0"/>
                    </a:lnTo>
                    <a:lnTo>
                      <a:pt x="0" y="365760"/>
                    </a:lnTo>
                    <a:lnTo>
                      <a:pt x="3561511" y="365760"/>
                    </a:lnTo>
                    <a:lnTo>
                      <a:pt x="3657600" y="182880"/>
                    </a:lnTo>
                    <a:lnTo>
                      <a:pt x="3561511" y="0"/>
                    </a:lnTo>
                    <a:close/>
                  </a:path>
                </a:pathLst>
              </a:custGeom>
              <a:solidFill>
                <a:srgbClr val="265AA7"/>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FFFFFF"/>
                  </a:solidFill>
                  <a:latin typeface="Montserrat"/>
                  <a:ea typeface="Montserrat"/>
                  <a:cs typeface="Montserrat"/>
                  <a:sym typeface="Montserrat"/>
                </a:endParaRPr>
              </a:p>
            </p:txBody>
          </p:sp>
        </p:grpSp>
      </p:grpSp>
      <p:sp>
        <p:nvSpPr>
          <p:cNvPr id="314" name="Google Shape;314;p13"/>
          <p:cNvSpPr txBox="1"/>
          <p:nvPr/>
        </p:nvSpPr>
        <p:spPr>
          <a:xfrm>
            <a:off x="464475" y="4059744"/>
            <a:ext cx="8217900" cy="338700"/>
          </a:xfrm>
          <a:prstGeom prst="rect">
            <a:avLst/>
          </a:prstGeom>
          <a:solidFill>
            <a:schemeClr val="accent5"/>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chemeClr val="dk2"/>
                </a:solidFill>
                <a:latin typeface="Montserrat"/>
                <a:ea typeface="Montserrat"/>
                <a:cs typeface="Montserrat"/>
                <a:sym typeface="Montserrat"/>
              </a:rPr>
              <a:t>En general, las operaciones de negocio en un proyecto de transformación propocionan una guía clara y canales de comunicación en común entre los equipos de Negocio y Sistemas </a:t>
            </a:r>
            <a:endParaRPr b="0" i="0" sz="8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4"/>
          <p:cNvSpPr/>
          <p:nvPr/>
        </p:nvSpPr>
        <p:spPr>
          <a:xfrm>
            <a:off x="211832" y="3821994"/>
            <a:ext cx="8680509" cy="247802"/>
          </a:xfrm>
          <a:custGeom>
            <a:rect b="b" l="l" r="r" t="t"/>
            <a:pathLst>
              <a:path extrusionOk="0" h="365760" w="5486400">
                <a:moveTo>
                  <a:pt x="5390311" y="0"/>
                </a:moveTo>
                <a:lnTo>
                  <a:pt x="0" y="0"/>
                </a:lnTo>
                <a:lnTo>
                  <a:pt x="0" y="365759"/>
                </a:lnTo>
                <a:lnTo>
                  <a:pt x="5390311" y="365759"/>
                </a:lnTo>
                <a:lnTo>
                  <a:pt x="5486400" y="182879"/>
                </a:lnTo>
                <a:lnTo>
                  <a:pt x="5390311" y="0"/>
                </a:lnTo>
                <a:close/>
              </a:path>
            </a:pathLst>
          </a:custGeom>
          <a:solidFill>
            <a:srgbClr val="002060"/>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6. Capacidades Básicas</a:t>
            </a:r>
            <a:endParaRPr b="0" i="0" sz="900" u="none" cap="none" strike="noStrike">
              <a:solidFill>
                <a:srgbClr val="000000"/>
              </a:solidFill>
              <a:latin typeface="Arial"/>
              <a:ea typeface="Arial"/>
              <a:cs typeface="Arial"/>
              <a:sym typeface="Arial"/>
            </a:endParaRPr>
          </a:p>
        </p:txBody>
      </p:sp>
      <p:sp>
        <p:nvSpPr>
          <p:cNvPr id="320" name="Google Shape;320;p14"/>
          <p:cNvSpPr/>
          <p:nvPr/>
        </p:nvSpPr>
        <p:spPr>
          <a:xfrm>
            <a:off x="4618753" y="535344"/>
            <a:ext cx="2889504" cy="246887"/>
          </a:xfrm>
          <a:custGeom>
            <a:rect b="b" l="l" r="r" t="t"/>
            <a:pathLst>
              <a:path extrusionOk="0" h="365759" w="3657600">
                <a:moveTo>
                  <a:pt x="3561511" y="0"/>
                </a:moveTo>
                <a:lnTo>
                  <a:pt x="0" y="0"/>
                </a:lnTo>
                <a:lnTo>
                  <a:pt x="0" y="365760"/>
                </a:lnTo>
                <a:lnTo>
                  <a:pt x="3561511" y="365760"/>
                </a:lnTo>
                <a:lnTo>
                  <a:pt x="3657600" y="182880"/>
                </a:lnTo>
                <a:lnTo>
                  <a:pt x="3561511" y="0"/>
                </a:lnTo>
                <a:close/>
              </a:path>
            </a:pathLst>
          </a:custGeom>
          <a:solidFill>
            <a:srgbClr val="002060"/>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4. Entrega de Servicios y Operaciones</a:t>
            </a:r>
            <a:endParaRPr b="0" i="0" sz="600" u="none" cap="none" strike="noStrike">
              <a:solidFill>
                <a:srgbClr val="FFFFFF"/>
              </a:solidFill>
              <a:latin typeface="Montserrat"/>
              <a:ea typeface="Montserrat"/>
              <a:cs typeface="Montserrat"/>
              <a:sym typeface="Montserrat"/>
            </a:endParaRPr>
          </a:p>
        </p:txBody>
      </p:sp>
      <p:sp>
        <p:nvSpPr>
          <p:cNvPr id="321" name="Google Shape;321;p14"/>
          <p:cNvSpPr/>
          <p:nvPr/>
        </p:nvSpPr>
        <p:spPr>
          <a:xfrm>
            <a:off x="7548313" y="535344"/>
            <a:ext cx="1403604" cy="24688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002060"/>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5. Apoyo al Negocio</a:t>
            </a:r>
            <a:endParaRPr b="0" i="0" sz="600" u="none" cap="none" strike="noStrike">
              <a:solidFill>
                <a:srgbClr val="FFFFFF"/>
              </a:solidFill>
              <a:latin typeface="Montserrat"/>
              <a:ea typeface="Montserrat"/>
              <a:cs typeface="Montserrat"/>
              <a:sym typeface="Montserrat"/>
            </a:endParaRPr>
          </a:p>
        </p:txBody>
      </p:sp>
      <p:sp>
        <p:nvSpPr>
          <p:cNvPr id="322" name="Google Shape;322;p14"/>
          <p:cNvSpPr/>
          <p:nvPr/>
        </p:nvSpPr>
        <p:spPr>
          <a:xfrm>
            <a:off x="7548313" y="1425852"/>
            <a:ext cx="1330452" cy="18018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 las Finanzas</a:t>
            </a:r>
            <a:endParaRPr b="1" i="0" sz="600" u="none" cap="none" strike="noStrike">
              <a:solidFill>
                <a:srgbClr val="2C2C2C"/>
              </a:solidFill>
              <a:latin typeface="Montserrat"/>
              <a:ea typeface="Montserrat"/>
              <a:cs typeface="Montserrat"/>
              <a:sym typeface="Montserrat"/>
            </a:endParaRPr>
          </a:p>
        </p:txBody>
      </p:sp>
      <p:sp>
        <p:nvSpPr>
          <p:cNvPr id="323" name="Google Shape;323;p14"/>
          <p:cNvSpPr txBox="1"/>
          <p:nvPr/>
        </p:nvSpPr>
        <p:spPr>
          <a:xfrm>
            <a:off x="7548313" y="816891"/>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 Riesgo y Cumplimiento</a:t>
            </a:r>
            <a:endParaRPr b="1" i="0" sz="600" u="none" cap="none" strike="noStrike">
              <a:solidFill>
                <a:srgbClr val="2C2C2C"/>
              </a:solidFill>
              <a:latin typeface="Montserrat"/>
              <a:ea typeface="Montserrat"/>
              <a:cs typeface="Montserrat"/>
              <a:sym typeface="Montserrat"/>
            </a:endParaRPr>
          </a:p>
        </p:txBody>
      </p:sp>
      <p:sp>
        <p:nvSpPr>
          <p:cNvPr id="324" name="Google Shape;324;p14"/>
          <p:cNvSpPr txBox="1"/>
          <p:nvPr/>
        </p:nvSpPr>
        <p:spPr>
          <a:xfrm>
            <a:off x="7548313" y="2005796"/>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Tecnología de la Información</a:t>
            </a:r>
            <a:endParaRPr b="1" i="0" sz="600" u="none" cap="none" strike="noStrike">
              <a:solidFill>
                <a:srgbClr val="2C2C2C"/>
              </a:solidFill>
              <a:latin typeface="Montserrat"/>
              <a:ea typeface="Montserrat"/>
              <a:cs typeface="Montserrat"/>
              <a:sym typeface="Montserrat"/>
            </a:endParaRPr>
          </a:p>
        </p:txBody>
      </p:sp>
      <p:sp>
        <p:nvSpPr>
          <p:cNvPr id="325" name="Google Shape;325;p14"/>
          <p:cNvSpPr/>
          <p:nvPr/>
        </p:nvSpPr>
        <p:spPr>
          <a:xfrm>
            <a:off x="1722173" y="535344"/>
            <a:ext cx="1403604" cy="24688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002060"/>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2. Interacción con el Cliente</a:t>
            </a:r>
            <a:endParaRPr b="0" i="0" sz="600" u="none" cap="none" strike="noStrike">
              <a:solidFill>
                <a:srgbClr val="FFFFFF"/>
              </a:solidFill>
              <a:latin typeface="Montserrat"/>
              <a:ea typeface="Montserrat"/>
              <a:cs typeface="Montserrat"/>
              <a:sym typeface="Montserrat"/>
            </a:endParaRPr>
          </a:p>
        </p:txBody>
      </p:sp>
      <p:sp>
        <p:nvSpPr>
          <p:cNvPr id="326" name="Google Shape;326;p14"/>
          <p:cNvSpPr txBox="1"/>
          <p:nvPr/>
        </p:nvSpPr>
        <p:spPr>
          <a:xfrm>
            <a:off x="1722173" y="1425852"/>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Canales</a:t>
            </a:r>
            <a:endParaRPr b="1" i="0" sz="600" u="none" cap="none" strike="noStrike">
              <a:solidFill>
                <a:srgbClr val="2C2C2C"/>
              </a:solidFill>
              <a:latin typeface="Montserrat"/>
              <a:ea typeface="Montserrat"/>
              <a:cs typeface="Montserrat"/>
              <a:sym typeface="Montserrat"/>
            </a:endParaRPr>
          </a:p>
        </p:txBody>
      </p:sp>
      <p:sp>
        <p:nvSpPr>
          <p:cNvPr id="327" name="Google Shape;327;p14"/>
          <p:cNvSpPr/>
          <p:nvPr/>
        </p:nvSpPr>
        <p:spPr>
          <a:xfrm>
            <a:off x="3147880" y="535344"/>
            <a:ext cx="1403604" cy="24688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002060"/>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3. Ventas y Distribución</a:t>
            </a:r>
            <a:endParaRPr b="0" i="0" sz="600" u="none" cap="none" strike="noStrike">
              <a:solidFill>
                <a:srgbClr val="FFFFFF"/>
              </a:solidFill>
              <a:latin typeface="Montserrat"/>
              <a:ea typeface="Montserrat"/>
              <a:cs typeface="Montserrat"/>
              <a:sym typeface="Montserrat"/>
            </a:endParaRPr>
          </a:p>
        </p:txBody>
      </p:sp>
      <p:sp>
        <p:nvSpPr>
          <p:cNvPr id="328" name="Google Shape;328;p14"/>
          <p:cNvSpPr txBox="1"/>
          <p:nvPr/>
        </p:nvSpPr>
        <p:spPr>
          <a:xfrm>
            <a:off x="1722173" y="816891"/>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Multicanalidad</a:t>
            </a:r>
            <a:endParaRPr b="1" i="0" sz="600" u="none" cap="none" strike="noStrike">
              <a:solidFill>
                <a:srgbClr val="2C2C2C"/>
              </a:solidFill>
              <a:latin typeface="Montserrat"/>
              <a:ea typeface="Montserrat"/>
              <a:cs typeface="Montserrat"/>
              <a:sym typeface="Montserrat"/>
            </a:endParaRPr>
          </a:p>
        </p:txBody>
      </p:sp>
      <p:sp>
        <p:nvSpPr>
          <p:cNvPr id="329" name="Google Shape;329;p14"/>
          <p:cNvSpPr txBox="1"/>
          <p:nvPr/>
        </p:nvSpPr>
        <p:spPr>
          <a:xfrm>
            <a:off x="3147880" y="1425852"/>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Gestión de Oportunidades</a:t>
            </a:r>
            <a:endParaRPr b="1" i="0" sz="600" u="none" cap="none" strike="noStrike">
              <a:solidFill>
                <a:schemeClr val="lt1"/>
              </a:solidFill>
              <a:latin typeface="Montserrat"/>
              <a:ea typeface="Montserrat"/>
              <a:cs typeface="Montserrat"/>
              <a:sym typeface="Montserrat"/>
            </a:endParaRPr>
          </a:p>
        </p:txBody>
      </p:sp>
      <p:sp>
        <p:nvSpPr>
          <p:cNvPr id="330" name="Google Shape;330;p14"/>
          <p:cNvSpPr txBox="1"/>
          <p:nvPr/>
        </p:nvSpPr>
        <p:spPr>
          <a:xfrm>
            <a:off x="3147880" y="2005796"/>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Originación de Cuentas</a:t>
            </a:r>
            <a:endParaRPr b="1" i="0" sz="600" u="none" cap="none" strike="noStrike">
              <a:solidFill>
                <a:srgbClr val="2C2C2C"/>
              </a:solidFill>
              <a:latin typeface="Montserrat"/>
              <a:ea typeface="Montserrat"/>
              <a:cs typeface="Montserrat"/>
              <a:sym typeface="Montserrat"/>
            </a:endParaRPr>
          </a:p>
        </p:txBody>
      </p:sp>
      <p:sp>
        <p:nvSpPr>
          <p:cNvPr id="331" name="Google Shape;331;p14"/>
          <p:cNvSpPr/>
          <p:nvPr/>
        </p:nvSpPr>
        <p:spPr>
          <a:xfrm>
            <a:off x="3147880" y="2620365"/>
            <a:ext cx="1330452" cy="18018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Incorporación de Clientes</a:t>
            </a:r>
            <a:endParaRPr b="1" i="0" sz="600" u="none" cap="none" strike="noStrike">
              <a:solidFill>
                <a:srgbClr val="2C2C2C"/>
              </a:solidFill>
              <a:latin typeface="Montserrat"/>
              <a:ea typeface="Montserrat"/>
              <a:cs typeface="Montserrat"/>
              <a:sym typeface="Montserrat"/>
            </a:endParaRPr>
          </a:p>
        </p:txBody>
      </p:sp>
      <p:sp>
        <p:nvSpPr>
          <p:cNvPr id="332" name="Google Shape;332;p14"/>
          <p:cNvSpPr txBox="1"/>
          <p:nvPr/>
        </p:nvSpPr>
        <p:spPr>
          <a:xfrm>
            <a:off x="4627703" y="3234947"/>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 Intereses y Comisiones</a:t>
            </a:r>
            <a:endParaRPr b="1" i="0" sz="600" u="none" cap="none" strike="noStrike">
              <a:solidFill>
                <a:srgbClr val="2C2C2C"/>
              </a:solidFill>
              <a:latin typeface="Montserrat"/>
              <a:ea typeface="Montserrat"/>
              <a:cs typeface="Montserrat"/>
              <a:sym typeface="Montserrat"/>
            </a:endParaRPr>
          </a:p>
        </p:txBody>
      </p:sp>
      <p:sp>
        <p:nvSpPr>
          <p:cNvPr id="333" name="Google Shape;333;p14"/>
          <p:cNvSpPr txBox="1"/>
          <p:nvPr/>
        </p:nvSpPr>
        <p:spPr>
          <a:xfrm>
            <a:off x="3147880" y="816891"/>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del Cliente</a:t>
            </a:r>
            <a:endParaRPr b="1" i="0" sz="600" u="none" cap="none" strike="noStrike">
              <a:solidFill>
                <a:srgbClr val="2C2C2C"/>
              </a:solidFill>
              <a:latin typeface="Montserrat"/>
              <a:ea typeface="Montserrat"/>
              <a:cs typeface="Montserrat"/>
              <a:sym typeface="Montserrat"/>
            </a:endParaRPr>
          </a:p>
        </p:txBody>
      </p:sp>
      <p:sp>
        <p:nvSpPr>
          <p:cNvPr id="334" name="Google Shape;334;p14"/>
          <p:cNvSpPr/>
          <p:nvPr/>
        </p:nvSpPr>
        <p:spPr>
          <a:xfrm>
            <a:off x="4618753" y="1425852"/>
            <a:ext cx="1330452" cy="18018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50"/>
              <a:buFont typeface="Arial"/>
              <a:buNone/>
            </a:pPr>
            <a:r>
              <a:rPr b="1" i="0" lang="es" sz="550" u="none" cap="none" strike="noStrike">
                <a:solidFill>
                  <a:srgbClr val="2C2C2C"/>
                </a:solidFill>
                <a:latin typeface="Montserrat"/>
                <a:ea typeface="Montserrat"/>
                <a:cs typeface="Montserrat"/>
                <a:sym typeface="Montserrat"/>
              </a:rPr>
              <a:t>Procesamiento Transacciones</a:t>
            </a:r>
            <a:endParaRPr b="1" i="0" sz="550" u="none" cap="none" strike="noStrike">
              <a:solidFill>
                <a:srgbClr val="2C2C2C"/>
              </a:solidFill>
              <a:latin typeface="Montserrat"/>
              <a:ea typeface="Montserrat"/>
              <a:cs typeface="Montserrat"/>
              <a:sym typeface="Montserrat"/>
            </a:endParaRPr>
          </a:p>
        </p:txBody>
      </p:sp>
      <p:sp>
        <p:nvSpPr>
          <p:cNvPr id="335" name="Google Shape;335;p14"/>
          <p:cNvSpPr txBox="1"/>
          <p:nvPr/>
        </p:nvSpPr>
        <p:spPr>
          <a:xfrm>
            <a:off x="4618753" y="2005796"/>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50"/>
              <a:buFont typeface="Arial"/>
              <a:buNone/>
            </a:pPr>
            <a:r>
              <a:rPr b="1" i="0" lang="es" sz="550" u="none" cap="none" strike="noStrike">
                <a:solidFill>
                  <a:srgbClr val="2C2C2C"/>
                </a:solidFill>
                <a:latin typeface="Montserrat"/>
                <a:ea typeface="Montserrat"/>
                <a:cs typeface="Montserrat"/>
                <a:sym typeface="Montserrat"/>
              </a:rPr>
              <a:t>Procesamiento de Cheques/Efectivo</a:t>
            </a:r>
            <a:endParaRPr b="1" i="0" sz="550" u="none" cap="none" strike="noStrike">
              <a:solidFill>
                <a:srgbClr val="2C2C2C"/>
              </a:solidFill>
              <a:latin typeface="Montserrat"/>
              <a:ea typeface="Montserrat"/>
              <a:cs typeface="Montserrat"/>
              <a:sym typeface="Montserrat"/>
            </a:endParaRPr>
          </a:p>
        </p:txBody>
      </p:sp>
      <p:sp>
        <p:nvSpPr>
          <p:cNvPr id="336" name="Google Shape;336;p14"/>
          <p:cNvSpPr txBox="1"/>
          <p:nvPr/>
        </p:nvSpPr>
        <p:spPr>
          <a:xfrm>
            <a:off x="4618753" y="2620365"/>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Servicio y Mantenimiento de Cuentas</a:t>
            </a:r>
            <a:endParaRPr b="1" i="0" sz="600" u="none" cap="none" strike="noStrike">
              <a:solidFill>
                <a:srgbClr val="2C2C2C"/>
              </a:solidFill>
              <a:latin typeface="Montserrat"/>
              <a:ea typeface="Montserrat"/>
              <a:cs typeface="Montserrat"/>
              <a:sym typeface="Montserrat"/>
            </a:endParaRPr>
          </a:p>
        </p:txBody>
      </p:sp>
      <p:sp>
        <p:nvSpPr>
          <p:cNvPr id="337" name="Google Shape;337;p14"/>
          <p:cNvSpPr/>
          <p:nvPr/>
        </p:nvSpPr>
        <p:spPr>
          <a:xfrm>
            <a:off x="6088003" y="1425852"/>
            <a:ext cx="1330452" cy="18018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Alertas y Notificaciones</a:t>
            </a:r>
            <a:endParaRPr b="1" i="0" sz="600" u="none" cap="none" strike="noStrike">
              <a:solidFill>
                <a:srgbClr val="2C2C2C"/>
              </a:solidFill>
              <a:latin typeface="Montserrat"/>
              <a:ea typeface="Montserrat"/>
              <a:cs typeface="Montserrat"/>
              <a:sym typeface="Montserrat"/>
            </a:endParaRPr>
          </a:p>
        </p:txBody>
      </p:sp>
      <p:sp>
        <p:nvSpPr>
          <p:cNvPr id="338" name="Google Shape;338;p14"/>
          <p:cNvSpPr txBox="1"/>
          <p:nvPr/>
        </p:nvSpPr>
        <p:spPr>
          <a:xfrm>
            <a:off x="4618753" y="816891"/>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Consultas del Cliente</a:t>
            </a:r>
            <a:endParaRPr b="1" i="0" sz="600" u="none" cap="none" strike="noStrike">
              <a:solidFill>
                <a:srgbClr val="2C2C2C"/>
              </a:solidFill>
              <a:latin typeface="Montserrat"/>
              <a:ea typeface="Montserrat"/>
              <a:cs typeface="Montserrat"/>
              <a:sym typeface="Montserrat"/>
            </a:endParaRPr>
          </a:p>
        </p:txBody>
      </p:sp>
      <p:sp>
        <p:nvSpPr>
          <p:cNvPr id="339" name="Google Shape;339;p14"/>
          <p:cNvSpPr txBox="1"/>
          <p:nvPr/>
        </p:nvSpPr>
        <p:spPr>
          <a:xfrm>
            <a:off x="6088003" y="2005796"/>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 Cobros y Reclamos</a:t>
            </a:r>
            <a:endParaRPr b="1" i="0" sz="600" u="none" cap="none" strike="noStrike">
              <a:solidFill>
                <a:srgbClr val="2C2C2C"/>
              </a:solidFill>
              <a:latin typeface="Montserrat"/>
              <a:ea typeface="Montserrat"/>
              <a:cs typeface="Montserrat"/>
              <a:sym typeface="Montserrat"/>
            </a:endParaRPr>
          </a:p>
        </p:txBody>
      </p:sp>
      <p:sp>
        <p:nvSpPr>
          <p:cNvPr id="340" name="Google Shape;340;p14"/>
          <p:cNvSpPr txBox="1"/>
          <p:nvPr/>
        </p:nvSpPr>
        <p:spPr>
          <a:xfrm>
            <a:off x="6088003" y="2620365"/>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Gestión de Tarjetas</a:t>
            </a:r>
            <a:endParaRPr b="1" i="0" sz="600" u="none" cap="none" strike="noStrike">
              <a:solidFill>
                <a:srgbClr val="2C2C2C"/>
              </a:solidFill>
              <a:latin typeface="Montserrat"/>
              <a:ea typeface="Montserrat"/>
              <a:cs typeface="Montserrat"/>
              <a:sym typeface="Montserrat"/>
            </a:endParaRPr>
          </a:p>
        </p:txBody>
      </p:sp>
      <p:sp>
        <p:nvSpPr>
          <p:cNvPr id="341" name="Google Shape;341;p14"/>
          <p:cNvSpPr txBox="1"/>
          <p:nvPr/>
        </p:nvSpPr>
        <p:spPr>
          <a:xfrm>
            <a:off x="6088003" y="3234947"/>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Operaciones entre Productos</a:t>
            </a:r>
            <a:endParaRPr b="1" i="0" sz="600" u="none" cap="none" strike="noStrike">
              <a:solidFill>
                <a:srgbClr val="2C2C2C"/>
              </a:solidFill>
              <a:latin typeface="Montserrat"/>
              <a:ea typeface="Montserrat"/>
              <a:cs typeface="Montserrat"/>
              <a:sym typeface="Montserrat"/>
            </a:endParaRPr>
          </a:p>
        </p:txBody>
      </p:sp>
      <p:sp>
        <p:nvSpPr>
          <p:cNvPr id="342" name="Google Shape;342;p14"/>
          <p:cNvSpPr txBox="1"/>
          <p:nvPr/>
        </p:nvSpPr>
        <p:spPr>
          <a:xfrm>
            <a:off x="6088003" y="816891"/>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Gestión de Hipotecas</a:t>
            </a:r>
            <a:endParaRPr b="1" i="0" sz="600" u="none" cap="none" strike="noStrike">
              <a:solidFill>
                <a:schemeClr val="lt1"/>
              </a:solidFill>
              <a:latin typeface="Montserrat"/>
              <a:ea typeface="Montserrat"/>
              <a:cs typeface="Montserrat"/>
              <a:sym typeface="Montserrat"/>
            </a:endParaRPr>
          </a:p>
        </p:txBody>
      </p:sp>
      <p:sp>
        <p:nvSpPr>
          <p:cNvPr id="343" name="Google Shape;343;p14"/>
          <p:cNvSpPr txBox="1"/>
          <p:nvPr/>
        </p:nvSpPr>
        <p:spPr>
          <a:xfrm>
            <a:off x="1722173" y="2005796"/>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Experiencia del Cliente</a:t>
            </a:r>
            <a:endParaRPr b="1" i="0" sz="600" u="none" cap="none" strike="noStrike">
              <a:solidFill>
                <a:srgbClr val="2C2C2C"/>
              </a:solidFill>
              <a:latin typeface="Montserrat"/>
              <a:ea typeface="Montserrat"/>
              <a:cs typeface="Montserrat"/>
              <a:sym typeface="Montserrat"/>
            </a:endParaRPr>
          </a:p>
        </p:txBody>
      </p:sp>
      <p:pic>
        <p:nvPicPr>
          <p:cNvPr id="344" name="Google Shape;344;p14"/>
          <p:cNvPicPr preferRelativeResize="0"/>
          <p:nvPr/>
        </p:nvPicPr>
        <p:blipFill rotWithShape="1">
          <a:blip r:embed="rId3">
            <a:alphaModFix/>
          </a:blip>
          <a:srcRect b="0" l="0" r="0" t="0"/>
          <a:stretch/>
        </p:blipFill>
        <p:spPr>
          <a:xfrm>
            <a:off x="959116" y="4122121"/>
            <a:ext cx="424543" cy="306951"/>
          </a:xfrm>
          <a:prstGeom prst="rect">
            <a:avLst/>
          </a:prstGeom>
          <a:noFill/>
          <a:ln>
            <a:noFill/>
          </a:ln>
        </p:spPr>
      </p:pic>
      <p:pic>
        <p:nvPicPr>
          <p:cNvPr id="345" name="Google Shape;345;p14"/>
          <p:cNvPicPr preferRelativeResize="0"/>
          <p:nvPr/>
        </p:nvPicPr>
        <p:blipFill rotWithShape="1">
          <a:blip r:embed="rId4">
            <a:alphaModFix/>
          </a:blip>
          <a:srcRect b="0" l="0" r="0" t="0"/>
          <a:stretch/>
        </p:blipFill>
        <p:spPr>
          <a:xfrm>
            <a:off x="3521835" y="4122120"/>
            <a:ext cx="424543" cy="306952"/>
          </a:xfrm>
          <a:prstGeom prst="rect">
            <a:avLst/>
          </a:prstGeom>
          <a:noFill/>
          <a:ln>
            <a:noFill/>
          </a:ln>
        </p:spPr>
      </p:pic>
      <p:pic>
        <p:nvPicPr>
          <p:cNvPr id="346" name="Google Shape;346;p14"/>
          <p:cNvPicPr preferRelativeResize="0"/>
          <p:nvPr/>
        </p:nvPicPr>
        <p:blipFill rotWithShape="1">
          <a:blip r:embed="rId5">
            <a:alphaModFix/>
          </a:blip>
          <a:srcRect b="0" l="0" r="0" t="0"/>
          <a:stretch/>
        </p:blipFill>
        <p:spPr>
          <a:xfrm>
            <a:off x="6477441" y="4122121"/>
            <a:ext cx="430204" cy="306951"/>
          </a:xfrm>
          <a:prstGeom prst="rect">
            <a:avLst/>
          </a:prstGeom>
          <a:noFill/>
          <a:ln>
            <a:noFill/>
          </a:ln>
        </p:spPr>
      </p:pic>
      <p:pic>
        <p:nvPicPr>
          <p:cNvPr id="347" name="Google Shape;347;p14"/>
          <p:cNvPicPr preferRelativeResize="0"/>
          <p:nvPr/>
        </p:nvPicPr>
        <p:blipFill rotWithShape="1">
          <a:blip r:embed="rId6">
            <a:alphaModFix/>
          </a:blip>
          <a:srcRect b="0" l="0" r="0" t="0"/>
          <a:stretch/>
        </p:blipFill>
        <p:spPr>
          <a:xfrm>
            <a:off x="5021767" y="4122120"/>
            <a:ext cx="424543" cy="306952"/>
          </a:xfrm>
          <a:prstGeom prst="rect">
            <a:avLst/>
          </a:prstGeom>
          <a:noFill/>
          <a:ln>
            <a:noFill/>
          </a:ln>
        </p:spPr>
      </p:pic>
      <p:pic>
        <p:nvPicPr>
          <p:cNvPr descr="Close con relleno sólido" id="348" name="Google Shape;348;p14"/>
          <p:cNvPicPr preferRelativeResize="0"/>
          <p:nvPr/>
        </p:nvPicPr>
        <p:blipFill rotWithShape="1">
          <a:blip r:embed="rId7">
            <a:alphaModFix/>
          </a:blip>
          <a:srcRect b="0" l="0" r="0" t="0"/>
          <a:stretch/>
        </p:blipFill>
        <p:spPr>
          <a:xfrm>
            <a:off x="6549322" y="1040051"/>
            <a:ext cx="407562" cy="342644"/>
          </a:xfrm>
          <a:prstGeom prst="rect">
            <a:avLst/>
          </a:prstGeom>
          <a:noFill/>
          <a:ln>
            <a:noFill/>
          </a:ln>
        </p:spPr>
      </p:pic>
      <p:pic>
        <p:nvPicPr>
          <p:cNvPr id="349" name="Google Shape;349;p14"/>
          <p:cNvPicPr preferRelativeResize="0"/>
          <p:nvPr/>
        </p:nvPicPr>
        <p:blipFill rotWithShape="1">
          <a:blip r:embed="rId8">
            <a:alphaModFix/>
          </a:blip>
          <a:srcRect b="0" l="0" r="0" t="0"/>
          <a:stretch/>
        </p:blipFill>
        <p:spPr>
          <a:xfrm>
            <a:off x="6582631" y="1635047"/>
            <a:ext cx="407562" cy="306952"/>
          </a:xfrm>
          <a:prstGeom prst="rect">
            <a:avLst/>
          </a:prstGeom>
          <a:noFill/>
          <a:ln>
            <a:noFill/>
          </a:ln>
        </p:spPr>
      </p:pic>
      <p:pic>
        <p:nvPicPr>
          <p:cNvPr id="350" name="Google Shape;350;p14"/>
          <p:cNvPicPr preferRelativeResize="0"/>
          <p:nvPr/>
        </p:nvPicPr>
        <p:blipFill rotWithShape="1">
          <a:blip r:embed="rId8">
            <a:alphaModFix/>
          </a:blip>
          <a:srcRect b="0" l="0" r="0" t="0"/>
          <a:stretch/>
        </p:blipFill>
        <p:spPr>
          <a:xfrm>
            <a:off x="6549327" y="2854799"/>
            <a:ext cx="407562" cy="306952"/>
          </a:xfrm>
          <a:prstGeom prst="rect">
            <a:avLst/>
          </a:prstGeom>
          <a:noFill/>
          <a:ln>
            <a:noFill/>
          </a:ln>
        </p:spPr>
      </p:pic>
      <p:pic>
        <p:nvPicPr>
          <p:cNvPr descr="Icon&#10;&#10;Description automatically generated" id="351" name="Google Shape;351;p14"/>
          <p:cNvPicPr preferRelativeResize="0"/>
          <p:nvPr/>
        </p:nvPicPr>
        <p:blipFill rotWithShape="1">
          <a:blip r:embed="rId9">
            <a:alphaModFix/>
          </a:blip>
          <a:srcRect b="0" l="0" r="0" t="0"/>
          <a:stretch/>
        </p:blipFill>
        <p:spPr>
          <a:xfrm>
            <a:off x="6106894" y="3434525"/>
            <a:ext cx="407562" cy="306952"/>
          </a:xfrm>
          <a:prstGeom prst="rect">
            <a:avLst/>
          </a:prstGeom>
          <a:noFill/>
          <a:ln>
            <a:noFill/>
          </a:ln>
        </p:spPr>
      </p:pic>
      <p:pic>
        <p:nvPicPr>
          <p:cNvPr id="352" name="Google Shape;352;p14"/>
          <p:cNvPicPr preferRelativeResize="0"/>
          <p:nvPr/>
        </p:nvPicPr>
        <p:blipFill rotWithShape="1">
          <a:blip r:embed="rId8">
            <a:alphaModFix/>
          </a:blip>
          <a:srcRect b="0" l="0" r="0" t="0"/>
          <a:stretch/>
        </p:blipFill>
        <p:spPr>
          <a:xfrm>
            <a:off x="7100695" y="3448199"/>
            <a:ext cx="407562" cy="306952"/>
          </a:xfrm>
          <a:prstGeom prst="rect">
            <a:avLst/>
          </a:prstGeom>
          <a:noFill/>
          <a:ln>
            <a:noFill/>
          </a:ln>
        </p:spPr>
      </p:pic>
      <p:grpSp>
        <p:nvGrpSpPr>
          <p:cNvPr id="353" name="Google Shape;353;p14"/>
          <p:cNvGrpSpPr/>
          <p:nvPr/>
        </p:nvGrpSpPr>
        <p:grpSpPr>
          <a:xfrm>
            <a:off x="7562142" y="2920818"/>
            <a:ext cx="1558756" cy="694656"/>
            <a:chOff x="7589085" y="2971161"/>
            <a:chExt cx="1558756" cy="694656"/>
          </a:xfrm>
        </p:grpSpPr>
        <p:sp>
          <p:nvSpPr>
            <p:cNvPr id="354" name="Google Shape;354;p14"/>
            <p:cNvSpPr txBox="1"/>
            <p:nvPr/>
          </p:nvSpPr>
          <p:spPr>
            <a:xfrm>
              <a:off x="7589085" y="2999729"/>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Seguridad de la Información</a:t>
              </a:r>
              <a:endParaRPr b="1" i="0" sz="600" u="none" cap="none" strike="noStrike">
                <a:solidFill>
                  <a:schemeClr val="lt1"/>
                </a:solidFill>
                <a:latin typeface="Montserrat"/>
                <a:ea typeface="Montserrat"/>
                <a:cs typeface="Montserrat"/>
                <a:sym typeface="Montserrat"/>
              </a:endParaRPr>
            </a:p>
          </p:txBody>
        </p:sp>
        <p:sp>
          <p:nvSpPr>
            <p:cNvPr id="355" name="Google Shape;355;p14"/>
            <p:cNvSpPr txBox="1"/>
            <p:nvPr/>
          </p:nvSpPr>
          <p:spPr>
            <a:xfrm>
              <a:off x="7589085" y="3242773"/>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Recursos Humanos</a:t>
              </a:r>
              <a:endParaRPr b="1" i="0" sz="600" u="none" cap="none" strike="noStrike">
                <a:solidFill>
                  <a:schemeClr val="lt1"/>
                </a:solidFill>
                <a:latin typeface="Montserrat"/>
                <a:ea typeface="Montserrat"/>
                <a:cs typeface="Montserrat"/>
                <a:sym typeface="Montserrat"/>
              </a:endParaRPr>
            </a:p>
          </p:txBody>
        </p:sp>
        <p:sp>
          <p:nvSpPr>
            <p:cNvPr id="356" name="Google Shape;356;p14"/>
            <p:cNvSpPr txBox="1"/>
            <p:nvPr/>
          </p:nvSpPr>
          <p:spPr>
            <a:xfrm>
              <a:off x="7589085" y="3485817"/>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Adquisiciones</a:t>
              </a:r>
              <a:endParaRPr b="1" i="0" sz="600" u="none" cap="none" strike="noStrike">
                <a:solidFill>
                  <a:schemeClr val="lt1"/>
                </a:solidFill>
                <a:latin typeface="Montserrat"/>
                <a:ea typeface="Montserrat"/>
                <a:cs typeface="Montserrat"/>
                <a:sym typeface="Montserrat"/>
              </a:endParaRPr>
            </a:p>
          </p:txBody>
        </p:sp>
        <p:pic>
          <p:nvPicPr>
            <p:cNvPr descr="Close con relleno sólido" id="357" name="Google Shape;357;p14"/>
            <p:cNvPicPr preferRelativeResize="0"/>
            <p:nvPr/>
          </p:nvPicPr>
          <p:blipFill rotWithShape="1">
            <a:blip r:embed="rId7">
              <a:alphaModFix/>
            </a:blip>
            <a:srcRect b="0" l="0" r="0" t="0"/>
            <a:stretch/>
          </p:blipFill>
          <p:spPr>
            <a:xfrm>
              <a:off x="8905456" y="2971161"/>
              <a:ext cx="242385" cy="240933"/>
            </a:xfrm>
            <a:prstGeom prst="rect">
              <a:avLst/>
            </a:prstGeom>
            <a:noFill/>
            <a:ln>
              <a:noFill/>
            </a:ln>
          </p:spPr>
        </p:pic>
      </p:grpSp>
      <p:grpSp>
        <p:nvGrpSpPr>
          <p:cNvPr id="358" name="Google Shape;358;p14"/>
          <p:cNvGrpSpPr/>
          <p:nvPr/>
        </p:nvGrpSpPr>
        <p:grpSpPr>
          <a:xfrm>
            <a:off x="7609079" y="1051087"/>
            <a:ext cx="840567" cy="306952"/>
            <a:chOff x="7453875" y="974353"/>
            <a:chExt cx="840567" cy="306952"/>
          </a:xfrm>
        </p:grpSpPr>
        <p:pic>
          <p:nvPicPr>
            <p:cNvPr id="359" name="Google Shape;359;p14"/>
            <p:cNvPicPr preferRelativeResize="0"/>
            <p:nvPr/>
          </p:nvPicPr>
          <p:blipFill rotWithShape="1">
            <a:blip r:embed="rId10">
              <a:alphaModFix/>
            </a:blip>
            <a:srcRect b="0" l="0" r="0" t="0"/>
            <a:stretch/>
          </p:blipFill>
          <p:spPr>
            <a:xfrm>
              <a:off x="7886880" y="974353"/>
              <a:ext cx="407562" cy="306952"/>
            </a:xfrm>
            <a:prstGeom prst="rect">
              <a:avLst/>
            </a:prstGeom>
            <a:noFill/>
            <a:ln>
              <a:noFill/>
            </a:ln>
          </p:spPr>
        </p:pic>
        <p:pic>
          <p:nvPicPr>
            <p:cNvPr id="360" name="Google Shape;360;p14"/>
            <p:cNvPicPr preferRelativeResize="0"/>
            <p:nvPr/>
          </p:nvPicPr>
          <p:blipFill rotWithShape="1">
            <a:blip r:embed="rId11">
              <a:alphaModFix/>
            </a:blip>
            <a:srcRect b="0" l="0" r="0" t="0"/>
            <a:stretch/>
          </p:blipFill>
          <p:spPr>
            <a:xfrm>
              <a:off x="7453875" y="974353"/>
              <a:ext cx="407562" cy="306952"/>
            </a:xfrm>
            <a:prstGeom prst="rect">
              <a:avLst/>
            </a:prstGeom>
            <a:noFill/>
            <a:ln>
              <a:noFill/>
            </a:ln>
          </p:spPr>
        </p:pic>
      </p:grpSp>
      <p:pic>
        <p:nvPicPr>
          <p:cNvPr id="361" name="Google Shape;361;p14"/>
          <p:cNvPicPr preferRelativeResize="0"/>
          <p:nvPr/>
        </p:nvPicPr>
        <p:blipFill rotWithShape="1">
          <a:blip r:embed="rId12">
            <a:alphaModFix/>
          </a:blip>
          <a:srcRect b="0" l="0" r="0" t="0"/>
          <a:stretch/>
        </p:blipFill>
        <p:spPr>
          <a:xfrm>
            <a:off x="7716835" y="4122120"/>
            <a:ext cx="407562" cy="306952"/>
          </a:xfrm>
          <a:prstGeom prst="rect">
            <a:avLst/>
          </a:prstGeom>
          <a:noFill/>
          <a:ln>
            <a:noFill/>
          </a:ln>
        </p:spPr>
      </p:pic>
      <p:sp>
        <p:nvSpPr>
          <p:cNvPr id="362" name="Google Shape;362;p14"/>
          <p:cNvSpPr txBox="1"/>
          <p:nvPr/>
        </p:nvSpPr>
        <p:spPr>
          <a:xfrm>
            <a:off x="210654" y="210924"/>
            <a:ext cx="8280745" cy="351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65AA7"/>
              </a:buClr>
              <a:buSzPts val="1500"/>
              <a:buFont typeface="Arial"/>
              <a:buNone/>
            </a:pPr>
            <a:r>
              <a:rPr b="1" i="0" lang="es" sz="1500" u="none" cap="none" strike="noStrike">
                <a:solidFill>
                  <a:srgbClr val="265AA7"/>
                </a:solidFill>
                <a:latin typeface="Montserrat"/>
                <a:ea typeface="Montserrat"/>
                <a:cs typeface="Montserrat"/>
                <a:sym typeface="Montserrat"/>
              </a:rPr>
              <a:t>Soporte a las Capacidades de Negocio por las 10 iniciativas UNITY </a:t>
            </a:r>
            <a:endParaRPr b="0" i="0" sz="900" u="none" cap="none" strike="noStrike">
              <a:solidFill>
                <a:srgbClr val="000000"/>
              </a:solidFill>
              <a:latin typeface="Arial"/>
              <a:ea typeface="Arial"/>
              <a:cs typeface="Arial"/>
              <a:sym typeface="Arial"/>
            </a:endParaRPr>
          </a:p>
        </p:txBody>
      </p:sp>
      <p:grpSp>
        <p:nvGrpSpPr>
          <p:cNvPr id="363" name="Google Shape;363;p14"/>
          <p:cNvGrpSpPr/>
          <p:nvPr/>
        </p:nvGrpSpPr>
        <p:grpSpPr>
          <a:xfrm>
            <a:off x="1739163" y="1661537"/>
            <a:ext cx="840561" cy="306952"/>
            <a:chOff x="987434" y="2970227"/>
            <a:chExt cx="840561" cy="306952"/>
          </a:xfrm>
        </p:grpSpPr>
        <p:pic>
          <p:nvPicPr>
            <p:cNvPr id="364" name="Google Shape;364;p14"/>
            <p:cNvPicPr preferRelativeResize="0"/>
            <p:nvPr/>
          </p:nvPicPr>
          <p:blipFill rotWithShape="1">
            <a:blip r:embed="rId13">
              <a:alphaModFix/>
            </a:blip>
            <a:srcRect b="0" l="0" r="0" t="0"/>
            <a:stretch/>
          </p:blipFill>
          <p:spPr>
            <a:xfrm>
              <a:off x="987434" y="2970227"/>
              <a:ext cx="407562" cy="306952"/>
            </a:xfrm>
            <a:prstGeom prst="rect">
              <a:avLst/>
            </a:prstGeom>
            <a:noFill/>
            <a:ln>
              <a:noFill/>
            </a:ln>
          </p:spPr>
        </p:pic>
        <p:pic>
          <p:nvPicPr>
            <p:cNvPr descr="Icon&#10;&#10;Description automatically generated" id="365" name="Google Shape;365;p14"/>
            <p:cNvPicPr preferRelativeResize="0"/>
            <p:nvPr/>
          </p:nvPicPr>
          <p:blipFill rotWithShape="1">
            <a:blip r:embed="rId9">
              <a:alphaModFix/>
            </a:blip>
            <a:srcRect b="0" l="0" r="0" t="0"/>
            <a:stretch/>
          </p:blipFill>
          <p:spPr>
            <a:xfrm>
              <a:off x="1420433" y="2970227"/>
              <a:ext cx="407562" cy="306952"/>
            </a:xfrm>
            <a:prstGeom prst="rect">
              <a:avLst/>
            </a:prstGeom>
            <a:noFill/>
            <a:ln>
              <a:noFill/>
            </a:ln>
          </p:spPr>
        </p:pic>
      </p:grpSp>
      <p:grpSp>
        <p:nvGrpSpPr>
          <p:cNvPr id="366" name="Google Shape;366;p14"/>
          <p:cNvGrpSpPr/>
          <p:nvPr/>
        </p:nvGrpSpPr>
        <p:grpSpPr>
          <a:xfrm>
            <a:off x="4852945" y="1652424"/>
            <a:ext cx="840562" cy="306952"/>
            <a:chOff x="619762" y="3216752"/>
            <a:chExt cx="840562" cy="306952"/>
          </a:xfrm>
        </p:grpSpPr>
        <p:pic>
          <p:nvPicPr>
            <p:cNvPr id="367" name="Google Shape;367;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368" name="Google Shape;368;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grpSp>
        <p:nvGrpSpPr>
          <p:cNvPr id="369" name="Google Shape;369;p14"/>
          <p:cNvGrpSpPr/>
          <p:nvPr/>
        </p:nvGrpSpPr>
        <p:grpSpPr>
          <a:xfrm>
            <a:off x="6332833" y="2249587"/>
            <a:ext cx="840562" cy="306952"/>
            <a:chOff x="619762" y="3216752"/>
            <a:chExt cx="840562" cy="306952"/>
          </a:xfrm>
        </p:grpSpPr>
        <p:pic>
          <p:nvPicPr>
            <p:cNvPr id="370" name="Google Shape;370;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371" name="Google Shape;371;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grpSp>
        <p:nvGrpSpPr>
          <p:cNvPr id="372" name="Google Shape;372;p14"/>
          <p:cNvGrpSpPr/>
          <p:nvPr/>
        </p:nvGrpSpPr>
        <p:grpSpPr>
          <a:xfrm>
            <a:off x="3176215" y="2854799"/>
            <a:ext cx="1273550" cy="306952"/>
            <a:chOff x="964282" y="2941564"/>
            <a:chExt cx="1273550" cy="306952"/>
          </a:xfrm>
        </p:grpSpPr>
        <p:grpSp>
          <p:nvGrpSpPr>
            <p:cNvPr id="373" name="Google Shape;373;p14"/>
            <p:cNvGrpSpPr/>
            <p:nvPr/>
          </p:nvGrpSpPr>
          <p:grpSpPr>
            <a:xfrm>
              <a:off x="1397270" y="2941564"/>
              <a:ext cx="840562" cy="306952"/>
              <a:chOff x="619762" y="3216752"/>
              <a:chExt cx="840562" cy="306952"/>
            </a:xfrm>
          </p:grpSpPr>
          <p:pic>
            <p:nvPicPr>
              <p:cNvPr id="374" name="Google Shape;374;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375" name="Google Shape;375;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pic>
          <p:nvPicPr>
            <p:cNvPr id="376" name="Google Shape;376;p14"/>
            <p:cNvPicPr preferRelativeResize="0"/>
            <p:nvPr/>
          </p:nvPicPr>
          <p:blipFill rotWithShape="1">
            <a:blip r:embed="rId12">
              <a:alphaModFix/>
            </a:blip>
            <a:srcRect b="0" l="0" r="0" t="0"/>
            <a:stretch/>
          </p:blipFill>
          <p:spPr>
            <a:xfrm>
              <a:off x="964282" y="2941564"/>
              <a:ext cx="407562" cy="306952"/>
            </a:xfrm>
            <a:prstGeom prst="rect">
              <a:avLst/>
            </a:prstGeom>
            <a:noFill/>
            <a:ln>
              <a:noFill/>
            </a:ln>
          </p:spPr>
        </p:pic>
      </p:grpSp>
      <p:grpSp>
        <p:nvGrpSpPr>
          <p:cNvPr id="377" name="Google Shape;377;p14"/>
          <p:cNvGrpSpPr/>
          <p:nvPr/>
        </p:nvGrpSpPr>
        <p:grpSpPr>
          <a:xfrm>
            <a:off x="4658984" y="2864177"/>
            <a:ext cx="840562" cy="306952"/>
            <a:chOff x="619762" y="3216752"/>
            <a:chExt cx="840562" cy="306952"/>
          </a:xfrm>
        </p:grpSpPr>
        <p:pic>
          <p:nvPicPr>
            <p:cNvPr id="378" name="Google Shape;378;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379" name="Google Shape;379;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grpSp>
        <p:nvGrpSpPr>
          <p:cNvPr id="380" name="Google Shape;380;p14"/>
          <p:cNvGrpSpPr/>
          <p:nvPr/>
        </p:nvGrpSpPr>
        <p:grpSpPr>
          <a:xfrm>
            <a:off x="4863583" y="3459999"/>
            <a:ext cx="840562" cy="306952"/>
            <a:chOff x="619762" y="3216752"/>
            <a:chExt cx="840562" cy="306952"/>
          </a:xfrm>
        </p:grpSpPr>
        <p:pic>
          <p:nvPicPr>
            <p:cNvPr id="381" name="Google Shape;381;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382" name="Google Shape;382;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pic>
        <p:nvPicPr>
          <p:cNvPr id="383" name="Google Shape;383;p14"/>
          <p:cNvPicPr preferRelativeResize="0"/>
          <p:nvPr/>
        </p:nvPicPr>
        <p:blipFill rotWithShape="1">
          <a:blip r:embed="rId13">
            <a:alphaModFix/>
          </a:blip>
          <a:srcRect b="0" l="0" r="0" t="0"/>
          <a:stretch/>
        </p:blipFill>
        <p:spPr>
          <a:xfrm>
            <a:off x="2146378" y="2260325"/>
            <a:ext cx="407562" cy="306952"/>
          </a:xfrm>
          <a:prstGeom prst="rect">
            <a:avLst/>
          </a:prstGeom>
          <a:noFill/>
          <a:ln>
            <a:noFill/>
          </a:ln>
        </p:spPr>
      </p:pic>
      <p:pic>
        <p:nvPicPr>
          <p:cNvPr id="384" name="Google Shape;384;p14"/>
          <p:cNvPicPr preferRelativeResize="0"/>
          <p:nvPr/>
        </p:nvPicPr>
        <p:blipFill rotWithShape="1">
          <a:blip r:embed="rId13">
            <a:alphaModFix/>
          </a:blip>
          <a:srcRect b="0" l="0" r="0" t="0"/>
          <a:stretch/>
        </p:blipFill>
        <p:spPr>
          <a:xfrm>
            <a:off x="5109071" y="1055544"/>
            <a:ext cx="407562" cy="306952"/>
          </a:xfrm>
          <a:prstGeom prst="rect">
            <a:avLst/>
          </a:prstGeom>
          <a:noFill/>
          <a:ln>
            <a:noFill/>
          </a:ln>
        </p:spPr>
      </p:pic>
      <p:pic>
        <p:nvPicPr>
          <p:cNvPr id="385" name="Google Shape;385;p14"/>
          <p:cNvPicPr preferRelativeResize="0"/>
          <p:nvPr/>
        </p:nvPicPr>
        <p:blipFill rotWithShape="1">
          <a:blip r:embed="rId13">
            <a:alphaModFix/>
          </a:blip>
          <a:srcRect b="0" l="0" r="0" t="0"/>
          <a:stretch/>
        </p:blipFill>
        <p:spPr>
          <a:xfrm>
            <a:off x="6618087" y="3450332"/>
            <a:ext cx="407562" cy="306952"/>
          </a:xfrm>
          <a:prstGeom prst="rect">
            <a:avLst/>
          </a:prstGeom>
          <a:noFill/>
          <a:ln>
            <a:noFill/>
          </a:ln>
        </p:spPr>
      </p:pic>
      <p:pic>
        <p:nvPicPr>
          <p:cNvPr id="386" name="Google Shape;386;p14"/>
          <p:cNvPicPr preferRelativeResize="0"/>
          <p:nvPr/>
        </p:nvPicPr>
        <p:blipFill rotWithShape="1">
          <a:blip r:embed="rId8">
            <a:alphaModFix/>
          </a:blip>
          <a:srcRect b="0" l="0" r="0" t="0"/>
          <a:stretch/>
        </p:blipFill>
        <p:spPr>
          <a:xfrm>
            <a:off x="8470951" y="1039620"/>
            <a:ext cx="407562" cy="306952"/>
          </a:xfrm>
          <a:prstGeom prst="rect">
            <a:avLst/>
          </a:prstGeom>
          <a:noFill/>
          <a:ln>
            <a:noFill/>
          </a:ln>
        </p:spPr>
      </p:pic>
      <p:pic>
        <p:nvPicPr>
          <p:cNvPr id="387" name="Google Shape;387;p14"/>
          <p:cNvPicPr preferRelativeResize="0"/>
          <p:nvPr/>
        </p:nvPicPr>
        <p:blipFill rotWithShape="1">
          <a:blip r:embed="rId13">
            <a:alphaModFix/>
          </a:blip>
          <a:srcRect b="0" l="0" r="0" t="0"/>
          <a:stretch/>
        </p:blipFill>
        <p:spPr>
          <a:xfrm>
            <a:off x="3537602" y="2220390"/>
            <a:ext cx="407562" cy="306952"/>
          </a:xfrm>
          <a:prstGeom prst="rect">
            <a:avLst/>
          </a:prstGeom>
          <a:noFill/>
          <a:ln>
            <a:noFill/>
          </a:ln>
        </p:spPr>
      </p:pic>
      <p:pic>
        <p:nvPicPr>
          <p:cNvPr id="388" name="Google Shape;388;p14"/>
          <p:cNvPicPr preferRelativeResize="0"/>
          <p:nvPr/>
        </p:nvPicPr>
        <p:blipFill rotWithShape="1">
          <a:blip r:embed="rId13">
            <a:alphaModFix/>
          </a:blip>
          <a:srcRect b="0" l="0" r="0" t="0"/>
          <a:stretch/>
        </p:blipFill>
        <p:spPr>
          <a:xfrm>
            <a:off x="5575320" y="2880968"/>
            <a:ext cx="407562" cy="306952"/>
          </a:xfrm>
          <a:prstGeom prst="rect">
            <a:avLst/>
          </a:prstGeom>
          <a:noFill/>
          <a:ln>
            <a:noFill/>
          </a:ln>
        </p:spPr>
      </p:pic>
      <p:pic>
        <p:nvPicPr>
          <p:cNvPr id="389" name="Google Shape;389;p14"/>
          <p:cNvPicPr preferRelativeResize="0"/>
          <p:nvPr/>
        </p:nvPicPr>
        <p:blipFill rotWithShape="1">
          <a:blip r:embed="rId13">
            <a:alphaModFix/>
          </a:blip>
          <a:srcRect b="0" l="0" r="0" t="0"/>
          <a:stretch/>
        </p:blipFill>
        <p:spPr>
          <a:xfrm>
            <a:off x="1927024" y="1075743"/>
            <a:ext cx="407562" cy="306952"/>
          </a:xfrm>
          <a:prstGeom prst="rect">
            <a:avLst/>
          </a:prstGeom>
          <a:noFill/>
          <a:ln>
            <a:noFill/>
          </a:ln>
        </p:spPr>
      </p:pic>
      <p:pic>
        <p:nvPicPr>
          <p:cNvPr descr="Close con relleno sólido" id="390" name="Google Shape;390;p14"/>
          <p:cNvPicPr preferRelativeResize="0"/>
          <p:nvPr/>
        </p:nvPicPr>
        <p:blipFill rotWithShape="1">
          <a:blip r:embed="rId7">
            <a:alphaModFix/>
          </a:blip>
          <a:srcRect b="0" l="0" r="0" t="0"/>
          <a:stretch/>
        </p:blipFill>
        <p:spPr>
          <a:xfrm>
            <a:off x="3563772" y="1631701"/>
            <a:ext cx="407562" cy="342644"/>
          </a:xfrm>
          <a:prstGeom prst="rect">
            <a:avLst/>
          </a:prstGeom>
          <a:noFill/>
          <a:ln>
            <a:noFill/>
          </a:ln>
        </p:spPr>
      </p:pic>
      <p:pic>
        <p:nvPicPr>
          <p:cNvPr id="391" name="Google Shape;391;p14"/>
          <p:cNvPicPr preferRelativeResize="0"/>
          <p:nvPr/>
        </p:nvPicPr>
        <p:blipFill rotWithShape="1">
          <a:blip r:embed="rId13">
            <a:alphaModFix/>
          </a:blip>
          <a:srcRect b="0" l="0" r="0" t="0"/>
          <a:stretch/>
        </p:blipFill>
        <p:spPr>
          <a:xfrm>
            <a:off x="3515075" y="1064466"/>
            <a:ext cx="407562" cy="306952"/>
          </a:xfrm>
          <a:prstGeom prst="rect">
            <a:avLst/>
          </a:prstGeom>
          <a:noFill/>
          <a:ln>
            <a:noFill/>
          </a:ln>
        </p:spPr>
      </p:pic>
      <p:pic>
        <p:nvPicPr>
          <p:cNvPr descr="Icon&#10;&#10;Description automatically generated" id="392" name="Google Shape;392;p14"/>
          <p:cNvPicPr preferRelativeResize="0"/>
          <p:nvPr/>
        </p:nvPicPr>
        <p:blipFill rotWithShape="1">
          <a:blip r:embed="rId9">
            <a:alphaModFix/>
          </a:blip>
          <a:srcRect b="0" l="0" r="0" t="0"/>
          <a:stretch/>
        </p:blipFill>
        <p:spPr>
          <a:xfrm>
            <a:off x="5531840" y="1040051"/>
            <a:ext cx="407562" cy="306952"/>
          </a:xfrm>
          <a:prstGeom prst="rect">
            <a:avLst/>
          </a:prstGeom>
          <a:noFill/>
          <a:ln>
            <a:noFill/>
          </a:ln>
        </p:spPr>
      </p:pic>
      <p:pic>
        <p:nvPicPr>
          <p:cNvPr id="393" name="Google Shape;393;p14"/>
          <p:cNvPicPr preferRelativeResize="0"/>
          <p:nvPr/>
        </p:nvPicPr>
        <p:blipFill rotWithShape="1">
          <a:blip r:embed="rId10">
            <a:alphaModFix/>
          </a:blip>
          <a:srcRect b="0" l="0" r="0" t="0"/>
          <a:stretch/>
        </p:blipFill>
        <p:spPr>
          <a:xfrm>
            <a:off x="4614205" y="1051087"/>
            <a:ext cx="407562" cy="306952"/>
          </a:xfrm>
          <a:prstGeom prst="rect">
            <a:avLst/>
          </a:prstGeom>
          <a:noFill/>
          <a:ln>
            <a:noFill/>
          </a:ln>
        </p:spPr>
      </p:pic>
      <p:pic>
        <p:nvPicPr>
          <p:cNvPr id="394" name="Google Shape;394;p14"/>
          <p:cNvPicPr preferRelativeResize="0"/>
          <p:nvPr/>
        </p:nvPicPr>
        <p:blipFill rotWithShape="1">
          <a:blip r:embed="rId10">
            <a:alphaModFix/>
          </a:blip>
          <a:srcRect b="0" l="0" r="0" t="0"/>
          <a:stretch/>
        </p:blipFill>
        <p:spPr>
          <a:xfrm>
            <a:off x="4834869" y="2242031"/>
            <a:ext cx="407562" cy="306952"/>
          </a:xfrm>
          <a:prstGeom prst="rect">
            <a:avLst/>
          </a:prstGeom>
          <a:noFill/>
          <a:ln>
            <a:noFill/>
          </a:ln>
        </p:spPr>
      </p:pic>
      <p:pic>
        <p:nvPicPr>
          <p:cNvPr descr="Icon&#10;&#10;Description automatically generated" id="395" name="Google Shape;395;p14"/>
          <p:cNvPicPr preferRelativeResize="0"/>
          <p:nvPr/>
        </p:nvPicPr>
        <p:blipFill rotWithShape="1">
          <a:blip r:embed="rId9">
            <a:alphaModFix/>
          </a:blip>
          <a:srcRect b="0" l="0" r="0" t="0"/>
          <a:stretch/>
        </p:blipFill>
        <p:spPr>
          <a:xfrm>
            <a:off x="5402596" y="2220390"/>
            <a:ext cx="407562" cy="306952"/>
          </a:xfrm>
          <a:prstGeom prst="rect">
            <a:avLst/>
          </a:prstGeom>
          <a:noFill/>
          <a:ln>
            <a:noFill/>
          </a:ln>
        </p:spPr>
      </p:pic>
      <p:pic>
        <p:nvPicPr>
          <p:cNvPr descr="Icon&#10;&#10;Description automatically generated" id="396" name="Google Shape;396;p14"/>
          <p:cNvPicPr preferRelativeResize="0"/>
          <p:nvPr/>
        </p:nvPicPr>
        <p:blipFill rotWithShape="1">
          <a:blip r:embed="rId9">
            <a:alphaModFix/>
          </a:blip>
          <a:srcRect b="0" l="0" r="0" t="0"/>
          <a:stretch/>
        </p:blipFill>
        <p:spPr>
          <a:xfrm>
            <a:off x="6149631" y="1640512"/>
            <a:ext cx="407562" cy="306952"/>
          </a:xfrm>
          <a:prstGeom prst="rect">
            <a:avLst/>
          </a:prstGeom>
          <a:noFill/>
          <a:ln>
            <a:noFill/>
          </a:ln>
        </p:spPr>
      </p:pic>
      <p:pic>
        <p:nvPicPr>
          <p:cNvPr id="397" name="Google Shape;397;p14"/>
          <p:cNvPicPr preferRelativeResize="0"/>
          <p:nvPr/>
        </p:nvPicPr>
        <p:blipFill rotWithShape="1">
          <a:blip r:embed="rId10">
            <a:alphaModFix/>
          </a:blip>
          <a:srcRect b="0" l="0" r="0" t="0"/>
          <a:stretch/>
        </p:blipFill>
        <p:spPr>
          <a:xfrm>
            <a:off x="7018201" y="1652349"/>
            <a:ext cx="407562" cy="306952"/>
          </a:xfrm>
          <a:prstGeom prst="rect">
            <a:avLst/>
          </a:prstGeom>
          <a:noFill/>
          <a:ln>
            <a:noFill/>
          </a:ln>
        </p:spPr>
      </p:pic>
      <p:pic>
        <p:nvPicPr>
          <p:cNvPr id="398" name="Google Shape;398;p14"/>
          <p:cNvPicPr preferRelativeResize="0"/>
          <p:nvPr/>
        </p:nvPicPr>
        <p:blipFill rotWithShape="1">
          <a:blip r:embed="rId10">
            <a:alphaModFix/>
          </a:blip>
          <a:srcRect b="0" l="0" r="0" t="0"/>
          <a:stretch/>
        </p:blipFill>
        <p:spPr>
          <a:xfrm>
            <a:off x="7984189" y="1638164"/>
            <a:ext cx="407562" cy="306952"/>
          </a:xfrm>
          <a:prstGeom prst="rect">
            <a:avLst/>
          </a:prstGeom>
          <a:noFill/>
          <a:ln>
            <a:noFill/>
          </a:ln>
        </p:spPr>
      </p:pic>
      <p:pic>
        <p:nvPicPr>
          <p:cNvPr id="399" name="Google Shape;399;p14"/>
          <p:cNvPicPr preferRelativeResize="0"/>
          <p:nvPr/>
        </p:nvPicPr>
        <p:blipFill rotWithShape="1">
          <a:blip r:embed="rId3">
            <a:alphaModFix/>
          </a:blip>
          <a:srcRect b="0" l="0" r="0" t="0"/>
          <a:stretch/>
        </p:blipFill>
        <p:spPr>
          <a:xfrm>
            <a:off x="7718084" y="2236370"/>
            <a:ext cx="324000" cy="324000"/>
          </a:xfrm>
          <a:prstGeom prst="rect">
            <a:avLst/>
          </a:prstGeom>
          <a:noFill/>
          <a:ln>
            <a:noFill/>
          </a:ln>
        </p:spPr>
      </p:pic>
      <p:pic>
        <p:nvPicPr>
          <p:cNvPr id="400" name="Google Shape;400;p14"/>
          <p:cNvPicPr preferRelativeResize="0"/>
          <p:nvPr/>
        </p:nvPicPr>
        <p:blipFill rotWithShape="1">
          <a:blip r:embed="rId4">
            <a:alphaModFix/>
          </a:blip>
          <a:srcRect b="0" l="0" r="0" t="0"/>
          <a:stretch/>
        </p:blipFill>
        <p:spPr>
          <a:xfrm>
            <a:off x="8513134" y="2259063"/>
            <a:ext cx="324000" cy="288000"/>
          </a:xfrm>
          <a:prstGeom prst="rect">
            <a:avLst/>
          </a:prstGeom>
          <a:noFill/>
          <a:ln>
            <a:noFill/>
          </a:ln>
        </p:spPr>
      </p:pic>
      <p:pic>
        <p:nvPicPr>
          <p:cNvPr id="401" name="Google Shape;401;p14"/>
          <p:cNvPicPr preferRelativeResize="0"/>
          <p:nvPr/>
        </p:nvPicPr>
        <p:blipFill rotWithShape="1">
          <a:blip r:embed="rId6">
            <a:alphaModFix/>
          </a:blip>
          <a:srcRect b="0" l="0" r="0" t="0"/>
          <a:stretch/>
        </p:blipFill>
        <p:spPr>
          <a:xfrm>
            <a:off x="2441837" y="1052138"/>
            <a:ext cx="424543" cy="306952"/>
          </a:xfrm>
          <a:prstGeom prst="rect">
            <a:avLst/>
          </a:prstGeom>
          <a:noFill/>
          <a:ln>
            <a:noFill/>
          </a:ln>
        </p:spPr>
      </p:pic>
      <p:pic>
        <p:nvPicPr>
          <p:cNvPr id="402" name="Google Shape;402;p14"/>
          <p:cNvPicPr preferRelativeResize="0"/>
          <p:nvPr/>
        </p:nvPicPr>
        <p:blipFill rotWithShape="1">
          <a:blip r:embed="rId4">
            <a:alphaModFix/>
          </a:blip>
          <a:srcRect b="0" l="0" r="0" t="0"/>
          <a:stretch/>
        </p:blipFill>
        <p:spPr>
          <a:xfrm>
            <a:off x="2627830" y="1643159"/>
            <a:ext cx="424543" cy="306952"/>
          </a:xfrm>
          <a:prstGeom prst="rect">
            <a:avLst/>
          </a:prstGeom>
          <a:noFill/>
          <a:ln>
            <a:noFill/>
          </a:ln>
        </p:spPr>
      </p:pic>
      <p:pic>
        <p:nvPicPr>
          <p:cNvPr id="403" name="Google Shape;403;p14"/>
          <p:cNvPicPr preferRelativeResize="0"/>
          <p:nvPr/>
        </p:nvPicPr>
        <p:blipFill rotWithShape="1">
          <a:blip r:embed="rId11">
            <a:alphaModFix/>
          </a:blip>
          <a:srcRect b="0" l="0" r="0" t="0"/>
          <a:stretch/>
        </p:blipFill>
        <p:spPr>
          <a:xfrm>
            <a:off x="8083837" y="2242031"/>
            <a:ext cx="407562" cy="306952"/>
          </a:xfrm>
          <a:prstGeom prst="rect">
            <a:avLst/>
          </a:prstGeom>
          <a:noFill/>
          <a:ln>
            <a:noFill/>
          </a:ln>
        </p:spPr>
      </p:pic>
      <p:pic>
        <p:nvPicPr>
          <p:cNvPr id="404" name="Google Shape;404;p14"/>
          <p:cNvPicPr preferRelativeResize="0"/>
          <p:nvPr/>
        </p:nvPicPr>
        <p:blipFill rotWithShape="1">
          <a:blip r:embed="rId6">
            <a:alphaModFix/>
          </a:blip>
          <a:srcRect b="0" l="0" r="0" t="0"/>
          <a:stretch/>
        </p:blipFill>
        <p:spPr>
          <a:xfrm>
            <a:off x="7774256" y="2612424"/>
            <a:ext cx="424543" cy="306952"/>
          </a:xfrm>
          <a:prstGeom prst="rect">
            <a:avLst/>
          </a:prstGeom>
          <a:noFill/>
          <a:ln>
            <a:noFill/>
          </a:ln>
        </p:spPr>
      </p:pic>
      <p:sp>
        <p:nvSpPr>
          <p:cNvPr id="405" name="Google Shape;405;p14"/>
          <p:cNvSpPr/>
          <p:nvPr/>
        </p:nvSpPr>
        <p:spPr>
          <a:xfrm>
            <a:off x="211832" y="535344"/>
            <a:ext cx="1451821" cy="246887"/>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002060"/>
          </a:solidFill>
          <a:ln>
            <a:noFill/>
          </a:ln>
        </p:spPr>
        <p:txBody>
          <a:bodyPr anchorCtr="0" anchor="ctr" bIns="17675" lIns="17675" spcFirstLastPara="1" rIns="17675" wrap="square" tIns="17675">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1. Marketing  y Gestión del Producto</a:t>
            </a:r>
            <a:endParaRPr b="0" i="0" sz="600" u="none" cap="none" strike="noStrike">
              <a:solidFill>
                <a:srgbClr val="FFFFFF"/>
              </a:solidFill>
              <a:latin typeface="Montserrat"/>
              <a:ea typeface="Montserrat"/>
              <a:cs typeface="Montserrat"/>
              <a:sym typeface="Montserrat"/>
            </a:endParaRPr>
          </a:p>
        </p:txBody>
      </p:sp>
      <p:sp>
        <p:nvSpPr>
          <p:cNvPr id="406" name="Google Shape;406;p14"/>
          <p:cNvSpPr txBox="1"/>
          <p:nvPr/>
        </p:nvSpPr>
        <p:spPr>
          <a:xfrm>
            <a:off x="260049" y="1425852"/>
            <a:ext cx="1330200" cy="1800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Taller de Productos</a:t>
            </a:r>
            <a:r>
              <a:rPr b="1" i="0" lang="es" sz="500" u="none" cap="none" strike="noStrike">
                <a:solidFill>
                  <a:srgbClr val="2C2C2C"/>
                </a:solidFill>
                <a:latin typeface="Montserrat"/>
                <a:ea typeface="Montserrat"/>
                <a:cs typeface="Montserrat"/>
                <a:sym typeface="Montserrat"/>
              </a:rPr>
              <a:t> Producto</a:t>
            </a:r>
            <a:endParaRPr b="0" i="0" sz="900" u="none" cap="none" strike="noStrike">
              <a:solidFill>
                <a:srgbClr val="2C2C2C"/>
              </a:solidFill>
              <a:latin typeface="Arial"/>
              <a:ea typeface="Arial"/>
              <a:cs typeface="Arial"/>
              <a:sym typeface="Arial"/>
            </a:endParaRPr>
          </a:p>
        </p:txBody>
      </p:sp>
      <p:sp>
        <p:nvSpPr>
          <p:cNvPr id="407" name="Google Shape;407;p14"/>
          <p:cNvSpPr/>
          <p:nvPr/>
        </p:nvSpPr>
        <p:spPr>
          <a:xfrm>
            <a:off x="260049" y="2005796"/>
            <a:ext cx="1330452" cy="18018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2C2C2C"/>
                </a:solidFill>
                <a:latin typeface="Montserrat"/>
                <a:ea typeface="Montserrat"/>
                <a:cs typeface="Montserrat"/>
                <a:sym typeface="Montserrat"/>
              </a:rPr>
              <a:t>Administración de Tarifas</a:t>
            </a:r>
            <a:endParaRPr b="1" i="0" sz="600" u="none" cap="none" strike="noStrike">
              <a:solidFill>
                <a:srgbClr val="2C2C2C"/>
              </a:solidFill>
              <a:latin typeface="Montserrat"/>
              <a:ea typeface="Montserrat"/>
              <a:cs typeface="Montserrat"/>
              <a:sym typeface="Montserrat"/>
            </a:endParaRPr>
          </a:p>
        </p:txBody>
      </p:sp>
      <p:sp>
        <p:nvSpPr>
          <p:cNvPr id="408" name="Google Shape;408;p14"/>
          <p:cNvSpPr txBox="1"/>
          <p:nvPr/>
        </p:nvSpPr>
        <p:spPr>
          <a:xfrm>
            <a:off x="260049" y="816891"/>
            <a:ext cx="1330200" cy="180000"/>
          </a:xfrm>
          <a:prstGeom prst="rect">
            <a:avLst/>
          </a:prstGeom>
          <a:solidFill>
            <a:schemeClr val="dk2"/>
          </a:solidFill>
          <a:ln cap="flat" cmpd="sng" w="9525">
            <a:solidFill>
              <a:schemeClr val="accent1"/>
            </a:solidFill>
            <a:prstDash val="solid"/>
            <a:round/>
            <a:headEnd len="sm" w="sm" type="none"/>
            <a:tailEnd len="sm" w="sm" type="none"/>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chemeClr val="lt1"/>
                </a:solidFill>
                <a:latin typeface="Montserrat"/>
                <a:ea typeface="Montserrat"/>
                <a:cs typeface="Montserrat"/>
                <a:sym typeface="Montserrat"/>
              </a:rPr>
              <a:t>Marketing	</a:t>
            </a:r>
            <a:endParaRPr b="1" i="0" sz="600" u="none" cap="none" strike="noStrike">
              <a:solidFill>
                <a:schemeClr val="lt1"/>
              </a:solidFill>
              <a:latin typeface="Montserrat"/>
              <a:ea typeface="Montserrat"/>
              <a:cs typeface="Montserrat"/>
              <a:sym typeface="Montserrat"/>
            </a:endParaRPr>
          </a:p>
        </p:txBody>
      </p:sp>
      <p:pic>
        <p:nvPicPr>
          <p:cNvPr descr="Close con relleno sólido" id="409" name="Google Shape;409;p14"/>
          <p:cNvPicPr preferRelativeResize="0"/>
          <p:nvPr/>
        </p:nvPicPr>
        <p:blipFill rotWithShape="1">
          <a:blip r:embed="rId7">
            <a:alphaModFix/>
          </a:blip>
          <a:srcRect b="0" l="0" r="0" t="0"/>
          <a:stretch/>
        </p:blipFill>
        <p:spPr>
          <a:xfrm>
            <a:off x="721368" y="1040051"/>
            <a:ext cx="407562" cy="342644"/>
          </a:xfrm>
          <a:prstGeom prst="rect">
            <a:avLst/>
          </a:prstGeom>
          <a:noFill/>
          <a:ln>
            <a:noFill/>
          </a:ln>
        </p:spPr>
      </p:pic>
      <p:grpSp>
        <p:nvGrpSpPr>
          <p:cNvPr id="410" name="Google Shape;410;p14"/>
          <p:cNvGrpSpPr/>
          <p:nvPr/>
        </p:nvGrpSpPr>
        <p:grpSpPr>
          <a:xfrm>
            <a:off x="496395" y="1652349"/>
            <a:ext cx="840562" cy="306952"/>
            <a:chOff x="619762" y="3216752"/>
            <a:chExt cx="840562" cy="306952"/>
          </a:xfrm>
        </p:grpSpPr>
        <p:pic>
          <p:nvPicPr>
            <p:cNvPr id="411" name="Google Shape;411;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412" name="Google Shape;412;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grpSp>
        <p:nvGrpSpPr>
          <p:cNvPr id="413" name="Google Shape;413;p14"/>
          <p:cNvGrpSpPr/>
          <p:nvPr/>
        </p:nvGrpSpPr>
        <p:grpSpPr>
          <a:xfrm>
            <a:off x="419195" y="2269045"/>
            <a:ext cx="840562" cy="306952"/>
            <a:chOff x="619762" y="3216752"/>
            <a:chExt cx="840562" cy="306952"/>
          </a:xfrm>
        </p:grpSpPr>
        <p:pic>
          <p:nvPicPr>
            <p:cNvPr id="414" name="Google Shape;414;p14"/>
            <p:cNvPicPr preferRelativeResize="0"/>
            <p:nvPr/>
          </p:nvPicPr>
          <p:blipFill rotWithShape="1">
            <a:blip r:embed="rId10">
              <a:alphaModFix/>
            </a:blip>
            <a:srcRect b="0" l="0" r="0" t="0"/>
            <a:stretch/>
          </p:blipFill>
          <p:spPr>
            <a:xfrm>
              <a:off x="619762" y="3216752"/>
              <a:ext cx="407562" cy="306952"/>
            </a:xfrm>
            <a:prstGeom prst="rect">
              <a:avLst/>
            </a:prstGeom>
            <a:noFill/>
            <a:ln>
              <a:noFill/>
            </a:ln>
          </p:spPr>
        </p:pic>
        <p:pic>
          <p:nvPicPr>
            <p:cNvPr id="415" name="Google Shape;415;p14"/>
            <p:cNvPicPr preferRelativeResize="0"/>
            <p:nvPr/>
          </p:nvPicPr>
          <p:blipFill rotWithShape="1">
            <a:blip r:embed="rId8">
              <a:alphaModFix/>
            </a:blip>
            <a:srcRect b="0" l="0" r="0" t="0"/>
            <a:stretch/>
          </p:blipFill>
          <p:spPr>
            <a:xfrm>
              <a:off x="1052762" y="3216752"/>
              <a:ext cx="407562" cy="306952"/>
            </a:xfrm>
            <a:prstGeom prst="rect">
              <a:avLst/>
            </a:prstGeom>
            <a:noFill/>
            <a:ln>
              <a:noFill/>
            </a:ln>
          </p:spPr>
        </p:pic>
      </p:grpSp>
      <p:sp>
        <p:nvSpPr>
          <p:cNvPr id="416" name="Google Shape;416;p14"/>
          <p:cNvSpPr txBox="1"/>
          <p:nvPr/>
        </p:nvSpPr>
        <p:spPr>
          <a:xfrm>
            <a:off x="4423193" y="4961429"/>
            <a:ext cx="934500" cy="167147"/>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Montserrat"/>
                <a:ea typeface="Montserrat"/>
                <a:cs typeface="Montserrat"/>
                <a:sym typeface="Montserrat"/>
              </a:rPr>
              <a:t>Habilitadores</a:t>
            </a:r>
            <a:endParaRPr b="0" i="0" sz="900" u="none" cap="none" strike="noStrike">
              <a:solidFill>
                <a:srgbClr val="000000"/>
              </a:solidFill>
              <a:latin typeface="Arial"/>
              <a:ea typeface="Arial"/>
              <a:cs typeface="Arial"/>
              <a:sym typeface="Arial"/>
            </a:endParaRPr>
          </a:p>
        </p:txBody>
      </p:sp>
      <p:sp>
        <p:nvSpPr>
          <p:cNvPr id="417" name="Google Shape;417;p14"/>
          <p:cNvSpPr txBox="1"/>
          <p:nvPr/>
        </p:nvSpPr>
        <p:spPr>
          <a:xfrm>
            <a:off x="2773246" y="4969742"/>
            <a:ext cx="1350525" cy="167147"/>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Montserrat"/>
                <a:ea typeface="Montserrat"/>
                <a:cs typeface="Montserrat"/>
                <a:sym typeface="Montserrat"/>
              </a:rPr>
              <a:t>Onboarding Apolo</a:t>
            </a:r>
            <a:endParaRPr b="0" i="0" sz="900" u="none" cap="none" strike="noStrike">
              <a:solidFill>
                <a:srgbClr val="000000"/>
              </a:solidFill>
              <a:latin typeface="Arial"/>
              <a:ea typeface="Arial"/>
              <a:cs typeface="Arial"/>
              <a:sym typeface="Arial"/>
            </a:endParaRPr>
          </a:p>
        </p:txBody>
      </p:sp>
      <p:sp>
        <p:nvSpPr>
          <p:cNvPr id="418" name="Google Shape;418;p14"/>
          <p:cNvSpPr/>
          <p:nvPr/>
        </p:nvSpPr>
        <p:spPr>
          <a:xfrm>
            <a:off x="2720407" y="4993186"/>
            <a:ext cx="201600" cy="71100"/>
          </a:xfrm>
          <a:prstGeom prst="roundRect">
            <a:avLst>
              <a:gd fmla="val 50000" name="adj"/>
            </a:avLst>
          </a:prstGeom>
          <a:solidFill>
            <a:srgbClr val="BFCC13"/>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400"/>
              <a:buFont typeface="Arial"/>
              <a:buNone/>
            </a:pPr>
            <a:r>
              <a:t/>
            </a:r>
            <a:endParaRPr b="1" i="0" sz="400" u="none" cap="none" strike="noStrike">
              <a:solidFill>
                <a:srgbClr val="FFFFFF"/>
              </a:solidFill>
              <a:latin typeface="Montserrat"/>
              <a:ea typeface="Montserrat"/>
              <a:cs typeface="Montserrat"/>
              <a:sym typeface="Montserrat"/>
            </a:endParaRPr>
          </a:p>
        </p:txBody>
      </p:sp>
      <p:sp>
        <p:nvSpPr>
          <p:cNvPr id="419" name="Google Shape;419;p14"/>
          <p:cNvSpPr/>
          <p:nvPr/>
        </p:nvSpPr>
        <p:spPr>
          <a:xfrm>
            <a:off x="4364251" y="4993184"/>
            <a:ext cx="201600" cy="711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400"/>
              <a:buFont typeface="Arial"/>
              <a:buNone/>
            </a:pPr>
            <a:r>
              <a:t/>
            </a:r>
            <a:endParaRPr b="1" i="0" sz="400" u="none" cap="none" strike="noStrike">
              <a:solidFill>
                <a:srgbClr val="FFFFFF"/>
              </a:solidFill>
              <a:latin typeface="Montserrat"/>
              <a:ea typeface="Montserrat"/>
              <a:cs typeface="Montserrat"/>
              <a:sym typeface="Montserrat"/>
            </a:endParaRPr>
          </a:p>
        </p:txBody>
      </p:sp>
      <p:sp>
        <p:nvSpPr>
          <p:cNvPr id="420" name="Google Shape;420;p14"/>
          <p:cNvSpPr txBox="1"/>
          <p:nvPr/>
        </p:nvSpPr>
        <p:spPr>
          <a:xfrm>
            <a:off x="5603843" y="4950743"/>
            <a:ext cx="934500" cy="167147"/>
          </a:xfrm>
          <a:prstGeom prst="rect">
            <a:avLst/>
          </a:prstGeom>
          <a:noFill/>
          <a:ln>
            <a:noFill/>
          </a:ln>
        </p:spPr>
        <p:txBody>
          <a:bodyPr anchorCtr="0" anchor="t" bIns="29425" lIns="58875" spcFirstLastPara="1" rIns="58875" wrap="square" tIns="29425">
            <a:sp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Montserrat"/>
                <a:ea typeface="Montserrat"/>
                <a:cs typeface="Montserrat"/>
                <a:sym typeface="Montserrat"/>
              </a:rPr>
              <a:t>Sistemas Core</a:t>
            </a:r>
            <a:endParaRPr b="0" i="0" sz="900" u="none" cap="none" strike="noStrike">
              <a:solidFill>
                <a:srgbClr val="000000"/>
              </a:solidFill>
              <a:latin typeface="Arial"/>
              <a:ea typeface="Arial"/>
              <a:cs typeface="Arial"/>
              <a:sym typeface="Arial"/>
            </a:endParaRPr>
          </a:p>
        </p:txBody>
      </p:sp>
      <p:sp>
        <p:nvSpPr>
          <p:cNvPr id="421" name="Google Shape;421;p14"/>
          <p:cNvSpPr/>
          <p:nvPr/>
        </p:nvSpPr>
        <p:spPr>
          <a:xfrm>
            <a:off x="5502085" y="4993184"/>
            <a:ext cx="201600" cy="711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l">
              <a:lnSpc>
                <a:spcPct val="100000"/>
              </a:lnSpc>
              <a:spcBef>
                <a:spcPts val="0"/>
              </a:spcBef>
              <a:spcAft>
                <a:spcPts val="0"/>
              </a:spcAft>
              <a:buClr>
                <a:srgbClr val="000000"/>
              </a:buClr>
              <a:buSzPts val="400"/>
              <a:buFont typeface="Arial"/>
              <a:buNone/>
            </a:pPr>
            <a:r>
              <a:t/>
            </a:r>
            <a:endParaRPr b="1" i="0" sz="400" u="none" cap="none" strike="noStrike">
              <a:solidFill>
                <a:srgbClr val="FFFFFF"/>
              </a:solidFill>
              <a:latin typeface="Montserrat"/>
              <a:ea typeface="Montserrat"/>
              <a:cs typeface="Montserrat"/>
              <a:sym typeface="Montserrat"/>
            </a:endParaRPr>
          </a:p>
        </p:txBody>
      </p:sp>
      <p:sp>
        <p:nvSpPr>
          <p:cNvPr id="422" name="Google Shape;422;p14"/>
          <p:cNvSpPr/>
          <p:nvPr/>
        </p:nvSpPr>
        <p:spPr>
          <a:xfrm>
            <a:off x="7624951" y="4441747"/>
            <a:ext cx="1299902" cy="21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423" name="Google Shape;423;p14"/>
          <p:cNvGrpSpPr/>
          <p:nvPr/>
        </p:nvGrpSpPr>
        <p:grpSpPr>
          <a:xfrm>
            <a:off x="77494" y="4593399"/>
            <a:ext cx="8976713" cy="284741"/>
            <a:chOff x="90726" y="4847239"/>
            <a:chExt cx="8976713" cy="230772"/>
          </a:xfrm>
        </p:grpSpPr>
        <p:grpSp>
          <p:nvGrpSpPr>
            <p:cNvPr id="424" name="Google Shape;424;p14"/>
            <p:cNvGrpSpPr/>
            <p:nvPr/>
          </p:nvGrpSpPr>
          <p:grpSpPr>
            <a:xfrm>
              <a:off x="998439" y="4847246"/>
              <a:ext cx="807625" cy="230759"/>
              <a:chOff x="1522664" y="3002518"/>
              <a:chExt cx="807625" cy="230759"/>
            </a:xfrm>
          </p:grpSpPr>
          <p:grpSp>
            <p:nvGrpSpPr>
              <p:cNvPr id="425" name="Google Shape;425;p14"/>
              <p:cNvGrpSpPr/>
              <p:nvPr/>
            </p:nvGrpSpPr>
            <p:grpSpPr>
              <a:xfrm>
                <a:off x="1522664" y="3002518"/>
                <a:ext cx="807625" cy="230759"/>
                <a:chOff x="13814585" y="1926698"/>
                <a:chExt cx="2486530" cy="804600"/>
              </a:xfrm>
            </p:grpSpPr>
            <p:sp>
              <p:nvSpPr>
                <p:cNvPr id="426" name="Google Shape;426;p14"/>
                <p:cNvSpPr/>
                <p:nvPr/>
              </p:nvSpPr>
              <p:spPr>
                <a:xfrm>
                  <a:off x="14062515" y="1977408"/>
                  <a:ext cx="2238600" cy="703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427" name="Google Shape;427;p14"/>
                <p:cNvGrpSpPr/>
                <p:nvPr/>
              </p:nvGrpSpPr>
              <p:grpSpPr>
                <a:xfrm>
                  <a:off x="14018731" y="2168949"/>
                  <a:ext cx="396177" cy="320504"/>
                  <a:chOff x="-3757613" y="5049838"/>
                  <a:chExt cx="5826126" cy="4713288"/>
                </a:xfrm>
              </p:grpSpPr>
              <p:sp>
                <p:nvSpPr>
                  <p:cNvPr id="428" name="Google Shape;428;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29" name="Google Shape;429;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30" name="Google Shape;430;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31" name="Google Shape;431;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32" name="Google Shape;432;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433" name="Google Shape;433;p14"/>
                <p:cNvSpPr/>
                <p:nvPr/>
              </p:nvSpPr>
              <p:spPr>
                <a:xfrm>
                  <a:off x="13814585" y="1926698"/>
                  <a:ext cx="804600" cy="8046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434" name="Google Shape;434;p14"/>
              <p:cNvPicPr preferRelativeResize="0"/>
              <p:nvPr/>
            </p:nvPicPr>
            <p:blipFill rotWithShape="1">
              <a:blip r:embed="rId8">
                <a:alphaModFix/>
              </a:blip>
              <a:srcRect b="0" l="0" r="0" t="0"/>
              <a:stretch/>
            </p:blipFill>
            <p:spPr>
              <a:xfrm>
                <a:off x="1545256" y="3020281"/>
                <a:ext cx="192553" cy="170844"/>
              </a:xfrm>
              <a:prstGeom prst="rect">
                <a:avLst/>
              </a:prstGeom>
              <a:noFill/>
              <a:ln>
                <a:noFill/>
              </a:ln>
            </p:spPr>
          </p:pic>
        </p:grpSp>
        <p:grpSp>
          <p:nvGrpSpPr>
            <p:cNvPr id="435" name="Google Shape;435;p14"/>
            <p:cNvGrpSpPr/>
            <p:nvPr/>
          </p:nvGrpSpPr>
          <p:grpSpPr>
            <a:xfrm>
              <a:off x="5536754" y="4847239"/>
              <a:ext cx="848649" cy="230772"/>
              <a:chOff x="3536077" y="1822016"/>
              <a:chExt cx="1131531" cy="320472"/>
            </a:xfrm>
          </p:grpSpPr>
          <p:grpSp>
            <p:nvGrpSpPr>
              <p:cNvPr id="436" name="Google Shape;436;p14"/>
              <p:cNvGrpSpPr/>
              <p:nvPr/>
            </p:nvGrpSpPr>
            <p:grpSpPr>
              <a:xfrm>
                <a:off x="3536077" y="1822016"/>
                <a:ext cx="1131531" cy="320472"/>
                <a:chOff x="13814589" y="1926698"/>
                <a:chExt cx="2612633" cy="804600"/>
              </a:xfrm>
            </p:grpSpPr>
            <p:sp>
              <p:nvSpPr>
                <p:cNvPr id="437" name="Google Shape;437;p14"/>
                <p:cNvSpPr/>
                <p:nvPr/>
              </p:nvSpPr>
              <p:spPr>
                <a:xfrm>
                  <a:off x="13857778" y="1977406"/>
                  <a:ext cx="2569444"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438" name="Google Shape;438;p14"/>
                <p:cNvGrpSpPr/>
                <p:nvPr/>
              </p:nvGrpSpPr>
              <p:grpSpPr>
                <a:xfrm>
                  <a:off x="14018731" y="2168949"/>
                  <a:ext cx="396177" cy="320504"/>
                  <a:chOff x="-3757613" y="5049838"/>
                  <a:chExt cx="5826126" cy="4713288"/>
                </a:xfrm>
              </p:grpSpPr>
              <p:sp>
                <p:nvSpPr>
                  <p:cNvPr id="439" name="Google Shape;439;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40" name="Google Shape;440;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41" name="Google Shape;441;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42" name="Google Shape;442;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43" name="Google Shape;443;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44" name="Google Shape;444;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445" name="Google Shape;445;p14"/>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446" name="Google Shape;446;p14"/>
              <p:cNvPicPr preferRelativeResize="0"/>
              <p:nvPr/>
            </p:nvPicPr>
            <p:blipFill rotWithShape="1">
              <a:blip r:embed="rId12">
                <a:alphaModFix/>
              </a:blip>
              <a:srcRect b="0" l="0" r="0" t="0"/>
              <a:stretch/>
            </p:blipFill>
            <p:spPr>
              <a:xfrm>
                <a:off x="3592187" y="1880579"/>
                <a:ext cx="237223" cy="210318"/>
              </a:xfrm>
              <a:prstGeom prst="rect">
                <a:avLst/>
              </a:prstGeom>
              <a:noFill/>
              <a:ln>
                <a:noFill/>
              </a:ln>
            </p:spPr>
          </p:pic>
        </p:grpSp>
        <p:grpSp>
          <p:nvGrpSpPr>
            <p:cNvPr id="447" name="Google Shape;447;p14"/>
            <p:cNvGrpSpPr/>
            <p:nvPr/>
          </p:nvGrpSpPr>
          <p:grpSpPr>
            <a:xfrm>
              <a:off x="6444426" y="4847239"/>
              <a:ext cx="827267" cy="230772"/>
              <a:chOff x="1567187" y="1984411"/>
              <a:chExt cx="1103024" cy="320472"/>
            </a:xfrm>
          </p:grpSpPr>
          <p:grpSp>
            <p:nvGrpSpPr>
              <p:cNvPr id="448" name="Google Shape;448;p14"/>
              <p:cNvGrpSpPr/>
              <p:nvPr/>
            </p:nvGrpSpPr>
            <p:grpSpPr>
              <a:xfrm>
                <a:off x="1567187" y="1984411"/>
                <a:ext cx="1103024" cy="320472"/>
                <a:chOff x="13814589" y="1926698"/>
                <a:chExt cx="2546808" cy="804600"/>
              </a:xfrm>
            </p:grpSpPr>
            <p:sp>
              <p:nvSpPr>
                <p:cNvPr id="449" name="Google Shape;449;p14"/>
                <p:cNvSpPr/>
                <p:nvPr/>
              </p:nvSpPr>
              <p:spPr>
                <a:xfrm>
                  <a:off x="13891172" y="1977408"/>
                  <a:ext cx="2470225" cy="703199"/>
                </a:xfrm>
                <a:prstGeom prst="roundRect">
                  <a:avLst>
                    <a:gd fmla="val 50000" name="adj"/>
                  </a:avLst>
                </a:prstGeom>
                <a:solidFill>
                  <a:srgbClr val="BFCC13"/>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450" name="Google Shape;450;p14"/>
                <p:cNvGrpSpPr/>
                <p:nvPr/>
              </p:nvGrpSpPr>
              <p:grpSpPr>
                <a:xfrm>
                  <a:off x="14018731" y="2168949"/>
                  <a:ext cx="396177" cy="320504"/>
                  <a:chOff x="-3757613" y="5049838"/>
                  <a:chExt cx="5826126" cy="4713288"/>
                </a:xfrm>
              </p:grpSpPr>
              <p:sp>
                <p:nvSpPr>
                  <p:cNvPr id="451" name="Google Shape;451;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452" name="Google Shape;452;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453" name="Google Shape;453;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454" name="Google Shape;454;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455" name="Google Shape;455;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456" name="Google Shape;456;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457" name="Google Shape;457;p14"/>
                <p:cNvSpPr/>
                <p:nvPr/>
              </p:nvSpPr>
              <p:spPr>
                <a:xfrm>
                  <a:off x="13814589" y="1926698"/>
                  <a:ext cx="804600" cy="804600"/>
                </a:xfrm>
                <a:prstGeom prst="ellipse">
                  <a:avLst/>
                </a:prstGeom>
                <a:solidFill>
                  <a:srgbClr val="BFCC13"/>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458" name="Google Shape;458;p14"/>
              <p:cNvPicPr preferRelativeResize="0"/>
              <p:nvPr/>
            </p:nvPicPr>
            <p:blipFill rotWithShape="1">
              <a:blip r:embed="rId13">
                <a:alphaModFix/>
              </a:blip>
              <a:srcRect b="0" l="0" r="0" t="0"/>
              <a:stretch/>
            </p:blipFill>
            <p:spPr>
              <a:xfrm>
                <a:off x="1612093" y="2025505"/>
                <a:ext cx="272555" cy="252119"/>
              </a:xfrm>
              <a:prstGeom prst="rect">
                <a:avLst/>
              </a:prstGeom>
              <a:noFill/>
              <a:ln>
                <a:noFill/>
              </a:ln>
            </p:spPr>
          </p:pic>
        </p:grpSp>
        <p:grpSp>
          <p:nvGrpSpPr>
            <p:cNvPr id="459" name="Google Shape;459;p14"/>
            <p:cNvGrpSpPr/>
            <p:nvPr/>
          </p:nvGrpSpPr>
          <p:grpSpPr>
            <a:xfrm>
              <a:off x="2813754" y="4847239"/>
              <a:ext cx="841248" cy="230772"/>
              <a:chOff x="1312423" y="2685531"/>
              <a:chExt cx="1121663" cy="320472"/>
            </a:xfrm>
          </p:grpSpPr>
          <p:grpSp>
            <p:nvGrpSpPr>
              <p:cNvPr id="460" name="Google Shape;460;p14"/>
              <p:cNvGrpSpPr/>
              <p:nvPr/>
            </p:nvGrpSpPr>
            <p:grpSpPr>
              <a:xfrm>
                <a:off x="1312423" y="2685531"/>
                <a:ext cx="1121663" cy="320472"/>
                <a:chOff x="13814589" y="1926698"/>
                <a:chExt cx="2589849" cy="804600"/>
              </a:xfrm>
            </p:grpSpPr>
            <p:sp>
              <p:nvSpPr>
                <p:cNvPr id="461" name="Google Shape;461;p14"/>
                <p:cNvSpPr/>
                <p:nvPr/>
              </p:nvSpPr>
              <p:spPr>
                <a:xfrm>
                  <a:off x="13832186" y="1977407"/>
                  <a:ext cx="2572252"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Hom. Ambientes</a:t>
                  </a:r>
                  <a:endParaRPr b="1" i="0" sz="500" u="none" cap="none" strike="noStrike">
                    <a:solidFill>
                      <a:srgbClr val="000000"/>
                    </a:solidFill>
                    <a:latin typeface="Arial"/>
                    <a:ea typeface="Arial"/>
                    <a:cs typeface="Arial"/>
                    <a:sym typeface="Arial"/>
                  </a:endParaRPr>
                </a:p>
              </p:txBody>
            </p:sp>
            <p:grpSp>
              <p:nvGrpSpPr>
                <p:cNvPr id="462" name="Google Shape;462;p14"/>
                <p:cNvGrpSpPr/>
                <p:nvPr/>
              </p:nvGrpSpPr>
              <p:grpSpPr>
                <a:xfrm>
                  <a:off x="14018731" y="2168949"/>
                  <a:ext cx="396177" cy="320504"/>
                  <a:chOff x="-3757613" y="5049838"/>
                  <a:chExt cx="5826126" cy="4713288"/>
                </a:xfrm>
              </p:grpSpPr>
              <p:sp>
                <p:nvSpPr>
                  <p:cNvPr id="463" name="Google Shape;463;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64" name="Google Shape;464;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65" name="Google Shape;465;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66" name="Google Shape;466;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67" name="Google Shape;467;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68" name="Google Shape;468;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469" name="Google Shape;469;p14"/>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470" name="Google Shape;470;p14"/>
              <p:cNvPicPr preferRelativeResize="0"/>
              <p:nvPr/>
            </p:nvPicPr>
            <p:blipFill rotWithShape="1">
              <a:blip r:embed="rId3">
                <a:alphaModFix/>
              </a:blip>
              <a:srcRect b="0" l="0" r="0" t="0"/>
              <a:stretch/>
            </p:blipFill>
            <p:spPr>
              <a:xfrm>
                <a:off x="1386520" y="2739156"/>
                <a:ext cx="243216" cy="223734"/>
              </a:xfrm>
              <a:prstGeom prst="rect">
                <a:avLst/>
              </a:prstGeom>
              <a:noFill/>
              <a:ln>
                <a:noFill/>
              </a:ln>
            </p:spPr>
          </p:pic>
        </p:grpSp>
        <p:grpSp>
          <p:nvGrpSpPr>
            <p:cNvPr id="471" name="Google Shape;471;p14"/>
            <p:cNvGrpSpPr/>
            <p:nvPr/>
          </p:nvGrpSpPr>
          <p:grpSpPr>
            <a:xfrm>
              <a:off x="3721423" y="4847239"/>
              <a:ext cx="807686" cy="230772"/>
              <a:chOff x="2033701" y="2547726"/>
              <a:chExt cx="1076914" cy="320472"/>
            </a:xfrm>
          </p:grpSpPr>
          <p:grpSp>
            <p:nvGrpSpPr>
              <p:cNvPr id="472" name="Google Shape;472;p14"/>
              <p:cNvGrpSpPr/>
              <p:nvPr/>
            </p:nvGrpSpPr>
            <p:grpSpPr>
              <a:xfrm>
                <a:off x="2033701" y="2547726"/>
                <a:ext cx="1076914" cy="320472"/>
                <a:chOff x="13814589" y="1926698"/>
                <a:chExt cx="2486526" cy="804600"/>
              </a:xfrm>
            </p:grpSpPr>
            <p:sp>
              <p:nvSpPr>
                <p:cNvPr id="473" name="Google Shape;473;p14"/>
                <p:cNvSpPr/>
                <p:nvPr/>
              </p:nvSpPr>
              <p:spPr>
                <a:xfrm>
                  <a:off x="14062515" y="1977408"/>
                  <a:ext cx="22386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7938"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Interfases Temp.</a:t>
                  </a:r>
                  <a:endParaRPr b="1" i="0" sz="500" u="none" cap="none" strike="noStrike">
                    <a:solidFill>
                      <a:srgbClr val="000000"/>
                    </a:solidFill>
                    <a:latin typeface="Arial"/>
                    <a:ea typeface="Arial"/>
                    <a:cs typeface="Arial"/>
                    <a:sym typeface="Arial"/>
                  </a:endParaRPr>
                </a:p>
              </p:txBody>
            </p:sp>
            <p:grpSp>
              <p:nvGrpSpPr>
                <p:cNvPr id="474" name="Google Shape;474;p14"/>
                <p:cNvGrpSpPr/>
                <p:nvPr/>
              </p:nvGrpSpPr>
              <p:grpSpPr>
                <a:xfrm>
                  <a:off x="14018731" y="2168949"/>
                  <a:ext cx="396177" cy="320504"/>
                  <a:chOff x="-3757613" y="5049838"/>
                  <a:chExt cx="5826126" cy="4713288"/>
                </a:xfrm>
              </p:grpSpPr>
              <p:sp>
                <p:nvSpPr>
                  <p:cNvPr id="475" name="Google Shape;475;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76" name="Google Shape;476;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77" name="Google Shape;477;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78" name="Google Shape;478;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79" name="Google Shape;479;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80" name="Google Shape;480;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481" name="Google Shape;481;p14"/>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482" name="Google Shape;482;p14"/>
              <p:cNvPicPr preferRelativeResize="0"/>
              <p:nvPr/>
            </p:nvPicPr>
            <p:blipFill rotWithShape="1">
              <a:blip r:embed="rId4">
                <a:alphaModFix/>
              </a:blip>
              <a:srcRect b="0" l="0" r="0" t="0"/>
              <a:stretch/>
            </p:blipFill>
            <p:spPr>
              <a:xfrm>
                <a:off x="2107092" y="2608047"/>
                <a:ext cx="201507" cy="185365"/>
              </a:xfrm>
              <a:prstGeom prst="rect">
                <a:avLst/>
              </a:prstGeom>
              <a:noFill/>
              <a:ln>
                <a:noFill/>
              </a:ln>
            </p:spPr>
          </p:pic>
        </p:grpSp>
        <p:grpSp>
          <p:nvGrpSpPr>
            <p:cNvPr id="483" name="Google Shape;483;p14"/>
            <p:cNvGrpSpPr/>
            <p:nvPr/>
          </p:nvGrpSpPr>
          <p:grpSpPr>
            <a:xfrm>
              <a:off x="7352085" y="4847239"/>
              <a:ext cx="825685" cy="230772"/>
              <a:chOff x="5704388" y="3794681"/>
              <a:chExt cx="1100915" cy="320472"/>
            </a:xfrm>
          </p:grpSpPr>
          <p:grpSp>
            <p:nvGrpSpPr>
              <p:cNvPr id="484" name="Google Shape;484;p14"/>
              <p:cNvGrpSpPr/>
              <p:nvPr/>
            </p:nvGrpSpPr>
            <p:grpSpPr>
              <a:xfrm>
                <a:off x="5704388" y="3794681"/>
                <a:ext cx="1100915" cy="320472"/>
                <a:chOff x="13814589" y="1926698"/>
                <a:chExt cx="2541938" cy="804600"/>
              </a:xfrm>
            </p:grpSpPr>
            <p:sp>
              <p:nvSpPr>
                <p:cNvPr id="485" name="Google Shape;485;p14"/>
                <p:cNvSpPr/>
                <p:nvPr/>
              </p:nvSpPr>
              <p:spPr>
                <a:xfrm>
                  <a:off x="13915650" y="1977408"/>
                  <a:ext cx="2440877"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486" name="Google Shape;486;p14"/>
                <p:cNvGrpSpPr/>
                <p:nvPr/>
              </p:nvGrpSpPr>
              <p:grpSpPr>
                <a:xfrm>
                  <a:off x="14018731" y="2168949"/>
                  <a:ext cx="396177" cy="320504"/>
                  <a:chOff x="-3757613" y="5049838"/>
                  <a:chExt cx="5826126" cy="4713288"/>
                </a:xfrm>
              </p:grpSpPr>
              <p:sp>
                <p:nvSpPr>
                  <p:cNvPr id="487" name="Google Shape;487;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88" name="Google Shape;488;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89" name="Google Shape;489;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90" name="Google Shape;490;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91" name="Google Shape;491;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492" name="Google Shape;492;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493" name="Google Shape;493;p14"/>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494" name="Google Shape;494;p14"/>
              <p:cNvPicPr preferRelativeResize="0"/>
              <p:nvPr/>
            </p:nvPicPr>
            <p:blipFill rotWithShape="1">
              <a:blip r:embed="rId5">
                <a:alphaModFix/>
              </a:blip>
              <a:srcRect b="0" l="0" r="0" t="0"/>
              <a:stretch/>
            </p:blipFill>
            <p:spPr>
              <a:xfrm>
                <a:off x="5773564" y="3845375"/>
                <a:ext cx="223168" cy="205291"/>
              </a:xfrm>
              <a:prstGeom prst="rect">
                <a:avLst/>
              </a:prstGeom>
              <a:noFill/>
              <a:ln>
                <a:noFill/>
              </a:ln>
            </p:spPr>
          </p:pic>
        </p:grpSp>
        <p:grpSp>
          <p:nvGrpSpPr>
            <p:cNvPr id="495" name="Google Shape;495;p14"/>
            <p:cNvGrpSpPr/>
            <p:nvPr/>
          </p:nvGrpSpPr>
          <p:grpSpPr>
            <a:xfrm>
              <a:off x="1882193" y="4847265"/>
              <a:ext cx="852526" cy="230720"/>
              <a:chOff x="1397123" y="2489311"/>
              <a:chExt cx="1136700" cy="320400"/>
            </a:xfrm>
          </p:grpSpPr>
          <p:grpSp>
            <p:nvGrpSpPr>
              <p:cNvPr id="496" name="Google Shape;496;p14"/>
              <p:cNvGrpSpPr/>
              <p:nvPr/>
            </p:nvGrpSpPr>
            <p:grpSpPr>
              <a:xfrm>
                <a:off x="1397123" y="2489311"/>
                <a:ext cx="1136700" cy="320400"/>
                <a:chOff x="1397123" y="2489311"/>
                <a:chExt cx="1136700" cy="320400"/>
              </a:xfrm>
            </p:grpSpPr>
            <p:sp>
              <p:nvSpPr>
                <p:cNvPr id="497" name="Google Shape;497;p14"/>
                <p:cNvSpPr/>
                <p:nvPr/>
              </p:nvSpPr>
              <p:spPr>
                <a:xfrm>
                  <a:off x="1504496" y="2509509"/>
                  <a:ext cx="1029327" cy="280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DevSecOps</a:t>
                  </a:r>
                  <a:endParaRPr b="1" i="0" sz="500" u="none" cap="none" strike="noStrike">
                    <a:solidFill>
                      <a:srgbClr val="FFFFFF"/>
                    </a:solidFill>
                    <a:latin typeface="Montserrat"/>
                    <a:ea typeface="Montserrat"/>
                    <a:cs typeface="Montserrat"/>
                    <a:sym typeface="Montserrat"/>
                  </a:endParaRPr>
                </a:p>
              </p:txBody>
            </p:sp>
            <p:grpSp>
              <p:nvGrpSpPr>
                <p:cNvPr id="498" name="Google Shape;498;p14"/>
                <p:cNvGrpSpPr/>
                <p:nvPr/>
              </p:nvGrpSpPr>
              <p:grpSpPr>
                <a:xfrm>
                  <a:off x="1517155" y="2585878"/>
                  <a:ext cx="171871" cy="127730"/>
                  <a:chOff x="-3757613" y="5049838"/>
                  <a:chExt cx="5826126" cy="4713288"/>
                </a:xfrm>
              </p:grpSpPr>
              <p:sp>
                <p:nvSpPr>
                  <p:cNvPr id="499" name="Google Shape;499;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00" name="Google Shape;500;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01" name="Google Shape;501;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02" name="Google Shape;502;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03" name="Google Shape;503;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04" name="Google Shape;504;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505" name="Google Shape;505;p14"/>
                <p:cNvSpPr/>
                <p:nvPr/>
              </p:nvSpPr>
              <p:spPr>
                <a:xfrm>
                  <a:off x="1397123" y="2489311"/>
                  <a:ext cx="348600" cy="3204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506" name="Google Shape;506;p14"/>
              <p:cNvPicPr preferRelativeResize="0"/>
              <p:nvPr/>
            </p:nvPicPr>
            <p:blipFill rotWithShape="1">
              <a:blip r:embed="rId11">
                <a:alphaModFix/>
              </a:blip>
              <a:srcRect b="0" l="0" r="0" t="0"/>
              <a:stretch/>
            </p:blipFill>
            <p:spPr>
              <a:xfrm>
                <a:off x="1452176" y="2523630"/>
                <a:ext cx="252977" cy="232712"/>
              </a:xfrm>
              <a:prstGeom prst="rect">
                <a:avLst/>
              </a:prstGeom>
              <a:noFill/>
              <a:ln>
                <a:noFill/>
              </a:ln>
            </p:spPr>
          </p:pic>
        </p:grpSp>
        <p:grpSp>
          <p:nvGrpSpPr>
            <p:cNvPr id="507" name="Google Shape;507;p14"/>
            <p:cNvGrpSpPr/>
            <p:nvPr/>
          </p:nvGrpSpPr>
          <p:grpSpPr>
            <a:xfrm>
              <a:off x="4629086" y="4847239"/>
              <a:ext cx="825134" cy="230772"/>
              <a:chOff x="2785851" y="1986995"/>
              <a:chExt cx="1100179" cy="320472"/>
            </a:xfrm>
          </p:grpSpPr>
          <p:grpSp>
            <p:nvGrpSpPr>
              <p:cNvPr id="508" name="Google Shape;508;p14"/>
              <p:cNvGrpSpPr/>
              <p:nvPr/>
            </p:nvGrpSpPr>
            <p:grpSpPr>
              <a:xfrm>
                <a:off x="2785851" y="1986995"/>
                <a:ext cx="1100179" cy="320472"/>
                <a:chOff x="13814589" y="1926698"/>
                <a:chExt cx="2540244" cy="804600"/>
              </a:xfrm>
            </p:grpSpPr>
            <p:sp>
              <p:nvSpPr>
                <p:cNvPr id="509" name="Google Shape;509;p14"/>
                <p:cNvSpPr/>
                <p:nvPr/>
              </p:nvSpPr>
              <p:spPr>
                <a:xfrm>
                  <a:off x="13964608" y="1977408"/>
                  <a:ext cx="2390225"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510" name="Google Shape;510;p14"/>
                <p:cNvGrpSpPr/>
                <p:nvPr/>
              </p:nvGrpSpPr>
              <p:grpSpPr>
                <a:xfrm>
                  <a:off x="14018731" y="2168949"/>
                  <a:ext cx="396177" cy="320504"/>
                  <a:chOff x="-3757613" y="5049838"/>
                  <a:chExt cx="5826126" cy="4713288"/>
                </a:xfrm>
              </p:grpSpPr>
              <p:sp>
                <p:nvSpPr>
                  <p:cNvPr id="511" name="Google Shape;511;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12" name="Google Shape;512;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13" name="Google Shape;513;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14" name="Google Shape;514;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15" name="Google Shape;515;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16" name="Google Shape;516;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517" name="Google Shape;517;p14"/>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518" name="Google Shape;518;p14"/>
              <p:cNvPicPr preferRelativeResize="0"/>
              <p:nvPr/>
            </p:nvPicPr>
            <p:blipFill rotWithShape="1">
              <a:blip r:embed="rId6">
                <a:alphaModFix/>
              </a:blip>
              <a:srcRect b="0" l="0" r="0" t="0"/>
              <a:stretch/>
            </p:blipFill>
            <p:spPr>
              <a:xfrm>
                <a:off x="2837951" y="2036863"/>
                <a:ext cx="231350" cy="212818"/>
              </a:xfrm>
              <a:prstGeom prst="rect">
                <a:avLst/>
              </a:prstGeom>
              <a:noFill/>
              <a:ln>
                <a:noFill/>
              </a:ln>
            </p:spPr>
          </p:pic>
        </p:grpSp>
        <p:grpSp>
          <p:nvGrpSpPr>
            <p:cNvPr id="519" name="Google Shape;519;p14"/>
            <p:cNvGrpSpPr/>
            <p:nvPr/>
          </p:nvGrpSpPr>
          <p:grpSpPr>
            <a:xfrm>
              <a:off x="8259753" y="4847239"/>
              <a:ext cx="807686" cy="230772"/>
              <a:chOff x="3756828" y="2436551"/>
              <a:chExt cx="1076914" cy="320472"/>
            </a:xfrm>
          </p:grpSpPr>
          <p:grpSp>
            <p:nvGrpSpPr>
              <p:cNvPr id="520" name="Google Shape;520;p14"/>
              <p:cNvGrpSpPr/>
              <p:nvPr/>
            </p:nvGrpSpPr>
            <p:grpSpPr>
              <a:xfrm>
                <a:off x="3756828" y="2436551"/>
                <a:ext cx="1076914" cy="320472"/>
                <a:chOff x="13814589" y="1926698"/>
                <a:chExt cx="2486526" cy="804600"/>
              </a:xfrm>
            </p:grpSpPr>
            <p:sp>
              <p:nvSpPr>
                <p:cNvPr id="521" name="Google Shape;521;p14"/>
                <p:cNvSpPr/>
                <p:nvPr/>
              </p:nvSpPr>
              <p:spPr>
                <a:xfrm>
                  <a:off x="14062515" y="1977408"/>
                  <a:ext cx="2238600" cy="703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522" name="Google Shape;522;p14"/>
                <p:cNvGrpSpPr/>
                <p:nvPr/>
              </p:nvGrpSpPr>
              <p:grpSpPr>
                <a:xfrm>
                  <a:off x="14018731" y="2168949"/>
                  <a:ext cx="396177" cy="320504"/>
                  <a:chOff x="-3757613" y="5049838"/>
                  <a:chExt cx="5826126" cy="4713288"/>
                </a:xfrm>
              </p:grpSpPr>
              <p:sp>
                <p:nvSpPr>
                  <p:cNvPr id="523" name="Google Shape;523;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24" name="Google Shape;524;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25" name="Google Shape;525;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26" name="Google Shape;526;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27" name="Google Shape;527;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28" name="Google Shape;528;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529" name="Google Shape;529;p14"/>
                <p:cNvSpPr/>
                <p:nvPr/>
              </p:nvSpPr>
              <p:spPr>
                <a:xfrm>
                  <a:off x="13814589" y="1926698"/>
                  <a:ext cx="804600" cy="8046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530" name="Google Shape;530;p14"/>
              <p:cNvPicPr preferRelativeResize="0"/>
              <p:nvPr/>
            </p:nvPicPr>
            <p:blipFill rotWithShape="1">
              <a:blip r:embed="rId9">
                <a:alphaModFix/>
              </a:blip>
              <a:srcRect b="0" l="0" r="0" t="0"/>
              <a:stretch/>
            </p:blipFill>
            <p:spPr>
              <a:xfrm>
                <a:off x="3826190" y="2481834"/>
                <a:ext cx="230642" cy="212165"/>
              </a:xfrm>
              <a:prstGeom prst="rect">
                <a:avLst/>
              </a:prstGeom>
              <a:noFill/>
              <a:ln>
                <a:noFill/>
              </a:ln>
            </p:spPr>
          </p:pic>
        </p:grpSp>
        <p:grpSp>
          <p:nvGrpSpPr>
            <p:cNvPr id="531" name="Google Shape;531;p14"/>
            <p:cNvGrpSpPr/>
            <p:nvPr/>
          </p:nvGrpSpPr>
          <p:grpSpPr>
            <a:xfrm>
              <a:off x="90726" y="4847249"/>
              <a:ext cx="807733" cy="230752"/>
              <a:chOff x="1259501" y="3077120"/>
              <a:chExt cx="1076977" cy="320400"/>
            </a:xfrm>
          </p:grpSpPr>
          <p:sp>
            <p:nvSpPr>
              <p:cNvPr id="532" name="Google Shape;532;p14"/>
              <p:cNvSpPr/>
              <p:nvPr/>
            </p:nvSpPr>
            <p:spPr>
              <a:xfrm>
                <a:off x="1366878" y="3097318"/>
                <a:ext cx="969600" cy="280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533" name="Google Shape;533;p14"/>
              <p:cNvGrpSpPr/>
              <p:nvPr/>
            </p:nvGrpSpPr>
            <p:grpSpPr>
              <a:xfrm>
                <a:off x="1347730" y="3173687"/>
                <a:ext cx="171871" cy="127730"/>
                <a:chOff x="-3757613" y="5049838"/>
                <a:chExt cx="5826126" cy="4713288"/>
              </a:xfrm>
            </p:grpSpPr>
            <p:sp>
              <p:nvSpPr>
                <p:cNvPr id="534" name="Google Shape;534;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35" name="Google Shape;535;p1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36" name="Google Shape;536;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37" name="Google Shape;537;p1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38" name="Google Shape;538;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539" name="Google Shape;539;p1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540" name="Google Shape;540;p14"/>
              <p:cNvSpPr/>
              <p:nvPr/>
            </p:nvSpPr>
            <p:spPr>
              <a:xfrm>
                <a:off x="1259501" y="3077120"/>
                <a:ext cx="348600" cy="3204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541" name="Google Shape;541;p14"/>
              <p:cNvPicPr preferRelativeResize="0"/>
              <p:nvPr/>
            </p:nvPicPr>
            <p:blipFill rotWithShape="1">
              <a:blip r:embed="rId10">
                <a:alphaModFix/>
              </a:blip>
              <a:srcRect b="0" l="0" r="0" t="0"/>
              <a:stretch/>
            </p:blipFill>
            <p:spPr>
              <a:xfrm>
                <a:off x="1297196" y="3109639"/>
                <a:ext cx="259736" cy="240263"/>
              </a:xfrm>
              <a:prstGeom prst="rect">
                <a:avLst/>
              </a:prstGeom>
              <a:noFill/>
              <a:ln>
                <a:noFill/>
              </a:ln>
            </p:spPr>
          </p:pic>
        </p:grpSp>
      </p:grpSp>
      <p:sp>
        <p:nvSpPr>
          <p:cNvPr id="542" name="Google Shape;542;p14"/>
          <p:cNvSpPr txBox="1"/>
          <p:nvPr/>
        </p:nvSpPr>
        <p:spPr>
          <a:xfrm>
            <a:off x="211832" y="2816131"/>
            <a:ext cx="2734497" cy="553998"/>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s" sz="1000" u="none" cap="none" strike="noStrike">
                <a:solidFill>
                  <a:schemeClr val="dk1"/>
                </a:solidFill>
                <a:latin typeface="Montserrat"/>
                <a:ea typeface="Montserrat"/>
                <a:cs typeface="Montserrat"/>
                <a:sym typeface="Montserrat"/>
              </a:rPr>
              <a:t>Más del 70% de dichas capacidades estarán soportadas por el CBS, CMS y Onboarding Apolo</a:t>
            </a:r>
            <a:endParaRPr b="0" i="0" sz="1000" u="none" cap="none" strike="noStrike">
              <a:solidFill>
                <a:schemeClr val="dk1"/>
              </a:solidFill>
              <a:latin typeface="Arial"/>
              <a:ea typeface="Arial"/>
              <a:cs typeface="Arial"/>
              <a:sym typeface="Arial"/>
            </a:endParaRPr>
          </a:p>
        </p:txBody>
      </p:sp>
      <p:pic>
        <p:nvPicPr>
          <p:cNvPr descr="Close con relleno sólido" id="543" name="Google Shape;543;p14"/>
          <p:cNvPicPr preferRelativeResize="0"/>
          <p:nvPr/>
        </p:nvPicPr>
        <p:blipFill rotWithShape="1">
          <a:blip r:embed="rId7">
            <a:alphaModFix/>
          </a:blip>
          <a:srcRect b="0" l="0" r="0" t="0"/>
          <a:stretch/>
        </p:blipFill>
        <p:spPr>
          <a:xfrm>
            <a:off x="8892341" y="3157954"/>
            <a:ext cx="242385" cy="240933"/>
          </a:xfrm>
          <a:prstGeom prst="rect">
            <a:avLst/>
          </a:prstGeom>
          <a:noFill/>
          <a:ln>
            <a:noFill/>
          </a:ln>
        </p:spPr>
      </p:pic>
      <p:pic>
        <p:nvPicPr>
          <p:cNvPr descr="Close con relleno sólido" id="544" name="Google Shape;544;p14"/>
          <p:cNvPicPr preferRelativeResize="0"/>
          <p:nvPr/>
        </p:nvPicPr>
        <p:blipFill rotWithShape="1">
          <a:blip r:embed="rId7">
            <a:alphaModFix/>
          </a:blip>
          <a:srcRect b="0" l="0" r="0" t="0"/>
          <a:stretch/>
        </p:blipFill>
        <p:spPr>
          <a:xfrm>
            <a:off x="8892340" y="3402270"/>
            <a:ext cx="242385" cy="240933"/>
          </a:xfrm>
          <a:prstGeom prst="rect">
            <a:avLst/>
          </a:prstGeom>
          <a:noFill/>
          <a:ln>
            <a:noFill/>
          </a:ln>
        </p:spPr>
      </p:pic>
      <p:pic>
        <p:nvPicPr>
          <p:cNvPr id="545" name="Google Shape;545;p14"/>
          <p:cNvPicPr preferRelativeResize="0"/>
          <p:nvPr/>
        </p:nvPicPr>
        <p:blipFill rotWithShape="1">
          <a:blip r:embed="rId11">
            <a:alphaModFix/>
          </a:blip>
          <a:srcRect b="0" l="0" r="0" t="0"/>
          <a:stretch/>
        </p:blipFill>
        <p:spPr>
          <a:xfrm>
            <a:off x="2216902" y="4122120"/>
            <a:ext cx="407562" cy="3069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grpSp>
        <p:nvGrpSpPr>
          <p:cNvPr id="550" name="Google Shape;550;p15"/>
          <p:cNvGrpSpPr/>
          <p:nvPr/>
        </p:nvGrpSpPr>
        <p:grpSpPr>
          <a:xfrm>
            <a:off x="3308320" y="540353"/>
            <a:ext cx="5687656" cy="1228976"/>
            <a:chOff x="3673190" y="1645836"/>
            <a:chExt cx="5836162" cy="1228976"/>
          </a:xfrm>
        </p:grpSpPr>
        <p:sp>
          <p:nvSpPr>
            <p:cNvPr id="551" name="Google Shape;551;p15"/>
            <p:cNvSpPr txBox="1"/>
            <p:nvPr/>
          </p:nvSpPr>
          <p:spPr>
            <a:xfrm>
              <a:off x="3673190" y="1645836"/>
              <a:ext cx="5836162" cy="1228976"/>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1000"/>
                <a:buFont typeface="Arial"/>
                <a:buNone/>
              </a:pPr>
              <a:r>
                <a:t/>
              </a:r>
              <a:endParaRPr b="1" i="0" sz="10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1000"/>
                <a:buFont typeface="Arial"/>
                <a:buNone/>
              </a:pPr>
              <a:r>
                <a:t/>
              </a:r>
              <a:endParaRPr b="1" i="0" sz="10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1000"/>
                <a:buFont typeface="Arial"/>
                <a:buNone/>
              </a:pPr>
              <a:r>
                <a:t/>
              </a:r>
              <a:endParaRPr b="1" i="0" sz="1000" u="none" cap="none" strike="noStrike">
                <a:solidFill>
                  <a:srgbClr val="000000"/>
                </a:solidFill>
                <a:latin typeface="Montserrat"/>
                <a:ea typeface="Montserrat"/>
                <a:cs typeface="Montserrat"/>
                <a:sym typeface="Montserrat"/>
              </a:endParaRPr>
            </a:p>
            <a:p>
              <a:pPr indent="0" lvl="1"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A través de la implementación de CBS y CMS se logrará mejorar la gestión de los productos, logrando </a:t>
              </a:r>
              <a:r>
                <a:rPr b="1" i="0" lang="es" sz="900" u="none" cap="none" strike="noStrike">
                  <a:solidFill>
                    <a:srgbClr val="000000"/>
                  </a:solidFill>
                  <a:latin typeface="Montserrat"/>
                  <a:ea typeface="Montserrat"/>
                  <a:cs typeface="Montserrat"/>
                  <a:sym typeface="Montserrat"/>
                </a:rPr>
                <a:t>facilitar su proceso de configuración</a:t>
              </a:r>
              <a:r>
                <a:rPr b="0" i="0" lang="es" sz="900" u="none" cap="none" strike="noStrike">
                  <a:solidFill>
                    <a:srgbClr val="000000"/>
                  </a:solidFill>
                  <a:latin typeface="Montserrat"/>
                  <a:ea typeface="Montserrat"/>
                  <a:cs typeface="Montserrat"/>
                  <a:sym typeface="Montserrat"/>
                </a:rPr>
                <a:t>, definir y generar tarifas de acuerdo a las necesidades del mercado,</a:t>
              </a:r>
              <a:r>
                <a:rPr b="1" i="0" lang="es" sz="900" u="none" cap="none" strike="noStrike">
                  <a:solidFill>
                    <a:srgbClr val="000000"/>
                  </a:solidFill>
                  <a:latin typeface="Montserrat"/>
                  <a:ea typeface="Montserrat"/>
                  <a:cs typeface="Montserrat"/>
                  <a:sym typeface="Montserrat"/>
                </a:rPr>
                <a:t> gestionar el ciclo de vida del producto</a:t>
              </a:r>
              <a:r>
                <a:rPr b="0" i="0" lang="es" sz="900" u="none" cap="none" strike="noStrike">
                  <a:solidFill>
                    <a:srgbClr val="000000"/>
                  </a:solidFill>
                  <a:latin typeface="Montserrat"/>
                  <a:ea typeface="Montserrat"/>
                  <a:cs typeface="Montserrat"/>
                  <a:sym typeface="Montserrat"/>
                </a:rPr>
                <a:t>, así como, crear o </a:t>
              </a:r>
              <a:r>
                <a:rPr b="1" i="0" lang="es" sz="900" u="none" cap="none" strike="noStrike">
                  <a:solidFill>
                    <a:srgbClr val="000000"/>
                  </a:solidFill>
                  <a:latin typeface="Montserrat"/>
                  <a:ea typeface="Montserrat"/>
                  <a:cs typeface="Montserrat"/>
                  <a:sym typeface="Montserrat"/>
                </a:rPr>
                <a:t>agrupar por familias de productos</a:t>
              </a:r>
              <a:r>
                <a:rPr b="0" i="0" lang="es" sz="900" u="none" cap="none" strike="noStrike">
                  <a:solidFill>
                    <a:srgbClr val="000000"/>
                  </a:solidFill>
                  <a:latin typeface="Montserrat"/>
                  <a:ea typeface="Montserrat"/>
                  <a:cs typeface="Montserrat"/>
                  <a:sym typeface="Montserrat"/>
                </a:rPr>
                <a:t> que compartan características similares. </a:t>
              </a:r>
              <a:endParaRPr b="0" i="0" sz="900" u="none" cap="none" strike="noStrike">
                <a:solidFill>
                  <a:srgbClr val="000000"/>
                </a:solidFill>
                <a:latin typeface="Arial"/>
                <a:ea typeface="Arial"/>
                <a:cs typeface="Arial"/>
                <a:sym typeface="Arial"/>
              </a:endParaRPr>
            </a:p>
          </p:txBody>
        </p:sp>
        <p:grpSp>
          <p:nvGrpSpPr>
            <p:cNvPr id="552" name="Google Shape;552;p15"/>
            <p:cNvGrpSpPr/>
            <p:nvPr/>
          </p:nvGrpSpPr>
          <p:grpSpPr>
            <a:xfrm>
              <a:off x="3681794" y="1818581"/>
              <a:ext cx="1293609" cy="366467"/>
              <a:chOff x="4767748" y="2334221"/>
              <a:chExt cx="1935382" cy="615600"/>
            </a:xfrm>
          </p:grpSpPr>
          <p:sp>
            <p:nvSpPr>
              <p:cNvPr id="553" name="Google Shape;553;p15"/>
              <p:cNvSpPr/>
              <p:nvPr/>
            </p:nvSpPr>
            <p:spPr>
              <a:xfrm>
                <a:off x="4817030" y="2361221"/>
                <a:ext cx="1886100" cy="561600"/>
              </a:xfrm>
              <a:prstGeom prst="roundRect">
                <a:avLst>
                  <a:gd fmla="val 50000" name="adj"/>
                </a:avLst>
              </a:prstGeom>
              <a:solidFill>
                <a:srgbClr val="FFCF3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CBS/CMS</a:t>
                </a:r>
                <a:endParaRPr b="0" i="0" sz="900" u="none" cap="none" strike="noStrike">
                  <a:solidFill>
                    <a:srgbClr val="000000"/>
                  </a:solidFill>
                  <a:latin typeface="Arial"/>
                  <a:ea typeface="Arial"/>
                  <a:cs typeface="Arial"/>
                  <a:sym typeface="Arial"/>
                </a:endParaRPr>
              </a:p>
            </p:txBody>
          </p:sp>
          <p:sp>
            <p:nvSpPr>
              <p:cNvPr id="554" name="Google Shape;554;p15"/>
              <p:cNvSpPr/>
              <p:nvPr/>
            </p:nvSpPr>
            <p:spPr>
              <a:xfrm>
                <a:off x="4767748" y="2334221"/>
                <a:ext cx="648000" cy="615600"/>
              </a:xfrm>
              <a:prstGeom prst="ellipse">
                <a:avLst/>
              </a:prstGeom>
              <a:solidFill>
                <a:srgbClr val="FFFFFF"/>
              </a:solidFill>
              <a:ln cap="flat" cmpd="sng" w="76200">
                <a:solidFill>
                  <a:srgbClr val="FFCF3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nvGrpSpPr>
              <p:cNvPr id="555" name="Google Shape;555;p15"/>
              <p:cNvGrpSpPr/>
              <p:nvPr/>
            </p:nvGrpSpPr>
            <p:grpSpPr>
              <a:xfrm>
                <a:off x="4840281" y="2403538"/>
                <a:ext cx="534269" cy="437223"/>
                <a:chOff x="5734648" y="2537199"/>
                <a:chExt cx="534269" cy="437223"/>
              </a:xfrm>
            </p:grpSpPr>
            <p:pic>
              <p:nvPicPr>
                <p:cNvPr id="556" name="Google Shape;556;p15"/>
                <p:cNvPicPr preferRelativeResize="0"/>
                <p:nvPr/>
              </p:nvPicPr>
              <p:blipFill rotWithShape="1">
                <a:blip r:embed="rId3">
                  <a:alphaModFix/>
                </a:blip>
                <a:srcRect b="0" l="0" r="0" t="0"/>
                <a:stretch/>
              </p:blipFill>
              <p:spPr>
                <a:xfrm>
                  <a:off x="5895535" y="2680770"/>
                  <a:ext cx="373382" cy="293652"/>
                </a:xfrm>
                <a:prstGeom prst="rect">
                  <a:avLst/>
                </a:prstGeom>
                <a:noFill/>
                <a:ln>
                  <a:noFill/>
                </a:ln>
              </p:spPr>
            </p:pic>
            <p:pic>
              <p:nvPicPr>
                <p:cNvPr id="557" name="Google Shape;557;p15"/>
                <p:cNvPicPr preferRelativeResize="0"/>
                <p:nvPr/>
              </p:nvPicPr>
              <p:blipFill rotWithShape="1">
                <a:blip r:embed="rId4">
                  <a:alphaModFix/>
                </a:blip>
                <a:srcRect b="0" l="0" r="0" t="0"/>
                <a:stretch/>
              </p:blipFill>
              <p:spPr>
                <a:xfrm>
                  <a:off x="5734648" y="2537199"/>
                  <a:ext cx="393088" cy="349888"/>
                </a:xfrm>
                <a:prstGeom prst="rect">
                  <a:avLst/>
                </a:prstGeom>
                <a:noFill/>
                <a:ln>
                  <a:noFill/>
                </a:ln>
              </p:spPr>
            </p:pic>
          </p:grpSp>
        </p:grpSp>
      </p:grpSp>
      <p:sp>
        <p:nvSpPr>
          <p:cNvPr id="558" name="Google Shape;558;p15"/>
          <p:cNvSpPr txBox="1"/>
          <p:nvPr/>
        </p:nvSpPr>
        <p:spPr>
          <a:xfrm>
            <a:off x="457199" y="86106"/>
            <a:ext cx="6797828"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1. Marketing  y Gestión del Producto N2</a:t>
            </a:r>
            <a:endParaRPr b="0" i="0" sz="900" u="none" cap="none" strike="noStrike">
              <a:solidFill>
                <a:srgbClr val="000000"/>
              </a:solidFill>
              <a:latin typeface="Arial"/>
              <a:ea typeface="Arial"/>
              <a:cs typeface="Arial"/>
              <a:sym typeface="Arial"/>
            </a:endParaRPr>
          </a:p>
        </p:txBody>
      </p:sp>
      <p:sp>
        <p:nvSpPr>
          <p:cNvPr id="559" name="Google Shape;559;p15"/>
          <p:cNvSpPr txBox="1"/>
          <p:nvPr/>
        </p:nvSpPr>
        <p:spPr>
          <a:xfrm>
            <a:off x="457200" y="372050"/>
            <a:ext cx="8127300" cy="336600"/>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Montserrat"/>
                <a:ea typeface="Montserrat"/>
                <a:cs typeface="Montserrat"/>
                <a:sym typeface="Montserrat"/>
              </a:rPr>
              <a:t>Dichas capacidades proporcionarán beneficios fundamentales para ofrecer una experiencia excepcional al cliente durante la transformación del Core Bancario</a:t>
            </a:r>
            <a:endParaRPr b="0" i="0" sz="900" u="none" cap="none" strike="noStrike">
              <a:solidFill>
                <a:srgbClr val="000000"/>
              </a:solidFill>
              <a:latin typeface="Arial"/>
              <a:ea typeface="Arial"/>
              <a:cs typeface="Arial"/>
              <a:sym typeface="Arial"/>
            </a:endParaRPr>
          </a:p>
        </p:txBody>
      </p:sp>
      <p:grpSp>
        <p:nvGrpSpPr>
          <p:cNvPr id="560" name="Google Shape;560;p15"/>
          <p:cNvGrpSpPr/>
          <p:nvPr/>
        </p:nvGrpSpPr>
        <p:grpSpPr>
          <a:xfrm>
            <a:off x="457199" y="753030"/>
            <a:ext cx="2721249" cy="4018417"/>
            <a:chOff x="457199" y="753030"/>
            <a:chExt cx="2721249" cy="4018417"/>
          </a:xfrm>
        </p:grpSpPr>
        <p:sp>
          <p:nvSpPr>
            <p:cNvPr id="561" name="Google Shape;561;p15"/>
            <p:cNvSpPr/>
            <p:nvPr/>
          </p:nvSpPr>
          <p:spPr>
            <a:xfrm>
              <a:off x="480451" y="753030"/>
              <a:ext cx="2696908" cy="410275"/>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17675" lIns="17675" spcFirstLastPara="1" rIns="17675" wrap="square" tIns="17675">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1. Marketing  y Gestión del Producto</a:t>
              </a:r>
              <a:endParaRPr b="0" i="0" sz="900" u="none" cap="none" strike="noStrike">
                <a:solidFill>
                  <a:srgbClr val="FFFFFF"/>
                </a:solidFill>
                <a:latin typeface="Montserrat"/>
                <a:ea typeface="Montserrat"/>
                <a:cs typeface="Montserrat"/>
                <a:sym typeface="Montserrat"/>
              </a:endParaRPr>
            </a:p>
          </p:txBody>
        </p:sp>
        <p:sp>
          <p:nvSpPr>
            <p:cNvPr id="562" name="Google Shape;562;p15"/>
            <p:cNvSpPr txBox="1"/>
            <p:nvPr/>
          </p:nvSpPr>
          <p:spPr>
            <a:xfrm>
              <a:off x="457199" y="2614978"/>
              <a:ext cx="2697997" cy="271225"/>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Taller de Producto</a:t>
              </a:r>
              <a:endParaRPr b="1" i="0" sz="700" u="none" cap="none" strike="noStrike">
                <a:solidFill>
                  <a:srgbClr val="2C2C2C"/>
                </a:solidFill>
                <a:latin typeface="Montserrat"/>
                <a:ea typeface="Montserrat"/>
                <a:cs typeface="Montserrat"/>
                <a:sym typeface="Montserrat"/>
              </a:endParaRPr>
            </a:p>
          </p:txBody>
        </p:sp>
        <p:sp>
          <p:nvSpPr>
            <p:cNvPr id="563" name="Google Shape;563;p15"/>
            <p:cNvSpPr/>
            <p:nvPr/>
          </p:nvSpPr>
          <p:spPr>
            <a:xfrm>
              <a:off x="457199" y="3901481"/>
              <a:ext cx="2696908" cy="271526"/>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Administración de Tarifas</a:t>
              </a:r>
              <a:endParaRPr b="1" i="0" sz="700" u="none" cap="none" strike="noStrike">
                <a:solidFill>
                  <a:srgbClr val="2C2C2C"/>
                </a:solidFill>
                <a:latin typeface="Montserrat"/>
                <a:ea typeface="Montserrat"/>
                <a:cs typeface="Montserrat"/>
                <a:sym typeface="Montserrat"/>
              </a:endParaRPr>
            </a:p>
          </p:txBody>
        </p:sp>
        <p:sp>
          <p:nvSpPr>
            <p:cNvPr id="564" name="Google Shape;564;p15"/>
            <p:cNvSpPr txBox="1"/>
            <p:nvPr/>
          </p:nvSpPr>
          <p:spPr>
            <a:xfrm>
              <a:off x="492074" y="1502093"/>
              <a:ext cx="2674402" cy="1112707"/>
            </a:xfrm>
            <a:prstGeom prst="rect">
              <a:avLst/>
            </a:prstGeom>
            <a:noFill/>
            <a:ln>
              <a:noFill/>
            </a:ln>
          </p:spPr>
          <p:txBody>
            <a:bodyPr anchorCtr="0" anchor="t" bIns="0" lIns="0" spcFirstLastPara="1" rIns="0" wrap="square" tIns="0">
              <a:noAutofit/>
            </a:bodyPr>
            <a:lstStyle/>
            <a:p>
              <a:pPr indent="-88900" lvl="0" marL="88900" marR="101600" rtl="0" algn="l">
                <a:lnSpc>
                  <a:spcPct val="100000"/>
                </a:lnSpc>
                <a:spcBef>
                  <a:spcPts val="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Desarrollar estrategias y políticas de marketing</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Gestionar las marcas</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Ejecutar el marketing y publicidad</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Gestionar campañas y ofertas</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Supervisar la eficacia del marketing</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Segmentación de clientes</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Supervisar la eficacia de los segmentos</a:t>
              </a:r>
              <a:endParaRPr b="0" i="0" sz="1000" u="none" cap="none" strike="noStrike">
                <a:solidFill>
                  <a:srgbClr val="000000"/>
                </a:solidFill>
                <a:latin typeface="Arial"/>
                <a:ea typeface="Arial"/>
                <a:cs typeface="Arial"/>
                <a:sym typeface="Arial"/>
              </a:endParaRPr>
            </a:p>
            <a:p>
              <a:pPr indent="-88900" lvl="0" marL="88900" marR="10160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Análisis de clientes</a:t>
              </a:r>
              <a:endParaRPr b="0" i="0" sz="700" u="none" cap="none" strike="noStrike">
                <a:solidFill>
                  <a:srgbClr val="000000"/>
                </a:solidFill>
                <a:latin typeface="Montserrat"/>
                <a:ea typeface="Montserrat"/>
                <a:cs typeface="Montserrat"/>
                <a:sym typeface="Montserrat"/>
              </a:endParaRPr>
            </a:p>
          </p:txBody>
        </p:sp>
        <p:sp>
          <p:nvSpPr>
            <p:cNvPr id="565" name="Google Shape;565;p15"/>
            <p:cNvSpPr txBox="1"/>
            <p:nvPr/>
          </p:nvSpPr>
          <p:spPr>
            <a:xfrm>
              <a:off x="480451" y="2929861"/>
              <a:ext cx="2674402" cy="971654"/>
            </a:xfrm>
            <a:prstGeom prst="rect">
              <a:avLst/>
            </a:prstGeom>
            <a:solidFill>
              <a:schemeClr val="lt1"/>
            </a:solid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Realizar estudios de mercado</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Desarrollar productos y servicios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Gestionar el ciclo del producto</a:t>
              </a:r>
              <a:endParaRPr b="1"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FFCF36"/>
                </a:buClr>
                <a:buSzPts val="600"/>
                <a:buFont typeface="Inter"/>
                <a:buChar char="•"/>
              </a:pPr>
              <a:r>
                <a:rPr b="1" i="0" lang="es" sz="700" u="none" cap="none" strike="noStrike">
                  <a:solidFill>
                    <a:srgbClr val="000000"/>
                  </a:solidFill>
                  <a:latin typeface="Montserrat"/>
                  <a:ea typeface="Montserrat"/>
                  <a:cs typeface="Montserrat"/>
                  <a:sym typeface="Montserrat"/>
                </a:rPr>
                <a:t>Configurar productos</a:t>
              </a:r>
              <a:endParaRPr b="1" i="0" sz="70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600"/>
                <a:buFont typeface="Inter"/>
                <a:buChar char="•"/>
              </a:pPr>
              <a:r>
                <a:rPr b="1" i="0" lang="es" sz="700" u="none" cap="none" strike="noStrike">
                  <a:solidFill>
                    <a:srgbClr val="000000"/>
                  </a:solidFill>
                  <a:latin typeface="Montserrat"/>
                  <a:ea typeface="Montserrat"/>
                  <a:cs typeface="Montserrat"/>
                  <a:sym typeface="Montserrat"/>
                </a:rPr>
                <a:t>Tarifas de productos</a:t>
              </a:r>
              <a:endParaRPr b="1" i="0" sz="70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600"/>
                <a:buFont typeface="Inter"/>
                <a:buChar char="•"/>
              </a:pPr>
              <a:r>
                <a:rPr b="1" i="0" lang="es" sz="700" u="none" cap="none" strike="noStrike">
                  <a:solidFill>
                    <a:srgbClr val="000000"/>
                  </a:solidFill>
                  <a:latin typeface="Montserrat"/>
                  <a:ea typeface="Montserrat"/>
                  <a:cs typeface="Montserrat"/>
                  <a:sym typeface="Montserrat"/>
                </a:rPr>
                <a:t>Gestionar productos</a:t>
              </a:r>
              <a:endParaRPr b="1" i="0" sz="70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600"/>
                <a:buFont typeface="Inter"/>
                <a:buChar char="•"/>
              </a:pPr>
              <a:r>
                <a:rPr b="1" i="0" lang="es" sz="700" u="none" cap="none" strike="noStrike">
                  <a:solidFill>
                    <a:srgbClr val="000000"/>
                  </a:solidFill>
                  <a:latin typeface="Montserrat"/>
                  <a:ea typeface="Montserrat"/>
                  <a:cs typeface="Montserrat"/>
                  <a:sym typeface="Montserrat"/>
                </a:rPr>
                <a:t>Agrupación de productos</a:t>
              </a:r>
              <a:endParaRPr b="1" i="0" sz="700" u="none" cap="none" strike="noStrike">
                <a:solidFill>
                  <a:srgbClr val="FFCF36"/>
                </a:solidFill>
                <a:latin typeface="Montserrat"/>
                <a:ea typeface="Montserrat"/>
                <a:cs typeface="Montserrat"/>
                <a:sym typeface="Montserrat"/>
              </a:endParaRPr>
            </a:p>
          </p:txBody>
        </p:sp>
        <p:sp>
          <p:nvSpPr>
            <p:cNvPr id="566" name="Google Shape;566;p15"/>
            <p:cNvSpPr txBox="1"/>
            <p:nvPr/>
          </p:nvSpPr>
          <p:spPr>
            <a:xfrm>
              <a:off x="492074" y="4223758"/>
              <a:ext cx="2674402" cy="547689"/>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2C2C2C"/>
                  </a:solidFill>
                  <a:latin typeface="Montserrat"/>
                  <a:ea typeface="Montserrat"/>
                  <a:cs typeface="Montserrat"/>
                  <a:sym typeface="Montserrat"/>
                </a:rPr>
                <a:t>Definir estrategias de fijación de precios</a:t>
              </a:r>
              <a:endParaRPr b="1" i="0" sz="1000" u="none" cap="none" strike="noStrike">
                <a:solidFill>
                  <a:srgbClr val="2C2C2C"/>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2C2C2C"/>
                  </a:solidFill>
                  <a:latin typeface="Montserrat"/>
                  <a:ea typeface="Montserrat"/>
                  <a:cs typeface="Montserrat"/>
                  <a:sym typeface="Montserrat"/>
                </a:rPr>
                <a:t>Administrar la relación de precios </a:t>
              </a:r>
              <a:endParaRPr b="1" i="0" sz="1000" u="none" cap="none" strike="noStrike">
                <a:solidFill>
                  <a:srgbClr val="2C2C2C"/>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2C2C2C"/>
                  </a:solidFill>
                  <a:latin typeface="Montserrat"/>
                  <a:ea typeface="Montserrat"/>
                  <a:cs typeface="Montserrat"/>
                  <a:sym typeface="Montserrat"/>
                </a:rPr>
                <a:t>Implementar/Monitorear la relación de precios</a:t>
              </a:r>
              <a:endParaRPr b="1" i="0" sz="1000" u="none" cap="none" strike="noStrike">
                <a:solidFill>
                  <a:srgbClr val="2C2C2C"/>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Realizar el análisis de precios y rentabilidad</a:t>
              </a:r>
              <a:endParaRPr b="0" i="0" sz="700" u="none" cap="none" strike="noStrike">
                <a:solidFill>
                  <a:srgbClr val="000000"/>
                </a:solidFill>
                <a:latin typeface="Montserrat"/>
                <a:ea typeface="Montserrat"/>
                <a:cs typeface="Montserrat"/>
                <a:sym typeface="Montserrat"/>
              </a:endParaRPr>
            </a:p>
          </p:txBody>
        </p:sp>
        <p:sp>
          <p:nvSpPr>
            <p:cNvPr id="567" name="Google Shape;567;p15"/>
            <p:cNvSpPr txBox="1"/>
            <p:nvPr/>
          </p:nvSpPr>
          <p:spPr>
            <a:xfrm>
              <a:off x="480451" y="1225466"/>
              <a:ext cx="2697997" cy="271225"/>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Marketing</a:t>
              </a:r>
              <a:endParaRPr b="1" i="0" sz="700" u="none" cap="none" strike="noStrike">
                <a:solidFill>
                  <a:srgbClr val="2C2C2C"/>
                </a:solidFill>
                <a:latin typeface="Montserrat"/>
                <a:ea typeface="Montserrat"/>
                <a:cs typeface="Montserrat"/>
                <a:sym typeface="Montserrat"/>
              </a:endParaRPr>
            </a:p>
          </p:txBody>
        </p:sp>
        <p:sp>
          <p:nvSpPr>
            <p:cNvPr id="568" name="Google Shape;568;p15"/>
            <p:cNvSpPr/>
            <p:nvPr/>
          </p:nvSpPr>
          <p:spPr>
            <a:xfrm>
              <a:off x="478543" y="3212102"/>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5"/>
            <p:cNvSpPr/>
            <p:nvPr/>
          </p:nvSpPr>
          <p:spPr>
            <a:xfrm>
              <a:off x="478543" y="3460155"/>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5"/>
            <p:cNvSpPr/>
            <p:nvPr/>
          </p:nvSpPr>
          <p:spPr>
            <a:xfrm>
              <a:off x="478543" y="3566528"/>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5"/>
            <p:cNvSpPr/>
            <p:nvPr/>
          </p:nvSpPr>
          <p:spPr>
            <a:xfrm>
              <a:off x="478543" y="3334384"/>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5"/>
            <p:cNvSpPr/>
            <p:nvPr/>
          </p:nvSpPr>
          <p:spPr>
            <a:xfrm>
              <a:off x="478543" y="3693543"/>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5"/>
            <p:cNvSpPr/>
            <p:nvPr/>
          </p:nvSpPr>
          <p:spPr>
            <a:xfrm>
              <a:off x="480047" y="4260515"/>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5"/>
            <p:cNvSpPr/>
            <p:nvPr/>
          </p:nvSpPr>
          <p:spPr>
            <a:xfrm>
              <a:off x="480047" y="4379347"/>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5"/>
            <p:cNvSpPr/>
            <p:nvPr/>
          </p:nvSpPr>
          <p:spPr>
            <a:xfrm>
              <a:off x="480047" y="4505118"/>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6" name="Google Shape;576;p15"/>
          <p:cNvGrpSpPr/>
          <p:nvPr/>
        </p:nvGrpSpPr>
        <p:grpSpPr>
          <a:xfrm>
            <a:off x="3246794" y="1947151"/>
            <a:ext cx="2801009" cy="2599006"/>
            <a:chOff x="3246794" y="1947151"/>
            <a:chExt cx="2801009" cy="2599006"/>
          </a:xfrm>
        </p:grpSpPr>
        <p:pic>
          <p:nvPicPr>
            <p:cNvPr descr="Resumen: Temenos lanza una solución de autoservicio de mitigación de  delitos financieros en Temenos Banking Cloud | Business Wire" id="577" name="Google Shape;577;p15"/>
            <p:cNvPicPr preferRelativeResize="0"/>
            <p:nvPr/>
          </p:nvPicPr>
          <p:blipFill rotWithShape="1">
            <a:blip r:embed="rId5">
              <a:alphaModFix/>
            </a:blip>
            <a:srcRect b="37456" l="10250" r="9500" t="34558"/>
            <a:stretch/>
          </p:blipFill>
          <p:spPr>
            <a:xfrm>
              <a:off x="3986763" y="1956071"/>
              <a:ext cx="1850086" cy="337150"/>
            </a:xfrm>
            <a:prstGeom prst="rect">
              <a:avLst/>
            </a:prstGeom>
            <a:noFill/>
            <a:ln>
              <a:noFill/>
            </a:ln>
          </p:spPr>
        </p:pic>
        <p:pic>
          <p:nvPicPr>
            <p:cNvPr id="578" name="Google Shape;578;p15"/>
            <p:cNvPicPr preferRelativeResize="0"/>
            <p:nvPr/>
          </p:nvPicPr>
          <p:blipFill rotWithShape="1">
            <a:blip r:embed="rId4">
              <a:alphaModFix/>
            </a:blip>
            <a:srcRect b="0" l="0" r="0" t="0"/>
            <a:stretch/>
          </p:blipFill>
          <p:spPr>
            <a:xfrm>
              <a:off x="3494895" y="1947151"/>
              <a:ext cx="339594" cy="337150"/>
            </a:xfrm>
            <a:prstGeom prst="rect">
              <a:avLst/>
            </a:prstGeom>
            <a:noFill/>
            <a:ln>
              <a:noFill/>
            </a:ln>
          </p:spPr>
        </p:pic>
        <p:sp>
          <p:nvSpPr>
            <p:cNvPr id="579" name="Google Shape;579;p15"/>
            <p:cNvSpPr txBox="1"/>
            <p:nvPr/>
          </p:nvSpPr>
          <p:spPr>
            <a:xfrm>
              <a:off x="3246794" y="2391721"/>
              <a:ext cx="2801009" cy="21544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2"/>
                  </a:solidFill>
                  <a:latin typeface="Montserrat"/>
                  <a:ea typeface="Montserrat"/>
                  <a:cs typeface="Montserrat"/>
                  <a:sym typeface="Montserrat"/>
                </a:rPr>
                <a:t>Porque implementar un Nuevo Core Bancario:</a:t>
              </a:r>
              <a:endParaRPr b="0" i="0" sz="900" u="none" cap="none" strike="noStrike">
                <a:solidFill>
                  <a:schemeClr val="dk2"/>
                </a:solidFill>
                <a:latin typeface="Montserrat"/>
                <a:ea typeface="Montserrat"/>
                <a:cs typeface="Montserrat"/>
                <a:sym typeface="Montserrat"/>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Eficiencia</a:t>
              </a:r>
              <a:r>
                <a:rPr b="0" i="0" lang="es" sz="800" u="none" cap="none" strike="noStrike">
                  <a:solidFill>
                    <a:schemeClr val="dk2"/>
                  </a:solidFill>
                  <a:latin typeface="Montserrat"/>
                  <a:ea typeface="Montserrat"/>
                  <a:cs typeface="Montserrat"/>
                  <a:sym typeface="Montserrat"/>
                </a:rPr>
                <a:t>: Procesar un gran volumen de transacciones en tiempo real.</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Flexibilidad: </a:t>
              </a:r>
              <a:r>
                <a:rPr b="0" i="0" lang="es" sz="800" u="none" cap="none" strike="noStrike">
                  <a:solidFill>
                    <a:schemeClr val="dk2"/>
                  </a:solidFill>
                  <a:latin typeface="Montserrat"/>
                  <a:ea typeface="Montserrat"/>
                  <a:cs typeface="Montserrat"/>
                  <a:sym typeface="Montserrat"/>
                </a:rPr>
                <a:t>Pueden adaptarse a cambios rápidos en la regulación o el mercado, permitiendo ser más competitivos y responder las necesidades de los clientes.</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Integración: </a:t>
              </a:r>
              <a:r>
                <a:rPr b="0" i="0" lang="es" sz="800" u="none" cap="none" strike="noStrike">
                  <a:solidFill>
                    <a:schemeClr val="dk2"/>
                  </a:solidFill>
                  <a:latin typeface="Montserrat"/>
                  <a:ea typeface="Montserrat"/>
                  <a:cs typeface="Montserrat"/>
                  <a:sym typeface="Montserrat"/>
                </a:rPr>
                <a:t>Con otras plataformas y tecnologías, </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Seguridad: </a:t>
              </a:r>
              <a:r>
                <a:rPr b="0" i="0" lang="es" sz="800" u="none" cap="none" strike="noStrike">
                  <a:solidFill>
                    <a:schemeClr val="dk2"/>
                  </a:solidFill>
                  <a:latin typeface="Montserrat"/>
                  <a:ea typeface="Montserrat"/>
                  <a:cs typeface="Montserrat"/>
                  <a:sym typeface="Montserrat"/>
                </a:rPr>
                <a:t>Mejoran la seguridad de las transacciones y los datos de los clientes, minimizando el riesgo de fraudes y ciberataques.</a:t>
              </a:r>
              <a:endParaRPr b="0" i="0" sz="1400" u="none" cap="none" strike="noStrike">
                <a:solidFill>
                  <a:srgbClr val="000000"/>
                </a:solidFill>
                <a:latin typeface="Arial"/>
                <a:ea typeface="Arial"/>
                <a:cs typeface="Arial"/>
                <a:sym typeface="Arial"/>
              </a:endParaRPr>
            </a:p>
          </p:txBody>
        </p:sp>
      </p:grpSp>
      <p:grpSp>
        <p:nvGrpSpPr>
          <p:cNvPr id="580" name="Google Shape;580;p15"/>
          <p:cNvGrpSpPr/>
          <p:nvPr/>
        </p:nvGrpSpPr>
        <p:grpSpPr>
          <a:xfrm>
            <a:off x="6059947" y="1999248"/>
            <a:ext cx="2936100" cy="2505120"/>
            <a:chOff x="6059947" y="1999248"/>
            <a:chExt cx="2936100" cy="2505120"/>
          </a:xfrm>
        </p:grpSpPr>
        <p:pic>
          <p:nvPicPr>
            <p:cNvPr descr="BPC" id="581" name="Google Shape;581;p15"/>
            <p:cNvPicPr preferRelativeResize="0"/>
            <p:nvPr/>
          </p:nvPicPr>
          <p:blipFill rotWithShape="1">
            <a:blip r:embed="rId6">
              <a:alphaModFix/>
            </a:blip>
            <a:srcRect b="0" l="0" r="0" t="0"/>
            <a:stretch/>
          </p:blipFill>
          <p:spPr>
            <a:xfrm>
              <a:off x="6910044" y="1999248"/>
              <a:ext cx="1518356" cy="304103"/>
            </a:xfrm>
            <a:prstGeom prst="rect">
              <a:avLst/>
            </a:prstGeom>
            <a:noFill/>
            <a:ln>
              <a:noFill/>
            </a:ln>
          </p:spPr>
        </p:pic>
        <p:pic>
          <p:nvPicPr>
            <p:cNvPr id="582" name="Google Shape;582;p15"/>
            <p:cNvPicPr preferRelativeResize="0"/>
            <p:nvPr/>
          </p:nvPicPr>
          <p:blipFill rotWithShape="1">
            <a:blip r:embed="rId3">
              <a:alphaModFix/>
            </a:blip>
            <a:srcRect b="0" l="0" r="0" t="0"/>
            <a:stretch/>
          </p:blipFill>
          <p:spPr>
            <a:xfrm>
              <a:off x="6617383" y="2018670"/>
              <a:ext cx="292661" cy="232477"/>
            </a:xfrm>
            <a:prstGeom prst="rect">
              <a:avLst/>
            </a:prstGeom>
            <a:noFill/>
            <a:ln>
              <a:noFill/>
            </a:ln>
          </p:spPr>
        </p:pic>
        <p:sp>
          <p:nvSpPr>
            <p:cNvPr id="583" name="Google Shape;583;p15"/>
            <p:cNvSpPr txBox="1"/>
            <p:nvPr/>
          </p:nvSpPr>
          <p:spPr>
            <a:xfrm>
              <a:off x="6059947" y="2365368"/>
              <a:ext cx="2936100" cy="213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chemeClr val="dk2"/>
                  </a:solidFill>
                  <a:latin typeface="Montserrat"/>
                  <a:ea typeface="Montserrat"/>
                  <a:cs typeface="Montserrat"/>
                  <a:sym typeface="Montserrat"/>
                </a:rPr>
                <a:t>Manejador de Tarjetas de Última Generación:</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Personalización: </a:t>
              </a:r>
              <a:r>
                <a:rPr b="0" i="0" lang="es" sz="800" u="none" cap="none" strike="noStrike">
                  <a:solidFill>
                    <a:schemeClr val="dk2"/>
                  </a:solidFill>
                  <a:latin typeface="Montserrat"/>
                  <a:ea typeface="Montserrat"/>
                  <a:cs typeface="Montserrat"/>
                  <a:sym typeface="Montserrat"/>
                </a:rPr>
                <a:t>Ofrecer productos personalizados, como tarjetas con beneficios específicos.</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Seguridad: </a:t>
              </a:r>
              <a:r>
                <a:rPr b="0" i="0" lang="es" sz="800" u="none" cap="none" strike="noStrike">
                  <a:solidFill>
                    <a:schemeClr val="dk2"/>
                  </a:solidFill>
                  <a:latin typeface="Montserrat"/>
                  <a:ea typeface="Montserrat"/>
                  <a:cs typeface="Montserrat"/>
                  <a:sym typeface="Montserrat"/>
                </a:rPr>
                <a:t>Mejoran la seguridad en las transacciones con tarjeta, incluyendo protecciones contra fraudes y robo de identidad.</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Experiencia del usuario: </a:t>
              </a:r>
              <a:r>
                <a:rPr b="0" i="0" lang="es" sz="800" u="none" cap="none" strike="noStrike">
                  <a:solidFill>
                    <a:schemeClr val="dk2"/>
                  </a:solidFill>
                  <a:latin typeface="Montserrat"/>
                  <a:ea typeface="Montserrat"/>
                  <a:cs typeface="Montserrat"/>
                  <a:sym typeface="Montserrat"/>
                </a:rPr>
                <a:t>Pueden ofrecer a los usuarios la posibilidad de administrar sus tarjetas de manera más eficiente y </a:t>
              </a:r>
              <a:endParaRPr b="0" i="0" sz="1400" u="none" cap="none" strike="noStrike">
                <a:solidFill>
                  <a:srgbClr val="000000"/>
                </a:solidFill>
                <a:latin typeface="Arial"/>
                <a:ea typeface="Arial"/>
                <a:cs typeface="Arial"/>
                <a:sym typeface="Arial"/>
              </a:endParaRPr>
            </a:p>
            <a:p>
              <a:pPr indent="-176213" lvl="1" marL="360363" marR="0" rtl="0" algn="just">
                <a:lnSpc>
                  <a:spcPct val="100000"/>
                </a:lnSpc>
                <a:spcBef>
                  <a:spcPts val="600"/>
                </a:spcBef>
                <a:spcAft>
                  <a:spcPts val="0"/>
                </a:spcAft>
                <a:buClr>
                  <a:srgbClr val="000000"/>
                </a:buClr>
                <a:buSzPts val="800"/>
                <a:buFont typeface="Arial"/>
                <a:buAutoNum type="arabicPeriod"/>
              </a:pPr>
              <a:r>
                <a:rPr b="1" i="0" lang="es" sz="800" u="none" cap="none" strike="noStrike">
                  <a:solidFill>
                    <a:schemeClr val="dk2"/>
                  </a:solidFill>
                  <a:latin typeface="Montserrat"/>
                  <a:ea typeface="Montserrat"/>
                  <a:cs typeface="Montserrat"/>
                  <a:sym typeface="Montserrat"/>
                </a:rPr>
                <a:t>Rapidez: </a:t>
              </a:r>
              <a:r>
                <a:rPr b="0" i="0" lang="es" sz="800" u="none" cap="none" strike="noStrike">
                  <a:solidFill>
                    <a:schemeClr val="dk2"/>
                  </a:solidFill>
                  <a:latin typeface="Montserrat"/>
                  <a:ea typeface="Montserrat"/>
                  <a:cs typeface="Montserrat"/>
                  <a:sym typeface="Montserrat"/>
                </a:rPr>
                <a:t>Permiten la emisión y activación de tarjetas en tiempo real, mejorando la eficiencia y la satisfacción del cliente.</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6"/>
          <p:cNvSpPr/>
          <p:nvPr/>
        </p:nvSpPr>
        <p:spPr>
          <a:xfrm>
            <a:off x="476609" y="1585946"/>
            <a:ext cx="3024968" cy="282471"/>
          </a:xfrm>
          <a:prstGeom prst="rect">
            <a:avLst/>
          </a:prstGeom>
          <a:solidFill>
            <a:schemeClr val="lt1"/>
          </a:solid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grpSp>
        <p:nvGrpSpPr>
          <p:cNvPr id="589" name="Google Shape;589;p16"/>
          <p:cNvGrpSpPr/>
          <p:nvPr/>
        </p:nvGrpSpPr>
        <p:grpSpPr>
          <a:xfrm>
            <a:off x="3604345" y="970918"/>
            <a:ext cx="1576675" cy="463602"/>
            <a:chOff x="6517322" y="1439546"/>
            <a:chExt cx="2327195" cy="615632"/>
          </a:xfrm>
        </p:grpSpPr>
        <p:grpSp>
          <p:nvGrpSpPr>
            <p:cNvPr id="590" name="Google Shape;590;p16"/>
            <p:cNvGrpSpPr/>
            <p:nvPr/>
          </p:nvGrpSpPr>
          <p:grpSpPr>
            <a:xfrm>
              <a:off x="6517322" y="1439546"/>
              <a:ext cx="2327195" cy="615632"/>
              <a:chOff x="13814589" y="1926696"/>
              <a:chExt cx="3726493" cy="985800"/>
            </a:xfrm>
          </p:grpSpPr>
          <p:sp>
            <p:nvSpPr>
              <p:cNvPr id="591" name="Google Shape;591;p16"/>
              <p:cNvSpPr/>
              <p:nvPr/>
            </p:nvSpPr>
            <p:spPr>
              <a:xfrm>
                <a:off x="13885582" y="1977396"/>
                <a:ext cx="3655500" cy="899400"/>
              </a:xfrm>
              <a:prstGeom prst="roundRect">
                <a:avLst>
                  <a:gd fmla="val 50000" name="adj"/>
                </a:avLst>
              </a:prstGeom>
              <a:solidFill>
                <a:schemeClr val="accent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592" name="Google Shape;592;p16"/>
              <p:cNvGrpSpPr/>
              <p:nvPr/>
            </p:nvGrpSpPr>
            <p:grpSpPr>
              <a:xfrm>
                <a:off x="14018731" y="2168949"/>
                <a:ext cx="396177" cy="320504"/>
                <a:chOff x="-3757613" y="5049838"/>
                <a:chExt cx="5826126" cy="4713288"/>
              </a:xfrm>
            </p:grpSpPr>
            <p:sp>
              <p:nvSpPr>
                <p:cNvPr id="593" name="Google Shape;593;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594" name="Google Shape;594;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595" name="Google Shape;595;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596" name="Google Shape;596;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597" name="Google Shape;597;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598" name="Google Shape;598;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grpSp>
          <p:sp>
            <p:nvSpPr>
              <p:cNvPr id="599" name="Google Shape;599;p16"/>
              <p:cNvSpPr/>
              <p:nvPr/>
            </p:nvSpPr>
            <p:spPr>
              <a:xfrm>
                <a:off x="13814589" y="1926696"/>
                <a:ext cx="1037700" cy="985800"/>
              </a:xfrm>
              <a:prstGeom prst="ellipse">
                <a:avLst/>
              </a:prstGeom>
              <a:solidFill>
                <a:schemeClr val="lt1"/>
              </a:solidFill>
              <a:ln cap="flat" cmpd="sng" w="76200">
                <a:solidFill>
                  <a:schemeClr val="accent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700" u="none" cap="none" strike="noStrike">
                  <a:solidFill>
                    <a:srgbClr val="808080"/>
                  </a:solidFill>
                  <a:latin typeface="Montserrat"/>
                  <a:ea typeface="Montserrat"/>
                  <a:cs typeface="Montserrat"/>
                  <a:sym typeface="Montserrat"/>
                </a:endParaRPr>
              </a:p>
            </p:txBody>
          </p:sp>
        </p:grpSp>
        <p:pic>
          <p:nvPicPr>
            <p:cNvPr id="600" name="Google Shape;600;p16"/>
            <p:cNvPicPr preferRelativeResize="0"/>
            <p:nvPr/>
          </p:nvPicPr>
          <p:blipFill rotWithShape="1">
            <a:blip r:embed="rId3">
              <a:alphaModFix/>
            </a:blip>
            <a:srcRect b="0" l="0" r="0" t="0"/>
            <a:stretch/>
          </p:blipFill>
          <p:spPr>
            <a:xfrm>
              <a:off x="6613137" y="1494510"/>
              <a:ext cx="497042" cy="536160"/>
            </a:xfrm>
            <a:prstGeom prst="rect">
              <a:avLst/>
            </a:prstGeom>
            <a:noFill/>
            <a:ln>
              <a:noFill/>
            </a:ln>
          </p:spPr>
        </p:pic>
      </p:grpSp>
      <p:grpSp>
        <p:nvGrpSpPr>
          <p:cNvPr id="601" name="Google Shape;601;p16"/>
          <p:cNvGrpSpPr/>
          <p:nvPr/>
        </p:nvGrpSpPr>
        <p:grpSpPr>
          <a:xfrm>
            <a:off x="7637849" y="993144"/>
            <a:ext cx="1119223" cy="366486"/>
            <a:chOff x="6533839" y="1571400"/>
            <a:chExt cx="1647612" cy="615632"/>
          </a:xfrm>
        </p:grpSpPr>
        <p:grpSp>
          <p:nvGrpSpPr>
            <p:cNvPr id="602" name="Google Shape;602;p16"/>
            <p:cNvGrpSpPr/>
            <p:nvPr/>
          </p:nvGrpSpPr>
          <p:grpSpPr>
            <a:xfrm>
              <a:off x="6533839" y="1571400"/>
              <a:ext cx="1647612" cy="615632"/>
              <a:chOff x="13814589" y="1926696"/>
              <a:chExt cx="2638290" cy="985800"/>
            </a:xfrm>
          </p:grpSpPr>
          <p:sp>
            <p:nvSpPr>
              <p:cNvPr id="603" name="Google Shape;603;p16"/>
              <p:cNvSpPr/>
              <p:nvPr/>
            </p:nvSpPr>
            <p:spPr>
              <a:xfrm>
                <a:off x="13883079" y="1977405"/>
                <a:ext cx="2569800" cy="8994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Teller</a:t>
                </a:r>
                <a:endParaRPr b="0" i="0" sz="900" u="none" cap="none" strike="noStrike">
                  <a:solidFill>
                    <a:srgbClr val="000000"/>
                  </a:solidFill>
                  <a:latin typeface="Arial"/>
                  <a:ea typeface="Arial"/>
                  <a:cs typeface="Arial"/>
                  <a:sym typeface="Arial"/>
                </a:endParaRPr>
              </a:p>
            </p:txBody>
          </p:sp>
          <p:grpSp>
            <p:nvGrpSpPr>
              <p:cNvPr id="604" name="Google Shape;604;p16"/>
              <p:cNvGrpSpPr/>
              <p:nvPr/>
            </p:nvGrpSpPr>
            <p:grpSpPr>
              <a:xfrm>
                <a:off x="14018731" y="2168949"/>
                <a:ext cx="396177" cy="320504"/>
                <a:chOff x="-3757613" y="5049838"/>
                <a:chExt cx="5826126" cy="4713288"/>
              </a:xfrm>
            </p:grpSpPr>
            <p:sp>
              <p:nvSpPr>
                <p:cNvPr id="605" name="Google Shape;605;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06" name="Google Shape;606;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07" name="Google Shape;607;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08" name="Google Shape;608;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09" name="Google Shape;609;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10" name="Google Shape;610;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611" name="Google Shape;611;p16"/>
              <p:cNvSpPr/>
              <p:nvPr/>
            </p:nvSpPr>
            <p:spPr>
              <a:xfrm>
                <a:off x="13814589" y="1926696"/>
                <a:ext cx="1037700" cy="985800"/>
              </a:xfrm>
              <a:prstGeom prst="ellipse">
                <a:avLst/>
              </a:prstGeom>
              <a:solidFill>
                <a:srgbClr val="FFFFFF"/>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pic>
          <p:nvPicPr>
            <p:cNvPr descr="Icon&#10;&#10;Description automatically generated" id="612" name="Google Shape;612;p16"/>
            <p:cNvPicPr preferRelativeResize="0"/>
            <p:nvPr/>
          </p:nvPicPr>
          <p:blipFill rotWithShape="1">
            <a:blip r:embed="rId4">
              <a:alphaModFix/>
            </a:blip>
            <a:srcRect b="0" l="0" r="0" t="0"/>
            <a:stretch/>
          </p:blipFill>
          <p:spPr>
            <a:xfrm>
              <a:off x="6654209" y="1639824"/>
              <a:ext cx="443832" cy="429180"/>
            </a:xfrm>
            <a:prstGeom prst="rect">
              <a:avLst/>
            </a:prstGeom>
            <a:noFill/>
            <a:ln>
              <a:noFill/>
            </a:ln>
          </p:spPr>
        </p:pic>
      </p:grpSp>
      <p:sp>
        <p:nvSpPr>
          <p:cNvPr id="613" name="Google Shape;613;p16"/>
          <p:cNvSpPr txBox="1"/>
          <p:nvPr/>
        </p:nvSpPr>
        <p:spPr>
          <a:xfrm>
            <a:off x="476096" y="103246"/>
            <a:ext cx="6797828"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2. Interacción con el cliente N2</a:t>
            </a:r>
            <a:endParaRPr b="0" i="0" sz="900" u="none" cap="none" strike="noStrike">
              <a:solidFill>
                <a:srgbClr val="000000"/>
              </a:solidFill>
              <a:latin typeface="Arial"/>
              <a:ea typeface="Arial"/>
              <a:cs typeface="Arial"/>
              <a:sym typeface="Arial"/>
            </a:endParaRPr>
          </a:p>
        </p:txBody>
      </p:sp>
      <p:sp>
        <p:nvSpPr>
          <p:cNvPr id="614" name="Google Shape;614;p16"/>
          <p:cNvSpPr txBox="1"/>
          <p:nvPr/>
        </p:nvSpPr>
        <p:spPr>
          <a:xfrm>
            <a:off x="3548420" y="1528664"/>
            <a:ext cx="5273047" cy="2906358"/>
          </a:xfrm>
          <a:prstGeom prst="rect">
            <a:avLst/>
          </a:prstGeom>
          <a:noFill/>
          <a:ln>
            <a:noFill/>
          </a:ln>
        </p:spPr>
        <p:txBody>
          <a:bodyPr anchorCtr="0" anchor="t" bIns="29425" lIns="58875" spcFirstLastPara="1" rIns="58875" wrap="square" tIns="29425">
            <a:spAutoFit/>
          </a:bodyPr>
          <a:lstStyle/>
          <a:p>
            <a:pPr indent="-228600" lvl="0" marL="228600" marR="0" rtl="0" algn="just">
              <a:lnSpc>
                <a:spcPct val="100000"/>
              </a:lnSpc>
              <a:spcBef>
                <a:spcPts val="12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Experiencia del Usuario Mejorada: </a:t>
            </a:r>
            <a:r>
              <a:rPr b="0" i="0" lang="es" sz="900" u="none" cap="none" strike="noStrike">
                <a:solidFill>
                  <a:srgbClr val="000000"/>
                </a:solidFill>
                <a:latin typeface="Montserrat"/>
                <a:ea typeface="Montserrat"/>
                <a:cs typeface="Montserrat"/>
                <a:sym typeface="Montserrat"/>
              </a:rPr>
              <a:t>Permitir a los clientes </a:t>
            </a:r>
            <a:r>
              <a:rPr b="1" i="0" lang="es" sz="900" u="none" cap="none" strike="noStrike">
                <a:solidFill>
                  <a:schemeClr val="accent6"/>
                </a:solidFill>
                <a:latin typeface="Montserrat"/>
                <a:ea typeface="Montserrat"/>
                <a:cs typeface="Montserrat"/>
                <a:sym typeface="Montserrat"/>
              </a:rPr>
              <a:t>abrir cuentas y acceder a servicios bancarios </a:t>
            </a:r>
            <a:r>
              <a:rPr b="0" i="0" lang="es" sz="900" u="none" cap="none" strike="noStrike">
                <a:solidFill>
                  <a:srgbClr val="000000"/>
                </a:solidFill>
                <a:latin typeface="Montserrat"/>
                <a:ea typeface="Montserrat"/>
                <a:cs typeface="Montserrat"/>
                <a:sym typeface="Montserrat"/>
              </a:rPr>
              <a:t>de manera rápida y fácil.</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2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Eficiencia Operativa: </a:t>
            </a:r>
            <a:r>
              <a:rPr b="0" i="0" lang="es" sz="900" u="none" cap="none" strike="noStrike">
                <a:solidFill>
                  <a:srgbClr val="000000"/>
                </a:solidFill>
                <a:latin typeface="Montserrat"/>
                <a:ea typeface="Montserrat"/>
                <a:cs typeface="Montserrat"/>
                <a:sym typeface="Montserrat"/>
              </a:rPr>
              <a:t>La </a:t>
            </a:r>
            <a:r>
              <a:rPr b="1" i="0" lang="es" sz="900" u="none" cap="none" strike="noStrike">
                <a:solidFill>
                  <a:schemeClr val="accent6"/>
                </a:solidFill>
                <a:latin typeface="Montserrat"/>
                <a:ea typeface="Montserrat"/>
                <a:cs typeface="Montserrat"/>
                <a:sym typeface="Montserrat"/>
              </a:rPr>
              <a:t>arquitectura BIAN</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está </a:t>
            </a:r>
            <a:r>
              <a:rPr b="1" i="0" lang="es" sz="900" u="none" cap="none" strike="noStrike">
                <a:solidFill>
                  <a:schemeClr val="accent6"/>
                </a:solidFill>
                <a:latin typeface="Montserrat"/>
                <a:ea typeface="Montserrat"/>
                <a:cs typeface="Montserrat"/>
                <a:sym typeface="Montserrat"/>
              </a:rPr>
              <a:t>diseñada para integrarse fácilmente </a:t>
            </a:r>
            <a:r>
              <a:rPr b="0" i="0" lang="es" sz="900" u="none" cap="none" strike="noStrike">
                <a:solidFill>
                  <a:srgbClr val="000000"/>
                </a:solidFill>
                <a:latin typeface="Montserrat"/>
                <a:ea typeface="Montserrat"/>
                <a:cs typeface="Montserrat"/>
                <a:sym typeface="Montserrat"/>
              </a:rPr>
              <a:t>con </a:t>
            </a:r>
            <a:r>
              <a:rPr b="1" i="0" lang="es" sz="900" u="none" cap="none" strike="noStrike">
                <a:solidFill>
                  <a:schemeClr val="accent6"/>
                </a:solidFill>
                <a:latin typeface="Montserrat"/>
                <a:ea typeface="Montserrat"/>
                <a:cs typeface="Montserrat"/>
                <a:sym typeface="Montserrat"/>
              </a:rPr>
              <a:t>otros sistemas y tecnologías</a:t>
            </a:r>
            <a:r>
              <a:rPr b="0" i="0" lang="es" sz="900" u="none" cap="none" strike="noStrike">
                <a:solidFill>
                  <a:schemeClr val="accent6"/>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2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Mayor Seguridad: </a:t>
            </a:r>
            <a:r>
              <a:rPr b="0" i="0" lang="es" sz="900" u="none" cap="none" strike="noStrike">
                <a:solidFill>
                  <a:srgbClr val="000000"/>
                </a:solidFill>
                <a:latin typeface="Montserrat"/>
                <a:ea typeface="Montserrat"/>
                <a:cs typeface="Montserrat"/>
                <a:sym typeface="Montserrat"/>
              </a:rPr>
              <a:t>Al adoptar BIAN podremos </a:t>
            </a:r>
            <a:r>
              <a:rPr b="1" i="0" lang="es" sz="900" u="none" cap="none" strike="noStrike">
                <a:solidFill>
                  <a:schemeClr val="accent6"/>
                </a:solidFill>
                <a:latin typeface="Montserrat"/>
                <a:ea typeface="Montserrat"/>
                <a:cs typeface="Montserrat"/>
                <a:sym typeface="Montserrat"/>
              </a:rPr>
              <a:t>implementar medidas de seguridad más robustas</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durante el proceso de onboarding, lo que puede ayudar a prevenir el fraude y proteger los datos del cliente.</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2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Cumplimiento de Normativas: </a:t>
            </a:r>
            <a:r>
              <a:rPr b="0" i="0" lang="es" sz="900" u="none" cap="none" strike="noStrike">
                <a:solidFill>
                  <a:srgbClr val="000000"/>
                </a:solidFill>
                <a:latin typeface="Montserrat"/>
                <a:ea typeface="Montserrat"/>
                <a:cs typeface="Montserrat"/>
                <a:sym typeface="Montserrat"/>
              </a:rPr>
              <a:t>BIAN facilitará el </a:t>
            </a:r>
            <a:r>
              <a:rPr b="1" i="0" lang="es" sz="900" u="none" cap="none" strike="noStrike">
                <a:solidFill>
                  <a:srgbClr val="ED7D31"/>
                </a:solidFill>
                <a:latin typeface="Montserrat"/>
                <a:ea typeface="Montserrat"/>
                <a:cs typeface="Montserrat"/>
                <a:sym typeface="Montserrat"/>
              </a:rPr>
              <a:t>cumplimiento de las regulaciones financieras ya que estandariza</a:t>
            </a:r>
            <a:r>
              <a:rPr b="0" i="0" lang="es" sz="900" u="none" cap="none" strike="noStrike">
                <a:solidFill>
                  <a:srgbClr val="ED7D31"/>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y clarifica cómo los </a:t>
            </a:r>
            <a:r>
              <a:rPr b="1" i="0" lang="es" sz="900" u="none" cap="none" strike="noStrike">
                <a:solidFill>
                  <a:srgbClr val="ED7D31"/>
                </a:solidFill>
                <a:latin typeface="Montserrat"/>
                <a:ea typeface="Montserrat"/>
                <a:cs typeface="Montserrat"/>
                <a:sym typeface="Montserrat"/>
              </a:rPr>
              <a:t>diferentes sistemas y procesos deben interactuar</a:t>
            </a:r>
            <a:r>
              <a:rPr b="0" i="0" lang="es" sz="900" u="none" cap="none" strike="noStrike">
                <a:solidFill>
                  <a:srgbClr val="000000"/>
                </a:solidFill>
                <a:latin typeface="Montserrat"/>
                <a:ea typeface="Montserrat"/>
                <a:cs typeface="Montserrat"/>
                <a:sym typeface="Montserrat"/>
              </a:rPr>
              <a:t>, lo que puede hacer que sea más fácil </a:t>
            </a:r>
            <a:r>
              <a:rPr b="1" i="0" lang="es" sz="900" u="none" cap="none" strike="noStrike">
                <a:solidFill>
                  <a:srgbClr val="ED7D31"/>
                </a:solidFill>
                <a:latin typeface="Montserrat"/>
                <a:ea typeface="Montserrat"/>
                <a:cs typeface="Montserrat"/>
                <a:sym typeface="Montserrat"/>
              </a:rPr>
              <a:t>demostrar el cumplimiento </a:t>
            </a:r>
            <a:r>
              <a:rPr b="0" i="0" lang="es" sz="900" u="none" cap="none" strike="noStrike">
                <a:solidFill>
                  <a:srgbClr val="000000"/>
                </a:solidFill>
                <a:latin typeface="Montserrat"/>
                <a:ea typeface="Montserrat"/>
                <a:cs typeface="Montserrat"/>
                <a:sym typeface="Montserrat"/>
              </a:rPr>
              <a:t>a los reguladores.</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2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Escalabilidad y Flexibilidad: </a:t>
            </a:r>
            <a:r>
              <a:rPr b="0" i="0" lang="es" sz="900" u="none" cap="none" strike="noStrike">
                <a:solidFill>
                  <a:srgbClr val="000000"/>
                </a:solidFill>
                <a:latin typeface="Montserrat"/>
                <a:ea typeface="Montserrat"/>
                <a:cs typeface="Montserrat"/>
                <a:sym typeface="Montserrat"/>
              </a:rPr>
              <a:t>Con BIAN, </a:t>
            </a:r>
            <a:r>
              <a:rPr b="1" i="0" lang="es" sz="900" u="none" cap="none" strike="noStrike">
                <a:solidFill>
                  <a:schemeClr val="accent6"/>
                </a:solidFill>
                <a:latin typeface="Montserrat"/>
                <a:ea typeface="Montserrat"/>
                <a:cs typeface="Montserrat"/>
                <a:sym typeface="Montserrat"/>
              </a:rPr>
              <a:t>queremos adaptarnos rápidamente </a:t>
            </a:r>
            <a:r>
              <a:rPr b="0" i="0" lang="es" sz="900" u="none" cap="none" strike="noStrike">
                <a:solidFill>
                  <a:srgbClr val="000000"/>
                </a:solidFill>
                <a:latin typeface="Montserrat"/>
                <a:ea typeface="Montserrat"/>
                <a:cs typeface="Montserrat"/>
                <a:sym typeface="Montserrat"/>
              </a:rPr>
              <a:t>a las cambiantes </a:t>
            </a:r>
            <a:r>
              <a:rPr b="1" i="0" lang="es" sz="900" u="none" cap="none" strike="noStrike">
                <a:solidFill>
                  <a:schemeClr val="accent1"/>
                </a:solidFill>
                <a:latin typeface="Montserrat"/>
                <a:ea typeface="Montserrat"/>
                <a:cs typeface="Montserrat"/>
                <a:sym typeface="Montserrat"/>
              </a:rPr>
              <a:t>demandas del mercado y las necesidades de los clientes</a:t>
            </a:r>
            <a:r>
              <a:rPr b="0" i="0" lang="es" sz="900" u="none" cap="none" strike="noStrike">
                <a:solidFill>
                  <a:srgbClr val="000000"/>
                </a:solidFill>
                <a:latin typeface="Montserrat"/>
                <a:ea typeface="Montserrat"/>
                <a:cs typeface="Montserrat"/>
                <a:sym typeface="Montserrat"/>
              </a:rPr>
              <a:t>, lo que puede hacer que el </a:t>
            </a:r>
            <a:r>
              <a:rPr b="1" i="0" lang="es" sz="900" u="none" cap="none" strike="noStrike">
                <a:solidFill>
                  <a:schemeClr val="accent6"/>
                </a:solidFill>
                <a:latin typeface="Montserrat"/>
                <a:ea typeface="Montserrat"/>
                <a:cs typeface="Montserrat"/>
                <a:sym typeface="Montserrat"/>
              </a:rPr>
              <a:t>onboarding sea más efectivo </a:t>
            </a:r>
            <a:r>
              <a:rPr b="0" i="0" lang="es" sz="900" u="none" cap="none" strike="noStrike">
                <a:solidFill>
                  <a:srgbClr val="000000"/>
                </a:solidFill>
                <a:latin typeface="Montserrat"/>
                <a:ea typeface="Montserrat"/>
                <a:cs typeface="Montserrat"/>
                <a:sym typeface="Montserrat"/>
              </a:rPr>
              <a:t>a medida que </a:t>
            </a:r>
            <a:r>
              <a:rPr b="1" i="0" lang="es" sz="900" u="none" cap="none" strike="noStrike">
                <a:solidFill>
                  <a:srgbClr val="000000"/>
                </a:solidFill>
                <a:latin typeface="Montserrat"/>
                <a:ea typeface="Montserrat"/>
                <a:cs typeface="Montserrat"/>
                <a:sym typeface="Montserrat"/>
              </a:rPr>
              <a:t>BanCoppel</a:t>
            </a:r>
            <a:r>
              <a:rPr b="0" i="0" lang="es" sz="900" u="none" cap="none" strike="noStrike">
                <a:solidFill>
                  <a:srgbClr val="000000"/>
                </a:solidFill>
                <a:latin typeface="Montserrat"/>
                <a:ea typeface="Montserrat"/>
                <a:cs typeface="Montserrat"/>
                <a:sym typeface="Montserrat"/>
              </a:rPr>
              <a:t> crece y </a:t>
            </a:r>
            <a:r>
              <a:rPr b="1" i="0" lang="es" sz="900" u="none" cap="none" strike="noStrike">
                <a:solidFill>
                  <a:srgbClr val="000000"/>
                </a:solidFill>
                <a:latin typeface="Montserrat"/>
                <a:ea typeface="Montserrat"/>
                <a:cs typeface="Montserrat"/>
                <a:sym typeface="Montserrat"/>
              </a:rPr>
              <a:t>evoluciona.</a:t>
            </a:r>
            <a:endParaRPr b="0" i="0" sz="1400" u="none" cap="none" strike="noStrike">
              <a:solidFill>
                <a:srgbClr val="000000"/>
              </a:solidFill>
              <a:latin typeface="Arial"/>
              <a:ea typeface="Arial"/>
              <a:cs typeface="Arial"/>
              <a:sym typeface="Arial"/>
            </a:endParaRPr>
          </a:p>
        </p:txBody>
      </p:sp>
      <p:sp>
        <p:nvSpPr>
          <p:cNvPr id="615" name="Google Shape;615;p16"/>
          <p:cNvSpPr txBox="1"/>
          <p:nvPr/>
        </p:nvSpPr>
        <p:spPr>
          <a:xfrm>
            <a:off x="503096" y="418487"/>
            <a:ext cx="7696200" cy="336600"/>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Montserrat"/>
                <a:ea typeface="Montserrat"/>
                <a:cs typeface="Montserrat"/>
                <a:sym typeface="Montserrat"/>
              </a:rPr>
              <a:t>Dichas capacidades proporcionarán beneficios fundamentales para ofrecer una experiencia excepcional al cliente durante la transformación del Core Bancario</a:t>
            </a:r>
            <a:endParaRPr b="0" i="0" sz="900" u="none" cap="none" strike="noStrike">
              <a:solidFill>
                <a:srgbClr val="000000"/>
              </a:solidFill>
              <a:latin typeface="Arial"/>
              <a:ea typeface="Arial"/>
              <a:cs typeface="Arial"/>
              <a:sym typeface="Arial"/>
            </a:endParaRPr>
          </a:p>
        </p:txBody>
      </p:sp>
      <p:grpSp>
        <p:nvGrpSpPr>
          <p:cNvPr id="616" name="Google Shape;616;p16"/>
          <p:cNvGrpSpPr/>
          <p:nvPr/>
        </p:nvGrpSpPr>
        <p:grpSpPr>
          <a:xfrm>
            <a:off x="5586048" y="977460"/>
            <a:ext cx="1597915" cy="426071"/>
            <a:chOff x="13814589" y="1926698"/>
            <a:chExt cx="2775069" cy="804600"/>
          </a:xfrm>
        </p:grpSpPr>
        <p:sp>
          <p:nvSpPr>
            <p:cNvPr id="617" name="Google Shape;617;p16"/>
            <p:cNvSpPr/>
            <p:nvPr/>
          </p:nvSpPr>
          <p:spPr>
            <a:xfrm>
              <a:off x="14151566" y="1977408"/>
              <a:ext cx="2438092"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FFFFFF"/>
                  </a:solidFill>
                  <a:latin typeface="Montserrat"/>
                  <a:ea typeface="Montserrat"/>
                  <a:cs typeface="Montserrat"/>
                  <a:sym typeface="Montserrat"/>
                </a:rPr>
                <a:t>Apificación de Canales</a:t>
              </a:r>
              <a:endParaRPr b="0" i="0" sz="1400" u="none" cap="none" strike="noStrike">
                <a:solidFill>
                  <a:srgbClr val="000000"/>
                </a:solidFill>
                <a:latin typeface="Arial"/>
                <a:ea typeface="Arial"/>
                <a:cs typeface="Arial"/>
                <a:sym typeface="Arial"/>
              </a:endParaRPr>
            </a:p>
          </p:txBody>
        </p:sp>
        <p:grpSp>
          <p:nvGrpSpPr>
            <p:cNvPr id="618" name="Google Shape;618;p16"/>
            <p:cNvGrpSpPr/>
            <p:nvPr/>
          </p:nvGrpSpPr>
          <p:grpSpPr>
            <a:xfrm>
              <a:off x="14018731" y="2168949"/>
              <a:ext cx="396177" cy="320504"/>
              <a:chOff x="-3757613" y="5049838"/>
              <a:chExt cx="5826126" cy="4713288"/>
            </a:xfrm>
          </p:grpSpPr>
          <p:sp>
            <p:nvSpPr>
              <p:cNvPr id="619" name="Google Shape;619;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20" name="Google Shape;620;p1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21" name="Google Shape;621;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22" name="Google Shape;622;p1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23" name="Google Shape;623;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624" name="Google Shape;624;p1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625" name="Google Shape;625;p16"/>
            <p:cNvSpPr/>
            <p:nvPr/>
          </p:nvSpPr>
          <p:spPr>
            <a:xfrm>
              <a:off x="13814589" y="1926698"/>
              <a:ext cx="804600" cy="804600"/>
            </a:xfrm>
            <a:prstGeom prst="ellipse">
              <a:avLst/>
            </a:prstGeom>
            <a:solidFill>
              <a:srgbClr val="ED7D31"/>
            </a:solidFill>
            <a:ln cap="flat" cmpd="sng" w="76200">
              <a:solidFill>
                <a:srgbClr val="ED7D3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pic>
        <p:nvPicPr>
          <p:cNvPr id="626" name="Google Shape;626;p16"/>
          <p:cNvPicPr preferRelativeResize="0"/>
          <p:nvPr/>
        </p:nvPicPr>
        <p:blipFill rotWithShape="1">
          <a:blip r:embed="rId5">
            <a:alphaModFix/>
          </a:blip>
          <a:srcRect b="0" l="0" r="0" t="0"/>
          <a:stretch/>
        </p:blipFill>
        <p:spPr>
          <a:xfrm>
            <a:off x="5612509" y="993144"/>
            <a:ext cx="365462" cy="385304"/>
          </a:xfrm>
          <a:prstGeom prst="rect">
            <a:avLst/>
          </a:prstGeom>
          <a:noFill/>
          <a:ln>
            <a:noFill/>
          </a:ln>
        </p:spPr>
      </p:pic>
      <p:grpSp>
        <p:nvGrpSpPr>
          <p:cNvPr id="627" name="Google Shape;627;p16"/>
          <p:cNvGrpSpPr/>
          <p:nvPr/>
        </p:nvGrpSpPr>
        <p:grpSpPr>
          <a:xfrm>
            <a:off x="464896" y="861975"/>
            <a:ext cx="3028530" cy="3909472"/>
            <a:chOff x="464896" y="861975"/>
            <a:chExt cx="3028530" cy="3909472"/>
          </a:xfrm>
        </p:grpSpPr>
        <p:sp>
          <p:nvSpPr>
            <p:cNvPr id="628" name="Google Shape;628;p16"/>
            <p:cNvSpPr txBox="1"/>
            <p:nvPr/>
          </p:nvSpPr>
          <p:spPr>
            <a:xfrm>
              <a:off x="494912" y="2473947"/>
              <a:ext cx="2998514" cy="1170683"/>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Call Center</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Sucursal</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Caja</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Internet/en línea</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Móvil/SMS</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Dispositivos POS (ATM’ s , comercios)</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Centros de negocio pequeños y comerciales</a:t>
              </a:r>
              <a:endParaRPr b="0" i="0" sz="700" u="none" cap="none" strike="noStrike">
                <a:solidFill>
                  <a:srgbClr val="000000"/>
                </a:solidFill>
                <a:latin typeface="Montserrat"/>
                <a:ea typeface="Montserrat"/>
                <a:cs typeface="Montserrat"/>
                <a:sym typeface="Montserrat"/>
              </a:endParaRPr>
            </a:p>
          </p:txBody>
        </p:sp>
        <p:sp>
          <p:nvSpPr>
            <p:cNvPr id="629" name="Google Shape;629;p16"/>
            <p:cNvSpPr/>
            <p:nvPr/>
          </p:nvSpPr>
          <p:spPr>
            <a:xfrm>
              <a:off x="464898" y="861975"/>
              <a:ext cx="2698113" cy="410155"/>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2. Interacción con el Cliente</a:t>
              </a:r>
              <a:endParaRPr b="0" i="0" sz="900" u="none" cap="none" strike="noStrike">
                <a:solidFill>
                  <a:srgbClr val="FFFFFF"/>
                </a:solidFill>
                <a:latin typeface="Montserrat"/>
                <a:ea typeface="Montserrat"/>
                <a:cs typeface="Montserrat"/>
                <a:sym typeface="Montserrat"/>
              </a:endParaRPr>
            </a:p>
          </p:txBody>
        </p:sp>
        <p:sp>
          <p:nvSpPr>
            <p:cNvPr id="630" name="Google Shape;630;p16"/>
            <p:cNvSpPr txBox="1"/>
            <p:nvPr/>
          </p:nvSpPr>
          <p:spPr>
            <a:xfrm>
              <a:off x="464896" y="2149523"/>
              <a:ext cx="2697340" cy="269524"/>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Canales Asistidos</a:t>
              </a:r>
              <a:endParaRPr b="1" i="0" sz="700" u="none" cap="none" strike="noStrike">
                <a:solidFill>
                  <a:srgbClr val="2C2C2C"/>
                </a:solidFill>
                <a:latin typeface="Montserrat"/>
                <a:ea typeface="Montserrat"/>
                <a:cs typeface="Montserrat"/>
                <a:sym typeface="Montserrat"/>
              </a:endParaRPr>
            </a:p>
          </p:txBody>
        </p:sp>
        <p:sp>
          <p:nvSpPr>
            <p:cNvPr id="631" name="Google Shape;631;p16"/>
            <p:cNvSpPr txBox="1"/>
            <p:nvPr/>
          </p:nvSpPr>
          <p:spPr>
            <a:xfrm>
              <a:off x="465284" y="3556410"/>
              <a:ext cx="2697340" cy="269524"/>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Experiencia del Cliente</a:t>
              </a:r>
              <a:endParaRPr b="1" i="0" sz="700" u="none" cap="none" strike="noStrike">
                <a:solidFill>
                  <a:srgbClr val="2C2C2C"/>
                </a:solidFill>
                <a:latin typeface="Montserrat"/>
                <a:ea typeface="Montserrat"/>
                <a:cs typeface="Montserrat"/>
                <a:sym typeface="Montserrat"/>
              </a:endParaRPr>
            </a:p>
          </p:txBody>
        </p:sp>
        <p:sp>
          <p:nvSpPr>
            <p:cNvPr id="632" name="Google Shape;632;p16"/>
            <p:cNvSpPr txBox="1"/>
            <p:nvPr/>
          </p:nvSpPr>
          <p:spPr>
            <a:xfrm>
              <a:off x="477930" y="1591171"/>
              <a:ext cx="2998514" cy="533163"/>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Autenticación de los terceros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Autorización de transacciones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Integración de Servicios</a:t>
              </a:r>
              <a:endParaRPr b="1"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Asistencia interactiva</a:t>
              </a:r>
              <a:endParaRPr b="1" i="0" sz="700" u="none" cap="none" strike="noStrike">
                <a:solidFill>
                  <a:srgbClr val="000000"/>
                </a:solidFill>
                <a:latin typeface="Montserrat"/>
                <a:ea typeface="Montserrat"/>
                <a:cs typeface="Montserrat"/>
                <a:sym typeface="Montserrat"/>
              </a:endParaRPr>
            </a:p>
          </p:txBody>
        </p:sp>
        <p:sp>
          <p:nvSpPr>
            <p:cNvPr id="633" name="Google Shape;633;p16"/>
            <p:cNvSpPr txBox="1"/>
            <p:nvPr/>
          </p:nvSpPr>
          <p:spPr>
            <a:xfrm>
              <a:off x="490976" y="3866757"/>
              <a:ext cx="2998514" cy="90469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Experiencia del usuario</a:t>
              </a:r>
              <a:endParaRPr b="1"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Gestión de ofertas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Autoservicio del cliente</a:t>
              </a:r>
              <a:endParaRPr b="1"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Gestión de problemas de servicio</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Gestión de casos</a:t>
              </a:r>
              <a:endParaRPr b="0" i="0" sz="700" u="none" cap="none" strike="noStrike">
                <a:solidFill>
                  <a:srgbClr val="000000"/>
                </a:solidFill>
                <a:latin typeface="Montserrat"/>
                <a:ea typeface="Montserrat"/>
                <a:cs typeface="Montserrat"/>
                <a:sym typeface="Montserrat"/>
              </a:endParaRPr>
            </a:p>
          </p:txBody>
        </p:sp>
        <p:sp>
          <p:nvSpPr>
            <p:cNvPr id="634" name="Google Shape;634;p16"/>
            <p:cNvSpPr txBox="1"/>
            <p:nvPr/>
          </p:nvSpPr>
          <p:spPr>
            <a:xfrm>
              <a:off x="464898" y="1321881"/>
              <a:ext cx="2697340" cy="269524"/>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Canales</a:t>
              </a:r>
              <a:endParaRPr b="1" i="0" sz="700" u="none" cap="none" strike="noStrike">
                <a:solidFill>
                  <a:srgbClr val="2C2C2C"/>
                </a:solidFill>
                <a:latin typeface="Montserrat"/>
                <a:ea typeface="Montserrat"/>
                <a:cs typeface="Montserrat"/>
                <a:sym typeface="Montserrat"/>
              </a:endParaRPr>
            </a:p>
          </p:txBody>
        </p:sp>
        <p:sp>
          <p:nvSpPr>
            <p:cNvPr id="635" name="Google Shape;635;p16"/>
            <p:cNvSpPr/>
            <p:nvPr/>
          </p:nvSpPr>
          <p:spPr>
            <a:xfrm>
              <a:off x="476096" y="262695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6"/>
            <p:cNvSpPr/>
            <p:nvPr/>
          </p:nvSpPr>
          <p:spPr>
            <a:xfrm>
              <a:off x="476096" y="172739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6"/>
            <p:cNvSpPr/>
            <p:nvPr/>
          </p:nvSpPr>
          <p:spPr>
            <a:xfrm>
              <a:off x="476096" y="161309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6"/>
            <p:cNvSpPr/>
            <p:nvPr/>
          </p:nvSpPr>
          <p:spPr>
            <a:xfrm>
              <a:off x="476096" y="3092284"/>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6"/>
            <p:cNvSpPr/>
            <p:nvPr/>
          </p:nvSpPr>
          <p:spPr>
            <a:xfrm>
              <a:off x="476096" y="198681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40" name="Google Shape;640;p16"/>
            <p:cNvSpPr/>
            <p:nvPr/>
          </p:nvSpPr>
          <p:spPr>
            <a:xfrm>
              <a:off x="476096" y="2867195"/>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41" name="Google Shape;641;p16"/>
            <p:cNvSpPr/>
            <p:nvPr/>
          </p:nvSpPr>
          <p:spPr>
            <a:xfrm>
              <a:off x="476096" y="2969108"/>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42" name="Google Shape;642;p16"/>
            <p:cNvSpPr/>
            <p:nvPr/>
          </p:nvSpPr>
          <p:spPr>
            <a:xfrm>
              <a:off x="476096" y="2504827"/>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43" name="Google Shape;643;p16"/>
            <p:cNvSpPr/>
            <p:nvPr/>
          </p:nvSpPr>
          <p:spPr>
            <a:xfrm>
              <a:off x="476096" y="3205205"/>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6"/>
            <p:cNvSpPr/>
            <p:nvPr/>
          </p:nvSpPr>
          <p:spPr>
            <a:xfrm>
              <a:off x="476096" y="3897971"/>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45" name="Google Shape;645;p16"/>
            <p:cNvSpPr/>
            <p:nvPr/>
          </p:nvSpPr>
          <p:spPr>
            <a:xfrm>
              <a:off x="476096" y="185675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46" name="Google Shape;646;p16"/>
            <p:cNvSpPr/>
            <p:nvPr/>
          </p:nvSpPr>
          <p:spPr>
            <a:xfrm>
              <a:off x="476096" y="2737481"/>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6"/>
            <p:cNvSpPr/>
            <p:nvPr/>
          </p:nvSpPr>
          <p:spPr>
            <a:xfrm>
              <a:off x="476096" y="4142517"/>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6"/>
            <p:cNvSpPr/>
            <p:nvPr/>
          </p:nvSpPr>
          <p:spPr>
            <a:xfrm>
              <a:off x="476096" y="4273739"/>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grpSp>
      <p:sp>
        <p:nvSpPr>
          <p:cNvPr id="649" name="Google Shape;649;p16"/>
          <p:cNvSpPr txBox="1"/>
          <p:nvPr/>
        </p:nvSpPr>
        <p:spPr>
          <a:xfrm>
            <a:off x="2592372" y="4449789"/>
            <a:ext cx="5045477" cy="338554"/>
          </a:xfrm>
          <a:prstGeom prst="rect">
            <a:avLst/>
          </a:prstGeom>
          <a:solidFill>
            <a:srgbClr val="ED7D3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 sz="800" u="none" cap="none" strike="noStrike">
                <a:solidFill>
                  <a:schemeClr val="lt1"/>
                </a:solidFill>
                <a:latin typeface="Arial"/>
                <a:ea typeface="Arial"/>
                <a:cs typeface="Arial"/>
                <a:sym typeface="Arial"/>
              </a:rPr>
              <a:t>La arquitectura BIAN (Banking Industry Architecture Network) es una iniciativa global que busca estandarizar la forma en que los bancos diseñan y organizan sus sistemas de tecnología de la información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grpSp>
        <p:nvGrpSpPr>
          <p:cNvPr id="654" name="Google Shape;654;p17"/>
          <p:cNvGrpSpPr/>
          <p:nvPr/>
        </p:nvGrpSpPr>
        <p:grpSpPr>
          <a:xfrm>
            <a:off x="4078841" y="545674"/>
            <a:ext cx="1601037" cy="385334"/>
            <a:chOff x="6517327" y="1439546"/>
            <a:chExt cx="2395328" cy="647294"/>
          </a:xfrm>
        </p:grpSpPr>
        <p:grpSp>
          <p:nvGrpSpPr>
            <p:cNvPr id="655" name="Google Shape;655;p17"/>
            <p:cNvGrpSpPr/>
            <p:nvPr/>
          </p:nvGrpSpPr>
          <p:grpSpPr>
            <a:xfrm>
              <a:off x="6517327" y="1439546"/>
              <a:ext cx="2395328" cy="647294"/>
              <a:chOff x="13814589" y="1926696"/>
              <a:chExt cx="3835593" cy="1036500"/>
            </a:xfrm>
          </p:grpSpPr>
          <p:sp>
            <p:nvSpPr>
              <p:cNvPr id="656" name="Google Shape;656;p17"/>
              <p:cNvSpPr/>
              <p:nvPr/>
            </p:nvSpPr>
            <p:spPr>
              <a:xfrm>
                <a:off x="13882482" y="1977396"/>
                <a:ext cx="3767700" cy="985800"/>
              </a:xfrm>
              <a:prstGeom prst="roundRect">
                <a:avLst>
                  <a:gd fmla="val 50000" name="adj"/>
                </a:avLst>
              </a:prstGeom>
              <a:solidFill>
                <a:schemeClr val="accent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657" name="Google Shape;657;p17"/>
              <p:cNvGrpSpPr/>
              <p:nvPr/>
            </p:nvGrpSpPr>
            <p:grpSpPr>
              <a:xfrm>
                <a:off x="14018731" y="2168949"/>
                <a:ext cx="396177" cy="320504"/>
                <a:chOff x="-3757613" y="5049838"/>
                <a:chExt cx="5826126" cy="4713288"/>
              </a:xfrm>
            </p:grpSpPr>
            <p:sp>
              <p:nvSpPr>
                <p:cNvPr id="658" name="Google Shape;658;p1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659" name="Google Shape;659;p1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660" name="Google Shape;660;p1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661" name="Google Shape;661;p1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662" name="Google Shape;662;p1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663" name="Google Shape;663;p1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grpSp>
          <p:sp>
            <p:nvSpPr>
              <p:cNvPr id="664" name="Google Shape;664;p17"/>
              <p:cNvSpPr/>
              <p:nvPr/>
            </p:nvSpPr>
            <p:spPr>
              <a:xfrm>
                <a:off x="13814589" y="1926696"/>
                <a:ext cx="1037700" cy="985800"/>
              </a:xfrm>
              <a:prstGeom prst="ellipse">
                <a:avLst/>
              </a:prstGeom>
              <a:solidFill>
                <a:schemeClr val="lt1"/>
              </a:solidFill>
              <a:ln cap="flat" cmpd="sng" w="76200">
                <a:solidFill>
                  <a:schemeClr val="accent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700" u="none" cap="none" strike="noStrike">
                  <a:solidFill>
                    <a:srgbClr val="808080"/>
                  </a:solidFill>
                  <a:latin typeface="Montserrat"/>
                  <a:ea typeface="Montserrat"/>
                  <a:cs typeface="Montserrat"/>
                  <a:sym typeface="Montserrat"/>
                </a:endParaRPr>
              </a:p>
            </p:txBody>
          </p:sp>
        </p:grpSp>
        <p:pic>
          <p:nvPicPr>
            <p:cNvPr id="665" name="Google Shape;665;p17"/>
            <p:cNvPicPr preferRelativeResize="0"/>
            <p:nvPr/>
          </p:nvPicPr>
          <p:blipFill rotWithShape="1">
            <a:blip r:embed="rId3">
              <a:alphaModFix/>
            </a:blip>
            <a:srcRect b="0" l="0" r="0" t="0"/>
            <a:stretch/>
          </p:blipFill>
          <p:spPr>
            <a:xfrm>
              <a:off x="6613137" y="1494510"/>
              <a:ext cx="497042" cy="536160"/>
            </a:xfrm>
            <a:prstGeom prst="rect">
              <a:avLst/>
            </a:prstGeom>
            <a:noFill/>
            <a:ln>
              <a:noFill/>
            </a:ln>
          </p:spPr>
        </p:pic>
      </p:grpSp>
      <p:grpSp>
        <p:nvGrpSpPr>
          <p:cNvPr id="666" name="Google Shape;666;p17"/>
          <p:cNvGrpSpPr/>
          <p:nvPr/>
        </p:nvGrpSpPr>
        <p:grpSpPr>
          <a:xfrm>
            <a:off x="6686531" y="564541"/>
            <a:ext cx="1299745" cy="366467"/>
            <a:chOff x="6373836" y="1425668"/>
            <a:chExt cx="1944562" cy="615600"/>
          </a:xfrm>
        </p:grpSpPr>
        <p:sp>
          <p:nvSpPr>
            <p:cNvPr id="667" name="Google Shape;667;p17"/>
            <p:cNvSpPr/>
            <p:nvPr/>
          </p:nvSpPr>
          <p:spPr>
            <a:xfrm>
              <a:off x="6415498" y="1452668"/>
              <a:ext cx="1902900" cy="561600"/>
            </a:xfrm>
            <a:prstGeom prst="roundRect">
              <a:avLst>
                <a:gd fmla="val 50000" name="adj"/>
              </a:avLst>
            </a:prstGeom>
            <a:solidFill>
              <a:srgbClr val="FFCF3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CBS/CMS</a:t>
              </a:r>
              <a:endParaRPr b="0" i="0" sz="900" u="none" cap="none" strike="noStrike">
                <a:solidFill>
                  <a:srgbClr val="000000"/>
                </a:solidFill>
                <a:latin typeface="Arial"/>
                <a:ea typeface="Arial"/>
                <a:cs typeface="Arial"/>
                <a:sym typeface="Arial"/>
              </a:endParaRPr>
            </a:p>
          </p:txBody>
        </p:sp>
        <p:sp>
          <p:nvSpPr>
            <p:cNvPr id="668" name="Google Shape;668;p17"/>
            <p:cNvSpPr/>
            <p:nvPr/>
          </p:nvSpPr>
          <p:spPr>
            <a:xfrm>
              <a:off x="6373836" y="1425668"/>
              <a:ext cx="648000" cy="615600"/>
            </a:xfrm>
            <a:prstGeom prst="ellipse">
              <a:avLst/>
            </a:prstGeom>
            <a:solidFill>
              <a:srgbClr val="FFFFFF"/>
            </a:solidFill>
            <a:ln cap="flat" cmpd="sng" w="76200">
              <a:solidFill>
                <a:srgbClr val="FFCF3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nvGrpSpPr>
            <p:cNvPr id="669" name="Google Shape;669;p17"/>
            <p:cNvGrpSpPr/>
            <p:nvPr/>
          </p:nvGrpSpPr>
          <p:grpSpPr>
            <a:xfrm>
              <a:off x="6446369" y="1494985"/>
              <a:ext cx="534269" cy="437223"/>
              <a:chOff x="5734648" y="2537199"/>
              <a:chExt cx="534269" cy="437223"/>
            </a:xfrm>
          </p:grpSpPr>
          <p:pic>
            <p:nvPicPr>
              <p:cNvPr id="670" name="Google Shape;670;p17"/>
              <p:cNvPicPr preferRelativeResize="0"/>
              <p:nvPr/>
            </p:nvPicPr>
            <p:blipFill rotWithShape="1">
              <a:blip r:embed="rId4">
                <a:alphaModFix/>
              </a:blip>
              <a:srcRect b="0" l="0" r="0" t="0"/>
              <a:stretch/>
            </p:blipFill>
            <p:spPr>
              <a:xfrm>
                <a:off x="5895535" y="2680770"/>
                <a:ext cx="373382" cy="293652"/>
              </a:xfrm>
              <a:prstGeom prst="rect">
                <a:avLst/>
              </a:prstGeom>
              <a:noFill/>
              <a:ln>
                <a:noFill/>
              </a:ln>
            </p:spPr>
          </p:pic>
          <p:pic>
            <p:nvPicPr>
              <p:cNvPr id="671" name="Google Shape;671;p17"/>
              <p:cNvPicPr preferRelativeResize="0"/>
              <p:nvPr/>
            </p:nvPicPr>
            <p:blipFill rotWithShape="1">
              <a:blip r:embed="rId5">
                <a:alphaModFix/>
              </a:blip>
              <a:srcRect b="0" l="0" r="0" t="0"/>
              <a:stretch/>
            </p:blipFill>
            <p:spPr>
              <a:xfrm>
                <a:off x="5734648" y="2537199"/>
                <a:ext cx="393088" cy="349888"/>
              </a:xfrm>
              <a:prstGeom prst="rect">
                <a:avLst/>
              </a:prstGeom>
              <a:noFill/>
              <a:ln>
                <a:noFill/>
              </a:ln>
            </p:spPr>
          </p:pic>
        </p:grpSp>
      </p:grpSp>
      <p:sp>
        <p:nvSpPr>
          <p:cNvPr id="672" name="Google Shape;672;p17"/>
          <p:cNvSpPr txBox="1"/>
          <p:nvPr/>
        </p:nvSpPr>
        <p:spPr>
          <a:xfrm>
            <a:off x="453066" y="71970"/>
            <a:ext cx="6797828"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3. Ventas y distribución</a:t>
            </a:r>
            <a:endParaRPr b="0" i="0" sz="900" u="none" cap="none" strike="noStrike">
              <a:solidFill>
                <a:srgbClr val="000000"/>
              </a:solidFill>
              <a:latin typeface="Arial"/>
              <a:ea typeface="Arial"/>
              <a:cs typeface="Arial"/>
              <a:sym typeface="Arial"/>
            </a:endParaRPr>
          </a:p>
        </p:txBody>
      </p:sp>
      <p:grpSp>
        <p:nvGrpSpPr>
          <p:cNvPr id="673" name="Google Shape;673;p17"/>
          <p:cNvGrpSpPr/>
          <p:nvPr/>
        </p:nvGrpSpPr>
        <p:grpSpPr>
          <a:xfrm>
            <a:off x="444455" y="466344"/>
            <a:ext cx="2929680" cy="4489704"/>
            <a:chOff x="444455" y="466344"/>
            <a:chExt cx="2929680" cy="4489704"/>
          </a:xfrm>
        </p:grpSpPr>
        <p:sp>
          <p:nvSpPr>
            <p:cNvPr id="674" name="Google Shape;674;p17"/>
            <p:cNvSpPr/>
            <p:nvPr/>
          </p:nvSpPr>
          <p:spPr>
            <a:xfrm>
              <a:off x="465849" y="466344"/>
              <a:ext cx="2848498" cy="381082"/>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3. Ventas y Distribución</a:t>
              </a:r>
              <a:endParaRPr b="0" i="0" sz="900" u="none" cap="none" strike="noStrike">
                <a:solidFill>
                  <a:srgbClr val="FFFFFF"/>
                </a:solidFill>
                <a:latin typeface="Montserrat"/>
                <a:ea typeface="Montserrat"/>
                <a:cs typeface="Montserrat"/>
                <a:sym typeface="Montserrat"/>
              </a:endParaRPr>
            </a:p>
          </p:txBody>
        </p:sp>
        <p:sp>
          <p:nvSpPr>
            <p:cNvPr id="675" name="Google Shape;675;p17"/>
            <p:cNvSpPr txBox="1"/>
            <p:nvPr/>
          </p:nvSpPr>
          <p:spPr>
            <a:xfrm>
              <a:off x="453066" y="2059530"/>
              <a:ext cx="2849144" cy="250665"/>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Gestión de Oportunidades</a:t>
              </a:r>
              <a:endParaRPr b="1" i="0" sz="700" u="none" cap="none" strike="noStrike">
                <a:solidFill>
                  <a:srgbClr val="2C2C2C"/>
                </a:solidFill>
                <a:latin typeface="Montserrat"/>
                <a:ea typeface="Montserrat"/>
                <a:cs typeface="Montserrat"/>
                <a:sym typeface="Montserrat"/>
              </a:endParaRPr>
            </a:p>
          </p:txBody>
        </p:sp>
        <p:sp>
          <p:nvSpPr>
            <p:cNvPr id="676" name="Google Shape;676;p17"/>
            <p:cNvSpPr txBox="1"/>
            <p:nvPr/>
          </p:nvSpPr>
          <p:spPr>
            <a:xfrm>
              <a:off x="447840" y="2848452"/>
              <a:ext cx="2849144" cy="250665"/>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Originación de Cuentas (depósitos)</a:t>
              </a:r>
              <a:endParaRPr b="1" i="0" sz="700" u="none" cap="none" strike="noStrike">
                <a:solidFill>
                  <a:srgbClr val="2C2C2C"/>
                </a:solidFill>
                <a:latin typeface="Montserrat"/>
                <a:ea typeface="Montserrat"/>
                <a:cs typeface="Montserrat"/>
                <a:sym typeface="Montserrat"/>
              </a:endParaRPr>
            </a:p>
          </p:txBody>
        </p:sp>
        <p:sp>
          <p:nvSpPr>
            <p:cNvPr id="677" name="Google Shape;677;p17"/>
            <p:cNvSpPr/>
            <p:nvPr/>
          </p:nvSpPr>
          <p:spPr>
            <a:xfrm>
              <a:off x="448156" y="3831850"/>
              <a:ext cx="2848498" cy="250582"/>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Incorporación de Clientes</a:t>
              </a:r>
              <a:endParaRPr b="1" i="0" sz="700" u="none" cap="none" strike="noStrike">
                <a:solidFill>
                  <a:srgbClr val="2C2C2C"/>
                </a:solidFill>
                <a:latin typeface="Montserrat"/>
                <a:ea typeface="Montserrat"/>
                <a:cs typeface="Montserrat"/>
                <a:sym typeface="Montserrat"/>
              </a:endParaRPr>
            </a:p>
          </p:txBody>
        </p:sp>
        <p:sp>
          <p:nvSpPr>
            <p:cNvPr id="678" name="Google Shape;678;p17"/>
            <p:cNvSpPr txBox="1"/>
            <p:nvPr/>
          </p:nvSpPr>
          <p:spPr>
            <a:xfrm>
              <a:off x="453066" y="1151411"/>
              <a:ext cx="2883883" cy="85781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Requisitos y necesidades de los clientes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Acuerdos con los clientes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Acceso y derechos de los clientes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Rentabilidad y conocimiento del cliente</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Crédito del cliente</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Determinación de ventas cruzadas/ventas adicionales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Recuperación e historial de cuentas</a:t>
              </a:r>
              <a:endParaRPr b="1" i="0" sz="700" u="none" cap="none" strike="noStrike">
                <a:solidFill>
                  <a:srgbClr val="000000"/>
                </a:solidFill>
                <a:latin typeface="Montserrat"/>
                <a:ea typeface="Montserrat"/>
                <a:cs typeface="Montserrat"/>
                <a:sym typeface="Montserrat"/>
              </a:endParaRPr>
            </a:p>
          </p:txBody>
        </p:sp>
        <p:sp>
          <p:nvSpPr>
            <p:cNvPr id="679" name="Google Shape;679;p17"/>
            <p:cNvSpPr txBox="1"/>
            <p:nvPr/>
          </p:nvSpPr>
          <p:spPr>
            <a:xfrm>
              <a:off x="448458" y="2337731"/>
              <a:ext cx="2883883" cy="41442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Calificar clientes potenciales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Gestionar las referencias</a:t>
              </a:r>
              <a:endParaRPr b="0" i="0" sz="10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0" i="0" lang="es" sz="700" u="none" cap="none" strike="noStrike">
                  <a:solidFill>
                    <a:srgbClr val="171717"/>
                  </a:solidFill>
                  <a:latin typeface="Montserrat"/>
                  <a:ea typeface="Montserrat"/>
                  <a:cs typeface="Montserrat"/>
                  <a:sym typeface="Montserrat"/>
                </a:rPr>
                <a:t>Gestionar el pipeline</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Gestionar oportunidades</a:t>
              </a:r>
              <a:endParaRPr b="0" i="0" sz="700" u="none" cap="none" strike="noStrike">
                <a:solidFill>
                  <a:srgbClr val="000000"/>
                </a:solidFill>
                <a:latin typeface="Montserrat"/>
                <a:ea typeface="Montserrat"/>
                <a:cs typeface="Montserrat"/>
                <a:sym typeface="Montserrat"/>
              </a:endParaRPr>
            </a:p>
          </p:txBody>
        </p:sp>
        <p:sp>
          <p:nvSpPr>
            <p:cNvPr id="680" name="Google Shape;680;p17"/>
            <p:cNvSpPr txBox="1"/>
            <p:nvPr/>
          </p:nvSpPr>
          <p:spPr>
            <a:xfrm>
              <a:off x="453066" y="3144892"/>
              <a:ext cx="2921069" cy="521456"/>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Capturar la aplicación de depositos</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Verificar la aplicación de despositos</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Configurar las características de cuentas (simple/múltiple)</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Configuración dinámica de productos</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Verificar y activar cuentas</a:t>
              </a:r>
              <a:endParaRPr b="1" i="0" sz="700" u="none" cap="none" strike="noStrike">
                <a:solidFill>
                  <a:srgbClr val="171717"/>
                </a:solidFill>
                <a:latin typeface="Montserrat"/>
                <a:ea typeface="Montserrat"/>
                <a:cs typeface="Montserrat"/>
                <a:sym typeface="Montserrat"/>
              </a:endParaRPr>
            </a:p>
          </p:txBody>
        </p:sp>
        <p:sp>
          <p:nvSpPr>
            <p:cNvPr id="681" name="Google Shape;681;p17"/>
            <p:cNvSpPr txBox="1"/>
            <p:nvPr/>
          </p:nvSpPr>
          <p:spPr>
            <a:xfrm>
              <a:off x="453079" y="4108302"/>
              <a:ext cx="2883883" cy="847746"/>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Ordenar cheques/ATM/tarjetas de débito</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KYC/cumplimiento</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Creación y mantenimiento del perfil del cliente</a:t>
              </a:r>
              <a:endParaRPr b="1"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Verificaciones de terceros</a:t>
              </a:r>
              <a:endParaRPr b="1"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Identificación y autenticación</a:t>
              </a:r>
              <a:endParaRPr b="0" i="0" sz="100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0" i="0" lang="es" sz="700" u="none" cap="none" strike="noStrike">
                  <a:solidFill>
                    <a:srgbClr val="000000"/>
                  </a:solidFill>
                  <a:latin typeface="Montserrat"/>
                  <a:ea typeface="Montserrat"/>
                  <a:cs typeface="Montserrat"/>
                  <a:sym typeface="Montserrat"/>
                </a:rPr>
                <a:t>Asesoramiento y correspondencia</a:t>
              </a:r>
              <a:endParaRPr b="0" i="0" sz="700" u="none" cap="none" strike="noStrike">
                <a:solidFill>
                  <a:srgbClr val="000000"/>
                </a:solidFill>
                <a:latin typeface="Montserrat"/>
                <a:ea typeface="Montserrat"/>
                <a:cs typeface="Montserrat"/>
                <a:sym typeface="Montserrat"/>
              </a:endParaRPr>
            </a:p>
          </p:txBody>
        </p:sp>
        <p:sp>
          <p:nvSpPr>
            <p:cNvPr id="682" name="Google Shape;682;p17"/>
            <p:cNvSpPr txBox="1"/>
            <p:nvPr/>
          </p:nvSpPr>
          <p:spPr>
            <a:xfrm>
              <a:off x="453066" y="892435"/>
              <a:ext cx="2849144" cy="250665"/>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2C2C2C"/>
                  </a:solidFill>
                  <a:latin typeface="Montserrat"/>
                  <a:ea typeface="Montserrat"/>
                  <a:cs typeface="Montserrat"/>
                  <a:sym typeface="Montserrat"/>
                </a:rPr>
                <a:t>Gestión del Cliente</a:t>
              </a:r>
              <a:endParaRPr b="1" i="0" sz="700" u="none" cap="none" strike="noStrike">
                <a:solidFill>
                  <a:srgbClr val="2C2C2C"/>
                </a:solidFill>
                <a:latin typeface="Montserrat"/>
                <a:ea typeface="Montserrat"/>
                <a:cs typeface="Montserrat"/>
                <a:sym typeface="Montserrat"/>
              </a:endParaRPr>
            </a:p>
          </p:txBody>
        </p:sp>
        <p:sp>
          <p:nvSpPr>
            <p:cNvPr id="683" name="Google Shape;683;p17"/>
            <p:cNvSpPr/>
            <p:nvPr/>
          </p:nvSpPr>
          <p:spPr>
            <a:xfrm>
              <a:off x="444455" y="3178264"/>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4" name="Google Shape;684;p17"/>
            <p:cNvSpPr/>
            <p:nvPr/>
          </p:nvSpPr>
          <p:spPr>
            <a:xfrm>
              <a:off x="444455" y="3282039"/>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5" name="Google Shape;685;p17"/>
            <p:cNvSpPr/>
            <p:nvPr/>
          </p:nvSpPr>
          <p:spPr>
            <a:xfrm>
              <a:off x="444455" y="3399739"/>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6" name="Google Shape;686;p17"/>
            <p:cNvSpPr/>
            <p:nvPr/>
          </p:nvSpPr>
          <p:spPr>
            <a:xfrm>
              <a:off x="444455" y="3541065"/>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7" name="Google Shape;687;p17"/>
            <p:cNvSpPr/>
            <p:nvPr/>
          </p:nvSpPr>
          <p:spPr>
            <a:xfrm>
              <a:off x="444455" y="3645815"/>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8" name="Google Shape;688;p17"/>
            <p:cNvSpPr/>
            <p:nvPr/>
          </p:nvSpPr>
          <p:spPr>
            <a:xfrm>
              <a:off x="444455" y="4250526"/>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89" name="Google Shape;689;p17"/>
            <p:cNvSpPr/>
            <p:nvPr/>
          </p:nvSpPr>
          <p:spPr>
            <a:xfrm>
              <a:off x="444455" y="4631730"/>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90" name="Google Shape;690;p17"/>
            <p:cNvSpPr/>
            <p:nvPr/>
          </p:nvSpPr>
          <p:spPr>
            <a:xfrm>
              <a:off x="444455" y="4146751"/>
              <a:ext cx="54000" cy="54000"/>
            </a:xfrm>
            <a:prstGeom prst="ellipse">
              <a:avLst/>
            </a:prstGeom>
            <a:solidFill>
              <a:srgbClr val="FFCF36"/>
            </a:solidFill>
            <a:ln cap="flat" cmpd="sng" w="9525">
              <a:solidFill>
                <a:srgbClr val="FFC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91" name="Google Shape;691;p17"/>
            <p:cNvSpPr/>
            <p:nvPr/>
          </p:nvSpPr>
          <p:spPr>
            <a:xfrm>
              <a:off x="444455" y="1899097"/>
              <a:ext cx="54000" cy="540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92" name="Google Shape;692;p17"/>
            <p:cNvSpPr/>
            <p:nvPr/>
          </p:nvSpPr>
          <p:spPr>
            <a:xfrm>
              <a:off x="444455" y="4490580"/>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93" name="Google Shape;693;p17"/>
            <p:cNvSpPr/>
            <p:nvPr/>
          </p:nvSpPr>
          <p:spPr>
            <a:xfrm>
              <a:off x="444455" y="4364075"/>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694" name="Google Shape;694;p17"/>
            <p:cNvSpPr/>
            <p:nvPr/>
          </p:nvSpPr>
          <p:spPr>
            <a:xfrm>
              <a:off x="444455" y="1662750"/>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grpSp>
      <p:sp>
        <p:nvSpPr>
          <p:cNvPr id="695" name="Google Shape;695;p17"/>
          <p:cNvSpPr txBox="1"/>
          <p:nvPr/>
        </p:nvSpPr>
        <p:spPr>
          <a:xfrm>
            <a:off x="3404924" y="1130090"/>
            <a:ext cx="5739000" cy="324780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Eficiencia Operativa</a:t>
            </a:r>
            <a:r>
              <a:rPr b="0" i="0" lang="es" sz="900" u="none" cap="none" strike="noStrike">
                <a:solidFill>
                  <a:srgbClr val="000000"/>
                </a:solidFill>
                <a:latin typeface="Montserrat"/>
                <a:ea typeface="Montserrat"/>
                <a:cs typeface="Montserrat"/>
                <a:sym typeface="Montserrat"/>
              </a:rPr>
              <a:t>: Temenos es un sistema altamente eficiente, </a:t>
            </a:r>
            <a:r>
              <a:rPr b="1" i="0" lang="es" sz="900" u="none" cap="none" strike="noStrike">
                <a:solidFill>
                  <a:schemeClr val="accent5"/>
                </a:solidFill>
                <a:latin typeface="Montserrat"/>
                <a:ea typeface="Montserrat"/>
                <a:cs typeface="Montserrat"/>
                <a:sym typeface="Montserrat"/>
              </a:rPr>
              <a:t>capaz de procesar un gran volumen de transacciones </a:t>
            </a:r>
            <a:r>
              <a:rPr b="0" i="0" lang="es" sz="900" u="none" cap="none" strike="noStrike">
                <a:solidFill>
                  <a:srgbClr val="000000"/>
                </a:solidFill>
                <a:latin typeface="Montserrat"/>
                <a:ea typeface="Montserrat"/>
                <a:cs typeface="Montserrat"/>
                <a:sym typeface="Montserrat"/>
              </a:rPr>
              <a:t>rápidamente. La </a:t>
            </a:r>
            <a:r>
              <a:rPr b="1" i="0" lang="es" sz="900" u="none" cap="none" strike="noStrike">
                <a:solidFill>
                  <a:schemeClr val="accent6"/>
                </a:solidFill>
                <a:latin typeface="Montserrat"/>
                <a:ea typeface="Montserrat"/>
                <a:cs typeface="Montserrat"/>
                <a:sym typeface="Montserrat"/>
              </a:rPr>
              <a:t>arquitectura BIAN permitirá una integración más fluida</a:t>
            </a:r>
            <a:r>
              <a:rPr b="0" i="0" lang="es" sz="900" u="none" cap="none" strike="noStrike">
                <a:solidFill>
                  <a:srgbClr val="000000"/>
                </a:solidFill>
                <a:latin typeface="Montserrat"/>
                <a:ea typeface="Montserrat"/>
                <a:cs typeface="Montserrat"/>
                <a:sym typeface="Montserrat"/>
              </a:rPr>
              <a:t> entre los diferentes sistemas y servicios.</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6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Experiencia del Cliente</a:t>
            </a:r>
            <a:r>
              <a:rPr b="0" i="0" lang="es" sz="900" u="none" cap="none" strike="noStrike">
                <a:solidFill>
                  <a:srgbClr val="000000"/>
                </a:solidFill>
                <a:latin typeface="Montserrat"/>
                <a:ea typeface="Montserrat"/>
                <a:cs typeface="Montserrat"/>
                <a:sym typeface="Montserrat"/>
              </a:rPr>
              <a:t>: El </a:t>
            </a:r>
            <a:r>
              <a:rPr b="1" i="0" lang="es" sz="900" u="none" cap="none" strike="noStrike">
                <a:solidFill>
                  <a:schemeClr val="accent6"/>
                </a:solidFill>
                <a:latin typeface="Montserrat"/>
                <a:ea typeface="Montserrat"/>
                <a:cs typeface="Montserrat"/>
                <a:sym typeface="Montserrat"/>
              </a:rPr>
              <a:t>onboarding digital BIAN permitirá</a:t>
            </a:r>
            <a:r>
              <a:rPr b="0" i="0" lang="es" sz="900" u="none" cap="none" strike="noStrike">
                <a:solidFill>
                  <a:schemeClr val="accent6"/>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a los </a:t>
            </a:r>
            <a:r>
              <a:rPr b="1" i="0" lang="es" sz="900" u="none" cap="none" strike="noStrike">
                <a:solidFill>
                  <a:schemeClr val="accent6"/>
                </a:solidFill>
                <a:latin typeface="Montserrat"/>
                <a:ea typeface="Montserrat"/>
                <a:cs typeface="Montserrat"/>
                <a:sym typeface="Montserrat"/>
              </a:rPr>
              <a:t>clientes registrarse y empezar a utilizar los servicios bancarios</a:t>
            </a:r>
            <a:r>
              <a:rPr b="0" i="0" lang="es" sz="900" u="none" cap="none" strike="noStrike">
                <a:solidFill>
                  <a:srgbClr val="000000"/>
                </a:solidFill>
                <a:latin typeface="Montserrat"/>
                <a:ea typeface="Montserrat"/>
                <a:cs typeface="Montserrat"/>
                <a:sym typeface="Montserrat"/>
              </a:rPr>
              <a:t> rápidamente. Además, </a:t>
            </a:r>
            <a:r>
              <a:rPr b="1" i="0" lang="es" sz="900" u="none" cap="none" strike="noStrike">
                <a:solidFill>
                  <a:schemeClr val="accent5"/>
                </a:solidFill>
                <a:latin typeface="Montserrat"/>
                <a:ea typeface="Montserrat"/>
                <a:cs typeface="Montserrat"/>
                <a:sym typeface="Montserrat"/>
              </a:rPr>
              <a:t>Smart Vista permitirá una gestión eficiente y personalizada de las tarjetas</a:t>
            </a:r>
            <a:r>
              <a:rPr b="0" i="0" lang="es" sz="900" u="none" cap="none" strike="noStrike">
                <a:solidFill>
                  <a:srgbClr val="000000"/>
                </a:solidFill>
                <a:latin typeface="Montserrat"/>
                <a:ea typeface="Montserrat"/>
                <a:cs typeface="Montserrat"/>
                <a:sym typeface="Montserrat"/>
              </a:rPr>
              <a:t>, lo que también mejorará la experiencia del cliente.</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6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Escalabilidad</a:t>
            </a:r>
            <a:r>
              <a:rPr b="0" i="0" lang="es" sz="900" u="none" cap="none" strike="noStrike">
                <a:solidFill>
                  <a:srgbClr val="000000"/>
                </a:solidFill>
                <a:latin typeface="Montserrat"/>
                <a:ea typeface="Montserrat"/>
                <a:cs typeface="Montserrat"/>
                <a:sym typeface="Montserrat"/>
              </a:rPr>
              <a:t>: La </a:t>
            </a:r>
            <a:r>
              <a:rPr b="1" i="0" lang="es" sz="900" u="none" cap="none" strike="noStrike">
                <a:solidFill>
                  <a:srgbClr val="000000"/>
                </a:solidFill>
                <a:latin typeface="Montserrat"/>
                <a:ea typeface="Montserrat"/>
                <a:cs typeface="Montserrat"/>
                <a:sym typeface="Montserrat"/>
              </a:rPr>
              <a:t>combinación de estas tecnologías </a:t>
            </a:r>
            <a:r>
              <a:rPr b="0" i="0" lang="es" sz="900" u="none" cap="none" strike="noStrike">
                <a:solidFill>
                  <a:srgbClr val="000000"/>
                </a:solidFill>
                <a:latin typeface="Montserrat"/>
                <a:ea typeface="Montserrat"/>
                <a:cs typeface="Montserrat"/>
                <a:sym typeface="Montserrat"/>
              </a:rPr>
              <a:t>proporcionará una excelente escalabilidad, permitiendo al BanCoppel manejar un crecimiento futuro en el número de clientes y transacciones durante los próximos 10 años.</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6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Innovación</a:t>
            </a:r>
            <a:r>
              <a:rPr b="0" i="0" lang="es" sz="900" u="none" cap="none" strike="noStrike">
                <a:solidFill>
                  <a:srgbClr val="000000"/>
                </a:solidFill>
                <a:latin typeface="Montserrat"/>
                <a:ea typeface="Montserrat"/>
                <a:cs typeface="Montserrat"/>
                <a:sym typeface="Montserrat"/>
              </a:rPr>
              <a:t>: Estas tecnologías modernas </a:t>
            </a:r>
            <a:r>
              <a:rPr b="1" i="0" lang="es" sz="900" u="none" cap="none" strike="noStrike">
                <a:solidFill>
                  <a:schemeClr val="accent5"/>
                </a:solidFill>
                <a:latin typeface="Montserrat"/>
                <a:ea typeface="Montserrat"/>
                <a:cs typeface="Montserrat"/>
                <a:sym typeface="Montserrat"/>
              </a:rPr>
              <a:t>permitirán al banco introducir nuevos productos y servicios más rápidamente</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ayudando a mantenerse a la vanguardia de la innovación en el sector bancario.</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6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Seguridad</a:t>
            </a:r>
            <a:r>
              <a:rPr b="0" i="0" lang="es" sz="900" u="none" cap="none" strike="noStrike">
                <a:solidFill>
                  <a:srgbClr val="000000"/>
                </a:solidFill>
                <a:latin typeface="Montserrat"/>
                <a:ea typeface="Montserrat"/>
                <a:cs typeface="Montserrat"/>
                <a:sym typeface="Montserrat"/>
              </a:rPr>
              <a:t>: Tanto Temenos como Smart Vista ofrecen robustas </a:t>
            </a:r>
            <a:r>
              <a:rPr b="1" i="0" lang="es" sz="900" u="none" cap="none" strike="noStrike">
                <a:solidFill>
                  <a:schemeClr val="accent5"/>
                </a:solidFill>
                <a:latin typeface="Montserrat"/>
                <a:ea typeface="Montserrat"/>
                <a:cs typeface="Montserrat"/>
                <a:sym typeface="Montserrat"/>
              </a:rPr>
              <a:t>capacidades de seguridad</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Además, la </a:t>
            </a:r>
            <a:r>
              <a:rPr b="1" i="0" lang="es" sz="900" u="none" cap="none" strike="noStrike">
                <a:solidFill>
                  <a:schemeClr val="accent6"/>
                </a:solidFill>
                <a:latin typeface="Montserrat"/>
                <a:ea typeface="Montserrat"/>
                <a:cs typeface="Montserrat"/>
                <a:sym typeface="Montserrat"/>
              </a:rPr>
              <a:t>arquitectura BIAN </a:t>
            </a:r>
            <a:r>
              <a:rPr b="0" i="0" lang="es" sz="900" u="none" cap="none" strike="noStrike">
                <a:solidFill>
                  <a:srgbClr val="000000"/>
                </a:solidFill>
                <a:latin typeface="Montserrat"/>
                <a:ea typeface="Montserrat"/>
                <a:cs typeface="Montserrat"/>
                <a:sym typeface="Montserrat"/>
              </a:rPr>
              <a:t>ayuda a la seguridad </a:t>
            </a:r>
            <a:r>
              <a:rPr b="1" i="0" lang="es" sz="900" u="none" cap="none" strike="noStrike">
                <a:solidFill>
                  <a:schemeClr val="accent6"/>
                </a:solidFill>
                <a:latin typeface="Montserrat"/>
                <a:ea typeface="Montserrat"/>
                <a:cs typeface="Montserrat"/>
                <a:sym typeface="Montserrat"/>
              </a:rPr>
              <a:t>al estandarizar las interacciones entre diferentes sistemas y servicios.</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600"/>
              </a:spcBef>
              <a:spcAft>
                <a:spcPts val="0"/>
              </a:spcAft>
              <a:buClr>
                <a:srgbClr val="000000"/>
              </a:buClr>
              <a:buSzPts val="900"/>
              <a:buFont typeface="Arial"/>
              <a:buAutoNum type="arabicPeriod"/>
            </a:pPr>
            <a:r>
              <a:rPr b="1" i="0" lang="es" sz="900" u="none" cap="none" strike="noStrike">
                <a:solidFill>
                  <a:srgbClr val="000000"/>
                </a:solidFill>
                <a:latin typeface="Montserrat"/>
                <a:ea typeface="Montserrat"/>
                <a:cs typeface="Montserrat"/>
                <a:sym typeface="Montserrat"/>
              </a:rPr>
              <a:t>Cumplimiento Normativo</a:t>
            </a:r>
            <a:r>
              <a:rPr b="0" i="0" lang="es" sz="900" u="none" cap="none" strike="noStrike">
                <a:solidFill>
                  <a:srgbClr val="000000"/>
                </a:solidFill>
                <a:latin typeface="Montserrat"/>
                <a:ea typeface="Montserrat"/>
                <a:cs typeface="Montserrat"/>
                <a:sym typeface="Montserrat"/>
              </a:rPr>
              <a:t>: La adopción de estas tecnologías facilitará el cumplimiento de las regulaciones financieras, ya que tanto </a:t>
            </a:r>
            <a:r>
              <a:rPr b="1" i="0" lang="es" sz="900" u="none" cap="none" strike="noStrike">
                <a:solidFill>
                  <a:schemeClr val="accent5"/>
                </a:solidFill>
                <a:latin typeface="Montserrat"/>
                <a:ea typeface="Montserrat"/>
                <a:cs typeface="Montserrat"/>
                <a:sym typeface="Montserrat"/>
              </a:rPr>
              <a:t>Temenos como Smart Vista están diseñados para cumplir con las normas internacionales</a:t>
            </a:r>
            <a:r>
              <a:rPr b="0" i="0" lang="es" sz="900" u="none" cap="none" strike="noStrike">
                <a:solidFill>
                  <a:schemeClr val="accent5"/>
                </a:solidFill>
                <a:latin typeface="Montserrat"/>
                <a:ea typeface="Montserrat"/>
                <a:cs typeface="Montserrat"/>
                <a:sym typeface="Montserrat"/>
              </a:rPr>
              <a:t>,</a:t>
            </a:r>
            <a:r>
              <a:rPr b="0" i="0" lang="es" sz="900" u="none" cap="none" strike="noStrike">
                <a:solidFill>
                  <a:srgbClr val="000000"/>
                </a:solidFill>
                <a:latin typeface="Montserrat"/>
                <a:ea typeface="Montserrat"/>
                <a:cs typeface="Montserrat"/>
                <a:sym typeface="Montserrat"/>
              </a:rPr>
              <a:t> y </a:t>
            </a:r>
            <a:r>
              <a:rPr b="1" i="0" lang="es" sz="900" u="none" cap="none" strike="noStrike">
                <a:solidFill>
                  <a:schemeClr val="accent6"/>
                </a:solidFill>
                <a:latin typeface="Montserrat"/>
                <a:ea typeface="Montserrat"/>
                <a:cs typeface="Montserrat"/>
                <a:sym typeface="Montserrat"/>
              </a:rPr>
              <a:t>BIAN proporciona un marco que facilita el cumplimiento.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grpSp>
        <p:nvGrpSpPr>
          <p:cNvPr id="700" name="Google Shape;700;p18"/>
          <p:cNvGrpSpPr/>
          <p:nvPr/>
        </p:nvGrpSpPr>
        <p:grpSpPr>
          <a:xfrm>
            <a:off x="4367987" y="1242101"/>
            <a:ext cx="1330040" cy="366467"/>
            <a:chOff x="6546955" y="1575005"/>
            <a:chExt cx="1989886" cy="615600"/>
          </a:xfrm>
        </p:grpSpPr>
        <p:sp>
          <p:nvSpPr>
            <p:cNvPr id="701" name="Google Shape;701;p18"/>
            <p:cNvSpPr/>
            <p:nvPr/>
          </p:nvSpPr>
          <p:spPr>
            <a:xfrm>
              <a:off x="6599874" y="1602005"/>
              <a:ext cx="1936967" cy="5616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CMS</a:t>
              </a:r>
              <a:endParaRPr b="0" i="0" sz="900" u="none" cap="none" strike="noStrike">
                <a:solidFill>
                  <a:srgbClr val="000000"/>
                </a:solidFill>
                <a:latin typeface="Arial"/>
                <a:ea typeface="Arial"/>
                <a:cs typeface="Arial"/>
                <a:sym typeface="Arial"/>
              </a:endParaRPr>
            </a:p>
          </p:txBody>
        </p:sp>
        <p:sp>
          <p:nvSpPr>
            <p:cNvPr id="702" name="Google Shape;702;p18"/>
            <p:cNvSpPr/>
            <p:nvPr/>
          </p:nvSpPr>
          <p:spPr>
            <a:xfrm>
              <a:off x="6546955" y="1575005"/>
              <a:ext cx="648000" cy="615600"/>
            </a:xfrm>
            <a:prstGeom prst="ellipse">
              <a:avLst/>
            </a:prstGeom>
            <a:solidFill>
              <a:srgbClr val="FFFFFF"/>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pic>
          <p:nvPicPr>
            <p:cNvPr id="703" name="Google Shape;703;p18"/>
            <p:cNvPicPr preferRelativeResize="0"/>
            <p:nvPr/>
          </p:nvPicPr>
          <p:blipFill rotWithShape="1">
            <a:blip r:embed="rId3">
              <a:alphaModFix/>
            </a:blip>
            <a:srcRect b="0" l="0" r="0" t="0"/>
            <a:stretch/>
          </p:blipFill>
          <p:spPr>
            <a:xfrm>
              <a:off x="6569576" y="1629766"/>
              <a:ext cx="537604" cy="448042"/>
            </a:xfrm>
            <a:prstGeom prst="rect">
              <a:avLst/>
            </a:prstGeom>
            <a:noFill/>
            <a:ln>
              <a:noFill/>
            </a:ln>
          </p:spPr>
        </p:pic>
      </p:grpSp>
      <p:grpSp>
        <p:nvGrpSpPr>
          <p:cNvPr id="704" name="Google Shape;704;p18"/>
          <p:cNvGrpSpPr/>
          <p:nvPr/>
        </p:nvGrpSpPr>
        <p:grpSpPr>
          <a:xfrm>
            <a:off x="4395748" y="2374703"/>
            <a:ext cx="1302280" cy="366467"/>
            <a:chOff x="6373836" y="1425668"/>
            <a:chExt cx="1948354" cy="615600"/>
          </a:xfrm>
        </p:grpSpPr>
        <p:sp>
          <p:nvSpPr>
            <p:cNvPr id="705" name="Google Shape;705;p18"/>
            <p:cNvSpPr/>
            <p:nvPr/>
          </p:nvSpPr>
          <p:spPr>
            <a:xfrm>
              <a:off x="6427690" y="1452668"/>
              <a:ext cx="1894500" cy="561600"/>
            </a:xfrm>
            <a:prstGeom prst="roundRect">
              <a:avLst>
                <a:gd fmla="val 50000" name="adj"/>
              </a:avLst>
            </a:prstGeom>
            <a:solidFill>
              <a:srgbClr val="FFCF3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CBS/CMS</a:t>
              </a:r>
              <a:endParaRPr b="0" i="0" sz="900" u="none" cap="none" strike="noStrike">
                <a:solidFill>
                  <a:srgbClr val="000000"/>
                </a:solidFill>
                <a:latin typeface="Arial"/>
                <a:ea typeface="Arial"/>
                <a:cs typeface="Arial"/>
                <a:sym typeface="Arial"/>
              </a:endParaRPr>
            </a:p>
          </p:txBody>
        </p:sp>
        <p:sp>
          <p:nvSpPr>
            <p:cNvPr id="706" name="Google Shape;706;p18"/>
            <p:cNvSpPr/>
            <p:nvPr/>
          </p:nvSpPr>
          <p:spPr>
            <a:xfrm>
              <a:off x="6373836" y="1425668"/>
              <a:ext cx="648000" cy="615600"/>
            </a:xfrm>
            <a:prstGeom prst="ellipse">
              <a:avLst/>
            </a:prstGeom>
            <a:solidFill>
              <a:srgbClr val="FFFFFF"/>
            </a:solidFill>
            <a:ln cap="flat" cmpd="sng" w="76200">
              <a:solidFill>
                <a:srgbClr val="FFCF3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nvGrpSpPr>
            <p:cNvPr id="707" name="Google Shape;707;p18"/>
            <p:cNvGrpSpPr/>
            <p:nvPr/>
          </p:nvGrpSpPr>
          <p:grpSpPr>
            <a:xfrm>
              <a:off x="6446369" y="1494985"/>
              <a:ext cx="534269" cy="437223"/>
              <a:chOff x="5734648" y="2537199"/>
              <a:chExt cx="534269" cy="437223"/>
            </a:xfrm>
          </p:grpSpPr>
          <p:pic>
            <p:nvPicPr>
              <p:cNvPr id="708" name="Google Shape;708;p18"/>
              <p:cNvPicPr preferRelativeResize="0"/>
              <p:nvPr/>
            </p:nvPicPr>
            <p:blipFill rotWithShape="1">
              <a:blip r:embed="rId3">
                <a:alphaModFix/>
              </a:blip>
              <a:srcRect b="0" l="0" r="0" t="0"/>
              <a:stretch/>
            </p:blipFill>
            <p:spPr>
              <a:xfrm>
                <a:off x="5895535" y="2680770"/>
                <a:ext cx="373382" cy="293652"/>
              </a:xfrm>
              <a:prstGeom prst="rect">
                <a:avLst/>
              </a:prstGeom>
              <a:noFill/>
              <a:ln>
                <a:noFill/>
              </a:ln>
            </p:spPr>
          </p:pic>
          <p:pic>
            <p:nvPicPr>
              <p:cNvPr id="709" name="Google Shape;709;p18"/>
              <p:cNvPicPr preferRelativeResize="0"/>
              <p:nvPr/>
            </p:nvPicPr>
            <p:blipFill rotWithShape="1">
              <a:blip r:embed="rId4">
                <a:alphaModFix/>
              </a:blip>
              <a:srcRect b="0" l="0" r="0" t="0"/>
              <a:stretch/>
            </p:blipFill>
            <p:spPr>
              <a:xfrm>
                <a:off x="5734648" y="2537199"/>
                <a:ext cx="393088" cy="349888"/>
              </a:xfrm>
              <a:prstGeom prst="rect">
                <a:avLst/>
              </a:prstGeom>
              <a:noFill/>
              <a:ln>
                <a:noFill/>
              </a:ln>
            </p:spPr>
          </p:pic>
        </p:grpSp>
      </p:grpSp>
      <p:grpSp>
        <p:nvGrpSpPr>
          <p:cNvPr id="710" name="Google Shape;710;p18"/>
          <p:cNvGrpSpPr/>
          <p:nvPr/>
        </p:nvGrpSpPr>
        <p:grpSpPr>
          <a:xfrm>
            <a:off x="4395755" y="438011"/>
            <a:ext cx="1302273" cy="366467"/>
            <a:chOff x="6373836" y="1425668"/>
            <a:chExt cx="1948344" cy="615600"/>
          </a:xfrm>
        </p:grpSpPr>
        <p:sp>
          <p:nvSpPr>
            <p:cNvPr id="711" name="Google Shape;711;p18"/>
            <p:cNvSpPr/>
            <p:nvPr/>
          </p:nvSpPr>
          <p:spPr>
            <a:xfrm>
              <a:off x="6415498" y="1452668"/>
              <a:ext cx="1906682" cy="5616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CBS</a:t>
              </a:r>
              <a:endParaRPr b="0" i="0" sz="900" u="none" cap="none" strike="noStrike">
                <a:solidFill>
                  <a:srgbClr val="000000"/>
                </a:solidFill>
                <a:latin typeface="Arial"/>
                <a:ea typeface="Arial"/>
                <a:cs typeface="Arial"/>
                <a:sym typeface="Arial"/>
              </a:endParaRPr>
            </a:p>
          </p:txBody>
        </p:sp>
        <p:sp>
          <p:nvSpPr>
            <p:cNvPr id="712" name="Google Shape;712;p18"/>
            <p:cNvSpPr/>
            <p:nvPr/>
          </p:nvSpPr>
          <p:spPr>
            <a:xfrm>
              <a:off x="6373836" y="1425668"/>
              <a:ext cx="648000" cy="615600"/>
            </a:xfrm>
            <a:prstGeom prst="ellipse">
              <a:avLst/>
            </a:prstGeom>
            <a:solidFill>
              <a:srgbClr val="FFFFFF"/>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pic>
          <p:nvPicPr>
            <p:cNvPr id="713" name="Google Shape;713;p18"/>
            <p:cNvPicPr preferRelativeResize="0"/>
            <p:nvPr/>
          </p:nvPicPr>
          <p:blipFill rotWithShape="1">
            <a:blip r:embed="rId4">
              <a:alphaModFix/>
            </a:blip>
            <a:srcRect b="0" l="0" r="0" t="0"/>
            <a:stretch/>
          </p:blipFill>
          <p:spPr>
            <a:xfrm>
              <a:off x="6472746" y="1508428"/>
              <a:ext cx="450180" cy="450080"/>
            </a:xfrm>
            <a:prstGeom prst="rect">
              <a:avLst/>
            </a:prstGeom>
            <a:noFill/>
            <a:ln>
              <a:noFill/>
            </a:ln>
          </p:spPr>
        </p:pic>
      </p:grpSp>
      <p:sp>
        <p:nvSpPr>
          <p:cNvPr id="714" name="Google Shape;714;p18"/>
          <p:cNvSpPr txBox="1"/>
          <p:nvPr/>
        </p:nvSpPr>
        <p:spPr>
          <a:xfrm>
            <a:off x="454127" y="79986"/>
            <a:ext cx="7322616"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4. Entrega de Servicios y Operaciones</a:t>
            </a:r>
            <a:endParaRPr b="0" i="0" sz="900" u="none" cap="none" strike="noStrike">
              <a:solidFill>
                <a:srgbClr val="000000"/>
              </a:solidFill>
              <a:latin typeface="Arial"/>
              <a:ea typeface="Arial"/>
              <a:cs typeface="Arial"/>
              <a:sym typeface="Arial"/>
            </a:endParaRPr>
          </a:p>
        </p:txBody>
      </p:sp>
      <p:sp>
        <p:nvSpPr>
          <p:cNvPr id="715" name="Google Shape;715;p18"/>
          <p:cNvSpPr txBox="1"/>
          <p:nvPr/>
        </p:nvSpPr>
        <p:spPr>
          <a:xfrm>
            <a:off x="4716113" y="766953"/>
            <a:ext cx="4188342" cy="474923"/>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Generar las capacidades para ofrecer </a:t>
            </a:r>
            <a:r>
              <a:rPr b="1" i="0" lang="es" sz="900" u="none" cap="none" strike="noStrike">
                <a:solidFill>
                  <a:schemeClr val="accent1"/>
                </a:solidFill>
                <a:latin typeface="Montserrat"/>
                <a:ea typeface="Montserrat"/>
                <a:cs typeface="Montserrat"/>
                <a:sym typeface="Montserrat"/>
              </a:rPr>
              <a:t>alta eficiencia, escalabilidad y seguridad, facilitando la gestión de transacciones </a:t>
            </a:r>
            <a:r>
              <a:rPr b="0" i="0" lang="es" sz="900" u="none" cap="none" strike="noStrike">
                <a:solidFill>
                  <a:srgbClr val="000000"/>
                </a:solidFill>
                <a:latin typeface="Montserrat"/>
                <a:ea typeface="Montserrat"/>
                <a:cs typeface="Montserrat"/>
                <a:sym typeface="Montserrat"/>
              </a:rPr>
              <a:t>y mejorando la experiencia del cliente.</a:t>
            </a:r>
            <a:endParaRPr b="0" i="0" sz="900" u="none" cap="none" strike="noStrike">
              <a:solidFill>
                <a:srgbClr val="000000"/>
              </a:solidFill>
              <a:latin typeface="Arial"/>
              <a:ea typeface="Arial"/>
              <a:cs typeface="Arial"/>
              <a:sym typeface="Arial"/>
            </a:endParaRPr>
          </a:p>
        </p:txBody>
      </p:sp>
      <p:sp>
        <p:nvSpPr>
          <p:cNvPr id="716" name="Google Shape;716;p18"/>
          <p:cNvSpPr txBox="1"/>
          <p:nvPr/>
        </p:nvSpPr>
        <p:spPr>
          <a:xfrm>
            <a:off x="4708938" y="1404230"/>
            <a:ext cx="4197317" cy="952200"/>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Realizar el procesamiento de transacciones de tarjeta de crédito, activación, facturación y pagos,  logrando </a:t>
            </a:r>
            <a:r>
              <a:rPr b="1" i="0" lang="es" sz="900" u="none" cap="none" strike="noStrike">
                <a:solidFill>
                  <a:schemeClr val="accent1"/>
                </a:solidFill>
                <a:latin typeface="Montserrat"/>
                <a:ea typeface="Montserrat"/>
                <a:cs typeface="Montserrat"/>
                <a:sym typeface="Montserrat"/>
              </a:rPr>
              <a:t>integrar saldos y realizar transferencias internas donde correspondan</a:t>
            </a:r>
            <a:r>
              <a:rPr b="0" i="0" lang="es" sz="900" u="none" cap="none" strike="noStrike">
                <a:solidFill>
                  <a:srgbClr val="000000"/>
                </a:solidFill>
                <a:latin typeface="Montserrat"/>
                <a:ea typeface="Montserrat"/>
                <a:cs typeface="Montserrat"/>
                <a:sym typeface="Montserrat"/>
              </a:rPr>
              <a:t>, así como, generar las alertas o notificaciones necesarias en casos de fraude o transacciones realizadas</a:t>
            </a:r>
            <a:endParaRPr b="0" i="0" sz="900" u="none" cap="none" strike="noStrike">
              <a:solidFill>
                <a:srgbClr val="000000"/>
              </a:solidFill>
              <a:latin typeface="Arial"/>
              <a:ea typeface="Arial"/>
              <a:cs typeface="Arial"/>
              <a:sym typeface="Arial"/>
            </a:endParaRPr>
          </a:p>
        </p:txBody>
      </p:sp>
      <p:sp>
        <p:nvSpPr>
          <p:cNvPr id="717" name="Google Shape;717;p18"/>
          <p:cNvSpPr txBox="1"/>
          <p:nvPr/>
        </p:nvSpPr>
        <p:spPr>
          <a:xfrm>
            <a:off x="4708938" y="2554104"/>
            <a:ext cx="4197317" cy="1228976"/>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Poder realizar las </a:t>
            </a:r>
            <a:r>
              <a:rPr b="1" i="0" lang="es" sz="900" u="none" cap="none" strike="noStrike">
                <a:solidFill>
                  <a:schemeClr val="accent5"/>
                </a:solidFill>
                <a:latin typeface="Montserrat"/>
                <a:ea typeface="Montserrat"/>
                <a:cs typeface="Montserrat"/>
                <a:sym typeface="Montserrat"/>
              </a:rPr>
              <a:t>gestiones del ciclo de vida de los productos de SSFF</a:t>
            </a:r>
            <a:r>
              <a:rPr b="0" i="0" lang="es" sz="900" u="none" cap="none" strike="noStrike">
                <a:solidFill>
                  <a:schemeClr val="accent5"/>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y de tarjeta de crédito tales como el mantenimiento de cuentas y brindar los servicios que los clientes requieran.</a:t>
            </a:r>
            <a:endParaRPr b="0" i="0" sz="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900"/>
              <a:buFont typeface="Arial"/>
              <a:buNone/>
            </a:pPr>
            <a:r>
              <a:rPr b="1" i="0" lang="es" sz="900" u="none" cap="none" strike="noStrike">
                <a:solidFill>
                  <a:schemeClr val="accent5"/>
                </a:solidFill>
                <a:latin typeface="Montserrat"/>
                <a:ea typeface="Montserrat"/>
                <a:cs typeface="Montserrat"/>
                <a:sym typeface="Montserrat"/>
              </a:rPr>
              <a:t>Gestionar los intereses o comisiones </a:t>
            </a:r>
            <a:r>
              <a:rPr b="0" i="0" lang="es" sz="900" u="none" cap="none" strike="noStrike">
                <a:solidFill>
                  <a:srgbClr val="000000"/>
                </a:solidFill>
                <a:latin typeface="Montserrat"/>
                <a:ea typeface="Montserrat"/>
                <a:cs typeface="Montserrat"/>
                <a:sym typeface="Montserrat"/>
              </a:rPr>
              <a:t>que apliquen por cada producto y tipo de transacción, incluyendo temas fiscales.  </a:t>
            </a:r>
            <a:endParaRPr b="0" i="0" sz="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Realizar las gestiones de cobros y reclamos, que incluyen la resolución de problemas, trámite de bajas cancelaciones entre otros</a:t>
            </a:r>
            <a:endParaRPr b="0" i="0" sz="900" u="none" cap="none" strike="noStrike">
              <a:solidFill>
                <a:srgbClr val="000000"/>
              </a:solidFill>
              <a:latin typeface="Arial"/>
              <a:ea typeface="Arial"/>
              <a:cs typeface="Arial"/>
              <a:sym typeface="Arial"/>
            </a:endParaRPr>
          </a:p>
        </p:txBody>
      </p:sp>
      <p:grpSp>
        <p:nvGrpSpPr>
          <p:cNvPr id="718" name="Google Shape;718;p18"/>
          <p:cNvGrpSpPr/>
          <p:nvPr/>
        </p:nvGrpSpPr>
        <p:grpSpPr>
          <a:xfrm>
            <a:off x="4368281" y="3824717"/>
            <a:ext cx="1329746" cy="366486"/>
            <a:chOff x="383100" y="5926133"/>
            <a:chExt cx="1989446" cy="615632"/>
          </a:xfrm>
        </p:grpSpPr>
        <p:grpSp>
          <p:nvGrpSpPr>
            <p:cNvPr id="719" name="Google Shape;719;p18"/>
            <p:cNvGrpSpPr/>
            <p:nvPr/>
          </p:nvGrpSpPr>
          <p:grpSpPr>
            <a:xfrm>
              <a:off x="383100" y="5926133"/>
              <a:ext cx="1989446" cy="615632"/>
              <a:chOff x="13814589" y="1926695"/>
              <a:chExt cx="3185662" cy="985800"/>
            </a:xfrm>
          </p:grpSpPr>
          <p:sp>
            <p:nvSpPr>
              <p:cNvPr id="720" name="Google Shape;720;p18"/>
              <p:cNvSpPr/>
              <p:nvPr/>
            </p:nvSpPr>
            <p:spPr>
              <a:xfrm>
                <a:off x="13877898" y="1977407"/>
                <a:ext cx="3122353" cy="899399"/>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Teller</a:t>
                </a:r>
                <a:endParaRPr b="0" i="0" sz="900" u="none" cap="none" strike="noStrike">
                  <a:solidFill>
                    <a:srgbClr val="000000"/>
                  </a:solidFill>
                  <a:latin typeface="Arial"/>
                  <a:ea typeface="Arial"/>
                  <a:cs typeface="Arial"/>
                  <a:sym typeface="Arial"/>
                </a:endParaRPr>
              </a:p>
            </p:txBody>
          </p:sp>
          <p:grpSp>
            <p:nvGrpSpPr>
              <p:cNvPr id="721" name="Google Shape;721;p18"/>
              <p:cNvGrpSpPr/>
              <p:nvPr/>
            </p:nvGrpSpPr>
            <p:grpSpPr>
              <a:xfrm>
                <a:off x="14018731" y="2168949"/>
                <a:ext cx="396177" cy="320504"/>
                <a:chOff x="-3757613" y="5049838"/>
                <a:chExt cx="5826126" cy="4713288"/>
              </a:xfrm>
            </p:grpSpPr>
            <p:sp>
              <p:nvSpPr>
                <p:cNvPr id="722" name="Google Shape;722;p18"/>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723" name="Google Shape;723;p18"/>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724" name="Google Shape;724;p18"/>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725" name="Google Shape;725;p18"/>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726" name="Google Shape;726;p18"/>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727" name="Google Shape;727;p18"/>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728" name="Google Shape;728;p18"/>
              <p:cNvSpPr/>
              <p:nvPr/>
            </p:nvSpPr>
            <p:spPr>
              <a:xfrm>
                <a:off x="13814589" y="1926695"/>
                <a:ext cx="1037700" cy="985800"/>
              </a:xfrm>
              <a:prstGeom prst="ellipse">
                <a:avLst/>
              </a:prstGeom>
              <a:solidFill>
                <a:srgbClr val="FFFFFF"/>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pic>
          <p:nvPicPr>
            <p:cNvPr descr="Icon&#10;&#10;Description automatically generated" id="729" name="Google Shape;729;p18"/>
            <p:cNvPicPr preferRelativeResize="0"/>
            <p:nvPr/>
          </p:nvPicPr>
          <p:blipFill rotWithShape="1">
            <a:blip r:embed="rId5">
              <a:alphaModFix/>
            </a:blip>
            <a:srcRect b="0" l="0" r="0" t="0"/>
            <a:stretch/>
          </p:blipFill>
          <p:spPr>
            <a:xfrm>
              <a:off x="503470" y="5994558"/>
              <a:ext cx="443832" cy="429180"/>
            </a:xfrm>
            <a:prstGeom prst="rect">
              <a:avLst/>
            </a:prstGeom>
            <a:noFill/>
            <a:ln>
              <a:noFill/>
            </a:ln>
          </p:spPr>
        </p:pic>
      </p:grpSp>
      <p:sp>
        <p:nvSpPr>
          <p:cNvPr id="730" name="Google Shape;730;p18"/>
          <p:cNvSpPr txBox="1"/>
          <p:nvPr/>
        </p:nvSpPr>
        <p:spPr>
          <a:xfrm>
            <a:off x="4708938" y="4092886"/>
            <a:ext cx="4196007" cy="474900"/>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Realizar las distintas </a:t>
            </a:r>
            <a:r>
              <a:rPr b="1" i="0" lang="es" sz="900" u="none" cap="none" strike="noStrike">
                <a:solidFill>
                  <a:schemeClr val="accent1"/>
                </a:solidFill>
                <a:latin typeface="Montserrat"/>
                <a:ea typeface="Montserrat"/>
                <a:cs typeface="Montserrat"/>
                <a:sym typeface="Montserrat"/>
              </a:rPr>
              <a:t>operaciones de caja entre sucursales </a:t>
            </a:r>
            <a:r>
              <a:rPr b="0" i="0" lang="es" sz="900" u="none" cap="none" strike="noStrike">
                <a:solidFill>
                  <a:srgbClr val="000000"/>
                </a:solidFill>
                <a:latin typeface="Montserrat"/>
                <a:ea typeface="Montserrat"/>
                <a:cs typeface="Montserrat"/>
                <a:sym typeface="Montserrat"/>
              </a:rPr>
              <a:t>de manera ágil y eficiente</a:t>
            </a:r>
            <a:endParaRPr b="0" i="0" sz="900" u="none" cap="none" strike="noStrike">
              <a:solidFill>
                <a:srgbClr val="000000"/>
              </a:solidFill>
              <a:latin typeface="Arial"/>
              <a:ea typeface="Arial"/>
              <a:cs typeface="Arial"/>
              <a:sym typeface="Arial"/>
            </a:endParaRPr>
          </a:p>
        </p:txBody>
      </p:sp>
      <p:grpSp>
        <p:nvGrpSpPr>
          <p:cNvPr id="731" name="Google Shape;731;p18"/>
          <p:cNvGrpSpPr/>
          <p:nvPr/>
        </p:nvGrpSpPr>
        <p:grpSpPr>
          <a:xfrm>
            <a:off x="454127" y="411878"/>
            <a:ext cx="3862848" cy="4343002"/>
            <a:chOff x="454127" y="411878"/>
            <a:chExt cx="3862848" cy="4343002"/>
          </a:xfrm>
        </p:grpSpPr>
        <p:sp>
          <p:nvSpPr>
            <p:cNvPr id="732" name="Google Shape;732;p18"/>
            <p:cNvSpPr/>
            <p:nvPr/>
          </p:nvSpPr>
          <p:spPr>
            <a:xfrm>
              <a:off x="2422983" y="1229114"/>
              <a:ext cx="1887350" cy="266487"/>
            </a:xfrm>
            <a:prstGeom prst="rect">
              <a:avLst/>
            </a:prstGeom>
            <a:no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733" name="Google Shape;733;p18"/>
            <p:cNvSpPr/>
            <p:nvPr/>
          </p:nvSpPr>
          <p:spPr>
            <a:xfrm>
              <a:off x="480238" y="3838690"/>
              <a:ext cx="1892765" cy="200348"/>
            </a:xfrm>
            <a:prstGeom prst="rect">
              <a:avLst/>
            </a:prstGeom>
            <a:no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734" name="Google Shape;734;p18"/>
            <p:cNvSpPr txBox="1"/>
            <p:nvPr/>
          </p:nvSpPr>
          <p:spPr>
            <a:xfrm>
              <a:off x="470739" y="1472780"/>
              <a:ext cx="1877475" cy="497249"/>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pagos con tarjeta</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Pago de facturas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transferencias internas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pagos P2P</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transferencias de saldo</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transferencias externas</a:t>
              </a:r>
              <a:endParaRPr b="0" i="0" sz="550" u="none" cap="none" strike="noStrike">
                <a:solidFill>
                  <a:srgbClr val="171717"/>
                </a:solidFill>
                <a:latin typeface="Arial"/>
                <a:ea typeface="Arial"/>
                <a:cs typeface="Arial"/>
                <a:sym typeface="Arial"/>
              </a:endParaRPr>
            </a:p>
          </p:txBody>
        </p:sp>
        <p:sp>
          <p:nvSpPr>
            <p:cNvPr id="735" name="Google Shape;735;p18"/>
            <p:cNvSpPr/>
            <p:nvPr/>
          </p:nvSpPr>
          <p:spPr>
            <a:xfrm>
              <a:off x="2415219" y="2344767"/>
              <a:ext cx="1893721" cy="281935"/>
            </a:xfrm>
            <a:prstGeom prst="rect">
              <a:avLst/>
            </a:prstGeom>
            <a:no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736" name="Google Shape;736;p18"/>
            <p:cNvSpPr/>
            <p:nvPr/>
          </p:nvSpPr>
          <p:spPr>
            <a:xfrm>
              <a:off x="462293" y="411878"/>
              <a:ext cx="3786549" cy="320779"/>
            </a:xfrm>
            <a:custGeom>
              <a:rect b="b" l="l" r="r" t="t"/>
              <a:pathLst>
                <a:path extrusionOk="0" h="365759" w="3657600">
                  <a:moveTo>
                    <a:pt x="3561511" y="0"/>
                  </a:moveTo>
                  <a:lnTo>
                    <a:pt x="0" y="0"/>
                  </a:lnTo>
                  <a:lnTo>
                    <a:pt x="0" y="365760"/>
                  </a:lnTo>
                  <a:lnTo>
                    <a:pt x="3561511" y="365760"/>
                  </a:lnTo>
                  <a:lnTo>
                    <a:pt x="3657600" y="182880"/>
                  </a:lnTo>
                  <a:lnTo>
                    <a:pt x="35615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4. Entrega de Servicios y Operaciones</a:t>
              </a:r>
              <a:endParaRPr b="0" i="0" sz="900" u="none" cap="none" strike="noStrike">
                <a:solidFill>
                  <a:srgbClr val="FFFFFF"/>
                </a:solidFill>
                <a:latin typeface="Montserrat"/>
                <a:ea typeface="Montserrat"/>
                <a:cs typeface="Montserrat"/>
                <a:sym typeface="Montserrat"/>
              </a:endParaRPr>
            </a:p>
          </p:txBody>
        </p:sp>
        <p:sp>
          <p:nvSpPr>
            <p:cNvPr id="737" name="Google Shape;737;p18"/>
            <p:cNvSpPr/>
            <p:nvPr/>
          </p:nvSpPr>
          <p:spPr>
            <a:xfrm>
              <a:off x="462290" y="1294365"/>
              <a:ext cx="1893275" cy="157168"/>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Procesamiento de Transacciones</a:t>
              </a:r>
              <a:endParaRPr b="1" i="0" sz="900" u="none" cap="none" strike="noStrike">
                <a:solidFill>
                  <a:srgbClr val="000000"/>
                </a:solidFill>
                <a:latin typeface="Arial"/>
                <a:ea typeface="Arial"/>
                <a:cs typeface="Arial"/>
                <a:sym typeface="Arial"/>
              </a:endParaRPr>
            </a:p>
          </p:txBody>
        </p:sp>
        <p:sp>
          <p:nvSpPr>
            <p:cNvPr id="738" name="Google Shape;738;p18"/>
            <p:cNvSpPr txBox="1"/>
            <p:nvPr/>
          </p:nvSpPr>
          <p:spPr>
            <a:xfrm>
              <a:off x="462290" y="2108507"/>
              <a:ext cx="1894039"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Procesamiento de Cheques/Efectivo</a:t>
              </a:r>
              <a:endParaRPr b="1" i="0" sz="900" u="none" cap="none" strike="noStrike">
                <a:solidFill>
                  <a:srgbClr val="000000"/>
                </a:solidFill>
                <a:latin typeface="Arial"/>
                <a:ea typeface="Arial"/>
                <a:cs typeface="Arial"/>
                <a:sym typeface="Arial"/>
              </a:endParaRPr>
            </a:p>
          </p:txBody>
        </p:sp>
        <p:sp>
          <p:nvSpPr>
            <p:cNvPr id="739" name="Google Shape;739;p18"/>
            <p:cNvSpPr txBox="1"/>
            <p:nvPr/>
          </p:nvSpPr>
          <p:spPr>
            <a:xfrm>
              <a:off x="454127" y="2837066"/>
              <a:ext cx="1894039"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Servicio y Mantenimiento de Cuentas</a:t>
              </a:r>
              <a:endParaRPr b="1" i="0" sz="900" u="none" cap="none" strike="noStrike">
                <a:solidFill>
                  <a:srgbClr val="000000"/>
                </a:solidFill>
                <a:latin typeface="Arial"/>
                <a:ea typeface="Arial"/>
                <a:cs typeface="Arial"/>
                <a:sym typeface="Arial"/>
              </a:endParaRPr>
            </a:p>
          </p:txBody>
        </p:sp>
        <p:sp>
          <p:nvSpPr>
            <p:cNvPr id="740" name="Google Shape;740;p18"/>
            <p:cNvSpPr txBox="1"/>
            <p:nvPr/>
          </p:nvSpPr>
          <p:spPr>
            <a:xfrm>
              <a:off x="486577" y="949552"/>
              <a:ext cx="1877475" cy="328039"/>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000000"/>
                </a:buClr>
                <a:buSzPts val="550"/>
                <a:buFont typeface="Inter"/>
                <a:buChar char="•"/>
              </a:pPr>
              <a:r>
                <a:rPr b="0" i="0" lang="es" sz="550" u="none" cap="none" strike="noStrike">
                  <a:solidFill>
                    <a:srgbClr val="000000"/>
                  </a:solidFill>
                  <a:latin typeface="Montserrat"/>
                  <a:ea typeface="Montserrat"/>
                  <a:cs typeface="Montserrat"/>
                  <a:sym typeface="Montserrat"/>
                </a:rPr>
                <a:t>Recuperar información de clientes</a:t>
              </a:r>
              <a:endParaRPr b="0" i="0" sz="550" u="none" cap="none" strike="noStrike">
                <a:solidFill>
                  <a:srgbClr val="000000"/>
                </a:solidFill>
                <a:latin typeface="Arial"/>
                <a:ea typeface="Arial"/>
                <a:cs typeface="Arial"/>
                <a:sym typeface="Arial"/>
              </a:endParaRPr>
            </a:p>
            <a:p>
              <a:pPr indent="-85725" lvl="0" marL="88900" marR="0" rtl="0" algn="l">
                <a:lnSpc>
                  <a:spcPct val="100000"/>
                </a:lnSpc>
                <a:spcBef>
                  <a:spcPts val="100"/>
                </a:spcBef>
                <a:spcAft>
                  <a:spcPts val="0"/>
                </a:spcAft>
                <a:buClr>
                  <a:srgbClr val="000000"/>
                </a:buClr>
                <a:buSzPts val="550"/>
                <a:buFont typeface="Inter"/>
                <a:buChar char="•"/>
              </a:pPr>
              <a:r>
                <a:rPr b="0" i="0" lang="es" sz="550" u="none" cap="none" strike="noStrike">
                  <a:solidFill>
                    <a:srgbClr val="000000"/>
                  </a:solidFill>
                  <a:latin typeface="Montserrat"/>
                  <a:ea typeface="Montserrat"/>
                  <a:cs typeface="Montserrat"/>
                  <a:sym typeface="Montserrat"/>
                </a:rPr>
                <a:t>Recuperar información de cuentas</a:t>
              </a:r>
              <a:endParaRPr b="0" i="0" sz="550" u="none" cap="none" strike="noStrike">
                <a:solidFill>
                  <a:srgbClr val="000000"/>
                </a:solidFill>
                <a:latin typeface="Arial"/>
                <a:ea typeface="Arial"/>
                <a:cs typeface="Arial"/>
                <a:sym typeface="Arial"/>
              </a:endParaRPr>
            </a:p>
            <a:p>
              <a:pPr indent="-85725" lvl="0" marL="88900" marR="0" rtl="0" algn="l">
                <a:lnSpc>
                  <a:spcPct val="100000"/>
                </a:lnSpc>
                <a:spcBef>
                  <a:spcPts val="100"/>
                </a:spcBef>
                <a:spcAft>
                  <a:spcPts val="0"/>
                </a:spcAft>
                <a:buClr>
                  <a:srgbClr val="000000"/>
                </a:buClr>
                <a:buSzPts val="550"/>
                <a:buFont typeface="Inter"/>
                <a:buChar char="•"/>
              </a:pPr>
              <a:r>
                <a:rPr b="0" i="0" lang="es" sz="550" u="none" cap="none" strike="noStrike">
                  <a:solidFill>
                    <a:srgbClr val="000000"/>
                  </a:solidFill>
                  <a:latin typeface="Montserrat"/>
                  <a:ea typeface="Montserrat"/>
                  <a:cs typeface="Montserrat"/>
                  <a:sym typeface="Montserrat"/>
                </a:rPr>
                <a:t>Recuperar información de contacto</a:t>
              </a:r>
              <a:endParaRPr b="0" i="0" sz="550" u="none" cap="none" strike="noStrike">
                <a:solidFill>
                  <a:srgbClr val="000000"/>
                </a:solidFill>
                <a:latin typeface="Arial"/>
                <a:ea typeface="Arial"/>
                <a:cs typeface="Arial"/>
                <a:sym typeface="Arial"/>
              </a:endParaRPr>
            </a:p>
          </p:txBody>
        </p:sp>
        <p:sp>
          <p:nvSpPr>
            <p:cNvPr id="741" name="Google Shape;741;p18"/>
            <p:cNvSpPr txBox="1"/>
            <p:nvPr/>
          </p:nvSpPr>
          <p:spPr>
            <a:xfrm>
              <a:off x="470739" y="2288763"/>
              <a:ext cx="1877475" cy="412765"/>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depósitos con cheques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cheques en ventanilla</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Cobrar cheques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Depósitos/retiros de efectivo</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Reembolsos</a:t>
              </a:r>
              <a:endParaRPr b="1" i="0" sz="550" u="none" cap="none" strike="noStrike">
                <a:solidFill>
                  <a:srgbClr val="171717"/>
                </a:solidFill>
                <a:latin typeface="Montserrat"/>
                <a:ea typeface="Montserrat"/>
                <a:cs typeface="Montserrat"/>
                <a:sym typeface="Montserrat"/>
              </a:endParaRPr>
            </a:p>
          </p:txBody>
        </p:sp>
        <p:sp>
          <p:nvSpPr>
            <p:cNvPr id="742" name="Google Shape;742;p18"/>
            <p:cNvSpPr txBox="1"/>
            <p:nvPr/>
          </p:nvSpPr>
          <p:spPr>
            <a:xfrm>
              <a:off x="470450" y="3032916"/>
              <a:ext cx="1877475" cy="835668"/>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tarifas y precios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Realizar liquidaciones/Procesos de Fin de Día (EOD)</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excepciones/privilegios de acceso</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cuentas inactivas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las retenciones fiscales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Procesar ajustes bancarios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comisiones, sobregiros e intereses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divisas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Gestionar el cierre de cuentas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resolución de problemas</a:t>
              </a:r>
              <a:endParaRPr b="1" i="0" sz="550" u="none" cap="none" strike="noStrike">
                <a:solidFill>
                  <a:srgbClr val="171717"/>
                </a:solidFill>
                <a:latin typeface="Montserrat"/>
                <a:ea typeface="Montserrat"/>
                <a:cs typeface="Montserrat"/>
                <a:sym typeface="Montserrat"/>
              </a:endParaRPr>
            </a:p>
          </p:txBody>
        </p:sp>
        <p:sp>
          <p:nvSpPr>
            <p:cNvPr id="743" name="Google Shape;743;p18"/>
            <p:cNvSpPr txBox="1"/>
            <p:nvPr/>
          </p:nvSpPr>
          <p:spPr>
            <a:xfrm>
              <a:off x="462288" y="4227734"/>
              <a:ext cx="1894039"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de Intereses y Comisiones</a:t>
              </a:r>
              <a:endParaRPr b="1" i="0" sz="900" u="none" cap="none" strike="noStrike">
                <a:solidFill>
                  <a:srgbClr val="000000"/>
                </a:solidFill>
                <a:latin typeface="Arial"/>
                <a:ea typeface="Arial"/>
                <a:cs typeface="Arial"/>
                <a:sym typeface="Arial"/>
              </a:endParaRPr>
            </a:p>
          </p:txBody>
        </p:sp>
        <p:sp>
          <p:nvSpPr>
            <p:cNvPr id="744" name="Google Shape;744;p18"/>
            <p:cNvSpPr txBox="1"/>
            <p:nvPr/>
          </p:nvSpPr>
          <p:spPr>
            <a:xfrm>
              <a:off x="462414" y="4460064"/>
              <a:ext cx="1877475" cy="158830"/>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normas de precios flexibles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del cálculo de impuestos</a:t>
              </a:r>
              <a:endParaRPr b="1" i="0" sz="550" u="none" cap="none" strike="noStrike">
                <a:solidFill>
                  <a:srgbClr val="171717"/>
                </a:solidFill>
                <a:latin typeface="Montserrat"/>
                <a:ea typeface="Montserrat"/>
                <a:cs typeface="Montserrat"/>
                <a:sym typeface="Montserrat"/>
              </a:endParaRPr>
            </a:p>
          </p:txBody>
        </p:sp>
        <p:sp>
          <p:nvSpPr>
            <p:cNvPr id="745" name="Google Shape;745;p18"/>
            <p:cNvSpPr/>
            <p:nvPr/>
          </p:nvSpPr>
          <p:spPr>
            <a:xfrm>
              <a:off x="2415017" y="1173357"/>
              <a:ext cx="1830165" cy="140359"/>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Alertas y Notificaciones</a:t>
              </a:r>
              <a:endParaRPr b="1" i="0" sz="900" u="none" cap="none" strike="noStrike">
                <a:solidFill>
                  <a:srgbClr val="000000"/>
                </a:solidFill>
                <a:latin typeface="Arial"/>
                <a:ea typeface="Arial"/>
                <a:cs typeface="Arial"/>
                <a:sym typeface="Arial"/>
              </a:endParaRPr>
            </a:p>
          </p:txBody>
        </p:sp>
        <p:sp>
          <p:nvSpPr>
            <p:cNvPr id="746" name="Google Shape;746;p18"/>
            <p:cNvSpPr txBox="1"/>
            <p:nvPr/>
          </p:nvSpPr>
          <p:spPr>
            <a:xfrm>
              <a:off x="2415017" y="1681323"/>
              <a:ext cx="1829057"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de Cobros y Reclamos</a:t>
              </a:r>
              <a:endParaRPr b="1" i="0" sz="900" u="none" cap="none" strike="noStrike">
                <a:solidFill>
                  <a:srgbClr val="000000"/>
                </a:solidFill>
                <a:latin typeface="Arial"/>
                <a:ea typeface="Arial"/>
                <a:cs typeface="Arial"/>
                <a:sym typeface="Arial"/>
              </a:endParaRPr>
            </a:p>
          </p:txBody>
        </p:sp>
        <p:sp>
          <p:nvSpPr>
            <p:cNvPr id="747" name="Google Shape;747;p18"/>
            <p:cNvSpPr txBox="1"/>
            <p:nvPr/>
          </p:nvSpPr>
          <p:spPr>
            <a:xfrm>
              <a:off x="2421232" y="2488617"/>
              <a:ext cx="1829057"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de Tarjetas</a:t>
              </a:r>
              <a:endParaRPr b="1" i="0" sz="900" u="none" cap="none" strike="noStrike">
                <a:solidFill>
                  <a:srgbClr val="000000"/>
                </a:solidFill>
                <a:latin typeface="Arial"/>
                <a:ea typeface="Arial"/>
                <a:cs typeface="Arial"/>
                <a:sym typeface="Arial"/>
              </a:endParaRPr>
            </a:p>
          </p:txBody>
        </p:sp>
        <p:sp>
          <p:nvSpPr>
            <p:cNvPr id="748" name="Google Shape;748;p18"/>
            <p:cNvSpPr txBox="1"/>
            <p:nvPr/>
          </p:nvSpPr>
          <p:spPr>
            <a:xfrm>
              <a:off x="2423178" y="948446"/>
              <a:ext cx="1877475" cy="158830"/>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000000"/>
                </a:buClr>
                <a:buSzPts val="550"/>
                <a:buFont typeface="Inter"/>
                <a:buChar char="•"/>
              </a:pPr>
              <a:r>
                <a:rPr b="0" i="0" lang="es" sz="550" u="none" cap="none" strike="noStrike">
                  <a:solidFill>
                    <a:srgbClr val="000000"/>
                  </a:solidFill>
                  <a:latin typeface="Montserrat"/>
                  <a:ea typeface="Montserrat"/>
                  <a:cs typeface="Montserrat"/>
                  <a:sym typeface="Montserrat"/>
                </a:rPr>
                <a:t>Gestionar las relaciones con los clientes</a:t>
              </a:r>
              <a:endParaRPr b="0" i="0" sz="550" u="none" cap="none" strike="noStrike">
                <a:solidFill>
                  <a:srgbClr val="000000"/>
                </a:solidFill>
                <a:latin typeface="Arial"/>
                <a:ea typeface="Arial"/>
                <a:cs typeface="Arial"/>
                <a:sym typeface="Arial"/>
              </a:endParaRPr>
            </a:p>
            <a:p>
              <a:pPr indent="-85725" lvl="0" marL="88900" marR="0" rtl="0" algn="l">
                <a:lnSpc>
                  <a:spcPct val="100000"/>
                </a:lnSpc>
                <a:spcBef>
                  <a:spcPts val="100"/>
                </a:spcBef>
                <a:spcAft>
                  <a:spcPts val="0"/>
                </a:spcAft>
                <a:buClr>
                  <a:srgbClr val="000000"/>
                </a:buClr>
                <a:buSzPts val="550"/>
                <a:buFont typeface="Inter"/>
                <a:buChar char="•"/>
              </a:pPr>
              <a:r>
                <a:rPr b="0" i="0" lang="es" sz="550" u="none" cap="none" strike="noStrike">
                  <a:solidFill>
                    <a:srgbClr val="000000"/>
                  </a:solidFill>
                  <a:latin typeface="Montserrat"/>
                  <a:ea typeface="Montserrat"/>
                  <a:cs typeface="Montserrat"/>
                  <a:sym typeface="Montserrat"/>
                </a:rPr>
                <a:t>Realizar mantenimientos</a:t>
              </a:r>
              <a:endParaRPr b="0" i="0" sz="550" u="none" cap="none" strike="noStrike">
                <a:solidFill>
                  <a:srgbClr val="000000"/>
                </a:solidFill>
                <a:latin typeface="Montserrat"/>
                <a:ea typeface="Montserrat"/>
                <a:cs typeface="Montserrat"/>
                <a:sym typeface="Montserrat"/>
              </a:endParaRPr>
            </a:p>
          </p:txBody>
        </p:sp>
        <p:sp>
          <p:nvSpPr>
            <p:cNvPr id="749" name="Google Shape;749;p18"/>
            <p:cNvSpPr txBox="1"/>
            <p:nvPr/>
          </p:nvSpPr>
          <p:spPr>
            <a:xfrm>
              <a:off x="2422983" y="1340237"/>
              <a:ext cx="1877475" cy="243555"/>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Alertas de fraude y seguridad</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Alertas personalizadas a los clientes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Confirmaciones de transacciones</a:t>
              </a:r>
              <a:endParaRPr b="1" i="0" sz="550" u="none" cap="none" strike="noStrike">
                <a:solidFill>
                  <a:srgbClr val="171717"/>
                </a:solidFill>
                <a:latin typeface="Montserrat"/>
                <a:ea typeface="Montserrat"/>
                <a:cs typeface="Montserrat"/>
                <a:sym typeface="Montserrat"/>
              </a:endParaRPr>
            </a:p>
          </p:txBody>
        </p:sp>
        <p:sp>
          <p:nvSpPr>
            <p:cNvPr id="750" name="Google Shape;750;p18"/>
            <p:cNvSpPr txBox="1"/>
            <p:nvPr/>
          </p:nvSpPr>
          <p:spPr>
            <a:xfrm>
              <a:off x="2422983" y="1847927"/>
              <a:ext cx="1877475" cy="496766"/>
            </a:xfrm>
            <a:prstGeom prst="rect">
              <a:avLst/>
            </a:prstGeom>
            <a:noFill/>
            <a:ln>
              <a:noFill/>
            </a:ln>
          </p:spPr>
          <p:txBody>
            <a:bodyPr anchorCtr="0" anchor="t" bIns="0" lIns="0" spcFirstLastPara="1" rIns="0" wrap="square" tIns="0">
              <a:noAutofit/>
            </a:bodyPr>
            <a:lstStyle/>
            <a:p>
              <a:pPr indent="-85725" lvl="0" marL="88900" marR="1270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Contratar a una agencia de cobro y recuperación</a:t>
              </a:r>
              <a:endParaRPr b="0" i="0" sz="550" u="none" cap="none" strike="noStrike">
                <a:solidFill>
                  <a:srgbClr val="171717"/>
                </a:solidFill>
                <a:latin typeface="Arial"/>
                <a:ea typeface="Arial"/>
                <a:cs typeface="Arial"/>
                <a:sym typeface="Arial"/>
              </a:endParaRPr>
            </a:p>
            <a:p>
              <a:pPr indent="-85725" lvl="0" marL="88900" marR="1270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Gestionar el cobro y la recuperación</a:t>
              </a:r>
              <a:endParaRPr b="0" i="0" sz="550" u="none" cap="none" strike="noStrike">
                <a:solidFill>
                  <a:srgbClr val="171717"/>
                </a:solidFill>
                <a:latin typeface="Arial"/>
                <a:ea typeface="Arial"/>
                <a:cs typeface="Arial"/>
                <a:sym typeface="Arial"/>
              </a:endParaRPr>
            </a:p>
            <a:p>
              <a:pPr indent="-85725" lvl="0" marL="88900" marR="1270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Resolución de problemas</a:t>
              </a:r>
              <a:endParaRPr b="0" i="0" sz="550" u="none" cap="none" strike="noStrike">
                <a:solidFill>
                  <a:srgbClr val="171717"/>
                </a:solidFill>
                <a:latin typeface="Arial"/>
                <a:ea typeface="Arial"/>
                <a:cs typeface="Arial"/>
                <a:sym typeface="Arial"/>
              </a:endParaRPr>
            </a:p>
            <a:p>
              <a:pPr indent="-85725" lvl="0" marL="88900" marR="1270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Tramitar las bajas/las cancelaciones</a:t>
              </a:r>
              <a:endParaRPr b="0" i="0" sz="550" u="none" cap="none" strike="noStrike">
                <a:solidFill>
                  <a:srgbClr val="171717"/>
                </a:solidFill>
                <a:latin typeface="Arial"/>
                <a:ea typeface="Arial"/>
                <a:cs typeface="Arial"/>
                <a:sym typeface="Arial"/>
              </a:endParaRPr>
            </a:p>
            <a:p>
              <a:pPr indent="-85725" lvl="0" marL="88900" marR="1270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y resolución de reclamos</a:t>
              </a:r>
              <a:endParaRPr b="1" i="0" sz="550" u="none" cap="none" strike="noStrike">
                <a:solidFill>
                  <a:srgbClr val="171717"/>
                </a:solidFill>
                <a:latin typeface="Montserrat"/>
                <a:ea typeface="Montserrat"/>
                <a:cs typeface="Montserrat"/>
                <a:sym typeface="Montserrat"/>
              </a:endParaRPr>
            </a:p>
          </p:txBody>
        </p:sp>
        <p:sp>
          <p:nvSpPr>
            <p:cNvPr id="751" name="Google Shape;751;p18"/>
            <p:cNvSpPr txBox="1"/>
            <p:nvPr/>
          </p:nvSpPr>
          <p:spPr>
            <a:xfrm>
              <a:off x="2439500" y="2687440"/>
              <a:ext cx="1877475" cy="243555"/>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Activación de tarjetas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Autorización y captura de tarjetas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Facturación y pagos con tarjeta</a:t>
              </a:r>
              <a:endParaRPr b="1" i="0" sz="550" u="none" cap="none" strike="noStrike">
                <a:solidFill>
                  <a:srgbClr val="171717"/>
                </a:solidFill>
                <a:latin typeface="Montserrat"/>
                <a:ea typeface="Montserrat"/>
                <a:cs typeface="Montserrat"/>
                <a:sym typeface="Montserrat"/>
              </a:endParaRPr>
            </a:p>
          </p:txBody>
        </p:sp>
        <p:sp>
          <p:nvSpPr>
            <p:cNvPr id="752" name="Google Shape;752;p18"/>
            <p:cNvSpPr txBox="1"/>
            <p:nvPr/>
          </p:nvSpPr>
          <p:spPr>
            <a:xfrm>
              <a:off x="2415017" y="3032916"/>
              <a:ext cx="1829057"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Operaciones entre Productos</a:t>
              </a:r>
              <a:endParaRPr b="1" i="0" sz="900" u="none" cap="none" strike="noStrike">
                <a:solidFill>
                  <a:srgbClr val="000000"/>
                </a:solidFill>
                <a:latin typeface="Arial"/>
                <a:ea typeface="Arial"/>
                <a:cs typeface="Arial"/>
                <a:sym typeface="Arial"/>
              </a:endParaRPr>
            </a:p>
          </p:txBody>
        </p:sp>
        <p:sp>
          <p:nvSpPr>
            <p:cNvPr id="753" name="Google Shape;753;p18"/>
            <p:cNvSpPr txBox="1"/>
            <p:nvPr/>
          </p:nvSpPr>
          <p:spPr>
            <a:xfrm>
              <a:off x="454127" y="775392"/>
              <a:ext cx="1894039"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Consultas del Cliente</a:t>
              </a:r>
              <a:endParaRPr b="1" i="0" sz="900" u="none" cap="none" strike="noStrike">
                <a:solidFill>
                  <a:srgbClr val="000000"/>
                </a:solidFill>
                <a:latin typeface="Arial"/>
                <a:ea typeface="Arial"/>
                <a:cs typeface="Arial"/>
                <a:sym typeface="Arial"/>
              </a:endParaRPr>
            </a:p>
          </p:txBody>
        </p:sp>
        <p:sp>
          <p:nvSpPr>
            <p:cNvPr id="754" name="Google Shape;754;p18"/>
            <p:cNvSpPr txBox="1"/>
            <p:nvPr/>
          </p:nvSpPr>
          <p:spPr>
            <a:xfrm>
              <a:off x="2406854" y="775133"/>
              <a:ext cx="1829057" cy="162451"/>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Hipotecaría</a:t>
              </a:r>
              <a:endParaRPr b="1" i="0" sz="700" u="none" cap="none" strike="noStrike">
                <a:solidFill>
                  <a:srgbClr val="000000"/>
                </a:solidFill>
                <a:latin typeface="Montserrat"/>
                <a:ea typeface="Montserrat"/>
                <a:cs typeface="Montserrat"/>
                <a:sym typeface="Montserrat"/>
              </a:endParaRPr>
            </a:p>
          </p:txBody>
        </p:sp>
        <p:sp>
          <p:nvSpPr>
            <p:cNvPr id="755" name="Google Shape;755;p18"/>
            <p:cNvSpPr txBox="1"/>
            <p:nvPr/>
          </p:nvSpPr>
          <p:spPr>
            <a:xfrm>
              <a:off x="2431340" y="3241651"/>
              <a:ext cx="1877475" cy="1513229"/>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Informes y análisis de productos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Gestión de números de cuenta</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Recuperación de cheques, documentos y metadatos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Rendición de cuentas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Procesamiento de excepciones (incluidas devoluciones/anulaciones)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Conciliaciones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Servicios de cumplimiento de documentos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Procesamiento de artículos </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Enrutamiento y liquidación</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Procesamiento de remesas</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Seguimiento de la actividad comercial</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550" u="none" cap="none" strike="noStrike">
                  <a:solidFill>
                    <a:srgbClr val="171717"/>
                  </a:solidFill>
                  <a:latin typeface="Montserrat"/>
                  <a:ea typeface="Montserrat"/>
                  <a:cs typeface="Montserrat"/>
                  <a:sym typeface="Montserrat"/>
                </a:rPr>
                <a:t>Operaciones de caja</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550" u="none" cap="none" strike="noStrike">
                  <a:solidFill>
                    <a:srgbClr val="171717"/>
                  </a:solidFill>
                  <a:latin typeface="Montserrat"/>
                  <a:ea typeface="Montserrat"/>
                  <a:cs typeface="Montserrat"/>
                  <a:sym typeface="Montserrat"/>
                </a:rPr>
                <a:t>Gestión del riesgo de crédito</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550" u="none" cap="none" strike="noStrike">
                  <a:solidFill>
                    <a:srgbClr val="171717"/>
                  </a:solidFill>
                  <a:latin typeface="Montserrat"/>
                  <a:ea typeface="Montserrat"/>
                  <a:cs typeface="Montserrat"/>
                  <a:sym typeface="Montserrat"/>
                </a:rPr>
                <a:t>Gestión del fraude</a:t>
              </a:r>
              <a:endParaRPr b="0" i="0" sz="55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550" u="none" cap="none" strike="noStrike">
                  <a:solidFill>
                    <a:srgbClr val="171717"/>
                  </a:solidFill>
                  <a:latin typeface="Montserrat"/>
                  <a:ea typeface="Montserrat"/>
                  <a:cs typeface="Montserrat"/>
                  <a:sym typeface="Montserrat"/>
                </a:rPr>
                <a:t>Premios y puntos</a:t>
              </a:r>
              <a:endParaRPr b="0" i="0" sz="550" u="none" cap="none" strike="noStrike">
                <a:solidFill>
                  <a:srgbClr val="171717"/>
                </a:solidFill>
                <a:latin typeface="Montserrat"/>
                <a:ea typeface="Montserrat"/>
                <a:cs typeface="Montserrat"/>
                <a:sym typeface="Montserrat"/>
              </a:endParaRPr>
            </a:p>
          </p:txBody>
        </p:sp>
        <p:sp>
          <p:nvSpPr>
            <p:cNvPr id="756" name="Google Shape;756;p18"/>
            <p:cNvSpPr/>
            <p:nvPr/>
          </p:nvSpPr>
          <p:spPr>
            <a:xfrm>
              <a:off x="2426127" y="448535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8"/>
            <p:cNvSpPr/>
            <p:nvPr/>
          </p:nvSpPr>
          <p:spPr>
            <a:xfrm>
              <a:off x="472369" y="3036898"/>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58" name="Google Shape;758;p18"/>
            <p:cNvSpPr/>
            <p:nvPr/>
          </p:nvSpPr>
          <p:spPr>
            <a:xfrm>
              <a:off x="472369" y="314167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59" name="Google Shape;759;p18"/>
            <p:cNvSpPr/>
            <p:nvPr/>
          </p:nvSpPr>
          <p:spPr>
            <a:xfrm>
              <a:off x="472369" y="331312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0" name="Google Shape;760;p18"/>
            <p:cNvSpPr/>
            <p:nvPr/>
          </p:nvSpPr>
          <p:spPr>
            <a:xfrm>
              <a:off x="472369" y="341552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1" name="Google Shape;761;p18"/>
            <p:cNvSpPr/>
            <p:nvPr/>
          </p:nvSpPr>
          <p:spPr>
            <a:xfrm>
              <a:off x="472369" y="3505998"/>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2" name="Google Shape;762;p18"/>
            <p:cNvSpPr/>
            <p:nvPr/>
          </p:nvSpPr>
          <p:spPr>
            <a:xfrm>
              <a:off x="472369" y="359647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3" name="Google Shape;763;p18"/>
            <p:cNvSpPr/>
            <p:nvPr/>
          </p:nvSpPr>
          <p:spPr>
            <a:xfrm>
              <a:off x="472369" y="369887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4" name="Google Shape;764;p18"/>
            <p:cNvSpPr/>
            <p:nvPr/>
          </p:nvSpPr>
          <p:spPr>
            <a:xfrm>
              <a:off x="472369" y="380127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5" name="Google Shape;765;p18"/>
            <p:cNvSpPr/>
            <p:nvPr/>
          </p:nvSpPr>
          <p:spPr>
            <a:xfrm>
              <a:off x="472369" y="3891748"/>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6" name="Google Shape;766;p18"/>
            <p:cNvSpPr/>
            <p:nvPr/>
          </p:nvSpPr>
          <p:spPr>
            <a:xfrm>
              <a:off x="472369" y="3982223"/>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7" name="Google Shape;767;p18"/>
            <p:cNvSpPr/>
            <p:nvPr/>
          </p:nvSpPr>
          <p:spPr>
            <a:xfrm>
              <a:off x="472369" y="4488864"/>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8" name="Google Shape;768;p18"/>
            <p:cNvSpPr/>
            <p:nvPr/>
          </p:nvSpPr>
          <p:spPr>
            <a:xfrm>
              <a:off x="472369" y="4585052"/>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69" name="Google Shape;769;p18"/>
            <p:cNvSpPr/>
            <p:nvPr/>
          </p:nvSpPr>
          <p:spPr>
            <a:xfrm>
              <a:off x="2426127" y="326243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0" name="Google Shape;770;p18"/>
            <p:cNvSpPr/>
            <p:nvPr/>
          </p:nvSpPr>
          <p:spPr>
            <a:xfrm>
              <a:off x="2426127" y="3354118"/>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1" name="Google Shape;771;p18"/>
            <p:cNvSpPr/>
            <p:nvPr/>
          </p:nvSpPr>
          <p:spPr>
            <a:xfrm>
              <a:off x="2426127" y="3445805"/>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2" name="Google Shape;772;p18"/>
            <p:cNvSpPr/>
            <p:nvPr/>
          </p:nvSpPr>
          <p:spPr>
            <a:xfrm>
              <a:off x="2426127" y="439353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3" name="Google Shape;773;p18"/>
            <p:cNvSpPr/>
            <p:nvPr/>
          </p:nvSpPr>
          <p:spPr>
            <a:xfrm>
              <a:off x="2426127" y="4298005"/>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4" name="Google Shape;774;p18"/>
            <p:cNvSpPr/>
            <p:nvPr/>
          </p:nvSpPr>
          <p:spPr>
            <a:xfrm>
              <a:off x="2426127" y="420248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5" name="Google Shape;775;p18"/>
            <p:cNvSpPr/>
            <p:nvPr/>
          </p:nvSpPr>
          <p:spPr>
            <a:xfrm>
              <a:off x="2426127" y="362918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6" name="Google Shape;776;p18"/>
            <p:cNvSpPr/>
            <p:nvPr/>
          </p:nvSpPr>
          <p:spPr>
            <a:xfrm>
              <a:off x="2426127" y="3732455"/>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7" name="Google Shape;777;p18"/>
            <p:cNvSpPr/>
            <p:nvPr/>
          </p:nvSpPr>
          <p:spPr>
            <a:xfrm>
              <a:off x="2426127" y="391583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8" name="Google Shape;778;p18"/>
            <p:cNvSpPr/>
            <p:nvPr/>
          </p:nvSpPr>
          <p:spPr>
            <a:xfrm>
              <a:off x="2426127" y="4015230"/>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79" name="Google Shape;779;p18"/>
            <p:cNvSpPr/>
            <p:nvPr/>
          </p:nvSpPr>
          <p:spPr>
            <a:xfrm>
              <a:off x="2426127" y="4108855"/>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80" name="Google Shape;780;p18"/>
            <p:cNvSpPr/>
            <p:nvPr/>
          </p:nvSpPr>
          <p:spPr>
            <a:xfrm>
              <a:off x="2426127" y="2696467"/>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8"/>
            <p:cNvSpPr/>
            <p:nvPr/>
          </p:nvSpPr>
          <p:spPr>
            <a:xfrm>
              <a:off x="2426127" y="2796746"/>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8"/>
            <p:cNvSpPr/>
            <p:nvPr/>
          </p:nvSpPr>
          <p:spPr>
            <a:xfrm>
              <a:off x="2426127" y="289332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8"/>
            <p:cNvSpPr/>
            <p:nvPr/>
          </p:nvSpPr>
          <p:spPr>
            <a:xfrm>
              <a:off x="472369" y="1479108"/>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8"/>
            <p:cNvSpPr/>
            <p:nvPr/>
          </p:nvSpPr>
          <p:spPr>
            <a:xfrm>
              <a:off x="472369" y="157438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8"/>
            <p:cNvSpPr/>
            <p:nvPr/>
          </p:nvSpPr>
          <p:spPr>
            <a:xfrm>
              <a:off x="472369" y="167258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8"/>
            <p:cNvSpPr/>
            <p:nvPr/>
          </p:nvSpPr>
          <p:spPr>
            <a:xfrm>
              <a:off x="472369" y="177468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8"/>
            <p:cNvSpPr/>
            <p:nvPr/>
          </p:nvSpPr>
          <p:spPr>
            <a:xfrm>
              <a:off x="472369" y="1876783"/>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8"/>
            <p:cNvSpPr/>
            <p:nvPr/>
          </p:nvSpPr>
          <p:spPr>
            <a:xfrm>
              <a:off x="472369" y="1969658"/>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8"/>
            <p:cNvSpPr/>
            <p:nvPr/>
          </p:nvSpPr>
          <p:spPr>
            <a:xfrm>
              <a:off x="472369" y="2323404"/>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790" name="Google Shape;790;p18"/>
            <p:cNvSpPr/>
            <p:nvPr/>
          </p:nvSpPr>
          <p:spPr>
            <a:xfrm>
              <a:off x="472369" y="2414404"/>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791" name="Google Shape;791;p18"/>
            <p:cNvSpPr/>
            <p:nvPr/>
          </p:nvSpPr>
          <p:spPr>
            <a:xfrm>
              <a:off x="472369" y="2511141"/>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792" name="Google Shape;792;p18"/>
            <p:cNvSpPr/>
            <p:nvPr/>
          </p:nvSpPr>
          <p:spPr>
            <a:xfrm>
              <a:off x="472369" y="2613241"/>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793" name="Google Shape;793;p18"/>
            <p:cNvSpPr/>
            <p:nvPr/>
          </p:nvSpPr>
          <p:spPr>
            <a:xfrm>
              <a:off x="472369" y="2703866"/>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794" name="Google Shape;794;p18"/>
            <p:cNvSpPr/>
            <p:nvPr/>
          </p:nvSpPr>
          <p:spPr>
            <a:xfrm>
              <a:off x="2426127" y="1877134"/>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95" name="Google Shape;795;p18"/>
            <p:cNvSpPr/>
            <p:nvPr/>
          </p:nvSpPr>
          <p:spPr>
            <a:xfrm>
              <a:off x="2426127" y="2060234"/>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96" name="Google Shape;796;p18"/>
            <p:cNvSpPr/>
            <p:nvPr/>
          </p:nvSpPr>
          <p:spPr>
            <a:xfrm>
              <a:off x="2426127" y="2143301"/>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97" name="Google Shape;797;p18"/>
            <p:cNvSpPr/>
            <p:nvPr/>
          </p:nvSpPr>
          <p:spPr>
            <a:xfrm>
              <a:off x="2426127" y="2241176"/>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98" name="Google Shape;798;p18"/>
            <p:cNvSpPr/>
            <p:nvPr/>
          </p:nvSpPr>
          <p:spPr>
            <a:xfrm>
              <a:off x="2426127" y="2341209"/>
              <a:ext cx="54000" cy="54000"/>
            </a:xfrm>
            <a:prstGeom prst="ellipse">
              <a:avLst/>
            </a:prstGeom>
            <a:solidFill>
              <a:srgbClr val="FFCF36"/>
            </a:solidFill>
            <a:ln cap="flat" cmpd="sng" w="9525">
              <a:solidFill>
                <a:srgbClr val="FFCF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799" name="Google Shape;799;p18"/>
            <p:cNvSpPr/>
            <p:nvPr/>
          </p:nvSpPr>
          <p:spPr>
            <a:xfrm>
              <a:off x="2426127" y="1346587"/>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8"/>
            <p:cNvSpPr/>
            <p:nvPr/>
          </p:nvSpPr>
          <p:spPr>
            <a:xfrm>
              <a:off x="2426127" y="1457562"/>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8"/>
            <p:cNvSpPr/>
            <p:nvPr/>
          </p:nvSpPr>
          <p:spPr>
            <a:xfrm>
              <a:off x="2426127" y="1555437"/>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8"/>
            <p:cNvSpPr/>
            <p:nvPr/>
          </p:nvSpPr>
          <p:spPr>
            <a:xfrm>
              <a:off x="472369" y="968130"/>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803" name="Google Shape;803;p18"/>
            <p:cNvSpPr/>
            <p:nvPr/>
          </p:nvSpPr>
          <p:spPr>
            <a:xfrm>
              <a:off x="472369" y="1069397"/>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sp>
          <p:nvSpPr>
            <p:cNvPr id="804" name="Google Shape;804;p18"/>
            <p:cNvSpPr/>
            <p:nvPr/>
          </p:nvSpPr>
          <p:spPr>
            <a:xfrm>
              <a:off x="472369" y="1172496"/>
              <a:ext cx="54000" cy="540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4472C4"/>
                </a:solidFill>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9"/>
          <p:cNvSpPr txBox="1"/>
          <p:nvPr/>
        </p:nvSpPr>
        <p:spPr>
          <a:xfrm>
            <a:off x="385459" y="73069"/>
            <a:ext cx="7322616"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5. Apoyo al Negocio</a:t>
            </a:r>
            <a:endParaRPr b="0" i="0" sz="900" u="none" cap="none" strike="noStrike">
              <a:solidFill>
                <a:srgbClr val="000000"/>
              </a:solidFill>
              <a:latin typeface="Arial"/>
              <a:ea typeface="Arial"/>
              <a:cs typeface="Arial"/>
              <a:sym typeface="Arial"/>
            </a:endParaRPr>
          </a:p>
        </p:txBody>
      </p:sp>
      <p:grpSp>
        <p:nvGrpSpPr>
          <p:cNvPr id="810" name="Google Shape;810;p19"/>
          <p:cNvGrpSpPr/>
          <p:nvPr/>
        </p:nvGrpSpPr>
        <p:grpSpPr>
          <a:xfrm>
            <a:off x="3349799" y="1110231"/>
            <a:ext cx="1994701" cy="366110"/>
            <a:chOff x="448405" y="5078090"/>
            <a:chExt cx="2984293" cy="615000"/>
          </a:xfrm>
        </p:grpSpPr>
        <p:sp>
          <p:nvSpPr>
            <p:cNvPr id="811" name="Google Shape;811;p19"/>
            <p:cNvSpPr/>
            <p:nvPr/>
          </p:nvSpPr>
          <p:spPr>
            <a:xfrm>
              <a:off x="583598" y="5110211"/>
              <a:ext cx="2849100" cy="559800"/>
            </a:xfrm>
            <a:prstGeom prst="roundRect">
              <a:avLst>
                <a:gd fmla="val 50000" name="adj"/>
              </a:avLst>
            </a:prstGeom>
            <a:solidFill>
              <a:srgbClr val="3DB9E5"/>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Reportes Regulatorios</a:t>
              </a:r>
              <a:endParaRPr b="0" i="0" sz="900" u="none" cap="none" strike="noStrike">
                <a:solidFill>
                  <a:srgbClr val="000000"/>
                </a:solidFill>
                <a:latin typeface="Arial"/>
                <a:ea typeface="Arial"/>
                <a:cs typeface="Arial"/>
                <a:sym typeface="Arial"/>
              </a:endParaRPr>
            </a:p>
          </p:txBody>
        </p:sp>
        <p:sp>
          <p:nvSpPr>
            <p:cNvPr id="812" name="Google Shape;812;p19"/>
            <p:cNvSpPr/>
            <p:nvPr/>
          </p:nvSpPr>
          <p:spPr>
            <a:xfrm>
              <a:off x="448405" y="5078090"/>
              <a:ext cx="648600" cy="615000"/>
            </a:xfrm>
            <a:prstGeom prst="ellipse">
              <a:avLst/>
            </a:prstGeom>
            <a:solidFill>
              <a:schemeClr val="lt1"/>
            </a:solidFill>
            <a:ln cap="flat" cmpd="sng" w="76200">
              <a:solidFill>
                <a:srgbClr val="3DB9E5"/>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pic>
          <p:nvPicPr>
            <p:cNvPr id="813" name="Google Shape;813;p19"/>
            <p:cNvPicPr preferRelativeResize="0"/>
            <p:nvPr/>
          </p:nvPicPr>
          <p:blipFill rotWithShape="1">
            <a:blip r:embed="rId3">
              <a:alphaModFix/>
            </a:blip>
            <a:srcRect b="0" l="0" r="0" t="0"/>
            <a:stretch/>
          </p:blipFill>
          <p:spPr>
            <a:xfrm>
              <a:off x="580682" y="5201604"/>
              <a:ext cx="401739" cy="353111"/>
            </a:xfrm>
            <a:prstGeom prst="rect">
              <a:avLst/>
            </a:prstGeom>
            <a:noFill/>
            <a:ln>
              <a:noFill/>
            </a:ln>
          </p:spPr>
        </p:pic>
      </p:grpSp>
      <p:grpSp>
        <p:nvGrpSpPr>
          <p:cNvPr id="814" name="Google Shape;814;p19"/>
          <p:cNvGrpSpPr/>
          <p:nvPr/>
        </p:nvGrpSpPr>
        <p:grpSpPr>
          <a:xfrm>
            <a:off x="3320610" y="287546"/>
            <a:ext cx="2023889" cy="366486"/>
            <a:chOff x="6517323" y="1439547"/>
            <a:chExt cx="3027960" cy="615632"/>
          </a:xfrm>
        </p:grpSpPr>
        <p:grpSp>
          <p:nvGrpSpPr>
            <p:cNvPr id="815" name="Google Shape;815;p19"/>
            <p:cNvGrpSpPr/>
            <p:nvPr/>
          </p:nvGrpSpPr>
          <p:grpSpPr>
            <a:xfrm>
              <a:off x="6517323" y="1439547"/>
              <a:ext cx="3027960" cy="615632"/>
              <a:chOff x="13814589" y="1926696"/>
              <a:chExt cx="4848615" cy="985800"/>
            </a:xfrm>
          </p:grpSpPr>
          <p:sp>
            <p:nvSpPr>
              <p:cNvPr id="816" name="Google Shape;816;p19"/>
              <p:cNvSpPr/>
              <p:nvPr/>
            </p:nvSpPr>
            <p:spPr>
              <a:xfrm>
                <a:off x="13884514" y="1977395"/>
                <a:ext cx="4778690" cy="899399"/>
              </a:xfrm>
              <a:prstGeom prst="roundRect">
                <a:avLst>
                  <a:gd fmla="val 50000" name="adj"/>
                </a:avLst>
              </a:prstGeom>
              <a:solidFill>
                <a:schemeClr val="accent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817" name="Google Shape;817;p19"/>
              <p:cNvGrpSpPr/>
              <p:nvPr/>
            </p:nvGrpSpPr>
            <p:grpSpPr>
              <a:xfrm>
                <a:off x="14018731" y="2168949"/>
                <a:ext cx="396177" cy="320504"/>
                <a:chOff x="-3757613" y="5049838"/>
                <a:chExt cx="5826126" cy="4713288"/>
              </a:xfrm>
            </p:grpSpPr>
            <p:sp>
              <p:nvSpPr>
                <p:cNvPr id="818" name="Google Shape;818;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819" name="Google Shape;819;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820" name="Google Shape;820;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821" name="Google Shape;821;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822" name="Google Shape;822;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sp>
              <p:nvSpPr>
                <p:cNvPr id="823" name="Google Shape;823;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CC13"/>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Montserrat"/>
                    <a:ea typeface="Montserrat"/>
                    <a:cs typeface="Montserrat"/>
                    <a:sym typeface="Montserrat"/>
                  </a:endParaRPr>
                </a:p>
              </p:txBody>
            </p:sp>
          </p:grpSp>
          <p:sp>
            <p:nvSpPr>
              <p:cNvPr id="824" name="Google Shape;824;p19"/>
              <p:cNvSpPr/>
              <p:nvPr/>
            </p:nvSpPr>
            <p:spPr>
              <a:xfrm>
                <a:off x="13814589" y="1926696"/>
                <a:ext cx="1037700" cy="985800"/>
              </a:xfrm>
              <a:prstGeom prst="ellipse">
                <a:avLst/>
              </a:prstGeom>
              <a:solidFill>
                <a:schemeClr val="lt1"/>
              </a:solidFill>
              <a:ln cap="flat" cmpd="sng" w="76200">
                <a:solidFill>
                  <a:schemeClr val="accent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700" u="none" cap="none" strike="noStrike">
                  <a:solidFill>
                    <a:srgbClr val="808080"/>
                  </a:solidFill>
                  <a:latin typeface="Montserrat"/>
                  <a:ea typeface="Montserrat"/>
                  <a:cs typeface="Montserrat"/>
                  <a:sym typeface="Montserrat"/>
                </a:endParaRPr>
              </a:p>
            </p:txBody>
          </p:sp>
        </p:grpSp>
        <p:pic>
          <p:nvPicPr>
            <p:cNvPr id="825" name="Google Shape;825;p19"/>
            <p:cNvPicPr preferRelativeResize="0"/>
            <p:nvPr/>
          </p:nvPicPr>
          <p:blipFill rotWithShape="1">
            <a:blip r:embed="rId4">
              <a:alphaModFix/>
            </a:blip>
            <a:srcRect b="0" l="0" r="0" t="0"/>
            <a:stretch/>
          </p:blipFill>
          <p:spPr>
            <a:xfrm>
              <a:off x="6656283" y="1548539"/>
              <a:ext cx="383873" cy="429323"/>
            </a:xfrm>
            <a:prstGeom prst="rect">
              <a:avLst/>
            </a:prstGeom>
            <a:noFill/>
            <a:ln>
              <a:noFill/>
            </a:ln>
          </p:spPr>
        </p:pic>
      </p:grpSp>
      <p:sp>
        <p:nvSpPr>
          <p:cNvPr id="826" name="Google Shape;826;p19"/>
          <p:cNvSpPr txBox="1"/>
          <p:nvPr/>
        </p:nvSpPr>
        <p:spPr>
          <a:xfrm>
            <a:off x="3667109" y="644670"/>
            <a:ext cx="5067615" cy="474923"/>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Como parte de los procesos de originación y alta de clientes, </a:t>
            </a:r>
            <a:r>
              <a:rPr b="1" i="0" lang="es" sz="900" u="none" cap="none" strike="noStrike">
                <a:solidFill>
                  <a:schemeClr val="accent6"/>
                </a:solidFill>
                <a:latin typeface="Montserrat"/>
                <a:ea typeface="Montserrat"/>
                <a:cs typeface="Montserrat"/>
                <a:sym typeface="Montserrat"/>
              </a:rPr>
              <a:t>soportar</a:t>
            </a:r>
            <a:r>
              <a:rPr b="0" i="0" lang="es" sz="900" u="none" cap="none" strike="noStrike">
                <a:solidFill>
                  <a:srgbClr val="000000"/>
                </a:solidFill>
                <a:latin typeface="Montserrat"/>
                <a:ea typeface="Montserrat"/>
                <a:cs typeface="Montserrat"/>
                <a:sym typeface="Montserrat"/>
              </a:rPr>
              <a:t> de manera adecuada </a:t>
            </a:r>
            <a:r>
              <a:rPr b="1" i="0" lang="es" sz="900" u="none" cap="none" strike="noStrike">
                <a:solidFill>
                  <a:schemeClr val="accent6"/>
                </a:solidFill>
                <a:latin typeface="Montserrat"/>
                <a:ea typeface="Montserrat"/>
                <a:cs typeface="Montserrat"/>
                <a:sym typeface="Montserrat"/>
              </a:rPr>
              <a:t>el riesgo de crédito, operativo y empresarial</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teniendo definidas las reglas y variables adecuadas</a:t>
            </a:r>
            <a:endParaRPr b="0" i="0" sz="900" u="none" cap="none" strike="noStrike">
              <a:solidFill>
                <a:srgbClr val="000000"/>
              </a:solidFill>
              <a:latin typeface="Arial"/>
              <a:ea typeface="Arial"/>
              <a:cs typeface="Arial"/>
              <a:sym typeface="Arial"/>
            </a:endParaRPr>
          </a:p>
        </p:txBody>
      </p:sp>
      <p:sp>
        <p:nvSpPr>
          <p:cNvPr id="827" name="Google Shape;827;p19"/>
          <p:cNvSpPr txBox="1"/>
          <p:nvPr/>
        </p:nvSpPr>
        <p:spPr>
          <a:xfrm>
            <a:off x="3716874" y="1466979"/>
            <a:ext cx="5017849" cy="336424"/>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Centralización y normalización de datos para la </a:t>
            </a:r>
            <a:r>
              <a:rPr b="1" i="0" lang="es" sz="900" u="none" cap="none" strike="noStrike">
                <a:solidFill>
                  <a:schemeClr val="accent3"/>
                </a:solidFill>
                <a:latin typeface="Montserrat"/>
                <a:ea typeface="Montserrat"/>
                <a:cs typeface="Montserrat"/>
                <a:sym typeface="Montserrat"/>
              </a:rPr>
              <a:t>generación de reportes </a:t>
            </a:r>
            <a:r>
              <a:rPr b="0" i="0" lang="es" sz="900" u="none" cap="none" strike="noStrike">
                <a:solidFill>
                  <a:srgbClr val="000000"/>
                </a:solidFill>
                <a:latin typeface="Montserrat"/>
                <a:ea typeface="Montserrat"/>
                <a:cs typeface="Montserrat"/>
                <a:sym typeface="Montserrat"/>
              </a:rPr>
              <a:t>tanto </a:t>
            </a:r>
            <a:r>
              <a:rPr b="1" i="0" lang="es" sz="900" u="none" cap="none" strike="noStrike">
                <a:solidFill>
                  <a:schemeClr val="accent3"/>
                </a:solidFill>
                <a:latin typeface="Montserrat"/>
                <a:ea typeface="Montserrat"/>
                <a:cs typeface="Montserrat"/>
                <a:sym typeface="Montserrat"/>
              </a:rPr>
              <a:t>regulatorios</a:t>
            </a:r>
            <a:r>
              <a:rPr b="0" i="0" lang="es" sz="900" u="none" cap="none" strike="noStrike">
                <a:solidFill>
                  <a:srgbClr val="000000"/>
                </a:solidFill>
                <a:latin typeface="Montserrat"/>
                <a:ea typeface="Montserrat"/>
                <a:cs typeface="Montserrat"/>
                <a:sym typeface="Montserrat"/>
              </a:rPr>
              <a:t> como aquellos </a:t>
            </a:r>
            <a:r>
              <a:rPr b="1" i="0" lang="es" sz="900" u="none" cap="none" strike="noStrike">
                <a:solidFill>
                  <a:schemeClr val="accent3"/>
                </a:solidFill>
                <a:latin typeface="Montserrat"/>
                <a:ea typeface="Montserrat"/>
                <a:cs typeface="Montserrat"/>
                <a:sym typeface="Montserrat"/>
              </a:rPr>
              <a:t>que apoyen en la gestión de procesos financieros</a:t>
            </a:r>
            <a:endParaRPr b="1" i="0" sz="900" u="none" cap="none" strike="noStrike">
              <a:solidFill>
                <a:schemeClr val="accent3"/>
              </a:solidFill>
              <a:latin typeface="Arial"/>
              <a:ea typeface="Arial"/>
              <a:cs typeface="Arial"/>
              <a:sym typeface="Arial"/>
            </a:endParaRPr>
          </a:p>
        </p:txBody>
      </p:sp>
      <p:grpSp>
        <p:nvGrpSpPr>
          <p:cNvPr id="828" name="Google Shape;828;p19"/>
          <p:cNvGrpSpPr/>
          <p:nvPr/>
        </p:nvGrpSpPr>
        <p:grpSpPr>
          <a:xfrm>
            <a:off x="3349799" y="1794041"/>
            <a:ext cx="1938678" cy="320472"/>
            <a:chOff x="13814589" y="1926698"/>
            <a:chExt cx="4476285" cy="804600"/>
          </a:xfrm>
        </p:grpSpPr>
        <p:sp>
          <p:nvSpPr>
            <p:cNvPr id="829" name="Google Shape;829;p19"/>
            <p:cNvSpPr/>
            <p:nvPr/>
          </p:nvSpPr>
          <p:spPr>
            <a:xfrm>
              <a:off x="14062516" y="1977409"/>
              <a:ext cx="4228358"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DevSecOps</a:t>
              </a:r>
              <a:endParaRPr b="1" i="0" sz="900" u="none" cap="none" strike="noStrike">
                <a:solidFill>
                  <a:srgbClr val="FFFFFF"/>
                </a:solidFill>
                <a:latin typeface="Montserrat"/>
                <a:ea typeface="Montserrat"/>
                <a:cs typeface="Montserrat"/>
                <a:sym typeface="Montserrat"/>
              </a:endParaRPr>
            </a:p>
          </p:txBody>
        </p:sp>
        <p:grpSp>
          <p:nvGrpSpPr>
            <p:cNvPr id="830" name="Google Shape;830;p19"/>
            <p:cNvGrpSpPr/>
            <p:nvPr/>
          </p:nvGrpSpPr>
          <p:grpSpPr>
            <a:xfrm>
              <a:off x="14018731" y="2168949"/>
              <a:ext cx="396177" cy="320504"/>
              <a:chOff x="-3757613" y="5049838"/>
              <a:chExt cx="5826126" cy="4713288"/>
            </a:xfrm>
          </p:grpSpPr>
          <p:sp>
            <p:nvSpPr>
              <p:cNvPr id="831" name="Google Shape;831;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32" name="Google Shape;832;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33" name="Google Shape;833;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34" name="Google Shape;834;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35" name="Google Shape;835;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36" name="Google Shape;836;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837" name="Google Shape;837;p19"/>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grpSp>
        <p:nvGrpSpPr>
          <p:cNvPr id="838" name="Google Shape;838;p19"/>
          <p:cNvGrpSpPr/>
          <p:nvPr/>
        </p:nvGrpSpPr>
        <p:grpSpPr>
          <a:xfrm>
            <a:off x="3349800" y="2570712"/>
            <a:ext cx="1938677" cy="320472"/>
            <a:chOff x="13814589" y="1926698"/>
            <a:chExt cx="4476282" cy="804600"/>
          </a:xfrm>
        </p:grpSpPr>
        <p:sp>
          <p:nvSpPr>
            <p:cNvPr id="839" name="Google Shape;839;p19"/>
            <p:cNvSpPr/>
            <p:nvPr/>
          </p:nvSpPr>
          <p:spPr>
            <a:xfrm>
              <a:off x="14062516" y="1977409"/>
              <a:ext cx="4228355"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Homologación de Ambientes</a:t>
              </a:r>
              <a:endParaRPr b="0" i="0" sz="1200" u="none" cap="none" strike="noStrike">
                <a:solidFill>
                  <a:srgbClr val="000000"/>
                </a:solidFill>
                <a:latin typeface="Arial"/>
                <a:ea typeface="Arial"/>
                <a:cs typeface="Arial"/>
                <a:sym typeface="Arial"/>
              </a:endParaRPr>
            </a:p>
          </p:txBody>
        </p:sp>
        <p:grpSp>
          <p:nvGrpSpPr>
            <p:cNvPr id="840" name="Google Shape;840;p19"/>
            <p:cNvGrpSpPr/>
            <p:nvPr/>
          </p:nvGrpSpPr>
          <p:grpSpPr>
            <a:xfrm>
              <a:off x="14018731" y="2168949"/>
              <a:ext cx="396177" cy="320504"/>
              <a:chOff x="-3757613" y="5049838"/>
              <a:chExt cx="5826126" cy="4713288"/>
            </a:xfrm>
          </p:grpSpPr>
          <p:sp>
            <p:nvSpPr>
              <p:cNvPr id="841" name="Google Shape;841;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42" name="Google Shape;842;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43" name="Google Shape;843;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44" name="Google Shape;844;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45" name="Google Shape;845;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46" name="Google Shape;846;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847" name="Google Shape;847;p19"/>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grpSp>
        <p:nvGrpSpPr>
          <p:cNvPr id="848" name="Google Shape;848;p19"/>
          <p:cNvGrpSpPr/>
          <p:nvPr/>
        </p:nvGrpSpPr>
        <p:grpSpPr>
          <a:xfrm>
            <a:off x="3349799" y="3208884"/>
            <a:ext cx="1938677" cy="320472"/>
            <a:chOff x="13814589" y="1926698"/>
            <a:chExt cx="4476282" cy="804600"/>
          </a:xfrm>
        </p:grpSpPr>
        <p:sp>
          <p:nvSpPr>
            <p:cNvPr id="849" name="Google Shape;849;p19"/>
            <p:cNvSpPr/>
            <p:nvPr/>
          </p:nvSpPr>
          <p:spPr>
            <a:xfrm>
              <a:off x="14062516" y="1977409"/>
              <a:ext cx="4228355"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Desarrollo de interfaces Temporales</a:t>
              </a:r>
              <a:endParaRPr b="0" i="0" sz="1200" u="none" cap="none" strike="noStrike">
                <a:solidFill>
                  <a:srgbClr val="000000"/>
                </a:solidFill>
                <a:latin typeface="Arial"/>
                <a:ea typeface="Arial"/>
                <a:cs typeface="Arial"/>
                <a:sym typeface="Arial"/>
              </a:endParaRPr>
            </a:p>
          </p:txBody>
        </p:sp>
        <p:grpSp>
          <p:nvGrpSpPr>
            <p:cNvPr id="850" name="Google Shape;850;p19"/>
            <p:cNvGrpSpPr/>
            <p:nvPr/>
          </p:nvGrpSpPr>
          <p:grpSpPr>
            <a:xfrm>
              <a:off x="14018731" y="2168949"/>
              <a:ext cx="396177" cy="320504"/>
              <a:chOff x="-3757613" y="5049838"/>
              <a:chExt cx="5826126" cy="4713288"/>
            </a:xfrm>
          </p:grpSpPr>
          <p:sp>
            <p:nvSpPr>
              <p:cNvPr id="851" name="Google Shape;851;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52" name="Google Shape;852;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53" name="Google Shape;853;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54" name="Google Shape;854;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55" name="Google Shape;855;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56" name="Google Shape;856;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857" name="Google Shape;857;p19"/>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grpSp>
        <p:nvGrpSpPr>
          <p:cNvPr id="858" name="Google Shape;858;p19"/>
          <p:cNvGrpSpPr/>
          <p:nvPr/>
        </p:nvGrpSpPr>
        <p:grpSpPr>
          <a:xfrm>
            <a:off x="3349801" y="3847056"/>
            <a:ext cx="1938675" cy="320472"/>
            <a:chOff x="13814589" y="1926698"/>
            <a:chExt cx="4476277" cy="804600"/>
          </a:xfrm>
        </p:grpSpPr>
        <p:sp>
          <p:nvSpPr>
            <p:cNvPr id="859" name="Google Shape;859;p19"/>
            <p:cNvSpPr/>
            <p:nvPr/>
          </p:nvSpPr>
          <p:spPr>
            <a:xfrm>
              <a:off x="14062513" y="1977409"/>
              <a:ext cx="4228353"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900"/>
                <a:buFont typeface="Arial"/>
                <a:buNone/>
              </a:pPr>
              <a:r>
                <a:rPr b="1" i="0" lang="es" sz="900" u="none" cap="none" strike="noStrike">
                  <a:solidFill>
                    <a:srgbClr val="FFFFFF"/>
                  </a:solidFill>
                  <a:latin typeface="Montserrat"/>
                  <a:ea typeface="Montserrat"/>
                  <a:cs typeface="Montserrat"/>
                  <a:sym typeface="Montserrat"/>
                </a:rPr>
                <a:t>Apificación de Canales</a:t>
              </a:r>
              <a:endParaRPr b="0" i="0" sz="1200" u="none" cap="none" strike="noStrike">
                <a:solidFill>
                  <a:srgbClr val="000000"/>
                </a:solidFill>
                <a:latin typeface="Arial"/>
                <a:ea typeface="Arial"/>
                <a:cs typeface="Arial"/>
                <a:sym typeface="Arial"/>
              </a:endParaRPr>
            </a:p>
          </p:txBody>
        </p:sp>
        <p:grpSp>
          <p:nvGrpSpPr>
            <p:cNvPr id="860" name="Google Shape;860;p19"/>
            <p:cNvGrpSpPr/>
            <p:nvPr/>
          </p:nvGrpSpPr>
          <p:grpSpPr>
            <a:xfrm>
              <a:off x="14018731" y="2168949"/>
              <a:ext cx="396177" cy="320504"/>
              <a:chOff x="-3757613" y="5049838"/>
              <a:chExt cx="5826126" cy="4713288"/>
            </a:xfrm>
          </p:grpSpPr>
          <p:sp>
            <p:nvSpPr>
              <p:cNvPr id="861" name="Google Shape;861;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62" name="Google Shape;862;p1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63" name="Google Shape;863;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64" name="Google Shape;864;p1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65" name="Google Shape;865;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866" name="Google Shape;866;p1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grpSp>
        <p:sp>
          <p:nvSpPr>
            <p:cNvPr id="867" name="Google Shape;867;p19"/>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pic>
        <p:nvPicPr>
          <p:cNvPr id="868" name="Google Shape;868;p19"/>
          <p:cNvPicPr preferRelativeResize="0"/>
          <p:nvPr/>
        </p:nvPicPr>
        <p:blipFill rotWithShape="1">
          <a:blip r:embed="rId5">
            <a:alphaModFix/>
          </a:blip>
          <a:srcRect b="0" l="0" r="0" t="0"/>
          <a:stretch/>
        </p:blipFill>
        <p:spPr>
          <a:xfrm>
            <a:off x="3423893" y="2616232"/>
            <a:ext cx="243216" cy="223734"/>
          </a:xfrm>
          <a:prstGeom prst="rect">
            <a:avLst/>
          </a:prstGeom>
          <a:noFill/>
          <a:ln>
            <a:noFill/>
          </a:ln>
        </p:spPr>
      </p:pic>
      <p:pic>
        <p:nvPicPr>
          <p:cNvPr id="869" name="Google Shape;869;p19"/>
          <p:cNvPicPr preferRelativeResize="0"/>
          <p:nvPr/>
        </p:nvPicPr>
        <p:blipFill rotWithShape="1">
          <a:blip r:embed="rId6">
            <a:alphaModFix/>
          </a:blip>
          <a:srcRect b="0" l="0" r="0" t="0"/>
          <a:stretch/>
        </p:blipFill>
        <p:spPr>
          <a:xfrm>
            <a:off x="3439726" y="3282215"/>
            <a:ext cx="201507" cy="185365"/>
          </a:xfrm>
          <a:prstGeom prst="rect">
            <a:avLst/>
          </a:prstGeom>
          <a:noFill/>
          <a:ln>
            <a:noFill/>
          </a:ln>
        </p:spPr>
      </p:pic>
      <p:pic>
        <p:nvPicPr>
          <p:cNvPr id="870" name="Google Shape;870;p19"/>
          <p:cNvPicPr preferRelativeResize="0"/>
          <p:nvPr/>
        </p:nvPicPr>
        <p:blipFill rotWithShape="1">
          <a:blip r:embed="rId7">
            <a:alphaModFix/>
          </a:blip>
          <a:srcRect b="0" l="0" r="0" t="0"/>
          <a:stretch/>
        </p:blipFill>
        <p:spPr>
          <a:xfrm>
            <a:off x="3406853" y="1841308"/>
            <a:ext cx="252977" cy="232712"/>
          </a:xfrm>
          <a:prstGeom prst="rect">
            <a:avLst/>
          </a:prstGeom>
          <a:noFill/>
          <a:ln>
            <a:noFill/>
          </a:ln>
        </p:spPr>
      </p:pic>
      <p:pic>
        <p:nvPicPr>
          <p:cNvPr id="871" name="Google Shape;871;p19"/>
          <p:cNvPicPr preferRelativeResize="0"/>
          <p:nvPr/>
        </p:nvPicPr>
        <p:blipFill rotWithShape="1">
          <a:blip r:embed="rId8">
            <a:alphaModFix/>
          </a:blip>
          <a:srcRect b="0" l="0" r="0" t="0"/>
          <a:stretch/>
        </p:blipFill>
        <p:spPr>
          <a:xfrm>
            <a:off x="3424804" y="3912320"/>
            <a:ext cx="231350" cy="212818"/>
          </a:xfrm>
          <a:prstGeom prst="rect">
            <a:avLst/>
          </a:prstGeom>
          <a:noFill/>
          <a:ln>
            <a:noFill/>
          </a:ln>
        </p:spPr>
      </p:pic>
      <p:sp>
        <p:nvSpPr>
          <p:cNvPr id="872" name="Google Shape;872;p19"/>
          <p:cNvSpPr txBox="1"/>
          <p:nvPr/>
        </p:nvSpPr>
        <p:spPr>
          <a:xfrm>
            <a:off x="3716875" y="2105151"/>
            <a:ext cx="5154942" cy="474923"/>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1" i="0" lang="es" sz="900" u="none" cap="none" strike="noStrike">
                <a:solidFill>
                  <a:srgbClr val="ED7D31"/>
                </a:solidFill>
                <a:latin typeface="Montserrat"/>
                <a:ea typeface="Montserrat"/>
                <a:cs typeface="Montserrat"/>
                <a:sym typeface="Montserrat"/>
              </a:rPr>
              <a:t>Integración de las prácticas </a:t>
            </a:r>
            <a:r>
              <a:rPr b="0" i="0" lang="es" sz="900" u="none" cap="none" strike="noStrike">
                <a:solidFill>
                  <a:srgbClr val="000000"/>
                </a:solidFill>
                <a:latin typeface="Montserrat"/>
                <a:ea typeface="Montserrat"/>
                <a:cs typeface="Montserrat"/>
                <a:sym typeface="Montserrat"/>
              </a:rPr>
              <a:t>de seguridad </a:t>
            </a:r>
            <a:r>
              <a:rPr b="1" i="0" lang="es" sz="900" u="none" cap="none" strike="noStrike">
                <a:solidFill>
                  <a:srgbClr val="ED7D31"/>
                </a:solidFill>
                <a:latin typeface="Montserrat"/>
                <a:ea typeface="Montserrat"/>
                <a:cs typeface="Montserrat"/>
                <a:sym typeface="Montserrat"/>
              </a:rPr>
              <a:t>desde el principio y a lo largo de todo el ciclo de vida del desarrollo</a:t>
            </a:r>
            <a:r>
              <a:rPr b="0" i="0" lang="es" sz="900" u="none" cap="none" strike="noStrike">
                <a:solidFill>
                  <a:srgbClr val="000000"/>
                </a:solidFill>
                <a:latin typeface="Montserrat"/>
                <a:ea typeface="Montserrat"/>
                <a:cs typeface="Montserrat"/>
                <a:sym typeface="Montserrat"/>
              </a:rPr>
              <a:t>, promoviendo la colaboración </a:t>
            </a:r>
            <a:r>
              <a:rPr b="1" i="0" lang="es" sz="900" u="none" cap="none" strike="noStrike">
                <a:solidFill>
                  <a:srgbClr val="ED7D31"/>
                </a:solidFill>
                <a:latin typeface="Montserrat"/>
                <a:ea typeface="Montserrat"/>
                <a:cs typeface="Montserrat"/>
                <a:sym typeface="Montserrat"/>
              </a:rPr>
              <a:t>entre equipos de desarrollo, operaciones y seguridad</a:t>
            </a:r>
            <a:r>
              <a:rPr b="0" i="0" lang="es" sz="900" u="none" cap="none" strike="noStrike">
                <a:solidFill>
                  <a:srgbClr val="000000"/>
                </a:solidFill>
                <a:latin typeface="Montserrat"/>
                <a:ea typeface="Montserrat"/>
                <a:cs typeface="Montserrat"/>
                <a:sym typeface="Montserrat"/>
              </a:rPr>
              <a:t> para acelerar la entrega </a:t>
            </a:r>
            <a:r>
              <a:rPr b="1" i="0" lang="es" sz="900" u="none" cap="none" strike="noStrike">
                <a:solidFill>
                  <a:srgbClr val="ED7D31"/>
                </a:solidFill>
                <a:latin typeface="Montserrat"/>
                <a:ea typeface="Montserrat"/>
                <a:cs typeface="Montserrat"/>
                <a:sym typeface="Montserrat"/>
              </a:rPr>
              <a:t>y mejorar la calidad del software</a:t>
            </a:r>
            <a:r>
              <a:rPr b="0" i="0" lang="es" sz="900" u="none" cap="none" strike="noStrike">
                <a:solidFill>
                  <a:srgbClr val="000000"/>
                </a:solidFill>
                <a:latin typeface="Montserrat"/>
                <a:ea typeface="Montserrat"/>
                <a:cs typeface="Montserrat"/>
                <a:sym typeface="Montserrat"/>
              </a:rPr>
              <a:t>.</a:t>
            </a:r>
            <a:endParaRPr b="0" i="0" sz="900" u="none" cap="none" strike="noStrike">
              <a:solidFill>
                <a:srgbClr val="000000"/>
              </a:solidFill>
              <a:latin typeface="Montserrat"/>
              <a:ea typeface="Montserrat"/>
              <a:cs typeface="Montserrat"/>
              <a:sym typeface="Montserrat"/>
            </a:endParaRPr>
          </a:p>
        </p:txBody>
      </p:sp>
      <p:sp>
        <p:nvSpPr>
          <p:cNvPr id="873" name="Google Shape;873;p19"/>
          <p:cNvSpPr txBox="1"/>
          <p:nvPr/>
        </p:nvSpPr>
        <p:spPr>
          <a:xfrm>
            <a:off x="3741204" y="2881822"/>
            <a:ext cx="5067615" cy="336424"/>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Contar con </a:t>
            </a:r>
            <a:r>
              <a:rPr b="1" i="0" lang="es" sz="900" u="none" cap="none" strike="noStrike">
                <a:solidFill>
                  <a:srgbClr val="ED7D31"/>
                </a:solidFill>
                <a:latin typeface="Montserrat"/>
                <a:ea typeface="Montserrat"/>
                <a:cs typeface="Montserrat"/>
                <a:sym typeface="Montserrat"/>
              </a:rPr>
              <a:t>ambientes de Desarrollo, Integración, UAT, Preproducción y Producción</a:t>
            </a:r>
            <a:r>
              <a:rPr b="0" i="0" lang="es" sz="900" u="none" cap="none" strike="noStrike">
                <a:solidFill>
                  <a:srgbClr val="ED7D31"/>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para el correcto funcionamiento y validación de componentes</a:t>
            </a:r>
            <a:endParaRPr b="0" i="0" sz="900" u="none" cap="none" strike="noStrike">
              <a:solidFill>
                <a:srgbClr val="000000"/>
              </a:solidFill>
              <a:latin typeface="Montserrat"/>
              <a:ea typeface="Montserrat"/>
              <a:cs typeface="Montserrat"/>
              <a:sym typeface="Montserrat"/>
            </a:endParaRPr>
          </a:p>
        </p:txBody>
      </p:sp>
      <p:sp>
        <p:nvSpPr>
          <p:cNvPr id="874" name="Google Shape;874;p19"/>
          <p:cNvSpPr txBox="1"/>
          <p:nvPr/>
        </p:nvSpPr>
        <p:spPr>
          <a:xfrm>
            <a:off x="3716874" y="3519994"/>
            <a:ext cx="5067615" cy="336424"/>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Establecer esta </a:t>
            </a:r>
            <a:r>
              <a:rPr b="1" i="0" lang="es" sz="900" u="none" cap="none" strike="noStrike">
                <a:solidFill>
                  <a:srgbClr val="ED7D31"/>
                </a:solidFill>
                <a:latin typeface="Montserrat"/>
                <a:ea typeface="Montserrat"/>
                <a:cs typeface="Montserrat"/>
                <a:sym typeface="Montserrat"/>
              </a:rPr>
              <a:t>función de soporte para poder operar entre sistemas legados y las nuevas aplicaciones </a:t>
            </a:r>
            <a:r>
              <a:rPr b="0" i="0" lang="es" sz="900" u="none" cap="none" strike="noStrike">
                <a:solidFill>
                  <a:srgbClr val="000000"/>
                </a:solidFill>
                <a:latin typeface="Montserrat"/>
                <a:ea typeface="Montserrat"/>
                <a:cs typeface="Montserrat"/>
                <a:sym typeface="Montserrat"/>
              </a:rPr>
              <a:t>de tal forma que se </a:t>
            </a:r>
            <a:r>
              <a:rPr b="1" i="0" lang="es" sz="900" u="none" cap="none" strike="noStrike">
                <a:solidFill>
                  <a:srgbClr val="ED7D31"/>
                </a:solidFill>
                <a:latin typeface="Montserrat"/>
                <a:ea typeface="Montserrat"/>
                <a:cs typeface="Montserrat"/>
                <a:sym typeface="Montserrat"/>
              </a:rPr>
              <a:t>minimice el impacto a la operación</a:t>
            </a:r>
            <a:endParaRPr b="1" i="0" sz="900" u="none" cap="none" strike="noStrike">
              <a:solidFill>
                <a:srgbClr val="ED7D31"/>
              </a:solidFill>
              <a:latin typeface="Montserrat"/>
              <a:ea typeface="Montserrat"/>
              <a:cs typeface="Montserrat"/>
              <a:sym typeface="Montserrat"/>
            </a:endParaRPr>
          </a:p>
        </p:txBody>
      </p:sp>
      <p:grpSp>
        <p:nvGrpSpPr>
          <p:cNvPr id="875" name="Google Shape;875;p19"/>
          <p:cNvGrpSpPr/>
          <p:nvPr/>
        </p:nvGrpSpPr>
        <p:grpSpPr>
          <a:xfrm>
            <a:off x="385459" y="394573"/>
            <a:ext cx="2734810" cy="4018832"/>
            <a:chOff x="385459" y="394573"/>
            <a:chExt cx="2734810" cy="4018832"/>
          </a:xfrm>
        </p:grpSpPr>
        <p:sp>
          <p:nvSpPr>
            <p:cNvPr id="876" name="Google Shape;876;p19"/>
            <p:cNvSpPr/>
            <p:nvPr/>
          </p:nvSpPr>
          <p:spPr>
            <a:xfrm>
              <a:off x="385459" y="1249104"/>
              <a:ext cx="2520000" cy="192600"/>
            </a:xfrm>
            <a:prstGeom prst="rect">
              <a:avLst/>
            </a:prstGeom>
            <a:no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877" name="Google Shape;877;p19"/>
            <p:cNvSpPr/>
            <p:nvPr/>
          </p:nvSpPr>
          <p:spPr>
            <a:xfrm>
              <a:off x="418199" y="394573"/>
              <a:ext cx="2697480" cy="299922"/>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5. Apoyo al Negocio</a:t>
              </a:r>
              <a:endParaRPr b="0" i="0" sz="900" u="none" cap="none" strike="noStrike">
                <a:solidFill>
                  <a:srgbClr val="FFFFFF"/>
                </a:solidFill>
                <a:latin typeface="Montserrat"/>
                <a:ea typeface="Montserrat"/>
                <a:cs typeface="Montserrat"/>
                <a:sym typeface="Montserrat"/>
              </a:endParaRPr>
            </a:p>
          </p:txBody>
        </p:sp>
        <p:sp>
          <p:nvSpPr>
            <p:cNvPr id="878" name="Google Shape;878;p19"/>
            <p:cNvSpPr txBox="1"/>
            <p:nvPr/>
          </p:nvSpPr>
          <p:spPr>
            <a:xfrm>
              <a:off x="422669" y="725265"/>
              <a:ext cx="2697600" cy="1971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de Riesgo y Cumplimiento</a:t>
              </a:r>
              <a:endParaRPr b="1" i="0" sz="900" u="none" cap="none" strike="noStrike">
                <a:solidFill>
                  <a:srgbClr val="000000"/>
                </a:solidFill>
                <a:latin typeface="Arial"/>
                <a:ea typeface="Arial"/>
                <a:cs typeface="Arial"/>
                <a:sym typeface="Arial"/>
              </a:endParaRPr>
            </a:p>
          </p:txBody>
        </p:sp>
        <p:sp>
          <p:nvSpPr>
            <p:cNvPr id="879" name="Google Shape;879;p19"/>
            <p:cNvSpPr/>
            <p:nvPr/>
          </p:nvSpPr>
          <p:spPr>
            <a:xfrm>
              <a:off x="422669" y="2029246"/>
              <a:ext cx="2697480" cy="196901"/>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Gestión de las Finanzas</a:t>
              </a:r>
              <a:endParaRPr b="1" i="0" sz="900" u="none" cap="none" strike="noStrike">
                <a:solidFill>
                  <a:srgbClr val="000000"/>
                </a:solidFill>
                <a:latin typeface="Arial"/>
                <a:ea typeface="Arial"/>
                <a:cs typeface="Arial"/>
                <a:sym typeface="Arial"/>
              </a:endParaRPr>
            </a:p>
          </p:txBody>
        </p:sp>
        <p:sp>
          <p:nvSpPr>
            <p:cNvPr id="880" name="Google Shape;880;p19"/>
            <p:cNvSpPr txBox="1"/>
            <p:nvPr/>
          </p:nvSpPr>
          <p:spPr>
            <a:xfrm>
              <a:off x="459276" y="936280"/>
              <a:ext cx="2505000" cy="884644"/>
            </a:xfrm>
            <a:prstGeom prst="rect">
              <a:avLst/>
            </a:prstGeom>
            <a:noFill/>
            <a:ln>
              <a:noFill/>
            </a:ln>
          </p:spPr>
          <p:txBody>
            <a:bodyPr anchorCtr="0" anchor="t" bIns="0" lIns="0" spcFirstLastPara="1" rIns="0" wrap="square" tIns="0">
              <a:noAutofit/>
            </a:bodyPr>
            <a:lstStyle/>
            <a:p>
              <a:pPr indent="-85725" lvl="0" marL="88900" marR="0" rtl="0" algn="l">
                <a:lnSpc>
                  <a:spcPct val="100000"/>
                </a:lnSpc>
                <a:spcBef>
                  <a:spcPts val="0"/>
                </a:spcBef>
                <a:spcAft>
                  <a:spcPts val="0"/>
                </a:spcAft>
                <a:buClr>
                  <a:srgbClr val="171717"/>
                </a:buClr>
                <a:buSzPts val="550"/>
                <a:buFont typeface="Inter"/>
                <a:buChar char="•"/>
              </a:pPr>
              <a:r>
                <a:rPr b="1" i="0" lang="es" sz="700" u="none" cap="none" strike="noStrike">
                  <a:solidFill>
                    <a:srgbClr val="171717"/>
                  </a:solidFill>
                  <a:latin typeface="Montserrat"/>
                  <a:ea typeface="Montserrat"/>
                  <a:cs typeface="Montserrat"/>
                  <a:sym typeface="Montserrat"/>
                </a:rPr>
                <a:t>Gestionar el riesgo de crédito</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700" u="none" cap="none" strike="noStrike">
                  <a:solidFill>
                    <a:srgbClr val="171717"/>
                  </a:solidFill>
                  <a:latin typeface="Montserrat"/>
                  <a:ea typeface="Montserrat"/>
                  <a:cs typeface="Montserrat"/>
                  <a:sym typeface="Montserrat"/>
                </a:rPr>
                <a:t>Gestionar el riesgo operativo</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700" u="none" cap="none" strike="noStrike">
                  <a:solidFill>
                    <a:srgbClr val="171717"/>
                  </a:solidFill>
                  <a:latin typeface="Montserrat"/>
                  <a:ea typeface="Montserrat"/>
                  <a:cs typeface="Montserrat"/>
                  <a:sym typeface="Montserrat"/>
                </a:rPr>
                <a:t>Gestión del riesgo empresarial</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000000"/>
                </a:buClr>
                <a:buSzPts val="550"/>
                <a:buFont typeface="Inter"/>
                <a:buChar char="•"/>
              </a:pPr>
              <a:r>
                <a:rPr b="0" i="0" lang="es" sz="700" u="none" cap="none" strike="noStrike">
                  <a:solidFill>
                    <a:srgbClr val="000000"/>
                  </a:solidFill>
                  <a:latin typeface="Montserrat"/>
                  <a:ea typeface="Montserrat"/>
                  <a:cs typeface="Montserrat"/>
                  <a:sym typeface="Montserrat"/>
                </a:rPr>
                <a:t>S</a:t>
              </a:r>
              <a:r>
                <a:rPr b="0" i="0" lang="es" sz="700" u="none" cap="none" strike="noStrike">
                  <a:solidFill>
                    <a:srgbClr val="171717"/>
                  </a:solidFill>
                  <a:latin typeface="Montserrat"/>
                  <a:ea typeface="Montserrat"/>
                  <a:cs typeface="Montserrat"/>
                  <a:sym typeface="Montserrat"/>
                </a:rPr>
                <a:t>upervisión del consejo y la dirección</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700" u="none" cap="none" strike="noStrike">
                  <a:solidFill>
                    <a:srgbClr val="171717"/>
                  </a:solidFill>
                  <a:latin typeface="Montserrat"/>
                  <a:ea typeface="Montserrat"/>
                  <a:cs typeface="Montserrat"/>
                  <a:sym typeface="Montserrat"/>
                </a:rPr>
                <a:t>Gestión del cumplimiento</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700" u="none" cap="none" strike="noStrike">
                  <a:solidFill>
                    <a:srgbClr val="171717"/>
                  </a:solidFill>
                  <a:latin typeface="Montserrat"/>
                  <a:ea typeface="Montserrat"/>
                  <a:cs typeface="Montserrat"/>
                  <a:sym typeface="Montserrat"/>
                </a:rPr>
                <a:t>Gestión de los reclamos de los clientes</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700" u="none" cap="none" strike="noStrike">
                  <a:solidFill>
                    <a:srgbClr val="171717"/>
                  </a:solidFill>
                  <a:latin typeface="Montserrat"/>
                  <a:ea typeface="Montserrat"/>
                  <a:cs typeface="Montserrat"/>
                  <a:sym typeface="Montserrat"/>
                </a:rPr>
                <a:t>Auditoría interna</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0" i="0" lang="es" sz="700" u="none" cap="none" strike="noStrike">
                  <a:solidFill>
                    <a:srgbClr val="171717"/>
                  </a:solidFill>
                  <a:latin typeface="Montserrat"/>
                  <a:ea typeface="Montserrat"/>
                  <a:cs typeface="Montserrat"/>
                  <a:sym typeface="Montserrat"/>
                </a:rPr>
                <a:t>Asesoría legal</a:t>
              </a:r>
              <a:endParaRPr b="0" i="0" sz="700" u="none" cap="none" strike="noStrike">
                <a:solidFill>
                  <a:srgbClr val="171717"/>
                </a:solidFill>
                <a:latin typeface="Arial"/>
                <a:ea typeface="Arial"/>
                <a:cs typeface="Arial"/>
                <a:sym typeface="Arial"/>
              </a:endParaRPr>
            </a:p>
            <a:p>
              <a:pPr indent="-85725" lvl="0" marL="88900" marR="0" rtl="0" algn="l">
                <a:lnSpc>
                  <a:spcPct val="100000"/>
                </a:lnSpc>
                <a:spcBef>
                  <a:spcPts val="100"/>
                </a:spcBef>
                <a:spcAft>
                  <a:spcPts val="0"/>
                </a:spcAft>
                <a:buClr>
                  <a:srgbClr val="171717"/>
                </a:buClr>
                <a:buSzPts val="550"/>
                <a:buFont typeface="Inter"/>
                <a:buChar char="•"/>
              </a:pPr>
              <a:r>
                <a:rPr b="1" i="0" lang="es" sz="700" u="none" cap="none" strike="noStrike">
                  <a:solidFill>
                    <a:srgbClr val="171717"/>
                  </a:solidFill>
                  <a:latin typeface="Montserrat"/>
                  <a:ea typeface="Montserrat"/>
                  <a:cs typeface="Montserrat"/>
                  <a:sym typeface="Montserrat"/>
                </a:rPr>
                <a:t>Regulatorio y Reportes</a:t>
              </a:r>
              <a:endParaRPr b="0" i="0" sz="700" u="none" cap="none" strike="noStrike">
                <a:solidFill>
                  <a:srgbClr val="171717"/>
                </a:solidFill>
                <a:latin typeface="Arial"/>
                <a:ea typeface="Arial"/>
                <a:cs typeface="Arial"/>
                <a:sym typeface="Arial"/>
              </a:endParaRPr>
            </a:p>
            <a:p>
              <a:pPr indent="-50800" lvl="0" marL="88900" marR="0" rtl="0" algn="l">
                <a:lnSpc>
                  <a:spcPct val="100000"/>
                </a:lnSpc>
                <a:spcBef>
                  <a:spcPts val="100"/>
                </a:spcBef>
                <a:spcAft>
                  <a:spcPts val="0"/>
                </a:spcAft>
                <a:buClr>
                  <a:srgbClr val="000000"/>
                </a:buClr>
                <a:buSzPts val="600"/>
                <a:buFont typeface="Inter"/>
                <a:buNone/>
              </a:pPr>
              <a:r>
                <a:t/>
              </a:r>
              <a:endParaRPr b="1" i="0" sz="700" u="none" cap="none" strike="noStrike">
                <a:solidFill>
                  <a:srgbClr val="000000"/>
                </a:solidFill>
                <a:latin typeface="Montserrat"/>
                <a:ea typeface="Montserrat"/>
                <a:cs typeface="Montserrat"/>
                <a:sym typeface="Montserrat"/>
              </a:endParaRPr>
            </a:p>
            <a:p>
              <a:pPr indent="-50800" lvl="0" marL="88900" marR="0" rtl="0" algn="l">
                <a:lnSpc>
                  <a:spcPct val="100000"/>
                </a:lnSpc>
                <a:spcBef>
                  <a:spcPts val="100"/>
                </a:spcBef>
                <a:spcAft>
                  <a:spcPts val="0"/>
                </a:spcAft>
                <a:buClr>
                  <a:srgbClr val="000000"/>
                </a:buClr>
                <a:buSzPts val="600"/>
                <a:buFont typeface="Inter"/>
                <a:buNone/>
              </a:pPr>
              <a:r>
                <a:t/>
              </a:r>
              <a:endParaRPr b="0" i="0" sz="700" u="none" cap="none" strike="noStrike">
                <a:solidFill>
                  <a:srgbClr val="000000"/>
                </a:solidFill>
                <a:latin typeface="Montserrat"/>
                <a:ea typeface="Montserrat"/>
                <a:cs typeface="Montserrat"/>
                <a:sym typeface="Montserrat"/>
              </a:endParaRPr>
            </a:p>
          </p:txBody>
        </p:sp>
        <p:sp>
          <p:nvSpPr>
            <p:cNvPr id="881" name="Google Shape;881;p19"/>
            <p:cNvSpPr txBox="1"/>
            <p:nvPr/>
          </p:nvSpPr>
          <p:spPr>
            <a:xfrm>
              <a:off x="459276" y="2264221"/>
              <a:ext cx="2505000" cy="5277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3DB9E5"/>
                </a:buClr>
                <a:buSzPts val="600"/>
                <a:buFont typeface="Inter"/>
                <a:buChar char="•"/>
              </a:pPr>
              <a:r>
                <a:rPr b="1" i="0" lang="es" sz="700" u="none" cap="none" strike="noStrike">
                  <a:solidFill>
                    <a:srgbClr val="171717"/>
                  </a:solidFill>
                  <a:latin typeface="Montserrat"/>
                  <a:ea typeface="Montserrat"/>
                  <a:cs typeface="Montserrat"/>
                  <a:sym typeface="Montserrat"/>
                </a:rPr>
                <a:t>Registro de reportes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Planificación y análisis financiero</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Tesorería</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Fiscal</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Conciliación y balances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Integración, diligencia debida y valoración</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Informes financieros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Gestión de las partes interesadas externas</a:t>
              </a:r>
              <a:endParaRPr b="1" i="0" sz="700" u="none" cap="none" strike="noStrike">
                <a:solidFill>
                  <a:srgbClr val="171717"/>
                </a:solidFill>
                <a:latin typeface="Montserrat"/>
                <a:ea typeface="Montserrat"/>
                <a:cs typeface="Montserrat"/>
                <a:sym typeface="Montserrat"/>
              </a:endParaRPr>
            </a:p>
          </p:txBody>
        </p:sp>
        <p:sp>
          <p:nvSpPr>
            <p:cNvPr id="882" name="Google Shape;882;p19"/>
            <p:cNvSpPr txBox="1"/>
            <p:nvPr/>
          </p:nvSpPr>
          <p:spPr>
            <a:xfrm>
              <a:off x="422669" y="3260286"/>
              <a:ext cx="2697600" cy="1971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Tecnología de la Información</a:t>
              </a:r>
              <a:endParaRPr b="1" i="0" sz="700" u="none" cap="none" strike="noStrike">
                <a:solidFill>
                  <a:srgbClr val="000000"/>
                </a:solidFill>
                <a:latin typeface="Montserrat"/>
                <a:ea typeface="Montserrat"/>
                <a:cs typeface="Montserrat"/>
                <a:sym typeface="Montserrat"/>
              </a:endParaRPr>
            </a:p>
          </p:txBody>
        </p:sp>
        <p:sp>
          <p:nvSpPr>
            <p:cNvPr id="883" name="Google Shape;883;p19"/>
            <p:cNvSpPr txBox="1"/>
            <p:nvPr/>
          </p:nvSpPr>
          <p:spPr>
            <a:xfrm>
              <a:off x="459276" y="3485435"/>
              <a:ext cx="2505000" cy="5949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100"/>
                </a:spcBef>
                <a:spcAft>
                  <a:spcPts val="0"/>
                </a:spcAft>
                <a:buClr>
                  <a:srgbClr val="3DB9E5"/>
                </a:buClr>
                <a:buSzPts val="600"/>
                <a:buFont typeface="Inter"/>
                <a:buChar char="•"/>
              </a:pPr>
              <a:r>
                <a:rPr b="1" i="0" lang="es" sz="700" u="none" cap="none" strike="noStrike">
                  <a:solidFill>
                    <a:srgbClr val="171717"/>
                  </a:solidFill>
                  <a:latin typeface="Montserrat"/>
                  <a:ea typeface="Montserrat"/>
                  <a:cs typeface="Montserrat"/>
                  <a:sym typeface="Montserrat"/>
                </a:rPr>
                <a:t>Estrategia y gobernanza de TI (Microservicios)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Arquitectura empresarial</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Innovación</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Arquitectura Tecnológica</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0" i="0" lang="es" sz="700" u="none" cap="none" strike="noStrike">
                  <a:solidFill>
                    <a:srgbClr val="171717"/>
                  </a:solidFill>
                  <a:latin typeface="Montserrat"/>
                  <a:ea typeface="Montserrat"/>
                  <a:cs typeface="Montserrat"/>
                  <a:sym typeface="Montserrat"/>
                </a:rPr>
                <a:t>Gestión de proyectos y programas</a:t>
              </a:r>
              <a:endParaRPr b="0"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Entrega y soporte de soluciones</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Infraestructura de TI</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1" i="0" lang="es" sz="700" u="none" cap="none" strike="noStrike">
                  <a:solidFill>
                    <a:srgbClr val="171717"/>
                  </a:solidFill>
                  <a:latin typeface="Montserrat"/>
                  <a:ea typeface="Montserrat"/>
                  <a:cs typeface="Montserrat"/>
                  <a:sym typeface="Montserrat"/>
                </a:rPr>
                <a:t>Funciones de soporte de TI</a:t>
              </a:r>
              <a:endParaRPr b="1" i="0" sz="70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600"/>
                <a:buFont typeface="Inter"/>
                <a:buChar char="•"/>
              </a:pPr>
              <a:r>
                <a:rPr b="0" i="0" lang="es" sz="700" u="none" cap="none" strike="noStrike">
                  <a:solidFill>
                    <a:srgbClr val="171717"/>
                  </a:solidFill>
                  <a:latin typeface="Montserrat"/>
                  <a:ea typeface="Montserrat"/>
                  <a:cs typeface="Montserrat"/>
                  <a:sym typeface="Montserrat"/>
                </a:rPr>
                <a:t>Finanzas de TI</a:t>
              </a:r>
              <a:endParaRPr b="0" i="0" sz="700" u="none" cap="none" strike="noStrike">
                <a:solidFill>
                  <a:srgbClr val="171717"/>
                </a:solidFill>
                <a:latin typeface="Montserrat"/>
                <a:ea typeface="Montserrat"/>
                <a:cs typeface="Montserrat"/>
                <a:sym typeface="Montserrat"/>
              </a:endParaRPr>
            </a:p>
          </p:txBody>
        </p:sp>
        <p:sp>
          <p:nvSpPr>
            <p:cNvPr id="884" name="Google Shape;884;p19"/>
            <p:cNvSpPr/>
            <p:nvPr/>
          </p:nvSpPr>
          <p:spPr>
            <a:xfrm>
              <a:off x="453311" y="1084862"/>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85" name="Google Shape;885;p19"/>
            <p:cNvSpPr/>
            <p:nvPr/>
          </p:nvSpPr>
          <p:spPr>
            <a:xfrm>
              <a:off x="453311" y="963550"/>
              <a:ext cx="54000" cy="540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86" name="Google Shape;886;p19"/>
            <p:cNvSpPr/>
            <p:nvPr/>
          </p:nvSpPr>
          <p:spPr>
            <a:xfrm>
              <a:off x="453311" y="1572580"/>
              <a:ext cx="54000" cy="540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87" name="Google Shape;887;p19"/>
            <p:cNvSpPr/>
            <p:nvPr/>
          </p:nvSpPr>
          <p:spPr>
            <a:xfrm>
              <a:off x="453311" y="1920757"/>
              <a:ext cx="54000" cy="540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88" name="Google Shape;888;p19"/>
            <p:cNvSpPr/>
            <p:nvPr/>
          </p:nvSpPr>
          <p:spPr>
            <a:xfrm>
              <a:off x="453311" y="353505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89" name="Google Shape;889;p19"/>
            <p:cNvSpPr/>
            <p:nvPr/>
          </p:nvSpPr>
          <p:spPr>
            <a:xfrm>
              <a:off x="453311" y="2308287"/>
              <a:ext cx="54000" cy="540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0" name="Google Shape;890;p19"/>
            <p:cNvSpPr/>
            <p:nvPr/>
          </p:nvSpPr>
          <p:spPr>
            <a:xfrm>
              <a:off x="453311" y="387075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1" name="Google Shape;891;p19"/>
            <p:cNvSpPr/>
            <p:nvPr/>
          </p:nvSpPr>
          <p:spPr>
            <a:xfrm>
              <a:off x="453311" y="425606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2" name="Google Shape;892;p19"/>
            <p:cNvSpPr/>
            <p:nvPr/>
          </p:nvSpPr>
          <p:spPr>
            <a:xfrm>
              <a:off x="453311" y="435940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3" name="Google Shape;893;p19"/>
            <p:cNvSpPr/>
            <p:nvPr/>
          </p:nvSpPr>
          <p:spPr>
            <a:xfrm>
              <a:off x="453311" y="2774745"/>
              <a:ext cx="54000" cy="540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4" name="Google Shape;894;p19"/>
            <p:cNvSpPr/>
            <p:nvPr/>
          </p:nvSpPr>
          <p:spPr>
            <a:xfrm>
              <a:off x="453311" y="3026604"/>
              <a:ext cx="54000" cy="540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5" name="Google Shape;895;p19"/>
            <p:cNvSpPr/>
            <p:nvPr/>
          </p:nvSpPr>
          <p:spPr>
            <a:xfrm>
              <a:off x="453311" y="376189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6" name="Google Shape;896;p19"/>
            <p:cNvSpPr/>
            <p:nvPr/>
          </p:nvSpPr>
          <p:spPr>
            <a:xfrm>
              <a:off x="453311" y="366145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897" name="Google Shape;897;p19"/>
            <p:cNvSpPr/>
            <p:nvPr/>
          </p:nvSpPr>
          <p:spPr>
            <a:xfrm>
              <a:off x="453311" y="412060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grpSp>
      <p:sp>
        <p:nvSpPr>
          <p:cNvPr id="898" name="Google Shape;898;p19"/>
          <p:cNvSpPr txBox="1"/>
          <p:nvPr/>
        </p:nvSpPr>
        <p:spPr>
          <a:xfrm>
            <a:off x="3698271" y="4127934"/>
            <a:ext cx="5154941" cy="336424"/>
          </a:xfrm>
          <a:prstGeom prst="rect">
            <a:avLst/>
          </a:prstGeom>
          <a:noFill/>
          <a:ln>
            <a:noFill/>
          </a:ln>
        </p:spPr>
        <p:txBody>
          <a:bodyPr anchorCtr="0" anchor="t" bIns="29425" lIns="58875" spcFirstLastPara="1" rIns="58875" wrap="square" tIns="29425">
            <a:spAutoFit/>
          </a:bodyPr>
          <a:lstStyle/>
          <a:p>
            <a:pPr indent="0" lvl="0" marL="0" marR="0" rtl="0" algn="just">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Nueva </a:t>
            </a:r>
            <a:r>
              <a:rPr b="1" i="0" lang="es" sz="900" u="none" cap="none" strike="noStrike">
                <a:solidFill>
                  <a:srgbClr val="ED7D31"/>
                </a:solidFill>
                <a:latin typeface="Montserrat"/>
                <a:ea typeface="Montserrat"/>
                <a:cs typeface="Montserrat"/>
                <a:sym typeface="Montserrat"/>
              </a:rPr>
              <a:t>arquitectura empresarial </a:t>
            </a:r>
            <a:r>
              <a:rPr b="0" i="0" lang="es" sz="900" u="none" cap="none" strike="noStrike">
                <a:solidFill>
                  <a:srgbClr val="000000"/>
                </a:solidFill>
                <a:latin typeface="Montserrat"/>
                <a:ea typeface="Montserrat"/>
                <a:cs typeface="Montserrat"/>
                <a:sym typeface="Montserrat"/>
              </a:rPr>
              <a:t>con </a:t>
            </a:r>
            <a:r>
              <a:rPr b="1" i="0" lang="es" sz="900" u="none" cap="none" strike="noStrike">
                <a:solidFill>
                  <a:srgbClr val="ED7D31"/>
                </a:solidFill>
                <a:latin typeface="Montserrat"/>
                <a:ea typeface="Montserrat"/>
                <a:cs typeface="Montserrat"/>
                <a:sym typeface="Montserrat"/>
              </a:rPr>
              <a:t>componentes desacoplados</a:t>
            </a:r>
            <a:r>
              <a:rPr b="0" i="0" lang="es" sz="900" u="none" cap="none" strike="noStrike">
                <a:solidFill>
                  <a:srgbClr val="ED7D31"/>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e integrados </a:t>
            </a:r>
            <a:r>
              <a:rPr b="1" i="0" lang="es" sz="900" u="none" cap="none" strike="noStrike">
                <a:solidFill>
                  <a:srgbClr val="ED7D31"/>
                </a:solidFill>
                <a:latin typeface="Montserrat"/>
                <a:ea typeface="Montserrat"/>
                <a:cs typeface="Montserrat"/>
                <a:sym typeface="Montserrat"/>
              </a:rPr>
              <a:t>para</a:t>
            </a:r>
            <a:r>
              <a:rPr b="0" i="0" lang="es" sz="900" u="none" cap="none" strike="noStrike">
                <a:solidFill>
                  <a:srgbClr val="000000"/>
                </a:solidFill>
                <a:latin typeface="Montserrat"/>
                <a:ea typeface="Montserrat"/>
                <a:cs typeface="Montserrat"/>
                <a:sym typeface="Montserrat"/>
              </a:rPr>
              <a:t> poder </a:t>
            </a:r>
            <a:r>
              <a:rPr b="1" i="0" lang="es" sz="900" u="none" cap="none" strike="noStrike">
                <a:solidFill>
                  <a:srgbClr val="ED7D31"/>
                </a:solidFill>
                <a:latin typeface="Montserrat"/>
                <a:ea typeface="Montserrat"/>
                <a:cs typeface="Montserrat"/>
                <a:sym typeface="Montserrat"/>
              </a:rPr>
              <a:t>exponer servicios a terceros</a:t>
            </a:r>
            <a:r>
              <a:rPr b="1" i="0" lang="es" sz="900" u="none" cap="none" strike="noStrike">
                <a:solidFill>
                  <a:srgbClr val="000000"/>
                </a:solidFill>
                <a:latin typeface="Montserrat"/>
                <a:ea typeface="Montserrat"/>
                <a:cs typeface="Montserrat"/>
                <a:sym typeface="Montserrat"/>
              </a:rPr>
              <a:t> </a:t>
            </a:r>
            <a:r>
              <a:rPr b="0" i="0" lang="es" sz="900" u="none" cap="none" strike="noStrike">
                <a:solidFill>
                  <a:srgbClr val="000000"/>
                </a:solidFill>
                <a:latin typeface="Montserrat"/>
                <a:ea typeface="Montserrat"/>
                <a:cs typeface="Montserrat"/>
                <a:sym typeface="Montserrat"/>
              </a:rPr>
              <a:t>y generar </a:t>
            </a:r>
            <a:r>
              <a:rPr b="1" i="0" lang="es" sz="900" u="none" cap="none" strike="noStrike">
                <a:solidFill>
                  <a:srgbClr val="ED7D31"/>
                </a:solidFill>
                <a:latin typeface="Montserrat"/>
                <a:ea typeface="Montserrat"/>
                <a:cs typeface="Montserrat"/>
                <a:sym typeface="Montserrat"/>
              </a:rPr>
              <a:t>nuevos modelos de negocio</a:t>
            </a:r>
            <a:endParaRPr b="1" i="0" sz="900" u="none" cap="none" strike="noStrike">
              <a:solidFill>
                <a:srgbClr val="ED7D3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20"/>
          <p:cNvSpPr txBox="1"/>
          <p:nvPr/>
        </p:nvSpPr>
        <p:spPr>
          <a:xfrm>
            <a:off x="384511" y="110211"/>
            <a:ext cx="7322616"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6. Capacidades Básicas de TI (1/2)</a:t>
            </a:r>
            <a:endParaRPr b="0" i="0" sz="900" u="none" cap="none" strike="noStrike">
              <a:solidFill>
                <a:srgbClr val="000000"/>
              </a:solidFill>
              <a:latin typeface="Arial"/>
              <a:ea typeface="Arial"/>
              <a:cs typeface="Arial"/>
              <a:sym typeface="Arial"/>
            </a:endParaRPr>
          </a:p>
        </p:txBody>
      </p:sp>
      <p:sp>
        <p:nvSpPr>
          <p:cNvPr id="904" name="Google Shape;904;p20"/>
          <p:cNvSpPr/>
          <p:nvPr/>
        </p:nvSpPr>
        <p:spPr>
          <a:xfrm>
            <a:off x="436629" y="894546"/>
            <a:ext cx="8554826" cy="382287"/>
          </a:xfrm>
          <a:custGeom>
            <a:rect b="b" l="l" r="r" t="t"/>
            <a:pathLst>
              <a:path extrusionOk="0" h="365760" w="5486400">
                <a:moveTo>
                  <a:pt x="5390311" y="0"/>
                </a:moveTo>
                <a:lnTo>
                  <a:pt x="0" y="0"/>
                </a:lnTo>
                <a:lnTo>
                  <a:pt x="0" y="365759"/>
                </a:lnTo>
                <a:lnTo>
                  <a:pt x="5390311" y="365759"/>
                </a:lnTo>
                <a:lnTo>
                  <a:pt x="5486400" y="182879"/>
                </a:lnTo>
                <a:lnTo>
                  <a:pt x="53903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6. Capacidades Básicas</a:t>
            </a:r>
            <a:endParaRPr b="0" i="0" sz="900" u="none" cap="none" strike="noStrike">
              <a:solidFill>
                <a:srgbClr val="000000"/>
              </a:solidFill>
              <a:latin typeface="Arial"/>
              <a:ea typeface="Arial"/>
              <a:cs typeface="Arial"/>
              <a:sym typeface="Arial"/>
            </a:endParaRPr>
          </a:p>
        </p:txBody>
      </p:sp>
      <p:sp>
        <p:nvSpPr>
          <p:cNvPr id="905" name="Google Shape;905;p20"/>
          <p:cNvSpPr txBox="1"/>
          <p:nvPr/>
        </p:nvSpPr>
        <p:spPr>
          <a:xfrm>
            <a:off x="473665" y="4584173"/>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777777"/>
              </a:buClr>
              <a:buSzPts val="700"/>
              <a:buFont typeface="Arial"/>
              <a:buNone/>
            </a:pPr>
            <a:r>
              <a:rPr b="1" i="0" lang="es" sz="700" u="none" cap="none" strike="noStrike">
                <a:solidFill>
                  <a:srgbClr val="171717"/>
                </a:solidFill>
                <a:latin typeface="Montserrat"/>
                <a:ea typeface="Montserrat"/>
                <a:cs typeface="Montserrat"/>
                <a:sym typeface="Montserrat"/>
              </a:rPr>
              <a:t>Apificación de Canales</a:t>
            </a:r>
            <a:endParaRPr b="0" i="0" sz="900" u="none" cap="none" strike="noStrike">
              <a:solidFill>
                <a:srgbClr val="000000"/>
              </a:solidFill>
              <a:latin typeface="Arial"/>
              <a:ea typeface="Arial"/>
              <a:cs typeface="Arial"/>
              <a:sym typeface="Arial"/>
            </a:endParaRPr>
          </a:p>
        </p:txBody>
      </p:sp>
      <p:sp>
        <p:nvSpPr>
          <p:cNvPr id="906" name="Google Shape;906;p20"/>
          <p:cNvSpPr txBox="1"/>
          <p:nvPr/>
        </p:nvSpPr>
        <p:spPr>
          <a:xfrm>
            <a:off x="473665" y="4352075"/>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171717"/>
                </a:solidFill>
                <a:latin typeface="Montserrat"/>
                <a:ea typeface="Montserrat"/>
                <a:cs typeface="Montserrat"/>
                <a:sym typeface="Montserrat"/>
              </a:rPr>
              <a:t>Apificación de OfiWeb</a:t>
            </a:r>
            <a:endParaRPr b="1" i="0" sz="900" u="none" cap="none" strike="noStrike">
              <a:solidFill>
                <a:srgbClr val="171717"/>
              </a:solidFill>
              <a:latin typeface="Arial"/>
              <a:ea typeface="Arial"/>
              <a:cs typeface="Arial"/>
              <a:sym typeface="Arial"/>
            </a:endParaRPr>
          </a:p>
        </p:txBody>
      </p:sp>
      <p:grpSp>
        <p:nvGrpSpPr>
          <p:cNvPr id="907" name="Google Shape;907;p20"/>
          <p:cNvGrpSpPr/>
          <p:nvPr/>
        </p:nvGrpSpPr>
        <p:grpSpPr>
          <a:xfrm>
            <a:off x="3441286" y="1328324"/>
            <a:ext cx="5379444" cy="284741"/>
            <a:chOff x="3441286" y="1447589"/>
            <a:chExt cx="5379444" cy="284741"/>
          </a:xfrm>
        </p:grpSpPr>
        <p:grpSp>
          <p:nvGrpSpPr>
            <p:cNvPr id="908" name="Google Shape;908;p20"/>
            <p:cNvGrpSpPr/>
            <p:nvPr/>
          </p:nvGrpSpPr>
          <p:grpSpPr>
            <a:xfrm>
              <a:off x="3441286" y="1447589"/>
              <a:ext cx="1124914" cy="284741"/>
              <a:chOff x="1312424" y="2685531"/>
              <a:chExt cx="1499884" cy="320472"/>
            </a:xfrm>
          </p:grpSpPr>
          <p:grpSp>
            <p:nvGrpSpPr>
              <p:cNvPr id="909" name="Google Shape;909;p20"/>
              <p:cNvGrpSpPr/>
              <p:nvPr/>
            </p:nvGrpSpPr>
            <p:grpSpPr>
              <a:xfrm>
                <a:off x="1312424" y="2685531"/>
                <a:ext cx="1499884" cy="320472"/>
                <a:chOff x="13814589" y="1926698"/>
                <a:chExt cx="3463137" cy="804600"/>
              </a:xfrm>
            </p:grpSpPr>
            <p:sp>
              <p:nvSpPr>
                <p:cNvPr id="910" name="Google Shape;910;p20"/>
                <p:cNvSpPr/>
                <p:nvPr/>
              </p:nvSpPr>
              <p:spPr>
                <a:xfrm>
                  <a:off x="13832186" y="1977406"/>
                  <a:ext cx="3445540"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Homologación Ambientes</a:t>
                  </a:r>
                  <a:endParaRPr b="1" i="0" sz="700" u="none" cap="none" strike="noStrike">
                    <a:solidFill>
                      <a:srgbClr val="000000"/>
                    </a:solidFill>
                    <a:latin typeface="Arial"/>
                    <a:ea typeface="Arial"/>
                    <a:cs typeface="Arial"/>
                    <a:sym typeface="Arial"/>
                  </a:endParaRPr>
                </a:p>
              </p:txBody>
            </p:sp>
            <p:grpSp>
              <p:nvGrpSpPr>
                <p:cNvPr id="911" name="Google Shape;911;p20"/>
                <p:cNvGrpSpPr/>
                <p:nvPr/>
              </p:nvGrpSpPr>
              <p:grpSpPr>
                <a:xfrm>
                  <a:off x="14018731" y="2168949"/>
                  <a:ext cx="396177" cy="320504"/>
                  <a:chOff x="-3757613" y="5049838"/>
                  <a:chExt cx="5826126" cy="4713288"/>
                </a:xfrm>
              </p:grpSpPr>
              <p:sp>
                <p:nvSpPr>
                  <p:cNvPr id="912" name="Google Shape;912;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13" name="Google Shape;913;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14" name="Google Shape;914;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15" name="Google Shape;915;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16" name="Google Shape;916;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17" name="Google Shape;917;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918" name="Google Shape;918;p20"/>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919" name="Google Shape;919;p20"/>
              <p:cNvPicPr preferRelativeResize="0"/>
              <p:nvPr/>
            </p:nvPicPr>
            <p:blipFill rotWithShape="1">
              <a:blip r:embed="rId3">
                <a:alphaModFix/>
              </a:blip>
              <a:srcRect b="0" l="0" r="0" t="0"/>
              <a:stretch/>
            </p:blipFill>
            <p:spPr>
              <a:xfrm>
                <a:off x="1386520" y="2739156"/>
                <a:ext cx="243216" cy="223734"/>
              </a:xfrm>
              <a:prstGeom prst="rect">
                <a:avLst/>
              </a:prstGeom>
              <a:noFill/>
              <a:ln>
                <a:noFill/>
              </a:ln>
            </p:spPr>
          </p:pic>
        </p:grpSp>
        <p:grpSp>
          <p:nvGrpSpPr>
            <p:cNvPr id="920" name="Google Shape;920;p20"/>
            <p:cNvGrpSpPr/>
            <p:nvPr/>
          </p:nvGrpSpPr>
          <p:grpSpPr>
            <a:xfrm>
              <a:off x="4634436" y="1447589"/>
              <a:ext cx="1004218" cy="284741"/>
              <a:chOff x="2033700" y="2547726"/>
              <a:chExt cx="1338956" cy="320472"/>
            </a:xfrm>
          </p:grpSpPr>
          <p:grpSp>
            <p:nvGrpSpPr>
              <p:cNvPr id="921" name="Google Shape;921;p20"/>
              <p:cNvGrpSpPr/>
              <p:nvPr/>
            </p:nvGrpSpPr>
            <p:grpSpPr>
              <a:xfrm>
                <a:off x="2033700" y="2547726"/>
                <a:ext cx="1338956" cy="320472"/>
                <a:chOff x="13814589" y="1926698"/>
                <a:chExt cx="3091565" cy="804600"/>
              </a:xfrm>
            </p:grpSpPr>
            <p:sp>
              <p:nvSpPr>
                <p:cNvPr id="922" name="Google Shape;922;p20"/>
                <p:cNvSpPr/>
                <p:nvPr/>
              </p:nvSpPr>
              <p:spPr>
                <a:xfrm>
                  <a:off x="14062516" y="1977408"/>
                  <a:ext cx="2843638"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7938"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I</a:t>
                  </a:r>
                  <a:r>
                    <a:rPr b="1" i="0" lang="es" sz="650" u="none" cap="none" strike="noStrike">
                      <a:solidFill>
                        <a:srgbClr val="FFFFFF"/>
                      </a:solidFill>
                      <a:latin typeface="Montserrat"/>
                      <a:ea typeface="Montserrat"/>
                      <a:cs typeface="Montserrat"/>
                      <a:sym typeface="Montserrat"/>
                    </a:rPr>
                    <a:t>nterfases Temporales</a:t>
                  </a:r>
                  <a:endParaRPr b="1" i="0" sz="650" u="none" cap="none" strike="noStrike">
                    <a:solidFill>
                      <a:srgbClr val="000000"/>
                    </a:solidFill>
                    <a:latin typeface="Arial"/>
                    <a:ea typeface="Arial"/>
                    <a:cs typeface="Arial"/>
                    <a:sym typeface="Arial"/>
                  </a:endParaRPr>
                </a:p>
              </p:txBody>
            </p:sp>
            <p:grpSp>
              <p:nvGrpSpPr>
                <p:cNvPr id="923" name="Google Shape;923;p20"/>
                <p:cNvGrpSpPr/>
                <p:nvPr/>
              </p:nvGrpSpPr>
              <p:grpSpPr>
                <a:xfrm>
                  <a:off x="14018731" y="2168949"/>
                  <a:ext cx="396177" cy="320504"/>
                  <a:chOff x="-3757613" y="5049838"/>
                  <a:chExt cx="5826126" cy="4713288"/>
                </a:xfrm>
              </p:grpSpPr>
              <p:sp>
                <p:nvSpPr>
                  <p:cNvPr id="924" name="Google Shape;924;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25" name="Google Shape;925;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26" name="Google Shape;926;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27" name="Google Shape;927;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28" name="Google Shape;928;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29" name="Google Shape;929;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930" name="Google Shape;930;p20"/>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931" name="Google Shape;931;p20"/>
              <p:cNvPicPr preferRelativeResize="0"/>
              <p:nvPr/>
            </p:nvPicPr>
            <p:blipFill rotWithShape="1">
              <a:blip r:embed="rId4">
                <a:alphaModFix/>
              </a:blip>
              <a:srcRect b="0" l="0" r="0" t="0"/>
              <a:stretch/>
            </p:blipFill>
            <p:spPr>
              <a:xfrm>
                <a:off x="2107092" y="2608047"/>
                <a:ext cx="201507" cy="185365"/>
              </a:xfrm>
              <a:prstGeom prst="rect">
                <a:avLst/>
              </a:prstGeom>
              <a:noFill/>
              <a:ln>
                <a:noFill/>
              </a:ln>
            </p:spPr>
          </p:pic>
        </p:grpSp>
        <p:grpSp>
          <p:nvGrpSpPr>
            <p:cNvPr id="932" name="Google Shape;932;p20"/>
            <p:cNvGrpSpPr/>
            <p:nvPr/>
          </p:nvGrpSpPr>
          <p:grpSpPr>
            <a:xfrm>
              <a:off x="7809198" y="1447589"/>
              <a:ext cx="1011532" cy="284741"/>
              <a:chOff x="5704390" y="3794681"/>
              <a:chExt cx="1348712" cy="320472"/>
            </a:xfrm>
          </p:grpSpPr>
          <p:grpSp>
            <p:nvGrpSpPr>
              <p:cNvPr id="933" name="Google Shape;933;p20"/>
              <p:cNvGrpSpPr/>
              <p:nvPr/>
            </p:nvGrpSpPr>
            <p:grpSpPr>
              <a:xfrm>
                <a:off x="5704390" y="3794681"/>
                <a:ext cx="1348712" cy="320472"/>
                <a:chOff x="13814589" y="1926698"/>
                <a:chExt cx="3114083" cy="804600"/>
              </a:xfrm>
            </p:grpSpPr>
            <p:sp>
              <p:nvSpPr>
                <p:cNvPr id="934" name="Google Shape;934;p20"/>
                <p:cNvSpPr/>
                <p:nvPr/>
              </p:nvSpPr>
              <p:spPr>
                <a:xfrm>
                  <a:off x="13915650" y="1977408"/>
                  <a:ext cx="3013022"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Apificación</a:t>
                  </a:r>
                  <a:endParaRPr b="1" i="0" sz="7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 OFI Web</a:t>
                  </a:r>
                  <a:endParaRPr b="1" i="0" sz="700" u="none" cap="none" strike="noStrike">
                    <a:solidFill>
                      <a:srgbClr val="000000"/>
                    </a:solidFill>
                    <a:latin typeface="Arial"/>
                    <a:ea typeface="Arial"/>
                    <a:cs typeface="Arial"/>
                    <a:sym typeface="Arial"/>
                  </a:endParaRPr>
                </a:p>
              </p:txBody>
            </p:sp>
            <p:grpSp>
              <p:nvGrpSpPr>
                <p:cNvPr id="935" name="Google Shape;935;p20"/>
                <p:cNvGrpSpPr/>
                <p:nvPr/>
              </p:nvGrpSpPr>
              <p:grpSpPr>
                <a:xfrm>
                  <a:off x="14018731" y="2168949"/>
                  <a:ext cx="396177" cy="320504"/>
                  <a:chOff x="-3757613" y="5049838"/>
                  <a:chExt cx="5826126" cy="4713288"/>
                </a:xfrm>
              </p:grpSpPr>
              <p:sp>
                <p:nvSpPr>
                  <p:cNvPr id="936" name="Google Shape;936;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37" name="Google Shape;937;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38" name="Google Shape;938;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39" name="Google Shape;939;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40" name="Google Shape;940;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41" name="Google Shape;941;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942" name="Google Shape;942;p20"/>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943" name="Google Shape;943;p20"/>
              <p:cNvPicPr preferRelativeResize="0"/>
              <p:nvPr/>
            </p:nvPicPr>
            <p:blipFill rotWithShape="1">
              <a:blip r:embed="rId5">
                <a:alphaModFix/>
              </a:blip>
              <a:srcRect b="0" l="0" r="0" t="0"/>
              <a:stretch/>
            </p:blipFill>
            <p:spPr>
              <a:xfrm>
                <a:off x="5773564" y="3845375"/>
                <a:ext cx="223168" cy="205291"/>
              </a:xfrm>
              <a:prstGeom prst="rect">
                <a:avLst/>
              </a:prstGeom>
              <a:noFill/>
              <a:ln>
                <a:noFill/>
              </a:ln>
            </p:spPr>
          </p:pic>
        </p:grpSp>
        <p:grpSp>
          <p:nvGrpSpPr>
            <p:cNvPr id="944" name="Google Shape;944;p20"/>
            <p:cNvGrpSpPr/>
            <p:nvPr/>
          </p:nvGrpSpPr>
          <p:grpSpPr>
            <a:xfrm>
              <a:off x="6746733" y="1447621"/>
              <a:ext cx="994228" cy="284677"/>
              <a:chOff x="1397123" y="2489311"/>
              <a:chExt cx="1325636" cy="320400"/>
            </a:xfrm>
          </p:grpSpPr>
          <p:grpSp>
            <p:nvGrpSpPr>
              <p:cNvPr id="945" name="Google Shape;945;p20"/>
              <p:cNvGrpSpPr/>
              <p:nvPr/>
            </p:nvGrpSpPr>
            <p:grpSpPr>
              <a:xfrm>
                <a:off x="1397123" y="2489311"/>
                <a:ext cx="1325636" cy="320400"/>
                <a:chOff x="1397123" y="2489311"/>
                <a:chExt cx="1325636" cy="320400"/>
              </a:xfrm>
            </p:grpSpPr>
            <p:sp>
              <p:nvSpPr>
                <p:cNvPr id="946" name="Google Shape;946;p20"/>
                <p:cNvSpPr/>
                <p:nvPr/>
              </p:nvSpPr>
              <p:spPr>
                <a:xfrm>
                  <a:off x="1504496" y="2509509"/>
                  <a:ext cx="1218263" cy="280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DevSecOps</a:t>
                  </a:r>
                  <a:endParaRPr b="1" i="0" sz="700" u="none" cap="none" strike="noStrike">
                    <a:solidFill>
                      <a:srgbClr val="FFFFFF"/>
                    </a:solidFill>
                    <a:latin typeface="Montserrat"/>
                    <a:ea typeface="Montserrat"/>
                    <a:cs typeface="Montserrat"/>
                    <a:sym typeface="Montserrat"/>
                  </a:endParaRPr>
                </a:p>
              </p:txBody>
            </p:sp>
            <p:grpSp>
              <p:nvGrpSpPr>
                <p:cNvPr id="947" name="Google Shape;947;p20"/>
                <p:cNvGrpSpPr/>
                <p:nvPr/>
              </p:nvGrpSpPr>
              <p:grpSpPr>
                <a:xfrm>
                  <a:off x="1517155" y="2585878"/>
                  <a:ext cx="171871" cy="127730"/>
                  <a:chOff x="-3757613" y="5049838"/>
                  <a:chExt cx="5826126" cy="4713288"/>
                </a:xfrm>
              </p:grpSpPr>
              <p:sp>
                <p:nvSpPr>
                  <p:cNvPr id="948" name="Google Shape;948;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49" name="Google Shape;949;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50" name="Google Shape;950;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51" name="Google Shape;951;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52" name="Google Shape;952;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53" name="Google Shape;953;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954" name="Google Shape;954;p20"/>
                <p:cNvSpPr/>
                <p:nvPr/>
              </p:nvSpPr>
              <p:spPr>
                <a:xfrm>
                  <a:off x="1397123" y="2489311"/>
                  <a:ext cx="348600" cy="3204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955" name="Google Shape;955;p20"/>
              <p:cNvPicPr preferRelativeResize="0"/>
              <p:nvPr/>
            </p:nvPicPr>
            <p:blipFill rotWithShape="1">
              <a:blip r:embed="rId6">
                <a:alphaModFix/>
              </a:blip>
              <a:srcRect b="0" l="0" r="0" t="0"/>
              <a:stretch/>
            </p:blipFill>
            <p:spPr>
              <a:xfrm>
                <a:off x="1452176" y="2523630"/>
                <a:ext cx="252977" cy="232712"/>
              </a:xfrm>
              <a:prstGeom prst="rect">
                <a:avLst/>
              </a:prstGeom>
              <a:noFill/>
              <a:ln>
                <a:noFill/>
              </a:ln>
            </p:spPr>
          </p:pic>
        </p:grpSp>
        <p:grpSp>
          <p:nvGrpSpPr>
            <p:cNvPr id="956" name="Google Shape;956;p20"/>
            <p:cNvGrpSpPr/>
            <p:nvPr/>
          </p:nvGrpSpPr>
          <p:grpSpPr>
            <a:xfrm>
              <a:off x="5706890" y="1447589"/>
              <a:ext cx="971607" cy="284741"/>
              <a:chOff x="2785853" y="1986995"/>
              <a:chExt cx="1295476" cy="320472"/>
            </a:xfrm>
          </p:grpSpPr>
          <p:grpSp>
            <p:nvGrpSpPr>
              <p:cNvPr id="957" name="Google Shape;957;p20"/>
              <p:cNvGrpSpPr/>
              <p:nvPr/>
            </p:nvGrpSpPr>
            <p:grpSpPr>
              <a:xfrm>
                <a:off x="2785853" y="1986995"/>
                <a:ext cx="1295476" cy="320472"/>
                <a:chOff x="13814589" y="1926698"/>
                <a:chExt cx="2991172" cy="804600"/>
              </a:xfrm>
            </p:grpSpPr>
            <p:sp>
              <p:nvSpPr>
                <p:cNvPr id="958" name="Google Shape;958;p20"/>
                <p:cNvSpPr/>
                <p:nvPr/>
              </p:nvSpPr>
              <p:spPr>
                <a:xfrm>
                  <a:off x="13964608" y="1977408"/>
                  <a:ext cx="2841153"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Apificación Canales</a:t>
                  </a:r>
                  <a:endParaRPr b="1" i="0" sz="700" u="none" cap="none" strike="noStrike">
                    <a:solidFill>
                      <a:srgbClr val="FFFFFF"/>
                    </a:solidFill>
                    <a:latin typeface="Montserrat"/>
                    <a:ea typeface="Montserrat"/>
                    <a:cs typeface="Montserrat"/>
                    <a:sym typeface="Montserrat"/>
                  </a:endParaRPr>
                </a:p>
              </p:txBody>
            </p:sp>
            <p:grpSp>
              <p:nvGrpSpPr>
                <p:cNvPr id="959" name="Google Shape;959;p20"/>
                <p:cNvGrpSpPr/>
                <p:nvPr/>
              </p:nvGrpSpPr>
              <p:grpSpPr>
                <a:xfrm>
                  <a:off x="14018731" y="2168949"/>
                  <a:ext cx="396177" cy="320504"/>
                  <a:chOff x="-3757613" y="5049838"/>
                  <a:chExt cx="5826126" cy="4713288"/>
                </a:xfrm>
              </p:grpSpPr>
              <p:sp>
                <p:nvSpPr>
                  <p:cNvPr id="960" name="Google Shape;960;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61" name="Google Shape;961;p2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62" name="Google Shape;962;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63" name="Google Shape;963;p2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64" name="Google Shape;964;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965" name="Google Shape;965;p2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966" name="Google Shape;966;p20"/>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967" name="Google Shape;967;p20"/>
              <p:cNvPicPr preferRelativeResize="0"/>
              <p:nvPr/>
            </p:nvPicPr>
            <p:blipFill rotWithShape="1">
              <a:blip r:embed="rId7">
                <a:alphaModFix/>
              </a:blip>
              <a:srcRect b="0" l="0" r="0" t="0"/>
              <a:stretch/>
            </p:blipFill>
            <p:spPr>
              <a:xfrm>
                <a:off x="2837951" y="2036863"/>
                <a:ext cx="231350" cy="212818"/>
              </a:xfrm>
              <a:prstGeom prst="rect">
                <a:avLst/>
              </a:prstGeom>
              <a:noFill/>
              <a:ln>
                <a:noFill/>
              </a:ln>
            </p:spPr>
          </p:pic>
        </p:grpSp>
      </p:grpSp>
      <p:sp>
        <p:nvSpPr>
          <p:cNvPr id="968" name="Google Shape;968;p20"/>
          <p:cNvSpPr txBox="1"/>
          <p:nvPr/>
        </p:nvSpPr>
        <p:spPr>
          <a:xfrm>
            <a:off x="412821" y="378788"/>
            <a:ext cx="8407909" cy="336424"/>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Montserrat"/>
                <a:ea typeface="Montserrat"/>
                <a:cs typeface="Montserrat"/>
                <a:sym typeface="Montserrat"/>
              </a:rPr>
              <a:t>Al igual que competimos en el mercado con funcionalidades nuevas y queremos homologar los servicios que y permitir la evolución hacia la entrega de valor constante y flexibilidad de cambio por parte de las áreas de Sistemas.</a:t>
            </a:r>
            <a:endParaRPr b="0" i="0" sz="900" u="none" cap="none" strike="noStrike">
              <a:solidFill>
                <a:srgbClr val="000000"/>
              </a:solidFill>
              <a:latin typeface="Arial"/>
              <a:ea typeface="Arial"/>
              <a:cs typeface="Arial"/>
              <a:sym typeface="Arial"/>
            </a:endParaRPr>
          </a:p>
        </p:txBody>
      </p:sp>
      <p:sp>
        <p:nvSpPr>
          <p:cNvPr id="969" name="Google Shape;969;p20"/>
          <p:cNvSpPr txBox="1"/>
          <p:nvPr/>
        </p:nvSpPr>
        <p:spPr>
          <a:xfrm>
            <a:off x="3449285" y="1659607"/>
            <a:ext cx="5396442" cy="2690914"/>
          </a:xfrm>
          <a:prstGeom prst="rect">
            <a:avLst/>
          </a:prstGeom>
          <a:noFill/>
          <a:ln>
            <a:noFill/>
          </a:ln>
        </p:spPr>
        <p:txBody>
          <a:bodyPr anchorCtr="0" anchor="t" bIns="29425" lIns="58875" spcFirstLastPara="1" rIns="58875" wrap="square" tIns="29425">
            <a:spAutoFit/>
          </a:bodyPr>
          <a:lstStyle/>
          <a:p>
            <a:pPr indent="-228600" lvl="0" marL="228600" marR="0" rtl="0" algn="just">
              <a:lnSpc>
                <a:spcPct val="100000"/>
              </a:lnSpc>
              <a:spcBef>
                <a:spcPts val="1800"/>
              </a:spcBef>
              <a:spcAft>
                <a:spcPts val="0"/>
              </a:spcAft>
              <a:buClr>
                <a:srgbClr val="000000"/>
              </a:buClr>
              <a:buSzPts val="900"/>
              <a:buFont typeface="Arial"/>
              <a:buAutoNum type="arabicPeriod"/>
            </a:pPr>
            <a:r>
              <a:rPr b="0" i="0" lang="es" sz="900" u="none" cap="none" strike="noStrike">
                <a:solidFill>
                  <a:srgbClr val="000000"/>
                </a:solidFill>
                <a:latin typeface="Montserrat"/>
                <a:ea typeface="Montserrat"/>
                <a:cs typeface="Montserrat"/>
                <a:sym typeface="Montserrat"/>
              </a:rPr>
              <a:t>La Infraestructura como Código es una </a:t>
            </a:r>
            <a:r>
              <a:rPr b="1" i="0" lang="es" sz="900" u="none" cap="none" strike="noStrike">
                <a:solidFill>
                  <a:srgbClr val="ED7D31"/>
                </a:solidFill>
                <a:latin typeface="Montserrat"/>
                <a:ea typeface="Montserrat"/>
                <a:cs typeface="Montserrat"/>
                <a:sym typeface="Montserrat"/>
              </a:rPr>
              <a:t>práctica en la que se utilizan scripts o programas para automatizar la creación y gestión de infraestructura de TI, </a:t>
            </a:r>
            <a:r>
              <a:rPr b="0" i="0" lang="es" sz="900" u="none" cap="none" strike="noStrike">
                <a:solidFill>
                  <a:srgbClr val="000000"/>
                </a:solidFill>
                <a:latin typeface="Montserrat"/>
                <a:ea typeface="Montserrat"/>
                <a:cs typeface="Montserrat"/>
                <a:sym typeface="Montserrat"/>
              </a:rPr>
              <a:t>permitiendo que las </a:t>
            </a:r>
            <a:r>
              <a:rPr b="1" i="0" lang="es" sz="900" u="none" cap="none" strike="noStrike">
                <a:solidFill>
                  <a:srgbClr val="ED7D31"/>
                </a:solidFill>
                <a:latin typeface="Montserrat"/>
                <a:ea typeface="Montserrat"/>
                <a:cs typeface="Montserrat"/>
                <a:sym typeface="Montserrat"/>
              </a:rPr>
              <a:t>configuraciones de servidores y sistemas sean tan reproducibles y manejables</a:t>
            </a:r>
            <a:r>
              <a:rPr b="0" i="0" lang="es" sz="900" u="none" cap="none" strike="noStrike">
                <a:solidFill>
                  <a:srgbClr val="000000"/>
                </a:solidFill>
                <a:latin typeface="Montserrat"/>
                <a:ea typeface="Montserrat"/>
                <a:cs typeface="Montserrat"/>
                <a:sym typeface="Montserrat"/>
              </a:rPr>
              <a:t> como el propio código de software.</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800"/>
              </a:spcBef>
              <a:spcAft>
                <a:spcPts val="0"/>
              </a:spcAft>
              <a:buClr>
                <a:srgbClr val="000000"/>
              </a:buClr>
              <a:buSzPts val="900"/>
              <a:buFont typeface="Arial"/>
              <a:buAutoNum type="arabicPeriod"/>
            </a:pPr>
            <a:r>
              <a:rPr b="0" i="0" lang="es" sz="900" u="none" cap="none" strike="noStrike">
                <a:solidFill>
                  <a:srgbClr val="000000"/>
                </a:solidFill>
                <a:latin typeface="Montserrat"/>
                <a:ea typeface="Montserrat"/>
                <a:cs typeface="Montserrat"/>
                <a:sym typeface="Montserrat"/>
              </a:rPr>
              <a:t>DevSecOps es el </a:t>
            </a:r>
            <a:r>
              <a:rPr b="1" i="0" lang="es" sz="900" u="none" cap="none" strike="noStrike">
                <a:solidFill>
                  <a:srgbClr val="ED7D31"/>
                </a:solidFill>
                <a:latin typeface="Montserrat"/>
                <a:ea typeface="Montserrat"/>
                <a:cs typeface="Montserrat"/>
                <a:sym typeface="Montserrat"/>
              </a:rPr>
              <a:t>enfoque de incluir prácticas de seguridad en el proceso de desarrollo y operaciones de software</a:t>
            </a:r>
            <a:r>
              <a:rPr b="0" i="0" lang="es" sz="900" u="none" cap="none" strike="noStrike">
                <a:solidFill>
                  <a:srgbClr val="000000"/>
                </a:solidFill>
                <a:latin typeface="Montserrat"/>
                <a:ea typeface="Montserrat"/>
                <a:cs typeface="Montserrat"/>
                <a:sym typeface="Montserrat"/>
              </a:rPr>
              <a:t>, fomentando la </a:t>
            </a:r>
            <a:r>
              <a:rPr b="1" i="0" lang="es" sz="900" u="none" cap="none" strike="noStrike">
                <a:solidFill>
                  <a:srgbClr val="ED7D31"/>
                </a:solidFill>
                <a:latin typeface="Montserrat"/>
                <a:ea typeface="Montserrat"/>
                <a:cs typeface="Montserrat"/>
                <a:sym typeface="Montserrat"/>
              </a:rPr>
              <a:t>colaboración</a:t>
            </a:r>
            <a:r>
              <a:rPr b="0" i="0" lang="es" sz="900" u="none" cap="none" strike="noStrike">
                <a:solidFill>
                  <a:srgbClr val="000000"/>
                </a:solidFill>
                <a:latin typeface="Montserrat"/>
                <a:ea typeface="Montserrat"/>
                <a:cs typeface="Montserrat"/>
                <a:sym typeface="Montserrat"/>
              </a:rPr>
              <a:t> entre todos los equipos involucrados para </a:t>
            </a:r>
            <a:r>
              <a:rPr b="1" i="0" lang="es" sz="900" u="none" cap="none" strike="noStrike">
                <a:solidFill>
                  <a:srgbClr val="ED7D31"/>
                </a:solidFill>
                <a:latin typeface="Montserrat"/>
                <a:ea typeface="Montserrat"/>
                <a:cs typeface="Montserrat"/>
                <a:sym typeface="Montserrat"/>
              </a:rPr>
              <a:t>crear un producto más seguro y eficiente</a:t>
            </a:r>
            <a:r>
              <a:rPr b="0" i="0" lang="es" sz="900" u="none" cap="none" strike="noStrike">
                <a:solidFill>
                  <a:srgbClr val="000000"/>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800"/>
              </a:spcBef>
              <a:spcAft>
                <a:spcPts val="0"/>
              </a:spcAft>
              <a:buClr>
                <a:srgbClr val="000000"/>
              </a:buClr>
              <a:buSzPts val="900"/>
              <a:buFont typeface="Arial"/>
              <a:buAutoNum type="arabicPeriod"/>
            </a:pPr>
            <a:r>
              <a:rPr b="0" i="0" lang="es" sz="900" u="none" cap="none" strike="noStrike">
                <a:solidFill>
                  <a:srgbClr val="000000"/>
                </a:solidFill>
                <a:latin typeface="Montserrat"/>
                <a:ea typeface="Montserrat"/>
                <a:cs typeface="Montserrat"/>
                <a:sym typeface="Montserrat"/>
              </a:rPr>
              <a:t>Utilizartemos </a:t>
            </a:r>
            <a:r>
              <a:rPr b="1" i="0" lang="es" sz="900" u="none" cap="none" strike="noStrike">
                <a:solidFill>
                  <a:srgbClr val="ED7D31"/>
                </a:solidFill>
                <a:latin typeface="Montserrat"/>
                <a:ea typeface="Montserrat"/>
                <a:cs typeface="Montserrat"/>
                <a:sym typeface="Montserrat"/>
              </a:rPr>
              <a:t>el patrón "Strangler Fig" o "Higuera Estranguladora"</a:t>
            </a:r>
            <a:r>
              <a:rPr b="0" i="0" lang="es" sz="900" u="none" cap="none" strike="noStrike">
                <a:solidFill>
                  <a:srgbClr val="000000"/>
                </a:solidFill>
                <a:latin typeface="Montserrat"/>
                <a:ea typeface="Montserrat"/>
                <a:cs typeface="Montserrat"/>
                <a:sym typeface="Montserrat"/>
              </a:rPr>
              <a:t> como una estrategia de desarrollo de software para </a:t>
            </a:r>
            <a:r>
              <a:rPr b="1" i="0" lang="es" sz="900" u="none" cap="none" strike="noStrike">
                <a:solidFill>
                  <a:srgbClr val="ED7D31"/>
                </a:solidFill>
                <a:latin typeface="Montserrat"/>
                <a:ea typeface="Montserrat"/>
                <a:cs typeface="Montserrat"/>
                <a:sym typeface="Montserrat"/>
              </a:rPr>
              <a:t>reemplazar gradualmente </a:t>
            </a:r>
            <a:r>
              <a:rPr b="0" i="0" lang="es" sz="900" u="none" cap="none" strike="noStrike">
                <a:solidFill>
                  <a:srgbClr val="000000"/>
                </a:solidFill>
                <a:latin typeface="Montserrat"/>
                <a:ea typeface="Montserrat"/>
                <a:cs typeface="Montserrat"/>
                <a:sym typeface="Montserrat"/>
              </a:rPr>
              <a:t>un sistema PISA con Temenos. </a:t>
            </a:r>
            <a:r>
              <a:rPr b="0" i="0" lang="es" sz="900" u="sng" cap="none" strike="noStrike">
                <a:solidFill>
                  <a:srgbClr val="ED7D31"/>
                </a:solidFill>
                <a:latin typeface="Montserrat"/>
                <a:ea typeface="Montserrat"/>
                <a:cs typeface="Montserrat"/>
                <a:sym typeface="Montserrat"/>
              </a:rPr>
              <a:t>Al igual que una higuera estranguladora </a:t>
            </a:r>
            <a:r>
              <a:rPr b="0" i="0" lang="es" sz="900" u="none" cap="none" strike="noStrike">
                <a:solidFill>
                  <a:srgbClr val="000000"/>
                </a:solidFill>
                <a:latin typeface="Montserrat"/>
                <a:ea typeface="Montserrat"/>
                <a:cs typeface="Montserrat"/>
                <a:sym typeface="Montserrat"/>
              </a:rPr>
              <a:t>envuelve lentamente un árbol hasta reemplazarlo, esta estrategia implica </a:t>
            </a:r>
            <a:r>
              <a:rPr b="1" i="0" lang="es" sz="900" u="none" cap="none" strike="noStrike">
                <a:solidFill>
                  <a:srgbClr val="ED7D31"/>
                </a:solidFill>
                <a:latin typeface="Montserrat"/>
                <a:ea typeface="Montserrat"/>
                <a:cs typeface="Montserrat"/>
                <a:sym typeface="Montserrat"/>
              </a:rPr>
              <a:t>construir el nuevo sistema alrededor del antiguo</a:t>
            </a:r>
            <a:r>
              <a:rPr b="0" i="0" lang="es" sz="900" u="none" cap="none" strike="noStrike">
                <a:solidFill>
                  <a:srgbClr val="000000"/>
                </a:solidFill>
                <a:latin typeface="Montserrat"/>
                <a:ea typeface="Montserrat"/>
                <a:cs typeface="Montserrat"/>
                <a:sym typeface="Montserrat"/>
              </a:rPr>
              <a:t>, y luego </a:t>
            </a:r>
            <a:r>
              <a:rPr b="1" i="0" lang="es" sz="900" u="none" cap="none" strike="noStrike">
                <a:solidFill>
                  <a:srgbClr val="ED7D31"/>
                </a:solidFill>
                <a:latin typeface="Montserrat"/>
                <a:ea typeface="Montserrat"/>
                <a:cs typeface="Montserrat"/>
                <a:sym typeface="Montserrat"/>
              </a:rPr>
              <a:t>ir desactivando gradualmente las partes del sistema antiguo a medida</a:t>
            </a:r>
            <a:r>
              <a:rPr b="0" i="0" lang="es" sz="900" u="none" cap="none" strike="noStrike">
                <a:solidFill>
                  <a:srgbClr val="000000"/>
                </a:solidFill>
                <a:latin typeface="Montserrat"/>
                <a:ea typeface="Montserrat"/>
                <a:cs typeface="Montserrat"/>
                <a:sym typeface="Montserrat"/>
              </a:rPr>
              <a:t> que </a:t>
            </a:r>
            <a:r>
              <a:rPr b="1" i="0" lang="es" sz="900" u="none" cap="none" strike="noStrike">
                <a:solidFill>
                  <a:srgbClr val="ED7D31"/>
                </a:solidFill>
                <a:latin typeface="Montserrat"/>
                <a:ea typeface="Montserrat"/>
                <a:cs typeface="Montserrat"/>
                <a:sym typeface="Montserrat"/>
              </a:rPr>
              <a:t>sus funciones se replican </a:t>
            </a:r>
            <a:r>
              <a:rPr b="0" i="0" lang="es" sz="900" u="none" cap="none" strike="noStrike">
                <a:solidFill>
                  <a:srgbClr val="000000"/>
                </a:solidFill>
                <a:latin typeface="Montserrat"/>
                <a:ea typeface="Montserrat"/>
                <a:cs typeface="Montserrat"/>
                <a:sym typeface="Montserrat"/>
              </a:rPr>
              <a:t>en el nuevo sistema. También se conoce como “ByPass”</a:t>
            </a:r>
            <a:endParaRPr b="0" i="0" sz="1400" u="none" cap="none" strike="noStrike">
              <a:solidFill>
                <a:srgbClr val="000000"/>
              </a:solidFill>
              <a:latin typeface="Arial"/>
              <a:ea typeface="Arial"/>
              <a:cs typeface="Arial"/>
              <a:sym typeface="Arial"/>
            </a:endParaRPr>
          </a:p>
        </p:txBody>
      </p:sp>
      <p:pic>
        <p:nvPicPr>
          <p:cNvPr descr="Arrow: Slight curve con relleno sólido" id="970" name="Google Shape;970;p20"/>
          <p:cNvPicPr preferRelativeResize="0"/>
          <p:nvPr/>
        </p:nvPicPr>
        <p:blipFill rotWithShape="1">
          <a:blip r:embed="rId8">
            <a:alphaModFix/>
          </a:blip>
          <a:srcRect b="0" l="0" r="0" t="0"/>
          <a:stretch/>
        </p:blipFill>
        <p:spPr>
          <a:xfrm>
            <a:off x="2909151" y="1777199"/>
            <a:ext cx="552605" cy="552605"/>
          </a:xfrm>
          <a:prstGeom prst="rect">
            <a:avLst/>
          </a:prstGeom>
          <a:noFill/>
          <a:ln>
            <a:noFill/>
          </a:ln>
        </p:spPr>
      </p:pic>
      <p:pic>
        <p:nvPicPr>
          <p:cNvPr descr="Arrow: Slight curve con relleno sólido" id="971" name="Google Shape;971;p20"/>
          <p:cNvPicPr preferRelativeResize="0"/>
          <p:nvPr/>
        </p:nvPicPr>
        <p:blipFill rotWithShape="1">
          <a:blip r:embed="rId8">
            <a:alphaModFix/>
          </a:blip>
          <a:srcRect b="0" l="0" r="0" t="0"/>
          <a:stretch/>
        </p:blipFill>
        <p:spPr>
          <a:xfrm>
            <a:off x="2909151" y="2719687"/>
            <a:ext cx="552605" cy="552605"/>
          </a:xfrm>
          <a:prstGeom prst="rect">
            <a:avLst/>
          </a:prstGeom>
          <a:noFill/>
          <a:ln>
            <a:noFill/>
          </a:ln>
        </p:spPr>
      </p:pic>
      <p:pic>
        <p:nvPicPr>
          <p:cNvPr descr="Arrow: Slight curve con relleno sólido" id="972" name="Google Shape;972;p20"/>
          <p:cNvPicPr preferRelativeResize="0"/>
          <p:nvPr/>
        </p:nvPicPr>
        <p:blipFill rotWithShape="1">
          <a:blip r:embed="rId8">
            <a:alphaModFix/>
          </a:blip>
          <a:srcRect b="0" l="0" r="0" t="0"/>
          <a:stretch/>
        </p:blipFill>
        <p:spPr>
          <a:xfrm>
            <a:off x="2909151" y="3669585"/>
            <a:ext cx="552605" cy="552605"/>
          </a:xfrm>
          <a:prstGeom prst="rect">
            <a:avLst/>
          </a:prstGeom>
          <a:noFill/>
          <a:ln>
            <a:noFill/>
          </a:ln>
        </p:spPr>
      </p:pic>
      <p:grpSp>
        <p:nvGrpSpPr>
          <p:cNvPr id="973" name="Google Shape;973;p20"/>
          <p:cNvGrpSpPr/>
          <p:nvPr/>
        </p:nvGrpSpPr>
        <p:grpSpPr>
          <a:xfrm>
            <a:off x="440040" y="1287986"/>
            <a:ext cx="2744229" cy="3046227"/>
            <a:chOff x="440040" y="1287986"/>
            <a:chExt cx="2744229" cy="3046227"/>
          </a:xfrm>
        </p:grpSpPr>
        <p:sp>
          <p:nvSpPr>
            <p:cNvPr id="974" name="Google Shape;974;p20"/>
            <p:cNvSpPr txBox="1"/>
            <p:nvPr/>
          </p:nvSpPr>
          <p:spPr>
            <a:xfrm>
              <a:off x="445423" y="1287986"/>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CF36"/>
                </a:buClr>
                <a:buSzPts val="700"/>
                <a:buFont typeface="Arial"/>
                <a:buNone/>
              </a:pPr>
              <a:r>
                <a:rPr b="1" i="0" lang="es" sz="700" u="none" cap="none" strike="noStrike">
                  <a:solidFill>
                    <a:srgbClr val="171717"/>
                  </a:solidFill>
                  <a:latin typeface="Montserrat"/>
                  <a:ea typeface="Montserrat"/>
                  <a:cs typeface="Montserrat"/>
                  <a:sym typeface="Montserrat"/>
                </a:rPr>
                <a:t>Homologación de Ambientes</a:t>
              </a:r>
              <a:endParaRPr b="0" i="0" sz="900" u="none" cap="none" strike="noStrike">
                <a:solidFill>
                  <a:srgbClr val="171717"/>
                </a:solidFill>
                <a:latin typeface="Arial"/>
                <a:ea typeface="Arial"/>
                <a:cs typeface="Arial"/>
                <a:sym typeface="Arial"/>
              </a:endParaRPr>
            </a:p>
          </p:txBody>
        </p:sp>
        <p:sp>
          <p:nvSpPr>
            <p:cNvPr id="975" name="Google Shape;975;p20"/>
            <p:cNvSpPr txBox="1"/>
            <p:nvPr/>
          </p:nvSpPr>
          <p:spPr>
            <a:xfrm>
              <a:off x="445423" y="2362794"/>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Dev Sec Ops</a:t>
              </a:r>
              <a:endParaRPr b="1" i="0" sz="900" u="none" cap="none" strike="noStrike">
                <a:solidFill>
                  <a:srgbClr val="000000"/>
                </a:solidFill>
                <a:latin typeface="Arial"/>
                <a:ea typeface="Arial"/>
                <a:cs typeface="Arial"/>
                <a:sym typeface="Arial"/>
              </a:endParaRPr>
            </a:p>
          </p:txBody>
        </p:sp>
        <p:sp>
          <p:nvSpPr>
            <p:cNvPr id="976" name="Google Shape;976;p20"/>
            <p:cNvSpPr txBox="1"/>
            <p:nvPr/>
          </p:nvSpPr>
          <p:spPr>
            <a:xfrm>
              <a:off x="444580" y="3305753"/>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3DB9E5"/>
                </a:buClr>
                <a:buSzPts val="700"/>
                <a:buFont typeface="Arial"/>
                <a:buNone/>
              </a:pPr>
              <a:r>
                <a:rPr b="1" i="0" lang="es" sz="700" u="none" cap="none" strike="noStrike">
                  <a:solidFill>
                    <a:srgbClr val="171717"/>
                  </a:solidFill>
                  <a:latin typeface="Montserrat"/>
                  <a:ea typeface="Montserrat"/>
                  <a:cs typeface="Montserrat"/>
                  <a:sym typeface="Montserrat"/>
                </a:rPr>
                <a:t>Interfaces Temporales</a:t>
              </a:r>
              <a:endParaRPr b="0" i="0" sz="900" u="none" cap="none" strike="noStrike">
                <a:solidFill>
                  <a:srgbClr val="000000"/>
                </a:solidFill>
                <a:latin typeface="Arial"/>
                <a:ea typeface="Arial"/>
                <a:cs typeface="Arial"/>
                <a:sym typeface="Arial"/>
              </a:endParaRPr>
            </a:p>
          </p:txBody>
        </p:sp>
        <p:sp>
          <p:nvSpPr>
            <p:cNvPr id="977" name="Google Shape;977;p20"/>
            <p:cNvSpPr txBox="1"/>
            <p:nvPr/>
          </p:nvSpPr>
          <p:spPr>
            <a:xfrm>
              <a:off x="444580" y="1517174"/>
              <a:ext cx="2731203" cy="920593"/>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Creación de Ambientes (Infraestructure as Code) IaC</a:t>
              </a:r>
              <a:endParaRPr b="1" i="0" sz="7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Ambientación Automática de Datos</a:t>
              </a:r>
              <a:endParaRPr b="1" i="0" sz="7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Ambientes dedicados para Desarrollo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Ambientes dedicados para Integración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Ambientes dedicados para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Ambientes dedicados para Simular Producción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Ambiente Productivo</a:t>
              </a:r>
              <a:endParaRPr b="1" i="0" sz="700" u="none" cap="none" strike="noStrike">
                <a:solidFill>
                  <a:srgbClr val="000000"/>
                </a:solidFill>
                <a:latin typeface="Montserrat"/>
                <a:ea typeface="Montserrat"/>
                <a:cs typeface="Montserrat"/>
                <a:sym typeface="Montserrat"/>
              </a:endParaRPr>
            </a:p>
          </p:txBody>
        </p:sp>
        <p:sp>
          <p:nvSpPr>
            <p:cNvPr id="978" name="Google Shape;978;p20"/>
            <p:cNvSpPr txBox="1"/>
            <p:nvPr/>
          </p:nvSpPr>
          <p:spPr>
            <a:xfrm>
              <a:off x="444580" y="2590801"/>
              <a:ext cx="2731203" cy="675679"/>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Integración de Componentes Automática</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Validación de Calidad de Código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Validación de Seguridad de Código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Automatización de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Validación Automática de Resultados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Puesta en Producción sin fricciones</a:t>
              </a:r>
              <a:endParaRPr b="0" i="0" sz="1400" u="none" cap="none" strike="noStrike">
                <a:solidFill>
                  <a:srgbClr val="000000"/>
                </a:solidFill>
                <a:latin typeface="Arial"/>
                <a:ea typeface="Arial"/>
                <a:cs typeface="Arial"/>
                <a:sym typeface="Arial"/>
              </a:endParaRPr>
            </a:p>
            <a:p>
              <a:pPr indent="-50800" lvl="0" marL="88900" marR="0" rtl="0" algn="l">
                <a:lnSpc>
                  <a:spcPct val="100000"/>
                </a:lnSpc>
                <a:spcBef>
                  <a:spcPts val="0"/>
                </a:spcBef>
                <a:spcAft>
                  <a:spcPts val="0"/>
                </a:spcAft>
                <a:buClr>
                  <a:srgbClr val="000000"/>
                </a:buClr>
                <a:buSzPts val="600"/>
                <a:buFont typeface="Inter"/>
                <a:buNone/>
              </a:pPr>
              <a:r>
                <a:t/>
              </a:r>
              <a:endParaRPr b="1" i="0" sz="700" u="none" cap="none" strike="noStrike">
                <a:solidFill>
                  <a:srgbClr val="000000"/>
                </a:solidFill>
                <a:latin typeface="Montserrat"/>
                <a:ea typeface="Montserrat"/>
                <a:cs typeface="Montserrat"/>
                <a:sym typeface="Montserrat"/>
              </a:endParaRPr>
            </a:p>
          </p:txBody>
        </p:sp>
        <p:sp>
          <p:nvSpPr>
            <p:cNvPr id="979" name="Google Shape;979;p20"/>
            <p:cNvSpPr/>
            <p:nvPr/>
          </p:nvSpPr>
          <p:spPr>
            <a:xfrm>
              <a:off x="446665" y="155366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20"/>
            <p:cNvSpPr/>
            <p:nvPr/>
          </p:nvSpPr>
          <p:spPr>
            <a:xfrm>
              <a:off x="446665" y="1673863"/>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20"/>
            <p:cNvSpPr/>
            <p:nvPr/>
          </p:nvSpPr>
          <p:spPr>
            <a:xfrm>
              <a:off x="446665" y="179769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0"/>
            <p:cNvSpPr/>
            <p:nvPr/>
          </p:nvSpPr>
          <p:spPr>
            <a:xfrm>
              <a:off x="446665" y="192075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20"/>
            <p:cNvSpPr/>
            <p:nvPr/>
          </p:nvSpPr>
          <p:spPr>
            <a:xfrm>
              <a:off x="446665" y="204094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20"/>
            <p:cNvSpPr/>
            <p:nvPr/>
          </p:nvSpPr>
          <p:spPr>
            <a:xfrm>
              <a:off x="446665" y="216478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20"/>
            <p:cNvSpPr/>
            <p:nvPr/>
          </p:nvSpPr>
          <p:spPr>
            <a:xfrm>
              <a:off x="446665" y="226947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0"/>
            <p:cNvSpPr/>
            <p:nvPr/>
          </p:nvSpPr>
          <p:spPr>
            <a:xfrm>
              <a:off x="446665" y="2628423"/>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20"/>
            <p:cNvSpPr/>
            <p:nvPr/>
          </p:nvSpPr>
          <p:spPr>
            <a:xfrm>
              <a:off x="446665" y="274862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20"/>
            <p:cNvSpPr/>
            <p:nvPr/>
          </p:nvSpPr>
          <p:spPr>
            <a:xfrm>
              <a:off x="446665" y="284064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20"/>
            <p:cNvSpPr/>
            <p:nvPr/>
          </p:nvSpPr>
          <p:spPr>
            <a:xfrm>
              <a:off x="446665" y="295575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20"/>
            <p:cNvSpPr/>
            <p:nvPr/>
          </p:nvSpPr>
          <p:spPr>
            <a:xfrm>
              <a:off x="446665" y="305209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20"/>
            <p:cNvSpPr/>
            <p:nvPr/>
          </p:nvSpPr>
          <p:spPr>
            <a:xfrm>
              <a:off x="446665" y="316797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20"/>
            <p:cNvSpPr txBox="1"/>
            <p:nvPr/>
          </p:nvSpPr>
          <p:spPr>
            <a:xfrm>
              <a:off x="444580" y="3546511"/>
              <a:ext cx="2731203" cy="787702"/>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Identificación de funciones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Diseño del proceso de Desacoplamiento y Apificación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Implementación paulatina de las interfaces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Redireccionamiento de datos y flujos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Validación y ajustes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Replicación Gradual con todas las interfaces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Reemplazo de PISA</a:t>
              </a:r>
              <a:endParaRPr b="0" i="0" sz="1400" u="none" cap="none" strike="noStrike">
                <a:solidFill>
                  <a:srgbClr val="000000"/>
                </a:solidFill>
                <a:latin typeface="Arial"/>
                <a:ea typeface="Arial"/>
                <a:cs typeface="Arial"/>
                <a:sym typeface="Arial"/>
              </a:endParaRPr>
            </a:p>
            <a:p>
              <a:pPr indent="-50800" lvl="0" marL="88900" marR="0" rtl="0" algn="l">
                <a:lnSpc>
                  <a:spcPct val="100000"/>
                </a:lnSpc>
                <a:spcBef>
                  <a:spcPts val="0"/>
                </a:spcBef>
                <a:spcAft>
                  <a:spcPts val="0"/>
                </a:spcAft>
                <a:buClr>
                  <a:srgbClr val="000000"/>
                </a:buClr>
                <a:buSzPts val="600"/>
                <a:buFont typeface="Inter"/>
                <a:buNone/>
              </a:pPr>
              <a:r>
                <a:t/>
              </a:r>
              <a:endParaRPr b="1" i="0" sz="700" u="none" cap="none" strike="noStrike">
                <a:solidFill>
                  <a:srgbClr val="000000"/>
                </a:solidFill>
                <a:latin typeface="Montserrat"/>
                <a:ea typeface="Montserrat"/>
                <a:cs typeface="Montserrat"/>
                <a:sym typeface="Montserrat"/>
              </a:endParaRPr>
            </a:p>
          </p:txBody>
        </p:sp>
        <p:sp>
          <p:nvSpPr>
            <p:cNvPr id="993" name="Google Shape;993;p20"/>
            <p:cNvSpPr/>
            <p:nvPr/>
          </p:nvSpPr>
          <p:spPr>
            <a:xfrm>
              <a:off x="440040" y="358390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20"/>
            <p:cNvSpPr/>
            <p:nvPr/>
          </p:nvSpPr>
          <p:spPr>
            <a:xfrm>
              <a:off x="440040" y="370410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20"/>
            <p:cNvSpPr/>
            <p:nvPr/>
          </p:nvSpPr>
          <p:spPr>
            <a:xfrm>
              <a:off x="440040" y="379613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20"/>
            <p:cNvSpPr/>
            <p:nvPr/>
          </p:nvSpPr>
          <p:spPr>
            <a:xfrm>
              <a:off x="440040" y="391123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20"/>
            <p:cNvSpPr/>
            <p:nvPr/>
          </p:nvSpPr>
          <p:spPr>
            <a:xfrm>
              <a:off x="440040" y="400758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20"/>
            <p:cNvSpPr/>
            <p:nvPr/>
          </p:nvSpPr>
          <p:spPr>
            <a:xfrm>
              <a:off x="440040" y="4123463"/>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20"/>
            <p:cNvSpPr/>
            <p:nvPr/>
          </p:nvSpPr>
          <p:spPr>
            <a:xfrm>
              <a:off x="441366" y="422815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21"/>
          <p:cNvSpPr txBox="1"/>
          <p:nvPr/>
        </p:nvSpPr>
        <p:spPr>
          <a:xfrm>
            <a:off x="384511" y="110211"/>
            <a:ext cx="7322616" cy="290387"/>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265AA7"/>
                </a:solidFill>
                <a:latin typeface="Montserrat"/>
                <a:ea typeface="Montserrat"/>
                <a:cs typeface="Montserrat"/>
                <a:sym typeface="Montserrat"/>
              </a:rPr>
              <a:t>6. Capacidades Básicas de TI (2/2)</a:t>
            </a:r>
            <a:endParaRPr b="0" i="0" sz="900" u="none" cap="none" strike="noStrike">
              <a:solidFill>
                <a:srgbClr val="000000"/>
              </a:solidFill>
              <a:latin typeface="Arial"/>
              <a:ea typeface="Arial"/>
              <a:cs typeface="Arial"/>
              <a:sym typeface="Arial"/>
            </a:endParaRPr>
          </a:p>
        </p:txBody>
      </p:sp>
      <p:sp>
        <p:nvSpPr>
          <p:cNvPr id="1005" name="Google Shape;1005;p21"/>
          <p:cNvSpPr/>
          <p:nvPr/>
        </p:nvSpPr>
        <p:spPr>
          <a:xfrm>
            <a:off x="436629" y="894546"/>
            <a:ext cx="8554826" cy="382287"/>
          </a:xfrm>
          <a:custGeom>
            <a:rect b="b" l="l" r="r" t="t"/>
            <a:pathLst>
              <a:path extrusionOk="0" h="365760" w="5486400">
                <a:moveTo>
                  <a:pt x="5390311" y="0"/>
                </a:moveTo>
                <a:lnTo>
                  <a:pt x="0" y="0"/>
                </a:lnTo>
                <a:lnTo>
                  <a:pt x="0" y="365759"/>
                </a:lnTo>
                <a:lnTo>
                  <a:pt x="5390311" y="365759"/>
                </a:lnTo>
                <a:lnTo>
                  <a:pt x="5486400" y="182879"/>
                </a:lnTo>
                <a:lnTo>
                  <a:pt x="53903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s" sz="900" u="none" cap="none" strike="noStrike">
                <a:solidFill>
                  <a:srgbClr val="FFFFFF"/>
                </a:solidFill>
                <a:latin typeface="Montserrat"/>
                <a:ea typeface="Montserrat"/>
                <a:cs typeface="Montserrat"/>
                <a:sym typeface="Montserrat"/>
              </a:rPr>
              <a:t>6. Capacidades Básicas</a:t>
            </a:r>
            <a:endParaRPr b="0" i="0" sz="900" u="none" cap="none" strike="noStrike">
              <a:solidFill>
                <a:srgbClr val="000000"/>
              </a:solidFill>
              <a:latin typeface="Arial"/>
              <a:ea typeface="Arial"/>
              <a:cs typeface="Arial"/>
              <a:sym typeface="Arial"/>
            </a:endParaRPr>
          </a:p>
        </p:txBody>
      </p:sp>
      <p:sp>
        <p:nvSpPr>
          <p:cNvPr id="1006" name="Google Shape;1006;p21"/>
          <p:cNvSpPr txBox="1"/>
          <p:nvPr/>
        </p:nvSpPr>
        <p:spPr>
          <a:xfrm>
            <a:off x="445423" y="1287986"/>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CF36"/>
              </a:buClr>
              <a:buSzPts val="700"/>
              <a:buFont typeface="Arial"/>
              <a:buNone/>
            </a:pPr>
            <a:r>
              <a:rPr b="1" i="0" lang="es" sz="700" u="none" cap="none" strike="noStrike">
                <a:solidFill>
                  <a:srgbClr val="171717"/>
                </a:solidFill>
                <a:latin typeface="Montserrat"/>
                <a:ea typeface="Montserrat"/>
                <a:cs typeface="Montserrat"/>
                <a:sym typeface="Montserrat"/>
              </a:rPr>
              <a:t>Homologación de Ambientes</a:t>
            </a:r>
            <a:endParaRPr b="0" i="0" sz="900" u="none" cap="none" strike="noStrike">
              <a:solidFill>
                <a:srgbClr val="171717"/>
              </a:solidFill>
              <a:latin typeface="Arial"/>
              <a:ea typeface="Arial"/>
              <a:cs typeface="Arial"/>
              <a:sym typeface="Arial"/>
            </a:endParaRPr>
          </a:p>
        </p:txBody>
      </p:sp>
      <p:sp>
        <p:nvSpPr>
          <p:cNvPr id="1007" name="Google Shape;1007;p21"/>
          <p:cNvSpPr txBox="1"/>
          <p:nvPr/>
        </p:nvSpPr>
        <p:spPr>
          <a:xfrm>
            <a:off x="444580" y="1520084"/>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000000"/>
                </a:solidFill>
                <a:latin typeface="Montserrat"/>
                <a:ea typeface="Montserrat"/>
                <a:cs typeface="Montserrat"/>
                <a:sym typeface="Montserrat"/>
              </a:rPr>
              <a:t>Dev Sec Ops</a:t>
            </a:r>
            <a:endParaRPr b="1" i="0" sz="900" u="none" cap="none" strike="noStrike">
              <a:solidFill>
                <a:srgbClr val="000000"/>
              </a:solidFill>
              <a:latin typeface="Arial"/>
              <a:ea typeface="Arial"/>
              <a:cs typeface="Arial"/>
              <a:sym typeface="Arial"/>
            </a:endParaRPr>
          </a:p>
        </p:txBody>
      </p:sp>
      <p:sp>
        <p:nvSpPr>
          <p:cNvPr id="1008" name="Google Shape;1008;p21"/>
          <p:cNvSpPr txBox="1"/>
          <p:nvPr/>
        </p:nvSpPr>
        <p:spPr>
          <a:xfrm>
            <a:off x="444580" y="1757087"/>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3DB9E5"/>
              </a:buClr>
              <a:buSzPts val="700"/>
              <a:buFont typeface="Arial"/>
              <a:buNone/>
            </a:pPr>
            <a:r>
              <a:rPr b="1" i="0" lang="es" sz="700" u="none" cap="none" strike="noStrike">
                <a:solidFill>
                  <a:srgbClr val="171717"/>
                </a:solidFill>
                <a:latin typeface="Montserrat"/>
                <a:ea typeface="Montserrat"/>
                <a:cs typeface="Montserrat"/>
                <a:sym typeface="Montserrat"/>
              </a:rPr>
              <a:t>Interfaces Temporales</a:t>
            </a:r>
            <a:endParaRPr b="0" i="0" sz="900" u="none" cap="none" strike="noStrike">
              <a:solidFill>
                <a:srgbClr val="000000"/>
              </a:solidFill>
              <a:latin typeface="Arial"/>
              <a:ea typeface="Arial"/>
              <a:cs typeface="Arial"/>
              <a:sym typeface="Arial"/>
            </a:endParaRPr>
          </a:p>
        </p:txBody>
      </p:sp>
      <p:sp>
        <p:nvSpPr>
          <p:cNvPr id="1009" name="Google Shape;1009;p21"/>
          <p:cNvSpPr txBox="1"/>
          <p:nvPr/>
        </p:nvSpPr>
        <p:spPr>
          <a:xfrm>
            <a:off x="461266" y="3016640"/>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777777"/>
              </a:buClr>
              <a:buSzPts val="700"/>
              <a:buFont typeface="Arial"/>
              <a:buNone/>
            </a:pPr>
            <a:r>
              <a:rPr b="1" i="0" lang="es" sz="700" u="none" cap="none" strike="noStrike">
                <a:solidFill>
                  <a:srgbClr val="171717"/>
                </a:solidFill>
                <a:latin typeface="Montserrat"/>
                <a:ea typeface="Montserrat"/>
                <a:cs typeface="Montserrat"/>
                <a:sym typeface="Montserrat"/>
              </a:rPr>
              <a:t>Apificación de Canales</a:t>
            </a:r>
            <a:endParaRPr b="0" i="0" sz="900" u="none" cap="none" strike="noStrike">
              <a:solidFill>
                <a:srgbClr val="000000"/>
              </a:solidFill>
              <a:latin typeface="Arial"/>
              <a:ea typeface="Arial"/>
              <a:cs typeface="Arial"/>
              <a:sym typeface="Arial"/>
            </a:endParaRPr>
          </a:p>
        </p:txBody>
      </p:sp>
      <p:sp>
        <p:nvSpPr>
          <p:cNvPr id="1010" name="Google Shape;1010;p21"/>
          <p:cNvSpPr txBox="1"/>
          <p:nvPr/>
        </p:nvSpPr>
        <p:spPr>
          <a:xfrm>
            <a:off x="440372" y="2006243"/>
            <a:ext cx="2738846" cy="214236"/>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s" sz="700" u="none" cap="none" strike="noStrike">
                <a:solidFill>
                  <a:srgbClr val="171717"/>
                </a:solidFill>
                <a:latin typeface="Montserrat"/>
                <a:ea typeface="Montserrat"/>
                <a:cs typeface="Montserrat"/>
                <a:sym typeface="Montserrat"/>
              </a:rPr>
              <a:t>Apificación de OfiWeb</a:t>
            </a:r>
            <a:endParaRPr b="1" i="0" sz="900" u="none" cap="none" strike="noStrike">
              <a:solidFill>
                <a:srgbClr val="171717"/>
              </a:solidFill>
              <a:latin typeface="Arial"/>
              <a:ea typeface="Arial"/>
              <a:cs typeface="Arial"/>
              <a:sym typeface="Arial"/>
            </a:endParaRPr>
          </a:p>
        </p:txBody>
      </p:sp>
      <p:grpSp>
        <p:nvGrpSpPr>
          <p:cNvPr id="1011" name="Google Shape;1011;p21"/>
          <p:cNvGrpSpPr/>
          <p:nvPr/>
        </p:nvGrpSpPr>
        <p:grpSpPr>
          <a:xfrm>
            <a:off x="3441286" y="1328324"/>
            <a:ext cx="5379444" cy="284741"/>
            <a:chOff x="3441286" y="1447589"/>
            <a:chExt cx="5379444" cy="284741"/>
          </a:xfrm>
        </p:grpSpPr>
        <p:grpSp>
          <p:nvGrpSpPr>
            <p:cNvPr id="1012" name="Google Shape;1012;p21"/>
            <p:cNvGrpSpPr/>
            <p:nvPr/>
          </p:nvGrpSpPr>
          <p:grpSpPr>
            <a:xfrm>
              <a:off x="3441286" y="1447589"/>
              <a:ext cx="1124914" cy="284741"/>
              <a:chOff x="1312424" y="2685531"/>
              <a:chExt cx="1499884" cy="320472"/>
            </a:xfrm>
          </p:grpSpPr>
          <p:grpSp>
            <p:nvGrpSpPr>
              <p:cNvPr id="1013" name="Google Shape;1013;p21"/>
              <p:cNvGrpSpPr/>
              <p:nvPr/>
            </p:nvGrpSpPr>
            <p:grpSpPr>
              <a:xfrm>
                <a:off x="1312424" y="2685531"/>
                <a:ext cx="1499884" cy="320472"/>
                <a:chOff x="13814589" y="1926698"/>
                <a:chExt cx="3463137" cy="804600"/>
              </a:xfrm>
            </p:grpSpPr>
            <p:sp>
              <p:nvSpPr>
                <p:cNvPr id="1014" name="Google Shape;1014;p21"/>
                <p:cNvSpPr/>
                <p:nvPr/>
              </p:nvSpPr>
              <p:spPr>
                <a:xfrm>
                  <a:off x="13832186" y="1977406"/>
                  <a:ext cx="3445540"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Homologación Ambientes</a:t>
                  </a:r>
                  <a:endParaRPr b="1" i="0" sz="700" u="none" cap="none" strike="noStrike">
                    <a:solidFill>
                      <a:srgbClr val="000000"/>
                    </a:solidFill>
                    <a:latin typeface="Arial"/>
                    <a:ea typeface="Arial"/>
                    <a:cs typeface="Arial"/>
                    <a:sym typeface="Arial"/>
                  </a:endParaRPr>
                </a:p>
              </p:txBody>
            </p:sp>
            <p:grpSp>
              <p:nvGrpSpPr>
                <p:cNvPr id="1015" name="Google Shape;1015;p21"/>
                <p:cNvGrpSpPr/>
                <p:nvPr/>
              </p:nvGrpSpPr>
              <p:grpSpPr>
                <a:xfrm>
                  <a:off x="14018731" y="2168949"/>
                  <a:ext cx="396177" cy="320504"/>
                  <a:chOff x="-3757613" y="5049838"/>
                  <a:chExt cx="5826126" cy="4713288"/>
                </a:xfrm>
              </p:grpSpPr>
              <p:sp>
                <p:nvSpPr>
                  <p:cNvPr id="1016" name="Google Shape;1016;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17" name="Google Shape;1017;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18" name="Google Shape;1018;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19" name="Google Shape;1019;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20" name="Google Shape;1020;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21" name="Google Shape;1021;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022" name="Google Shape;1022;p2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023" name="Google Shape;1023;p21"/>
              <p:cNvPicPr preferRelativeResize="0"/>
              <p:nvPr/>
            </p:nvPicPr>
            <p:blipFill rotWithShape="1">
              <a:blip r:embed="rId3">
                <a:alphaModFix/>
              </a:blip>
              <a:srcRect b="0" l="0" r="0" t="0"/>
              <a:stretch/>
            </p:blipFill>
            <p:spPr>
              <a:xfrm>
                <a:off x="1386520" y="2739156"/>
                <a:ext cx="243216" cy="223734"/>
              </a:xfrm>
              <a:prstGeom prst="rect">
                <a:avLst/>
              </a:prstGeom>
              <a:noFill/>
              <a:ln>
                <a:noFill/>
              </a:ln>
            </p:spPr>
          </p:pic>
        </p:grpSp>
        <p:grpSp>
          <p:nvGrpSpPr>
            <p:cNvPr id="1024" name="Google Shape;1024;p21"/>
            <p:cNvGrpSpPr/>
            <p:nvPr/>
          </p:nvGrpSpPr>
          <p:grpSpPr>
            <a:xfrm>
              <a:off x="4634436" y="1447589"/>
              <a:ext cx="1004218" cy="284741"/>
              <a:chOff x="2033700" y="2547726"/>
              <a:chExt cx="1338956" cy="320472"/>
            </a:xfrm>
          </p:grpSpPr>
          <p:grpSp>
            <p:nvGrpSpPr>
              <p:cNvPr id="1025" name="Google Shape;1025;p21"/>
              <p:cNvGrpSpPr/>
              <p:nvPr/>
            </p:nvGrpSpPr>
            <p:grpSpPr>
              <a:xfrm>
                <a:off x="2033700" y="2547726"/>
                <a:ext cx="1338956" cy="320472"/>
                <a:chOff x="13814589" y="1926698"/>
                <a:chExt cx="3091565" cy="804600"/>
              </a:xfrm>
            </p:grpSpPr>
            <p:sp>
              <p:nvSpPr>
                <p:cNvPr id="1026" name="Google Shape;1026;p21"/>
                <p:cNvSpPr/>
                <p:nvPr/>
              </p:nvSpPr>
              <p:spPr>
                <a:xfrm>
                  <a:off x="14062516" y="1977408"/>
                  <a:ext cx="2843638"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7938" marR="0" rtl="0" algn="ctr">
                    <a:lnSpc>
                      <a:spcPct val="100000"/>
                    </a:lnSpc>
                    <a:spcBef>
                      <a:spcPts val="0"/>
                    </a:spcBef>
                    <a:spcAft>
                      <a:spcPts val="0"/>
                    </a:spcAft>
                    <a:buClr>
                      <a:srgbClr val="000000"/>
                    </a:buClr>
                    <a:buSzPts val="700"/>
                    <a:buFont typeface="Arial"/>
                    <a:buNone/>
                  </a:pPr>
                  <a:r>
                    <a:rPr b="1" i="0" lang="es" sz="650" u="none" cap="none" strike="noStrike">
                      <a:solidFill>
                        <a:srgbClr val="FFFFFF"/>
                      </a:solidFill>
                      <a:latin typeface="Montserrat"/>
                      <a:ea typeface="Montserrat"/>
                      <a:cs typeface="Montserrat"/>
                      <a:sym typeface="Montserrat"/>
                    </a:rPr>
                    <a:t>Interfases Temporales</a:t>
                  </a:r>
                  <a:endParaRPr b="1" i="0" sz="650" u="none" cap="none" strike="noStrike">
                    <a:solidFill>
                      <a:srgbClr val="000000"/>
                    </a:solidFill>
                    <a:latin typeface="Arial"/>
                    <a:ea typeface="Arial"/>
                    <a:cs typeface="Arial"/>
                    <a:sym typeface="Arial"/>
                  </a:endParaRPr>
                </a:p>
              </p:txBody>
            </p:sp>
            <p:grpSp>
              <p:nvGrpSpPr>
                <p:cNvPr id="1027" name="Google Shape;1027;p21"/>
                <p:cNvGrpSpPr/>
                <p:nvPr/>
              </p:nvGrpSpPr>
              <p:grpSpPr>
                <a:xfrm>
                  <a:off x="14018731" y="2168949"/>
                  <a:ext cx="396177" cy="320504"/>
                  <a:chOff x="-3757613" y="5049838"/>
                  <a:chExt cx="5826126" cy="4713288"/>
                </a:xfrm>
              </p:grpSpPr>
              <p:sp>
                <p:nvSpPr>
                  <p:cNvPr id="1028" name="Google Shape;1028;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29" name="Google Shape;1029;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30" name="Google Shape;1030;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31" name="Google Shape;1031;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32" name="Google Shape;1032;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33" name="Google Shape;1033;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034" name="Google Shape;1034;p2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035" name="Google Shape;1035;p21"/>
              <p:cNvPicPr preferRelativeResize="0"/>
              <p:nvPr/>
            </p:nvPicPr>
            <p:blipFill rotWithShape="1">
              <a:blip r:embed="rId4">
                <a:alphaModFix/>
              </a:blip>
              <a:srcRect b="0" l="0" r="0" t="0"/>
              <a:stretch/>
            </p:blipFill>
            <p:spPr>
              <a:xfrm>
                <a:off x="2107092" y="2608047"/>
                <a:ext cx="201507" cy="185365"/>
              </a:xfrm>
              <a:prstGeom prst="rect">
                <a:avLst/>
              </a:prstGeom>
              <a:noFill/>
              <a:ln>
                <a:noFill/>
              </a:ln>
            </p:spPr>
          </p:pic>
        </p:grpSp>
        <p:grpSp>
          <p:nvGrpSpPr>
            <p:cNvPr id="1036" name="Google Shape;1036;p21"/>
            <p:cNvGrpSpPr/>
            <p:nvPr/>
          </p:nvGrpSpPr>
          <p:grpSpPr>
            <a:xfrm>
              <a:off x="7809198" y="1447589"/>
              <a:ext cx="1011532" cy="284741"/>
              <a:chOff x="5704390" y="3794681"/>
              <a:chExt cx="1348712" cy="320472"/>
            </a:xfrm>
          </p:grpSpPr>
          <p:grpSp>
            <p:nvGrpSpPr>
              <p:cNvPr id="1037" name="Google Shape;1037;p21"/>
              <p:cNvGrpSpPr/>
              <p:nvPr/>
            </p:nvGrpSpPr>
            <p:grpSpPr>
              <a:xfrm>
                <a:off x="5704390" y="3794681"/>
                <a:ext cx="1348712" cy="320472"/>
                <a:chOff x="13814589" y="1926698"/>
                <a:chExt cx="3114083" cy="804600"/>
              </a:xfrm>
            </p:grpSpPr>
            <p:sp>
              <p:nvSpPr>
                <p:cNvPr id="1038" name="Google Shape;1038;p21"/>
                <p:cNvSpPr/>
                <p:nvPr/>
              </p:nvSpPr>
              <p:spPr>
                <a:xfrm>
                  <a:off x="13915650" y="1977408"/>
                  <a:ext cx="3013022"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Apificación</a:t>
                  </a:r>
                  <a:endParaRPr b="1" i="0" sz="7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 OFI Web</a:t>
                  </a:r>
                  <a:endParaRPr b="1" i="0" sz="700" u="none" cap="none" strike="noStrike">
                    <a:solidFill>
                      <a:srgbClr val="000000"/>
                    </a:solidFill>
                    <a:latin typeface="Arial"/>
                    <a:ea typeface="Arial"/>
                    <a:cs typeface="Arial"/>
                    <a:sym typeface="Arial"/>
                  </a:endParaRPr>
                </a:p>
              </p:txBody>
            </p:sp>
            <p:grpSp>
              <p:nvGrpSpPr>
                <p:cNvPr id="1039" name="Google Shape;1039;p21"/>
                <p:cNvGrpSpPr/>
                <p:nvPr/>
              </p:nvGrpSpPr>
              <p:grpSpPr>
                <a:xfrm>
                  <a:off x="14018731" y="2168949"/>
                  <a:ext cx="396177" cy="320504"/>
                  <a:chOff x="-3757613" y="5049838"/>
                  <a:chExt cx="5826126" cy="4713288"/>
                </a:xfrm>
              </p:grpSpPr>
              <p:sp>
                <p:nvSpPr>
                  <p:cNvPr id="1040" name="Google Shape;1040;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41" name="Google Shape;1041;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42" name="Google Shape;1042;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43" name="Google Shape;1043;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44" name="Google Shape;1044;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45" name="Google Shape;1045;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046" name="Google Shape;1046;p2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047" name="Google Shape;1047;p21"/>
              <p:cNvPicPr preferRelativeResize="0"/>
              <p:nvPr/>
            </p:nvPicPr>
            <p:blipFill rotWithShape="1">
              <a:blip r:embed="rId5">
                <a:alphaModFix/>
              </a:blip>
              <a:srcRect b="0" l="0" r="0" t="0"/>
              <a:stretch/>
            </p:blipFill>
            <p:spPr>
              <a:xfrm>
                <a:off x="5773564" y="3845375"/>
                <a:ext cx="223168" cy="205291"/>
              </a:xfrm>
              <a:prstGeom prst="rect">
                <a:avLst/>
              </a:prstGeom>
              <a:noFill/>
              <a:ln>
                <a:noFill/>
              </a:ln>
            </p:spPr>
          </p:pic>
        </p:grpSp>
        <p:grpSp>
          <p:nvGrpSpPr>
            <p:cNvPr id="1048" name="Google Shape;1048;p21"/>
            <p:cNvGrpSpPr/>
            <p:nvPr/>
          </p:nvGrpSpPr>
          <p:grpSpPr>
            <a:xfrm>
              <a:off x="6746733" y="1447621"/>
              <a:ext cx="994228" cy="284677"/>
              <a:chOff x="1397123" y="2489311"/>
              <a:chExt cx="1325636" cy="320400"/>
            </a:xfrm>
          </p:grpSpPr>
          <p:grpSp>
            <p:nvGrpSpPr>
              <p:cNvPr id="1049" name="Google Shape;1049;p21"/>
              <p:cNvGrpSpPr/>
              <p:nvPr/>
            </p:nvGrpSpPr>
            <p:grpSpPr>
              <a:xfrm>
                <a:off x="1397123" y="2489311"/>
                <a:ext cx="1325636" cy="320400"/>
                <a:chOff x="1397123" y="2489311"/>
                <a:chExt cx="1325636" cy="320400"/>
              </a:xfrm>
            </p:grpSpPr>
            <p:sp>
              <p:nvSpPr>
                <p:cNvPr id="1050" name="Google Shape;1050;p21"/>
                <p:cNvSpPr/>
                <p:nvPr/>
              </p:nvSpPr>
              <p:spPr>
                <a:xfrm>
                  <a:off x="1504496" y="2509509"/>
                  <a:ext cx="1218263" cy="280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DevSecOps</a:t>
                  </a:r>
                  <a:endParaRPr b="1" i="0" sz="700" u="none" cap="none" strike="noStrike">
                    <a:solidFill>
                      <a:srgbClr val="FFFFFF"/>
                    </a:solidFill>
                    <a:latin typeface="Montserrat"/>
                    <a:ea typeface="Montserrat"/>
                    <a:cs typeface="Montserrat"/>
                    <a:sym typeface="Montserrat"/>
                  </a:endParaRPr>
                </a:p>
              </p:txBody>
            </p:sp>
            <p:grpSp>
              <p:nvGrpSpPr>
                <p:cNvPr id="1051" name="Google Shape;1051;p21"/>
                <p:cNvGrpSpPr/>
                <p:nvPr/>
              </p:nvGrpSpPr>
              <p:grpSpPr>
                <a:xfrm>
                  <a:off x="1517155" y="2585878"/>
                  <a:ext cx="171871" cy="127730"/>
                  <a:chOff x="-3757613" y="5049838"/>
                  <a:chExt cx="5826126" cy="4713288"/>
                </a:xfrm>
              </p:grpSpPr>
              <p:sp>
                <p:nvSpPr>
                  <p:cNvPr id="1052" name="Google Shape;1052;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53" name="Google Shape;1053;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54" name="Google Shape;1054;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55" name="Google Shape;1055;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56" name="Google Shape;1056;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57" name="Google Shape;1057;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058" name="Google Shape;1058;p21"/>
                <p:cNvSpPr/>
                <p:nvPr/>
              </p:nvSpPr>
              <p:spPr>
                <a:xfrm>
                  <a:off x="1397123" y="2489311"/>
                  <a:ext cx="348600" cy="3204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059" name="Google Shape;1059;p21"/>
              <p:cNvPicPr preferRelativeResize="0"/>
              <p:nvPr/>
            </p:nvPicPr>
            <p:blipFill rotWithShape="1">
              <a:blip r:embed="rId6">
                <a:alphaModFix/>
              </a:blip>
              <a:srcRect b="0" l="0" r="0" t="0"/>
              <a:stretch/>
            </p:blipFill>
            <p:spPr>
              <a:xfrm>
                <a:off x="1452176" y="2523630"/>
                <a:ext cx="252977" cy="232712"/>
              </a:xfrm>
              <a:prstGeom prst="rect">
                <a:avLst/>
              </a:prstGeom>
              <a:noFill/>
              <a:ln>
                <a:noFill/>
              </a:ln>
            </p:spPr>
          </p:pic>
        </p:grpSp>
        <p:grpSp>
          <p:nvGrpSpPr>
            <p:cNvPr id="1060" name="Google Shape;1060;p21"/>
            <p:cNvGrpSpPr/>
            <p:nvPr/>
          </p:nvGrpSpPr>
          <p:grpSpPr>
            <a:xfrm>
              <a:off x="5706890" y="1447589"/>
              <a:ext cx="971607" cy="284741"/>
              <a:chOff x="2785853" y="1986995"/>
              <a:chExt cx="1295476" cy="320472"/>
            </a:xfrm>
          </p:grpSpPr>
          <p:grpSp>
            <p:nvGrpSpPr>
              <p:cNvPr id="1061" name="Google Shape;1061;p21"/>
              <p:cNvGrpSpPr/>
              <p:nvPr/>
            </p:nvGrpSpPr>
            <p:grpSpPr>
              <a:xfrm>
                <a:off x="2785853" y="1986995"/>
                <a:ext cx="1295476" cy="320472"/>
                <a:chOff x="13814589" y="1926698"/>
                <a:chExt cx="2991172" cy="804600"/>
              </a:xfrm>
            </p:grpSpPr>
            <p:sp>
              <p:nvSpPr>
                <p:cNvPr id="1062" name="Google Shape;1062;p21"/>
                <p:cNvSpPr/>
                <p:nvPr/>
              </p:nvSpPr>
              <p:spPr>
                <a:xfrm>
                  <a:off x="13964608" y="1977408"/>
                  <a:ext cx="2841153"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rPr b="1" i="0" lang="es" sz="700" u="none" cap="none" strike="noStrike">
                      <a:solidFill>
                        <a:srgbClr val="FFFFFF"/>
                      </a:solidFill>
                      <a:latin typeface="Montserrat"/>
                      <a:ea typeface="Montserrat"/>
                      <a:cs typeface="Montserrat"/>
                      <a:sym typeface="Montserrat"/>
                    </a:rPr>
                    <a:t>Apificación Canales</a:t>
                  </a:r>
                  <a:endParaRPr b="1" i="0" sz="700" u="none" cap="none" strike="noStrike">
                    <a:solidFill>
                      <a:srgbClr val="FFFFFF"/>
                    </a:solidFill>
                    <a:latin typeface="Montserrat"/>
                    <a:ea typeface="Montserrat"/>
                    <a:cs typeface="Montserrat"/>
                    <a:sym typeface="Montserrat"/>
                  </a:endParaRPr>
                </a:p>
              </p:txBody>
            </p:sp>
            <p:grpSp>
              <p:nvGrpSpPr>
                <p:cNvPr id="1063" name="Google Shape;1063;p21"/>
                <p:cNvGrpSpPr/>
                <p:nvPr/>
              </p:nvGrpSpPr>
              <p:grpSpPr>
                <a:xfrm>
                  <a:off x="14018731" y="2168949"/>
                  <a:ext cx="396177" cy="320504"/>
                  <a:chOff x="-3757613" y="5049838"/>
                  <a:chExt cx="5826126" cy="4713288"/>
                </a:xfrm>
              </p:grpSpPr>
              <p:sp>
                <p:nvSpPr>
                  <p:cNvPr id="1064" name="Google Shape;1064;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65" name="Google Shape;1065;p2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66" name="Google Shape;1066;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67" name="Google Shape;1067;p2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68" name="Google Shape;1068;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069" name="Google Shape;1069;p2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D7D31"/>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070" name="Google Shape;1070;p21"/>
                <p:cNvSpPr/>
                <p:nvPr/>
              </p:nvSpPr>
              <p:spPr>
                <a:xfrm>
                  <a:off x="13814589" y="1926698"/>
                  <a:ext cx="804600" cy="804600"/>
                </a:xfrm>
                <a:prstGeom prst="ellipse">
                  <a:avLst/>
                </a:prstGeom>
                <a:solidFill>
                  <a:srgbClr val="ED7D31"/>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071" name="Google Shape;1071;p21"/>
              <p:cNvPicPr preferRelativeResize="0"/>
              <p:nvPr/>
            </p:nvPicPr>
            <p:blipFill rotWithShape="1">
              <a:blip r:embed="rId7">
                <a:alphaModFix/>
              </a:blip>
              <a:srcRect b="0" l="0" r="0" t="0"/>
              <a:stretch/>
            </p:blipFill>
            <p:spPr>
              <a:xfrm>
                <a:off x="2837951" y="2036863"/>
                <a:ext cx="231350" cy="212818"/>
              </a:xfrm>
              <a:prstGeom prst="rect">
                <a:avLst/>
              </a:prstGeom>
              <a:noFill/>
              <a:ln>
                <a:noFill/>
              </a:ln>
            </p:spPr>
          </p:pic>
        </p:grpSp>
      </p:grpSp>
      <p:sp>
        <p:nvSpPr>
          <p:cNvPr id="1072" name="Google Shape;1072;p21"/>
          <p:cNvSpPr txBox="1"/>
          <p:nvPr/>
        </p:nvSpPr>
        <p:spPr>
          <a:xfrm>
            <a:off x="412821" y="378788"/>
            <a:ext cx="8407909" cy="474923"/>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Montserrat"/>
                <a:ea typeface="Montserrat"/>
                <a:cs typeface="Montserrat"/>
                <a:sym typeface="Montserrat"/>
              </a:rPr>
              <a:t>Al igual que competimos en el mercado con funcionalidades nuevas y queremos homologar los servicios que proporcionan nuestros competidores; es necesario establecer capacidades básicas en TI para poder otorgar productos y servicios que ya son una realidad en otras copañias y permitir la evolución hacia la entrega de valor constante y flexibilidad de cambio por parte de Sistemas.</a:t>
            </a:r>
            <a:endParaRPr b="0" i="0" sz="900" u="none" cap="none" strike="noStrike">
              <a:solidFill>
                <a:srgbClr val="000000"/>
              </a:solidFill>
              <a:latin typeface="Arial"/>
              <a:ea typeface="Arial"/>
              <a:cs typeface="Arial"/>
              <a:sym typeface="Arial"/>
            </a:endParaRPr>
          </a:p>
        </p:txBody>
      </p:sp>
      <p:sp>
        <p:nvSpPr>
          <p:cNvPr id="1073" name="Google Shape;1073;p21"/>
          <p:cNvSpPr txBox="1"/>
          <p:nvPr/>
        </p:nvSpPr>
        <p:spPr>
          <a:xfrm>
            <a:off x="3496858" y="1663846"/>
            <a:ext cx="5396442" cy="2706303"/>
          </a:xfrm>
          <a:prstGeom prst="rect">
            <a:avLst/>
          </a:prstGeom>
          <a:noFill/>
          <a:ln>
            <a:noFill/>
          </a:ln>
        </p:spPr>
        <p:txBody>
          <a:bodyPr anchorCtr="0" anchor="t" bIns="29425" lIns="58875" spcFirstLastPara="1" rIns="58875" wrap="square" tIns="29425">
            <a:spAutoFit/>
          </a:bodyPr>
          <a:lstStyle/>
          <a:p>
            <a:pPr indent="-228600" lvl="0" marL="228600" marR="0" rtl="0" algn="just">
              <a:lnSpc>
                <a:spcPct val="100000"/>
              </a:lnSpc>
              <a:spcBef>
                <a:spcPts val="1800"/>
              </a:spcBef>
              <a:spcAft>
                <a:spcPts val="0"/>
              </a:spcAft>
              <a:buClr>
                <a:srgbClr val="000000"/>
              </a:buClr>
              <a:buSzPts val="900"/>
              <a:buFont typeface="Arial"/>
              <a:buAutoNum type="arabicPeriod"/>
            </a:pPr>
            <a:r>
              <a:rPr b="1" i="0" lang="es" sz="900" u="none" cap="none" strike="noStrike">
                <a:solidFill>
                  <a:srgbClr val="ED7D31"/>
                </a:solidFill>
                <a:latin typeface="Montserrat"/>
                <a:ea typeface="Montserrat"/>
                <a:cs typeface="Montserrat"/>
                <a:sym typeface="Montserrat"/>
              </a:rPr>
              <a:t>La "apificación" de la plataforma OfiWeb </a:t>
            </a:r>
            <a:r>
              <a:rPr b="0" i="0" lang="es" sz="900" u="none" cap="none" strike="noStrike">
                <a:solidFill>
                  <a:srgbClr val="000000"/>
                </a:solidFill>
                <a:latin typeface="Montserrat"/>
                <a:ea typeface="Montserrat"/>
                <a:cs typeface="Montserrat"/>
                <a:sym typeface="Montserrat"/>
              </a:rPr>
              <a:t>es un proceso en el que </a:t>
            </a:r>
            <a:r>
              <a:rPr b="1" i="0" lang="es" sz="900" u="none" cap="none" strike="noStrike">
                <a:solidFill>
                  <a:srgbClr val="ED7D31"/>
                </a:solidFill>
                <a:latin typeface="Montserrat"/>
                <a:ea typeface="Montserrat"/>
                <a:cs typeface="Montserrat"/>
                <a:sym typeface="Montserrat"/>
              </a:rPr>
              <a:t>estaremos creando </a:t>
            </a:r>
            <a:r>
              <a:rPr b="0" i="0" lang="es" sz="900" u="none" cap="none" strike="noStrike">
                <a:solidFill>
                  <a:srgbClr val="000000"/>
                </a:solidFill>
                <a:latin typeface="Montserrat"/>
                <a:ea typeface="Montserrat"/>
                <a:cs typeface="Montserrat"/>
                <a:sym typeface="Montserrat"/>
              </a:rPr>
              <a:t>una serie de </a:t>
            </a:r>
            <a:r>
              <a:rPr b="1" i="0" lang="es" sz="900" u="none" cap="none" strike="noStrike">
                <a:solidFill>
                  <a:srgbClr val="ED7D31"/>
                </a:solidFill>
                <a:latin typeface="Montserrat"/>
                <a:ea typeface="Montserrat"/>
                <a:cs typeface="Montserrat"/>
                <a:sym typeface="Montserrat"/>
              </a:rPr>
              <a:t>interfaces de programación </a:t>
            </a:r>
            <a:r>
              <a:rPr b="0" i="0" lang="es" sz="900" u="none" cap="none" strike="noStrike">
                <a:solidFill>
                  <a:srgbClr val="000000"/>
                </a:solidFill>
                <a:latin typeface="Montserrat"/>
                <a:ea typeface="Montserrat"/>
                <a:cs typeface="Montserrat"/>
                <a:sym typeface="Montserrat"/>
              </a:rPr>
              <a:t>de aplicaciones </a:t>
            </a:r>
            <a:r>
              <a:rPr b="1" i="0" lang="es" sz="900" u="none" cap="none" strike="noStrike">
                <a:solidFill>
                  <a:srgbClr val="ED7D31"/>
                </a:solidFill>
                <a:latin typeface="Montserrat"/>
                <a:ea typeface="Montserrat"/>
                <a:cs typeface="Montserrat"/>
                <a:sym typeface="Montserrat"/>
              </a:rPr>
              <a:t>(APIs)</a:t>
            </a:r>
            <a:r>
              <a:rPr b="0" i="0" lang="es" sz="900" u="none" cap="none" strike="noStrike">
                <a:solidFill>
                  <a:srgbClr val="000000"/>
                </a:solidFill>
                <a:latin typeface="Montserrat"/>
                <a:ea typeface="Montserrat"/>
                <a:cs typeface="Montserrat"/>
                <a:sym typeface="Montserrat"/>
              </a:rPr>
              <a:t>. Esto </a:t>
            </a:r>
            <a:r>
              <a:rPr b="1" i="0" lang="es" sz="900" u="none" cap="none" strike="noStrike">
                <a:solidFill>
                  <a:srgbClr val="ED7D31"/>
                </a:solidFill>
                <a:latin typeface="Montserrat"/>
                <a:ea typeface="Montserrat"/>
                <a:cs typeface="Montserrat"/>
                <a:sym typeface="Montserrat"/>
              </a:rPr>
              <a:t>permitirá que OfiWeb interactúe con otras aplicaciones y sistemas </a:t>
            </a:r>
            <a:r>
              <a:rPr b="0" i="0" lang="es" sz="900" u="none" cap="none" strike="noStrike">
                <a:solidFill>
                  <a:srgbClr val="000000"/>
                </a:solidFill>
                <a:latin typeface="Montserrat"/>
                <a:ea typeface="Montserrat"/>
                <a:cs typeface="Montserrat"/>
                <a:sym typeface="Montserrat"/>
              </a:rPr>
              <a:t>de forma más </a:t>
            </a:r>
            <a:r>
              <a:rPr b="1" i="0" lang="es" sz="900" u="none" cap="none" strike="noStrike">
                <a:solidFill>
                  <a:srgbClr val="ED7D31"/>
                </a:solidFill>
                <a:latin typeface="Montserrat"/>
                <a:ea typeface="Montserrat"/>
                <a:cs typeface="Montserrat"/>
                <a:sym typeface="Montserrat"/>
              </a:rPr>
              <a:t>moderna y flexible con las nuevas tecnologías </a:t>
            </a:r>
            <a:r>
              <a:rPr b="0" i="0" lang="es" sz="900" u="none" cap="none" strike="noStrike">
                <a:solidFill>
                  <a:srgbClr val="2C2C2C"/>
                </a:solidFill>
                <a:latin typeface="Montserrat"/>
                <a:ea typeface="Montserrat"/>
                <a:cs typeface="Montserrat"/>
                <a:sym typeface="Montserrat"/>
              </a:rPr>
              <a:t>que se estarán implementando en UNITY.</a:t>
            </a:r>
            <a:endParaRPr b="0" i="0" sz="1400" u="none" cap="none" strike="noStrike">
              <a:solidFill>
                <a:srgbClr val="000000"/>
              </a:solidFill>
              <a:latin typeface="Arial"/>
              <a:ea typeface="Arial"/>
              <a:cs typeface="Arial"/>
              <a:sym typeface="Arial"/>
            </a:endParaRPr>
          </a:p>
          <a:p>
            <a:pPr indent="-171450" lvl="0" marL="228600" marR="0" rtl="0" algn="just">
              <a:lnSpc>
                <a:spcPct val="100000"/>
              </a:lnSpc>
              <a:spcBef>
                <a:spcPts val="2400"/>
              </a:spcBef>
              <a:spcAft>
                <a:spcPts val="0"/>
              </a:spcAft>
              <a:buClr>
                <a:srgbClr val="000000"/>
              </a:buClr>
              <a:buSzPts val="900"/>
              <a:buFont typeface="Arial"/>
              <a:buNone/>
            </a:pPr>
            <a:r>
              <a:t/>
            </a:r>
            <a:endParaRPr b="0" i="0" sz="900" u="none" cap="none" strike="noStrike">
              <a:solidFill>
                <a:srgbClr val="2C2C2C"/>
              </a:solidFill>
              <a:latin typeface="Montserrat"/>
              <a:ea typeface="Montserrat"/>
              <a:cs typeface="Montserrat"/>
              <a:sym typeface="Montserrat"/>
            </a:endParaRPr>
          </a:p>
          <a:p>
            <a:pPr indent="-228600" lvl="0" marL="228600" marR="0" rtl="0" algn="just">
              <a:lnSpc>
                <a:spcPct val="100000"/>
              </a:lnSpc>
              <a:spcBef>
                <a:spcPts val="1800"/>
              </a:spcBef>
              <a:spcAft>
                <a:spcPts val="600"/>
              </a:spcAft>
              <a:buClr>
                <a:srgbClr val="000000"/>
              </a:buClr>
              <a:buSzPts val="900"/>
              <a:buFont typeface="Arial"/>
              <a:buAutoNum type="arabicPeriod"/>
            </a:pPr>
            <a:r>
              <a:rPr b="1" i="0" lang="es" sz="900" u="none" cap="none" strike="noStrike">
                <a:solidFill>
                  <a:srgbClr val="ED7D31"/>
                </a:solidFill>
                <a:latin typeface="Montserrat"/>
                <a:ea typeface="Montserrat"/>
                <a:cs typeface="Montserrat"/>
                <a:sym typeface="Montserrat"/>
              </a:rPr>
              <a:t>Desacoplar los canales del monolito actual PISA </a:t>
            </a:r>
            <a:r>
              <a:rPr b="0" i="0" lang="es" sz="900" u="none" cap="none" strike="noStrike">
                <a:solidFill>
                  <a:srgbClr val="000000"/>
                </a:solidFill>
                <a:latin typeface="Montserrat"/>
                <a:ea typeface="Montserrat"/>
                <a:cs typeface="Montserrat"/>
                <a:sym typeface="Montserrat"/>
              </a:rPr>
              <a:t>con BIAN (Banking Industry Architecture Network) nos </a:t>
            </a:r>
            <a:r>
              <a:rPr b="1" i="0" lang="es" sz="900" u="none" cap="none" strike="noStrike">
                <a:solidFill>
                  <a:srgbClr val="ED7D31"/>
                </a:solidFill>
                <a:latin typeface="Montserrat"/>
                <a:ea typeface="Montserrat"/>
                <a:cs typeface="Montserrat"/>
                <a:sym typeface="Montserrat"/>
              </a:rPr>
              <a:t>dará mayor flexibilidad </a:t>
            </a:r>
            <a:r>
              <a:rPr b="0" i="0" lang="es" sz="900" u="none" cap="none" strike="noStrike">
                <a:solidFill>
                  <a:srgbClr val="000000"/>
                </a:solidFill>
                <a:latin typeface="Montserrat"/>
                <a:ea typeface="Montserrat"/>
                <a:cs typeface="Montserrat"/>
                <a:sym typeface="Montserrat"/>
              </a:rPr>
              <a:t>ya que se podrá actualizar, cambiar o agregar nuevos canales con menos interrupciones en los demás sistemas, </a:t>
            </a:r>
            <a:r>
              <a:rPr b="1" i="0" lang="es" sz="900" u="none" cap="none" strike="noStrike">
                <a:solidFill>
                  <a:srgbClr val="ED7D31"/>
                </a:solidFill>
                <a:latin typeface="Montserrat"/>
                <a:ea typeface="Montserrat"/>
                <a:cs typeface="Montserrat"/>
                <a:sym typeface="Montserrat"/>
              </a:rPr>
              <a:t>mejorando la experiencia del cliente</a:t>
            </a:r>
            <a:r>
              <a:rPr b="0" i="0" lang="es" sz="900" u="none" cap="none" strike="noStrike">
                <a:solidFill>
                  <a:srgbClr val="000000"/>
                </a:solidFill>
                <a:latin typeface="Montserrat"/>
                <a:ea typeface="Montserrat"/>
                <a:cs typeface="Montserrat"/>
                <a:sym typeface="Montserrat"/>
              </a:rPr>
              <a:t> ya que podrán ser optimizados individualmente para brindar una mejor experiencia aumentando la satisfacción su retención. También </a:t>
            </a:r>
            <a:r>
              <a:rPr b="1" i="0" lang="es" sz="900" u="none" cap="none" strike="noStrike">
                <a:solidFill>
                  <a:srgbClr val="ED7D31"/>
                </a:solidFill>
                <a:latin typeface="Montserrat"/>
                <a:ea typeface="Montserrat"/>
                <a:cs typeface="Montserrat"/>
                <a:sym typeface="Montserrat"/>
              </a:rPr>
              <a:t>ayudará a la reducción del riesgo, </a:t>
            </a:r>
            <a:r>
              <a:rPr b="0" i="0" lang="es" sz="900" u="none" cap="none" strike="noStrike">
                <a:solidFill>
                  <a:srgbClr val="000000"/>
                </a:solidFill>
                <a:latin typeface="Montserrat"/>
                <a:ea typeface="Montserrat"/>
                <a:cs typeface="Montserrat"/>
                <a:sym typeface="Montserrat"/>
              </a:rPr>
              <a:t>si un canal tiene problemas, los otros canales pueden seguir funcionando sin verse afectados, lo que minimiza el impacto en los clientes y en la operación del banco</a:t>
            </a:r>
            <a:endParaRPr b="0" i="0" sz="1400" u="none" cap="none" strike="noStrike">
              <a:solidFill>
                <a:srgbClr val="000000"/>
              </a:solidFill>
              <a:latin typeface="Arial"/>
              <a:ea typeface="Arial"/>
              <a:cs typeface="Arial"/>
              <a:sym typeface="Arial"/>
            </a:endParaRPr>
          </a:p>
        </p:txBody>
      </p:sp>
      <p:sp>
        <p:nvSpPr>
          <p:cNvPr id="1074" name="Google Shape;1074;p21"/>
          <p:cNvSpPr txBox="1"/>
          <p:nvPr/>
        </p:nvSpPr>
        <p:spPr>
          <a:xfrm>
            <a:off x="494040" y="2290218"/>
            <a:ext cx="2731203" cy="787702"/>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Identificación de funciones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Diseño del proceso de Desacoplamiento y Apificación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Desarrollo de API’s con base en la prioridad de producto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Integración y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Documentación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Gobierno y Mantenimiento de API’s</a:t>
            </a:r>
            <a:endParaRPr b="1" i="0" sz="700" u="none" cap="none" strike="noStrike">
              <a:solidFill>
                <a:srgbClr val="000000"/>
              </a:solidFill>
              <a:latin typeface="Montserrat"/>
              <a:ea typeface="Montserrat"/>
              <a:cs typeface="Montserrat"/>
              <a:sym typeface="Montserrat"/>
            </a:endParaRPr>
          </a:p>
          <a:p>
            <a:pPr indent="-50800" lvl="0" marL="88900" marR="0" rtl="0" algn="l">
              <a:lnSpc>
                <a:spcPct val="100000"/>
              </a:lnSpc>
              <a:spcBef>
                <a:spcPts val="0"/>
              </a:spcBef>
              <a:spcAft>
                <a:spcPts val="0"/>
              </a:spcAft>
              <a:buClr>
                <a:srgbClr val="000000"/>
              </a:buClr>
              <a:buSzPts val="600"/>
              <a:buFont typeface="Inter"/>
              <a:buNone/>
            </a:pPr>
            <a:r>
              <a:t/>
            </a:r>
            <a:endParaRPr b="1" i="0" sz="700" u="none" cap="none" strike="noStrike">
              <a:solidFill>
                <a:srgbClr val="000000"/>
              </a:solidFill>
              <a:latin typeface="Montserrat"/>
              <a:ea typeface="Montserrat"/>
              <a:cs typeface="Montserrat"/>
              <a:sym typeface="Montserrat"/>
            </a:endParaRPr>
          </a:p>
        </p:txBody>
      </p:sp>
      <p:pic>
        <p:nvPicPr>
          <p:cNvPr descr="Arrow: Slight curve con relleno sólido" id="1075" name="Google Shape;1075;p21"/>
          <p:cNvPicPr preferRelativeResize="0"/>
          <p:nvPr/>
        </p:nvPicPr>
        <p:blipFill rotWithShape="1">
          <a:blip r:embed="rId8">
            <a:alphaModFix/>
          </a:blip>
          <a:srcRect b="0" l="0" r="0" t="0"/>
          <a:stretch/>
        </p:blipFill>
        <p:spPr>
          <a:xfrm>
            <a:off x="3124949" y="2127905"/>
            <a:ext cx="552605" cy="552605"/>
          </a:xfrm>
          <a:prstGeom prst="rect">
            <a:avLst/>
          </a:prstGeom>
          <a:noFill/>
          <a:ln>
            <a:noFill/>
          </a:ln>
        </p:spPr>
      </p:pic>
      <p:pic>
        <p:nvPicPr>
          <p:cNvPr descr="Arrow: Slight curve con relleno sólido" id="1076" name="Google Shape;1076;p21"/>
          <p:cNvPicPr preferRelativeResize="0"/>
          <p:nvPr/>
        </p:nvPicPr>
        <p:blipFill rotWithShape="1">
          <a:blip r:embed="rId8">
            <a:alphaModFix/>
          </a:blip>
          <a:srcRect b="0" l="0" r="0" t="0"/>
          <a:stretch/>
        </p:blipFill>
        <p:spPr>
          <a:xfrm>
            <a:off x="3023446" y="3552994"/>
            <a:ext cx="552605" cy="552605"/>
          </a:xfrm>
          <a:prstGeom prst="rect">
            <a:avLst/>
          </a:prstGeom>
          <a:noFill/>
          <a:ln>
            <a:noFill/>
          </a:ln>
        </p:spPr>
      </p:pic>
      <p:sp>
        <p:nvSpPr>
          <p:cNvPr id="1077" name="Google Shape;1077;p21"/>
          <p:cNvSpPr/>
          <p:nvPr/>
        </p:nvSpPr>
        <p:spPr>
          <a:xfrm>
            <a:off x="484435" y="2319652"/>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21"/>
          <p:cNvSpPr/>
          <p:nvPr/>
        </p:nvSpPr>
        <p:spPr>
          <a:xfrm>
            <a:off x="484435" y="243984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21"/>
          <p:cNvSpPr/>
          <p:nvPr/>
        </p:nvSpPr>
        <p:spPr>
          <a:xfrm>
            <a:off x="484435" y="253187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21"/>
          <p:cNvSpPr/>
          <p:nvPr/>
        </p:nvSpPr>
        <p:spPr>
          <a:xfrm>
            <a:off x="484435" y="264698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21"/>
          <p:cNvSpPr/>
          <p:nvPr/>
        </p:nvSpPr>
        <p:spPr>
          <a:xfrm>
            <a:off x="484435" y="274332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21"/>
          <p:cNvSpPr/>
          <p:nvPr/>
        </p:nvSpPr>
        <p:spPr>
          <a:xfrm>
            <a:off x="484435" y="285920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21"/>
          <p:cNvSpPr txBox="1"/>
          <p:nvPr/>
        </p:nvSpPr>
        <p:spPr>
          <a:xfrm>
            <a:off x="412821" y="4379663"/>
            <a:ext cx="7000091"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900"/>
              <a:buFont typeface="Arial"/>
              <a:buNone/>
            </a:pPr>
            <a:r>
              <a:rPr b="1" i="0" lang="es" sz="900" u="none" cap="none" strike="noStrike">
                <a:solidFill>
                  <a:srgbClr val="ED7D31"/>
                </a:solidFill>
                <a:latin typeface="Montserrat"/>
                <a:ea typeface="Montserrat"/>
                <a:cs typeface="Montserrat"/>
                <a:sym typeface="Montserrat"/>
              </a:rPr>
              <a:t>Benficio indirecto</a:t>
            </a:r>
            <a:r>
              <a:rPr b="0" i="0" lang="es" sz="900" u="none" cap="none" strike="noStrike">
                <a:solidFill>
                  <a:srgbClr val="000000"/>
                </a:solidFill>
                <a:latin typeface="Montserrat"/>
                <a:ea typeface="Montserrat"/>
                <a:cs typeface="Montserrat"/>
                <a:sym typeface="Montserrat"/>
              </a:rPr>
              <a:t>: Con los canales desacoplados, </a:t>
            </a:r>
            <a:r>
              <a:rPr b="1" i="0" lang="es" sz="900" u="none" cap="none" strike="noStrike">
                <a:solidFill>
                  <a:srgbClr val="ED7D31"/>
                </a:solidFill>
                <a:latin typeface="Montserrat"/>
                <a:ea typeface="Montserrat"/>
                <a:cs typeface="Montserrat"/>
                <a:sym typeface="Montserrat"/>
              </a:rPr>
              <a:t>se puede experimentar e innovar con un canal específico sin poner en riesgo el resto de los sistemas</a:t>
            </a:r>
            <a:r>
              <a:rPr b="0" i="0" lang="es" sz="900" u="none" cap="none" strike="noStrike">
                <a:solidFill>
                  <a:srgbClr val="000000"/>
                </a:solidFill>
                <a:latin typeface="Montserrat"/>
                <a:ea typeface="Montserrat"/>
                <a:cs typeface="Montserrat"/>
                <a:sym typeface="Montserrat"/>
              </a:rPr>
              <a:t>, lo que puede permitir una innovación más rápida y segura.</a:t>
            </a:r>
            <a:endParaRPr b="0" i="0" sz="1400" u="none" cap="none" strike="noStrike">
              <a:solidFill>
                <a:srgbClr val="000000"/>
              </a:solidFill>
              <a:latin typeface="Arial"/>
              <a:ea typeface="Arial"/>
              <a:cs typeface="Arial"/>
              <a:sym typeface="Arial"/>
            </a:endParaRPr>
          </a:p>
        </p:txBody>
      </p:sp>
      <p:sp>
        <p:nvSpPr>
          <p:cNvPr id="1084" name="Google Shape;1084;p21"/>
          <p:cNvSpPr txBox="1"/>
          <p:nvPr/>
        </p:nvSpPr>
        <p:spPr>
          <a:xfrm>
            <a:off x="487748" y="3291322"/>
            <a:ext cx="2953538" cy="659082"/>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Identificación de Canales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Análisis de funcionalidades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Diseño de arquitectura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Desarrollo, Pruebas e Implementación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Transición (Redireccionamiento flujos y Datos)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700" u="none" cap="none" strike="noStrike">
                <a:solidFill>
                  <a:srgbClr val="000000"/>
                </a:solidFill>
                <a:latin typeface="Montserrat"/>
                <a:ea typeface="Montserrat"/>
                <a:cs typeface="Montserrat"/>
                <a:sym typeface="Montserrat"/>
              </a:rPr>
              <a:t>Retiro de Canales Antiguos</a:t>
            </a:r>
            <a:endParaRPr b="0" i="0" sz="1400" u="none" cap="none" strike="noStrike">
              <a:solidFill>
                <a:srgbClr val="000000"/>
              </a:solidFill>
              <a:latin typeface="Arial"/>
              <a:ea typeface="Arial"/>
              <a:cs typeface="Arial"/>
              <a:sym typeface="Arial"/>
            </a:endParaRPr>
          </a:p>
        </p:txBody>
      </p:sp>
      <p:sp>
        <p:nvSpPr>
          <p:cNvPr id="1085" name="Google Shape;1085;p21"/>
          <p:cNvSpPr/>
          <p:nvPr/>
        </p:nvSpPr>
        <p:spPr>
          <a:xfrm>
            <a:off x="484435" y="3314893"/>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21"/>
          <p:cNvSpPr/>
          <p:nvPr/>
        </p:nvSpPr>
        <p:spPr>
          <a:xfrm>
            <a:off x="484435" y="343509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21"/>
          <p:cNvSpPr/>
          <p:nvPr/>
        </p:nvSpPr>
        <p:spPr>
          <a:xfrm>
            <a:off x="484435" y="352711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21"/>
          <p:cNvSpPr/>
          <p:nvPr/>
        </p:nvSpPr>
        <p:spPr>
          <a:xfrm>
            <a:off x="484435" y="364222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21"/>
          <p:cNvSpPr/>
          <p:nvPr/>
        </p:nvSpPr>
        <p:spPr>
          <a:xfrm>
            <a:off x="484435" y="373856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21"/>
          <p:cNvSpPr/>
          <p:nvPr/>
        </p:nvSpPr>
        <p:spPr>
          <a:xfrm>
            <a:off x="484435" y="385444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2"/>
          <p:cNvSpPr txBox="1"/>
          <p:nvPr/>
        </p:nvSpPr>
        <p:spPr>
          <a:xfrm>
            <a:off x="205219" y="57272"/>
            <a:ext cx="8488500" cy="336600"/>
          </a:xfrm>
          <a:prstGeom prst="rect">
            <a:avLst/>
          </a:prstGeom>
          <a:noFill/>
          <a:ln>
            <a:noFill/>
          </a:ln>
        </p:spPr>
        <p:txBody>
          <a:bodyPr anchorCtr="0" anchor="t" bIns="29425" lIns="58875" spcFirstLastPara="1" rIns="58875" wrap="square" tIns="29425">
            <a:sp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000000"/>
                </a:solidFill>
                <a:latin typeface="Montserrat"/>
                <a:ea typeface="Montserrat"/>
                <a:cs typeface="Montserrat"/>
                <a:sym typeface="Montserrat"/>
              </a:rPr>
              <a:t>Las capacidades de negocio permitirán enfocarnos rápidamente a los cambios necesarios para poder establecer productos y servicios similares a los que ofrece el mercado y empezar a establecer una ventaja competitiva durante la transformación del Banco</a:t>
            </a:r>
            <a:endParaRPr b="0" i="0" sz="1300" u="none" cap="none" strike="noStrike">
              <a:solidFill>
                <a:srgbClr val="000000"/>
              </a:solidFill>
              <a:latin typeface="Arial"/>
              <a:ea typeface="Arial"/>
              <a:cs typeface="Arial"/>
              <a:sym typeface="Arial"/>
            </a:endParaRPr>
          </a:p>
        </p:txBody>
      </p:sp>
      <p:grpSp>
        <p:nvGrpSpPr>
          <p:cNvPr id="1096" name="Google Shape;1096;p22"/>
          <p:cNvGrpSpPr/>
          <p:nvPr/>
        </p:nvGrpSpPr>
        <p:grpSpPr>
          <a:xfrm>
            <a:off x="223125" y="392805"/>
            <a:ext cx="8740117" cy="3723724"/>
            <a:chOff x="192188" y="416435"/>
            <a:chExt cx="13076177" cy="6421321"/>
          </a:xfrm>
        </p:grpSpPr>
        <p:sp>
          <p:nvSpPr>
            <p:cNvPr id="1097" name="Google Shape;1097;p22"/>
            <p:cNvSpPr txBox="1"/>
            <p:nvPr/>
          </p:nvSpPr>
          <p:spPr>
            <a:xfrm>
              <a:off x="6649704" y="1928016"/>
              <a:ext cx="2070600" cy="8130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pagos con tarjeta</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Pago de facturas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transferencias internas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pagos P2P</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transferencias de saldo</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 transferencias externas</a:t>
              </a:r>
              <a:endParaRPr b="1" i="0" sz="450" u="none" cap="none" strike="noStrike">
                <a:solidFill>
                  <a:srgbClr val="171717"/>
                </a:solidFill>
                <a:latin typeface="Arial"/>
                <a:ea typeface="Arial"/>
                <a:cs typeface="Arial"/>
                <a:sym typeface="Arial"/>
              </a:endParaRPr>
            </a:p>
          </p:txBody>
        </p:sp>
        <p:sp>
          <p:nvSpPr>
            <p:cNvPr id="1098" name="Google Shape;1098;p22"/>
            <p:cNvSpPr/>
            <p:nvPr/>
          </p:nvSpPr>
          <p:spPr>
            <a:xfrm>
              <a:off x="8642964" y="3576166"/>
              <a:ext cx="2088600" cy="460800"/>
            </a:xfrm>
            <a:prstGeom prst="rect">
              <a:avLst/>
            </a:prstGeom>
            <a:no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1099" name="Google Shape;1099;p22"/>
            <p:cNvSpPr txBox="1"/>
            <p:nvPr/>
          </p:nvSpPr>
          <p:spPr>
            <a:xfrm>
              <a:off x="2385723" y="2181270"/>
              <a:ext cx="1935000" cy="11772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Centro de llamadas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Sucursal</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Caja </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Internet/en línea</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Móvil/SMS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92D050"/>
                </a:buClr>
                <a:buSzPts val="450"/>
                <a:buFont typeface="Inter"/>
                <a:buChar char="•"/>
              </a:pPr>
              <a:r>
                <a:rPr b="1" i="0" lang="es" sz="450" u="none" cap="none" strike="noStrike">
                  <a:solidFill>
                    <a:srgbClr val="171717"/>
                  </a:solidFill>
                  <a:latin typeface="Montserrat"/>
                  <a:ea typeface="Montserrat"/>
                  <a:cs typeface="Montserrat"/>
                  <a:sym typeface="Montserrat"/>
                </a:rPr>
                <a:t>Dispositivos POS (ATM’s, comercios)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Centros de negocio pequeños y comerciales</a:t>
              </a:r>
              <a:endParaRPr b="0" i="0" sz="450" u="none" cap="none" strike="noStrike">
                <a:solidFill>
                  <a:srgbClr val="BFBFBF"/>
                </a:solidFill>
                <a:latin typeface="Montserrat"/>
                <a:ea typeface="Montserrat"/>
                <a:cs typeface="Montserrat"/>
                <a:sym typeface="Montserrat"/>
              </a:endParaRPr>
            </a:p>
          </p:txBody>
        </p:sp>
        <p:sp>
          <p:nvSpPr>
            <p:cNvPr id="1100" name="Google Shape;1100;p22"/>
            <p:cNvSpPr/>
            <p:nvPr/>
          </p:nvSpPr>
          <p:spPr>
            <a:xfrm>
              <a:off x="231010" y="416435"/>
              <a:ext cx="2089404" cy="401421"/>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496"/>
            </a:solidFill>
            <a:ln>
              <a:noFill/>
            </a:ln>
          </p:spPr>
          <p:txBody>
            <a:bodyPr anchorCtr="0" anchor="ctr" bIns="17675" lIns="17675" spcFirstLastPara="1" rIns="17675" wrap="square" tIns="17675">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FFFFFF"/>
                  </a:solidFill>
                  <a:latin typeface="Montserrat"/>
                  <a:ea typeface="Montserrat"/>
                  <a:cs typeface="Montserrat"/>
                  <a:sym typeface="Montserrat"/>
                </a:rPr>
                <a:t>1. Marketing y Gestión del Producto</a:t>
              </a:r>
              <a:endParaRPr b="0" i="0" sz="600" u="none" cap="none" strike="noStrike">
                <a:solidFill>
                  <a:srgbClr val="FFFFFF"/>
                </a:solidFill>
                <a:latin typeface="Montserrat"/>
                <a:ea typeface="Montserrat"/>
                <a:cs typeface="Montserrat"/>
                <a:sym typeface="Montserrat"/>
              </a:endParaRPr>
            </a:p>
          </p:txBody>
        </p:sp>
        <p:sp>
          <p:nvSpPr>
            <p:cNvPr id="1101" name="Google Shape;1101;p22"/>
            <p:cNvSpPr/>
            <p:nvPr/>
          </p:nvSpPr>
          <p:spPr>
            <a:xfrm>
              <a:off x="2385723" y="416435"/>
              <a:ext cx="2089404" cy="401421"/>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600"/>
                <a:buFont typeface="Arial"/>
                <a:buNone/>
              </a:pPr>
              <a:r>
                <a:rPr b="1" i="0" lang="es" sz="600" u="none" cap="none" strike="noStrike">
                  <a:solidFill>
                    <a:srgbClr val="FFFFFF"/>
                  </a:solidFill>
                  <a:latin typeface="Montserrat"/>
                  <a:ea typeface="Montserrat"/>
                  <a:cs typeface="Montserrat"/>
                  <a:sym typeface="Montserrat"/>
                </a:rPr>
                <a:t>2. Interacción con el Cliente</a:t>
              </a:r>
              <a:endParaRPr b="0" i="0" sz="600" u="none" cap="none" strike="noStrike">
                <a:solidFill>
                  <a:srgbClr val="FFFFFF"/>
                </a:solidFill>
                <a:latin typeface="Montserrat"/>
                <a:ea typeface="Montserrat"/>
                <a:cs typeface="Montserrat"/>
                <a:sym typeface="Montserrat"/>
              </a:endParaRPr>
            </a:p>
          </p:txBody>
        </p:sp>
        <p:sp>
          <p:nvSpPr>
            <p:cNvPr id="1102" name="Google Shape;1102;p22"/>
            <p:cNvSpPr/>
            <p:nvPr/>
          </p:nvSpPr>
          <p:spPr>
            <a:xfrm>
              <a:off x="4531432" y="416435"/>
              <a:ext cx="2089404" cy="401421"/>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rtl="0" algn="l">
                <a:spcBef>
                  <a:spcPts val="0"/>
                </a:spcBef>
                <a:spcAft>
                  <a:spcPts val="0"/>
                </a:spcAft>
                <a:buClr>
                  <a:schemeClr val="dk1"/>
                </a:buClr>
                <a:buSzPts val="600"/>
                <a:buFont typeface="Arial"/>
                <a:buNone/>
              </a:pPr>
              <a:r>
                <a:rPr b="1" lang="es" sz="600">
                  <a:solidFill>
                    <a:schemeClr val="dk1"/>
                  </a:solidFill>
                  <a:latin typeface="Montserrat"/>
                  <a:ea typeface="Montserrat"/>
                  <a:cs typeface="Montserrat"/>
                  <a:sym typeface="Montserrat"/>
                </a:rPr>
                <a:t>3. Ventas y Distribución</a:t>
              </a:r>
              <a:endParaRPr sz="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FFFFFF"/>
                </a:buClr>
                <a:buSzPts val="600"/>
                <a:buFont typeface="Arial"/>
                <a:buNone/>
              </a:pPr>
              <a:r>
                <a:t/>
              </a:r>
              <a:endParaRPr b="1" sz="600">
                <a:solidFill>
                  <a:srgbClr val="FFFFFF"/>
                </a:solidFill>
                <a:latin typeface="Montserrat"/>
                <a:ea typeface="Montserrat"/>
                <a:cs typeface="Montserrat"/>
                <a:sym typeface="Montserrat"/>
              </a:endParaRPr>
            </a:p>
          </p:txBody>
        </p:sp>
        <p:sp>
          <p:nvSpPr>
            <p:cNvPr id="1103" name="Google Shape;1103;p22"/>
            <p:cNvSpPr/>
            <p:nvPr/>
          </p:nvSpPr>
          <p:spPr>
            <a:xfrm>
              <a:off x="6665002" y="416435"/>
              <a:ext cx="4178808" cy="401421"/>
            </a:xfrm>
            <a:custGeom>
              <a:rect b="b" l="l" r="r" t="t"/>
              <a:pathLst>
                <a:path extrusionOk="0" h="365759" w="3657600">
                  <a:moveTo>
                    <a:pt x="3561511" y="0"/>
                  </a:moveTo>
                  <a:lnTo>
                    <a:pt x="0" y="0"/>
                  </a:lnTo>
                  <a:lnTo>
                    <a:pt x="0" y="365760"/>
                  </a:lnTo>
                  <a:lnTo>
                    <a:pt x="3561511" y="365760"/>
                  </a:lnTo>
                  <a:lnTo>
                    <a:pt x="3657600" y="182880"/>
                  </a:lnTo>
                  <a:lnTo>
                    <a:pt x="35615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600"/>
                <a:buFont typeface="Arial"/>
                <a:buNone/>
              </a:pPr>
              <a:r>
                <a:rPr b="1" i="0" lang="es" sz="600" u="none" cap="none" strike="noStrike">
                  <a:solidFill>
                    <a:srgbClr val="FFFFFF"/>
                  </a:solidFill>
                  <a:latin typeface="Montserrat"/>
                  <a:ea typeface="Montserrat"/>
                  <a:cs typeface="Montserrat"/>
                  <a:sym typeface="Montserrat"/>
                </a:rPr>
                <a:t>4. Entrega de Servicios y Operaciones</a:t>
              </a:r>
              <a:endParaRPr b="0" i="0" sz="600" u="none" cap="none" strike="noStrike">
                <a:solidFill>
                  <a:srgbClr val="FFFFFF"/>
                </a:solidFill>
                <a:latin typeface="Montserrat"/>
                <a:ea typeface="Montserrat"/>
                <a:cs typeface="Montserrat"/>
                <a:sym typeface="Montserrat"/>
              </a:endParaRPr>
            </a:p>
          </p:txBody>
        </p:sp>
        <p:sp>
          <p:nvSpPr>
            <p:cNvPr id="1104" name="Google Shape;1104;p22"/>
            <p:cNvSpPr/>
            <p:nvPr/>
          </p:nvSpPr>
          <p:spPr>
            <a:xfrm>
              <a:off x="10963373" y="416435"/>
              <a:ext cx="2089404" cy="401421"/>
            </a:xfrm>
            <a:custGeom>
              <a:rect b="b" l="l" r="r" t="t"/>
              <a:pathLst>
                <a:path extrusionOk="0" h="365759" w="1828800">
                  <a:moveTo>
                    <a:pt x="1732711" y="0"/>
                  </a:moveTo>
                  <a:lnTo>
                    <a:pt x="0" y="0"/>
                  </a:lnTo>
                  <a:lnTo>
                    <a:pt x="0" y="365760"/>
                  </a:lnTo>
                  <a:lnTo>
                    <a:pt x="1732711" y="365760"/>
                  </a:lnTo>
                  <a:lnTo>
                    <a:pt x="1828800" y="182880"/>
                  </a:lnTo>
                  <a:lnTo>
                    <a:pt x="17327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600"/>
                <a:buFont typeface="Arial"/>
                <a:buNone/>
              </a:pPr>
              <a:r>
                <a:rPr b="1" i="0" lang="es" sz="600" u="none" cap="none" strike="noStrike">
                  <a:solidFill>
                    <a:srgbClr val="FFFFFF"/>
                  </a:solidFill>
                  <a:latin typeface="Montserrat"/>
                  <a:ea typeface="Montserrat"/>
                  <a:cs typeface="Montserrat"/>
                  <a:sym typeface="Montserrat"/>
                </a:rPr>
                <a:t>5. Apoyo al Negocio</a:t>
              </a:r>
              <a:endParaRPr b="0" i="0" sz="600" u="none" cap="none" strike="noStrike">
                <a:solidFill>
                  <a:srgbClr val="FFFFFF"/>
                </a:solidFill>
                <a:latin typeface="Montserrat"/>
                <a:ea typeface="Montserrat"/>
                <a:cs typeface="Montserrat"/>
                <a:sym typeface="Montserrat"/>
              </a:endParaRPr>
            </a:p>
          </p:txBody>
        </p:sp>
        <p:sp>
          <p:nvSpPr>
            <p:cNvPr id="1105" name="Google Shape;1105;p22"/>
            <p:cNvSpPr txBox="1"/>
            <p:nvPr/>
          </p:nvSpPr>
          <p:spPr>
            <a:xfrm>
              <a:off x="10963373" y="87900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Riesgo y Cumplimiento</a:t>
              </a:r>
              <a:endParaRPr b="1" i="0" sz="500" u="none" cap="none" strike="noStrike">
                <a:solidFill>
                  <a:srgbClr val="000000"/>
                </a:solidFill>
                <a:latin typeface="Montserrat"/>
                <a:ea typeface="Montserrat"/>
                <a:cs typeface="Montserrat"/>
                <a:sym typeface="Montserrat"/>
              </a:endParaRPr>
            </a:p>
          </p:txBody>
        </p:sp>
        <p:sp>
          <p:nvSpPr>
            <p:cNvPr id="1106" name="Google Shape;1106;p22"/>
            <p:cNvSpPr txBox="1"/>
            <p:nvPr/>
          </p:nvSpPr>
          <p:spPr>
            <a:xfrm>
              <a:off x="2385723" y="1830053"/>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Canales Asistidos</a:t>
              </a:r>
              <a:endParaRPr b="1" i="0" sz="500" u="none" cap="none" strike="noStrike">
                <a:solidFill>
                  <a:srgbClr val="000000"/>
                </a:solidFill>
                <a:latin typeface="Montserrat"/>
                <a:ea typeface="Montserrat"/>
                <a:cs typeface="Montserrat"/>
                <a:sym typeface="Montserrat"/>
              </a:endParaRPr>
            </a:p>
          </p:txBody>
        </p:sp>
        <p:sp>
          <p:nvSpPr>
            <p:cNvPr id="1107" name="Google Shape;1107;p22"/>
            <p:cNvSpPr txBox="1"/>
            <p:nvPr/>
          </p:nvSpPr>
          <p:spPr>
            <a:xfrm>
              <a:off x="2397879" y="3368335"/>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Experiencia del Cliente</a:t>
              </a:r>
              <a:endParaRPr b="1" i="0" sz="500" u="none" cap="none" strike="noStrike">
                <a:solidFill>
                  <a:srgbClr val="000000"/>
                </a:solidFill>
                <a:latin typeface="Montserrat"/>
                <a:ea typeface="Montserrat"/>
                <a:cs typeface="Montserrat"/>
                <a:sym typeface="Montserrat"/>
              </a:endParaRPr>
            </a:p>
          </p:txBody>
        </p:sp>
        <p:sp>
          <p:nvSpPr>
            <p:cNvPr id="1108" name="Google Shape;1108;p22"/>
            <p:cNvSpPr txBox="1"/>
            <p:nvPr/>
          </p:nvSpPr>
          <p:spPr>
            <a:xfrm>
              <a:off x="4531432" y="2295859"/>
              <a:ext cx="1987201" cy="265499"/>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Oportunidades</a:t>
              </a:r>
              <a:endParaRPr b="1" i="0" sz="900" u="none" cap="none" strike="noStrike">
                <a:solidFill>
                  <a:srgbClr val="000000"/>
                </a:solidFill>
                <a:latin typeface="Arial"/>
                <a:ea typeface="Arial"/>
                <a:cs typeface="Arial"/>
                <a:sym typeface="Arial"/>
              </a:endParaRPr>
            </a:p>
          </p:txBody>
        </p:sp>
        <p:sp>
          <p:nvSpPr>
            <p:cNvPr id="1109" name="Google Shape;1109;p22"/>
            <p:cNvSpPr txBox="1"/>
            <p:nvPr/>
          </p:nvSpPr>
          <p:spPr>
            <a:xfrm>
              <a:off x="4531432" y="3146177"/>
              <a:ext cx="1987200" cy="2655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Originación de Cuentas (depósitos)</a:t>
              </a:r>
              <a:endParaRPr b="1" i="0" sz="500" u="none" cap="none" strike="noStrike">
                <a:solidFill>
                  <a:srgbClr val="000000"/>
                </a:solidFill>
                <a:latin typeface="Montserrat"/>
                <a:ea typeface="Montserrat"/>
                <a:cs typeface="Montserrat"/>
                <a:sym typeface="Montserrat"/>
              </a:endParaRPr>
            </a:p>
          </p:txBody>
        </p:sp>
        <p:sp>
          <p:nvSpPr>
            <p:cNvPr id="1110" name="Google Shape;1110;p22"/>
            <p:cNvSpPr/>
            <p:nvPr/>
          </p:nvSpPr>
          <p:spPr>
            <a:xfrm>
              <a:off x="4531432" y="4269353"/>
              <a:ext cx="1988820" cy="266365"/>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Incorporación de Clientes</a:t>
              </a:r>
              <a:endParaRPr b="1" i="0" sz="500" u="none" cap="none" strike="noStrike">
                <a:solidFill>
                  <a:srgbClr val="000000"/>
                </a:solidFill>
                <a:latin typeface="Montserrat"/>
                <a:ea typeface="Montserrat"/>
                <a:cs typeface="Montserrat"/>
                <a:sym typeface="Montserrat"/>
              </a:endParaRPr>
            </a:p>
          </p:txBody>
        </p:sp>
        <p:sp>
          <p:nvSpPr>
            <p:cNvPr id="1111" name="Google Shape;1111;p22"/>
            <p:cNvSpPr txBox="1"/>
            <p:nvPr/>
          </p:nvSpPr>
          <p:spPr>
            <a:xfrm>
              <a:off x="231010" y="1209604"/>
              <a:ext cx="2070600" cy="1089600"/>
            </a:xfrm>
            <a:prstGeom prst="rect">
              <a:avLst/>
            </a:prstGeom>
            <a:noFill/>
            <a:ln>
              <a:noFill/>
            </a:ln>
          </p:spPr>
          <p:txBody>
            <a:bodyPr anchorCtr="0" anchor="t" bIns="0" lIns="0" spcFirstLastPara="1" rIns="0" wrap="square" tIns="0">
              <a:noAutofit/>
            </a:bodyPr>
            <a:lstStyle/>
            <a:p>
              <a:pPr indent="-88900" lvl="0" marL="88900" marR="101600" rtl="0" algn="l">
                <a:lnSpc>
                  <a:spcPct val="100000"/>
                </a:lnSpc>
                <a:spcBef>
                  <a:spcPts val="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Desarrollar estrategias y políticas de marketing</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Gestionar las marcas</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Ejecutar el marketing y publicidad</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Gestionar campañas y ofertas</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Supervisar la eficacia del marketing</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Segmentación de clientes</a:t>
              </a:r>
              <a:endParaRPr b="0" i="0" sz="450" u="none" cap="none" strike="noStrike">
                <a:solidFill>
                  <a:srgbClr val="BFBFBF"/>
                </a:solidFill>
                <a:latin typeface="Arial"/>
                <a:ea typeface="Arial"/>
                <a:cs typeface="Arial"/>
                <a:sym typeface="Arial"/>
              </a:endParaRPr>
            </a:p>
            <a:p>
              <a:pPr indent="-88900" lvl="0" marL="88900" marR="101600" rtl="0" algn="l">
                <a:lnSpc>
                  <a:spcPct val="100000"/>
                </a:lnSpc>
                <a:spcBef>
                  <a:spcPts val="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Supervisar la eficacia de los segmentos</a:t>
              </a:r>
              <a:endParaRPr b="0" i="0" sz="450" u="none" cap="none" strike="noStrike">
                <a:solidFill>
                  <a:srgbClr val="BFBFBF"/>
                </a:solidFill>
                <a:latin typeface="Montserrat"/>
                <a:ea typeface="Montserrat"/>
                <a:cs typeface="Montserrat"/>
                <a:sym typeface="Montserrat"/>
              </a:endParaRPr>
            </a:p>
            <a:p>
              <a:pPr indent="-88900" lvl="0" marL="88900" marR="101600" rtl="0" algn="l">
                <a:lnSpc>
                  <a:spcPct val="100000"/>
                </a:lnSpc>
                <a:spcBef>
                  <a:spcPts val="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Análisis de clientes</a:t>
              </a:r>
              <a:endParaRPr b="0" i="0" sz="450" u="none" cap="none" strike="noStrike">
                <a:solidFill>
                  <a:srgbClr val="BFBFBF"/>
                </a:solidFill>
                <a:latin typeface="Montserrat"/>
                <a:ea typeface="Montserrat"/>
                <a:cs typeface="Montserrat"/>
                <a:sym typeface="Montserrat"/>
              </a:endParaRPr>
            </a:p>
          </p:txBody>
        </p:sp>
        <p:sp>
          <p:nvSpPr>
            <p:cNvPr id="1112" name="Google Shape;1112;p22"/>
            <p:cNvSpPr txBox="1"/>
            <p:nvPr/>
          </p:nvSpPr>
          <p:spPr>
            <a:xfrm>
              <a:off x="231010" y="2814196"/>
              <a:ext cx="2070600" cy="9513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Realizar estudios de marketing</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Desarrollar productos y servicios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Gestionar el ciclo del producto</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Configurar productos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Tarifas de productos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Gestionar productos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Agrupación de productos</a:t>
              </a:r>
              <a:endParaRPr b="1" i="0" sz="450" u="none" cap="none" strike="noStrike">
                <a:solidFill>
                  <a:srgbClr val="171717"/>
                </a:solidFill>
                <a:latin typeface="Montserrat"/>
                <a:ea typeface="Montserrat"/>
                <a:cs typeface="Montserrat"/>
                <a:sym typeface="Montserrat"/>
              </a:endParaRPr>
            </a:p>
          </p:txBody>
        </p:sp>
        <p:sp>
          <p:nvSpPr>
            <p:cNvPr id="1113" name="Google Shape;1113;p22"/>
            <p:cNvSpPr txBox="1"/>
            <p:nvPr/>
          </p:nvSpPr>
          <p:spPr>
            <a:xfrm>
              <a:off x="236807" y="4374541"/>
              <a:ext cx="2070600" cy="5364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Definir estrategias de fijación de precios</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Administrar la relación de precios </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Lanzar/Monitorear la relación de precios</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Realizar el análisis de precios y rentabilidad</a:t>
              </a:r>
              <a:endParaRPr b="1" i="0" sz="450" u="none" cap="none" strike="noStrike">
                <a:solidFill>
                  <a:srgbClr val="000000"/>
                </a:solidFill>
                <a:latin typeface="Montserrat"/>
                <a:ea typeface="Montserrat"/>
                <a:cs typeface="Montserrat"/>
                <a:sym typeface="Montserrat"/>
              </a:endParaRPr>
            </a:p>
          </p:txBody>
        </p:sp>
        <p:sp>
          <p:nvSpPr>
            <p:cNvPr id="1114" name="Google Shape;1114;p22"/>
            <p:cNvSpPr txBox="1"/>
            <p:nvPr/>
          </p:nvSpPr>
          <p:spPr>
            <a:xfrm>
              <a:off x="2385723" y="1204062"/>
              <a:ext cx="2070600" cy="5364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Autenticación de los terceros</a:t>
              </a:r>
              <a:endParaRPr b="0"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Autorización de transacciones</a:t>
              </a:r>
              <a:endParaRPr b="0"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Integración de Servicios</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Asistencia interactiva</a:t>
              </a:r>
              <a:endParaRPr b="1" i="0" sz="450" u="none" cap="none" strike="noStrike">
                <a:solidFill>
                  <a:srgbClr val="000000"/>
                </a:solidFill>
                <a:latin typeface="Montserrat"/>
                <a:ea typeface="Montserrat"/>
                <a:cs typeface="Montserrat"/>
                <a:sym typeface="Montserrat"/>
              </a:endParaRPr>
            </a:p>
          </p:txBody>
        </p:sp>
        <p:sp>
          <p:nvSpPr>
            <p:cNvPr id="1115" name="Google Shape;1115;p22"/>
            <p:cNvSpPr txBox="1"/>
            <p:nvPr/>
          </p:nvSpPr>
          <p:spPr>
            <a:xfrm>
              <a:off x="2385723" y="3644588"/>
              <a:ext cx="2070600" cy="6747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Experiencia del usuario</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Gestión de ofertas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Autoservicio del cliente</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Gestión de problemas de servicio</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Gestión de casos</a:t>
              </a:r>
              <a:endParaRPr b="0" i="0" sz="450" u="none" cap="none" strike="noStrike">
                <a:solidFill>
                  <a:srgbClr val="BFBFBF"/>
                </a:solidFill>
                <a:latin typeface="Montserrat"/>
                <a:ea typeface="Montserrat"/>
                <a:cs typeface="Montserrat"/>
                <a:sym typeface="Montserrat"/>
              </a:endParaRPr>
            </a:p>
          </p:txBody>
        </p:sp>
        <p:sp>
          <p:nvSpPr>
            <p:cNvPr id="1116" name="Google Shape;1116;p22"/>
            <p:cNvSpPr txBox="1"/>
            <p:nvPr/>
          </p:nvSpPr>
          <p:spPr>
            <a:xfrm>
              <a:off x="4531432" y="1205095"/>
              <a:ext cx="2070600" cy="11100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Requisitos y necesidades de los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Acuerdos con los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Acceso y derechos de los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Rentabilidad y conocimiento del cliente</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Crédito del cliente</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000000"/>
                  </a:solidFill>
                  <a:latin typeface="Montserrat"/>
                  <a:ea typeface="Montserrat"/>
                  <a:cs typeface="Montserrat"/>
                  <a:sym typeface="Montserrat"/>
                </a:rPr>
                <a:t>Determinación de ventas cruzadas/ventas adicionales</a:t>
              </a:r>
              <a:endParaRPr b="0"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1" i="0" lang="es" sz="450" u="none" cap="none" strike="noStrike">
                  <a:solidFill>
                    <a:srgbClr val="000000"/>
                  </a:solidFill>
                  <a:latin typeface="Montserrat"/>
                  <a:ea typeface="Montserrat"/>
                  <a:cs typeface="Montserrat"/>
                  <a:sym typeface="Montserrat"/>
                </a:rPr>
                <a:t>Recuperación e historial de cuentas</a:t>
              </a:r>
              <a:endParaRPr b="1" i="0" sz="450" u="none" cap="none" strike="noStrike">
                <a:solidFill>
                  <a:srgbClr val="000000"/>
                </a:solidFill>
                <a:latin typeface="Montserrat"/>
                <a:ea typeface="Montserrat"/>
                <a:cs typeface="Montserrat"/>
                <a:sym typeface="Montserrat"/>
              </a:endParaRPr>
            </a:p>
          </p:txBody>
        </p:sp>
        <p:sp>
          <p:nvSpPr>
            <p:cNvPr id="1117" name="Google Shape;1117;p22"/>
            <p:cNvSpPr txBox="1"/>
            <p:nvPr/>
          </p:nvSpPr>
          <p:spPr>
            <a:xfrm>
              <a:off x="4531432" y="2566867"/>
              <a:ext cx="2027100" cy="5364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Cualificar clientes potenciales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Gestionar las referencias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Gestionar el pipeline</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BFBFBF"/>
                </a:buClr>
                <a:buSzPts val="450"/>
                <a:buFont typeface="Inter"/>
                <a:buChar char="•"/>
              </a:pPr>
              <a:r>
                <a:rPr b="0" i="0" lang="es" sz="450" u="none" cap="none" strike="noStrike">
                  <a:solidFill>
                    <a:srgbClr val="BFBFBF"/>
                  </a:solidFill>
                  <a:latin typeface="Montserrat"/>
                  <a:ea typeface="Montserrat"/>
                  <a:cs typeface="Montserrat"/>
                  <a:sym typeface="Montserrat"/>
                </a:rPr>
                <a:t>Gestionar oportunidades</a:t>
              </a:r>
              <a:endParaRPr b="0" i="0" sz="450" u="none" cap="none" strike="noStrike">
                <a:solidFill>
                  <a:srgbClr val="BFBFBF"/>
                </a:solidFill>
                <a:latin typeface="Montserrat"/>
                <a:ea typeface="Montserrat"/>
                <a:cs typeface="Montserrat"/>
                <a:sym typeface="Montserrat"/>
              </a:endParaRPr>
            </a:p>
          </p:txBody>
        </p:sp>
        <p:sp>
          <p:nvSpPr>
            <p:cNvPr id="1118" name="Google Shape;1118;p22"/>
            <p:cNvSpPr txBox="1"/>
            <p:nvPr/>
          </p:nvSpPr>
          <p:spPr>
            <a:xfrm>
              <a:off x="4531432" y="3458254"/>
              <a:ext cx="2097300" cy="7143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BA7A"/>
                </a:buClr>
                <a:buSzPts val="450"/>
                <a:buFont typeface="Inter"/>
                <a:buChar char="•"/>
              </a:pPr>
              <a:r>
                <a:rPr b="1" i="0" lang="es" sz="450" u="none" cap="none" strike="noStrike">
                  <a:solidFill>
                    <a:srgbClr val="000000"/>
                  </a:solidFill>
                  <a:latin typeface="Montserrat"/>
                  <a:ea typeface="Montserrat"/>
                  <a:cs typeface="Montserrat"/>
                  <a:sym typeface="Montserrat"/>
                </a:rPr>
                <a:t>Capturar la aplicación Verificar la aplicación de depositos</a:t>
              </a:r>
              <a:endParaRPr b="1" i="0" sz="45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00BA7A"/>
                </a:buClr>
                <a:buSzPts val="450"/>
                <a:buFont typeface="Inter"/>
                <a:buChar char="•"/>
              </a:pPr>
              <a:r>
                <a:rPr b="1" i="0" lang="es" sz="450" u="none" cap="none" strike="noStrike">
                  <a:solidFill>
                    <a:srgbClr val="000000"/>
                  </a:solidFill>
                  <a:latin typeface="Montserrat"/>
                  <a:ea typeface="Montserrat"/>
                  <a:cs typeface="Montserrat"/>
                  <a:sym typeface="Montserrat"/>
                </a:rPr>
                <a:t>Configurar las características de cuentas (simple/múltiple)</a:t>
              </a:r>
              <a:endParaRPr b="1" i="0" sz="45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00BA7A"/>
                </a:buClr>
                <a:buSzPts val="450"/>
                <a:buFont typeface="Inter"/>
                <a:buChar char="•"/>
              </a:pPr>
              <a:r>
                <a:rPr b="1" i="0" lang="es" sz="450" u="none" cap="none" strike="noStrike">
                  <a:solidFill>
                    <a:srgbClr val="000000"/>
                  </a:solidFill>
                  <a:latin typeface="Montserrat"/>
                  <a:ea typeface="Montserrat"/>
                  <a:cs typeface="Montserrat"/>
                  <a:sym typeface="Montserrat"/>
                </a:rPr>
                <a:t>Configuración dinámica de productos</a:t>
              </a:r>
              <a:endParaRPr b="1" i="0" sz="450" u="none" cap="none" strike="noStrike">
                <a:solidFill>
                  <a:srgbClr val="000000"/>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000000"/>
                  </a:solidFill>
                  <a:latin typeface="Montserrat"/>
                  <a:ea typeface="Montserrat"/>
                  <a:cs typeface="Montserrat"/>
                  <a:sym typeface="Montserrat"/>
                </a:rPr>
                <a:t>Verificar y activar cuentas</a:t>
              </a:r>
              <a:endParaRPr b="1" i="0" sz="450" u="none" cap="none" strike="noStrike">
                <a:solidFill>
                  <a:srgbClr val="000000"/>
                </a:solidFill>
                <a:latin typeface="Montserrat"/>
                <a:ea typeface="Montserrat"/>
                <a:cs typeface="Montserrat"/>
                <a:sym typeface="Montserrat"/>
              </a:endParaRPr>
            </a:p>
          </p:txBody>
        </p:sp>
        <p:sp>
          <p:nvSpPr>
            <p:cNvPr id="1119" name="Google Shape;1119;p22"/>
            <p:cNvSpPr txBox="1"/>
            <p:nvPr/>
          </p:nvSpPr>
          <p:spPr>
            <a:xfrm>
              <a:off x="4531432" y="4584738"/>
              <a:ext cx="2070600" cy="8130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Ordenar cheques/ATM/tarjetas de débito</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KYC/cumplimiento</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Creación y mantenimiento del perfil del cliente</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Verificaciones de terceros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Identificación y autenticación</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Asesoramiento y correspondencia</a:t>
              </a:r>
              <a:endParaRPr b="0" i="0" sz="450" u="none" cap="none" strike="noStrike">
                <a:solidFill>
                  <a:srgbClr val="BFBFBF"/>
                </a:solidFill>
                <a:latin typeface="Montserrat"/>
                <a:ea typeface="Montserrat"/>
                <a:cs typeface="Montserrat"/>
                <a:sym typeface="Montserrat"/>
              </a:endParaRPr>
            </a:p>
          </p:txBody>
        </p:sp>
        <p:sp>
          <p:nvSpPr>
            <p:cNvPr id="1120" name="Google Shape;1120;p22"/>
            <p:cNvSpPr/>
            <p:nvPr/>
          </p:nvSpPr>
          <p:spPr>
            <a:xfrm>
              <a:off x="6665002" y="1656788"/>
              <a:ext cx="1988820" cy="266365"/>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Procesamiento de Transacciones</a:t>
              </a:r>
              <a:endParaRPr b="1" i="0" sz="500" u="none" cap="none" strike="noStrike">
                <a:solidFill>
                  <a:srgbClr val="000000"/>
                </a:solidFill>
                <a:latin typeface="Montserrat"/>
                <a:ea typeface="Montserrat"/>
                <a:cs typeface="Montserrat"/>
                <a:sym typeface="Montserrat"/>
              </a:endParaRPr>
            </a:p>
          </p:txBody>
        </p:sp>
        <p:sp>
          <p:nvSpPr>
            <p:cNvPr id="1121" name="Google Shape;1121;p22"/>
            <p:cNvSpPr txBox="1"/>
            <p:nvPr/>
          </p:nvSpPr>
          <p:spPr>
            <a:xfrm>
              <a:off x="6665002" y="2762079"/>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Procesamiento de Cheques/Efectivo</a:t>
              </a:r>
              <a:endParaRPr b="1" i="0" sz="500" u="none" cap="none" strike="noStrike">
                <a:solidFill>
                  <a:srgbClr val="000000"/>
                </a:solidFill>
                <a:latin typeface="Montserrat"/>
                <a:ea typeface="Montserrat"/>
                <a:cs typeface="Montserrat"/>
                <a:sym typeface="Montserrat"/>
              </a:endParaRPr>
            </a:p>
          </p:txBody>
        </p:sp>
        <p:sp>
          <p:nvSpPr>
            <p:cNvPr id="1122" name="Google Shape;1122;p22"/>
            <p:cNvSpPr txBox="1"/>
            <p:nvPr/>
          </p:nvSpPr>
          <p:spPr>
            <a:xfrm>
              <a:off x="6665002" y="379917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Servicio y Mantenimiento de Cuentas</a:t>
              </a:r>
              <a:endParaRPr b="1" i="0" sz="500" u="none" cap="none" strike="noStrike">
                <a:solidFill>
                  <a:srgbClr val="000000"/>
                </a:solidFill>
                <a:latin typeface="Montserrat"/>
                <a:ea typeface="Montserrat"/>
                <a:cs typeface="Montserrat"/>
                <a:sym typeface="Montserrat"/>
              </a:endParaRPr>
            </a:p>
          </p:txBody>
        </p:sp>
        <p:sp>
          <p:nvSpPr>
            <p:cNvPr id="1123" name="Google Shape;1123;p22"/>
            <p:cNvSpPr txBox="1"/>
            <p:nvPr/>
          </p:nvSpPr>
          <p:spPr>
            <a:xfrm>
              <a:off x="6665002" y="1207256"/>
              <a:ext cx="2070600" cy="5364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Recuperar información de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Recuperar información de cuentas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Recuperar información de contacto</a:t>
              </a:r>
              <a:endParaRPr b="0" i="0" sz="450" u="none" cap="none" strike="noStrike">
                <a:solidFill>
                  <a:srgbClr val="BFBFBF"/>
                </a:solidFill>
                <a:latin typeface="Arial"/>
                <a:ea typeface="Arial"/>
                <a:cs typeface="Arial"/>
                <a:sym typeface="Arial"/>
              </a:endParaRPr>
            </a:p>
          </p:txBody>
        </p:sp>
        <p:sp>
          <p:nvSpPr>
            <p:cNvPr id="1124" name="Google Shape;1124;p22"/>
            <p:cNvSpPr txBox="1"/>
            <p:nvPr/>
          </p:nvSpPr>
          <p:spPr>
            <a:xfrm>
              <a:off x="6665002" y="3081928"/>
              <a:ext cx="2070600" cy="6747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depósitos con cheques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Procesar cheques en ventanilla</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Cobrar cheques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Depósitos/retiros de efectivo</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Reembolsos</a:t>
              </a:r>
              <a:endParaRPr b="1" i="0" sz="450" u="none" cap="none" strike="noStrike">
                <a:solidFill>
                  <a:srgbClr val="171717"/>
                </a:solidFill>
                <a:latin typeface="Montserrat"/>
                <a:ea typeface="Montserrat"/>
                <a:cs typeface="Montserrat"/>
                <a:sym typeface="Montserrat"/>
              </a:endParaRPr>
            </a:p>
          </p:txBody>
        </p:sp>
        <p:sp>
          <p:nvSpPr>
            <p:cNvPr id="1125" name="Google Shape;1125;p22"/>
            <p:cNvSpPr txBox="1"/>
            <p:nvPr/>
          </p:nvSpPr>
          <p:spPr>
            <a:xfrm>
              <a:off x="6665002" y="4120877"/>
              <a:ext cx="1987200" cy="1366200"/>
            </a:xfrm>
            <a:prstGeom prst="rect">
              <a:avLst/>
            </a:prstGeom>
            <a:solidFill>
              <a:schemeClr val="lt1"/>
            </a:solid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tarifas y precios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Realizar liquidaciones/Procesos de Fin de Día (EOD)</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Procesar excepciones/privilegios de acceso</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cuentas inactivas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Procesar las retenciones fiscales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Procesar ajustes bancarios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comisiones, sobregiros e intereses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divisas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Gestionar el cierre de cuentas</a:t>
              </a:r>
              <a:endParaRPr b="0" i="0" sz="9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resolución de problemas</a:t>
              </a:r>
              <a:endParaRPr b="1" i="0" sz="500" u="none" cap="none" strike="noStrike">
                <a:solidFill>
                  <a:srgbClr val="FFCF36"/>
                </a:solidFill>
                <a:latin typeface="Montserrat"/>
                <a:ea typeface="Montserrat"/>
                <a:cs typeface="Montserrat"/>
                <a:sym typeface="Montserrat"/>
              </a:endParaRPr>
            </a:p>
          </p:txBody>
        </p:sp>
        <p:sp>
          <p:nvSpPr>
            <p:cNvPr id="1126" name="Google Shape;1126;p22"/>
            <p:cNvSpPr txBox="1"/>
            <p:nvPr/>
          </p:nvSpPr>
          <p:spPr>
            <a:xfrm>
              <a:off x="6665002" y="5993630"/>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Intereses y Comisiones</a:t>
              </a:r>
              <a:endParaRPr b="1" i="0" sz="500" u="none" cap="none" strike="noStrike">
                <a:solidFill>
                  <a:srgbClr val="000000"/>
                </a:solidFill>
                <a:latin typeface="Montserrat"/>
                <a:ea typeface="Montserrat"/>
                <a:cs typeface="Montserrat"/>
                <a:sym typeface="Montserrat"/>
              </a:endParaRPr>
            </a:p>
          </p:txBody>
        </p:sp>
        <p:sp>
          <p:nvSpPr>
            <p:cNvPr id="1127" name="Google Shape;1127;p22"/>
            <p:cNvSpPr txBox="1"/>
            <p:nvPr/>
          </p:nvSpPr>
          <p:spPr>
            <a:xfrm>
              <a:off x="6649704" y="6265126"/>
              <a:ext cx="2070600" cy="259800"/>
            </a:xfrm>
            <a:prstGeom prst="rect">
              <a:avLst/>
            </a:prstGeom>
            <a:solidFill>
              <a:schemeClr val="lt1"/>
            </a:solid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 normas de precios flexibles</a:t>
              </a:r>
              <a:endParaRPr b="1" i="0" sz="450" u="none" cap="none" strike="noStrike">
                <a:solidFill>
                  <a:srgbClr val="171717"/>
                </a:solidFill>
                <a:latin typeface="Montserrat"/>
                <a:ea typeface="Montserrat"/>
                <a:cs typeface="Montserrat"/>
                <a:sym typeface="Montserrat"/>
              </a:endParaRPr>
            </a:p>
            <a:p>
              <a:pPr indent="-88900" lvl="0" marL="88900" marR="0" rtl="0" algn="l">
                <a:lnSpc>
                  <a:spcPct val="100000"/>
                </a:lnSpc>
                <a:spcBef>
                  <a:spcPts val="100"/>
                </a:spcBef>
                <a:spcAft>
                  <a:spcPts val="0"/>
                </a:spcAft>
                <a:buClr>
                  <a:srgbClr val="FFCF36"/>
                </a:buClr>
                <a:buSzPts val="500"/>
                <a:buFont typeface="Inter"/>
                <a:buChar char="•"/>
              </a:pPr>
              <a:r>
                <a:rPr b="1" i="0" lang="es" sz="450" u="none" cap="none" strike="noStrike">
                  <a:solidFill>
                    <a:srgbClr val="171717"/>
                  </a:solidFill>
                  <a:latin typeface="Montserrat"/>
                  <a:ea typeface="Montserrat"/>
                  <a:cs typeface="Montserrat"/>
                  <a:sym typeface="Montserrat"/>
                </a:rPr>
                <a:t>Gestión del cálculo de impuestos</a:t>
              </a:r>
              <a:endParaRPr b="1" i="0" sz="500" u="none" cap="none" strike="noStrike">
                <a:solidFill>
                  <a:srgbClr val="FFCF36"/>
                </a:solidFill>
                <a:latin typeface="Montserrat"/>
                <a:ea typeface="Montserrat"/>
                <a:cs typeface="Montserrat"/>
                <a:sym typeface="Montserrat"/>
              </a:endParaRPr>
            </a:p>
          </p:txBody>
        </p:sp>
        <p:sp>
          <p:nvSpPr>
            <p:cNvPr id="1128" name="Google Shape;1128;p22"/>
            <p:cNvSpPr/>
            <p:nvPr/>
          </p:nvSpPr>
          <p:spPr>
            <a:xfrm>
              <a:off x="8716778" y="1504533"/>
              <a:ext cx="1988820" cy="266365"/>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Alertas y Notificaciones</a:t>
              </a:r>
              <a:endParaRPr b="1" i="0" sz="500" u="none" cap="none" strike="noStrike">
                <a:solidFill>
                  <a:srgbClr val="000000"/>
                </a:solidFill>
                <a:latin typeface="Montserrat"/>
                <a:ea typeface="Montserrat"/>
                <a:cs typeface="Montserrat"/>
                <a:sym typeface="Montserrat"/>
              </a:endParaRPr>
            </a:p>
          </p:txBody>
        </p:sp>
        <p:sp>
          <p:nvSpPr>
            <p:cNvPr id="1129" name="Google Shape;1129;p22"/>
            <p:cNvSpPr txBox="1"/>
            <p:nvPr/>
          </p:nvSpPr>
          <p:spPr>
            <a:xfrm>
              <a:off x="8744269" y="2209484"/>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Cobros y Reclamos</a:t>
              </a:r>
              <a:endParaRPr b="1" i="0" sz="500" u="none" cap="none" strike="noStrike">
                <a:solidFill>
                  <a:srgbClr val="000000"/>
                </a:solidFill>
                <a:latin typeface="Montserrat"/>
                <a:ea typeface="Montserrat"/>
                <a:cs typeface="Montserrat"/>
                <a:sym typeface="Montserrat"/>
              </a:endParaRPr>
            </a:p>
          </p:txBody>
        </p:sp>
        <p:sp>
          <p:nvSpPr>
            <p:cNvPr id="1130" name="Google Shape;1130;p22"/>
            <p:cNvSpPr txBox="1"/>
            <p:nvPr/>
          </p:nvSpPr>
          <p:spPr>
            <a:xfrm>
              <a:off x="8744269" y="3310571"/>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Tarjetas</a:t>
              </a:r>
              <a:endParaRPr b="1" i="0" sz="500" u="none" cap="none" strike="noStrike">
                <a:solidFill>
                  <a:srgbClr val="000000"/>
                </a:solidFill>
                <a:latin typeface="Montserrat"/>
                <a:ea typeface="Montserrat"/>
                <a:cs typeface="Montserrat"/>
                <a:sym typeface="Montserrat"/>
              </a:endParaRPr>
            </a:p>
          </p:txBody>
        </p:sp>
        <p:sp>
          <p:nvSpPr>
            <p:cNvPr id="1131" name="Google Shape;1131;p22"/>
            <p:cNvSpPr txBox="1"/>
            <p:nvPr/>
          </p:nvSpPr>
          <p:spPr>
            <a:xfrm>
              <a:off x="8757263" y="1212496"/>
              <a:ext cx="2070600" cy="2598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Gestionar las relaciones con los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450"/>
                <a:buFont typeface="Inter"/>
                <a:buChar char="•"/>
              </a:pPr>
              <a:r>
                <a:rPr b="0" i="0" lang="es" sz="450" u="none" cap="none" strike="noStrike">
                  <a:solidFill>
                    <a:srgbClr val="BFBFBF"/>
                  </a:solidFill>
                  <a:latin typeface="Montserrat"/>
                  <a:ea typeface="Montserrat"/>
                  <a:cs typeface="Montserrat"/>
                  <a:sym typeface="Montserrat"/>
                </a:rPr>
                <a:t>Realizar mantenimientos</a:t>
              </a:r>
              <a:endParaRPr b="0" i="0" sz="450" u="none" cap="none" strike="noStrike">
                <a:solidFill>
                  <a:srgbClr val="BFBFBF"/>
                </a:solidFill>
                <a:latin typeface="Montserrat"/>
                <a:ea typeface="Montserrat"/>
                <a:cs typeface="Montserrat"/>
                <a:sym typeface="Montserrat"/>
              </a:endParaRPr>
            </a:p>
          </p:txBody>
        </p:sp>
        <p:sp>
          <p:nvSpPr>
            <p:cNvPr id="1132" name="Google Shape;1132;p22"/>
            <p:cNvSpPr txBox="1"/>
            <p:nvPr/>
          </p:nvSpPr>
          <p:spPr>
            <a:xfrm>
              <a:off x="8757263" y="1803152"/>
              <a:ext cx="2070600" cy="3981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Alertas de fraude y seguridad</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Alertas personalizadas a los clientes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Confirmaciones de transacciones</a:t>
              </a:r>
              <a:endParaRPr b="1" i="0" sz="450" u="none" cap="none" strike="noStrike">
                <a:solidFill>
                  <a:srgbClr val="171717"/>
                </a:solidFill>
                <a:latin typeface="Montserrat"/>
                <a:ea typeface="Montserrat"/>
                <a:cs typeface="Montserrat"/>
                <a:sym typeface="Montserrat"/>
              </a:endParaRPr>
            </a:p>
          </p:txBody>
        </p:sp>
        <p:sp>
          <p:nvSpPr>
            <p:cNvPr id="1133" name="Google Shape;1133;p22"/>
            <p:cNvSpPr txBox="1"/>
            <p:nvPr/>
          </p:nvSpPr>
          <p:spPr>
            <a:xfrm>
              <a:off x="8757263" y="2493670"/>
              <a:ext cx="2070600" cy="812100"/>
            </a:xfrm>
            <a:prstGeom prst="rect">
              <a:avLst/>
            </a:prstGeom>
            <a:noFill/>
            <a:ln>
              <a:noFill/>
            </a:ln>
          </p:spPr>
          <p:txBody>
            <a:bodyPr anchorCtr="0" anchor="t" bIns="0" lIns="0" spcFirstLastPara="1" rIns="0" wrap="square" tIns="0">
              <a:noAutofit/>
            </a:bodyPr>
            <a:lstStyle/>
            <a:p>
              <a:pPr indent="-88900" lvl="0" marL="88900" marR="1270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Contratar a una agencia de cobro y recuperación</a:t>
              </a:r>
              <a:endParaRPr b="0" i="0" sz="450" u="none" cap="none" strike="noStrike">
                <a:solidFill>
                  <a:srgbClr val="171717"/>
                </a:solidFill>
                <a:latin typeface="Arial"/>
                <a:ea typeface="Arial"/>
                <a:cs typeface="Arial"/>
                <a:sym typeface="Arial"/>
              </a:endParaRPr>
            </a:p>
            <a:p>
              <a:pPr indent="-88900" lvl="0" marL="88900" marR="1270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Gestionar el cobro y la recuperación</a:t>
              </a:r>
              <a:endParaRPr b="0" i="0" sz="450" u="none" cap="none" strike="noStrike">
                <a:solidFill>
                  <a:srgbClr val="171717"/>
                </a:solidFill>
                <a:latin typeface="Arial"/>
                <a:ea typeface="Arial"/>
                <a:cs typeface="Arial"/>
                <a:sym typeface="Arial"/>
              </a:endParaRPr>
            </a:p>
            <a:p>
              <a:pPr indent="-88900" lvl="0" marL="88900" marR="1270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Resolución de problemas</a:t>
              </a:r>
              <a:endParaRPr b="0" i="0" sz="450" u="none" cap="none" strike="noStrike">
                <a:solidFill>
                  <a:srgbClr val="171717"/>
                </a:solidFill>
                <a:latin typeface="Arial"/>
                <a:ea typeface="Arial"/>
                <a:cs typeface="Arial"/>
                <a:sym typeface="Arial"/>
              </a:endParaRPr>
            </a:p>
            <a:p>
              <a:pPr indent="-88900" lvl="0" marL="88900" marR="1270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Tramitar las bajas/las cancelaciones</a:t>
              </a:r>
              <a:endParaRPr b="0" i="0" sz="450" u="none" cap="none" strike="noStrike">
                <a:solidFill>
                  <a:srgbClr val="171717"/>
                </a:solidFill>
                <a:latin typeface="Arial"/>
                <a:ea typeface="Arial"/>
                <a:cs typeface="Arial"/>
                <a:sym typeface="Arial"/>
              </a:endParaRPr>
            </a:p>
            <a:p>
              <a:pPr indent="-88900" lvl="0" marL="88900" marR="1270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y resolución de reclamos</a:t>
              </a:r>
              <a:endParaRPr b="1" i="0" sz="450" u="none" cap="none" strike="noStrike">
                <a:solidFill>
                  <a:srgbClr val="171717"/>
                </a:solidFill>
                <a:latin typeface="Montserrat"/>
                <a:ea typeface="Montserrat"/>
                <a:cs typeface="Montserrat"/>
                <a:sym typeface="Montserrat"/>
              </a:endParaRPr>
            </a:p>
          </p:txBody>
        </p:sp>
        <p:sp>
          <p:nvSpPr>
            <p:cNvPr id="1134" name="Google Shape;1134;p22"/>
            <p:cNvSpPr txBox="1"/>
            <p:nvPr/>
          </p:nvSpPr>
          <p:spPr>
            <a:xfrm>
              <a:off x="8757263" y="3632165"/>
              <a:ext cx="2070600" cy="3981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Activación de tarjetas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Autorización y captura de tarjetas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Facturación y pagos con tarjeta</a:t>
              </a:r>
              <a:endParaRPr b="1" i="0" sz="450" u="none" cap="none" strike="noStrike">
                <a:solidFill>
                  <a:srgbClr val="171717"/>
                </a:solidFill>
                <a:latin typeface="Montserrat"/>
                <a:ea typeface="Montserrat"/>
                <a:cs typeface="Montserrat"/>
                <a:sym typeface="Montserrat"/>
              </a:endParaRPr>
            </a:p>
          </p:txBody>
        </p:sp>
        <p:sp>
          <p:nvSpPr>
            <p:cNvPr id="1135" name="Google Shape;1135;p22"/>
            <p:cNvSpPr txBox="1"/>
            <p:nvPr/>
          </p:nvSpPr>
          <p:spPr>
            <a:xfrm>
              <a:off x="8744269" y="4090410"/>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Operaciones entre Productos</a:t>
              </a:r>
              <a:endParaRPr b="1" i="0" sz="500" u="none" cap="none" strike="noStrike">
                <a:solidFill>
                  <a:srgbClr val="000000"/>
                </a:solidFill>
                <a:latin typeface="Montserrat"/>
                <a:ea typeface="Montserrat"/>
                <a:cs typeface="Montserrat"/>
                <a:sym typeface="Montserrat"/>
              </a:endParaRPr>
            </a:p>
          </p:txBody>
        </p:sp>
        <p:sp>
          <p:nvSpPr>
            <p:cNvPr id="1136" name="Google Shape;1136;p22"/>
            <p:cNvSpPr/>
            <p:nvPr/>
          </p:nvSpPr>
          <p:spPr>
            <a:xfrm>
              <a:off x="10963373" y="2567259"/>
              <a:ext cx="1988820" cy="266365"/>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las Finanzas</a:t>
              </a:r>
              <a:endParaRPr b="1" i="0" sz="500" u="none" cap="none" strike="noStrike">
                <a:solidFill>
                  <a:srgbClr val="000000"/>
                </a:solidFill>
                <a:latin typeface="Montserrat"/>
                <a:ea typeface="Montserrat"/>
                <a:cs typeface="Montserrat"/>
                <a:sym typeface="Montserrat"/>
              </a:endParaRPr>
            </a:p>
          </p:txBody>
        </p:sp>
        <p:sp>
          <p:nvSpPr>
            <p:cNvPr id="1137" name="Google Shape;1137;p22"/>
            <p:cNvSpPr txBox="1"/>
            <p:nvPr/>
          </p:nvSpPr>
          <p:spPr>
            <a:xfrm>
              <a:off x="10965246" y="1218007"/>
              <a:ext cx="2070600" cy="10896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Gestionar el riesgo de crédito</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Gestionar el riesgo operativo</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del riesgo empresarial</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Supervisión del consejo y la dirección</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Gestión del cumplimiento</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Gestión de los reclamos de los clientes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Auditoría interna</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Asesoría legal</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Regulatorio y Reportes</a:t>
              </a:r>
              <a:endParaRPr b="0" i="0" sz="450" u="none" cap="none" strike="noStrike">
                <a:solidFill>
                  <a:srgbClr val="171717"/>
                </a:solidFill>
                <a:latin typeface="Arial"/>
                <a:ea typeface="Arial"/>
                <a:cs typeface="Arial"/>
                <a:sym typeface="Arial"/>
              </a:endParaRPr>
            </a:p>
            <a:p>
              <a:pPr indent="-63500" lvl="0" marL="88900" marR="0" rtl="0" algn="l">
                <a:lnSpc>
                  <a:spcPct val="100000"/>
                </a:lnSpc>
                <a:spcBef>
                  <a:spcPts val="100"/>
                </a:spcBef>
                <a:spcAft>
                  <a:spcPts val="0"/>
                </a:spcAft>
                <a:buClr>
                  <a:srgbClr val="000000"/>
                </a:buClr>
                <a:buSzPts val="500"/>
                <a:buFont typeface="Inter"/>
                <a:buNone/>
              </a:pPr>
              <a:r>
                <a:t/>
              </a:r>
              <a:endParaRPr b="0" i="0" sz="500" u="none" cap="none" strike="noStrike">
                <a:solidFill>
                  <a:srgbClr val="000000"/>
                </a:solidFill>
                <a:latin typeface="Montserrat"/>
                <a:ea typeface="Montserrat"/>
                <a:cs typeface="Montserrat"/>
                <a:sym typeface="Montserrat"/>
              </a:endParaRPr>
            </a:p>
          </p:txBody>
        </p:sp>
        <p:sp>
          <p:nvSpPr>
            <p:cNvPr id="1138" name="Google Shape;1138;p22"/>
            <p:cNvSpPr txBox="1"/>
            <p:nvPr/>
          </p:nvSpPr>
          <p:spPr>
            <a:xfrm>
              <a:off x="10965246" y="2872101"/>
              <a:ext cx="2070600" cy="10896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Registro de reportes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Planificación y análisis financieros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Tesorería</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fiscal</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Conciliación y balances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Integración, diligencia debida y valoración</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Informes financieros</a:t>
              </a:r>
              <a:endParaRPr b="1"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 las partes interesadas externas</a:t>
              </a:r>
              <a:endParaRPr b="1" i="0" sz="450" u="none" cap="none" strike="noStrike">
                <a:solidFill>
                  <a:srgbClr val="171717"/>
                </a:solidFill>
                <a:latin typeface="Montserrat"/>
                <a:ea typeface="Montserrat"/>
                <a:cs typeface="Montserrat"/>
                <a:sym typeface="Montserrat"/>
              </a:endParaRPr>
            </a:p>
          </p:txBody>
        </p:sp>
        <p:sp>
          <p:nvSpPr>
            <p:cNvPr id="1139" name="Google Shape;1139;p22"/>
            <p:cNvSpPr txBox="1"/>
            <p:nvPr/>
          </p:nvSpPr>
          <p:spPr>
            <a:xfrm>
              <a:off x="10963373" y="4090410"/>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Tecnología de la Información</a:t>
              </a:r>
              <a:endParaRPr b="1" i="0" sz="500" u="none" cap="none" strike="noStrike">
                <a:solidFill>
                  <a:srgbClr val="000000"/>
                </a:solidFill>
                <a:latin typeface="Montserrat"/>
                <a:ea typeface="Montserrat"/>
                <a:cs typeface="Montserrat"/>
                <a:sym typeface="Montserrat"/>
              </a:endParaRPr>
            </a:p>
          </p:txBody>
        </p:sp>
        <p:sp>
          <p:nvSpPr>
            <p:cNvPr id="1140" name="Google Shape;1140;p22"/>
            <p:cNvSpPr txBox="1"/>
            <p:nvPr/>
          </p:nvSpPr>
          <p:spPr>
            <a:xfrm>
              <a:off x="10963373" y="5686205"/>
              <a:ext cx="1987200" cy="266400"/>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Seguridad de la Información</a:t>
              </a:r>
              <a:endParaRPr b="1" i="0" sz="900" u="none" cap="none" strike="noStrike">
                <a:solidFill>
                  <a:srgbClr val="000000"/>
                </a:solidFill>
                <a:latin typeface="Arial"/>
                <a:ea typeface="Arial"/>
                <a:cs typeface="Arial"/>
                <a:sym typeface="Arial"/>
              </a:endParaRPr>
            </a:p>
          </p:txBody>
        </p:sp>
        <p:sp>
          <p:nvSpPr>
            <p:cNvPr id="1141" name="Google Shape;1141;p22"/>
            <p:cNvSpPr txBox="1"/>
            <p:nvPr/>
          </p:nvSpPr>
          <p:spPr>
            <a:xfrm>
              <a:off x="10963373" y="5981258"/>
              <a:ext cx="1987200" cy="266400"/>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Recursos Humanos</a:t>
              </a:r>
              <a:endParaRPr b="1" i="0" sz="900" u="none" cap="none" strike="noStrike">
                <a:solidFill>
                  <a:srgbClr val="000000"/>
                </a:solidFill>
                <a:latin typeface="Arial"/>
                <a:ea typeface="Arial"/>
                <a:cs typeface="Arial"/>
                <a:sym typeface="Arial"/>
              </a:endParaRPr>
            </a:p>
          </p:txBody>
        </p:sp>
        <p:sp>
          <p:nvSpPr>
            <p:cNvPr id="1142" name="Google Shape;1142;p22"/>
            <p:cNvSpPr txBox="1"/>
            <p:nvPr/>
          </p:nvSpPr>
          <p:spPr>
            <a:xfrm>
              <a:off x="10963373" y="6276307"/>
              <a:ext cx="1987200" cy="266400"/>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Adquisiciones</a:t>
              </a:r>
              <a:endParaRPr b="1" i="0" sz="900" u="none" cap="none" strike="noStrike">
                <a:solidFill>
                  <a:srgbClr val="000000"/>
                </a:solidFill>
                <a:latin typeface="Arial"/>
                <a:ea typeface="Arial"/>
                <a:cs typeface="Arial"/>
                <a:sym typeface="Arial"/>
              </a:endParaRPr>
            </a:p>
          </p:txBody>
        </p:sp>
        <p:sp>
          <p:nvSpPr>
            <p:cNvPr id="1143" name="Google Shape;1143;p22"/>
            <p:cNvSpPr txBox="1"/>
            <p:nvPr/>
          </p:nvSpPr>
          <p:spPr>
            <a:xfrm>
              <a:off x="10963373" y="6571356"/>
              <a:ext cx="1987200" cy="266400"/>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Instalaciones, equipos y edificios</a:t>
              </a:r>
              <a:endParaRPr b="1" i="0" sz="900" u="none" cap="none" strike="noStrike">
                <a:solidFill>
                  <a:srgbClr val="000000"/>
                </a:solidFill>
                <a:latin typeface="Arial"/>
                <a:ea typeface="Arial"/>
                <a:cs typeface="Arial"/>
                <a:sym typeface="Arial"/>
              </a:endParaRPr>
            </a:p>
          </p:txBody>
        </p:sp>
        <p:sp>
          <p:nvSpPr>
            <p:cNvPr id="1144" name="Google Shape;1144;p22"/>
            <p:cNvSpPr txBox="1"/>
            <p:nvPr/>
          </p:nvSpPr>
          <p:spPr>
            <a:xfrm>
              <a:off x="10965246" y="4402155"/>
              <a:ext cx="2303119" cy="12279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Estrategia y gobernanza de TI (Microservicios)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Arquitectura Empresarial</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Innovación</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Arquitectura Tecnológica</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Gestión de proyectos y programas</a:t>
              </a:r>
              <a:endParaRPr b="0" i="0" sz="450" u="none" cap="none" strike="noStrike">
                <a:solidFill>
                  <a:srgbClr val="BFBFBF"/>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Entrega y soporte de soluciones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Infraestructura de TI</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Funciones de soporte de TI</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0" i="0" lang="es" sz="450" u="none" cap="none" strike="noStrike">
                  <a:solidFill>
                    <a:srgbClr val="BFBFBF"/>
                  </a:solidFill>
                  <a:latin typeface="Montserrat"/>
                  <a:ea typeface="Montserrat"/>
                  <a:cs typeface="Montserrat"/>
                  <a:sym typeface="Montserrat"/>
                </a:rPr>
                <a:t>Finanzas de TI</a:t>
              </a:r>
              <a:endParaRPr b="0" i="0" sz="450" u="none" cap="none" strike="noStrike">
                <a:solidFill>
                  <a:srgbClr val="BFBFBF"/>
                </a:solidFill>
                <a:latin typeface="Montserrat"/>
                <a:ea typeface="Montserrat"/>
                <a:cs typeface="Montserrat"/>
                <a:sym typeface="Montserrat"/>
              </a:endParaRPr>
            </a:p>
          </p:txBody>
        </p:sp>
        <p:sp>
          <p:nvSpPr>
            <p:cNvPr id="1145" name="Google Shape;1145;p22"/>
            <p:cNvSpPr/>
            <p:nvPr/>
          </p:nvSpPr>
          <p:spPr>
            <a:xfrm>
              <a:off x="192188" y="5571822"/>
              <a:ext cx="6323076" cy="247802"/>
            </a:xfrm>
            <a:custGeom>
              <a:rect b="b" l="l" r="r" t="t"/>
              <a:pathLst>
                <a:path extrusionOk="0" h="365760" w="5486400">
                  <a:moveTo>
                    <a:pt x="5390311" y="0"/>
                  </a:moveTo>
                  <a:lnTo>
                    <a:pt x="0" y="0"/>
                  </a:lnTo>
                  <a:lnTo>
                    <a:pt x="0" y="365759"/>
                  </a:lnTo>
                  <a:lnTo>
                    <a:pt x="5390311" y="365759"/>
                  </a:lnTo>
                  <a:lnTo>
                    <a:pt x="5486400" y="182879"/>
                  </a:lnTo>
                  <a:lnTo>
                    <a:pt x="5390311" y="0"/>
                  </a:lnTo>
                  <a:close/>
                </a:path>
              </a:pathLst>
            </a:custGeom>
            <a:solidFill>
              <a:srgbClr val="2F5597"/>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FFFF"/>
                </a:buClr>
                <a:buSzPts val="600"/>
                <a:buFont typeface="Arial"/>
                <a:buNone/>
              </a:pPr>
              <a:r>
                <a:rPr b="1" i="0" lang="es" sz="600" u="none" cap="none" strike="noStrike">
                  <a:solidFill>
                    <a:srgbClr val="FFFFFF"/>
                  </a:solidFill>
                  <a:latin typeface="Montserrat"/>
                  <a:ea typeface="Montserrat"/>
                  <a:cs typeface="Montserrat"/>
                  <a:sym typeface="Montserrat"/>
                </a:rPr>
                <a:t>6. Capacidades Básicas</a:t>
              </a:r>
              <a:endParaRPr b="0" i="0" sz="900" u="none" cap="none" strike="noStrike">
                <a:solidFill>
                  <a:srgbClr val="000000"/>
                </a:solidFill>
                <a:latin typeface="Arial"/>
                <a:ea typeface="Arial"/>
                <a:cs typeface="Arial"/>
                <a:sym typeface="Arial"/>
              </a:endParaRPr>
            </a:p>
          </p:txBody>
        </p:sp>
        <p:sp>
          <p:nvSpPr>
            <p:cNvPr id="1146" name="Google Shape;1146;p22"/>
            <p:cNvSpPr txBox="1"/>
            <p:nvPr/>
          </p:nvSpPr>
          <p:spPr>
            <a:xfrm>
              <a:off x="231010" y="879006"/>
              <a:ext cx="1987200" cy="266400"/>
            </a:xfrm>
            <a:prstGeom prst="rect">
              <a:avLst/>
            </a:prstGeom>
            <a:solidFill>
              <a:srgbClr val="AEABAB"/>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Marketing</a:t>
              </a:r>
              <a:endParaRPr b="1" i="0" sz="500" u="none" cap="none" strike="noStrike">
                <a:solidFill>
                  <a:srgbClr val="000000"/>
                </a:solidFill>
                <a:latin typeface="Montserrat"/>
                <a:ea typeface="Montserrat"/>
                <a:cs typeface="Montserrat"/>
                <a:sym typeface="Montserrat"/>
              </a:endParaRPr>
            </a:p>
          </p:txBody>
        </p:sp>
        <p:sp>
          <p:nvSpPr>
            <p:cNvPr id="1147" name="Google Shape;1147;p22"/>
            <p:cNvSpPr txBox="1"/>
            <p:nvPr/>
          </p:nvSpPr>
          <p:spPr>
            <a:xfrm>
              <a:off x="2385723" y="87900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Canales</a:t>
              </a:r>
              <a:endParaRPr b="1" i="0" sz="900" u="none" cap="none" strike="noStrike">
                <a:solidFill>
                  <a:srgbClr val="000000"/>
                </a:solidFill>
                <a:latin typeface="Arial"/>
                <a:ea typeface="Arial"/>
                <a:cs typeface="Arial"/>
                <a:sym typeface="Arial"/>
              </a:endParaRPr>
            </a:p>
          </p:txBody>
        </p:sp>
        <p:sp>
          <p:nvSpPr>
            <p:cNvPr id="1148" name="Google Shape;1148;p22"/>
            <p:cNvSpPr txBox="1"/>
            <p:nvPr/>
          </p:nvSpPr>
          <p:spPr>
            <a:xfrm>
              <a:off x="4531432" y="87900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del Cliente</a:t>
              </a:r>
              <a:endParaRPr b="1" i="0" sz="500" u="none" cap="none" strike="noStrike">
                <a:solidFill>
                  <a:srgbClr val="000000"/>
                </a:solidFill>
                <a:latin typeface="Montserrat"/>
                <a:ea typeface="Montserrat"/>
                <a:cs typeface="Montserrat"/>
                <a:sym typeface="Montserrat"/>
              </a:endParaRPr>
            </a:p>
          </p:txBody>
        </p:sp>
        <p:sp>
          <p:nvSpPr>
            <p:cNvPr id="1149" name="Google Shape;1149;p22"/>
            <p:cNvSpPr txBox="1"/>
            <p:nvPr/>
          </p:nvSpPr>
          <p:spPr>
            <a:xfrm>
              <a:off x="6665002" y="87900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Consultas del Cliente</a:t>
              </a:r>
              <a:endParaRPr b="1" i="0" sz="500" u="none" cap="none" strike="noStrike">
                <a:solidFill>
                  <a:srgbClr val="000000"/>
                </a:solidFill>
                <a:latin typeface="Montserrat"/>
                <a:ea typeface="Montserrat"/>
                <a:cs typeface="Montserrat"/>
                <a:sym typeface="Montserrat"/>
              </a:endParaRPr>
            </a:p>
          </p:txBody>
        </p:sp>
        <p:sp>
          <p:nvSpPr>
            <p:cNvPr id="1150" name="Google Shape;1150;p22"/>
            <p:cNvSpPr txBox="1"/>
            <p:nvPr/>
          </p:nvSpPr>
          <p:spPr>
            <a:xfrm>
              <a:off x="8744269" y="87900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 Households</a:t>
              </a:r>
              <a:endParaRPr b="1" i="0" sz="500" u="none" cap="none" strike="noStrike">
                <a:solidFill>
                  <a:srgbClr val="000000"/>
                </a:solidFill>
                <a:latin typeface="Montserrat"/>
                <a:ea typeface="Montserrat"/>
                <a:cs typeface="Montserrat"/>
                <a:sym typeface="Montserrat"/>
              </a:endParaRPr>
            </a:p>
          </p:txBody>
        </p:sp>
        <p:sp>
          <p:nvSpPr>
            <p:cNvPr id="1151" name="Google Shape;1151;p22"/>
            <p:cNvSpPr txBox="1"/>
            <p:nvPr/>
          </p:nvSpPr>
          <p:spPr>
            <a:xfrm>
              <a:off x="8757263" y="4382817"/>
              <a:ext cx="2070600" cy="23451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Informes y análisis de productos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 números de cuenta</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Recuperación de cheques, documentos y metadatos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Rendición de cuentas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Procesamiento de excepciones (incluidas devoluciones/anulaciones)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Conciliaciones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Servicios de cumplimiento de documentos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Procesamiento de artículos </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Enrutamiento y liquidación</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Procesamiento de remesas</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Seguimiento de la actividad comercial</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Operaciones de caja </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del riesgo de crédito</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Gestión del fraude</a:t>
              </a:r>
              <a:endParaRPr b="0" i="0" sz="450" u="none" cap="none" strike="noStrike">
                <a:solidFill>
                  <a:srgbClr val="171717"/>
                </a:solidFill>
                <a:latin typeface="Arial"/>
                <a:ea typeface="Arial"/>
                <a:cs typeface="Arial"/>
                <a:sym typeface="Arial"/>
              </a:endParaRPr>
            </a:p>
            <a:p>
              <a:pPr indent="-88900" lvl="0" marL="88900" marR="0" rtl="0" algn="l">
                <a:lnSpc>
                  <a:spcPct val="100000"/>
                </a:lnSpc>
                <a:spcBef>
                  <a:spcPts val="100"/>
                </a:spcBef>
                <a:spcAft>
                  <a:spcPts val="0"/>
                </a:spcAft>
                <a:buClr>
                  <a:srgbClr val="171717"/>
                </a:buClr>
                <a:buSzPts val="450"/>
                <a:buFont typeface="Inter"/>
                <a:buChar char="•"/>
              </a:pPr>
              <a:r>
                <a:rPr b="1" i="0" lang="es" sz="450" u="none" cap="none" strike="noStrike">
                  <a:solidFill>
                    <a:srgbClr val="171717"/>
                  </a:solidFill>
                  <a:latin typeface="Montserrat"/>
                  <a:ea typeface="Montserrat"/>
                  <a:cs typeface="Montserrat"/>
                  <a:sym typeface="Montserrat"/>
                </a:rPr>
                <a:t>Premios y puntos</a:t>
              </a:r>
              <a:endParaRPr b="1" i="0" sz="450" u="none" cap="none" strike="noStrike">
                <a:solidFill>
                  <a:srgbClr val="171717"/>
                </a:solidFill>
                <a:latin typeface="Montserrat"/>
                <a:ea typeface="Montserrat"/>
                <a:cs typeface="Montserrat"/>
                <a:sym typeface="Montserrat"/>
              </a:endParaRPr>
            </a:p>
          </p:txBody>
        </p:sp>
        <p:sp>
          <p:nvSpPr>
            <p:cNvPr id="1152" name="Google Shape;1152;p22"/>
            <p:cNvSpPr/>
            <p:nvPr/>
          </p:nvSpPr>
          <p:spPr>
            <a:xfrm>
              <a:off x="10731469" y="5064422"/>
              <a:ext cx="0" cy="142200"/>
            </a:xfrm>
            <a:prstGeom prst="rect">
              <a:avLst/>
            </a:prstGeom>
            <a:solidFill>
              <a:srgbClr val="87C544"/>
            </a:solidFill>
            <a:ln>
              <a:noFill/>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Calibri"/>
                <a:ea typeface="Calibri"/>
                <a:cs typeface="Calibri"/>
                <a:sym typeface="Calibri"/>
              </a:endParaRPr>
            </a:p>
          </p:txBody>
        </p:sp>
        <p:sp>
          <p:nvSpPr>
            <p:cNvPr id="1153" name="Google Shape;1153;p22"/>
            <p:cNvSpPr txBox="1"/>
            <p:nvPr/>
          </p:nvSpPr>
          <p:spPr>
            <a:xfrm>
              <a:off x="231010" y="2533936"/>
              <a:ext cx="1987200" cy="2664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Gestión del Producto</a:t>
              </a:r>
              <a:endParaRPr b="1" i="0" sz="500" u="none" cap="none" strike="noStrike">
                <a:solidFill>
                  <a:srgbClr val="000000"/>
                </a:solidFill>
                <a:latin typeface="Montserrat"/>
                <a:ea typeface="Montserrat"/>
                <a:cs typeface="Montserrat"/>
                <a:sym typeface="Montserrat"/>
              </a:endParaRPr>
            </a:p>
          </p:txBody>
        </p:sp>
        <p:sp>
          <p:nvSpPr>
            <p:cNvPr id="1154" name="Google Shape;1154;p22"/>
            <p:cNvSpPr/>
            <p:nvPr/>
          </p:nvSpPr>
          <p:spPr>
            <a:xfrm>
              <a:off x="230188" y="4008730"/>
              <a:ext cx="2071116" cy="266365"/>
            </a:xfrm>
            <a:custGeom>
              <a:rect b="b" l="l" r="r" t="t"/>
              <a:pathLst>
                <a:path extrusionOk="0" h="208914" w="1828800">
                  <a:moveTo>
                    <a:pt x="0" y="0"/>
                  </a:moveTo>
                  <a:lnTo>
                    <a:pt x="1828800" y="0"/>
                  </a:lnTo>
                  <a:lnTo>
                    <a:pt x="1828800" y="208724"/>
                  </a:lnTo>
                  <a:lnTo>
                    <a:pt x="0" y="208724"/>
                  </a:lnTo>
                  <a:lnTo>
                    <a:pt x="0" y="0"/>
                  </a:lnTo>
                  <a:close/>
                </a:path>
              </a:pathLst>
            </a:cu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000000"/>
                  </a:solidFill>
                  <a:latin typeface="Montserrat"/>
                  <a:ea typeface="Montserrat"/>
                  <a:cs typeface="Montserrat"/>
                  <a:sym typeface="Montserrat"/>
                </a:rPr>
                <a:t>Administración de Tarifas</a:t>
              </a:r>
              <a:endParaRPr b="1" i="0" sz="500" u="none" cap="none" strike="noStrike">
                <a:solidFill>
                  <a:srgbClr val="000000"/>
                </a:solidFill>
                <a:latin typeface="Montserrat"/>
                <a:ea typeface="Montserrat"/>
                <a:cs typeface="Montserrat"/>
                <a:sym typeface="Montserrat"/>
              </a:endParaRPr>
            </a:p>
          </p:txBody>
        </p:sp>
      </p:grpSp>
      <p:sp>
        <p:nvSpPr>
          <p:cNvPr id="1155" name="Google Shape;1155;p22"/>
          <p:cNvSpPr/>
          <p:nvPr/>
        </p:nvSpPr>
        <p:spPr>
          <a:xfrm>
            <a:off x="240236" y="204028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22"/>
          <p:cNvSpPr/>
          <p:nvPr/>
        </p:nvSpPr>
        <p:spPr>
          <a:xfrm>
            <a:off x="240236" y="2116859"/>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22"/>
          <p:cNvSpPr/>
          <p:nvPr/>
        </p:nvSpPr>
        <p:spPr>
          <a:xfrm>
            <a:off x="240236" y="2193432"/>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22"/>
          <p:cNvSpPr/>
          <p:nvPr/>
        </p:nvSpPr>
        <p:spPr>
          <a:xfrm>
            <a:off x="240236" y="2270005"/>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22"/>
          <p:cNvSpPr/>
          <p:nvPr/>
        </p:nvSpPr>
        <p:spPr>
          <a:xfrm>
            <a:off x="4537566" y="128425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22"/>
          <p:cNvSpPr/>
          <p:nvPr/>
        </p:nvSpPr>
        <p:spPr>
          <a:xfrm>
            <a:off x="4537566" y="135812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22"/>
          <p:cNvSpPr/>
          <p:nvPr/>
        </p:nvSpPr>
        <p:spPr>
          <a:xfrm>
            <a:off x="4537566" y="143199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22"/>
          <p:cNvSpPr/>
          <p:nvPr/>
        </p:nvSpPr>
        <p:spPr>
          <a:xfrm>
            <a:off x="4537566" y="150586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22"/>
          <p:cNvSpPr/>
          <p:nvPr/>
        </p:nvSpPr>
        <p:spPr>
          <a:xfrm>
            <a:off x="4537566" y="158768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22"/>
          <p:cNvSpPr/>
          <p:nvPr/>
        </p:nvSpPr>
        <p:spPr>
          <a:xfrm>
            <a:off x="4537566" y="1669690"/>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22"/>
          <p:cNvSpPr/>
          <p:nvPr/>
        </p:nvSpPr>
        <p:spPr>
          <a:xfrm>
            <a:off x="4537566" y="1943371"/>
            <a:ext cx="54000" cy="52500"/>
          </a:xfrm>
          <a:prstGeom prst="ellipse">
            <a:avLst/>
          </a:prstGeom>
          <a:solidFill>
            <a:srgbClr val="265AA7"/>
          </a:solidFill>
          <a:ln cap="flat" cmpd="sng" w="9525">
            <a:solidFill>
              <a:srgbClr val="265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22"/>
          <p:cNvSpPr/>
          <p:nvPr/>
        </p:nvSpPr>
        <p:spPr>
          <a:xfrm>
            <a:off x="4537566" y="2022867"/>
            <a:ext cx="54000" cy="52500"/>
          </a:xfrm>
          <a:prstGeom prst="ellipse">
            <a:avLst/>
          </a:prstGeom>
          <a:solidFill>
            <a:srgbClr val="265AA7"/>
          </a:solidFill>
          <a:ln cap="flat" cmpd="sng" w="9525">
            <a:solidFill>
              <a:srgbClr val="265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22"/>
          <p:cNvSpPr/>
          <p:nvPr/>
        </p:nvSpPr>
        <p:spPr>
          <a:xfrm>
            <a:off x="4537566" y="2105175"/>
            <a:ext cx="54000" cy="52500"/>
          </a:xfrm>
          <a:prstGeom prst="ellipse">
            <a:avLst/>
          </a:prstGeom>
          <a:solidFill>
            <a:srgbClr val="265AA7"/>
          </a:solidFill>
          <a:ln cap="flat" cmpd="sng" w="9525">
            <a:solidFill>
              <a:srgbClr val="265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22"/>
          <p:cNvSpPr/>
          <p:nvPr/>
        </p:nvSpPr>
        <p:spPr>
          <a:xfrm>
            <a:off x="4537566" y="2180336"/>
            <a:ext cx="54000" cy="52500"/>
          </a:xfrm>
          <a:prstGeom prst="ellipse">
            <a:avLst/>
          </a:prstGeom>
          <a:solidFill>
            <a:srgbClr val="265AA7"/>
          </a:solidFill>
          <a:ln cap="flat" cmpd="sng" w="9525">
            <a:solidFill>
              <a:srgbClr val="265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22"/>
          <p:cNvSpPr/>
          <p:nvPr/>
        </p:nvSpPr>
        <p:spPr>
          <a:xfrm>
            <a:off x="4537566" y="2255485"/>
            <a:ext cx="54000" cy="52500"/>
          </a:xfrm>
          <a:prstGeom prst="ellipse">
            <a:avLst/>
          </a:prstGeom>
          <a:solidFill>
            <a:srgbClr val="265AA7"/>
          </a:solidFill>
          <a:ln cap="flat" cmpd="sng" w="9525">
            <a:solidFill>
              <a:srgbClr val="265A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22"/>
          <p:cNvSpPr/>
          <p:nvPr/>
        </p:nvSpPr>
        <p:spPr>
          <a:xfrm>
            <a:off x="4537566" y="2539893"/>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22"/>
          <p:cNvSpPr/>
          <p:nvPr/>
        </p:nvSpPr>
        <p:spPr>
          <a:xfrm>
            <a:off x="4537566" y="263061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22"/>
          <p:cNvSpPr/>
          <p:nvPr/>
        </p:nvSpPr>
        <p:spPr>
          <a:xfrm>
            <a:off x="4537566" y="2780938"/>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22"/>
          <p:cNvSpPr/>
          <p:nvPr/>
        </p:nvSpPr>
        <p:spPr>
          <a:xfrm>
            <a:off x="4538008" y="286828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22"/>
          <p:cNvSpPr/>
          <p:nvPr/>
        </p:nvSpPr>
        <p:spPr>
          <a:xfrm>
            <a:off x="4536277" y="294523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22"/>
          <p:cNvSpPr/>
          <p:nvPr/>
        </p:nvSpPr>
        <p:spPr>
          <a:xfrm>
            <a:off x="4539329" y="302883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22"/>
          <p:cNvSpPr/>
          <p:nvPr/>
        </p:nvSpPr>
        <p:spPr>
          <a:xfrm>
            <a:off x="4537598" y="311534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22"/>
          <p:cNvSpPr/>
          <p:nvPr/>
        </p:nvSpPr>
        <p:spPr>
          <a:xfrm>
            <a:off x="4537571" y="3222149"/>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22"/>
          <p:cNvSpPr/>
          <p:nvPr/>
        </p:nvSpPr>
        <p:spPr>
          <a:xfrm>
            <a:off x="4533644" y="3372545"/>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22"/>
          <p:cNvSpPr/>
          <p:nvPr/>
        </p:nvSpPr>
        <p:spPr>
          <a:xfrm>
            <a:off x="4533644" y="345480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22"/>
          <p:cNvSpPr/>
          <p:nvPr/>
        </p:nvSpPr>
        <p:spPr>
          <a:xfrm>
            <a:off x="4537566" y="379426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22"/>
          <p:cNvSpPr/>
          <p:nvPr/>
        </p:nvSpPr>
        <p:spPr>
          <a:xfrm>
            <a:off x="4537566" y="3876831"/>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22"/>
          <p:cNvSpPr/>
          <p:nvPr/>
        </p:nvSpPr>
        <p:spPr>
          <a:xfrm>
            <a:off x="5937200" y="1199321"/>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22"/>
          <p:cNvSpPr/>
          <p:nvPr/>
        </p:nvSpPr>
        <p:spPr>
          <a:xfrm>
            <a:off x="5937200" y="128461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22"/>
          <p:cNvSpPr/>
          <p:nvPr/>
        </p:nvSpPr>
        <p:spPr>
          <a:xfrm>
            <a:off x="5937200" y="1369905"/>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22"/>
          <p:cNvSpPr/>
          <p:nvPr/>
        </p:nvSpPr>
        <p:spPr>
          <a:xfrm>
            <a:off x="5937200" y="1615480"/>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22"/>
          <p:cNvSpPr/>
          <p:nvPr/>
        </p:nvSpPr>
        <p:spPr>
          <a:xfrm>
            <a:off x="5937200" y="1750701"/>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22"/>
          <p:cNvSpPr/>
          <p:nvPr/>
        </p:nvSpPr>
        <p:spPr>
          <a:xfrm>
            <a:off x="5937200" y="183331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22"/>
          <p:cNvSpPr/>
          <p:nvPr/>
        </p:nvSpPr>
        <p:spPr>
          <a:xfrm>
            <a:off x="5937200" y="191592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22"/>
          <p:cNvSpPr/>
          <p:nvPr/>
        </p:nvSpPr>
        <p:spPr>
          <a:xfrm>
            <a:off x="5937200" y="1998541"/>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22"/>
          <p:cNvSpPr/>
          <p:nvPr/>
        </p:nvSpPr>
        <p:spPr>
          <a:xfrm>
            <a:off x="5937200" y="2269981"/>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22"/>
          <p:cNvSpPr/>
          <p:nvPr/>
        </p:nvSpPr>
        <p:spPr>
          <a:xfrm>
            <a:off x="5937200" y="2360802"/>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22"/>
          <p:cNvSpPr/>
          <p:nvPr/>
        </p:nvSpPr>
        <p:spPr>
          <a:xfrm>
            <a:off x="5937200" y="2435128"/>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22"/>
          <p:cNvSpPr/>
          <p:nvPr/>
        </p:nvSpPr>
        <p:spPr>
          <a:xfrm>
            <a:off x="5937200" y="2706648"/>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22"/>
          <p:cNvSpPr/>
          <p:nvPr/>
        </p:nvSpPr>
        <p:spPr>
          <a:xfrm>
            <a:off x="5937200" y="279745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22"/>
          <p:cNvSpPr/>
          <p:nvPr/>
        </p:nvSpPr>
        <p:spPr>
          <a:xfrm>
            <a:off x="5937200" y="2874858"/>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22"/>
          <p:cNvSpPr/>
          <p:nvPr/>
        </p:nvSpPr>
        <p:spPr>
          <a:xfrm>
            <a:off x="5937200" y="3009092"/>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22"/>
          <p:cNvSpPr/>
          <p:nvPr/>
        </p:nvSpPr>
        <p:spPr>
          <a:xfrm>
            <a:off x="5937200" y="3090309"/>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22"/>
          <p:cNvSpPr/>
          <p:nvPr/>
        </p:nvSpPr>
        <p:spPr>
          <a:xfrm>
            <a:off x="5937200" y="3237115"/>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22"/>
          <p:cNvSpPr/>
          <p:nvPr/>
        </p:nvSpPr>
        <p:spPr>
          <a:xfrm>
            <a:off x="5937200" y="3317327"/>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22"/>
          <p:cNvSpPr/>
          <p:nvPr/>
        </p:nvSpPr>
        <p:spPr>
          <a:xfrm>
            <a:off x="5937200" y="3390688"/>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22"/>
          <p:cNvSpPr/>
          <p:nvPr/>
        </p:nvSpPr>
        <p:spPr>
          <a:xfrm>
            <a:off x="5937200" y="3468173"/>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22"/>
          <p:cNvSpPr/>
          <p:nvPr/>
        </p:nvSpPr>
        <p:spPr>
          <a:xfrm>
            <a:off x="5937200" y="3556740"/>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22"/>
          <p:cNvSpPr/>
          <p:nvPr/>
        </p:nvSpPr>
        <p:spPr>
          <a:xfrm>
            <a:off x="5937200" y="3633255"/>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22"/>
          <p:cNvSpPr/>
          <p:nvPr/>
        </p:nvSpPr>
        <p:spPr>
          <a:xfrm>
            <a:off x="5937200" y="3713759"/>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22"/>
          <p:cNvSpPr/>
          <p:nvPr/>
        </p:nvSpPr>
        <p:spPr>
          <a:xfrm>
            <a:off x="5937200" y="379426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22"/>
          <p:cNvSpPr/>
          <p:nvPr/>
        </p:nvSpPr>
        <p:spPr>
          <a:xfrm>
            <a:off x="5937200" y="3879993"/>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22"/>
          <p:cNvSpPr/>
          <p:nvPr/>
        </p:nvSpPr>
        <p:spPr>
          <a:xfrm>
            <a:off x="5937200" y="3965712"/>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22"/>
          <p:cNvSpPr/>
          <p:nvPr/>
        </p:nvSpPr>
        <p:spPr>
          <a:xfrm>
            <a:off x="240236" y="269667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22"/>
          <p:cNvSpPr/>
          <p:nvPr/>
        </p:nvSpPr>
        <p:spPr>
          <a:xfrm>
            <a:off x="240236" y="2773250"/>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22"/>
          <p:cNvSpPr/>
          <p:nvPr/>
        </p:nvSpPr>
        <p:spPr>
          <a:xfrm>
            <a:off x="240236" y="2849823"/>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22"/>
          <p:cNvSpPr/>
          <p:nvPr/>
        </p:nvSpPr>
        <p:spPr>
          <a:xfrm>
            <a:off x="240236" y="2926396"/>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22"/>
          <p:cNvSpPr/>
          <p:nvPr/>
        </p:nvSpPr>
        <p:spPr>
          <a:xfrm>
            <a:off x="1679881" y="1503184"/>
            <a:ext cx="54000" cy="52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22"/>
          <p:cNvSpPr/>
          <p:nvPr/>
        </p:nvSpPr>
        <p:spPr>
          <a:xfrm>
            <a:off x="1679881" y="931164"/>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22"/>
          <p:cNvSpPr/>
          <p:nvPr/>
        </p:nvSpPr>
        <p:spPr>
          <a:xfrm>
            <a:off x="1679881" y="844176"/>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22"/>
          <p:cNvSpPr/>
          <p:nvPr/>
        </p:nvSpPr>
        <p:spPr>
          <a:xfrm>
            <a:off x="1679881" y="1832928"/>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22"/>
          <p:cNvSpPr/>
          <p:nvPr/>
        </p:nvSpPr>
        <p:spPr>
          <a:xfrm>
            <a:off x="1679881" y="1114075"/>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17" name="Google Shape;1217;p22"/>
          <p:cNvSpPr/>
          <p:nvPr/>
        </p:nvSpPr>
        <p:spPr>
          <a:xfrm>
            <a:off x="1679881" y="1668326"/>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18" name="Google Shape;1218;p22"/>
          <p:cNvSpPr/>
          <p:nvPr/>
        </p:nvSpPr>
        <p:spPr>
          <a:xfrm>
            <a:off x="1679881" y="175628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19" name="Google Shape;1219;p22"/>
          <p:cNvSpPr/>
          <p:nvPr/>
        </p:nvSpPr>
        <p:spPr>
          <a:xfrm>
            <a:off x="1679881" y="1422306"/>
            <a:ext cx="54000" cy="52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0" name="Google Shape;1220;p22"/>
          <p:cNvSpPr/>
          <p:nvPr/>
        </p:nvSpPr>
        <p:spPr>
          <a:xfrm>
            <a:off x="1679881" y="2279212"/>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221" name="Google Shape;1221;p22"/>
          <p:cNvSpPr/>
          <p:nvPr/>
        </p:nvSpPr>
        <p:spPr>
          <a:xfrm>
            <a:off x="1679881" y="102660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2" name="Google Shape;1222;p22"/>
          <p:cNvSpPr/>
          <p:nvPr/>
        </p:nvSpPr>
        <p:spPr>
          <a:xfrm>
            <a:off x="1679881" y="1586448"/>
            <a:ext cx="54000" cy="52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22"/>
          <p:cNvSpPr/>
          <p:nvPr/>
        </p:nvSpPr>
        <p:spPr>
          <a:xfrm>
            <a:off x="1679881" y="2439614"/>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22"/>
          <p:cNvSpPr/>
          <p:nvPr/>
        </p:nvSpPr>
        <p:spPr>
          <a:xfrm>
            <a:off x="1679881" y="2524932"/>
            <a:ext cx="54000" cy="52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5" name="Google Shape;1225;p22"/>
          <p:cNvSpPr/>
          <p:nvPr/>
        </p:nvSpPr>
        <p:spPr>
          <a:xfrm>
            <a:off x="3113337" y="216797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6" name="Google Shape;1226;p22"/>
          <p:cNvSpPr/>
          <p:nvPr/>
        </p:nvSpPr>
        <p:spPr>
          <a:xfrm>
            <a:off x="3113337" y="2315657"/>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7" name="Google Shape;1227;p22"/>
          <p:cNvSpPr/>
          <p:nvPr/>
        </p:nvSpPr>
        <p:spPr>
          <a:xfrm>
            <a:off x="3113337" y="2452678"/>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8" name="Google Shape;1228;p22"/>
          <p:cNvSpPr/>
          <p:nvPr/>
        </p:nvSpPr>
        <p:spPr>
          <a:xfrm>
            <a:off x="3113337" y="2541541"/>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29" name="Google Shape;1229;p22"/>
          <p:cNvSpPr/>
          <p:nvPr/>
        </p:nvSpPr>
        <p:spPr>
          <a:xfrm>
            <a:off x="3113337" y="2802665"/>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0" name="Google Shape;1230;p22"/>
          <p:cNvSpPr/>
          <p:nvPr/>
        </p:nvSpPr>
        <p:spPr>
          <a:xfrm>
            <a:off x="3113337" y="2900982"/>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1" name="Google Shape;1231;p22"/>
          <p:cNvSpPr/>
          <p:nvPr/>
        </p:nvSpPr>
        <p:spPr>
          <a:xfrm>
            <a:off x="3113337" y="3198576"/>
            <a:ext cx="54000" cy="52500"/>
          </a:xfrm>
          <a:prstGeom prst="ellipse">
            <a:avLst/>
          </a:prstGeom>
          <a:solidFill>
            <a:srgbClr val="FFCF36"/>
          </a:solidFill>
          <a:ln cap="flat" cmpd="sng" w="9525">
            <a:solidFill>
              <a:srgbClr val="FFC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2" name="Google Shape;1232;p22"/>
          <p:cNvSpPr/>
          <p:nvPr/>
        </p:nvSpPr>
        <p:spPr>
          <a:xfrm>
            <a:off x="3113337" y="1409513"/>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3" name="Google Shape;1233;p22"/>
          <p:cNvSpPr/>
          <p:nvPr/>
        </p:nvSpPr>
        <p:spPr>
          <a:xfrm>
            <a:off x="3113337" y="2989065"/>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4" name="Google Shape;1234;p22"/>
          <p:cNvSpPr/>
          <p:nvPr/>
        </p:nvSpPr>
        <p:spPr>
          <a:xfrm>
            <a:off x="3113337" y="311828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5" name="Google Shape;1235;p22"/>
          <p:cNvSpPr/>
          <p:nvPr/>
        </p:nvSpPr>
        <p:spPr>
          <a:xfrm>
            <a:off x="3113337" y="1165775"/>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6" name="Google Shape;1236;p22"/>
          <p:cNvSpPr/>
          <p:nvPr/>
        </p:nvSpPr>
        <p:spPr>
          <a:xfrm>
            <a:off x="7415550" y="957458"/>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7" name="Google Shape;1237;p22"/>
          <p:cNvSpPr/>
          <p:nvPr/>
        </p:nvSpPr>
        <p:spPr>
          <a:xfrm>
            <a:off x="7415550" y="865503"/>
            <a:ext cx="54000" cy="525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8" name="Google Shape;1238;p22"/>
          <p:cNvSpPr/>
          <p:nvPr/>
        </p:nvSpPr>
        <p:spPr>
          <a:xfrm>
            <a:off x="7415550" y="1495869"/>
            <a:ext cx="54000" cy="525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39" name="Google Shape;1239;p22"/>
          <p:cNvSpPr/>
          <p:nvPr/>
        </p:nvSpPr>
        <p:spPr>
          <a:xfrm>
            <a:off x="7415550" y="1829209"/>
            <a:ext cx="54000" cy="525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0" name="Google Shape;1240;p22"/>
          <p:cNvSpPr/>
          <p:nvPr/>
        </p:nvSpPr>
        <p:spPr>
          <a:xfrm>
            <a:off x="7415550" y="2706324"/>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1" name="Google Shape;1241;p22"/>
          <p:cNvSpPr/>
          <p:nvPr/>
        </p:nvSpPr>
        <p:spPr>
          <a:xfrm>
            <a:off x="7415550" y="2149839"/>
            <a:ext cx="54000" cy="525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2" name="Google Shape;1242;p22"/>
          <p:cNvSpPr/>
          <p:nvPr/>
        </p:nvSpPr>
        <p:spPr>
          <a:xfrm>
            <a:off x="7415550" y="2958550"/>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3" name="Google Shape;1243;p22"/>
          <p:cNvSpPr/>
          <p:nvPr/>
        </p:nvSpPr>
        <p:spPr>
          <a:xfrm>
            <a:off x="7415550" y="3198178"/>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4" name="Google Shape;1244;p22"/>
          <p:cNvSpPr/>
          <p:nvPr/>
        </p:nvSpPr>
        <p:spPr>
          <a:xfrm>
            <a:off x="7415550" y="3280029"/>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5" name="Google Shape;1245;p22"/>
          <p:cNvSpPr/>
          <p:nvPr/>
        </p:nvSpPr>
        <p:spPr>
          <a:xfrm>
            <a:off x="7415550" y="2231019"/>
            <a:ext cx="54000" cy="525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6" name="Google Shape;1246;p22"/>
          <p:cNvSpPr/>
          <p:nvPr/>
        </p:nvSpPr>
        <p:spPr>
          <a:xfrm>
            <a:off x="7415550" y="2305663"/>
            <a:ext cx="54000" cy="52500"/>
          </a:xfrm>
          <a:prstGeom prst="ellipse">
            <a:avLst/>
          </a:prstGeom>
          <a:solidFill>
            <a:srgbClr val="3DB9E5"/>
          </a:solidFill>
          <a:ln cap="flat" cmpd="sng" w="9525">
            <a:solidFill>
              <a:srgbClr val="3DB9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7" name="Google Shape;1247;p22"/>
          <p:cNvSpPr/>
          <p:nvPr/>
        </p:nvSpPr>
        <p:spPr>
          <a:xfrm>
            <a:off x="7415550" y="2886148"/>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8" name="Google Shape;1248;p22"/>
          <p:cNvSpPr/>
          <p:nvPr/>
        </p:nvSpPr>
        <p:spPr>
          <a:xfrm>
            <a:off x="7415550" y="2787093"/>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49" name="Google Shape;1249;p22"/>
          <p:cNvSpPr/>
          <p:nvPr/>
        </p:nvSpPr>
        <p:spPr>
          <a:xfrm>
            <a:off x="7415550" y="3111034"/>
            <a:ext cx="54000" cy="525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BA7A"/>
              </a:solidFill>
              <a:latin typeface="Montserrat"/>
              <a:ea typeface="Montserrat"/>
              <a:cs typeface="Montserrat"/>
              <a:sym typeface="Montserrat"/>
            </a:endParaRPr>
          </a:p>
        </p:txBody>
      </p:sp>
      <p:sp>
        <p:nvSpPr>
          <p:cNvPr id="1250" name="Google Shape;1250;p22"/>
          <p:cNvSpPr txBox="1"/>
          <p:nvPr/>
        </p:nvSpPr>
        <p:spPr>
          <a:xfrm>
            <a:off x="229275" y="3587854"/>
            <a:ext cx="1480500" cy="948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FFCF36"/>
              </a:buClr>
              <a:buSzPts val="700"/>
              <a:buFont typeface="Arial"/>
              <a:buNone/>
            </a:pPr>
            <a:r>
              <a:rPr b="1" i="0" lang="es" sz="450" u="none" cap="none" strike="noStrike">
                <a:solidFill>
                  <a:srgbClr val="171717"/>
                </a:solidFill>
                <a:latin typeface="Montserrat"/>
                <a:ea typeface="Montserrat"/>
                <a:cs typeface="Montserrat"/>
                <a:sym typeface="Montserrat"/>
              </a:rPr>
              <a:t>Homologación de Ambientes</a:t>
            </a:r>
            <a:endParaRPr b="0" i="0" sz="450" u="none" cap="none" strike="noStrike">
              <a:solidFill>
                <a:srgbClr val="171717"/>
              </a:solidFill>
              <a:latin typeface="Arial"/>
              <a:ea typeface="Arial"/>
              <a:cs typeface="Arial"/>
              <a:sym typeface="Arial"/>
            </a:endParaRPr>
          </a:p>
        </p:txBody>
      </p:sp>
      <p:sp>
        <p:nvSpPr>
          <p:cNvPr id="1251" name="Google Shape;1251;p22"/>
          <p:cNvSpPr txBox="1"/>
          <p:nvPr/>
        </p:nvSpPr>
        <p:spPr>
          <a:xfrm>
            <a:off x="1757750" y="3587854"/>
            <a:ext cx="1224000" cy="948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450"/>
              <a:buFont typeface="Arial"/>
              <a:buNone/>
            </a:pPr>
            <a:r>
              <a:rPr b="1" i="0" lang="es" sz="450" u="none" cap="none" strike="noStrike">
                <a:solidFill>
                  <a:srgbClr val="000000"/>
                </a:solidFill>
                <a:latin typeface="Montserrat"/>
                <a:ea typeface="Montserrat"/>
                <a:cs typeface="Montserrat"/>
                <a:sym typeface="Montserrat"/>
              </a:rPr>
              <a:t>Dev Sec Ops</a:t>
            </a:r>
            <a:endParaRPr b="1" i="0" sz="450" u="none" cap="none" strike="noStrike">
              <a:solidFill>
                <a:srgbClr val="000000"/>
              </a:solidFill>
              <a:latin typeface="Arial"/>
              <a:ea typeface="Arial"/>
              <a:cs typeface="Arial"/>
              <a:sym typeface="Arial"/>
            </a:endParaRPr>
          </a:p>
        </p:txBody>
      </p:sp>
      <p:sp>
        <p:nvSpPr>
          <p:cNvPr id="1252" name="Google Shape;1252;p22"/>
          <p:cNvSpPr txBox="1"/>
          <p:nvPr/>
        </p:nvSpPr>
        <p:spPr>
          <a:xfrm>
            <a:off x="3024825" y="3591653"/>
            <a:ext cx="1383900" cy="948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3DB9E5"/>
              </a:buClr>
              <a:buSzPts val="700"/>
              <a:buFont typeface="Arial"/>
              <a:buNone/>
            </a:pPr>
            <a:r>
              <a:rPr b="1" i="0" lang="es" sz="450" u="none" cap="none" strike="noStrike">
                <a:solidFill>
                  <a:srgbClr val="171717"/>
                </a:solidFill>
                <a:latin typeface="Montserrat"/>
                <a:ea typeface="Montserrat"/>
                <a:cs typeface="Montserrat"/>
                <a:sym typeface="Montserrat"/>
              </a:rPr>
              <a:t>Interfaces Temporales</a:t>
            </a:r>
            <a:endParaRPr b="0" i="0" sz="450" u="none" cap="none" strike="noStrike">
              <a:solidFill>
                <a:srgbClr val="000000"/>
              </a:solidFill>
              <a:latin typeface="Arial"/>
              <a:ea typeface="Arial"/>
              <a:cs typeface="Arial"/>
              <a:sym typeface="Arial"/>
            </a:endParaRPr>
          </a:p>
        </p:txBody>
      </p:sp>
      <p:sp>
        <p:nvSpPr>
          <p:cNvPr id="1253" name="Google Shape;1253;p22"/>
          <p:cNvSpPr txBox="1"/>
          <p:nvPr/>
        </p:nvSpPr>
        <p:spPr>
          <a:xfrm>
            <a:off x="229265" y="3771431"/>
            <a:ext cx="1481400" cy="5709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Creación de Ambientes -IaC</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Ambientación Automática de Datos</a:t>
            </a:r>
            <a:endParaRPr b="1" i="0" sz="45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Ambientes dedicados para Desarrollo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Ambientes dedicados para Integración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Ambientes dedicados para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Ambientes dedicados para similar Producción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10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Ambiente Productivo</a:t>
            </a:r>
            <a:endParaRPr b="1" i="0" sz="450" u="none" cap="none" strike="noStrike">
              <a:solidFill>
                <a:srgbClr val="000000"/>
              </a:solidFill>
              <a:latin typeface="Montserrat"/>
              <a:ea typeface="Montserrat"/>
              <a:cs typeface="Montserrat"/>
              <a:sym typeface="Montserrat"/>
            </a:endParaRPr>
          </a:p>
        </p:txBody>
      </p:sp>
      <p:sp>
        <p:nvSpPr>
          <p:cNvPr id="1254" name="Google Shape;1254;p22"/>
          <p:cNvSpPr txBox="1"/>
          <p:nvPr/>
        </p:nvSpPr>
        <p:spPr>
          <a:xfrm>
            <a:off x="1762245" y="3780608"/>
            <a:ext cx="1255200" cy="4122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Integración de Componentes </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Validación de Calidad de Código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Validación de Seguridad de Código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Automatización de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Validación Automática de Resultados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Puesta en Producción sin fricciones</a:t>
            </a:r>
            <a:endParaRPr b="0" i="0" sz="1400" u="none" cap="none" strike="noStrike">
              <a:solidFill>
                <a:srgbClr val="000000"/>
              </a:solidFill>
              <a:latin typeface="Arial"/>
              <a:ea typeface="Arial"/>
              <a:cs typeface="Arial"/>
              <a:sym typeface="Arial"/>
            </a:endParaRPr>
          </a:p>
        </p:txBody>
      </p:sp>
      <p:sp>
        <p:nvSpPr>
          <p:cNvPr id="1255" name="Google Shape;1255;p22"/>
          <p:cNvSpPr/>
          <p:nvPr/>
        </p:nvSpPr>
        <p:spPr>
          <a:xfrm>
            <a:off x="227373" y="378684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56" name="Google Shape;1256;p22"/>
          <p:cNvSpPr/>
          <p:nvPr/>
        </p:nvSpPr>
        <p:spPr>
          <a:xfrm>
            <a:off x="227373" y="390005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57" name="Google Shape;1257;p22"/>
          <p:cNvSpPr/>
          <p:nvPr/>
        </p:nvSpPr>
        <p:spPr>
          <a:xfrm>
            <a:off x="227373" y="400783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58" name="Google Shape;1258;p22"/>
          <p:cNvSpPr/>
          <p:nvPr/>
        </p:nvSpPr>
        <p:spPr>
          <a:xfrm>
            <a:off x="227373" y="411564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59" name="Google Shape;1259;p22"/>
          <p:cNvSpPr/>
          <p:nvPr/>
        </p:nvSpPr>
        <p:spPr>
          <a:xfrm>
            <a:off x="227373" y="420732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0" name="Google Shape;1260;p22"/>
          <p:cNvSpPr/>
          <p:nvPr/>
        </p:nvSpPr>
        <p:spPr>
          <a:xfrm>
            <a:off x="227373" y="430231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1" name="Google Shape;1261;p22"/>
          <p:cNvSpPr/>
          <p:nvPr/>
        </p:nvSpPr>
        <p:spPr>
          <a:xfrm>
            <a:off x="1750186" y="378523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2" name="Google Shape;1262;p22"/>
          <p:cNvSpPr/>
          <p:nvPr/>
        </p:nvSpPr>
        <p:spPr>
          <a:xfrm>
            <a:off x="1750186" y="3891613"/>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3" name="Google Shape;1263;p22"/>
          <p:cNvSpPr/>
          <p:nvPr/>
        </p:nvSpPr>
        <p:spPr>
          <a:xfrm>
            <a:off x="1750186" y="407416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4" name="Google Shape;1264;p22"/>
          <p:cNvSpPr/>
          <p:nvPr/>
        </p:nvSpPr>
        <p:spPr>
          <a:xfrm>
            <a:off x="1750186" y="425512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5" name="Google Shape;1265;p22"/>
          <p:cNvSpPr/>
          <p:nvPr/>
        </p:nvSpPr>
        <p:spPr>
          <a:xfrm>
            <a:off x="1750186" y="415881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6" name="Google Shape;1266;p22"/>
          <p:cNvSpPr/>
          <p:nvPr/>
        </p:nvSpPr>
        <p:spPr>
          <a:xfrm>
            <a:off x="1750186" y="407839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7" name="Google Shape;1267;p22"/>
          <p:cNvSpPr txBox="1"/>
          <p:nvPr/>
        </p:nvSpPr>
        <p:spPr>
          <a:xfrm>
            <a:off x="3043630" y="3713189"/>
            <a:ext cx="1362600" cy="7878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Identificación de funciones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Desacoplamiento y Apificación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Implementación interfaces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Redireccionamiento de datos y flujos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Validación y Replicación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Reemplazo de PISA</a:t>
            </a:r>
            <a:endParaRPr b="0" i="0" sz="1400" u="none" cap="none" strike="noStrike">
              <a:solidFill>
                <a:srgbClr val="000000"/>
              </a:solidFill>
              <a:latin typeface="Arial"/>
              <a:ea typeface="Arial"/>
              <a:cs typeface="Arial"/>
              <a:sym typeface="Arial"/>
            </a:endParaRPr>
          </a:p>
          <a:p>
            <a:pPr indent="-50800" lvl="0" marL="88900" marR="0" rtl="0" algn="l">
              <a:lnSpc>
                <a:spcPct val="100000"/>
              </a:lnSpc>
              <a:spcBef>
                <a:spcPts val="0"/>
              </a:spcBef>
              <a:spcAft>
                <a:spcPts val="0"/>
              </a:spcAft>
              <a:buClr>
                <a:srgbClr val="000000"/>
              </a:buClr>
              <a:buSzPts val="600"/>
              <a:buFont typeface="Inter"/>
              <a:buNone/>
            </a:pPr>
            <a:r>
              <a:t/>
            </a:r>
            <a:endParaRPr b="1" i="0" sz="450" u="none" cap="none" strike="noStrike">
              <a:solidFill>
                <a:srgbClr val="000000"/>
              </a:solidFill>
              <a:latin typeface="Montserrat"/>
              <a:ea typeface="Montserrat"/>
              <a:cs typeface="Montserrat"/>
              <a:sym typeface="Montserrat"/>
            </a:endParaRPr>
          </a:p>
        </p:txBody>
      </p:sp>
      <p:sp>
        <p:nvSpPr>
          <p:cNvPr id="1268" name="Google Shape;1268;p22"/>
          <p:cNvSpPr/>
          <p:nvPr/>
        </p:nvSpPr>
        <p:spPr>
          <a:xfrm>
            <a:off x="3043461" y="372463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69" name="Google Shape;1269;p22"/>
          <p:cNvSpPr/>
          <p:nvPr/>
        </p:nvSpPr>
        <p:spPr>
          <a:xfrm>
            <a:off x="3043461" y="381715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0" name="Google Shape;1270;p22"/>
          <p:cNvSpPr/>
          <p:nvPr/>
        </p:nvSpPr>
        <p:spPr>
          <a:xfrm>
            <a:off x="3043461" y="391585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1" name="Google Shape;1271;p22"/>
          <p:cNvSpPr/>
          <p:nvPr/>
        </p:nvSpPr>
        <p:spPr>
          <a:xfrm>
            <a:off x="3043461" y="400441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2" name="Google Shape;1272;p22"/>
          <p:cNvSpPr/>
          <p:nvPr/>
        </p:nvSpPr>
        <p:spPr>
          <a:xfrm>
            <a:off x="3043461" y="409297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3" name="Google Shape;1273;p22"/>
          <p:cNvSpPr/>
          <p:nvPr/>
        </p:nvSpPr>
        <p:spPr>
          <a:xfrm>
            <a:off x="3043461" y="419963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4" name="Google Shape;1274;p22"/>
          <p:cNvSpPr txBox="1"/>
          <p:nvPr/>
        </p:nvSpPr>
        <p:spPr>
          <a:xfrm>
            <a:off x="218700" y="4517936"/>
            <a:ext cx="1832700" cy="678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000000"/>
              </a:buClr>
              <a:buSzPts val="450"/>
              <a:buFont typeface="Arial"/>
              <a:buNone/>
            </a:pPr>
            <a:r>
              <a:rPr b="1" i="0" lang="es" sz="450" u="none" cap="none" strike="noStrike">
                <a:solidFill>
                  <a:srgbClr val="000000"/>
                </a:solidFill>
                <a:latin typeface="Montserrat"/>
                <a:ea typeface="Montserrat"/>
                <a:cs typeface="Montserrat"/>
                <a:sym typeface="Montserrat"/>
              </a:rPr>
              <a:t>Apificación de OfiWeb</a:t>
            </a:r>
            <a:endParaRPr b="1" i="0" sz="450" u="none" cap="none" strike="noStrike">
              <a:solidFill>
                <a:srgbClr val="000000"/>
              </a:solidFill>
              <a:latin typeface="Montserrat"/>
              <a:ea typeface="Montserrat"/>
              <a:cs typeface="Montserrat"/>
              <a:sym typeface="Montserrat"/>
            </a:endParaRPr>
          </a:p>
        </p:txBody>
      </p:sp>
      <p:sp>
        <p:nvSpPr>
          <p:cNvPr id="1275" name="Google Shape;1275;p22"/>
          <p:cNvSpPr txBox="1"/>
          <p:nvPr/>
        </p:nvSpPr>
        <p:spPr>
          <a:xfrm>
            <a:off x="223117" y="4596812"/>
            <a:ext cx="2037300" cy="7878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Identificación de funciones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Diseño del proceso de Desacoplamiento y Apificación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Desarrollo de API’s con base en la prioridad de producto</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Integración y Pruebas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Documentación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Gobierno y Mantenimiento de API’s</a:t>
            </a:r>
            <a:endParaRPr b="1" i="0" sz="450" u="none" cap="none" strike="noStrike">
              <a:solidFill>
                <a:srgbClr val="000000"/>
              </a:solidFill>
              <a:latin typeface="Montserrat"/>
              <a:ea typeface="Montserrat"/>
              <a:cs typeface="Montserrat"/>
              <a:sym typeface="Montserrat"/>
            </a:endParaRPr>
          </a:p>
          <a:p>
            <a:pPr indent="-50800" lvl="0" marL="88900" marR="0" rtl="0" algn="l">
              <a:lnSpc>
                <a:spcPct val="100000"/>
              </a:lnSpc>
              <a:spcBef>
                <a:spcPts val="0"/>
              </a:spcBef>
              <a:spcAft>
                <a:spcPts val="0"/>
              </a:spcAft>
              <a:buClr>
                <a:srgbClr val="000000"/>
              </a:buClr>
              <a:buSzPts val="600"/>
              <a:buFont typeface="Inter"/>
              <a:buNone/>
            </a:pPr>
            <a:r>
              <a:t/>
            </a:r>
            <a:endParaRPr b="1" i="0" sz="450" u="none" cap="none" strike="noStrike">
              <a:solidFill>
                <a:srgbClr val="000000"/>
              </a:solidFill>
              <a:latin typeface="Montserrat"/>
              <a:ea typeface="Montserrat"/>
              <a:cs typeface="Montserrat"/>
              <a:sym typeface="Montserrat"/>
            </a:endParaRPr>
          </a:p>
        </p:txBody>
      </p:sp>
      <p:sp>
        <p:nvSpPr>
          <p:cNvPr id="1276" name="Google Shape;1276;p22"/>
          <p:cNvSpPr/>
          <p:nvPr/>
        </p:nvSpPr>
        <p:spPr>
          <a:xfrm>
            <a:off x="218098" y="4612521"/>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7" name="Google Shape;1277;p22"/>
          <p:cNvSpPr/>
          <p:nvPr/>
        </p:nvSpPr>
        <p:spPr>
          <a:xfrm>
            <a:off x="218098" y="469336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8" name="Google Shape;1278;p22"/>
          <p:cNvSpPr/>
          <p:nvPr/>
        </p:nvSpPr>
        <p:spPr>
          <a:xfrm>
            <a:off x="218098" y="4787434"/>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79" name="Google Shape;1279;p22"/>
          <p:cNvSpPr/>
          <p:nvPr/>
        </p:nvSpPr>
        <p:spPr>
          <a:xfrm>
            <a:off x="218098" y="489278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0" name="Google Shape;1280;p22"/>
          <p:cNvSpPr/>
          <p:nvPr/>
        </p:nvSpPr>
        <p:spPr>
          <a:xfrm>
            <a:off x="218098" y="499811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1" name="Google Shape;1281;p22"/>
          <p:cNvSpPr/>
          <p:nvPr/>
        </p:nvSpPr>
        <p:spPr>
          <a:xfrm>
            <a:off x="218098" y="508437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2" name="Google Shape;1282;p22"/>
          <p:cNvSpPr txBox="1"/>
          <p:nvPr/>
        </p:nvSpPr>
        <p:spPr>
          <a:xfrm>
            <a:off x="2094900" y="4519851"/>
            <a:ext cx="2311200" cy="67800"/>
          </a:xfrm>
          <a:prstGeom prst="rect">
            <a:avLst/>
          </a:prstGeom>
          <a:solidFill>
            <a:schemeClr val="accent4"/>
          </a:solidFill>
          <a:ln>
            <a:noFill/>
          </a:ln>
        </p:spPr>
        <p:txBody>
          <a:bodyPr anchorCtr="0" anchor="ctr" bIns="0" lIns="70675" spcFirstLastPara="1" rIns="70675" wrap="square" tIns="0">
            <a:noAutofit/>
          </a:bodyPr>
          <a:lstStyle/>
          <a:p>
            <a:pPr indent="0" lvl="0" marL="0" marR="0" rtl="0" algn="l">
              <a:lnSpc>
                <a:spcPct val="100000"/>
              </a:lnSpc>
              <a:spcBef>
                <a:spcPts val="0"/>
              </a:spcBef>
              <a:spcAft>
                <a:spcPts val="0"/>
              </a:spcAft>
              <a:buClr>
                <a:srgbClr val="3DB9E5"/>
              </a:buClr>
              <a:buSzPts val="700"/>
              <a:buFont typeface="Arial"/>
              <a:buNone/>
            </a:pPr>
            <a:r>
              <a:rPr b="1" i="0" lang="es" sz="450" u="none" cap="none" strike="noStrike">
                <a:solidFill>
                  <a:srgbClr val="171717"/>
                </a:solidFill>
                <a:latin typeface="Montserrat"/>
                <a:ea typeface="Montserrat"/>
                <a:cs typeface="Montserrat"/>
                <a:sym typeface="Montserrat"/>
              </a:rPr>
              <a:t>Apificación de Canales</a:t>
            </a:r>
            <a:endParaRPr b="1" i="0" sz="450" u="none" cap="none" strike="noStrike">
              <a:solidFill>
                <a:srgbClr val="171717"/>
              </a:solidFill>
              <a:latin typeface="Montserrat"/>
              <a:ea typeface="Montserrat"/>
              <a:cs typeface="Montserrat"/>
              <a:sym typeface="Montserrat"/>
            </a:endParaRPr>
          </a:p>
        </p:txBody>
      </p:sp>
      <p:sp>
        <p:nvSpPr>
          <p:cNvPr id="1283" name="Google Shape;1283;p22"/>
          <p:cNvSpPr txBox="1"/>
          <p:nvPr/>
        </p:nvSpPr>
        <p:spPr>
          <a:xfrm>
            <a:off x="2121386" y="4606494"/>
            <a:ext cx="2284800" cy="414300"/>
          </a:xfrm>
          <a:prstGeom prst="rect">
            <a:avLst/>
          </a:prstGeom>
          <a:noFill/>
          <a:ln>
            <a:noFill/>
          </a:ln>
        </p:spPr>
        <p:txBody>
          <a:bodyPr anchorCtr="0" anchor="t" bIns="0" lIns="0" spcFirstLastPara="1" rIns="0" wrap="square" tIns="0">
            <a:noAutofit/>
          </a:bodyPr>
          <a:lstStyle/>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Identificación de Canales con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Análisis de funcionalidades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Diseño de arquitectura (BIAN)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Desarrollo, Pruebas e Implementación</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Transición (Redireccionamiento flujos y Datos)</a:t>
            </a:r>
            <a:endParaRPr b="0" i="0" sz="1400" u="none" cap="none" strike="noStrike">
              <a:solidFill>
                <a:srgbClr val="000000"/>
              </a:solidFill>
              <a:latin typeface="Arial"/>
              <a:ea typeface="Arial"/>
              <a:cs typeface="Arial"/>
              <a:sym typeface="Arial"/>
            </a:endParaRPr>
          </a:p>
          <a:p>
            <a:pPr indent="-88900" lvl="0" marL="88900" marR="0" rtl="0" algn="l">
              <a:lnSpc>
                <a:spcPct val="100000"/>
              </a:lnSpc>
              <a:spcBef>
                <a:spcPts val="0"/>
              </a:spcBef>
              <a:spcAft>
                <a:spcPts val="0"/>
              </a:spcAft>
              <a:buClr>
                <a:srgbClr val="000000"/>
              </a:buClr>
              <a:buSzPts val="600"/>
              <a:buFont typeface="Inter"/>
              <a:buChar char="•"/>
            </a:pPr>
            <a:r>
              <a:rPr b="1" i="0" lang="es" sz="450" u="none" cap="none" strike="noStrike">
                <a:solidFill>
                  <a:srgbClr val="000000"/>
                </a:solidFill>
                <a:latin typeface="Montserrat"/>
                <a:ea typeface="Montserrat"/>
                <a:cs typeface="Montserrat"/>
                <a:sym typeface="Montserrat"/>
              </a:rPr>
              <a:t>Retiro de Canales Antiguos</a:t>
            </a:r>
            <a:endParaRPr b="0" i="0" sz="1400" u="none" cap="none" strike="noStrike">
              <a:solidFill>
                <a:srgbClr val="000000"/>
              </a:solidFill>
              <a:latin typeface="Arial"/>
              <a:ea typeface="Arial"/>
              <a:cs typeface="Arial"/>
              <a:sym typeface="Arial"/>
            </a:endParaRPr>
          </a:p>
        </p:txBody>
      </p:sp>
      <p:sp>
        <p:nvSpPr>
          <p:cNvPr id="1284" name="Google Shape;1284;p22"/>
          <p:cNvSpPr/>
          <p:nvPr/>
        </p:nvSpPr>
        <p:spPr>
          <a:xfrm>
            <a:off x="2121385" y="4638996"/>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5" name="Google Shape;1285;p22"/>
          <p:cNvSpPr/>
          <p:nvPr/>
        </p:nvSpPr>
        <p:spPr>
          <a:xfrm>
            <a:off x="2121385" y="471983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6" name="Google Shape;1286;p22"/>
          <p:cNvSpPr/>
          <p:nvPr/>
        </p:nvSpPr>
        <p:spPr>
          <a:xfrm>
            <a:off x="2121385" y="480530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7" name="Google Shape;1287;p22"/>
          <p:cNvSpPr/>
          <p:nvPr/>
        </p:nvSpPr>
        <p:spPr>
          <a:xfrm>
            <a:off x="2121385" y="4897730"/>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8" name="Google Shape;1288;p22"/>
          <p:cNvSpPr/>
          <p:nvPr/>
        </p:nvSpPr>
        <p:spPr>
          <a:xfrm>
            <a:off x="2121385" y="4990168"/>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89" name="Google Shape;1289;p22"/>
          <p:cNvSpPr/>
          <p:nvPr/>
        </p:nvSpPr>
        <p:spPr>
          <a:xfrm>
            <a:off x="2121385" y="5084379"/>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pic>
        <p:nvPicPr>
          <p:cNvPr id="1290" name="Google Shape;1290;p22"/>
          <p:cNvPicPr preferRelativeResize="0"/>
          <p:nvPr/>
        </p:nvPicPr>
        <p:blipFill rotWithShape="1">
          <a:blip r:embed="rId3">
            <a:alphaModFix/>
          </a:blip>
          <a:srcRect b="0" l="0" r="0" t="0"/>
          <a:stretch/>
        </p:blipFill>
        <p:spPr>
          <a:xfrm>
            <a:off x="5216473" y="4841103"/>
            <a:ext cx="3822700" cy="203200"/>
          </a:xfrm>
          <a:prstGeom prst="rect">
            <a:avLst/>
          </a:prstGeom>
          <a:noFill/>
          <a:ln>
            <a:noFill/>
          </a:ln>
        </p:spPr>
      </p:pic>
      <p:sp>
        <p:nvSpPr>
          <p:cNvPr id="1291" name="Google Shape;1291;p22"/>
          <p:cNvSpPr/>
          <p:nvPr/>
        </p:nvSpPr>
        <p:spPr>
          <a:xfrm>
            <a:off x="227373" y="4410115"/>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92" name="Google Shape;1292;p22"/>
          <p:cNvSpPr/>
          <p:nvPr/>
        </p:nvSpPr>
        <p:spPr>
          <a:xfrm>
            <a:off x="1750186" y="3985017"/>
            <a:ext cx="54000" cy="54000"/>
          </a:xfrm>
          <a:prstGeom prst="ellipse">
            <a:avLst/>
          </a:prstGeom>
          <a:solidFill>
            <a:srgbClr val="ED7D31"/>
          </a:solidFill>
          <a:ln cap="flat" cmpd="sng" w="9525">
            <a:solidFill>
              <a:srgbClr val="ED7D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p:txBody>
      </p:sp>
      <p:sp>
        <p:nvSpPr>
          <p:cNvPr id="1293" name="Google Shape;1293;p22"/>
          <p:cNvSpPr/>
          <p:nvPr/>
        </p:nvSpPr>
        <p:spPr>
          <a:xfrm>
            <a:off x="4536269" y="3549494"/>
            <a:ext cx="54000" cy="525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251d93618e3_0_1321"/>
          <p:cNvSpPr txBox="1"/>
          <p:nvPr/>
        </p:nvSpPr>
        <p:spPr>
          <a:xfrm>
            <a:off x="1814432" y="2888682"/>
            <a:ext cx="5005800" cy="880200"/>
          </a:xfrm>
          <a:prstGeom prst="rect">
            <a:avLst/>
          </a:prstGeom>
          <a:noFill/>
          <a:ln>
            <a:noFill/>
          </a:ln>
        </p:spPr>
        <p:txBody>
          <a:bodyPr anchorCtr="0" anchor="t" bIns="58875" lIns="58875" spcFirstLastPara="1" rIns="58875" wrap="square" tIns="58875">
            <a:spAutoFit/>
          </a:bodyPr>
          <a:lstStyle/>
          <a:p>
            <a:pPr indent="0" lvl="0" marL="0" marR="0" rtl="0" algn="l">
              <a:lnSpc>
                <a:spcPct val="115000"/>
              </a:lnSpc>
              <a:spcBef>
                <a:spcPts val="0"/>
              </a:spcBef>
              <a:spcAft>
                <a:spcPts val="0"/>
              </a:spcAft>
              <a:buClr>
                <a:srgbClr val="000000"/>
              </a:buClr>
              <a:buSzPts val="2300"/>
              <a:buFont typeface="Arial"/>
              <a:buNone/>
            </a:pPr>
            <a:r>
              <a:rPr b="1" i="0" lang="es" sz="2300" u="none" cap="none" strike="noStrike">
                <a:solidFill>
                  <a:srgbClr val="265AA7"/>
                </a:solidFill>
                <a:latin typeface="Montserrat"/>
                <a:ea typeface="Montserrat"/>
                <a:cs typeface="Montserrat"/>
                <a:sym typeface="Montserrat"/>
              </a:rPr>
              <a:t>Arquitectura empresarial de referencia UNITY</a:t>
            </a:r>
            <a:endParaRPr b="0" i="0" sz="900" u="none" cap="none" strike="noStrike">
              <a:solidFill>
                <a:srgbClr val="000000"/>
              </a:solidFill>
              <a:latin typeface="Arial"/>
              <a:ea typeface="Arial"/>
              <a:cs typeface="Arial"/>
              <a:sym typeface="Arial"/>
            </a:endParaRPr>
          </a:p>
        </p:txBody>
      </p:sp>
      <p:sp>
        <p:nvSpPr>
          <p:cNvPr id="1299" name="Google Shape;1299;g251d93618e3_0_1321"/>
          <p:cNvSpPr/>
          <p:nvPr/>
        </p:nvSpPr>
        <p:spPr>
          <a:xfrm flipH="1" rot="-8298878">
            <a:off x="6409583" y="2009387"/>
            <a:ext cx="411913" cy="411913"/>
          </a:xfrm>
          <a:custGeom>
            <a:rect b="b" l="l" r="r" t="t"/>
            <a:pathLst>
              <a:path extrusionOk="0" fill="none" h="8195" w="8195">
                <a:moveTo>
                  <a:pt x="2626" y="4497"/>
                </a:moveTo>
                <a:cubicBezTo>
                  <a:pt x="2831" y="5273"/>
                  <a:pt x="3630" y="5753"/>
                  <a:pt x="4406" y="5547"/>
                </a:cubicBezTo>
                <a:cubicBezTo>
                  <a:pt x="5182" y="5319"/>
                  <a:pt x="5661" y="4520"/>
                  <a:pt x="5456" y="3744"/>
                </a:cubicBezTo>
                <a:cubicBezTo>
                  <a:pt x="5250" y="2968"/>
                  <a:pt x="4452" y="2488"/>
                  <a:pt x="3653" y="2694"/>
                </a:cubicBezTo>
                <a:cubicBezTo>
                  <a:pt x="2877" y="2899"/>
                  <a:pt x="2420" y="3721"/>
                  <a:pt x="2626" y="4497"/>
                </a:cubicBezTo>
                <a:close/>
                <a:moveTo>
                  <a:pt x="2420" y="1187"/>
                </a:moveTo>
                <a:lnTo>
                  <a:pt x="2397" y="343"/>
                </a:lnTo>
                <a:lnTo>
                  <a:pt x="3721" y="1"/>
                </a:lnTo>
                <a:lnTo>
                  <a:pt x="4109" y="731"/>
                </a:lnTo>
                <a:cubicBezTo>
                  <a:pt x="4406" y="731"/>
                  <a:pt x="4703" y="777"/>
                  <a:pt x="4977" y="868"/>
                </a:cubicBezTo>
                <a:lnTo>
                  <a:pt x="5547" y="252"/>
                </a:lnTo>
                <a:lnTo>
                  <a:pt x="6734" y="936"/>
                </a:lnTo>
                <a:lnTo>
                  <a:pt x="6483" y="1735"/>
                </a:lnTo>
                <a:cubicBezTo>
                  <a:pt x="6688" y="1941"/>
                  <a:pt x="6871" y="2169"/>
                  <a:pt x="7031" y="2443"/>
                </a:cubicBezTo>
                <a:lnTo>
                  <a:pt x="7853" y="2420"/>
                </a:lnTo>
                <a:lnTo>
                  <a:pt x="8195" y="3721"/>
                </a:lnTo>
                <a:lnTo>
                  <a:pt x="7465" y="4109"/>
                </a:lnTo>
                <a:cubicBezTo>
                  <a:pt x="7465" y="4406"/>
                  <a:pt x="7419" y="4703"/>
                  <a:pt x="7350" y="4999"/>
                </a:cubicBezTo>
                <a:lnTo>
                  <a:pt x="7944" y="5547"/>
                </a:lnTo>
                <a:lnTo>
                  <a:pt x="7259" y="6734"/>
                </a:lnTo>
                <a:lnTo>
                  <a:pt x="6460" y="6483"/>
                </a:lnTo>
                <a:cubicBezTo>
                  <a:pt x="6255" y="6688"/>
                  <a:pt x="6027" y="6871"/>
                  <a:pt x="5753" y="7031"/>
                </a:cubicBezTo>
                <a:lnTo>
                  <a:pt x="5798" y="7852"/>
                </a:lnTo>
                <a:lnTo>
                  <a:pt x="4474" y="8195"/>
                </a:lnTo>
                <a:lnTo>
                  <a:pt x="4086" y="7464"/>
                </a:lnTo>
                <a:cubicBezTo>
                  <a:pt x="3790" y="7464"/>
                  <a:pt x="3493" y="7419"/>
                  <a:pt x="3196" y="7350"/>
                </a:cubicBezTo>
                <a:lnTo>
                  <a:pt x="2648" y="7944"/>
                </a:lnTo>
                <a:lnTo>
                  <a:pt x="1461" y="7259"/>
                </a:lnTo>
                <a:lnTo>
                  <a:pt x="1713" y="6483"/>
                </a:lnTo>
                <a:cubicBezTo>
                  <a:pt x="1507" y="6277"/>
                  <a:pt x="1325" y="6026"/>
                  <a:pt x="1165" y="5775"/>
                </a:cubicBezTo>
                <a:lnTo>
                  <a:pt x="343" y="5798"/>
                </a:lnTo>
                <a:lnTo>
                  <a:pt x="1" y="4474"/>
                </a:lnTo>
                <a:lnTo>
                  <a:pt x="731" y="4086"/>
                </a:lnTo>
                <a:cubicBezTo>
                  <a:pt x="731" y="3790"/>
                  <a:pt x="777" y="3493"/>
                  <a:pt x="845" y="3219"/>
                </a:cubicBezTo>
                <a:lnTo>
                  <a:pt x="252" y="2648"/>
                </a:lnTo>
                <a:lnTo>
                  <a:pt x="936" y="1461"/>
                </a:lnTo>
                <a:lnTo>
                  <a:pt x="1713" y="1712"/>
                </a:lnTo>
                <a:cubicBezTo>
                  <a:pt x="1941" y="1507"/>
                  <a:pt x="2169" y="1324"/>
                  <a:pt x="2420" y="1187"/>
                </a:cubicBezTo>
                <a:close/>
              </a:path>
            </a:pathLst>
          </a:custGeom>
          <a:noFill/>
          <a:ln cap="flat" cmpd="sng" w="9525">
            <a:solidFill>
              <a:schemeClr val="accent3"/>
            </a:solidFill>
            <a:prstDash val="solid"/>
            <a:miter lim="22825"/>
            <a:headEnd len="sm" w="sm" type="none"/>
            <a:tailEnd len="sm" w="sm" type="none"/>
          </a:ln>
        </p:spPr>
        <p:txBody>
          <a:bodyPr anchorCtr="0" anchor="ctr" bIns="58875" lIns="58875" spcFirstLastPara="1" rIns="58875" wrap="square" tIns="5887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grpSp>
        <p:nvGrpSpPr>
          <p:cNvPr id="1304" name="Google Shape;1304;p25"/>
          <p:cNvGrpSpPr/>
          <p:nvPr/>
        </p:nvGrpSpPr>
        <p:grpSpPr>
          <a:xfrm>
            <a:off x="144459" y="890547"/>
            <a:ext cx="8856415" cy="4097195"/>
            <a:chOff x="155600" y="617306"/>
            <a:chExt cx="8832800" cy="4410192"/>
          </a:xfrm>
        </p:grpSpPr>
        <p:sp>
          <p:nvSpPr>
            <p:cNvPr id="1305" name="Google Shape;1305;p25"/>
            <p:cNvSpPr txBox="1"/>
            <p:nvPr/>
          </p:nvSpPr>
          <p:spPr>
            <a:xfrm>
              <a:off x="7571175" y="4351525"/>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71717"/>
                </a:solidFill>
                <a:latin typeface="Arial"/>
                <a:ea typeface="Arial"/>
                <a:cs typeface="Arial"/>
                <a:sym typeface="Arial"/>
              </a:endParaRPr>
            </a:p>
          </p:txBody>
        </p:sp>
        <p:sp>
          <p:nvSpPr>
            <p:cNvPr id="1306" name="Google Shape;1306;p25"/>
            <p:cNvSpPr/>
            <p:nvPr/>
          </p:nvSpPr>
          <p:spPr>
            <a:xfrm>
              <a:off x="155600" y="4027298"/>
              <a:ext cx="8830500" cy="10002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600"/>
                <a:buFont typeface="Arial"/>
                <a:buNone/>
              </a:pPr>
              <a:r>
                <a:rPr b="1" i="0" lang="es" sz="600" u="none" cap="none" strike="noStrike">
                  <a:solidFill>
                    <a:srgbClr val="171717"/>
                  </a:solidFill>
                  <a:latin typeface="Montserrat"/>
                  <a:ea typeface="Montserrat"/>
                  <a:cs typeface="Montserrat"/>
                  <a:sym typeface="Montserrat"/>
                </a:rPr>
                <a:t>Capacidades de soporte</a:t>
              </a:r>
              <a:br>
                <a:rPr b="1" i="0" lang="es" sz="500" u="none" cap="none" strike="noStrike">
                  <a:solidFill>
                    <a:srgbClr val="171717"/>
                  </a:solidFill>
                  <a:latin typeface="Montserrat"/>
                  <a:ea typeface="Montserrat"/>
                  <a:cs typeface="Montserrat"/>
                  <a:sym typeface="Montserrat"/>
                </a:rPr>
              </a:br>
              <a:endParaRPr b="0" i="0" sz="900" u="none" cap="none" strike="noStrike">
                <a:solidFill>
                  <a:srgbClr val="171717"/>
                </a:solidFill>
                <a:latin typeface="Arial"/>
                <a:ea typeface="Arial"/>
                <a:cs typeface="Arial"/>
                <a:sym typeface="Arial"/>
              </a:endParaRPr>
            </a:p>
          </p:txBody>
        </p:sp>
        <p:sp>
          <p:nvSpPr>
            <p:cNvPr id="1307" name="Google Shape;1307;p25"/>
            <p:cNvSpPr/>
            <p:nvPr/>
          </p:nvSpPr>
          <p:spPr>
            <a:xfrm>
              <a:off x="155601" y="1267252"/>
              <a:ext cx="8830500" cy="27249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600" u="none" cap="none" strike="noStrike">
                  <a:solidFill>
                    <a:srgbClr val="171717"/>
                  </a:solidFill>
                  <a:latin typeface="Montserrat"/>
                  <a:ea typeface="Montserrat"/>
                  <a:cs typeface="Montserrat"/>
                  <a:sym typeface="Montserrat"/>
                </a:rPr>
                <a:t>Capacidades de negocio</a:t>
              </a:r>
              <a:endParaRPr b="1" i="0" sz="600" u="none" cap="none" strike="noStrike">
                <a:solidFill>
                  <a:srgbClr val="171717"/>
                </a:solidFill>
                <a:latin typeface="Montserrat"/>
                <a:ea typeface="Montserrat"/>
                <a:cs typeface="Montserrat"/>
                <a:sym typeface="Montserrat"/>
              </a:endParaRPr>
            </a:p>
          </p:txBody>
        </p:sp>
        <p:sp>
          <p:nvSpPr>
            <p:cNvPr id="1308" name="Google Shape;1308;p25"/>
            <p:cNvSpPr/>
            <p:nvPr/>
          </p:nvSpPr>
          <p:spPr>
            <a:xfrm>
              <a:off x="5698874" y="4067654"/>
              <a:ext cx="990900" cy="915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fraudes</a:t>
              </a:r>
              <a:endParaRPr b="1" i="0" sz="500" u="none" cap="none" strike="noStrike">
                <a:solidFill>
                  <a:srgbClr val="171717"/>
                </a:solidFill>
                <a:latin typeface="Montserrat"/>
                <a:ea typeface="Montserrat"/>
                <a:cs typeface="Montserrat"/>
                <a:sym typeface="Montserrat"/>
              </a:endParaRPr>
            </a:p>
          </p:txBody>
        </p:sp>
        <p:sp>
          <p:nvSpPr>
            <p:cNvPr id="1309" name="Google Shape;1309;p25"/>
            <p:cNvSpPr/>
            <p:nvPr/>
          </p:nvSpPr>
          <p:spPr>
            <a:xfrm>
              <a:off x="6802655" y="4067654"/>
              <a:ext cx="990900" cy="915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Evaluación de monitoreo</a:t>
              </a:r>
              <a:endParaRPr b="1" i="0" sz="500" u="none" cap="none" strike="noStrike">
                <a:solidFill>
                  <a:srgbClr val="171717"/>
                </a:solidFill>
                <a:latin typeface="Montserrat"/>
                <a:ea typeface="Montserrat"/>
                <a:cs typeface="Montserrat"/>
                <a:sym typeface="Montserrat"/>
              </a:endParaRPr>
            </a:p>
          </p:txBody>
        </p:sp>
        <p:sp>
          <p:nvSpPr>
            <p:cNvPr id="1310" name="Google Shape;1310;p25"/>
            <p:cNvSpPr/>
            <p:nvPr/>
          </p:nvSpPr>
          <p:spPr>
            <a:xfrm>
              <a:off x="4573039" y="4067654"/>
              <a:ext cx="990900" cy="915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riesgos</a:t>
              </a:r>
              <a:endParaRPr b="1" i="0" sz="500" u="none" cap="none" strike="noStrike">
                <a:solidFill>
                  <a:srgbClr val="171717"/>
                </a:solidFill>
                <a:latin typeface="Montserrat"/>
                <a:ea typeface="Montserrat"/>
                <a:cs typeface="Montserrat"/>
                <a:sym typeface="Montserrat"/>
              </a:endParaRPr>
            </a:p>
          </p:txBody>
        </p:sp>
        <p:sp>
          <p:nvSpPr>
            <p:cNvPr id="1311" name="Google Shape;1311;p25"/>
            <p:cNvSpPr/>
            <p:nvPr/>
          </p:nvSpPr>
          <p:spPr>
            <a:xfrm>
              <a:off x="3445005" y="4067786"/>
              <a:ext cx="990900" cy="9129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171717"/>
                  </a:solidFill>
                  <a:latin typeface="Montserrat"/>
                  <a:ea typeface="Montserrat"/>
                  <a:cs typeface="Montserrat"/>
                  <a:sym typeface="Montserrat"/>
                </a:rPr>
                <a:t>Gestión de cumplimiento</a:t>
              </a:r>
              <a:br>
                <a:rPr b="1" i="0" lang="es" sz="500" u="none" cap="none" strike="noStrike">
                  <a:solidFill>
                    <a:srgbClr val="171717"/>
                  </a:solidFill>
                  <a:latin typeface="Montserrat"/>
                  <a:ea typeface="Montserrat"/>
                  <a:cs typeface="Montserrat"/>
                  <a:sym typeface="Montserrat"/>
                </a:rPr>
              </a:br>
              <a:endParaRPr b="0" i="0" sz="900" u="none" cap="none" strike="noStrike">
                <a:solidFill>
                  <a:srgbClr val="171717"/>
                </a:solidFill>
                <a:latin typeface="Arial"/>
                <a:ea typeface="Arial"/>
                <a:cs typeface="Arial"/>
                <a:sym typeface="Arial"/>
              </a:endParaRPr>
            </a:p>
          </p:txBody>
        </p:sp>
        <p:sp>
          <p:nvSpPr>
            <p:cNvPr id="1312" name="Google Shape;1312;p25"/>
            <p:cNvSpPr/>
            <p:nvPr/>
          </p:nvSpPr>
          <p:spPr>
            <a:xfrm>
              <a:off x="2319952" y="4067787"/>
              <a:ext cx="990900" cy="9129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171717"/>
                  </a:solidFill>
                  <a:latin typeface="Montserrat"/>
                  <a:ea typeface="Montserrat"/>
                  <a:cs typeface="Montserrat"/>
                  <a:sym typeface="Montserrat"/>
                </a:rPr>
                <a:t>Aseguramiento de la calidad</a:t>
              </a:r>
              <a:br>
                <a:rPr b="1" i="0" lang="es" sz="500" u="none" cap="none" strike="noStrike">
                  <a:solidFill>
                    <a:srgbClr val="171717"/>
                  </a:solidFill>
                  <a:latin typeface="Montserrat"/>
                  <a:ea typeface="Montserrat"/>
                  <a:cs typeface="Montserrat"/>
                  <a:sym typeface="Montserrat"/>
                </a:rPr>
              </a:br>
              <a:r>
                <a:rPr b="1" i="0" lang="es" sz="500" u="none" cap="none" strike="noStrike">
                  <a:solidFill>
                    <a:srgbClr val="171717"/>
                  </a:solidFill>
                  <a:latin typeface="Montserrat"/>
                  <a:ea typeface="Montserrat"/>
                  <a:cs typeface="Montserrat"/>
                  <a:sym typeface="Montserrat"/>
                </a:rPr>
                <a:t>(QA)</a:t>
              </a:r>
              <a:endParaRPr b="0" i="0" sz="900" u="none" cap="none" strike="noStrike">
                <a:solidFill>
                  <a:srgbClr val="171717"/>
                </a:solidFill>
                <a:latin typeface="Arial"/>
                <a:ea typeface="Arial"/>
                <a:cs typeface="Arial"/>
                <a:sym typeface="Arial"/>
              </a:endParaRPr>
            </a:p>
          </p:txBody>
        </p:sp>
        <p:sp>
          <p:nvSpPr>
            <p:cNvPr id="1313" name="Google Shape;1313;p25"/>
            <p:cNvSpPr/>
            <p:nvPr/>
          </p:nvSpPr>
          <p:spPr>
            <a:xfrm>
              <a:off x="1198179" y="4067787"/>
              <a:ext cx="990900" cy="9129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171717"/>
                  </a:solidFill>
                  <a:latin typeface="Montserrat"/>
                  <a:ea typeface="Montserrat"/>
                  <a:cs typeface="Montserrat"/>
                  <a:sym typeface="Montserrat"/>
                </a:rPr>
                <a:t>Gestión de identidad y seguridad</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314" name="Google Shape;1314;p25"/>
            <p:cNvSpPr/>
            <p:nvPr/>
          </p:nvSpPr>
          <p:spPr>
            <a:xfrm>
              <a:off x="7906407" y="4067352"/>
              <a:ext cx="990900" cy="9204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Infraestructura</a:t>
              </a:r>
              <a:endParaRPr b="1" i="0" sz="500" u="none" cap="none" strike="noStrike">
                <a:solidFill>
                  <a:srgbClr val="171717"/>
                </a:solidFill>
                <a:latin typeface="Montserrat"/>
                <a:ea typeface="Montserrat"/>
                <a:cs typeface="Montserrat"/>
                <a:sym typeface="Montserrat"/>
              </a:endParaRPr>
            </a:p>
          </p:txBody>
        </p:sp>
        <p:sp>
          <p:nvSpPr>
            <p:cNvPr id="1315" name="Google Shape;1315;p25"/>
            <p:cNvSpPr/>
            <p:nvPr/>
          </p:nvSpPr>
          <p:spPr>
            <a:xfrm>
              <a:off x="3799284" y="3644610"/>
              <a:ext cx="5078100" cy="3102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productos</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16" name="Google Shape;1316;p25"/>
            <p:cNvSpPr/>
            <p:nvPr/>
          </p:nvSpPr>
          <p:spPr>
            <a:xfrm>
              <a:off x="3798694" y="1342522"/>
              <a:ext cx="883800" cy="947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Proceso de cuenta</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17" name="Google Shape;1317;p25"/>
            <p:cNvSpPr/>
            <p:nvPr/>
          </p:nvSpPr>
          <p:spPr>
            <a:xfrm>
              <a:off x="3799283" y="2326141"/>
              <a:ext cx="882600" cy="786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Ventas</a:t>
              </a:r>
              <a:endParaRPr b="1" i="0" sz="900" u="none" cap="none" strike="noStrike">
                <a:solidFill>
                  <a:srgbClr val="171717"/>
                </a:solidFill>
                <a:latin typeface="Montserrat"/>
                <a:ea typeface="Montserrat"/>
                <a:cs typeface="Montserrat"/>
                <a:sym typeface="Montserrat"/>
              </a:endParaRPr>
            </a:p>
          </p:txBody>
        </p:sp>
        <p:sp>
          <p:nvSpPr>
            <p:cNvPr id="1318" name="Google Shape;1318;p25"/>
            <p:cNvSpPr/>
            <p:nvPr/>
          </p:nvSpPr>
          <p:spPr>
            <a:xfrm>
              <a:off x="3798695" y="3151244"/>
              <a:ext cx="883200" cy="4545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Servicios de inversión</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19" name="Google Shape;1319;p25"/>
            <p:cNvSpPr/>
            <p:nvPr/>
          </p:nvSpPr>
          <p:spPr>
            <a:xfrm>
              <a:off x="1203986" y="3094032"/>
              <a:ext cx="2494800" cy="506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documental</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20" name="Google Shape;1320;p25"/>
            <p:cNvSpPr/>
            <p:nvPr/>
          </p:nvSpPr>
          <p:spPr>
            <a:xfrm>
              <a:off x="1204099" y="2050226"/>
              <a:ext cx="2494500" cy="1005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cuentas</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321" name="Google Shape;1321;p25"/>
            <p:cNvSpPr/>
            <p:nvPr/>
          </p:nvSpPr>
          <p:spPr>
            <a:xfrm>
              <a:off x="1203987" y="3642940"/>
              <a:ext cx="2494800" cy="312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Marketing</a:t>
              </a:r>
              <a:endParaRPr b="1" i="0" sz="900" u="none" cap="none" strike="noStrike">
                <a:solidFill>
                  <a:srgbClr val="171717"/>
                </a:solidFill>
                <a:latin typeface="Montserrat"/>
                <a:ea typeface="Montserrat"/>
                <a:cs typeface="Montserrat"/>
                <a:sym typeface="Montserrat"/>
              </a:endParaRPr>
            </a:p>
          </p:txBody>
        </p:sp>
        <p:sp>
          <p:nvSpPr>
            <p:cNvPr id="1322" name="Google Shape;1322;p25"/>
            <p:cNvSpPr/>
            <p:nvPr/>
          </p:nvSpPr>
          <p:spPr>
            <a:xfrm>
              <a:off x="1206566" y="1342522"/>
              <a:ext cx="2489700" cy="6690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Clase de producto: depósitos</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323" name="Google Shape;1323;p25"/>
            <p:cNvSpPr/>
            <p:nvPr/>
          </p:nvSpPr>
          <p:spPr>
            <a:xfrm>
              <a:off x="6488944" y="1342520"/>
              <a:ext cx="2389500" cy="670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Servicios facturables</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24" name="Google Shape;1324;p25"/>
            <p:cNvSpPr/>
            <p:nvPr/>
          </p:nvSpPr>
          <p:spPr>
            <a:xfrm>
              <a:off x="6490037" y="3094032"/>
              <a:ext cx="2387400" cy="510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Estado de cuenta</a:t>
              </a:r>
              <a:endParaRPr b="1" i="0" sz="500" u="none" cap="none" strike="noStrike">
                <a:solidFill>
                  <a:srgbClr val="171717"/>
                </a:solidFill>
                <a:latin typeface="Montserrat"/>
                <a:ea typeface="Montserrat"/>
                <a:cs typeface="Montserrat"/>
                <a:sym typeface="Montserrat"/>
              </a:endParaRPr>
            </a:p>
          </p:txBody>
        </p:sp>
        <p:sp>
          <p:nvSpPr>
            <p:cNvPr id="1325" name="Google Shape;1325;p25"/>
            <p:cNvSpPr/>
            <p:nvPr/>
          </p:nvSpPr>
          <p:spPr>
            <a:xfrm>
              <a:off x="6483514" y="2046978"/>
              <a:ext cx="2390400" cy="1007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Transacciones</a:t>
              </a:r>
              <a:endParaRPr b="1" i="0" sz="500" u="none" cap="none" strike="noStrike">
                <a:solidFill>
                  <a:srgbClr val="171717"/>
                </a:solidFill>
                <a:latin typeface="Montserrat"/>
                <a:ea typeface="Montserrat"/>
                <a:cs typeface="Montserrat"/>
                <a:sym typeface="Montserrat"/>
              </a:endParaRPr>
            </a:p>
          </p:txBody>
        </p:sp>
        <p:sp>
          <p:nvSpPr>
            <p:cNvPr id="1326" name="Google Shape;1326;p25"/>
            <p:cNvSpPr/>
            <p:nvPr/>
          </p:nvSpPr>
          <p:spPr>
            <a:xfrm>
              <a:off x="4782477" y="1342522"/>
              <a:ext cx="1606200" cy="6240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327" name="Google Shape;1327;p25"/>
            <p:cNvSpPr/>
            <p:nvPr/>
          </p:nvSpPr>
          <p:spPr>
            <a:xfrm>
              <a:off x="4783580" y="2817039"/>
              <a:ext cx="1604100" cy="472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Data Analytics y procesamiento de datos</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328" name="Google Shape;1328;p25"/>
            <p:cNvSpPr/>
            <p:nvPr/>
          </p:nvSpPr>
          <p:spPr>
            <a:xfrm>
              <a:off x="4784086" y="1990285"/>
              <a:ext cx="1603200" cy="804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Reportes y análisis</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29" name="Google Shape;1329;p25"/>
            <p:cNvSpPr/>
            <p:nvPr/>
          </p:nvSpPr>
          <p:spPr>
            <a:xfrm>
              <a:off x="4781464" y="3313359"/>
              <a:ext cx="1603500" cy="297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comunicaciones</a:t>
              </a:r>
              <a:br>
                <a:rPr b="1" i="0" lang="es" sz="500" u="none" cap="none" strike="noStrike">
                  <a:solidFill>
                    <a:srgbClr val="171717"/>
                  </a:solidFill>
                  <a:latin typeface="Montserrat"/>
                  <a:ea typeface="Montserrat"/>
                  <a:cs typeface="Montserrat"/>
                  <a:sym typeface="Montserrat"/>
                </a:rPr>
              </a:br>
              <a:endParaRPr b="1" i="0" sz="900" u="none" cap="none" strike="noStrike">
                <a:solidFill>
                  <a:srgbClr val="171717"/>
                </a:solidFill>
                <a:latin typeface="Montserrat"/>
                <a:ea typeface="Montserrat"/>
                <a:cs typeface="Montserrat"/>
                <a:sym typeface="Montserrat"/>
              </a:endParaRPr>
            </a:p>
          </p:txBody>
        </p:sp>
        <p:sp>
          <p:nvSpPr>
            <p:cNvPr id="1330" name="Google Shape;1330;p25"/>
            <p:cNvSpPr/>
            <p:nvPr/>
          </p:nvSpPr>
          <p:spPr>
            <a:xfrm>
              <a:off x="155600" y="839926"/>
              <a:ext cx="8830500" cy="1803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600" u="none" cap="none" strike="noStrike">
                  <a:solidFill>
                    <a:srgbClr val="2E2E38"/>
                  </a:solidFill>
                  <a:latin typeface="Montserrat"/>
                  <a:ea typeface="Montserrat"/>
                  <a:cs typeface="Montserrat"/>
                  <a:sym typeface="Montserrat"/>
                </a:rPr>
                <a:t>Canales</a:t>
              </a:r>
              <a:endParaRPr b="0" i="0" sz="1000" u="none" cap="none" strike="noStrike">
                <a:solidFill>
                  <a:srgbClr val="000000"/>
                </a:solidFill>
                <a:latin typeface="Arial"/>
                <a:ea typeface="Arial"/>
                <a:cs typeface="Arial"/>
                <a:sym typeface="Arial"/>
              </a:endParaRPr>
            </a:p>
          </p:txBody>
        </p:sp>
        <p:sp>
          <p:nvSpPr>
            <p:cNvPr id="1331" name="Google Shape;1331;p25"/>
            <p:cNvSpPr/>
            <p:nvPr/>
          </p:nvSpPr>
          <p:spPr>
            <a:xfrm>
              <a:off x="155601" y="1050603"/>
              <a:ext cx="8830500" cy="1803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600" u="none" cap="none" strike="noStrike">
                  <a:solidFill>
                    <a:srgbClr val="2E2E38"/>
                  </a:solidFill>
                  <a:latin typeface="Montserrat"/>
                  <a:ea typeface="Montserrat"/>
                  <a:cs typeface="Montserrat"/>
                  <a:sym typeface="Montserrat"/>
                </a:rPr>
                <a:t>Productos</a:t>
              </a:r>
              <a:endParaRPr b="1" i="0" sz="600" u="none" cap="none" strike="noStrike">
                <a:solidFill>
                  <a:srgbClr val="2E2E38"/>
                </a:solidFill>
                <a:latin typeface="Montserrat"/>
                <a:ea typeface="Montserrat"/>
                <a:cs typeface="Montserrat"/>
                <a:sym typeface="Montserrat"/>
              </a:endParaRPr>
            </a:p>
          </p:txBody>
        </p:sp>
        <p:sp>
          <p:nvSpPr>
            <p:cNvPr id="1332" name="Google Shape;1332;p25"/>
            <p:cNvSpPr/>
            <p:nvPr/>
          </p:nvSpPr>
          <p:spPr>
            <a:xfrm>
              <a:off x="1205537"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Debitó</a:t>
              </a:r>
              <a:endParaRPr b="0" i="0" sz="500" u="none" cap="none" strike="noStrike">
                <a:solidFill>
                  <a:srgbClr val="FFFFFF"/>
                </a:solidFill>
                <a:latin typeface="Montserrat"/>
                <a:ea typeface="Montserrat"/>
                <a:cs typeface="Montserrat"/>
                <a:sym typeface="Montserrat"/>
              </a:endParaRPr>
            </a:p>
          </p:txBody>
        </p:sp>
        <p:sp>
          <p:nvSpPr>
            <p:cNvPr id="1333" name="Google Shape;1333;p25"/>
            <p:cNvSpPr/>
            <p:nvPr/>
          </p:nvSpPr>
          <p:spPr>
            <a:xfrm>
              <a:off x="2309365"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1334" name="Google Shape;1334;p25"/>
            <p:cNvSpPr/>
            <p:nvPr/>
          </p:nvSpPr>
          <p:spPr>
            <a:xfrm>
              <a:off x="3413193"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Trajeta de Crédito</a:t>
              </a:r>
              <a:endParaRPr b="0" i="0" sz="500" u="none" cap="none" strike="noStrike">
                <a:solidFill>
                  <a:srgbClr val="FFFFFF"/>
                </a:solidFill>
                <a:latin typeface="Montserrat"/>
                <a:ea typeface="Montserrat"/>
                <a:cs typeface="Montserrat"/>
                <a:sym typeface="Montserrat"/>
              </a:endParaRPr>
            </a:p>
          </p:txBody>
        </p:sp>
        <p:sp>
          <p:nvSpPr>
            <p:cNvPr id="1335" name="Google Shape;1335;p25"/>
            <p:cNvSpPr/>
            <p:nvPr/>
          </p:nvSpPr>
          <p:spPr>
            <a:xfrm>
              <a:off x="4517021"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1336" name="Google Shape;1336;p25"/>
            <p:cNvSpPr/>
            <p:nvPr/>
          </p:nvSpPr>
          <p:spPr>
            <a:xfrm>
              <a:off x="5620850"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1337" name="Google Shape;1337;p25"/>
            <p:cNvSpPr/>
            <p:nvPr/>
          </p:nvSpPr>
          <p:spPr>
            <a:xfrm>
              <a:off x="6724678"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a:t>
              </a:r>
              <a:endParaRPr b="0" i="0" sz="500" u="none" cap="none" strike="noStrike">
                <a:solidFill>
                  <a:srgbClr val="FFFFFF"/>
                </a:solidFill>
                <a:latin typeface="Montserrat"/>
                <a:ea typeface="Montserrat"/>
                <a:cs typeface="Montserrat"/>
                <a:sym typeface="Montserrat"/>
              </a:endParaRPr>
            </a:p>
          </p:txBody>
        </p:sp>
        <p:sp>
          <p:nvSpPr>
            <p:cNvPr id="1338" name="Google Shape;1338;p25"/>
            <p:cNvSpPr/>
            <p:nvPr/>
          </p:nvSpPr>
          <p:spPr>
            <a:xfrm>
              <a:off x="7828504" y="1071868"/>
              <a:ext cx="1050300" cy="1458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Ahorro</a:t>
              </a:r>
              <a:endParaRPr b="0" i="0" sz="500" u="none" cap="none" strike="noStrike">
                <a:solidFill>
                  <a:schemeClr val="lt1"/>
                </a:solidFill>
                <a:latin typeface="Montserrat"/>
                <a:ea typeface="Montserrat"/>
                <a:cs typeface="Montserrat"/>
                <a:sym typeface="Montserrat"/>
              </a:endParaRPr>
            </a:p>
          </p:txBody>
        </p:sp>
        <p:sp>
          <p:nvSpPr>
            <p:cNvPr id="1339" name="Google Shape;1339;p25"/>
            <p:cNvSpPr/>
            <p:nvPr/>
          </p:nvSpPr>
          <p:spPr>
            <a:xfrm>
              <a:off x="157900" y="617306"/>
              <a:ext cx="8830500" cy="1803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600" u="none" cap="none" strike="noStrike">
                  <a:solidFill>
                    <a:srgbClr val="2E2E38"/>
                  </a:solidFill>
                  <a:latin typeface="Montserrat"/>
                  <a:ea typeface="Montserrat"/>
                  <a:cs typeface="Montserrat"/>
                  <a:sym typeface="Montserrat"/>
                </a:rPr>
                <a:t>Segmentos de clientes</a:t>
              </a:r>
              <a:endParaRPr b="1" i="0" sz="600" u="none" cap="none" strike="noStrike">
                <a:solidFill>
                  <a:srgbClr val="2E2E38"/>
                </a:solidFill>
                <a:latin typeface="Montserrat"/>
                <a:ea typeface="Montserrat"/>
                <a:cs typeface="Montserrat"/>
                <a:sym typeface="Montserrat"/>
              </a:endParaRPr>
            </a:p>
          </p:txBody>
        </p:sp>
        <p:sp>
          <p:nvSpPr>
            <p:cNvPr id="1340" name="Google Shape;1340;p25"/>
            <p:cNvSpPr/>
            <p:nvPr/>
          </p:nvSpPr>
          <p:spPr>
            <a:xfrm>
              <a:off x="1203986" y="639988"/>
              <a:ext cx="1497300" cy="1458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Comercios</a:t>
              </a:r>
              <a:endParaRPr b="0" i="0" sz="500" u="none" cap="none" strike="noStrike">
                <a:solidFill>
                  <a:srgbClr val="FFFFFF"/>
                </a:solidFill>
                <a:latin typeface="Montserrat"/>
                <a:ea typeface="Montserrat"/>
                <a:cs typeface="Montserrat"/>
                <a:sym typeface="Montserrat"/>
              </a:endParaRPr>
            </a:p>
          </p:txBody>
        </p:sp>
        <p:sp>
          <p:nvSpPr>
            <p:cNvPr id="1341" name="Google Shape;1341;p25"/>
            <p:cNvSpPr/>
            <p:nvPr/>
          </p:nvSpPr>
          <p:spPr>
            <a:xfrm>
              <a:off x="2748364" y="645272"/>
              <a:ext cx="1497300" cy="1458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Alto patrimonio neto</a:t>
              </a:r>
              <a:endParaRPr b="0" i="0" sz="500" u="none" cap="none" strike="noStrike">
                <a:solidFill>
                  <a:srgbClr val="FFFFFF"/>
                </a:solidFill>
                <a:latin typeface="Montserrat"/>
                <a:ea typeface="Montserrat"/>
                <a:cs typeface="Montserrat"/>
                <a:sym typeface="Montserrat"/>
              </a:endParaRPr>
            </a:p>
          </p:txBody>
        </p:sp>
        <p:sp>
          <p:nvSpPr>
            <p:cNvPr id="1342" name="Google Shape;1342;p25"/>
            <p:cNvSpPr/>
            <p:nvPr/>
          </p:nvSpPr>
          <p:spPr>
            <a:xfrm>
              <a:off x="4292741" y="645272"/>
              <a:ext cx="1497300" cy="1458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Fiduciaria</a:t>
              </a:r>
              <a:endParaRPr b="0" i="0" sz="500" u="none" cap="none" strike="noStrike">
                <a:solidFill>
                  <a:srgbClr val="FFFFFF"/>
                </a:solidFill>
                <a:latin typeface="Montserrat"/>
                <a:ea typeface="Montserrat"/>
                <a:cs typeface="Montserrat"/>
                <a:sym typeface="Montserrat"/>
              </a:endParaRPr>
            </a:p>
          </p:txBody>
        </p:sp>
        <p:sp>
          <p:nvSpPr>
            <p:cNvPr id="1343" name="Google Shape;1343;p25"/>
            <p:cNvSpPr/>
            <p:nvPr/>
          </p:nvSpPr>
          <p:spPr>
            <a:xfrm>
              <a:off x="7381497" y="645272"/>
              <a:ext cx="1497300" cy="1458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Pequeñas empresas</a:t>
              </a:r>
              <a:endParaRPr b="0" i="0" sz="500" u="none" cap="none" strike="noStrike">
                <a:solidFill>
                  <a:srgbClr val="FFFFFF"/>
                </a:solidFill>
                <a:latin typeface="Montserrat"/>
                <a:ea typeface="Montserrat"/>
                <a:cs typeface="Montserrat"/>
                <a:sym typeface="Montserrat"/>
              </a:endParaRPr>
            </a:p>
          </p:txBody>
        </p:sp>
        <p:sp>
          <p:nvSpPr>
            <p:cNvPr id="1344" name="Google Shape;1344;p25"/>
            <p:cNvSpPr/>
            <p:nvPr/>
          </p:nvSpPr>
          <p:spPr>
            <a:xfrm>
              <a:off x="5837119" y="645272"/>
              <a:ext cx="1497300" cy="1458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Comercial</a:t>
              </a:r>
              <a:endParaRPr b="0" i="0" sz="500" u="none" cap="none" strike="noStrike">
                <a:solidFill>
                  <a:srgbClr val="FFFFFF"/>
                </a:solidFill>
                <a:latin typeface="Montserrat"/>
                <a:ea typeface="Montserrat"/>
                <a:cs typeface="Montserrat"/>
                <a:sym typeface="Montserrat"/>
              </a:endParaRPr>
            </a:p>
          </p:txBody>
        </p:sp>
        <p:sp>
          <p:nvSpPr>
            <p:cNvPr id="1345" name="Google Shape;1345;p25"/>
            <p:cNvSpPr/>
            <p:nvPr/>
          </p:nvSpPr>
          <p:spPr>
            <a:xfrm>
              <a:off x="1203986"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1346" name="Google Shape;1346;p25"/>
            <p:cNvSpPr/>
            <p:nvPr/>
          </p:nvSpPr>
          <p:spPr>
            <a:xfrm>
              <a:off x="2062173"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Web/Online</a:t>
              </a:r>
              <a:endParaRPr b="0" i="0" sz="900" u="none" cap="none" strike="noStrike">
                <a:solidFill>
                  <a:srgbClr val="000000"/>
                </a:solidFill>
                <a:latin typeface="Arial"/>
                <a:ea typeface="Arial"/>
                <a:cs typeface="Arial"/>
                <a:sym typeface="Arial"/>
              </a:endParaRPr>
            </a:p>
          </p:txBody>
        </p:sp>
        <p:sp>
          <p:nvSpPr>
            <p:cNvPr id="1347" name="Google Shape;1347;p25"/>
            <p:cNvSpPr/>
            <p:nvPr/>
          </p:nvSpPr>
          <p:spPr>
            <a:xfrm>
              <a:off x="3778546"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Cajero</a:t>
              </a:r>
              <a:endParaRPr b="0" i="0" sz="500" u="none" cap="none" strike="noStrike">
                <a:solidFill>
                  <a:schemeClr val="lt1"/>
                </a:solidFill>
                <a:latin typeface="Montserrat"/>
                <a:ea typeface="Montserrat"/>
                <a:cs typeface="Montserrat"/>
                <a:sym typeface="Montserrat"/>
              </a:endParaRPr>
            </a:p>
          </p:txBody>
        </p:sp>
        <p:sp>
          <p:nvSpPr>
            <p:cNvPr id="1348" name="Google Shape;1348;p25"/>
            <p:cNvSpPr/>
            <p:nvPr/>
          </p:nvSpPr>
          <p:spPr>
            <a:xfrm>
              <a:off x="4636733"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900" u="none" cap="none" strike="noStrike">
                <a:solidFill>
                  <a:srgbClr val="000000"/>
                </a:solidFill>
                <a:latin typeface="Arial"/>
                <a:ea typeface="Arial"/>
                <a:cs typeface="Arial"/>
                <a:sym typeface="Arial"/>
              </a:endParaRPr>
            </a:p>
          </p:txBody>
        </p:sp>
        <p:sp>
          <p:nvSpPr>
            <p:cNvPr id="1349" name="Google Shape;1349;p25"/>
            <p:cNvSpPr/>
            <p:nvPr/>
          </p:nvSpPr>
          <p:spPr>
            <a:xfrm>
              <a:off x="5494920"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900" u="none" cap="none" strike="noStrike">
                <a:solidFill>
                  <a:srgbClr val="000000"/>
                </a:solidFill>
                <a:latin typeface="Arial"/>
                <a:ea typeface="Arial"/>
                <a:cs typeface="Arial"/>
                <a:sym typeface="Arial"/>
              </a:endParaRPr>
            </a:p>
          </p:txBody>
        </p:sp>
        <p:sp>
          <p:nvSpPr>
            <p:cNvPr id="1350" name="Google Shape;1350;p25"/>
            <p:cNvSpPr/>
            <p:nvPr/>
          </p:nvSpPr>
          <p:spPr>
            <a:xfrm>
              <a:off x="6353107"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1351" name="Google Shape;1351;p25"/>
            <p:cNvSpPr/>
            <p:nvPr/>
          </p:nvSpPr>
          <p:spPr>
            <a:xfrm>
              <a:off x="7211293"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75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Papel/ Tarjeta</a:t>
              </a:r>
              <a:endParaRPr b="0" i="0" sz="400" u="none" cap="none" strike="noStrike">
                <a:solidFill>
                  <a:schemeClr val="lt1"/>
                </a:solidFill>
                <a:latin typeface="Montserrat"/>
                <a:ea typeface="Montserrat"/>
                <a:cs typeface="Montserrat"/>
                <a:sym typeface="Montserrat"/>
              </a:endParaRPr>
            </a:p>
          </p:txBody>
        </p:sp>
        <p:sp>
          <p:nvSpPr>
            <p:cNvPr id="1352" name="Google Shape;1352;p25"/>
            <p:cNvSpPr/>
            <p:nvPr/>
          </p:nvSpPr>
          <p:spPr>
            <a:xfrm>
              <a:off x="8069478" y="857069"/>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85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Transacciones</a:t>
              </a:r>
              <a:endParaRPr b="0" i="0" sz="500" u="none" cap="none" strike="noStrike">
                <a:solidFill>
                  <a:schemeClr val="lt1"/>
                </a:solidFill>
                <a:latin typeface="Montserrat"/>
                <a:ea typeface="Montserrat"/>
                <a:cs typeface="Montserrat"/>
                <a:sym typeface="Montserrat"/>
              </a:endParaRPr>
            </a:p>
          </p:txBody>
        </p:sp>
        <p:sp>
          <p:nvSpPr>
            <p:cNvPr id="1353" name="Google Shape;1353;p25"/>
            <p:cNvSpPr/>
            <p:nvPr/>
          </p:nvSpPr>
          <p:spPr>
            <a:xfrm>
              <a:off x="5833996" y="429897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Conozca a su cliente (KYC)</a:t>
              </a:r>
              <a:endParaRPr b="0" i="0" sz="400" u="none" cap="none" strike="noStrike">
                <a:solidFill>
                  <a:srgbClr val="171717"/>
                </a:solidFill>
                <a:latin typeface="Montserrat"/>
                <a:ea typeface="Montserrat"/>
                <a:cs typeface="Montserrat"/>
                <a:sym typeface="Montserrat"/>
              </a:endParaRPr>
            </a:p>
          </p:txBody>
        </p:sp>
        <p:sp>
          <p:nvSpPr>
            <p:cNvPr id="1354" name="Google Shape;1354;p25"/>
            <p:cNvSpPr/>
            <p:nvPr/>
          </p:nvSpPr>
          <p:spPr>
            <a:xfrm>
              <a:off x="5833996" y="446434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Comportamiento de la transacción</a:t>
              </a:r>
              <a:endParaRPr b="0" i="0" sz="400" u="none" cap="none" strike="noStrike">
                <a:solidFill>
                  <a:srgbClr val="171717"/>
                </a:solidFill>
                <a:latin typeface="Montserrat"/>
                <a:ea typeface="Montserrat"/>
                <a:cs typeface="Montserrat"/>
                <a:sym typeface="Montserrat"/>
              </a:endParaRPr>
            </a:p>
          </p:txBody>
        </p:sp>
        <p:sp>
          <p:nvSpPr>
            <p:cNvPr id="1355" name="Google Shape;1355;p25"/>
            <p:cNvSpPr/>
            <p:nvPr/>
          </p:nvSpPr>
          <p:spPr>
            <a:xfrm>
              <a:off x="6937776" y="429897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Fondos disponibles</a:t>
              </a:r>
              <a:endParaRPr b="0" i="0" sz="900" u="none" cap="none" strike="noStrike">
                <a:solidFill>
                  <a:srgbClr val="171717"/>
                </a:solidFill>
                <a:latin typeface="Arial"/>
                <a:ea typeface="Arial"/>
                <a:cs typeface="Arial"/>
                <a:sym typeface="Arial"/>
              </a:endParaRPr>
            </a:p>
          </p:txBody>
        </p:sp>
        <p:sp>
          <p:nvSpPr>
            <p:cNvPr id="1356" name="Google Shape;1356;p25"/>
            <p:cNvSpPr/>
            <p:nvPr/>
          </p:nvSpPr>
          <p:spPr>
            <a:xfrm>
              <a:off x="6937778" y="4459605"/>
              <a:ext cx="7227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Evaluación de ingresos (entrantes)</a:t>
              </a:r>
              <a:endParaRPr b="0" i="0" sz="900" u="none" cap="none" strike="noStrike">
                <a:solidFill>
                  <a:srgbClr val="171717"/>
                </a:solidFill>
                <a:latin typeface="Arial"/>
                <a:ea typeface="Arial"/>
                <a:cs typeface="Arial"/>
                <a:sym typeface="Arial"/>
              </a:endParaRPr>
            </a:p>
          </p:txBody>
        </p:sp>
        <p:sp>
          <p:nvSpPr>
            <p:cNvPr id="1357" name="Google Shape;1357;p25"/>
            <p:cNvSpPr/>
            <p:nvPr/>
          </p:nvSpPr>
          <p:spPr>
            <a:xfrm>
              <a:off x="6937776" y="4781356"/>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Evaluación de gastos (saliente)</a:t>
              </a:r>
              <a:endParaRPr b="0" i="0" sz="900" u="none" cap="none" strike="noStrike">
                <a:solidFill>
                  <a:srgbClr val="171717"/>
                </a:solidFill>
                <a:latin typeface="Arial"/>
                <a:ea typeface="Arial"/>
                <a:cs typeface="Arial"/>
                <a:sym typeface="Arial"/>
              </a:endParaRPr>
            </a:p>
          </p:txBody>
        </p:sp>
        <p:sp>
          <p:nvSpPr>
            <p:cNvPr id="1358" name="Google Shape;1358;p25"/>
            <p:cNvSpPr/>
            <p:nvPr/>
          </p:nvSpPr>
          <p:spPr>
            <a:xfrm>
              <a:off x="6937776" y="462024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Reclamaciones y disputas</a:t>
              </a:r>
              <a:endParaRPr b="0" i="0" sz="400" u="none" cap="none" strike="noStrike">
                <a:solidFill>
                  <a:srgbClr val="171717"/>
                </a:solidFill>
                <a:latin typeface="Montserrat"/>
                <a:ea typeface="Montserrat"/>
                <a:cs typeface="Montserrat"/>
                <a:sym typeface="Montserrat"/>
              </a:endParaRPr>
            </a:p>
          </p:txBody>
        </p:sp>
        <p:sp>
          <p:nvSpPr>
            <p:cNvPr id="1359" name="Google Shape;1359;p25"/>
            <p:cNvSpPr/>
            <p:nvPr/>
          </p:nvSpPr>
          <p:spPr>
            <a:xfrm>
              <a:off x="4715038" y="448531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Buró de crédito</a:t>
              </a:r>
              <a:endParaRPr b="0" i="0" sz="400" u="none" cap="none" strike="noStrike">
                <a:solidFill>
                  <a:srgbClr val="171717"/>
                </a:solidFill>
                <a:latin typeface="Montserrat"/>
                <a:ea typeface="Montserrat"/>
                <a:cs typeface="Montserrat"/>
                <a:sym typeface="Montserrat"/>
              </a:endParaRPr>
            </a:p>
          </p:txBody>
        </p:sp>
        <p:sp>
          <p:nvSpPr>
            <p:cNvPr id="1360" name="Google Shape;1360;p25"/>
            <p:cNvSpPr/>
            <p:nvPr/>
          </p:nvSpPr>
          <p:spPr>
            <a:xfrm>
              <a:off x="4715038" y="4647050"/>
              <a:ext cx="720900" cy="162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Umbrales de riesgo (evaluar y modelar)</a:t>
              </a:r>
              <a:br>
                <a:rPr b="0" i="0" lang="es" sz="400" u="none" cap="none" strike="noStrike">
                  <a:solidFill>
                    <a:srgbClr val="171717"/>
                  </a:solidFill>
                  <a:latin typeface="Montserrat"/>
                  <a:ea typeface="Montserrat"/>
                  <a:cs typeface="Montserrat"/>
                  <a:sym typeface="Montserrat"/>
                </a:rPr>
              </a:br>
              <a:endParaRPr b="0" i="0" sz="400" u="none" cap="none" strike="noStrike">
                <a:solidFill>
                  <a:srgbClr val="171717"/>
                </a:solidFill>
                <a:latin typeface="Montserrat"/>
                <a:ea typeface="Montserrat"/>
                <a:cs typeface="Montserrat"/>
                <a:sym typeface="Montserrat"/>
              </a:endParaRPr>
            </a:p>
          </p:txBody>
        </p:sp>
        <p:sp>
          <p:nvSpPr>
            <p:cNvPr id="1361" name="Google Shape;1361;p25"/>
            <p:cNvSpPr/>
            <p:nvPr/>
          </p:nvSpPr>
          <p:spPr>
            <a:xfrm>
              <a:off x="4708161" y="4298970"/>
              <a:ext cx="720900" cy="162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restricciones de cuenta</a:t>
              </a:r>
              <a:br>
                <a:rPr b="0" i="0" lang="es" sz="400" u="none" cap="none" strike="noStrike">
                  <a:solidFill>
                    <a:srgbClr val="171717"/>
                  </a:solidFill>
                  <a:latin typeface="Montserrat"/>
                  <a:ea typeface="Montserrat"/>
                  <a:cs typeface="Montserrat"/>
                  <a:sym typeface="Montserrat"/>
                </a:rPr>
              </a:br>
              <a:endParaRPr b="0" i="0" sz="400" u="none" cap="none" strike="noStrike">
                <a:solidFill>
                  <a:srgbClr val="171717"/>
                </a:solidFill>
                <a:latin typeface="Montserrat"/>
                <a:ea typeface="Montserrat"/>
                <a:cs typeface="Montserrat"/>
                <a:sym typeface="Montserrat"/>
              </a:endParaRPr>
            </a:p>
          </p:txBody>
        </p:sp>
        <p:sp>
          <p:nvSpPr>
            <p:cNvPr id="1362" name="Google Shape;1362;p25"/>
            <p:cNvSpPr/>
            <p:nvPr/>
          </p:nvSpPr>
          <p:spPr>
            <a:xfrm>
              <a:off x="3555696" y="4780876"/>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Regulaciones locales y estatales</a:t>
              </a:r>
              <a:endParaRPr b="0" i="0" sz="900" u="none" cap="none" strike="noStrike">
                <a:solidFill>
                  <a:srgbClr val="171717"/>
                </a:solidFill>
                <a:latin typeface="Arial"/>
                <a:ea typeface="Arial"/>
                <a:cs typeface="Arial"/>
                <a:sym typeface="Arial"/>
              </a:endParaRPr>
            </a:p>
          </p:txBody>
        </p:sp>
        <p:sp>
          <p:nvSpPr>
            <p:cNvPr id="1363" name="Google Shape;1363;p25"/>
            <p:cNvSpPr/>
            <p:nvPr/>
          </p:nvSpPr>
          <p:spPr>
            <a:xfrm>
              <a:off x="3555696" y="429897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Consumidor y privacidad</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(cumplimiento)</a:t>
              </a:r>
              <a:endParaRPr b="0" i="0" sz="400" u="none" cap="none" strike="noStrike">
                <a:solidFill>
                  <a:srgbClr val="171717"/>
                </a:solidFill>
                <a:latin typeface="Montserrat"/>
                <a:ea typeface="Montserrat"/>
                <a:cs typeface="Montserrat"/>
                <a:sym typeface="Montserrat"/>
              </a:endParaRPr>
            </a:p>
          </p:txBody>
        </p:sp>
        <p:sp>
          <p:nvSpPr>
            <p:cNvPr id="1364" name="Google Shape;1364;p25"/>
            <p:cNvSpPr/>
            <p:nvPr/>
          </p:nvSpPr>
          <p:spPr>
            <a:xfrm>
              <a:off x="3555696" y="4459605"/>
              <a:ext cx="7227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Regulaciones de México.</a:t>
              </a:r>
              <a:endParaRPr b="0" i="0" sz="900" u="none" cap="none" strike="noStrike">
                <a:solidFill>
                  <a:srgbClr val="171717"/>
                </a:solidFill>
                <a:latin typeface="Arial"/>
                <a:ea typeface="Arial"/>
                <a:cs typeface="Arial"/>
                <a:sym typeface="Arial"/>
              </a:endParaRPr>
            </a:p>
          </p:txBody>
        </p:sp>
        <p:sp>
          <p:nvSpPr>
            <p:cNvPr id="1365" name="Google Shape;1365;p25"/>
            <p:cNvSpPr/>
            <p:nvPr/>
          </p:nvSpPr>
          <p:spPr>
            <a:xfrm>
              <a:off x="3555696" y="462024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Regulaciones de BANXICO</a:t>
              </a:r>
              <a:endParaRPr b="0" i="0" sz="400" u="none" cap="none" strike="noStrike">
                <a:solidFill>
                  <a:srgbClr val="171717"/>
                </a:solidFill>
                <a:latin typeface="Montserrat"/>
                <a:ea typeface="Montserrat"/>
                <a:cs typeface="Montserrat"/>
                <a:sym typeface="Montserrat"/>
              </a:endParaRPr>
            </a:p>
          </p:txBody>
        </p:sp>
        <p:sp>
          <p:nvSpPr>
            <p:cNvPr id="1366" name="Google Shape;1366;p25"/>
            <p:cNvSpPr/>
            <p:nvPr/>
          </p:nvSpPr>
          <p:spPr>
            <a:xfrm>
              <a:off x="1333302" y="4674519"/>
              <a:ext cx="720900" cy="162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Seguridad del sistema (disposiciones)</a:t>
              </a:r>
              <a:endParaRPr b="0" i="0" sz="900" u="none" cap="none" strike="noStrike">
                <a:solidFill>
                  <a:srgbClr val="171717"/>
                </a:solidFill>
                <a:latin typeface="Arial"/>
                <a:ea typeface="Arial"/>
                <a:cs typeface="Arial"/>
                <a:sym typeface="Arial"/>
              </a:endParaRPr>
            </a:p>
          </p:txBody>
        </p:sp>
        <p:sp>
          <p:nvSpPr>
            <p:cNvPr id="1367" name="Google Shape;1367;p25"/>
            <p:cNvSpPr/>
            <p:nvPr/>
          </p:nvSpPr>
          <p:spPr>
            <a:xfrm>
              <a:off x="1333302" y="4298970"/>
              <a:ext cx="720900" cy="162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Autenticación (validación de ID de cliente)</a:t>
              </a:r>
              <a:endParaRPr b="0" i="0" sz="400" u="none" cap="none" strike="noStrike">
                <a:solidFill>
                  <a:srgbClr val="171717"/>
                </a:solidFill>
                <a:latin typeface="Montserrat"/>
                <a:ea typeface="Montserrat"/>
                <a:cs typeface="Montserrat"/>
                <a:sym typeface="Montserrat"/>
              </a:endParaRPr>
            </a:p>
          </p:txBody>
        </p:sp>
        <p:sp>
          <p:nvSpPr>
            <p:cNvPr id="1368" name="Google Shape;1368;p25"/>
            <p:cNvSpPr/>
            <p:nvPr/>
          </p:nvSpPr>
          <p:spPr>
            <a:xfrm>
              <a:off x="8041532" y="4459765"/>
              <a:ext cx="7227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plataformas</a:t>
              </a:r>
              <a:endParaRPr b="0" i="0" sz="400" u="none" cap="none" strike="noStrike">
                <a:solidFill>
                  <a:srgbClr val="171717"/>
                </a:solidFill>
                <a:latin typeface="Montserrat"/>
                <a:ea typeface="Montserrat"/>
                <a:cs typeface="Montserrat"/>
                <a:sym typeface="Montserrat"/>
              </a:endParaRPr>
            </a:p>
          </p:txBody>
        </p:sp>
        <p:sp>
          <p:nvSpPr>
            <p:cNvPr id="1369" name="Google Shape;1369;p25"/>
            <p:cNvSpPr/>
            <p:nvPr/>
          </p:nvSpPr>
          <p:spPr>
            <a:xfrm>
              <a:off x="8041529" y="462056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mensajería</a:t>
              </a:r>
              <a:endParaRPr b="0" i="0" sz="400" u="none" cap="none" strike="noStrike">
                <a:solidFill>
                  <a:srgbClr val="171717"/>
                </a:solidFill>
                <a:latin typeface="Montserrat"/>
                <a:ea typeface="Montserrat"/>
                <a:cs typeface="Montserrat"/>
                <a:sym typeface="Montserrat"/>
              </a:endParaRPr>
            </a:p>
          </p:txBody>
        </p:sp>
        <p:sp>
          <p:nvSpPr>
            <p:cNvPr id="1370" name="Google Shape;1370;p25"/>
            <p:cNvSpPr/>
            <p:nvPr/>
          </p:nvSpPr>
          <p:spPr>
            <a:xfrm>
              <a:off x="8041529" y="429897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bases de datos</a:t>
              </a:r>
              <a:endParaRPr b="0" i="0" sz="400" u="none" cap="none" strike="noStrike">
                <a:solidFill>
                  <a:srgbClr val="171717"/>
                </a:solidFill>
                <a:latin typeface="Montserrat"/>
                <a:ea typeface="Montserrat"/>
                <a:cs typeface="Montserrat"/>
                <a:sym typeface="Montserrat"/>
              </a:endParaRPr>
            </a:p>
          </p:txBody>
        </p:sp>
        <p:sp>
          <p:nvSpPr>
            <p:cNvPr id="1371" name="Google Shape;1371;p25"/>
            <p:cNvSpPr/>
            <p:nvPr/>
          </p:nvSpPr>
          <p:spPr>
            <a:xfrm>
              <a:off x="8041529" y="4781356"/>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hardware</a:t>
              </a:r>
              <a:endParaRPr b="0" i="0" sz="900" u="none" cap="none" strike="noStrike">
                <a:solidFill>
                  <a:srgbClr val="171717"/>
                </a:solidFill>
                <a:latin typeface="Arial"/>
                <a:ea typeface="Arial"/>
                <a:cs typeface="Arial"/>
                <a:sym typeface="Arial"/>
              </a:endParaRPr>
            </a:p>
          </p:txBody>
        </p:sp>
        <p:sp>
          <p:nvSpPr>
            <p:cNvPr id="1372" name="Google Shape;1372;p25"/>
            <p:cNvSpPr/>
            <p:nvPr/>
          </p:nvSpPr>
          <p:spPr>
            <a:xfrm>
              <a:off x="1333302" y="4482523"/>
              <a:ext cx="720900" cy="162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Inicio de sesión único</a:t>
              </a:r>
              <a:endParaRPr b="0" i="0" sz="900" u="none" cap="none" strike="noStrike">
                <a:solidFill>
                  <a:srgbClr val="171717"/>
                </a:solidFill>
                <a:latin typeface="Arial"/>
                <a:ea typeface="Arial"/>
                <a:cs typeface="Arial"/>
                <a:sym typeface="Arial"/>
              </a:endParaRPr>
            </a:p>
          </p:txBody>
        </p:sp>
        <p:sp>
          <p:nvSpPr>
            <p:cNvPr id="1373" name="Google Shape;1373;p25"/>
            <p:cNvSpPr/>
            <p:nvPr/>
          </p:nvSpPr>
          <p:spPr>
            <a:xfrm>
              <a:off x="2444808" y="429897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Recopilación de parámetros</a:t>
              </a:r>
              <a:endParaRPr b="0" i="0" sz="900" u="none" cap="none" strike="noStrike">
                <a:solidFill>
                  <a:srgbClr val="171717"/>
                </a:solidFill>
                <a:latin typeface="Arial"/>
                <a:ea typeface="Arial"/>
                <a:cs typeface="Arial"/>
                <a:sym typeface="Arial"/>
              </a:endParaRPr>
            </a:p>
          </p:txBody>
        </p:sp>
        <p:sp>
          <p:nvSpPr>
            <p:cNvPr id="1374" name="Google Shape;1374;p25"/>
            <p:cNvSpPr/>
            <p:nvPr/>
          </p:nvSpPr>
          <p:spPr>
            <a:xfrm>
              <a:off x="2444808" y="4459605"/>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QA inspección</a:t>
              </a:r>
              <a:endParaRPr b="0" i="0" sz="400" u="none" cap="none" strike="noStrike">
                <a:solidFill>
                  <a:srgbClr val="171717"/>
                </a:solidFill>
                <a:latin typeface="Montserrat"/>
                <a:ea typeface="Montserrat"/>
                <a:cs typeface="Montserrat"/>
                <a:sym typeface="Montserrat"/>
              </a:endParaRPr>
            </a:p>
          </p:txBody>
        </p:sp>
        <p:sp>
          <p:nvSpPr>
            <p:cNvPr id="1375" name="Google Shape;1375;p25"/>
            <p:cNvSpPr/>
            <p:nvPr/>
          </p:nvSpPr>
          <p:spPr>
            <a:xfrm>
              <a:off x="2444808" y="4780876"/>
              <a:ext cx="7227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QA notificación</a:t>
              </a:r>
              <a:endParaRPr b="0" i="0" sz="400" u="none" cap="none" strike="noStrike">
                <a:solidFill>
                  <a:srgbClr val="171717"/>
                </a:solidFill>
                <a:latin typeface="Montserrat"/>
                <a:ea typeface="Montserrat"/>
                <a:cs typeface="Montserrat"/>
                <a:sym typeface="Montserrat"/>
              </a:endParaRPr>
            </a:p>
          </p:txBody>
        </p:sp>
        <p:sp>
          <p:nvSpPr>
            <p:cNvPr id="1376" name="Google Shape;1376;p25"/>
            <p:cNvSpPr/>
            <p:nvPr/>
          </p:nvSpPr>
          <p:spPr>
            <a:xfrm>
              <a:off x="2444808" y="4620241"/>
              <a:ext cx="7227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QA revisión</a:t>
              </a:r>
              <a:endParaRPr b="0" i="0" sz="400" u="none" cap="none" strike="noStrike">
                <a:solidFill>
                  <a:srgbClr val="171717"/>
                </a:solidFill>
                <a:latin typeface="Montserrat"/>
                <a:ea typeface="Montserrat"/>
                <a:cs typeface="Montserrat"/>
                <a:sym typeface="Montserrat"/>
              </a:endParaRPr>
            </a:p>
          </p:txBody>
        </p:sp>
        <p:sp>
          <p:nvSpPr>
            <p:cNvPr id="1377" name="Google Shape;1377;p25"/>
            <p:cNvSpPr/>
            <p:nvPr/>
          </p:nvSpPr>
          <p:spPr>
            <a:xfrm>
              <a:off x="5519878" y="3761509"/>
              <a:ext cx="7206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Precio, honorarios y tarifas</a:t>
              </a:r>
              <a:endParaRPr b="0" i="0" sz="400" u="none" cap="none" strike="noStrike">
                <a:solidFill>
                  <a:srgbClr val="171717"/>
                </a:solidFill>
                <a:latin typeface="Montserrat"/>
                <a:ea typeface="Montserrat"/>
                <a:cs typeface="Montserrat"/>
                <a:sym typeface="Montserrat"/>
              </a:endParaRPr>
            </a:p>
          </p:txBody>
        </p:sp>
        <p:sp>
          <p:nvSpPr>
            <p:cNvPr id="1378" name="Google Shape;1378;p25"/>
            <p:cNvSpPr/>
            <p:nvPr/>
          </p:nvSpPr>
          <p:spPr>
            <a:xfrm>
              <a:off x="4689602" y="3761509"/>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Parametrización</a:t>
              </a:r>
              <a:endParaRPr b="0" i="0" sz="900" u="none" cap="none" strike="noStrike">
                <a:solidFill>
                  <a:srgbClr val="171717"/>
                </a:solidFill>
                <a:latin typeface="Montserrat"/>
                <a:ea typeface="Montserrat"/>
                <a:cs typeface="Montserrat"/>
                <a:sym typeface="Montserrat"/>
              </a:endParaRPr>
            </a:p>
          </p:txBody>
        </p:sp>
        <p:sp>
          <p:nvSpPr>
            <p:cNvPr id="1379" name="Google Shape;1379;p25"/>
            <p:cNvSpPr/>
            <p:nvPr/>
          </p:nvSpPr>
          <p:spPr>
            <a:xfrm>
              <a:off x="7168268" y="3762205"/>
              <a:ext cx="7206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Definición de roles</a:t>
              </a:r>
              <a:endParaRPr b="0" i="0" sz="900" u="none" cap="none" strike="noStrike">
                <a:solidFill>
                  <a:srgbClr val="171717"/>
                </a:solidFill>
                <a:latin typeface="Montserrat"/>
                <a:ea typeface="Montserrat"/>
                <a:cs typeface="Montserrat"/>
                <a:sym typeface="Montserrat"/>
              </a:endParaRPr>
            </a:p>
          </p:txBody>
        </p:sp>
        <p:sp>
          <p:nvSpPr>
            <p:cNvPr id="1380" name="Google Shape;1380;p25"/>
            <p:cNvSpPr/>
            <p:nvPr/>
          </p:nvSpPr>
          <p:spPr>
            <a:xfrm>
              <a:off x="7977593" y="3761914"/>
              <a:ext cx="8370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Definición del motor de reglas</a:t>
              </a:r>
              <a:endParaRPr b="0" i="0" sz="400" u="none" cap="none" strike="noStrike">
                <a:solidFill>
                  <a:srgbClr val="171717"/>
                </a:solidFill>
                <a:latin typeface="Montserrat"/>
                <a:ea typeface="Montserrat"/>
                <a:cs typeface="Montserrat"/>
                <a:sym typeface="Montserrat"/>
              </a:endParaRPr>
            </a:p>
          </p:txBody>
        </p:sp>
        <p:sp>
          <p:nvSpPr>
            <p:cNvPr id="1381" name="Google Shape;1381;p25"/>
            <p:cNvSpPr/>
            <p:nvPr/>
          </p:nvSpPr>
          <p:spPr>
            <a:xfrm>
              <a:off x="6353107" y="3761811"/>
              <a:ext cx="7206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Capacidades de gestión de productos</a:t>
              </a:r>
              <a:endParaRPr b="0" i="0" sz="400" u="none" cap="none" strike="noStrike">
                <a:solidFill>
                  <a:srgbClr val="171717"/>
                </a:solidFill>
                <a:latin typeface="Montserrat"/>
                <a:ea typeface="Montserrat"/>
                <a:cs typeface="Montserrat"/>
                <a:sym typeface="Montserrat"/>
              </a:endParaRPr>
            </a:p>
          </p:txBody>
        </p:sp>
        <p:sp>
          <p:nvSpPr>
            <p:cNvPr id="1382" name="Google Shape;1382;p25"/>
            <p:cNvSpPr/>
            <p:nvPr/>
          </p:nvSpPr>
          <p:spPr>
            <a:xfrm>
              <a:off x="3880064" y="3761509"/>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Información de Modelos</a:t>
              </a:r>
              <a:endParaRPr b="0" i="0" sz="900" u="none" cap="none" strike="noStrike">
                <a:solidFill>
                  <a:srgbClr val="171717"/>
                </a:solidFill>
                <a:latin typeface="Montserrat"/>
                <a:ea typeface="Montserrat"/>
                <a:cs typeface="Montserrat"/>
                <a:sym typeface="Montserrat"/>
              </a:endParaRPr>
            </a:p>
          </p:txBody>
        </p:sp>
        <p:sp>
          <p:nvSpPr>
            <p:cNvPr id="1383" name="Google Shape;1383;p25"/>
            <p:cNvSpPr/>
            <p:nvPr/>
          </p:nvSpPr>
          <p:spPr>
            <a:xfrm>
              <a:off x="3880356" y="212689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Reconciliaciones</a:t>
              </a:r>
              <a:endParaRPr b="0" i="0" sz="400" u="none" cap="none" strike="noStrike">
                <a:solidFill>
                  <a:srgbClr val="171717"/>
                </a:solidFill>
                <a:latin typeface="Montserrat"/>
                <a:ea typeface="Montserrat"/>
                <a:cs typeface="Montserrat"/>
                <a:sym typeface="Montserrat"/>
              </a:endParaRPr>
            </a:p>
          </p:txBody>
        </p:sp>
        <p:sp>
          <p:nvSpPr>
            <p:cNvPr id="1384" name="Google Shape;1384;p25"/>
            <p:cNvSpPr/>
            <p:nvPr/>
          </p:nvSpPr>
          <p:spPr>
            <a:xfrm>
              <a:off x="3880356" y="145945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Ajustes</a:t>
              </a:r>
              <a:endParaRPr b="0" i="0" sz="400" u="none" cap="none" strike="noStrike">
                <a:solidFill>
                  <a:srgbClr val="171717"/>
                </a:solidFill>
                <a:latin typeface="Montserrat"/>
                <a:ea typeface="Montserrat"/>
                <a:cs typeface="Montserrat"/>
                <a:sym typeface="Montserrat"/>
              </a:endParaRPr>
            </a:p>
          </p:txBody>
        </p:sp>
        <p:sp>
          <p:nvSpPr>
            <p:cNvPr id="1385" name="Google Shape;1385;p25"/>
            <p:cNvSpPr/>
            <p:nvPr/>
          </p:nvSpPr>
          <p:spPr>
            <a:xfrm>
              <a:off x="3880356" y="179324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Excepciones</a:t>
              </a:r>
              <a:endParaRPr b="0" i="0" sz="400" u="none" cap="none" strike="noStrike">
                <a:solidFill>
                  <a:srgbClr val="171717"/>
                </a:solidFill>
                <a:latin typeface="Montserrat"/>
                <a:ea typeface="Montserrat"/>
                <a:cs typeface="Montserrat"/>
                <a:sym typeface="Montserrat"/>
              </a:endParaRPr>
            </a:p>
          </p:txBody>
        </p:sp>
        <p:sp>
          <p:nvSpPr>
            <p:cNvPr id="1386" name="Google Shape;1386;p25"/>
            <p:cNvSpPr/>
            <p:nvPr/>
          </p:nvSpPr>
          <p:spPr>
            <a:xfrm>
              <a:off x="3880356" y="1626113"/>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Procesamiento de saldos</a:t>
              </a:r>
              <a:endParaRPr b="0" i="0" sz="400" u="none" cap="none" strike="noStrike">
                <a:solidFill>
                  <a:srgbClr val="171717"/>
                </a:solidFill>
                <a:latin typeface="Montserrat"/>
                <a:ea typeface="Montserrat"/>
                <a:cs typeface="Montserrat"/>
                <a:sym typeface="Montserrat"/>
              </a:endParaRPr>
            </a:p>
          </p:txBody>
        </p:sp>
        <p:sp>
          <p:nvSpPr>
            <p:cNvPr id="1387" name="Google Shape;1387;p25"/>
            <p:cNvSpPr/>
            <p:nvPr/>
          </p:nvSpPr>
          <p:spPr>
            <a:xfrm>
              <a:off x="3880356" y="196083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Contabilidad</a:t>
              </a:r>
              <a:endParaRPr b="0" i="0" sz="400" u="none" cap="none" strike="noStrike">
                <a:solidFill>
                  <a:srgbClr val="171717"/>
                </a:solidFill>
                <a:latin typeface="Montserrat"/>
                <a:ea typeface="Montserrat"/>
                <a:cs typeface="Montserrat"/>
                <a:sym typeface="Montserrat"/>
              </a:endParaRPr>
            </a:p>
          </p:txBody>
        </p:sp>
        <p:sp>
          <p:nvSpPr>
            <p:cNvPr id="1388" name="Google Shape;1388;p25"/>
            <p:cNvSpPr/>
            <p:nvPr/>
          </p:nvSpPr>
          <p:spPr>
            <a:xfrm>
              <a:off x="3880356" y="244040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Asociaciones</a:t>
              </a:r>
              <a:endParaRPr b="0" i="0" sz="400" u="none" cap="none" strike="noStrike">
                <a:solidFill>
                  <a:srgbClr val="171717"/>
                </a:solidFill>
                <a:latin typeface="Montserrat"/>
                <a:ea typeface="Montserrat"/>
                <a:cs typeface="Montserrat"/>
                <a:sym typeface="Montserrat"/>
              </a:endParaRPr>
            </a:p>
          </p:txBody>
        </p:sp>
        <p:sp>
          <p:nvSpPr>
            <p:cNvPr id="1389" name="Google Shape;1389;p25"/>
            <p:cNvSpPr/>
            <p:nvPr/>
          </p:nvSpPr>
          <p:spPr>
            <a:xfrm>
              <a:off x="3880356" y="260828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Ventas/incentivos</a:t>
              </a:r>
              <a:endParaRPr b="0" i="0" sz="400" u="none" cap="none" strike="noStrike">
                <a:solidFill>
                  <a:srgbClr val="171717"/>
                </a:solidFill>
                <a:latin typeface="Montserrat"/>
                <a:ea typeface="Montserrat"/>
                <a:cs typeface="Montserrat"/>
                <a:sym typeface="Montserrat"/>
              </a:endParaRPr>
            </a:p>
          </p:txBody>
        </p:sp>
        <p:sp>
          <p:nvSpPr>
            <p:cNvPr id="1390" name="Google Shape;1390;p25"/>
            <p:cNvSpPr/>
            <p:nvPr/>
          </p:nvSpPr>
          <p:spPr>
            <a:xfrm>
              <a:off x="3880064" y="2766755"/>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la relación con el cliente</a:t>
              </a:r>
              <a:endParaRPr b="0" i="0" sz="400" u="none" cap="none" strike="noStrike">
                <a:solidFill>
                  <a:srgbClr val="171717"/>
                </a:solidFill>
                <a:latin typeface="Montserrat"/>
                <a:ea typeface="Montserrat"/>
                <a:cs typeface="Montserrat"/>
                <a:sym typeface="Montserrat"/>
              </a:endParaRPr>
            </a:p>
          </p:txBody>
        </p:sp>
        <p:sp>
          <p:nvSpPr>
            <p:cNvPr id="1391" name="Google Shape;1391;p25"/>
            <p:cNvSpPr/>
            <p:nvPr/>
          </p:nvSpPr>
          <p:spPr>
            <a:xfrm>
              <a:off x="3880064" y="294268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prospectos</a:t>
              </a:r>
              <a:endParaRPr b="0" i="0" sz="400" u="none" cap="none" strike="noStrike">
                <a:solidFill>
                  <a:srgbClr val="171717"/>
                </a:solidFill>
                <a:latin typeface="Montserrat"/>
                <a:ea typeface="Montserrat"/>
                <a:cs typeface="Montserrat"/>
                <a:sym typeface="Montserrat"/>
              </a:endParaRPr>
            </a:p>
          </p:txBody>
        </p:sp>
        <p:sp>
          <p:nvSpPr>
            <p:cNvPr id="1392" name="Google Shape;1392;p25"/>
            <p:cNvSpPr/>
            <p:nvPr/>
          </p:nvSpPr>
          <p:spPr>
            <a:xfrm>
              <a:off x="3880064" y="326714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Finanzas y Tesorería</a:t>
              </a:r>
              <a:endParaRPr b="0" i="0" sz="400" u="none" cap="none" strike="noStrike">
                <a:solidFill>
                  <a:srgbClr val="171717"/>
                </a:solidFill>
                <a:latin typeface="Montserrat"/>
                <a:ea typeface="Montserrat"/>
                <a:cs typeface="Montserrat"/>
                <a:sym typeface="Montserrat"/>
              </a:endParaRPr>
            </a:p>
          </p:txBody>
        </p:sp>
        <p:sp>
          <p:nvSpPr>
            <p:cNvPr id="1393" name="Google Shape;1393;p25"/>
            <p:cNvSpPr/>
            <p:nvPr/>
          </p:nvSpPr>
          <p:spPr>
            <a:xfrm>
              <a:off x="3880064" y="3434003"/>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inversión</a:t>
              </a:r>
              <a:endParaRPr b="0" i="0" sz="400" u="none" cap="none" strike="noStrike">
                <a:solidFill>
                  <a:srgbClr val="171717"/>
                </a:solidFill>
                <a:latin typeface="Montserrat"/>
                <a:ea typeface="Montserrat"/>
                <a:cs typeface="Montserrat"/>
                <a:sym typeface="Montserrat"/>
              </a:endParaRPr>
            </a:p>
          </p:txBody>
        </p:sp>
        <p:sp>
          <p:nvSpPr>
            <p:cNvPr id="1394" name="Google Shape;1394;p25"/>
            <p:cNvSpPr/>
            <p:nvPr/>
          </p:nvSpPr>
          <p:spPr>
            <a:xfrm>
              <a:off x="2862242" y="324589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Gestión de documentos de imagen</a:t>
              </a:r>
              <a:endParaRPr b="0" i="0" sz="900" u="none" cap="none" strike="noStrike">
                <a:solidFill>
                  <a:srgbClr val="171717"/>
                </a:solidFill>
                <a:latin typeface="Montserrat"/>
                <a:ea typeface="Montserrat"/>
                <a:cs typeface="Montserrat"/>
                <a:sym typeface="Montserrat"/>
              </a:endParaRPr>
            </a:p>
          </p:txBody>
        </p:sp>
        <p:sp>
          <p:nvSpPr>
            <p:cNvPr id="1395" name="Google Shape;1395;p25"/>
            <p:cNvSpPr/>
            <p:nvPr/>
          </p:nvSpPr>
          <p:spPr>
            <a:xfrm>
              <a:off x="1291823" y="3412753"/>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Templates </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(correspondencia)</a:t>
              </a:r>
              <a:endParaRPr b="0" i="0" sz="900" u="none" cap="none" strike="noStrike">
                <a:solidFill>
                  <a:srgbClr val="171717"/>
                </a:solidFill>
                <a:latin typeface="Montserrat"/>
                <a:ea typeface="Montserrat"/>
                <a:cs typeface="Montserrat"/>
                <a:sym typeface="Montserrat"/>
              </a:endParaRPr>
            </a:p>
          </p:txBody>
        </p:sp>
        <p:sp>
          <p:nvSpPr>
            <p:cNvPr id="1396" name="Google Shape;1396;p25"/>
            <p:cNvSpPr/>
            <p:nvPr/>
          </p:nvSpPr>
          <p:spPr>
            <a:xfrm>
              <a:off x="2078085" y="3245455"/>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Divulgación y aceptar</a:t>
              </a:r>
              <a:endParaRPr b="0" i="0" sz="400" u="none" cap="none" strike="noStrike">
                <a:solidFill>
                  <a:srgbClr val="171717"/>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(Procesamienta de cuentas)</a:t>
              </a:r>
              <a:endParaRPr b="0" i="0" sz="900" u="none" cap="none" strike="noStrike">
                <a:solidFill>
                  <a:srgbClr val="171717"/>
                </a:solidFill>
                <a:latin typeface="Montserrat"/>
                <a:ea typeface="Montserrat"/>
                <a:cs typeface="Montserrat"/>
                <a:sym typeface="Montserrat"/>
              </a:endParaRPr>
            </a:p>
          </p:txBody>
        </p:sp>
        <p:sp>
          <p:nvSpPr>
            <p:cNvPr id="1397" name="Google Shape;1397;p25"/>
            <p:cNvSpPr/>
            <p:nvPr/>
          </p:nvSpPr>
          <p:spPr>
            <a:xfrm>
              <a:off x="1291823" y="3245455"/>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Documentación de cumplimiento de cuenta</a:t>
              </a:r>
              <a:endParaRPr b="0" i="0" sz="400" u="none" cap="none" strike="noStrike">
                <a:solidFill>
                  <a:srgbClr val="171717"/>
                </a:solidFill>
                <a:latin typeface="Montserrat"/>
                <a:ea typeface="Montserrat"/>
                <a:cs typeface="Montserrat"/>
                <a:sym typeface="Montserrat"/>
              </a:endParaRPr>
            </a:p>
          </p:txBody>
        </p:sp>
        <p:sp>
          <p:nvSpPr>
            <p:cNvPr id="1398" name="Google Shape;1398;p25"/>
            <p:cNvSpPr/>
            <p:nvPr/>
          </p:nvSpPr>
          <p:spPr>
            <a:xfrm>
              <a:off x="1294951" y="2174204"/>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Cierre de cuenta</a:t>
              </a:r>
              <a:endParaRPr b="0" i="0" sz="400" u="none" cap="none" strike="noStrike">
                <a:solidFill>
                  <a:srgbClr val="171717"/>
                </a:solidFill>
                <a:latin typeface="Montserrat"/>
                <a:ea typeface="Montserrat"/>
                <a:cs typeface="Montserrat"/>
                <a:sym typeface="Montserrat"/>
              </a:endParaRPr>
            </a:p>
          </p:txBody>
        </p:sp>
        <p:sp>
          <p:nvSpPr>
            <p:cNvPr id="1399" name="Google Shape;1399;p25"/>
            <p:cNvSpPr/>
            <p:nvPr/>
          </p:nvSpPr>
          <p:spPr>
            <a:xfrm>
              <a:off x="1294951" y="250896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Depositar fondos</a:t>
              </a:r>
              <a:endParaRPr b="0" i="0" sz="400" u="none" cap="none" strike="noStrike">
                <a:solidFill>
                  <a:srgbClr val="171717"/>
                </a:solidFill>
                <a:latin typeface="Montserrat"/>
                <a:ea typeface="Montserrat"/>
                <a:cs typeface="Montserrat"/>
                <a:sym typeface="Montserrat"/>
              </a:endParaRPr>
            </a:p>
          </p:txBody>
        </p:sp>
        <p:sp>
          <p:nvSpPr>
            <p:cNvPr id="1400" name="Google Shape;1400;p25"/>
            <p:cNvSpPr/>
            <p:nvPr/>
          </p:nvSpPr>
          <p:spPr>
            <a:xfrm>
              <a:off x="1294951" y="284286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Transferir fondos</a:t>
              </a:r>
              <a:endParaRPr b="0" i="0" sz="400" u="none" cap="none" strike="noStrike">
                <a:solidFill>
                  <a:srgbClr val="171717"/>
                </a:solidFill>
                <a:latin typeface="Montserrat"/>
                <a:ea typeface="Montserrat"/>
                <a:cs typeface="Montserrat"/>
                <a:sym typeface="Montserrat"/>
              </a:endParaRPr>
            </a:p>
          </p:txBody>
        </p:sp>
        <p:sp>
          <p:nvSpPr>
            <p:cNvPr id="1401" name="Google Shape;1401;p25"/>
            <p:cNvSpPr/>
            <p:nvPr/>
          </p:nvSpPr>
          <p:spPr>
            <a:xfrm>
              <a:off x="2862246" y="284286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Retirar fondos</a:t>
              </a:r>
              <a:endParaRPr b="0" i="0" sz="400" u="none" cap="none" strike="noStrike">
                <a:solidFill>
                  <a:srgbClr val="171717"/>
                </a:solidFill>
                <a:latin typeface="Montserrat"/>
                <a:ea typeface="Montserrat"/>
                <a:cs typeface="Montserrat"/>
                <a:sym typeface="Montserrat"/>
              </a:endParaRPr>
            </a:p>
          </p:txBody>
        </p:sp>
        <p:sp>
          <p:nvSpPr>
            <p:cNvPr id="1402" name="Google Shape;1402;p25"/>
            <p:cNvSpPr/>
            <p:nvPr/>
          </p:nvSpPr>
          <p:spPr>
            <a:xfrm>
              <a:off x="2078085" y="2677747"/>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Pequeñas empresas</a:t>
              </a:r>
              <a:endParaRPr b="0" i="0" sz="400" u="none" cap="none" strike="noStrike">
                <a:solidFill>
                  <a:srgbClr val="171717"/>
                </a:solidFill>
                <a:latin typeface="Montserrat"/>
                <a:ea typeface="Montserrat"/>
                <a:cs typeface="Montserrat"/>
                <a:sym typeface="Montserrat"/>
              </a:endParaRPr>
            </a:p>
          </p:txBody>
        </p:sp>
        <p:sp>
          <p:nvSpPr>
            <p:cNvPr id="1403" name="Google Shape;1403;p25"/>
            <p:cNvSpPr/>
            <p:nvPr/>
          </p:nvSpPr>
          <p:spPr>
            <a:xfrm>
              <a:off x="2078085" y="2339316"/>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Eventos activados por el cliente</a:t>
              </a:r>
              <a:endParaRPr b="0" i="0" sz="400" u="none" cap="none" strike="noStrike">
                <a:solidFill>
                  <a:srgbClr val="171717"/>
                </a:solidFill>
                <a:latin typeface="Montserrat"/>
                <a:ea typeface="Montserrat"/>
                <a:cs typeface="Montserrat"/>
                <a:sym typeface="Montserrat"/>
              </a:endParaRPr>
            </a:p>
          </p:txBody>
        </p:sp>
        <p:sp>
          <p:nvSpPr>
            <p:cNvPr id="1404" name="Google Shape;1404;p25"/>
            <p:cNvSpPr/>
            <p:nvPr/>
          </p:nvSpPr>
          <p:spPr>
            <a:xfrm>
              <a:off x="2078085" y="2174204"/>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Originación de cuentas</a:t>
              </a:r>
              <a:endParaRPr b="0" i="0" sz="900" u="none" cap="none" strike="noStrike">
                <a:solidFill>
                  <a:srgbClr val="171717"/>
                </a:solidFill>
                <a:latin typeface="Montserrat"/>
                <a:ea typeface="Montserrat"/>
                <a:cs typeface="Montserrat"/>
                <a:sym typeface="Montserrat"/>
              </a:endParaRPr>
            </a:p>
          </p:txBody>
        </p:sp>
        <p:sp>
          <p:nvSpPr>
            <p:cNvPr id="1405" name="Google Shape;1405;p25"/>
            <p:cNvSpPr/>
            <p:nvPr/>
          </p:nvSpPr>
          <p:spPr>
            <a:xfrm>
              <a:off x="2078085" y="2504427"/>
              <a:ext cx="7464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cumplimiento./</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Incorporación de clientes</a:t>
              </a:r>
              <a:endParaRPr b="0" i="0" sz="400" u="none" cap="none" strike="noStrike">
                <a:solidFill>
                  <a:srgbClr val="171717"/>
                </a:solidFill>
                <a:latin typeface="Montserrat"/>
                <a:ea typeface="Montserrat"/>
                <a:cs typeface="Montserrat"/>
                <a:sym typeface="Montserrat"/>
              </a:endParaRPr>
            </a:p>
          </p:txBody>
        </p:sp>
        <p:sp>
          <p:nvSpPr>
            <p:cNvPr id="1406" name="Google Shape;1406;p25"/>
            <p:cNvSpPr/>
            <p:nvPr/>
          </p:nvSpPr>
          <p:spPr>
            <a:xfrm>
              <a:off x="1294951" y="2340572"/>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configuración</a:t>
              </a:r>
              <a:endParaRPr b="0" i="0" sz="400" u="none" cap="none" strike="noStrike">
                <a:solidFill>
                  <a:srgbClr val="171717"/>
                </a:solidFill>
                <a:latin typeface="Montserrat"/>
                <a:ea typeface="Montserrat"/>
                <a:cs typeface="Montserrat"/>
                <a:sym typeface="Montserrat"/>
              </a:endParaRPr>
            </a:p>
          </p:txBody>
        </p:sp>
        <p:sp>
          <p:nvSpPr>
            <p:cNvPr id="1407" name="Google Shape;1407;p25"/>
            <p:cNvSpPr/>
            <p:nvPr/>
          </p:nvSpPr>
          <p:spPr>
            <a:xfrm>
              <a:off x="2078085" y="284286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Actualizar información</a:t>
              </a:r>
              <a:endParaRPr b="0" i="0" sz="400" u="none" cap="none" strike="noStrike">
                <a:solidFill>
                  <a:srgbClr val="171717"/>
                </a:solidFill>
                <a:latin typeface="Montserrat"/>
                <a:ea typeface="Montserrat"/>
                <a:cs typeface="Montserrat"/>
                <a:sym typeface="Montserrat"/>
              </a:endParaRPr>
            </a:p>
          </p:txBody>
        </p:sp>
        <p:sp>
          <p:nvSpPr>
            <p:cNvPr id="1408" name="Google Shape;1408;p25"/>
            <p:cNvSpPr/>
            <p:nvPr/>
          </p:nvSpPr>
          <p:spPr>
            <a:xfrm>
              <a:off x="2862246" y="267536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Banca transaccional</a:t>
              </a:r>
              <a:endParaRPr b="0" i="0" sz="400" u="none" cap="none" strike="noStrike">
                <a:solidFill>
                  <a:srgbClr val="171717"/>
                </a:solidFill>
                <a:latin typeface="Montserrat"/>
                <a:ea typeface="Montserrat"/>
                <a:cs typeface="Montserrat"/>
                <a:sym typeface="Montserrat"/>
              </a:endParaRPr>
            </a:p>
          </p:txBody>
        </p:sp>
        <p:sp>
          <p:nvSpPr>
            <p:cNvPr id="1409" name="Google Shape;1409;p25"/>
            <p:cNvSpPr/>
            <p:nvPr/>
          </p:nvSpPr>
          <p:spPr>
            <a:xfrm>
              <a:off x="2862246" y="2174204"/>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Eventos activados por calendario</a:t>
              </a:r>
              <a:endParaRPr b="0" i="0" sz="400" u="none" cap="none" strike="noStrike">
                <a:solidFill>
                  <a:srgbClr val="171717"/>
                </a:solidFill>
                <a:latin typeface="Montserrat"/>
                <a:ea typeface="Montserrat"/>
                <a:cs typeface="Montserrat"/>
                <a:sym typeface="Montserrat"/>
              </a:endParaRPr>
            </a:p>
          </p:txBody>
        </p:sp>
        <p:sp>
          <p:nvSpPr>
            <p:cNvPr id="1410" name="Google Shape;1410;p25"/>
            <p:cNvSpPr/>
            <p:nvPr/>
          </p:nvSpPr>
          <p:spPr>
            <a:xfrm>
              <a:off x="2862246" y="2508461"/>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Cuentas que generan intereses</a:t>
              </a:r>
              <a:endParaRPr b="0" i="0" sz="400" u="none" cap="none" strike="noStrike">
                <a:solidFill>
                  <a:srgbClr val="171717"/>
                </a:solidFill>
                <a:latin typeface="Montserrat"/>
                <a:ea typeface="Montserrat"/>
                <a:cs typeface="Montserrat"/>
                <a:sym typeface="Montserrat"/>
              </a:endParaRPr>
            </a:p>
          </p:txBody>
        </p:sp>
        <p:sp>
          <p:nvSpPr>
            <p:cNvPr id="1411" name="Google Shape;1411;p25"/>
            <p:cNvSpPr/>
            <p:nvPr/>
          </p:nvSpPr>
          <p:spPr>
            <a:xfrm>
              <a:off x="2862246" y="2340572"/>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tarjeta de débito/ATM</a:t>
              </a:r>
              <a:endParaRPr b="0" i="0" sz="400" u="none" cap="none" strike="noStrike">
                <a:solidFill>
                  <a:srgbClr val="171717"/>
                </a:solidFill>
                <a:latin typeface="Montserrat"/>
                <a:ea typeface="Montserrat"/>
                <a:cs typeface="Montserrat"/>
                <a:sym typeface="Montserrat"/>
              </a:endParaRPr>
            </a:p>
          </p:txBody>
        </p:sp>
        <p:sp>
          <p:nvSpPr>
            <p:cNvPr id="1412" name="Google Shape;1412;p25"/>
            <p:cNvSpPr/>
            <p:nvPr/>
          </p:nvSpPr>
          <p:spPr>
            <a:xfrm>
              <a:off x="1294951" y="2676280"/>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pago de facturas en línea</a:t>
              </a:r>
              <a:endParaRPr b="0" i="0" sz="400" u="none" cap="none" strike="noStrike">
                <a:solidFill>
                  <a:srgbClr val="171717"/>
                </a:solidFill>
                <a:latin typeface="Montserrat"/>
                <a:ea typeface="Montserrat"/>
                <a:cs typeface="Montserrat"/>
                <a:sym typeface="Montserrat"/>
              </a:endParaRPr>
            </a:p>
          </p:txBody>
        </p:sp>
        <p:sp>
          <p:nvSpPr>
            <p:cNvPr id="1413" name="Google Shape;1413;p25"/>
            <p:cNvSpPr/>
            <p:nvPr/>
          </p:nvSpPr>
          <p:spPr>
            <a:xfrm>
              <a:off x="2862418" y="3761509"/>
              <a:ext cx="7464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Encuestas/investigación</a:t>
              </a:r>
              <a:endParaRPr b="0" i="0" sz="900" u="none" cap="none" strike="noStrike">
                <a:solidFill>
                  <a:srgbClr val="171717"/>
                </a:solidFill>
                <a:latin typeface="Montserrat"/>
                <a:ea typeface="Montserrat"/>
                <a:cs typeface="Montserrat"/>
                <a:sym typeface="Montserrat"/>
              </a:endParaRPr>
            </a:p>
          </p:txBody>
        </p:sp>
        <p:sp>
          <p:nvSpPr>
            <p:cNvPr id="1414" name="Google Shape;1414;p25"/>
            <p:cNvSpPr/>
            <p:nvPr/>
          </p:nvSpPr>
          <p:spPr>
            <a:xfrm>
              <a:off x="1295455" y="3761509"/>
              <a:ext cx="7464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campañas</a:t>
              </a:r>
              <a:endParaRPr b="0" i="0" sz="900" u="none" cap="none" strike="noStrike">
                <a:solidFill>
                  <a:srgbClr val="171717"/>
                </a:solidFill>
                <a:latin typeface="Montserrat"/>
                <a:ea typeface="Montserrat"/>
                <a:cs typeface="Montserrat"/>
                <a:sym typeface="Montserrat"/>
              </a:endParaRPr>
            </a:p>
          </p:txBody>
        </p:sp>
        <p:sp>
          <p:nvSpPr>
            <p:cNvPr id="1415" name="Google Shape;1415;p25"/>
            <p:cNvSpPr/>
            <p:nvPr/>
          </p:nvSpPr>
          <p:spPr>
            <a:xfrm>
              <a:off x="2078085" y="3761509"/>
              <a:ext cx="7464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garantías</a:t>
              </a:r>
              <a:endParaRPr b="0" i="0" sz="900" u="none" cap="none" strike="noStrike">
                <a:solidFill>
                  <a:srgbClr val="171717"/>
                </a:solidFill>
                <a:latin typeface="Montserrat"/>
                <a:ea typeface="Montserrat"/>
                <a:cs typeface="Montserrat"/>
                <a:sym typeface="Montserrat"/>
              </a:endParaRPr>
            </a:p>
          </p:txBody>
        </p:sp>
        <p:sp>
          <p:nvSpPr>
            <p:cNvPr id="1416" name="Google Shape;1416;p25"/>
            <p:cNvSpPr/>
            <p:nvPr/>
          </p:nvSpPr>
          <p:spPr>
            <a:xfrm>
              <a:off x="1292493" y="163172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Información de la clase de producto</a:t>
              </a:r>
              <a:endParaRPr b="0" i="0" sz="400" u="none" cap="none" strike="noStrike">
                <a:solidFill>
                  <a:srgbClr val="171717"/>
                </a:solidFill>
                <a:latin typeface="Montserrat"/>
                <a:ea typeface="Montserrat"/>
                <a:cs typeface="Montserrat"/>
                <a:sym typeface="Montserrat"/>
              </a:endParaRPr>
            </a:p>
          </p:txBody>
        </p:sp>
        <p:sp>
          <p:nvSpPr>
            <p:cNvPr id="1417" name="Google Shape;1417;p25"/>
            <p:cNvSpPr/>
            <p:nvPr/>
          </p:nvSpPr>
          <p:spPr>
            <a:xfrm>
              <a:off x="1292493" y="179888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de depósito a plazo</a:t>
              </a:r>
              <a:endParaRPr b="0" i="0" sz="400" u="none" cap="none" strike="noStrike">
                <a:solidFill>
                  <a:srgbClr val="171717"/>
                </a:solidFill>
                <a:latin typeface="Montserrat"/>
                <a:ea typeface="Montserrat"/>
                <a:cs typeface="Montserrat"/>
                <a:sym typeface="Montserrat"/>
              </a:endParaRPr>
            </a:p>
          </p:txBody>
        </p:sp>
        <p:sp>
          <p:nvSpPr>
            <p:cNvPr id="1418" name="Google Shape;1418;p25"/>
            <p:cNvSpPr/>
            <p:nvPr/>
          </p:nvSpPr>
          <p:spPr>
            <a:xfrm>
              <a:off x="1292493" y="1463853"/>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Corrientes</a:t>
              </a:r>
              <a:endParaRPr b="0" i="0" sz="400" u="none" cap="none" strike="noStrike">
                <a:solidFill>
                  <a:srgbClr val="171717"/>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rgbClr val="171717"/>
                </a:solidFill>
                <a:latin typeface="Montserrat"/>
                <a:ea typeface="Montserrat"/>
                <a:cs typeface="Montserrat"/>
                <a:sym typeface="Montserrat"/>
              </a:endParaRPr>
            </a:p>
          </p:txBody>
        </p:sp>
        <p:sp>
          <p:nvSpPr>
            <p:cNvPr id="1419" name="Google Shape;1419;p25"/>
            <p:cNvSpPr/>
            <p:nvPr/>
          </p:nvSpPr>
          <p:spPr>
            <a:xfrm>
              <a:off x="2077643" y="163172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de jubilación</a:t>
              </a:r>
              <a:endParaRPr b="0" i="0" sz="400" u="none" cap="none" strike="noStrike">
                <a:solidFill>
                  <a:srgbClr val="171717"/>
                </a:solidFill>
                <a:latin typeface="Montserrat"/>
                <a:ea typeface="Montserrat"/>
                <a:cs typeface="Montserrat"/>
                <a:sym typeface="Montserrat"/>
              </a:endParaRPr>
            </a:p>
          </p:txBody>
        </p:sp>
        <p:sp>
          <p:nvSpPr>
            <p:cNvPr id="1420" name="Google Shape;1420;p25"/>
            <p:cNvSpPr/>
            <p:nvPr/>
          </p:nvSpPr>
          <p:spPr>
            <a:xfrm>
              <a:off x="2863234" y="1463853"/>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Banco privado/</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Servicios patrimoniales</a:t>
              </a:r>
              <a:endParaRPr b="0" i="0" sz="400" u="none" cap="none" strike="noStrike">
                <a:solidFill>
                  <a:srgbClr val="171717"/>
                </a:solidFill>
                <a:latin typeface="Montserrat"/>
                <a:ea typeface="Montserrat"/>
                <a:cs typeface="Montserrat"/>
                <a:sym typeface="Montserrat"/>
              </a:endParaRPr>
            </a:p>
          </p:txBody>
        </p:sp>
        <p:sp>
          <p:nvSpPr>
            <p:cNvPr id="1421" name="Google Shape;1421;p25"/>
            <p:cNvSpPr/>
            <p:nvPr/>
          </p:nvSpPr>
          <p:spPr>
            <a:xfrm>
              <a:off x="2863234" y="163172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de ahorro</a:t>
              </a:r>
              <a:endParaRPr b="0" i="0" sz="400" u="none" cap="none" strike="noStrike">
                <a:solidFill>
                  <a:srgbClr val="171717"/>
                </a:solidFill>
                <a:latin typeface="Montserrat"/>
                <a:ea typeface="Montserrat"/>
                <a:cs typeface="Montserrat"/>
                <a:sym typeface="Montserrat"/>
              </a:endParaRPr>
            </a:p>
          </p:txBody>
        </p:sp>
        <p:sp>
          <p:nvSpPr>
            <p:cNvPr id="1422" name="Google Shape;1422;p25"/>
            <p:cNvSpPr/>
            <p:nvPr/>
          </p:nvSpPr>
          <p:spPr>
            <a:xfrm>
              <a:off x="2077643" y="1463853"/>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de crédito</a:t>
              </a:r>
              <a:endParaRPr b="0" i="0" sz="400" u="none" cap="none" strike="noStrike">
                <a:solidFill>
                  <a:srgbClr val="171717"/>
                </a:solidFill>
                <a:latin typeface="Montserrat"/>
                <a:ea typeface="Montserrat"/>
                <a:cs typeface="Montserrat"/>
                <a:sym typeface="Montserrat"/>
              </a:endParaRPr>
            </a:p>
          </p:txBody>
        </p:sp>
        <p:sp>
          <p:nvSpPr>
            <p:cNvPr id="1423" name="Google Shape;1423;p25"/>
            <p:cNvSpPr/>
            <p:nvPr/>
          </p:nvSpPr>
          <p:spPr>
            <a:xfrm>
              <a:off x="2077643" y="179888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Banca transaccional</a:t>
              </a:r>
              <a:endParaRPr b="0" i="0" sz="400" u="none" cap="none" strike="noStrike">
                <a:solidFill>
                  <a:srgbClr val="171717"/>
                </a:solidFill>
                <a:latin typeface="Montserrat"/>
                <a:ea typeface="Montserrat"/>
                <a:cs typeface="Montserrat"/>
                <a:sym typeface="Montserrat"/>
              </a:endParaRPr>
            </a:p>
          </p:txBody>
        </p:sp>
        <p:sp>
          <p:nvSpPr>
            <p:cNvPr id="1424" name="Google Shape;1424;p25"/>
            <p:cNvSpPr/>
            <p:nvPr/>
          </p:nvSpPr>
          <p:spPr>
            <a:xfrm>
              <a:off x="2863234" y="1798889"/>
              <a:ext cx="746400" cy="1458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Cuentas de saldo cero</a:t>
              </a:r>
              <a:endParaRPr b="0" i="0" sz="400" u="none" cap="none" strike="noStrike">
                <a:solidFill>
                  <a:srgbClr val="171717"/>
                </a:solidFill>
                <a:latin typeface="Montserrat"/>
                <a:ea typeface="Montserrat"/>
                <a:cs typeface="Montserrat"/>
                <a:sym typeface="Montserrat"/>
              </a:endParaRPr>
            </a:p>
          </p:txBody>
        </p:sp>
        <p:sp>
          <p:nvSpPr>
            <p:cNvPr id="1425" name="Google Shape;1425;p25"/>
            <p:cNvSpPr/>
            <p:nvPr/>
          </p:nvSpPr>
          <p:spPr>
            <a:xfrm>
              <a:off x="7323830" y="1798707"/>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Caja de seguridad</a:t>
              </a:r>
              <a:endParaRPr b="0" i="0" sz="400" u="none" cap="none" strike="noStrike">
                <a:solidFill>
                  <a:srgbClr val="171717"/>
                </a:solidFill>
                <a:latin typeface="Montserrat"/>
                <a:ea typeface="Montserrat"/>
                <a:cs typeface="Montserrat"/>
                <a:sym typeface="Montserrat"/>
              </a:endParaRPr>
            </a:p>
          </p:txBody>
        </p:sp>
        <p:sp>
          <p:nvSpPr>
            <p:cNvPr id="1426" name="Google Shape;1426;p25"/>
            <p:cNvSpPr/>
            <p:nvPr/>
          </p:nvSpPr>
          <p:spPr>
            <a:xfrm>
              <a:off x="8081185" y="146438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Cheque de caja/</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Giros postales</a:t>
              </a:r>
              <a:endParaRPr b="0" i="0" sz="400" u="none" cap="none" strike="noStrike">
                <a:solidFill>
                  <a:srgbClr val="171717"/>
                </a:solidFill>
                <a:latin typeface="Montserrat"/>
                <a:ea typeface="Montserrat"/>
                <a:cs typeface="Montserrat"/>
                <a:sym typeface="Montserrat"/>
              </a:endParaRPr>
            </a:p>
          </p:txBody>
        </p:sp>
        <p:sp>
          <p:nvSpPr>
            <p:cNvPr id="1427" name="Google Shape;1427;p25"/>
            <p:cNvSpPr/>
            <p:nvPr/>
          </p:nvSpPr>
          <p:spPr>
            <a:xfrm>
              <a:off x="8081185" y="163149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descubierto</a:t>
              </a:r>
              <a:endParaRPr b="0" i="0" sz="400" u="none" cap="none" strike="noStrike">
                <a:solidFill>
                  <a:srgbClr val="171717"/>
                </a:solidFill>
                <a:latin typeface="Montserrat"/>
                <a:ea typeface="Montserrat"/>
                <a:cs typeface="Montserrat"/>
                <a:sym typeface="Montserrat"/>
              </a:endParaRPr>
            </a:p>
          </p:txBody>
        </p:sp>
        <p:sp>
          <p:nvSpPr>
            <p:cNvPr id="1428" name="Google Shape;1428;p25"/>
            <p:cNvSpPr/>
            <p:nvPr/>
          </p:nvSpPr>
          <p:spPr>
            <a:xfrm>
              <a:off x="6567651" y="1798707"/>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de pago</a:t>
              </a:r>
              <a:endParaRPr b="0" i="0" sz="400" u="none" cap="none" strike="noStrike">
                <a:solidFill>
                  <a:srgbClr val="171717"/>
                </a:solidFill>
                <a:latin typeface="Montserrat"/>
                <a:ea typeface="Montserrat"/>
                <a:cs typeface="Montserrat"/>
                <a:sym typeface="Montserrat"/>
              </a:endParaRPr>
            </a:p>
          </p:txBody>
        </p:sp>
        <p:sp>
          <p:nvSpPr>
            <p:cNvPr id="1429" name="Google Shape;1429;p25"/>
            <p:cNvSpPr/>
            <p:nvPr/>
          </p:nvSpPr>
          <p:spPr>
            <a:xfrm>
              <a:off x="7323830" y="163149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básicos de gestión</a:t>
              </a:r>
              <a:endParaRPr b="0" i="0" sz="400" u="none" cap="none" strike="noStrike">
                <a:solidFill>
                  <a:srgbClr val="171717"/>
                </a:solidFill>
                <a:latin typeface="Montserrat"/>
                <a:ea typeface="Montserrat"/>
                <a:cs typeface="Montserrat"/>
                <a:sym typeface="Montserrat"/>
              </a:endParaRPr>
            </a:p>
          </p:txBody>
        </p:sp>
        <p:sp>
          <p:nvSpPr>
            <p:cNvPr id="1430" name="Google Shape;1430;p25"/>
            <p:cNvSpPr/>
            <p:nvPr/>
          </p:nvSpPr>
          <p:spPr>
            <a:xfrm>
              <a:off x="6567651" y="146438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Análisis de cuentas</a:t>
              </a:r>
              <a:endParaRPr b="0" i="0" sz="400" u="none" cap="none" strike="noStrike">
                <a:solidFill>
                  <a:srgbClr val="171717"/>
                </a:solidFill>
                <a:latin typeface="Montserrat"/>
                <a:ea typeface="Montserrat"/>
                <a:cs typeface="Montserrat"/>
                <a:sym typeface="Montserrat"/>
              </a:endParaRPr>
            </a:p>
          </p:txBody>
        </p:sp>
        <p:sp>
          <p:nvSpPr>
            <p:cNvPr id="1431" name="Google Shape;1431;p25"/>
            <p:cNvSpPr/>
            <p:nvPr/>
          </p:nvSpPr>
          <p:spPr>
            <a:xfrm>
              <a:off x="8081185" y="1798707"/>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confianza</a:t>
              </a:r>
              <a:endParaRPr b="0" i="0" sz="400" u="none" cap="none" strike="noStrike">
                <a:solidFill>
                  <a:srgbClr val="171717"/>
                </a:solidFill>
                <a:latin typeface="Montserrat"/>
                <a:ea typeface="Montserrat"/>
                <a:cs typeface="Montserrat"/>
                <a:sym typeface="Montserrat"/>
              </a:endParaRPr>
            </a:p>
          </p:txBody>
        </p:sp>
        <p:sp>
          <p:nvSpPr>
            <p:cNvPr id="1432" name="Google Shape;1432;p25"/>
            <p:cNvSpPr/>
            <p:nvPr/>
          </p:nvSpPr>
          <p:spPr>
            <a:xfrm>
              <a:off x="7323830" y="146438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Cash management</a:t>
              </a:r>
              <a:endParaRPr b="0" i="0" sz="900" u="none" cap="none" strike="noStrike">
                <a:solidFill>
                  <a:srgbClr val="171717"/>
                </a:solidFill>
                <a:latin typeface="Montserrat"/>
                <a:ea typeface="Montserrat"/>
                <a:cs typeface="Montserrat"/>
                <a:sym typeface="Montserrat"/>
              </a:endParaRPr>
            </a:p>
          </p:txBody>
        </p:sp>
        <p:sp>
          <p:nvSpPr>
            <p:cNvPr id="1433" name="Google Shape;1433;p25"/>
            <p:cNvSpPr/>
            <p:nvPr/>
          </p:nvSpPr>
          <p:spPr>
            <a:xfrm>
              <a:off x="6567651" y="163149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Servicios comerciales</a:t>
              </a:r>
              <a:endParaRPr b="0" i="0" sz="400" u="none" cap="none" strike="noStrike">
                <a:solidFill>
                  <a:srgbClr val="171717"/>
                </a:solidFill>
                <a:latin typeface="Montserrat"/>
                <a:ea typeface="Montserrat"/>
                <a:cs typeface="Montserrat"/>
                <a:sym typeface="Montserrat"/>
              </a:endParaRPr>
            </a:p>
          </p:txBody>
        </p:sp>
        <p:sp>
          <p:nvSpPr>
            <p:cNvPr id="1434" name="Google Shape;1434;p25"/>
            <p:cNvSpPr/>
            <p:nvPr/>
          </p:nvSpPr>
          <p:spPr>
            <a:xfrm>
              <a:off x="8082270" y="3216340"/>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Capacidades del estado de cuenta</a:t>
              </a:r>
              <a:endParaRPr b="0" i="0" sz="400" u="none" cap="none" strike="noStrike">
                <a:solidFill>
                  <a:srgbClr val="171717"/>
                </a:solidFill>
                <a:latin typeface="Montserrat"/>
                <a:ea typeface="Montserrat"/>
                <a:cs typeface="Montserrat"/>
                <a:sym typeface="Montserrat"/>
              </a:endParaRPr>
            </a:p>
          </p:txBody>
        </p:sp>
        <p:sp>
          <p:nvSpPr>
            <p:cNvPr id="1435" name="Google Shape;1435;p25"/>
            <p:cNvSpPr/>
            <p:nvPr/>
          </p:nvSpPr>
          <p:spPr>
            <a:xfrm>
              <a:off x="7323289" y="3216340"/>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Archivo de estado de cuenta/</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Seguimiento histórico</a:t>
              </a:r>
              <a:endParaRPr b="0" i="0" sz="400" u="none" cap="none" strike="noStrike">
                <a:solidFill>
                  <a:srgbClr val="171717"/>
                </a:solidFill>
                <a:latin typeface="Montserrat"/>
                <a:ea typeface="Montserrat"/>
                <a:cs typeface="Montserrat"/>
                <a:sym typeface="Montserrat"/>
              </a:endParaRPr>
            </a:p>
          </p:txBody>
        </p:sp>
        <p:sp>
          <p:nvSpPr>
            <p:cNvPr id="1436" name="Google Shape;1436;p25"/>
            <p:cNvSpPr/>
            <p:nvPr/>
          </p:nvSpPr>
          <p:spPr>
            <a:xfrm>
              <a:off x="7323289" y="3407142"/>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Generación del estado de cuenta</a:t>
              </a:r>
              <a:endParaRPr b="0" i="0" sz="400" u="none" cap="none" strike="noStrike">
                <a:solidFill>
                  <a:srgbClr val="171717"/>
                </a:solidFill>
                <a:latin typeface="Montserrat"/>
                <a:ea typeface="Montserrat"/>
                <a:cs typeface="Montserrat"/>
                <a:sym typeface="Montserrat"/>
              </a:endParaRPr>
            </a:p>
          </p:txBody>
        </p:sp>
        <p:sp>
          <p:nvSpPr>
            <p:cNvPr id="1437" name="Google Shape;1437;p25"/>
            <p:cNvSpPr/>
            <p:nvPr/>
          </p:nvSpPr>
          <p:spPr>
            <a:xfrm>
              <a:off x="6568479" y="3407142"/>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Definición del estado de cuenta</a:t>
              </a:r>
              <a:endParaRPr b="0" i="0" sz="400" u="none" cap="none" strike="noStrike">
                <a:solidFill>
                  <a:srgbClr val="171717"/>
                </a:solidFill>
                <a:latin typeface="Montserrat"/>
                <a:ea typeface="Montserrat"/>
                <a:cs typeface="Montserrat"/>
                <a:sym typeface="Montserrat"/>
              </a:endParaRPr>
            </a:p>
          </p:txBody>
        </p:sp>
        <p:sp>
          <p:nvSpPr>
            <p:cNvPr id="1438" name="Google Shape;1438;p25"/>
            <p:cNvSpPr/>
            <p:nvPr/>
          </p:nvSpPr>
          <p:spPr>
            <a:xfrm>
              <a:off x="6568479" y="3216340"/>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Generación de estados de cuenta en línea</a:t>
              </a:r>
              <a:endParaRPr b="0" i="0" sz="400" u="none" cap="none" strike="noStrike">
                <a:solidFill>
                  <a:srgbClr val="171717"/>
                </a:solidFill>
                <a:latin typeface="Montserrat"/>
                <a:ea typeface="Montserrat"/>
                <a:cs typeface="Montserrat"/>
                <a:sym typeface="Montserrat"/>
              </a:endParaRPr>
            </a:p>
          </p:txBody>
        </p:sp>
        <p:sp>
          <p:nvSpPr>
            <p:cNvPr id="1439" name="Google Shape;1439;p25"/>
            <p:cNvSpPr/>
            <p:nvPr/>
          </p:nvSpPr>
          <p:spPr>
            <a:xfrm>
              <a:off x="8077267" y="2671942"/>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Originaciones de procesos</a:t>
              </a:r>
              <a:endParaRPr b="0" i="0" sz="400" u="none" cap="none" strike="noStrike">
                <a:solidFill>
                  <a:srgbClr val="171717"/>
                </a:solidFill>
                <a:latin typeface="Montserrat"/>
                <a:ea typeface="Montserrat"/>
                <a:cs typeface="Montserrat"/>
                <a:sym typeface="Montserrat"/>
              </a:endParaRPr>
            </a:p>
          </p:txBody>
        </p:sp>
        <p:sp>
          <p:nvSpPr>
            <p:cNvPr id="1440" name="Google Shape;1440;p25"/>
            <p:cNvSpPr/>
            <p:nvPr/>
          </p:nvSpPr>
          <p:spPr>
            <a:xfrm>
              <a:off x="6562648" y="2337295"/>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Fin del día y BATCH</a:t>
              </a:r>
              <a:endParaRPr b="0" i="0" sz="400" u="none" cap="none" strike="noStrike">
                <a:solidFill>
                  <a:srgbClr val="171717"/>
                </a:solidFill>
                <a:latin typeface="Montserrat"/>
                <a:ea typeface="Montserrat"/>
                <a:cs typeface="Montserrat"/>
                <a:sym typeface="Montserrat"/>
              </a:endParaRPr>
            </a:p>
          </p:txBody>
        </p:sp>
        <p:sp>
          <p:nvSpPr>
            <p:cNvPr id="1441" name="Google Shape;1441;p25"/>
            <p:cNvSpPr/>
            <p:nvPr/>
          </p:nvSpPr>
          <p:spPr>
            <a:xfrm>
              <a:off x="6562648" y="250407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Contabilización y cola</a:t>
              </a:r>
              <a:endParaRPr b="0" i="0" sz="900" u="none" cap="none" strike="noStrike">
                <a:solidFill>
                  <a:srgbClr val="171717"/>
                </a:solidFill>
                <a:latin typeface="Montserrat"/>
                <a:ea typeface="Montserrat"/>
                <a:cs typeface="Montserrat"/>
                <a:sym typeface="Montserrat"/>
              </a:endParaRPr>
            </a:p>
          </p:txBody>
        </p:sp>
        <p:sp>
          <p:nvSpPr>
            <p:cNvPr id="1442" name="Google Shape;1442;p25"/>
            <p:cNvSpPr/>
            <p:nvPr/>
          </p:nvSpPr>
          <p:spPr>
            <a:xfrm>
              <a:off x="8077267" y="284085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Proceso de transferencia</a:t>
              </a:r>
              <a:endParaRPr b="0" i="0" sz="400" u="none" cap="none" strike="noStrike">
                <a:solidFill>
                  <a:srgbClr val="171717"/>
                </a:solidFill>
                <a:latin typeface="Montserrat"/>
                <a:ea typeface="Montserrat"/>
                <a:cs typeface="Montserrat"/>
                <a:sym typeface="Montserrat"/>
              </a:endParaRPr>
            </a:p>
          </p:txBody>
        </p:sp>
        <p:sp>
          <p:nvSpPr>
            <p:cNvPr id="1443" name="Google Shape;1443;p25"/>
            <p:cNvSpPr/>
            <p:nvPr/>
          </p:nvSpPr>
          <p:spPr>
            <a:xfrm>
              <a:off x="7319255" y="250407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Consideraciones sobre la preparación</a:t>
              </a:r>
              <a:endParaRPr b="0" i="0" sz="400" u="none" cap="none" strike="noStrike">
                <a:solidFill>
                  <a:srgbClr val="171717"/>
                </a:solidFill>
                <a:latin typeface="Montserrat"/>
                <a:ea typeface="Montserrat"/>
                <a:cs typeface="Montserrat"/>
                <a:sym typeface="Montserrat"/>
              </a:endParaRPr>
            </a:p>
          </p:txBody>
        </p:sp>
        <p:sp>
          <p:nvSpPr>
            <p:cNvPr id="1444" name="Google Shape;1444;p25"/>
            <p:cNvSpPr/>
            <p:nvPr/>
          </p:nvSpPr>
          <p:spPr>
            <a:xfrm>
              <a:off x="7319255" y="217049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Procesamiento de cheques</a:t>
              </a:r>
              <a:endParaRPr b="0" i="0" sz="900" u="none" cap="none" strike="noStrike">
                <a:solidFill>
                  <a:srgbClr val="171717"/>
                </a:solidFill>
                <a:latin typeface="Montserrat"/>
                <a:ea typeface="Montserrat"/>
                <a:cs typeface="Montserrat"/>
                <a:sym typeface="Montserrat"/>
              </a:endParaRPr>
            </a:p>
          </p:txBody>
        </p:sp>
        <p:sp>
          <p:nvSpPr>
            <p:cNvPr id="1445" name="Google Shape;1445;p25"/>
            <p:cNvSpPr/>
            <p:nvPr/>
          </p:nvSpPr>
          <p:spPr>
            <a:xfrm>
              <a:off x="8076183" y="217049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Proceso del día 1 y día 2</a:t>
              </a:r>
              <a:endParaRPr b="0" i="0" sz="400" u="none" cap="none" strike="noStrike">
                <a:solidFill>
                  <a:srgbClr val="171717"/>
                </a:solidFill>
                <a:latin typeface="Montserrat"/>
                <a:ea typeface="Montserrat"/>
                <a:cs typeface="Montserrat"/>
                <a:sym typeface="Montserrat"/>
              </a:endParaRPr>
            </a:p>
          </p:txBody>
        </p:sp>
        <p:sp>
          <p:nvSpPr>
            <p:cNvPr id="1446" name="Google Shape;1446;p25"/>
            <p:cNvSpPr/>
            <p:nvPr/>
          </p:nvSpPr>
          <p:spPr>
            <a:xfrm>
              <a:off x="8076183" y="250407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Procesar transacciones de depósito</a:t>
              </a:r>
              <a:endParaRPr b="0" i="0" sz="400" u="none" cap="none" strike="noStrike">
                <a:solidFill>
                  <a:srgbClr val="171717"/>
                </a:solidFill>
                <a:latin typeface="Montserrat"/>
                <a:ea typeface="Montserrat"/>
                <a:cs typeface="Montserrat"/>
                <a:sym typeface="Montserrat"/>
              </a:endParaRPr>
            </a:p>
          </p:txBody>
        </p:sp>
        <p:sp>
          <p:nvSpPr>
            <p:cNvPr id="1447" name="Google Shape;1447;p25"/>
            <p:cNvSpPr/>
            <p:nvPr/>
          </p:nvSpPr>
          <p:spPr>
            <a:xfrm>
              <a:off x="6563476" y="2671942"/>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Procesar transacciones electrónicas</a:t>
              </a:r>
              <a:endParaRPr b="0" i="0" sz="400" u="none" cap="none" strike="noStrike">
                <a:solidFill>
                  <a:srgbClr val="171717"/>
                </a:solidFill>
                <a:latin typeface="Montserrat"/>
                <a:ea typeface="Montserrat"/>
                <a:cs typeface="Montserrat"/>
                <a:sym typeface="Montserrat"/>
              </a:endParaRPr>
            </a:p>
          </p:txBody>
        </p:sp>
        <p:sp>
          <p:nvSpPr>
            <p:cNvPr id="1448" name="Google Shape;1448;p25"/>
            <p:cNvSpPr/>
            <p:nvPr/>
          </p:nvSpPr>
          <p:spPr>
            <a:xfrm>
              <a:off x="7319255" y="284085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Banca transaccional</a:t>
              </a:r>
              <a:endParaRPr b="0" i="0" sz="400" u="none" cap="none" strike="noStrike">
                <a:solidFill>
                  <a:srgbClr val="171717"/>
                </a:solidFill>
                <a:latin typeface="Montserrat"/>
                <a:ea typeface="Montserrat"/>
                <a:cs typeface="Montserrat"/>
                <a:sym typeface="Montserrat"/>
              </a:endParaRPr>
            </a:p>
          </p:txBody>
        </p:sp>
        <p:sp>
          <p:nvSpPr>
            <p:cNvPr id="1449" name="Google Shape;1449;p25"/>
            <p:cNvSpPr/>
            <p:nvPr/>
          </p:nvSpPr>
          <p:spPr>
            <a:xfrm>
              <a:off x="7319255" y="2337295"/>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Gestión de cajas de seguridad</a:t>
              </a:r>
              <a:endParaRPr b="0" i="0" sz="400" u="none" cap="none" strike="noStrike">
                <a:solidFill>
                  <a:srgbClr val="171717"/>
                </a:solidFill>
                <a:latin typeface="Montserrat"/>
                <a:ea typeface="Montserrat"/>
                <a:cs typeface="Montserrat"/>
                <a:sym typeface="Montserrat"/>
              </a:endParaRPr>
            </a:p>
          </p:txBody>
        </p:sp>
        <p:sp>
          <p:nvSpPr>
            <p:cNvPr id="1450" name="Google Shape;1450;p25"/>
            <p:cNvSpPr/>
            <p:nvPr/>
          </p:nvSpPr>
          <p:spPr>
            <a:xfrm>
              <a:off x="8076183" y="2337295"/>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Procesamiento de pagos</a:t>
              </a:r>
              <a:endParaRPr b="0" i="0" sz="400" u="none" cap="none" strike="noStrike">
                <a:solidFill>
                  <a:srgbClr val="171717"/>
                </a:solidFill>
                <a:latin typeface="Montserrat"/>
                <a:ea typeface="Montserrat"/>
                <a:cs typeface="Montserrat"/>
                <a:sym typeface="Montserrat"/>
              </a:endParaRPr>
            </a:p>
          </p:txBody>
        </p:sp>
        <p:sp>
          <p:nvSpPr>
            <p:cNvPr id="1451" name="Google Shape;1451;p25"/>
            <p:cNvSpPr/>
            <p:nvPr/>
          </p:nvSpPr>
          <p:spPr>
            <a:xfrm>
              <a:off x="7319255" y="2671942"/>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Procesar transacciones de cuentas de préstamo</a:t>
              </a:r>
              <a:endParaRPr b="0" i="0" sz="400" u="none" cap="none" strike="noStrike">
                <a:solidFill>
                  <a:srgbClr val="171717"/>
                </a:solidFill>
                <a:latin typeface="Montserrat"/>
                <a:ea typeface="Montserrat"/>
                <a:cs typeface="Montserrat"/>
                <a:sym typeface="Montserrat"/>
              </a:endParaRPr>
            </a:p>
          </p:txBody>
        </p:sp>
        <p:sp>
          <p:nvSpPr>
            <p:cNvPr id="1452" name="Google Shape;1452;p25"/>
            <p:cNvSpPr/>
            <p:nvPr/>
          </p:nvSpPr>
          <p:spPr>
            <a:xfrm>
              <a:off x="6562648" y="217049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Facturación</a:t>
              </a:r>
              <a:endParaRPr b="0" i="0" sz="400" u="none" cap="none" strike="noStrike">
                <a:solidFill>
                  <a:srgbClr val="171717"/>
                </a:solidFill>
                <a:latin typeface="Montserrat"/>
                <a:ea typeface="Montserrat"/>
                <a:cs typeface="Montserrat"/>
                <a:sym typeface="Montserrat"/>
              </a:endParaRPr>
            </a:p>
          </p:txBody>
        </p:sp>
        <p:sp>
          <p:nvSpPr>
            <p:cNvPr id="1453" name="Google Shape;1453;p25"/>
            <p:cNvSpPr/>
            <p:nvPr/>
          </p:nvSpPr>
          <p:spPr>
            <a:xfrm>
              <a:off x="6563476" y="284085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Pagos en tiempo real</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Tratamiento</a:t>
              </a:r>
              <a:endParaRPr b="0" i="0" sz="400" u="none" cap="none" strike="noStrike">
                <a:solidFill>
                  <a:srgbClr val="171717"/>
                </a:solidFill>
                <a:latin typeface="Montserrat"/>
                <a:ea typeface="Montserrat"/>
                <a:cs typeface="Montserrat"/>
                <a:sym typeface="Montserrat"/>
              </a:endParaRPr>
            </a:p>
          </p:txBody>
        </p:sp>
        <p:sp>
          <p:nvSpPr>
            <p:cNvPr id="1454" name="Google Shape;1454;p25"/>
            <p:cNvSpPr/>
            <p:nvPr/>
          </p:nvSpPr>
          <p:spPr>
            <a:xfrm>
              <a:off x="4843050" y="146510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Contacto personal</a:t>
              </a:r>
              <a:endParaRPr b="0" i="0" sz="900" u="none" cap="none" strike="noStrike">
                <a:solidFill>
                  <a:srgbClr val="171717"/>
                </a:solidFill>
                <a:latin typeface="Montserrat"/>
                <a:ea typeface="Montserrat"/>
                <a:cs typeface="Montserrat"/>
                <a:sym typeface="Montserrat"/>
              </a:endParaRPr>
            </a:p>
          </p:txBody>
        </p:sp>
        <p:sp>
          <p:nvSpPr>
            <p:cNvPr id="1455" name="Google Shape;1455;p25"/>
            <p:cNvSpPr/>
            <p:nvPr/>
          </p:nvSpPr>
          <p:spPr>
            <a:xfrm>
              <a:off x="5603670" y="1464380"/>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Entidad</a:t>
              </a:r>
              <a:endParaRPr b="0" i="0" sz="400" u="none" cap="none" strike="noStrike">
                <a:solidFill>
                  <a:srgbClr val="171717"/>
                </a:solidFill>
                <a:latin typeface="Montserrat"/>
                <a:ea typeface="Montserrat"/>
                <a:cs typeface="Montserrat"/>
                <a:sym typeface="Montserrat"/>
              </a:endParaRPr>
            </a:p>
          </p:txBody>
        </p:sp>
        <p:sp>
          <p:nvSpPr>
            <p:cNvPr id="1456" name="Google Shape;1456;p25"/>
            <p:cNvSpPr/>
            <p:nvPr/>
          </p:nvSpPr>
          <p:spPr>
            <a:xfrm>
              <a:off x="5603670" y="163149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Relación</a:t>
              </a:r>
              <a:endParaRPr b="0" i="0" sz="400" u="none" cap="none" strike="noStrike">
                <a:solidFill>
                  <a:srgbClr val="171717"/>
                </a:solidFill>
                <a:latin typeface="Montserrat"/>
                <a:ea typeface="Montserrat"/>
                <a:cs typeface="Montserrat"/>
                <a:sym typeface="Montserrat"/>
              </a:endParaRPr>
            </a:p>
          </p:txBody>
        </p:sp>
        <p:sp>
          <p:nvSpPr>
            <p:cNvPr id="1457" name="Google Shape;1457;p25"/>
            <p:cNvSpPr/>
            <p:nvPr/>
          </p:nvSpPr>
          <p:spPr>
            <a:xfrm>
              <a:off x="4843050" y="179889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Seguridad personal</a:t>
              </a:r>
              <a:endParaRPr b="0" i="0" sz="900" u="none" cap="none" strike="noStrike">
                <a:solidFill>
                  <a:srgbClr val="171717"/>
                </a:solidFill>
                <a:latin typeface="Montserrat"/>
                <a:ea typeface="Montserrat"/>
                <a:cs typeface="Montserrat"/>
                <a:sym typeface="Montserrat"/>
              </a:endParaRPr>
            </a:p>
          </p:txBody>
        </p:sp>
        <p:sp>
          <p:nvSpPr>
            <p:cNvPr id="1458" name="Google Shape;1458;p25"/>
            <p:cNvSpPr/>
            <p:nvPr/>
          </p:nvSpPr>
          <p:spPr>
            <a:xfrm>
              <a:off x="4843050" y="1631763"/>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Preferencias personal</a:t>
              </a:r>
              <a:endParaRPr b="0" i="0" sz="900" u="none" cap="none" strike="noStrike">
                <a:solidFill>
                  <a:srgbClr val="171717"/>
                </a:solidFill>
                <a:latin typeface="Montserrat"/>
                <a:ea typeface="Montserrat"/>
                <a:cs typeface="Montserrat"/>
                <a:sym typeface="Montserrat"/>
              </a:endParaRPr>
            </a:p>
          </p:txBody>
        </p:sp>
        <p:sp>
          <p:nvSpPr>
            <p:cNvPr id="1459" name="Google Shape;1459;p25"/>
            <p:cNvSpPr/>
            <p:nvPr/>
          </p:nvSpPr>
          <p:spPr>
            <a:xfrm>
              <a:off x="5603670" y="1798707"/>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Perfil de riesgo de la persona</a:t>
              </a:r>
              <a:endParaRPr b="0" i="0" sz="400" u="none" cap="none" strike="noStrike">
                <a:solidFill>
                  <a:srgbClr val="171717"/>
                </a:solidFill>
                <a:latin typeface="Montserrat"/>
                <a:ea typeface="Montserrat"/>
                <a:cs typeface="Montserrat"/>
                <a:sym typeface="Montserrat"/>
              </a:endParaRPr>
            </a:p>
          </p:txBody>
        </p:sp>
        <p:sp>
          <p:nvSpPr>
            <p:cNvPr id="1460" name="Google Shape;1460;p25"/>
            <p:cNvSpPr/>
            <p:nvPr/>
          </p:nvSpPr>
          <p:spPr>
            <a:xfrm>
              <a:off x="4843050" y="311053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Data warehouse</a:t>
              </a:r>
              <a:endParaRPr b="0" i="0" sz="900" u="none" cap="none" strike="noStrike">
                <a:solidFill>
                  <a:srgbClr val="171717"/>
                </a:solidFill>
                <a:latin typeface="Montserrat"/>
                <a:ea typeface="Montserrat"/>
                <a:cs typeface="Montserrat"/>
                <a:sym typeface="Montserrat"/>
              </a:endParaRPr>
            </a:p>
          </p:txBody>
        </p:sp>
        <p:sp>
          <p:nvSpPr>
            <p:cNvPr id="1461" name="Google Shape;1461;p25"/>
            <p:cNvSpPr/>
            <p:nvPr/>
          </p:nvSpPr>
          <p:spPr>
            <a:xfrm>
              <a:off x="5603670" y="294365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Archivo de información del cliente</a:t>
              </a:r>
              <a:endParaRPr b="0" i="0" sz="400" u="none" cap="none" strike="noStrike">
                <a:solidFill>
                  <a:srgbClr val="171717"/>
                </a:solidFill>
                <a:latin typeface="Montserrat"/>
                <a:ea typeface="Montserrat"/>
                <a:cs typeface="Montserrat"/>
                <a:sym typeface="Montserrat"/>
              </a:endParaRPr>
            </a:p>
          </p:txBody>
        </p:sp>
        <p:sp>
          <p:nvSpPr>
            <p:cNvPr id="1462" name="Google Shape;1462;p25"/>
            <p:cNvSpPr/>
            <p:nvPr/>
          </p:nvSpPr>
          <p:spPr>
            <a:xfrm>
              <a:off x="4843050" y="2943651"/>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Analítica</a:t>
              </a:r>
              <a:endParaRPr b="0" i="0" sz="900" u="none" cap="none" strike="noStrike">
                <a:solidFill>
                  <a:srgbClr val="171717"/>
                </a:solidFill>
                <a:latin typeface="Montserrat"/>
                <a:ea typeface="Montserrat"/>
                <a:cs typeface="Montserrat"/>
                <a:sym typeface="Montserrat"/>
              </a:endParaRPr>
            </a:p>
          </p:txBody>
        </p:sp>
        <p:sp>
          <p:nvSpPr>
            <p:cNvPr id="1463" name="Google Shape;1463;p25"/>
            <p:cNvSpPr/>
            <p:nvPr/>
          </p:nvSpPr>
          <p:spPr>
            <a:xfrm>
              <a:off x="5603670" y="3110539"/>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Datos Operacionales</a:t>
              </a:r>
              <a:endParaRPr b="0" i="0" sz="900" u="none" cap="none" strike="noStrike">
                <a:solidFill>
                  <a:srgbClr val="171717"/>
                </a:solidFill>
                <a:latin typeface="Montserrat"/>
                <a:ea typeface="Montserrat"/>
                <a:cs typeface="Montserrat"/>
                <a:sym typeface="Montserrat"/>
              </a:endParaRPr>
            </a:p>
          </p:txBody>
        </p:sp>
        <p:sp>
          <p:nvSpPr>
            <p:cNvPr id="1464" name="Google Shape;1464;p25"/>
            <p:cNvSpPr/>
            <p:nvPr/>
          </p:nvSpPr>
          <p:spPr>
            <a:xfrm>
              <a:off x="5603670" y="2280601"/>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Regulatorios</a:t>
              </a:r>
              <a:endParaRPr b="0" i="0" sz="400" u="none" cap="none" strike="noStrike">
                <a:solidFill>
                  <a:srgbClr val="171717"/>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(government rpt)</a:t>
              </a:r>
              <a:endParaRPr b="0" i="0" sz="900" u="none" cap="none" strike="noStrike">
                <a:solidFill>
                  <a:srgbClr val="171717"/>
                </a:solidFill>
                <a:latin typeface="Montserrat"/>
                <a:ea typeface="Montserrat"/>
                <a:cs typeface="Montserrat"/>
                <a:sym typeface="Montserrat"/>
              </a:endParaRPr>
            </a:p>
          </p:txBody>
        </p:sp>
        <p:sp>
          <p:nvSpPr>
            <p:cNvPr id="1465" name="Google Shape;1465;p25"/>
            <p:cNvSpPr/>
            <p:nvPr/>
          </p:nvSpPr>
          <p:spPr>
            <a:xfrm>
              <a:off x="4843050" y="2280601"/>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rgbClr val="171717"/>
                  </a:solidFill>
                  <a:latin typeface="Montserrat"/>
                  <a:ea typeface="Montserrat"/>
                  <a:cs typeface="Montserrat"/>
                  <a:sym typeface="Montserrat"/>
                </a:rPr>
                <a:t>Reporte Operacional</a:t>
              </a:r>
              <a:endParaRPr b="0" i="0" sz="400" u="none" cap="none" strike="noStrike">
                <a:solidFill>
                  <a:srgbClr val="171717"/>
                </a:solidFill>
                <a:latin typeface="Montserrat"/>
                <a:ea typeface="Montserrat"/>
                <a:cs typeface="Montserrat"/>
                <a:sym typeface="Montserrat"/>
              </a:endParaRPr>
            </a:p>
          </p:txBody>
        </p:sp>
        <p:sp>
          <p:nvSpPr>
            <p:cNvPr id="1466" name="Google Shape;1466;p25"/>
            <p:cNvSpPr/>
            <p:nvPr/>
          </p:nvSpPr>
          <p:spPr>
            <a:xfrm>
              <a:off x="4843050" y="211380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Reportes contables</a:t>
              </a:r>
              <a:endParaRPr b="0" i="0" sz="900" u="none" cap="none" strike="noStrike">
                <a:solidFill>
                  <a:srgbClr val="171717"/>
                </a:solidFill>
                <a:latin typeface="Montserrat"/>
                <a:ea typeface="Montserrat"/>
                <a:cs typeface="Montserrat"/>
                <a:sym typeface="Montserrat"/>
              </a:endParaRPr>
            </a:p>
          </p:txBody>
        </p:sp>
        <p:sp>
          <p:nvSpPr>
            <p:cNvPr id="1467" name="Google Shape;1467;p25"/>
            <p:cNvSpPr/>
            <p:nvPr/>
          </p:nvSpPr>
          <p:spPr>
            <a:xfrm>
              <a:off x="4843050" y="2615247"/>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Informes de utilización (sistema)</a:t>
              </a:r>
              <a:endParaRPr b="0" i="0" sz="900" u="none" cap="none" strike="noStrike">
                <a:solidFill>
                  <a:srgbClr val="171717"/>
                </a:solidFill>
                <a:latin typeface="Montserrat"/>
                <a:ea typeface="Montserrat"/>
                <a:cs typeface="Montserrat"/>
                <a:sym typeface="Montserrat"/>
              </a:endParaRPr>
            </a:p>
          </p:txBody>
        </p:sp>
        <p:sp>
          <p:nvSpPr>
            <p:cNvPr id="1468" name="Google Shape;1468;p25"/>
            <p:cNvSpPr/>
            <p:nvPr/>
          </p:nvSpPr>
          <p:spPr>
            <a:xfrm>
              <a:off x="5603670" y="211380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rgbClr val="171717"/>
                  </a:solidFill>
                  <a:latin typeface="Montserrat"/>
                  <a:ea typeface="Montserrat"/>
                  <a:cs typeface="Montserrat"/>
                  <a:sym typeface="Montserrat"/>
                </a:rPr>
                <a:t>Reportes de clientes</a:t>
              </a:r>
              <a:endParaRPr b="0" i="0" sz="400" u="none" cap="none" strike="noStrike">
                <a:solidFill>
                  <a:srgbClr val="171717"/>
                </a:solidFill>
                <a:latin typeface="Montserrat"/>
                <a:ea typeface="Montserrat"/>
                <a:cs typeface="Montserrat"/>
                <a:sym typeface="Montserrat"/>
              </a:endParaRPr>
            </a:p>
          </p:txBody>
        </p:sp>
        <p:sp>
          <p:nvSpPr>
            <p:cNvPr id="1469" name="Google Shape;1469;p25"/>
            <p:cNvSpPr/>
            <p:nvPr/>
          </p:nvSpPr>
          <p:spPr>
            <a:xfrm>
              <a:off x="5603670" y="2447384"/>
              <a:ext cx="720900" cy="1539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Banca transaccional/</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Reportes de clientes</a:t>
              </a:r>
              <a:endParaRPr b="0" i="0" sz="400" u="none" cap="none" strike="noStrike">
                <a:solidFill>
                  <a:srgbClr val="171717"/>
                </a:solidFill>
                <a:latin typeface="Montserrat"/>
                <a:ea typeface="Montserrat"/>
                <a:cs typeface="Montserrat"/>
                <a:sym typeface="Montserrat"/>
              </a:endParaRPr>
            </a:p>
          </p:txBody>
        </p:sp>
        <p:sp>
          <p:nvSpPr>
            <p:cNvPr id="1470" name="Google Shape;1470;p25"/>
            <p:cNvSpPr/>
            <p:nvPr/>
          </p:nvSpPr>
          <p:spPr>
            <a:xfrm>
              <a:off x="4840646" y="343887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Alertas y</a:t>
              </a:r>
              <a:br>
                <a:rPr b="0" i="0" lang="es" sz="400" u="none" cap="none" strike="noStrike">
                  <a:solidFill>
                    <a:srgbClr val="171717"/>
                  </a:solidFill>
                  <a:latin typeface="Montserrat"/>
                  <a:ea typeface="Montserrat"/>
                  <a:cs typeface="Montserrat"/>
                  <a:sym typeface="Montserrat"/>
                </a:rPr>
              </a:br>
              <a:r>
                <a:rPr b="0" i="0" lang="es" sz="400" u="none" cap="none" strike="noStrike">
                  <a:solidFill>
                    <a:srgbClr val="171717"/>
                  </a:solidFill>
                  <a:latin typeface="Montserrat"/>
                  <a:ea typeface="Montserrat"/>
                  <a:cs typeface="Montserrat"/>
                  <a:sym typeface="Montserrat"/>
                </a:rPr>
                <a:t>notificaciones</a:t>
              </a:r>
              <a:endParaRPr b="0" i="0" sz="400" u="none" cap="none" strike="noStrike">
                <a:solidFill>
                  <a:srgbClr val="171717"/>
                </a:solidFill>
                <a:latin typeface="Montserrat"/>
                <a:ea typeface="Montserrat"/>
                <a:cs typeface="Montserrat"/>
                <a:sym typeface="Montserrat"/>
              </a:endParaRPr>
            </a:p>
          </p:txBody>
        </p:sp>
        <p:sp>
          <p:nvSpPr>
            <p:cNvPr id="1471" name="Google Shape;1471;p25"/>
            <p:cNvSpPr/>
            <p:nvPr/>
          </p:nvSpPr>
          <p:spPr>
            <a:xfrm>
              <a:off x="5601265" y="3438878"/>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Interacciones humanas</a:t>
              </a:r>
              <a:endParaRPr b="0" i="0" sz="400" u="none" cap="none" strike="noStrike">
                <a:solidFill>
                  <a:srgbClr val="171717"/>
                </a:solidFill>
                <a:latin typeface="Montserrat"/>
                <a:ea typeface="Montserrat"/>
                <a:cs typeface="Montserrat"/>
                <a:sym typeface="Montserrat"/>
              </a:endParaRPr>
            </a:p>
          </p:txBody>
        </p:sp>
        <p:sp>
          <p:nvSpPr>
            <p:cNvPr id="1472" name="Google Shape;1472;p25"/>
            <p:cNvSpPr/>
            <p:nvPr/>
          </p:nvSpPr>
          <p:spPr>
            <a:xfrm>
              <a:off x="4843050" y="2447384"/>
              <a:ext cx="720900" cy="1380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171717"/>
                  </a:solidFill>
                  <a:latin typeface="Montserrat"/>
                  <a:ea typeface="Montserrat"/>
                  <a:cs typeface="Montserrat"/>
                  <a:sym typeface="Montserrat"/>
                </a:rPr>
                <a:t>Banca transaccional</a:t>
              </a:r>
              <a:endParaRPr b="0" i="0" sz="900" u="none" cap="none" strike="noStrike">
                <a:solidFill>
                  <a:srgbClr val="171717"/>
                </a:solidFill>
                <a:latin typeface="Montserrat"/>
                <a:ea typeface="Montserrat"/>
                <a:cs typeface="Montserrat"/>
                <a:sym typeface="Montserrat"/>
              </a:endParaRPr>
            </a:p>
          </p:txBody>
        </p:sp>
        <p:sp>
          <p:nvSpPr>
            <p:cNvPr id="1473" name="Google Shape;1473;p25"/>
            <p:cNvSpPr/>
            <p:nvPr/>
          </p:nvSpPr>
          <p:spPr>
            <a:xfrm>
              <a:off x="2926714" y="866901"/>
              <a:ext cx="810900" cy="1458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grpSp>
      <p:sp>
        <p:nvSpPr>
          <p:cNvPr id="1474" name="Google Shape;1474;p25"/>
          <p:cNvSpPr txBox="1"/>
          <p:nvPr/>
        </p:nvSpPr>
        <p:spPr>
          <a:xfrm>
            <a:off x="144459" y="82280"/>
            <a:ext cx="7147800" cy="364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65AA7"/>
              </a:buClr>
              <a:buSzPts val="1500"/>
              <a:buFont typeface="Arial"/>
              <a:buNone/>
            </a:pPr>
            <a:r>
              <a:rPr b="1" i="0" lang="es" sz="1500" u="none" cap="none" strike="noStrike">
                <a:solidFill>
                  <a:srgbClr val="265AA7"/>
                </a:solidFill>
                <a:latin typeface="Montserrat"/>
                <a:ea typeface="Montserrat"/>
                <a:cs typeface="Montserrat"/>
                <a:sym typeface="Montserrat"/>
              </a:rPr>
              <a:t>Arquitectura Empresarial de Referencia UNITY</a:t>
            </a:r>
            <a:endParaRPr b="0" i="0" sz="900" u="none" cap="none" strike="noStrike">
              <a:solidFill>
                <a:srgbClr val="000000"/>
              </a:solidFill>
              <a:latin typeface="Arial"/>
              <a:ea typeface="Arial"/>
              <a:cs typeface="Arial"/>
              <a:sym typeface="Arial"/>
            </a:endParaRPr>
          </a:p>
        </p:txBody>
      </p:sp>
      <p:sp>
        <p:nvSpPr>
          <p:cNvPr id="1475" name="Google Shape;1475;p25"/>
          <p:cNvSpPr txBox="1"/>
          <p:nvPr/>
        </p:nvSpPr>
        <p:spPr>
          <a:xfrm>
            <a:off x="144459" y="293972"/>
            <a:ext cx="8538458" cy="5770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s" sz="1050" u="none" cap="none" strike="noStrike">
                <a:solidFill>
                  <a:srgbClr val="000000"/>
                </a:solidFill>
                <a:latin typeface="Arial"/>
                <a:ea typeface="Arial"/>
                <a:cs typeface="Arial"/>
                <a:sym typeface="Arial"/>
              </a:rPr>
              <a:t>Una arquitectura de referencia nos servirá como una "plantilla" o "mapa" para definir cómo se deben estructurar y organizar los procesos, sistemas y funciones futuras para operar de manera eficiente, segura y en cumplimiento con las regulaciones, estandarizando las  operaciones y facilitando la integración de nuevas tecnologías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26"/>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1481" name="Google Shape;1481;p26"/>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26"/>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26"/>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1484" name="Google Shape;1484;p26"/>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1485" name="Google Shape;1485;p26"/>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1486" name="Google Shape;1486;p26"/>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1487" name="Google Shape;1487;p26"/>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1488" name="Google Shape;1488;p26"/>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489" name="Google Shape;1489;p26"/>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1490" name="Google Shape;1490;p26"/>
          <p:cNvSpPr/>
          <p:nvPr/>
        </p:nvSpPr>
        <p:spPr>
          <a:xfrm>
            <a:off x="3799284" y="3288556"/>
            <a:ext cx="5078100" cy="288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491" name="Google Shape;1491;p26"/>
          <p:cNvSpPr/>
          <p:nvPr/>
        </p:nvSpPr>
        <p:spPr>
          <a:xfrm>
            <a:off x="3798694" y="1148353"/>
            <a:ext cx="883800" cy="880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492" name="Google Shape;1492;p26"/>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1493" name="Google Shape;1493;p26"/>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494" name="Google Shape;1494;p26"/>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495" name="Google Shape;1495;p26"/>
          <p:cNvSpPr/>
          <p:nvPr/>
        </p:nvSpPr>
        <p:spPr>
          <a:xfrm>
            <a:off x="1204099" y="1806291"/>
            <a:ext cx="2494500" cy="934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496" name="Google Shape;1496;p26"/>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1497" name="Google Shape;1497;p26"/>
          <p:cNvSpPr/>
          <p:nvPr/>
        </p:nvSpPr>
        <p:spPr>
          <a:xfrm>
            <a:off x="1206566" y="1148353"/>
            <a:ext cx="2489700" cy="6219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498" name="Google Shape;1498;p26"/>
          <p:cNvSpPr/>
          <p:nvPr/>
        </p:nvSpPr>
        <p:spPr>
          <a:xfrm>
            <a:off x="6488944" y="1148351"/>
            <a:ext cx="2389500" cy="6237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499" name="Google Shape;1499;p26"/>
          <p:cNvSpPr/>
          <p:nvPr/>
        </p:nvSpPr>
        <p:spPr>
          <a:xfrm>
            <a:off x="6490037" y="2776695"/>
            <a:ext cx="2387400" cy="4743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1500" name="Google Shape;1500;p26"/>
          <p:cNvSpPr/>
          <p:nvPr/>
        </p:nvSpPr>
        <p:spPr>
          <a:xfrm>
            <a:off x="6483514" y="1803271"/>
            <a:ext cx="2390400" cy="936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1501" name="Google Shape;1501;p26"/>
          <p:cNvSpPr/>
          <p:nvPr/>
        </p:nvSpPr>
        <p:spPr>
          <a:xfrm>
            <a:off x="4782477" y="1148353"/>
            <a:ext cx="1606200" cy="579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502" name="Google Shape;1502;p26"/>
          <p:cNvSpPr/>
          <p:nvPr/>
        </p:nvSpPr>
        <p:spPr>
          <a:xfrm>
            <a:off x="4783580" y="2519181"/>
            <a:ext cx="1604100" cy="439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503" name="Google Shape;1503;p26"/>
          <p:cNvSpPr/>
          <p:nvPr/>
        </p:nvSpPr>
        <p:spPr>
          <a:xfrm>
            <a:off x="4784086" y="1750565"/>
            <a:ext cx="1603200" cy="7485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504" name="Google Shape;1504;p26"/>
          <p:cNvSpPr/>
          <p:nvPr/>
        </p:nvSpPr>
        <p:spPr>
          <a:xfrm>
            <a:off x="4781464" y="2980599"/>
            <a:ext cx="1603500" cy="276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505" name="Google Shape;1505;p26"/>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Conozca a su cliente (KYC)</a:t>
            </a:r>
            <a:endParaRPr b="0" i="0" sz="400" u="none" cap="none" strike="noStrike">
              <a:solidFill>
                <a:schemeClr val="dk2"/>
              </a:solidFill>
              <a:latin typeface="Montserrat"/>
              <a:ea typeface="Montserrat"/>
              <a:cs typeface="Montserrat"/>
              <a:sym typeface="Montserrat"/>
            </a:endParaRPr>
          </a:p>
        </p:txBody>
      </p:sp>
      <p:sp>
        <p:nvSpPr>
          <p:cNvPr id="1506" name="Google Shape;1506;p26"/>
          <p:cNvSpPr/>
          <p:nvPr/>
        </p:nvSpPr>
        <p:spPr>
          <a:xfrm>
            <a:off x="5833996" y="4050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Comportamiento de la transacción</a:t>
            </a:r>
            <a:endParaRPr b="0" i="0" sz="400" u="none" cap="none" strike="noStrike">
              <a:solidFill>
                <a:schemeClr val="lt1"/>
              </a:solidFill>
              <a:latin typeface="Montserrat"/>
              <a:ea typeface="Montserrat"/>
              <a:cs typeface="Montserrat"/>
              <a:sym typeface="Montserrat"/>
            </a:endParaRPr>
          </a:p>
        </p:txBody>
      </p:sp>
      <p:sp>
        <p:nvSpPr>
          <p:cNvPr id="1507" name="Google Shape;1507;p26"/>
          <p:cNvSpPr/>
          <p:nvPr/>
        </p:nvSpPr>
        <p:spPr>
          <a:xfrm>
            <a:off x="6937776"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Fondos disponibles</a:t>
            </a:r>
            <a:endParaRPr b="0" i="0" sz="900" u="none" cap="none" strike="noStrike">
              <a:solidFill>
                <a:schemeClr val="lt1"/>
              </a:solidFill>
              <a:latin typeface="Arial"/>
              <a:ea typeface="Arial"/>
              <a:cs typeface="Arial"/>
              <a:sym typeface="Arial"/>
            </a:endParaRPr>
          </a:p>
        </p:txBody>
      </p:sp>
      <p:sp>
        <p:nvSpPr>
          <p:cNvPr id="1508" name="Google Shape;1508;p26"/>
          <p:cNvSpPr/>
          <p:nvPr/>
        </p:nvSpPr>
        <p:spPr>
          <a:xfrm>
            <a:off x="6937778" y="4046240"/>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Evaluación de ingresos (entrantes)</a:t>
            </a:r>
            <a:endParaRPr b="0" i="0" sz="900" u="none" cap="none" strike="noStrike">
              <a:solidFill>
                <a:schemeClr val="lt1"/>
              </a:solidFill>
              <a:latin typeface="Arial"/>
              <a:ea typeface="Arial"/>
              <a:cs typeface="Arial"/>
              <a:sym typeface="Arial"/>
            </a:endParaRPr>
          </a:p>
        </p:txBody>
      </p:sp>
      <p:sp>
        <p:nvSpPr>
          <p:cNvPr id="1509" name="Google Shape;1509;p26"/>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1510" name="Google Shape;1510;p26"/>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Reclamaciones y disputas</a:t>
            </a:r>
            <a:endParaRPr b="0" i="0" sz="400" u="none" cap="none" strike="noStrike">
              <a:solidFill>
                <a:schemeClr val="dk2"/>
              </a:solidFill>
              <a:latin typeface="Montserrat"/>
              <a:ea typeface="Montserrat"/>
              <a:cs typeface="Montserrat"/>
              <a:sym typeface="Montserrat"/>
            </a:endParaRPr>
          </a:p>
        </p:txBody>
      </p:sp>
      <p:sp>
        <p:nvSpPr>
          <p:cNvPr id="1511" name="Google Shape;1511;p26"/>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Buró de crédito</a:t>
            </a:r>
            <a:endParaRPr b="0" i="0" sz="400" u="none" cap="none" strike="noStrike">
              <a:solidFill>
                <a:schemeClr val="dk2"/>
              </a:solidFill>
              <a:latin typeface="Montserrat"/>
              <a:ea typeface="Montserrat"/>
              <a:cs typeface="Montserrat"/>
              <a:sym typeface="Montserrat"/>
            </a:endParaRPr>
          </a:p>
        </p:txBody>
      </p:sp>
      <p:sp>
        <p:nvSpPr>
          <p:cNvPr id="1512" name="Google Shape;1512;p26"/>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Umbrales de riesgo (evaluar y modelar)</a:t>
            </a:r>
            <a:endParaRPr b="0" i="0" sz="400" u="none" cap="none" strike="noStrike">
              <a:solidFill>
                <a:schemeClr val="dk2"/>
              </a:solidFill>
              <a:latin typeface="Montserrat"/>
              <a:ea typeface="Montserrat"/>
              <a:cs typeface="Montserrat"/>
              <a:sym typeface="Montserrat"/>
            </a:endParaRPr>
          </a:p>
        </p:txBody>
      </p:sp>
      <p:sp>
        <p:nvSpPr>
          <p:cNvPr id="1513" name="Google Shape;1513;p26"/>
          <p:cNvSpPr/>
          <p:nvPr/>
        </p:nvSpPr>
        <p:spPr>
          <a:xfrm>
            <a:off x="4708161"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restricciones de cuenta</a:t>
            </a:r>
            <a:endParaRPr b="0" i="0" sz="400" u="none" cap="none" strike="noStrike">
              <a:solidFill>
                <a:schemeClr val="dk2"/>
              </a:solidFill>
              <a:latin typeface="Montserrat"/>
              <a:ea typeface="Montserrat"/>
              <a:cs typeface="Montserrat"/>
              <a:sym typeface="Montserrat"/>
            </a:endParaRPr>
          </a:p>
        </p:txBody>
      </p:sp>
      <p:sp>
        <p:nvSpPr>
          <p:cNvPr id="1514" name="Google Shape;1514;p26"/>
          <p:cNvSpPr/>
          <p:nvPr/>
        </p:nvSpPr>
        <p:spPr>
          <a:xfrm>
            <a:off x="3555696" y="434491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locales y estatales</a:t>
            </a:r>
            <a:endParaRPr b="0" i="0" sz="900" u="none" cap="none" strike="noStrike">
              <a:solidFill>
                <a:schemeClr val="lt1"/>
              </a:solidFill>
              <a:latin typeface="Arial"/>
              <a:ea typeface="Arial"/>
              <a:cs typeface="Arial"/>
              <a:sym typeface="Arial"/>
            </a:endParaRPr>
          </a:p>
        </p:txBody>
      </p:sp>
      <p:sp>
        <p:nvSpPr>
          <p:cNvPr id="1515" name="Google Shape;1515;p26"/>
          <p:cNvSpPr/>
          <p:nvPr/>
        </p:nvSpPr>
        <p:spPr>
          <a:xfrm>
            <a:off x="3555696"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Consumidor y privacidad</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(cumplimiento)</a:t>
            </a:r>
            <a:endParaRPr b="0" i="0" sz="400" u="none" cap="none" strike="noStrike">
              <a:solidFill>
                <a:schemeClr val="lt1"/>
              </a:solidFill>
              <a:latin typeface="Montserrat"/>
              <a:ea typeface="Montserrat"/>
              <a:cs typeface="Montserrat"/>
              <a:sym typeface="Montserrat"/>
            </a:endParaRPr>
          </a:p>
        </p:txBody>
      </p:sp>
      <p:sp>
        <p:nvSpPr>
          <p:cNvPr id="1516" name="Google Shape;1516;p26"/>
          <p:cNvSpPr/>
          <p:nvPr/>
        </p:nvSpPr>
        <p:spPr>
          <a:xfrm>
            <a:off x="3555696" y="4046240"/>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México.</a:t>
            </a:r>
            <a:endParaRPr b="0" i="0" sz="900" u="none" cap="none" strike="noStrike">
              <a:solidFill>
                <a:schemeClr val="lt1"/>
              </a:solidFill>
              <a:latin typeface="Arial"/>
              <a:ea typeface="Arial"/>
              <a:cs typeface="Arial"/>
              <a:sym typeface="Arial"/>
            </a:endParaRPr>
          </a:p>
        </p:txBody>
      </p:sp>
      <p:sp>
        <p:nvSpPr>
          <p:cNvPr id="1517" name="Google Shape;1517;p26"/>
          <p:cNvSpPr/>
          <p:nvPr/>
        </p:nvSpPr>
        <p:spPr>
          <a:xfrm>
            <a:off x="3555696" y="419557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BANXICO</a:t>
            </a:r>
            <a:endParaRPr b="0" i="0" sz="400" u="none" cap="none" strike="noStrike">
              <a:solidFill>
                <a:schemeClr val="lt1"/>
              </a:solidFill>
              <a:latin typeface="Montserrat"/>
              <a:ea typeface="Montserrat"/>
              <a:cs typeface="Montserrat"/>
              <a:sym typeface="Montserrat"/>
            </a:endParaRPr>
          </a:p>
        </p:txBody>
      </p:sp>
      <p:sp>
        <p:nvSpPr>
          <p:cNvPr id="1518" name="Google Shape;1518;p26"/>
          <p:cNvSpPr/>
          <p:nvPr/>
        </p:nvSpPr>
        <p:spPr>
          <a:xfrm>
            <a:off x="1333302" y="4246040"/>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 del sistema (disposiciones)</a:t>
            </a:r>
            <a:endParaRPr b="0" i="0" sz="900" u="none" cap="none" strike="noStrike">
              <a:solidFill>
                <a:schemeClr val="lt1"/>
              </a:solidFill>
              <a:latin typeface="Arial"/>
              <a:ea typeface="Arial"/>
              <a:cs typeface="Arial"/>
              <a:sym typeface="Arial"/>
            </a:endParaRPr>
          </a:p>
        </p:txBody>
      </p:sp>
      <p:sp>
        <p:nvSpPr>
          <p:cNvPr id="1519" name="Google Shape;1519;p26"/>
          <p:cNvSpPr/>
          <p:nvPr/>
        </p:nvSpPr>
        <p:spPr>
          <a:xfrm>
            <a:off x="1333302"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Autenticación (validación de ID de cliente)</a:t>
            </a:r>
            <a:endParaRPr b="0" i="0" sz="400" u="none" cap="none" strike="noStrike">
              <a:solidFill>
                <a:schemeClr val="dk2"/>
              </a:solidFill>
              <a:latin typeface="Montserrat"/>
              <a:ea typeface="Montserrat"/>
              <a:cs typeface="Montserrat"/>
              <a:sym typeface="Montserrat"/>
            </a:endParaRPr>
          </a:p>
        </p:txBody>
      </p:sp>
      <p:sp>
        <p:nvSpPr>
          <p:cNvPr id="1520" name="Google Shape;1520;p26"/>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1521" name="Google Shape;1521;p26"/>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1522" name="Google Shape;1522;p26"/>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1523" name="Google Shape;1523;p26"/>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1524" name="Google Shape;1524;p26"/>
          <p:cNvSpPr/>
          <p:nvPr/>
        </p:nvSpPr>
        <p:spPr>
          <a:xfrm>
            <a:off x="1333302" y="4067547"/>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Inicio de sesión único</a:t>
            </a:r>
            <a:endParaRPr b="0" i="0" sz="900" u="none" cap="none" strike="noStrike">
              <a:solidFill>
                <a:schemeClr val="dk2"/>
              </a:solidFill>
              <a:latin typeface="Arial"/>
              <a:ea typeface="Arial"/>
              <a:cs typeface="Arial"/>
              <a:sym typeface="Arial"/>
            </a:endParaRPr>
          </a:p>
        </p:txBody>
      </p:sp>
      <p:sp>
        <p:nvSpPr>
          <p:cNvPr id="1525" name="Google Shape;1525;p26"/>
          <p:cNvSpPr/>
          <p:nvPr/>
        </p:nvSpPr>
        <p:spPr>
          <a:xfrm>
            <a:off x="2444808"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Recopilación de parámetros</a:t>
            </a:r>
            <a:endParaRPr b="0" i="0" sz="900" u="none" cap="none" strike="noStrike">
              <a:solidFill>
                <a:schemeClr val="lt1"/>
              </a:solidFill>
              <a:latin typeface="Arial"/>
              <a:ea typeface="Arial"/>
              <a:cs typeface="Arial"/>
              <a:sym typeface="Arial"/>
            </a:endParaRPr>
          </a:p>
        </p:txBody>
      </p:sp>
      <p:sp>
        <p:nvSpPr>
          <p:cNvPr id="1526" name="Google Shape;1526;p26"/>
          <p:cNvSpPr/>
          <p:nvPr/>
        </p:nvSpPr>
        <p:spPr>
          <a:xfrm>
            <a:off x="2444808" y="404624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inspección</a:t>
            </a:r>
            <a:endParaRPr b="0" i="0" sz="400" u="none" cap="none" strike="noStrike">
              <a:solidFill>
                <a:schemeClr val="lt1"/>
              </a:solidFill>
              <a:latin typeface="Montserrat"/>
              <a:ea typeface="Montserrat"/>
              <a:cs typeface="Montserrat"/>
              <a:sym typeface="Montserrat"/>
            </a:endParaRPr>
          </a:p>
        </p:txBody>
      </p:sp>
      <p:sp>
        <p:nvSpPr>
          <p:cNvPr id="1527" name="Google Shape;1527;p26"/>
          <p:cNvSpPr/>
          <p:nvPr/>
        </p:nvSpPr>
        <p:spPr>
          <a:xfrm>
            <a:off x="2444808" y="434491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notificación</a:t>
            </a:r>
            <a:endParaRPr b="0" i="0" sz="400" u="none" cap="none" strike="noStrike">
              <a:solidFill>
                <a:schemeClr val="lt1"/>
              </a:solidFill>
              <a:latin typeface="Montserrat"/>
              <a:ea typeface="Montserrat"/>
              <a:cs typeface="Montserrat"/>
              <a:sym typeface="Montserrat"/>
            </a:endParaRPr>
          </a:p>
        </p:txBody>
      </p:sp>
      <p:sp>
        <p:nvSpPr>
          <p:cNvPr id="1528" name="Google Shape;1528;p26"/>
          <p:cNvSpPr/>
          <p:nvPr/>
        </p:nvSpPr>
        <p:spPr>
          <a:xfrm>
            <a:off x="2444808" y="419557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revisión</a:t>
            </a:r>
            <a:endParaRPr b="0" i="0" sz="400" u="none" cap="none" strike="noStrike">
              <a:solidFill>
                <a:schemeClr val="lt1"/>
              </a:solidFill>
              <a:latin typeface="Montserrat"/>
              <a:ea typeface="Montserrat"/>
              <a:cs typeface="Montserrat"/>
              <a:sym typeface="Montserrat"/>
            </a:endParaRPr>
          </a:p>
        </p:txBody>
      </p:sp>
      <p:sp>
        <p:nvSpPr>
          <p:cNvPr id="1529" name="Google Shape;1529;p26"/>
          <p:cNvSpPr/>
          <p:nvPr/>
        </p:nvSpPr>
        <p:spPr>
          <a:xfrm>
            <a:off x="5519878" y="3397234"/>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Precio, honorarios y tarifas</a:t>
            </a:r>
            <a:endParaRPr b="0" i="0" sz="400" u="none" cap="none" strike="noStrike">
              <a:solidFill>
                <a:schemeClr val="lt1"/>
              </a:solidFill>
              <a:latin typeface="Montserrat"/>
              <a:ea typeface="Montserrat"/>
              <a:cs typeface="Montserrat"/>
              <a:sym typeface="Montserrat"/>
            </a:endParaRPr>
          </a:p>
        </p:txBody>
      </p:sp>
      <p:sp>
        <p:nvSpPr>
          <p:cNvPr id="1530" name="Google Shape;1530;p26"/>
          <p:cNvSpPr/>
          <p:nvPr/>
        </p:nvSpPr>
        <p:spPr>
          <a:xfrm>
            <a:off x="4689602" y="3397234"/>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Parametrización</a:t>
            </a:r>
            <a:endParaRPr b="0" i="0" sz="900" u="none" cap="none" strike="noStrike">
              <a:solidFill>
                <a:schemeClr val="lt1"/>
              </a:solidFill>
              <a:latin typeface="Montserrat"/>
              <a:ea typeface="Montserrat"/>
              <a:cs typeface="Montserrat"/>
              <a:sym typeface="Montserrat"/>
            </a:endParaRPr>
          </a:p>
        </p:txBody>
      </p:sp>
      <p:sp>
        <p:nvSpPr>
          <p:cNvPr id="1531" name="Google Shape;1531;p26"/>
          <p:cNvSpPr/>
          <p:nvPr/>
        </p:nvSpPr>
        <p:spPr>
          <a:xfrm>
            <a:off x="7168269" y="3397881"/>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Definición de roles</a:t>
            </a:r>
            <a:endParaRPr b="0" i="0" sz="900" u="none" cap="none" strike="noStrike">
              <a:solidFill>
                <a:schemeClr val="lt1"/>
              </a:solidFill>
              <a:latin typeface="Montserrat"/>
              <a:ea typeface="Montserrat"/>
              <a:cs typeface="Montserrat"/>
              <a:sym typeface="Montserrat"/>
            </a:endParaRPr>
          </a:p>
        </p:txBody>
      </p:sp>
      <p:sp>
        <p:nvSpPr>
          <p:cNvPr id="1532" name="Google Shape;1532;p26"/>
          <p:cNvSpPr/>
          <p:nvPr/>
        </p:nvSpPr>
        <p:spPr>
          <a:xfrm>
            <a:off x="7977593" y="3397611"/>
            <a:ext cx="8370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Definición del motor de reglas</a:t>
            </a:r>
            <a:endParaRPr b="0" i="0" sz="400" u="none" cap="none" strike="noStrike">
              <a:solidFill>
                <a:schemeClr val="lt1"/>
              </a:solidFill>
              <a:latin typeface="Montserrat"/>
              <a:ea typeface="Montserrat"/>
              <a:cs typeface="Montserrat"/>
              <a:sym typeface="Montserrat"/>
            </a:endParaRPr>
          </a:p>
        </p:txBody>
      </p:sp>
      <p:sp>
        <p:nvSpPr>
          <p:cNvPr id="1533" name="Google Shape;1533;p26"/>
          <p:cNvSpPr/>
          <p:nvPr/>
        </p:nvSpPr>
        <p:spPr>
          <a:xfrm>
            <a:off x="6353107" y="3397516"/>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Capacidades de gestión de productos</a:t>
            </a:r>
            <a:endParaRPr b="0" i="0" sz="400" u="none" cap="none" strike="noStrike">
              <a:solidFill>
                <a:schemeClr val="lt1"/>
              </a:solidFill>
              <a:latin typeface="Montserrat"/>
              <a:ea typeface="Montserrat"/>
              <a:cs typeface="Montserrat"/>
              <a:sym typeface="Montserrat"/>
            </a:endParaRPr>
          </a:p>
        </p:txBody>
      </p:sp>
      <p:sp>
        <p:nvSpPr>
          <p:cNvPr id="1534" name="Google Shape;1534;p26"/>
          <p:cNvSpPr/>
          <p:nvPr/>
        </p:nvSpPr>
        <p:spPr>
          <a:xfrm>
            <a:off x="3880064" y="3397234"/>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Información de Modelos</a:t>
            </a:r>
            <a:endParaRPr b="0" i="0" sz="900" u="none" cap="none" strike="noStrike">
              <a:solidFill>
                <a:schemeClr val="lt1"/>
              </a:solidFill>
              <a:latin typeface="Montserrat"/>
              <a:ea typeface="Montserrat"/>
              <a:cs typeface="Montserrat"/>
              <a:sym typeface="Montserrat"/>
            </a:endParaRPr>
          </a:p>
        </p:txBody>
      </p:sp>
      <p:sp>
        <p:nvSpPr>
          <p:cNvPr id="1535" name="Google Shape;1535;p26"/>
          <p:cNvSpPr/>
          <p:nvPr/>
        </p:nvSpPr>
        <p:spPr>
          <a:xfrm>
            <a:off x="3880356" y="187757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Reconciliaciones</a:t>
            </a:r>
            <a:endParaRPr b="0" i="0" sz="400" u="none" cap="none" strike="noStrike">
              <a:solidFill>
                <a:schemeClr val="lt1"/>
              </a:solidFill>
              <a:latin typeface="Montserrat"/>
              <a:ea typeface="Montserrat"/>
              <a:cs typeface="Montserrat"/>
              <a:sym typeface="Montserrat"/>
            </a:endParaRPr>
          </a:p>
        </p:txBody>
      </p:sp>
      <p:sp>
        <p:nvSpPr>
          <p:cNvPr id="1536" name="Google Shape;1536;p26"/>
          <p:cNvSpPr/>
          <p:nvPr/>
        </p:nvSpPr>
        <p:spPr>
          <a:xfrm>
            <a:off x="3880356" y="125706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Ajustes</a:t>
            </a:r>
            <a:endParaRPr b="0" i="0" sz="400" u="none" cap="none" strike="noStrike">
              <a:solidFill>
                <a:schemeClr val="lt1"/>
              </a:solidFill>
              <a:latin typeface="Montserrat"/>
              <a:ea typeface="Montserrat"/>
              <a:cs typeface="Montserrat"/>
              <a:sym typeface="Montserrat"/>
            </a:endParaRPr>
          </a:p>
        </p:txBody>
      </p:sp>
      <p:sp>
        <p:nvSpPr>
          <p:cNvPr id="1537" name="Google Shape;1537;p26"/>
          <p:cNvSpPr/>
          <p:nvPr/>
        </p:nvSpPr>
        <p:spPr>
          <a:xfrm>
            <a:off x="3880356" y="156737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Excepciones</a:t>
            </a:r>
            <a:endParaRPr b="0" i="0" sz="400" u="none" cap="none" strike="noStrike">
              <a:solidFill>
                <a:schemeClr val="lt1"/>
              </a:solidFill>
              <a:latin typeface="Montserrat"/>
              <a:ea typeface="Montserrat"/>
              <a:cs typeface="Montserrat"/>
              <a:sym typeface="Montserrat"/>
            </a:endParaRPr>
          </a:p>
        </p:txBody>
      </p:sp>
      <p:sp>
        <p:nvSpPr>
          <p:cNvPr id="1538" name="Google Shape;1538;p26"/>
          <p:cNvSpPr/>
          <p:nvPr/>
        </p:nvSpPr>
        <p:spPr>
          <a:xfrm>
            <a:off x="3880356" y="141200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Procesamiento de saldos</a:t>
            </a:r>
            <a:endParaRPr b="0" i="0" sz="400" u="none" cap="none" strike="noStrike">
              <a:solidFill>
                <a:schemeClr val="lt1"/>
              </a:solidFill>
              <a:latin typeface="Montserrat"/>
              <a:ea typeface="Montserrat"/>
              <a:cs typeface="Montserrat"/>
              <a:sym typeface="Montserrat"/>
            </a:endParaRPr>
          </a:p>
        </p:txBody>
      </p:sp>
      <p:sp>
        <p:nvSpPr>
          <p:cNvPr id="1539" name="Google Shape;1539;p26"/>
          <p:cNvSpPr/>
          <p:nvPr/>
        </p:nvSpPr>
        <p:spPr>
          <a:xfrm>
            <a:off x="3880356" y="172318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Contabilidad</a:t>
            </a:r>
            <a:endParaRPr b="0" i="0" sz="400" u="none" cap="none" strike="noStrike">
              <a:solidFill>
                <a:schemeClr val="lt1"/>
              </a:solidFill>
              <a:latin typeface="Montserrat"/>
              <a:ea typeface="Montserrat"/>
              <a:cs typeface="Montserrat"/>
              <a:sym typeface="Montserrat"/>
            </a:endParaRPr>
          </a:p>
        </p:txBody>
      </p:sp>
      <p:sp>
        <p:nvSpPr>
          <p:cNvPr id="1540" name="Google Shape;1540;p26"/>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1541" name="Google Shape;1541;p26"/>
          <p:cNvSpPr/>
          <p:nvPr/>
        </p:nvSpPr>
        <p:spPr>
          <a:xfrm>
            <a:off x="3880356" y="232511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Ventas/incentivos</a:t>
            </a:r>
            <a:endParaRPr b="0" i="0" sz="400" u="none" cap="none" strike="noStrike">
              <a:solidFill>
                <a:schemeClr val="dk2"/>
              </a:solidFill>
              <a:latin typeface="Montserrat"/>
              <a:ea typeface="Montserrat"/>
              <a:cs typeface="Montserrat"/>
              <a:sym typeface="Montserrat"/>
            </a:endParaRPr>
          </a:p>
        </p:txBody>
      </p:sp>
      <p:sp>
        <p:nvSpPr>
          <p:cNvPr id="1542" name="Google Shape;1542;p26"/>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la relación con el cliente</a:t>
            </a:r>
            <a:endParaRPr b="0" i="0" sz="400" u="none" cap="none" strike="noStrike">
              <a:solidFill>
                <a:schemeClr val="dk2"/>
              </a:solidFill>
              <a:latin typeface="Montserrat"/>
              <a:ea typeface="Montserrat"/>
              <a:cs typeface="Montserrat"/>
              <a:sym typeface="Montserrat"/>
            </a:endParaRPr>
          </a:p>
        </p:txBody>
      </p:sp>
      <p:sp>
        <p:nvSpPr>
          <p:cNvPr id="1543" name="Google Shape;1543;p26"/>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1544" name="Google Shape;1544;p26"/>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1545" name="Google Shape;1545;p26"/>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inversión</a:t>
            </a:r>
            <a:endParaRPr b="0" i="0" sz="400" u="none" cap="none" strike="noStrike">
              <a:solidFill>
                <a:schemeClr val="dk2"/>
              </a:solidFill>
              <a:latin typeface="Montserrat"/>
              <a:ea typeface="Montserrat"/>
              <a:cs typeface="Montserrat"/>
              <a:sym typeface="Montserrat"/>
            </a:endParaRPr>
          </a:p>
        </p:txBody>
      </p:sp>
      <p:sp>
        <p:nvSpPr>
          <p:cNvPr id="1546" name="Google Shape;1546;p26"/>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Gestión de documentos de imagen</a:t>
            </a:r>
            <a:endParaRPr b="0" i="0" sz="900" u="none" cap="none" strike="noStrike">
              <a:solidFill>
                <a:schemeClr val="dk2"/>
              </a:solidFill>
              <a:latin typeface="Montserrat"/>
              <a:ea typeface="Montserrat"/>
              <a:cs typeface="Montserrat"/>
              <a:sym typeface="Montserrat"/>
            </a:endParaRPr>
          </a:p>
        </p:txBody>
      </p:sp>
      <p:sp>
        <p:nvSpPr>
          <p:cNvPr id="1547" name="Google Shape;1547;p26"/>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Templates </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(correspondencia)</a:t>
            </a:r>
            <a:endParaRPr b="0" i="0" sz="900" u="none" cap="none" strike="noStrike">
              <a:solidFill>
                <a:schemeClr val="dk2"/>
              </a:solidFill>
              <a:latin typeface="Montserrat"/>
              <a:ea typeface="Montserrat"/>
              <a:cs typeface="Montserrat"/>
              <a:sym typeface="Montserrat"/>
            </a:endParaRPr>
          </a:p>
        </p:txBody>
      </p:sp>
      <p:sp>
        <p:nvSpPr>
          <p:cNvPr id="1548" name="Google Shape;1548;p26"/>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Divulgación y aceptar</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(Procesamienta de cuentas)</a:t>
            </a:r>
            <a:endParaRPr b="0" i="0" sz="900" u="none" cap="none" strike="noStrike">
              <a:solidFill>
                <a:schemeClr val="dk2"/>
              </a:solidFill>
              <a:latin typeface="Montserrat"/>
              <a:ea typeface="Montserrat"/>
              <a:cs typeface="Montserrat"/>
              <a:sym typeface="Montserrat"/>
            </a:endParaRPr>
          </a:p>
        </p:txBody>
      </p:sp>
      <p:sp>
        <p:nvSpPr>
          <p:cNvPr id="1549" name="Google Shape;1549;p26"/>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Documentación de cumplimiento de cuenta</a:t>
            </a:r>
            <a:endParaRPr b="0" i="0" sz="400" u="none" cap="none" strike="noStrike">
              <a:solidFill>
                <a:schemeClr val="dk2"/>
              </a:solidFill>
              <a:latin typeface="Montserrat"/>
              <a:ea typeface="Montserrat"/>
              <a:cs typeface="Montserrat"/>
              <a:sym typeface="Montserrat"/>
            </a:endParaRPr>
          </a:p>
        </p:txBody>
      </p:sp>
      <p:sp>
        <p:nvSpPr>
          <p:cNvPr id="1550" name="Google Shape;1550;p26"/>
          <p:cNvSpPr/>
          <p:nvPr/>
        </p:nvSpPr>
        <p:spPr>
          <a:xfrm>
            <a:off x="1294951"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Cierre de cuenta</a:t>
            </a:r>
            <a:endParaRPr b="0" i="0" sz="400" u="none" cap="none" strike="noStrike">
              <a:solidFill>
                <a:schemeClr val="lt1"/>
              </a:solidFill>
              <a:latin typeface="Montserrat"/>
              <a:ea typeface="Montserrat"/>
              <a:cs typeface="Montserrat"/>
              <a:sym typeface="Montserrat"/>
            </a:endParaRPr>
          </a:p>
        </p:txBody>
      </p:sp>
      <p:sp>
        <p:nvSpPr>
          <p:cNvPr id="1551" name="Google Shape;1551;p26"/>
          <p:cNvSpPr/>
          <p:nvPr/>
        </p:nvSpPr>
        <p:spPr>
          <a:xfrm>
            <a:off x="1294951" y="2232766"/>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Depositar fondos</a:t>
            </a:r>
            <a:endParaRPr b="0" i="0" sz="400" u="none" cap="none" strike="noStrike">
              <a:solidFill>
                <a:schemeClr val="lt1"/>
              </a:solidFill>
              <a:latin typeface="Montserrat"/>
              <a:ea typeface="Montserrat"/>
              <a:cs typeface="Montserrat"/>
              <a:sym typeface="Montserrat"/>
            </a:endParaRPr>
          </a:p>
        </p:txBody>
      </p:sp>
      <p:sp>
        <p:nvSpPr>
          <p:cNvPr id="1552" name="Google Shape;1552;p26"/>
          <p:cNvSpPr/>
          <p:nvPr/>
        </p:nvSpPr>
        <p:spPr>
          <a:xfrm>
            <a:off x="1294951"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Transferir fondos</a:t>
            </a:r>
            <a:endParaRPr b="0" i="0" sz="400" u="none" cap="none" strike="noStrike">
              <a:solidFill>
                <a:schemeClr val="lt1"/>
              </a:solidFill>
              <a:latin typeface="Montserrat"/>
              <a:ea typeface="Montserrat"/>
              <a:cs typeface="Montserrat"/>
              <a:sym typeface="Montserrat"/>
            </a:endParaRPr>
          </a:p>
        </p:txBody>
      </p:sp>
      <p:sp>
        <p:nvSpPr>
          <p:cNvPr id="1553" name="Google Shape;1553;p26"/>
          <p:cNvSpPr/>
          <p:nvPr/>
        </p:nvSpPr>
        <p:spPr>
          <a:xfrm>
            <a:off x="2862246"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Retirar fondos</a:t>
            </a:r>
            <a:endParaRPr b="0" i="0" sz="400" u="none" cap="none" strike="noStrike">
              <a:solidFill>
                <a:schemeClr val="lt1"/>
              </a:solidFill>
              <a:latin typeface="Montserrat"/>
              <a:ea typeface="Montserrat"/>
              <a:cs typeface="Montserrat"/>
              <a:sym typeface="Montserrat"/>
            </a:endParaRPr>
          </a:p>
        </p:txBody>
      </p:sp>
      <p:sp>
        <p:nvSpPr>
          <p:cNvPr id="1554" name="Google Shape;1554;p26"/>
          <p:cNvSpPr/>
          <p:nvPr/>
        </p:nvSpPr>
        <p:spPr>
          <a:xfrm>
            <a:off x="2078085" y="2389684"/>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Pequeñas empresas</a:t>
            </a:r>
            <a:endParaRPr b="0" i="0" sz="400" u="none" cap="none" strike="noStrike">
              <a:solidFill>
                <a:schemeClr val="lt1"/>
              </a:solidFill>
              <a:latin typeface="Montserrat"/>
              <a:ea typeface="Montserrat"/>
              <a:cs typeface="Montserrat"/>
              <a:sym typeface="Montserrat"/>
            </a:endParaRPr>
          </a:p>
        </p:txBody>
      </p:sp>
      <p:sp>
        <p:nvSpPr>
          <p:cNvPr id="1555" name="Google Shape;1555;p26"/>
          <p:cNvSpPr/>
          <p:nvPr/>
        </p:nvSpPr>
        <p:spPr>
          <a:xfrm>
            <a:off x="2078085" y="2075051"/>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Eventos activados por el cliente</a:t>
            </a:r>
            <a:endParaRPr b="0" i="0" sz="400" u="none" cap="none" strike="noStrike">
              <a:solidFill>
                <a:schemeClr val="lt1"/>
              </a:solidFill>
              <a:latin typeface="Montserrat"/>
              <a:ea typeface="Montserrat"/>
              <a:cs typeface="Montserrat"/>
              <a:sym typeface="Montserrat"/>
            </a:endParaRPr>
          </a:p>
        </p:txBody>
      </p:sp>
      <p:sp>
        <p:nvSpPr>
          <p:cNvPr id="1556" name="Google Shape;1556;p26"/>
          <p:cNvSpPr/>
          <p:nvPr/>
        </p:nvSpPr>
        <p:spPr>
          <a:xfrm>
            <a:off x="2078085"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Originación de cuentas</a:t>
            </a:r>
            <a:endParaRPr b="0" i="0" sz="900" u="none" cap="none" strike="noStrike">
              <a:solidFill>
                <a:schemeClr val="lt1"/>
              </a:solidFill>
              <a:latin typeface="Montserrat"/>
              <a:ea typeface="Montserrat"/>
              <a:cs typeface="Montserrat"/>
              <a:sym typeface="Montserrat"/>
            </a:endParaRPr>
          </a:p>
        </p:txBody>
      </p:sp>
      <p:sp>
        <p:nvSpPr>
          <p:cNvPr id="1557" name="Google Shape;1557;p26"/>
          <p:cNvSpPr/>
          <p:nvPr/>
        </p:nvSpPr>
        <p:spPr>
          <a:xfrm>
            <a:off x="2078085" y="2228552"/>
            <a:ext cx="7464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Gestión de cumplimiento./</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Incorporación de clientes</a:t>
            </a:r>
            <a:endParaRPr b="0" i="0" sz="400" u="none" cap="none" strike="noStrike">
              <a:solidFill>
                <a:schemeClr val="lt1"/>
              </a:solidFill>
              <a:latin typeface="Montserrat"/>
              <a:ea typeface="Montserrat"/>
              <a:cs typeface="Montserrat"/>
              <a:sym typeface="Montserrat"/>
            </a:endParaRPr>
          </a:p>
        </p:txBody>
      </p:sp>
      <p:sp>
        <p:nvSpPr>
          <p:cNvPr id="1558" name="Google Shape;1558;p26"/>
          <p:cNvSpPr/>
          <p:nvPr/>
        </p:nvSpPr>
        <p:spPr>
          <a:xfrm>
            <a:off x="1294951" y="2076219"/>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configuración</a:t>
            </a:r>
            <a:endParaRPr b="0" i="0" sz="400" u="none" cap="none" strike="noStrike">
              <a:solidFill>
                <a:schemeClr val="lt1"/>
              </a:solidFill>
              <a:latin typeface="Montserrat"/>
              <a:ea typeface="Montserrat"/>
              <a:cs typeface="Montserrat"/>
              <a:sym typeface="Montserrat"/>
            </a:endParaRPr>
          </a:p>
        </p:txBody>
      </p:sp>
      <p:sp>
        <p:nvSpPr>
          <p:cNvPr id="1559" name="Google Shape;1559;p26"/>
          <p:cNvSpPr/>
          <p:nvPr/>
        </p:nvSpPr>
        <p:spPr>
          <a:xfrm>
            <a:off x="2078085"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Actualizar información</a:t>
            </a:r>
            <a:endParaRPr b="0" i="0" sz="400" u="none" cap="none" strike="noStrike">
              <a:solidFill>
                <a:schemeClr val="lt1"/>
              </a:solidFill>
              <a:latin typeface="Montserrat"/>
              <a:ea typeface="Montserrat"/>
              <a:cs typeface="Montserrat"/>
              <a:sym typeface="Montserrat"/>
            </a:endParaRPr>
          </a:p>
        </p:txBody>
      </p:sp>
      <p:sp>
        <p:nvSpPr>
          <p:cNvPr id="1560" name="Google Shape;1560;p26"/>
          <p:cNvSpPr/>
          <p:nvPr/>
        </p:nvSpPr>
        <p:spPr>
          <a:xfrm>
            <a:off x="2862246" y="2387473"/>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1561" name="Google Shape;1561;p26"/>
          <p:cNvSpPr/>
          <p:nvPr/>
        </p:nvSpPr>
        <p:spPr>
          <a:xfrm>
            <a:off x="2862246"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Eventos activados por calendario</a:t>
            </a:r>
            <a:endParaRPr b="0" i="0" sz="400" u="none" cap="none" strike="noStrike">
              <a:solidFill>
                <a:schemeClr val="lt1"/>
              </a:solidFill>
              <a:latin typeface="Montserrat"/>
              <a:ea typeface="Montserrat"/>
              <a:cs typeface="Montserrat"/>
              <a:sym typeface="Montserrat"/>
            </a:endParaRPr>
          </a:p>
        </p:txBody>
      </p:sp>
      <p:sp>
        <p:nvSpPr>
          <p:cNvPr id="1562" name="Google Shape;1562;p26"/>
          <p:cNvSpPr/>
          <p:nvPr/>
        </p:nvSpPr>
        <p:spPr>
          <a:xfrm>
            <a:off x="2862246" y="223230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Cuentas que generan intereses</a:t>
            </a:r>
            <a:endParaRPr b="0" i="0" sz="400" u="none" cap="none" strike="noStrike">
              <a:solidFill>
                <a:schemeClr val="lt1"/>
              </a:solidFill>
              <a:latin typeface="Montserrat"/>
              <a:ea typeface="Montserrat"/>
              <a:cs typeface="Montserrat"/>
              <a:sym typeface="Montserrat"/>
            </a:endParaRPr>
          </a:p>
        </p:txBody>
      </p:sp>
      <p:sp>
        <p:nvSpPr>
          <p:cNvPr id="1563" name="Google Shape;1563;p26"/>
          <p:cNvSpPr/>
          <p:nvPr/>
        </p:nvSpPr>
        <p:spPr>
          <a:xfrm>
            <a:off x="2862246" y="2076219"/>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tarjeta de débito/ATM</a:t>
            </a:r>
            <a:endParaRPr b="0" i="0" sz="400" u="none" cap="none" strike="noStrike">
              <a:solidFill>
                <a:schemeClr val="lt1"/>
              </a:solidFill>
              <a:latin typeface="Montserrat"/>
              <a:ea typeface="Montserrat"/>
              <a:cs typeface="Montserrat"/>
              <a:sym typeface="Montserrat"/>
            </a:endParaRPr>
          </a:p>
        </p:txBody>
      </p:sp>
      <p:sp>
        <p:nvSpPr>
          <p:cNvPr id="1564" name="Google Shape;1564;p26"/>
          <p:cNvSpPr/>
          <p:nvPr/>
        </p:nvSpPr>
        <p:spPr>
          <a:xfrm>
            <a:off x="1294951" y="238832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pago de facturas en línea</a:t>
            </a:r>
            <a:endParaRPr b="0" i="0" sz="400" u="none" cap="none" strike="noStrike">
              <a:solidFill>
                <a:schemeClr val="lt1"/>
              </a:solidFill>
              <a:latin typeface="Montserrat"/>
              <a:ea typeface="Montserrat"/>
              <a:cs typeface="Montserrat"/>
              <a:sym typeface="Montserrat"/>
            </a:endParaRPr>
          </a:p>
        </p:txBody>
      </p:sp>
      <p:sp>
        <p:nvSpPr>
          <p:cNvPr id="1565" name="Google Shape;1565;p26"/>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Encuestas/investigación</a:t>
            </a:r>
            <a:endParaRPr b="0" i="0" sz="900" u="none" cap="none" strike="noStrike">
              <a:solidFill>
                <a:schemeClr val="dk2"/>
              </a:solidFill>
              <a:latin typeface="Montserrat"/>
              <a:ea typeface="Montserrat"/>
              <a:cs typeface="Montserrat"/>
              <a:sym typeface="Montserrat"/>
            </a:endParaRPr>
          </a:p>
        </p:txBody>
      </p:sp>
      <p:sp>
        <p:nvSpPr>
          <p:cNvPr id="1566" name="Google Shape;1566;p26"/>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campañas</a:t>
            </a:r>
            <a:endParaRPr b="0" i="0" sz="900" u="none" cap="none" strike="noStrike">
              <a:solidFill>
                <a:schemeClr val="dk2"/>
              </a:solidFill>
              <a:latin typeface="Montserrat"/>
              <a:ea typeface="Montserrat"/>
              <a:cs typeface="Montserrat"/>
              <a:sym typeface="Montserrat"/>
            </a:endParaRPr>
          </a:p>
        </p:txBody>
      </p:sp>
      <p:sp>
        <p:nvSpPr>
          <p:cNvPr id="1567" name="Google Shape;1567;p26"/>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1568" name="Google Shape;1568;p26"/>
          <p:cNvSpPr/>
          <p:nvPr/>
        </p:nvSpPr>
        <p:spPr>
          <a:xfrm>
            <a:off x="1292493"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Información de la clase de producto</a:t>
            </a:r>
            <a:endParaRPr b="0" i="0" sz="400" u="none" cap="none" strike="noStrike">
              <a:solidFill>
                <a:schemeClr val="lt1"/>
              </a:solidFill>
              <a:latin typeface="Montserrat"/>
              <a:ea typeface="Montserrat"/>
              <a:cs typeface="Montserrat"/>
              <a:sym typeface="Montserrat"/>
            </a:endParaRPr>
          </a:p>
        </p:txBody>
      </p:sp>
      <p:sp>
        <p:nvSpPr>
          <p:cNvPr id="1569" name="Google Shape;1569;p26"/>
          <p:cNvSpPr/>
          <p:nvPr/>
        </p:nvSpPr>
        <p:spPr>
          <a:xfrm>
            <a:off x="129249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depósito a plazo</a:t>
            </a:r>
            <a:endParaRPr b="0" i="0" sz="400" u="none" cap="none" strike="noStrike">
              <a:solidFill>
                <a:schemeClr val="lt1"/>
              </a:solidFill>
              <a:latin typeface="Montserrat"/>
              <a:ea typeface="Montserrat"/>
              <a:cs typeface="Montserrat"/>
              <a:sym typeface="Montserrat"/>
            </a:endParaRPr>
          </a:p>
        </p:txBody>
      </p:sp>
      <p:sp>
        <p:nvSpPr>
          <p:cNvPr id="1570" name="Google Shape;1570;p26"/>
          <p:cNvSpPr/>
          <p:nvPr/>
        </p:nvSpPr>
        <p:spPr>
          <a:xfrm>
            <a:off x="129249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Corrientes</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lt1"/>
              </a:solidFill>
              <a:latin typeface="Montserrat"/>
              <a:ea typeface="Montserrat"/>
              <a:cs typeface="Montserrat"/>
              <a:sym typeface="Montserrat"/>
            </a:endParaRPr>
          </a:p>
        </p:txBody>
      </p:sp>
      <p:sp>
        <p:nvSpPr>
          <p:cNvPr id="1571" name="Google Shape;1571;p26"/>
          <p:cNvSpPr/>
          <p:nvPr/>
        </p:nvSpPr>
        <p:spPr>
          <a:xfrm>
            <a:off x="2077643"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jubilación</a:t>
            </a:r>
            <a:endParaRPr b="0" i="0" sz="400" u="none" cap="none" strike="noStrike">
              <a:solidFill>
                <a:schemeClr val="lt1"/>
              </a:solidFill>
              <a:latin typeface="Montserrat"/>
              <a:ea typeface="Montserrat"/>
              <a:cs typeface="Montserrat"/>
              <a:sym typeface="Montserrat"/>
            </a:endParaRPr>
          </a:p>
        </p:txBody>
      </p:sp>
      <p:sp>
        <p:nvSpPr>
          <p:cNvPr id="1572" name="Google Shape;1572;p26"/>
          <p:cNvSpPr/>
          <p:nvPr/>
        </p:nvSpPr>
        <p:spPr>
          <a:xfrm>
            <a:off x="2863234"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Banco privado/</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Servicios patrimoniales</a:t>
            </a:r>
            <a:endParaRPr b="0" i="0" sz="400" u="none" cap="none" strike="noStrike">
              <a:solidFill>
                <a:schemeClr val="lt1"/>
              </a:solidFill>
              <a:latin typeface="Montserrat"/>
              <a:ea typeface="Montserrat"/>
              <a:cs typeface="Montserrat"/>
              <a:sym typeface="Montserrat"/>
            </a:endParaRPr>
          </a:p>
        </p:txBody>
      </p:sp>
      <p:sp>
        <p:nvSpPr>
          <p:cNvPr id="1573" name="Google Shape;1573;p26"/>
          <p:cNvSpPr/>
          <p:nvPr/>
        </p:nvSpPr>
        <p:spPr>
          <a:xfrm>
            <a:off x="2863234"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ahorro</a:t>
            </a:r>
            <a:endParaRPr b="0" i="0" sz="400" u="none" cap="none" strike="noStrike">
              <a:solidFill>
                <a:schemeClr val="lt1"/>
              </a:solidFill>
              <a:latin typeface="Montserrat"/>
              <a:ea typeface="Montserrat"/>
              <a:cs typeface="Montserrat"/>
              <a:sym typeface="Montserrat"/>
            </a:endParaRPr>
          </a:p>
        </p:txBody>
      </p:sp>
      <p:sp>
        <p:nvSpPr>
          <p:cNvPr id="1574" name="Google Shape;1574;p26"/>
          <p:cNvSpPr/>
          <p:nvPr/>
        </p:nvSpPr>
        <p:spPr>
          <a:xfrm>
            <a:off x="207764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crédito</a:t>
            </a:r>
            <a:endParaRPr b="0" i="0" sz="400" u="none" cap="none" strike="noStrike">
              <a:solidFill>
                <a:schemeClr val="lt1"/>
              </a:solidFill>
              <a:latin typeface="Montserrat"/>
              <a:ea typeface="Montserrat"/>
              <a:cs typeface="Montserrat"/>
              <a:sym typeface="Montserrat"/>
            </a:endParaRPr>
          </a:p>
        </p:txBody>
      </p:sp>
      <p:sp>
        <p:nvSpPr>
          <p:cNvPr id="1575" name="Google Shape;1575;p26"/>
          <p:cNvSpPr/>
          <p:nvPr/>
        </p:nvSpPr>
        <p:spPr>
          <a:xfrm>
            <a:off x="207764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1576" name="Google Shape;1576;p26"/>
          <p:cNvSpPr/>
          <p:nvPr/>
        </p:nvSpPr>
        <p:spPr>
          <a:xfrm>
            <a:off x="2863234"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saldo cero</a:t>
            </a:r>
            <a:endParaRPr b="0" i="0" sz="400" u="none" cap="none" strike="noStrike">
              <a:solidFill>
                <a:schemeClr val="lt1"/>
              </a:solidFill>
              <a:latin typeface="Montserrat"/>
              <a:ea typeface="Montserrat"/>
              <a:cs typeface="Montserrat"/>
              <a:sym typeface="Montserrat"/>
            </a:endParaRPr>
          </a:p>
        </p:txBody>
      </p:sp>
      <p:sp>
        <p:nvSpPr>
          <p:cNvPr id="1577" name="Google Shape;1577;p26"/>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1578" name="Google Shape;1578;p26"/>
          <p:cNvSpPr/>
          <p:nvPr/>
        </p:nvSpPr>
        <p:spPr>
          <a:xfrm>
            <a:off x="8081185"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Cheque de caja/</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Giros postales</a:t>
            </a:r>
            <a:endParaRPr b="0" i="0" sz="400" u="none" cap="none" strike="noStrike">
              <a:solidFill>
                <a:schemeClr val="lt1"/>
              </a:solidFill>
              <a:latin typeface="Montserrat"/>
              <a:ea typeface="Montserrat"/>
              <a:cs typeface="Montserrat"/>
              <a:sym typeface="Montserrat"/>
            </a:endParaRPr>
          </a:p>
        </p:txBody>
      </p:sp>
      <p:sp>
        <p:nvSpPr>
          <p:cNvPr id="1579" name="Google Shape;1579;p26"/>
          <p:cNvSpPr/>
          <p:nvPr/>
        </p:nvSpPr>
        <p:spPr>
          <a:xfrm>
            <a:off x="8081185" y="141700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Sobregiro</a:t>
            </a:r>
            <a:endParaRPr b="0" i="0" sz="400" u="none" cap="none" strike="noStrike">
              <a:solidFill>
                <a:schemeClr val="lt1"/>
              </a:solidFill>
              <a:latin typeface="Montserrat"/>
              <a:ea typeface="Montserrat"/>
              <a:cs typeface="Montserrat"/>
              <a:sym typeface="Montserrat"/>
            </a:endParaRPr>
          </a:p>
        </p:txBody>
      </p:sp>
      <p:sp>
        <p:nvSpPr>
          <p:cNvPr id="1580" name="Google Shape;1580;p26"/>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a:t>
            </a:r>
            <a:endParaRPr b="0" i="0" sz="400" u="none" cap="none" strike="noStrike">
              <a:solidFill>
                <a:schemeClr val="dk2"/>
              </a:solidFill>
              <a:latin typeface="Montserrat"/>
              <a:ea typeface="Montserrat"/>
              <a:cs typeface="Montserrat"/>
              <a:sym typeface="Montserrat"/>
            </a:endParaRPr>
          </a:p>
        </p:txBody>
      </p:sp>
      <p:sp>
        <p:nvSpPr>
          <p:cNvPr id="1581" name="Google Shape;1581;p26"/>
          <p:cNvSpPr/>
          <p:nvPr/>
        </p:nvSpPr>
        <p:spPr>
          <a:xfrm>
            <a:off x="7323830" y="141700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básicos de gestión</a:t>
            </a:r>
            <a:endParaRPr b="0" i="0" sz="400" u="none" cap="none" strike="noStrike">
              <a:solidFill>
                <a:schemeClr val="lt1"/>
              </a:solidFill>
              <a:latin typeface="Montserrat"/>
              <a:ea typeface="Montserrat"/>
              <a:cs typeface="Montserrat"/>
              <a:sym typeface="Montserrat"/>
            </a:endParaRPr>
          </a:p>
        </p:txBody>
      </p:sp>
      <p:sp>
        <p:nvSpPr>
          <p:cNvPr id="1582" name="Google Shape;1582;p26"/>
          <p:cNvSpPr/>
          <p:nvPr/>
        </p:nvSpPr>
        <p:spPr>
          <a:xfrm>
            <a:off x="6567651"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Análisis de cuentas</a:t>
            </a:r>
            <a:endParaRPr b="0" i="0" sz="400" u="none" cap="none" strike="noStrike">
              <a:solidFill>
                <a:schemeClr val="lt1"/>
              </a:solidFill>
              <a:latin typeface="Montserrat"/>
              <a:ea typeface="Montserrat"/>
              <a:cs typeface="Montserrat"/>
              <a:sym typeface="Montserrat"/>
            </a:endParaRPr>
          </a:p>
        </p:txBody>
      </p:sp>
      <p:sp>
        <p:nvSpPr>
          <p:cNvPr id="1583" name="Google Shape;1583;p26"/>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1584" name="Google Shape;1584;p26"/>
          <p:cNvSpPr/>
          <p:nvPr/>
        </p:nvSpPr>
        <p:spPr>
          <a:xfrm>
            <a:off x="7323830"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Retiro de Efectivo</a:t>
            </a:r>
            <a:endParaRPr b="0" i="0" sz="900" u="none" cap="none" strike="noStrike">
              <a:solidFill>
                <a:schemeClr val="lt1"/>
              </a:solidFill>
              <a:latin typeface="Montserrat"/>
              <a:ea typeface="Montserrat"/>
              <a:cs typeface="Montserrat"/>
              <a:sym typeface="Montserrat"/>
            </a:endParaRPr>
          </a:p>
        </p:txBody>
      </p:sp>
      <p:sp>
        <p:nvSpPr>
          <p:cNvPr id="1585" name="Google Shape;1585;p26"/>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comerciales</a:t>
            </a:r>
            <a:endParaRPr b="0" i="0" sz="400" u="none" cap="none" strike="noStrike">
              <a:solidFill>
                <a:schemeClr val="dk2"/>
              </a:solidFill>
              <a:latin typeface="Montserrat"/>
              <a:ea typeface="Montserrat"/>
              <a:cs typeface="Montserrat"/>
              <a:sym typeface="Montserrat"/>
            </a:endParaRPr>
          </a:p>
        </p:txBody>
      </p:sp>
      <p:sp>
        <p:nvSpPr>
          <p:cNvPr id="1586" name="Google Shape;1586;p26"/>
          <p:cNvSpPr/>
          <p:nvPr/>
        </p:nvSpPr>
        <p:spPr>
          <a:xfrm>
            <a:off x="8082270"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Capacidades del estado de cuenta</a:t>
            </a:r>
            <a:endParaRPr b="0" i="0" sz="400" u="none" cap="none" strike="noStrike">
              <a:solidFill>
                <a:schemeClr val="lt1"/>
              </a:solidFill>
              <a:latin typeface="Montserrat"/>
              <a:ea typeface="Montserrat"/>
              <a:cs typeface="Montserrat"/>
              <a:sym typeface="Montserrat"/>
            </a:endParaRPr>
          </a:p>
        </p:txBody>
      </p:sp>
      <p:sp>
        <p:nvSpPr>
          <p:cNvPr id="1587" name="Google Shape;1587;p26"/>
          <p:cNvSpPr/>
          <p:nvPr/>
        </p:nvSpPr>
        <p:spPr>
          <a:xfrm>
            <a:off x="7323289"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350"/>
              <a:buFont typeface="Arial"/>
              <a:buNone/>
            </a:pPr>
            <a:r>
              <a:rPr b="0" i="0" lang="es" sz="350" u="none" cap="none" strike="noStrike">
                <a:solidFill>
                  <a:schemeClr val="lt1"/>
                </a:solidFill>
                <a:latin typeface="Montserrat"/>
                <a:ea typeface="Montserrat"/>
                <a:cs typeface="Montserrat"/>
                <a:sym typeface="Montserrat"/>
              </a:rPr>
              <a:t>Archivo de estado de cuenta/</a:t>
            </a:r>
            <a:br>
              <a:rPr b="0" i="0" lang="es" sz="350" u="none" cap="none" strike="noStrike">
                <a:solidFill>
                  <a:schemeClr val="lt1"/>
                </a:solidFill>
                <a:latin typeface="Montserrat"/>
                <a:ea typeface="Montserrat"/>
                <a:cs typeface="Montserrat"/>
                <a:sym typeface="Montserrat"/>
              </a:rPr>
            </a:br>
            <a:r>
              <a:rPr b="0" i="0" lang="es" sz="350" u="none" cap="none" strike="noStrike">
                <a:solidFill>
                  <a:schemeClr val="lt1"/>
                </a:solidFill>
                <a:latin typeface="Montserrat"/>
                <a:ea typeface="Montserrat"/>
                <a:cs typeface="Montserrat"/>
                <a:sym typeface="Montserrat"/>
              </a:rPr>
              <a:t>Seguimiento histórico</a:t>
            </a:r>
            <a:endParaRPr b="0" i="0" sz="350" u="none" cap="none" strike="noStrike">
              <a:solidFill>
                <a:schemeClr val="lt1"/>
              </a:solidFill>
              <a:latin typeface="Montserrat"/>
              <a:ea typeface="Montserrat"/>
              <a:cs typeface="Montserrat"/>
              <a:sym typeface="Montserrat"/>
            </a:endParaRPr>
          </a:p>
        </p:txBody>
      </p:sp>
      <p:sp>
        <p:nvSpPr>
          <p:cNvPr id="1588" name="Google Shape;1588;p26"/>
          <p:cNvSpPr/>
          <p:nvPr/>
        </p:nvSpPr>
        <p:spPr>
          <a:xfrm>
            <a:off x="7323289" y="30677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Generación del estado de cuenta</a:t>
            </a:r>
            <a:endParaRPr b="0" i="0" sz="400" u="none" cap="none" strike="noStrike">
              <a:solidFill>
                <a:schemeClr val="lt1"/>
              </a:solidFill>
              <a:latin typeface="Montserrat"/>
              <a:ea typeface="Montserrat"/>
              <a:cs typeface="Montserrat"/>
              <a:sym typeface="Montserrat"/>
            </a:endParaRPr>
          </a:p>
        </p:txBody>
      </p:sp>
      <p:sp>
        <p:nvSpPr>
          <p:cNvPr id="1589" name="Google Shape;1589;p26"/>
          <p:cNvSpPr/>
          <p:nvPr/>
        </p:nvSpPr>
        <p:spPr>
          <a:xfrm>
            <a:off x="6568479" y="30677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Definición del estado de cuenta</a:t>
            </a:r>
            <a:endParaRPr b="0" i="0" sz="400" u="none" cap="none" strike="noStrike">
              <a:solidFill>
                <a:schemeClr val="lt1"/>
              </a:solidFill>
              <a:latin typeface="Montserrat"/>
              <a:ea typeface="Montserrat"/>
              <a:cs typeface="Montserrat"/>
              <a:sym typeface="Montserrat"/>
            </a:endParaRPr>
          </a:p>
        </p:txBody>
      </p:sp>
      <p:sp>
        <p:nvSpPr>
          <p:cNvPr id="1590" name="Google Shape;1590;p26"/>
          <p:cNvSpPr/>
          <p:nvPr/>
        </p:nvSpPr>
        <p:spPr>
          <a:xfrm>
            <a:off x="6568479"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Generación de estados de cuenta en línea</a:t>
            </a:r>
            <a:endParaRPr b="0" i="0" sz="400" u="none" cap="none" strike="noStrike">
              <a:solidFill>
                <a:schemeClr val="lt1"/>
              </a:solidFill>
              <a:latin typeface="Montserrat"/>
              <a:ea typeface="Montserrat"/>
              <a:cs typeface="Montserrat"/>
              <a:sym typeface="Montserrat"/>
            </a:endParaRPr>
          </a:p>
        </p:txBody>
      </p:sp>
      <p:sp>
        <p:nvSpPr>
          <p:cNvPr id="1591" name="Google Shape;1591;p26"/>
          <p:cNvSpPr/>
          <p:nvPr/>
        </p:nvSpPr>
        <p:spPr>
          <a:xfrm>
            <a:off x="8077267"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Originaciones de procesos</a:t>
            </a:r>
            <a:endParaRPr b="0" i="0" sz="400" u="none" cap="none" strike="noStrike">
              <a:solidFill>
                <a:schemeClr val="dk2"/>
              </a:solidFill>
              <a:latin typeface="Montserrat"/>
              <a:ea typeface="Montserrat"/>
              <a:cs typeface="Montserrat"/>
              <a:sym typeface="Montserrat"/>
            </a:endParaRPr>
          </a:p>
        </p:txBody>
      </p:sp>
      <p:sp>
        <p:nvSpPr>
          <p:cNvPr id="1592" name="Google Shape;1592;p26"/>
          <p:cNvSpPr/>
          <p:nvPr/>
        </p:nvSpPr>
        <p:spPr>
          <a:xfrm>
            <a:off x="6562648" y="2073173"/>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Fin del día y BATCH</a:t>
            </a:r>
            <a:endParaRPr b="0" i="0" sz="400" u="none" cap="none" strike="noStrike">
              <a:solidFill>
                <a:schemeClr val="lt1"/>
              </a:solidFill>
              <a:latin typeface="Montserrat"/>
              <a:ea typeface="Montserrat"/>
              <a:cs typeface="Montserrat"/>
              <a:sym typeface="Montserrat"/>
            </a:endParaRPr>
          </a:p>
        </p:txBody>
      </p:sp>
      <p:sp>
        <p:nvSpPr>
          <p:cNvPr id="1593" name="Google Shape;1593;p26"/>
          <p:cNvSpPr/>
          <p:nvPr/>
        </p:nvSpPr>
        <p:spPr>
          <a:xfrm>
            <a:off x="6562648"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Cierre Contable</a:t>
            </a:r>
            <a:endParaRPr b="0" i="0" sz="900" u="none" cap="none" strike="noStrike">
              <a:solidFill>
                <a:schemeClr val="lt1"/>
              </a:solidFill>
              <a:latin typeface="Montserrat"/>
              <a:ea typeface="Montserrat"/>
              <a:cs typeface="Montserrat"/>
              <a:sym typeface="Montserrat"/>
            </a:endParaRPr>
          </a:p>
        </p:txBody>
      </p:sp>
      <p:sp>
        <p:nvSpPr>
          <p:cNvPr id="1594" name="Google Shape;1594;p26"/>
          <p:cNvSpPr/>
          <p:nvPr/>
        </p:nvSpPr>
        <p:spPr>
          <a:xfrm>
            <a:off x="8077267"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Proceso de transferencia</a:t>
            </a:r>
            <a:endParaRPr b="0" i="0" sz="400" u="none" cap="none" strike="noStrike">
              <a:solidFill>
                <a:schemeClr val="lt1"/>
              </a:solidFill>
              <a:latin typeface="Montserrat"/>
              <a:ea typeface="Montserrat"/>
              <a:cs typeface="Montserrat"/>
              <a:sym typeface="Montserrat"/>
            </a:endParaRPr>
          </a:p>
        </p:txBody>
      </p:sp>
      <p:sp>
        <p:nvSpPr>
          <p:cNvPr id="1595" name="Google Shape;1595;p26"/>
          <p:cNvSpPr/>
          <p:nvPr/>
        </p:nvSpPr>
        <p:spPr>
          <a:xfrm>
            <a:off x="7319255"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Planificación y preparación</a:t>
            </a:r>
            <a:endParaRPr b="0" i="0" sz="400" u="none" cap="none" strike="noStrike">
              <a:solidFill>
                <a:schemeClr val="lt1"/>
              </a:solidFill>
              <a:latin typeface="Montserrat"/>
              <a:ea typeface="Montserrat"/>
              <a:cs typeface="Montserrat"/>
              <a:sym typeface="Montserrat"/>
            </a:endParaRPr>
          </a:p>
        </p:txBody>
      </p:sp>
      <p:sp>
        <p:nvSpPr>
          <p:cNvPr id="1596" name="Google Shape;1596;p26"/>
          <p:cNvSpPr/>
          <p:nvPr/>
        </p:nvSpPr>
        <p:spPr>
          <a:xfrm>
            <a:off x="7319255"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Procesamiento de cheques</a:t>
            </a:r>
            <a:endParaRPr b="0" i="0" sz="900" u="none" cap="none" strike="noStrike">
              <a:solidFill>
                <a:schemeClr val="lt1"/>
              </a:solidFill>
              <a:latin typeface="Montserrat"/>
              <a:ea typeface="Montserrat"/>
              <a:cs typeface="Montserrat"/>
              <a:sym typeface="Montserrat"/>
            </a:endParaRPr>
          </a:p>
        </p:txBody>
      </p:sp>
      <p:sp>
        <p:nvSpPr>
          <p:cNvPr id="1597" name="Google Shape;1597;p26"/>
          <p:cNvSpPr/>
          <p:nvPr/>
        </p:nvSpPr>
        <p:spPr>
          <a:xfrm>
            <a:off x="8076183"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Proceso del día 1 y día 2</a:t>
            </a:r>
            <a:endParaRPr b="0" i="0" sz="400" u="none" cap="none" strike="noStrike">
              <a:solidFill>
                <a:schemeClr val="lt1"/>
              </a:solidFill>
              <a:latin typeface="Montserrat"/>
              <a:ea typeface="Montserrat"/>
              <a:cs typeface="Montserrat"/>
              <a:sym typeface="Montserrat"/>
            </a:endParaRPr>
          </a:p>
        </p:txBody>
      </p:sp>
      <p:sp>
        <p:nvSpPr>
          <p:cNvPr id="1598" name="Google Shape;1598;p26"/>
          <p:cNvSpPr/>
          <p:nvPr/>
        </p:nvSpPr>
        <p:spPr>
          <a:xfrm>
            <a:off x="8076183"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de depósito</a:t>
            </a:r>
            <a:endParaRPr b="0" i="0" sz="400" u="none" cap="none" strike="noStrike">
              <a:solidFill>
                <a:schemeClr val="lt1"/>
              </a:solidFill>
              <a:latin typeface="Montserrat"/>
              <a:ea typeface="Montserrat"/>
              <a:cs typeface="Montserrat"/>
              <a:sym typeface="Montserrat"/>
            </a:endParaRPr>
          </a:p>
        </p:txBody>
      </p:sp>
      <p:sp>
        <p:nvSpPr>
          <p:cNvPr id="1599" name="Google Shape;1599;p26"/>
          <p:cNvSpPr/>
          <p:nvPr/>
        </p:nvSpPr>
        <p:spPr>
          <a:xfrm>
            <a:off x="6563476"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electrónicas</a:t>
            </a:r>
            <a:endParaRPr b="0" i="0" sz="400" u="none" cap="none" strike="noStrike">
              <a:solidFill>
                <a:schemeClr val="lt1"/>
              </a:solidFill>
              <a:latin typeface="Montserrat"/>
              <a:ea typeface="Montserrat"/>
              <a:cs typeface="Montserrat"/>
              <a:sym typeface="Montserrat"/>
            </a:endParaRPr>
          </a:p>
        </p:txBody>
      </p:sp>
      <p:sp>
        <p:nvSpPr>
          <p:cNvPr id="1600" name="Google Shape;1600;p26"/>
          <p:cNvSpPr/>
          <p:nvPr/>
        </p:nvSpPr>
        <p:spPr>
          <a:xfrm>
            <a:off x="7319255"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1601" name="Google Shape;1601;p26"/>
          <p:cNvSpPr/>
          <p:nvPr/>
        </p:nvSpPr>
        <p:spPr>
          <a:xfrm>
            <a:off x="7319255" y="2073173"/>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Camara de Compensación</a:t>
            </a:r>
            <a:endParaRPr b="0" i="0" sz="400" u="none" cap="none" strike="noStrike">
              <a:solidFill>
                <a:schemeClr val="lt1"/>
              </a:solidFill>
              <a:latin typeface="Montserrat"/>
              <a:ea typeface="Montserrat"/>
              <a:cs typeface="Montserrat"/>
              <a:sym typeface="Montserrat"/>
            </a:endParaRPr>
          </a:p>
        </p:txBody>
      </p:sp>
      <p:sp>
        <p:nvSpPr>
          <p:cNvPr id="1602" name="Google Shape;1602;p26"/>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pagos</a:t>
            </a:r>
            <a:endParaRPr b="0" i="0" sz="400" u="none" cap="none" strike="noStrike">
              <a:solidFill>
                <a:schemeClr val="dk2"/>
              </a:solidFill>
              <a:latin typeface="Montserrat"/>
              <a:ea typeface="Montserrat"/>
              <a:cs typeface="Montserrat"/>
              <a:sym typeface="Montserrat"/>
            </a:endParaRPr>
          </a:p>
        </p:txBody>
      </p:sp>
      <p:sp>
        <p:nvSpPr>
          <p:cNvPr id="1603" name="Google Shape;1603;p26"/>
          <p:cNvSpPr/>
          <p:nvPr/>
        </p:nvSpPr>
        <p:spPr>
          <a:xfrm>
            <a:off x="7319255"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de cuentas de préstamo</a:t>
            </a:r>
            <a:endParaRPr b="0" i="0" sz="400" u="none" cap="none" strike="noStrike">
              <a:solidFill>
                <a:schemeClr val="lt1"/>
              </a:solidFill>
              <a:latin typeface="Montserrat"/>
              <a:ea typeface="Montserrat"/>
              <a:cs typeface="Montserrat"/>
              <a:sym typeface="Montserrat"/>
            </a:endParaRPr>
          </a:p>
        </p:txBody>
      </p:sp>
      <p:sp>
        <p:nvSpPr>
          <p:cNvPr id="1604" name="Google Shape;1604;p26"/>
          <p:cNvSpPr/>
          <p:nvPr/>
        </p:nvSpPr>
        <p:spPr>
          <a:xfrm>
            <a:off x="6562648"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Facturación</a:t>
            </a:r>
            <a:endParaRPr b="0" i="0" sz="400" u="none" cap="none" strike="noStrike">
              <a:solidFill>
                <a:schemeClr val="dk2"/>
              </a:solidFill>
              <a:latin typeface="Montserrat"/>
              <a:ea typeface="Montserrat"/>
              <a:cs typeface="Montserrat"/>
              <a:sym typeface="Montserrat"/>
            </a:endParaRPr>
          </a:p>
        </p:txBody>
      </p:sp>
      <p:sp>
        <p:nvSpPr>
          <p:cNvPr id="1605" name="Google Shape;1605;p26"/>
          <p:cNvSpPr/>
          <p:nvPr/>
        </p:nvSpPr>
        <p:spPr>
          <a:xfrm>
            <a:off x="6563476"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Pagos en tiempo real</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Tratamiento</a:t>
            </a:r>
            <a:endParaRPr b="0" i="0" sz="400" u="none" cap="none" strike="noStrike">
              <a:solidFill>
                <a:schemeClr val="dk2"/>
              </a:solidFill>
              <a:latin typeface="Montserrat"/>
              <a:ea typeface="Montserrat"/>
              <a:cs typeface="Montserrat"/>
              <a:sym typeface="Montserrat"/>
            </a:endParaRPr>
          </a:p>
        </p:txBody>
      </p:sp>
      <p:sp>
        <p:nvSpPr>
          <p:cNvPr id="1606" name="Google Shape;1606;p26"/>
          <p:cNvSpPr/>
          <p:nvPr/>
        </p:nvSpPr>
        <p:spPr>
          <a:xfrm>
            <a:off x="4843050" y="12623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Contacto personal</a:t>
            </a:r>
            <a:endParaRPr b="0" i="0" sz="900" u="none" cap="none" strike="noStrike">
              <a:solidFill>
                <a:schemeClr val="dk2"/>
              </a:solidFill>
              <a:latin typeface="Montserrat"/>
              <a:ea typeface="Montserrat"/>
              <a:cs typeface="Montserrat"/>
              <a:sym typeface="Montserrat"/>
            </a:endParaRPr>
          </a:p>
        </p:txBody>
      </p:sp>
      <p:sp>
        <p:nvSpPr>
          <p:cNvPr id="1607" name="Google Shape;1607;p26"/>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Entidad</a:t>
            </a:r>
            <a:endParaRPr b="0" i="0" sz="400" u="none" cap="none" strike="noStrike">
              <a:solidFill>
                <a:schemeClr val="dk2"/>
              </a:solidFill>
              <a:latin typeface="Montserrat"/>
              <a:ea typeface="Montserrat"/>
              <a:cs typeface="Montserrat"/>
              <a:sym typeface="Montserrat"/>
            </a:endParaRPr>
          </a:p>
        </p:txBody>
      </p:sp>
      <p:sp>
        <p:nvSpPr>
          <p:cNvPr id="1608" name="Google Shape;1608;p26"/>
          <p:cNvSpPr/>
          <p:nvPr/>
        </p:nvSpPr>
        <p:spPr>
          <a:xfrm>
            <a:off x="560367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Relación</a:t>
            </a:r>
            <a:endParaRPr b="0" i="0" sz="400" u="none" cap="none" strike="noStrike">
              <a:solidFill>
                <a:schemeClr val="dk2"/>
              </a:solidFill>
              <a:latin typeface="Montserrat"/>
              <a:ea typeface="Montserrat"/>
              <a:cs typeface="Montserrat"/>
              <a:sym typeface="Montserrat"/>
            </a:endParaRPr>
          </a:p>
        </p:txBody>
      </p:sp>
      <p:sp>
        <p:nvSpPr>
          <p:cNvPr id="1609" name="Google Shape;1609;p26"/>
          <p:cNvSpPr/>
          <p:nvPr/>
        </p:nvSpPr>
        <p:spPr>
          <a:xfrm>
            <a:off x="4843050" y="157262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Seguridad personal</a:t>
            </a:r>
            <a:endParaRPr b="0" i="0" sz="900" u="none" cap="none" strike="noStrike">
              <a:solidFill>
                <a:schemeClr val="dk2"/>
              </a:solidFill>
              <a:latin typeface="Montserrat"/>
              <a:ea typeface="Montserrat"/>
              <a:cs typeface="Montserrat"/>
              <a:sym typeface="Montserrat"/>
            </a:endParaRPr>
          </a:p>
        </p:txBody>
      </p:sp>
      <p:sp>
        <p:nvSpPr>
          <p:cNvPr id="1610" name="Google Shape;1610;p26"/>
          <p:cNvSpPr/>
          <p:nvPr/>
        </p:nvSpPr>
        <p:spPr>
          <a:xfrm>
            <a:off x="4843050" y="141725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Preferencias personal</a:t>
            </a:r>
            <a:endParaRPr b="0" i="0" sz="900" u="none" cap="none" strike="noStrike">
              <a:solidFill>
                <a:schemeClr val="dk2"/>
              </a:solidFill>
              <a:latin typeface="Montserrat"/>
              <a:ea typeface="Montserrat"/>
              <a:cs typeface="Montserrat"/>
              <a:sym typeface="Montserrat"/>
            </a:endParaRPr>
          </a:p>
        </p:txBody>
      </p:sp>
      <p:sp>
        <p:nvSpPr>
          <p:cNvPr id="1611" name="Google Shape;1611;p26"/>
          <p:cNvSpPr/>
          <p:nvPr/>
        </p:nvSpPr>
        <p:spPr>
          <a:xfrm>
            <a:off x="560367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Perfil de riesgo de la persona</a:t>
            </a:r>
            <a:endParaRPr b="0" i="0" sz="400" u="none" cap="none" strike="noStrike">
              <a:solidFill>
                <a:schemeClr val="dk2"/>
              </a:solidFill>
              <a:latin typeface="Montserrat"/>
              <a:ea typeface="Montserrat"/>
              <a:cs typeface="Montserrat"/>
              <a:sym typeface="Montserrat"/>
            </a:endParaRPr>
          </a:p>
        </p:txBody>
      </p:sp>
      <p:sp>
        <p:nvSpPr>
          <p:cNvPr id="1612" name="Google Shape;1612;p26"/>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Data warehouse</a:t>
            </a:r>
            <a:endParaRPr b="0" i="0" sz="900" u="none" cap="none" strike="noStrike">
              <a:solidFill>
                <a:schemeClr val="dk2"/>
              </a:solidFill>
              <a:latin typeface="Montserrat"/>
              <a:ea typeface="Montserrat"/>
              <a:cs typeface="Montserrat"/>
              <a:sym typeface="Montserrat"/>
            </a:endParaRPr>
          </a:p>
        </p:txBody>
      </p:sp>
      <p:sp>
        <p:nvSpPr>
          <p:cNvPr id="1613" name="Google Shape;1613;p26"/>
          <p:cNvSpPr/>
          <p:nvPr/>
        </p:nvSpPr>
        <p:spPr>
          <a:xfrm>
            <a:off x="560367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información del cliente</a:t>
            </a:r>
            <a:endParaRPr b="0" i="0" sz="400" u="none" cap="none" strike="noStrike">
              <a:solidFill>
                <a:schemeClr val="dk2"/>
              </a:solidFill>
              <a:latin typeface="Montserrat"/>
              <a:ea typeface="Montserrat"/>
              <a:cs typeface="Montserrat"/>
              <a:sym typeface="Montserrat"/>
            </a:endParaRPr>
          </a:p>
        </p:txBody>
      </p:sp>
      <p:sp>
        <p:nvSpPr>
          <p:cNvPr id="1614" name="Google Shape;1614;p26"/>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Analítica</a:t>
            </a:r>
            <a:endParaRPr b="0" i="0" sz="900" u="none" cap="none" strike="noStrike">
              <a:solidFill>
                <a:schemeClr val="dk2"/>
              </a:solidFill>
              <a:latin typeface="Montserrat"/>
              <a:ea typeface="Montserrat"/>
              <a:cs typeface="Montserrat"/>
              <a:sym typeface="Montserrat"/>
            </a:endParaRPr>
          </a:p>
        </p:txBody>
      </p:sp>
      <p:sp>
        <p:nvSpPr>
          <p:cNvPr id="1615" name="Google Shape;1615;p26"/>
          <p:cNvSpPr/>
          <p:nvPr/>
        </p:nvSpPr>
        <p:spPr>
          <a:xfrm>
            <a:off x="5603670" y="279204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Datos Operacionales</a:t>
            </a:r>
            <a:endParaRPr b="0" i="0" sz="900" u="none" cap="none" strike="noStrike">
              <a:solidFill>
                <a:schemeClr val="lt1"/>
              </a:solidFill>
              <a:latin typeface="Montserrat"/>
              <a:ea typeface="Montserrat"/>
              <a:cs typeface="Montserrat"/>
              <a:sym typeface="Montserrat"/>
            </a:endParaRPr>
          </a:p>
        </p:txBody>
      </p:sp>
      <p:sp>
        <p:nvSpPr>
          <p:cNvPr id="1616" name="Google Shape;1616;p26"/>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Reportes Regulatorios</a:t>
            </a:r>
            <a:endParaRPr b="0" i="0" sz="400" u="none" cap="none" strike="noStrike">
              <a:solidFill>
                <a:schemeClr val="dk2"/>
              </a:solidFill>
              <a:latin typeface="Montserrat"/>
              <a:ea typeface="Montserrat"/>
              <a:cs typeface="Montserrat"/>
              <a:sym typeface="Montserrat"/>
            </a:endParaRPr>
          </a:p>
        </p:txBody>
      </p:sp>
      <p:sp>
        <p:nvSpPr>
          <p:cNvPr id="1617" name="Google Shape;1617;p26"/>
          <p:cNvSpPr/>
          <p:nvPr/>
        </p:nvSpPr>
        <p:spPr>
          <a:xfrm>
            <a:off x="4843050" y="2020465"/>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Reporte Operacional</a:t>
            </a:r>
            <a:endParaRPr b="0" i="0" sz="400" u="none" cap="none" strike="noStrike">
              <a:solidFill>
                <a:schemeClr val="lt1"/>
              </a:solidFill>
              <a:latin typeface="Montserrat"/>
              <a:ea typeface="Montserrat"/>
              <a:cs typeface="Montserrat"/>
              <a:sym typeface="Montserrat"/>
            </a:endParaRPr>
          </a:p>
        </p:txBody>
      </p:sp>
      <p:sp>
        <p:nvSpPr>
          <p:cNvPr id="1618" name="Google Shape;1618;p26"/>
          <p:cNvSpPr/>
          <p:nvPr/>
        </p:nvSpPr>
        <p:spPr>
          <a:xfrm>
            <a:off x="484305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contables</a:t>
            </a:r>
            <a:endParaRPr b="0" i="0" sz="900" u="none" cap="none" strike="noStrike">
              <a:solidFill>
                <a:schemeClr val="lt1"/>
              </a:solidFill>
              <a:latin typeface="Montserrat"/>
              <a:ea typeface="Montserrat"/>
              <a:cs typeface="Montserrat"/>
              <a:sym typeface="Montserrat"/>
            </a:endParaRPr>
          </a:p>
        </p:txBody>
      </p:sp>
      <p:sp>
        <p:nvSpPr>
          <p:cNvPr id="1619" name="Google Shape;1619;p26"/>
          <p:cNvSpPr/>
          <p:nvPr/>
        </p:nvSpPr>
        <p:spPr>
          <a:xfrm>
            <a:off x="4843050" y="2331579"/>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Informes de utilización (sistema)</a:t>
            </a:r>
            <a:endParaRPr b="0" i="0" sz="900" u="none" cap="none" strike="noStrike">
              <a:solidFill>
                <a:schemeClr val="lt1"/>
              </a:solidFill>
              <a:latin typeface="Montserrat"/>
              <a:ea typeface="Montserrat"/>
              <a:cs typeface="Montserrat"/>
              <a:sym typeface="Montserrat"/>
            </a:endParaRPr>
          </a:p>
        </p:txBody>
      </p:sp>
      <p:sp>
        <p:nvSpPr>
          <p:cNvPr id="1620" name="Google Shape;1620;p26"/>
          <p:cNvSpPr/>
          <p:nvPr/>
        </p:nvSpPr>
        <p:spPr>
          <a:xfrm>
            <a:off x="560367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de clientes</a:t>
            </a:r>
            <a:endParaRPr b="0" i="0" sz="400" u="none" cap="none" strike="noStrike">
              <a:solidFill>
                <a:schemeClr val="lt1"/>
              </a:solidFill>
              <a:latin typeface="Montserrat"/>
              <a:ea typeface="Montserrat"/>
              <a:cs typeface="Montserrat"/>
              <a:sym typeface="Montserrat"/>
            </a:endParaRPr>
          </a:p>
        </p:txBody>
      </p:sp>
      <p:sp>
        <p:nvSpPr>
          <p:cNvPr id="1621" name="Google Shape;1621;p26"/>
          <p:cNvSpPr/>
          <p:nvPr/>
        </p:nvSpPr>
        <p:spPr>
          <a:xfrm>
            <a:off x="5603670" y="2175520"/>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Transaccionales</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 de clientes</a:t>
            </a:r>
            <a:endParaRPr b="0" i="0" sz="400" u="none" cap="none" strike="noStrike">
              <a:solidFill>
                <a:schemeClr val="lt1"/>
              </a:solidFill>
              <a:latin typeface="Montserrat"/>
              <a:ea typeface="Montserrat"/>
              <a:cs typeface="Montserrat"/>
              <a:sym typeface="Montserrat"/>
            </a:endParaRPr>
          </a:p>
        </p:txBody>
      </p:sp>
      <p:sp>
        <p:nvSpPr>
          <p:cNvPr id="1622" name="Google Shape;1622;p26"/>
          <p:cNvSpPr/>
          <p:nvPr/>
        </p:nvSpPr>
        <p:spPr>
          <a:xfrm>
            <a:off x="4840646" y="309729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Alertas y</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notificaciones</a:t>
            </a:r>
            <a:endParaRPr b="0" i="0" sz="400" u="none" cap="none" strike="noStrike">
              <a:solidFill>
                <a:schemeClr val="lt1"/>
              </a:solidFill>
              <a:latin typeface="Montserrat"/>
              <a:ea typeface="Montserrat"/>
              <a:cs typeface="Montserrat"/>
              <a:sym typeface="Montserrat"/>
            </a:endParaRPr>
          </a:p>
        </p:txBody>
      </p:sp>
      <p:sp>
        <p:nvSpPr>
          <p:cNvPr id="1623" name="Google Shape;1623;p26"/>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1624" name="Google Shape;1624;p26"/>
          <p:cNvSpPr/>
          <p:nvPr/>
        </p:nvSpPr>
        <p:spPr>
          <a:xfrm>
            <a:off x="4843050" y="217552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900" u="none" cap="none" strike="noStrike">
              <a:solidFill>
                <a:schemeClr val="lt1"/>
              </a:solidFill>
              <a:latin typeface="Montserrat"/>
              <a:ea typeface="Montserrat"/>
              <a:cs typeface="Montserrat"/>
              <a:sym typeface="Montserrat"/>
            </a:endParaRPr>
          </a:p>
        </p:txBody>
      </p:sp>
      <p:sp>
        <p:nvSpPr>
          <p:cNvPr id="1625" name="Google Shape;1625;p26"/>
          <p:cNvSpPr txBox="1"/>
          <p:nvPr/>
        </p:nvSpPr>
        <p:spPr>
          <a:xfrm>
            <a:off x="165682" y="171035"/>
            <a:ext cx="8325802"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del Nuevo Core Bancario (CBS) en la arquitectura empresarial de UNITY</a:t>
            </a:r>
            <a:endParaRPr b="0" i="0" sz="900" u="none" cap="none" strike="noStrike">
              <a:solidFill>
                <a:srgbClr val="000000"/>
              </a:solidFill>
              <a:latin typeface="Arial"/>
              <a:ea typeface="Arial"/>
              <a:cs typeface="Arial"/>
              <a:sym typeface="Arial"/>
            </a:endParaRPr>
          </a:p>
        </p:txBody>
      </p:sp>
      <p:sp>
        <p:nvSpPr>
          <p:cNvPr id="1626" name="Google Shape;1626;p26"/>
          <p:cNvSpPr/>
          <p:nvPr/>
        </p:nvSpPr>
        <p:spPr>
          <a:xfrm>
            <a:off x="7683381" y="4546105"/>
            <a:ext cx="1299902" cy="21755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27" name="Google Shape;1627;p26"/>
          <p:cNvSpPr/>
          <p:nvPr/>
        </p:nvSpPr>
        <p:spPr>
          <a:xfrm>
            <a:off x="155600" y="3644333"/>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grpSp>
        <p:nvGrpSpPr>
          <p:cNvPr id="1628" name="Google Shape;1628;p26"/>
          <p:cNvGrpSpPr/>
          <p:nvPr/>
        </p:nvGrpSpPr>
        <p:grpSpPr>
          <a:xfrm>
            <a:off x="198406" y="4696156"/>
            <a:ext cx="8734889" cy="299690"/>
            <a:chOff x="198406" y="4645356"/>
            <a:chExt cx="8734889" cy="299690"/>
          </a:xfrm>
        </p:grpSpPr>
        <p:grpSp>
          <p:nvGrpSpPr>
            <p:cNvPr id="1629" name="Google Shape;1629;p26"/>
            <p:cNvGrpSpPr/>
            <p:nvPr/>
          </p:nvGrpSpPr>
          <p:grpSpPr>
            <a:xfrm>
              <a:off x="1503657" y="4660313"/>
              <a:ext cx="807625" cy="284725"/>
              <a:chOff x="1522664" y="3002518"/>
              <a:chExt cx="807625" cy="230759"/>
            </a:xfrm>
          </p:grpSpPr>
          <p:grpSp>
            <p:nvGrpSpPr>
              <p:cNvPr id="1630" name="Google Shape;1630;p26"/>
              <p:cNvGrpSpPr/>
              <p:nvPr/>
            </p:nvGrpSpPr>
            <p:grpSpPr>
              <a:xfrm>
                <a:off x="1522664" y="3002518"/>
                <a:ext cx="807625" cy="230759"/>
                <a:chOff x="13814585" y="1926698"/>
                <a:chExt cx="2486530" cy="804600"/>
              </a:xfrm>
            </p:grpSpPr>
            <p:sp>
              <p:nvSpPr>
                <p:cNvPr id="1631" name="Google Shape;1631;p26"/>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1632" name="Google Shape;1632;p26"/>
                <p:cNvGrpSpPr/>
                <p:nvPr/>
              </p:nvGrpSpPr>
              <p:grpSpPr>
                <a:xfrm>
                  <a:off x="14018731" y="2168949"/>
                  <a:ext cx="396177" cy="320504"/>
                  <a:chOff x="-3757613" y="5049838"/>
                  <a:chExt cx="5826126" cy="4713288"/>
                </a:xfrm>
              </p:grpSpPr>
              <p:sp>
                <p:nvSpPr>
                  <p:cNvPr id="1633" name="Google Shape;1633;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34" name="Google Shape;1634;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35" name="Google Shape;1635;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36" name="Google Shape;1636;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37" name="Google Shape;1637;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638" name="Google Shape;1638;p26"/>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639" name="Google Shape;1639;p26"/>
              <p:cNvPicPr preferRelativeResize="0"/>
              <p:nvPr/>
            </p:nvPicPr>
            <p:blipFill rotWithShape="1">
              <a:blip r:embed="rId3">
                <a:alphaModFix/>
              </a:blip>
              <a:srcRect b="0" l="0" r="0" t="0"/>
              <a:stretch/>
            </p:blipFill>
            <p:spPr>
              <a:xfrm>
                <a:off x="1545256" y="3020281"/>
                <a:ext cx="192553" cy="170844"/>
              </a:xfrm>
              <a:prstGeom prst="rect">
                <a:avLst/>
              </a:prstGeom>
              <a:noFill/>
              <a:ln cap="flat" cmpd="sng" w="9525">
                <a:solidFill>
                  <a:srgbClr val="BFBFBF"/>
                </a:solidFill>
                <a:prstDash val="solid"/>
                <a:round/>
                <a:headEnd len="sm" w="sm" type="none"/>
                <a:tailEnd len="sm" w="sm" type="none"/>
              </a:ln>
            </p:spPr>
          </p:pic>
        </p:grpSp>
        <p:grpSp>
          <p:nvGrpSpPr>
            <p:cNvPr id="1640" name="Google Shape;1640;p26"/>
            <p:cNvGrpSpPr/>
            <p:nvPr/>
          </p:nvGrpSpPr>
          <p:grpSpPr>
            <a:xfrm>
              <a:off x="6779440" y="4652423"/>
              <a:ext cx="848649" cy="284741"/>
              <a:chOff x="3536077" y="1822016"/>
              <a:chExt cx="1131531" cy="320472"/>
            </a:xfrm>
          </p:grpSpPr>
          <p:grpSp>
            <p:nvGrpSpPr>
              <p:cNvPr id="1641" name="Google Shape;1641;p26"/>
              <p:cNvGrpSpPr/>
              <p:nvPr/>
            </p:nvGrpSpPr>
            <p:grpSpPr>
              <a:xfrm>
                <a:off x="3536077" y="1822016"/>
                <a:ext cx="1131531" cy="320472"/>
                <a:chOff x="13814589" y="1926698"/>
                <a:chExt cx="2612633" cy="804600"/>
              </a:xfrm>
            </p:grpSpPr>
            <p:sp>
              <p:nvSpPr>
                <p:cNvPr id="1642" name="Google Shape;1642;p26"/>
                <p:cNvSpPr/>
                <p:nvPr/>
              </p:nvSpPr>
              <p:spPr>
                <a:xfrm>
                  <a:off x="13857778" y="1977406"/>
                  <a:ext cx="2569444"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1643" name="Google Shape;1643;p26"/>
                <p:cNvGrpSpPr/>
                <p:nvPr/>
              </p:nvGrpSpPr>
              <p:grpSpPr>
                <a:xfrm>
                  <a:off x="14018731" y="2168949"/>
                  <a:ext cx="396177" cy="320504"/>
                  <a:chOff x="-3757613" y="5049838"/>
                  <a:chExt cx="5826126" cy="4713288"/>
                </a:xfrm>
              </p:grpSpPr>
              <p:sp>
                <p:nvSpPr>
                  <p:cNvPr id="1644" name="Google Shape;1644;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45" name="Google Shape;1645;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46" name="Google Shape;1646;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47" name="Google Shape;1647;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48" name="Google Shape;1648;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49" name="Google Shape;1649;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650" name="Google Shape;1650;p26"/>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651" name="Google Shape;1651;p26"/>
              <p:cNvPicPr preferRelativeResize="0"/>
              <p:nvPr/>
            </p:nvPicPr>
            <p:blipFill rotWithShape="1">
              <a:blip r:embed="rId4">
                <a:alphaModFix/>
              </a:blip>
              <a:srcRect b="0" l="0" r="0" t="0"/>
              <a:stretch/>
            </p:blipFill>
            <p:spPr>
              <a:xfrm>
                <a:off x="3592187" y="1880579"/>
                <a:ext cx="237223" cy="210318"/>
              </a:xfrm>
              <a:prstGeom prst="rect">
                <a:avLst/>
              </a:prstGeom>
              <a:noFill/>
              <a:ln cap="flat" cmpd="sng" w="9525">
                <a:solidFill>
                  <a:srgbClr val="BFBFBF"/>
                </a:solidFill>
                <a:prstDash val="solid"/>
                <a:round/>
                <a:headEnd len="sm" w="sm" type="none"/>
                <a:tailEnd len="sm" w="sm" type="none"/>
              </a:ln>
            </p:spPr>
          </p:pic>
        </p:grpSp>
        <p:grpSp>
          <p:nvGrpSpPr>
            <p:cNvPr id="1652" name="Google Shape;1652;p26"/>
            <p:cNvGrpSpPr/>
            <p:nvPr/>
          </p:nvGrpSpPr>
          <p:grpSpPr>
            <a:xfrm>
              <a:off x="2808800" y="4652423"/>
              <a:ext cx="827267" cy="284741"/>
              <a:chOff x="1567187" y="1984411"/>
              <a:chExt cx="1103024" cy="320472"/>
            </a:xfrm>
          </p:grpSpPr>
          <p:grpSp>
            <p:nvGrpSpPr>
              <p:cNvPr id="1653" name="Google Shape;1653;p26"/>
              <p:cNvGrpSpPr/>
              <p:nvPr/>
            </p:nvGrpSpPr>
            <p:grpSpPr>
              <a:xfrm>
                <a:off x="1567187" y="1984411"/>
                <a:ext cx="1103024" cy="320472"/>
                <a:chOff x="13814589" y="1926698"/>
                <a:chExt cx="2546808" cy="804600"/>
              </a:xfrm>
            </p:grpSpPr>
            <p:sp>
              <p:nvSpPr>
                <p:cNvPr id="1654" name="Google Shape;1654;p26"/>
                <p:cNvSpPr/>
                <p:nvPr/>
              </p:nvSpPr>
              <p:spPr>
                <a:xfrm>
                  <a:off x="13891172" y="1977408"/>
                  <a:ext cx="247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1655" name="Google Shape;1655;p26"/>
                <p:cNvGrpSpPr/>
                <p:nvPr/>
              </p:nvGrpSpPr>
              <p:grpSpPr>
                <a:xfrm>
                  <a:off x="14018731" y="2168949"/>
                  <a:ext cx="396177" cy="320504"/>
                  <a:chOff x="-3757613" y="5049838"/>
                  <a:chExt cx="5826126" cy="4713288"/>
                </a:xfrm>
              </p:grpSpPr>
              <p:sp>
                <p:nvSpPr>
                  <p:cNvPr id="1656" name="Google Shape;1656;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657" name="Google Shape;1657;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658" name="Google Shape;1658;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659" name="Google Shape;1659;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660" name="Google Shape;1660;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661" name="Google Shape;1661;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1662" name="Google Shape;1662;p26"/>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1663" name="Google Shape;1663;p26"/>
              <p:cNvPicPr preferRelativeResize="0"/>
              <p:nvPr/>
            </p:nvPicPr>
            <p:blipFill rotWithShape="1">
              <a:blip r:embed="rId5">
                <a:alphaModFix/>
              </a:blip>
              <a:srcRect b="0" l="0" r="0" t="0"/>
              <a:stretch/>
            </p:blipFill>
            <p:spPr>
              <a:xfrm>
                <a:off x="1612093" y="2025505"/>
                <a:ext cx="272555" cy="252119"/>
              </a:xfrm>
              <a:prstGeom prst="rect">
                <a:avLst/>
              </a:prstGeom>
              <a:noFill/>
              <a:ln cap="flat" cmpd="sng" w="9525">
                <a:solidFill>
                  <a:srgbClr val="BFBFBF"/>
                </a:solidFill>
                <a:prstDash val="solid"/>
                <a:round/>
                <a:headEnd len="sm" w="sm" type="none"/>
                <a:tailEnd len="sm" w="sm" type="none"/>
              </a:ln>
            </p:spPr>
          </p:pic>
        </p:grpSp>
        <p:grpSp>
          <p:nvGrpSpPr>
            <p:cNvPr id="1664" name="Google Shape;1664;p26"/>
            <p:cNvGrpSpPr/>
            <p:nvPr/>
          </p:nvGrpSpPr>
          <p:grpSpPr>
            <a:xfrm>
              <a:off x="4133585" y="4660305"/>
              <a:ext cx="825685" cy="284741"/>
              <a:chOff x="5704388" y="3794681"/>
              <a:chExt cx="1100915" cy="320472"/>
            </a:xfrm>
          </p:grpSpPr>
          <p:grpSp>
            <p:nvGrpSpPr>
              <p:cNvPr id="1665" name="Google Shape;1665;p26"/>
              <p:cNvGrpSpPr/>
              <p:nvPr/>
            </p:nvGrpSpPr>
            <p:grpSpPr>
              <a:xfrm>
                <a:off x="5704388" y="3794681"/>
                <a:ext cx="1100915" cy="320472"/>
                <a:chOff x="13814589" y="1926698"/>
                <a:chExt cx="2541938" cy="804600"/>
              </a:xfrm>
            </p:grpSpPr>
            <p:sp>
              <p:nvSpPr>
                <p:cNvPr id="1666" name="Google Shape;1666;p26"/>
                <p:cNvSpPr/>
                <p:nvPr/>
              </p:nvSpPr>
              <p:spPr>
                <a:xfrm>
                  <a:off x="13915650" y="1977408"/>
                  <a:ext cx="2440877"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1667" name="Google Shape;1667;p26"/>
                <p:cNvGrpSpPr/>
                <p:nvPr/>
              </p:nvGrpSpPr>
              <p:grpSpPr>
                <a:xfrm>
                  <a:off x="14018731" y="2168949"/>
                  <a:ext cx="396177" cy="320504"/>
                  <a:chOff x="-3757613" y="5049838"/>
                  <a:chExt cx="5826126" cy="4713288"/>
                </a:xfrm>
              </p:grpSpPr>
              <p:sp>
                <p:nvSpPr>
                  <p:cNvPr id="1668" name="Google Shape;1668;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69" name="Google Shape;1669;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70" name="Google Shape;1670;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71" name="Google Shape;1671;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72" name="Google Shape;1672;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73" name="Google Shape;1673;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674" name="Google Shape;1674;p26"/>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675" name="Google Shape;1675;p26"/>
              <p:cNvPicPr preferRelativeResize="0"/>
              <p:nvPr/>
            </p:nvPicPr>
            <p:blipFill rotWithShape="1">
              <a:blip r:embed="rId6">
                <a:alphaModFix/>
              </a:blip>
              <a:srcRect b="0" l="0" r="0" t="0"/>
              <a:stretch/>
            </p:blipFill>
            <p:spPr>
              <a:xfrm>
                <a:off x="5773564" y="3845375"/>
                <a:ext cx="223168" cy="205291"/>
              </a:xfrm>
              <a:prstGeom prst="rect">
                <a:avLst/>
              </a:prstGeom>
              <a:noFill/>
              <a:ln cap="flat" cmpd="sng" w="9525">
                <a:solidFill>
                  <a:srgbClr val="BFBFBF"/>
                </a:solidFill>
                <a:prstDash val="solid"/>
                <a:round/>
                <a:headEnd len="sm" w="sm" type="none"/>
                <a:tailEnd len="sm" w="sm" type="none"/>
              </a:ln>
            </p:spPr>
          </p:pic>
        </p:grpSp>
        <p:grpSp>
          <p:nvGrpSpPr>
            <p:cNvPr id="1676" name="Google Shape;1676;p26"/>
            <p:cNvGrpSpPr/>
            <p:nvPr/>
          </p:nvGrpSpPr>
          <p:grpSpPr>
            <a:xfrm>
              <a:off x="5456788" y="4645356"/>
              <a:ext cx="825134" cy="284741"/>
              <a:chOff x="2785851" y="1986995"/>
              <a:chExt cx="1100179" cy="320472"/>
            </a:xfrm>
          </p:grpSpPr>
          <p:grpSp>
            <p:nvGrpSpPr>
              <p:cNvPr id="1677" name="Google Shape;1677;p26"/>
              <p:cNvGrpSpPr/>
              <p:nvPr/>
            </p:nvGrpSpPr>
            <p:grpSpPr>
              <a:xfrm>
                <a:off x="2785851" y="1986995"/>
                <a:ext cx="1100179" cy="320472"/>
                <a:chOff x="13814589" y="1926698"/>
                <a:chExt cx="2540244" cy="804600"/>
              </a:xfrm>
            </p:grpSpPr>
            <p:sp>
              <p:nvSpPr>
                <p:cNvPr id="1678" name="Google Shape;1678;p26"/>
                <p:cNvSpPr/>
                <p:nvPr/>
              </p:nvSpPr>
              <p:spPr>
                <a:xfrm>
                  <a:off x="13964608" y="1977408"/>
                  <a:ext cx="239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1679" name="Google Shape;1679;p26"/>
                <p:cNvGrpSpPr/>
                <p:nvPr/>
              </p:nvGrpSpPr>
              <p:grpSpPr>
                <a:xfrm>
                  <a:off x="14018731" y="2168949"/>
                  <a:ext cx="396177" cy="320504"/>
                  <a:chOff x="-3757613" y="5049838"/>
                  <a:chExt cx="5826126" cy="4713288"/>
                </a:xfrm>
              </p:grpSpPr>
              <p:sp>
                <p:nvSpPr>
                  <p:cNvPr id="1680" name="Google Shape;1680;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81" name="Google Shape;1681;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82" name="Google Shape;1682;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83" name="Google Shape;1683;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84" name="Google Shape;1684;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85" name="Google Shape;1685;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686" name="Google Shape;1686;p26"/>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687" name="Google Shape;1687;p26"/>
              <p:cNvPicPr preferRelativeResize="0"/>
              <p:nvPr/>
            </p:nvPicPr>
            <p:blipFill rotWithShape="1">
              <a:blip r:embed="rId7">
                <a:alphaModFix/>
              </a:blip>
              <a:srcRect b="0" l="0" r="0" t="0"/>
              <a:stretch/>
            </p:blipFill>
            <p:spPr>
              <a:xfrm>
                <a:off x="2837951" y="2036863"/>
                <a:ext cx="231350" cy="212818"/>
              </a:xfrm>
              <a:prstGeom prst="rect">
                <a:avLst/>
              </a:prstGeom>
              <a:noFill/>
              <a:ln cap="flat" cmpd="sng" w="9525">
                <a:solidFill>
                  <a:srgbClr val="BFBFBF"/>
                </a:solidFill>
                <a:prstDash val="solid"/>
                <a:round/>
                <a:headEnd len="sm" w="sm" type="none"/>
                <a:tailEnd len="sm" w="sm" type="none"/>
              </a:ln>
            </p:spPr>
          </p:pic>
        </p:grpSp>
        <p:grpSp>
          <p:nvGrpSpPr>
            <p:cNvPr id="1688" name="Google Shape;1688;p26"/>
            <p:cNvGrpSpPr/>
            <p:nvPr/>
          </p:nvGrpSpPr>
          <p:grpSpPr>
            <a:xfrm>
              <a:off x="8125609" y="4660305"/>
              <a:ext cx="807686" cy="284741"/>
              <a:chOff x="3756828" y="2436551"/>
              <a:chExt cx="1076914" cy="320472"/>
            </a:xfrm>
          </p:grpSpPr>
          <p:grpSp>
            <p:nvGrpSpPr>
              <p:cNvPr id="1689" name="Google Shape;1689;p26"/>
              <p:cNvGrpSpPr/>
              <p:nvPr/>
            </p:nvGrpSpPr>
            <p:grpSpPr>
              <a:xfrm>
                <a:off x="3756828" y="2436551"/>
                <a:ext cx="1076914" cy="320472"/>
                <a:chOff x="13814589" y="1926698"/>
                <a:chExt cx="2486526" cy="804600"/>
              </a:xfrm>
            </p:grpSpPr>
            <p:sp>
              <p:nvSpPr>
                <p:cNvPr id="1690" name="Google Shape;1690;p26"/>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1691" name="Google Shape;1691;p26"/>
                <p:cNvGrpSpPr/>
                <p:nvPr/>
              </p:nvGrpSpPr>
              <p:grpSpPr>
                <a:xfrm>
                  <a:off x="14018731" y="2168949"/>
                  <a:ext cx="396177" cy="320504"/>
                  <a:chOff x="-3757613" y="5049838"/>
                  <a:chExt cx="5826126" cy="4713288"/>
                </a:xfrm>
              </p:grpSpPr>
              <p:sp>
                <p:nvSpPr>
                  <p:cNvPr id="1692" name="Google Shape;1692;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93" name="Google Shape;1693;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94" name="Google Shape;1694;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95" name="Google Shape;1695;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96" name="Google Shape;1696;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697" name="Google Shape;1697;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698" name="Google Shape;1698;p26"/>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1699" name="Google Shape;1699;p26"/>
              <p:cNvPicPr preferRelativeResize="0"/>
              <p:nvPr/>
            </p:nvPicPr>
            <p:blipFill rotWithShape="1">
              <a:blip r:embed="rId8">
                <a:alphaModFix/>
              </a:blip>
              <a:srcRect b="0" l="0" r="0" t="0"/>
              <a:stretch/>
            </p:blipFill>
            <p:spPr>
              <a:xfrm>
                <a:off x="3826190" y="2481834"/>
                <a:ext cx="230642" cy="212165"/>
              </a:xfrm>
              <a:prstGeom prst="rect">
                <a:avLst/>
              </a:prstGeom>
              <a:noFill/>
              <a:ln cap="flat" cmpd="sng" w="9525">
                <a:solidFill>
                  <a:srgbClr val="BFBFBF"/>
                </a:solidFill>
                <a:prstDash val="solid"/>
                <a:round/>
                <a:headEnd len="sm" w="sm" type="none"/>
                <a:tailEnd len="sm" w="sm" type="none"/>
              </a:ln>
            </p:spPr>
          </p:pic>
        </p:grpSp>
        <p:grpSp>
          <p:nvGrpSpPr>
            <p:cNvPr id="1700" name="Google Shape;1700;p26"/>
            <p:cNvGrpSpPr/>
            <p:nvPr/>
          </p:nvGrpSpPr>
          <p:grpSpPr>
            <a:xfrm>
              <a:off x="198406" y="4660317"/>
              <a:ext cx="807733" cy="284716"/>
              <a:chOff x="1259501" y="3077120"/>
              <a:chExt cx="1076977" cy="320400"/>
            </a:xfrm>
          </p:grpSpPr>
          <p:sp>
            <p:nvSpPr>
              <p:cNvPr id="1701" name="Google Shape;1701;p26"/>
              <p:cNvSpPr/>
              <p:nvPr/>
            </p:nvSpPr>
            <p:spPr>
              <a:xfrm>
                <a:off x="1366878" y="3097318"/>
                <a:ext cx="969600" cy="280200"/>
              </a:xfrm>
              <a:prstGeom prst="roundRect">
                <a:avLst>
                  <a:gd fmla="val 50000" name="adj"/>
                </a:avLst>
              </a:prstGeom>
              <a:solidFill>
                <a:srgbClr val="265AA7"/>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1702" name="Google Shape;1702;p26"/>
              <p:cNvGrpSpPr/>
              <p:nvPr/>
            </p:nvGrpSpPr>
            <p:grpSpPr>
              <a:xfrm>
                <a:off x="1347730" y="3173687"/>
                <a:ext cx="171871" cy="127730"/>
                <a:chOff x="-3757613" y="5049838"/>
                <a:chExt cx="5826126" cy="4713288"/>
              </a:xfrm>
            </p:grpSpPr>
            <p:sp>
              <p:nvSpPr>
                <p:cNvPr id="1703" name="Google Shape;1703;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704" name="Google Shape;1704;p26"/>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705" name="Google Shape;1705;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706" name="Google Shape;1706;p26"/>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707" name="Google Shape;1707;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708" name="Google Shape;1708;p26"/>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709" name="Google Shape;1709;p26"/>
              <p:cNvSpPr/>
              <p:nvPr/>
            </p:nvSpPr>
            <p:spPr>
              <a:xfrm>
                <a:off x="1259501" y="3077120"/>
                <a:ext cx="348600" cy="320400"/>
              </a:xfrm>
              <a:prstGeom prst="ellipse">
                <a:avLst/>
              </a:prstGeom>
              <a:solidFill>
                <a:srgbClr val="FFFFFF"/>
              </a:solidFill>
              <a:ln cap="flat" cmpd="sng" w="76200">
                <a:solidFill>
                  <a:srgbClr val="265AA7"/>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1710" name="Google Shape;1710;p26"/>
              <p:cNvPicPr preferRelativeResize="0"/>
              <p:nvPr/>
            </p:nvPicPr>
            <p:blipFill rotWithShape="1">
              <a:blip r:embed="rId9">
                <a:alphaModFix/>
              </a:blip>
              <a:srcRect b="0" l="0" r="0" t="0"/>
              <a:stretch/>
            </p:blipFill>
            <p:spPr>
              <a:xfrm>
                <a:off x="1297196" y="3109639"/>
                <a:ext cx="259736" cy="240263"/>
              </a:xfrm>
              <a:prstGeom prst="rect">
                <a:avLst/>
              </a:prstGeom>
              <a:noFill/>
              <a:ln>
                <a:noFill/>
              </a:ln>
            </p:spPr>
          </p:pic>
        </p:grpSp>
      </p:grpSp>
      <p:sp>
        <p:nvSpPr>
          <p:cNvPr id="1711" name="Google Shape;1711;p26"/>
          <p:cNvSpPr/>
          <p:nvPr/>
        </p:nvSpPr>
        <p:spPr>
          <a:xfrm>
            <a:off x="155600" y="686927"/>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1712" name="Google Shape;1712;p26"/>
          <p:cNvSpPr/>
          <p:nvPr/>
        </p:nvSpPr>
        <p:spPr>
          <a:xfrm>
            <a:off x="155601" y="883984"/>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1713" name="Google Shape;1713;p26"/>
          <p:cNvSpPr/>
          <p:nvPr/>
        </p:nvSpPr>
        <p:spPr>
          <a:xfrm>
            <a:off x="1205537"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1714" name="Google Shape;1714;p26"/>
          <p:cNvSpPr/>
          <p:nvPr/>
        </p:nvSpPr>
        <p:spPr>
          <a:xfrm>
            <a:off x="2309365"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1715" name="Google Shape;1715;p26"/>
          <p:cNvSpPr/>
          <p:nvPr/>
        </p:nvSpPr>
        <p:spPr>
          <a:xfrm>
            <a:off x="3413193"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1716" name="Google Shape;1716;p26"/>
          <p:cNvSpPr/>
          <p:nvPr/>
        </p:nvSpPr>
        <p:spPr>
          <a:xfrm>
            <a:off x="4517021"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1717" name="Google Shape;1717;p26"/>
          <p:cNvSpPr/>
          <p:nvPr/>
        </p:nvSpPr>
        <p:spPr>
          <a:xfrm>
            <a:off x="5620850"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1718" name="Google Shape;1718;p26"/>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1719" name="Google Shape;1719;p26"/>
          <p:cNvSpPr/>
          <p:nvPr/>
        </p:nvSpPr>
        <p:spPr>
          <a:xfrm>
            <a:off x="7828504"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Tarjeta de crédito</a:t>
            </a:r>
            <a:endParaRPr b="0" i="0" sz="500" u="none" cap="none" strike="noStrike">
              <a:solidFill>
                <a:schemeClr val="lt1"/>
              </a:solidFill>
              <a:latin typeface="Montserrat"/>
              <a:ea typeface="Montserrat"/>
              <a:cs typeface="Montserrat"/>
              <a:sym typeface="Montserrat"/>
            </a:endParaRPr>
          </a:p>
        </p:txBody>
      </p:sp>
      <p:sp>
        <p:nvSpPr>
          <p:cNvPr id="1720" name="Google Shape;1720;p26"/>
          <p:cNvSpPr/>
          <p:nvPr/>
        </p:nvSpPr>
        <p:spPr>
          <a:xfrm>
            <a:off x="157900" y="478699"/>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1721" name="Google Shape;1721;p26"/>
          <p:cNvSpPr/>
          <p:nvPr/>
        </p:nvSpPr>
        <p:spPr>
          <a:xfrm>
            <a:off x="1203986" y="499914"/>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1722" name="Google Shape;1722;p26"/>
          <p:cNvSpPr/>
          <p:nvPr/>
        </p:nvSpPr>
        <p:spPr>
          <a:xfrm>
            <a:off x="2748364"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1723" name="Google Shape;1723;p26"/>
          <p:cNvSpPr/>
          <p:nvPr/>
        </p:nvSpPr>
        <p:spPr>
          <a:xfrm>
            <a:off x="4292741"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1724" name="Google Shape;1724;p26"/>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1725" name="Google Shape;1725;p26"/>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1726" name="Google Shape;1726;p26"/>
          <p:cNvSpPr/>
          <p:nvPr/>
        </p:nvSpPr>
        <p:spPr>
          <a:xfrm>
            <a:off x="120398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1727" name="Google Shape;1727;p26"/>
          <p:cNvSpPr/>
          <p:nvPr/>
        </p:nvSpPr>
        <p:spPr>
          <a:xfrm>
            <a:off x="2062173"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Web/Online</a:t>
            </a:r>
            <a:endParaRPr b="0" i="0" sz="900" u="none" cap="none" strike="noStrike">
              <a:solidFill>
                <a:srgbClr val="000000"/>
              </a:solidFill>
              <a:latin typeface="Arial"/>
              <a:ea typeface="Arial"/>
              <a:cs typeface="Arial"/>
              <a:sym typeface="Arial"/>
            </a:endParaRPr>
          </a:p>
        </p:txBody>
      </p:sp>
      <p:sp>
        <p:nvSpPr>
          <p:cNvPr id="1728" name="Google Shape;1728;p26"/>
          <p:cNvSpPr/>
          <p:nvPr/>
        </p:nvSpPr>
        <p:spPr>
          <a:xfrm>
            <a:off x="3778546"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Sucursal</a:t>
            </a:r>
            <a:endParaRPr b="0" i="0" sz="500" u="none" cap="none" strike="noStrike">
              <a:solidFill>
                <a:schemeClr val="lt1"/>
              </a:solidFill>
              <a:latin typeface="Montserrat"/>
              <a:ea typeface="Montserrat"/>
              <a:cs typeface="Montserrat"/>
              <a:sym typeface="Montserrat"/>
            </a:endParaRPr>
          </a:p>
        </p:txBody>
      </p:sp>
      <p:sp>
        <p:nvSpPr>
          <p:cNvPr id="1729" name="Google Shape;1729;p26"/>
          <p:cNvSpPr/>
          <p:nvPr/>
        </p:nvSpPr>
        <p:spPr>
          <a:xfrm>
            <a:off x="4636733"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900" u="none" cap="none" strike="noStrike">
              <a:solidFill>
                <a:srgbClr val="000000"/>
              </a:solidFill>
              <a:latin typeface="Arial"/>
              <a:ea typeface="Arial"/>
              <a:cs typeface="Arial"/>
              <a:sym typeface="Arial"/>
            </a:endParaRPr>
          </a:p>
        </p:txBody>
      </p:sp>
      <p:sp>
        <p:nvSpPr>
          <p:cNvPr id="1730" name="Google Shape;1730;p26"/>
          <p:cNvSpPr/>
          <p:nvPr/>
        </p:nvSpPr>
        <p:spPr>
          <a:xfrm>
            <a:off x="5494920"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900" u="none" cap="none" strike="noStrike">
              <a:solidFill>
                <a:schemeClr val="lt1"/>
              </a:solidFill>
              <a:latin typeface="Arial"/>
              <a:ea typeface="Arial"/>
              <a:cs typeface="Arial"/>
              <a:sym typeface="Arial"/>
            </a:endParaRPr>
          </a:p>
        </p:txBody>
      </p:sp>
      <p:sp>
        <p:nvSpPr>
          <p:cNvPr id="1731" name="Google Shape;1731;p26"/>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1732" name="Google Shape;1732;p26"/>
          <p:cNvSpPr/>
          <p:nvPr/>
        </p:nvSpPr>
        <p:spPr>
          <a:xfrm>
            <a:off x="721129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75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Autoservicio</a:t>
            </a:r>
            <a:endParaRPr b="0" i="0" sz="400" u="none" cap="none" strike="noStrike">
              <a:solidFill>
                <a:schemeClr val="lt1"/>
              </a:solidFill>
              <a:latin typeface="Montserrat"/>
              <a:ea typeface="Montserrat"/>
              <a:cs typeface="Montserrat"/>
              <a:sym typeface="Montserrat"/>
            </a:endParaRPr>
          </a:p>
        </p:txBody>
      </p:sp>
      <p:sp>
        <p:nvSpPr>
          <p:cNvPr id="1733" name="Google Shape;1733;p26"/>
          <p:cNvSpPr/>
          <p:nvPr/>
        </p:nvSpPr>
        <p:spPr>
          <a:xfrm>
            <a:off x="8069478"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85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Terceros</a:t>
            </a:r>
            <a:endParaRPr b="0" i="0" sz="500" u="none" cap="none" strike="noStrike">
              <a:solidFill>
                <a:schemeClr val="lt1"/>
              </a:solidFill>
              <a:latin typeface="Montserrat"/>
              <a:ea typeface="Montserrat"/>
              <a:cs typeface="Montserrat"/>
              <a:sym typeface="Montserrat"/>
            </a:endParaRPr>
          </a:p>
        </p:txBody>
      </p:sp>
      <p:sp>
        <p:nvSpPr>
          <p:cNvPr id="1734" name="Google Shape;1734;p26"/>
          <p:cNvSpPr/>
          <p:nvPr/>
        </p:nvSpPr>
        <p:spPr>
          <a:xfrm>
            <a:off x="2926715" y="712158"/>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sp>
        <p:nvSpPr>
          <p:cNvPr id="1739" name="Google Shape;1739;p27"/>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1740" name="Google Shape;1740;p27"/>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27"/>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27"/>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1743" name="Google Shape;1743;p27"/>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1744" name="Google Shape;1744;p27"/>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1745" name="Google Shape;1745;p27"/>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1746" name="Google Shape;1746;p27"/>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1747" name="Google Shape;1747;p27"/>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748" name="Google Shape;1748;p27"/>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1749" name="Google Shape;1749;p27"/>
          <p:cNvSpPr/>
          <p:nvPr/>
        </p:nvSpPr>
        <p:spPr>
          <a:xfrm>
            <a:off x="3799284" y="3288556"/>
            <a:ext cx="5078100" cy="288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50" name="Google Shape;1750;p27"/>
          <p:cNvSpPr/>
          <p:nvPr/>
        </p:nvSpPr>
        <p:spPr>
          <a:xfrm>
            <a:off x="3798694" y="1148353"/>
            <a:ext cx="883800" cy="880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51" name="Google Shape;1751;p27"/>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1752" name="Google Shape;1752;p27"/>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53" name="Google Shape;1753;p27"/>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54" name="Google Shape;1754;p27"/>
          <p:cNvSpPr/>
          <p:nvPr/>
        </p:nvSpPr>
        <p:spPr>
          <a:xfrm>
            <a:off x="1204099" y="1806291"/>
            <a:ext cx="2494500" cy="934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755" name="Google Shape;1755;p27"/>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1756" name="Google Shape;1756;p27"/>
          <p:cNvSpPr/>
          <p:nvPr/>
        </p:nvSpPr>
        <p:spPr>
          <a:xfrm>
            <a:off x="1206566" y="1148353"/>
            <a:ext cx="2489700" cy="6219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757" name="Google Shape;1757;p27"/>
          <p:cNvSpPr/>
          <p:nvPr/>
        </p:nvSpPr>
        <p:spPr>
          <a:xfrm>
            <a:off x="6483514" y="1148351"/>
            <a:ext cx="2394930" cy="6237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58" name="Google Shape;1758;p27"/>
          <p:cNvSpPr/>
          <p:nvPr/>
        </p:nvSpPr>
        <p:spPr>
          <a:xfrm>
            <a:off x="6482507" y="2776695"/>
            <a:ext cx="2394930" cy="4743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1759" name="Google Shape;1759;p27"/>
          <p:cNvSpPr/>
          <p:nvPr/>
        </p:nvSpPr>
        <p:spPr>
          <a:xfrm>
            <a:off x="6483514" y="1803271"/>
            <a:ext cx="2390400" cy="936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1760" name="Google Shape;1760;p27"/>
          <p:cNvSpPr/>
          <p:nvPr/>
        </p:nvSpPr>
        <p:spPr>
          <a:xfrm>
            <a:off x="4782477" y="1148353"/>
            <a:ext cx="1606200" cy="5799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1761" name="Google Shape;1761;p27"/>
          <p:cNvSpPr/>
          <p:nvPr/>
        </p:nvSpPr>
        <p:spPr>
          <a:xfrm>
            <a:off x="4783580" y="2519181"/>
            <a:ext cx="1604100" cy="439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1762" name="Google Shape;1762;p27"/>
          <p:cNvSpPr/>
          <p:nvPr/>
        </p:nvSpPr>
        <p:spPr>
          <a:xfrm>
            <a:off x="4784086" y="1750565"/>
            <a:ext cx="1603200" cy="7485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63" name="Google Shape;1763;p27"/>
          <p:cNvSpPr/>
          <p:nvPr/>
        </p:nvSpPr>
        <p:spPr>
          <a:xfrm>
            <a:off x="4781464" y="2980599"/>
            <a:ext cx="1603500" cy="2766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1764" name="Google Shape;1764;p27"/>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Conozca a su cliente (KYC)</a:t>
            </a:r>
            <a:endParaRPr b="0" i="0" sz="400" u="none" cap="none" strike="noStrike">
              <a:solidFill>
                <a:schemeClr val="dk2"/>
              </a:solidFill>
              <a:latin typeface="Montserrat"/>
              <a:ea typeface="Montserrat"/>
              <a:cs typeface="Montserrat"/>
              <a:sym typeface="Montserrat"/>
            </a:endParaRPr>
          </a:p>
        </p:txBody>
      </p:sp>
      <p:sp>
        <p:nvSpPr>
          <p:cNvPr id="1765" name="Google Shape;1765;p27"/>
          <p:cNvSpPr/>
          <p:nvPr/>
        </p:nvSpPr>
        <p:spPr>
          <a:xfrm>
            <a:off x="5833996" y="4050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Comportamiento de la transacción</a:t>
            </a:r>
            <a:endParaRPr b="0" i="0" sz="400" u="none" cap="none" strike="noStrike">
              <a:solidFill>
                <a:schemeClr val="lt1"/>
              </a:solidFill>
              <a:latin typeface="Montserrat"/>
              <a:ea typeface="Montserrat"/>
              <a:cs typeface="Montserrat"/>
              <a:sym typeface="Montserrat"/>
            </a:endParaRPr>
          </a:p>
        </p:txBody>
      </p:sp>
      <p:sp>
        <p:nvSpPr>
          <p:cNvPr id="1766" name="Google Shape;1766;p27"/>
          <p:cNvSpPr/>
          <p:nvPr/>
        </p:nvSpPr>
        <p:spPr>
          <a:xfrm>
            <a:off x="6937776"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Fondos disponibles</a:t>
            </a:r>
            <a:endParaRPr b="0" i="0" sz="900" u="none" cap="none" strike="noStrike">
              <a:solidFill>
                <a:schemeClr val="lt1"/>
              </a:solidFill>
              <a:latin typeface="Arial"/>
              <a:ea typeface="Arial"/>
              <a:cs typeface="Arial"/>
              <a:sym typeface="Arial"/>
            </a:endParaRPr>
          </a:p>
        </p:txBody>
      </p:sp>
      <p:sp>
        <p:nvSpPr>
          <p:cNvPr id="1767" name="Google Shape;1767;p27"/>
          <p:cNvSpPr/>
          <p:nvPr/>
        </p:nvSpPr>
        <p:spPr>
          <a:xfrm>
            <a:off x="6937778" y="4046240"/>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Evaluación de ingresos (entrantes)</a:t>
            </a:r>
            <a:endParaRPr b="0" i="0" sz="900" u="none" cap="none" strike="noStrike">
              <a:solidFill>
                <a:schemeClr val="lt1"/>
              </a:solidFill>
              <a:latin typeface="Arial"/>
              <a:ea typeface="Arial"/>
              <a:cs typeface="Arial"/>
              <a:sym typeface="Arial"/>
            </a:endParaRPr>
          </a:p>
        </p:txBody>
      </p:sp>
      <p:sp>
        <p:nvSpPr>
          <p:cNvPr id="1768" name="Google Shape;1768;p27"/>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1769" name="Google Shape;1769;p27"/>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Reclamaciones y disputas</a:t>
            </a:r>
            <a:endParaRPr b="0" i="0" sz="400" u="none" cap="none" strike="noStrike">
              <a:solidFill>
                <a:schemeClr val="dk2"/>
              </a:solidFill>
              <a:latin typeface="Montserrat"/>
              <a:ea typeface="Montserrat"/>
              <a:cs typeface="Montserrat"/>
              <a:sym typeface="Montserrat"/>
            </a:endParaRPr>
          </a:p>
        </p:txBody>
      </p:sp>
      <p:sp>
        <p:nvSpPr>
          <p:cNvPr id="1770" name="Google Shape;1770;p27"/>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Buró de crédito</a:t>
            </a:r>
            <a:endParaRPr b="0" i="0" sz="400" u="none" cap="none" strike="noStrike">
              <a:solidFill>
                <a:schemeClr val="dk2"/>
              </a:solidFill>
              <a:latin typeface="Montserrat"/>
              <a:ea typeface="Montserrat"/>
              <a:cs typeface="Montserrat"/>
              <a:sym typeface="Montserrat"/>
            </a:endParaRPr>
          </a:p>
        </p:txBody>
      </p:sp>
      <p:sp>
        <p:nvSpPr>
          <p:cNvPr id="1771" name="Google Shape;1771;p27"/>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Umbrales de riesgo (evaluar y modelar)</a:t>
            </a:r>
            <a:br>
              <a:rPr b="0" i="0" lang="es" sz="400" u="none" cap="none" strike="noStrike">
                <a:solidFill>
                  <a:schemeClr val="dk2"/>
                </a:solidFill>
                <a:latin typeface="Montserrat"/>
                <a:ea typeface="Montserrat"/>
                <a:cs typeface="Montserrat"/>
                <a:sym typeface="Montserrat"/>
              </a:rPr>
            </a:br>
            <a:endParaRPr b="0" i="0" sz="400" u="none" cap="none" strike="noStrike">
              <a:solidFill>
                <a:schemeClr val="dk2"/>
              </a:solidFill>
              <a:latin typeface="Montserrat"/>
              <a:ea typeface="Montserrat"/>
              <a:cs typeface="Montserrat"/>
              <a:sym typeface="Montserrat"/>
            </a:endParaRPr>
          </a:p>
        </p:txBody>
      </p:sp>
      <p:sp>
        <p:nvSpPr>
          <p:cNvPr id="1772" name="Google Shape;1772;p27"/>
          <p:cNvSpPr/>
          <p:nvPr/>
        </p:nvSpPr>
        <p:spPr>
          <a:xfrm>
            <a:off x="4708161"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restricciones de cuenta</a:t>
            </a:r>
            <a:br>
              <a:rPr b="0" i="0" lang="es" sz="400" u="none" cap="none" strike="noStrike">
                <a:solidFill>
                  <a:schemeClr val="dk2"/>
                </a:solidFill>
                <a:latin typeface="Montserrat"/>
                <a:ea typeface="Montserrat"/>
                <a:cs typeface="Montserrat"/>
                <a:sym typeface="Montserrat"/>
              </a:rPr>
            </a:br>
            <a:endParaRPr b="0" i="0" sz="400" u="none" cap="none" strike="noStrike">
              <a:solidFill>
                <a:schemeClr val="dk2"/>
              </a:solidFill>
              <a:latin typeface="Montserrat"/>
              <a:ea typeface="Montserrat"/>
              <a:cs typeface="Montserrat"/>
              <a:sym typeface="Montserrat"/>
            </a:endParaRPr>
          </a:p>
        </p:txBody>
      </p:sp>
      <p:sp>
        <p:nvSpPr>
          <p:cNvPr id="1773" name="Google Shape;1773;p27"/>
          <p:cNvSpPr/>
          <p:nvPr/>
        </p:nvSpPr>
        <p:spPr>
          <a:xfrm>
            <a:off x="3555696" y="434491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locales y estatales</a:t>
            </a:r>
            <a:endParaRPr b="0" i="0" sz="900" u="none" cap="none" strike="noStrike">
              <a:solidFill>
                <a:schemeClr val="lt1"/>
              </a:solidFill>
              <a:latin typeface="Arial"/>
              <a:ea typeface="Arial"/>
              <a:cs typeface="Arial"/>
              <a:sym typeface="Arial"/>
            </a:endParaRPr>
          </a:p>
        </p:txBody>
      </p:sp>
      <p:sp>
        <p:nvSpPr>
          <p:cNvPr id="1774" name="Google Shape;1774;p27"/>
          <p:cNvSpPr/>
          <p:nvPr/>
        </p:nvSpPr>
        <p:spPr>
          <a:xfrm>
            <a:off x="3555696"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Consumidor y privacidad</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(cumplimiento)</a:t>
            </a:r>
            <a:endParaRPr b="0" i="0" sz="400" u="none" cap="none" strike="noStrike">
              <a:solidFill>
                <a:schemeClr val="lt1"/>
              </a:solidFill>
              <a:latin typeface="Montserrat"/>
              <a:ea typeface="Montserrat"/>
              <a:cs typeface="Montserrat"/>
              <a:sym typeface="Montserrat"/>
            </a:endParaRPr>
          </a:p>
        </p:txBody>
      </p:sp>
      <p:sp>
        <p:nvSpPr>
          <p:cNvPr id="1775" name="Google Shape;1775;p27"/>
          <p:cNvSpPr/>
          <p:nvPr/>
        </p:nvSpPr>
        <p:spPr>
          <a:xfrm>
            <a:off x="3555696" y="4046240"/>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México.</a:t>
            </a:r>
            <a:endParaRPr b="0" i="0" sz="900" u="none" cap="none" strike="noStrike">
              <a:solidFill>
                <a:schemeClr val="lt1"/>
              </a:solidFill>
              <a:latin typeface="Arial"/>
              <a:ea typeface="Arial"/>
              <a:cs typeface="Arial"/>
              <a:sym typeface="Arial"/>
            </a:endParaRPr>
          </a:p>
        </p:txBody>
      </p:sp>
      <p:sp>
        <p:nvSpPr>
          <p:cNvPr id="1776" name="Google Shape;1776;p27"/>
          <p:cNvSpPr/>
          <p:nvPr/>
        </p:nvSpPr>
        <p:spPr>
          <a:xfrm>
            <a:off x="3555696" y="419557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BANXICO</a:t>
            </a:r>
            <a:endParaRPr b="0" i="0" sz="400" u="none" cap="none" strike="noStrike">
              <a:solidFill>
                <a:schemeClr val="lt1"/>
              </a:solidFill>
              <a:latin typeface="Montserrat"/>
              <a:ea typeface="Montserrat"/>
              <a:cs typeface="Montserrat"/>
              <a:sym typeface="Montserrat"/>
            </a:endParaRPr>
          </a:p>
        </p:txBody>
      </p:sp>
      <p:sp>
        <p:nvSpPr>
          <p:cNvPr id="1777" name="Google Shape;1777;p27"/>
          <p:cNvSpPr/>
          <p:nvPr/>
        </p:nvSpPr>
        <p:spPr>
          <a:xfrm>
            <a:off x="1333302" y="4246040"/>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 del sistema (disposiciones)</a:t>
            </a:r>
            <a:endParaRPr b="0" i="0" sz="900" u="none" cap="none" strike="noStrike">
              <a:solidFill>
                <a:schemeClr val="lt1"/>
              </a:solidFill>
              <a:latin typeface="Arial"/>
              <a:ea typeface="Arial"/>
              <a:cs typeface="Arial"/>
              <a:sym typeface="Arial"/>
            </a:endParaRPr>
          </a:p>
        </p:txBody>
      </p:sp>
      <p:sp>
        <p:nvSpPr>
          <p:cNvPr id="1778" name="Google Shape;1778;p27"/>
          <p:cNvSpPr/>
          <p:nvPr/>
        </p:nvSpPr>
        <p:spPr>
          <a:xfrm>
            <a:off x="1333302"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Autenticación (validación de ID de cliente)</a:t>
            </a:r>
            <a:endParaRPr b="0" i="0" sz="400" u="none" cap="none" strike="noStrike">
              <a:solidFill>
                <a:schemeClr val="dk2"/>
              </a:solidFill>
              <a:latin typeface="Montserrat"/>
              <a:ea typeface="Montserrat"/>
              <a:cs typeface="Montserrat"/>
              <a:sym typeface="Montserrat"/>
            </a:endParaRPr>
          </a:p>
        </p:txBody>
      </p:sp>
      <p:sp>
        <p:nvSpPr>
          <p:cNvPr id="1779" name="Google Shape;1779;p27"/>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1780" name="Google Shape;1780;p27"/>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1781" name="Google Shape;1781;p27"/>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1782" name="Google Shape;1782;p27"/>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1783" name="Google Shape;1783;p27"/>
          <p:cNvSpPr/>
          <p:nvPr/>
        </p:nvSpPr>
        <p:spPr>
          <a:xfrm>
            <a:off x="1333302" y="4067547"/>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Inicio de sesión único</a:t>
            </a:r>
            <a:endParaRPr b="0" i="0" sz="900" u="none" cap="none" strike="noStrike">
              <a:solidFill>
                <a:schemeClr val="dk2"/>
              </a:solidFill>
              <a:latin typeface="Arial"/>
              <a:ea typeface="Arial"/>
              <a:cs typeface="Arial"/>
              <a:sym typeface="Arial"/>
            </a:endParaRPr>
          </a:p>
        </p:txBody>
      </p:sp>
      <p:sp>
        <p:nvSpPr>
          <p:cNvPr id="1784" name="Google Shape;1784;p27"/>
          <p:cNvSpPr/>
          <p:nvPr/>
        </p:nvSpPr>
        <p:spPr>
          <a:xfrm>
            <a:off x="2444808"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Recopilación de parámetros</a:t>
            </a:r>
            <a:endParaRPr b="0" i="0" sz="900" u="none" cap="none" strike="noStrike">
              <a:solidFill>
                <a:schemeClr val="lt1"/>
              </a:solidFill>
              <a:latin typeface="Arial"/>
              <a:ea typeface="Arial"/>
              <a:cs typeface="Arial"/>
              <a:sym typeface="Arial"/>
            </a:endParaRPr>
          </a:p>
        </p:txBody>
      </p:sp>
      <p:sp>
        <p:nvSpPr>
          <p:cNvPr id="1785" name="Google Shape;1785;p27"/>
          <p:cNvSpPr/>
          <p:nvPr/>
        </p:nvSpPr>
        <p:spPr>
          <a:xfrm>
            <a:off x="2444808" y="404624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inspección</a:t>
            </a:r>
            <a:endParaRPr b="0" i="0" sz="400" u="none" cap="none" strike="noStrike">
              <a:solidFill>
                <a:schemeClr val="lt1"/>
              </a:solidFill>
              <a:latin typeface="Montserrat"/>
              <a:ea typeface="Montserrat"/>
              <a:cs typeface="Montserrat"/>
              <a:sym typeface="Montserrat"/>
            </a:endParaRPr>
          </a:p>
        </p:txBody>
      </p:sp>
      <p:sp>
        <p:nvSpPr>
          <p:cNvPr id="1786" name="Google Shape;1786;p27"/>
          <p:cNvSpPr/>
          <p:nvPr/>
        </p:nvSpPr>
        <p:spPr>
          <a:xfrm>
            <a:off x="2444808" y="434491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notificación</a:t>
            </a:r>
            <a:endParaRPr b="0" i="0" sz="400" u="none" cap="none" strike="noStrike">
              <a:solidFill>
                <a:schemeClr val="lt1"/>
              </a:solidFill>
              <a:latin typeface="Montserrat"/>
              <a:ea typeface="Montserrat"/>
              <a:cs typeface="Montserrat"/>
              <a:sym typeface="Montserrat"/>
            </a:endParaRPr>
          </a:p>
        </p:txBody>
      </p:sp>
      <p:sp>
        <p:nvSpPr>
          <p:cNvPr id="1787" name="Google Shape;1787;p27"/>
          <p:cNvSpPr/>
          <p:nvPr/>
        </p:nvSpPr>
        <p:spPr>
          <a:xfrm>
            <a:off x="2444808" y="419557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revisión</a:t>
            </a:r>
            <a:endParaRPr b="0" i="0" sz="400" u="none" cap="none" strike="noStrike">
              <a:solidFill>
                <a:schemeClr val="lt1"/>
              </a:solidFill>
              <a:latin typeface="Montserrat"/>
              <a:ea typeface="Montserrat"/>
              <a:cs typeface="Montserrat"/>
              <a:sym typeface="Montserrat"/>
            </a:endParaRPr>
          </a:p>
        </p:txBody>
      </p:sp>
      <p:sp>
        <p:nvSpPr>
          <p:cNvPr id="1788" name="Google Shape;1788;p27"/>
          <p:cNvSpPr/>
          <p:nvPr/>
        </p:nvSpPr>
        <p:spPr>
          <a:xfrm>
            <a:off x="5519878" y="3397234"/>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Precio, honorarios y tarifas</a:t>
            </a:r>
            <a:endParaRPr b="0" i="0" sz="400" u="none" cap="none" strike="noStrike">
              <a:solidFill>
                <a:schemeClr val="lt1"/>
              </a:solidFill>
              <a:latin typeface="Montserrat"/>
              <a:ea typeface="Montserrat"/>
              <a:cs typeface="Montserrat"/>
              <a:sym typeface="Montserrat"/>
            </a:endParaRPr>
          </a:p>
        </p:txBody>
      </p:sp>
      <p:sp>
        <p:nvSpPr>
          <p:cNvPr id="1789" name="Google Shape;1789;p27"/>
          <p:cNvSpPr/>
          <p:nvPr/>
        </p:nvSpPr>
        <p:spPr>
          <a:xfrm>
            <a:off x="4689602" y="3397234"/>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Parametrización</a:t>
            </a:r>
            <a:endParaRPr b="0" i="0" sz="900" u="none" cap="none" strike="noStrike">
              <a:solidFill>
                <a:schemeClr val="lt1"/>
              </a:solidFill>
              <a:latin typeface="Montserrat"/>
              <a:ea typeface="Montserrat"/>
              <a:cs typeface="Montserrat"/>
              <a:sym typeface="Montserrat"/>
            </a:endParaRPr>
          </a:p>
        </p:txBody>
      </p:sp>
      <p:sp>
        <p:nvSpPr>
          <p:cNvPr id="1790" name="Google Shape;1790;p27"/>
          <p:cNvSpPr/>
          <p:nvPr/>
        </p:nvSpPr>
        <p:spPr>
          <a:xfrm>
            <a:off x="7168269" y="3397881"/>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Definición de roles</a:t>
            </a:r>
            <a:endParaRPr b="0" i="0" sz="900" u="none" cap="none" strike="noStrike">
              <a:solidFill>
                <a:schemeClr val="lt1"/>
              </a:solidFill>
              <a:latin typeface="Montserrat"/>
              <a:ea typeface="Montserrat"/>
              <a:cs typeface="Montserrat"/>
              <a:sym typeface="Montserrat"/>
            </a:endParaRPr>
          </a:p>
        </p:txBody>
      </p:sp>
      <p:sp>
        <p:nvSpPr>
          <p:cNvPr id="1791" name="Google Shape;1791;p27"/>
          <p:cNvSpPr/>
          <p:nvPr/>
        </p:nvSpPr>
        <p:spPr>
          <a:xfrm>
            <a:off x="7977593" y="3397611"/>
            <a:ext cx="8370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Definición del motor de reglas</a:t>
            </a:r>
            <a:endParaRPr b="0" i="0" sz="400" u="none" cap="none" strike="noStrike">
              <a:solidFill>
                <a:schemeClr val="lt1"/>
              </a:solidFill>
              <a:latin typeface="Montserrat"/>
              <a:ea typeface="Montserrat"/>
              <a:cs typeface="Montserrat"/>
              <a:sym typeface="Montserrat"/>
            </a:endParaRPr>
          </a:p>
        </p:txBody>
      </p:sp>
      <p:sp>
        <p:nvSpPr>
          <p:cNvPr id="1792" name="Google Shape;1792;p27"/>
          <p:cNvSpPr/>
          <p:nvPr/>
        </p:nvSpPr>
        <p:spPr>
          <a:xfrm>
            <a:off x="6353107" y="3397516"/>
            <a:ext cx="7206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Capacidades de gestión de productos</a:t>
            </a:r>
            <a:endParaRPr b="0" i="0" sz="400" u="none" cap="none" strike="noStrike">
              <a:solidFill>
                <a:schemeClr val="lt1"/>
              </a:solidFill>
              <a:latin typeface="Montserrat"/>
              <a:ea typeface="Montserrat"/>
              <a:cs typeface="Montserrat"/>
              <a:sym typeface="Montserrat"/>
            </a:endParaRPr>
          </a:p>
        </p:txBody>
      </p:sp>
      <p:sp>
        <p:nvSpPr>
          <p:cNvPr id="1793" name="Google Shape;1793;p27"/>
          <p:cNvSpPr/>
          <p:nvPr/>
        </p:nvSpPr>
        <p:spPr>
          <a:xfrm>
            <a:off x="3880064" y="3397234"/>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Información de</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Modelos</a:t>
            </a:r>
            <a:endParaRPr b="0" i="0" sz="900" u="none" cap="none" strike="noStrike">
              <a:solidFill>
                <a:schemeClr val="lt1"/>
              </a:solidFill>
              <a:latin typeface="Montserrat"/>
              <a:ea typeface="Montserrat"/>
              <a:cs typeface="Montserrat"/>
              <a:sym typeface="Montserrat"/>
            </a:endParaRPr>
          </a:p>
        </p:txBody>
      </p:sp>
      <p:sp>
        <p:nvSpPr>
          <p:cNvPr id="1794" name="Google Shape;1794;p27"/>
          <p:cNvSpPr/>
          <p:nvPr/>
        </p:nvSpPr>
        <p:spPr>
          <a:xfrm>
            <a:off x="3880356" y="187757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Reconciliaciones</a:t>
            </a:r>
            <a:endParaRPr b="0" i="0" sz="400" u="none" cap="none" strike="noStrike">
              <a:solidFill>
                <a:schemeClr val="lt1"/>
              </a:solidFill>
              <a:latin typeface="Montserrat"/>
              <a:ea typeface="Montserrat"/>
              <a:cs typeface="Montserrat"/>
              <a:sym typeface="Montserrat"/>
            </a:endParaRPr>
          </a:p>
        </p:txBody>
      </p:sp>
      <p:sp>
        <p:nvSpPr>
          <p:cNvPr id="1795" name="Google Shape;1795;p27"/>
          <p:cNvSpPr/>
          <p:nvPr/>
        </p:nvSpPr>
        <p:spPr>
          <a:xfrm>
            <a:off x="3880356" y="125706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Ajustes</a:t>
            </a:r>
            <a:endParaRPr b="0" i="0" sz="400" u="none" cap="none" strike="noStrike">
              <a:solidFill>
                <a:schemeClr val="lt1"/>
              </a:solidFill>
              <a:latin typeface="Montserrat"/>
              <a:ea typeface="Montserrat"/>
              <a:cs typeface="Montserrat"/>
              <a:sym typeface="Montserrat"/>
            </a:endParaRPr>
          </a:p>
        </p:txBody>
      </p:sp>
      <p:sp>
        <p:nvSpPr>
          <p:cNvPr id="1796" name="Google Shape;1796;p27"/>
          <p:cNvSpPr/>
          <p:nvPr/>
        </p:nvSpPr>
        <p:spPr>
          <a:xfrm>
            <a:off x="3880356" y="156737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Excepciones</a:t>
            </a:r>
            <a:endParaRPr b="0" i="0" sz="400" u="none" cap="none" strike="noStrike">
              <a:solidFill>
                <a:schemeClr val="lt1"/>
              </a:solidFill>
              <a:latin typeface="Montserrat"/>
              <a:ea typeface="Montserrat"/>
              <a:cs typeface="Montserrat"/>
              <a:sym typeface="Montserrat"/>
            </a:endParaRPr>
          </a:p>
        </p:txBody>
      </p:sp>
      <p:sp>
        <p:nvSpPr>
          <p:cNvPr id="1797" name="Google Shape;1797;p27"/>
          <p:cNvSpPr/>
          <p:nvPr/>
        </p:nvSpPr>
        <p:spPr>
          <a:xfrm>
            <a:off x="3880356" y="141200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Procesamiento de saldos</a:t>
            </a:r>
            <a:endParaRPr b="0" i="0" sz="400" u="none" cap="none" strike="noStrike">
              <a:solidFill>
                <a:schemeClr val="lt1"/>
              </a:solidFill>
              <a:latin typeface="Montserrat"/>
              <a:ea typeface="Montserrat"/>
              <a:cs typeface="Montserrat"/>
              <a:sym typeface="Montserrat"/>
            </a:endParaRPr>
          </a:p>
        </p:txBody>
      </p:sp>
      <p:sp>
        <p:nvSpPr>
          <p:cNvPr id="1798" name="Google Shape;1798;p27"/>
          <p:cNvSpPr/>
          <p:nvPr/>
        </p:nvSpPr>
        <p:spPr>
          <a:xfrm>
            <a:off x="3880356" y="172318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Contabilidad</a:t>
            </a:r>
            <a:endParaRPr b="0" i="0" sz="400" u="none" cap="none" strike="noStrike">
              <a:solidFill>
                <a:schemeClr val="lt1"/>
              </a:solidFill>
              <a:latin typeface="Montserrat"/>
              <a:ea typeface="Montserrat"/>
              <a:cs typeface="Montserrat"/>
              <a:sym typeface="Montserrat"/>
            </a:endParaRPr>
          </a:p>
        </p:txBody>
      </p:sp>
      <p:sp>
        <p:nvSpPr>
          <p:cNvPr id="1799" name="Google Shape;1799;p27"/>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1800" name="Google Shape;1800;p27"/>
          <p:cNvSpPr/>
          <p:nvPr/>
        </p:nvSpPr>
        <p:spPr>
          <a:xfrm>
            <a:off x="3880356" y="232511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Ventas/incentivos</a:t>
            </a:r>
            <a:endParaRPr b="0" i="0" sz="400" u="none" cap="none" strike="noStrike">
              <a:solidFill>
                <a:schemeClr val="dk2"/>
              </a:solidFill>
              <a:latin typeface="Montserrat"/>
              <a:ea typeface="Montserrat"/>
              <a:cs typeface="Montserrat"/>
              <a:sym typeface="Montserrat"/>
            </a:endParaRPr>
          </a:p>
        </p:txBody>
      </p:sp>
      <p:sp>
        <p:nvSpPr>
          <p:cNvPr id="1801" name="Google Shape;1801;p27"/>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la relación con el cliente</a:t>
            </a:r>
            <a:endParaRPr b="0" i="0" sz="400" u="none" cap="none" strike="noStrike">
              <a:solidFill>
                <a:schemeClr val="dk2"/>
              </a:solidFill>
              <a:latin typeface="Montserrat"/>
              <a:ea typeface="Montserrat"/>
              <a:cs typeface="Montserrat"/>
              <a:sym typeface="Montserrat"/>
            </a:endParaRPr>
          </a:p>
        </p:txBody>
      </p:sp>
      <p:sp>
        <p:nvSpPr>
          <p:cNvPr id="1802" name="Google Shape;1802;p27"/>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1803" name="Google Shape;1803;p27"/>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1804" name="Google Shape;1804;p27"/>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inversión</a:t>
            </a:r>
            <a:endParaRPr b="0" i="0" sz="400" u="none" cap="none" strike="noStrike">
              <a:solidFill>
                <a:schemeClr val="dk2"/>
              </a:solidFill>
              <a:latin typeface="Montserrat"/>
              <a:ea typeface="Montserrat"/>
              <a:cs typeface="Montserrat"/>
              <a:sym typeface="Montserrat"/>
            </a:endParaRPr>
          </a:p>
        </p:txBody>
      </p:sp>
      <p:sp>
        <p:nvSpPr>
          <p:cNvPr id="1805" name="Google Shape;1805;p27"/>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Gestión de documentos de imagen</a:t>
            </a:r>
            <a:endParaRPr b="0" i="0" sz="900" u="none" cap="none" strike="noStrike">
              <a:solidFill>
                <a:schemeClr val="dk2"/>
              </a:solidFill>
              <a:latin typeface="Montserrat"/>
              <a:ea typeface="Montserrat"/>
              <a:cs typeface="Montserrat"/>
              <a:sym typeface="Montserrat"/>
            </a:endParaRPr>
          </a:p>
        </p:txBody>
      </p:sp>
      <p:sp>
        <p:nvSpPr>
          <p:cNvPr id="1806" name="Google Shape;1806;p27"/>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Templates </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(correspondencia)</a:t>
            </a:r>
            <a:endParaRPr b="0" i="0" sz="900" u="none" cap="none" strike="noStrike">
              <a:solidFill>
                <a:schemeClr val="dk2"/>
              </a:solidFill>
              <a:latin typeface="Montserrat"/>
              <a:ea typeface="Montserrat"/>
              <a:cs typeface="Montserrat"/>
              <a:sym typeface="Montserrat"/>
            </a:endParaRPr>
          </a:p>
        </p:txBody>
      </p:sp>
      <p:sp>
        <p:nvSpPr>
          <p:cNvPr id="1807" name="Google Shape;1807;p27"/>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Divulgación y aceptar</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(Procesamienta de cuentas)</a:t>
            </a:r>
            <a:endParaRPr b="0" i="0" sz="900" u="none" cap="none" strike="noStrike">
              <a:solidFill>
                <a:schemeClr val="dk2"/>
              </a:solidFill>
              <a:latin typeface="Montserrat"/>
              <a:ea typeface="Montserrat"/>
              <a:cs typeface="Montserrat"/>
              <a:sym typeface="Montserrat"/>
            </a:endParaRPr>
          </a:p>
        </p:txBody>
      </p:sp>
      <p:sp>
        <p:nvSpPr>
          <p:cNvPr id="1808" name="Google Shape;1808;p27"/>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Documentación de cumplimiento de cuenta</a:t>
            </a:r>
            <a:endParaRPr b="0" i="0" sz="400" u="none" cap="none" strike="noStrike">
              <a:solidFill>
                <a:schemeClr val="dk2"/>
              </a:solidFill>
              <a:latin typeface="Montserrat"/>
              <a:ea typeface="Montserrat"/>
              <a:cs typeface="Montserrat"/>
              <a:sym typeface="Montserrat"/>
            </a:endParaRPr>
          </a:p>
        </p:txBody>
      </p:sp>
      <p:sp>
        <p:nvSpPr>
          <p:cNvPr id="1809" name="Google Shape;1809;p27"/>
          <p:cNvSpPr/>
          <p:nvPr/>
        </p:nvSpPr>
        <p:spPr>
          <a:xfrm>
            <a:off x="1294951"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de cuenta</a:t>
            </a:r>
            <a:endParaRPr b="0" i="0" sz="400" u="none" cap="none" strike="noStrike">
              <a:solidFill>
                <a:schemeClr val="dk2"/>
              </a:solidFill>
              <a:latin typeface="Montserrat"/>
              <a:ea typeface="Montserrat"/>
              <a:cs typeface="Montserrat"/>
              <a:sym typeface="Montserrat"/>
            </a:endParaRPr>
          </a:p>
        </p:txBody>
      </p:sp>
      <p:sp>
        <p:nvSpPr>
          <p:cNvPr id="1810" name="Google Shape;1810;p27"/>
          <p:cNvSpPr/>
          <p:nvPr/>
        </p:nvSpPr>
        <p:spPr>
          <a:xfrm>
            <a:off x="1294951" y="2232766"/>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Depositar fondos</a:t>
            </a:r>
            <a:endParaRPr b="0" i="0" sz="400" u="none" cap="none" strike="noStrike">
              <a:solidFill>
                <a:schemeClr val="dk2"/>
              </a:solidFill>
              <a:latin typeface="Montserrat"/>
              <a:ea typeface="Montserrat"/>
              <a:cs typeface="Montserrat"/>
              <a:sym typeface="Montserrat"/>
            </a:endParaRPr>
          </a:p>
        </p:txBody>
      </p:sp>
      <p:sp>
        <p:nvSpPr>
          <p:cNvPr id="1811" name="Google Shape;1811;p27"/>
          <p:cNvSpPr/>
          <p:nvPr/>
        </p:nvSpPr>
        <p:spPr>
          <a:xfrm>
            <a:off x="1294951"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Transferir fondos</a:t>
            </a:r>
            <a:endParaRPr b="0" i="0" sz="400" u="none" cap="none" strike="noStrike">
              <a:solidFill>
                <a:schemeClr val="dk2"/>
              </a:solidFill>
              <a:latin typeface="Montserrat"/>
              <a:ea typeface="Montserrat"/>
              <a:cs typeface="Montserrat"/>
              <a:sym typeface="Montserrat"/>
            </a:endParaRPr>
          </a:p>
        </p:txBody>
      </p:sp>
      <p:sp>
        <p:nvSpPr>
          <p:cNvPr id="1812" name="Google Shape;1812;p27"/>
          <p:cNvSpPr/>
          <p:nvPr/>
        </p:nvSpPr>
        <p:spPr>
          <a:xfrm>
            <a:off x="2862246"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Retirar fondos</a:t>
            </a:r>
            <a:endParaRPr b="0" i="0" sz="400" u="none" cap="none" strike="noStrike">
              <a:solidFill>
                <a:schemeClr val="dk2"/>
              </a:solidFill>
              <a:latin typeface="Montserrat"/>
              <a:ea typeface="Montserrat"/>
              <a:cs typeface="Montserrat"/>
              <a:sym typeface="Montserrat"/>
            </a:endParaRPr>
          </a:p>
        </p:txBody>
      </p:sp>
      <p:sp>
        <p:nvSpPr>
          <p:cNvPr id="1813" name="Google Shape;1813;p27"/>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Pequeñas empresas</a:t>
            </a:r>
            <a:endParaRPr b="0" i="0" sz="400" u="none" cap="none" strike="noStrike">
              <a:solidFill>
                <a:schemeClr val="dk2"/>
              </a:solidFill>
              <a:latin typeface="Montserrat"/>
              <a:ea typeface="Montserrat"/>
              <a:cs typeface="Montserrat"/>
              <a:sym typeface="Montserrat"/>
            </a:endParaRPr>
          </a:p>
        </p:txBody>
      </p:sp>
      <p:sp>
        <p:nvSpPr>
          <p:cNvPr id="1814" name="Google Shape;1814;p27"/>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el cliente</a:t>
            </a:r>
            <a:endParaRPr b="0" i="0" sz="400" u="none" cap="none" strike="noStrike">
              <a:solidFill>
                <a:schemeClr val="dk2"/>
              </a:solidFill>
              <a:latin typeface="Montserrat"/>
              <a:ea typeface="Montserrat"/>
              <a:cs typeface="Montserrat"/>
              <a:sym typeface="Montserrat"/>
            </a:endParaRPr>
          </a:p>
        </p:txBody>
      </p:sp>
      <p:sp>
        <p:nvSpPr>
          <p:cNvPr id="1815" name="Google Shape;1815;p27"/>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Originación de cuentas</a:t>
            </a:r>
            <a:endParaRPr b="0" i="0" sz="400" u="none" cap="none" strike="noStrike">
              <a:solidFill>
                <a:schemeClr val="dk2"/>
              </a:solidFill>
              <a:latin typeface="Montserrat"/>
              <a:ea typeface="Montserrat"/>
              <a:cs typeface="Montserrat"/>
              <a:sym typeface="Montserrat"/>
            </a:endParaRPr>
          </a:p>
        </p:txBody>
      </p:sp>
      <p:sp>
        <p:nvSpPr>
          <p:cNvPr id="1816" name="Google Shape;1816;p27"/>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cumplimiento./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Incorporación de clientes</a:t>
            </a:r>
            <a:endParaRPr b="0" i="0" sz="400" u="none" cap="none" strike="noStrike">
              <a:solidFill>
                <a:schemeClr val="dk2"/>
              </a:solidFill>
              <a:latin typeface="Montserrat"/>
              <a:ea typeface="Montserrat"/>
              <a:cs typeface="Montserrat"/>
              <a:sym typeface="Montserrat"/>
            </a:endParaRPr>
          </a:p>
        </p:txBody>
      </p:sp>
      <p:sp>
        <p:nvSpPr>
          <p:cNvPr id="1817" name="Google Shape;1817;p27"/>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configuración</a:t>
            </a:r>
            <a:endParaRPr b="0" i="0" sz="400" u="none" cap="none" strike="noStrike">
              <a:solidFill>
                <a:schemeClr val="dk2"/>
              </a:solidFill>
              <a:latin typeface="Montserrat"/>
              <a:ea typeface="Montserrat"/>
              <a:cs typeface="Montserrat"/>
              <a:sym typeface="Montserrat"/>
            </a:endParaRPr>
          </a:p>
        </p:txBody>
      </p:sp>
      <p:sp>
        <p:nvSpPr>
          <p:cNvPr id="1818" name="Google Shape;1818;p27"/>
          <p:cNvSpPr/>
          <p:nvPr/>
        </p:nvSpPr>
        <p:spPr>
          <a:xfrm>
            <a:off x="2078085"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Actualizar información</a:t>
            </a:r>
            <a:endParaRPr b="0" i="0" sz="400" u="none" cap="none" strike="noStrike">
              <a:solidFill>
                <a:schemeClr val="dk2"/>
              </a:solidFill>
              <a:latin typeface="Montserrat"/>
              <a:ea typeface="Montserrat"/>
              <a:cs typeface="Montserrat"/>
              <a:sym typeface="Montserrat"/>
            </a:endParaRPr>
          </a:p>
        </p:txBody>
      </p:sp>
      <p:sp>
        <p:nvSpPr>
          <p:cNvPr id="1819" name="Google Shape;1819;p27"/>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1820" name="Google Shape;1820;p27"/>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calendario</a:t>
            </a:r>
            <a:endParaRPr b="0" i="0" sz="400" u="none" cap="none" strike="noStrike">
              <a:solidFill>
                <a:schemeClr val="dk2"/>
              </a:solidFill>
              <a:latin typeface="Montserrat"/>
              <a:ea typeface="Montserrat"/>
              <a:cs typeface="Montserrat"/>
              <a:sym typeface="Montserrat"/>
            </a:endParaRPr>
          </a:p>
        </p:txBody>
      </p:sp>
      <p:sp>
        <p:nvSpPr>
          <p:cNvPr id="1821" name="Google Shape;1821;p27"/>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que generan intereses</a:t>
            </a:r>
            <a:endParaRPr b="0" i="0" sz="400" u="none" cap="none" strike="noStrike">
              <a:solidFill>
                <a:schemeClr val="dk2"/>
              </a:solidFill>
              <a:latin typeface="Montserrat"/>
              <a:ea typeface="Montserrat"/>
              <a:cs typeface="Montserrat"/>
              <a:sym typeface="Montserrat"/>
            </a:endParaRPr>
          </a:p>
        </p:txBody>
      </p:sp>
      <p:sp>
        <p:nvSpPr>
          <p:cNvPr id="1822" name="Google Shape;1822;p27"/>
          <p:cNvSpPr/>
          <p:nvPr/>
        </p:nvSpPr>
        <p:spPr>
          <a:xfrm>
            <a:off x="2862246"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tarjeta de débito/ATM</a:t>
            </a:r>
            <a:endParaRPr b="0" i="0" sz="400" u="none" cap="none" strike="noStrike">
              <a:solidFill>
                <a:schemeClr val="dk2"/>
              </a:solidFill>
              <a:latin typeface="Montserrat"/>
              <a:ea typeface="Montserrat"/>
              <a:cs typeface="Montserrat"/>
              <a:sym typeface="Montserrat"/>
            </a:endParaRPr>
          </a:p>
        </p:txBody>
      </p:sp>
      <p:sp>
        <p:nvSpPr>
          <p:cNvPr id="1823" name="Google Shape;1823;p27"/>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 de facturas en línea</a:t>
            </a:r>
            <a:endParaRPr b="0" i="0" sz="400" u="none" cap="none" strike="noStrike">
              <a:solidFill>
                <a:schemeClr val="dk2"/>
              </a:solidFill>
              <a:latin typeface="Montserrat"/>
              <a:ea typeface="Montserrat"/>
              <a:cs typeface="Montserrat"/>
              <a:sym typeface="Montserrat"/>
            </a:endParaRPr>
          </a:p>
        </p:txBody>
      </p:sp>
      <p:sp>
        <p:nvSpPr>
          <p:cNvPr id="1824" name="Google Shape;1824;p27"/>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Encuestas/investigación</a:t>
            </a:r>
            <a:endParaRPr b="0" i="0" sz="900" u="none" cap="none" strike="noStrike">
              <a:solidFill>
                <a:schemeClr val="dk2"/>
              </a:solidFill>
              <a:latin typeface="Montserrat"/>
              <a:ea typeface="Montserrat"/>
              <a:cs typeface="Montserrat"/>
              <a:sym typeface="Montserrat"/>
            </a:endParaRPr>
          </a:p>
        </p:txBody>
      </p:sp>
      <p:sp>
        <p:nvSpPr>
          <p:cNvPr id="1825" name="Google Shape;1825;p27"/>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campañas</a:t>
            </a:r>
            <a:endParaRPr b="0" i="0" sz="900" u="none" cap="none" strike="noStrike">
              <a:solidFill>
                <a:schemeClr val="dk2"/>
              </a:solidFill>
              <a:latin typeface="Montserrat"/>
              <a:ea typeface="Montserrat"/>
              <a:cs typeface="Montserrat"/>
              <a:sym typeface="Montserrat"/>
            </a:endParaRPr>
          </a:p>
        </p:txBody>
      </p:sp>
      <p:sp>
        <p:nvSpPr>
          <p:cNvPr id="1826" name="Google Shape;1826;p27"/>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1827" name="Google Shape;1827;p27"/>
          <p:cNvSpPr/>
          <p:nvPr/>
        </p:nvSpPr>
        <p:spPr>
          <a:xfrm>
            <a:off x="129249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 la clase de producto</a:t>
            </a:r>
            <a:endParaRPr b="0" i="0" sz="400" u="none" cap="none" strike="noStrike">
              <a:solidFill>
                <a:schemeClr val="dk2"/>
              </a:solidFill>
              <a:latin typeface="Montserrat"/>
              <a:ea typeface="Montserrat"/>
              <a:cs typeface="Montserrat"/>
              <a:sym typeface="Montserrat"/>
            </a:endParaRPr>
          </a:p>
        </p:txBody>
      </p:sp>
      <p:sp>
        <p:nvSpPr>
          <p:cNvPr id="1828" name="Google Shape;1828;p27"/>
          <p:cNvSpPr/>
          <p:nvPr/>
        </p:nvSpPr>
        <p:spPr>
          <a:xfrm>
            <a:off x="129249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depósito a plazo</a:t>
            </a:r>
            <a:endParaRPr b="0" i="0" sz="400" u="none" cap="none" strike="noStrike">
              <a:solidFill>
                <a:schemeClr val="dk2"/>
              </a:solidFill>
              <a:latin typeface="Montserrat"/>
              <a:ea typeface="Montserrat"/>
              <a:cs typeface="Montserrat"/>
              <a:sym typeface="Montserrat"/>
            </a:endParaRPr>
          </a:p>
        </p:txBody>
      </p:sp>
      <p:sp>
        <p:nvSpPr>
          <p:cNvPr id="1829" name="Google Shape;1829;p27"/>
          <p:cNvSpPr/>
          <p:nvPr/>
        </p:nvSpPr>
        <p:spPr>
          <a:xfrm>
            <a:off x="129249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Corrientes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dk2"/>
              </a:solidFill>
              <a:latin typeface="Montserrat"/>
              <a:ea typeface="Montserrat"/>
              <a:cs typeface="Montserrat"/>
              <a:sym typeface="Montserrat"/>
            </a:endParaRPr>
          </a:p>
        </p:txBody>
      </p:sp>
      <p:sp>
        <p:nvSpPr>
          <p:cNvPr id="1830" name="Google Shape;1830;p27"/>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jubilación</a:t>
            </a:r>
            <a:endParaRPr b="0" i="0" sz="400" u="none" cap="none" strike="noStrike">
              <a:solidFill>
                <a:schemeClr val="dk2"/>
              </a:solidFill>
              <a:latin typeface="Montserrat"/>
              <a:ea typeface="Montserrat"/>
              <a:cs typeface="Montserrat"/>
              <a:sym typeface="Montserrat"/>
            </a:endParaRPr>
          </a:p>
        </p:txBody>
      </p:sp>
      <p:sp>
        <p:nvSpPr>
          <p:cNvPr id="1831" name="Google Shape;1831;p27"/>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Banco privado/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Servicios patrimoniales</a:t>
            </a:r>
            <a:endParaRPr b="0" i="0" sz="400" u="none" cap="none" strike="noStrike">
              <a:solidFill>
                <a:schemeClr val="dk2"/>
              </a:solidFill>
              <a:latin typeface="Montserrat"/>
              <a:ea typeface="Montserrat"/>
              <a:cs typeface="Montserrat"/>
              <a:sym typeface="Montserrat"/>
            </a:endParaRPr>
          </a:p>
        </p:txBody>
      </p:sp>
      <p:sp>
        <p:nvSpPr>
          <p:cNvPr id="1832" name="Google Shape;1832;p27"/>
          <p:cNvSpPr/>
          <p:nvPr/>
        </p:nvSpPr>
        <p:spPr>
          <a:xfrm>
            <a:off x="2863234"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ahorro</a:t>
            </a:r>
            <a:endParaRPr b="0" i="0" sz="400" u="none" cap="none" strike="noStrike">
              <a:solidFill>
                <a:schemeClr val="dk2"/>
              </a:solidFill>
              <a:latin typeface="Montserrat"/>
              <a:ea typeface="Montserrat"/>
              <a:cs typeface="Montserrat"/>
              <a:sym typeface="Montserrat"/>
            </a:endParaRPr>
          </a:p>
        </p:txBody>
      </p:sp>
      <p:sp>
        <p:nvSpPr>
          <p:cNvPr id="1833" name="Google Shape;1833;p27"/>
          <p:cNvSpPr/>
          <p:nvPr/>
        </p:nvSpPr>
        <p:spPr>
          <a:xfrm>
            <a:off x="207764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crédito</a:t>
            </a:r>
            <a:endParaRPr b="0" i="0" sz="400" u="none" cap="none" strike="noStrike">
              <a:solidFill>
                <a:schemeClr val="dk2"/>
              </a:solidFill>
              <a:latin typeface="Montserrat"/>
              <a:ea typeface="Montserrat"/>
              <a:cs typeface="Montserrat"/>
              <a:sym typeface="Montserrat"/>
            </a:endParaRPr>
          </a:p>
        </p:txBody>
      </p:sp>
      <p:sp>
        <p:nvSpPr>
          <p:cNvPr id="1834" name="Google Shape;1834;p27"/>
          <p:cNvSpPr/>
          <p:nvPr/>
        </p:nvSpPr>
        <p:spPr>
          <a:xfrm>
            <a:off x="207764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1835" name="Google Shape;1835;p27"/>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saldo cero</a:t>
            </a:r>
            <a:endParaRPr b="0" i="0" sz="400" u="none" cap="none" strike="noStrike">
              <a:solidFill>
                <a:schemeClr val="dk2"/>
              </a:solidFill>
              <a:latin typeface="Montserrat"/>
              <a:ea typeface="Montserrat"/>
              <a:cs typeface="Montserrat"/>
              <a:sym typeface="Montserrat"/>
            </a:endParaRPr>
          </a:p>
        </p:txBody>
      </p:sp>
      <p:sp>
        <p:nvSpPr>
          <p:cNvPr id="1836" name="Google Shape;1836;p27"/>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1837" name="Google Shape;1837;p27"/>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Cheque de caja/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Giros postales</a:t>
            </a:r>
            <a:endParaRPr b="0" i="0" sz="400" u="none" cap="none" strike="noStrike">
              <a:solidFill>
                <a:schemeClr val="dk2"/>
              </a:solidFill>
              <a:latin typeface="Montserrat"/>
              <a:ea typeface="Montserrat"/>
              <a:cs typeface="Montserrat"/>
              <a:sym typeface="Montserrat"/>
            </a:endParaRPr>
          </a:p>
        </p:txBody>
      </p:sp>
      <p:sp>
        <p:nvSpPr>
          <p:cNvPr id="1838" name="Google Shape;1838;p27"/>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Sobregiro</a:t>
            </a:r>
            <a:endParaRPr b="0" i="0" sz="400" u="none" cap="none" strike="noStrike">
              <a:solidFill>
                <a:schemeClr val="dk2"/>
              </a:solidFill>
              <a:latin typeface="Montserrat"/>
              <a:ea typeface="Montserrat"/>
              <a:cs typeface="Montserrat"/>
              <a:sym typeface="Montserrat"/>
            </a:endParaRPr>
          </a:p>
        </p:txBody>
      </p:sp>
      <p:sp>
        <p:nvSpPr>
          <p:cNvPr id="1839" name="Google Shape;1839;p27"/>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a:t>
            </a:r>
            <a:endParaRPr b="0" i="0" sz="400" u="none" cap="none" strike="noStrike">
              <a:solidFill>
                <a:schemeClr val="dk2"/>
              </a:solidFill>
              <a:latin typeface="Montserrat"/>
              <a:ea typeface="Montserrat"/>
              <a:cs typeface="Montserrat"/>
              <a:sym typeface="Montserrat"/>
            </a:endParaRPr>
          </a:p>
        </p:txBody>
      </p:sp>
      <p:sp>
        <p:nvSpPr>
          <p:cNvPr id="1840" name="Google Shape;1840;p27"/>
          <p:cNvSpPr/>
          <p:nvPr/>
        </p:nvSpPr>
        <p:spPr>
          <a:xfrm>
            <a:off x="7323830" y="141700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básicos de gestión</a:t>
            </a:r>
            <a:endParaRPr b="0" i="0" sz="400" u="none" cap="none" strike="noStrike">
              <a:solidFill>
                <a:schemeClr val="lt1"/>
              </a:solidFill>
              <a:latin typeface="Montserrat"/>
              <a:ea typeface="Montserrat"/>
              <a:cs typeface="Montserrat"/>
              <a:sym typeface="Montserrat"/>
            </a:endParaRPr>
          </a:p>
        </p:txBody>
      </p:sp>
      <p:sp>
        <p:nvSpPr>
          <p:cNvPr id="1841" name="Google Shape;1841;p27"/>
          <p:cNvSpPr/>
          <p:nvPr/>
        </p:nvSpPr>
        <p:spPr>
          <a:xfrm>
            <a:off x="6567651"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Análisis de cuentas</a:t>
            </a:r>
            <a:endParaRPr b="0" i="0" sz="400" u="none" cap="none" strike="noStrike">
              <a:solidFill>
                <a:schemeClr val="lt1"/>
              </a:solidFill>
              <a:latin typeface="Montserrat"/>
              <a:ea typeface="Montserrat"/>
              <a:cs typeface="Montserrat"/>
              <a:sym typeface="Montserrat"/>
            </a:endParaRPr>
          </a:p>
        </p:txBody>
      </p:sp>
      <p:sp>
        <p:nvSpPr>
          <p:cNvPr id="1842" name="Google Shape;1842;p27"/>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1843" name="Google Shape;1843;p27"/>
          <p:cNvSpPr/>
          <p:nvPr/>
        </p:nvSpPr>
        <p:spPr>
          <a:xfrm>
            <a:off x="732383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Retiro de Efectivo</a:t>
            </a:r>
            <a:endParaRPr b="0" i="0" sz="400" u="none" cap="none" strike="noStrike">
              <a:solidFill>
                <a:schemeClr val="dk2"/>
              </a:solidFill>
              <a:latin typeface="Montserrat"/>
              <a:ea typeface="Montserrat"/>
              <a:cs typeface="Montserrat"/>
              <a:sym typeface="Montserrat"/>
            </a:endParaRPr>
          </a:p>
        </p:txBody>
      </p:sp>
      <p:sp>
        <p:nvSpPr>
          <p:cNvPr id="1844" name="Google Shape;1844;p27"/>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comerciales</a:t>
            </a:r>
            <a:endParaRPr b="0" i="0" sz="400" u="none" cap="none" strike="noStrike">
              <a:solidFill>
                <a:schemeClr val="dk2"/>
              </a:solidFill>
              <a:latin typeface="Montserrat"/>
              <a:ea typeface="Montserrat"/>
              <a:cs typeface="Montserrat"/>
              <a:sym typeface="Montserrat"/>
            </a:endParaRPr>
          </a:p>
        </p:txBody>
      </p:sp>
      <p:sp>
        <p:nvSpPr>
          <p:cNvPr id="1845" name="Google Shape;1845;p27"/>
          <p:cNvSpPr/>
          <p:nvPr/>
        </p:nvSpPr>
        <p:spPr>
          <a:xfrm>
            <a:off x="8082270"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Capacidades del estado de cuenta</a:t>
            </a:r>
            <a:endParaRPr b="0" i="0" sz="400" u="none" cap="none" strike="noStrike">
              <a:solidFill>
                <a:schemeClr val="lt1"/>
              </a:solidFill>
              <a:latin typeface="Montserrat"/>
              <a:ea typeface="Montserrat"/>
              <a:cs typeface="Montserrat"/>
              <a:sym typeface="Montserrat"/>
            </a:endParaRPr>
          </a:p>
        </p:txBody>
      </p:sp>
      <p:sp>
        <p:nvSpPr>
          <p:cNvPr id="1846" name="Google Shape;1846;p27"/>
          <p:cNvSpPr/>
          <p:nvPr/>
        </p:nvSpPr>
        <p:spPr>
          <a:xfrm>
            <a:off x="7323289"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350"/>
              <a:buFont typeface="Arial"/>
              <a:buNone/>
            </a:pPr>
            <a:r>
              <a:rPr b="0" i="0" lang="es" sz="350" u="none" cap="none" strike="noStrike">
                <a:solidFill>
                  <a:schemeClr val="lt1"/>
                </a:solidFill>
                <a:latin typeface="Montserrat"/>
                <a:ea typeface="Montserrat"/>
                <a:cs typeface="Montserrat"/>
                <a:sym typeface="Montserrat"/>
              </a:rPr>
              <a:t>Archivo de estado de cuenta/</a:t>
            </a:r>
            <a:br>
              <a:rPr b="0" i="0" lang="es" sz="350" u="none" cap="none" strike="noStrike">
                <a:solidFill>
                  <a:schemeClr val="lt1"/>
                </a:solidFill>
                <a:latin typeface="Montserrat"/>
                <a:ea typeface="Montserrat"/>
                <a:cs typeface="Montserrat"/>
                <a:sym typeface="Montserrat"/>
              </a:rPr>
            </a:br>
            <a:r>
              <a:rPr b="0" i="0" lang="es" sz="350" u="none" cap="none" strike="noStrike">
                <a:solidFill>
                  <a:schemeClr val="lt1"/>
                </a:solidFill>
                <a:latin typeface="Montserrat"/>
                <a:ea typeface="Montserrat"/>
                <a:cs typeface="Montserrat"/>
                <a:sym typeface="Montserrat"/>
              </a:rPr>
              <a:t>Seguimiento histórico</a:t>
            </a:r>
            <a:endParaRPr b="0" i="0" sz="350" u="none" cap="none" strike="noStrike">
              <a:solidFill>
                <a:schemeClr val="lt1"/>
              </a:solidFill>
              <a:latin typeface="Montserrat"/>
              <a:ea typeface="Montserrat"/>
              <a:cs typeface="Montserrat"/>
              <a:sym typeface="Montserrat"/>
            </a:endParaRPr>
          </a:p>
        </p:txBody>
      </p:sp>
      <p:sp>
        <p:nvSpPr>
          <p:cNvPr id="1847" name="Google Shape;1847;p27"/>
          <p:cNvSpPr/>
          <p:nvPr/>
        </p:nvSpPr>
        <p:spPr>
          <a:xfrm>
            <a:off x="7323289" y="30677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Generación del estado de cuenta</a:t>
            </a:r>
            <a:endParaRPr b="0" i="0" sz="400" u="none" cap="none" strike="noStrike">
              <a:solidFill>
                <a:schemeClr val="lt1"/>
              </a:solidFill>
              <a:latin typeface="Montserrat"/>
              <a:ea typeface="Montserrat"/>
              <a:cs typeface="Montserrat"/>
              <a:sym typeface="Montserrat"/>
            </a:endParaRPr>
          </a:p>
        </p:txBody>
      </p:sp>
      <p:sp>
        <p:nvSpPr>
          <p:cNvPr id="1848" name="Google Shape;1848;p27"/>
          <p:cNvSpPr/>
          <p:nvPr/>
        </p:nvSpPr>
        <p:spPr>
          <a:xfrm>
            <a:off x="6568479" y="30677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Definición del estado de cuenta</a:t>
            </a:r>
            <a:endParaRPr b="0" i="0" sz="400" u="none" cap="none" strike="noStrike">
              <a:solidFill>
                <a:schemeClr val="lt1"/>
              </a:solidFill>
              <a:latin typeface="Montserrat"/>
              <a:ea typeface="Montserrat"/>
              <a:cs typeface="Montserrat"/>
              <a:sym typeface="Montserrat"/>
            </a:endParaRPr>
          </a:p>
        </p:txBody>
      </p:sp>
      <p:sp>
        <p:nvSpPr>
          <p:cNvPr id="1849" name="Google Shape;1849;p27"/>
          <p:cNvSpPr/>
          <p:nvPr/>
        </p:nvSpPr>
        <p:spPr>
          <a:xfrm>
            <a:off x="6568479" y="2890402"/>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Generación de estados de cuenta en línea</a:t>
            </a:r>
            <a:endParaRPr b="0" i="0" sz="400" u="none" cap="none" strike="noStrike">
              <a:solidFill>
                <a:schemeClr val="lt1"/>
              </a:solidFill>
              <a:latin typeface="Montserrat"/>
              <a:ea typeface="Montserrat"/>
              <a:cs typeface="Montserrat"/>
              <a:sym typeface="Montserrat"/>
            </a:endParaRPr>
          </a:p>
        </p:txBody>
      </p:sp>
      <p:sp>
        <p:nvSpPr>
          <p:cNvPr id="1850" name="Google Shape;1850;p27"/>
          <p:cNvSpPr/>
          <p:nvPr/>
        </p:nvSpPr>
        <p:spPr>
          <a:xfrm>
            <a:off x="8077267"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Originaciones de procesos</a:t>
            </a:r>
            <a:endParaRPr b="0" i="0" sz="400" u="none" cap="none" strike="noStrike">
              <a:solidFill>
                <a:schemeClr val="dk2"/>
              </a:solidFill>
              <a:latin typeface="Montserrat"/>
              <a:ea typeface="Montserrat"/>
              <a:cs typeface="Montserrat"/>
              <a:sym typeface="Montserrat"/>
            </a:endParaRPr>
          </a:p>
        </p:txBody>
      </p:sp>
      <p:sp>
        <p:nvSpPr>
          <p:cNvPr id="1851" name="Google Shape;1851;p27"/>
          <p:cNvSpPr/>
          <p:nvPr/>
        </p:nvSpPr>
        <p:spPr>
          <a:xfrm>
            <a:off x="6562648" y="2073173"/>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Fin del día y BATCH</a:t>
            </a:r>
            <a:endParaRPr b="0" i="0" sz="400" u="none" cap="none" strike="noStrike">
              <a:solidFill>
                <a:schemeClr val="lt1"/>
              </a:solidFill>
              <a:latin typeface="Montserrat"/>
              <a:ea typeface="Montserrat"/>
              <a:cs typeface="Montserrat"/>
              <a:sym typeface="Montserrat"/>
            </a:endParaRPr>
          </a:p>
        </p:txBody>
      </p:sp>
      <p:sp>
        <p:nvSpPr>
          <p:cNvPr id="1852" name="Google Shape;1852;p27"/>
          <p:cNvSpPr/>
          <p:nvPr/>
        </p:nvSpPr>
        <p:spPr>
          <a:xfrm>
            <a:off x="6562648"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Cierre Contable</a:t>
            </a:r>
            <a:endParaRPr b="0" i="0" sz="400" u="none" cap="none" strike="noStrike">
              <a:solidFill>
                <a:schemeClr val="lt1"/>
              </a:solidFill>
              <a:latin typeface="Montserrat"/>
              <a:ea typeface="Montserrat"/>
              <a:cs typeface="Montserrat"/>
              <a:sym typeface="Montserrat"/>
            </a:endParaRPr>
          </a:p>
        </p:txBody>
      </p:sp>
      <p:sp>
        <p:nvSpPr>
          <p:cNvPr id="1853" name="Google Shape;1853;p27"/>
          <p:cNvSpPr/>
          <p:nvPr/>
        </p:nvSpPr>
        <p:spPr>
          <a:xfrm>
            <a:off x="8077267"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Proceso de transferencia</a:t>
            </a:r>
            <a:endParaRPr b="0" i="0" sz="400" u="none" cap="none" strike="noStrike">
              <a:solidFill>
                <a:schemeClr val="lt1"/>
              </a:solidFill>
              <a:latin typeface="Montserrat"/>
              <a:ea typeface="Montserrat"/>
              <a:cs typeface="Montserrat"/>
              <a:sym typeface="Montserrat"/>
            </a:endParaRPr>
          </a:p>
        </p:txBody>
      </p:sp>
      <p:sp>
        <p:nvSpPr>
          <p:cNvPr id="1854" name="Google Shape;1854;p27"/>
          <p:cNvSpPr/>
          <p:nvPr/>
        </p:nvSpPr>
        <p:spPr>
          <a:xfrm>
            <a:off x="7319255"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Planificación y preparación</a:t>
            </a:r>
            <a:endParaRPr b="0" i="0" sz="400" u="none" cap="none" strike="noStrike">
              <a:solidFill>
                <a:schemeClr val="lt1"/>
              </a:solidFill>
              <a:latin typeface="Montserrat"/>
              <a:ea typeface="Montserrat"/>
              <a:cs typeface="Montserrat"/>
              <a:sym typeface="Montserrat"/>
            </a:endParaRPr>
          </a:p>
        </p:txBody>
      </p:sp>
      <p:sp>
        <p:nvSpPr>
          <p:cNvPr id="1855" name="Google Shape;1855;p27"/>
          <p:cNvSpPr/>
          <p:nvPr/>
        </p:nvSpPr>
        <p:spPr>
          <a:xfrm>
            <a:off x="7319255"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cheques</a:t>
            </a:r>
            <a:endParaRPr b="0" i="0" sz="400" u="none" cap="none" strike="noStrike">
              <a:solidFill>
                <a:schemeClr val="dk2"/>
              </a:solidFill>
              <a:latin typeface="Montserrat"/>
              <a:ea typeface="Montserrat"/>
              <a:cs typeface="Montserrat"/>
              <a:sym typeface="Montserrat"/>
            </a:endParaRPr>
          </a:p>
        </p:txBody>
      </p:sp>
      <p:sp>
        <p:nvSpPr>
          <p:cNvPr id="1856" name="Google Shape;1856;p27"/>
          <p:cNvSpPr/>
          <p:nvPr/>
        </p:nvSpPr>
        <p:spPr>
          <a:xfrm>
            <a:off x="8076183"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Proceso del día 1 y día 2</a:t>
            </a:r>
            <a:endParaRPr b="0" i="0" sz="400" u="none" cap="none" strike="noStrike">
              <a:solidFill>
                <a:schemeClr val="lt1"/>
              </a:solidFill>
              <a:latin typeface="Montserrat"/>
              <a:ea typeface="Montserrat"/>
              <a:cs typeface="Montserrat"/>
              <a:sym typeface="Montserrat"/>
            </a:endParaRPr>
          </a:p>
        </p:txBody>
      </p:sp>
      <p:sp>
        <p:nvSpPr>
          <p:cNvPr id="1857" name="Google Shape;1857;p27"/>
          <p:cNvSpPr/>
          <p:nvPr/>
        </p:nvSpPr>
        <p:spPr>
          <a:xfrm>
            <a:off x="8076183"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de depósito</a:t>
            </a:r>
            <a:endParaRPr b="0" i="0" sz="400" u="none" cap="none" strike="noStrike">
              <a:solidFill>
                <a:schemeClr val="lt1"/>
              </a:solidFill>
              <a:latin typeface="Montserrat"/>
              <a:ea typeface="Montserrat"/>
              <a:cs typeface="Montserrat"/>
              <a:sym typeface="Montserrat"/>
            </a:endParaRPr>
          </a:p>
        </p:txBody>
      </p:sp>
      <p:sp>
        <p:nvSpPr>
          <p:cNvPr id="1858" name="Google Shape;1858;p27"/>
          <p:cNvSpPr/>
          <p:nvPr/>
        </p:nvSpPr>
        <p:spPr>
          <a:xfrm>
            <a:off x="6563476"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electrónicas</a:t>
            </a:r>
            <a:endParaRPr b="0" i="0" sz="400" u="none" cap="none" strike="noStrike">
              <a:solidFill>
                <a:schemeClr val="lt1"/>
              </a:solidFill>
              <a:latin typeface="Montserrat"/>
              <a:ea typeface="Montserrat"/>
              <a:cs typeface="Montserrat"/>
              <a:sym typeface="Montserrat"/>
            </a:endParaRPr>
          </a:p>
        </p:txBody>
      </p:sp>
      <p:sp>
        <p:nvSpPr>
          <p:cNvPr id="1859" name="Google Shape;1859;p27"/>
          <p:cNvSpPr/>
          <p:nvPr/>
        </p:nvSpPr>
        <p:spPr>
          <a:xfrm>
            <a:off x="7319255"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1860" name="Google Shape;1860;p27"/>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Camara de Compensación</a:t>
            </a:r>
            <a:endParaRPr b="0" i="0" sz="400" u="none" cap="none" strike="noStrike">
              <a:solidFill>
                <a:schemeClr val="dk2"/>
              </a:solidFill>
              <a:latin typeface="Montserrat"/>
              <a:ea typeface="Montserrat"/>
              <a:cs typeface="Montserrat"/>
              <a:sym typeface="Montserrat"/>
            </a:endParaRPr>
          </a:p>
        </p:txBody>
      </p:sp>
      <p:sp>
        <p:nvSpPr>
          <p:cNvPr id="1861" name="Google Shape;1861;p27"/>
          <p:cNvSpPr/>
          <p:nvPr/>
        </p:nvSpPr>
        <p:spPr>
          <a:xfrm>
            <a:off x="8076183" y="2073173"/>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Procesamiento de pagos</a:t>
            </a:r>
            <a:endParaRPr b="0" i="0" sz="400" u="none" cap="none" strike="noStrike">
              <a:solidFill>
                <a:schemeClr val="lt1"/>
              </a:solidFill>
              <a:latin typeface="Montserrat"/>
              <a:ea typeface="Montserrat"/>
              <a:cs typeface="Montserrat"/>
              <a:sym typeface="Montserrat"/>
            </a:endParaRPr>
          </a:p>
        </p:txBody>
      </p:sp>
      <p:sp>
        <p:nvSpPr>
          <p:cNvPr id="1862" name="Google Shape;1862;p27"/>
          <p:cNvSpPr/>
          <p:nvPr/>
        </p:nvSpPr>
        <p:spPr>
          <a:xfrm>
            <a:off x="7319255"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Procesar transacciones de cuentas de préstamo</a:t>
            </a:r>
            <a:endParaRPr b="0" i="0" sz="400" u="none" cap="none" strike="noStrike">
              <a:solidFill>
                <a:schemeClr val="lt1"/>
              </a:solidFill>
              <a:latin typeface="Montserrat"/>
              <a:ea typeface="Montserrat"/>
              <a:cs typeface="Montserrat"/>
              <a:sym typeface="Montserrat"/>
            </a:endParaRPr>
          </a:p>
        </p:txBody>
      </p:sp>
      <p:sp>
        <p:nvSpPr>
          <p:cNvPr id="1863" name="Google Shape;1863;p27"/>
          <p:cNvSpPr/>
          <p:nvPr/>
        </p:nvSpPr>
        <p:spPr>
          <a:xfrm>
            <a:off x="6562648"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Facturación</a:t>
            </a:r>
            <a:endParaRPr b="0" i="0" sz="400" u="none" cap="none" strike="noStrike">
              <a:solidFill>
                <a:schemeClr val="lt1"/>
              </a:solidFill>
              <a:latin typeface="Montserrat"/>
              <a:ea typeface="Montserrat"/>
              <a:cs typeface="Montserrat"/>
              <a:sym typeface="Montserrat"/>
            </a:endParaRPr>
          </a:p>
        </p:txBody>
      </p:sp>
      <p:sp>
        <p:nvSpPr>
          <p:cNvPr id="1864" name="Google Shape;1864;p27"/>
          <p:cNvSpPr/>
          <p:nvPr/>
        </p:nvSpPr>
        <p:spPr>
          <a:xfrm>
            <a:off x="6563476"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Pagos en tiempo real</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Tratamiento</a:t>
            </a:r>
            <a:endParaRPr b="0" i="0" sz="400" u="none" cap="none" strike="noStrike">
              <a:solidFill>
                <a:schemeClr val="lt1"/>
              </a:solidFill>
              <a:latin typeface="Montserrat"/>
              <a:ea typeface="Montserrat"/>
              <a:cs typeface="Montserrat"/>
              <a:sym typeface="Montserrat"/>
            </a:endParaRPr>
          </a:p>
        </p:txBody>
      </p:sp>
      <p:sp>
        <p:nvSpPr>
          <p:cNvPr id="1865" name="Google Shape;1865;p27"/>
          <p:cNvSpPr/>
          <p:nvPr/>
        </p:nvSpPr>
        <p:spPr>
          <a:xfrm>
            <a:off x="4843050" y="12623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Contacto</a:t>
            </a:r>
            <a:endParaRPr b="0" i="0" sz="900" u="none" cap="none" strike="noStrike">
              <a:solidFill>
                <a:schemeClr val="dk2"/>
              </a:solidFill>
              <a:latin typeface="Montserrat"/>
              <a:ea typeface="Montserrat"/>
              <a:cs typeface="Montserrat"/>
              <a:sym typeface="Montserrat"/>
            </a:endParaRPr>
          </a:p>
        </p:txBody>
      </p:sp>
      <p:sp>
        <p:nvSpPr>
          <p:cNvPr id="1866" name="Google Shape;1866;p27"/>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Entidad</a:t>
            </a:r>
            <a:endParaRPr b="0" i="0" sz="400" u="none" cap="none" strike="noStrike">
              <a:solidFill>
                <a:schemeClr val="dk2"/>
              </a:solidFill>
              <a:latin typeface="Montserrat"/>
              <a:ea typeface="Montserrat"/>
              <a:cs typeface="Montserrat"/>
              <a:sym typeface="Montserrat"/>
            </a:endParaRPr>
          </a:p>
        </p:txBody>
      </p:sp>
      <p:sp>
        <p:nvSpPr>
          <p:cNvPr id="1867" name="Google Shape;1867;p27"/>
          <p:cNvSpPr/>
          <p:nvPr/>
        </p:nvSpPr>
        <p:spPr>
          <a:xfrm>
            <a:off x="560367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Relación</a:t>
            </a:r>
            <a:endParaRPr b="0" i="0" sz="400" u="none" cap="none" strike="noStrike">
              <a:solidFill>
                <a:schemeClr val="dk2"/>
              </a:solidFill>
              <a:latin typeface="Montserrat"/>
              <a:ea typeface="Montserrat"/>
              <a:cs typeface="Montserrat"/>
              <a:sym typeface="Montserrat"/>
            </a:endParaRPr>
          </a:p>
        </p:txBody>
      </p:sp>
      <p:sp>
        <p:nvSpPr>
          <p:cNvPr id="1868" name="Google Shape;1868;p27"/>
          <p:cNvSpPr/>
          <p:nvPr/>
        </p:nvSpPr>
        <p:spPr>
          <a:xfrm>
            <a:off x="4843050" y="157262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a:t>
            </a:r>
            <a:endParaRPr b="0" i="0" sz="900" u="none" cap="none" strike="noStrike">
              <a:solidFill>
                <a:schemeClr val="lt1"/>
              </a:solidFill>
              <a:latin typeface="Montserrat"/>
              <a:ea typeface="Montserrat"/>
              <a:cs typeface="Montserrat"/>
              <a:sym typeface="Montserrat"/>
            </a:endParaRPr>
          </a:p>
        </p:txBody>
      </p:sp>
      <p:sp>
        <p:nvSpPr>
          <p:cNvPr id="1869" name="Google Shape;1869;p27"/>
          <p:cNvSpPr/>
          <p:nvPr/>
        </p:nvSpPr>
        <p:spPr>
          <a:xfrm>
            <a:off x="4843050" y="141725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Preferencias</a:t>
            </a:r>
            <a:endParaRPr b="0" i="0" sz="900" u="none" cap="none" strike="noStrike">
              <a:solidFill>
                <a:schemeClr val="lt1"/>
              </a:solidFill>
              <a:latin typeface="Montserrat"/>
              <a:ea typeface="Montserrat"/>
              <a:cs typeface="Montserrat"/>
              <a:sym typeface="Montserrat"/>
            </a:endParaRPr>
          </a:p>
        </p:txBody>
      </p:sp>
      <p:sp>
        <p:nvSpPr>
          <p:cNvPr id="1870" name="Google Shape;1870;p27"/>
          <p:cNvSpPr/>
          <p:nvPr/>
        </p:nvSpPr>
        <p:spPr>
          <a:xfrm>
            <a:off x="560367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Perfil de riesgo de la persona</a:t>
            </a:r>
            <a:endParaRPr b="0" i="0" sz="400" u="none" cap="none" strike="noStrike">
              <a:solidFill>
                <a:schemeClr val="dk2"/>
              </a:solidFill>
              <a:latin typeface="Montserrat"/>
              <a:ea typeface="Montserrat"/>
              <a:cs typeface="Montserrat"/>
              <a:sym typeface="Montserrat"/>
            </a:endParaRPr>
          </a:p>
        </p:txBody>
      </p:sp>
      <p:sp>
        <p:nvSpPr>
          <p:cNvPr id="1871" name="Google Shape;1871;p27"/>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Data warehouse</a:t>
            </a:r>
            <a:endParaRPr b="0" i="0" sz="900" u="none" cap="none" strike="noStrike">
              <a:solidFill>
                <a:schemeClr val="dk2"/>
              </a:solidFill>
              <a:latin typeface="Montserrat"/>
              <a:ea typeface="Montserrat"/>
              <a:cs typeface="Montserrat"/>
              <a:sym typeface="Montserrat"/>
            </a:endParaRPr>
          </a:p>
        </p:txBody>
      </p:sp>
      <p:sp>
        <p:nvSpPr>
          <p:cNvPr id="1872" name="Google Shape;1872;p27"/>
          <p:cNvSpPr/>
          <p:nvPr/>
        </p:nvSpPr>
        <p:spPr>
          <a:xfrm>
            <a:off x="560367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información del cliente</a:t>
            </a:r>
            <a:endParaRPr b="0" i="0" sz="400" u="none" cap="none" strike="noStrike">
              <a:solidFill>
                <a:schemeClr val="dk2"/>
              </a:solidFill>
              <a:latin typeface="Montserrat"/>
              <a:ea typeface="Montserrat"/>
              <a:cs typeface="Montserrat"/>
              <a:sym typeface="Montserrat"/>
            </a:endParaRPr>
          </a:p>
        </p:txBody>
      </p:sp>
      <p:sp>
        <p:nvSpPr>
          <p:cNvPr id="1873" name="Google Shape;1873;p27"/>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Analítica</a:t>
            </a:r>
            <a:endParaRPr b="0" i="0" sz="900" u="none" cap="none" strike="noStrike">
              <a:solidFill>
                <a:schemeClr val="dk2"/>
              </a:solidFill>
              <a:latin typeface="Montserrat"/>
              <a:ea typeface="Montserrat"/>
              <a:cs typeface="Montserrat"/>
              <a:sym typeface="Montserrat"/>
            </a:endParaRPr>
          </a:p>
        </p:txBody>
      </p:sp>
      <p:sp>
        <p:nvSpPr>
          <p:cNvPr id="1874" name="Google Shape;1874;p27"/>
          <p:cNvSpPr/>
          <p:nvPr/>
        </p:nvSpPr>
        <p:spPr>
          <a:xfrm>
            <a:off x="5603670" y="279204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Datos Operacionales</a:t>
            </a:r>
            <a:endParaRPr b="0" i="0" sz="900" u="none" cap="none" strike="noStrike">
              <a:solidFill>
                <a:schemeClr val="lt1"/>
              </a:solidFill>
              <a:latin typeface="Montserrat"/>
              <a:ea typeface="Montserrat"/>
              <a:cs typeface="Montserrat"/>
              <a:sym typeface="Montserrat"/>
            </a:endParaRPr>
          </a:p>
        </p:txBody>
      </p:sp>
      <p:sp>
        <p:nvSpPr>
          <p:cNvPr id="1875" name="Google Shape;1875;p27"/>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Reportes Regulatorios</a:t>
            </a:r>
            <a:endParaRPr b="0" i="0" sz="400" u="none" cap="none" strike="noStrike">
              <a:solidFill>
                <a:schemeClr val="dk2"/>
              </a:solidFill>
              <a:latin typeface="Montserrat"/>
              <a:ea typeface="Montserrat"/>
              <a:cs typeface="Montserrat"/>
              <a:sym typeface="Montserrat"/>
            </a:endParaRPr>
          </a:p>
        </p:txBody>
      </p:sp>
      <p:sp>
        <p:nvSpPr>
          <p:cNvPr id="1876" name="Google Shape;1876;p27"/>
          <p:cNvSpPr/>
          <p:nvPr/>
        </p:nvSpPr>
        <p:spPr>
          <a:xfrm>
            <a:off x="4843050" y="2020465"/>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Reporte Operacional</a:t>
            </a:r>
            <a:endParaRPr b="0" i="0" sz="400" u="none" cap="none" strike="noStrike">
              <a:solidFill>
                <a:schemeClr val="lt1"/>
              </a:solidFill>
              <a:latin typeface="Montserrat"/>
              <a:ea typeface="Montserrat"/>
              <a:cs typeface="Montserrat"/>
              <a:sym typeface="Montserrat"/>
            </a:endParaRPr>
          </a:p>
        </p:txBody>
      </p:sp>
      <p:sp>
        <p:nvSpPr>
          <p:cNvPr id="1877" name="Google Shape;1877;p27"/>
          <p:cNvSpPr/>
          <p:nvPr/>
        </p:nvSpPr>
        <p:spPr>
          <a:xfrm>
            <a:off x="484305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contables</a:t>
            </a:r>
            <a:endParaRPr b="0" i="0" sz="900" u="none" cap="none" strike="noStrike">
              <a:solidFill>
                <a:schemeClr val="lt1"/>
              </a:solidFill>
              <a:latin typeface="Montserrat"/>
              <a:ea typeface="Montserrat"/>
              <a:cs typeface="Montserrat"/>
              <a:sym typeface="Montserrat"/>
            </a:endParaRPr>
          </a:p>
        </p:txBody>
      </p:sp>
      <p:sp>
        <p:nvSpPr>
          <p:cNvPr id="1878" name="Google Shape;1878;p27"/>
          <p:cNvSpPr/>
          <p:nvPr/>
        </p:nvSpPr>
        <p:spPr>
          <a:xfrm>
            <a:off x="4843050" y="2331579"/>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Informes de utilización (sistema)</a:t>
            </a:r>
            <a:endParaRPr b="0" i="0" sz="900" u="none" cap="none" strike="noStrike">
              <a:solidFill>
                <a:schemeClr val="lt1"/>
              </a:solidFill>
              <a:latin typeface="Montserrat"/>
              <a:ea typeface="Montserrat"/>
              <a:cs typeface="Montserrat"/>
              <a:sym typeface="Montserrat"/>
            </a:endParaRPr>
          </a:p>
        </p:txBody>
      </p:sp>
      <p:sp>
        <p:nvSpPr>
          <p:cNvPr id="1879" name="Google Shape;1879;p27"/>
          <p:cNvSpPr/>
          <p:nvPr/>
        </p:nvSpPr>
        <p:spPr>
          <a:xfrm>
            <a:off x="560367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de clientes</a:t>
            </a:r>
            <a:endParaRPr b="0" i="0" sz="400" u="none" cap="none" strike="noStrike">
              <a:solidFill>
                <a:schemeClr val="lt1"/>
              </a:solidFill>
              <a:latin typeface="Montserrat"/>
              <a:ea typeface="Montserrat"/>
              <a:cs typeface="Montserrat"/>
              <a:sym typeface="Montserrat"/>
            </a:endParaRPr>
          </a:p>
        </p:txBody>
      </p:sp>
      <p:sp>
        <p:nvSpPr>
          <p:cNvPr id="1880" name="Google Shape;1880;p27"/>
          <p:cNvSpPr/>
          <p:nvPr/>
        </p:nvSpPr>
        <p:spPr>
          <a:xfrm>
            <a:off x="5603670" y="2175520"/>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Reportes Transaccionales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 de clientes</a:t>
            </a:r>
            <a:endParaRPr b="0" i="0" sz="400" u="none" cap="none" strike="noStrike">
              <a:solidFill>
                <a:schemeClr val="dk2"/>
              </a:solidFill>
              <a:latin typeface="Montserrat"/>
              <a:ea typeface="Montserrat"/>
              <a:cs typeface="Montserrat"/>
              <a:sym typeface="Montserrat"/>
            </a:endParaRPr>
          </a:p>
        </p:txBody>
      </p:sp>
      <p:sp>
        <p:nvSpPr>
          <p:cNvPr id="1881" name="Google Shape;1881;p27"/>
          <p:cNvSpPr/>
          <p:nvPr/>
        </p:nvSpPr>
        <p:spPr>
          <a:xfrm>
            <a:off x="4840646"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Alertas y</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notificaciones</a:t>
            </a:r>
            <a:endParaRPr b="0" i="0" sz="400" u="none" cap="none" strike="noStrike">
              <a:solidFill>
                <a:schemeClr val="dk2"/>
              </a:solidFill>
              <a:latin typeface="Montserrat"/>
              <a:ea typeface="Montserrat"/>
              <a:cs typeface="Montserrat"/>
              <a:sym typeface="Montserrat"/>
            </a:endParaRPr>
          </a:p>
        </p:txBody>
      </p:sp>
      <p:sp>
        <p:nvSpPr>
          <p:cNvPr id="1882" name="Google Shape;1882;p27"/>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1883" name="Google Shape;1883;p27"/>
          <p:cNvSpPr/>
          <p:nvPr/>
        </p:nvSpPr>
        <p:spPr>
          <a:xfrm>
            <a:off x="4843050" y="217552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900" u="none" cap="none" strike="noStrike">
              <a:solidFill>
                <a:schemeClr val="lt1"/>
              </a:solidFill>
              <a:latin typeface="Montserrat"/>
              <a:ea typeface="Montserrat"/>
              <a:cs typeface="Montserrat"/>
              <a:sym typeface="Montserrat"/>
            </a:endParaRPr>
          </a:p>
        </p:txBody>
      </p:sp>
      <p:sp>
        <p:nvSpPr>
          <p:cNvPr id="1884" name="Google Shape;1884;p27"/>
          <p:cNvSpPr txBox="1"/>
          <p:nvPr/>
        </p:nvSpPr>
        <p:spPr>
          <a:xfrm>
            <a:off x="173169" y="166240"/>
            <a:ext cx="8695505"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del Nuevo Manejador de Tarjetas (CMS) en la arquitectura empresarial UNITY</a:t>
            </a:r>
            <a:endParaRPr b="0" i="0" sz="900" u="none" cap="none" strike="noStrike">
              <a:solidFill>
                <a:srgbClr val="000000"/>
              </a:solidFill>
              <a:latin typeface="Arial"/>
              <a:ea typeface="Arial"/>
              <a:cs typeface="Arial"/>
              <a:sym typeface="Arial"/>
            </a:endParaRPr>
          </a:p>
        </p:txBody>
      </p:sp>
      <p:sp>
        <p:nvSpPr>
          <p:cNvPr id="1885" name="Google Shape;1885;p27"/>
          <p:cNvSpPr/>
          <p:nvPr/>
        </p:nvSpPr>
        <p:spPr>
          <a:xfrm>
            <a:off x="7683381" y="4546105"/>
            <a:ext cx="1299902" cy="21755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6" name="Google Shape;1886;p27"/>
          <p:cNvSpPr/>
          <p:nvPr/>
        </p:nvSpPr>
        <p:spPr>
          <a:xfrm>
            <a:off x="155600" y="3644333"/>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1887" name="Google Shape;1887;p27"/>
          <p:cNvSpPr/>
          <p:nvPr/>
        </p:nvSpPr>
        <p:spPr>
          <a:xfrm>
            <a:off x="155600" y="686927"/>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1888" name="Google Shape;1888;p27"/>
          <p:cNvSpPr/>
          <p:nvPr/>
        </p:nvSpPr>
        <p:spPr>
          <a:xfrm>
            <a:off x="155601" y="883984"/>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1889" name="Google Shape;1889;p27"/>
          <p:cNvSpPr/>
          <p:nvPr/>
        </p:nvSpPr>
        <p:spPr>
          <a:xfrm>
            <a:off x="1205537"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1890" name="Google Shape;1890;p27"/>
          <p:cNvSpPr/>
          <p:nvPr/>
        </p:nvSpPr>
        <p:spPr>
          <a:xfrm>
            <a:off x="2309365"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1891" name="Google Shape;1891;p27"/>
          <p:cNvSpPr/>
          <p:nvPr/>
        </p:nvSpPr>
        <p:spPr>
          <a:xfrm>
            <a:off x="3413193"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1892" name="Google Shape;1892;p27"/>
          <p:cNvSpPr/>
          <p:nvPr/>
        </p:nvSpPr>
        <p:spPr>
          <a:xfrm>
            <a:off x="4517021"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1893" name="Google Shape;1893;p27"/>
          <p:cNvSpPr/>
          <p:nvPr/>
        </p:nvSpPr>
        <p:spPr>
          <a:xfrm>
            <a:off x="5620850"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1894" name="Google Shape;1894;p27"/>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1895" name="Google Shape;1895;p27"/>
          <p:cNvSpPr/>
          <p:nvPr/>
        </p:nvSpPr>
        <p:spPr>
          <a:xfrm>
            <a:off x="7828504"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Tarjeta de crédito</a:t>
            </a:r>
            <a:endParaRPr b="0" i="0" sz="500" u="none" cap="none" strike="noStrike">
              <a:solidFill>
                <a:schemeClr val="lt1"/>
              </a:solidFill>
              <a:latin typeface="Montserrat"/>
              <a:ea typeface="Montserrat"/>
              <a:cs typeface="Montserrat"/>
              <a:sym typeface="Montserrat"/>
            </a:endParaRPr>
          </a:p>
        </p:txBody>
      </p:sp>
      <p:sp>
        <p:nvSpPr>
          <p:cNvPr id="1896" name="Google Shape;1896;p27"/>
          <p:cNvSpPr/>
          <p:nvPr/>
        </p:nvSpPr>
        <p:spPr>
          <a:xfrm>
            <a:off x="157900" y="478699"/>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1897" name="Google Shape;1897;p27"/>
          <p:cNvSpPr/>
          <p:nvPr/>
        </p:nvSpPr>
        <p:spPr>
          <a:xfrm>
            <a:off x="1203986" y="499914"/>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1898" name="Google Shape;1898;p27"/>
          <p:cNvSpPr/>
          <p:nvPr/>
        </p:nvSpPr>
        <p:spPr>
          <a:xfrm>
            <a:off x="2748364"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1899" name="Google Shape;1899;p27"/>
          <p:cNvSpPr/>
          <p:nvPr/>
        </p:nvSpPr>
        <p:spPr>
          <a:xfrm>
            <a:off x="4292741"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1900" name="Google Shape;1900;p27"/>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1901" name="Google Shape;1901;p27"/>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1902" name="Google Shape;1902;p27"/>
          <p:cNvSpPr/>
          <p:nvPr/>
        </p:nvSpPr>
        <p:spPr>
          <a:xfrm>
            <a:off x="120398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1903" name="Google Shape;1903;p27"/>
          <p:cNvSpPr/>
          <p:nvPr/>
        </p:nvSpPr>
        <p:spPr>
          <a:xfrm>
            <a:off x="2062173"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Web/Online</a:t>
            </a:r>
            <a:endParaRPr b="0" i="0" sz="500" u="none" cap="none" strike="noStrike">
              <a:solidFill>
                <a:srgbClr val="FFFFFF"/>
              </a:solidFill>
              <a:latin typeface="Montserrat"/>
              <a:ea typeface="Montserrat"/>
              <a:cs typeface="Montserrat"/>
              <a:sym typeface="Montserrat"/>
            </a:endParaRPr>
          </a:p>
        </p:txBody>
      </p:sp>
      <p:sp>
        <p:nvSpPr>
          <p:cNvPr id="1904" name="Google Shape;1904;p27"/>
          <p:cNvSpPr/>
          <p:nvPr/>
        </p:nvSpPr>
        <p:spPr>
          <a:xfrm>
            <a:off x="3778546"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Sucursal</a:t>
            </a:r>
            <a:endParaRPr b="0" i="0" sz="500" u="none" cap="none" strike="noStrike">
              <a:solidFill>
                <a:schemeClr val="lt1"/>
              </a:solidFill>
              <a:latin typeface="Montserrat"/>
              <a:ea typeface="Montserrat"/>
              <a:cs typeface="Montserrat"/>
              <a:sym typeface="Montserrat"/>
            </a:endParaRPr>
          </a:p>
        </p:txBody>
      </p:sp>
      <p:sp>
        <p:nvSpPr>
          <p:cNvPr id="1905" name="Google Shape;1905;p27"/>
          <p:cNvSpPr/>
          <p:nvPr/>
        </p:nvSpPr>
        <p:spPr>
          <a:xfrm>
            <a:off x="4636733"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900" u="none" cap="none" strike="noStrike">
              <a:solidFill>
                <a:srgbClr val="000000"/>
              </a:solidFill>
              <a:latin typeface="Arial"/>
              <a:ea typeface="Arial"/>
              <a:cs typeface="Arial"/>
              <a:sym typeface="Arial"/>
            </a:endParaRPr>
          </a:p>
        </p:txBody>
      </p:sp>
      <p:sp>
        <p:nvSpPr>
          <p:cNvPr id="1906" name="Google Shape;1906;p27"/>
          <p:cNvSpPr/>
          <p:nvPr/>
        </p:nvSpPr>
        <p:spPr>
          <a:xfrm>
            <a:off x="5494920"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900" u="none" cap="none" strike="noStrike">
              <a:solidFill>
                <a:schemeClr val="lt1"/>
              </a:solidFill>
              <a:latin typeface="Arial"/>
              <a:ea typeface="Arial"/>
              <a:cs typeface="Arial"/>
              <a:sym typeface="Arial"/>
            </a:endParaRPr>
          </a:p>
        </p:txBody>
      </p:sp>
      <p:sp>
        <p:nvSpPr>
          <p:cNvPr id="1907" name="Google Shape;1907;p27"/>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1908" name="Google Shape;1908;p27"/>
          <p:cNvSpPr/>
          <p:nvPr/>
        </p:nvSpPr>
        <p:spPr>
          <a:xfrm>
            <a:off x="721129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75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Autoservicio</a:t>
            </a:r>
            <a:endParaRPr b="0" i="0" sz="400" u="none" cap="none" strike="noStrike">
              <a:solidFill>
                <a:schemeClr val="lt1"/>
              </a:solidFill>
              <a:latin typeface="Montserrat"/>
              <a:ea typeface="Montserrat"/>
              <a:cs typeface="Montserrat"/>
              <a:sym typeface="Montserrat"/>
            </a:endParaRPr>
          </a:p>
        </p:txBody>
      </p:sp>
      <p:sp>
        <p:nvSpPr>
          <p:cNvPr id="1909" name="Google Shape;1909;p27"/>
          <p:cNvSpPr/>
          <p:nvPr/>
        </p:nvSpPr>
        <p:spPr>
          <a:xfrm>
            <a:off x="8069478"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85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Terceros</a:t>
            </a:r>
            <a:endParaRPr b="0" i="0" sz="500" u="none" cap="none" strike="noStrike">
              <a:solidFill>
                <a:schemeClr val="lt1"/>
              </a:solidFill>
              <a:latin typeface="Montserrat"/>
              <a:ea typeface="Montserrat"/>
              <a:cs typeface="Montserrat"/>
              <a:sym typeface="Montserrat"/>
            </a:endParaRPr>
          </a:p>
        </p:txBody>
      </p:sp>
      <p:sp>
        <p:nvSpPr>
          <p:cNvPr id="1910" name="Google Shape;1910;p27"/>
          <p:cNvSpPr/>
          <p:nvPr/>
        </p:nvSpPr>
        <p:spPr>
          <a:xfrm>
            <a:off x="2926715" y="712158"/>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grpSp>
        <p:nvGrpSpPr>
          <p:cNvPr id="1911" name="Google Shape;1911;p27"/>
          <p:cNvGrpSpPr/>
          <p:nvPr/>
        </p:nvGrpSpPr>
        <p:grpSpPr>
          <a:xfrm>
            <a:off x="198406" y="4696156"/>
            <a:ext cx="8734889" cy="299690"/>
            <a:chOff x="198406" y="4645356"/>
            <a:chExt cx="8734889" cy="299690"/>
          </a:xfrm>
        </p:grpSpPr>
        <p:grpSp>
          <p:nvGrpSpPr>
            <p:cNvPr id="1912" name="Google Shape;1912;p27"/>
            <p:cNvGrpSpPr/>
            <p:nvPr/>
          </p:nvGrpSpPr>
          <p:grpSpPr>
            <a:xfrm>
              <a:off x="1503657" y="4660313"/>
              <a:ext cx="807625" cy="284725"/>
              <a:chOff x="1522664" y="3002518"/>
              <a:chExt cx="807625" cy="230759"/>
            </a:xfrm>
          </p:grpSpPr>
          <p:grpSp>
            <p:nvGrpSpPr>
              <p:cNvPr id="1913" name="Google Shape;1913;p27"/>
              <p:cNvGrpSpPr/>
              <p:nvPr/>
            </p:nvGrpSpPr>
            <p:grpSpPr>
              <a:xfrm>
                <a:off x="1522664" y="3002518"/>
                <a:ext cx="807625" cy="230759"/>
                <a:chOff x="13814585" y="1926698"/>
                <a:chExt cx="2486530" cy="804600"/>
              </a:xfrm>
            </p:grpSpPr>
            <p:sp>
              <p:nvSpPr>
                <p:cNvPr id="1914" name="Google Shape;1914;p27"/>
                <p:cNvSpPr/>
                <p:nvPr/>
              </p:nvSpPr>
              <p:spPr>
                <a:xfrm>
                  <a:off x="14062515" y="1977408"/>
                  <a:ext cx="2238600" cy="703200"/>
                </a:xfrm>
                <a:prstGeom prst="roundRect">
                  <a:avLst>
                    <a:gd fmla="val 50000" name="adj"/>
                  </a:avLst>
                </a:prstGeom>
                <a:solidFill>
                  <a:schemeClr val="accent1"/>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1915" name="Google Shape;1915;p27"/>
                <p:cNvGrpSpPr/>
                <p:nvPr/>
              </p:nvGrpSpPr>
              <p:grpSpPr>
                <a:xfrm>
                  <a:off x="14018731" y="2168949"/>
                  <a:ext cx="396177" cy="320504"/>
                  <a:chOff x="-3757613" y="5049838"/>
                  <a:chExt cx="5826126" cy="4713288"/>
                </a:xfrm>
              </p:grpSpPr>
              <p:sp>
                <p:nvSpPr>
                  <p:cNvPr id="1916" name="Google Shape;1916;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17" name="Google Shape;1917;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18" name="Google Shape;1918;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19" name="Google Shape;1919;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20" name="Google Shape;1920;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21" name="Google Shape;1921;p27"/>
                <p:cNvSpPr/>
                <p:nvPr/>
              </p:nvSpPr>
              <p:spPr>
                <a:xfrm>
                  <a:off x="13814585" y="1926698"/>
                  <a:ext cx="804600" cy="804600"/>
                </a:xfrm>
                <a:prstGeom prst="ellipse">
                  <a:avLst/>
                </a:prstGeom>
                <a:solidFill>
                  <a:srgbClr val="BFBFBF"/>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922" name="Google Shape;1922;p27"/>
              <p:cNvPicPr preferRelativeResize="0"/>
              <p:nvPr/>
            </p:nvPicPr>
            <p:blipFill rotWithShape="1">
              <a:blip r:embed="rId3">
                <a:alphaModFix/>
              </a:blip>
              <a:srcRect b="0" l="0" r="0" t="0"/>
              <a:stretch/>
            </p:blipFill>
            <p:spPr>
              <a:xfrm>
                <a:off x="1545256" y="3020281"/>
                <a:ext cx="192553" cy="170844"/>
              </a:xfrm>
              <a:prstGeom prst="rect">
                <a:avLst/>
              </a:prstGeom>
              <a:noFill/>
              <a:ln>
                <a:noFill/>
              </a:ln>
            </p:spPr>
          </p:pic>
        </p:grpSp>
        <p:grpSp>
          <p:nvGrpSpPr>
            <p:cNvPr id="1923" name="Google Shape;1923;p27"/>
            <p:cNvGrpSpPr/>
            <p:nvPr/>
          </p:nvGrpSpPr>
          <p:grpSpPr>
            <a:xfrm>
              <a:off x="6779440" y="4652423"/>
              <a:ext cx="848649" cy="284741"/>
              <a:chOff x="3536077" y="1822016"/>
              <a:chExt cx="1131531" cy="320472"/>
            </a:xfrm>
          </p:grpSpPr>
          <p:grpSp>
            <p:nvGrpSpPr>
              <p:cNvPr id="1924" name="Google Shape;1924;p27"/>
              <p:cNvGrpSpPr/>
              <p:nvPr/>
            </p:nvGrpSpPr>
            <p:grpSpPr>
              <a:xfrm>
                <a:off x="3536077" y="1822016"/>
                <a:ext cx="1131531" cy="320472"/>
                <a:chOff x="13814589" y="1926698"/>
                <a:chExt cx="2612633" cy="804600"/>
              </a:xfrm>
            </p:grpSpPr>
            <p:sp>
              <p:nvSpPr>
                <p:cNvPr id="1925" name="Google Shape;1925;p27"/>
                <p:cNvSpPr/>
                <p:nvPr/>
              </p:nvSpPr>
              <p:spPr>
                <a:xfrm>
                  <a:off x="13857778" y="1977406"/>
                  <a:ext cx="2569444"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1926" name="Google Shape;1926;p27"/>
                <p:cNvGrpSpPr/>
                <p:nvPr/>
              </p:nvGrpSpPr>
              <p:grpSpPr>
                <a:xfrm>
                  <a:off x="14018731" y="2168949"/>
                  <a:ext cx="396177" cy="320504"/>
                  <a:chOff x="-3757613" y="5049838"/>
                  <a:chExt cx="5826126" cy="4713288"/>
                </a:xfrm>
              </p:grpSpPr>
              <p:sp>
                <p:nvSpPr>
                  <p:cNvPr id="1927" name="Google Shape;1927;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28" name="Google Shape;1928;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29" name="Google Shape;1929;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30" name="Google Shape;1930;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31" name="Google Shape;1931;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32" name="Google Shape;1932;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33" name="Google Shape;1933;p27"/>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934" name="Google Shape;1934;p27"/>
              <p:cNvPicPr preferRelativeResize="0"/>
              <p:nvPr/>
            </p:nvPicPr>
            <p:blipFill rotWithShape="1">
              <a:blip r:embed="rId4">
                <a:alphaModFix/>
              </a:blip>
              <a:srcRect b="0" l="0" r="0" t="0"/>
              <a:stretch/>
            </p:blipFill>
            <p:spPr>
              <a:xfrm>
                <a:off x="3592187" y="1880579"/>
                <a:ext cx="237223" cy="210318"/>
              </a:xfrm>
              <a:prstGeom prst="rect">
                <a:avLst/>
              </a:prstGeom>
              <a:noFill/>
              <a:ln cap="flat" cmpd="sng" w="9525">
                <a:solidFill>
                  <a:srgbClr val="BFBFBF"/>
                </a:solidFill>
                <a:prstDash val="solid"/>
                <a:round/>
                <a:headEnd len="sm" w="sm" type="none"/>
                <a:tailEnd len="sm" w="sm" type="none"/>
              </a:ln>
            </p:spPr>
          </p:pic>
        </p:grpSp>
        <p:grpSp>
          <p:nvGrpSpPr>
            <p:cNvPr id="1935" name="Google Shape;1935;p27"/>
            <p:cNvGrpSpPr/>
            <p:nvPr/>
          </p:nvGrpSpPr>
          <p:grpSpPr>
            <a:xfrm>
              <a:off x="2808800" y="4652423"/>
              <a:ext cx="827267" cy="284741"/>
              <a:chOff x="1567187" y="1984411"/>
              <a:chExt cx="1103024" cy="320472"/>
            </a:xfrm>
          </p:grpSpPr>
          <p:grpSp>
            <p:nvGrpSpPr>
              <p:cNvPr id="1936" name="Google Shape;1936;p27"/>
              <p:cNvGrpSpPr/>
              <p:nvPr/>
            </p:nvGrpSpPr>
            <p:grpSpPr>
              <a:xfrm>
                <a:off x="1567187" y="1984411"/>
                <a:ext cx="1103024" cy="320472"/>
                <a:chOff x="13814589" y="1926698"/>
                <a:chExt cx="2546808" cy="804600"/>
              </a:xfrm>
            </p:grpSpPr>
            <p:sp>
              <p:nvSpPr>
                <p:cNvPr id="1937" name="Google Shape;1937;p27"/>
                <p:cNvSpPr/>
                <p:nvPr/>
              </p:nvSpPr>
              <p:spPr>
                <a:xfrm>
                  <a:off x="13891172" y="1977408"/>
                  <a:ext cx="247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1938" name="Google Shape;1938;p27"/>
                <p:cNvGrpSpPr/>
                <p:nvPr/>
              </p:nvGrpSpPr>
              <p:grpSpPr>
                <a:xfrm>
                  <a:off x="14018731" y="2168949"/>
                  <a:ext cx="396177" cy="320504"/>
                  <a:chOff x="-3757613" y="5049838"/>
                  <a:chExt cx="5826126" cy="4713288"/>
                </a:xfrm>
              </p:grpSpPr>
              <p:sp>
                <p:nvSpPr>
                  <p:cNvPr id="1939" name="Google Shape;1939;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940" name="Google Shape;1940;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941" name="Google Shape;1941;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942" name="Google Shape;1942;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943" name="Google Shape;1943;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1944" name="Google Shape;1944;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1945" name="Google Shape;1945;p27"/>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1946" name="Google Shape;1946;p27"/>
              <p:cNvPicPr preferRelativeResize="0"/>
              <p:nvPr/>
            </p:nvPicPr>
            <p:blipFill rotWithShape="1">
              <a:blip r:embed="rId5">
                <a:alphaModFix/>
              </a:blip>
              <a:srcRect b="0" l="0" r="0" t="0"/>
              <a:stretch/>
            </p:blipFill>
            <p:spPr>
              <a:xfrm>
                <a:off x="1612093" y="2025505"/>
                <a:ext cx="272555" cy="252119"/>
              </a:xfrm>
              <a:prstGeom prst="rect">
                <a:avLst/>
              </a:prstGeom>
              <a:noFill/>
              <a:ln cap="flat" cmpd="sng" w="9525">
                <a:solidFill>
                  <a:srgbClr val="BFBFBF"/>
                </a:solidFill>
                <a:prstDash val="solid"/>
                <a:round/>
                <a:headEnd len="sm" w="sm" type="none"/>
                <a:tailEnd len="sm" w="sm" type="none"/>
              </a:ln>
            </p:spPr>
          </p:pic>
        </p:grpSp>
        <p:grpSp>
          <p:nvGrpSpPr>
            <p:cNvPr id="1947" name="Google Shape;1947;p27"/>
            <p:cNvGrpSpPr/>
            <p:nvPr/>
          </p:nvGrpSpPr>
          <p:grpSpPr>
            <a:xfrm>
              <a:off x="4133585" y="4660305"/>
              <a:ext cx="825685" cy="284741"/>
              <a:chOff x="5704388" y="3794681"/>
              <a:chExt cx="1100915" cy="320472"/>
            </a:xfrm>
          </p:grpSpPr>
          <p:grpSp>
            <p:nvGrpSpPr>
              <p:cNvPr id="1948" name="Google Shape;1948;p27"/>
              <p:cNvGrpSpPr/>
              <p:nvPr/>
            </p:nvGrpSpPr>
            <p:grpSpPr>
              <a:xfrm>
                <a:off x="5704388" y="3794681"/>
                <a:ext cx="1100915" cy="320472"/>
                <a:chOff x="13814589" y="1926698"/>
                <a:chExt cx="2541938" cy="804600"/>
              </a:xfrm>
            </p:grpSpPr>
            <p:sp>
              <p:nvSpPr>
                <p:cNvPr id="1949" name="Google Shape;1949;p27"/>
                <p:cNvSpPr/>
                <p:nvPr/>
              </p:nvSpPr>
              <p:spPr>
                <a:xfrm>
                  <a:off x="13915650" y="1977408"/>
                  <a:ext cx="2440877"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1950" name="Google Shape;1950;p27"/>
                <p:cNvGrpSpPr/>
                <p:nvPr/>
              </p:nvGrpSpPr>
              <p:grpSpPr>
                <a:xfrm>
                  <a:off x="14018731" y="2168949"/>
                  <a:ext cx="396177" cy="320504"/>
                  <a:chOff x="-3757613" y="5049838"/>
                  <a:chExt cx="5826126" cy="4713288"/>
                </a:xfrm>
              </p:grpSpPr>
              <p:sp>
                <p:nvSpPr>
                  <p:cNvPr id="1951" name="Google Shape;1951;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52" name="Google Shape;1952;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53" name="Google Shape;1953;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54" name="Google Shape;1954;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55" name="Google Shape;1955;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56" name="Google Shape;1956;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57" name="Google Shape;1957;p27"/>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958" name="Google Shape;1958;p27"/>
              <p:cNvPicPr preferRelativeResize="0"/>
              <p:nvPr/>
            </p:nvPicPr>
            <p:blipFill rotWithShape="1">
              <a:blip r:embed="rId6">
                <a:alphaModFix/>
              </a:blip>
              <a:srcRect b="0" l="0" r="0" t="0"/>
              <a:stretch/>
            </p:blipFill>
            <p:spPr>
              <a:xfrm>
                <a:off x="5773564" y="3845375"/>
                <a:ext cx="223168" cy="205291"/>
              </a:xfrm>
              <a:prstGeom prst="rect">
                <a:avLst/>
              </a:prstGeom>
              <a:noFill/>
              <a:ln cap="flat" cmpd="sng" w="9525">
                <a:solidFill>
                  <a:srgbClr val="BFBFBF"/>
                </a:solidFill>
                <a:prstDash val="solid"/>
                <a:round/>
                <a:headEnd len="sm" w="sm" type="none"/>
                <a:tailEnd len="sm" w="sm" type="none"/>
              </a:ln>
            </p:spPr>
          </p:pic>
        </p:grpSp>
        <p:grpSp>
          <p:nvGrpSpPr>
            <p:cNvPr id="1959" name="Google Shape;1959;p27"/>
            <p:cNvGrpSpPr/>
            <p:nvPr/>
          </p:nvGrpSpPr>
          <p:grpSpPr>
            <a:xfrm>
              <a:off x="5456788" y="4645356"/>
              <a:ext cx="825134" cy="284741"/>
              <a:chOff x="2785851" y="1986995"/>
              <a:chExt cx="1100179" cy="320472"/>
            </a:xfrm>
          </p:grpSpPr>
          <p:grpSp>
            <p:nvGrpSpPr>
              <p:cNvPr id="1960" name="Google Shape;1960;p27"/>
              <p:cNvGrpSpPr/>
              <p:nvPr/>
            </p:nvGrpSpPr>
            <p:grpSpPr>
              <a:xfrm>
                <a:off x="2785851" y="1986995"/>
                <a:ext cx="1100179" cy="320472"/>
                <a:chOff x="13814589" y="1926698"/>
                <a:chExt cx="2540244" cy="804600"/>
              </a:xfrm>
            </p:grpSpPr>
            <p:sp>
              <p:nvSpPr>
                <p:cNvPr id="1961" name="Google Shape;1961;p27"/>
                <p:cNvSpPr/>
                <p:nvPr/>
              </p:nvSpPr>
              <p:spPr>
                <a:xfrm>
                  <a:off x="13964608" y="1977408"/>
                  <a:ext cx="239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1962" name="Google Shape;1962;p27"/>
                <p:cNvGrpSpPr/>
                <p:nvPr/>
              </p:nvGrpSpPr>
              <p:grpSpPr>
                <a:xfrm>
                  <a:off x="14018731" y="2168949"/>
                  <a:ext cx="396177" cy="320504"/>
                  <a:chOff x="-3757613" y="5049838"/>
                  <a:chExt cx="5826126" cy="4713288"/>
                </a:xfrm>
              </p:grpSpPr>
              <p:sp>
                <p:nvSpPr>
                  <p:cNvPr id="1963" name="Google Shape;1963;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64" name="Google Shape;1964;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65" name="Google Shape;1965;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66" name="Google Shape;1966;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67" name="Google Shape;1967;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68" name="Google Shape;1968;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69" name="Google Shape;1969;p27"/>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1970" name="Google Shape;1970;p27"/>
              <p:cNvPicPr preferRelativeResize="0"/>
              <p:nvPr/>
            </p:nvPicPr>
            <p:blipFill rotWithShape="1">
              <a:blip r:embed="rId7">
                <a:alphaModFix/>
              </a:blip>
              <a:srcRect b="0" l="0" r="0" t="0"/>
              <a:stretch/>
            </p:blipFill>
            <p:spPr>
              <a:xfrm>
                <a:off x="2837951" y="2036863"/>
                <a:ext cx="231350" cy="212818"/>
              </a:xfrm>
              <a:prstGeom prst="rect">
                <a:avLst/>
              </a:prstGeom>
              <a:noFill/>
              <a:ln cap="flat" cmpd="sng" w="9525">
                <a:solidFill>
                  <a:srgbClr val="BFBFBF"/>
                </a:solidFill>
                <a:prstDash val="solid"/>
                <a:round/>
                <a:headEnd len="sm" w="sm" type="none"/>
                <a:tailEnd len="sm" w="sm" type="none"/>
              </a:ln>
            </p:spPr>
          </p:pic>
        </p:grpSp>
        <p:grpSp>
          <p:nvGrpSpPr>
            <p:cNvPr id="1971" name="Google Shape;1971;p27"/>
            <p:cNvGrpSpPr/>
            <p:nvPr/>
          </p:nvGrpSpPr>
          <p:grpSpPr>
            <a:xfrm>
              <a:off x="8125609" y="4660305"/>
              <a:ext cx="807686" cy="284741"/>
              <a:chOff x="3756828" y="2436551"/>
              <a:chExt cx="1076914" cy="320472"/>
            </a:xfrm>
          </p:grpSpPr>
          <p:grpSp>
            <p:nvGrpSpPr>
              <p:cNvPr id="1972" name="Google Shape;1972;p27"/>
              <p:cNvGrpSpPr/>
              <p:nvPr/>
            </p:nvGrpSpPr>
            <p:grpSpPr>
              <a:xfrm>
                <a:off x="3756828" y="2436551"/>
                <a:ext cx="1076914" cy="320472"/>
                <a:chOff x="13814589" y="1926698"/>
                <a:chExt cx="2486526" cy="804600"/>
              </a:xfrm>
            </p:grpSpPr>
            <p:sp>
              <p:nvSpPr>
                <p:cNvPr id="1973" name="Google Shape;1973;p27"/>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1974" name="Google Shape;1974;p27"/>
                <p:cNvGrpSpPr/>
                <p:nvPr/>
              </p:nvGrpSpPr>
              <p:grpSpPr>
                <a:xfrm>
                  <a:off x="14018731" y="2168949"/>
                  <a:ext cx="396177" cy="320504"/>
                  <a:chOff x="-3757613" y="5049838"/>
                  <a:chExt cx="5826126" cy="4713288"/>
                </a:xfrm>
              </p:grpSpPr>
              <p:sp>
                <p:nvSpPr>
                  <p:cNvPr id="1975" name="Google Shape;1975;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76" name="Google Shape;1976;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77" name="Google Shape;1977;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78" name="Google Shape;1978;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79" name="Google Shape;1979;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80" name="Google Shape;1980;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81" name="Google Shape;1981;p27"/>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1982" name="Google Shape;1982;p27"/>
              <p:cNvPicPr preferRelativeResize="0"/>
              <p:nvPr/>
            </p:nvPicPr>
            <p:blipFill rotWithShape="1">
              <a:blip r:embed="rId8">
                <a:alphaModFix/>
              </a:blip>
              <a:srcRect b="0" l="0" r="0" t="0"/>
              <a:stretch/>
            </p:blipFill>
            <p:spPr>
              <a:xfrm>
                <a:off x="3826190" y="2481834"/>
                <a:ext cx="230642" cy="212165"/>
              </a:xfrm>
              <a:prstGeom prst="rect">
                <a:avLst/>
              </a:prstGeom>
              <a:noFill/>
              <a:ln cap="flat" cmpd="sng" w="9525">
                <a:solidFill>
                  <a:srgbClr val="BFBFBF"/>
                </a:solidFill>
                <a:prstDash val="solid"/>
                <a:round/>
                <a:headEnd len="sm" w="sm" type="none"/>
                <a:tailEnd len="sm" w="sm" type="none"/>
              </a:ln>
            </p:spPr>
          </p:pic>
        </p:grpSp>
        <p:grpSp>
          <p:nvGrpSpPr>
            <p:cNvPr id="1983" name="Google Shape;1983;p27"/>
            <p:cNvGrpSpPr/>
            <p:nvPr/>
          </p:nvGrpSpPr>
          <p:grpSpPr>
            <a:xfrm>
              <a:off x="198406" y="4660317"/>
              <a:ext cx="807733" cy="284716"/>
              <a:chOff x="1259501" y="3077120"/>
              <a:chExt cx="1076977" cy="320400"/>
            </a:xfrm>
          </p:grpSpPr>
          <p:sp>
            <p:nvSpPr>
              <p:cNvPr id="1984" name="Google Shape;1984;p27"/>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1985" name="Google Shape;1985;p27"/>
              <p:cNvGrpSpPr/>
              <p:nvPr/>
            </p:nvGrpSpPr>
            <p:grpSpPr>
              <a:xfrm>
                <a:off x="1347730" y="3173687"/>
                <a:ext cx="171871" cy="127730"/>
                <a:chOff x="-3757613" y="5049838"/>
                <a:chExt cx="5826126" cy="4713288"/>
              </a:xfrm>
            </p:grpSpPr>
            <p:sp>
              <p:nvSpPr>
                <p:cNvPr id="1986" name="Google Shape;1986;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87" name="Google Shape;1987;p27"/>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88" name="Google Shape;1988;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89" name="Google Shape;1989;p27"/>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90" name="Google Shape;1990;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1991" name="Google Shape;1991;p27"/>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1992" name="Google Shape;1992;p27"/>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1993" name="Google Shape;1993;p27"/>
              <p:cNvPicPr preferRelativeResize="0"/>
              <p:nvPr/>
            </p:nvPicPr>
            <p:blipFill rotWithShape="1">
              <a:blip r:embed="rId9">
                <a:alphaModFix/>
              </a:blip>
              <a:srcRect b="0" l="0" r="0" t="0"/>
              <a:stretch/>
            </p:blipFill>
            <p:spPr>
              <a:xfrm>
                <a:off x="1297196" y="3109639"/>
                <a:ext cx="259736" cy="240263"/>
              </a:xfrm>
              <a:prstGeom prst="rect">
                <a:avLst/>
              </a:prstGeom>
              <a:noFill/>
              <a:ln>
                <a:noFill/>
              </a:ln>
            </p:spPr>
          </p:pic>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7" name="Shape 1997"/>
        <p:cNvGrpSpPr/>
        <p:nvPr/>
      </p:nvGrpSpPr>
      <p:grpSpPr>
        <a:xfrm>
          <a:off x="0" y="0"/>
          <a:ext cx="0" cy="0"/>
          <a:chOff x="0" y="0"/>
          <a:chExt cx="0" cy="0"/>
        </a:xfrm>
      </p:grpSpPr>
      <p:sp>
        <p:nvSpPr>
          <p:cNvPr id="1998" name="Google Shape;1998;g251d9346719_0_0"/>
          <p:cNvSpPr txBox="1"/>
          <p:nvPr/>
        </p:nvSpPr>
        <p:spPr>
          <a:xfrm>
            <a:off x="7687700" y="4253025"/>
            <a:ext cx="12456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g251d9346719_0_0"/>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2000" name="Google Shape;2000;g251d9346719_0_0"/>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g251d9346719_0_0"/>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g251d9346719_0_0"/>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2003" name="Google Shape;2003;g251d9346719_0_0"/>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2004" name="Google Shape;2004;g251d9346719_0_0"/>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2005" name="Google Shape;2005;g251d9346719_0_0"/>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006" name="Google Shape;2006;g251d9346719_0_0"/>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2007" name="Google Shape;2007;g251d9346719_0_0"/>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008" name="Google Shape;2008;g251d9346719_0_0"/>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2009" name="Google Shape;2009;g251d9346719_0_0"/>
          <p:cNvSpPr/>
          <p:nvPr/>
        </p:nvSpPr>
        <p:spPr>
          <a:xfrm>
            <a:off x="3799284" y="3288556"/>
            <a:ext cx="5078100" cy="288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10" name="Google Shape;2010;g251d9346719_0_0"/>
          <p:cNvSpPr/>
          <p:nvPr/>
        </p:nvSpPr>
        <p:spPr>
          <a:xfrm>
            <a:off x="3798694" y="1148353"/>
            <a:ext cx="883800" cy="8808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11" name="Google Shape;2011;g251d9346719_0_0"/>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2012" name="Google Shape;2012;g251d9346719_0_0"/>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13" name="Google Shape;2013;g251d9346719_0_0"/>
          <p:cNvSpPr/>
          <p:nvPr/>
        </p:nvSpPr>
        <p:spPr>
          <a:xfrm>
            <a:off x="1203986" y="2776695"/>
            <a:ext cx="2494800" cy="4713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14" name="Google Shape;2014;g251d9346719_0_0"/>
          <p:cNvSpPr/>
          <p:nvPr/>
        </p:nvSpPr>
        <p:spPr>
          <a:xfrm>
            <a:off x="1204099" y="1806291"/>
            <a:ext cx="2494500" cy="934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015" name="Google Shape;2015;g251d9346719_0_0"/>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2016" name="Google Shape;2016;g251d9346719_0_0"/>
          <p:cNvSpPr/>
          <p:nvPr/>
        </p:nvSpPr>
        <p:spPr>
          <a:xfrm>
            <a:off x="1206566" y="1148353"/>
            <a:ext cx="2489700" cy="6219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017" name="Google Shape;2017;g251d9346719_0_0"/>
          <p:cNvSpPr/>
          <p:nvPr/>
        </p:nvSpPr>
        <p:spPr>
          <a:xfrm>
            <a:off x="6483514" y="1148351"/>
            <a:ext cx="2394900" cy="6237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018" name="Google Shape;2018;g251d9346719_0_0"/>
          <p:cNvSpPr/>
          <p:nvPr/>
        </p:nvSpPr>
        <p:spPr>
          <a:xfrm>
            <a:off x="6490037" y="2776695"/>
            <a:ext cx="2387400" cy="474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2019" name="Google Shape;2019;g251d9346719_0_0"/>
          <p:cNvSpPr/>
          <p:nvPr/>
        </p:nvSpPr>
        <p:spPr>
          <a:xfrm>
            <a:off x="6483514" y="1803271"/>
            <a:ext cx="2390400" cy="9366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2020" name="Google Shape;2020;g251d9346719_0_0"/>
          <p:cNvSpPr/>
          <p:nvPr/>
        </p:nvSpPr>
        <p:spPr>
          <a:xfrm>
            <a:off x="4782477" y="1148353"/>
            <a:ext cx="1606200" cy="5799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2021" name="Google Shape;2021;g251d9346719_0_0"/>
          <p:cNvSpPr/>
          <p:nvPr/>
        </p:nvSpPr>
        <p:spPr>
          <a:xfrm>
            <a:off x="4783580" y="2519181"/>
            <a:ext cx="1604100" cy="4398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022" name="Google Shape;2022;g251d9346719_0_0"/>
          <p:cNvSpPr/>
          <p:nvPr/>
        </p:nvSpPr>
        <p:spPr>
          <a:xfrm>
            <a:off x="4784086" y="1750565"/>
            <a:ext cx="1603200" cy="7485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23" name="Google Shape;2023;g251d9346719_0_0"/>
          <p:cNvSpPr/>
          <p:nvPr/>
        </p:nvSpPr>
        <p:spPr>
          <a:xfrm>
            <a:off x="4781464" y="2980599"/>
            <a:ext cx="1603500" cy="276600"/>
          </a:xfrm>
          <a:prstGeom prst="rect">
            <a:avLst/>
          </a:prstGeom>
          <a:noFill/>
          <a:ln cap="flat" cmpd="sng" w="9525">
            <a:solidFill>
              <a:schemeClr val="accent6"/>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024" name="Google Shape;2024;g251d9346719_0_0"/>
          <p:cNvSpPr/>
          <p:nvPr/>
        </p:nvSpPr>
        <p:spPr>
          <a:xfrm>
            <a:off x="5833996" y="389690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Conozca a su cliente (KYC)</a:t>
            </a:r>
            <a:endParaRPr b="0" i="0" sz="400" u="none" cap="none" strike="noStrike">
              <a:solidFill>
                <a:schemeClr val="lt1"/>
              </a:solidFill>
              <a:latin typeface="Montserrat"/>
              <a:ea typeface="Montserrat"/>
              <a:cs typeface="Montserrat"/>
              <a:sym typeface="Montserrat"/>
            </a:endParaRPr>
          </a:p>
        </p:txBody>
      </p:sp>
      <p:sp>
        <p:nvSpPr>
          <p:cNvPr id="2025" name="Google Shape;2025;g251d9346719_0_0"/>
          <p:cNvSpPr/>
          <p:nvPr/>
        </p:nvSpPr>
        <p:spPr>
          <a:xfrm>
            <a:off x="5833996" y="405064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Comportamiento de la transacción</a:t>
            </a:r>
            <a:endParaRPr b="0" i="0" sz="400" u="none" cap="none" strike="noStrike">
              <a:solidFill>
                <a:schemeClr val="lt1"/>
              </a:solidFill>
              <a:latin typeface="Montserrat"/>
              <a:ea typeface="Montserrat"/>
              <a:cs typeface="Montserrat"/>
              <a:sym typeface="Montserrat"/>
            </a:endParaRPr>
          </a:p>
        </p:txBody>
      </p:sp>
      <p:sp>
        <p:nvSpPr>
          <p:cNvPr id="2026" name="Google Shape;2026;g251d9346719_0_0"/>
          <p:cNvSpPr/>
          <p:nvPr/>
        </p:nvSpPr>
        <p:spPr>
          <a:xfrm>
            <a:off x="693777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Fondos disponibles</a:t>
            </a:r>
            <a:endParaRPr b="0" i="0" sz="400" u="none" cap="none" strike="noStrike">
              <a:solidFill>
                <a:schemeClr val="dk2"/>
              </a:solidFill>
              <a:latin typeface="Montserrat"/>
              <a:ea typeface="Montserrat"/>
              <a:cs typeface="Montserrat"/>
              <a:sym typeface="Montserrat"/>
            </a:endParaRPr>
          </a:p>
        </p:txBody>
      </p:sp>
      <p:sp>
        <p:nvSpPr>
          <p:cNvPr id="2027" name="Google Shape;2027;g251d9346719_0_0"/>
          <p:cNvSpPr/>
          <p:nvPr/>
        </p:nvSpPr>
        <p:spPr>
          <a:xfrm>
            <a:off x="6937778"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ingresos (entrantes)</a:t>
            </a:r>
            <a:endParaRPr b="0" i="0" sz="400" u="none" cap="none" strike="noStrike">
              <a:solidFill>
                <a:schemeClr val="dk2"/>
              </a:solidFill>
              <a:latin typeface="Montserrat"/>
              <a:ea typeface="Montserrat"/>
              <a:cs typeface="Montserrat"/>
              <a:sym typeface="Montserrat"/>
            </a:endParaRPr>
          </a:p>
        </p:txBody>
      </p:sp>
      <p:sp>
        <p:nvSpPr>
          <p:cNvPr id="2028" name="Google Shape;2028;g251d9346719_0_0"/>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2029" name="Google Shape;2029;g251d9346719_0_0"/>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Reclamaciones y disputas</a:t>
            </a:r>
            <a:endParaRPr b="0" i="0" sz="400" u="none" cap="none" strike="noStrike">
              <a:solidFill>
                <a:schemeClr val="dk2"/>
              </a:solidFill>
              <a:latin typeface="Montserrat"/>
              <a:ea typeface="Montserrat"/>
              <a:cs typeface="Montserrat"/>
              <a:sym typeface="Montserrat"/>
            </a:endParaRPr>
          </a:p>
        </p:txBody>
      </p:sp>
      <p:sp>
        <p:nvSpPr>
          <p:cNvPr id="2030" name="Google Shape;2030;g251d9346719_0_0"/>
          <p:cNvSpPr/>
          <p:nvPr/>
        </p:nvSpPr>
        <p:spPr>
          <a:xfrm>
            <a:off x="4715038" y="407014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Buró de crédito</a:t>
            </a:r>
            <a:endParaRPr b="0" i="0" sz="400" u="none" cap="none" strike="noStrike">
              <a:solidFill>
                <a:schemeClr val="lt1"/>
              </a:solidFill>
              <a:latin typeface="Montserrat"/>
              <a:ea typeface="Montserrat"/>
              <a:cs typeface="Montserrat"/>
              <a:sym typeface="Montserrat"/>
            </a:endParaRPr>
          </a:p>
        </p:txBody>
      </p:sp>
      <p:sp>
        <p:nvSpPr>
          <p:cNvPr id="2031" name="Google Shape;2031;g251d9346719_0_0"/>
          <p:cNvSpPr/>
          <p:nvPr/>
        </p:nvSpPr>
        <p:spPr>
          <a:xfrm>
            <a:off x="4715038" y="4220504"/>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Umbrales de riesgo (evaluar y modelar)</a:t>
            </a:r>
            <a:endParaRPr b="0" i="0" sz="400" u="none" cap="none" strike="noStrike">
              <a:solidFill>
                <a:schemeClr val="lt1"/>
              </a:solidFill>
              <a:latin typeface="Montserrat"/>
              <a:ea typeface="Montserrat"/>
              <a:cs typeface="Montserrat"/>
              <a:sym typeface="Montserrat"/>
            </a:endParaRPr>
          </a:p>
        </p:txBody>
      </p:sp>
      <p:sp>
        <p:nvSpPr>
          <p:cNvPr id="2032" name="Google Shape;2032;g251d9346719_0_0"/>
          <p:cNvSpPr/>
          <p:nvPr/>
        </p:nvSpPr>
        <p:spPr>
          <a:xfrm>
            <a:off x="4708161" y="3896900"/>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Gestión de restricciones de cuenta</a:t>
            </a:r>
            <a:endParaRPr b="0" i="0" sz="400" u="none" cap="none" strike="noStrike">
              <a:solidFill>
                <a:schemeClr val="lt1"/>
              </a:solidFill>
              <a:latin typeface="Montserrat"/>
              <a:ea typeface="Montserrat"/>
              <a:cs typeface="Montserrat"/>
              <a:sym typeface="Montserrat"/>
            </a:endParaRPr>
          </a:p>
        </p:txBody>
      </p:sp>
      <p:sp>
        <p:nvSpPr>
          <p:cNvPr id="2033" name="Google Shape;2033;g251d9346719_0_0"/>
          <p:cNvSpPr/>
          <p:nvPr/>
        </p:nvSpPr>
        <p:spPr>
          <a:xfrm>
            <a:off x="3555696" y="434491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locales y estatales</a:t>
            </a:r>
            <a:endParaRPr b="0" i="0" sz="400" u="none" cap="none" strike="noStrike">
              <a:solidFill>
                <a:schemeClr val="lt1"/>
              </a:solidFill>
              <a:latin typeface="Montserrat"/>
              <a:ea typeface="Montserrat"/>
              <a:cs typeface="Montserrat"/>
              <a:sym typeface="Montserrat"/>
            </a:endParaRPr>
          </a:p>
        </p:txBody>
      </p:sp>
      <p:sp>
        <p:nvSpPr>
          <p:cNvPr id="2034" name="Google Shape;2034;g251d9346719_0_0"/>
          <p:cNvSpPr/>
          <p:nvPr/>
        </p:nvSpPr>
        <p:spPr>
          <a:xfrm>
            <a:off x="3555696" y="389690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Consumidor y privacidad</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(cumplimiento)</a:t>
            </a:r>
            <a:endParaRPr b="0" i="0" sz="400" u="none" cap="none" strike="noStrike">
              <a:solidFill>
                <a:schemeClr val="lt1"/>
              </a:solidFill>
              <a:latin typeface="Montserrat"/>
              <a:ea typeface="Montserrat"/>
              <a:cs typeface="Montserrat"/>
              <a:sym typeface="Montserrat"/>
            </a:endParaRPr>
          </a:p>
        </p:txBody>
      </p:sp>
      <p:sp>
        <p:nvSpPr>
          <p:cNvPr id="2035" name="Google Shape;2035;g251d9346719_0_0"/>
          <p:cNvSpPr/>
          <p:nvPr/>
        </p:nvSpPr>
        <p:spPr>
          <a:xfrm>
            <a:off x="3555696" y="4046240"/>
            <a:ext cx="7227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México.</a:t>
            </a:r>
            <a:endParaRPr b="0" i="0" sz="400" u="none" cap="none" strike="noStrike">
              <a:solidFill>
                <a:schemeClr val="lt1"/>
              </a:solidFill>
              <a:latin typeface="Montserrat"/>
              <a:ea typeface="Montserrat"/>
              <a:cs typeface="Montserrat"/>
              <a:sym typeface="Montserrat"/>
            </a:endParaRPr>
          </a:p>
        </p:txBody>
      </p:sp>
      <p:sp>
        <p:nvSpPr>
          <p:cNvPr id="2036" name="Google Shape;2036;g251d9346719_0_0"/>
          <p:cNvSpPr/>
          <p:nvPr/>
        </p:nvSpPr>
        <p:spPr>
          <a:xfrm>
            <a:off x="3555696" y="419557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BANXICO</a:t>
            </a:r>
            <a:endParaRPr b="0" i="0" sz="400" u="none" cap="none" strike="noStrike">
              <a:solidFill>
                <a:schemeClr val="lt1"/>
              </a:solidFill>
              <a:latin typeface="Montserrat"/>
              <a:ea typeface="Montserrat"/>
              <a:cs typeface="Montserrat"/>
              <a:sym typeface="Montserrat"/>
            </a:endParaRPr>
          </a:p>
        </p:txBody>
      </p:sp>
      <p:sp>
        <p:nvSpPr>
          <p:cNvPr id="2037" name="Google Shape;2037;g251d9346719_0_0"/>
          <p:cNvSpPr/>
          <p:nvPr/>
        </p:nvSpPr>
        <p:spPr>
          <a:xfrm>
            <a:off x="1333302" y="4246040"/>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 del sistema (disposiciones)</a:t>
            </a:r>
            <a:endParaRPr b="0" i="0" sz="400" u="none" cap="none" strike="noStrike">
              <a:solidFill>
                <a:schemeClr val="lt1"/>
              </a:solidFill>
              <a:latin typeface="Montserrat"/>
              <a:ea typeface="Montserrat"/>
              <a:cs typeface="Montserrat"/>
              <a:sym typeface="Montserrat"/>
            </a:endParaRPr>
          </a:p>
        </p:txBody>
      </p:sp>
      <p:sp>
        <p:nvSpPr>
          <p:cNvPr id="2038" name="Google Shape;2038;g251d9346719_0_0"/>
          <p:cNvSpPr/>
          <p:nvPr/>
        </p:nvSpPr>
        <p:spPr>
          <a:xfrm>
            <a:off x="1333302" y="3896900"/>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Autenticación (validación de ID de cliente)</a:t>
            </a:r>
            <a:endParaRPr b="0" i="0" sz="400" u="none" cap="none" strike="noStrike">
              <a:solidFill>
                <a:schemeClr val="lt1"/>
              </a:solidFill>
              <a:latin typeface="Montserrat"/>
              <a:ea typeface="Montserrat"/>
              <a:cs typeface="Montserrat"/>
              <a:sym typeface="Montserrat"/>
            </a:endParaRPr>
          </a:p>
        </p:txBody>
      </p:sp>
      <p:sp>
        <p:nvSpPr>
          <p:cNvPr id="2039" name="Google Shape;2039;g251d9346719_0_0"/>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2040" name="Google Shape;2040;g251d9346719_0_0"/>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2041" name="Google Shape;2041;g251d9346719_0_0"/>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2042" name="Google Shape;2042;g251d9346719_0_0"/>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2043" name="Google Shape;2043;g251d9346719_0_0"/>
          <p:cNvSpPr/>
          <p:nvPr/>
        </p:nvSpPr>
        <p:spPr>
          <a:xfrm>
            <a:off x="1333302" y="4067547"/>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Inicio de sesión único</a:t>
            </a:r>
            <a:endParaRPr b="0" i="0" sz="900" u="none" cap="none" strike="noStrike">
              <a:solidFill>
                <a:schemeClr val="lt1"/>
              </a:solidFill>
              <a:latin typeface="Arial"/>
              <a:ea typeface="Arial"/>
              <a:cs typeface="Arial"/>
              <a:sym typeface="Arial"/>
            </a:endParaRPr>
          </a:p>
        </p:txBody>
      </p:sp>
      <p:sp>
        <p:nvSpPr>
          <p:cNvPr id="2044" name="Google Shape;2044;g251d9346719_0_0"/>
          <p:cNvSpPr/>
          <p:nvPr/>
        </p:nvSpPr>
        <p:spPr>
          <a:xfrm>
            <a:off x="2444808" y="389690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Recopilación de parámetros</a:t>
            </a:r>
            <a:endParaRPr b="0" i="0" sz="400" u="none" cap="none" strike="noStrike">
              <a:solidFill>
                <a:schemeClr val="lt1"/>
              </a:solidFill>
              <a:latin typeface="Montserrat"/>
              <a:ea typeface="Montserrat"/>
              <a:cs typeface="Montserrat"/>
              <a:sym typeface="Montserrat"/>
            </a:endParaRPr>
          </a:p>
        </p:txBody>
      </p:sp>
      <p:sp>
        <p:nvSpPr>
          <p:cNvPr id="2045" name="Google Shape;2045;g251d9346719_0_0"/>
          <p:cNvSpPr/>
          <p:nvPr/>
        </p:nvSpPr>
        <p:spPr>
          <a:xfrm>
            <a:off x="2444808" y="404624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inspección</a:t>
            </a:r>
            <a:endParaRPr b="0" i="0" sz="400" u="none" cap="none" strike="noStrike">
              <a:solidFill>
                <a:schemeClr val="lt1"/>
              </a:solidFill>
              <a:latin typeface="Montserrat"/>
              <a:ea typeface="Montserrat"/>
              <a:cs typeface="Montserrat"/>
              <a:sym typeface="Montserrat"/>
            </a:endParaRPr>
          </a:p>
        </p:txBody>
      </p:sp>
      <p:sp>
        <p:nvSpPr>
          <p:cNvPr id="2046" name="Google Shape;2046;g251d9346719_0_0"/>
          <p:cNvSpPr/>
          <p:nvPr/>
        </p:nvSpPr>
        <p:spPr>
          <a:xfrm>
            <a:off x="2444808" y="4344919"/>
            <a:ext cx="7227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notificación</a:t>
            </a:r>
            <a:endParaRPr b="0" i="0" sz="400" u="none" cap="none" strike="noStrike">
              <a:solidFill>
                <a:schemeClr val="lt1"/>
              </a:solidFill>
              <a:latin typeface="Montserrat"/>
              <a:ea typeface="Montserrat"/>
              <a:cs typeface="Montserrat"/>
              <a:sym typeface="Montserrat"/>
            </a:endParaRPr>
          </a:p>
        </p:txBody>
      </p:sp>
      <p:sp>
        <p:nvSpPr>
          <p:cNvPr id="2047" name="Google Shape;2047;g251d9346719_0_0"/>
          <p:cNvSpPr/>
          <p:nvPr/>
        </p:nvSpPr>
        <p:spPr>
          <a:xfrm>
            <a:off x="2444808" y="4195579"/>
            <a:ext cx="7227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revisión</a:t>
            </a:r>
            <a:endParaRPr b="0" i="0" sz="400" u="none" cap="none" strike="noStrike">
              <a:solidFill>
                <a:schemeClr val="lt1"/>
              </a:solidFill>
              <a:latin typeface="Montserrat"/>
              <a:ea typeface="Montserrat"/>
              <a:cs typeface="Montserrat"/>
              <a:sym typeface="Montserrat"/>
            </a:endParaRPr>
          </a:p>
        </p:txBody>
      </p:sp>
      <p:sp>
        <p:nvSpPr>
          <p:cNvPr id="2048" name="Google Shape;2048;g251d9346719_0_0"/>
          <p:cNvSpPr/>
          <p:nvPr/>
        </p:nvSpPr>
        <p:spPr>
          <a:xfrm>
            <a:off x="5519878" y="3397234"/>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Precio, honorarios y tarifas</a:t>
            </a:r>
            <a:endParaRPr b="0" i="0" sz="400" u="none" cap="none" strike="noStrike">
              <a:solidFill>
                <a:schemeClr val="dk2"/>
              </a:solidFill>
              <a:latin typeface="Montserrat"/>
              <a:ea typeface="Montserrat"/>
              <a:cs typeface="Montserrat"/>
              <a:sym typeface="Montserrat"/>
            </a:endParaRPr>
          </a:p>
        </p:txBody>
      </p:sp>
      <p:sp>
        <p:nvSpPr>
          <p:cNvPr id="2049" name="Google Shape;2049;g251d9346719_0_0"/>
          <p:cNvSpPr/>
          <p:nvPr/>
        </p:nvSpPr>
        <p:spPr>
          <a:xfrm>
            <a:off x="4689602"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Parametrización</a:t>
            </a:r>
            <a:endParaRPr b="0" i="0" sz="400" u="none" cap="none" strike="noStrike">
              <a:solidFill>
                <a:schemeClr val="dk2"/>
              </a:solidFill>
              <a:latin typeface="Montserrat"/>
              <a:ea typeface="Montserrat"/>
              <a:cs typeface="Montserrat"/>
              <a:sym typeface="Montserrat"/>
            </a:endParaRPr>
          </a:p>
        </p:txBody>
      </p:sp>
      <p:sp>
        <p:nvSpPr>
          <p:cNvPr id="2050" name="Google Shape;2050;g251d9346719_0_0"/>
          <p:cNvSpPr/>
          <p:nvPr/>
        </p:nvSpPr>
        <p:spPr>
          <a:xfrm>
            <a:off x="7168269" y="3397881"/>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 roles</a:t>
            </a:r>
            <a:endParaRPr b="0" i="0" sz="400" u="none" cap="none" strike="noStrike">
              <a:solidFill>
                <a:schemeClr val="dk2"/>
              </a:solidFill>
              <a:latin typeface="Montserrat"/>
              <a:ea typeface="Montserrat"/>
              <a:cs typeface="Montserrat"/>
              <a:sym typeface="Montserrat"/>
            </a:endParaRPr>
          </a:p>
        </p:txBody>
      </p:sp>
      <p:sp>
        <p:nvSpPr>
          <p:cNvPr id="2051" name="Google Shape;2051;g251d9346719_0_0"/>
          <p:cNvSpPr/>
          <p:nvPr/>
        </p:nvSpPr>
        <p:spPr>
          <a:xfrm>
            <a:off x="7977593" y="3397611"/>
            <a:ext cx="8370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motor de reglas</a:t>
            </a:r>
            <a:endParaRPr b="0" i="0" sz="400" u="none" cap="none" strike="noStrike">
              <a:solidFill>
                <a:schemeClr val="dk2"/>
              </a:solidFill>
              <a:latin typeface="Montserrat"/>
              <a:ea typeface="Montserrat"/>
              <a:cs typeface="Montserrat"/>
              <a:sym typeface="Montserrat"/>
            </a:endParaRPr>
          </a:p>
        </p:txBody>
      </p:sp>
      <p:sp>
        <p:nvSpPr>
          <p:cNvPr id="2052" name="Google Shape;2052;g251d9346719_0_0"/>
          <p:cNvSpPr/>
          <p:nvPr/>
        </p:nvSpPr>
        <p:spPr>
          <a:xfrm>
            <a:off x="6353107" y="3397516"/>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 gestión de productos</a:t>
            </a:r>
            <a:endParaRPr b="0" i="0" sz="400" u="none" cap="none" strike="noStrike">
              <a:solidFill>
                <a:schemeClr val="dk2"/>
              </a:solidFill>
              <a:latin typeface="Montserrat"/>
              <a:ea typeface="Montserrat"/>
              <a:cs typeface="Montserrat"/>
              <a:sym typeface="Montserrat"/>
            </a:endParaRPr>
          </a:p>
        </p:txBody>
      </p:sp>
      <p:sp>
        <p:nvSpPr>
          <p:cNvPr id="2053" name="Google Shape;2053;g251d9346719_0_0"/>
          <p:cNvSpPr/>
          <p:nvPr/>
        </p:nvSpPr>
        <p:spPr>
          <a:xfrm>
            <a:off x="3880064"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Modelos</a:t>
            </a:r>
            <a:endParaRPr b="0" i="0" sz="400" u="none" cap="none" strike="noStrike">
              <a:solidFill>
                <a:schemeClr val="dk2"/>
              </a:solidFill>
              <a:latin typeface="Montserrat"/>
              <a:ea typeface="Montserrat"/>
              <a:cs typeface="Montserrat"/>
              <a:sym typeface="Montserrat"/>
            </a:endParaRPr>
          </a:p>
        </p:txBody>
      </p:sp>
      <p:sp>
        <p:nvSpPr>
          <p:cNvPr id="2054" name="Google Shape;2054;g251d9346719_0_0"/>
          <p:cNvSpPr/>
          <p:nvPr/>
        </p:nvSpPr>
        <p:spPr>
          <a:xfrm>
            <a:off x="3880356" y="187757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Reconciliaciones</a:t>
            </a:r>
            <a:endParaRPr b="0" i="0" sz="400" u="none" cap="none" strike="noStrike">
              <a:solidFill>
                <a:schemeClr val="dk2"/>
              </a:solidFill>
              <a:latin typeface="Montserrat"/>
              <a:ea typeface="Montserrat"/>
              <a:cs typeface="Montserrat"/>
              <a:sym typeface="Montserrat"/>
            </a:endParaRPr>
          </a:p>
        </p:txBody>
      </p:sp>
      <p:sp>
        <p:nvSpPr>
          <p:cNvPr id="2055" name="Google Shape;2055;g251d9346719_0_0"/>
          <p:cNvSpPr/>
          <p:nvPr/>
        </p:nvSpPr>
        <p:spPr>
          <a:xfrm>
            <a:off x="3880356" y="125706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Ajustes</a:t>
            </a:r>
            <a:endParaRPr b="0" i="0" sz="400" u="none" cap="none" strike="noStrike">
              <a:solidFill>
                <a:schemeClr val="lt1"/>
              </a:solidFill>
              <a:latin typeface="Montserrat"/>
              <a:ea typeface="Montserrat"/>
              <a:cs typeface="Montserrat"/>
              <a:sym typeface="Montserrat"/>
            </a:endParaRPr>
          </a:p>
        </p:txBody>
      </p:sp>
      <p:sp>
        <p:nvSpPr>
          <p:cNvPr id="2056" name="Google Shape;2056;g251d9346719_0_0"/>
          <p:cNvSpPr/>
          <p:nvPr/>
        </p:nvSpPr>
        <p:spPr>
          <a:xfrm>
            <a:off x="3880356" y="156737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Excepciones</a:t>
            </a:r>
            <a:endParaRPr b="0" i="0" sz="400" u="none" cap="none" strike="noStrike">
              <a:solidFill>
                <a:schemeClr val="lt1"/>
              </a:solidFill>
              <a:latin typeface="Montserrat"/>
              <a:ea typeface="Montserrat"/>
              <a:cs typeface="Montserrat"/>
              <a:sym typeface="Montserrat"/>
            </a:endParaRPr>
          </a:p>
        </p:txBody>
      </p:sp>
      <p:sp>
        <p:nvSpPr>
          <p:cNvPr id="2057" name="Google Shape;2057;g251d9346719_0_0"/>
          <p:cNvSpPr/>
          <p:nvPr/>
        </p:nvSpPr>
        <p:spPr>
          <a:xfrm>
            <a:off x="3880356" y="141200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saldos</a:t>
            </a:r>
            <a:endParaRPr b="0" i="0" sz="400" u="none" cap="none" strike="noStrike">
              <a:solidFill>
                <a:schemeClr val="dk2"/>
              </a:solidFill>
              <a:latin typeface="Montserrat"/>
              <a:ea typeface="Montserrat"/>
              <a:cs typeface="Montserrat"/>
              <a:sym typeface="Montserrat"/>
            </a:endParaRPr>
          </a:p>
        </p:txBody>
      </p:sp>
      <p:sp>
        <p:nvSpPr>
          <p:cNvPr id="2058" name="Google Shape;2058;g251d9346719_0_0"/>
          <p:cNvSpPr/>
          <p:nvPr/>
        </p:nvSpPr>
        <p:spPr>
          <a:xfrm>
            <a:off x="3880356" y="172318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Contabilidad</a:t>
            </a:r>
            <a:endParaRPr b="0" i="0" sz="400" u="none" cap="none" strike="noStrike">
              <a:solidFill>
                <a:schemeClr val="dk2"/>
              </a:solidFill>
              <a:latin typeface="Montserrat"/>
              <a:ea typeface="Montserrat"/>
              <a:cs typeface="Montserrat"/>
              <a:sym typeface="Montserrat"/>
            </a:endParaRPr>
          </a:p>
        </p:txBody>
      </p:sp>
      <p:sp>
        <p:nvSpPr>
          <p:cNvPr id="2059" name="Google Shape;2059;g251d9346719_0_0"/>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2060" name="Google Shape;2060;g251d9346719_0_0"/>
          <p:cNvSpPr/>
          <p:nvPr/>
        </p:nvSpPr>
        <p:spPr>
          <a:xfrm>
            <a:off x="3880356" y="232511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Ventas/incentivos</a:t>
            </a:r>
            <a:endParaRPr b="0" i="0" sz="400" u="none" cap="none" strike="noStrike">
              <a:solidFill>
                <a:schemeClr val="dk2"/>
              </a:solidFill>
              <a:latin typeface="Montserrat"/>
              <a:ea typeface="Montserrat"/>
              <a:cs typeface="Montserrat"/>
              <a:sym typeface="Montserrat"/>
            </a:endParaRPr>
          </a:p>
        </p:txBody>
      </p:sp>
      <p:sp>
        <p:nvSpPr>
          <p:cNvPr id="2061" name="Google Shape;2061;g251d9346719_0_0"/>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la relación con el cliente</a:t>
            </a:r>
            <a:endParaRPr b="0" i="0" sz="400" u="none" cap="none" strike="noStrike">
              <a:solidFill>
                <a:schemeClr val="dk2"/>
              </a:solidFill>
              <a:latin typeface="Montserrat"/>
              <a:ea typeface="Montserrat"/>
              <a:cs typeface="Montserrat"/>
              <a:sym typeface="Montserrat"/>
            </a:endParaRPr>
          </a:p>
        </p:txBody>
      </p:sp>
      <p:sp>
        <p:nvSpPr>
          <p:cNvPr id="2062" name="Google Shape;2062;g251d9346719_0_0"/>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2063" name="Google Shape;2063;g251d9346719_0_0"/>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2064" name="Google Shape;2064;g251d9346719_0_0"/>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inversión</a:t>
            </a:r>
            <a:endParaRPr b="0" i="0" sz="400" u="none" cap="none" strike="noStrike">
              <a:solidFill>
                <a:schemeClr val="dk2"/>
              </a:solidFill>
              <a:latin typeface="Montserrat"/>
              <a:ea typeface="Montserrat"/>
              <a:cs typeface="Montserrat"/>
              <a:sym typeface="Montserrat"/>
            </a:endParaRPr>
          </a:p>
        </p:txBody>
      </p:sp>
      <p:sp>
        <p:nvSpPr>
          <p:cNvPr id="2065" name="Google Shape;2065;g251d9346719_0_0"/>
          <p:cNvSpPr/>
          <p:nvPr/>
        </p:nvSpPr>
        <p:spPr>
          <a:xfrm>
            <a:off x="2862242" y="2917874"/>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Gestión de documentos de imagen</a:t>
            </a:r>
            <a:endParaRPr b="0" i="0" sz="900" u="none" cap="none" strike="noStrike">
              <a:solidFill>
                <a:schemeClr val="lt1"/>
              </a:solidFill>
              <a:latin typeface="Montserrat"/>
              <a:ea typeface="Montserrat"/>
              <a:cs typeface="Montserrat"/>
              <a:sym typeface="Montserrat"/>
            </a:endParaRPr>
          </a:p>
        </p:txBody>
      </p:sp>
      <p:sp>
        <p:nvSpPr>
          <p:cNvPr id="2066" name="Google Shape;2066;g251d9346719_0_0"/>
          <p:cNvSpPr/>
          <p:nvPr/>
        </p:nvSpPr>
        <p:spPr>
          <a:xfrm>
            <a:off x="1291823" y="3073003"/>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Templates </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(correspondencia)</a:t>
            </a:r>
            <a:endParaRPr b="0" i="0" sz="900" u="none" cap="none" strike="noStrike">
              <a:solidFill>
                <a:schemeClr val="lt1"/>
              </a:solidFill>
              <a:latin typeface="Montserrat"/>
              <a:ea typeface="Montserrat"/>
              <a:cs typeface="Montserrat"/>
              <a:sym typeface="Montserrat"/>
            </a:endParaRPr>
          </a:p>
        </p:txBody>
      </p:sp>
      <p:sp>
        <p:nvSpPr>
          <p:cNvPr id="2067" name="Google Shape;2067;g251d9346719_0_0"/>
          <p:cNvSpPr/>
          <p:nvPr/>
        </p:nvSpPr>
        <p:spPr>
          <a:xfrm>
            <a:off x="2078085" y="2917470"/>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Divulgación y aceptar</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(Procesamienta de cuentas)</a:t>
            </a:r>
            <a:endParaRPr b="0" i="0" sz="900" u="none" cap="none" strike="noStrike">
              <a:solidFill>
                <a:schemeClr val="lt1"/>
              </a:solidFill>
              <a:latin typeface="Montserrat"/>
              <a:ea typeface="Montserrat"/>
              <a:cs typeface="Montserrat"/>
              <a:sym typeface="Montserrat"/>
            </a:endParaRPr>
          </a:p>
        </p:txBody>
      </p:sp>
      <p:sp>
        <p:nvSpPr>
          <p:cNvPr id="2068" name="Google Shape;2068;g251d9346719_0_0"/>
          <p:cNvSpPr/>
          <p:nvPr/>
        </p:nvSpPr>
        <p:spPr>
          <a:xfrm>
            <a:off x="1291823" y="2917470"/>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Documentación de cumplimiento de cuenta</a:t>
            </a:r>
            <a:endParaRPr b="0" i="0" sz="400" u="none" cap="none" strike="noStrike">
              <a:solidFill>
                <a:schemeClr val="lt1"/>
              </a:solidFill>
              <a:latin typeface="Montserrat"/>
              <a:ea typeface="Montserrat"/>
              <a:cs typeface="Montserrat"/>
              <a:sym typeface="Montserrat"/>
            </a:endParaRPr>
          </a:p>
        </p:txBody>
      </p:sp>
      <p:sp>
        <p:nvSpPr>
          <p:cNvPr id="2069" name="Google Shape;2069;g251d9346719_0_0"/>
          <p:cNvSpPr/>
          <p:nvPr/>
        </p:nvSpPr>
        <p:spPr>
          <a:xfrm>
            <a:off x="1294951"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de cuenta</a:t>
            </a:r>
            <a:endParaRPr b="0" i="0" sz="400" u="none" cap="none" strike="noStrike">
              <a:solidFill>
                <a:schemeClr val="dk2"/>
              </a:solidFill>
              <a:latin typeface="Montserrat"/>
              <a:ea typeface="Montserrat"/>
              <a:cs typeface="Montserrat"/>
              <a:sym typeface="Montserrat"/>
            </a:endParaRPr>
          </a:p>
        </p:txBody>
      </p:sp>
      <p:sp>
        <p:nvSpPr>
          <p:cNvPr id="2070" name="Google Shape;2070;g251d9346719_0_0"/>
          <p:cNvSpPr/>
          <p:nvPr/>
        </p:nvSpPr>
        <p:spPr>
          <a:xfrm>
            <a:off x="1294951" y="2232766"/>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Depositar fondos</a:t>
            </a:r>
            <a:endParaRPr b="0" i="0" sz="400" u="none" cap="none" strike="noStrike">
              <a:solidFill>
                <a:schemeClr val="dk2"/>
              </a:solidFill>
              <a:latin typeface="Montserrat"/>
              <a:ea typeface="Montserrat"/>
              <a:cs typeface="Montserrat"/>
              <a:sym typeface="Montserrat"/>
            </a:endParaRPr>
          </a:p>
        </p:txBody>
      </p:sp>
      <p:sp>
        <p:nvSpPr>
          <p:cNvPr id="2071" name="Google Shape;2071;g251d9346719_0_0"/>
          <p:cNvSpPr/>
          <p:nvPr/>
        </p:nvSpPr>
        <p:spPr>
          <a:xfrm>
            <a:off x="1294951"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Transferir fondos</a:t>
            </a:r>
            <a:endParaRPr b="0" i="0" sz="400" u="none" cap="none" strike="noStrike">
              <a:solidFill>
                <a:schemeClr val="dk2"/>
              </a:solidFill>
              <a:latin typeface="Montserrat"/>
              <a:ea typeface="Montserrat"/>
              <a:cs typeface="Montserrat"/>
              <a:sym typeface="Montserrat"/>
            </a:endParaRPr>
          </a:p>
        </p:txBody>
      </p:sp>
      <p:sp>
        <p:nvSpPr>
          <p:cNvPr id="2072" name="Google Shape;2072;g251d9346719_0_0"/>
          <p:cNvSpPr/>
          <p:nvPr/>
        </p:nvSpPr>
        <p:spPr>
          <a:xfrm>
            <a:off x="2862246"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Retirar fondos</a:t>
            </a:r>
            <a:endParaRPr b="0" i="0" sz="400" u="none" cap="none" strike="noStrike">
              <a:solidFill>
                <a:schemeClr val="dk2"/>
              </a:solidFill>
              <a:latin typeface="Montserrat"/>
              <a:ea typeface="Montserrat"/>
              <a:cs typeface="Montserrat"/>
              <a:sym typeface="Montserrat"/>
            </a:endParaRPr>
          </a:p>
        </p:txBody>
      </p:sp>
      <p:sp>
        <p:nvSpPr>
          <p:cNvPr id="2073" name="Google Shape;2073;g251d9346719_0_0"/>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Pequeñas empresas</a:t>
            </a:r>
            <a:endParaRPr b="0" i="0" sz="400" u="none" cap="none" strike="noStrike">
              <a:solidFill>
                <a:schemeClr val="dk2"/>
              </a:solidFill>
              <a:latin typeface="Montserrat"/>
              <a:ea typeface="Montserrat"/>
              <a:cs typeface="Montserrat"/>
              <a:sym typeface="Montserrat"/>
            </a:endParaRPr>
          </a:p>
        </p:txBody>
      </p:sp>
      <p:sp>
        <p:nvSpPr>
          <p:cNvPr id="2074" name="Google Shape;2074;g251d9346719_0_0"/>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el cliente</a:t>
            </a:r>
            <a:endParaRPr b="0" i="0" sz="400" u="none" cap="none" strike="noStrike">
              <a:solidFill>
                <a:schemeClr val="dk2"/>
              </a:solidFill>
              <a:latin typeface="Montserrat"/>
              <a:ea typeface="Montserrat"/>
              <a:cs typeface="Montserrat"/>
              <a:sym typeface="Montserrat"/>
            </a:endParaRPr>
          </a:p>
        </p:txBody>
      </p:sp>
      <p:sp>
        <p:nvSpPr>
          <p:cNvPr id="2075" name="Google Shape;2075;g251d9346719_0_0"/>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Originación de cuentas</a:t>
            </a:r>
            <a:endParaRPr b="0" i="0" sz="400" u="none" cap="none" strike="noStrike">
              <a:solidFill>
                <a:schemeClr val="dk2"/>
              </a:solidFill>
              <a:latin typeface="Montserrat"/>
              <a:ea typeface="Montserrat"/>
              <a:cs typeface="Montserrat"/>
              <a:sym typeface="Montserrat"/>
            </a:endParaRPr>
          </a:p>
        </p:txBody>
      </p:sp>
      <p:sp>
        <p:nvSpPr>
          <p:cNvPr id="2076" name="Google Shape;2076;g251d9346719_0_0"/>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cumplimiento./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Incorporación de clientes</a:t>
            </a:r>
            <a:endParaRPr b="0" i="0" sz="400" u="none" cap="none" strike="noStrike">
              <a:solidFill>
                <a:schemeClr val="dk2"/>
              </a:solidFill>
              <a:latin typeface="Montserrat"/>
              <a:ea typeface="Montserrat"/>
              <a:cs typeface="Montserrat"/>
              <a:sym typeface="Montserrat"/>
            </a:endParaRPr>
          </a:p>
        </p:txBody>
      </p:sp>
      <p:sp>
        <p:nvSpPr>
          <p:cNvPr id="2077" name="Google Shape;2077;g251d9346719_0_0"/>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configuración</a:t>
            </a:r>
            <a:endParaRPr b="0" i="0" sz="400" u="none" cap="none" strike="noStrike">
              <a:solidFill>
                <a:schemeClr val="dk2"/>
              </a:solidFill>
              <a:latin typeface="Montserrat"/>
              <a:ea typeface="Montserrat"/>
              <a:cs typeface="Montserrat"/>
              <a:sym typeface="Montserrat"/>
            </a:endParaRPr>
          </a:p>
        </p:txBody>
      </p:sp>
      <p:sp>
        <p:nvSpPr>
          <p:cNvPr id="2078" name="Google Shape;2078;g251d9346719_0_0"/>
          <p:cNvSpPr/>
          <p:nvPr/>
        </p:nvSpPr>
        <p:spPr>
          <a:xfrm>
            <a:off x="2078085"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Actualizar información</a:t>
            </a:r>
            <a:endParaRPr b="0" i="0" sz="400" u="none" cap="none" strike="noStrike">
              <a:solidFill>
                <a:schemeClr val="dk2"/>
              </a:solidFill>
              <a:latin typeface="Montserrat"/>
              <a:ea typeface="Montserrat"/>
              <a:cs typeface="Montserrat"/>
              <a:sym typeface="Montserrat"/>
            </a:endParaRPr>
          </a:p>
        </p:txBody>
      </p:sp>
      <p:sp>
        <p:nvSpPr>
          <p:cNvPr id="2079" name="Google Shape;2079;g251d9346719_0_0"/>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080" name="Google Shape;2080;g251d9346719_0_0"/>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calendario</a:t>
            </a:r>
            <a:endParaRPr b="0" i="0" sz="400" u="none" cap="none" strike="noStrike">
              <a:solidFill>
                <a:schemeClr val="dk2"/>
              </a:solidFill>
              <a:latin typeface="Montserrat"/>
              <a:ea typeface="Montserrat"/>
              <a:cs typeface="Montserrat"/>
              <a:sym typeface="Montserrat"/>
            </a:endParaRPr>
          </a:p>
        </p:txBody>
      </p:sp>
      <p:sp>
        <p:nvSpPr>
          <p:cNvPr id="2081" name="Google Shape;2081;g251d9346719_0_0"/>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que generan intereses</a:t>
            </a:r>
            <a:endParaRPr b="0" i="0" sz="400" u="none" cap="none" strike="noStrike">
              <a:solidFill>
                <a:schemeClr val="dk2"/>
              </a:solidFill>
              <a:latin typeface="Montserrat"/>
              <a:ea typeface="Montserrat"/>
              <a:cs typeface="Montserrat"/>
              <a:sym typeface="Montserrat"/>
            </a:endParaRPr>
          </a:p>
        </p:txBody>
      </p:sp>
      <p:sp>
        <p:nvSpPr>
          <p:cNvPr id="2082" name="Google Shape;2082;g251d9346719_0_0"/>
          <p:cNvSpPr/>
          <p:nvPr/>
        </p:nvSpPr>
        <p:spPr>
          <a:xfrm>
            <a:off x="2862246"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tarjeta de débito/ATM</a:t>
            </a:r>
            <a:endParaRPr b="0" i="0" sz="400" u="none" cap="none" strike="noStrike">
              <a:solidFill>
                <a:schemeClr val="dk2"/>
              </a:solidFill>
              <a:latin typeface="Montserrat"/>
              <a:ea typeface="Montserrat"/>
              <a:cs typeface="Montserrat"/>
              <a:sym typeface="Montserrat"/>
            </a:endParaRPr>
          </a:p>
        </p:txBody>
      </p:sp>
      <p:sp>
        <p:nvSpPr>
          <p:cNvPr id="2083" name="Google Shape;2083;g251d9346719_0_0"/>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 de facturas en línea</a:t>
            </a:r>
            <a:endParaRPr b="0" i="0" sz="400" u="none" cap="none" strike="noStrike">
              <a:solidFill>
                <a:schemeClr val="dk2"/>
              </a:solidFill>
              <a:latin typeface="Montserrat"/>
              <a:ea typeface="Montserrat"/>
              <a:cs typeface="Montserrat"/>
              <a:sym typeface="Montserrat"/>
            </a:endParaRPr>
          </a:p>
        </p:txBody>
      </p:sp>
      <p:sp>
        <p:nvSpPr>
          <p:cNvPr id="2084" name="Google Shape;2084;g251d9346719_0_0"/>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Encuestas/investigación</a:t>
            </a:r>
            <a:endParaRPr b="0" i="0" sz="900" u="none" cap="none" strike="noStrike">
              <a:solidFill>
                <a:schemeClr val="dk2"/>
              </a:solidFill>
              <a:latin typeface="Montserrat"/>
              <a:ea typeface="Montserrat"/>
              <a:cs typeface="Montserrat"/>
              <a:sym typeface="Montserrat"/>
            </a:endParaRPr>
          </a:p>
        </p:txBody>
      </p:sp>
      <p:sp>
        <p:nvSpPr>
          <p:cNvPr id="2085" name="Google Shape;2085;g251d9346719_0_0"/>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campañas</a:t>
            </a:r>
            <a:endParaRPr b="0" i="0" sz="900" u="none" cap="none" strike="noStrike">
              <a:solidFill>
                <a:schemeClr val="dk2"/>
              </a:solidFill>
              <a:latin typeface="Montserrat"/>
              <a:ea typeface="Montserrat"/>
              <a:cs typeface="Montserrat"/>
              <a:sym typeface="Montserrat"/>
            </a:endParaRPr>
          </a:p>
        </p:txBody>
      </p:sp>
      <p:sp>
        <p:nvSpPr>
          <p:cNvPr id="2086" name="Google Shape;2086;g251d9346719_0_0"/>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2087" name="Google Shape;2087;g251d9346719_0_0"/>
          <p:cNvSpPr/>
          <p:nvPr/>
        </p:nvSpPr>
        <p:spPr>
          <a:xfrm>
            <a:off x="129249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 la clase de producto</a:t>
            </a:r>
            <a:endParaRPr b="0" i="0" sz="400" u="none" cap="none" strike="noStrike">
              <a:solidFill>
                <a:schemeClr val="dk2"/>
              </a:solidFill>
              <a:latin typeface="Montserrat"/>
              <a:ea typeface="Montserrat"/>
              <a:cs typeface="Montserrat"/>
              <a:sym typeface="Montserrat"/>
            </a:endParaRPr>
          </a:p>
        </p:txBody>
      </p:sp>
      <p:sp>
        <p:nvSpPr>
          <p:cNvPr id="2088" name="Google Shape;2088;g251d9346719_0_0"/>
          <p:cNvSpPr/>
          <p:nvPr/>
        </p:nvSpPr>
        <p:spPr>
          <a:xfrm>
            <a:off x="129249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depósito a plazo</a:t>
            </a:r>
            <a:endParaRPr b="0" i="0" sz="400" u="none" cap="none" strike="noStrike">
              <a:solidFill>
                <a:schemeClr val="dk2"/>
              </a:solidFill>
              <a:latin typeface="Montserrat"/>
              <a:ea typeface="Montserrat"/>
              <a:cs typeface="Montserrat"/>
              <a:sym typeface="Montserrat"/>
            </a:endParaRPr>
          </a:p>
        </p:txBody>
      </p:sp>
      <p:sp>
        <p:nvSpPr>
          <p:cNvPr id="2089" name="Google Shape;2089;g251d9346719_0_0"/>
          <p:cNvSpPr/>
          <p:nvPr/>
        </p:nvSpPr>
        <p:spPr>
          <a:xfrm>
            <a:off x="129249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Corrientes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dk2"/>
              </a:solidFill>
              <a:latin typeface="Montserrat"/>
              <a:ea typeface="Montserrat"/>
              <a:cs typeface="Montserrat"/>
              <a:sym typeface="Montserrat"/>
            </a:endParaRPr>
          </a:p>
        </p:txBody>
      </p:sp>
      <p:sp>
        <p:nvSpPr>
          <p:cNvPr id="2090" name="Google Shape;2090;g251d9346719_0_0"/>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jubilación</a:t>
            </a:r>
            <a:endParaRPr b="0" i="0" sz="400" u="none" cap="none" strike="noStrike">
              <a:solidFill>
                <a:schemeClr val="dk2"/>
              </a:solidFill>
              <a:latin typeface="Montserrat"/>
              <a:ea typeface="Montserrat"/>
              <a:cs typeface="Montserrat"/>
              <a:sym typeface="Montserrat"/>
            </a:endParaRPr>
          </a:p>
        </p:txBody>
      </p:sp>
      <p:sp>
        <p:nvSpPr>
          <p:cNvPr id="2091" name="Google Shape;2091;g251d9346719_0_0"/>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Banco privado/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Servicios patrimoniales</a:t>
            </a:r>
            <a:endParaRPr b="0" i="0" sz="400" u="none" cap="none" strike="noStrike">
              <a:solidFill>
                <a:schemeClr val="dk2"/>
              </a:solidFill>
              <a:latin typeface="Montserrat"/>
              <a:ea typeface="Montserrat"/>
              <a:cs typeface="Montserrat"/>
              <a:sym typeface="Montserrat"/>
            </a:endParaRPr>
          </a:p>
        </p:txBody>
      </p:sp>
      <p:sp>
        <p:nvSpPr>
          <p:cNvPr id="2092" name="Google Shape;2092;g251d9346719_0_0"/>
          <p:cNvSpPr/>
          <p:nvPr/>
        </p:nvSpPr>
        <p:spPr>
          <a:xfrm>
            <a:off x="2863234"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ahorro</a:t>
            </a:r>
            <a:endParaRPr b="0" i="0" sz="400" u="none" cap="none" strike="noStrike">
              <a:solidFill>
                <a:schemeClr val="dk2"/>
              </a:solidFill>
              <a:latin typeface="Montserrat"/>
              <a:ea typeface="Montserrat"/>
              <a:cs typeface="Montserrat"/>
              <a:sym typeface="Montserrat"/>
            </a:endParaRPr>
          </a:p>
        </p:txBody>
      </p:sp>
      <p:sp>
        <p:nvSpPr>
          <p:cNvPr id="2093" name="Google Shape;2093;g251d9346719_0_0"/>
          <p:cNvSpPr/>
          <p:nvPr/>
        </p:nvSpPr>
        <p:spPr>
          <a:xfrm>
            <a:off x="207764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crédito</a:t>
            </a:r>
            <a:endParaRPr b="0" i="0" sz="400" u="none" cap="none" strike="noStrike">
              <a:solidFill>
                <a:schemeClr val="dk2"/>
              </a:solidFill>
              <a:latin typeface="Montserrat"/>
              <a:ea typeface="Montserrat"/>
              <a:cs typeface="Montserrat"/>
              <a:sym typeface="Montserrat"/>
            </a:endParaRPr>
          </a:p>
        </p:txBody>
      </p:sp>
      <p:sp>
        <p:nvSpPr>
          <p:cNvPr id="2094" name="Google Shape;2094;g251d9346719_0_0"/>
          <p:cNvSpPr/>
          <p:nvPr/>
        </p:nvSpPr>
        <p:spPr>
          <a:xfrm>
            <a:off x="207764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095" name="Google Shape;2095;g251d9346719_0_0"/>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saldo cero</a:t>
            </a:r>
            <a:endParaRPr b="0" i="0" sz="400" u="none" cap="none" strike="noStrike">
              <a:solidFill>
                <a:schemeClr val="dk2"/>
              </a:solidFill>
              <a:latin typeface="Montserrat"/>
              <a:ea typeface="Montserrat"/>
              <a:cs typeface="Montserrat"/>
              <a:sym typeface="Montserrat"/>
            </a:endParaRPr>
          </a:p>
        </p:txBody>
      </p:sp>
      <p:sp>
        <p:nvSpPr>
          <p:cNvPr id="2096" name="Google Shape;2096;g251d9346719_0_0"/>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2097" name="Google Shape;2097;g251d9346719_0_0"/>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Cheque de caja/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Giros postales</a:t>
            </a:r>
            <a:endParaRPr b="0" i="0" sz="400" u="none" cap="none" strike="noStrike">
              <a:solidFill>
                <a:schemeClr val="dk2"/>
              </a:solidFill>
              <a:latin typeface="Montserrat"/>
              <a:ea typeface="Montserrat"/>
              <a:cs typeface="Montserrat"/>
              <a:sym typeface="Montserrat"/>
            </a:endParaRPr>
          </a:p>
        </p:txBody>
      </p:sp>
      <p:sp>
        <p:nvSpPr>
          <p:cNvPr id="2098" name="Google Shape;2098;g251d9346719_0_0"/>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Sobregiro</a:t>
            </a:r>
            <a:endParaRPr b="0" i="0" sz="400" u="none" cap="none" strike="noStrike">
              <a:solidFill>
                <a:schemeClr val="dk2"/>
              </a:solidFill>
              <a:latin typeface="Montserrat"/>
              <a:ea typeface="Montserrat"/>
              <a:cs typeface="Montserrat"/>
              <a:sym typeface="Montserrat"/>
            </a:endParaRPr>
          </a:p>
        </p:txBody>
      </p:sp>
      <p:sp>
        <p:nvSpPr>
          <p:cNvPr id="2099" name="Google Shape;2099;g251d9346719_0_0"/>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a:t>
            </a:r>
            <a:endParaRPr b="0" i="0" sz="400" u="none" cap="none" strike="noStrike">
              <a:solidFill>
                <a:schemeClr val="dk2"/>
              </a:solidFill>
              <a:latin typeface="Montserrat"/>
              <a:ea typeface="Montserrat"/>
              <a:cs typeface="Montserrat"/>
              <a:sym typeface="Montserrat"/>
            </a:endParaRPr>
          </a:p>
        </p:txBody>
      </p:sp>
      <p:sp>
        <p:nvSpPr>
          <p:cNvPr id="2100" name="Google Shape;2100;g251d9346719_0_0"/>
          <p:cNvSpPr/>
          <p:nvPr/>
        </p:nvSpPr>
        <p:spPr>
          <a:xfrm>
            <a:off x="732383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básicos de gestión</a:t>
            </a:r>
            <a:endParaRPr b="0" i="0" sz="400" u="none" cap="none" strike="noStrike">
              <a:solidFill>
                <a:schemeClr val="dk2"/>
              </a:solidFill>
              <a:latin typeface="Montserrat"/>
              <a:ea typeface="Montserrat"/>
              <a:cs typeface="Montserrat"/>
              <a:sym typeface="Montserrat"/>
            </a:endParaRPr>
          </a:p>
        </p:txBody>
      </p:sp>
      <p:sp>
        <p:nvSpPr>
          <p:cNvPr id="2101" name="Google Shape;2101;g251d9346719_0_0"/>
          <p:cNvSpPr/>
          <p:nvPr/>
        </p:nvSpPr>
        <p:spPr>
          <a:xfrm>
            <a:off x="6567651" y="126164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Análisis de cuentas</a:t>
            </a:r>
            <a:endParaRPr b="0" i="0" sz="400" u="none" cap="none" strike="noStrike">
              <a:solidFill>
                <a:schemeClr val="lt1"/>
              </a:solidFill>
              <a:latin typeface="Montserrat"/>
              <a:ea typeface="Montserrat"/>
              <a:cs typeface="Montserrat"/>
              <a:sym typeface="Montserrat"/>
            </a:endParaRPr>
          </a:p>
        </p:txBody>
      </p:sp>
      <p:sp>
        <p:nvSpPr>
          <p:cNvPr id="2102" name="Google Shape;2102;g251d9346719_0_0"/>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2103" name="Google Shape;2103;g251d9346719_0_0"/>
          <p:cNvSpPr/>
          <p:nvPr/>
        </p:nvSpPr>
        <p:spPr>
          <a:xfrm>
            <a:off x="732383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Retiro de Efectivo</a:t>
            </a:r>
            <a:endParaRPr b="0" i="0" sz="400" u="none" cap="none" strike="noStrike">
              <a:solidFill>
                <a:schemeClr val="dk2"/>
              </a:solidFill>
              <a:latin typeface="Montserrat"/>
              <a:ea typeface="Montserrat"/>
              <a:cs typeface="Montserrat"/>
              <a:sym typeface="Montserrat"/>
            </a:endParaRPr>
          </a:p>
        </p:txBody>
      </p:sp>
      <p:sp>
        <p:nvSpPr>
          <p:cNvPr id="2104" name="Google Shape;2104;g251d9346719_0_0"/>
          <p:cNvSpPr/>
          <p:nvPr/>
        </p:nvSpPr>
        <p:spPr>
          <a:xfrm>
            <a:off x="6567651" y="141700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comerciales</a:t>
            </a:r>
            <a:endParaRPr b="0" i="0" sz="400" u="none" cap="none" strike="noStrike">
              <a:solidFill>
                <a:schemeClr val="lt1"/>
              </a:solidFill>
              <a:latin typeface="Montserrat"/>
              <a:ea typeface="Montserrat"/>
              <a:cs typeface="Montserrat"/>
              <a:sym typeface="Montserrat"/>
            </a:endParaRPr>
          </a:p>
        </p:txBody>
      </p:sp>
      <p:sp>
        <p:nvSpPr>
          <p:cNvPr id="2105" name="Google Shape;2105;g251d9346719_0_0"/>
          <p:cNvSpPr/>
          <p:nvPr/>
        </p:nvSpPr>
        <p:spPr>
          <a:xfrm>
            <a:off x="8082270"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del estado de cuenta</a:t>
            </a:r>
            <a:endParaRPr b="0" i="0" sz="400" u="none" cap="none" strike="noStrike">
              <a:solidFill>
                <a:schemeClr val="dk2"/>
              </a:solidFill>
              <a:latin typeface="Montserrat"/>
              <a:ea typeface="Montserrat"/>
              <a:cs typeface="Montserrat"/>
              <a:sym typeface="Montserrat"/>
            </a:endParaRPr>
          </a:p>
        </p:txBody>
      </p:sp>
      <p:sp>
        <p:nvSpPr>
          <p:cNvPr id="2106" name="Google Shape;2106;g251d9346719_0_0"/>
          <p:cNvSpPr/>
          <p:nvPr/>
        </p:nvSpPr>
        <p:spPr>
          <a:xfrm>
            <a:off x="732328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estado de cuenta/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Seguimiento histórico</a:t>
            </a:r>
            <a:endParaRPr b="0" i="0" sz="400" u="none" cap="none" strike="noStrike">
              <a:solidFill>
                <a:schemeClr val="dk2"/>
              </a:solidFill>
              <a:latin typeface="Montserrat"/>
              <a:ea typeface="Montserrat"/>
              <a:cs typeface="Montserrat"/>
              <a:sym typeface="Montserrat"/>
            </a:endParaRPr>
          </a:p>
        </p:txBody>
      </p:sp>
      <p:sp>
        <p:nvSpPr>
          <p:cNvPr id="2107" name="Google Shape;2107;g251d9346719_0_0"/>
          <p:cNvSpPr/>
          <p:nvPr/>
        </p:nvSpPr>
        <p:spPr>
          <a:xfrm>
            <a:off x="732328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del estado de cuenta</a:t>
            </a:r>
            <a:endParaRPr b="0" i="0" sz="400" u="none" cap="none" strike="noStrike">
              <a:solidFill>
                <a:schemeClr val="dk2"/>
              </a:solidFill>
              <a:latin typeface="Montserrat"/>
              <a:ea typeface="Montserrat"/>
              <a:cs typeface="Montserrat"/>
              <a:sym typeface="Montserrat"/>
            </a:endParaRPr>
          </a:p>
        </p:txBody>
      </p:sp>
      <p:sp>
        <p:nvSpPr>
          <p:cNvPr id="2108" name="Google Shape;2108;g251d9346719_0_0"/>
          <p:cNvSpPr/>
          <p:nvPr/>
        </p:nvSpPr>
        <p:spPr>
          <a:xfrm>
            <a:off x="656847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estado de cuenta</a:t>
            </a:r>
            <a:endParaRPr b="0" i="0" sz="400" u="none" cap="none" strike="noStrike">
              <a:solidFill>
                <a:schemeClr val="dk2"/>
              </a:solidFill>
              <a:latin typeface="Montserrat"/>
              <a:ea typeface="Montserrat"/>
              <a:cs typeface="Montserrat"/>
              <a:sym typeface="Montserrat"/>
            </a:endParaRPr>
          </a:p>
        </p:txBody>
      </p:sp>
      <p:sp>
        <p:nvSpPr>
          <p:cNvPr id="2109" name="Google Shape;2109;g251d9346719_0_0"/>
          <p:cNvSpPr/>
          <p:nvPr/>
        </p:nvSpPr>
        <p:spPr>
          <a:xfrm>
            <a:off x="656847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 estados de cuenta en línea</a:t>
            </a:r>
            <a:endParaRPr b="0" i="0" sz="400" u="none" cap="none" strike="noStrike">
              <a:solidFill>
                <a:schemeClr val="dk2"/>
              </a:solidFill>
              <a:latin typeface="Montserrat"/>
              <a:ea typeface="Montserrat"/>
              <a:cs typeface="Montserrat"/>
              <a:sym typeface="Montserrat"/>
            </a:endParaRPr>
          </a:p>
        </p:txBody>
      </p:sp>
      <p:sp>
        <p:nvSpPr>
          <p:cNvPr id="2110" name="Google Shape;2110;g251d9346719_0_0"/>
          <p:cNvSpPr/>
          <p:nvPr/>
        </p:nvSpPr>
        <p:spPr>
          <a:xfrm>
            <a:off x="8077267" y="238428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Originaciones de procesos</a:t>
            </a:r>
            <a:endParaRPr b="0" i="0" sz="400" u="none" cap="none" strike="noStrike">
              <a:solidFill>
                <a:schemeClr val="lt1"/>
              </a:solidFill>
              <a:latin typeface="Montserrat"/>
              <a:ea typeface="Montserrat"/>
              <a:cs typeface="Montserrat"/>
              <a:sym typeface="Montserrat"/>
            </a:endParaRPr>
          </a:p>
        </p:txBody>
      </p:sp>
      <p:sp>
        <p:nvSpPr>
          <p:cNvPr id="2111" name="Google Shape;2111;g251d9346719_0_0"/>
          <p:cNvSpPr/>
          <p:nvPr/>
        </p:nvSpPr>
        <p:spPr>
          <a:xfrm>
            <a:off x="6562648"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 del día y BATCH</a:t>
            </a:r>
            <a:endParaRPr b="0" i="0" sz="400" u="none" cap="none" strike="noStrike">
              <a:solidFill>
                <a:schemeClr val="dk2"/>
              </a:solidFill>
              <a:latin typeface="Montserrat"/>
              <a:ea typeface="Montserrat"/>
              <a:cs typeface="Montserrat"/>
              <a:sym typeface="Montserrat"/>
            </a:endParaRPr>
          </a:p>
        </p:txBody>
      </p:sp>
      <p:sp>
        <p:nvSpPr>
          <p:cNvPr id="2112" name="Google Shape;2112;g251d9346719_0_0"/>
          <p:cNvSpPr/>
          <p:nvPr/>
        </p:nvSpPr>
        <p:spPr>
          <a:xfrm>
            <a:off x="6562648"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Contable</a:t>
            </a:r>
            <a:endParaRPr b="0" i="0" sz="400" u="none" cap="none" strike="noStrike">
              <a:solidFill>
                <a:schemeClr val="dk2"/>
              </a:solidFill>
              <a:latin typeface="Montserrat"/>
              <a:ea typeface="Montserrat"/>
              <a:cs typeface="Montserrat"/>
              <a:sym typeface="Montserrat"/>
            </a:endParaRPr>
          </a:p>
        </p:txBody>
      </p:sp>
      <p:sp>
        <p:nvSpPr>
          <p:cNvPr id="2113" name="Google Shape;2113;g251d9346719_0_0"/>
          <p:cNvSpPr/>
          <p:nvPr/>
        </p:nvSpPr>
        <p:spPr>
          <a:xfrm>
            <a:off x="8077267"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 transferencia</a:t>
            </a:r>
            <a:endParaRPr b="0" i="0" sz="400" u="none" cap="none" strike="noStrike">
              <a:solidFill>
                <a:schemeClr val="dk2"/>
              </a:solidFill>
              <a:latin typeface="Montserrat"/>
              <a:ea typeface="Montserrat"/>
              <a:cs typeface="Montserrat"/>
              <a:sym typeface="Montserrat"/>
            </a:endParaRPr>
          </a:p>
        </p:txBody>
      </p:sp>
      <p:sp>
        <p:nvSpPr>
          <p:cNvPr id="2114" name="Google Shape;2114;g251d9346719_0_0"/>
          <p:cNvSpPr/>
          <p:nvPr/>
        </p:nvSpPr>
        <p:spPr>
          <a:xfrm>
            <a:off x="7319255"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Planificación y preparación</a:t>
            </a:r>
            <a:endParaRPr b="0" i="0" sz="400" u="none" cap="none" strike="noStrike">
              <a:solidFill>
                <a:schemeClr val="dk2"/>
              </a:solidFill>
              <a:latin typeface="Montserrat"/>
              <a:ea typeface="Montserrat"/>
              <a:cs typeface="Montserrat"/>
              <a:sym typeface="Montserrat"/>
            </a:endParaRPr>
          </a:p>
        </p:txBody>
      </p:sp>
      <p:sp>
        <p:nvSpPr>
          <p:cNvPr id="2115" name="Google Shape;2115;g251d9346719_0_0"/>
          <p:cNvSpPr/>
          <p:nvPr/>
        </p:nvSpPr>
        <p:spPr>
          <a:xfrm>
            <a:off x="7319255"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cheques</a:t>
            </a:r>
            <a:endParaRPr b="0" i="0" sz="400" u="none" cap="none" strike="noStrike">
              <a:solidFill>
                <a:schemeClr val="dk2"/>
              </a:solidFill>
              <a:latin typeface="Montserrat"/>
              <a:ea typeface="Montserrat"/>
              <a:cs typeface="Montserrat"/>
              <a:sym typeface="Montserrat"/>
            </a:endParaRPr>
          </a:p>
        </p:txBody>
      </p:sp>
      <p:sp>
        <p:nvSpPr>
          <p:cNvPr id="2116" name="Google Shape;2116;g251d9346719_0_0"/>
          <p:cNvSpPr/>
          <p:nvPr/>
        </p:nvSpPr>
        <p:spPr>
          <a:xfrm>
            <a:off x="8076183"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del día 1 y día 2</a:t>
            </a:r>
            <a:endParaRPr b="0" i="0" sz="400" u="none" cap="none" strike="noStrike">
              <a:solidFill>
                <a:schemeClr val="dk2"/>
              </a:solidFill>
              <a:latin typeface="Montserrat"/>
              <a:ea typeface="Montserrat"/>
              <a:cs typeface="Montserrat"/>
              <a:sym typeface="Montserrat"/>
            </a:endParaRPr>
          </a:p>
        </p:txBody>
      </p:sp>
      <p:sp>
        <p:nvSpPr>
          <p:cNvPr id="2117" name="Google Shape;2117;g251d9346719_0_0"/>
          <p:cNvSpPr/>
          <p:nvPr/>
        </p:nvSpPr>
        <p:spPr>
          <a:xfrm>
            <a:off x="8076183"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depósito</a:t>
            </a:r>
            <a:endParaRPr b="0" i="0" sz="400" u="none" cap="none" strike="noStrike">
              <a:solidFill>
                <a:schemeClr val="dk2"/>
              </a:solidFill>
              <a:latin typeface="Montserrat"/>
              <a:ea typeface="Montserrat"/>
              <a:cs typeface="Montserrat"/>
              <a:sym typeface="Montserrat"/>
            </a:endParaRPr>
          </a:p>
        </p:txBody>
      </p:sp>
      <p:sp>
        <p:nvSpPr>
          <p:cNvPr id="2118" name="Google Shape;2118;g251d9346719_0_0"/>
          <p:cNvSpPr/>
          <p:nvPr/>
        </p:nvSpPr>
        <p:spPr>
          <a:xfrm>
            <a:off x="6563476"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electrónicas</a:t>
            </a:r>
            <a:endParaRPr b="0" i="0" sz="400" u="none" cap="none" strike="noStrike">
              <a:solidFill>
                <a:schemeClr val="dk2"/>
              </a:solidFill>
              <a:latin typeface="Montserrat"/>
              <a:ea typeface="Montserrat"/>
              <a:cs typeface="Montserrat"/>
              <a:sym typeface="Montserrat"/>
            </a:endParaRPr>
          </a:p>
        </p:txBody>
      </p:sp>
      <p:sp>
        <p:nvSpPr>
          <p:cNvPr id="2119" name="Google Shape;2119;g251d9346719_0_0"/>
          <p:cNvSpPr/>
          <p:nvPr/>
        </p:nvSpPr>
        <p:spPr>
          <a:xfrm>
            <a:off x="7319255"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120" name="Google Shape;2120;g251d9346719_0_0"/>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Camara de Compensación</a:t>
            </a:r>
            <a:endParaRPr b="0" i="0" sz="400" u="none" cap="none" strike="noStrike">
              <a:solidFill>
                <a:schemeClr val="dk2"/>
              </a:solidFill>
              <a:latin typeface="Montserrat"/>
              <a:ea typeface="Montserrat"/>
              <a:cs typeface="Montserrat"/>
              <a:sym typeface="Montserrat"/>
            </a:endParaRPr>
          </a:p>
        </p:txBody>
      </p:sp>
      <p:sp>
        <p:nvSpPr>
          <p:cNvPr id="2121" name="Google Shape;2121;g251d9346719_0_0"/>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pagos</a:t>
            </a:r>
            <a:endParaRPr b="0" i="0" sz="400" u="none" cap="none" strike="noStrike">
              <a:solidFill>
                <a:schemeClr val="dk2"/>
              </a:solidFill>
              <a:latin typeface="Montserrat"/>
              <a:ea typeface="Montserrat"/>
              <a:cs typeface="Montserrat"/>
              <a:sym typeface="Montserrat"/>
            </a:endParaRPr>
          </a:p>
        </p:txBody>
      </p:sp>
      <p:sp>
        <p:nvSpPr>
          <p:cNvPr id="2122" name="Google Shape;2122;g251d9346719_0_0"/>
          <p:cNvSpPr/>
          <p:nvPr/>
        </p:nvSpPr>
        <p:spPr>
          <a:xfrm>
            <a:off x="7319255"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cuentas de préstamo</a:t>
            </a:r>
            <a:endParaRPr b="0" i="0" sz="400" u="none" cap="none" strike="noStrike">
              <a:solidFill>
                <a:schemeClr val="dk2"/>
              </a:solidFill>
              <a:latin typeface="Montserrat"/>
              <a:ea typeface="Montserrat"/>
              <a:cs typeface="Montserrat"/>
              <a:sym typeface="Montserrat"/>
            </a:endParaRPr>
          </a:p>
        </p:txBody>
      </p:sp>
      <p:sp>
        <p:nvSpPr>
          <p:cNvPr id="2123" name="Google Shape;2123;g251d9346719_0_0"/>
          <p:cNvSpPr/>
          <p:nvPr/>
        </p:nvSpPr>
        <p:spPr>
          <a:xfrm>
            <a:off x="6562648"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Facturación</a:t>
            </a:r>
            <a:endParaRPr b="0" i="0" sz="400" u="none" cap="none" strike="noStrike">
              <a:solidFill>
                <a:schemeClr val="dk2"/>
              </a:solidFill>
              <a:latin typeface="Montserrat"/>
              <a:ea typeface="Montserrat"/>
              <a:cs typeface="Montserrat"/>
              <a:sym typeface="Montserrat"/>
            </a:endParaRPr>
          </a:p>
        </p:txBody>
      </p:sp>
      <p:sp>
        <p:nvSpPr>
          <p:cNvPr id="2124" name="Google Shape;2124;g251d9346719_0_0"/>
          <p:cNvSpPr/>
          <p:nvPr/>
        </p:nvSpPr>
        <p:spPr>
          <a:xfrm>
            <a:off x="6563476"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Pagos en tiempo real</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Tratamiento</a:t>
            </a:r>
            <a:endParaRPr b="0" i="0" sz="400" u="none" cap="none" strike="noStrike">
              <a:solidFill>
                <a:schemeClr val="dk2"/>
              </a:solidFill>
              <a:latin typeface="Montserrat"/>
              <a:ea typeface="Montserrat"/>
              <a:cs typeface="Montserrat"/>
              <a:sym typeface="Montserrat"/>
            </a:endParaRPr>
          </a:p>
        </p:txBody>
      </p:sp>
      <p:sp>
        <p:nvSpPr>
          <p:cNvPr id="2125" name="Google Shape;2125;g251d9346719_0_0"/>
          <p:cNvSpPr/>
          <p:nvPr/>
        </p:nvSpPr>
        <p:spPr>
          <a:xfrm>
            <a:off x="4843050" y="126232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Contacto</a:t>
            </a:r>
            <a:endParaRPr b="0" i="0" sz="900" u="none" cap="none" strike="noStrike">
              <a:solidFill>
                <a:schemeClr val="lt1"/>
              </a:solidFill>
              <a:latin typeface="Montserrat"/>
              <a:ea typeface="Montserrat"/>
              <a:cs typeface="Montserrat"/>
              <a:sym typeface="Montserrat"/>
            </a:endParaRPr>
          </a:p>
        </p:txBody>
      </p:sp>
      <p:sp>
        <p:nvSpPr>
          <p:cNvPr id="2126" name="Google Shape;2126;g251d9346719_0_0"/>
          <p:cNvSpPr/>
          <p:nvPr/>
        </p:nvSpPr>
        <p:spPr>
          <a:xfrm>
            <a:off x="5603670" y="126164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Entidad</a:t>
            </a:r>
            <a:endParaRPr b="0" i="0" sz="400" u="none" cap="none" strike="noStrike">
              <a:solidFill>
                <a:schemeClr val="lt1"/>
              </a:solidFill>
              <a:latin typeface="Montserrat"/>
              <a:ea typeface="Montserrat"/>
              <a:cs typeface="Montserrat"/>
              <a:sym typeface="Montserrat"/>
            </a:endParaRPr>
          </a:p>
        </p:txBody>
      </p:sp>
      <p:sp>
        <p:nvSpPr>
          <p:cNvPr id="2127" name="Google Shape;2127;g251d9346719_0_0"/>
          <p:cNvSpPr/>
          <p:nvPr/>
        </p:nvSpPr>
        <p:spPr>
          <a:xfrm>
            <a:off x="5603670" y="141700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Relación</a:t>
            </a:r>
            <a:endParaRPr b="0" i="0" sz="400" u="none" cap="none" strike="noStrike">
              <a:solidFill>
                <a:schemeClr val="lt1"/>
              </a:solidFill>
              <a:latin typeface="Montserrat"/>
              <a:ea typeface="Montserrat"/>
              <a:cs typeface="Montserrat"/>
              <a:sym typeface="Montserrat"/>
            </a:endParaRPr>
          </a:p>
        </p:txBody>
      </p:sp>
      <p:sp>
        <p:nvSpPr>
          <p:cNvPr id="2128" name="Google Shape;2128;g251d9346719_0_0"/>
          <p:cNvSpPr/>
          <p:nvPr/>
        </p:nvSpPr>
        <p:spPr>
          <a:xfrm>
            <a:off x="4843050" y="157262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a:t>
            </a:r>
            <a:endParaRPr b="0" i="0" sz="400" u="none" cap="none" strike="noStrike">
              <a:solidFill>
                <a:schemeClr val="lt1"/>
              </a:solidFill>
              <a:latin typeface="Montserrat"/>
              <a:ea typeface="Montserrat"/>
              <a:cs typeface="Montserrat"/>
              <a:sym typeface="Montserrat"/>
            </a:endParaRPr>
          </a:p>
        </p:txBody>
      </p:sp>
      <p:sp>
        <p:nvSpPr>
          <p:cNvPr id="2129" name="Google Shape;2129;g251d9346719_0_0"/>
          <p:cNvSpPr/>
          <p:nvPr/>
        </p:nvSpPr>
        <p:spPr>
          <a:xfrm>
            <a:off x="4843050" y="141725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Preferencias</a:t>
            </a:r>
            <a:endParaRPr b="0" i="0" sz="400" u="none" cap="none" strike="noStrike">
              <a:solidFill>
                <a:schemeClr val="lt1"/>
              </a:solidFill>
              <a:latin typeface="Montserrat"/>
              <a:ea typeface="Montserrat"/>
              <a:cs typeface="Montserrat"/>
              <a:sym typeface="Montserrat"/>
            </a:endParaRPr>
          </a:p>
        </p:txBody>
      </p:sp>
      <p:sp>
        <p:nvSpPr>
          <p:cNvPr id="2130" name="Google Shape;2130;g251d9346719_0_0"/>
          <p:cNvSpPr/>
          <p:nvPr/>
        </p:nvSpPr>
        <p:spPr>
          <a:xfrm>
            <a:off x="5603670" y="157245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Perfil de riesgo de la persona</a:t>
            </a:r>
            <a:endParaRPr b="0" i="0" sz="400" u="none" cap="none" strike="noStrike">
              <a:solidFill>
                <a:schemeClr val="lt1"/>
              </a:solidFill>
              <a:latin typeface="Montserrat"/>
              <a:ea typeface="Montserrat"/>
              <a:cs typeface="Montserrat"/>
              <a:sym typeface="Montserrat"/>
            </a:endParaRPr>
          </a:p>
        </p:txBody>
      </p:sp>
      <p:sp>
        <p:nvSpPr>
          <p:cNvPr id="2131" name="Google Shape;2131;g251d9346719_0_0"/>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Data warehouse</a:t>
            </a:r>
            <a:endParaRPr b="0" i="0" sz="900" u="none" cap="none" strike="noStrike">
              <a:solidFill>
                <a:schemeClr val="dk2"/>
              </a:solidFill>
              <a:latin typeface="Montserrat"/>
              <a:ea typeface="Montserrat"/>
              <a:cs typeface="Montserrat"/>
              <a:sym typeface="Montserrat"/>
            </a:endParaRPr>
          </a:p>
        </p:txBody>
      </p:sp>
      <p:sp>
        <p:nvSpPr>
          <p:cNvPr id="2132" name="Google Shape;2132;g251d9346719_0_0"/>
          <p:cNvSpPr/>
          <p:nvPr/>
        </p:nvSpPr>
        <p:spPr>
          <a:xfrm>
            <a:off x="5603670" y="263688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Archivo de información del cliente</a:t>
            </a:r>
            <a:endParaRPr b="0" i="0" sz="400" u="none" cap="none" strike="noStrike">
              <a:solidFill>
                <a:schemeClr val="lt1"/>
              </a:solidFill>
              <a:latin typeface="Montserrat"/>
              <a:ea typeface="Montserrat"/>
              <a:cs typeface="Montserrat"/>
              <a:sym typeface="Montserrat"/>
            </a:endParaRPr>
          </a:p>
        </p:txBody>
      </p:sp>
      <p:sp>
        <p:nvSpPr>
          <p:cNvPr id="2133" name="Google Shape;2133;g251d9346719_0_0"/>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Analítica</a:t>
            </a:r>
            <a:endParaRPr b="0" i="0" sz="900" u="none" cap="none" strike="noStrike">
              <a:solidFill>
                <a:schemeClr val="dk2"/>
              </a:solidFill>
              <a:latin typeface="Montserrat"/>
              <a:ea typeface="Montserrat"/>
              <a:cs typeface="Montserrat"/>
              <a:sym typeface="Montserrat"/>
            </a:endParaRPr>
          </a:p>
        </p:txBody>
      </p:sp>
      <p:sp>
        <p:nvSpPr>
          <p:cNvPr id="2134" name="Google Shape;2134;g251d9346719_0_0"/>
          <p:cNvSpPr/>
          <p:nvPr/>
        </p:nvSpPr>
        <p:spPr>
          <a:xfrm>
            <a:off x="5603670" y="2792041"/>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Datos Operacionales</a:t>
            </a:r>
            <a:endParaRPr b="0" i="0" sz="900" u="none" cap="none" strike="noStrike">
              <a:solidFill>
                <a:schemeClr val="lt1"/>
              </a:solidFill>
              <a:latin typeface="Montserrat"/>
              <a:ea typeface="Montserrat"/>
              <a:cs typeface="Montserrat"/>
              <a:sym typeface="Montserrat"/>
            </a:endParaRPr>
          </a:p>
        </p:txBody>
      </p:sp>
      <p:sp>
        <p:nvSpPr>
          <p:cNvPr id="2135" name="Google Shape;2135;g251d9346719_0_0"/>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Reportes Regulatorios</a:t>
            </a:r>
            <a:endParaRPr b="0" i="0" sz="400" u="none" cap="none" strike="noStrike">
              <a:solidFill>
                <a:schemeClr val="dk2"/>
              </a:solidFill>
              <a:latin typeface="Montserrat"/>
              <a:ea typeface="Montserrat"/>
              <a:cs typeface="Montserrat"/>
              <a:sym typeface="Montserrat"/>
            </a:endParaRPr>
          </a:p>
        </p:txBody>
      </p:sp>
      <p:sp>
        <p:nvSpPr>
          <p:cNvPr id="2136" name="Google Shape;2136;g251d9346719_0_0"/>
          <p:cNvSpPr/>
          <p:nvPr/>
        </p:nvSpPr>
        <p:spPr>
          <a:xfrm>
            <a:off x="4843050" y="2020465"/>
            <a:ext cx="720900" cy="1431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 Operacional</a:t>
            </a:r>
            <a:endParaRPr b="0" i="0" sz="400" u="none" cap="none" strike="noStrike">
              <a:solidFill>
                <a:schemeClr val="lt1"/>
              </a:solidFill>
              <a:latin typeface="Montserrat"/>
              <a:ea typeface="Montserrat"/>
              <a:cs typeface="Montserrat"/>
              <a:sym typeface="Montserrat"/>
            </a:endParaRPr>
          </a:p>
        </p:txBody>
      </p:sp>
      <p:sp>
        <p:nvSpPr>
          <p:cNvPr id="2137" name="Google Shape;2137;g251d9346719_0_0"/>
          <p:cNvSpPr/>
          <p:nvPr/>
        </p:nvSpPr>
        <p:spPr>
          <a:xfrm>
            <a:off x="4843050" y="186539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Reportes contables</a:t>
            </a:r>
            <a:endParaRPr b="0" i="0" sz="400" u="none" cap="none" strike="noStrike">
              <a:solidFill>
                <a:schemeClr val="dk2"/>
              </a:solidFill>
              <a:latin typeface="Montserrat"/>
              <a:ea typeface="Montserrat"/>
              <a:cs typeface="Montserrat"/>
              <a:sym typeface="Montserrat"/>
            </a:endParaRPr>
          </a:p>
        </p:txBody>
      </p:sp>
      <p:sp>
        <p:nvSpPr>
          <p:cNvPr id="2138" name="Google Shape;2138;g251d9346719_0_0"/>
          <p:cNvSpPr/>
          <p:nvPr/>
        </p:nvSpPr>
        <p:spPr>
          <a:xfrm>
            <a:off x="4843050" y="2331579"/>
            <a:ext cx="720900" cy="1431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Informes de utilización (sistema)</a:t>
            </a:r>
            <a:endParaRPr b="0" i="0" sz="400" u="none" cap="none" strike="noStrike">
              <a:solidFill>
                <a:schemeClr val="lt1"/>
              </a:solidFill>
              <a:latin typeface="Montserrat"/>
              <a:ea typeface="Montserrat"/>
              <a:cs typeface="Montserrat"/>
              <a:sym typeface="Montserrat"/>
            </a:endParaRPr>
          </a:p>
        </p:txBody>
      </p:sp>
      <p:sp>
        <p:nvSpPr>
          <p:cNvPr id="2139" name="Google Shape;2139;g251d9346719_0_0"/>
          <p:cNvSpPr/>
          <p:nvPr/>
        </p:nvSpPr>
        <p:spPr>
          <a:xfrm>
            <a:off x="5603670" y="1865398"/>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de clientes</a:t>
            </a:r>
            <a:endParaRPr b="0" i="0" sz="400" u="none" cap="none" strike="noStrike">
              <a:solidFill>
                <a:schemeClr val="lt1"/>
              </a:solidFill>
              <a:latin typeface="Montserrat"/>
              <a:ea typeface="Montserrat"/>
              <a:cs typeface="Montserrat"/>
              <a:sym typeface="Montserrat"/>
            </a:endParaRPr>
          </a:p>
        </p:txBody>
      </p:sp>
      <p:sp>
        <p:nvSpPr>
          <p:cNvPr id="2140" name="Google Shape;2140;g251d9346719_0_0"/>
          <p:cNvSpPr/>
          <p:nvPr/>
        </p:nvSpPr>
        <p:spPr>
          <a:xfrm>
            <a:off x="5603670" y="2175520"/>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Reportes Transaccionales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 de clientes</a:t>
            </a:r>
            <a:endParaRPr b="0" i="0" sz="400" u="none" cap="none" strike="noStrike">
              <a:solidFill>
                <a:schemeClr val="dk2"/>
              </a:solidFill>
              <a:latin typeface="Montserrat"/>
              <a:ea typeface="Montserrat"/>
              <a:cs typeface="Montserrat"/>
              <a:sym typeface="Montserrat"/>
            </a:endParaRPr>
          </a:p>
        </p:txBody>
      </p:sp>
      <p:sp>
        <p:nvSpPr>
          <p:cNvPr id="2141" name="Google Shape;2141;g251d9346719_0_0"/>
          <p:cNvSpPr/>
          <p:nvPr/>
        </p:nvSpPr>
        <p:spPr>
          <a:xfrm>
            <a:off x="4840646" y="309729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Alertas y</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notificaciones</a:t>
            </a:r>
            <a:endParaRPr b="0" i="0" sz="400" u="none" cap="none" strike="noStrike">
              <a:solidFill>
                <a:schemeClr val="lt1"/>
              </a:solidFill>
              <a:latin typeface="Montserrat"/>
              <a:ea typeface="Montserrat"/>
              <a:cs typeface="Montserrat"/>
              <a:sym typeface="Montserrat"/>
            </a:endParaRPr>
          </a:p>
        </p:txBody>
      </p:sp>
      <p:sp>
        <p:nvSpPr>
          <p:cNvPr id="2142" name="Google Shape;2142;g251d9346719_0_0"/>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2143" name="Google Shape;2143;g251d9346719_0_0"/>
          <p:cNvSpPr/>
          <p:nvPr/>
        </p:nvSpPr>
        <p:spPr>
          <a:xfrm>
            <a:off x="4843050" y="21755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144" name="Google Shape;2144;g251d9346719_0_0"/>
          <p:cNvSpPr txBox="1"/>
          <p:nvPr/>
        </p:nvSpPr>
        <p:spPr>
          <a:xfrm>
            <a:off x="162854" y="180388"/>
            <a:ext cx="8325900"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del Nuevo Onboarding (Apolo) en la arquitectura empresarial de UNITY</a:t>
            </a:r>
            <a:endParaRPr b="0" i="0" sz="900" u="none" cap="none" strike="noStrike">
              <a:solidFill>
                <a:srgbClr val="000000"/>
              </a:solidFill>
              <a:latin typeface="Arial"/>
              <a:ea typeface="Arial"/>
              <a:cs typeface="Arial"/>
              <a:sym typeface="Arial"/>
            </a:endParaRPr>
          </a:p>
        </p:txBody>
      </p:sp>
      <p:sp>
        <p:nvSpPr>
          <p:cNvPr id="2145" name="Google Shape;2145;g251d9346719_0_0"/>
          <p:cNvSpPr/>
          <p:nvPr/>
        </p:nvSpPr>
        <p:spPr>
          <a:xfrm>
            <a:off x="155600" y="3644325"/>
            <a:ext cx="8830500" cy="9780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146" name="Google Shape;2146;g251d9346719_0_0"/>
          <p:cNvSpPr/>
          <p:nvPr/>
        </p:nvSpPr>
        <p:spPr>
          <a:xfrm>
            <a:off x="155600" y="686927"/>
            <a:ext cx="8830500" cy="168600"/>
          </a:xfrm>
          <a:prstGeom prst="rect">
            <a:avLst/>
          </a:prstGeom>
          <a:solidFill>
            <a:srgbClr val="FFFFFF"/>
          </a:solidFill>
          <a:ln cap="flat" cmpd="sng" w="9525">
            <a:solidFill>
              <a:schemeClr val="accent6"/>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2147" name="Google Shape;2147;g251d9346719_0_0"/>
          <p:cNvSpPr/>
          <p:nvPr/>
        </p:nvSpPr>
        <p:spPr>
          <a:xfrm>
            <a:off x="155601" y="883984"/>
            <a:ext cx="8830500" cy="168600"/>
          </a:xfrm>
          <a:prstGeom prst="rect">
            <a:avLst/>
          </a:prstGeom>
          <a:solidFill>
            <a:srgbClr val="FFFFFF"/>
          </a:solidFill>
          <a:ln cap="flat" cmpd="sng" w="9525">
            <a:solidFill>
              <a:schemeClr val="accent6"/>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2148" name="Google Shape;2148;g251d9346719_0_0"/>
          <p:cNvSpPr/>
          <p:nvPr/>
        </p:nvSpPr>
        <p:spPr>
          <a:xfrm>
            <a:off x="1205537"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2149" name="Google Shape;2149;g251d9346719_0_0"/>
          <p:cNvSpPr/>
          <p:nvPr/>
        </p:nvSpPr>
        <p:spPr>
          <a:xfrm>
            <a:off x="2309365"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2150" name="Google Shape;2150;g251d9346719_0_0"/>
          <p:cNvSpPr/>
          <p:nvPr/>
        </p:nvSpPr>
        <p:spPr>
          <a:xfrm>
            <a:off x="3413193"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2151" name="Google Shape;2151;g251d9346719_0_0"/>
          <p:cNvSpPr/>
          <p:nvPr/>
        </p:nvSpPr>
        <p:spPr>
          <a:xfrm>
            <a:off x="4517021"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2152" name="Google Shape;2152;g251d9346719_0_0"/>
          <p:cNvSpPr/>
          <p:nvPr/>
        </p:nvSpPr>
        <p:spPr>
          <a:xfrm>
            <a:off x="5620850"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2153" name="Google Shape;2153;g251d9346719_0_0"/>
          <p:cNvSpPr/>
          <p:nvPr/>
        </p:nvSpPr>
        <p:spPr>
          <a:xfrm>
            <a:off x="6724678"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2154" name="Google Shape;2154;g251d9346719_0_0"/>
          <p:cNvSpPr/>
          <p:nvPr/>
        </p:nvSpPr>
        <p:spPr>
          <a:xfrm>
            <a:off x="7828504"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Tarjeta de crédito</a:t>
            </a:r>
            <a:endParaRPr b="0" i="0" sz="500" u="none" cap="none" strike="noStrike">
              <a:solidFill>
                <a:schemeClr val="lt1"/>
              </a:solidFill>
              <a:latin typeface="Montserrat"/>
              <a:ea typeface="Montserrat"/>
              <a:cs typeface="Montserrat"/>
              <a:sym typeface="Montserrat"/>
            </a:endParaRPr>
          </a:p>
        </p:txBody>
      </p:sp>
      <p:sp>
        <p:nvSpPr>
          <p:cNvPr id="2155" name="Google Shape;2155;g251d9346719_0_0"/>
          <p:cNvSpPr/>
          <p:nvPr/>
        </p:nvSpPr>
        <p:spPr>
          <a:xfrm>
            <a:off x="157900" y="478699"/>
            <a:ext cx="8830500" cy="168600"/>
          </a:xfrm>
          <a:prstGeom prst="rect">
            <a:avLst/>
          </a:prstGeom>
          <a:solidFill>
            <a:srgbClr val="FFFFFF"/>
          </a:solidFill>
          <a:ln cap="flat" cmpd="sng" w="9525">
            <a:solidFill>
              <a:schemeClr val="accent6"/>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2156" name="Google Shape;2156;g251d9346719_0_0"/>
          <p:cNvSpPr/>
          <p:nvPr/>
        </p:nvSpPr>
        <p:spPr>
          <a:xfrm>
            <a:off x="1203986" y="499914"/>
            <a:ext cx="1497300" cy="136200"/>
          </a:xfrm>
          <a:prstGeom prst="rect">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2157" name="Google Shape;2157;g251d9346719_0_0"/>
          <p:cNvSpPr/>
          <p:nvPr/>
        </p:nvSpPr>
        <p:spPr>
          <a:xfrm>
            <a:off x="2748364" y="504857"/>
            <a:ext cx="1497300" cy="136200"/>
          </a:xfrm>
          <a:prstGeom prst="rect">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2158" name="Google Shape;2158;g251d9346719_0_0"/>
          <p:cNvSpPr/>
          <p:nvPr/>
        </p:nvSpPr>
        <p:spPr>
          <a:xfrm>
            <a:off x="4292741" y="504857"/>
            <a:ext cx="1497300" cy="136200"/>
          </a:xfrm>
          <a:prstGeom prst="rect">
            <a:avLst/>
          </a:prstGeom>
          <a:solidFill>
            <a:schemeClr val="accent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2159" name="Google Shape;2159;g251d9346719_0_0"/>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2160" name="Google Shape;2160;g251d9346719_0_0"/>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2161" name="Google Shape;2161;g251d9346719_0_0"/>
          <p:cNvSpPr/>
          <p:nvPr/>
        </p:nvSpPr>
        <p:spPr>
          <a:xfrm>
            <a:off x="1203986"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2162" name="Google Shape;2162;g251d9346719_0_0"/>
          <p:cNvSpPr/>
          <p:nvPr/>
        </p:nvSpPr>
        <p:spPr>
          <a:xfrm>
            <a:off x="2062173"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Web/Online</a:t>
            </a:r>
            <a:endParaRPr b="0" i="0" sz="500" u="none" cap="none" strike="noStrike">
              <a:solidFill>
                <a:srgbClr val="FFFFFF"/>
              </a:solidFill>
              <a:latin typeface="Montserrat"/>
              <a:ea typeface="Montserrat"/>
              <a:cs typeface="Montserrat"/>
              <a:sym typeface="Montserrat"/>
            </a:endParaRPr>
          </a:p>
        </p:txBody>
      </p:sp>
      <p:sp>
        <p:nvSpPr>
          <p:cNvPr id="2163" name="Google Shape;2163;g251d9346719_0_0"/>
          <p:cNvSpPr/>
          <p:nvPr/>
        </p:nvSpPr>
        <p:spPr>
          <a:xfrm>
            <a:off x="3778546"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Sucursal</a:t>
            </a:r>
            <a:endParaRPr b="0" i="0" sz="500" u="none" cap="none" strike="noStrike">
              <a:solidFill>
                <a:schemeClr val="lt1"/>
              </a:solidFill>
              <a:latin typeface="Montserrat"/>
              <a:ea typeface="Montserrat"/>
              <a:cs typeface="Montserrat"/>
              <a:sym typeface="Montserrat"/>
            </a:endParaRPr>
          </a:p>
        </p:txBody>
      </p:sp>
      <p:sp>
        <p:nvSpPr>
          <p:cNvPr id="2164" name="Google Shape;2164;g251d9346719_0_0"/>
          <p:cNvSpPr/>
          <p:nvPr/>
        </p:nvSpPr>
        <p:spPr>
          <a:xfrm>
            <a:off x="4636733"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900" u="none" cap="none" strike="noStrike">
              <a:solidFill>
                <a:srgbClr val="000000"/>
              </a:solidFill>
              <a:latin typeface="Arial"/>
              <a:ea typeface="Arial"/>
              <a:cs typeface="Arial"/>
              <a:sym typeface="Arial"/>
            </a:endParaRPr>
          </a:p>
        </p:txBody>
      </p:sp>
      <p:sp>
        <p:nvSpPr>
          <p:cNvPr id="2165" name="Google Shape;2165;g251d9346719_0_0"/>
          <p:cNvSpPr/>
          <p:nvPr/>
        </p:nvSpPr>
        <p:spPr>
          <a:xfrm>
            <a:off x="5494920"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900" u="none" cap="none" strike="noStrike">
              <a:solidFill>
                <a:schemeClr val="lt1"/>
              </a:solidFill>
              <a:latin typeface="Arial"/>
              <a:ea typeface="Arial"/>
              <a:cs typeface="Arial"/>
              <a:sym typeface="Arial"/>
            </a:endParaRPr>
          </a:p>
        </p:txBody>
      </p:sp>
      <p:sp>
        <p:nvSpPr>
          <p:cNvPr id="2166" name="Google Shape;2166;g251d9346719_0_0"/>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2167" name="Google Shape;2167;g251d9346719_0_0"/>
          <p:cNvSpPr/>
          <p:nvPr/>
        </p:nvSpPr>
        <p:spPr>
          <a:xfrm>
            <a:off x="7211293"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75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Autoservicio</a:t>
            </a:r>
            <a:endParaRPr b="0" i="0" sz="400" u="none" cap="none" strike="noStrike">
              <a:solidFill>
                <a:schemeClr val="lt1"/>
              </a:solidFill>
              <a:latin typeface="Montserrat"/>
              <a:ea typeface="Montserrat"/>
              <a:cs typeface="Montserrat"/>
              <a:sym typeface="Montserrat"/>
            </a:endParaRPr>
          </a:p>
        </p:txBody>
      </p:sp>
      <p:sp>
        <p:nvSpPr>
          <p:cNvPr id="2168" name="Google Shape;2168;g251d9346719_0_0"/>
          <p:cNvSpPr/>
          <p:nvPr/>
        </p:nvSpPr>
        <p:spPr>
          <a:xfrm>
            <a:off x="8069478" y="702961"/>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85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Terceros</a:t>
            </a:r>
            <a:endParaRPr b="0" i="0" sz="500" u="none" cap="none" strike="noStrike">
              <a:solidFill>
                <a:schemeClr val="lt1"/>
              </a:solidFill>
              <a:latin typeface="Montserrat"/>
              <a:ea typeface="Montserrat"/>
              <a:cs typeface="Montserrat"/>
              <a:sym typeface="Montserrat"/>
            </a:endParaRPr>
          </a:p>
        </p:txBody>
      </p:sp>
      <p:sp>
        <p:nvSpPr>
          <p:cNvPr id="2169" name="Google Shape;2169;g251d9346719_0_0"/>
          <p:cNvSpPr/>
          <p:nvPr/>
        </p:nvSpPr>
        <p:spPr>
          <a:xfrm>
            <a:off x="2926715" y="712158"/>
            <a:ext cx="810900" cy="1362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sp>
        <p:nvSpPr>
          <p:cNvPr id="2170" name="Google Shape;2170;g251d9346719_0_0"/>
          <p:cNvSpPr txBox="1"/>
          <p:nvPr/>
        </p:nvSpPr>
        <p:spPr>
          <a:xfrm>
            <a:off x="2305050" y="2443262"/>
            <a:ext cx="461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71" name="Google Shape;2171;g251d9346719_0_0"/>
          <p:cNvSpPr/>
          <p:nvPr/>
        </p:nvSpPr>
        <p:spPr>
          <a:xfrm>
            <a:off x="7683381" y="4622305"/>
            <a:ext cx="1299900" cy="217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2172" name="Google Shape;2172;g251d9346719_0_0"/>
          <p:cNvGrpSpPr/>
          <p:nvPr/>
        </p:nvGrpSpPr>
        <p:grpSpPr>
          <a:xfrm>
            <a:off x="198406" y="4721546"/>
            <a:ext cx="8734889" cy="299813"/>
            <a:chOff x="198406" y="4645346"/>
            <a:chExt cx="8734889" cy="299813"/>
          </a:xfrm>
        </p:grpSpPr>
        <p:grpSp>
          <p:nvGrpSpPr>
            <p:cNvPr id="2173" name="Google Shape;2173;g251d9346719_0_0"/>
            <p:cNvGrpSpPr/>
            <p:nvPr/>
          </p:nvGrpSpPr>
          <p:grpSpPr>
            <a:xfrm>
              <a:off x="1503657" y="4660425"/>
              <a:ext cx="807625" cy="284734"/>
              <a:chOff x="1522664" y="3002519"/>
              <a:chExt cx="807625" cy="230759"/>
            </a:xfrm>
          </p:grpSpPr>
          <p:grpSp>
            <p:nvGrpSpPr>
              <p:cNvPr id="2174" name="Google Shape;2174;g251d9346719_0_0"/>
              <p:cNvGrpSpPr/>
              <p:nvPr/>
            </p:nvGrpSpPr>
            <p:grpSpPr>
              <a:xfrm>
                <a:off x="1522664" y="3002519"/>
                <a:ext cx="807625" cy="230759"/>
                <a:chOff x="13814585" y="1926698"/>
                <a:chExt cx="2486530" cy="804600"/>
              </a:xfrm>
            </p:grpSpPr>
            <p:sp>
              <p:nvSpPr>
                <p:cNvPr id="2175" name="Google Shape;2175;g251d9346719_0_0"/>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2176" name="Google Shape;2176;g251d9346719_0_0"/>
                <p:cNvGrpSpPr/>
                <p:nvPr/>
              </p:nvGrpSpPr>
              <p:grpSpPr>
                <a:xfrm>
                  <a:off x="14018731" y="2168949"/>
                  <a:ext cx="396177" cy="320504"/>
                  <a:chOff x="-3757613" y="5049838"/>
                  <a:chExt cx="5826126" cy="4713288"/>
                </a:xfrm>
              </p:grpSpPr>
              <p:sp>
                <p:nvSpPr>
                  <p:cNvPr id="2177" name="Google Shape;2177;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78" name="Google Shape;2178;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79" name="Google Shape;2179;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80" name="Google Shape;2180;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81" name="Google Shape;2181;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182" name="Google Shape;2182;g251d9346719_0_0"/>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183" name="Google Shape;2183;g251d9346719_0_0"/>
              <p:cNvPicPr preferRelativeResize="0"/>
              <p:nvPr/>
            </p:nvPicPr>
            <p:blipFill rotWithShape="1">
              <a:blip r:embed="rId3">
                <a:alphaModFix/>
              </a:blip>
              <a:srcRect b="0" l="0" r="0" t="0"/>
              <a:stretch/>
            </p:blipFill>
            <p:spPr>
              <a:xfrm>
                <a:off x="1545256" y="3020281"/>
                <a:ext cx="192553" cy="170844"/>
              </a:xfrm>
              <a:prstGeom prst="rect">
                <a:avLst/>
              </a:prstGeom>
              <a:noFill/>
              <a:ln cap="flat" cmpd="sng" w="9525">
                <a:solidFill>
                  <a:srgbClr val="BFBFBF"/>
                </a:solidFill>
                <a:prstDash val="solid"/>
                <a:round/>
                <a:headEnd len="sm" w="sm" type="none"/>
                <a:tailEnd len="sm" w="sm" type="none"/>
              </a:ln>
            </p:spPr>
          </p:pic>
        </p:grpSp>
        <p:grpSp>
          <p:nvGrpSpPr>
            <p:cNvPr id="2184" name="Google Shape;2184;g251d9346719_0_0"/>
            <p:cNvGrpSpPr/>
            <p:nvPr/>
          </p:nvGrpSpPr>
          <p:grpSpPr>
            <a:xfrm>
              <a:off x="6779439" y="4652414"/>
              <a:ext cx="848667" cy="284740"/>
              <a:chOff x="3536079" y="1822016"/>
              <a:chExt cx="1131556" cy="320472"/>
            </a:xfrm>
          </p:grpSpPr>
          <p:grpSp>
            <p:nvGrpSpPr>
              <p:cNvPr id="2185" name="Google Shape;2185;g251d9346719_0_0"/>
              <p:cNvGrpSpPr/>
              <p:nvPr/>
            </p:nvGrpSpPr>
            <p:grpSpPr>
              <a:xfrm>
                <a:off x="3536079" y="1822016"/>
                <a:ext cx="1131556" cy="320472"/>
                <a:chOff x="13814589" y="1926698"/>
                <a:chExt cx="2612689" cy="804600"/>
              </a:xfrm>
            </p:grpSpPr>
            <p:sp>
              <p:nvSpPr>
                <p:cNvPr id="2186" name="Google Shape;2186;g251d9346719_0_0"/>
                <p:cNvSpPr/>
                <p:nvPr/>
              </p:nvSpPr>
              <p:spPr>
                <a:xfrm>
                  <a:off x="13857778" y="1977406"/>
                  <a:ext cx="25695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2187" name="Google Shape;2187;g251d9346719_0_0"/>
                <p:cNvGrpSpPr/>
                <p:nvPr/>
              </p:nvGrpSpPr>
              <p:grpSpPr>
                <a:xfrm>
                  <a:off x="14018731" y="2168949"/>
                  <a:ext cx="396177" cy="320504"/>
                  <a:chOff x="-3757613" y="5049838"/>
                  <a:chExt cx="5826126" cy="4713288"/>
                </a:xfrm>
              </p:grpSpPr>
              <p:sp>
                <p:nvSpPr>
                  <p:cNvPr id="2188" name="Google Shape;2188;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89" name="Google Shape;2189;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90" name="Google Shape;2190;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91" name="Google Shape;2191;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92" name="Google Shape;2192;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193" name="Google Shape;2193;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194" name="Google Shape;2194;g251d9346719_0_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195" name="Google Shape;2195;g251d9346719_0_0"/>
              <p:cNvPicPr preferRelativeResize="0"/>
              <p:nvPr/>
            </p:nvPicPr>
            <p:blipFill rotWithShape="1">
              <a:blip r:embed="rId4">
                <a:alphaModFix/>
              </a:blip>
              <a:srcRect b="0" l="0" r="0" t="0"/>
              <a:stretch/>
            </p:blipFill>
            <p:spPr>
              <a:xfrm>
                <a:off x="3592187" y="1880579"/>
                <a:ext cx="237223" cy="210318"/>
              </a:xfrm>
              <a:prstGeom prst="rect">
                <a:avLst/>
              </a:prstGeom>
              <a:noFill/>
              <a:ln cap="flat" cmpd="sng" w="9525">
                <a:solidFill>
                  <a:srgbClr val="BFBFBF"/>
                </a:solidFill>
                <a:prstDash val="solid"/>
                <a:round/>
                <a:headEnd len="sm" w="sm" type="none"/>
                <a:tailEnd len="sm" w="sm" type="none"/>
              </a:ln>
            </p:spPr>
          </p:pic>
        </p:grpSp>
        <p:grpSp>
          <p:nvGrpSpPr>
            <p:cNvPr id="2196" name="Google Shape;2196;g251d9346719_0_0"/>
            <p:cNvGrpSpPr/>
            <p:nvPr/>
          </p:nvGrpSpPr>
          <p:grpSpPr>
            <a:xfrm>
              <a:off x="2808795" y="4652413"/>
              <a:ext cx="827259" cy="284740"/>
              <a:chOff x="1567179" y="1984411"/>
              <a:chExt cx="1103012" cy="320472"/>
            </a:xfrm>
          </p:grpSpPr>
          <p:grpSp>
            <p:nvGrpSpPr>
              <p:cNvPr id="2197" name="Google Shape;2197;g251d9346719_0_0"/>
              <p:cNvGrpSpPr/>
              <p:nvPr/>
            </p:nvGrpSpPr>
            <p:grpSpPr>
              <a:xfrm>
                <a:off x="1567179" y="1984411"/>
                <a:ext cx="1103012" cy="320472"/>
                <a:chOff x="13814589" y="1926698"/>
                <a:chExt cx="2546783" cy="804600"/>
              </a:xfrm>
            </p:grpSpPr>
            <p:sp>
              <p:nvSpPr>
                <p:cNvPr id="2198" name="Google Shape;2198;g251d9346719_0_0"/>
                <p:cNvSpPr/>
                <p:nvPr/>
              </p:nvSpPr>
              <p:spPr>
                <a:xfrm>
                  <a:off x="13891172" y="1977408"/>
                  <a:ext cx="2470200" cy="703200"/>
                </a:xfrm>
                <a:prstGeom prst="roundRect">
                  <a:avLst>
                    <a:gd fmla="val 50000" name="adj"/>
                  </a:avLst>
                </a:prstGeom>
                <a:solidFill>
                  <a:schemeClr val="accent6"/>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2199" name="Google Shape;2199;g251d9346719_0_0"/>
                <p:cNvGrpSpPr/>
                <p:nvPr/>
              </p:nvGrpSpPr>
              <p:grpSpPr>
                <a:xfrm>
                  <a:off x="14018731" y="2168949"/>
                  <a:ext cx="396177" cy="320504"/>
                  <a:chOff x="-3757613" y="5049838"/>
                  <a:chExt cx="5826126" cy="4713288"/>
                </a:xfrm>
              </p:grpSpPr>
              <p:sp>
                <p:nvSpPr>
                  <p:cNvPr id="2200" name="Google Shape;2200;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01" name="Google Shape;2201;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02" name="Google Shape;2202;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03" name="Google Shape;2203;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04" name="Google Shape;2204;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05" name="Google Shape;2205;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2206" name="Google Shape;2206;g251d9346719_0_0"/>
                <p:cNvSpPr/>
                <p:nvPr/>
              </p:nvSpPr>
              <p:spPr>
                <a:xfrm>
                  <a:off x="13814589" y="1926698"/>
                  <a:ext cx="804600" cy="804600"/>
                </a:xfrm>
                <a:prstGeom prst="ellipse">
                  <a:avLst/>
                </a:prstGeom>
                <a:solidFill>
                  <a:srgbClr val="BFBFBF"/>
                </a:solidFill>
                <a:ln cap="flat" cmpd="sng" w="76200">
                  <a:solidFill>
                    <a:schemeClr val="accent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2207" name="Google Shape;2207;g251d9346719_0_0"/>
              <p:cNvPicPr preferRelativeResize="0"/>
              <p:nvPr/>
            </p:nvPicPr>
            <p:blipFill rotWithShape="1">
              <a:blip r:embed="rId5">
                <a:alphaModFix/>
              </a:blip>
              <a:srcRect b="0" l="0" r="0" t="0"/>
              <a:stretch/>
            </p:blipFill>
            <p:spPr>
              <a:xfrm>
                <a:off x="1612093" y="2025505"/>
                <a:ext cx="272555" cy="252119"/>
              </a:xfrm>
              <a:prstGeom prst="rect">
                <a:avLst/>
              </a:prstGeom>
              <a:solidFill>
                <a:schemeClr val="accent6"/>
              </a:solidFill>
              <a:ln cap="flat" cmpd="sng" w="9525">
                <a:solidFill>
                  <a:schemeClr val="accent6"/>
                </a:solidFill>
                <a:prstDash val="solid"/>
                <a:round/>
                <a:headEnd len="sm" w="sm" type="none"/>
                <a:tailEnd len="sm" w="sm" type="none"/>
              </a:ln>
            </p:spPr>
          </p:pic>
        </p:grpSp>
        <p:grpSp>
          <p:nvGrpSpPr>
            <p:cNvPr id="2208" name="Google Shape;2208;g251d9346719_0_0"/>
            <p:cNvGrpSpPr/>
            <p:nvPr/>
          </p:nvGrpSpPr>
          <p:grpSpPr>
            <a:xfrm>
              <a:off x="4133585" y="4660286"/>
              <a:ext cx="825660" cy="284740"/>
              <a:chOff x="5704379" y="3794681"/>
              <a:chExt cx="1100880" cy="320472"/>
            </a:xfrm>
          </p:grpSpPr>
          <p:grpSp>
            <p:nvGrpSpPr>
              <p:cNvPr id="2209" name="Google Shape;2209;g251d9346719_0_0"/>
              <p:cNvGrpSpPr/>
              <p:nvPr/>
            </p:nvGrpSpPr>
            <p:grpSpPr>
              <a:xfrm>
                <a:off x="5704379" y="3794681"/>
                <a:ext cx="1100880" cy="320472"/>
                <a:chOff x="13814589" y="1926698"/>
                <a:chExt cx="2541861" cy="804600"/>
              </a:xfrm>
            </p:grpSpPr>
            <p:sp>
              <p:nvSpPr>
                <p:cNvPr id="2210" name="Google Shape;2210;g251d9346719_0_0"/>
                <p:cNvSpPr/>
                <p:nvPr/>
              </p:nvSpPr>
              <p:spPr>
                <a:xfrm>
                  <a:off x="13915650" y="1977408"/>
                  <a:ext cx="24408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2211" name="Google Shape;2211;g251d9346719_0_0"/>
                <p:cNvGrpSpPr/>
                <p:nvPr/>
              </p:nvGrpSpPr>
              <p:grpSpPr>
                <a:xfrm>
                  <a:off x="14018731" y="2168949"/>
                  <a:ext cx="396177" cy="320504"/>
                  <a:chOff x="-3757613" y="5049838"/>
                  <a:chExt cx="5826126" cy="4713288"/>
                </a:xfrm>
              </p:grpSpPr>
              <p:sp>
                <p:nvSpPr>
                  <p:cNvPr id="2212" name="Google Shape;2212;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13" name="Google Shape;2213;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14" name="Google Shape;2214;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15" name="Google Shape;2215;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16" name="Google Shape;2216;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17" name="Google Shape;2217;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18" name="Google Shape;2218;g251d9346719_0_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219" name="Google Shape;2219;g251d9346719_0_0"/>
              <p:cNvPicPr preferRelativeResize="0"/>
              <p:nvPr/>
            </p:nvPicPr>
            <p:blipFill rotWithShape="1">
              <a:blip r:embed="rId6">
                <a:alphaModFix/>
              </a:blip>
              <a:srcRect b="0" l="0" r="0" t="0"/>
              <a:stretch/>
            </p:blipFill>
            <p:spPr>
              <a:xfrm>
                <a:off x="5773564" y="3845375"/>
                <a:ext cx="223168" cy="205291"/>
              </a:xfrm>
              <a:prstGeom prst="rect">
                <a:avLst/>
              </a:prstGeom>
              <a:noFill/>
              <a:ln cap="flat" cmpd="sng" w="9525">
                <a:solidFill>
                  <a:srgbClr val="BFBFBF"/>
                </a:solidFill>
                <a:prstDash val="solid"/>
                <a:round/>
                <a:headEnd len="sm" w="sm" type="none"/>
                <a:tailEnd len="sm" w="sm" type="none"/>
              </a:ln>
            </p:spPr>
          </p:pic>
        </p:grpSp>
        <p:grpSp>
          <p:nvGrpSpPr>
            <p:cNvPr id="2220" name="Google Shape;2220;g251d9346719_0_0"/>
            <p:cNvGrpSpPr/>
            <p:nvPr/>
          </p:nvGrpSpPr>
          <p:grpSpPr>
            <a:xfrm>
              <a:off x="5456791" y="4645346"/>
              <a:ext cx="825094" cy="284740"/>
              <a:chOff x="2785855" y="1986995"/>
              <a:chExt cx="1100126" cy="320472"/>
            </a:xfrm>
          </p:grpSpPr>
          <p:grpSp>
            <p:nvGrpSpPr>
              <p:cNvPr id="2221" name="Google Shape;2221;g251d9346719_0_0"/>
              <p:cNvGrpSpPr/>
              <p:nvPr/>
            </p:nvGrpSpPr>
            <p:grpSpPr>
              <a:xfrm>
                <a:off x="2785855" y="1986995"/>
                <a:ext cx="1100126" cy="320472"/>
                <a:chOff x="13814589" y="1926698"/>
                <a:chExt cx="2540119" cy="804600"/>
              </a:xfrm>
            </p:grpSpPr>
            <p:sp>
              <p:nvSpPr>
                <p:cNvPr id="2222" name="Google Shape;2222;g251d9346719_0_0"/>
                <p:cNvSpPr/>
                <p:nvPr/>
              </p:nvSpPr>
              <p:spPr>
                <a:xfrm>
                  <a:off x="13964608" y="1977408"/>
                  <a:ext cx="23901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2223" name="Google Shape;2223;g251d9346719_0_0"/>
                <p:cNvGrpSpPr/>
                <p:nvPr/>
              </p:nvGrpSpPr>
              <p:grpSpPr>
                <a:xfrm>
                  <a:off x="14018731" y="2168949"/>
                  <a:ext cx="396177" cy="320504"/>
                  <a:chOff x="-3757613" y="5049838"/>
                  <a:chExt cx="5826126" cy="4713288"/>
                </a:xfrm>
              </p:grpSpPr>
              <p:sp>
                <p:nvSpPr>
                  <p:cNvPr id="2224" name="Google Shape;2224;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25" name="Google Shape;2225;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26" name="Google Shape;2226;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27" name="Google Shape;2227;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28" name="Google Shape;2228;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29" name="Google Shape;2229;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30" name="Google Shape;2230;g251d9346719_0_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231" name="Google Shape;2231;g251d9346719_0_0"/>
              <p:cNvPicPr preferRelativeResize="0"/>
              <p:nvPr/>
            </p:nvPicPr>
            <p:blipFill rotWithShape="1">
              <a:blip r:embed="rId7">
                <a:alphaModFix/>
              </a:blip>
              <a:srcRect b="0" l="0" r="0" t="0"/>
              <a:stretch/>
            </p:blipFill>
            <p:spPr>
              <a:xfrm>
                <a:off x="2837951" y="2036863"/>
                <a:ext cx="231350" cy="212818"/>
              </a:xfrm>
              <a:prstGeom prst="rect">
                <a:avLst/>
              </a:prstGeom>
              <a:noFill/>
              <a:ln cap="flat" cmpd="sng" w="9525">
                <a:solidFill>
                  <a:srgbClr val="BFBFBF"/>
                </a:solidFill>
                <a:prstDash val="solid"/>
                <a:round/>
                <a:headEnd len="sm" w="sm" type="none"/>
                <a:tailEnd len="sm" w="sm" type="none"/>
              </a:ln>
            </p:spPr>
          </p:pic>
        </p:grpSp>
        <p:grpSp>
          <p:nvGrpSpPr>
            <p:cNvPr id="2232" name="Google Shape;2232;g251d9346719_0_0"/>
            <p:cNvGrpSpPr/>
            <p:nvPr/>
          </p:nvGrpSpPr>
          <p:grpSpPr>
            <a:xfrm>
              <a:off x="8125609" y="4660293"/>
              <a:ext cx="807686" cy="284740"/>
              <a:chOff x="3756830" y="2436551"/>
              <a:chExt cx="1076914" cy="320472"/>
            </a:xfrm>
          </p:grpSpPr>
          <p:grpSp>
            <p:nvGrpSpPr>
              <p:cNvPr id="2233" name="Google Shape;2233;g251d9346719_0_0"/>
              <p:cNvGrpSpPr/>
              <p:nvPr/>
            </p:nvGrpSpPr>
            <p:grpSpPr>
              <a:xfrm>
                <a:off x="3756830" y="2436551"/>
                <a:ext cx="1076914" cy="320472"/>
                <a:chOff x="13814589" y="1926698"/>
                <a:chExt cx="2486526" cy="804600"/>
              </a:xfrm>
            </p:grpSpPr>
            <p:sp>
              <p:nvSpPr>
                <p:cNvPr id="2234" name="Google Shape;2234;g251d9346719_0_0"/>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2235" name="Google Shape;2235;g251d9346719_0_0"/>
                <p:cNvGrpSpPr/>
                <p:nvPr/>
              </p:nvGrpSpPr>
              <p:grpSpPr>
                <a:xfrm>
                  <a:off x="14018731" y="2168949"/>
                  <a:ext cx="396177" cy="320504"/>
                  <a:chOff x="-3757613" y="5049838"/>
                  <a:chExt cx="5826126" cy="4713288"/>
                </a:xfrm>
              </p:grpSpPr>
              <p:sp>
                <p:nvSpPr>
                  <p:cNvPr id="2236" name="Google Shape;2236;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37" name="Google Shape;2237;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38" name="Google Shape;2238;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39" name="Google Shape;2239;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40" name="Google Shape;2240;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41" name="Google Shape;2241;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42" name="Google Shape;2242;g251d9346719_0_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2243" name="Google Shape;2243;g251d9346719_0_0"/>
              <p:cNvPicPr preferRelativeResize="0"/>
              <p:nvPr/>
            </p:nvPicPr>
            <p:blipFill rotWithShape="1">
              <a:blip r:embed="rId8">
                <a:alphaModFix/>
              </a:blip>
              <a:srcRect b="0" l="0" r="0" t="0"/>
              <a:stretch/>
            </p:blipFill>
            <p:spPr>
              <a:xfrm>
                <a:off x="3826190" y="2481834"/>
                <a:ext cx="230642" cy="212165"/>
              </a:xfrm>
              <a:prstGeom prst="rect">
                <a:avLst/>
              </a:prstGeom>
              <a:noFill/>
              <a:ln cap="flat" cmpd="sng" w="9525">
                <a:solidFill>
                  <a:srgbClr val="BFBFBF"/>
                </a:solidFill>
                <a:prstDash val="solid"/>
                <a:round/>
                <a:headEnd len="sm" w="sm" type="none"/>
                <a:tailEnd len="sm" w="sm" type="none"/>
              </a:ln>
            </p:spPr>
          </p:pic>
        </p:grpSp>
        <p:grpSp>
          <p:nvGrpSpPr>
            <p:cNvPr id="2244" name="Google Shape;2244;g251d9346719_0_0"/>
            <p:cNvGrpSpPr/>
            <p:nvPr/>
          </p:nvGrpSpPr>
          <p:grpSpPr>
            <a:xfrm>
              <a:off x="198406" y="4660235"/>
              <a:ext cx="807733" cy="284707"/>
              <a:chOff x="1259501" y="3077120"/>
              <a:chExt cx="1076977" cy="320400"/>
            </a:xfrm>
          </p:grpSpPr>
          <p:sp>
            <p:nvSpPr>
              <p:cNvPr id="2245" name="Google Shape;2245;g251d9346719_0_0"/>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2246" name="Google Shape;2246;g251d9346719_0_0"/>
              <p:cNvGrpSpPr/>
              <p:nvPr/>
            </p:nvGrpSpPr>
            <p:grpSpPr>
              <a:xfrm>
                <a:off x="1347730" y="3173687"/>
                <a:ext cx="171871" cy="127730"/>
                <a:chOff x="-3757613" y="5049838"/>
                <a:chExt cx="5826126" cy="4713288"/>
              </a:xfrm>
            </p:grpSpPr>
            <p:sp>
              <p:nvSpPr>
                <p:cNvPr id="2247" name="Google Shape;2247;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48" name="Google Shape;2248;g251d9346719_0_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49" name="Google Shape;2249;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50" name="Google Shape;2250;g251d9346719_0_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51" name="Google Shape;2251;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52" name="Google Shape;2252;g251d9346719_0_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53" name="Google Shape;2253;g251d9346719_0_0"/>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2254" name="Google Shape;2254;g251d9346719_0_0"/>
              <p:cNvPicPr preferRelativeResize="0"/>
              <p:nvPr/>
            </p:nvPicPr>
            <p:blipFill rotWithShape="1">
              <a:blip r:embed="rId9">
                <a:alphaModFix/>
              </a:blip>
              <a:srcRect b="0" l="0" r="0" t="0"/>
              <a:stretch/>
            </p:blipFill>
            <p:spPr>
              <a:xfrm>
                <a:off x="1297196" y="3109639"/>
                <a:ext cx="259736" cy="240263"/>
              </a:xfrm>
              <a:prstGeom prst="rect">
                <a:avLst/>
              </a:prstGeom>
              <a:noFill/>
              <a:ln>
                <a:noFill/>
              </a:ln>
            </p:spPr>
          </p:pic>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grpSp>
        <p:nvGrpSpPr>
          <p:cNvPr id="2259" name="Google Shape;2259;p29"/>
          <p:cNvGrpSpPr/>
          <p:nvPr/>
        </p:nvGrpSpPr>
        <p:grpSpPr>
          <a:xfrm>
            <a:off x="155600" y="4738338"/>
            <a:ext cx="8734889" cy="299690"/>
            <a:chOff x="198406" y="4645356"/>
            <a:chExt cx="8734889" cy="299690"/>
          </a:xfrm>
        </p:grpSpPr>
        <p:grpSp>
          <p:nvGrpSpPr>
            <p:cNvPr id="2260" name="Google Shape;2260;p29"/>
            <p:cNvGrpSpPr/>
            <p:nvPr/>
          </p:nvGrpSpPr>
          <p:grpSpPr>
            <a:xfrm>
              <a:off x="1503657" y="4660313"/>
              <a:ext cx="807625" cy="284725"/>
              <a:chOff x="1522664" y="3002518"/>
              <a:chExt cx="807625" cy="230759"/>
            </a:xfrm>
          </p:grpSpPr>
          <p:grpSp>
            <p:nvGrpSpPr>
              <p:cNvPr id="2261" name="Google Shape;2261;p29"/>
              <p:cNvGrpSpPr/>
              <p:nvPr/>
            </p:nvGrpSpPr>
            <p:grpSpPr>
              <a:xfrm>
                <a:off x="1522664" y="3002518"/>
                <a:ext cx="807625" cy="230759"/>
                <a:chOff x="13814585" y="1926698"/>
                <a:chExt cx="2486530" cy="804600"/>
              </a:xfrm>
            </p:grpSpPr>
            <p:sp>
              <p:nvSpPr>
                <p:cNvPr id="2262" name="Google Shape;2262;p29"/>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2263" name="Google Shape;2263;p29"/>
                <p:cNvGrpSpPr/>
                <p:nvPr/>
              </p:nvGrpSpPr>
              <p:grpSpPr>
                <a:xfrm>
                  <a:off x="14018731" y="2168949"/>
                  <a:ext cx="396177" cy="320504"/>
                  <a:chOff x="-3757613" y="5049838"/>
                  <a:chExt cx="5826126" cy="4713288"/>
                </a:xfrm>
              </p:grpSpPr>
              <p:sp>
                <p:nvSpPr>
                  <p:cNvPr id="2264" name="Google Shape;2264;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65" name="Google Shape;2265;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66" name="Google Shape;2266;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67" name="Google Shape;2267;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68" name="Google Shape;2268;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69" name="Google Shape;2269;p29"/>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270" name="Google Shape;2270;p29"/>
              <p:cNvPicPr preferRelativeResize="0"/>
              <p:nvPr/>
            </p:nvPicPr>
            <p:blipFill rotWithShape="1">
              <a:blip r:embed="rId3">
                <a:alphaModFix/>
              </a:blip>
              <a:srcRect b="0" l="0" r="0" t="0"/>
              <a:stretch/>
            </p:blipFill>
            <p:spPr>
              <a:xfrm>
                <a:off x="1545256" y="3020281"/>
                <a:ext cx="192553" cy="170844"/>
              </a:xfrm>
              <a:prstGeom prst="rect">
                <a:avLst/>
              </a:prstGeom>
              <a:noFill/>
              <a:ln cap="flat" cmpd="sng" w="9525">
                <a:solidFill>
                  <a:srgbClr val="BFBFBF"/>
                </a:solidFill>
                <a:prstDash val="solid"/>
                <a:round/>
                <a:headEnd len="sm" w="sm" type="none"/>
                <a:tailEnd len="sm" w="sm" type="none"/>
              </a:ln>
            </p:spPr>
          </p:pic>
        </p:grpSp>
        <p:grpSp>
          <p:nvGrpSpPr>
            <p:cNvPr id="2271" name="Google Shape;2271;p29"/>
            <p:cNvGrpSpPr/>
            <p:nvPr/>
          </p:nvGrpSpPr>
          <p:grpSpPr>
            <a:xfrm>
              <a:off x="6779440" y="4652423"/>
              <a:ext cx="848649" cy="284741"/>
              <a:chOff x="3536077" y="1822016"/>
              <a:chExt cx="1131531" cy="320472"/>
            </a:xfrm>
          </p:grpSpPr>
          <p:grpSp>
            <p:nvGrpSpPr>
              <p:cNvPr id="2272" name="Google Shape;2272;p29"/>
              <p:cNvGrpSpPr/>
              <p:nvPr/>
            </p:nvGrpSpPr>
            <p:grpSpPr>
              <a:xfrm>
                <a:off x="3536077" y="1822016"/>
                <a:ext cx="1131531" cy="320472"/>
                <a:chOff x="13814589" y="1926698"/>
                <a:chExt cx="2612633" cy="804600"/>
              </a:xfrm>
            </p:grpSpPr>
            <p:sp>
              <p:nvSpPr>
                <p:cNvPr id="2273" name="Google Shape;2273;p29"/>
                <p:cNvSpPr/>
                <p:nvPr/>
              </p:nvSpPr>
              <p:spPr>
                <a:xfrm>
                  <a:off x="13857778" y="1977406"/>
                  <a:ext cx="2569444"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2274" name="Google Shape;2274;p29"/>
                <p:cNvGrpSpPr/>
                <p:nvPr/>
              </p:nvGrpSpPr>
              <p:grpSpPr>
                <a:xfrm>
                  <a:off x="14018731" y="2168949"/>
                  <a:ext cx="396177" cy="320504"/>
                  <a:chOff x="-3757613" y="5049838"/>
                  <a:chExt cx="5826126" cy="4713288"/>
                </a:xfrm>
              </p:grpSpPr>
              <p:sp>
                <p:nvSpPr>
                  <p:cNvPr id="2275" name="Google Shape;2275;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76" name="Google Shape;2276;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77" name="Google Shape;2277;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78" name="Google Shape;2278;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79" name="Google Shape;2279;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280" name="Google Shape;2280;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281" name="Google Shape;2281;p29"/>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282" name="Google Shape;2282;p29"/>
              <p:cNvPicPr preferRelativeResize="0"/>
              <p:nvPr/>
            </p:nvPicPr>
            <p:blipFill rotWithShape="1">
              <a:blip r:embed="rId4">
                <a:alphaModFix/>
              </a:blip>
              <a:srcRect b="0" l="0" r="0" t="0"/>
              <a:stretch/>
            </p:blipFill>
            <p:spPr>
              <a:xfrm>
                <a:off x="3592187" y="1880579"/>
                <a:ext cx="237223" cy="210318"/>
              </a:xfrm>
              <a:prstGeom prst="rect">
                <a:avLst/>
              </a:prstGeom>
              <a:noFill/>
              <a:ln cap="flat" cmpd="sng" w="9525">
                <a:solidFill>
                  <a:srgbClr val="BFBFBF"/>
                </a:solidFill>
                <a:prstDash val="solid"/>
                <a:round/>
                <a:headEnd len="sm" w="sm" type="none"/>
                <a:tailEnd len="sm" w="sm" type="none"/>
              </a:ln>
            </p:spPr>
          </p:pic>
        </p:grpSp>
        <p:grpSp>
          <p:nvGrpSpPr>
            <p:cNvPr id="2283" name="Google Shape;2283;p29"/>
            <p:cNvGrpSpPr/>
            <p:nvPr/>
          </p:nvGrpSpPr>
          <p:grpSpPr>
            <a:xfrm>
              <a:off x="2808800" y="4652423"/>
              <a:ext cx="827267" cy="284741"/>
              <a:chOff x="1567187" y="1984411"/>
              <a:chExt cx="1103024" cy="320472"/>
            </a:xfrm>
          </p:grpSpPr>
          <p:grpSp>
            <p:nvGrpSpPr>
              <p:cNvPr id="2284" name="Google Shape;2284;p29"/>
              <p:cNvGrpSpPr/>
              <p:nvPr/>
            </p:nvGrpSpPr>
            <p:grpSpPr>
              <a:xfrm>
                <a:off x="1567187" y="1984411"/>
                <a:ext cx="1103024" cy="320472"/>
                <a:chOff x="13814589" y="1926698"/>
                <a:chExt cx="2546808" cy="804600"/>
              </a:xfrm>
            </p:grpSpPr>
            <p:sp>
              <p:nvSpPr>
                <p:cNvPr id="2285" name="Google Shape;2285;p29"/>
                <p:cNvSpPr/>
                <p:nvPr/>
              </p:nvSpPr>
              <p:spPr>
                <a:xfrm>
                  <a:off x="13891172" y="1977408"/>
                  <a:ext cx="247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2286" name="Google Shape;2286;p29"/>
                <p:cNvGrpSpPr/>
                <p:nvPr/>
              </p:nvGrpSpPr>
              <p:grpSpPr>
                <a:xfrm>
                  <a:off x="14018731" y="2168949"/>
                  <a:ext cx="396177" cy="320504"/>
                  <a:chOff x="-3757613" y="5049838"/>
                  <a:chExt cx="5826126" cy="4713288"/>
                </a:xfrm>
              </p:grpSpPr>
              <p:sp>
                <p:nvSpPr>
                  <p:cNvPr id="2287" name="Google Shape;2287;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88" name="Google Shape;2288;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89" name="Google Shape;2289;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90" name="Google Shape;2290;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91" name="Google Shape;2291;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292" name="Google Shape;2292;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2293" name="Google Shape;2293;p29"/>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2294" name="Google Shape;2294;p29"/>
              <p:cNvPicPr preferRelativeResize="0"/>
              <p:nvPr/>
            </p:nvPicPr>
            <p:blipFill rotWithShape="1">
              <a:blip r:embed="rId5">
                <a:alphaModFix/>
              </a:blip>
              <a:srcRect b="0" l="0" r="0" t="0"/>
              <a:stretch/>
            </p:blipFill>
            <p:spPr>
              <a:xfrm>
                <a:off x="1612093" y="2025505"/>
                <a:ext cx="272555" cy="252119"/>
              </a:xfrm>
              <a:prstGeom prst="rect">
                <a:avLst/>
              </a:prstGeom>
              <a:solidFill>
                <a:srgbClr val="BFBFBF"/>
              </a:solidFill>
              <a:ln cap="flat" cmpd="sng" w="9525">
                <a:solidFill>
                  <a:srgbClr val="BFBFBF"/>
                </a:solidFill>
                <a:prstDash val="solid"/>
                <a:round/>
                <a:headEnd len="sm" w="sm" type="none"/>
                <a:tailEnd len="sm" w="sm" type="none"/>
              </a:ln>
            </p:spPr>
          </p:pic>
        </p:grpSp>
        <p:grpSp>
          <p:nvGrpSpPr>
            <p:cNvPr id="2295" name="Google Shape;2295;p29"/>
            <p:cNvGrpSpPr/>
            <p:nvPr/>
          </p:nvGrpSpPr>
          <p:grpSpPr>
            <a:xfrm>
              <a:off x="4133585" y="4660305"/>
              <a:ext cx="825685" cy="284741"/>
              <a:chOff x="5704388" y="3794681"/>
              <a:chExt cx="1100915" cy="320472"/>
            </a:xfrm>
          </p:grpSpPr>
          <p:grpSp>
            <p:nvGrpSpPr>
              <p:cNvPr id="2296" name="Google Shape;2296;p29"/>
              <p:cNvGrpSpPr/>
              <p:nvPr/>
            </p:nvGrpSpPr>
            <p:grpSpPr>
              <a:xfrm>
                <a:off x="5704388" y="3794681"/>
                <a:ext cx="1100915" cy="320472"/>
                <a:chOff x="13814589" y="1926698"/>
                <a:chExt cx="2541938" cy="804600"/>
              </a:xfrm>
            </p:grpSpPr>
            <p:sp>
              <p:nvSpPr>
                <p:cNvPr id="2297" name="Google Shape;2297;p29"/>
                <p:cNvSpPr/>
                <p:nvPr/>
              </p:nvSpPr>
              <p:spPr>
                <a:xfrm>
                  <a:off x="13915650" y="1977408"/>
                  <a:ext cx="2440877"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2298" name="Google Shape;2298;p29"/>
                <p:cNvGrpSpPr/>
                <p:nvPr/>
              </p:nvGrpSpPr>
              <p:grpSpPr>
                <a:xfrm>
                  <a:off x="14018731" y="2168949"/>
                  <a:ext cx="396177" cy="320504"/>
                  <a:chOff x="-3757613" y="5049838"/>
                  <a:chExt cx="5826126" cy="4713288"/>
                </a:xfrm>
              </p:grpSpPr>
              <p:sp>
                <p:nvSpPr>
                  <p:cNvPr id="2299" name="Google Shape;2299;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00" name="Google Shape;2300;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01" name="Google Shape;2301;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02" name="Google Shape;2302;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03" name="Google Shape;2303;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04" name="Google Shape;2304;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305" name="Google Shape;2305;p29"/>
                <p:cNvSpPr/>
                <p:nvPr/>
              </p:nvSpPr>
              <p:spPr>
                <a:xfrm>
                  <a:off x="13814589" y="1926698"/>
                  <a:ext cx="804600" cy="804600"/>
                </a:xfrm>
                <a:prstGeom prst="ellipse">
                  <a:avLst/>
                </a:prstGeom>
                <a:solidFill>
                  <a:schemeClr val="l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306" name="Google Shape;2306;p29"/>
              <p:cNvPicPr preferRelativeResize="0"/>
              <p:nvPr/>
            </p:nvPicPr>
            <p:blipFill rotWithShape="1">
              <a:blip r:embed="rId6">
                <a:alphaModFix/>
              </a:blip>
              <a:srcRect b="0" l="0" r="0" t="0"/>
              <a:stretch/>
            </p:blipFill>
            <p:spPr>
              <a:xfrm>
                <a:off x="5767655" y="3838333"/>
                <a:ext cx="223168" cy="205291"/>
              </a:xfrm>
              <a:prstGeom prst="rect">
                <a:avLst/>
              </a:prstGeom>
              <a:noFill/>
              <a:ln>
                <a:noFill/>
              </a:ln>
            </p:spPr>
          </p:pic>
        </p:grpSp>
        <p:grpSp>
          <p:nvGrpSpPr>
            <p:cNvPr id="2307" name="Google Shape;2307;p29"/>
            <p:cNvGrpSpPr/>
            <p:nvPr/>
          </p:nvGrpSpPr>
          <p:grpSpPr>
            <a:xfrm>
              <a:off x="5456788" y="4645356"/>
              <a:ext cx="825134" cy="284741"/>
              <a:chOff x="2785851" y="1986995"/>
              <a:chExt cx="1100179" cy="320472"/>
            </a:xfrm>
          </p:grpSpPr>
          <p:grpSp>
            <p:nvGrpSpPr>
              <p:cNvPr id="2308" name="Google Shape;2308;p29"/>
              <p:cNvGrpSpPr/>
              <p:nvPr/>
            </p:nvGrpSpPr>
            <p:grpSpPr>
              <a:xfrm>
                <a:off x="2785851" y="1986995"/>
                <a:ext cx="1100179" cy="320472"/>
                <a:chOff x="13814589" y="1926698"/>
                <a:chExt cx="2540244" cy="804600"/>
              </a:xfrm>
            </p:grpSpPr>
            <p:sp>
              <p:nvSpPr>
                <p:cNvPr id="2309" name="Google Shape;2309;p29"/>
                <p:cNvSpPr/>
                <p:nvPr/>
              </p:nvSpPr>
              <p:spPr>
                <a:xfrm>
                  <a:off x="13964608" y="1977408"/>
                  <a:ext cx="239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2310" name="Google Shape;2310;p29"/>
                <p:cNvGrpSpPr/>
                <p:nvPr/>
              </p:nvGrpSpPr>
              <p:grpSpPr>
                <a:xfrm>
                  <a:off x="14018731" y="2168949"/>
                  <a:ext cx="396177" cy="320504"/>
                  <a:chOff x="-3757613" y="5049838"/>
                  <a:chExt cx="5826126" cy="4713288"/>
                </a:xfrm>
              </p:grpSpPr>
              <p:sp>
                <p:nvSpPr>
                  <p:cNvPr id="2311" name="Google Shape;2311;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12" name="Google Shape;2312;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13" name="Google Shape;2313;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14" name="Google Shape;2314;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15" name="Google Shape;2315;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16" name="Google Shape;2316;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317" name="Google Shape;2317;p29"/>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318" name="Google Shape;2318;p29"/>
              <p:cNvPicPr preferRelativeResize="0"/>
              <p:nvPr/>
            </p:nvPicPr>
            <p:blipFill rotWithShape="1">
              <a:blip r:embed="rId7">
                <a:alphaModFix/>
              </a:blip>
              <a:srcRect b="0" l="0" r="0" t="0"/>
              <a:stretch/>
            </p:blipFill>
            <p:spPr>
              <a:xfrm>
                <a:off x="2837951" y="2036863"/>
                <a:ext cx="231350" cy="212818"/>
              </a:xfrm>
              <a:prstGeom prst="rect">
                <a:avLst/>
              </a:prstGeom>
              <a:noFill/>
              <a:ln cap="flat" cmpd="sng" w="9525">
                <a:solidFill>
                  <a:srgbClr val="BFBFBF"/>
                </a:solidFill>
                <a:prstDash val="solid"/>
                <a:round/>
                <a:headEnd len="sm" w="sm" type="none"/>
                <a:tailEnd len="sm" w="sm" type="none"/>
              </a:ln>
            </p:spPr>
          </p:pic>
        </p:grpSp>
        <p:grpSp>
          <p:nvGrpSpPr>
            <p:cNvPr id="2319" name="Google Shape;2319;p29"/>
            <p:cNvGrpSpPr/>
            <p:nvPr/>
          </p:nvGrpSpPr>
          <p:grpSpPr>
            <a:xfrm>
              <a:off x="8125609" y="4660305"/>
              <a:ext cx="807686" cy="284741"/>
              <a:chOff x="3756828" y="2436551"/>
              <a:chExt cx="1076914" cy="320472"/>
            </a:xfrm>
          </p:grpSpPr>
          <p:grpSp>
            <p:nvGrpSpPr>
              <p:cNvPr id="2320" name="Google Shape;2320;p29"/>
              <p:cNvGrpSpPr/>
              <p:nvPr/>
            </p:nvGrpSpPr>
            <p:grpSpPr>
              <a:xfrm>
                <a:off x="3756828" y="2436551"/>
                <a:ext cx="1076914" cy="320472"/>
                <a:chOff x="13814589" y="1926698"/>
                <a:chExt cx="2486526" cy="804600"/>
              </a:xfrm>
            </p:grpSpPr>
            <p:sp>
              <p:nvSpPr>
                <p:cNvPr id="2321" name="Google Shape;2321;p29"/>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2322" name="Google Shape;2322;p29"/>
                <p:cNvGrpSpPr/>
                <p:nvPr/>
              </p:nvGrpSpPr>
              <p:grpSpPr>
                <a:xfrm>
                  <a:off x="14018731" y="2168949"/>
                  <a:ext cx="396177" cy="320504"/>
                  <a:chOff x="-3757613" y="5049838"/>
                  <a:chExt cx="5826126" cy="4713288"/>
                </a:xfrm>
              </p:grpSpPr>
              <p:sp>
                <p:nvSpPr>
                  <p:cNvPr id="2323" name="Google Shape;2323;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24" name="Google Shape;2324;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25" name="Google Shape;2325;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26" name="Google Shape;2326;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27" name="Google Shape;2327;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28" name="Google Shape;2328;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329" name="Google Shape;2329;p29"/>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2330" name="Google Shape;2330;p29"/>
              <p:cNvPicPr preferRelativeResize="0"/>
              <p:nvPr/>
            </p:nvPicPr>
            <p:blipFill rotWithShape="1">
              <a:blip r:embed="rId8">
                <a:alphaModFix/>
              </a:blip>
              <a:srcRect b="0" l="0" r="0" t="0"/>
              <a:stretch/>
            </p:blipFill>
            <p:spPr>
              <a:xfrm>
                <a:off x="3826190" y="2481834"/>
                <a:ext cx="230642" cy="212165"/>
              </a:xfrm>
              <a:prstGeom prst="rect">
                <a:avLst/>
              </a:prstGeom>
              <a:noFill/>
              <a:ln cap="flat" cmpd="sng" w="9525">
                <a:solidFill>
                  <a:srgbClr val="BFBFBF"/>
                </a:solidFill>
                <a:prstDash val="solid"/>
                <a:round/>
                <a:headEnd len="sm" w="sm" type="none"/>
                <a:tailEnd len="sm" w="sm" type="none"/>
              </a:ln>
            </p:spPr>
          </p:pic>
        </p:grpSp>
        <p:grpSp>
          <p:nvGrpSpPr>
            <p:cNvPr id="2331" name="Google Shape;2331;p29"/>
            <p:cNvGrpSpPr/>
            <p:nvPr/>
          </p:nvGrpSpPr>
          <p:grpSpPr>
            <a:xfrm>
              <a:off x="198406" y="4660317"/>
              <a:ext cx="807733" cy="284716"/>
              <a:chOff x="1259501" y="3077120"/>
              <a:chExt cx="1076977" cy="320400"/>
            </a:xfrm>
          </p:grpSpPr>
          <p:sp>
            <p:nvSpPr>
              <p:cNvPr id="2332" name="Google Shape;2332;p29"/>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2333" name="Google Shape;2333;p29"/>
              <p:cNvGrpSpPr/>
              <p:nvPr/>
            </p:nvGrpSpPr>
            <p:grpSpPr>
              <a:xfrm>
                <a:off x="1347730" y="3173687"/>
                <a:ext cx="171871" cy="127730"/>
                <a:chOff x="-3757613" y="5049838"/>
                <a:chExt cx="5826126" cy="4713288"/>
              </a:xfrm>
            </p:grpSpPr>
            <p:sp>
              <p:nvSpPr>
                <p:cNvPr id="2334" name="Google Shape;2334;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35" name="Google Shape;2335;p29"/>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36" name="Google Shape;2336;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37" name="Google Shape;2337;p29"/>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38" name="Google Shape;2338;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339" name="Google Shape;2339;p29"/>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340" name="Google Shape;2340;p29"/>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2341" name="Google Shape;2341;p29"/>
              <p:cNvPicPr preferRelativeResize="0"/>
              <p:nvPr/>
            </p:nvPicPr>
            <p:blipFill rotWithShape="1">
              <a:blip r:embed="rId9">
                <a:alphaModFix/>
              </a:blip>
              <a:srcRect b="0" l="0" r="0" t="0"/>
              <a:stretch/>
            </p:blipFill>
            <p:spPr>
              <a:xfrm>
                <a:off x="1297196" y="3109639"/>
                <a:ext cx="259736" cy="240263"/>
              </a:xfrm>
              <a:prstGeom prst="rect">
                <a:avLst/>
              </a:prstGeom>
              <a:noFill/>
              <a:ln>
                <a:noFill/>
              </a:ln>
            </p:spPr>
          </p:pic>
        </p:grpSp>
      </p:grpSp>
      <p:sp>
        <p:nvSpPr>
          <p:cNvPr id="2342" name="Google Shape;2342;p29"/>
          <p:cNvSpPr/>
          <p:nvPr/>
        </p:nvSpPr>
        <p:spPr>
          <a:xfrm>
            <a:off x="155601" y="1078376"/>
            <a:ext cx="8830500" cy="2533200"/>
          </a:xfrm>
          <a:prstGeom prst="rect">
            <a:avLst/>
          </a:prstGeom>
          <a:solidFill>
            <a:srgbClr val="FFFFFF"/>
          </a:solidFill>
          <a:ln cap="flat" cmpd="sng" w="9525">
            <a:solidFill>
              <a:srgbClr val="BFBFBF"/>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2343" name="Google Shape;2343;p29"/>
          <p:cNvSpPr txBox="1"/>
          <p:nvPr/>
        </p:nvSpPr>
        <p:spPr>
          <a:xfrm>
            <a:off x="7626125" y="4326220"/>
            <a:ext cx="1312800" cy="4002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p29"/>
          <p:cNvSpPr txBox="1"/>
          <p:nvPr/>
        </p:nvSpPr>
        <p:spPr>
          <a:xfrm>
            <a:off x="7571175" y="3945760"/>
            <a:ext cx="1297500" cy="4002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p29"/>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2346" name="Google Shape;2346;p29"/>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2347" name="Google Shape;2347;p29"/>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2348" name="Google Shape;2348;p29"/>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349" name="Google Shape;2349;p29"/>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2350" name="Google Shape;2350;p29"/>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351" name="Google Shape;2351;p29"/>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2352" name="Google Shape;2352;p29"/>
          <p:cNvSpPr/>
          <p:nvPr/>
        </p:nvSpPr>
        <p:spPr>
          <a:xfrm>
            <a:off x="3799284" y="3288556"/>
            <a:ext cx="5078100" cy="288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53" name="Google Shape;2353;p29"/>
          <p:cNvSpPr/>
          <p:nvPr/>
        </p:nvSpPr>
        <p:spPr>
          <a:xfrm>
            <a:off x="3798694" y="1148353"/>
            <a:ext cx="883800" cy="8808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54" name="Google Shape;2354;p29"/>
          <p:cNvSpPr/>
          <p:nvPr/>
        </p:nvSpPr>
        <p:spPr>
          <a:xfrm>
            <a:off x="3799283" y="2062803"/>
            <a:ext cx="882600" cy="7317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2355" name="Google Shape;2355;p29"/>
          <p:cNvSpPr/>
          <p:nvPr/>
        </p:nvSpPr>
        <p:spPr>
          <a:xfrm>
            <a:off x="3798695" y="2829884"/>
            <a:ext cx="883200" cy="4224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56" name="Google Shape;2356;p29"/>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57" name="Google Shape;2357;p29"/>
          <p:cNvSpPr/>
          <p:nvPr/>
        </p:nvSpPr>
        <p:spPr>
          <a:xfrm>
            <a:off x="1204099" y="1806291"/>
            <a:ext cx="2494500" cy="9348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358" name="Google Shape;2358;p29"/>
          <p:cNvSpPr/>
          <p:nvPr/>
        </p:nvSpPr>
        <p:spPr>
          <a:xfrm>
            <a:off x="1203987" y="3287004"/>
            <a:ext cx="2494800" cy="2904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2359" name="Google Shape;2359;p29"/>
          <p:cNvSpPr/>
          <p:nvPr/>
        </p:nvSpPr>
        <p:spPr>
          <a:xfrm>
            <a:off x="1206566" y="1148353"/>
            <a:ext cx="2489700" cy="6219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360" name="Google Shape;2360;p29"/>
          <p:cNvSpPr/>
          <p:nvPr/>
        </p:nvSpPr>
        <p:spPr>
          <a:xfrm>
            <a:off x="6488944" y="1148351"/>
            <a:ext cx="2389500" cy="6237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61" name="Google Shape;2361;p29"/>
          <p:cNvSpPr/>
          <p:nvPr/>
        </p:nvSpPr>
        <p:spPr>
          <a:xfrm>
            <a:off x="6490037" y="2776695"/>
            <a:ext cx="2387400" cy="4743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2362" name="Google Shape;2362;p29"/>
          <p:cNvSpPr/>
          <p:nvPr/>
        </p:nvSpPr>
        <p:spPr>
          <a:xfrm>
            <a:off x="6483514" y="1803271"/>
            <a:ext cx="2390400" cy="936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2363" name="Google Shape;2363;p29"/>
          <p:cNvSpPr/>
          <p:nvPr/>
        </p:nvSpPr>
        <p:spPr>
          <a:xfrm>
            <a:off x="4782477" y="1148353"/>
            <a:ext cx="1606200" cy="579900"/>
          </a:xfrm>
          <a:prstGeom prst="rect">
            <a:avLst/>
          </a:prstGeom>
          <a:noFill/>
          <a:ln cap="flat" cmpd="sng" w="9525">
            <a:solidFill>
              <a:srgbClr val="ED7D3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2364" name="Google Shape;2364;p29"/>
          <p:cNvSpPr/>
          <p:nvPr/>
        </p:nvSpPr>
        <p:spPr>
          <a:xfrm>
            <a:off x="4783580" y="2519181"/>
            <a:ext cx="1604100" cy="4398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365" name="Google Shape;2365;p29"/>
          <p:cNvSpPr/>
          <p:nvPr/>
        </p:nvSpPr>
        <p:spPr>
          <a:xfrm>
            <a:off x="4784086" y="1750565"/>
            <a:ext cx="1603200" cy="7485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66" name="Google Shape;2366;p29"/>
          <p:cNvSpPr/>
          <p:nvPr/>
        </p:nvSpPr>
        <p:spPr>
          <a:xfrm>
            <a:off x="4781464" y="2980599"/>
            <a:ext cx="1603500" cy="2766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367" name="Google Shape;2367;p29"/>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Conozca a su cliente (KYC)</a:t>
            </a:r>
            <a:endParaRPr b="0" i="0" sz="400" u="none" cap="none" strike="noStrike">
              <a:solidFill>
                <a:srgbClr val="595959"/>
              </a:solidFill>
              <a:latin typeface="Montserrat"/>
              <a:ea typeface="Montserrat"/>
              <a:cs typeface="Montserrat"/>
              <a:sym typeface="Montserrat"/>
            </a:endParaRPr>
          </a:p>
        </p:txBody>
      </p:sp>
      <p:sp>
        <p:nvSpPr>
          <p:cNvPr id="2368" name="Google Shape;2368;p29"/>
          <p:cNvSpPr/>
          <p:nvPr/>
        </p:nvSpPr>
        <p:spPr>
          <a:xfrm>
            <a:off x="5833996" y="4050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Comportamiento de la transacción</a:t>
            </a:r>
            <a:endParaRPr b="0" i="0" sz="400" u="none" cap="none" strike="noStrike">
              <a:solidFill>
                <a:srgbClr val="595959"/>
              </a:solidFill>
              <a:latin typeface="Montserrat"/>
              <a:ea typeface="Montserrat"/>
              <a:cs typeface="Montserrat"/>
              <a:sym typeface="Montserrat"/>
            </a:endParaRPr>
          </a:p>
        </p:txBody>
      </p:sp>
      <p:sp>
        <p:nvSpPr>
          <p:cNvPr id="2369" name="Google Shape;2369;p29"/>
          <p:cNvSpPr/>
          <p:nvPr/>
        </p:nvSpPr>
        <p:spPr>
          <a:xfrm>
            <a:off x="693777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Fondos disponibles</a:t>
            </a:r>
            <a:endParaRPr b="0" i="0" sz="400" u="none" cap="none" strike="noStrike">
              <a:solidFill>
                <a:srgbClr val="595959"/>
              </a:solidFill>
              <a:latin typeface="Montserrat"/>
              <a:ea typeface="Montserrat"/>
              <a:cs typeface="Montserrat"/>
              <a:sym typeface="Montserrat"/>
            </a:endParaRPr>
          </a:p>
        </p:txBody>
      </p:sp>
      <p:sp>
        <p:nvSpPr>
          <p:cNvPr id="2370" name="Google Shape;2370;p29"/>
          <p:cNvSpPr/>
          <p:nvPr/>
        </p:nvSpPr>
        <p:spPr>
          <a:xfrm>
            <a:off x="6937778"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Evaluación de ingresos (entrantes)</a:t>
            </a:r>
            <a:endParaRPr b="0" i="0" sz="400" u="none" cap="none" strike="noStrike">
              <a:solidFill>
                <a:srgbClr val="595959"/>
              </a:solidFill>
              <a:latin typeface="Montserrat"/>
              <a:ea typeface="Montserrat"/>
              <a:cs typeface="Montserrat"/>
              <a:sym typeface="Montserrat"/>
            </a:endParaRPr>
          </a:p>
        </p:txBody>
      </p:sp>
      <p:sp>
        <p:nvSpPr>
          <p:cNvPr id="2371" name="Google Shape;2371;p29"/>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Evaluación de gastos (saliente)</a:t>
            </a:r>
            <a:endParaRPr b="0" i="0" sz="400" u="none" cap="none" strike="noStrike">
              <a:solidFill>
                <a:srgbClr val="595959"/>
              </a:solidFill>
              <a:latin typeface="Montserrat"/>
              <a:ea typeface="Montserrat"/>
              <a:cs typeface="Montserrat"/>
              <a:sym typeface="Montserrat"/>
            </a:endParaRPr>
          </a:p>
        </p:txBody>
      </p:sp>
      <p:sp>
        <p:nvSpPr>
          <p:cNvPr id="2372" name="Google Shape;2372;p29"/>
          <p:cNvSpPr/>
          <p:nvPr/>
        </p:nvSpPr>
        <p:spPr>
          <a:xfrm>
            <a:off x="6937776" y="419557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Reclamaciones y disputas</a:t>
            </a:r>
            <a:endParaRPr b="0" i="0" sz="400" u="none" cap="none" strike="noStrike">
              <a:solidFill>
                <a:srgbClr val="FFFFFF"/>
              </a:solidFill>
              <a:latin typeface="Montserrat"/>
              <a:ea typeface="Montserrat"/>
              <a:cs typeface="Montserrat"/>
              <a:sym typeface="Montserrat"/>
            </a:endParaRPr>
          </a:p>
        </p:txBody>
      </p:sp>
      <p:sp>
        <p:nvSpPr>
          <p:cNvPr id="2373" name="Google Shape;2373;p29"/>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Buró de crédito</a:t>
            </a:r>
            <a:endParaRPr b="0" i="0" sz="400" u="none" cap="none" strike="noStrike">
              <a:solidFill>
                <a:srgbClr val="595959"/>
              </a:solidFill>
              <a:latin typeface="Montserrat"/>
              <a:ea typeface="Montserrat"/>
              <a:cs typeface="Montserrat"/>
              <a:sym typeface="Montserrat"/>
            </a:endParaRPr>
          </a:p>
        </p:txBody>
      </p:sp>
      <p:sp>
        <p:nvSpPr>
          <p:cNvPr id="2374" name="Google Shape;2374;p29"/>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Umbrales de riesgo (evaluar y modelar)</a:t>
            </a:r>
            <a:br>
              <a:rPr b="0" i="0" lang="es" sz="400" u="none" cap="none" strike="noStrike">
                <a:solidFill>
                  <a:srgbClr val="595959"/>
                </a:solidFill>
                <a:latin typeface="Montserrat"/>
                <a:ea typeface="Montserrat"/>
                <a:cs typeface="Montserrat"/>
                <a:sym typeface="Montserrat"/>
              </a:rPr>
            </a:br>
            <a:endParaRPr b="0" i="0" sz="400" u="none" cap="none" strike="noStrike">
              <a:solidFill>
                <a:srgbClr val="595959"/>
              </a:solidFill>
              <a:latin typeface="Montserrat"/>
              <a:ea typeface="Montserrat"/>
              <a:cs typeface="Montserrat"/>
              <a:sym typeface="Montserrat"/>
            </a:endParaRPr>
          </a:p>
        </p:txBody>
      </p:sp>
      <p:sp>
        <p:nvSpPr>
          <p:cNvPr id="2375" name="Google Shape;2375;p29"/>
          <p:cNvSpPr/>
          <p:nvPr/>
        </p:nvSpPr>
        <p:spPr>
          <a:xfrm>
            <a:off x="4708161"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restricciones de cuenta</a:t>
            </a:r>
            <a:br>
              <a:rPr b="0" i="0" lang="es" sz="400" u="none" cap="none" strike="noStrike">
                <a:solidFill>
                  <a:srgbClr val="595959"/>
                </a:solidFill>
                <a:latin typeface="Montserrat"/>
                <a:ea typeface="Montserrat"/>
                <a:cs typeface="Montserrat"/>
                <a:sym typeface="Montserrat"/>
              </a:rPr>
            </a:br>
            <a:endParaRPr b="0" i="0" sz="400" u="none" cap="none" strike="noStrike">
              <a:solidFill>
                <a:srgbClr val="595959"/>
              </a:solidFill>
              <a:latin typeface="Montserrat"/>
              <a:ea typeface="Montserrat"/>
              <a:cs typeface="Montserrat"/>
              <a:sym typeface="Montserrat"/>
            </a:endParaRPr>
          </a:p>
        </p:txBody>
      </p:sp>
      <p:sp>
        <p:nvSpPr>
          <p:cNvPr id="2376" name="Google Shape;2376;p29"/>
          <p:cNvSpPr/>
          <p:nvPr/>
        </p:nvSpPr>
        <p:spPr>
          <a:xfrm>
            <a:off x="3555696" y="434491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Regulaciones locales y estatales</a:t>
            </a:r>
            <a:endParaRPr b="0" i="0" sz="400" u="none" cap="none" strike="noStrike">
              <a:solidFill>
                <a:srgbClr val="595959"/>
              </a:solidFill>
              <a:latin typeface="Montserrat"/>
              <a:ea typeface="Montserrat"/>
              <a:cs typeface="Montserrat"/>
              <a:sym typeface="Montserrat"/>
            </a:endParaRPr>
          </a:p>
        </p:txBody>
      </p:sp>
      <p:sp>
        <p:nvSpPr>
          <p:cNvPr id="2377" name="Google Shape;2377;p29"/>
          <p:cNvSpPr/>
          <p:nvPr/>
        </p:nvSpPr>
        <p:spPr>
          <a:xfrm>
            <a:off x="35556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Consumidor y privacidad</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(cumplimiento)</a:t>
            </a:r>
            <a:endParaRPr b="0" i="0" sz="400" u="none" cap="none" strike="noStrike">
              <a:solidFill>
                <a:srgbClr val="595959"/>
              </a:solidFill>
              <a:latin typeface="Montserrat"/>
              <a:ea typeface="Montserrat"/>
              <a:cs typeface="Montserrat"/>
              <a:sym typeface="Montserrat"/>
            </a:endParaRPr>
          </a:p>
        </p:txBody>
      </p:sp>
      <p:sp>
        <p:nvSpPr>
          <p:cNvPr id="2378" name="Google Shape;2378;p29"/>
          <p:cNvSpPr/>
          <p:nvPr/>
        </p:nvSpPr>
        <p:spPr>
          <a:xfrm>
            <a:off x="3555696" y="4046240"/>
            <a:ext cx="7227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Regulaciones de México.</a:t>
            </a:r>
            <a:endParaRPr b="0" i="0" sz="400" u="none" cap="none" strike="noStrike">
              <a:solidFill>
                <a:srgbClr val="FFFFFF"/>
              </a:solidFill>
              <a:latin typeface="Montserrat"/>
              <a:ea typeface="Montserrat"/>
              <a:cs typeface="Montserrat"/>
              <a:sym typeface="Montserrat"/>
            </a:endParaRPr>
          </a:p>
        </p:txBody>
      </p:sp>
      <p:sp>
        <p:nvSpPr>
          <p:cNvPr id="2379" name="Google Shape;2379;p29"/>
          <p:cNvSpPr/>
          <p:nvPr/>
        </p:nvSpPr>
        <p:spPr>
          <a:xfrm>
            <a:off x="3555696" y="419557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Regulaciones de BANXICO</a:t>
            </a:r>
            <a:endParaRPr b="0" i="0" sz="400" u="none" cap="none" strike="noStrike">
              <a:solidFill>
                <a:srgbClr val="FFFFFF"/>
              </a:solidFill>
              <a:latin typeface="Montserrat"/>
              <a:ea typeface="Montserrat"/>
              <a:cs typeface="Montserrat"/>
              <a:sym typeface="Montserrat"/>
            </a:endParaRPr>
          </a:p>
        </p:txBody>
      </p:sp>
      <p:sp>
        <p:nvSpPr>
          <p:cNvPr id="2380" name="Google Shape;2380;p29"/>
          <p:cNvSpPr/>
          <p:nvPr/>
        </p:nvSpPr>
        <p:spPr>
          <a:xfrm>
            <a:off x="1333302" y="4246040"/>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Seguridad del sistema (disposiciones)</a:t>
            </a:r>
            <a:endParaRPr b="0" i="0" sz="400" u="none" cap="none" strike="noStrike">
              <a:solidFill>
                <a:srgbClr val="FFFFFF"/>
              </a:solidFill>
              <a:latin typeface="Montserrat"/>
              <a:ea typeface="Montserrat"/>
              <a:cs typeface="Montserrat"/>
              <a:sym typeface="Montserrat"/>
            </a:endParaRPr>
          </a:p>
        </p:txBody>
      </p:sp>
      <p:sp>
        <p:nvSpPr>
          <p:cNvPr id="2381" name="Google Shape;2381;p29"/>
          <p:cNvSpPr/>
          <p:nvPr/>
        </p:nvSpPr>
        <p:spPr>
          <a:xfrm>
            <a:off x="1333302" y="3896900"/>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Autenticación (validación de ID de cliente)</a:t>
            </a:r>
            <a:endParaRPr b="0" i="0" sz="400" u="none" cap="none" strike="noStrike">
              <a:solidFill>
                <a:srgbClr val="FFFFFF"/>
              </a:solidFill>
              <a:latin typeface="Montserrat"/>
              <a:ea typeface="Montserrat"/>
              <a:cs typeface="Montserrat"/>
              <a:sym typeface="Montserrat"/>
            </a:endParaRPr>
          </a:p>
        </p:txBody>
      </p:sp>
      <p:sp>
        <p:nvSpPr>
          <p:cNvPr id="2382" name="Google Shape;2382;p29"/>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plataformas</a:t>
            </a:r>
            <a:endParaRPr b="0" i="0" sz="400" u="none" cap="none" strike="noStrike">
              <a:solidFill>
                <a:srgbClr val="595959"/>
              </a:solidFill>
              <a:latin typeface="Montserrat"/>
              <a:ea typeface="Montserrat"/>
              <a:cs typeface="Montserrat"/>
              <a:sym typeface="Montserrat"/>
            </a:endParaRPr>
          </a:p>
        </p:txBody>
      </p:sp>
      <p:sp>
        <p:nvSpPr>
          <p:cNvPr id="2383" name="Google Shape;2383;p29"/>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mensajería</a:t>
            </a:r>
            <a:endParaRPr b="0" i="0" sz="400" u="none" cap="none" strike="noStrike">
              <a:solidFill>
                <a:srgbClr val="595959"/>
              </a:solidFill>
              <a:latin typeface="Montserrat"/>
              <a:ea typeface="Montserrat"/>
              <a:cs typeface="Montserrat"/>
              <a:sym typeface="Montserrat"/>
            </a:endParaRPr>
          </a:p>
        </p:txBody>
      </p:sp>
      <p:sp>
        <p:nvSpPr>
          <p:cNvPr id="2384" name="Google Shape;2384;p29"/>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bases de datos</a:t>
            </a:r>
            <a:endParaRPr b="0" i="0" sz="400" u="none" cap="none" strike="noStrike">
              <a:solidFill>
                <a:srgbClr val="FFFFFF"/>
              </a:solidFill>
              <a:latin typeface="Montserrat"/>
              <a:ea typeface="Montserrat"/>
              <a:cs typeface="Montserrat"/>
              <a:sym typeface="Montserrat"/>
            </a:endParaRPr>
          </a:p>
        </p:txBody>
      </p:sp>
      <p:sp>
        <p:nvSpPr>
          <p:cNvPr id="2385" name="Google Shape;2385;p29"/>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hardware</a:t>
            </a:r>
            <a:endParaRPr b="0" i="0" sz="400" u="none" cap="none" strike="noStrike">
              <a:solidFill>
                <a:srgbClr val="595959"/>
              </a:solidFill>
              <a:latin typeface="Montserrat"/>
              <a:ea typeface="Montserrat"/>
              <a:cs typeface="Montserrat"/>
              <a:sym typeface="Montserrat"/>
            </a:endParaRPr>
          </a:p>
        </p:txBody>
      </p:sp>
      <p:sp>
        <p:nvSpPr>
          <p:cNvPr id="2386" name="Google Shape;2386;p29"/>
          <p:cNvSpPr/>
          <p:nvPr/>
        </p:nvSpPr>
        <p:spPr>
          <a:xfrm>
            <a:off x="1333302" y="4067547"/>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Inicio de sesión único</a:t>
            </a:r>
            <a:endParaRPr b="0" i="0" sz="400" u="none" cap="none" strike="noStrike">
              <a:solidFill>
                <a:srgbClr val="FFFFFF"/>
              </a:solidFill>
              <a:latin typeface="Montserrat"/>
              <a:ea typeface="Montserrat"/>
              <a:cs typeface="Montserrat"/>
              <a:sym typeface="Montserrat"/>
            </a:endParaRPr>
          </a:p>
        </p:txBody>
      </p:sp>
      <p:sp>
        <p:nvSpPr>
          <p:cNvPr id="2387" name="Google Shape;2387;p29"/>
          <p:cNvSpPr/>
          <p:nvPr/>
        </p:nvSpPr>
        <p:spPr>
          <a:xfrm>
            <a:off x="2444808" y="389690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Recopilación de parámetros</a:t>
            </a:r>
            <a:endParaRPr b="0" i="0" sz="400" u="none" cap="none" strike="noStrike">
              <a:solidFill>
                <a:srgbClr val="FFFFFF"/>
              </a:solidFill>
              <a:latin typeface="Montserrat"/>
              <a:ea typeface="Montserrat"/>
              <a:cs typeface="Montserrat"/>
              <a:sym typeface="Montserrat"/>
            </a:endParaRPr>
          </a:p>
        </p:txBody>
      </p:sp>
      <p:sp>
        <p:nvSpPr>
          <p:cNvPr id="2388" name="Google Shape;2388;p29"/>
          <p:cNvSpPr/>
          <p:nvPr/>
        </p:nvSpPr>
        <p:spPr>
          <a:xfrm>
            <a:off x="2444808" y="404624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inspección</a:t>
            </a:r>
            <a:endParaRPr b="0" i="0" sz="400" u="none" cap="none" strike="noStrike">
              <a:solidFill>
                <a:srgbClr val="FFFFFF"/>
              </a:solidFill>
              <a:latin typeface="Montserrat"/>
              <a:ea typeface="Montserrat"/>
              <a:cs typeface="Montserrat"/>
              <a:sym typeface="Montserrat"/>
            </a:endParaRPr>
          </a:p>
        </p:txBody>
      </p:sp>
      <p:sp>
        <p:nvSpPr>
          <p:cNvPr id="2389" name="Google Shape;2389;p29"/>
          <p:cNvSpPr/>
          <p:nvPr/>
        </p:nvSpPr>
        <p:spPr>
          <a:xfrm>
            <a:off x="2444808" y="4344919"/>
            <a:ext cx="7227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notificación</a:t>
            </a:r>
            <a:endParaRPr b="0" i="0" sz="400" u="none" cap="none" strike="noStrike">
              <a:solidFill>
                <a:srgbClr val="FFFFFF"/>
              </a:solidFill>
              <a:latin typeface="Montserrat"/>
              <a:ea typeface="Montserrat"/>
              <a:cs typeface="Montserrat"/>
              <a:sym typeface="Montserrat"/>
            </a:endParaRPr>
          </a:p>
        </p:txBody>
      </p:sp>
      <p:sp>
        <p:nvSpPr>
          <p:cNvPr id="2390" name="Google Shape;2390;p29"/>
          <p:cNvSpPr/>
          <p:nvPr/>
        </p:nvSpPr>
        <p:spPr>
          <a:xfrm>
            <a:off x="2444808" y="4195579"/>
            <a:ext cx="7227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revisión</a:t>
            </a:r>
            <a:endParaRPr b="0" i="0" sz="400" u="none" cap="none" strike="noStrike">
              <a:solidFill>
                <a:srgbClr val="FFFFFF"/>
              </a:solidFill>
              <a:latin typeface="Montserrat"/>
              <a:ea typeface="Montserrat"/>
              <a:cs typeface="Montserrat"/>
              <a:sym typeface="Montserrat"/>
            </a:endParaRPr>
          </a:p>
        </p:txBody>
      </p:sp>
      <p:sp>
        <p:nvSpPr>
          <p:cNvPr id="2391" name="Google Shape;2391;p29"/>
          <p:cNvSpPr/>
          <p:nvPr/>
        </p:nvSpPr>
        <p:spPr>
          <a:xfrm>
            <a:off x="5519878" y="3397234"/>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Precio, honorarios y tarifas</a:t>
            </a:r>
            <a:endParaRPr b="0" i="0" sz="400" u="none" cap="none" strike="noStrike">
              <a:solidFill>
                <a:srgbClr val="595959"/>
              </a:solidFill>
              <a:latin typeface="Montserrat"/>
              <a:ea typeface="Montserrat"/>
              <a:cs typeface="Montserrat"/>
              <a:sym typeface="Montserrat"/>
            </a:endParaRPr>
          </a:p>
        </p:txBody>
      </p:sp>
      <p:sp>
        <p:nvSpPr>
          <p:cNvPr id="2392" name="Google Shape;2392;p29"/>
          <p:cNvSpPr/>
          <p:nvPr/>
        </p:nvSpPr>
        <p:spPr>
          <a:xfrm>
            <a:off x="4689602"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Parametrización</a:t>
            </a:r>
            <a:endParaRPr b="0" i="0" sz="400" u="none" cap="none" strike="noStrike">
              <a:solidFill>
                <a:srgbClr val="595959"/>
              </a:solidFill>
              <a:latin typeface="Montserrat"/>
              <a:ea typeface="Montserrat"/>
              <a:cs typeface="Montserrat"/>
              <a:sym typeface="Montserrat"/>
            </a:endParaRPr>
          </a:p>
        </p:txBody>
      </p:sp>
      <p:sp>
        <p:nvSpPr>
          <p:cNvPr id="2393" name="Google Shape;2393;p29"/>
          <p:cNvSpPr/>
          <p:nvPr/>
        </p:nvSpPr>
        <p:spPr>
          <a:xfrm>
            <a:off x="7168269" y="3397881"/>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 roles</a:t>
            </a:r>
            <a:endParaRPr b="0" i="0" sz="400" u="none" cap="none" strike="noStrike">
              <a:solidFill>
                <a:srgbClr val="595959"/>
              </a:solidFill>
              <a:latin typeface="Montserrat"/>
              <a:ea typeface="Montserrat"/>
              <a:cs typeface="Montserrat"/>
              <a:sym typeface="Montserrat"/>
            </a:endParaRPr>
          </a:p>
        </p:txBody>
      </p:sp>
      <p:sp>
        <p:nvSpPr>
          <p:cNvPr id="2394" name="Google Shape;2394;p29"/>
          <p:cNvSpPr/>
          <p:nvPr/>
        </p:nvSpPr>
        <p:spPr>
          <a:xfrm>
            <a:off x="7977593" y="3397611"/>
            <a:ext cx="8370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del motor de reglas</a:t>
            </a:r>
            <a:endParaRPr b="0" i="0" sz="400" u="none" cap="none" strike="noStrike">
              <a:solidFill>
                <a:srgbClr val="595959"/>
              </a:solidFill>
              <a:latin typeface="Montserrat"/>
              <a:ea typeface="Montserrat"/>
              <a:cs typeface="Montserrat"/>
              <a:sym typeface="Montserrat"/>
            </a:endParaRPr>
          </a:p>
        </p:txBody>
      </p:sp>
      <p:sp>
        <p:nvSpPr>
          <p:cNvPr id="2395" name="Google Shape;2395;p29"/>
          <p:cNvSpPr/>
          <p:nvPr/>
        </p:nvSpPr>
        <p:spPr>
          <a:xfrm>
            <a:off x="6353107" y="3397516"/>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Capacidades de gestión de productos</a:t>
            </a:r>
            <a:endParaRPr b="0" i="0" sz="400" u="none" cap="none" strike="noStrike">
              <a:solidFill>
                <a:srgbClr val="595959"/>
              </a:solidFill>
              <a:latin typeface="Montserrat"/>
              <a:ea typeface="Montserrat"/>
              <a:cs typeface="Montserrat"/>
              <a:sym typeface="Montserrat"/>
            </a:endParaRPr>
          </a:p>
        </p:txBody>
      </p:sp>
      <p:sp>
        <p:nvSpPr>
          <p:cNvPr id="2396" name="Google Shape;2396;p29"/>
          <p:cNvSpPr/>
          <p:nvPr/>
        </p:nvSpPr>
        <p:spPr>
          <a:xfrm>
            <a:off x="3880064"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Información de</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Modelos</a:t>
            </a:r>
            <a:endParaRPr b="0" i="0" sz="400" u="none" cap="none" strike="noStrike">
              <a:solidFill>
                <a:srgbClr val="595959"/>
              </a:solidFill>
              <a:latin typeface="Montserrat"/>
              <a:ea typeface="Montserrat"/>
              <a:cs typeface="Montserrat"/>
              <a:sym typeface="Montserrat"/>
            </a:endParaRPr>
          </a:p>
        </p:txBody>
      </p:sp>
      <p:sp>
        <p:nvSpPr>
          <p:cNvPr id="2397" name="Google Shape;2397;p29"/>
          <p:cNvSpPr/>
          <p:nvPr/>
        </p:nvSpPr>
        <p:spPr>
          <a:xfrm>
            <a:off x="3880356" y="187757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Reconciliaciones</a:t>
            </a:r>
            <a:endParaRPr b="0" i="0" sz="400" u="none" cap="none" strike="noStrike">
              <a:solidFill>
                <a:srgbClr val="595959"/>
              </a:solidFill>
              <a:latin typeface="Montserrat"/>
              <a:ea typeface="Montserrat"/>
              <a:cs typeface="Montserrat"/>
              <a:sym typeface="Montserrat"/>
            </a:endParaRPr>
          </a:p>
        </p:txBody>
      </p:sp>
      <p:sp>
        <p:nvSpPr>
          <p:cNvPr id="2398" name="Google Shape;2398;p29"/>
          <p:cNvSpPr/>
          <p:nvPr/>
        </p:nvSpPr>
        <p:spPr>
          <a:xfrm>
            <a:off x="3880356" y="125706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Ajustes</a:t>
            </a:r>
            <a:endParaRPr b="0" i="0" sz="400" u="none" cap="none" strike="noStrike">
              <a:solidFill>
                <a:srgbClr val="595959"/>
              </a:solidFill>
              <a:latin typeface="Montserrat"/>
              <a:ea typeface="Montserrat"/>
              <a:cs typeface="Montserrat"/>
              <a:sym typeface="Montserrat"/>
            </a:endParaRPr>
          </a:p>
        </p:txBody>
      </p:sp>
      <p:sp>
        <p:nvSpPr>
          <p:cNvPr id="2399" name="Google Shape;2399;p29"/>
          <p:cNvSpPr/>
          <p:nvPr/>
        </p:nvSpPr>
        <p:spPr>
          <a:xfrm>
            <a:off x="3880356" y="15673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Excepciones</a:t>
            </a:r>
            <a:endParaRPr b="0" i="0" sz="400" u="none" cap="none" strike="noStrike">
              <a:solidFill>
                <a:srgbClr val="595959"/>
              </a:solidFill>
              <a:latin typeface="Montserrat"/>
              <a:ea typeface="Montserrat"/>
              <a:cs typeface="Montserrat"/>
              <a:sym typeface="Montserrat"/>
            </a:endParaRPr>
          </a:p>
        </p:txBody>
      </p:sp>
      <p:sp>
        <p:nvSpPr>
          <p:cNvPr id="2400" name="Google Shape;2400;p29"/>
          <p:cNvSpPr/>
          <p:nvPr/>
        </p:nvSpPr>
        <p:spPr>
          <a:xfrm>
            <a:off x="3880356" y="141200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Procesamiento de saldos</a:t>
            </a:r>
            <a:endParaRPr b="0" i="0" sz="400" u="none" cap="none" strike="noStrike">
              <a:solidFill>
                <a:srgbClr val="595959"/>
              </a:solidFill>
              <a:latin typeface="Montserrat"/>
              <a:ea typeface="Montserrat"/>
              <a:cs typeface="Montserrat"/>
              <a:sym typeface="Montserrat"/>
            </a:endParaRPr>
          </a:p>
        </p:txBody>
      </p:sp>
      <p:sp>
        <p:nvSpPr>
          <p:cNvPr id="2401" name="Google Shape;2401;p29"/>
          <p:cNvSpPr/>
          <p:nvPr/>
        </p:nvSpPr>
        <p:spPr>
          <a:xfrm>
            <a:off x="3880356" y="172318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Contabilidad</a:t>
            </a:r>
            <a:endParaRPr b="0" i="0" sz="400" u="none" cap="none" strike="noStrike">
              <a:solidFill>
                <a:srgbClr val="595959"/>
              </a:solidFill>
              <a:latin typeface="Montserrat"/>
              <a:ea typeface="Montserrat"/>
              <a:cs typeface="Montserrat"/>
              <a:sym typeface="Montserrat"/>
            </a:endParaRPr>
          </a:p>
        </p:txBody>
      </p:sp>
      <p:sp>
        <p:nvSpPr>
          <p:cNvPr id="2402" name="Google Shape;2402;p29"/>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Asociaciones</a:t>
            </a:r>
            <a:endParaRPr b="0" i="0" sz="400" u="none" cap="none" strike="noStrike">
              <a:solidFill>
                <a:srgbClr val="595959"/>
              </a:solidFill>
              <a:latin typeface="Montserrat"/>
              <a:ea typeface="Montserrat"/>
              <a:cs typeface="Montserrat"/>
              <a:sym typeface="Montserrat"/>
            </a:endParaRPr>
          </a:p>
        </p:txBody>
      </p:sp>
      <p:sp>
        <p:nvSpPr>
          <p:cNvPr id="2403" name="Google Shape;2403;p29"/>
          <p:cNvSpPr/>
          <p:nvPr/>
        </p:nvSpPr>
        <p:spPr>
          <a:xfrm>
            <a:off x="3880356" y="232511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Ventas/incentivos</a:t>
            </a:r>
            <a:endParaRPr b="0" i="0" sz="400" u="none" cap="none" strike="noStrike">
              <a:solidFill>
                <a:srgbClr val="FFFFFF"/>
              </a:solidFill>
              <a:latin typeface="Montserrat"/>
              <a:ea typeface="Montserrat"/>
              <a:cs typeface="Montserrat"/>
              <a:sym typeface="Montserrat"/>
            </a:endParaRPr>
          </a:p>
        </p:txBody>
      </p:sp>
      <p:sp>
        <p:nvSpPr>
          <p:cNvPr id="2404" name="Google Shape;2404;p29"/>
          <p:cNvSpPr/>
          <p:nvPr/>
        </p:nvSpPr>
        <p:spPr>
          <a:xfrm>
            <a:off x="3880064" y="2472433"/>
            <a:ext cx="7209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Gestión de la relación con el cliente</a:t>
            </a:r>
            <a:endParaRPr b="0" i="0" sz="400" u="none" cap="none" strike="noStrike">
              <a:solidFill>
                <a:srgbClr val="FFFFFF"/>
              </a:solidFill>
              <a:latin typeface="Montserrat"/>
              <a:ea typeface="Montserrat"/>
              <a:cs typeface="Montserrat"/>
              <a:sym typeface="Montserrat"/>
            </a:endParaRPr>
          </a:p>
        </p:txBody>
      </p:sp>
      <p:sp>
        <p:nvSpPr>
          <p:cNvPr id="2405" name="Google Shape;2405;p29"/>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prospectos</a:t>
            </a:r>
            <a:endParaRPr b="0" i="0" sz="400" u="none" cap="none" strike="noStrike">
              <a:solidFill>
                <a:srgbClr val="595959"/>
              </a:solidFill>
              <a:latin typeface="Montserrat"/>
              <a:ea typeface="Montserrat"/>
              <a:cs typeface="Montserrat"/>
              <a:sym typeface="Montserrat"/>
            </a:endParaRPr>
          </a:p>
        </p:txBody>
      </p:sp>
      <p:sp>
        <p:nvSpPr>
          <p:cNvPr id="2406" name="Google Shape;2406;p29"/>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Finanzas y Tesorería</a:t>
            </a:r>
            <a:endParaRPr b="0" i="0" sz="400" u="none" cap="none" strike="noStrike">
              <a:solidFill>
                <a:srgbClr val="595959"/>
              </a:solidFill>
              <a:latin typeface="Montserrat"/>
              <a:ea typeface="Montserrat"/>
              <a:cs typeface="Montserrat"/>
              <a:sym typeface="Montserrat"/>
            </a:endParaRPr>
          </a:p>
        </p:txBody>
      </p:sp>
      <p:sp>
        <p:nvSpPr>
          <p:cNvPr id="2407" name="Google Shape;2407;p29"/>
          <p:cNvSpPr/>
          <p:nvPr/>
        </p:nvSpPr>
        <p:spPr>
          <a:xfrm>
            <a:off x="3880064" y="309275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Servicios de inversión</a:t>
            </a:r>
            <a:endParaRPr b="0" i="0" sz="400" u="none" cap="none" strike="noStrike">
              <a:solidFill>
                <a:srgbClr val="FFFFFF"/>
              </a:solidFill>
              <a:latin typeface="Montserrat"/>
              <a:ea typeface="Montserrat"/>
              <a:cs typeface="Montserrat"/>
              <a:sym typeface="Montserrat"/>
            </a:endParaRPr>
          </a:p>
        </p:txBody>
      </p:sp>
      <p:sp>
        <p:nvSpPr>
          <p:cNvPr id="2408" name="Google Shape;2408;p29"/>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documentos de imagen</a:t>
            </a:r>
            <a:endParaRPr b="0" i="0" sz="400" u="none" cap="none" strike="noStrike">
              <a:solidFill>
                <a:srgbClr val="595959"/>
              </a:solidFill>
              <a:latin typeface="Montserrat"/>
              <a:ea typeface="Montserrat"/>
              <a:cs typeface="Montserrat"/>
              <a:sym typeface="Montserrat"/>
            </a:endParaRPr>
          </a:p>
        </p:txBody>
      </p:sp>
      <p:sp>
        <p:nvSpPr>
          <p:cNvPr id="2409" name="Google Shape;2409;p29"/>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Templates </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(correspondencia)</a:t>
            </a:r>
            <a:endParaRPr b="0" i="0" sz="400" u="none" cap="none" strike="noStrike">
              <a:solidFill>
                <a:srgbClr val="595959"/>
              </a:solidFill>
              <a:latin typeface="Montserrat"/>
              <a:ea typeface="Montserrat"/>
              <a:cs typeface="Montserrat"/>
              <a:sym typeface="Montserrat"/>
            </a:endParaRPr>
          </a:p>
        </p:txBody>
      </p:sp>
      <p:sp>
        <p:nvSpPr>
          <p:cNvPr id="2410" name="Google Shape;2410;p29"/>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Divulgación y aceptar</a:t>
            </a:r>
            <a:endParaRPr b="0" i="0" sz="400" u="none" cap="none" strike="noStrike">
              <a:solidFill>
                <a:srgbClr val="595959"/>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(Procesamienta de cuentas)</a:t>
            </a:r>
            <a:endParaRPr b="0" i="0" sz="400" u="none" cap="none" strike="noStrike">
              <a:solidFill>
                <a:srgbClr val="595959"/>
              </a:solidFill>
              <a:latin typeface="Montserrat"/>
              <a:ea typeface="Montserrat"/>
              <a:cs typeface="Montserrat"/>
              <a:sym typeface="Montserrat"/>
            </a:endParaRPr>
          </a:p>
        </p:txBody>
      </p:sp>
      <p:sp>
        <p:nvSpPr>
          <p:cNvPr id="2411" name="Google Shape;2411;p29"/>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Documentación de cumplimiento de cuenta</a:t>
            </a:r>
            <a:endParaRPr b="0" i="0" sz="400" u="none" cap="none" strike="noStrike">
              <a:solidFill>
                <a:srgbClr val="595959"/>
              </a:solidFill>
              <a:latin typeface="Montserrat"/>
              <a:ea typeface="Montserrat"/>
              <a:cs typeface="Montserrat"/>
              <a:sym typeface="Montserrat"/>
            </a:endParaRPr>
          </a:p>
        </p:txBody>
      </p:sp>
      <p:sp>
        <p:nvSpPr>
          <p:cNvPr id="2412" name="Google Shape;2412;p29"/>
          <p:cNvSpPr/>
          <p:nvPr/>
        </p:nvSpPr>
        <p:spPr>
          <a:xfrm>
            <a:off x="1294951" y="1921550"/>
            <a:ext cx="746400" cy="1356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Cierre de cuenta</a:t>
            </a:r>
            <a:endParaRPr b="0" i="0" sz="400" u="none" cap="none" strike="noStrike">
              <a:solidFill>
                <a:srgbClr val="FFFFFF"/>
              </a:solidFill>
              <a:latin typeface="Montserrat"/>
              <a:ea typeface="Montserrat"/>
              <a:cs typeface="Montserrat"/>
              <a:sym typeface="Montserrat"/>
            </a:endParaRPr>
          </a:p>
        </p:txBody>
      </p:sp>
      <p:sp>
        <p:nvSpPr>
          <p:cNvPr id="2413" name="Google Shape;2413;p29"/>
          <p:cNvSpPr/>
          <p:nvPr/>
        </p:nvSpPr>
        <p:spPr>
          <a:xfrm>
            <a:off x="1294951" y="2232766"/>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Depositar fondos</a:t>
            </a:r>
            <a:endParaRPr b="0" i="0" sz="400" u="none" cap="none" strike="noStrike">
              <a:solidFill>
                <a:srgbClr val="595959"/>
              </a:solidFill>
              <a:latin typeface="Montserrat"/>
              <a:ea typeface="Montserrat"/>
              <a:cs typeface="Montserrat"/>
              <a:sym typeface="Montserrat"/>
            </a:endParaRPr>
          </a:p>
        </p:txBody>
      </p:sp>
      <p:sp>
        <p:nvSpPr>
          <p:cNvPr id="2414" name="Google Shape;2414;p29"/>
          <p:cNvSpPr/>
          <p:nvPr/>
        </p:nvSpPr>
        <p:spPr>
          <a:xfrm>
            <a:off x="1294951"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Transferir fondos</a:t>
            </a:r>
            <a:endParaRPr b="0" i="0" sz="400" u="none" cap="none" strike="noStrike">
              <a:solidFill>
                <a:srgbClr val="595959"/>
              </a:solidFill>
              <a:latin typeface="Montserrat"/>
              <a:ea typeface="Montserrat"/>
              <a:cs typeface="Montserrat"/>
              <a:sym typeface="Montserrat"/>
            </a:endParaRPr>
          </a:p>
        </p:txBody>
      </p:sp>
      <p:sp>
        <p:nvSpPr>
          <p:cNvPr id="2415" name="Google Shape;2415;p29"/>
          <p:cNvSpPr/>
          <p:nvPr/>
        </p:nvSpPr>
        <p:spPr>
          <a:xfrm>
            <a:off x="2862246"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Retirar fondos</a:t>
            </a:r>
            <a:endParaRPr b="0" i="0" sz="400" u="none" cap="none" strike="noStrike">
              <a:solidFill>
                <a:srgbClr val="595959"/>
              </a:solidFill>
              <a:latin typeface="Montserrat"/>
              <a:ea typeface="Montserrat"/>
              <a:cs typeface="Montserrat"/>
              <a:sym typeface="Montserrat"/>
            </a:endParaRPr>
          </a:p>
        </p:txBody>
      </p:sp>
      <p:sp>
        <p:nvSpPr>
          <p:cNvPr id="2416" name="Google Shape;2416;p29"/>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Pequeñas empresas</a:t>
            </a:r>
            <a:endParaRPr b="0" i="0" sz="400" u="none" cap="none" strike="noStrike">
              <a:solidFill>
                <a:srgbClr val="595959"/>
              </a:solidFill>
              <a:latin typeface="Montserrat"/>
              <a:ea typeface="Montserrat"/>
              <a:cs typeface="Montserrat"/>
              <a:sym typeface="Montserrat"/>
            </a:endParaRPr>
          </a:p>
        </p:txBody>
      </p:sp>
      <p:sp>
        <p:nvSpPr>
          <p:cNvPr id="2417" name="Google Shape;2417;p29"/>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Eventos activados por el cliente</a:t>
            </a:r>
            <a:endParaRPr b="0" i="0" sz="400" u="none" cap="none" strike="noStrike">
              <a:solidFill>
                <a:srgbClr val="595959"/>
              </a:solidFill>
              <a:latin typeface="Montserrat"/>
              <a:ea typeface="Montserrat"/>
              <a:cs typeface="Montserrat"/>
              <a:sym typeface="Montserrat"/>
            </a:endParaRPr>
          </a:p>
        </p:txBody>
      </p:sp>
      <p:sp>
        <p:nvSpPr>
          <p:cNvPr id="2418" name="Google Shape;2418;p29"/>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Originación de cuentas</a:t>
            </a:r>
            <a:endParaRPr b="0" i="0" sz="400" u="none" cap="none" strike="noStrike">
              <a:solidFill>
                <a:srgbClr val="595959"/>
              </a:solidFill>
              <a:latin typeface="Montserrat"/>
              <a:ea typeface="Montserrat"/>
              <a:cs typeface="Montserrat"/>
              <a:sym typeface="Montserrat"/>
            </a:endParaRPr>
          </a:p>
        </p:txBody>
      </p:sp>
      <p:sp>
        <p:nvSpPr>
          <p:cNvPr id="2419" name="Google Shape;2419;p29"/>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cumplimiento./</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Incorporación de clientes</a:t>
            </a:r>
            <a:endParaRPr b="0" i="0" sz="400" u="none" cap="none" strike="noStrike">
              <a:solidFill>
                <a:srgbClr val="595959"/>
              </a:solidFill>
              <a:latin typeface="Montserrat"/>
              <a:ea typeface="Montserrat"/>
              <a:cs typeface="Montserrat"/>
              <a:sym typeface="Montserrat"/>
            </a:endParaRPr>
          </a:p>
        </p:txBody>
      </p:sp>
      <p:sp>
        <p:nvSpPr>
          <p:cNvPr id="2420" name="Google Shape;2420;p29"/>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configuración</a:t>
            </a:r>
            <a:endParaRPr b="0" i="0" sz="400" u="none" cap="none" strike="noStrike">
              <a:solidFill>
                <a:srgbClr val="595959"/>
              </a:solidFill>
              <a:latin typeface="Montserrat"/>
              <a:ea typeface="Montserrat"/>
              <a:cs typeface="Montserrat"/>
              <a:sym typeface="Montserrat"/>
            </a:endParaRPr>
          </a:p>
        </p:txBody>
      </p:sp>
      <p:sp>
        <p:nvSpPr>
          <p:cNvPr id="2421" name="Google Shape;2421;p29"/>
          <p:cNvSpPr/>
          <p:nvPr/>
        </p:nvSpPr>
        <p:spPr>
          <a:xfrm>
            <a:off x="2078085" y="2543185"/>
            <a:ext cx="746400" cy="1356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Actualizar información</a:t>
            </a:r>
            <a:endParaRPr b="0" i="0" sz="400" u="none" cap="none" strike="noStrike">
              <a:solidFill>
                <a:srgbClr val="FFFFFF"/>
              </a:solidFill>
              <a:latin typeface="Montserrat"/>
              <a:ea typeface="Montserrat"/>
              <a:cs typeface="Montserrat"/>
              <a:sym typeface="Montserrat"/>
            </a:endParaRPr>
          </a:p>
        </p:txBody>
      </p:sp>
      <p:sp>
        <p:nvSpPr>
          <p:cNvPr id="2422" name="Google Shape;2422;p29"/>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2423" name="Google Shape;2423;p29"/>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Eventos activados por calendario</a:t>
            </a:r>
            <a:endParaRPr b="0" i="0" sz="400" u="none" cap="none" strike="noStrike">
              <a:solidFill>
                <a:srgbClr val="595959"/>
              </a:solidFill>
              <a:latin typeface="Montserrat"/>
              <a:ea typeface="Montserrat"/>
              <a:cs typeface="Montserrat"/>
              <a:sym typeface="Montserrat"/>
            </a:endParaRPr>
          </a:p>
        </p:txBody>
      </p:sp>
      <p:sp>
        <p:nvSpPr>
          <p:cNvPr id="2424" name="Google Shape;2424;p29"/>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que generan intereses</a:t>
            </a:r>
            <a:endParaRPr b="0" i="0" sz="400" u="none" cap="none" strike="noStrike">
              <a:solidFill>
                <a:srgbClr val="595959"/>
              </a:solidFill>
              <a:latin typeface="Montserrat"/>
              <a:ea typeface="Montserrat"/>
              <a:cs typeface="Montserrat"/>
              <a:sym typeface="Montserrat"/>
            </a:endParaRPr>
          </a:p>
        </p:txBody>
      </p:sp>
      <p:sp>
        <p:nvSpPr>
          <p:cNvPr id="2425" name="Google Shape;2425;p29"/>
          <p:cNvSpPr/>
          <p:nvPr/>
        </p:nvSpPr>
        <p:spPr>
          <a:xfrm>
            <a:off x="2862246"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tarjeta de débito/ATM</a:t>
            </a:r>
            <a:endParaRPr b="0" i="0" sz="400" u="none" cap="none" strike="noStrike">
              <a:solidFill>
                <a:srgbClr val="595959"/>
              </a:solidFill>
              <a:latin typeface="Montserrat"/>
              <a:ea typeface="Montserrat"/>
              <a:cs typeface="Montserrat"/>
              <a:sym typeface="Montserrat"/>
            </a:endParaRPr>
          </a:p>
        </p:txBody>
      </p:sp>
      <p:sp>
        <p:nvSpPr>
          <p:cNvPr id="2426" name="Google Shape;2426;p29"/>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pago de facturas en línea</a:t>
            </a:r>
            <a:endParaRPr b="0" i="0" sz="400" u="none" cap="none" strike="noStrike">
              <a:solidFill>
                <a:srgbClr val="595959"/>
              </a:solidFill>
              <a:latin typeface="Montserrat"/>
              <a:ea typeface="Montserrat"/>
              <a:cs typeface="Montserrat"/>
              <a:sym typeface="Montserrat"/>
            </a:endParaRPr>
          </a:p>
        </p:txBody>
      </p:sp>
      <p:sp>
        <p:nvSpPr>
          <p:cNvPr id="2427" name="Google Shape;2427;p29"/>
          <p:cNvSpPr/>
          <p:nvPr/>
        </p:nvSpPr>
        <p:spPr>
          <a:xfrm>
            <a:off x="2862418" y="3397234"/>
            <a:ext cx="7464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Encuestas/investigación</a:t>
            </a:r>
            <a:endParaRPr b="0" i="0" sz="400" u="none" cap="none" strike="noStrike">
              <a:solidFill>
                <a:srgbClr val="FFFFFF"/>
              </a:solidFill>
              <a:latin typeface="Montserrat"/>
              <a:ea typeface="Montserrat"/>
              <a:cs typeface="Montserrat"/>
              <a:sym typeface="Montserrat"/>
            </a:endParaRPr>
          </a:p>
        </p:txBody>
      </p:sp>
      <p:sp>
        <p:nvSpPr>
          <p:cNvPr id="2428" name="Google Shape;2428;p29"/>
          <p:cNvSpPr/>
          <p:nvPr/>
        </p:nvSpPr>
        <p:spPr>
          <a:xfrm>
            <a:off x="1295455" y="3397234"/>
            <a:ext cx="7464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Gestión de campañas</a:t>
            </a:r>
            <a:endParaRPr b="0" i="0" sz="400" u="none" cap="none" strike="noStrike">
              <a:solidFill>
                <a:srgbClr val="FFFFFF"/>
              </a:solidFill>
              <a:latin typeface="Montserrat"/>
              <a:ea typeface="Montserrat"/>
              <a:cs typeface="Montserrat"/>
              <a:sym typeface="Montserrat"/>
            </a:endParaRPr>
          </a:p>
        </p:txBody>
      </p:sp>
      <p:sp>
        <p:nvSpPr>
          <p:cNvPr id="2429" name="Google Shape;2429;p29"/>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garantías</a:t>
            </a:r>
            <a:endParaRPr b="0" i="0" sz="900" u="none" cap="none" strike="noStrike">
              <a:solidFill>
                <a:srgbClr val="595959"/>
              </a:solidFill>
              <a:latin typeface="Montserrat"/>
              <a:ea typeface="Montserrat"/>
              <a:cs typeface="Montserrat"/>
              <a:sym typeface="Montserrat"/>
            </a:endParaRPr>
          </a:p>
        </p:txBody>
      </p:sp>
      <p:sp>
        <p:nvSpPr>
          <p:cNvPr id="2430" name="Google Shape;2430;p29"/>
          <p:cNvSpPr/>
          <p:nvPr/>
        </p:nvSpPr>
        <p:spPr>
          <a:xfrm>
            <a:off x="1292493" y="1417222"/>
            <a:ext cx="746400" cy="1356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Información de la clase de producto</a:t>
            </a:r>
            <a:endParaRPr b="0" i="0" sz="400" u="none" cap="none" strike="noStrike">
              <a:solidFill>
                <a:srgbClr val="FFFFFF"/>
              </a:solidFill>
              <a:latin typeface="Montserrat"/>
              <a:ea typeface="Montserrat"/>
              <a:cs typeface="Montserrat"/>
              <a:sym typeface="Montserrat"/>
            </a:endParaRPr>
          </a:p>
        </p:txBody>
      </p:sp>
      <p:sp>
        <p:nvSpPr>
          <p:cNvPr id="2431" name="Google Shape;2431;p29"/>
          <p:cNvSpPr/>
          <p:nvPr/>
        </p:nvSpPr>
        <p:spPr>
          <a:xfrm>
            <a:off x="129249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depósito a plazo</a:t>
            </a:r>
            <a:endParaRPr b="0" i="0" sz="400" u="none" cap="none" strike="noStrike">
              <a:solidFill>
                <a:srgbClr val="595959"/>
              </a:solidFill>
              <a:latin typeface="Montserrat"/>
              <a:ea typeface="Montserrat"/>
              <a:cs typeface="Montserrat"/>
              <a:sym typeface="Montserrat"/>
            </a:endParaRPr>
          </a:p>
        </p:txBody>
      </p:sp>
      <p:sp>
        <p:nvSpPr>
          <p:cNvPr id="2432" name="Google Shape;2432;p29"/>
          <p:cNvSpPr/>
          <p:nvPr/>
        </p:nvSpPr>
        <p:spPr>
          <a:xfrm>
            <a:off x="129249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Corrientes</a:t>
            </a:r>
            <a:endParaRPr b="0" i="0" sz="400" u="none" cap="none" strike="noStrike">
              <a:solidFill>
                <a:srgbClr val="595959"/>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rgbClr val="595959"/>
              </a:solidFill>
              <a:latin typeface="Montserrat"/>
              <a:ea typeface="Montserrat"/>
              <a:cs typeface="Montserrat"/>
              <a:sym typeface="Montserrat"/>
            </a:endParaRPr>
          </a:p>
        </p:txBody>
      </p:sp>
      <p:sp>
        <p:nvSpPr>
          <p:cNvPr id="2433" name="Google Shape;2433;p29"/>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jubilación</a:t>
            </a:r>
            <a:endParaRPr b="0" i="0" sz="400" u="none" cap="none" strike="noStrike">
              <a:solidFill>
                <a:srgbClr val="595959"/>
              </a:solidFill>
              <a:latin typeface="Montserrat"/>
              <a:ea typeface="Montserrat"/>
              <a:cs typeface="Montserrat"/>
              <a:sym typeface="Montserrat"/>
            </a:endParaRPr>
          </a:p>
        </p:txBody>
      </p:sp>
      <p:sp>
        <p:nvSpPr>
          <p:cNvPr id="2434" name="Google Shape;2434;p29"/>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Banco privado/</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Servicios patrimoniales</a:t>
            </a:r>
            <a:endParaRPr b="0" i="0" sz="400" u="none" cap="none" strike="noStrike">
              <a:solidFill>
                <a:srgbClr val="595959"/>
              </a:solidFill>
              <a:latin typeface="Montserrat"/>
              <a:ea typeface="Montserrat"/>
              <a:cs typeface="Montserrat"/>
              <a:sym typeface="Montserrat"/>
            </a:endParaRPr>
          </a:p>
        </p:txBody>
      </p:sp>
      <p:sp>
        <p:nvSpPr>
          <p:cNvPr id="2435" name="Google Shape;2435;p29"/>
          <p:cNvSpPr/>
          <p:nvPr/>
        </p:nvSpPr>
        <p:spPr>
          <a:xfrm>
            <a:off x="2863234"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ahorro</a:t>
            </a:r>
            <a:endParaRPr b="0" i="0" sz="400" u="none" cap="none" strike="noStrike">
              <a:solidFill>
                <a:srgbClr val="595959"/>
              </a:solidFill>
              <a:latin typeface="Montserrat"/>
              <a:ea typeface="Montserrat"/>
              <a:cs typeface="Montserrat"/>
              <a:sym typeface="Montserrat"/>
            </a:endParaRPr>
          </a:p>
        </p:txBody>
      </p:sp>
      <p:sp>
        <p:nvSpPr>
          <p:cNvPr id="2436" name="Google Shape;2436;p29"/>
          <p:cNvSpPr/>
          <p:nvPr/>
        </p:nvSpPr>
        <p:spPr>
          <a:xfrm>
            <a:off x="207764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crédito</a:t>
            </a:r>
            <a:endParaRPr b="0" i="0" sz="400" u="none" cap="none" strike="noStrike">
              <a:solidFill>
                <a:srgbClr val="595959"/>
              </a:solidFill>
              <a:latin typeface="Montserrat"/>
              <a:ea typeface="Montserrat"/>
              <a:cs typeface="Montserrat"/>
              <a:sym typeface="Montserrat"/>
            </a:endParaRPr>
          </a:p>
        </p:txBody>
      </p:sp>
      <p:sp>
        <p:nvSpPr>
          <p:cNvPr id="2437" name="Google Shape;2437;p29"/>
          <p:cNvSpPr/>
          <p:nvPr/>
        </p:nvSpPr>
        <p:spPr>
          <a:xfrm>
            <a:off x="207764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2438" name="Google Shape;2438;p29"/>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saldo cero</a:t>
            </a:r>
            <a:endParaRPr b="0" i="0" sz="400" u="none" cap="none" strike="noStrike">
              <a:solidFill>
                <a:srgbClr val="595959"/>
              </a:solidFill>
              <a:latin typeface="Montserrat"/>
              <a:ea typeface="Montserrat"/>
              <a:cs typeface="Montserrat"/>
              <a:sym typeface="Montserrat"/>
            </a:endParaRPr>
          </a:p>
        </p:txBody>
      </p:sp>
      <p:sp>
        <p:nvSpPr>
          <p:cNvPr id="2439" name="Google Shape;2439;p29"/>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Caja de seguridad</a:t>
            </a:r>
            <a:endParaRPr b="0" i="0" sz="400" u="none" cap="none" strike="noStrike">
              <a:solidFill>
                <a:srgbClr val="595959"/>
              </a:solidFill>
              <a:latin typeface="Montserrat"/>
              <a:ea typeface="Montserrat"/>
              <a:cs typeface="Montserrat"/>
              <a:sym typeface="Montserrat"/>
            </a:endParaRPr>
          </a:p>
        </p:txBody>
      </p:sp>
      <p:sp>
        <p:nvSpPr>
          <p:cNvPr id="2440" name="Google Shape;2440;p29"/>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Cheque de caja/</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Giros postales</a:t>
            </a:r>
            <a:endParaRPr b="0" i="0" sz="400" u="none" cap="none" strike="noStrike">
              <a:solidFill>
                <a:srgbClr val="595959"/>
              </a:solidFill>
              <a:latin typeface="Montserrat"/>
              <a:ea typeface="Montserrat"/>
              <a:cs typeface="Montserrat"/>
              <a:sym typeface="Montserrat"/>
            </a:endParaRPr>
          </a:p>
        </p:txBody>
      </p:sp>
      <p:sp>
        <p:nvSpPr>
          <p:cNvPr id="2441" name="Google Shape;2441;p29"/>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Sobregiro</a:t>
            </a:r>
            <a:endParaRPr b="0" i="0" sz="400" u="none" cap="none" strike="noStrike">
              <a:solidFill>
                <a:srgbClr val="595959"/>
              </a:solidFill>
              <a:latin typeface="Montserrat"/>
              <a:ea typeface="Montserrat"/>
              <a:cs typeface="Montserrat"/>
              <a:sym typeface="Montserrat"/>
            </a:endParaRPr>
          </a:p>
        </p:txBody>
      </p:sp>
      <p:sp>
        <p:nvSpPr>
          <p:cNvPr id="2442" name="Google Shape;2442;p29"/>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pago</a:t>
            </a:r>
            <a:endParaRPr b="0" i="0" sz="400" u="none" cap="none" strike="noStrike">
              <a:solidFill>
                <a:srgbClr val="595959"/>
              </a:solidFill>
              <a:latin typeface="Montserrat"/>
              <a:ea typeface="Montserrat"/>
              <a:cs typeface="Montserrat"/>
              <a:sym typeface="Montserrat"/>
            </a:endParaRPr>
          </a:p>
        </p:txBody>
      </p:sp>
      <p:sp>
        <p:nvSpPr>
          <p:cNvPr id="2443" name="Google Shape;2443;p29"/>
          <p:cNvSpPr/>
          <p:nvPr/>
        </p:nvSpPr>
        <p:spPr>
          <a:xfrm>
            <a:off x="7323830" y="1417004"/>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Servicios básicos de gestión</a:t>
            </a:r>
            <a:endParaRPr b="0" i="0" sz="400" u="none" cap="none" strike="noStrike">
              <a:solidFill>
                <a:srgbClr val="FFFFFF"/>
              </a:solidFill>
              <a:latin typeface="Montserrat"/>
              <a:ea typeface="Montserrat"/>
              <a:cs typeface="Montserrat"/>
              <a:sym typeface="Montserrat"/>
            </a:endParaRPr>
          </a:p>
        </p:txBody>
      </p:sp>
      <p:sp>
        <p:nvSpPr>
          <p:cNvPr id="2444" name="Google Shape;2444;p29"/>
          <p:cNvSpPr/>
          <p:nvPr/>
        </p:nvSpPr>
        <p:spPr>
          <a:xfrm>
            <a:off x="6567651"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Análisis de cuentas</a:t>
            </a:r>
            <a:endParaRPr b="0" i="0" sz="400" u="none" cap="none" strike="noStrike">
              <a:solidFill>
                <a:srgbClr val="595959"/>
              </a:solidFill>
              <a:latin typeface="Montserrat"/>
              <a:ea typeface="Montserrat"/>
              <a:cs typeface="Montserrat"/>
              <a:sym typeface="Montserrat"/>
            </a:endParaRPr>
          </a:p>
        </p:txBody>
      </p:sp>
      <p:sp>
        <p:nvSpPr>
          <p:cNvPr id="2445" name="Google Shape;2445;p29"/>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Fideicomisos</a:t>
            </a:r>
            <a:endParaRPr b="0" i="0" sz="400" u="none" cap="none" strike="noStrike">
              <a:solidFill>
                <a:srgbClr val="595959"/>
              </a:solidFill>
              <a:latin typeface="Montserrat"/>
              <a:ea typeface="Montserrat"/>
              <a:cs typeface="Montserrat"/>
              <a:sym typeface="Montserrat"/>
            </a:endParaRPr>
          </a:p>
        </p:txBody>
      </p:sp>
      <p:sp>
        <p:nvSpPr>
          <p:cNvPr id="2446" name="Google Shape;2446;p29"/>
          <p:cNvSpPr/>
          <p:nvPr/>
        </p:nvSpPr>
        <p:spPr>
          <a:xfrm>
            <a:off x="732383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Retiro de Efectivo</a:t>
            </a:r>
            <a:endParaRPr b="0" i="0" sz="400" u="none" cap="none" strike="noStrike">
              <a:solidFill>
                <a:srgbClr val="595959"/>
              </a:solidFill>
              <a:latin typeface="Montserrat"/>
              <a:ea typeface="Montserrat"/>
              <a:cs typeface="Montserrat"/>
              <a:sym typeface="Montserrat"/>
            </a:endParaRPr>
          </a:p>
        </p:txBody>
      </p:sp>
      <p:sp>
        <p:nvSpPr>
          <p:cNvPr id="2447" name="Google Shape;2447;p29"/>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comerciales</a:t>
            </a:r>
            <a:endParaRPr b="0" i="0" sz="400" u="none" cap="none" strike="noStrike">
              <a:solidFill>
                <a:srgbClr val="595959"/>
              </a:solidFill>
              <a:latin typeface="Montserrat"/>
              <a:ea typeface="Montserrat"/>
              <a:cs typeface="Montserrat"/>
              <a:sym typeface="Montserrat"/>
            </a:endParaRPr>
          </a:p>
        </p:txBody>
      </p:sp>
      <p:sp>
        <p:nvSpPr>
          <p:cNvPr id="2448" name="Google Shape;2448;p29"/>
          <p:cNvSpPr/>
          <p:nvPr/>
        </p:nvSpPr>
        <p:spPr>
          <a:xfrm>
            <a:off x="8082270"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Capacidades del estado de cuenta</a:t>
            </a:r>
            <a:endParaRPr b="0" i="0" sz="400" u="none" cap="none" strike="noStrike">
              <a:solidFill>
                <a:srgbClr val="595959"/>
              </a:solidFill>
              <a:latin typeface="Montserrat"/>
              <a:ea typeface="Montserrat"/>
              <a:cs typeface="Montserrat"/>
              <a:sym typeface="Montserrat"/>
            </a:endParaRPr>
          </a:p>
        </p:txBody>
      </p:sp>
      <p:sp>
        <p:nvSpPr>
          <p:cNvPr id="2449" name="Google Shape;2449;p29"/>
          <p:cNvSpPr/>
          <p:nvPr/>
        </p:nvSpPr>
        <p:spPr>
          <a:xfrm>
            <a:off x="7323289" y="2890402"/>
            <a:ext cx="7209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350"/>
              <a:buFont typeface="Arial"/>
              <a:buNone/>
            </a:pPr>
            <a:r>
              <a:rPr b="0" i="0" lang="es" sz="350" u="none" cap="none" strike="noStrike">
                <a:solidFill>
                  <a:srgbClr val="FFFFFF"/>
                </a:solidFill>
                <a:latin typeface="Montserrat"/>
                <a:ea typeface="Montserrat"/>
                <a:cs typeface="Montserrat"/>
                <a:sym typeface="Montserrat"/>
              </a:rPr>
              <a:t>Archivo de estado de cuenta/</a:t>
            </a:r>
            <a:br>
              <a:rPr b="0" i="0" lang="es" sz="350" u="none" cap="none" strike="noStrike">
                <a:solidFill>
                  <a:srgbClr val="FFFFFF"/>
                </a:solidFill>
                <a:latin typeface="Montserrat"/>
                <a:ea typeface="Montserrat"/>
                <a:cs typeface="Montserrat"/>
                <a:sym typeface="Montserrat"/>
              </a:rPr>
            </a:br>
            <a:r>
              <a:rPr b="0" i="0" lang="es" sz="350" u="none" cap="none" strike="noStrike">
                <a:solidFill>
                  <a:srgbClr val="FFFFFF"/>
                </a:solidFill>
                <a:latin typeface="Montserrat"/>
                <a:ea typeface="Montserrat"/>
                <a:cs typeface="Montserrat"/>
                <a:sym typeface="Montserrat"/>
              </a:rPr>
              <a:t>Seguimiento histórico</a:t>
            </a:r>
            <a:endParaRPr b="0" i="0" sz="350" u="none" cap="none" strike="noStrike">
              <a:solidFill>
                <a:srgbClr val="FFFFFF"/>
              </a:solidFill>
              <a:latin typeface="Montserrat"/>
              <a:ea typeface="Montserrat"/>
              <a:cs typeface="Montserrat"/>
              <a:sym typeface="Montserrat"/>
            </a:endParaRPr>
          </a:p>
        </p:txBody>
      </p:sp>
      <p:sp>
        <p:nvSpPr>
          <p:cNvPr id="2450" name="Google Shape;2450;p29"/>
          <p:cNvSpPr/>
          <p:nvPr/>
        </p:nvSpPr>
        <p:spPr>
          <a:xfrm>
            <a:off x="7323289" y="3067787"/>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Generación del estado de cuenta</a:t>
            </a:r>
            <a:endParaRPr b="0" i="0" sz="400" u="none" cap="none" strike="noStrike">
              <a:solidFill>
                <a:srgbClr val="FFFFFF"/>
              </a:solidFill>
              <a:latin typeface="Montserrat"/>
              <a:ea typeface="Montserrat"/>
              <a:cs typeface="Montserrat"/>
              <a:sym typeface="Montserrat"/>
            </a:endParaRPr>
          </a:p>
        </p:txBody>
      </p:sp>
      <p:sp>
        <p:nvSpPr>
          <p:cNvPr id="2451" name="Google Shape;2451;p29"/>
          <p:cNvSpPr/>
          <p:nvPr/>
        </p:nvSpPr>
        <p:spPr>
          <a:xfrm>
            <a:off x="656847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del estado de cuenta</a:t>
            </a:r>
            <a:endParaRPr b="0" i="0" sz="400" u="none" cap="none" strike="noStrike">
              <a:solidFill>
                <a:srgbClr val="595959"/>
              </a:solidFill>
              <a:latin typeface="Montserrat"/>
              <a:ea typeface="Montserrat"/>
              <a:cs typeface="Montserrat"/>
              <a:sym typeface="Montserrat"/>
            </a:endParaRPr>
          </a:p>
        </p:txBody>
      </p:sp>
      <p:sp>
        <p:nvSpPr>
          <p:cNvPr id="2452" name="Google Shape;2452;p29"/>
          <p:cNvSpPr/>
          <p:nvPr/>
        </p:nvSpPr>
        <p:spPr>
          <a:xfrm>
            <a:off x="6568479" y="2890402"/>
            <a:ext cx="720900" cy="143100"/>
          </a:xfrm>
          <a:prstGeom prst="roundRect">
            <a:avLst>
              <a:gd fmla="val 5041" name="adj"/>
            </a:avLst>
          </a:prstGeom>
          <a:solidFill>
            <a:srgbClr val="EEEEEE"/>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Generación de estados de cuenta en línea</a:t>
            </a:r>
            <a:endParaRPr b="0" i="0" sz="400" u="none" cap="none" strike="noStrike">
              <a:solidFill>
                <a:srgbClr val="595959"/>
              </a:solidFill>
              <a:latin typeface="Montserrat"/>
              <a:ea typeface="Montserrat"/>
              <a:cs typeface="Montserrat"/>
              <a:sym typeface="Montserrat"/>
            </a:endParaRPr>
          </a:p>
        </p:txBody>
      </p:sp>
      <p:sp>
        <p:nvSpPr>
          <p:cNvPr id="2453" name="Google Shape;2453;p29"/>
          <p:cNvSpPr/>
          <p:nvPr/>
        </p:nvSpPr>
        <p:spPr>
          <a:xfrm>
            <a:off x="8077267"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Originaciones de procesos</a:t>
            </a:r>
            <a:endParaRPr b="0" i="0" sz="400" u="none" cap="none" strike="noStrike">
              <a:solidFill>
                <a:srgbClr val="595959"/>
              </a:solidFill>
              <a:latin typeface="Montserrat"/>
              <a:ea typeface="Montserrat"/>
              <a:cs typeface="Montserrat"/>
              <a:sym typeface="Montserrat"/>
            </a:endParaRPr>
          </a:p>
        </p:txBody>
      </p:sp>
      <p:sp>
        <p:nvSpPr>
          <p:cNvPr id="2454" name="Google Shape;2454;p29"/>
          <p:cNvSpPr/>
          <p:nvPr/>
        </p:nvSpPr>
        <p:spPr>
          <a:xfrm>
            <a:off x="6562648"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Fin del día y BATCH</a:t>
            </a:r>
            <a:endParaRPr b="0" i="0" sz="400" u="none" cap="none" strike="noStrike">
              <a:solidFill>
                <a:srgbClr val="595959"/>
              </a:solidFill>
              <a:latin typeface="Montserrat"/>
              <a:ea typeface="Montserrat"/>
              <a:cs typeface="Montserrat"/>
              <a:sym typeface="Montserrat"/>
            </a:endParaRPr>
          </a:p>
        </p:txBody>
      </p:sp>
      <p:sp>
        <p:nvSpPr>
          <p:cNvPr id="2455" name="Google Shape;2455;p29"/>
          <p:cNvSpPr/>
          <p:nvPr/>
        </p:nvSpPr>
        <p:spPr>
          <a:xfrm>
            <a:off x="6562648"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Cierre Contable</a:t>
            </a:r>
            <a:endParaRPr b="0" i="0" sz="400" u="none" cap="none" strike="noStrike">
              <a:solidFill>
                <a:srgbClr val="595959"/>
              </a:solidFill>
              <a:latin typeface="Montserrat"/>
              <a:ea typeface="Montserrat"/>
              <a:cs typeface="Montserrat"/>
              <a:sym typeface="Montserrat"/>
            </a:endParaRPr>
          </a:p>
        </p:txBody>
      </p:sp>
      <p:sp>
        <p:nvSpPr>
          <p:cNvPr id="2456" name="Google Shape;2456;p29"/>
          <p:cNvSpPr/>
          <p:nvPr/>
        </p:nvSpPr>
        <p:spPr>
          <a:xfrm>
            <a:off x="8077267"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Proceso de transferencia</a:t>
            </a:r>
            <a:endParaRPr b="0" i="0" sz="400" u="none" cap="none" strike="noStrike">
              <a:solidFill>
                <a:srgbClr val="595959"/>
              </a:solidFill>
              <a:latin typeface="Montserrat"/>
              <a:ea typeface="Montserrat"/>
              <a:cs typeface="Montserrat"/>
              <a:sym typeface="Montserrat"/>
            </a:endParaRPr>
          </a:p>
        </p:txBody>
      </p:sp>
      <p:sp>
        <p:nvSpPr>
          <p:cNvPr id="2457" name="Google Shape;2457;p29"/>
          <p:cNvSpPr/>
          <p:nvPr/>
        </p:nvSpPr>
        <p:spPr>
          <a:xfrm>
            <a:off x="7319255"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Planificación y preparación</a:t>
            </a:r>
            <a:endParaRPr b="0" i="0" sz="400" u="none" cap="none" strike="noStrike">
              <a:solidFill>
                <a:srgbClr val="595959"/>
              </a:solidFill>
              <a:latin typeface="Montserrat"/>
              <a:ea typeface="Montserrat"/>
              <a:cs typeface="Montserrat"/>
              <a:sym typeface="Montserrat"/>
            </a:endParaRPr>
          </a:p>
        </p:txBody>
      </p:sp>
      <p:sp>
        <p:nvSpPr>
          <p:cNvPr id="2458" name="Google Shape;2458;p29"/>
          <p:cNvSpPr/>
          <p:nvPr/>
        </p:nvSpPr>
        <p:spPr>
          <a:xfrm>
            <a:off x="7319255"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Procesamiento de cheques</a:t>
            </a:r>
            <a:endParaRPr b="0" i="0" sz="400" u="none" cap="none" strike="noStrike">
              <a:solidFill>
                <a:srgbClr val="595959"/>
              </a:solidFill>
              <a:latin typeface="Montserrat"/>
              <a:ea typeface="Montserrat"/>
              <a:cs typeface="Montserrat"/>
              <a:sym typeface="Montserrat"/>
            </a:endParaRPr>
          </a:p>
        </p:txBody>
      </p:sp>
      <p:sp>
        <p:nvSpPr>
          <p:cNvPr id="2459" name="Google Shape;2459;p29"/>
          <p:cNvSpPr/>
          <p:nvPr/>
        </p:nvSpPr>
        <p:spPr>
          <a:xfrm>
            <a:off x="8076183"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Proceso del día 1 y día 2</a:t>
            </a:r>
            <a:endParaRPr b="0" i="0" sz="400" u="none" cap="none" strike="noStrike">
              <a:solidFill>
                <a:srgbClr val="595959"/>
              </a:solidFill>
              <a:latin typeface="Montserrat"/>
              <a:ea typeface="Montserrat"/>
              <a:cs typeface="Montserrat"/>
              <a:sym typeface="Montserrat"/>
            </a:endParaRPr>
          </a:p>
        </p:txBody>
      </p:sp>
      <p:sp>
        <p:nvSpPr>
          <p:cNvPr id="2460" name="Google Shape;2460;p29"/>
          <p:cNvSpPr/>
          <p:nvPr/>
        </p:nvSpPr>
        <p:spPr>
          <a:xfrm>
            <a:off x="8076183"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Procesar transacciones de depósito</a:t>
            </a:r>
            <a:endParaRPr b="0" i="0" sz="400" u="none" cap="none" strike="noStrike">
              <a:solidFill>
                <a:srgbClr val="595959"/>
              </a:solidFill>
              <a:latin typeface="Montserrat"/>
              <a:ea typeface="Montserrat"/>
              <a:cs typeface="Montserrat"/>
              <a:sym typeface="Montserrat"/>
            </a:endParaRPr>
          </a:p>
        </p:txBody>
      </p:sp>
      <p:sp>
        <p:nvSpPr>
          <p:cNvPr id="2461" name="Google Shape;2461;p29"/>
          <p:cNvSpPr/>
          <p:nvPr/>
        </p:nvSpPr>
        <p:spPr>
          <a:xfrm>
            <a:off x="6563476"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Procesar transacciones electrónicas</a:t>
            </a:r>
            <a:endParaRPr b="0" i="0" sz="400" u="none" cap="none" strike="noStrike">
              <a:solidFill>
                <a:srgbClr val="595959"/>
              </a:solidFill>
              <a:latin typeface="Montserrat"/>
              <a:ea typeface="Montserrat"/>
              <a:cs typeface="Montserrat"/>
              <a:sym typeface="Montserrat"/>
            </a:endParaRPr>
          </a:p>
        </p:txBody>
      </p:sp>
      <p:sp>
        <p:nvSpPr>
          <p:cNvPr id="2462" name="Google Shape;2462;p29"/>
          <p:cNvSpPr/>
          <p:nvPr/>
        </p:nvSpPr>
        <p:spPr>
          <a:xfrm>
            <a:off x="7319255"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2463" name="Google Shape;2463;p29"/>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Cámara de Compensación</a:t>
            </a:r>
            <a:endParaRPr b="0" i="0" sz="400" u="none" cap="none" strike="noStrike">
              <a:solidFill>
                <a:srgbClr val="595959"/>
              </a:solidFill>
              <a:latin typeface="Montserrat"/>
              <a:ea typeface="Montserrat"/>
              <a:cs typeface="Montserrat"/>
              <a:sym typeface="Montserrat"/>
            </a:endParaRPr>
          </a:p>
        </p:txBody>
      </p:sp>
      <p:sp>
        <p:nvSpPr>
          <p:cNvPr id="2464" name="Google Shape;2464;p29"/>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Procesamiento de pagos</a:t>
            </a:r>
            <a:endParaRPr b="0" i="0" sz="400" u="none" cap="none" strike="noStrike">
              <a:solidFill>
                <a:srgbClr val="595959"/>
              </a:solidFill>
              <a:latin typeface="Montserrat"/>
              <a:ea typeface="Montserrat"/>
              <a:cs typeface="Montserrat"/>
              <a:sym typeface="Montserrat"/>
            </a:endParaRPr>
          </a:p>
        </p:txBody>
      </p:sp>
      <p:sp>
        <p:nvSpPr>
          <p:cNvPr id="2465" name="Google Shape;2465;p29"/>
          <p:cNvSpPr/>
          <p:nvPr/>
        </p:nvSpPr>
        <p:spPr>
          <a:xfrm>
            <a:off x="7319255"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Procesar transacciones de cuentas de préstamo</a:t>
            </a:r>
            <a:endParaRPr b="0" i="0" sz="400" u="none" cap="none" strike="noStrike">
              <a:solidFill>
                <a:srgbClr val="595959"/>
              </a:solidFill>
              <a:latin typeface="Montserrat"/>
              <a:ea typeface="Montserrat"/>
              <a:cs typeface="Montserrat"/>
              <a:sym typeface="Montserrat"/>
            </a:endParaRPr>
          </a:p>
        </p:txBody>
      </p:sp>
      <p:sp>
        <p:nvSpPr>
          <p:cNvPr id="2466" name="Google Shape;2466;p29"/>
          <p:cNvSpPr/>
          <p:nvPr/>
        </p:nvSpPr>
        <p:spPr>
          <a:xfrm>
            <a:off x="6562648"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Facturación</a:t>
            </a:r>
            <a:endParaRPr b="0" i="0" sz="400" u="none" cap="none" strike="noStrike">
              <a:solidFill>
                <a:srgbClr val="595959"/>
              </a:solidFill>
              <a:latin typeface="Montserrat"/>
              <a:ea typeface="Montserrat"/>
              <a:cs typeface="Montserrat"/>
              <a:sym typeface="Montserrat"/>
            </a:endParaRPr>
          </a:p>
        </p:txBody>
      </p:sp>
      <p:sp>
        <p:nvSpPr>
          <p:cNvPr id="2467" name="Google Shape;2467;p29"/>
          <p:cNvSpPr/>
          <p:nvPr/>
        </p:nvSpPr>
        <p:spPr>
          <a:xfrm>
            <a:off x="6563476"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Pagos en tiempo real</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Tratamiento</a:t>
            </a:r>
            <a:endParaRPr b="0" i="0" sz="400" u="none" cap="none" strike="noStrike">
              <a:solidFill>
                <a:srgbClr val="595959"/>
              </a:solidFill>
              <a:latin typeface="Montserrat"/>
              <a:ea typeface="Montserrat"/>
              <a:cs typeface="Montserrat"/>
              <a:sym typeface="Montserrat"/>
            </a:endParaRPr>
          </a:p>
        </p:txBody>
      </p:sp>
      <p:sp>
        <p:nvSpPr>
          <p:cNvPr id="2468" name="Google Shape;2468;p29"/>
          <p:cNvSpPr/>
          <p:nvPr/>
        </p:nvSpPr>
        <p:spPr>
          <a:xfrm>
            <a:off x="4843050" y="126232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Contacto</a:t>
            </a:r>
            <a:endParaRPr b="0" i="0" sz="400" u="none" cap="none" strike="noStrike">
              <a:solidFill>
                <a:srgbClr val="FFFFFF"/>
              </a:solidFill>
              <a:latin typeface="Montserrat"/>
              <a:ea typeface="Montserrat"/>
              <a:cs typeface="Montserrat"/>
              <a:sym typeface="Montserrat"/>
            </a:endParaRPr>
          </a:p>
        </p:txBody>
      </p:sp>
      <p:sp>
        <p:nvSpPr>
          <p:cNvPr id="2469" name="Google Shape;2469;p29"/>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Entidad</a:t>
            </a:r>
            <a:endParaRPr b="0" i="0" sz="400" u="none" cap="none" strike="noStrike">
              <a:solidFill>
                <a:srgbClr val="595959"/>
              </a:solidFill>
              <a:latin typeface="Montserrat"/>
              <a:ea typeface="Montserrat"/>
              <a:cs typeface="Montserrat"/>
              <a:sym typeface="Montserrat"/>
            </a:endParaRPr>
          </a:p>
        </p:txBody>
      </p:sp>
      <p:sp>
        <p:nvSpPr>
          <p:cNvPr id="2470" name="Google Shape;2470;p29"/>
          <p:cNvSpPr/>
          <p:nvPr/>
        </p:nvSpPr>
        <p:spPr>
          <a:xfrm>
            <a:off x="5603670" y="1417004"/>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Relación</a:t>
            </a:r>
            <a:endParaRPr b="0" i="0" sz="400" u="none" cap="none" strike="noStrike">
              <a:solidFill>
                <a:srgbClr val="FFFFFF"/>
              </a:solidFill>
              <a:latin typeface="Montserrat"/>
              <a:ea typeface="Montserrat"/>
              <a:cs typeface="Montserrat"/>
              <a:sym typeface="Montserrat"/>
            </a:endParaRPr>
          </a:p>
        </p:txBody>
      </p:sp>
      <p:sp>
        <p:nvSpPr>
          <p:cNvPr id="2471" name="Google Shape;2471;p29"/>
          <p:cNvSpPr/>
          <p:nvPr/>
        </p:nvSpPr>
        <p:spPr>
          <a:xfrm>
            <a:off x="4843050" y="157262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Seguridad</a:t>
            </a:r>
            <a:endParaRPr b="0" i="0" sz="400" u="none" cap="none" strike="noStrike">
              <a:solidFill>
                <a:srgbClr val="FFFFFF"/>
              </a:solidFill>
              <a:latin typeface="Montserrat"/>
              <a:ea typeface="Montserrat"/>
              <a:cs typeface="Montserrat"/>
              <a:sym typeface="Montserrat"/>
            </a:endParaRPr>
          </a:p>
        </p:txBody>
      </p:sp>
      <p:sp>
        <p:nvSpPr>
          <p:cNvPr id="2472" name="Google Shape;2472;p29"/>
          <p:cNvSpPr/>
          <p:nvPr/>
        </p:nvSpPr>
        <p:spPr>
          <a:xfrm>
            <a:off x="4843050" y="141725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Preferencias</a:t>
            </a:r>
            <a:endParaRPr b="0" i="0" sz="400" u="none" cap="none" strike="noStrike">
              <a:solidFill>
                <a:srgbClr val="595959"/>
              </a:solidFill>
              <a:latin typeface="Montserrat"/>
              <a:ea typeface="Montserrat"/>
              <a:cs typeface="Montserrat"/>
              <a:sym typeface="Montserrat"/>
            </a:endParaRPr>
          </a:p>
        </p:txBody>
      </p:sp>
      <p:sp>
        <p:nvSpPr>
          <p:cNvPr id="2473" name="Google Shape;2473;p29"/>
          <p:cNvSpPr/>
          <p:nvPr/>
        </p:nvSpPr>
        <p:spPr>
          <a:xfrm>
            <a:off x="5603670" y="157245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Perfil de riesgo de la persona</a:t>
            </a:r>
            <a:endParaRPr b="0" i="0" sz="400" u="none" cap="none" strike="noStrike">
              <a:solidFill>
                <a:srgbClr val="FFFFFF"/>
              </a:solidFill>
              <a:latin typeface="Montserrat"/>
              <a:ea typeface="Montserrat"/>
              <a:cs typeface="Montserrat"/>
              <a:sym typeface="Montserrat"/>
            </a:endParaRPr>
          </a:p>
        </p:txBody>
      </p:sp>
      <p:sp>
        <p:nvSpPr>
          <p:cNvPr id="2474" name="Google Shape;2474;p29"/>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Data warehouse</a:t>
            </a:r>
            <a:endParaRPr b="0" i="0" sz="400" u="none" cap="none" strike="noStrike">
              <a:solidFill>
                <a:srgbClr val="595959"/>
              </a:solidFill>
              <a:latin typeface="Montserrat"/>
              <a:ea typeface="Montserrat"/>
              <a:cs typeface="Montserrat"/>
              <a:sym typeface="Montserrat"/>
            </a:endParaRPr>
          </a:p>
        </p:txBody>
      </p:sp>
      <p:sp>
        <p:nvSpPr>
          <p:cNvPr id="2475" name="Google Shape;2475;p29"/>
          <p:cNvSpPr/>
          <p:nvPr/>
        </p:nvSpPr>
        <p:spPr>
          <a:xfrm>
            <a:off x="5603670" y="263688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Archivo de información del cliente</a:t>
            </a:r>
            <a:endParaRPr b="0" i="0" sz="400" u="none" cap="none" strike="noStrike">
              <a:solidFill>
                <a:srgbClr val="FFFFFF"/>
              </a:solidFill>
              <a:latin typeface="Montserrat"/>
              <a:ea typeface="Montserrat"/>
              <a:cs typeface="Montserrat"/>
              <a:sym typeface="Montserrat"/>
            </a:endParaRPr>
          </a:p>
        </p:txBody>
      </p:sp>
      <p:sp>
        <p:nvSpPr>
          <p:cNvPr id="2476" name="Google Shape;2476;p29"/>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Analítica</a:t>
            </a:r>
            <a:endParaRPr b="0" i="0" sz="400" u="none" cap="none" strike="noStrike">
              <a:solidFill>
                <a:srgbClr val="595959"/>
              </a:solidFill>
              <a:latin typeface="Montserrat"/>
              <a:ea typeface="Montserrat"/>
              <a:cs typeface="Montserrat"/>
              <a:sym typeface="Montserrat"/>
            </a:endParaRPr>
          </a:p>
        </p:txBody>
      </p:sp>
      <p:sp>
        <p:nvSpPr>
          <p:cNvPr id="2477" name="Google Shape;2477;p29"/>
          <p:cNvSpPr/>
          <p:nvPr/>
        </p:nvSpPr>
        <p:spPr>
          <a:xfrm>
            <a:off x="560367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Datos Operacionales</a:t>
            </a:r>
            <a:endParaRPr b="0" i="0" sz="400" u="none" cap="none" strike="noStrike">
              <a:solidFill>
                <a:srgbClr val="595959"/>
              </a:solidFill>
              <a:latin typeface="Montserrat"/>
              <a:ea typeface="Montserrat"/>
              <a:cs typeface="Montserrat"/>
              <a:sym typeface="Montserrat"/>
            </a:endParaRPr>
          </a:p>
        </p:txBody>
      </p:sp>
      <p:sp>
        <p:nvSpPr>
          <p:cNvPr id="2478" name="Google Shape;2478;p29"/>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Reportes Regulatorios</a:t>
            </a:r>
            <a:endParaRPr b="0" i="0" sz="400" u="none" cap="none" strike="noStrike">
              <a:solidFill>
                <a:srgbClr val="595959"/>
              </a:solidFill>
              <a:latin typeface="Montserrat"/>
              <a:ea typeface="Montserrat"/>
              <a:cs typeface="Montserrat"/>
              <a:sym typeface="Montserrat"/>
            </a:endParaRPr>
          </a:p>
        </p:txBody>
      </p:sp>
      <p:sp>
        <p:nvSpPr>
          <p:cNvPr id="2479" name="Google Shape;2479;p29"/>
          <p:cNvSpPr/>
          <p:nvPr/>
        </p:nvSpPr>
        <p:spPr>
          <a:xfrm>
            <a:off x="484305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 Operacional</a:t>
            </a:r>
            <a:endParaRPr b="0" i="0" sz="400" u="none" cap="none" strike="noStrike">
              <a:solidFill>
                <a:srgbClr val="595959"/>
              </a:solidFill>
              <a:latin typeface="Montserrat"/>
              <a:ea typeface="Montserrat"/>
              <a:cs typeface="Montserrat"/>
              <a:sym typeface="Montserrat"/>
            </a:endParaRPr>
          </a:p>
        </p:txBody>
      </p:sp>
      <p:sp>
        <p:nvSpPr>
          <p:cNvPr id="2480" name="Google Shape;2480;p29"/>
          <p:cNvSpPr/>
          <p:nvPr/>
        </p:nvSpPr>
        <p:spPr>
          <a:xfrm>
            <a:off x="4843050" y="186539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Reportes contables</a:t>
            </a:r>
            <a:endParaRPr b="0" i="0" sz="400" u="none" cap="none" strike="noStrike">
              <a:solidFill>
                <a:srgbClr val="595959"/>
              </a:solidFill>
              <a:latin typeface="Montserrat"/>
              <a:ea typeface="Montserrat"/>
              <a:cs typeface="Montserrat"/>
              <a:sym typeface="Montserrat"/>
            </a:endParaRPr>
          </a:p>
        </p:txBody>
      </p:sp>
      <p:sp>
        <p:nvSpPr>
          <p:cNvPr id="2481" name="Google Shape;2481;p29"/>
          <p:cNvSpPr/>
          <p:nvPr/>
        </p:nvSpPr>
        <p:spPr>
          <a:xfrm>
            <a:off x="4843050" y="2331579"/>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Informes de utilización (sistema)</a:t>
            </a:r>
            <a:endParaRPr b="0" i="0" sz="400" u="none" cap="none" strike="noStrike">
              <a:solidFill>
                <a:srgbClr val="595959"/>
              </a:solidFill>
              <a:latin typeface="Montserrat"/>
              <a:ea typeface="Montserrat"/>
              <a:cs typeface="Montserrat"/>
              <a:sym typeface="Montserrat"/>
            </a:endParaRPr>
          </a:p>
        </p:txBody>
      </p:sp>
      <p:sp>
        <p:nvSpPr>
          <p:cNvPr id="2482" name="Google Shape;2482;p29"/>
          <p:cNvSpPr/>
          <p:nvPr/>
        </p:nvSpPr>
        <p:spPr>
          <a:xfrm>
            <a:off x="5603670" y="1865398"/>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Reportes de clientes</a:t>
            </a:r>
            <a:endParaRPr b="0" i="0" sz="400" u="none" cap="none" strike="noStrike">
              <a:solidFill>
                <a:srgbClr val="FFFFFF"/>
              </a:solidFill>
              <a:latin typeface="Montserrat"/>
              <a:ea typeface="Montserrat"/>
              <a:cs typeface="Montserrat"/>
              <a:sym typeface="Montserrat"/>
            </a:endParaRPr>
          </a:p>
        </p:txBody>
      </p:sp>
      <p:sp>
        <p:nvSpPr>
          <p:cNvPr id="2483" name="Google Shape;2483;p29"/>
          <p:cNvSpPr/>
          <p:nvPr/>
        </p:nvSpPr>
        <p:spPr>
          <a:xfrm>
            <a:off x="5603670" y="2175520"/>
            <a:ext cx="7209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Reportes Transaccionales</a:t>
            </a:r>
            <a:endParaRPr b="0" i="0" sz="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 de clientes</a:t>
            </a:r>
            <a:endParaRPr b="0" i="0" sz="400" u="none" cap="none" strike="noStrike">
              <a:solidFill>
                <a:srgbClr val="000000"/>
              </a:solidFill>
              <a:latin typeface="Montserrat"/>
              <a:ea typeface="Montserrat"/>
              <a:cs typeface="Montserrat"/>
              <a:sym typeface="Montserrat"/>
            </a:endParaRPr>
          </a:p>
        </p:txBody>
      </p:sp>
      <p:sp>
        <p:nvSpPr>
          <p:cNvPr id="2484" name="Google Shape;2484;p29"/>
          <p:cNvSpPr/>
          <p:nvPr/>
        </p:nvSpPr>
        <p:spPr>
          <a:xfrm>
            <a:off x="4840646"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Alertas y</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notificaciones</a:t>
            </a:r>
            <a:endParaRPr b="0" i="0" sz="400" u="none" cap="none" strike="noStrike">
              <a:solidFill>
                <a:srgbClr val="595959"/>
              </a:solidFill>
              <a:latin typeface="Montserrat"/>
              <a:ea typeface="Montserrat"/>
              <a:cs typeface="Montserrat"/>
              <a:sym typeface="Montserrat"/>
            </a:endParaRPr>
          </a:p>
        </p:txBody>
      </p:sp>
      <p:sp>
        <p:nvSpPr>
          <p:cNvPr id="2485" name="Google Shape;2485;p29"/>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Interacciones humanas</a:t>
            </a:r>
            <a:endParaRPr b="0" i="0" sz="400" u="none" cap="none" strike="noStrike">
              <a:solidFill>
                <a:srgbClr val="595959"/>
              </a:solidFill>
              <a:latin typeface="Montserrat"/>
              <a:ea typeface="Montserrat"/>
              <a:cs typeface="Montserrat"/>
              <a:sym typeface="Montserrat"/>
            </a:endParaRPr>
          </a:p>
        </p:txBody>
      </p:sp>
      <p:sp>
        <p:nvSpPr>
          <p:cNvPr id="2486" name="Google Shape;2486;p29"/>
          <p:cNvSpPr/>
          <p:nvPr/>
        </p:nvSpPr>
        <p:spPr>
          <a:xfrm>
            <a:off x="4843050" y="21755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2487" name="Google Shape;2487;p29"/>
          <p:cNvSpPr/>
          <p:nvPr/>
        </p:nvSpPr>
        <p:spPr>
          <a:xfrm>
            <a:off x="467000" y="6046133"/>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488" name="Google Shape;2488;p29"/>
          <p:cNvSpPr/>
          <p:nvPr/>
        </p:nvSpPr>
        <p:spPr>
          <a:xfrm>
            <a:off x="155600" y="686927"/>
            <a:ext cx="8830500" cy="168600"/>
          </a:xfrm>
          <a:prstGeom prst="rect">
            <a:avLst/>
          </a:prstGeom>
          <a:solidFill>
            <a:srgbClr val="FFFFFF"/>
          </a:solidFill>
          <a:ln cap="flat" cmpd="sng" w="9525">
            <a:solidFill>
              <a:srgbClr val="BFBFBF"/>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2489" name="Google Shape;2489;p29"/>
          <p:cNvSpPr/>
          <p:nvPr/>
        </p:nvSpPr>
        <p:spPr>
          <a:xfrm>
            <a:off x="155601" y="883984"/>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2490" name="Google Shape;2490;p29"/>
          <p:cNvSpPr/>
          <p:nvPr/>
        </p:nvSpPr>
        <p:spPr>
          <a:xfrm>
            <a:off x="1205537" y="903874"/>
            <a:ext cx="1050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Débito</a:t>
            </a:r>
            <a:endParaRPr b="0" i="0" sz="500" u="none" cap="none" strike="noStrike">
              <a:solidFill>
                <a:srgbClr val="FFFFFF"/>
              </a:solidFill>
              <a:latin typeface="Montserrat"/>
              <a:ea typeface="Montserrat"/>
              <a:cs typeface="Montserrat"/>
              <a:sym typeface="Montserrat"/>
            </a:endParaRPr>
          </a:p>
        </p:txBody>
      </p:sp>
      <p:sp>
        <p:nvSpPr>
          <p:cNvPr id="2491" name="Google Shape;2491;p29"/>
          <p:cNvSpPr/>
          <p:nvPr/>
        </p:nvSpPr>
        <p:spPr>
          <a:xfrm>
            <a:off x="2309365" y="903874"/>
            <a:ext cx="1050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2492" name="Google Shape;2492;p29"/>
          <p:cNvSpPr/>
          <p:nvPr/>
        </p:nvSpPr>
        <p:spPr>
          <a:xfrm>
            <a:off x="3413193" y="903874"/>
            <a:ext cx="1050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2493" name="Google Shape;2493;p29"/>
          <p:cNvSpPr/>
          <p:nvPr/>
        </p:nvSpPr>
        <p:spPr>
          <a:xfrm>
            <a:off x="4517021"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2494" name="Google Shape;2494;p29"/>
          <p:cNvSpPr/>
          <p:nvPr/>
        </p:nvSpPr>
        <p:spPr>
          <a:xfrm>
            <a:off x="5620850" y="903874"/>
            <a:ext cx="1050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2495" name="Google Shape;2495;p29"/>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2496" name="Google Shape;2496;p29"/>
          <p:cNvSpPr/>
          <p:nvPr/>
        </p:nvSpPr>
        <p:spPr>
          <a:xfrm>
            <a:off x="7828504" y="903874"/>
            <a:ext cx="1050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Tarjeta de crédito</a:t>
            </a:r>
            <a:endParaRPr b="0" i="0" sz="500" u="none" cap="none" strike="noStrike">
              <a:solidFill>
                <a:srgbClr val="FFFFFF"/>
              </a:solidFill>
              <a:latin typeface="Montserrat"/>
              <a:ea typeface="Montserrat"/>
              <a:cs typeface="Montserrat"/>
              <a:sym typeface="Montserrat"/>
            </a:endParaRPr>
          </a:p>
        </p:txBody>
      </p:sp>
      <p:sp>
        <p:nvSpPr>
          <p:cNvPr id="2497" name="Google Shape;2497;p29"/>
          <p:cNvSpPr/>
          <p:nvPr/>
        </p:nvSpPr>
        <p:spPr>
          <a:xfrm>
            <a:off x="157900" y="478699"/>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2498" name="Google Shape;2498;p29"/>
          <p:cNvSpPr/>
          <p:nvPr/>
        </p:nvSpPr>
        <p:spPr>
          <a:xfrm>
            <a:off x="1203986" y="499914"/>
            <a:ext cx="1497300" cy="136200"/>
          </a:xfrm>
          <a:prstGeom prst="rect">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2499" name="Google Shape;2499;p29"/>
          <p:cNvSpPr/>
          <p:nvPr/>
        </p:nvSpPr>
        <p:spPr>
          <a:xfrm>
            <a:off x="2748364"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2500" name="Google Shape;2500;p29"/>
          <p:cNvSpPr/>
          <p:nvPr/>
        </p:nvSpPr>
        <p:spPr>
          <a:xfrm>
            <a:off x="4292741"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2501" name="Google Shape;2501;p29"/>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2502" name="Google Shape;2502;p29"/>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2503" name="Google Shape;2503;p29"/>
          <p:cNvSpPr/>
          <p:nvPr/>
        </p:nvSpPr>
        <p:spPr>
          <a:xfrm>
            <a:off x="120398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Kiosco</a:t>
            </a:r>
            <a:endParaRPr b="0" i="0" sz="500" u="none" cap="none" strike="noStrike">
              <a:solidFill>
                <a:srgbClr val="FFFFFF"/>
              </a:solidFill>
              <a:latin typeface="Montserrat"/>
              <a:ea typeface="Montserrat"/>
              <a:cs typeface="Montserrat"/>
              <a:sym typeface="Montserrat"/>
            </a:endParaRPr>
          </a:p>
        </p:txBody>
      </p:sp>
      <p:sp>
        <p:nvSpPr>
          <p:cNvPr id="2504" name="Google Shape;2504;p29"/>
          <p:cNvSpPr/>
          <p:nvPr/>
        </p:nvSpPr>
        <p:spPr>
          <a:xfrm>
            <a:off x="206217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Web/Online</a:t>
            </a:r>
            <a:endParaRPr b="0" i="0" sz="500" u="none" cap="none" strike="noStrike">
              <a:solidFill>
                <a:srgbClr val="FFFFFF"/>
              </a:solidFill>
              <a:latin typeface="Montserrat"/>
              <a:ea typeface="Montserrat"/>
              <a:cs typeface="Montserrat"/>
              <a:sym typeface="Montserrat"/>
            </a:endParaRPr>
          </a:p>
        </p:txBody>
      </p:sp>
      <p:sp>
        <p:nvSpPr>
          <p:cNvPr id="2505" name="Google Shape;2505;p29"/>
          <p:cNvSpPr/>
          <p:nvPr/>
        </p:nvSpPr>
        <p:spPr>
          <a:xfrm>
            <a:off x="3778546" y="702961"/>
            <a:ext cx="810900" cy="136200"/>
          </a:xfrm>
          <a:prstGeom prst="roundRect">
            <a:avLst>
              <a:gd fmla="val 5041" name="adj"/>
            </a:avLst>
          </a:prstGeom>
          <a:solidFill>
            <a:srgbClr val="ED7D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Sucursal</a:t>
            </a:r>
            <a:endParaRPr b="0" i="0" sz="500" u="none" cap="none" strike="noStrike">
              <a:solidFill>
                <a:srgbClr val="FFFFFF"/>
              </a:solidFill>
              <a:latin typeface="Montserrat"/>
              <a:ea typeface="Montserrat"/>
              <a:cs typeface="Montserrat"/>
              <a:sym typeface="Montserrat"/>
            </a:endParaRPr>
          </a:p>
        </p:txBody>
      </p:sp>
      <p:sp>
        <p:nvSpPr>
          <p:cNvPr id="2506" name="Google Shape;2506;p29"/>
          <p:cNvSpPr/>
          <p:nvPr/>
        </p:nvSpPr>
        <p:spPr>
          <a:xfrm>
            <a:off x="463673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Móvil y Tablet</a:t>
            </a:r>
            <a:endParaRPr b="0" i="0" sz="500" u="none" cap="none" strike="noStrike">
              <a:solidFill>
                <a:srgbClr val="FFFFFF"/>
              </a:solidFill>
              <a:latin typeface="Montserrat"/>
              <a:ea typeface="Montserrat"/>
              <a:cs typeface="Montserrat"/>
              <a:sym typeface="Montserrat"/>
            </a:endParaRPr>
          </a:p>
        </p:txBody>
      </p:sp>
      <p:sp>
        <p:nvSpPr>
          <p:cNvPr id="2507" name="Google Shape;2507;p29"/>
          <p:cNvSpPr/>
          <p:nvPr/>
        </p:nvSpPr>
        <p:spPr>
          <a:xfrm>
            <a:off x="5494920"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ATM</a:t>
            </a:r>
            <a:endParaRPr b="0" i="0" sz="500" u="none" cap="none" strike="noStrike">
              <a:solidFill>
                <a:srgbClr val="FFFFFF"/>
              </a:solidFill>
              <a:latin typeface="Montserrat"/>
              <a:ea typeface="Montserrat"/>
              <a:cs typeface="Montserrat"/>
              <a:sym typeface="Montserrat"/>
            </a:endParaRPr>
          </a:p>
        </p:txBody>
      </p:sp>
      <p:sp>
        <p:nvSpPr>
          <p:cNvPr id="2508" name="Google Shape;2508;p29"/>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2509" name="Google Shape;2509;p29"/>
          <p:cNvSpPr/>
          <p:nvPr/>
        </p:nvSpPr>
        <p:spPr>
          <a:xfrm>
            <a:off x="721129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Autoservicio</a:t>
            </a:r>
            <a:endParaRPr b="0" i="0" sz="500" u="none" cap="none" strike="noStrike">
              <a:solidFill>
                <a:srgbClr val="FFFFFF"/>
              </a:solidFill>
              <a:latin typeface="Montserrat"/>
              <a:ea typeface="Montserrat"/>
              <a:cs typeface="Montserrat"/>
              <a:sym typeface="Montserrat"/>
            </a:endParaRPr>
          </a:p>
        </p:txBody>
      </p:sp>
      <p:sp>
        <p:nvSpPr>
          <p:cNvPr id="2510" name="Google Shape;2510;p29"/>
          <p:cNvSpPr/>
          <p:nvPr/>
        </p:nvSpPr>
        <p:spPr>
          <a:xfrm>
            <a:off x="8069478"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Terceros</a:t>
            </a:r>
            <a:endParaRPr b="0" i="0" sz="500" u="none" cap="none" strike="noStrike">
              <a:solidFill>
                <a:srgbClr val="FFFFFF"/>
              </a:solidFill>
              <a:latin typeface="Montserrat"/>
              <a:ea typeface="Montserrat"/>
              <a:cs typeface="Montserrat"/>
              <a:sym typeface="Montserrat"/>
            </a:endParaRPr>
          </a:p>
        </p:txBody>
      </p:sp>
      <p:sp>
        <p:nvSpPr>
          <p:cNvPr id="2511" name="Google Shape;2511;p29"/>
          <p:cNvSpPr/>
          <p:nvPr/>
        </p:nvSpPr>
        <p:spPr>
          <a:xfrm>
            <a:off x="2926715" y="712158"/>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Call Center</a:t>
            </a:r>
            <a:endParaRPr b="0" i="0" sz="500" u="none" cap="none" strike="noStrike">
              <a:solidFill>
                <a:srgbClr val="FFFFFF"/>
              </a:solidFill>
              <a:latin typeface="Montserrat"/>
              <a:ea typeface="Montserrat"/>
              <a:cs typeface="Montserrat"/>
              <a:sym typeface="Montserrat"/>
            </a:endParaRPr>
          </a:p>
        </p:txBody>
      </p:sp>
      <p:sp>
        <p:nvSpPr>
          <p:cNvPr id="2512" name="Google Shape;2512;p29"/>
          <p:cNvSpPr txBox="1"/>
          <p:nvPr/>
        </p:nvSpPr>
        <p:spPr>
          <a:xfrm>
            <a:off x="155612" y="143725"/>
            <a:ext cx="8325900"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del OFI WEB en la arquitectura empresarial de UNITY</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sp>
        <p:nvSpPr>
          <p:cNvPr id="2517" name="Google Shape;2517;p30"/>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2518" name="Google Shape;2518;p30"/>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30"/>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30"/>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2521" name="Google Shape;2521;p30"/>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2522" name="Google Shape;2522;p30"/>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2523" name="Google Shape;2523;p30"/>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524" name="Google Shape;2524;p30"/>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2525" name="Google Shape;2525;p30"/>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526" name="Google Shape;2526;p30"/>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2527" name="Google Shape;2527;p30"/>
          <p:cNvSpPr/>
          <p:nvPr/>
        </p:nvSpPr>
        <p:spPr>
          <a:xfrm>
            <a:off x="3799284" y="3288556"/>
            <a:ext cx="5078100" cy="288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28" name="Google Shape;2528;p30"/>
          <p:cNvSpPr/>
          <p:nvPr/>
        </p:nvSpPr>
        <p:spPr>
          <a:xfrm>
            <a:off x="3798694" y="1148353"/>
            <a:ext cx="883800" cy="8808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29" name="Google Shape;2529;p30"/>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2530" name="Google Shape;2530;p30"/>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31" name="Google Shape;2531;p30"/>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32" name="Google Shape;2532;p30"/>
          <p:cNvSpPr/>
          <p:nvPr/>
        </p:nvSpPr>
        <p:spPr>
          <a:xfrm>
            <a:off x="1204099" y="1806291"/>
            <a:ext cx="2494500" cy="934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533" name="Google Shape;2533;p30"/>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2534" name="Google Shape;2534;p30"/>
          <p:cNvSpPr/>
          <p:nvPr/>
        </p:nvSpPr>
        <p:spPr>
          <a:xfrm>
            <a:off x="1206566" y="1148353"/>
            <a:ext cx="2489700" cy="6219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535" name="Google Shape;2535;p30"/>
          <p:cNvSpPr/>
          <p:nvPr/>
        </p:nvSpPr>
        <p:spPr>
          <a:xfrm>
            <a:off x="6488944" y="1148351"/>
            <a:ext cx="2389500" cy="623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36" name="Google Shape;2536;p30"/>
          <p:cNvSpPr/>
          <p:nvPr/>
        </p:nvSpPr>
        <p:spPr>
          <a:xfrm>
            <a:off x="6490037" y="2776695"/>
            <a:ext cx="2387400" cy="474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2537" name="Google Shape;2537;p30"/>
          <p:cNvSpPr/>
          <p:nvPr/>
        </p:nvSpPr>
        <p:spPr>
          <a:xfrm>
            <a:off x="6483514" y="1803271"/>
            <a:ext cx="2390400" cy="936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2538" name="Google Shape;2538;p30"/>
          <p:cNvSpPr/>
          <p:nvPr/>
        </p:nvSpPr>
        <p:spPr>
          <a:xfrm>
            <a:off x="4782477" y="1148353"/>
            <a:ext cx="1606200" cy="579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2539" name="Google Shape;2539;p30"/>
          <p:cNvSpPr/>
          <p:nvPr/>
        </p:nvSpPr>
        <p:spPr>
          <a:xfrm>
            <a:off x="4783580" y="2519181"/>
            <a:ext cx="1604100" cy="439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540" name="Google Shape;2540;p30"/>
          <p:cNvSpPr/>
          <p:nvPr/>
        </p:nvSpPr>
        <p:spPr>
          <a:xfrm>
            <a:off x="4784086" y="1750565"/>
            <a:ext cx="1603200" cy="7485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41" name="Google Shape;2541;p30"/>
          <p:cNvSpPr/>
          <p:nvPr/>
        </p:nvSpPr>
        <p:spPr>
          <a:xfrm>
            <a:off x="4781464" y="2980599"/>
            <a:ext cx="1603500" cy="2766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542" name="Google Shape;2542;p30"/>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Conozca a su cliente (KYC)</a:t>
            </a:r>
            <a:endParaRPr b="0" i="0" sz="400" u="none" cap="none" strike="noStrike">
              <a:solidFill>
                <a:schemeClr val="dk2"/>
              </a:solidFill>
              <a:latin typeface="Montserrat"/>
              <a:ea typeface="Montserrat"/>
              <a:cs typeface="Montserrat"/>
              <a:sym typeface="Montserrat"/>
            </a:endParaRPr>
          </a:p>
        </p:txBody>
      </p:sp>
      <p:sp>
        <p:nvSpPr>
          <p:cNvPr id="2543" name="Google Shape;2543;p30"/>
          <p:cNvSpPr/>
          <p:nvPr/>
        </p:nvSpPr>
        <p:spPr>
          <a:xfrm>
            <a:off x="5833996" y="4050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Comportamiento de la transacción</a:t>
            </a:r>
            <a:endParaRPr b="0" i="0" sz="400" u="none" cap="none" strike="noStrike">
              <a:solidFill>
                <a:schemeClr val="dk2"/>
              </a:solidFill>
              <a:latin typeface="Montserrat"/>
              <a:ea typeface="Montserrat"/>
              <a:cs typeface="Montserrat"/>
              <a:sym typeface="Montserrat"/>
            </a:endParaRPr>
          </a:p>
        </p:txBody>
      </p:sp>
      <p:sp>
        <p:nvSpPr>
          <p:cNvPr id="2544" name="Google Shape;2544;p30"/>
          <p:cNvSpPr/>
          <p:nvPr/>
        </p:nvSpPr>
        <p:spPr>
          <a:xfrm>
            <a:off x="693777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Fondos disponibles</a:t>
            </a:r>
            <a:endParaRPr b="0" i="0" sz="400" u="none" cap="none" strike="noStrike">
              <a:solidFill>
                <a:schemeClr val="dk2"/>
              </a:solidFill>
              <a:latin typeface="Montserrat"/>
              <a:ea typeface="Montserrat"/>
              <a:cs typeface="Montserrat"/>
              <a:sym typeface="Montserrat"/>
            </a:endParaRPr>
          </a:p>
        </p:txBody>
      </p:sp>
      <p:sp>
        <p:nvSpPr>
          <p:cNvPr id="2545" name="Google Shape;2545;p30"/>
          <p:cNvSpPr/>
          <p:nvPr/>
        </p:nvSpPr>
        <p:spPr>
          <a:xfrm>
            <a:off x="6937778"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ingresos (entrantes)</a:t>
            </a:r>
            <a:endParaRPr b="0" i="0" sz="400" u="none" cap="none" strike="noStrike">
              <a:solidFill>
                <a:schemeClr val="dk2"/>
              </a:solidFill>
              <a:latin typeface="Montserrat"/>
              <a:ea typeface="Montserrat"/>
              <a:cs typeface="Montserrat"/>
              <a:sym typeface="Montserrat"/>
            </a:endParaRPr>
          </a:p>
        </p:txBody>
      </p:sp>
      <p:sp>
        <p:nvSpPr>
          <p:cNvPr id="2546" name="Google Shape;2546;p30"/>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2547" name="Google Shape;2547;p30"/>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Reclamaciones y disputas</a:t>
            </a:r>
            <a:endParaRPr b="0" i="0" sz="400" u="none" cap="none" strike="noStrike">
              <a:solidFill>
                <a:schemeClr val="dk2"/>
              </a:solidFill>
              <a:latin typeface="Montserrat"/>
              <a:ea typeface="Montserrat"/>
              <a:cs typeface="Montserrat"/>
              <a:sym typeface="Montserrat"/>
            </a:endParaRPr>
          </a:p>
        </p:txBody>
      </p:sp>
      <p:sp>
        <p:nvSpPr>
          <p:cNvPr id="2548" name="Google Shape;2548;p30"/>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Buró de crédito</a:t>
            </a:r>
            <a:endParaRPr b="0" i="0" sz="400" u="none" cap="none" strike="noStrike">
              <a:solidFill>
                <a:schemeClr val="dk2"/>
              </a:solidFill>
              <a:latin typeface="Montserrat"/>
              <a:ea typeface="Montserrat"/>
              <a:cs typeface="Montserrat"/>
              <a:sym typeface="Montserrat"/>
            </a:endParaRPr>
          </a:p>
        </p:txBody>
      </p:sp>
      <p:sp>
        <p:nvSpPr>
          <p:cNvPr id="2549" name="Google Shape;2549;p30"/>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Umbrales de riesgo (evaluar y modelar)</a:t>
            </a:r>
            <a:br>
              <a:rPr b="0" i="0" lang="es" sz="400" u="none" cap="none" strike="noStrike">
                <a:solidFill>
                  <a:schemeClr val="dk2"/>
                </a:solidFill>
                <a:latin typeface="Montserrat"/>
                <a:ea typeface="Montserrat"/>
                <a:cs typeface="Montserrat"/>
                <a:sym typeface="Montserrat"/>
              </a:rPr>
            </a:br>
            <a:endParaRPr b="0" i="0" sz="400" u="none" cap="none" strike="noStrike">
              <a:solidFill>
                <a:schemeClr val="dk2"/>
              </a:solidFill>
              <a:latin typeface="Montserrat"/>
              <a:ea typeface="Montserrat"/>
              <a:cs typeface="Montserrat"/>
              <a:sym typeface="Montserrat"/>
            </a:endParaRPr>
          </a:p>
        </p:txBody>
      </p:sp>
      <p:sp>
        <p:nvSpPr>
          <p:cNvPr id="2550" name="Google Shape;2550;p30"/>
          <p:cNvSpPr/>
          <p:nvPr/>
        </p:nvSpPr>
        <p:spPr>
          <a:xfrm>
            <a:off x="4708161"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restricciones de cuenta</a:t>
            </a:r>
            <a:br>
              <a:rPr b="0" i="0" lang="es" sz="400" u="none" cap="none" strike="noStrike">
                <a:solidFill>
                  <a:schemeClr val="dk2"/>
                </a:solidFill>
                <a:latin typeface="Montserrat"/>
                <a:ea typeface="Montserrat"/>
                <a:cs typeface="Montserrat"/>
                <a:sym typeface="Montserrat"/>
              </a:rPr>
            </a:br>
            <a:endParaRPr b="0" i="0" sz="400" u="none" cap="none" strike="noStrike">
              <a:solidFill>
                <a:schemeClr val="dk2"/>
              </a:solidFill>
              <a:latin typeface="Montserrat"/>
              <a:ea typeface="Montserrat"/>
              <a:cs typeface="Montserrat"/>
              <a:sym typeface="Montserrat"/>
            </a:endParaRPr>
          </a:p>
        </p:txBody>
      </p:sp>
      <p:sp>
        <p:nvSpPr>
          <p:cNvPr id="2551" name="Google Shape;2551;p30"/>
          <p:cNvSpPr/>
          <p:nvPr/>
        </p:nvSpPr>
        <p:spPr>
          <a:xfrm>
            <a:off x="3555696" y="434491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locales y estatales</a:t>
            </a:r>
            <a:endParaRPr b="0" i="0" sz="400" u="none" cap="none" strike="noStrike">
              <a:solidFill>
                <a:schemeClr val="dk2"/>
              </a:solidFill>
              <a:latin typeface="Montserrat"/>
              <a:ea typeface="Montserrat"/>
              <a:cs typeface="Montserrat"/>
              <a:sym typeface="Montserrat"/>
            </a:endParaRPr>
          </a:p>
        </p:txBody>
      </p:sp>
      <p:sp>
        <p:nvSpPr>
          <p:cNvPr id="2552" name="Google Shape;2552;p30"/>
          <p:cNvSpPr/>
          <p:nvPr/>
        </p:nvSpPr>
        <p:spPr>
          <a:xfrm>
            <a:off x="35556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Consumidor y privacidad</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(cumplimiento)</a:t>
            </a:r>
            <a:endParaRPr b="0" i="0" sz="400" u="none" cap="none" strike="noStrike">
              <a:solidFill>
                <a:schemeClr val="dk2"/>
              </a:solidFill>
              <a:latin typeface="Montserrat"/>
              <a:ea typeface="Montserrat"/>
              <a:cs typeface="Montserrat"/>
              <a:sym typeface="Montserrat"/>
            </a:endParaRPr>
          </a:p>
        </p:txBody>
      </p:sp>
      <p:sp>
        <p:nvSpPr>
          <p:cNvPr id="2553" name="Google Shape;2553;p30"/>
          <p:cNvSpPr/>
          <p:nvPr/>
        </p:nvSpPr>
        <p:spPr>
          <a:xfrm>
            <a:off x="3555696"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de México.</a:t>
            </a:r>
            <a:endParaRPr b="0" i="0" sz="400" u="none" cap="none" strike="noStrike">
              <a:solidFill>
                <a:schemeClr val="dk2"/>
              </a:solidFill>
              <a:latin typeface="Montserrat"/>
              <a:ea typeface="Montserrat"/>
              <a:cs typeface="Montserrat"/>
              <a:sym typeface="Montserrat"/>
            </a:endParaRPr>
          </a:p>
        </p:txBody>
      </p:sp>
      <p:sp>
        <p:nvSpPr>
          <p:cNvPr id="2554" name="Google Shape;2554;p30"/>
          <p:cNvSpPr/>
          <p:nvPr/>
        </p:nvSpPr>
        <p:spPr>
          <a:xfrm>
            <a:off x="355569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de BANXICO</a:t>
            </a:r>
            <a:endParaRPr b="0" i="0" sz="400" u="none" cap="none" strike="noStrike">
              <a:solidFill>
                <a:schemeClr val="dk2"/>
              </a:solidFill>
              <a:latin typeface="Montserrat"/>
              <a:ea typeface="Montserrat"/>
              <a:cs typeface="Montserrat"/>
              <a:sym typeface="Montserrat"/>
            </a:endParaRPr>
          </a:p>
        </p:txBody>
      </p:sp>
      <p:sp>
        <p:nvSpPr>
          <p:cNvPr id="2555" name="Google Shape;2555;p30"/>
          <p:cNvSpPr/>
          <p:nvPr/>
        </p:nvSpPr>
        <p:spPr>
          <a:xfrm>
            <a:off x="1333302" y="4246040"/>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Seguridad del sistema (disposiciones)</a:t>
            </a:r>
            <a:endParaRPr b="0" i="0" sz="400" u="none" cap="none" strike="noStrike">
              <a:solidFill>
                <a:schemeClr val="lt1"/>
              </a:solidFill>
              <a:latin typeface="Montserrat"/>
              <a:ea typeface="Montserrat"/>
              <a:cs typeface="Montserrat"/>
              <a:sym typeface="Montserrat"/>
            </a:endParaRPr>
          </a:p>
        </p:txBody>
      </p:sp>
      <p:sp>
        <p:nvSpPr>
          <p:cNvPr id="2556" name="Google Shape;2556;p30"/>
          <p:cNvSpPr/>
          <p:nvPr/>
        </p:nvSpPr>
        <p:spPr>
          <a:xfrm>
            <a:off x="1333302" y="3896900"/>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Autenticación (validación de ID de cliente)</a:t>
            </a:r>
            <a:endParaRPr b="0" i="0" sz="400" u="none" cap="none" strike="noStrike">
              <a:solidFill>
                <a:schemeClr val="lt1"/>
              </a:solidFill>
              <a:latin typeface="Montserrat"/>
              <a:ea typeface="Montserrat"/>
              <a:cs typeface="Montserrat"/>
              <a:sym typeface="Montserrat"/>
            </a:endParaRPr>
          </a:p>
        </p:txBody>
      </p:sp>
      <p:sp>
        <p:nvSpPr>
          <p:cNvPr id="2557" name="Google Shape;2557;p30"/>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2558" name="Google Shape;2558;p30"/>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2559" name="Google Shape;2559;p30"/>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2560" name="Google Shape;2560;p30"/>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2561" name="Google Shape;2561;p30"/>
          <p:cNvSpPr/>
          <p:nvPr/>
        </p:nvSpPr>
        <p:spPr>
          <a:xfrm>
            <a:off x="1333302" y="4067547"/>
            <a:ext cx="720900" cy="1503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Inicio de sesión único</a:t>
            </a:r>
            <a:endParaRPr b="0" i="0" sz="400" u="none" cap="none" strike="noStrike">
              <a:solidFill>
                <a:schemeClr val="lt1"/>
              </a:solidFill>
              <a:latin typeface="Montserrat"/>
              <a:ea typeface="Montserrat"/>
              <a:cs typeface="Montserrat"/>
              <a:sym typeface="Montserrat"/>
            </a:endParaRPr>
          </a:p>
        </p:txBody>
      </p:sp>
      <p:sp>
        <p:nvSpPr>
          <p:cNvPr id="2562" name="Google Shape;2562;p30"/>
          <p:cNvSpPr/>
          <p:nvPr/>
        </p:nvSpPr>
        <p:spPr>
          <a:xfrm>
            <a:off x="2444808" y="389690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Recopilación de parámetros</a:t>
            </a:r>
            <a:endParaRPr b="0" i="0" sz="400" u="none" cap="none" strike="noStrike">
              <a:solidFill>
                <a:schemeClr val="lt1"/>
              </a:solidFill>
              <a:latin typeface="Montserrat"/>
              <a:ea typeface="Montserrat"/>
              <a:cs typeface="Montserrat"/>
              <a:sym typeface="Montserrat"/>
            </a:endParaRPr>
          </a:p>
        </p:txBody>
      </p:sp>
      <p:sp>
        <p:nvSpPr>
          <p:cNvPr id="2563" name="Google Shape;2563;p30"/>
          <p:cNvSpPr/>
          <p:nvPr/>
        </p:nvSpPr>
        <p:spPr>
          <a:xfrm>
            <a:off x="2444808" y="404624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inspección</a:t>
            </a:r>
            <a:endParaRPr b="0" i="0" sz="400" u="none" cap="none" strike="noStrike">
              <a:solidFill>
                <a:schemeClr val="lt1"/>
              </a:solidFill>
              <a:latin typeface="Montserrat"/>
              <a:ea typeface="Montserrat"/>
              <a:cs typeface="Montserrat"/>
              <a:sym typeface="Montserrat"/>
            </a:endParaRPr>
          </a:p>
        </p:txBody>
      </p:sp>
      <p:sp>
        <p:nvSpPr>
          <p:cNvPr id="2564" name="Google Shape;2564;p30"/>
          <p:cNvSpPr/>
          <p:nvPr/>
        </p:nvSpPr>
        <p:spPr>
          <a:xfrm>
            <a:off x="2444808" y="4344919"/>
            <a:ext cx="7227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notificación</a:t>
            </a:r>
            <a:endParaRPr b="0" i="0" sz="400" u="none" cap="none" strike="noStrike">
              <a:solidFill>
                <a:schemeClr val="lt1"/>
              </a:solidFill>
              <a:latin typeface="Montserrat"/>
              <a:ea typeface="Montserrat"/>
              <a:cs typeface="Montserrat"/>
              <a:sym typeface="Montserrat"/>
            </a:endParaRPr>
          </a:p>
        </p:txBody>
      </p:sp>
      <p:sp>
        <p:nvSpPr>
          <p:cNvPr id="2565" name="Google Shape;2565;p30"/>
          <p:cNvSpPr/>
          <p:nvPr/>
        </p:nvSpPr>
        <p:spPr>
          <a:xfrm>
            <a:off x="2444808" y="4195579"/>
            <a:ext cx="7227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revisión</a:t>
            </a:r>
            <a:endParaRPr b="0" i="0" sz="400" u="none" cap="none" strike="noStrike">
              <a:solidFill>
                <a:schemeClr val="lt1"/>
              </a:solidFill>
              <a:latin typeface="Montserrat"/>
              <a:ea typeface="Montserrat"/>
              <a:cs typeface="Montserrat"/>
              <a:sym typeface="Montserrat"/>
            </a:endParaRPr>
          </a:p>
        </p:txBody>
      </p:sp>
      <p:sp>
        <p:nvSpPr>
          <p:cNvPr id="2566" name="Google Shape;2566;p30"/>
          <p:cNvSpPr/>
          <p:nvPr/>
        </p:nvSpPr>
        <p:spPr>
          <a:xfrm>
            <a:off x="5519878" y="3397234"/>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Precio, honorarios y tarifas</a:t>
            </a:r>
            <a:endParaRPr b="0" i="0" sz="400" u="none" cap="none" strike="noStrike">
              <a:solidFill>
                <a:schemeClr val="dk2"/>
              </a:solidFill>
              <a:latin typeface="Montserrat"/>
              <a:ea typeface="Montserrat"/>
              <a:cs typeface="Montserrat"/>
              <a:sym typeface="Montserrat"/>
            </a:endParaRPr>
          </a:p>
        </p:txBody>
      </p:sp>
      <p:sp>
        <p:nvSpPr>
          <p:cNvPr id="2567" name="Google Shape;2567;p30"/>
          <p:cNvSpPr/>
          <p:nvPr/>
        </p:nvSpPr>
        <p:spPr>
          <a:xfrm>
            <a:off x="4689602"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Parametrización</a:t>
            </a:r>
            <a:endParaRPr b="0" i="0" sz="400" u="none" cap="none" strike="noStrike">
              <a:solidFill>
                <a:schemeClr val="dk2"/>
              </a:solidFill>
              <a:latin typeface="Montserrat"/>
              <a:ea typeface="Montserrat"/>
              <a:cs typeface="Montserrat"/>
              <a:sym typeface="Montserrat"/>
            </a:endParaRPr>
          </a:p>
        </p:txBody>
      </p:sp>
      <p:sp>
        <p:nvSpPr>
          <p:cNvPr id="2568" name="Google Shape;2568;p30"/>
          <p:cNvSpPr/>
          <p:nvPr/>
        </p:nvSpPr>
        <p:spPr>
          <a:xfrm>
            <a:off x="7168269" y="3397881"/>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 roles</a:t>
            </a:r>
            <a:endParaRPr b="0" i="0" sz="400" u="none" cap="none" strike="noStrike">
              <a:solidFill>
                <a:schemeClr val="dk2"/>
              </a:solidFill>
              <a:latin typeface="Montserrat"/>
              <a:ea typeface="Montserrat"/>
              <a:cs typeface="Montserrat"/>
              <a:sym typeface="Montserrat"/>
            </a:endParaRPr>
          </a:p>
        </p:txBody>
      </p:sp>
      <p:sp>
        <p:nvSpPr>
          <p:cNvPr id="2569" name="Google Shape;2569;p30"/>
          <p:cNvSpPr/>
          <p:nvPr/>
        </p:nvSpPr>
        <p:spPr>
          <a:xfrm>
            <a:off x="7977593" y="3397611"/>
            <a:ext cx="8370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motor de reglas</a:t>
            </a:r>
            <a:endParaRPr b="0" i="0" sz="400" u="none" cap="none" strike="noStrike">
              <a:solidFill>
                <a:schemeClr val="dk2"/>
              </a:solidFill>
              <a:latin typeface="Montserrat"/>
              <a:ea typeface="Montserrat"/>
              <a:cs typeface="Montserrat"/>
              <a:sym typeface="Montserrat"/>
            </a:endParaRPr>
          </a:p>
        </p:txBody>
      </p:sp>
      <p:sp>
        <p:nvSpPr>
          <p:cNvPr id="2570" name="Google Shape;2570;p30"/>
          <p:cNvSpPr/>
          <p:nvPr/>
        </p:nvSpPr>
        <p:spPr>
          <a:xfrm>
            <a:off x="6353107" y="3397516"/>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 gestión de productos</a:t>
            </a:r>
            <a:endParaRPr b="0" i="0" sz="400" u="none" cap="none" strike="noStrike">
              <a:solidFill>
                <a:schemeClr val="dk2"/>
              </a:solidFill>
              <a:latin typeface="Montserrat"/>
              <a:ea typeface="Montserrat"/>
              <a:cs typeface="Montserrat"/>
              <a:sym typeface="Montserrat"/>
            </a:endParaRPr>
          </a:p>
        </p:txBody>
      </p:sp>
      <p:sp>
        <p:nvSpPr>
          <p:cNvPr id="2571" name="Google Shape;2571;p30"/>
          <p:cNvSpPr/>
          <p:nvPr/>
        </p:nvSpPr>
        <p:spPr>
          <a:xfrm>
            <a:off x="3880064"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Modelos</a:t>
            </a:r>
            <a:endParaRPr b="0" i="0" sz="400" u="none" cap="none" strike="noStrike">
              <a:solidFill>
                <a:schemeClr val="dk2"/>
              </a:solidFill>
              <a:latin typeface="Montserrat"/>
              <a:ea typeface="Montserrat"/>
              <a:cs typeface="Montserrat"/>
              <a:sym typeface="Montserrat"/>
            </a:endParaRPr>
          </a:p>
        </p:txBody>
      </p:sp>
      <p:sp>
        <p:nvSpPr>
          <p:cNvPr id="2572" name="Google Shape;2572;p30"/>
          <p:cNvSpPr/>
          <p:nvPr/>
        </p:nvSpPr>
        <p:spPr>
          <a:xfrm>
            <a:off x="3880356" y="187757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Reconciliaciones</a:t>
            </a:r>
            <a:endParaRPr b="0" i="0" sz="400" u="none" cap="none" strike="noStrike">
              <a:solidFill>
                <a:schemeClr val="dk2"/>
              </a:solidFill>
              <a:latin typeface="Montserrat"/>
              <a:ea typeface="Montserrat"/>
              <a:cs typeface="Montserrat"/>
              <a:sym typeface="Montserrat"/>
            </a:endParaRPr>
          </a:p>
        </p:txBody>
      </p:sp>
      <p:sp>
        <p:nvSpPr>
          <p:cNvPr id="2573" name="Google Shape;2573;p30"/>
          <p:cNvSpPr/>
          <p:nvPr/>
        </p:nvSpPr>
        <p:spPr>
          <a:xfrm>
            <a:off x="3880356" y="125706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Ajustes</a:t>
            </a:r>
            <a:endParaRPr b="0" i="0" sz="400" u="none" cap="none" strike="noStrike">
              <a:solidFill>
                <a:schemeClr val="dk2"/>
              </a:solidFill>
              <a:latin typeface="Montserrat"/>
              <a:ea typeface="Montserrat"/>
              <a:cs typeface="Montserrat"/>
              <a:sym typeface="Montserrat"/>
            </a:endParaRPr>
          </a:p>
        </p:txBody>
      </p:sp>
      <p:sp>
        <p:nvSpPr>
          <p:cNvPr id="2574" name="Google Shape;2574;p30"/>
          <p:cNvSpPr/>
          <p:nvPr/>
        </p:nvSpPr>
        <p:spPr>
          <a:xfrm>
            <a:off x="3880356" y="15673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Excepciones</a:t>
            </a:r>
            <a:endParaRPr b="0" i="0" sz="400" u="none" cap="none" strike="noStrike">
              <a:solidFill>
                <a:schemeClr val="dk2"/>
              </a:solidFill>
              <a:latin typeface="Montserrat"/>
              <a:ea typeface="Montserrat"/>
              <a:cs typeface="Montserrat"/>
              <a:sym typeface="Montserrat"/>
            </a:endParaRPr>
          </a:p>
        </p:txBody>
      </p:sp>
      <p:sp>
        <p:nvSpPr>
          <p:cNvPr id="2575" name="Google Shape;2575;p30"/>
          <p:cNvSpPr/>
          <p:nvPr/>
        </p:nvSpPr>
        <p:spPr>
          <a:xfrm>
            <a:off x="3880356" y="141200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saldos</a:t>
            </a:r>
            <a:endParaRPr b="0" i="0" sz="400" u="none" cap="none" strike="noStrike">
              <a:solidFill>
                <a:schemeClr val="dk2"/>
              </a:solidFill>
              <a:latin typeface="Montserrat"/>
              <a:ea typeface="Montserrat"/>
              <a:cs typeface="Montserrat"/>
              <a:sym typeface="Montserrat"/>
            </a:endParaRPr>
          </a:p>
        </p:txBody>
      </p:sp>
      <p:sp>
        <p:nvSpPr>
          <p:cNvPr id="2576" name="Google Shape;2576;p30"/>
          <p:cNvSpPr/>
          <p:nvPr/>
        </p:nvSpPr>
        <p:spPr>
          <a:xfrm>
            <a:off x="3880356" y="172318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Contabilidad</a:t>
            </a:r>
            <a:endParaRPr b="0" i="0" sz="400" u="none" cap="none" strike="noStrike">
              <a:solidFill>
                <a:schemeClr val="dk2"/>
              </a:solidFill>
              <a:latin typeface="Montserrat"/>
              <a:ea typeface="Montserrat"/>
              <a:cs typeface="Montserrat"/>
              <a:sym typeface="Montserrat"/>
            </a:endParaRPr>
          </a:p>
        </p:txBody>
      </p:sp>
      <p:sp>
        <p:nvSpPr>
          <p:cNvPr id="2577" name="Google Shape;2577;p30"/>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2578" name="Google Shape;2578;p30"/>
          <p:cNvSpPr/>
          <p:nvPr/>
        </p:nvSpPr>
        <p:spPr>
          <a:xfrm>
            <a:off x="3880356" y="232511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Ventas/incentivos</a:t>
            </a:r>
            <a:endParaRPr b="0" i="0" sz="400" u="none" cap="none" strike="noStrike">
              <a:solidFill>
                <a:schemeClr val="dk2"/>
              </a:solidFill>
              <a:latin typeface="Montserrat"/>
              <a:ea typeface="Montserrat"/>
              <a:cs typeface="Montserrat"/>
              <a:sym typeface="Montserrat"/>
            </a:endParaRPr>
          </a:p>
        </p:txBody>
      </p:sp>
      <p:sp>
        <p:nvSpPr>
          <p:cNvPr id="2579" name="Google Shape;2579;p30"/>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la relación con el cliente</a:t>
            </a:r>
            <a:endParaRPr b="0" i="0" sz="400" u="none" cap="none" strike="noStrike">
              <a:solidFill>
                <a:schemeClr val="dk2"/>
              </a:solidFill>
              <a:latin typeface="Montserrat"/>
              <a:ea typeface="Montserrat"/>
              <a:cs typeface="Montserrat"/>
              <a:sym typeface="Montserrat"/>
            </a:endParaRPr>
          </a:p>
        </p:txBody>
      </p:sp>
      <p:sp>
        <p:nvSpPr>
          <p:cNvPr id="2580" name="Google Shape;2580;p30"/>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2581" name="Google Shape;2581;p30"/>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2582" name="Google Shape;2582;p30"/>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inversión</a:t>
            </a:r>
            <a:endParaRPr b="0" i="0" sz="400" u="none" cap="none" strike="noStrike">
              <a:solidFill>
                <a:schemeClr val="dk2"/>
              </a:solidFill>
              <a:latin typeface="Montserrat"/>
              <a:ea typeface="Montserrat"/>
              <a:cs typeface="Montserrat"/>
              <a:sym typeface="Montserrat"/>
            </a:endParaRPr>
          </a:p>
        </p:txBody>
      </p:sp>
      <p:sp>
        <p:nvSpPr>
          <p:cNvPr id="2583" name="Google Shape;2583;p30"/>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documentos de imagen</a:t>
            </a:r>
            <a:endParaRPr b="0" i="0" sz="400" u="none" cap="none" strike="noStrike">
              <a:solidFill>
                <a:schemeClr val="dk2"/>
              </a:solidFill>
              <a:latin typeface="Montserrat"/>
              <a:ea typeface="Montserrat"/>
              <a:cs typeface="Montserrat"/>
              <a:sym typeface="Montserrat"/>
            </a:endParaRPr>
          </a:p>
        </p:txBody>
      </p:sp>
      <p:sp>
        <p:nvSpPr>
          <p:cNvPr id="2584" name="Google Shape;2584;p30"/>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Templates </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(correspondencia)</a:t>
            </a:r>
            <a:endParaRPr b="0" i="0" sz="400" u="none" cap="none" strike="noStrike">
              <a:solidFill>
                <a:schemeClr val="dk2"/>
              </a:solidFill>
              <a:latin typeface="Montserrat"/>
              <a:ea typeface="Montserrat"/>
              <a:cs typeface="Montserrat"/>
              <a:sym typeface="Montserrat"/>
            </a:endParaRPr>
          </a:p>
        </p:txBody>
      </p:sp>
      <p:sp>
        <p:nvSpPr>
          <p:cNvPr id="2585" name="Google Shape;2585;p30"/>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Divulgación y aceptar</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(Procesamienta de cuentas)</a:t>
            </a:r>
            <a:endParaRPr b="0" i="0" sz="400" u="none" cap="none" strike="noStrike">
              <a:solidFill>
                <a:schemeClr val="dk2"/>
              </a:solidFill>
              <a:latin typeface="Montserrat"/>
              <a:ea typeface="Montserrat"/>
              <a:cs typeface="Montserrat"/>
              <a:sym typeface="Montserrat"/>
            </a:endParaRPr>
          </a:p>
        </p:txBody>
      </p:sp>
      <p:sp>
        <p:nvSpPr>
          <p:cNvPr id="2586" name="Google Shape;2586;p30"/>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Documentación de cumplimiento de cuenta</a:t>
            </a:r>
            <a:endParaRPr b="0" i="0" sz="400" u="none" cap="none" strike="noStrike">
              <a:solidFill>
                <a:schemeClr val="dk2"/>
              </a:solidFill>
              <a:latin typeface="Montserrat"/>
              <a:ea typeface="Montserrat"/>
              <a:cs typeface="Montserrat"/>
              <a:sym typeface="Montserrat"/>
            </a:endParaRPr>
          </a:p>
        </p:txBody>
      </p:sp>
      <p:sp>
        <p:nvSpPr>
          <p:cNvPr id="2587" name="Google Shape;2587;p30"/>
          <p:cNvSpPr/>
          <p:nvPr/>
        </p:nvSpPr>
        <p:spPr>
          <a:xfrm>
            <a:off x="1294951"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de cuenta</a:t>
            </a:r>
            <a:endParaRPr b="0" i="0" sz="400" u="none" cap="none" strike="noStrike">
              <a:solidFill>
                <a:schemeClr val="dk2"/>
              </a:solidFill>
              <a:latin typeface="Montserrat"/>
              <a:ea typeface="Montserrat"/>
              <a:cs typeface="Montserrat"/>
              <a:sym typeface="Montserrat"/>
            </a:endParaRPr>
          </a:p>
        </p:txBody>
      </p:sp>
      <p:sp>
        <p:nvSpPr>
          <p:cNvPr id="2588" name="Google Shape;2588;p30"/>
          <p:cNvSpPr/>
          <p:nvPr/>
        </p:nvSpPr>
        <p:spPr>
          <a:xfrm>
            <a:off x="1294951" y="2232766"/>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Depositar fondos</a:t>
            </a:r>
            <a:endParaRPr b="0" i="0" sz="400" u="none" cap="none" strike="noStrike">
              <a:solidFill>
                <a:schemeClr val="dk2"/>
              </a:solidFill>
              <a:latin typeface="Montserrat"/>
              <a:ea typeface="Montserrat"/>
              <a:cs typeface="Montserrat"/>
              <a:sym typeface="Montserrat"/>
            </a:endParaRPr>
          </a:p>
        </p:txBody>
      </p:sp>
      <p:sp>
        <p:nvSpPr>
          <p:cNvPr id="2589" name="Google Shape;2589;p30"/>
          <p:cNvSpPr/>
          <p:nvPr/>
        </p:nvSpPr>
        <p:spPr>
          <a:xfrm>
            <a:off x="1294951"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Transferir fondos</a:t>
            </a:r>
            <a:endParaRPr b="0" i="0" sz="400" u="none" cap="none" strike="noStrike">
              <a:solidFill>
                <a:schemeClr val="dk2"/>
              </a:solidFill>
              <a:latin typeface="Montserrat"/>
              <a:ea typeface="Montserrat"/>
              <a:cs typeface="Montserrat"/>
              <a:sym typeface="Montserrat"/>
            </a:endParaRPr>
          </a:p>
        </p:txBody>
      </p:sp>
      <p:sp>
        <p:nvSpPr>
          <p:cNvPr id="2590" name="Google Shape;2590;p30"/>
          <p:cNvSpPr/>
          <p:nvPr/>
        </p:nvSpPr>
        <p:spPr>
          <a:xfrm>
            <a:off x="2862246"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Retirar fondos</a:t>
            </a:r>
            <a:endParaRPr b="0" i="0" sz="400" u="none" cap="none" strike="noStrike">
              <a:solidFill>
                <a:schemeClr val="dk2"/>
              </a:solidFill>
              <a:latin typeface="Montserrat"/>
              <a:ea typeface="Montserrat"/>
              <a:cs typeface="Montserrat"/>
              <a:sym typeface="Montserrat"/>
            </a:endParaRPr>
          </a:p>
        </p:txBody>
      </p:sp>
      <p:sp>
        <p:nvSpPr>
          <p:cNvPr id="2591" name="Google Shape;2591;p30"/>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Pequeñas empresas</a:t>
            </a:r>
            <a:endParaRPr b="0" i="0" sz="400" u="none" cap="none" strike="noStrike">
              <a:solidFill>
                <a:schemeClr val="dk2"/>
              </a:solidFill>
              <a:latin typeface="Montserrat"/>
              <a:ea typeface="Montserrat"/>
              <a:cs typeface="Montserrat"/>
              <a:sym typeface="Montserrat"/>
            </a:endParaRPr>
          </a:p>
        </p:txBody>
      </p:sp>
      <p:sp>
        <p:nvSpPr>
          <p:cNvPr id="2592" name="Google Shape;2592;p30"/>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el cliente</a:t>
            </a:r>
            <a:endParaRPr b="0" i="0" sz="400" u="none" cap="none" strike="noStrike">
              <a:solidFill>
                <a:schemeClr val="dk2"/>
              </a:solidFill>
              <a:latin typeface="Montserrat"/>
              <a:ea typeface="Montserrat"/>
              <a:cs typeface="Montserrat"/>
              <a:sym typeface="Montserrat"/>
            </a:endParaRPr>
          </a:p>
        </p:txBody>
      </p:sp>
      <p:sp>
        <p:nvSpPr>
          <p:cNvPr id="2593" name="Google Shape;2593;p30"/>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Originación de cuentas</a:t>
            </a:r>
            <a:endParaRPr b="0" i="0" sz="400" u="none" cap="none" strike="noStrike">
              <a:solidFill>
                <a:schemeClr val="dk2"/>
              </a:solidFill>
              <a:latin typeface="Montserrat"/>
              <a:ea typeface="Montserrat"/>
              <a:cs typeface="Montserrat"/>
              <a:sym typeface="Montserrat"/>
            </a:endParaRPr>
          </a:p>
        </p:txBody>
      </p:sp>
      <p:sp>
        <p:nvSpPr>
          <p:cNvPr id="2594" name="Google Shape;2594;p30"/>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cumplimiento./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Incorporación de clientes</a:t>
            </a:r>
            <a:endParaRPr b="0" i="0" sz="400" u="none" cap="none" strike="noStrike">
              <a:solidFill>
                <a:schemeClr val="dk2"/>
              </a:solidFill>
              <a:latin typeface="Montserrat"/>
              <a:ea typeface="Montserrat"/>
              <a:cs typeface="Montserrat"/>
              <a:sym typeface="Montserrat"/>
            </a:endParaRPr>
          </a:p>
        </p:txBody>
      </p:sp>
      <p:sp>
        <p:nvSpPr>
          <p:cNvPr id="2595" name="Google Shape;2595;p30"/>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configuración</a:t>
            </a:r>
            <a:endParaRPr b="0" i="0" sz="400" u="none" cap="none" strike="noStrike">
              <a:solidFill>
                <a:schemeClr val="dk2"/>
              </a:solidFill>
              <a:latin typeface="Montserrat"/>
              <a:ea typeface="Montserrat"/>
              <a:cs typeface="Montserrat"/>
              <a:sym typeface="Montserrat"/>
            </a:endParaRPr>
          </a:p>
        </p:txBody>
      </p:sp>
      <p:sp>
        <p:nvSpPr>
          <p:cNvPr id="2596" name="Google Shape;2596;p30"/>
          <p:cNvSpPr/>
          <p:nvPr/>
        </p:nvSpPr>
        <p:spPr>
          <a:xfrm>
            <a:off x="2078085"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Actualizar información</a:t>
            </a:r>
            <a:endParaRPr b="0" i="0" sz="400" u="none" cap="none" strike="noStrike">
              <a:solidFill>
                <a:schemeClr val="dk2"/>
              </a:solidFill>
              <a:latin typeface="Montserrat"/>
              <a:ea typeface="Montserrat"/>
              <a:cs typeface="Montserrat"/>
              <a:sym typeface="Montserrat"/>
            </a:endParaRPr>
          </a:p>
        </p:txBody>
      </p:sp>
      <p:sp>
        <p:nvSpPr>
          <p:cNvPr id="2597" name="Google Shape;2597;p30"/>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598" name="Google Shape;2598;p30"/>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calendario</a:t>
            </a:r>
            <a:endParaRPr b="0" i="0" sz="400" u="none" cap="none" strike="noStrike">
              <a:solidFill>
                <a:schemeClr val="dk2"/>
              </a:solidFill>
              <a:latin typeface="Montserrat"/>
              <a:ea typeface="Montserrat"/>
              <a:cs typeface="Montserrat"/>
              <a:sym typeface="Montserrat"/>
            </a:endParaRPr>
          </a:p>
        </p:txBody>
      </p:sp>
      <p:sp>
        <p:nvSpPr>
          <p:cNvPr id="2599" name="Google Shape;2599;p30"/>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que generan intereses</a:t>
            </a:r>
            <a:endParaRPr b="0" i="0" sz="400" u="none" cap="none" strike="noStrike">
              <a:solidFill>
                <a:schemeClr val="dk2"/>
              </a:solidFill>
              <a:latin typeface="Montserrat"/>
              <a:ea typeface="Montserrat"/>
              <a:cs typeface="Montserrat"/>
              <a:sym typeface="Montserrat"/>
            </a:endParaRPr>
          </a:p>
        </p:txBody>
      </p:sp>
      <p:sp>
        <p:nvSpPr>
          <p:cNvPr id="2600" name="Google Shape;2600;p30"/>
          <p:cNvSpPr/>
          <p:nvPr/>
        </p:nvSpPr>
        <p:spPr>
          <a:xfrm>
            <a:off x="2862246"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tarjeta de débito/ATM</a:t>
            </a:r>
            <a:endParaRPr b="0" i="0" sz="400" u="none" cap="none" strike="noStrike">
              <a:solidFill>
                <a:schemeClr val="dk2"/>
              </a:solidFill>
              <a:latin typeface="Montserrat"/>
              <a:ea typeface="Montserrat"/>
              <a:cs typeface="Montserrat"/>
              <a:sym typeface="Montserrat"/>
            </a:endParaRPr>
          </a:p>
        </p:txBody>
      </p:sp>
      <p:sp>
        <p:nvSpPr>
          <p:cNvPr id="2601" name="Google Shape;2601;p30"/>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 de facturas en línea</a:t>
            </a:r>
            <a:endParaRPr b="0" i="0" sz="400" u="none" cap="none" strike="noStrike">
              <a:solidFill>
                <a:schemeClr val="dk2"/>
              </a:solidFill>
              <a:latin typeface="Montserrat"/>
              <a:ea typeface="Montserrat"/>
              <a:cs typeface="Montserrat"/>
              <a:sym typeface="Montserrat"/>
            </a:endParaRPr>
          </a:p>
        </p:txBody>
      </p:sp>
      <p:sp>
        <p:nvSpPr>
          <p:cNvPr id="2602" name="Google Shape;2602;p30"/>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Encuestas/investigación</a:t>
            </a:r>
            <a:endParaRPr b="0" i="0" sz="900" u="none" cap="none" strike="noStrike">
              <a:solidFill>
                <a:schemeClr val="dk2"/>
              </a:solidFill>
              <a:latin typeface="Montserrat"/>
              <a:ea typeface="Montserrat"/>
              <a:cs typeface="Montserrat"/>
              <a:sym typeface="Montserrat"/>
            </a:endParaRPr>
          </a:p>
        </p:txBody>
      </p:sp>
      <p:sp>
        <p:nvSpPr>
          <p:cNvPr id="2603" name="Google Shape;2603;p30"/>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campañas</a:t>
            </a:r>
            <a:endParaRPr b="0" i="0" sz="900" u="none" cap="none" strike="noStrike">
              <a:solidFill>
                <a:schemeClr val="dk2"/>
              </a:solidFill>
              <a:latin typeface="Montserrat"/>
              <a:ea typeface="Montserrat"/>
              <a:cs typeface="Montserrat"/>
              <a:sym typeface="Montserrat"/>
            </a:endParaRPr>
          </a:p>
        </p:txBody>
      </p:sp>
      <p:sp>
        <p:nvSpPr>
          <p:cNvPr id="2604" name="Google Shape;2604;p30"/>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2605" name="Google Shape;2605;p30"/>
          <p:cNvSpPr/>
          <p:nvPr/>
        </p:nvSpPr>
        <p:spPr>
          <a:xfrm>
            <a:off x="129249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 la clase de producto</a:t>
            </a:r>
            <a:endParaRPr b="0" i="0" sz="400" u="none" cap="none" strike="noStrike">
              <a:solidFill>
                <a:schemeClr val="dk2"/>
              </a:solidFill>
              <a:latin typeface="Montserrat"/>
              <a:ea typeface="Montserrat"/>
              <a:cs typeface="Montserrat"/>
              <a:sym typeface="Montserrat"/>
            </a:endParaRPr>
          </a:p>
        </p:txBody>
      </p:sp>
      <p:sp>
        <p:nvSpPr>
          <p:cNvPr id="2606" name="Google Shape;2606;p30"/>
          <p:cNvSpPr/>
          <p:nvPr/>
        </p:nvSpPr>
        <p:spPr>
          <a:xfrm>
            <a:off x="129249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depósito a plazo</a:t>
            </a:r>
            <a:endParaRPr b="0" i="0" sz="400" u="none" cap="none" strike="noStrike">
              <a:solidFill>
                <a:schemeClr val="dk2"/>
              </a:solidFill>
              <a:latin typeface="Montserrat"/>
              <a:ea typeface="Montserrat"/>
              <a:cs typeface="Montserrat"/>
              <a:sym typeface="Montserrat"/>
            </a:endParaRPr>
          </a:p>
        </p:txBody>
      </p:sp>
      <p:sp>
        <p:nvSpPr>
          <p:cNvPr id="2607" name="Google Shape;2607;p30"/>
          <p:cNvSpPr/>
          <p:nvPr/>
        </p:nvSpPr>
        <p:spPr>
          <a:xfrm>
            <a:off x="129249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Corrientes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dk2"/>
              </a:solidFill>
              <a:latin typeface="Montserrat"/>
              <a:ea typeface="Montserrat"/>
              <a:cs typeface="Montserrat"/>
              <a:sym typeface="Montserrat"/>
            </a:endParaRPr>
          </a:p>
        </p:txBody>
      </p:sp>
      <p:sp>
        <p:nvSpPr>
          <p:cNvPr id="2608" name="Google Shape;2608;p30"/>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jubilación</a:t>
            </a:r>
            <a:endParaRPr b="0" i="0" sz="400" u="none" cap="none" strike="noStrike">
              <a:solidFill>
                <a:schemeClr val="dk2"/>
              </a:solidFill>
              <a:latin typeface="Montserrat"/>
              <a:ea typeface="Montserrat"/>
              <a:cs typeface="Montserrat"/>
              <a:sym typeface="Montserrat"/>
            </a:endParaRPr>
          </a:p>
        </p:txBody>
      </p:sp>
      <p:sp>
        <p:nvSpPr>
          <p:cNvPr id="2609" name="Google Shape;2609;p30"/>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Banco privado/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Servicios patrimoniales</a:t>
            </a:r>
            <a:endParaRPr b="0" i="0" sz="400" u="none" cap="none" strike="noStrike">
              <a:solidFill>
                <a:schemeClr val="dk2"/>
              </a:solidFill>
              <a:latin typeface="Montserrat"/>
              <a:ea typeface="Montserrat"/>
              <a:cs typeface="Montserrat"/>
              <a:sym typeface="Montserrat"/>
            </a:endParaRPr>
          </a:p>
        </p:txBody>
      </p:sp>
      <p:sp>
        <p:nvSpPr>
          <p:cNvPr id="2610" name="Google Shape;2610;p30"/>
          <p:cNvSpPr/>
          <p:nvPr/>
        </p:nvSpPr>
        <p:spPr>
          <a:xfrm>
            <a:off x="2863234"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ahorro</a:t>
            </a:r>
            <a:endParaRPr b="0" i="0" sz="400" u="none" cap="none" strike="noStrike">
              <a:solidFill>
                <a:schemeClr val="dk2"/>
              </a:solidFill>
              <a:latin typeface="Montserrat"/>
              <a:ea typeface="Montserrat"/>
              <a:cs typeface="Montserrat"/>
              <a:sym typeface="Montserrat"/>
            </a:endParaRPr>
          </a:p>
        </p:txBody>
      </p:sp>
      <p:sp>
        <p:nvSpPr>
          <p:cNvPr id="2611" name="Google Shape;2611;p30"/>
          <p:cNvSpPr/>
          <p:nvPr/>
        </p:nvSpPr>
        <p:spPr>
          <a:xfrm>
            <a:off x="207764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crédito</a:t>
            </a:r>
            <a:endParaRPr b="0" i="0" sz="400" u="none" cap="none" strike="noStrike">
              <a:solidFill>
                <a:schemeClr val="dk2"/>
              </a:solidFill>
              <a:latin typeface="Montserrat"/>
              <a:ea typeface="Montserrat"/>
              <a:cs typeface="Montserrat"/>
              <a:sym typeface="Montserrat"/>
            </a:endParaRPr>
          </a:p>
        </p:txBody>
      </p:sp>
      <p:sp>
        <p:nvSpPr>
          <p:cNvPr id="2612" name="Google Shape;2612;p30"/>
          <p:cNvSpPr/>
          <p:nvPr/>
        </p:nvSpPr>
        <p:spPr>
          <a:xfrm>
            <a:off x="207764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613" name="Google Shape;2613;p30"/>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saldo cero</a:t>
            </a:r>
            <a:endParaRPr b="0" i="0" sz="400" u="none" cap="none" strike="noStrike">
              <a:solidFill>
                <a:schemeClr val="dk2"/>
              </a:solidFill>
              <a:latin typeface="Montserrat"/>
              <a:ea typeface="Montserrat"/>
              <a:cs typeface="Montserrat"/>
              <a:sym typeface="Montserrat"/>
            </a:endParaRPr>
          </a:p>
        </p:txBody>
      </p:sp>
      <p:sp>
        <p:nvSpPr>
          <p:cNvPr id="2614" name="Google Shape;2614;p30"/>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2615" name="Google Shape;2615;p30"/>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Cheque de caja/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Giros postales</a:t>
            </a:r>
            <a:endParaRPr b="0" i="0" sz="400" u="none" cap="none" strike="noStrike">
              <a:solidFill>
                <a:schemeClr val="dk2"/>
              </a:solidFill>
              <a:latin typeface="Montserrat"/>
              <a:ea typeface="Montserrat"/>
              <a:cs typeface="Montserrat"/>
              <a:sym typeface="Montserrat"/>
            </a:endParaRPr>
          </a:p>
        </p:txBody>
      </p:sp>
      <p:sp>
        <p:nvSpPr>
          <p:cNvPr id="2616" name="Google Shape;2616;p30"/>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Sobregiro</a:t>
            </a:r>
            <a:endParaRPr b="0" i="0" sz="400" u="none" cap="none" strike="noStrike">
              <a:solidFill>
                <a:schemeClr val="dk2"/>
              </a:solidFill>
              <a:latin typeface="Montserrat"/>
              <a:ea typeface="Montserrat"/>
              <a:cs typeface="Montserrat"/>
              <a:sym typeface="Montserrat"/>
            </a:endParaRPr>
          </a:p>
        </p:txBody>
      </p:sp>
      <p:sp>
        <p:nvSpPr>
          <p:cNvPr id="2617" name="Google Shape;2617;p30"/>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a:t>
            </a:r>
            <a:endParaRPr b="0" i="0" sz="400" u="none" cap="none" strike="noStrike">
              <a:solidFill>
                <a:schemeClr val="dk2"/>
              </a:solidFill>
              <a:latin typeface="Montserrat"/>
              <a:ea typeface="Montserrat"/>
              <a:cs typeface="Montserrat"/>
              <a:sym typeface="Montserrat"/>
            </a:endParaRPr>
          </a:p>
        </p:txBody>
      </p:sp>
      <p:sp>
        <p:nvSpPr>
          <p:cNvPr id="2618" name="Google Shape;2618;p30"/>
          <p:cNvSpPr/>
          <p:nvPr/>
        </p:nvSpPr>
        <p:spPr>
          <a:xfrm>
            <a:off x="732383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básicos de gestión</a:t>
            </a:r>
            <a:endParaRPr b="0" i="0" sz="400" u="none" cap="none" strike="noStrike">
              <a:solidFill>
                <a:schemeClr val="dk2"/>
              </a:solidFill>
              <a:latin typeface="Montserrat"/>
              <a:ea typeface="Montserrat"/>
              <a:cs typeface="Montserrat"/>
              <a:sym typeface="Montserrat"/>
            </a:endParaRPr>
          </a:p>
        </p:txBody>
      </p:sp>
      <p:sp>
        <p:nvSpPr>
          <p:cNvPr id="2619" name="Google Shape;2619;p30"/>
          <p:cNvSpPr/>
          <p:nvPr/>
        </p:nvSpPr>
        <p:spPr>
          <a:xfrm>
            <a:off x="6567651"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Análisis de cuentas</a:t>
            </a:r>
            <a:endParaRPr b="0" i="0" sz="400" u="none" cap="none" strike="noStrike">
              <a:solidFill>
                <a:schemeClr val="dk2"/>
              </a:solidFill>
              <a:latin typeface="Montserrat"/>
              <a:ea typeface="Montserrat"/>
              <a:cs typeface="Montserrat"/>
              <a:sym typeface="Montserrat"/>
            </a:endParaRPr>
          </a:p>
        </p:txBody>
      </p:sp>
      <p:sp>
        <p:nvSpPr>
          <p:cNvPr id="2620" name="Google Shape;2620;p30"/>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2621" name="Google Shape;2621;p30"/>
          <p:cNvSpPr/>
          <p:nvPr/>
        </p:nvSpPr>
        <p:spPr>
          <a:xfrm>
            <a:off x="732383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Retiro de Efectivo</a:t>
            </a:r>
            <a:endParaRPr b="0" i="0" sz="400" u="none" cap="none" strike="noStrike">
              <a:solidFill>
                <a:schemeClr val="dk2"/>
              </a:solidFill>
              <a:latin typeface="Montserrat"/>
              <a:ea typeface="Montserrat"/>
              <a:cs typeface="Montserrat"/>
              <a:sym typeface="Montserrat"/>
            </a:endParaRPr>
          </a:p>
        </p:txBody>
      </p:sp>
      <p:sp>
        <p:nvSpPr>
          <p:cNvPr id="2622" name="Google Shape;2622;p30"/>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comerciales</a:t>
            </a:r>
            <a:endParaRPr b="0" i="0" sz="400" u="none" cap="none" strike="noStrike">
              <a:solidFill>
                <a:schemeClr val="dk2"/>
              </a:solidFill>
              <a:latin typeface="Montserrat"/>
              <a:ea typeface="Montserrat"/>
              <a:cs typeface="Montserrat"/>
              <a:sym typeface="Montserrat"/>
            </a:endParaRPr>
          </a:p>
        </p:txBody>
      </p:sp>
      <p:sp>
        <p:nvSpPr>
          <p:cNvPr id="2623" name="Google Shape;2623;p30"/>
          <p:cNvSpPr/>
          <p:nvPr/>
        </p:nvSpPr>
        <p:spPr>
          <a:xfrm>
            <a:off x="8082270"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del estado de cuenta</a:t>
            </a:r>
            <a:endParaRPr b="0" i="0" sz="400" u="none" cap="none" strike="noStrike">
              <a:solidFill>
                <a:schemeClr val="dk2"/>
              </a:solidFill>
              <a:latin typeface="Montserrat"/>
              <a:ea typeface="Montserrat"/>
              <a:cs typeface="Montserrat"/>
              <a:sym typeface="Montserrat"/>
            </a:endParaRPr>
          </a:p>
        </p:txBody>
      </p:sp>
      <p:sp>
        <p:nvSpPr>
          <p:cNvPr id="2624" name="Google Shape;2624;p30"/>
          <p:cNvSpPr/>
          <p:nvPr/>
        </p:nvSpPr>
        <p:spPr>
          <a:xfrm>
            <a:off x="732328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estado de cuenta/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Seguimiento histórico</a:t>
            </a:r>
            <a:endParaRPr b="0" i="0" sz="400" u="none" cap="none" strike="noStrike">
              <a:solidFill>
                <a:schemeClr val="dk2"/>
              </a:solidFill>
              <a:latin typeface="Montserrat"/>
              <a:ea typeface="Montserrat"/>
              <a:cs typeface="Montserrat"/>
              <a:sym typeface="Montserrat"/>
            </a:endParaRPr>
          </a:p>
        </p:txBody>
      </p:sp>
      <p:sp>
        <p:nvSpPr>
          <p:cNvPr id="2625" name="Google Shape;2625;p30"/>
          <p:cNvSpPr/>
          <p:nvPr/>
        </p:nvSpPr>
        <p:spPr>
          <a:xfrm>
            <a:off x="732328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del estado de cuenta</a:t>
            </a:r>
            <a:endParaRPr b="0" i="0" sz="400" u="none" cap="none" strike="noStrike">
              <a:solidFill>
                <a:schemeClr val="dk2"/>
              </a:solidFill>
              <a:latin typeface="Montserrat"/>
              <a:ea typeface="Montserrat"/>
              <a:cs typeface="Montserrat"/>
              <a:sym typeface="Montserrat"/>
            </a:endParaRPr>
          </a:p>
        </p:txBody>
      </p:sp>
      <p:sp>
        <p:nvSpPr>
          <p:cNvPr id="2626" name="Google Shape;2626;p30"/>
          <p:cNvSpPr/>
          <p:nvPr/>
        </p:nvSpPr>
        <p:spPr>
          <a:xfrm>
            <a:off x="656847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estado de cuenta</a:t>
            </a:r>
            <a:endParaRPr b="0" i="0" sz="400" u="none" cap="none" strike="noStrike">
              <a:solidFill>
                <a:schemeClr val="dk2"/>
              </a:solidFill>
              <a:latin typeface="Montserrat"/>
              <a:ea typeface="Montserrat"/>
              <a:cs typeface="Montserrat"/>
              <a:sym typeface="Montserrat"/>
            </a:endParaRPr>
          </a:p>
        </p:txBody>
      </p:sp>
      <p:sp>
        <p:nvSpPr>
          <p:cNvPr id="2627" name="Google Shape;2627;p30"/>
          <p:cNvSpPr/>
          <p:nvPr/>
        </p:nvSpPr>
        <p:spPr>
          <a:xfrm>
            <a:off x="656847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 estados de cuenta en línea</a:t>
            </a:r>
            <a:endParaRPr b="0" i="0" sz="400" u="none" cap="none" strike="noStrike">
              <a:solidFill>
                <a:schemeClr val="dk2"/>
              </a:solidFill>
              <a:latin typeface="Montserrat"/>
              <a:ea typeface="Montserrat"/>
              <a:cs typeface="Montserrat"/>
              <a:sym typeface="Montserrat"/>
            </a:endParaRPr>
          </a:p>
        </p:txBody>
      </p:sp>
      <p:sp>
        <p:nvSpPr>
          <p:cNvPr id="2628" name="Google Shape;2628;p30"/>
          <p:cNvSpPr/>
          <p:nvPr/>
        </p:nvSpPr>
        <p:spPr>
          <a:xfrm>
            <a:off x="8077267"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Originaciones de procesos</a:t>
            </a:r>
            <a:endParaRPr b="0" i="0" sz="400" u="none" cap="none" strike="noStrike">
              <a:solidFill>
                <a:schemeClr val="dk2"/>
              </a:solidFill>
              <a:latin typeface="Montserrat"/>
              <a:ea typeface="Montserrat"/>
              <a:cs typeface="Montserrat"/>
              <a:sym typeface="Montserrat"/>
            </a:endParaRPr>
          </a:p>
        </p:txBody>
      </p:sp>
      <p:sp>
        <p:nvSpPr>
          <p:cNvPr id="2629" name="Google Shape;2629;p30"/>
          <p:cNvSpPr/>
          <p:nvPr/>
        </p:nvSpPr>
        <p:spPr>
          <a:xfrm>
            <a:off x="6562648"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 del día y BATCH</a:t>
            </a:r>
            <a:endParaRPr b="0" i="0" sz="400" u="none" cap="none" strike="noStrike">
              <a:solidFill>
                <a:schemeClr val="dk2"/>
              </a:solidFill>
              <a:latin typeface="Montserrat"/>
              <a:ea typeface="Montserrat"/>
              <a:cs typeface="Montserrat"/>
              <a:sym typeface="Montserrat"/>
            </a:endParaRPr>
          </a:p>
        </p:txBody>
      </p:sp>
      <p:sp>
        <p:nvSpPr>
          <p:cNvPr id="2630" name="Google Shape;2630;p30"/>
          <p:cNvSpPr/>
          <p:nvPr/>
        </p:nvSpPr>
        <p:spPr>
          <a:xfrm>
            <a:off x="6562648"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Contable</a:t>
            </a:r>
            <a:endParaRPr b="0" i="0" sz="400" u="none" cap="none" strike="noStrike">
              <a:solidFill>
                <a:schemeClr val="dk2"/>
              </a:solidFill>
              <a:latin typeface="Montserrat"/>
              <a:ea typeface="Montserrat"/>
              <a:cs typeface="Montserrat"/>
              <a:sym typeface="Montserrat"/>
            </a:endParaRPr>
          </a:p>
        </p:txBody>
      </p:sp>
      <p:sp>
        <p:nvSpPr>
          <p:cNvPr id="2631" name="Google Shape;2631;p30"/>
          <p:cNvSpPr/>
          <p:nvPr/>
        </p:nvSpPr>
        <p:spPr>
          <a:xfrm>
            <a:off x="8077267"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 transferencia</a:t>
            </a:r>
            <a:endParaRPr b="0" i="0" sz="400" u="none" cap="none" strike="noStrike">
              <a:solidFill>
                <a:schemeClr val="dk2"/>
              </a:solidFill>
              <a:latin typeface="Montserrat"/>
              <a:ea typeface="Montserrat"/>
              <a:cs typeface="Montserrat"/>
              <a:sym typeface="Montserrat"/>
            </a:endParaRPr>
          </a:p>
        </p:txBody>
      </p:sp>
      <p:sp>
        <p:nvSpPr>
          <p:cNvPr id="2632" name="Google Shape;2632;p30"/>
          <p:cNvSpPr/>
          <p:nvPr/>
        </p:nvSpPr>
        <p:spPr>
          <a:xfrm>
            <a:off x="7319255"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Planificación y preparación</a:t>
            </a:r>
            <a:endParaRPr b="0" i="0" sz="400" u="none" cap="none" strike="noStrike">
              <a:solidFill>
                <a:schemeClr val="dk2"/>
              </a:solidFill>
              <a:latin typeface="Montserrat"/>
              <a:ea typeface="Montserrat"/>
              <a:cs typeface="Montserrat"/>
              <a:sym typeface="Montserrat"/>
            </a:endParaRPr>
          </a:p>
        </p:txBody>
      </p:sp>
      <p:sp>
        <p:nvSpPr>
          <p:cNvPr id="2633" name="Google Shape;2633;p30"/>
          <p:cNvSpPr/>
          <p:nvPr/>
        </p:nvSpPr>
        <p:spPr>
          <a:xfrm>
            <a:off x="7319255"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cheques</a:t>
            </a:r>
            <a:endParaRPr b="0" i="0" sz="400" u="none" cap="none" strike="noStrike">
              <a:solidFill>
                <a:schemeClr val="dk2"/>
              </a:solidFill>
              <a:latin typeface="Montserrat"/>
              <a:ea typeface="Montserrat"/>
              <a:cs typeface="Montserrat"/>
              <a:sym typeface="Montserrat"/>
            </a:endParaRPr>
          </a:p>
        </p:txBody>
      </p:sp>
      <p:sp>
        <p:nvSpPr>
          <p:cNvPr id="2634" name="Google Shape;2634;p30"/>
          <p:cNvSpPr/>
          <p:nvPr/>
        </p:nvSpPr>
        <p:spPr>
          <a:xfrm>
            <a:off x="8076183"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del día 1 y día 2</a:t>
            </a:r>
            <a:endParaRPr b="0" i="0" sz="400" u="none" cap="none" strike="noStrike">
              <a:solidFill>
                <a:schemeClr val="dk2"/>
              </a:solidFill>
              <a:latin typeface="Montserrat"/>
              <a:ea typeface="Montserrat"/>
              <a:cs typeface="Montserrat"/>
              <a:sym typeface="Montserrat"/>
            </a:endParaRPr>
          </a:p>
        </p:txBody>
      </p:sp>
      <p:sp>
        <p:nvSpPr>
          <p:cNvPr id="2635" name="Google Shape;2635;p30"/>
          <p:cNvSpPr/>
          <p:nvPr/>
        </p:nvSpPr>
        <p:spPr>
          <a:xfrm>
            <a:off x="8076183"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depósito</a:t>
            </a:r>
            <a:endParaRPr b="0" i="0" sz="400" u="none" cap="none" strike="noStrike">
              <a:solidFill>
                <a:schemeClr val="dk2"/>
              </a:solidFill>
              <a:latin typeface="Montserrat"/>
              <a:ea typeface="Montserrat"/>
              <a:cs typeface="Montserrat"/>
              <a:sym typeface="Montserrat"/>
            </a:endParaRPr>
          </a:p>
        </p:txBody>
      </p:sp>
      <p:sp>
        <p:nvSpPr>
          <p:cNvPr id="2636" name="Google Shape;2636;p30"/>
          <p:cNvSpPr/>
          <p:nvPr/>
        </p:nvSpPr>
        <p:spPr>
          <a:xfrm>
            <a:off x="6563476"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electrónicas</a:t>
            </a:r>
            <a:endParaRPr b="0" i="0" sz="400" u="none" cap="none" strike="noStrike">
              <a:solidFill>
                <a:schemeClr val="dk2"/>
              </a:solidFill>
              <a:latin typeface="Montserrat"/>
              <a:ea typeface="Montserrat"/>
              <a:cs typeface="Montserrat"/>
              <a:sym typeface="Montserrat"/>
            </a:endParaRPr>
          </a:p>
        </p:txBody>
      </p:sp>
      <p:sp>
        <p:nvSpPr>
          <p:cNvPr id="2637" name="Google Shape;2637;p30"/>
          <p:cNvSpPr/>
          <p:nvPr/>
        </p:nvSpPr>
        <p:spPr>
          <a:xfrm>
            <a:off x="7319255"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638" name="Google Shape;2638;p30"/>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Camara de Compensación</a:t>
            </a:r>
            <a:endParaRPr b="0" i="0" sz="400" u="none" cap="none" strike="noStrike">
              <a:solidFill>
                <a:schemeClr val="dk2"/>
              </a:solidFill>
              <a:latin typeface="Montserrat"/>
              <a:ea typeface="Montserrat"/>
              <a:cs typeface="Montserrat"/>
              <a:sym typeface="Montserrat"/>
            </a:endParaRPr>
          </a:p>
        </p:txBody>
      </p:sp>
      <p:sp>
        <p:nvSpPr>
          <p:cNvPr id="2639" name="Google Shape;2639;p30"/>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pagos</a:t>
            </a:r>
            <a:endParaRPr b="0" i="0" sz="400" u="none" cap="none" strike="noStrike">
              <a:solidFill>
                <a:schemeClr val="dk2"/>
              </a:solidFill>
              <a:latin typeface="Montserrat"/>
              <a:ea typeface="Montserrat"/>
              <a:cs typeface="Montserrat"/>
              <a:sym typeface="Montserrat"/>
            </a:endParaRPr>
          </a:p>
        </p:txBody>
      </p:sp>
      <p:sp>
        <p:nvSpPr>
          <p:cNvPr id="2640" name="Google Shape;2640;p30"/>
          <p:cNvSpPr/>
          <p:nvPr/>
        </p:nvSpPr>
        <p:spPr>
          <a:xfrm>
            <a:off x="7319255"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cuentas de préstamo</a:t>
            </a:r>
            <a:endParaRPr b="0" i="0" sz="400" u="none" cap="none" strike="noStrike">
              <a:solidFill>
                <a:schemeClr val="dk2"/>
              </a:solidFill>
              <a:latin typeface="Montserrat"/>
              <a:ea typeface="Montserrat"/>
              <a:cs typeface="Montserrat"/>
              <a:sym typeface="Montserrat"/>
            </a:endParaRPr>
          </a:p>
        </p:txBody>
      </p:sp>
      <p:sp>
        <p:nvSpPr>
          <p:cNvPr id="2641" name="Google Shape;2641;p30"/>
          <p:cNvSpPr/>
          <p:nvPr/>
        </p:nvSpPr>
        <p:spPr>
          <a:xfrm>
            <a:off x="6562648"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Facturación</a:t>
            </a:r>
            <a:endParaRPr b="0" i="0" sz="400" u="none" cap="none" strike="noStrike">
              <a:solidFill>
                <a:schemeClr val="dk2"/>
              </a:solidFill>
              <a:latin typeface="Montserrat"/>
              <a:ea typeface="Montserrat"/>
              <a:cs typeface="Montserrat"/>
              <a:sym typeface="Montserrat"/>
            </a:endParaRPr>
          </a:p>
        </p:txBody>
      </p:sp>
      <p:sp>
        <p:nvSpPr>
          <p:cNvPr id="2642" name="Google Shape;2642;p30"/>
          <p:cNvSpPr/>
          <p:nvPr/>
        </p:nvSpPr>
        <p:spPr>
          <a:xfrm>
            <a:off x="6563476"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Pagos en tiempo real</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Tratamiento</a:t>
            </a:r>
            <a:endParaRPr b="0" i="0" sz="400" u="none" cap="none" strike="noStrike">
              <a:solidFill>
                <a:schemeClr val="dk2"/>
              </a:solidFill>
              <a:latin typeface="Montserrat"/>
              <a:ea typeface="Montserrat"/>
              <a:cs typeface="Montserrat"/>
              <a:sym typeface="Montserrat"/>
            </a:endParaRPr>
          </a:p>
        </p:txBody>
      </p:sp>
      <p:sp>
        <p:nvSpPr>
          <p:cNvPr id="2643" name="Google Shape;2643;p30"/>
          <p:cNvSpPr/>
          <p:nvPr/>
        </p:nvSpPr>
        <p:spPr>
          <a:xfrm>
            <a:off x="4843050" y="12623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Contacto</a:t>
            </a:r>
            <a:endParaRPr b="0" i="0" sz="400" u="none" cap="none" strike="noStrike">
              <a:solidFill>
                <a:schemeClr val="dk2"/>
              </a:solidFill>
              <a:latin typeface="Montserrat"/>
              <a:ea typeface="Montserrat"/>
              <a:cs typeface="Montserrat"/>
              <a:sym typeface="Montserrat"/>
            </a:endParaRPr>
          </a:p>
        </p:txBody>
      </p:sp>
      <p:sp>
        <p:nvSpPr>
          <p:cNvPr id="2644" name="Google Shape;2644;p30"/>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Entidad</a:t>
            </a:r>
            <a:endParaRPr b="0" i="0" sz="400" u="none" cap="none" strike="noStrike">
              <a:solidFill>
                <a:schemeClr val="dk2"/>
              </a:solidFill>
              <a:latin typeface="Montserrat"/>
              <a:ea typeface="Montserrat"/>
              <a:cs typeface="Montserrat"/>
              <a:sym typeface="Montserrat"/>
            </a:endParaRPr>
          </a:p>
        </p:txBody>
      </p:sp>
      <p:sp>
        <p:nvSpPr>
          <p:cNvPr id="2645" name="Google Shape;2645;p30"/>
          <p:cNvSpPr/>
          <p:nvPr/>
        </p:nvSpPr>
        <p:spPr>
          <a:xfrm>
            <a:off x="560367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Relación</a:t>
            </a:r>
            <a:endParaRPr b="0" i="0" sz="400" u="none" cap="none" strike="noStrike">
              <a:solidFill>
                <a:schemeClr val="dk2"/>
              </a:solidFill>
              <a:latin typeface="Montserrat"/>
              <a:ea typeface="Montserrat"/>
              <a:cs typeface="Montserrat"/>
              <a:sym typeface="Montserrat"/>
            </a:endParaRPr>
          </a:p>
        </p:txBody>
      </p:sp>
      <p:sp>
        <p:nvSpPr>
          <p:cNvPr id="2646" name="Google Shape;2646;p30"/>
          <p:cNvSpPr/>
          <p:nvPr/>
        </p:nvSpPr>
        <p:spPr>
          <a:xfrm>
            <a:off x="4843050" y="157262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Seguridad</a:t>
            </a:r>
            <a:endParaRPr b="0" i="0" sz="400" u="none" cap="none" strike="noStrike">
              <a:solidFill>
                <a:schemeClr val="dk2"/>
              </a:solidFill>
              <a:latin typeface="Montserrat"/>
              <a:ea typeface="Montserrat"/>
              <a:cs typeface="Montserrat"/>
              <a:sym typeface="Montserrat"/>
            </a:endParaRPr>
          </a:p>
        </p:txBody>
      </p:sp>
      <p:sp>
        <p:nvSpPr>
          <p:cNvPr id="2647" name="Google Shape;2647;p30"/>
          <p:cNvSpPr/>
          <p:nvPr/>
        </p:nvSpPr>
        <p:spPr>
          <a:xfrm>
            <a:off x="4843050" y="141725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Preferencias</a:t>
            </a:r>
            <a:endParaRPr b="0" i="0" sz="400" u="none" cap="none" strike="noStrike">
              <a:solidFill>
                <a:schemeClr val="dk2"/>
              </a:solidFill>
              <a:latin typeface="Montserrat"/>
              <a:ea typeface="Montserrat"/>
              <a:cs typeface="Montserrat"/>
              <a:sym typeface="Montserrat"/>
            </a:endParaRPr>
          </a:p>
        </p:txBody>
      </p:sp>
      <p:sp>
        <p:nvSpPr>
          <p:cNvPr id="2648" name="Google Shape;2648;p30"/>
          <p:cNvSpPr/>
          <p:nvPr/>
        </p:nvSpPr>
        <p:spPr>
          <a:xfrm>
            <a:off x="560367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Perfil de riesgo de la persona</a:t>
            </a:r>
            <a:endParaRPr b="0" i="0" sz="400" u="none" cap="none" strike="noStrike">
              <a:solidFill>
                <a:schemeClr val="dk2"/>
              </a:solidFill>
              <a:latin typeface="Montserrat"/>
              <a:ea typeface="Montserrat"/>
              <a:cs typeface="Montserrat"/>
              <a:sym typeface="Montserrat"/>
            </a:endParaRPr>
          </a:p>
        </p:txBody>
      </p:sp>
      <p:sp>
        <p:nvSpPr>
          <p:cNvPr id="2649" name="Google Shape;2649;p30"/>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Data warehouse</a:t>
            </a:r>
            <a:endParaRPr b="0" i="0" sz="900" u="none" cap="none" strike="noStrike">
              <a:solidFill>
                <a:schemeClr val="dk2"/>
              </a:solidFill>
              <a:latin typeface="Montserrat"/>
              <a:ea typeface="Montserrat"/>
              <a:cs typeface="Montserrat"/>
              <a:sym typeface="Montserrat"/>
            </a:endParaRPr>
          </a:p>
        </p:txBody>
      </p:sp>
      <p:sp>
        <p:nvSpPr>
          <p:cNvPr id="2650" name="Google Shape;2650;p30"/>
          <p:cNvSpPr/>
          <p:nvPr/>
        </p:nvSpPr>
        <p:spPr>
          <a:xfrm>
            <a:off x="560367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información del cliente</a:t>
            </a:r>
            <a:endParaRPr b="0" i="0" sz="400" u="none" cap="none" strike="noStrike">
              <a:solidFill>
                <a:schemeClr val="dk2"/>
              </a:solidFill>
              <a:latin typeface="Montserrat"/>
              <a:ea typeface="Montserrat"/>
              <a:cs typeface="Montserrat"/>
              <a:sym typeface="Montserrat"/>
            </a:endParaRPr>
          </a:p>
        </p:txBody>
      </p:sp>
      <p:sp>
        <p:nvSpPr>
          <p:cNvPr id="2651" name="Google Shape;2651;p30"/>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Analítica</a:t>
            </a:r>
            <a:endParaRPr b="0" i="0" sz="900" u="none" cap="none" strike="noStrike">
              <a:solidFill>
                <a:schemeClr val="dk2"/>
              </a:solidFill>
              <a:latin typeface="Montserrat"/>
              <a:ea typeface="Montserrat"/>
              <a:cs typeface="Montserrat"/>
              <a:sym typeface="Montserrat"/>
            </a:endParaRPr>
          </a:p>
        </p:txBody>
      </p:sp>
      <p:sp>
        <p:nvSpPr>
          <p:cNvPr id="2652" name="Google Shape;2652;p30"/>
          <p:cNvSpPr/>
          <p:nvPr/>
        </p:nvSpPr>
        <p:spPr>
          <a:xfrm>
            <a:off x="560367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Datos Operacionales</a:t>
            </a:r>
            <a:endParaRPr b="0" i="0" sz="400" u="none" cap="none" strike="noStrike">
              <a:solidFill>
                <a:schemeClr val="dk2"/>
              </a:solidFill>
              <a:latin typeface="Montserrat"/>
              <a:ea typeface="Montserrat"/>
              <a:cs typeface="Montserrat"/>
              <a:sym typeface="Montserrat"/>
            </a:endParaRPr>
          </a:p>
        </p:txBody>
      </p:sp>
      <p:sp>
        <p:nvSpPr>
          <p:cNvPr id="2653" name="Google Shape;2653;p30"/>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dk2"/>
                </a:solidFill>
                <a:latin typeface="Montserrat"/>
                <a:ea typeface="Montserrat"/>
                <a:cs typeface="Montserrat"/>
                <a:sym typeface="Montserrat"/>
              </a:rPr>
              <a:t>Reportes Regulatorios</a:t>
            </a:r>
            <a:endParaRPr b="0" i="0" sz="400" u="none" cap="none" strike="noStrike">
              <a:solidFill>
                <a:schemeClr val="dk2"/>
              </a:solidFill>
              <a:latin typeface="Montserrat"/>
              <a:ea typeface="Montserrat"/>
              <a:cs typeface="Montserrat"/>
              <a:sym typeface="Montserrat"/>
            </a:endParaRPr>
          </a:p>
        </p:txBody>
      </p:sp>
      <p:sp>
        <p:nvSpPr>
          <p:cNvPr id="2654" name="Google Shape;2654;p30"/>
          <p:cNvSpPr/>
          <p:nvPr/>
        </p:nvSpPr>
        <p:spPr>
          <a:xfrm>
            <a:off x="484305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 Operacional</a:t>
            </a:r>
            <a:endParaRPr b="0" i="0" sz="400" u="none" cap="none" strike="noStrike">
              <a:solidFill>
                <a:schemeClr val="dk2"/>
              </a:solidFill>
              <a:latin typeface="Montserrat"/>
              <a:ea typeface="Montserrat"/>
              <a:cs typeface="Montserrat"/>
              <a:sym typeface="Montserrat"/>
            </a:endParaRPr>
          </a:p>
        </p:txBody>
      </p:sp>
      <p:sp>
        <p:nvSpPr>
          <p:cNvPr id="2655" name="Google Shape;2655;p30"/>
          <p:cNvSpPr/>
          <p:nvPr/>
        </p:nvSpPr>
        <p:spPr>
          <a:xfrm>
            <a:off x="4843050" y="186539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Reportes contables</a:t>
            </a:r>
            <a:endParaRPr b="0" i="0" sz="400" u="none" cap="none" strike="noStrike">
              <a:solidFill>
                <a:schemeClr val="dk2"/>
              </a:solidFill>
              <a:latin typeface="Montserrat"/>
              <a:ea typeface="Montserrat"/>
              <a:cs typeface="Montserrat"/>
              <a:sym typeface="Montserrat"/>
            </a:endParaRPr>
          </a:p>
        </p:txBody>
      </p:sp>
      <p:sp>
        <p:nvSpPr>
          <p:cNvPr id="2656" name="Google Shape;2656;p30"/>
          <p:cNvSpPr/>
          <p:nvPr/>
        </p:nvSpPr>
        <p:spPr>
          <a:xfrm>
            <a:off x="4843050" y="2331579"/>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Informes de utilización (sistema)</a:t>
            </a:r>
            <a:endParaRPr b="0" i="0" sz="400" u="none" cap="none" strike="noStrike">
              <a:solidFill>
                <a:schemeClr val="dk2"/>
              </a:solidFill>
              <a:latin typeface="Montserrat"/>
              <a:ea typeface="Montserrat"/>
              <a:cs typeface="Montserrat"/>
              <a:sym typeface="Montserrat"/>
            </a:endParaRPr>
          </a:p>
        </p:txBody>
      </p:sp>
      <p:sp>
        <p:nvSpPr>
          <p:cNvPr id="2657" name="Google Shape;2657;p30"/>
          <p:cNvSpPr/>
          <p:nvPr/>
        </p:nvSpPr>
        <p:spPr>
          <a:xfrm>
            <a:off x="5603670" y="186539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dk2"/>
                </a:solidFill>
                <a:latin typeface="Montserrat"/>
                <a:ea typeface="Montserrat"/>
                <a:cs typeface="Montserrat"/>
                <a:sym typeface="Montserrat"/>
              </a:rPr>
              <a:t>Reportes de clientes</a:t>
            </a:r>
            <a:endParaRPr b="0" i="0" sz="400" u="none" cap="none" strike="noStrike">
              <a:solidFill>
                <a:schemeClr val="dk2"/>
              </a:solidFill>
              <a:latin typeface="Montserrat"/>
              <a:ea typeface="Montserrat"/>
              <a:cs typeface="Montserrat"/>
              <a:sym typeface="Montserrat"/>
            </a:endParaRPr>
          </a:p>
        </p:txBody>
      </p:sp>
      <p:sp>
        <p:nvSpPr>
          <p:cNvPr id="2658" name="Google Shape;2658;p30"/>
          <p:cNvSpPr/>
          <p:nvPr/>
        </p:nvSpPr>
        <p:spPr>
          <a:xfrm>
            <a:off x="5603670" y="2175520"/>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Reportes Transaccionales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 de clientes</a:t>
            </a:r>
            <a:endParaRPr b="0" i="0" sz="400" u="none" cap="none" strike="noStrike">
              <a:solidFill>
                <a:schemeClr val="dk2"/>
              </a:solidFill>
              <a:latin typeface="Montserrat"/>
              <a:ea typeface="Montserrat"/>
              <a:cs typeface="Montserrat"/>
              <a:sym typeface="Montserrat"/>
            </a:endParaRPr>
          </a:p>
        </p:txBody>
      </p:sp>
      <p:sp>
        <p:nvSpPr>
          <p:cNvPr id="2659" name="Google Shape;2659;p30"/>
          <p:cNvSpPr/>
          <p:nvPr/>
        </p:nvSpPr>
        <p:spPr>
          <a:xfrm>
            <a:off x="4840646"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Alertas y</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notificaciones</a:t>
            </a:r>
            <a:endParaRPr b="0" i="0" sz="400" u="none" cap="none" strike="noStrike">
              <a:solidFill>
                <a:schemeClr val="dk2"/>
              </a:solidFill>
              <a:latin typeface="Montserrat"/>
              <a:ea typeface="Montserrat"/>
              <a:cs typeface="Montserrat"/>
              <a:sym typeface="Montserrat"/>
            </a:endParaRPr>
          </a:p>
        </p:txBody>
      </p:sp>
      <p:sp>
        <p:nvSpPr>
          <p:cNvPr id="2660" name="Google Shape;2660;p30"/>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2661" name="Google Shape;2661;p30"/>
          <p:cNvSpPr/>
          <p:nvPr/>
        </p:nvSpPr>
        <p:spPr>
          <a:xfrm>
            <a:off x="4843050" y="21755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662" name="Google Shape;2662;p30"/>
          <p:cNvSpPr txBox="1"/>
          <p:nvPr/>
        </p:nvSpPr>
        <p:spPr>
          <a:xfrm>
            <a:off x="162854" y="180388"/>
            <a:ext cx="8325802"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 Apificación de Canales en la arquitectura empresarial de UNITY</a:t>
            </a:r>
            <a:endParaRPr b="0" i="0" sz="900" u="none" cap="none" strike="noStrike">
              <a:solidFill>
                <a:srgbClr val="000000"/>
              </a:solidFill>
              <a:latin typeface="Arial"/>
              <a:ea typeface="Arial"/>
              <a:cs typeface="Arial"/>
              <a:sym typeface="Arial"/>
            </a:endParaRPr>
          </a:p>
        </p:txBody>
      </p:sp>
      <p:sp>
        <p:nvSpPr>
          <p:cNvPr id="2663" name="Google Shape;2663;p30"/>
          <p:cNvSpPr/>
          <p:nvPr/>
        </p:nvSpPr>
        <p:spPr>
          <a:xfrm>
            <a:off x="7683381" y="4546105"/>
            <a:ext cx="1299902" cy="21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64" name="Google Shape;2664;p30"/>
          <p:cNvSpPr/>
          <p:nvPr/>
        </p:nvSpPr>
        <p:spPr>
          <a:xfrm>
            <a:off x="155600" y="3644333"/>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665" name="Google Shape;2665;p30"/>
          <p:cNvSpPr/>
          <p:nvPr/>
        </p:nvSpPr>
        <p:spPr>
          <a:xfrm>
            <a:off x="155600" y="686927"/>
            <a:ext cx="8830500" cy="168600"/>
          </a:xfrm>
          <a:prstGeom prst="rect">
            <a:avLst/>
          </a:prstGeom>
          <a:solidFill>
            <a:srgbClr val="FFFFFF"/>
          </a:solidFill>
          <a:ln cap="flat" cmpd="sng" w="9525">
            <a:solidFill>
              <a:srgbClr val="ED7D3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2666" name="Google Shape;2666;p30"/>
          <p:cNvSpPr/>
          <p:nvPr/>
        </p:nvSpPr>
        <p:spPr>
          <a:xfrm>
            <a:off x="155601" y="883984"/>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2667" name="Google Shape;2667;p30"/>
          <p:cNvSpPr/>
          <p:nvPr/>
        </p:nvSpPr>
        <p:spPr>
          <a:xfrm>
            <a:off x="1205537"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2668" name="Google Shape;2668;p30"/>
          <p:cNvSpPr/>
          <p:nvPr/>
        </p:nvSpPr>
        <p:spPr>
          <a:xfrm>
            <a:off x="2309365"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2669" name="Google Shape;2669;p30"/>
          <p:cNvSpPr/>
          <p:nvPr/>
        </p:nvSpPr>
        <p:spPr>
          <a:xfrm>
            <a:off x="3413193"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2670" name="Google Shape;2670;p30"/>
          <p:cNvSpPr/>
          <p:nvPr/>
        </p:nvSpPr>
        <p:spPr>
          <a:xfrm>
            <a:off x="4517021"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2671" name="Google Shape;2671;p30"/>
          <p:cNvSpPr/>
          <p:nvPr/>
        </p:nvSpPr>
        <p:spPr>
          <a:xfrm>
            <a:off x="5620850"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2672" name="Google Shape;2672;p30"/>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2673" name="Google Shape;2673;p30"/>
          <p:cNvSpPr/>
          <p:nvPr/>
        </p:nvSpPr>
        <p:spPr>
          <a:xfrm>
            <a:off x="7828504"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Tarjeta de crédito</a:t>
            </a:r>
            <a:endParaRPr b="0" i="0" sz="500" u="none" cap="none" strike="noStrike">
              <a:solidFill>
                <a:srgbClr val="FFFFFF"/>
              </a:solidFill>
              <a:latin typeface="Montserrat"/>
              <a:ea typeface="Montserrat"/>
              <a:cs typeface="Montserrat"/>
              <a:sym typeface="Montserrat"/>
            </a:endParaRPr>
          </a:p>
        </p:txBody>
      </p:sp>
      <p:sp>
        <p:nvSpPr>
          <p:cNvPr id="2674" name="Google Shape;2674;p30"/>
          <p:cNvSpPr/>
          <p:nvPr/>
        </p:nvSpPr>
        <p:spPr>
          <a:xfrm>
            <a:off x="157900" y="478699"/>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2675" name="Google Shape;2675;p30"/>
          <p:cNvSpPr/>
          <p:nvPr/>
        </p:nvSpPr>
        <p:spPr>
          <a:xfrm>
            <a:off x="1203986" y="499914"/>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2676" name="Google Shape;2676;p30"/>
          <p:cNvSpPr/>
          <p:nvPr/>
        </p:nvSpPr>
        <p:spPr>
          <a:xfrm>
            <a:off x="2748364"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2677" name="Google Shape;2677;p30"/>
          <p:cNvSpPr/>
          <p:nvPr/>
        </p:nvSpPr>
        <p:spPr>
          <a:xfrm>
            <a:off x="4292741"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2678" name="Google Shape;2678;p30"/>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2679" name="Google Shape;2679;p30"/>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2680" name="Google Shape;2680;p30"/>
          <p:cNvSpPr/>
          <p:nvPr/>
        </p:nvSpPr>
        <p:spPr>
          <a:xfrm>
            <a:off x="1203986"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2681" name="Google Shape;2681;p30"/>
          <p:cNvSpPr/>
          <p:nvPr/>
        </p:nvSpPr>
        <p:spPr>
          <a:xfrm>
            <a:off x="206217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Web/Online</a:t>
            </a:r>
            <a:endParaRPr b="0" i="0" sz="500" u="none" cap="none" strike="noStrike">
              <a:solidFill>
                <a:schemeClr val="lt1"/>
              </a:solidFill>
              <a:latin typeface="Montserrat"/>
              <a:ea typeface="Montserrat"/>
              <a:cs typeface="Montserrat"/>
              <a:sym typeface="Montserrat"/>
            </a:endParaRPr>
          </a:p>
        </p:txBody>
      </p:sp>
      <p:sp>
        <p:nvSpPr>
          <p:cNvPr id="2682" name="Google Shape;2682;p30"/>
          <p:cNvSpPr/>
          <p:nvPr/>
        </p:nvSpPr>
        <p:spPr>
          <a:xfrm>
            <a:off x="3778546"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Sucursal</a:t>
            </a:r>
            <a:endParaRPr b="0" i="0" sz="500" u="none" cap="none" strike="noStrike">
              <a:solidFill>
                <a:schemeClr val="lt1"/>
              </a:solidFill>
              <a:latin typeface="Montserrat"/>
              <a:ea typeface="Montserrat"/>
              <a:cs typeface="Montserrat"/>
              <a:sym typeface="Montserrat"/>
            </a:endParaRPr>
          </a:p>
        </p:txBody>
      </p:sp>
      <p:sp>
        <p:nvSpPr>
          <p:cNvPr id="2683" name="Google Shape;2683;p30"/>
          <p:cNvSpPr/>
          <p:nvPr/>
        </p:nvSpPr>
        <p:spPr>
          <a:xfrm>
            <a:off x="463673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500" u="none" cap="none" strike="noStrike">
              <a:solidFill>
                <a:schemeClr val="lt1"/>
              </a:solidFill>
              <a:latin typeface="Montserrat"/>
              <a:ea typeface="Montserrat"/>
              <a:cs typeface="Montserrat"/>
              <a:sym typeface="Montserrat"/>
            </a:endParaRPr>
          </a:p>
        </p:txBody>
      </p:sp>
      <p:sp>
        <p:nvSpPr>
          <p:cNvPr id="2684" name="Google Shape;2684;p30"/>
          <p:cNvSpPr/>
          <p:nvPr/>
        </p:nvSpPr>
        <p:spPr>
          <a:xfrm>
            <a:off x="5494920"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500" u="none" cap="none" strike="noStrike">
              <a:solidFill>
                <a:schemeClr val="lt1"/>
              </a:solidFill>
              <a:latin typeface="Montserrat"/>
              <a:ea typeface="Montserrat"/>
              <a:cs typeface="Montserrat"/>
              <a:sym typeface="Montserrat"/>
            </a:endParaRPr>
          </a:p>
        </p:txBody>
      </p:sp>
      <p:sp>
        <p:nvSpPr>
          <p:cNvPr id="2685" name="Google Shape;2685;p30"/>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2686" name="Google Shape;2686;p30"/>
          <p:cNvSpPr/>
          <p:nvPr/>
        </p:nvSpPr>
        <p:spPr>
          <a:xfrm>
            <a:off x="721129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Autoservicio</a:t>
            </a:r>
            <a:endParaRPr b="0" i="0" sz="500" u="none" cap="none" strike="noStrike">
              <a:solidFill>
                <a:schemeClr val="lt1"/>
              </a:solidFill>
              <a:latin typeface="Montserrat"/>
              <a:ea typeface="Montserrat"/>
              <a:cs typeface="Montserrat"/>
              <a:sym typeface="Montserrat"/>
            </a:endParaRPr>
          </a:p>
        </p:txBody>
      </p:sp>
      <p:sp>
        <p:nvSpPr>
          <p:cNvPr id="2687" name="Google Shape;2687;p30"/>
          <p:cNvSpPr/>
          <p:nvPr/>
        </p:nvSpPr>
        <p:spPr>
          <a:xfrm>
            <a:off x="8069478"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Terceros</a:t>
            </a:r>
            <a:endParaRPr b="0" i="0" sz="500" u="none" cap="none" strike="noStrike">
              <a:solidFill>
                <a:schemeClr val="lt1"/>
              </a:solidFill>
              <a:latin typeface="Montserrat"/>
              <a:ea typeface="Montserrat"/>
              <a:cs typeface="Montserrat"/>
              <a:sym typeface="Montserrat"/>
            </a:endParaRPr>
          </a:p>
        </p:txBody>
      </p:sp>
      <p:sp>
        <p:nvSpPr>
          <p:cNvPr id="2688" name="Google Shape;2688;p30"/>
          <p:cNvSpPr/>
          <p:nvPr/>
        </p:nvSpPr>
        <p:spPr>
          <a:xfrm>
            <a:off x="2926715" y="712158"/>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grpSp>
        <p:nvGrpSpPr>
          <p:cNvPr id="2689" name="Google Shape;2689;p30"/>
          <p:cNvGrpSpPr/>
          <p:nvPr/>
        </p:nvGrpSpPr>
        <p:grpSpPr>
          <a:xfrm>
            <a:off x="1400994" y="4663831"/>
            <a:ext cx="807625" cy="284725"/>
            <a:chOff x="1522664" y="3002518"/>
            <a:chExt cx="807625" cy="230759"/>
          </a:xfrm>
        </p:grpSpPr>
        <p:grpSp>
          <p:nvGrpSpPr>
            <p:cNvPr id="2690" name="Google Shape;2690;p30"/>
            <p:cNvGrpSpPr/>
            <p:nvPr/>
          </p:nvGrpSpPr>
          <p:grpSpPr>
            <a:xfrm>
              <a:off x="1522664" y="3002518"/>
              <a:ext cx="807625" cy="230759"/>
              <a:chOff x="13814585" y="1926698"/>
              <a:chExt cx="2486530" cy="804600"/>
            </a:xfrm>
          </p:grpSpPr>
          <p:sp>
            <p:nvSpPr>
              <p:cNvPr id="2691" name="Google Shape;2691;p30"/>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2692" name="Google Shape;2692;p30"/>
              <p:cNvGrpSpPr/>
              <p:nvPr/>
            </p:nvGrpSpPr>
            <p:grpSpPr>
              <a:xfrm>
                <a:off x="14018731" y="2168949"/>
                <a:ext cx="396177" cy="320504"/>
                <a:chOff x="-3757613" y="5049838"/>
                <a:chExt cx="5826126" cy="4713288"/>
              </a:xfrm>
            </p:grpSpPr>
            <p:sp>
              <p:nvSpPr>
                <p:cNvPr id="2693" name="Google Shape;2693;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694" name="Google Shape;2694;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695" name="Google Shape;2695;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696" name="Google Shape;2696;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697" name="Google Shape;2697;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698" name="Google Shape;2698;p30"/>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699" name="Google Shape;2699;p30"/>
            <p:cNvPicPr preferRelativeResize="0"/>
            <p:nvPr/>
          </p:nvPicPr>
          <p:blipFill rotWithShape="1">
            <a:blip r:embed="rId3">
              <a:alphaModFix/>
            </a:blip>
            <a:srcRect b="0" l="0" r="0" t="0"/>
            <a:stretch/>
          </p:blipFill>
          <p:spPr>
            <a:xfrm>
              <a:off x="1545256" y="3020281"/>
              <a:ext cx="192553" cy="170844"/>
            </a:xfrm>
            <a:prstGeom prst="rect">
              <a:avLst/>
            </a:prstGeom>
            <a:noFill/>
            <a:ln cap="flat" cmpd="sng" w="9525">
              <a:solidFill>
                <a:srgbClr val="BFBFBF"/>
              </a:solidFill>
              <a:prstDash val="solid"/>
              <a:round/>
              <a:headEnd len="sm" w="sm" type="none"/>
              <a:tailEnd len="sm" w="sm" type="none"/>
            </a:ln>
          </p:spPr>
        </p:pic>
      </p:grpSp>
      <p:grpSp>
        <p:nvGrpSpPr>
          <p:cNvPr id="2700" name="Google Shape;2700;p30"/>
          <p:cNvGrpSpPr/>
          <p:nvPr/>
        </p:nvGrpSpPr>
        <p:grpSpPr>
          <a:xfrm>
            <a:off x="6751343" y="4669938"/>
            <a:ext cx="848649" cy="284741"/>
            <a:chOff x="3536077" y="1822016"/>
            <a:chExt cx="1131531" cy="320472"/>
          </a:xfrm>
        </p:grpSpPr>
        <p:grpSp>
          <p:nvGrpSpPr>
            <p:cNvPr id="2701" name="Google Shape;2701;p30"/>
            <p:cNvGrpSpPr/>
            <p:nvPr/>
          </p:nvGrpSpPr>
          <p:grpSpPr>
            <a:xfrm>
              <a:off x="3536077" y="1822016"/>
              <a:ext cx="1131531" cy="320472"/>
              <a:chOff x="13814589" y="1926698"/>
              <a:chExt cx="2612633" cy="804600"/>
            </a:xfrm>
          </p:grpSpPr>
          <p:sp>
            <p:nvSpPr>
              <p:cNvPr id="2702" name="Google Shape;2702;p30"/>
              <p:cNvSpPr/>
              <p:nvPr/>
            </p:nvSpPr>
            <p:spPr>
              <a:xfrm>
                <a:off x="13857778" y="1977406"/>
                <a:ext cx="2569444"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2703" name="Google Shape;2703;p30"/>
              <p:cNvGrpSpPr/>
              <p:nvPr/>
            </p:nvGrpSpPr>
            <p:grpSpPr>
              <a:xfrm>
                <a:off x="14018731" y="2168949"/>
                <a:ext cx="396177" cy="320504"/>
                <a:chOff x="-3757613" y="5049838"/>
                <a:chExt cx="5826126" cy="4713288"/>
              </a:xfrm>
            </p:grpSpPr>
            <p:sp>
              <p:nvSpPr>
                <p:cNvPr id="2704" name="Google Shape;2704;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05" name="Google Shape;2705;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06" name="Google Shape;2706;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07" name="Google Shape;2707;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08" name="Google Shape;2708;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09" name="Google Shape;2709;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710" name="Google Shape;2710;p3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711" name="Google Shape;2711;p30"/>
            <p:cNvPicPr preferRelativeResize="0"/>
            <p:nvPr/>
          </p:nvPicPr>
          <p:blipFill rotWithShape="1">
            <a:blip r:embed="rId4">
              <a:alphaModFix/>
            </a:blip>
            <a:srcRect b="0" l="0" r="0" t="0"/>
            <a:stretch/>
          </p:blipFill>
          <p:spPr>
            <a:xfrm>
              <a:off x="3592187" y="1880579"/>
              <a:ext cx="237223" cy="210318"/>
            </a:xfrm>
            <a:prstGeom prst="rect">
              <a:avLst/>
            </a:prstGeom>
            <a:noFill/>
            <a:ln cap="flat" cmpd="sng" w="9525">
              <a:solidFill>
                <a:srgbClr val="BFBFBF"/>
              </a:solidFill>
              <a:prstDash val="solid"/>
              <a:round/>
              <a:headEnd len="sm" w="sm" type="none"/>
              <a:tailEnd len="sm" w="sm" type="none"/>
            </a:ln>
          </p:spPr>
        </p:pic>
      </p:grpSp>
      <p:grpSp>
        <p:nvGrpSpPr>
          <p:cNvPr id="2712" name="Google Shape;2712;p30"/>
          <p:cNvGrpSpPr/>
          <p:nvPr/>
        </p:nvGrpSpPr>
        <p:grpSpPr>
          <a:xfrm>
            <a:off x="2780703" y="4669938"/>
            <a:ext cx="827267" cy="284741"/>
            <a:chOff x="1567187" y="1984411"/>
            <a:chExt cx="1103024" cy="320472"/>
          </a:xfrm>
        </p:grpSpPr>
        <p:grpSp>
          <p:nvGrpSpPr>
            <p:cNvPr id="2713" name="Google Shape;2713;p30"/>
            <p:cNvGrpSpPr/>
            <p:nvPr/>
          </p:nvGrpSpPr>
          <p:grpSpPr>
            <a:xfrm>
              <a:off x="1567187" y="1984411"/>
              <a:ext cx="1103024" cy="320472"/>
              <a:chOff x="13814589" y="1926698"/>
              <a:chExt cx="2546808" cy="804600"/>
            </a:xfrm>
          </p:grpSpPr>
          <p:sp>
            <p:nvSpPr>
              <p:cNvPr id="2714" name="Google Shape;2714;p30"/>
              <p:cNvSpPr/>
              <p:nvPr/>
            </p:nvSpPr>
            <p:spPr>
              <a:xfrm>
                <a:off x="13891172" y="1977408"/>
                <a:ext cx="247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2715" name="Google Shape;2715;p30"/>
              <p:cNvGrpSpPr/>
              <p:nvPr/>
            </p:nvGrpSpPr>
            <p:grpSpPr>
              <a:xfrm>
                <a:off x="14018731" y="2168949"/>
                <a:ext cx="396177" cy="320504"/>
                <a:chOff x="-3757613" y="5049838"/>
                <a:chExt cx="5826126" cy="4713288"/>
              </a:xfrm>
            </p:grpSpPr>
            <p:sp>
              <p:nvSpPr>
                <p:cNvPr id="2716" name="Google Shape;2716;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717" name="Google Shape;2717;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718" name="Google Shape;2718;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719" name="Google Shape;2719;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720" name="Google Shape;2720;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721" name="Google Shape;2721;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2722" name="Google Shape;2722;p3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2723" name="Google Shape;2723;p30"/>
            <p:cNvPicPr preferRelativeResize="0"/>
            <p:nvPr/>
          </p:nvPicPr>
          <p:blipFill rotWithShape="1">
            <a:blip r:embed="rId5">
              <a:alphaModFix/>
            </a:blip>
            <a:srcRect b="0" l="0" r="0" t="0"/>
            <a:stretch/>
          </p:blipFill>
          <p:spPr>
            <a:xfrm>
              <a:off x="1612093" y="2025505"/>
              <a:ext cx="272555" cy="252119"/>
            </a:xfrm>
            <a:prstGeom prst="rect">
              <a:avLst/>
            </a:prstGeom>
            <a:solidFill>
              <a:srgbClr val="BFBFBF"/>
            </a:solidFill>
            <a:ln cap="flat" cmpd="sng" w="9525">
              <a:solidFill>
                <a:srgbClr val="BFBFBF"/>
              </a:solidFill>
              <a:prstDash val="solid"/>
              <a:round/>
              <a:headEnd len="sm" w="sm" type="none"/>
              <a:tailEnd len="sm" w="sm" type="none"/>
            </a:ln>
          </p:spPr>
        </p:pic>
      </p:grpSp>
      <p:grpSp>
        <p:nvGrpSpPr>
          <p:cNvPr id="2724" name="Google Shape;2724;p30"/>
          <p:cNvGrpSpPr/>
          <p:nvPr/>
        </p:nvGrpSpPr>
        <p:grpSpPr>
          <a:xfrm>
            <a:off x="4105488" y="4677820"/>
            <a:ext cx="825685" cy="284741"/>
            <a:chOff x="5704388" y="3794681"/>
            <a:chExt cx="1100915" cy="320472"/>
          </a:xfrm>
        </p:grpSpPr>
        <p:grpSp>
          <p:nvGrpSpPr>
            <p:cNvPr id="2725" name="Google Shape;2725;p30"/>
            <p:cNvGrpSpPr/>
            <p:nvPr/>
          </p:nvGrpSpPr>
          <p:grpSpPr>
            <a:xfrm>
              <a:off x="5704388" y="3794681"/>
              <a:ext cx="1100915" cy="320472"/>
              <a:chOff x="13814589" y="1926698"/>
              <a:chExt cx="2541938" cy="804600"/>
            </a:xfrm>
          </p:grpSpPr>
          <p:sp>
            <p:nvSpPr>
              <p:cNvPr id="2726" name="Google Shape;2726;p30"/>
              <p:cNvSpPr/>
              <p:nvPr/>
            </p:nvSpPr>
            <p:spPr>
              <a:xfrm>
                <a:off x="13915650" y="1977408"/>
                <a:ext cx="2440877" cy="703199"/>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2727" name="Google Shape;2727;p30"/>
              <p:cNvGrpSpPr/>
              <p:nvPr/>
            </p:nvGrpSpPr>
            <p:grpSpPr>
              <a:xfrm>
                <a:off x="14018731" y="2168949"/>
                <a:ext cx="396177" cy="320504"/>
                <a:chOff x="-3757613" y="5049838"/>
                <a:chExt cx="5826126" cy="4713288"/>
              </a:xfrm>
            </p:grpSpPr>
            <p:sp>
              <p:nvSpPr>
                <p:cNvPr id="2728" name="Google Shape;2728;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29" name="Google Shape;2729;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30" name="Google Shape;2730;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31" name="Google Shape;2731;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32" name="Google Shape;2732;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33" name="Google Shape;2733;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734" name="Google Shape;2734;p3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735" name="Google Shape;2735;p30"/>
            <p:cNvPicPr preferRelativeResize="0"/>
            <p:nvPr/>
          </p:nvPicPr>
          <p:blipFill rotWithShape="1">
            <a:blip r:embed="rId6">
              <a:alphaModFix/>
            </a:blip>
            <a:srcRect b="0" l="0" r="0" t="0"/>
            <a:stretch/>
          </p:blipFill>
          <p:spPr>
            <a:xfrm>
              <a:off x="5767008" y="3838479"/>
              <a:ext cx="223168" cy="205291"/>
            </a:xfrm>
            <a:prstGeom prst="rect">
              <a:avLst/>
            </a:prstGeom>
            <a:solidFill>
              <a:srgbClr val="BFBFBF"/>
            </a:solidFill>
            <a:ln cap="flat" cmpd="sng" w="9525">
              <a:solidFill>
                <a:srgbClr val="BFBFBF"/>
              </a:solidFill>
              <a:prstDash val="solid"/>
              <a:round/>
              <a:headEnd len="sm" w="sm" type="none"/>
              <a:tailEnd len="sm" w="sm" type="none"/>
            </a:ln>
          </p:spPr>
        </p:pic>
      </p:grpSp>
      <p:grpSp>
        <p:nvGrpSpPr>
          <p:cNvPr id="2736" name="Google Shape;2736;p30"/>
          <p:cNvGrpSpPr/>
          <p:nvPr/>
        </p:nvGrpSpPr>
        <p:grpSpPr>
          <a:xfrm>
            <a:off x="5428691" y="4662871"/>
            <a:ext cx="825134" cy="284741"/>
            <a:chOff x="2785851" y="1986995"/>
            <a:chExt cx="1100179" cy="320472"/>
          </a:xfrm>
        </p:grpSpPr>
        <p:grpSp>
          <p:nvGrpSpPr>
            <p:cNvPr id="2737" name="Google Shape;2737;p30"/>
            <p:cNvGrpSpPr/>
            <p:nvPr/>
          </p:nvGrpSpPr>
          <p:grpSpPr>
            <a:xfrm>
              <a:off x="2785851" y="1986995"/>
              <a:ext cx="1100179" cy="320472"/>
              <a:chOff x="13814589" y="1926698"/>
              <a:chExt cx="2540244" cy="804600"/>
            </a:xfrm>
          </p:grpSpPr>
          <p:sp>
            <p:nvSpPr>
              <p:cNvPr id="2738" name="Google Shape;2738;p30"/>
              <p:cNvSpPr/>
              <p:nvPr/>
            </p:nvSpPr>
            <p:spPr>
              <a:xfrm>
                <a:off x="13964608" y="1977408"/>
                <a:ext cx="2390225" cy="703199"/>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2739" name="Google Shape;2739;p30"/>
              <p:cNvGrpSpPr/>
              <p:nvPr/>
            </p:nvGrpSpPr>
            <p:grpSpPr>
              <a:xfrm>
                <a:off x="14018731" y="2168949"/>
                <a:ext cx="396177" cy="320504"/>
                <a:chOff x="-3757613" y="5049838"/>
                <a:chExt cx="5826126" cy="4713288"/>
              </a:xfrm>
            </p:grpSpPr>
            <p:sp>
              <p:nvSpPr>
                <p:cNvPr id="2740" name="Google Shape;2740;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41" name="Google Shape;2741;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42" name="Google Shape;2742;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43" name="Google Shape;2743;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44" name="Google Shape;2744;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45" name="Google Shape;2745;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746" name="Google Shape;2746;p30"/>
              <p:cNvSpPr/>
              <p:nvPr/>
            </p:nvSpPr>
            <p:spPr>
              <a:xfrm>
                <a:off x="13814589" y="1926698"/>
                <a:ext cx="804600" cy="804600"/>
              </a:xfrm>
              <a:prstGeom prst="ellipse">
                <a:avLst/>
              </a:prstGeom>
              <a:solidFill>
                <a:schemeClr val="l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747" name="Google Shape;2747;p30"/>
            <p:cNvPicPr preferRelativeResize="0"/>
            <p:nvPr/>
          </p:nvPicPr>
          <p:blipFill rotWithShape="1">
            <a:blip r:embed="rId7">
              <a:alphaModFix/>
            </a:blip>
            <a:srcRect b="0" l="0" r="0" t="0"/>
            <a:stretch/>
          </p:blipFill>
          <p:spPr>
            <a:xfrm>
              <a:off x="2837682" y="2040693"/>
              <a:ext cx="231349" cy="212818"/>
            </a:xfrm>
            <a:prstGeom prst="rect">
              <a:avLst/>
            </a:prstGeom>
            <a:noFill/>
            <a:ln>
              <a:noFill/>
            </a:ln>
          </p:spPr>
        </p:pic>
      </p:grpSp>
      <p:grpSp>
        <p:nvGrpSpPr>
          <p:cNvPr id="2748" name="Google Shape;2748;p30"/>
          <p:cNvGrpSpPr/>
          <p:nvPr/>
        </p:nvGrpSpPr>
        <p:grpSpPr>
          <a:xfrm>
            <a:off x="8097512" y="4677820"/>
            <a:ext cx="807686" cy="284741"/>
            <a:chOff x="3756828" y="2436551"/>
            <a:chExt cx="1076914" cy="320472"/>
          </a:xfrm>
        </p:grpSpPr>
        <p:grpSp>
          <p:nvGrpSpPr>
            <p:cNvPr id="2749" name="Google Shape;2749;p30"/>
            <p:cNvGrpSpPr/>
            <p:nvPr/>
          </p:nvGrpSpPr>
          <p:grpSpPr>
            <a:xfrm>
              <a:off x="3756828" y="2436551"/>
              <a:ext cx="1076914" cy="320472"/>
              <a:chOff x="13814589" y="1926698"/>
              <a:chExt cx="2486526" cy="804600"/>
            </a:xfrm>
          </p:grpSpPr>
          <p:sp>
            <p:nvSpPr>
              <p:cNvPr id="2750" name="Google Shape;2750;p30"/>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2751" name="Google Shape;2751;p30"/>
              <p:cNvGrpSpPr/>
              <p:nvPr/>
            </p:nvGrpSpPr>
            <p:grpSpPr>
              <a:xfrm>
                <a:off x="14018731" y="2168949"/>
                <a:ext cx="396177" cy="320504"/>
                <a:chOff x="-3757613" y="5049838"/>
                <a:chExt cx="5826126" cy="4713288"/>
              </a:xfrm>
            </p:grpSpPr>
            <p:sp>
              <p:nvSpPr>
                <p:cNvPr id="2752" name="Google Shape;2752;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53" name="Google Shape;2753;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54" name="Google Shape;2754;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55" name="Google Shape;2755;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56" name="Google Shape;2756;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57" name="Google Shape;2757;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758" name="Google Shape;2758;p30"/>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2759" name="Google Shape;2759;p30"/>
            <p:cNvPicPr preferRelativeResize="0"/>
            <p:nvPr/>
          </p:nvPicPr>
          <p:blipFill rotWithShape="1">
            <a:blip r:embed="rId8">
              <a:alphaModFix/>
            </a:blip>
            <a:srcRect b="0" l="0" r="0" t="0"/>
            <a:stretch/>
          </p:blipFill>
          <p:spPr>
            <a:xfrm>
              <a:off x="3826190" y="2481834"/>
              <a:ext cx="230642" cy="212165"/>
            </a:xfrm>
            <a:prstGeom prst="rect">
              <a:avLst/>
            </a:prstGeom>
            <a:noFill/>
            <a:ln cap="flat" cmpd="sng" w="9525">
              <a:solidFill>
                <a:srgbClr val="BFBFBF"/>
              </a:solidFill>
              <a:prstDash val="solid"/>
              <a:round/>
              <a:headEnd len="sm" w="sm" type="none"/>
              <a:tailEnd len="sm" w="sm" type="none"/>
            </a:ln>
          </p:spPr>
        </p:pic>
      </p:grpSp>
      <p:grpSp>
        <p:nvGrpSpPr>
          <p:cNvPr id="2760" name="Google Shape;2760;p30"/>
          <p:cNvGrpSpPr/>
          <p:nvPr/>
        </p:nvGrpSpPr>
        <p:grpSpPr>
          <a:xfrm>
            <a:off x="170309" y="4677832"/>
            <a:ext cx="807733" cy="284716"/>
            <a:chOff x="1259501" y="3077120"/>
            <a:chExt cx="1076977" cy="320400"/>
          </a:xfrm>
        </p:grpSpPr>
        <p:sp>
          <p:nvSpPr>
            <p:cNvPr id="2761" name="Google Shape;2761;p30"/>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2762" name="Google Shape;2762;p30"/>
            <p:cNvGrpSpPr/>
            <p:nvPr/>
          </p:nvGrpSpPr>
          <p:grpSpPr>
            <a:xfrm>
              <a:off x="1347730" y="3173687"/>
              <a:ext cx="171871" cy="127730"/>
              <a:chOff x="-3757613" y="5049838"/>
              <a:chExt cx="5826126" cy="4713288"/>
            </a:xfrm>
          </p:grpSpPr>
          <p:sp>
            <p:nvSpPr>
              <p:cNvPr id="2763" name="Google Shape;2763;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64" name="Google Shape;2764;p30"/>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65" name="Google Shape;2765;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66" name="Google Shape;2766;p30"/>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67" name="Google Shape;2767;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768" name="Google Shape;2768;p30"/>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769" name="Google Shape;2769;p30"/>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2770" name="Google Shape;2770;p30"/>
            <p:cNvPicPr preferRelativeResize="0"/>
            <p:nvPr/>
          </p:nvPicPr>
          <p:blipFill rotWithShape="1">
            <a:blip r:embed="rId9">
              <a:alphaModFix/>
            </a:blip>
            <a:srcRect b="0" l="0" r="0" t="0"/>
            <a:stretch/>
          </p:blipFill>
          <p:spPr>
            <a:xfrm>
              <a:off x="1297196" y="3109639"/>
              <a:ext cx="259736" cy="240263"/>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4" name="Shape 2774"/>
        <p:cNvGrpSpPr/>
        <p:nvPr/>
      </p:nvGrpSpPr>
      <p:grpSpPr>
        <a:xfrm>
          <a:off x="0" y="0"/>
          <a:ext cx="0" cy="0"/>
          <a:chOff x="0" y="0"/>
          <a:chExt cx="0" cy="0"/>
        </a:xfrm>
      </p:grpSpPr>
      <p:sp>
        <p:nvSpPr>
          <p:cNvPr id="2775" name="Google Shape;2775;p31"/>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2776" name="Google Shape;2776;p31"/>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31"/>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31"/>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2779" name="Google Shape;2779;p31"/>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2780" name="Google Shape;2780;p31"/>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2781" name="Google Shape;2781;p31"/>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782" name="Google Shape;2782;p31"/>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2783" name="Google Shape;2783;p31"/>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784" name="Google Shape;2784;p31"/>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2785" name="Google Shape;2785;p31"/>
          <p:cNvSpPr/>
          <p:nvPr/>
        </p:nvSpPr>
        <p:spPr>
          <a:xfrm>
            <a:off x="3799284" y="3288556"/>
            <a:ext cx="5078100" cy="288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86" name="Google Shape;2786;p31"/>
          <p:cNvSpPr/>
          <p:nvPr/>
        </p:nvSpPr>
        <p:spPr>
          <a:xfrm>
            <a:off x="3798694" y="1148353"/>
            <a:ext cx="883800" cy="8808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87" name="Google Shape;2787;p31"/>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2788" name="Google Shape;2788;p31"/>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89" name="Google Shape;2789;p31"/>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90" name="Google Shape;2790;p31"/>
          <p:cNvSpPr/>
          <p:nvPr/>
        </p:nvSpPr>
        <p:spPr>
          <a:xfrm>
            <a:off x="1204099" y="1806291"/>
            <a:ext cx="2494500" cy="9348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791" name="Google Shape;2791;p31"/>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2792" name="Google Shape;2792;p31"/>
          <p:cNvSpPr/>
          <p:nvPr/>
        </p:nvSpPr>
        <p:spPr>
          <a:xfrm>
            <a:off x="1206566" y="1148353"/>
            <a:ext cx="2489700" cy="6219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793" name="Google Shape;2793;p31"/>
          <p:cNvSpPr/>
          <p:nvPr/>
        </p:nvSpPr>
        <p:spPr>
          <a:xfrm>
            <a:off x="6488944" y="1148351"/>
            <a:ext cx="2389500" cy="623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94" name="Google Shape;2794;p31"/>
          <p:cNvSpPr/>
          <p:nvPr/>
        </p:nvSpPr>
        <p:spPr>
          <a:xfrm>
            <a:off x="6490037" y="2776695"/>
            <a:ext cx="2387400" cy="474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2795" name="Google Shape;2795;p31"/>
          <p:cNvSpPr/>
          <p:nvPr/>
        </p:nvSpPr>
        <p:spPr>
          <a:xfrm>
            <a:off x="6483514" y="1803271"/>
            <a:ext cx="2390400" cy="936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2796" name="Google Shape;2796;p31"/>
          <p:cNvSpPr/>
          <p:nvPr/>
        </p:nvSpPr>
        <p:spPr>
          <a:xfrm>
            <a:off x="4782477" y="1148353"/>
            <a:ext cx="1606200" cy="579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2797" name="Google Shape;2797;p31"/>
          <p:cNvSpPr/>
          <p:nvPr/>
        </p:nvSpPr>
        <p:spPr>
          <a:xfrm>
            <a:off x="4783580" y="2519181"/>
            <a:ext cx="1604100" cy="439800"/>
          </a:xfrm>
          <a:prstGeom prst="rect">
            <a:avLst/>
          </a:prstGeom>
          <a:noFill/>
          <a:ln cap="flat" cmpd="sng" w="9525">
            <a:solidFill>
              <a:schemeClr val="accent3"/>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2798" name="Google Shape;2798;p31"/>
          <p:cNvSpPr/>
          <p:nvPr/>
        </p:nvSpPr>
        <p:spPr>
          <a:xfrm>
            <a:off x="4784086" y="1750565"/>
            <a:ext cx="1603200" cy="748500"/>
          </a:xfrm>
          <a:prstGeom prst="rect">
            <a:avLst/>
          </a:prstGeom>
          <a:noFill/>
          <a:ln cap="flat" cmpd="sng" w="9525">
            <a:solidFill>
              <a:schemeClr val="accent3"/>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99" name="Google Shape;2799;p31"/>
          <p:cNvSpPr/>
          <p:nvPr/>
        </p:nvSpPr>
        <p:spPr>
          <a:xfrm>
            <a:off x="4781464" y="2980599"/>
            <a:ext cx="1603500" cy="2766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800" name="Google Shape;2800;p31"/>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Conozca a su cliente (KYC)</a:t>
            </a:r>
            <a:endParaRPr b="0" i="0" sz="400" u="none" cap="none" strike="noStrike">
              <a:solidFill>
                <a:schemeClr val="dk2"/>
              </a:solidFill>
              <a:latin typeface="Montserrat"/>
              <a:ea typeface="Montserrat"/>
              <a:cs typeface="Montserrat"/>
              <a:sym typeface="Montserrat"/>
            </a:endParaRPr>
          </a:p>
        </p:txBody>
      </p:sp>
      <p:sp>
        <p:nvSpPr>
          <p:cNvPr id="2801" name="Google Shape;2801;p31"/>
          <p:cNvSpPr/>
          <p:nvPr/>
        </p:nvSpPr>
        <p:spPr>
          <a:xfrm>
            <a:off x="5833996" y="4050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Comportamiento de la transacción</a:t>
            </a:r>
            <a:endParaRPr b="0" i="0" sz="400" u="none" cap="none" strike="noStrike">
              <a:solidFill>
                <a:schemeClr val="dk2"/>
              </a:solidFill>
              <a:latin typeface="Montserrat"/>
              <a:ea typeface="Montserrat"/>
              <a:cs typeface="Montserrat"/>
              <a:sym typeface="Montserrat"/>
            </a:endParaRPr>
          </a:p>
        </p:txBody>
      </p:sp>
      <p:sp>
        <p:nvSpPr>
          <p:cNvPr id="2802" name="Google Shape;2802;p31"/>
          <p:cNvSpPr/>
          <p:nvPr/>
        </p:nvSpPr>
        <p:spPr>
          <a:xfrm>
            <a:off x="693777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Fondos disponibles</a:t>
            </a:r>
            <a:endParaRPr b="0" i="0" sz="400" u="none" cap="none" strike="noStrike">
              <a:solidFill>
                <a:schemeClr val="dk2"/>
              </a:solidFill>
              <a:latin typeface="Montserrat"/>
              <a:ea typeface="Montserrat"/>
              <a:cs typeface="Montserrat"/>
              <a:sym typeface="Montserrat"/>
            </a:endParaRPr>
          </a:p>
        </p:txBody>
      </p:sp>
      <p:sp>
        <p:nvSpPr>
          <p:cNvPr id="2803" name="Google Shape;2803;p31"/>
          <p:cNvSpPr/>
          <p:nvPr/>
        </p:nvSpPr>
        <p:spPr>
          <a:xfrm>
            <a:off x="6937778"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ingresos (entrantes)</a:t>
            </a:r>
            <a:endParaRPr b="0" i="0" sz="400" u="none" cap="none" strike="noStrike">
              <a:solidFill>
                <a:schemeClr val="dk2"/>
              </a:solidFill>
              <a:latin typeface="Montserrat"/>
              <a:ea typeface="Montserrat"/>
              <a:cs typeface="Montserrat"/>
              <a:sym typeface="Montserrat"/>
            </a:endParaRPr>
          </a:p>
        </p:txBody>
      </p:sp>
      <p:sp>
        <p:nvSpPr>
          <p:cNvPr id="2804" name="Google Shape;2804;p31"/>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2805" name="Google Shape;2805;p31"/>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Reclamaciones y disputas</a:t>
            </a:r>
            <a:endParaRPr b="0" i="0" sz="400" u="none" cap="none" strike="noStrike">
              <a:solidFill>
                <a:schemeClr val="dk2"/>
              </a:solidFill>
              <a:latin typeface="Montserrat"/>
              <a:ea typeface="Montserrat"/>
              <a:cs typeface="Montserrat"/>
              <a:sym typeface="Montserrat"/>
            </a:endParaRPr>
          </a:p>
        </p:txBody>
      </p:sp>
      <p:sp>
        <p:nvSpPr>
          <p:cNvPr id="2806" name="Google Shape;2806;p31"/>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Buró de crédito</a:t>
            </a:r>
            <a:endParaRPr b="0" i="0" sz="400" u="none" cap="none" strike="noStrike">
              <a:solidFill>
                <a:schemeClr val="dk2"/>
              </a:solidFill>
              <a:latin typeface="Montserrat"/>
              <a:ea typeface="Montserrat"/>
              <a:cs typeface="Montserrat"/>
              <a:sym typeface="Montserrat"/>
            </a:endParaRPr>
          </a:p>
        </p:txBody>
      </p:sp>
      <p:sp>
        <p:nvSpPr>
          <p:cNvPr id="2807" name="Google Shape;2807;p31"/>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Umbrales de riesgo (evaluar y modelar)</a:t>
            </a:r>
            <a:endParaRPr b="0" i="0" sz="400" u="none" cap="none" strike="noStrike">
              <a:solidFill>
                <a:schemeClr val="dk2"/>
              </a:solidFill>
              <a:latin typeface="Montserrat"/>
              <a:ea typeface="Montserrat"/>
              <a:cs typeface="Montserrat"/>
              <a:sym typeface="Montserrat"/>
            </a:endParaRPr>
          </a:p>
        </p:txBody>
      </p:sp>
      <p:sp>
        <p:nvSpPr>
          <p:cNvPr id="2808" name="Google Shape;2808;p31"/>
          <p:cNvSpPr/>
          <p:nvPr/>
        </p:nvSpPr>
        <p:spPr>
          <a:xfrm>
            <a:off x="4708161"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restricciones de cuenta</a:t>
            </a:r>
            <a:endParaRPr b="0" i="0" sz="400" u="none" cap="none" strike="noStrike">
              <a:solidFill>
                <a:schemeClr val="dk2"/>
              </a:solidFill>
              <a:latin typeface="Montserrat"/>
              <a:ea typeface="Montserrat"/>
              <a:cs typeface="Montserrat"/>
              <a:sym typeface="Montserrat"/>
            </a:endParaRPr>
          </a:p>
        </p:txBody>
      </p:sp>
      <p:sp>
        <p:nvSpPr>
          <p:cNvPr id="2809" name="Google Shape;2809;p31"/>
          <p:cNvSpPr/>
          <p:nvPr/>
        </p:nvSpPr>
        <p:spPr>
          <a:xfrm>
            <a:off x="3555696" y="434491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locales y estatales</a:t>
            </a:r>
            <a:endParaRPr b="0" i="0" sz="400" u="none" cap="none" strike="noStrike">
              <a:solidFill>
                <a:schemeClr val="dk2"/>
              </a:solidFill>
              <a:latin typeface="Montserrat"/>
              <a:ea typeface="Montserrat"/>
              <a:cs typeface="Montserrat"/>
              <a:sym typeface="Montserrat"/>
            </a:endParaRPr>
          </a:p>
        </p:txBody>
      </p:sp>
      <p:sp>
        <p:nvSpPr>
          <p:cNvPr id="2810" name="Google Shape;2810;p31"/>
          <p:cNvSpPr/>
          <p:nvPr/>
        </p:nvSpPr>
        <p:spPr>
          <a:xfrm>
            <a:off x="35556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Consumidor y privacidad</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(cumplimiento)</a:t>
            </a:r>
            <a:endParaRPr b="0" i="0" sz="400" u="none" cap="none" strike="noStrike">
              <a:solidFill>
                <a:schemeClr val="dk2"/>
              </a:solidFill>
              <a:latin typeface="Montserrat"/>
              <a:ea typeface="Montserrat"/>
              <a:cs typeface="Montserrat"/>
              <a:sym typeface="Montserrat"/>
            </a:endParaRPr>
          </a:p>
        </p:txBody>
      </p:sp>
      <p:sp>
        <p:nvSpPr>
          <p:cNvPr id="2811" name="Google Shape;2811;p31"/>
          <p:cNvSpPr/>
          <p:nvPr/>
        </p:nvSpPr>
        <p:spPr>
          <a:xfrm>
            <a:off x="3555696"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de México.</a:t>
            </a:r>
            <a:endParaRPr b="0" i="0" sz="400" u="none" cap="none" strike="noStrike">
              <a:solidFill>
                <a:schemeClr val="dk2"/>
              </a:solidFill>
              <a:latin typeface="Montserrat"/>
              <a:ea typeface="Montserrat"/>
              <a:cs typeface="Montserrat"/>
              <a:sym typeface="Montserrat"/>
            </a:endParaRPr>
          </a:p>
        </p:txBody>
      </p:sp>
      <p:sp>
        <p:nvSpPr>
          <p:cNvPr id="2812" name="Google Shape;2812;p31"/>
          <p:cNvSpPr/>
          <p:nvPr/>
        </p:nvSpPr>
        <p:spPr>
          <a:xfrm>
            <a:off x="355569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Regulaciones de BANXICO</a:t>
            </a:r>
            <a:endParaRPr b="0" i="0" sz="400" u="none" cap="none" strike="noStrike">
              <a:solidFill>
                <a:schemeClr val="dk2"/>
              </a:solidFill>
              <a:latin typeface="Montserrat"/>
              <a:ea typeface="Montserrat"/>
              <a:cs typeface="Montserrat"/>
              <a:sym typeface="Montserrat"/>
            </a:endParaRPr>
          </a:p>
        </p:txBody>
      </p:sp>
      <p:sp>
        <p:nvSpPr>
          <p:cNvPr id="2813" name="Google Shape;2813;p31"/>
          <p:cNvSpPr/>
          <p:nvPr/>
        </p:nvSpPr>
        <p:spPr>
          <a:xfrm>
            <a:off x="1333302" y="424604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Seguridad del sistema (disposiciones)</a:t>
            </a:r>
            <a:endParaRPr b="0" i="0" sz="400" u="none" cap="none" strike="noStrike">
              <a:solidFill>
                <a:schemeClr val="dk2"/>
              </a:solidFill>
              <a:latin typeface="Montserrat"/>
              <a:ea typeface="Montserrat"/>
              <a:cs typeface="Montserrat"/>
              <a:sym typeface="Montserrat"/>
            </a:endParaRPr>
          </a:p>
        </p:txBody>
      </p:sp>
      <p:sp>
        <p:nvSpPr>
          <p:cNvPr id="2814" name="Google Shape;2814;p31"/>
          <p:cNvSpPr/>
          <p:nvPr/>
        </p:nvSpPr>
        <p:spPr>
          <a:xfrm>
            <a:off x="1333302" y="3896900"/>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Autenticación (validación de ID de cliente)</a:t>
            </a:r>
            <a:endParaRPr b="0" i="0" sz="400" u="none" cap="none" strike="noStrike">
              <a:solidFill>
                <a:schemeClr val="dk2"/>
              </a:solidFill>
              <a:latin typeface="Montserrat"/>
              <a:ea typeface="Montserrat"/>
              <a:cs typeface="Montserrat"/>
              <a:sym typeface="Montserrat"/>
            </a:endParaRPr>
          </a:p>
        </p:txBody>
      </p:sp>
      <p:sp>
        <p:nvSpPr>
          <p:cNvPr id="2815" name="Google Shape;2815;p31"/>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2816" name="Google Shape;2816;p31"/>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2817" name="Google Shape;2817;p31"/>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2818" name="Google Shape;2818;p31"/>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2819" name="Google Shape;2819;p31"/>
          <p:cNvSpPr/>
          <p:nvPr/>
        </p:nvSpPr>
        <p:spPr>
          <a:xfrm>
            <a:off x="1333302" y="4067547"/>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Inicio de sesión único</a:t>
            </a:r>
            <a:endParaRPr b="0" i="0" sz="400" u="none" cap="none" strike="noStrike">
              <a:solidFill>
                <a:schemeClr val="dk2"/>
              </a:solidFill>
              <a:latin typeface="Montserrat"/>
              <a:ea typeface="Montserrat"/>
              <a:cs typeface="Montserrat"/>
              <a:sym typeface="Montserrat"/>
            </a:endParaRPr>
          </a:p>
        </p:txBody>
      </p:sp>
      <p:sp>
        <p:nvSpPr>
          <p:cNvPr id="2820" name="Google Shape;2820;p31"/>
          <p:cNvSpPr/>
          <p:nvPr/>
        </p:nvSpPr>
        <p:spPr>
          <a:xfrm>
            <a:off x="2444808" y="3896900"/>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Recopilación de parámetros</a:t>
            </a:r>
            <a:endParaRPr b="0" i="0" sz="400" u="none" cap="none" strike="noStrike">
              <a:solidFill>
                <a:schemeClr val="lt1"/>
              </a:solidFill>
              <a:latin typeface="Montserrat"/>
              <a:ea typeface="Montserrat"/>
              <a:cs typeface="Montserrat"/>
              <a:sym typeface="Montserrat"/>
            </a:endParaRPr>
          </a:p>
        </p:txBody>
      </p:sp>
      <p:sp>
        <p:nvSpPr>
          <p:cNvPr id="2821" name="Google Shape;2821;p31"/>
          <p:cNvSpPr/>
          <p:nvPr/>
        </p:nvSpPr>
        <p:spPr>
          <a:xfrm>
            <a:off x="2444808" y="4046240"/>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inspección</a:t>
            </a:r>
            <a:endParaRPr b="0" i="0" sz="400" u="none" cap="none" strike="noStrike">
              <a:solidFill>
                <a:schemeClr val="lt1"/>
              </a:solidFill>
              <a:latin typeface="Montserrat"/>
              <a:ea typeface="Montserrat"/>
              <a:cs typeface="Montserrat"/>
              <a:sym typeface="Montserrat"/>
            </a:endParaRPr>
          </a:p>
        </p:txBody>
      </p:sp>
      <p:sp>
        <p:nvSpPr>
          <p:cNvPr id="2822" name="Google Shape;2822;p31"/>
          <p:cNvSpPr/>
          <p:nvPr/>
        </p:nvSpPr>
        <p:spPr>
          <a:xfrm>
            <a:off x="2444808" y="4344919"/>
            <a:ext cx="7227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notificación</a:t>
            </a:r>
            <a:endParaRPr b="0" i="0" sz="400" u="none" cap="none" strike="noStrike">
              <a:solidFill>
                <a:schemeClr val="lt1"/>
              </a:solidFill>
              <a:latin typeface="Montserrat"/>
              <a:ea typeface="Montserrat"/>
              <a:cs typeface="Montserrat"/>
              <a:sym typeface="Montserrat"/>
            </a:endParaRPr>
          </a:p>
        </p:txBody>
      </p:sp>
      <p:sp>
        <p:nvSpPr>
          <p:cNvPr id="2823" name="Google Shape;2823;p31"/>
          <p:cNvSpPr/>
          <p:nvPr/>
        </p:nvSpPr>
        <p:spPr>
          <a:xfrm>
            <a:off x="2444808" y="4195579"/>
            <a:ext cx="7227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QA revisión</a:t>
            </a:r>
            <a:endParaRPr b="0" i="0" sz="400" u="none" cap="none" strike="noStrike">
              <a:solidFill>
                <a:schemeClr val="lt1"/>
              </a:solidFill>
              <a:latin typeface="Montserrat"/>
              <a:ea typeface="Montserrat"/>
              <a:cs typeface="Montserrat"/>
              <a:sym typeface="Montserrat"/>
            </a:endParaRPr>
          </a:p>
        </p:txBody>
      </p:sp>
      <p:sp>
        <p:nvSpPr>
          <p:cNvPr id="2824" name="Google Shape;2824;p31"/>
          <p:cNvSpPr/>
          <p:nvPr/>
        </p:nvSpPr>
        <p:spPr>
          <a:xfrm>
            <a:off x="5519878" y="3397234"/>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Precio, honorarios y tarifas</a:t>
            </a:r>
            <a:endParaRPr b="0" i="0" sz="400" u="none" cap="none" strike="noStrike">
              <a:solidFill>
                <a:schemeClr val="dk2"/>
              </a:solidFill>
              <a:latin typeface="Montserrat"/>
              <a:ea typeface="Montserrat"/>
              <a:cs typeface="Montserrat"/>
              <a:sym typeface="Montserrat"/>
            </a:endParaRPr>
          </a:p>
        </p:txBody>
      </p:sp>
      <p:sp>
        <p:nvSpPr>
          <p:cNvPr id="2825" name="Google Shape;2825;p31"/>
          <p:cNvSpPr/>
          <p:nvPr/>
        </p:nvSpPr>
        <p:spPr>
          <a:xfrm>
            <a:off x="4689602"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Parametrización</a:t>
            </a:r>
            <a:endParaRPr b="0" i="0" sz="400" u="none" cap="none" strike="noStrike">
              <a:solidFill>
                <a:schemeClr val="dk2"/>
              </a:solidFill>
              <a:latin typeface="Montserrat"/>
              <a:ea typeface="Montserrat"/>
              <a:cs typeface="Montserrat"/>
              <a:sym typeface="Montserrat"/>
            </a:endParaRPr>
          </a:p>
        </p:txBody>
      </p:sp>
      <p:sp>
        <p:nvSpPr>
          <p:cNvPr id="2826" name="Google Shape;2826;p31"/>
          <p:cNvSpPr/>
          <p:nvPr/>
        </p:nvSpPr>
        <p:spPr>
          <a:xfrm>
            <a:off x="7168269" y="3397881"/>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 roles</a:t>
            </a:r>
            <a:endParaRPr b="0" i="0" sz="400" u="none" cap="none" strike="noStrike">
              <a:solidFill>
                <a:schemeClr val="dk2"/>
              </a:solidFill>
              <a:latin typeface="Montserrat"/>
              <a:ea typeface="Montserrat"/>
              <a:cs typeface="Montserrat"/>
              <a:sym typeface="Montserrat"/>
            </a:endParaRPr>
          </a:p>
        </p:txBody>
      </p:sp>
      <p:sp>
        <p:nvSpPr>
          <p:cNvPr id="2827" name="Google Shape;2827;p31"/>
          <p:cNvSpPr/>
          <p:nvPr/>
        </p:nvSpPr>
        <p:spPr>
          <a:xfrm>
            <a:off x="7977593" y="3397611"/>
            <a:ext cx="8370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motor de reglas</a:t>
            </a:r>
            <a:endParaRPr b="0" i="0" sz="400" u="none" cap="none" strike="noStrike">
              <a:solidFill>
                <a:schemeClr val="dk2"/>
              </a:solidFill>
              <a:latin typeface="Montserrat"/>
              <a:ea typeface="Montserrat"/>
              <a:cs typeface="Montserrat"/>
              <a:sym typeface="Montserrat"/>
            </a:endParaRPr>
          </a:p>
        </p:txBody>
      </p:sp>
      <p:sp>
        <p:nvSpPr>
          <p:cNvPr id="2828" name="Google Shape;2828;p31"/>
          <p:cNvSpPr/>
          <p:nvPr/>
        </p:nvSpPr>
        <p:spPr>
          <a:xfrm>
            <a:off x="6353107" y="3397516"/>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 gestión de productos</a:t>
            </a:r>
            <a:endParaRPr b="0" i="0" sz="400" u="none" cap="none" strike="noStrike">
              <a:solidFill>
                <a:schemeClr val="dk2"/>
              </a:solidFill>
              <a:latin typeface="Montserrat"/>
              <a:ea typeface="Montserrat"/>
              <a:cs typeface="Montserrat"/>
              <a:sym typeface="Montserrat"/>
            </a:endParaRPr>
          </a:p>
        </p:txBody>
      </p:sp>
      <p:sp>
        <p:nvSpPr>
          <p:cNvPr id="2829" name="Google Shape;2829;p31"/>
          <p:cNvSpPr/>
          <p:nvPr/>
        </p:nvSpPr>
        <p:spPr>
          <a:xfrm>
            <a:off x="3880064"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Modelos</a:t>
            </a:r>
            <a:endParaRPr b="0" i="0" sz="400" u="none" cap="none" strike="noStrike">
              <a:solidFill>
                <a:schemeClr val="dk2"/>
              </a:solidFill>
              <a:latin typeface="Montserrat"/>
              <a:ea typeface="Montserrat"/>
              <a:cs typeface="Montserrat"/>
              <a:sym typeface="Montserrat"/>
            </a:endParaRPr>
          </a:p>
        </p:txBody>
      </p:sp>
      <p:sp>
        <p:nvSpPr>
          <p:cNvPr id="2830" name="Google Shape;2830;p31"/>
          <p:cNvSpPr/>
          <p:nvPr/>
        </p:nvSpPr>
        <p:spPr>
          <a:xfrm>
            <a:off x="3880356" y="187757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Reconciliaciones</a:t>
            </a:r>
            <a:endParaRPr b="0" i="0" sz="400" u="none" cap="none" strike="noStrike">
              <a:solidFill>
                <a:schemeClr val="dk2"/>
              </a:solidFill>
              <a:latin typeface="Montserrat"/>
              <a:ea typeface="Montserrat"/>
              <a:cs typeface="Montserrat"/>
              <a:sym typeface="Montserrat"/>
            </a:endParaRPr>
          </a:p>
        </p:txBody>
      </p:sp>
      <p:sp>
        <p:nvSpPr>
          <p:cNvPr id="2831" name="Google Shape;2831;p31"/>
          <p:cNvSpPr/>
          <p:nvPr/>
        </p:nvSpPr>
        <p:spPr>
          <a:xfrm>
            <a:off x="3880356" y="125706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Ajustes</a:t>
            </a:r>
            <a:endParaRPr b="0" i="0" sz="400" u="none" cap="none" strike="noStrike">
              <a:solidFill>
                <a:schemeClr val="dk2"/>
              </a:solidFill>
              <a:latin typeface="Montserrat"/>
              <a:ea typeface="Montserrat"/>
              <a:cs typeface="Montserrat"/>
              <a:sym typeface="Montserrat"/>
            </a:endParaRPr>
          </a:p>
        </p:txBody>
      </p:sp>
      <p:sp>
        <p:nvSpPr>
          <p:cNvPr id="2832" name="Google Shape;2832;p31"/>
          <p:cNvSpPr/>
          <p:nvPr/>
        </p:nvSpPr>
        <p:spPr>
          <a:xfrm>
            <a:off x="3880356" y="15673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Excepciones</a:t>
            </a:r>
            <a:endParaRPr b="0" i="0" sz="400" u="none" cap="none" strike="noStrike">
              <a:solidFill>
                <a:schemeClr val="dk2"/>
              </a:solidFill>
              <a:latin typeface="Montserrat"/>
              <a:ea typeface="Montserrat"/>
              <a:cs typeface="Montserrat"/>
              <a:sym typeface="Montserrat"/>
            </a:endParaRPr>
          </a:p>
        </p:txBody>
      </p:sp>
      <p:sp>
        <p:nvSpPr>
          <p:cNvPr id="2833" name="Google Shape;2833;p31"/>
          <p:cNvSpPr/>
          <p:nvPr/>
        </p:nvSpPr>
        <p:spPr>
          <a:xfrm>
            <a:off x="3880356" y="141200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saldos</a:t>
            </a:r>
            <a:endParaRPr b="0" i="0" sz="400" u="none" cap="none" strike="noStrike">
              <a:solidFill>
                <a:schemeClr val="dk2"/>
              </a:solidFill>
              <a:latin typeface="Montserrat"/>
              <a:ea typeface="Montserrat"/>
              <a:cs typeface="Montserrat"/>
              <a:sym typeface="Montserrat"/>
            </a:endParaRPr>
          </a:p>
        </p:txBody>
      </p:sp>
      <p:sp>
        <p:nvSpPr>
          <p:cNvPr id="2834" name="Google Shape;2834;p31"/>
          <p:cNvSpPr/>
          <p:nvPr/>
        </p:nvSpPr>
        <p:spPr>
          <a:xfrm>
            <a:off x="3880356" y="172318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Contabilidad</a:t>
            </a:r>
            <a:endParaRPr b="0" i="0" sz="400" u="none" cap="none" strike="noStrike">
              <a:solidFill>
                <a:schemeClr val="dk2"/>
              </a:solidFill>
              <a:latin typeface="Montserrat"/>
              <a:ea typeface="Montserrat"/>
              <a:cs typeface="Montserrat"/>
              <a:sym typeface="Montserrat"/>
            </a:endParaRPr>
          </a:p>
        </p:txBody>
      </p:sp>
      <p:sp>
        <p:nvSpPr>
          <p:cNvPr id="2835" name="Google Shape;2835;p31"/>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2836" name="Google Shape;2836;p31"/>
          <p:cNvSpPr/>
          <p:nvPr/>
        </p:nvSpPr>
        <p:spPr>
          <a:xfrm>
            <a:off x="3880356" y="232511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Ventas/incentivos</a:t>
            </a:r>
            <a:endParaRPr b="0" i="0" sz="400" u="none" cap="none" strike="noStrike">
              <a:solidFill>
                <a:schemeClr val="dk2"/>
              </a:solidFill>
              <a:latin typeface="Montserrat"/>
              <a:ea typeface="Montserrat"/>
              <a:cs typeface="Montserrat"/>
              <a:sym typeface="Montserrat"/>
            </a:endParaRPr>
          </a:p>
        </p:txBody>
      </p:sp>
      <p:sp>
        <p:nvSpPr>
          <p:cNvPr id="2837" name="Google Shape;2837;p31"/>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la relación con el cliente</a:t>
            </a:r>
            <a:endParaRPr b="0" i="0" sz="400" u="none" cap="none" strike="noStrike">
              <a:solidFill>
                <a:schemeClr val="dk2"/>
              </a:solidFill>
              <a:latin typeface="Montserrat"/>
              <a:ea typeface="Montserrat"/>
              <a:cs typeface="Montserrat"/>
              <a:sym typeface="Montserrat"/>
            </a:endParaRPr>
          </a:p>
        </p:txBody>
      </p:sp>
      <p:sp>
        <p:nvSpPr>
          <p:cNvPr id="2838" name="Google Shape;2838;p31"/>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2839" name="Google Shape;2839;p31"/>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2840" name="Google Shape;2840;p31"/>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inversión</a:t>
            </a:r>
            <a:endParaRPr b="0" i="0" sz="400" u="none" cap="none" strike="noStrike">
              <a:solidFill>
                <a:schemeClr val="dk2"/>
              </a:solidFill>
              <a:latin typeface="Montserrat"/>
              <a:ea typeface="Montserrat"/>
              <a:cs typeface="Montserrat"/>
              <a:sym typeface="Montserrat"/>
            </a:endParaRPr>
          </a:p>
        </p:txBody>
      </p:sp>
      <p:sp>
        <p:nvSpPr>
          <p:cNvPr id="2841" name="Google Shape;2841;p31"/>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documentos de imagen</a:t>
            </a:r>
            <a:endParaRPr b="0" i="0" sz="400" u="none" cap="none" strike="noStrike">
              <a:solidFill>
                <a:schemeClr val="dk2"/>
              </a:solidFill>
              <a:latin typeface="Montserrat"/>
              <a:ea typeface="Montserrat"/>
              <a:cs typeface="Montserrat"/>
              <a:sym typeface="Montserrat"/>
            </a:endParaRPr>
          </a:p>
        </p:txBody>
      </p:sp>
      <p:sp>
        <p:nvSpPr>
          <p:cNvPr id="2842" name="Google Shape;2842;p31"/>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Templates </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(correspondencia)</a:t>
            </a:r>
            <a:endParaRPr b="0" i="0" sz="400" u="none" cap="none" strike="noStrike">
              <a:solidFill>
                <a:schemeClr val="dk2"/>
              </a:solidFill>
              <a:latin typeface="Montserrat"/>
              <a:ea typeface="Montserrat"/>
              <a:cs typeface="Montserrat"/>
              <a:sym typeface="Montserrat"/>
            </a:endParaRPr>
          </a:p>
        </p:txBody>
      </p:sp>
      <p:sp>
        <p:nvSpPr>
          <p:cNvPr id="2843" name="Google Shape;2843;p31"/>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Divulgación y aceptar</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(Procesamienta de cuentas)</a:t>
            </a:r>
            <a:endParaRPr b="0" i="0" sz="400" u="none" cap="none" strike="noStrike">
              <a:solidFill>
                <a:schemeClr val="dk2"/>
              </a:solidFill>
              <a:latin typeface="Montserrat"/>
              <a:ea typeface="Montserrat"/>
              <a:cs typeface="Montserrat"/>
              <a:sym typeface="Montserrat"/>
            </a:endParaRPr>
          </a:p>
        </p:txBody>
      </p:sp>
      <p:sp>
        <p:nvSpPr>
          <p:cNvPr id="2844" name="Google Shape;2844;p31"/>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Documentación de cumplimiento de cuenta</a:t>
            </a:r>
            <a:endParaRPr b="0" i="0" sz="400" u="none" cap="none" strike="noStrike">
              <a:solidFill>
                <a:schemeClr val="dk2"/>
              </a:solidFill>
              <a:latin typeface="Montserrat"/>
              <a:ea typeface="Montserrat"/>
              <a:cs typeface="Montserrat"/>
              <a:sym typeface="Montserrat"/>
            </a:endParaRPr>
          </a:p>
        </p:txBody>
      </p:sp>
      <p:sp>
        <p:nvSpPr>
          <p:cNvPr id="2845" name="Google Shape;2845;p31"/>
          <p:cNvSpPr/>
          <p:nvPr/>
        </p:nvSpPr>
        <p:spPr>
          <a:xfrm>
            <a:off x="1294951"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de cuenta</a:t>
            </a:r>
            <a:endParaRPr b="0" i="0" sz="400" u="none" cap="none" strike="noStrike">
              <a:solidFill>
                <a:schemeClr val="dk2"/>
              </a:solidFill>
              <a:latin typeface="Montserrat"/>
              <a:ea typeface="Montserrat"/>
              <a:cs typeface="Montserrat"/>
              <a:sym typeface="Montserrat"/>
            </a:endParaRPr>
          </a:p>
        </p:txBody>
      </p:sp>
      <p:sp>
        <p:nvSpPr>
          <p:cNvPr id="2846" name="Google Shape;2846;p31"/>
          <p:cNvSpPr/>
          <p:nvPr/>
        </p:nvSpPr>
        <p:spPr>
          <a:xfrm>
            <a:off x="1294951" y="2232766"/>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Depositar fondos</a:t>
            </a:r>
            <a:endParaRPr b="0" i="0" sz="400" u="none" cap="none" strike="noStrike">
              <a:solidFill>
                <a:schemeClr val="dk2"/>
              </a:solidFill>
              <a:latin typeface="Montserrat"/>
              <a:ea typeface="Montserrat"/>
              <a:cs typeface="Montserrat"/>
              <a:sym typeface="Montserrat"/>
            </a:endParaRPr>
          </a:p>
        </p:txBody>
      </p:sp>
      <p:sp>
        <p:nvSpPr>
          <p:cNvPr id="2847" name="Google Shape;2847;p31"/>
          <p:cNvSpPr/>
          <p:nvPr/>
        </p:nvSpPr>
        <p:spPr>
          <a:xfrm>
            <a:off x="1294951"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Transferir fondos</a:t>
            </a:r>
            <a:endParaRPr b="0" i="0" sz="400" u="none" cap="none" strike="noStrike">
              <a:solidFill>
                <a:schemeClr val="dk2"/>
              </a:solidFill>
              <a:latin typeface="Montserrat"/>
              <a:ea typeface="Montserrat"/>
              <a:cs typeface="Montserrat"/>
              <a:sym typeface="Montserrat"/>
            </a:endParaRPr>
          </a:p>
        </p:txBody>
      </p:sp>
      <p:sp>
        <p:nvSpPr>
          <p:cNvPr id="2848" name="Google Shape;2848;p31"/>
          <p:cNvSpPr/>
          <p:nvPr/>
        </p:nvSpPr>
        <p:spPr>
          <a:xfrm>
            <a:off x="2862246"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Retirar fondos</a:t>
            </a:r>
            <a:endParaRPr b="0" i="0" sz="400" u="none" cap="none" strike="noStrike">
              <a:solidFill>
                <a:schemeClr val="dk2"/>
              </a:solidFill>
              <a:latin typeface="Montserrat"/>
              <a:ea typeface="Montserrat"/>
              <a:cs typeface="Montserrat"/>
              <a:sym typeface="Montserrat"/>
            </a:endParaRPr>
          </a:p>
        </p:txBody>
      </p:sp>
      <p:sp>
        <p:nvSpPr>
          <p:cNvPr id="2849" name="Google Shape;2849;p31"/>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Pequeñas empresas</a:t>
            </a:r>
            <a:endParaRPr b="0" i="0" sz="400" u="none" cap="none" strike="noStrike">
              <a:solidFill>
                <a:schemeClr val="dk2"/>
              </a:solidFill>
              <a:latin typeface="Montserrat"/>
              <a:ea typeface="Montserrat"/>
              <a:cs typeface="Montserrat"/>
              <a:sym typeface="Montserrat"/>
            </a:endParaRPr>
          </a:p>
        </p:txBody>
      </p:sp>
      <p:sp>
        <p:nvSpPr>
          <p:cNvPr id="2850" name="Google Shape;2850;p31"/>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el cliente</a:t>
            </a:r>
            <a:endParaRPr b="0" i="0" sz="400" u="none" cap="none" strike="noStrike">
              <a:solidFill>
                <a:schemeClr val="dk2"/>
              </a:solidFill>
              <a:latin typeface="Montserrat"/>
              <a:ea typeface="Montserrat"/>
              <a:cs typeface="Montserrat"/>
              <a:sym typeface="Montserrat"/>
            </a:endParaRPr>
          </a:p>
        </p:txBody>
      </p:sp>
      <p:sp>
        <p:nvSpPr>
          <p:cNvPr id="2851" name="Google Shape;2851;p31"/>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Originación de cuentas</a:t>
            </a:r>
            <a:endParaRPr b="0" i="0" sz="400" u="none" cap="none" strike="noStrike">
              <a:solidFill>
                <a:schemeClr val="dk2"/>
              </a:solidFill>
              <a:latin typeface="Montserrat"/>
              <a:ea typeface="Montserrat"/>
              <a:cs typeface="Montserrat"/>
              <a:sym typeface="Montserrat"/>
            </a:endParaRPr>
          </a:p>
        </p:txBody>
      </p:sp>
      <p:sp>
        <p:nvSpPr>
          <p:cNvPr id="2852" name="Google Shape;2852;p31"/>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cumplimiento./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Incorporación de clientes</a:t>
            </a:r>
            <a:endParaRPr b="0" i="0" sz="400" u="none" cap="none" strike="noStrike">
              <a:solidFill>
                <a:schemeClr val="dk2"/>
              </a:solidFill>
              <a:latin typeface="Montserrat"/>
              <a:ea typeface="Montserrat"/>
              <a:cs typeface="Montserrat"/>
              <a:sym typeface="Montserrat"/>
            </a:endParaRPr>
          </a:p>
        </p:txBody>
      </p:sp>
      <p:sp>
        <p:nvSpPr>
          <p:cNvPr id="2853" name="Google Shape;2853;p31"/>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configuración</a:t>
            </a:r>
            <a:endParaRPr b="0" i="0" sz="400" u="none" cap="none" strike="noStrike">
              <a:solidFill>
                <a:schemeClr val="dk2"/>
              </a:solidFill>
              <a:latin typeface="Montserrat"/>
              <a:ea typeface="Montserrat"/>
              <a:cs typeface="Montserrat"/>
              <a:sym typeface="Montserrat"/>
            </a:endParaRPr>
          </a:p>
        </p:txBody>
      </p:sp>
      <p:sp>
        <p:nvSpPr>
          <p:cNvPr id="2854" name="Google Shape;2854;p31"/>
          <p:cNvSpPr/>
          <p:nvPr/>
        </p:nvSpPr>
        <p:spPr>
          <a:xfrm>
            <a:off x="2078085"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Actualizar información</a:t>
            </a:r>
            <a:endParaRPr b="0" i="0" sz="400" u="none" cap="none" strike="noStrike">
              <a:solidFill>
                <a:schemeClr val="dk2"/>
              </a:solidFill>
              <a:latin typeface="Montserrat"/>
              <a:ea typeface="Montserrat"/>
              <a:cs typeface="Montserrat"/>
              <a:sym typeface="Montserrat"/>
            </a:endParaRPr>
          </a:p>
        </p:txBody>
      </p:sp>
      <p:sp>
        <p:nvSpPr>
          <p:cNvPr id="2855" name="Google Shape;2855;p31"/>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856" name="Google Shape;2856;p31"/>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Eventos activados por calendario</a:t>
            </a:r>
            <a:endParaRPr b="0" i="0" sz="400" u="none" cap="none" strike="noStrike">
              <a:solidFill>
                <a:schemeClr val="dk2"/>
              </a:solidFill>
              <a:latin typeface="Montserrat"/>
              <a:ea typeface="Montserrat"/>
              <a:cs typeface="Montserrat"/>
              <a:sym typeface="Montserrat"/>
            </a:endParaRPr>
          </a:p>
        </p:txBody>
      </p:sp>
      <p:sp>
        <p:nvSpPr>
          <p:cNvPr id="2857" name="Google Shape;2857;p31"/>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que generan intereses</a:t>
            </a:r>
            <a:endParaRPr b="0" i="0" sz="400" u="none" cap="none" strike="noStrike">
              <a:solidFill>
                <a:schemeClr val="dk2"/>
              </a:solidFill>
              <a:latin typeface="Montserrat"/>
              <a:ea typeface="Montserrat"/>
              <a:cs typeface="Montserrat"/>
              <a:sym typeface="Montserrat"/>
            </a:endParaRPr>
          </a:p>
        </p:txBody>
      </p:sp>
      <p:sp>
        <p:nvSpPr>
          <p:cNvPr id="2858" name="Google Shape;2858;p31"/>
          <p:cNvSpPr/>
          <p:nvPr/>
        </p:nvSpPr>
        <p:spPr>
          <a:xfrm>
            <a:off x="2862246"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tarjeta de débito/ATM</a:t>
            </a:r>
            <a:endParaRPr b="0" i="0" sz="400" u="none" cap="none" strike="noStrike">
              <a:solidFill>
                <a:schemeClr val="dk2"/>
              </a:solidFill>
              <a:latin typeface="Montserrat"/>
              <a:ea typeface="Montserrat"/>
              <a:cs typeface="Montserrat"/>
              <a:sym typeface="Montserrat"/>
            </a:endParaRPr>
          </a:p>
        </p:txBody>
      </p:sp>
      <p:sp>
        <p:nvSpPr>
          <p:cNvPr id="2859" name="Google Shape;2859;p31"/>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 de facturas en línea</a:t>
            </a:r>
            <a:endParaRPr b="0" i="0" sz="400" u="none" cap="none" strike="noStrike">
              <a:solidFill>
                <a:schemeClr val="dk2"/>
              </a:solidFill>
              <a:latin typeface="Montserrat"/>
              <a:ea typeface="Montserrat"/>
              <a:cs typeface="Montserrat"/>
              <a:sym typeface="Montserrat"/>
            </a:endParaRPr>
          </a:p>
        </p:txBody>
      </p:sp>
      <p:sp>
        <p:nvSpPr>
          <p:cNvPr id="2860" name="Google Shape;2860;p31"/>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Encuestas/investigación</a:t>
            </a:r>
            <a:endParaRPr b="0" i="0" sz="900" u="none" cap="none" strike="noStrike">
              <a:solidFill>
                <a:schemeClr val="dk2"/>
              </a:solidFill>
              <a:latin typeface="Montserrat"/>
              <a:ea typeface="Montserrat"/>
              <a:cs typeface="Montserrat"/>
              <a:sym typeface="Montserrat"/>
            </a:endParaRPr>
          </a:p>
        </p:txBody>
      </p:sp>
      <p:sp>
        <p:nvSpPr>
          <p:cNvPr id="2861" name="Google Shape;2861;p31"/>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campañas</a:t>
            </a:r>
            <a:endParaRPr b="0" i="0" sz="900" u="none" cap="none" strike="noStrike">
              <a:solidFill>
                <a:schemeClr val="dk2"/>
              </a:solidFill>
              <a:latin typeface="Montserrat"/>
              <a:ea typeface="Montserrat"/>
              <a:cs typeface="Montserrat"/>
              <a:sym typeface="Montserrat"/>
            </a:endParaRPr>
          </a:p>
        </p:txBody>
      </p:sp>
      <p:sp>
        <p:nvSpPr>
          <p:cNvPr id="2862" name="Google Shape;2862;p31"/>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2863" name="Google Shape;2863;p31"/>
          <p:cNvSpPr/>
          <p:nvPr/>
        </p:nvSpPr>
        <p:spPr>
          <a:xfrm>
            <a:off x="129249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Información de la clase de producto</a:t>
            </a:r>
            <a:endParaRPr b="0" i="0" sz="400" u="none" cap="none" strike="noStrike">
              <a:solidFill>
                <a:schemeClr val="dk2"/>
              </a:solidFill>
              <a:latin typeface="Montserrat"/>
              <a:ea typeface="Montserrat"/>
              <a:cs typeface="Montserrat"/>
              <a:sym typeface="Montserrat"/>
            </a:endParaRPr>
          </a:p>
        </p:txBody>
      </p:sp>
      <p:sp>
        <p:nvSpPr>
          <p:cNvPr id="2864" name="Google Shape;2864;p31"/>
          <p:cNvSpPr/>
          <p:nvPr/>
        </p:nvSpPr>
        <p:spPr>
          <a:xfrm>
            <a:off x="129249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depósito a plazo</a:t>
            </a:r>
            <a:endParaRPr b="0" i="0" sz="400" u="none" cap="none" strike="noStrike">
              <a:solidFill>
                <a:schemeClr val="dk2"/>
              </a:solidFill>
              <a:latin typeface="Montserrat"/>
              <a:ea typeface="Montserrat"/>
              <a:cs typeface="Montserrat"/>
              <a:sym typeface="Montserrat"/>
            </a:endParaRPr>
          </a:p>
        </p:txBody>
      </p:sp>
      <p:sp>
        <p:nvSpPr>
          <p:cNvPr id="2865" name="Google Shape;2865;p31"/>
          <p:cNvSpPr/>
          <p:nvPr/>
        </p:nvSpPr>
        <p:spPr>
          <a:xfrm>
            <a:off x="129249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Corrientes</a:t>
            </a:r>
            <a:endParaRPr b="0" i="0" sz="4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dk2"/>
              </a:solidFill>
              <a:latin typeface="Montserrat"/>
              <a:ea typeface="Montserrat"/>
              <a:cs typeface="Montserrat"/>
              <a:sym typeface="Montserrat"/>
            </a:endParaRPr>
          </a:p>
        </p:txBody>
      </p:sp>
      <p:sp>
        <p:nvSpPr>
          <p:cNvPr id="2866" name="Google Shape;2866;p31"/>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jubilación</a:t>
            </a:r>
            <a:endParaRPr b="0" i="0" sz="400" u="none" cap="none" strike="noStrike">
              <a:solidFill>
                <a:schemeClr val="dk2"/>
              </a:solidFill>
              <a:latin typeface="Montserrat"/>
              <a:ea typeface="Montserrat"/>
              <a:cs typeface="Montserrat"/>
              <a:sym typeface="Montserrat"/>
            </a:endParaRPr>
          </a:p>
        </p:txBody>
      </p:sp>
      <p:sp>
        <p:nvSpPr>
          <p:cNvPr id="2867" name="Google Shape;2867;p31"/>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Banco privado/</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Servicios patrimoniales</a:t>
            </a:r>
            <a:endParaRPr b="0" i="0" sz="400" u="none" cap="none" strike="noStrike">
              <a:solidFill>
                <a:schemeClr val="dk2"/>
              </a:solidFill>
              <a:latin typeface="Montserrat"/>
              <a:ea typeface="Montserrat"/>
              <a:cs typeface="Montserrat"/>
              <a:sym typeface="Montserrat"/>
            </a:endParaRPr>
          </a:p>
        </p:txBody>
      </p:sp>
      <p:sp>
        <p:nvSpPr>
          <p:cNvPr id="2868" name="Google Shape;2868;p31"/>
          <p:cNvSpPr/>
          <p:nvPr/>
        </p:nvSpPr>
        <p:spPr>
          <a:xfrm>
            <a:off x="2863234"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ahorro</a:t>
            </a:r>
            <a:endParaRPr b="0" i="0" sz="400" u="none" cap="none" strike="noStrike">
              <a:solidFill>
                <a:schemeClr val="dk2"/>
              </a:solidFill>
              <a:latin typeface="Montserrat"/>
              <a:ea typeface="Montserrat"/>
              <a:cs typeface="Montserrat"/>
              <a:sym typeface="Montserrat"/>
            </a:endParaRPr>
          </a:p>
        </p:txBody>
      </p:sp>
      <p:sp>
        <p:nvSpPr>
          <p:cNvPr id="2869" name="Google Shape;2869;p31"/>
          <p:cNvSpPr/>
          <p:nvPr/>
        </p:nvSpPr>
        <p:spPr>
          <a:xfrm>
            <a:off x="2077643"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crédito</a:t>
            </a:r>
            <a:endParaRPr b="0" i="0" sz="400" u="none" cap="none" strike="noStrike">
              <a:solidFill>
                <a:schemeClr val="dk2"/>
              </a:solidFill>
              <a:latin typeface="Montserrat"/>
              <a:ea typeface="Montserrat"/>
              <a:cs typeface="Montserrat"/>
              <a:sym typeface="Montserrat"/>
            </a:endParaRPr>
          </a:p>
        </p:txBody>
      </p:sp>
      <p:sp>
        <p:nvSpPr>
          <p:cNvPr id="2870" name="Google Shape;2870;p31"/>
          <p:cNvSpPr/>
          <p:nvPr/>
        </p:nvSpPr>
        <p:spPr>
          <a:xfrm>
            <a:off x="2077643"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871" name="Google Shape;2871;p31"/>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Cuentas de saldo cero</a:t>
            </a:r>
            <a:endParaRPr b="0" i="0" sz="400" u="none" cap="none" strike="noStrike">
              <a:solidFill>
                <a:schemeClr val="dk2"/>
              </a:solidFill>
              <a:latin typeface="Montserrat"/>
              <a:ea typeface="Montserrat"/>
              <a:cs typeface="Montserrat"/>
              <a:sym typeface="Montserrat"/>
            </a:endParaRPr>
          </a:p>
        </p:txBody>
      </p:sp>
      <p:sp>
        <p:nvSpPr>
          <p:cNvPr id="2872" name="Google Shape;2872;p31"/>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2873" name="Google Shape;2873;p31"/>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Cheque de caja/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Giros postales</a:t>
            </a:r>
            <a:endParaRPr b="0" i="0" sz="400" u="none" cap="none" strike="noStrike">
              <a:solidFill>
                <a:schemeClr val="dk2"/>
              </a:solidFill>
              <a:latin typeface="Montserrat"/>
              <a:ea typeface="Montserrat"/>
              <a:cs typeface="Montserrat"/>
              <a:sym typeface="Montserrat"/>
            </a:endParaRPr>
          </a:p>
        </p:txBody>
      </p:sp>
      <p:sp>
        <p:nvSpPr>
          <p:cNvPr id="2874" name="Google Shape;2874;p31"/>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Sobregiro</a:t>
            </a:r>
            <a:endParaRPr b="0" i="0" sz="400" u="none" cap="none" strike="noStrike">
              <a:solidFill>
                <a:schemeClr val="dk2"/>
              </a:solidFill>
              <a:latin typeface="Montserrat"/>
              <a:ea typeface="Montserrat"/>
              <a:cs typeface="Montserrat"/>
              <a:sym typeface="Montserrat"/>
            </a:endParaRPr>
          </a:p>
        </p:txBody>
      </p:sp>
      <p:sp>
        <p:nvSpPr>
          <p:cNvPr id="2875" name="Google Shape;2875;p31"/>
          <p:cNvSpPr/>
          <p:nvPr/>
        </p:nvSpPr>
        <p:spPr>
          <a:xfrm>
            <a:off x="6567651"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de pago</a:t>
            </a:r>
            <a:endParaRPr b="0" i="0" sz="400" u="none" cap="none" strike="noStrike">
              <a:solidFill>
                <a:schemeClr val="dk2"/>
              </a:solidFill>
              <a:latin typeface="Montserrat"/>
              <a:ea typeface="Montserrat"/>
              <a:cs typeface="Montserrat"/>
              <a:sym typeface="Montserrat"/>
            </a:endParaRPr>
          </a:p>
        </p:txBody>
      </p:sp>
      <p:sp>
        <p:nvSpPr>
          <p:cNvPr id="2876" name="Google Shape;2876;p31"/>
          <p:cNvSpPr/>
          <p:nvPr/>
        </p:nvSpPr>
        <p:spPr>
          <a:xfrm>
            <a:off x="732383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básicos de gestión</a:t>
            </a:r>
            <a:endParaRPr b="0" i="0" sz="400" u="none" cap="none" strike="noStrike">
              <a:solidFill>
                <a:schemeClr val="dk2"/>
              </a:solidFill>
              <a:latin typeface="Montserrat"/>
              <a:ea typeface="Montserrat"/>
              <a:cs typeface="Montserrat"/>
              <a:sym typeface="Montserrat"/>
            </a:endParaRPr>
          </a:p>
        </p:txBody>
      </p:sp>
      <p:sp>
        <p:nvSpPr>
          <p:cNvPr id="2877" name="Google Shape;2877;p31"/>
          <p:cNvSpPr/>
          <p:nvPr/>
        </p:nvSpPr>
        <p:spPr>
          <a:xfrm>
            <a:off x="6567651"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Análisis de cuentas</a:t>
            </a:r>
            <a:endParaRPr b="0" i="0" sz="400" u="none" cap="none" strike="noStrike">
              <a:solidFill>
                <a:schemeClr val="dk2"/>
              </a:solidFill>
              <a:latin typeface="Montserrat"/>
              <a:ea typeface="Montserrat"/>
              <a:cs typeface="Montserrat"/>
              <a:sym typeface="Montserrat"/>
            </a:endParaRPr>
          </a:p>
        </p:txBody>
      </p:sp>
      <p:sp>
        <p:nvSpPr>
          <p:cNvPr id="2878" name="Google Shape;2878;p31"/>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2879" name="Google Shape;2879;p31"/>
          <p:cNvSpPr/>
          <p:nvPr/>
        </p:nvSpPr>
        <p:spPr>
          <a:xfrm>
            <a:off x="732383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Retiro de Efectivo</a:t>
            </a:r>
            <a:endParaRPr b="0" i="0" sz="400" u="none" cap="none" strike="noStrike">
              <a:solidFill>
                <a:schemeClr val="dk2"/>
              </a:solidFill>
              <a:latin typeface="Montserrat"/>
              <a:ea typeface="Montserrat"/>
              <a:cs typeface="Montserrat"/>
              <a:sym typeface="Montserrat"/>
            </a:endParaRPr>
          </a:p>
        </p:txBody>
      </p:sp>
      <p:sp>
        <p:nvSpPr>
          <p:cNvPr id="2880" name="Google Shape;2880;p31"/>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Servicios comerciales</a:t>
            </a:r>
            <a:endParaRPr b="0" i="0" sz="400" u="none" cap="none" strike="noStrike">
              <a:solidFill>
                <a:schemeClr val="dk2"/>
              </a:solidFill>
              <a:latin typeface="Montserrat"/>
              <a:ea typeface="Montserrat"/>
              <a:cs typeface="Montserrat"/>
              <a:sym typeface="Montserrat"/>
            </a:endParaRPr>
          </a:p>
        </p:txBody>
      </p:sp>
      <p:sp>
        <p:nvSpPr>
          <p:cNvPr id="2881" name="Google Shape;2881;p31"/>
          <p:cNvSpPr/>
          <p:nvPr/>
        </p:nvSpPr>
        <p:spPr>
          <a:xfrm>
            <a:off x="8082270"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Capacidades del estado de cuenta</a:t>
            </a:r>
            <a:endParaRPr b="0" i="0" sz="400" u="none" cap="none" strike="noStrike">
              <a:solidFill>
                <a:schemeClr val="dk2"/>
              </a:solidFill>
              <a:latin typeface="Montserrat"/>
              <a:ea typeface="Montserrat"/>
              <a:cs typeface="Montserrat"/>
              <a:sym typeface="Montserrat"/>
            </a:endParaRPr>
          </a:p>
        </p:txBody>
      </p:sp>
      <p:sp>
        <p:nvSpPr>
          <p:cNvPr id="2882" name="Google Shape;2882;p31"/>
          <p:cNvSpPr/>
          <p:nvPr/>
        </p:nvSpPr>
        <p:spPr>
          <a:xfrm>
            <a:off x="732328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Archivo de estado de cuenta/</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Seguimiento histórico</a:t>
            </a:r>
            <a:endParaRPr b="0" i="0" sz="400" u="none" cap="none" strike="noStrike">
              <a:solidFill>
                <a:schemeClr val="dk2"/>
              </a:solidFill>
              <a:latin typeface="Montserrat"/>
              <a:ea typeface="Montserrat"/>
              <a:cs typeface="Montserrat"/>
              <a:sym typeface="Montserrat"/>
            </a:endParaRPr>
          </a:p>
        </p:txBody>
      </p:sp>
      <p:sp>
        <p:nvSpPr>
          <p:cNvPr id="2883" name="Google Shape;2883;p31"/>
          <p:cNvSpPr/>
          <p:nvPr/>
        </p:nvSpPr>
        <p:spPr>
          <a:xfrm>
            <a:off x="732328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del estado de cuenta</a:t>
            </a:r>
            <a:endParaRPr b="0" i="0" sz="400" u="none" cap="none" strike="noStrike">
              <a:solidFill>
                <a:schemeClr val="dk2"/>
              </a:solidFill>
              <a:latin typeface="Montserrat"/>
              <a:ea typeface="Montserrat"/>
              <a:cs typeface="Montserrat"/>
              <a:sym typeface="Montserrat"/>
            </a:endParaRPr>
          </a:p>
        </p:txBody>
      </p:sp>
      <p:sp>
        <p:nvSpPr>
          <p:cNvPr id="2884" name="Google Shape;2884;p31"/>
          <p:cNvSpPr/>
          <p:nvPr/>
        </p:nvSpPr>
        <p:spPr>
          <a:xfrm>
            <a:off x="656847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Definición del estado de cuenta</a:t>
            </a:r>
            <a:endParaRPr b="0" i="0" sz="400" u="none" cap="none" strike="noStrike">
              <a:solidFill>
                <a:schemeClr val="dk2"/>
              </a:solidFill>
              <a:latin typeface="Montserrat"/>
              <a:ea typeface="Montserrat"/>
              <a:cs typeface="Montserrat"/>
              <a:sym typeface="Montserrat"/>
            </a:endParaRPr>
          </a:p>
        </p:txBody>
      </p:sp>
      <p:sp>
        <p:nvSpPr>
          <p:cNvPr id="2885" name="Google Shape;2885;p31"/>
          <p:cNvSpPr/>
          <p:nvPr/>
        </p:nvSpPr>
        <p:spPr>
          <a:xfrm>
            <a:off x="6568479"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Generación de estados de cuenta en línea</a:t>
            </a:r>
            <a:endParaRPr b="0" i="0" sz="400" u="none" cap="none" strike="noStrike">
              <a:solidFill>
                <a:schemeClr val="dk2"/>
              </a:solidFill>
              <a:latin typeface="Montserrat"/>
              <a:ea typeface="Montserrat"/>
              <a:cs typeface="Montserrat"/>
              <a:sym typeface="Montserrat"/>
            </a:endParaRPr>
          </a:p>
        </p:txBody>
      </p:sp>
      <p:sp>
        <p:nvSpPr>
          <p:cNvPr id="2886" name="Google Shape;2886;p31"/>
          <p:cNvSpPr/>
          <p:nvPr/>
        </p:nvSpPr>
        <p:spPr>
          <a:xfrm>
            <a:off x="8077267"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Originaciones de procesos</a:t>
            </a:r>
            <a:endParaRPr b="0" i="0" sz="400" u="none" cap="none" strike="noStrike">
              <a:solidFill>
                <a:schemeClr val="dk2"/>
              </a:solidFill>
              <a:latin typeface="Montserrat"/>
              <a:ea typeface="Montserrat"/>
              <a:cs typeface="Montserrat"/>
              <a:sym typeface="Montserrat"/>
            </a:endParaRPr>
          </a:p>
        </p:txBody>
      </p:sp>
      <p:sp>
        <p:nvSpPr>
          <p:cNvPr id="2887" name="Google Shape;2887;p31"/>
          <p:cNvSpPr/>
          <p:nvPr/>
        </p:nvSpPr>
        <p:spPr>
          <a:xfrm>
            <a:off x="6562648"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 del día y BATCH</a:t>
            </a:r>
            <a:endParaRPr b="0" i="0" sz="400" u="none" cap="none" strike="noStrike">
              <a:solidFill>
                <a:schemeClr val="dk2"/>
              </a:solidFill>
              <a:latin typeface="Montserrat"/>
              <a:ea typeface="Montserrat"/>
              <a:cs typeface="Montserrat"/>
              <a:sym typeface="Montserrat"/>
            </a:endParaRPr>
          </a:p>
        </p:txBody>
      </p:sp>
      <p:sp>
        <p:nvSpPr>
          <p:cNvPr id="2888" name="Google Shape;2888;p31"/>
          <p:cNvSpPr/>
          <p:nvPr/>
        </p:nvSpPr>
        <p:spPr>
          <a:xfrm>
            <a:off x="6562648"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Cierre Contable</a:t>
            </a:r>
            <a:endParaRPr b="0" i="0" sz="400" u="none" cap="none" strike="noStrike">
              <a:solidFill>
                <a:schemeClr val="dk2"/>
              </a:solidFill>
              <a:latin typeface="Montserrat"/>
              <a:ea typeface="Montserrat"/>
              <a:cs typeface="Montserrat"/>
              <a:sym typeface="Montserrat"/>
            </a:endParaRPr>
          </a:p>
        </p:txBody>
      </p:sp>
      <p:sp>
        <p:nvSpPr>
          <p:cNvPr id="2889" name="Google Shape;2889;p31"/>
          <p:cNvSpPr/>
          <p:nvPr/>
        </p:nvSpPr>
        <p:spPr>
          <a:xfrm>
            <a:off x="8077267"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 transferencia</a:t>
            </a:r>
            <a:endParaRPr b="0" i="0" sz="400" u="none" cap="none" strike="noStrike">
              <a:solidFill>
                <a:schemeClr val="dk2"/>
              </a:solidFill>
              <a:latin typeface="Montserrat"/>
              <a:ea typeface="Montserrat"/>
              <a:cs typeface="Montserrat"/>
              <a:sym typeface="Montserrat"/>
            </a:endParaRPr>
          </a:p>
        </p:txBody>
      </p:sp>
      <p:sp>
        <p:nvSpPr>
          <p:cNvPr id="2890" name="Google Shape;2890;p31"/>
          <p:cNvSpPr/>
          <p:nvPr/>
        </p:nvSpPr>
        <p:spPr>
          <a:xfrm>
            <a:off x="7319255"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Planificación y preparación</a:t>
            </a:r>
            <a:endParaRPr b="0" i="0" sz="400" u="none" cap="none" strike="noStrike">
              <a:solidFill>
                <a:schemeClr val="dk2"/>
              </a:solidFill>
              <a:latin typeface="Montserrat"/>
              <a:ea typeface="Montserrat"/>
              <a:cs typeface="Montserrat"/>
              <a:sym typeface="Montserrat"/>
            </a:endParaRPr>
          </a:p>
        </p:txBody>
      </p:sp>
      <p:sp>
        <p:nvSpPr>
          <p:cNvPr id="2891" name="Google Shape;2891;p31"/>
          <p:cNvSpPr/>
          <p:nvPr/>
        </p:nvSpPr>
        <p:spPr>
          <a:xfrm>
            <a:off x="7319255"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cheques</a:t>
            </a:r>
            <a:endParaRPr b="0" i="0" sz="400" u="none" cap="none" strike="noStrike">
              <a:solidFill>
                <a:schemeClr val="dk2"/>
              </a:solidFill>
              <a:latin typeface="Montserrat"/>
              <a:ea typeface="Montserrat"/>
              <a:cs typeface="Montserrat"/>
              <a:sym typeface="Montserrat"/>
            </a:endParaRPr>
          </a:p>
        </p:txBody>
      </p:sp>
      <p:sp>
        <p:nvSpPr>
          <p:cNvPr id="2892" name="Google Shape;2892;p31"/>
          <p:cNvSpPr/>
          <p:nvPr/>
        </p:nvSpPr>
        <p:spPr>
          <a:xfrm>
            <a:off x="8076183"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Proceso del día 1 y día 2</a:t>
            </a:r>
            <a:endParaRPr b="0" i="0" sz="400" u="none" cap="none" strike="noStrike">
              <a:solidFill>
                <a:schemeClr val="dk2"/>
              </a:solidFill>
              <a:latin typeface="Montserrat"/>
              <a:ea typeface="Montserrat"/>
              <a:cs typeface="Montserrat"/>
              <a:sym typeface="Montserrat"/>
            </a:endParaRPr>
          </a:p>
        </p:txBody>
      </p:sp>
      <p:sp>
        <p:nvSpPr>
          <p:cNvPr id="2893" name="Google Shape;2893;p31"/>
          <p:cNvSpPr/>
          <p:nvPr/>
        </p:nvSpPr>
        <p:spPr>
          <a:xfrm>
            <a:off x="8076183" y="22282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depósito</a:t>
            </a:r>
            <a:endParaRPr b="0" i="0" sz="400" u="none" cap="none" strike="noStrike">
              <a:solidFill>
                <a:schemeClr val="dk2"/>
              </a:solidFill>
              <a:latin typeface="Montserrat"/>
              <a:ea typeface="Montserrat"/>
              <a:cs typeface="Montserrat"/>
              <a:sym typeface="Montserrat"/>
            </a:endParaRPr>
          </a:p>
        </p:txBody>
      </p:sp>
      <p:sp>
        <p:nvSpPr>
          <p:cNvPr id="2894" name="Google Shape;2894;p31"/>
          <p:cNvSpPr/>
          <p:nvPr/>
        </p:nvSpPr>
        <p:spPr>
          <a:xfrm>
            <a:off x="6563476"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electrónicas</a:t>
            </a:r>
            <a:endParaRPr b="0" i="0" sz="400" u="none" cap="none" strike="noStrike">
              <a:solidFill>
                <a:schemeClr val="dk2"/>
              </a:solidFill>
              <a:latin typeface="Montserrat"/>
              <a:ea typeface="Montserrat"/>
              <a:cs typeface="Montserrat"/>
              <a:sym typeface="Montserrat"/>
            </a:endParaRPr>
          </a:p>
        </p:txBody>
      </p:sp>
      <p:sp>
        <p:nvSpPr>
          <p:cNvPr id="2895" name="Google Shape;2895;p31"/>
          <p:cNvSpPr/>
          <p:nvPr/>
        </p:nvSpPr>
        <p:spPr>
          <a:xfrm>
            <a:off x="7319255"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Banca transaccional</a:t>
            </a:r>
            <a:endParaRPr b="0" i="0" sz="400" u="none" cap="none" strike="noStrike">
              <a:solidFill>
                <a:schemeClr val="dk2"/>
              </a:solidFill>
              <a:latin typeface="Montserrat"/>
              <a:ea typeface="Montserrat"/>
              <a:cs typeface="Montserrat"/>
              <a:sym typeface="Montserrat"/>
            </a:endParaRPr>
          </a:p>
        </p:txBody>
      </p:sp>
      <p:sp>
        <p:nvSpPr>
          <p:cNvPr id="2896" name="Google Shape;2896;p31"/>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Camara de Compensación</a:t>
            </a:r>
            <a:endParaRPr b="0" i="0" sz="400" u="none" cap="none" strike="noStrike">
              <a:solidFill>
                <a:schemeClr val="dk2"/>
              </a:solidFill>
              <a:latin typeface="Montserrat"/>
              <a:ea typeface="Montserrat"/>
              <a:cs typeface="Montserrat"/>
              <a:sym typeface="Montserrat"/>
            </a:endParaRPr>
          </a:p>
        </p:txBody>
      </p:sp>
      <p:sp>
        <p:nvSpPr>
          <p:cNvPr id="2897" name="Google Shape;2897;p31"/>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pagos</a:t>
            </a:r>
            <a:endParaRPr b="0" i="0" sz="400" u="none" cap="none" strike="noStrike">
              <a:solidFill>
                <a:schemeClr val="dk2"/>
              </a:solidFill>
              <a:latin typeface="Montserrat"/>
              <a:ea typeface="Montserrat"/>
              <a:cs typeface="Montserrat"/>
              <a:sym typeface="Montserrat"/>
            </a:endParaRPr>
          </a:p>
        </p:txBody>
      </p:sp>
      <p:sp>
        <p:nvSpPr>
          <p:cNvPr id="2898" name="Google Shape;2898;p31"/>
          <p:cNvSpPr/>
          <p:nvPr/>
        </p:nvSpPr>
        <p:spPr>
          <a:xfrm>
            <a:off x="7319255" y="23842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Procesar transacciones de cuentas de préstamo</a:t>
            </a:r>
            <a:endParaRPr b="0" i="0" sz="400" u="none" cap="none" strike="noStrike">
              <a:solidFill>
                <a:schemeClr val="dk2"/>
              </a:solidFill>
              <a:latin typeface="Montserrat"/>
              <a:ea typeface="Montserrat"/>
              <a:cs typeface="Montserrat"/>
              <a:sym typeface="Montserrat"/>
            </a:endParaRPr>
          </a:p>
        </p:txBody>
      </p:sp>
      <p:sp>
        <p:nvSpPr>
          <p:cNvPr id="2899" name="Google Shape;2899;p31"/>
          <p:cNvSpPr/>
          <p:nvPr/>
        </p:nvSpPr>
        <p:spPr>
          <a:xfrm>
            <a:off x="6562648" y="191810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Facturación</a:t>
            </a:r>
            <a:endParaRPr b="0" i="0" sz="400" u="none" cap="none" strike="noStrike">
              <a:solidFill>
                <a:schemeClr val="dk2"/>
              </a:solidFill>
              <a:latin typeface="Montserrat"/>
              <a:ea typeface="Montserrat"/>
              <a:cs typeface="Montserrat"/>
              <a:sym typeface="Montserrat"/>
            </a:endParaRPr>
          </a:p>
        </p:txBody>
      </p:sp>
      <p:sp>
        <p:nvSpPr>
          <p:cNvPr id="2900" name="Google Shape;2900;p31"/>
          <p:cNvSpPr/>
          <p:nvPr/>
        </p:nvSpPr>
        <p:spPr>
          <a:xfrm>
            <a:off x="6563476" y="254132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Pagos en tiempo real</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Tratamiento</a:t>
            </a:r>
            <a:endParaRPr b="0" i="0" sz="400" u="none" cap="none" strike="noStrike">
              <a:solidFill>
                <a:schemeClr val="dk2"/>
              </a:solidFill>
              <a:latin typeface="Montserrat"/>
              <a:ea typeface="Montserrat"/>
              <a:cs typeface="Montserrat"/>
              <a:sym typeface="Montserrat"/>
            </a:endParaRPr>
          </a:p>
        </p:txBody>
      </p:sp>
      <p:sp>
        <p:nvSpPr>
          <p:cNvPr id="2901" name="Google Shape;2901;p31"/>
          <p:cNvSpPr/>
          <p:nvPr/>
        </p:nvSpPr>
        <p:spPr>
          <a:xfrm>
            <a:off x="4843050" y="12623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Contacto</a:t>
            </a:r>
            <a:endParaRPr b="0" i="0" sz="400" u="none" cap="none" strike="noStrike">
              <a:solidFill>
                <a:schemeClr val="dk2"/>
              </a:solidFill>
              <a:latin typeface="Montserrat"/>
              <a:ea typeface="Montserrat"/>
              <a:cs typeface="Montserrat"/>
              <a:sym typeface="Montserrat"/>
            </a:endParaRPr>
          </a:p>
        </p:txBody>
      </p:sp>
      <p:sp>
        <p:nvSpPr>
          <p:cNvPr id="2902" name="Google Shape;2902;p31"/>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Entidad</a:t>
            </a:r>
            <a:endParaRPr b="0" i="0" sz="400" u="none" cap="none" strike="noStrike">
              <a:solidFill>
                <a:schemeClr val="dk2"/>
              </a:solidFill>
              <a:latin typeface="Montserrat"/>
              <a:ea typeface="Montserrat"/>
              <a:cs typeface="Montserrat"/>
              <a:sym typeface="Montserrat"/>
            </a:endParaRPr>
          </a:p>
        </p:txBody>
      </p:sp>
      <p:sp>
        <p:nvSpPr>
          <p:cNvPr id="2903" name="Google Shape;2903;p31"/>
          <p:cNvSpPr/>
          <p:nvPr/>
        </p:nvSpPr>
        <p:spPr>
          <a:xfrm>
            <a:off x="560367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Relación</a:t>
            </a:r>
            <a:endParaRPr b="0" i="0" sz="400" u="none" cap="none" strike="noStrike">
              <a:solidFill>
                <a:schemeClr val="dk2"/>
              </a:solidFill>
              <a:latin typeface="Montserrat"/>
              <a:ea typeface="Montserrat"/>
              <a:cs typeface="Montserrat"/>
              <a:sym typeface="Montserrat"/>
            </a:endParaRPr>
          </a:p>
        </p:txBody>
      </p:sp>
      <p:sp>
        <p:nvSpPr>
          <p:cNvPr id="2904" name="Google Shape;2904;p31"/>
          <p:cNvSpPr/>
          <p:nvPr/>
        </p:nvSpPr>
        <p:spPr>
          <a:xfrm>
            <a:off x="4843050" y="157262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Seguridad</a:t>
            </a:r>
            <a:endParaRPr b="0" i="0" sz="400" u="none" cap="none" strike="noStrike">
              <a:solidFill>
                <a:schemeClr val="dk2"/>
              </a:solidFill>
              <a:latin typeface="Montserrat"/>
              <a:ea typeface="Montserrat"/>
              <a:cs typeface="Montserrat"/>
              <a:sym typeface="Montserrat"/>
            </a:endParaRPr>
          </a:p>
        </p:txBody>
      </p:sp>
      <p:sp>
        <p:nvSpPr>
          <p:cNvPr id="2905" name="Google Shape;2905;p31"/>
          <p:cNvSpPr/>
          <p:nvPr/>
        </p:nvSpPr>
        <p:spPr>
          <a:xfrm>
            <a:off x="4843050" y="141725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Preferencias</a:t>
            </a:r>
            <a:endParaRPr b="0" i="0" sz="400" u="none" cap="none" strike="noStrike">
              <a:solidFill>
                <a:schemeClr val="dk2"/>
              </a:solidFill>
              <a:latin typeface="Montserrat"/>
              <a:ea typeface="Montserrat"/>
              <a:cs typeface="Montserrat"/>
              <a:sym typeface="Montserrat"/>
            </a:endParaRPr>
          </a:p>
        </p:txBody>
      </p:sp>
      <p:sp>
        <p:nvSpPr>
          <p:cNvPr id="2906" name="Google Shape;2906;p31"/>
          <p:cNvSpPr/>
          <p:nvPr/>
        </p:nvSpPr>
        <p:spPr>
          <a:xfrm>
            <a:off x="560367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Perfil de riesgo de la persona</a:t>
            </a:r>
            <a:endParaRPr b="0" i="0" sz="400" u="none" cap="none" strike="noStrike">
              <a:solidFill>
                <a:schemeClr val="dk2"/>
              </a:solidFill>
              <a:latin typeface="Montserrat"/>
              <a:ea typeface="Montserrat"/>
              <a:cs typeface="Montserrat"/>
              <a:sym typeface="Montserrat"/>
            </a:endParaRPr>
          </a:p>
        </p:txBody>
      </p:sp>
      <p:sp>
        <p:nvSpPr>
          <p:cNvPr id="2907" name="Google Shape;2907;p31"/>
          <p:cNvSpPr/>
          <p:nvPr/>
        </p:nvSpPr>
        <p:spPr>
          <a:xfrm>
            <a:off x="4843050" y="2792041"/>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Data warehouse</a:t>
            </a:r>
            <a:endParaRPr b="0" i="0" sz="900" u="none" cap="none" strike="noStrike">
              <a:solidFill>
                <a:schemeClr val="lt1"/>
              </a:solidFill>
              <a:latin typeface="Montserrat"/>
              <a:ea typeface="Montserrat"/>
              <a:cs typeface="Montserrat"/>
              <a:sym typeface="Montserrat"/>
            </a:endParaRPr>
          </a:p>
        </p:txBody>
      </p:sp>
      <p:sp>
        <p:nvSpPr>
          <p:cNvPr id="2908" name="Google Shape;2908;p31"/>
          <p:cNvSpPr/>
          <p:nvPr/>
        </p:nvSpPr>
        <p:spPr>
          <a:xfrm>
            <a:off x="5603670" y="2636889"/>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Archivo de información del cliente</a:t>
            </a:r>
            <a:endParaRPr b="0" i="0" sz="400" u="none" cap="none" strike="noStrike">
              <a:solidFill>
                <a:schemeClr val="lt1"/>
              </a:solidFill>
              <a:latin typeface="Montserrat"/>
              <a:ea typeface="Montserrat"/>
              <a:cs typeface="Montserrat"/>
              <a:sym typeface="Montserrat"/>
            </a:endParaRPr>
          </a:p>
        </p:txBody>
      </p:sp>
      <p:sp>
        <p:nvSpPr>
          <p:cNvPr id="2909" name="Google Shape;2909;p31"/>
          <p:cNvSpPr/>
          <p:nvPr/>
        </p:nvSpPr>
        <p:spPr>
          <a:xfrm>
            <a:off x="4843050" y="2636889"/>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Analítica</a:t>
            </a:r>
            <a:endParaRPr b="0" i="0" sz="900" u="none" cap="none" strike="noStrike">
              <a:solidFill>
                <a:schemeClr val="lt1"/>
              </a:solidFill>
              <a:latin typeface="Montserrat"/>
              <a:ea typeface="Montserrat"/>
              <a:cs typeface="Montserrat"/>
              <a:sym typeface="Montserrat"/>
            </a:endParaRPr>
          </a:p>
        </p:txBody>
      </p:sp>
      <p:sp>
        <p:nvSpPr>
          <p:cNvPr id="2910" name="Google Shape;2910;p31"/>
          <p:cNvSpPr/>
          <p:nvPr/>
        </p:nvSpPr>
        <p:spPr>
          <a:xfrm>
            <a:off x="5603670" y="2792041"/>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Datos Operacionales</a:t>
            </a:r>
            <a:endParaRPr b="0" i="0" sz="400" u="none" cap="none" strike="noStrike">
              <a:solidFill>
                <a:schemeClr val="lt1"/>
              </a:solidFill>
              <a:latin typeface="Montserrat"/>
              <a:ea typeface="Montserrat"/>
              <a:cs typeface="Montserrat"/>
              <a:sym typeface="Montserrat"/>
            </a:endParaRPr>
          </a:p>
        </p:txBody>
      </p:sp>
      <p:sp>
        <p:nvSpPr>
          <p:cNvPr id="2911" name="Google Shape;2911;p31"/>
          <p:cNvSpPr/>
          <p:nvPr/>
        </p:nvSpPr>
        <p:spPr>
          <a:xfrm>
            <a:off x="5603670" y="2020465"/>
            <a:ext cx="720900" cy="1431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Reportes Regulatorios</a:t>
            </a:r>
            <a:endParaRPr b="0" i="0" sz="400" u="none" cap="none" strike="noStrike">
              <a:solidFill>
                <a:schemeClr val="lt1"/>
              </a:solidFill>
              <a:latin typeface="Montserrat"/>
              <a:ea typeface="Montserrat"/>
              <a:cs typeface="Montserrat"/>
              <a:sym typeface="Montserrat"/>
            </a:endParaRPr>
          </a:p>
        </p:txBody>
      </p:sp>
      <p:sp>
        <p:nvSpPr>
          <p:cNvPr id="2912" name="Google Shape;2912;p31"/>
          <p:cNvSpPr/>
          <p:nvPr/>
        </p:nvSpPr>
        <p:spPr>
          <a:xfrm>
            <a:off x="4843050" y="2020465"/>
            <a:ext cx="720900" cy="1431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 Operacional</a:t>
            </a:r>
            <a:endParaRPr b="0" i="0" sz="400" u="none" cap="none" strike="noStrike">
              <a:solidFill>
                <a:schemeClr val="lt1"/>
              </a:solidFill>
              <a:latin typeface="Montserrat"/>
              <a:ea typeface="Montserrat"/>
              <a:cs typeface="Montserrat"/>
              <a:sym typeface="Montserrat"/>
            </a:endParaRPr>
          </a:p>
        </p:txBody>
      </p:sp>
      <p:sp>
        <p:nvSpPr>
          <p:cNvPr id="2913" name="Google Shape;2913;p31"/>
          <p:cNvSpPr/>
          <p:nvPr/>
        </p:nvSpPr>
        <p:spPr>
          <a:xfrm>
            <a:off x="4843050" y="1865398"/>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contables</a:t>
            </a:r>
            <a:endParaRPr b="0" i="0" sz="400" u="none" cap="none" strike="noStrike">
              <a:solidFill>
                <a:schemeClr val="lt1"/>
              </a:solidFill>
              <a:latin typeface="Montserrat"/>
              <a:ea typeface="Montserrat"/>
              <a:cs typeface="Montserrat"/>
              <a:sym typeface="Montserrat"/>
            </a:endParaRPr>
          </a:p>
        </p:txBody>
      </p:sp>
      <p:sp>
        <p:nvSpPr>
          <p:cNvPr id="2914" name="Google Shape;2914;p31"/>
          <p:cNvSpPr/>
          <p:nvPr/>
        </p:nvSpPr>
        <p:spPr>
          <a:xfrm>
            <a:off x="4843050" y="2331579"/>
            <a:ext cx="720900" cy="1431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Informes de utilización (sistema)</a:t>
            </a:r>
            <a:endParaRPr b="0" i="0" sz="400" u="none" cap="none" strike="noStrike">
              <a:solidFill>
                <a:schemeClr val="lt1"/>
              </a:solidFill>
              <a:latin typeface="Montserrat"/>
              <a:ea typeface="Montserrat"/>
              <a:cs typeface="Montserrat"/>
              <a:sym typeface="Montserrat"/>
            </a:endParaRPr>
          </a:p>
        </p:txBody>
      </p:sp>
      <p:sp>
        <p:nvSpPr>
          <p:cNvPr id="2915" name="Google Shape;2915;p31"/>
          <p:cNvSpPr/>
          <p:nvPr/>
        </p:nvSpPr>
        <p:spPr>
          <a:xfrm>
            <a:off x="5603670" y="1865398"/>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Reportes de clientes</a:t>
            </a:r>
            <a:endParaRPr b="0" i="0" sz="400" u="none" cap="none" strike="noStrike">
              <a:solidFill>
                <a:schemeClr val="lt1"/>
              </a:solidFill>
              <a:latin typeface="Montserrat"/>
              <a:ea typeface="Montserrat"/>
              <a:cs typeface="Montserrat"/>
              <a:sym typeface="Montserrat"/>
            </a:endParaRPr>
          </a:p>
        </p:txBody>
      </p:sp>
      <p:sp>
        <p:nvSpPr>
          <p:cNvPr id="2916" name="Google Shape;2916;p31"/>
          <p:cNvSpPr/>
          <p:nvPr/>
        </p:nvSpPr>
        <p:spPr>
          <a:xfrm>
            <a:off x="5603670" y="2175520"/>
            <a:ext cx="720900" cy="1431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Transaccionales</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 de clientes</a:t>
            </a:r>
            <a:endParaRPr b="0" i="0" sz="400" u="none" cap="none" strike="noStrike">
              <a:solidFill>
                <a:schemeClr val="lt1"/>
              </a:solidFill>
              <a:latin typeface="Montserrat"/>
              <a:ea typeface="Montserrat"/>
              <a:cs typeface="Montserrat"/>
              <a:sym typeface="Montserrat"/>
            </a:endParaRPr>
          </a:p>
        </p:txBody>
      </p:sp>
      <p:sp>
        <p:nvSpPr>
          <p:cNvPr id="2917" name="Google Shape;2917;p31"/>
          <p:cNvSpPr/>
          <p:nvPr/>
        </p:nvSpPr>
        <p:spPr>
          <a:xfrm>
            <a:off x="4840646"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Alertas y</a:t>
            </a:r>
            <a:br>
              <a:rPr b="0" i="0" lang="es" sz="400" u="none" cap="none" strike="noStrike">
                <a:solidFill>
                  <a:schemeClr val="dk2"/>
                </a:solidFill>
                <a:latin typeface="Montserrat"/>
                <a:ea typeface="Montserrat"/>
                <a:cs typeface="Montserrat"/>
                <a:sym typeface="Montserrat"/>
              </a:rPr>
            </a:br>
            <a:r>
              <a:rPr b="0" i="0" lang="es" sz="400" u="none" cap="none" strike="noStrike">
                <a:solidFill>
                  <a:schemeClr val="dk2"/>
                </a:solidFill>
                <a:latin typeface="Montserrat"/>
                <a:ea typeface="Montserrat"/>
                <a:cs typeface="Montserrat"/>
                <a:sym typeface="Montserrat"/>
              </a:rPr>
              <a:t>notificaciones</a:t>
            </a:r>
            <a:endParaRPr b="0" i="0" sz="400" u="none" cap="none" strike="noStrike">
              <a:solidFill>
                <a:schemeClr val="dk2"/>
              </a:solidFill>
              <a:latin typeface="Montserrat"/>
              <a:ea typeface="Montserrat"/>
              <a:cs typeface="Montserrat"/>
              <a:sym typeface="Montserrat"/>
            </a:endParaRPr>
          </a:p>
        </p:txBody>
      </p:sp>
      <p:sp>
        <p:nvSpPr>
          <p:cNvPr id="2918" name="Google Shape;2918;p31"/>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2919" name="Google Shape;2919;p31"/>
          <p:cNvSpPr/>
          <p:nvPr/>
        </p:nvSpPr>
        <p:spPr>
          <a:xfrm>
            <a:off x="4843050" y="2175520"/>
            <a:ext cx="720900" cy="128400"/>
          </a:xfrm>
          <a:prstGeom prst="roundRect">
            <a:avLst>
              <a:gd fmla="val 5041" name="adj"/>
            </a:avLst>
          </a:prstGeom>
          <a:solidFill>
            <a:schemeClr val="accent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2920" name="Google Shape;2920;p31"/>
          <p:cNvSpPr txBox="1"/>
          <p:nvPr/>
        </p:nvSpPr>
        <p:spPr>
          <a:xfrm>
            <a:off x="162854" y="180388"/>
            <a:ext cx="8325802"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 datos y reportes en la arquitectura empresarial de UNITY</a:t>
            </a:r>
            <a:endParaRPr b="0" i="0" sz="900" u="none" cap="none" strike="noStrike">
              <a:solidFill>
                <a:srgbClr val="000000"/>
              </a:solidFill>
              <a:latin typeface="Arial"/>
              <a:ea typeface="Arial"/>
              <a:cs typeface="Arial"/>
              <a:sym typeface="Arial"/>
            </a:endParaRPr>
          </a:p>
        </p:txBody>
      </p:sp>
      <p:sp>
        <p:nvSpPr>
          <p:cNvPr id="2921" name="Google Shape;2921;p31"/>
          <p:cNvSpPr/>
          <p:nvPr/>
        </p:nvSpPr>
        <p:spPr>
          <a:xfrm>
            <a:off x="7683381" y="4546105"/>
            <a:ext cx="1299900" cy="217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22" name="Google Shape;2922;p31"/>
          <p:cNvSpPr/>
          <p:nvPr/>
        </p:nvSpPr>
        <p:spPr>
          <a:xfrm>
            <a:off x="155600" y="3644333"/>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2923" name="Google Shape;2923;p31"/>
          <p:cNvSpPr/>
          <p:nvPr/>
        </p:nvSpPr>
        <p:spPr>
          <a:xfrm>
            <a:off x="155600" y="686927"/>
            <a:ext cx="8830500" cy="168600"/>
          </a:xfrm>
          <a:prstGeom prst="rect">
            <a:avLst/>
          </a:prstGeom>
          <a:solidFill>
            <a:srgbClr val="FFFFFF"/>
          </a:solidFill>
          <a:ln cap="flat" cmpd="sng" w="9525">
            <a:solidFill>
              <a:srgbClr val="BFBFBF"/>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2924" name="Google Shape;2924;p31"/>
          <p:cNvSpPr/>
          <p:nvPr/>
        </p:nvSpPr>
        <p:spPr>
          <a:xfrm>
            <a:off x="155601" y="883984"/>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2925" name="Google Shape;2925;p31"/>
          <p:cNvSpPr/>
          <p:nvPr/>
        </p:nvSpPr>
        <p:spPr>
          <a:xfrm>
            <a:off x="1205537"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2926" name="Google Shape;2926;p31"/>
          <p:cNvSpPr/>
          <p:nvPr/>
        </p:nvSpPr>
        <p:spPr>
          <a:xfrm>
            <a:off x="2309365"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2927" name="Google Shape;2927;p31"/>
          <p:cNvSpPr/>
          <p:nvPr/>
        </p:nvSpPr>
        <p:spPr>
          <a:xfrm>
            <a:off x="3413193"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2928" name="Google Shape;2928;p31"/>
          <p:cNvSpPr/>
          <p:nvPr/>
        </p:nvSpPr>
        <p:spPr>
          <a:xfrm>
            <a:off x="4517021"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2929" name="Google Shape;2929;p31"/>
          <p:cNvSpPr/>
          <p:nvPr/>
        </p:nvSpPr>
        <p:spPr>
          <a:xfrm>
            <a:off x="5620850"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2930" name="Google Shape;2930;p31"/>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2931" name="Google Shape;2931;p31"/>
          <p:cNvSpPr/>
          <p:nvPr/>
        </p:nvSpPr>
        <p:spPr>
          <a:xfrm>
            <a:off x="7828504"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Tarjeta de crédito</a:t>
            </a:r>
            <a:endParaRPr b="0" i="0" sz="500" u="none" cap="none" strike="noStrike">
              <a:solidFill>
                <a:srgbClr val="FFFFFF"/>
              </a:solidFill>
              <a:latin typeface="Montserrat"/>
              <a:ea typeface="Montserrat"/>
              <a:cs typeface="Montserrat"/>
              <a:sym typeface="Montserrat"/>
            </a:endParaRPr>
          </a:p>
        </p:txBody>
      </p:sp>
      <p:sp>
        <p:nvSpPr>
          <p:cNvPr id="2932" name="Google Shape;2932;p31"/>
          <p:cNvSpPr/>
          <p:nvPr/>
        </p:nvSpPr>
        <p:spPr>
          <a:xfrm>
            <a:off x="157900" y="478699"/>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2933" name="Google Shape;2933;p31"/>
          <p:cNvSpPr/>
          <p:nvPr/>
        </p:nvSpPr>
        <p:spPr>
          <a:xfrm>
            <a:off x="1203986" y="499914"/>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2934" name="Google Shape;2934;p31"/>
          <p:cNvSpPr/>
          <p:nvPr/>
        </p:nvSpPr>
        <p:spPr>
          <a:xfrm>
            <a:off x="2748364"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2935" name="Google Shape;2935;p31"/>
          <p:cNvSpPr/>
          <p:nvPr/>
        </p:nvSpPr>
        <p:spPr>
          <a:xfrm>
            <a:off x="4292741"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2936" name="Google Shape;2936;p31"/>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2937" name="Google Shape;2937;p31"/>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2938" name="Google Shape;2938;p31"/>
          <p:cNvSpPr/>
          <p:nvPr/>
        </p:nvSpPr>
        <p:spPr>
          <a:xfrm>
            <a:off x="120398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Kiosco</a:t>
            </a:r>
            <a:endParaRPr b="0" i="0" sz="500" u="none" cap="none" strike="noStrike">
              <a:solidFill>
                <a:schemeClr val="lt1"/>
              </a:solidFill>
              <a:latin typeface="Montserrat"/>
              <a:ea typeface="Montserrat"/>
              <a:cs typeface="Montserrat"/>
              <a:sym typeface="Montserrat"/>
            </a:endParaRPr>
          </a:p>
        </p:txBody>
      </p:sp>
      <p:sp>
        <p:nvSpPr>
          <p:cNvPr id="2939" name="Google Shape;2939;p31"/>
          <p:cNvSpPr/>
          <p:nvPr/>
        </p:nvSpPr>
        <p:spPr>
          <a:xfrm>
            <a:off x="206217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Web/Online</a:t>
            </a:r>
            <a:endParaRPr b="0" i="0" sz="500" u="none" cap="none" strike="noStrike">
              <a:solidFill>
                <a:schemeClr val="lt1"/>
              </a:solidFill>
              <a:latin typeface="Montserrat"/>
              <a:ea typeface="Montserrat"/>
              <a:cs typeface="Montserrat"/>
              <a:sym typeface="Montserrat"/>
            </a:endParaRPr>
          </a:p>
        </p:txBody>
      </p:sp>
      <p:sp>
        <p:nvSpPr>
          <p:cNvPr id="2940" name="Google Shape;2940;p31"/>
          <p:cNvSpPr/>
          <p:nvPr/>
        </p:nvSpPr>
        <p:spPr>
          <a:xfrm>
            <a:off x="377854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Sucursal</a:t>
            </a:r>
            <a:endParaRPr b="0" i="0" sz="500" u="none" cap="none" strike="noStrike">
              <a:solidFill>
                <a:schemeClr val="lt1"/>
              </a:solidFill>
              <a:latin typeface="Montserrat"/>
              <a:ea typeface="Montserrat"/>
              <a:cs typeface="Montserrat"/>
              <a:sym typeface="Montserrat"/>
            </a:endParaRPr>
          </a:p>
        </p:txBody>
      </p:sp>
      <p:sp>
        <p:nvSpPr>
          <p:cNvPr id="2941" name="Google Shape;2941;p31"/>
          <p:cNvSpPr/>
          <p:nvPr/>
        </p:nvSpPr>
        <p:spPr>
          <a:xfrm>
            <a:off x="463673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Móvil y Tablet</a:t>
            </a:r>
            <a:endParaRPr b="0" i="0" sz="500" u="none" cap="none" strike="noStrike">
              <a:solidFill>
                <a:schemeClr val="lt1"/>
              </a:solidFill>
              <a:latin typeface="Montserrat"/>
              <a:ea typeface="Montserrat"/>
              <a:cs typeface="Montserrat"/>
              <a:sym typeface="Montserrat"/>
            </a:endParaRPr>
          </a:p>
        </p:txBody>
      </p:sp>
      <p:sp>
        <p:nvSpPr>
          <p:cNvPr id="2942" name="Google Shape;2942;p31"/>
          <p:cNvSpPr/>
          <p:nvPr/>
        </p:nvSpPr>
        <p:spPr>
          <a:xfrm>
            <a:off x="5494920"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ATM</a:t>
            </a:r>
            <a:endParaRPr b="0" i="0" sz="500" u="none" cap="none" strike="noStrike">
              <a:solidFill>
                <a:schemeClr val="lt1"/>
              </a:solidFill>
              <a:latin typeface="Montserrat"/>
              <a:ea typeface="Montserrat"/>
              <a:cs typeface="Montserrat"/>
              <a:sym typeface="Montserrat"/>
            </a:endParaRPr>
          </a:p>
        </p:txBody>
      </p:sp>
      <p:sp>
        <p:nvSpPr>
          <p:cNvPr id="2943" name="Google Shape;2943;p31"/>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0" i="0" lang="es" sz="500" u="none" cap="none" strike="noStrike">
                <a:solidFill>
                  <a:schemeClr val="lt1"/>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2944" name="Google Shape;2944;p31"/>
          <p:cNvSpPr/>
          <p:nvPr/>
        </p:nvSpPr>
        <p:spPr>
          <a:xfrm>
            <a:off x="721129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Autoservicio</a:t>
            </a:r>
            <a:endParaRPr b="0" i="0" sz="500" u="none" cap="none" strike="noStrike">
              <a:solidFill>
                <a:schemeClr val="lt1"/>
              </a:solidFill>
              <a:latin typeface="Montserrat"/>
              <a:ea typeface="Montserrat"/>
              <a:cs typeface="Montserrat"/>
              <a:sym typeface="Montserrat"/>
            </a:endParaRPr>
          </a:p>
        </p:txBody>
      </p:sp>
      <p:sp>
        <p:nvSpPr>
          <p:cNvPr id="2945" name="Google Shape;2945;p31"/>
          <p:cNvSpPr/>
          <p:nvPr/>
        </p:nvSpPr>
        <p:spPr>
          <a:xfrm>
            <a:off x="8069478"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Terceros</a:t>
            </a:r>
            <a:endParaRPr b="0" i="0" sz="500" u="none" cap="none" strike="noStrike">
              <a:solidFill>
                <a:schemeClr val="lt1"/>
              </a:solidFill>
              <a:latin typeface="Montserrat"/>
              <a:ea typeface="Montserrat"/>
              <a:cs typeface="Montserrat"/>
              <a:sym typeface="Montserrat"/>
            </a:endParaRPr>
          </a:p>
        </p:txBody>
      </p:sp>
      <p:sp>
        <p:nvSpPr>
          <p:cNvPr id="2946" name="Google Shape;2946;p31"/>
          <p:cNvSpPr/>
          <p:nvPr/>
        </p:nvSpPr>
        <p:spPr>
          <a:xfrm>
            <a:off x="2926715" y="712158"/>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chemeClr val="lt1"/>
                </a:solidFill>
                <a:latin typeface="Montserrat"/>
                <a:ea typeface="Montserrat"/>
                <a:cs typeface="Montserrat"/>
                <a:sym typeface="Montserrat"/>
              </a:rPr>
              <a:t>Call Center</a:t>
            </a:r>
            <a:endParaRPr b="0" i="0" sz="500" u="none" cap="none" strike="noStrike">
              <a:solidFill>
                <a:schemeClr val="lt1"/>
              </a:solidFill>
              <a:latin typeface="Montserrat"/>
              <a:ea typeface="Montserrat"/>
              <a:cs typeface="Montserrat"/>
              <a:sym typeface="Montserrat"/>
            </a:endParaRPr>
          </a:p>
        </p:txBody>
      </p:sp>
      <p:grpSp>
        <p:nvGrpSpPr>
          <p:cNvPr id="2947" name="Google Shape;2947;p31"/>
          <p:cNvGrpSpPr/>
          <p:nvPr/>
        </p:nvGrpSpPr>
        <p:grpSpPr>
          <a:xfrm>
            <a:off x="170309" y="4739071"/>
            <a:ext cx="8734889" cy="299690"/>
            <a:chOff x="198406" y="4645356"/>
            <a:chExt cx="8734889" cy="299690"/>
          </a:xfrm>
        </p:grpSpPr>
        <p:grpSp>
          <p:nvGrpSpPr>
            <p:cNvPr id="2948" name="Google Shape;2948;p31"/>
            <p:cNvGrpSpPr/>
            <p:nvPr/>
          </p:nvGrpSpPr>
          <p:grpSpPr>
            <a:xfrm>
              <a:off x="1503657" y="4660313"/>
              <a:ext cx="807625" cy="284725"/>
              <a:chOff x="1522664" y="3002518"/>
              <a:chExt cx="807625" cy="230759"/>
            </a:xfrm>
          </p:grpSpPr>
          <p:grpSp>
            <p:nvGrpSpPr>
              <p:cNvPr id="2949" name="Google Shape;2949;p31"/>
              <p:cNvGrpSpPr/>
              <p:nvPr/>
            </p:nvGrpSpPr>
            <p:grpSpPr>
              <a:xfrm>
                <a:off x="1522664" y="3002518"/>
                <a:ext cx="807625" cy="230759"/>
                <a:chOff x="13814585" y="1926698"/>
                <a:chExt cx="2486530" cy="804600"/>
              </a:xfrm>
            </p:grpSpPr>
            <p:sp>
              <p:nvSpPr>
                <p:cNvPr id="2950" name="Google Shape;2950;p31"/>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2951" name="Google Shape;2951;p31"/>
                <p:cNvGrpSpPr/>
                <p:nvPr/>
              </p:nvGrpSpPr>
              <p:grpSpPr>
                <a:xfrm>
                  <a:off x="14018731" y="2168949"/>
                  <a:ext cx="396177" cy="320504"/>
                  <a:chOff x="-3757613" y="5049838"/>
                  <a:chExt cx="5826126" cy="4713288"/>
                </a:xfrm>
              </p:grpSpPr>
              <p:sp>
                <p:nvSpPr>
                  <p:cNvPr id="2952" name="Google Shape;2952;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53" name="Google Shape;2953;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54" name="Google Shape;2954;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55" name="Google Shape;2955;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56" name="Google Shape;2956;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957" name="Google Shape;2957;p31"/>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958" name="Google Shape;2958;p31"/>
              <p:cNvPicPr preferRelativeResize="0"/>
              <p:nvPr/>
            </p:nvPicPr>
            <p:blipFill rotWithShape="1">
              <a:blip r:embed="rId3">
                <a:alphaModFix/>
              </a:blip>
              <a:srcRect b="0" l="0" r="0" t="0"/>
              <a:stretch/>
            </p:blipFill>
            <p:spPr>
              <a:xfrm>
                <a:off x="1545256" y="3020281"/>
                <a:ext cx="192553" cy="170844"/>
              </a:xfrm>
              <a:prstGeom prst="rect">
                <a:avLst/>
              </a:prstGeom>
              <a:solidFill>
                <a:srgbClr val="F3F3F3"/>
              </a:solidFill>
              <a:ln>
                <a:noFill/>
              </a:ln>
            </p:spPr>
          </p:pic>
        </p:grpSp>
        <p:grpSp>
          <p:nvGrpSpPr>
            <p:cNvPr id="2959" name="Google Shape;2959;p31"/>
            <p:cNvGrpSpPr/>
            <p:nvPr/>
          </p:nvGrpSpPr>
          <p:grpSpPr>
            <a:xfrm>
              <a:off x="6779440" y="4652423"/>
              <a:ext cx="848649" cy="284741"/>
              <a:chOff x="3536077" y="1822016"/>
              <a:chExt cx="1131531" cy="320472"/>
            </a:xfrm>
          </p:grpSpPr>
          <p:grpSp>
            <p:nvGrpSpPr>
              <p:cNvPr id="2960" name="Google Shape;2960;p31"/>
              <p:cNvGrpSpPr/>
              <p:nvPr/>
            </p:nvGrpSpPr>
            <p:grpSpPr>
              <a:xfrm>
                <a:off x="3536077" y="1822016"/>
                <a:ext cx="1131531" cy="320472"/>
                <a:chOff x="13814589" y="1926698"/>
                <a:chExt cx="2612633" cy="804600"/>
              </a:xfrm>
            </p:grpSpPr>
            <p:sp>
              <p:nvSpPr>
                <p:cNvPr id="2961" name="Google Shape;2961;p31"/>
                <p:cNvSpPr/>
                <p:nvPr/>
              </p:nvSpPr>
              <p:spPr>
                <a:xfrm>
                  <a:off x="13857778" y="1977406"/>
                  <a:ext cx="2569444" cy="703199"/>
                </a:xfrm>
                <a:prstGeom prst="roundRect">
                  <a:avLst>
                    <a:gd fmla="val 50000" name="adj"/>
                  </a:avLst>
                </a:prstGeom>
                <a:solidFill>
                  <a:schemeClr val="accent3"/>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2962" name="Google Shape;2962;p31"/>
                <p:cNvGrpSpPr/>
                <p:nvPr/>
              </p:nvGrpSpPr>
              <p:grpSpPr>
                <a:xfrm>
                  <a:off x="14018731" y="2168949"/>
                  <a:ext cx="396177" cy="320504"/>
                  <a:chOff x="-3757613" y="5049838"/>
                  <a:chExt cx="5826126" cy="4713288"/>
                </a:xfrm>
              </p:grpSpPr>
              <p:sp>
                <p:nvSpPr>
                  <p:cNvPr id="2963" name="Google Shape;2963;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64" name="Google Shape;2964;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65" name="Google Shape;2965;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66" name="Google Shape;2966;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67" name="Google Shape;2967;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68" name="Google Shape;2968;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969" name="Google Shape;2969;p31"/>
                <p:cNvSpPr/>
                <p:nvPr/>
              </p:nvSpPr>
              <p:spPr>
                <a:xfrm>
                  <a:off x="13814589" y="1926698"/>
                  <a:ext cx="804600" cy="804600"/>
                </a:xfrm>
                <a:prstGeom prst="ellipse">
                  <a:avLst/>
                </a:prstGeom>
                <a:solidFill>
                  <a:schemeClr val="lt1"/>
                </a:solidFill>
                <a:ln cap="flat" cmpd="sng" w="76200">
                  <a:solidFill>
                    <a:schemeClr val="accent3"/>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970" name="Google Shape;2970;p31"/>
              <p:cNvPicPr preferRelativeResize="0"/>
              <p:nvPr/>
            </p:nvPicPr>
            <p:blipFill rotWithShape="1">
              <a:blip r:embed="rId4">
                <a:alphaModFix/>
              </a:blip>
              <a:srcRect b="0" l="0" r="0" t="0"/>
              <a:stretch/>
            </p:blipFill>
            <p:spPr>
              <a:xfrm>
                <a:off x="3580772" y="1872169"/>
                <a:ext cx="237222" cy="210318"/>
              </a:xfrm>
              <a:prstGeom prst="rect">
                <a:avLst/>
              </a:prstGeom>
              <a:noFill/>
              <a:ln>
                <a:noFill/>
              </a:ln>
            </p:spPr>
          </p:pic>
        </p:grpSp>
        <p:grpSp>
          <p:nvGrpSpPr>
            <p:cNvPr id="2971" name="Google Shape;2971;p31"/>
            <p:cNvGrpSpPr/>
            <p:nvPr/>
          </p:nvGrpSpPr>
          <p:grpSpPr>
            <a:xfrm>
              <a:off x="2808800" y="4652423"/>
              <a:ext cx="827267" cy="284741"/>
              <a:chOff x="1567187" y="1984411"/>
              <a:chExt cx="1103024" cy="320472"/>
            </a:xfrm>
          </p:grpSpPr>
          <p:grpSp>
            <p:nvGrpSpPr>
              <p:cNvPr id="2972" name="Google Shape;2972;p31"/>
              <p:cNvGrpSpPr/>
              <p:nvPr/>
            </p:nvGrpSpPr>
            <p:grpSpPr>
              <a:xfrm>
                <a:off x="1567187" y="1984411"/>
                <a:ext cx="1103024" cy="320472"/>
                <a:chOff x="13814589" y="1926698"/>
                <a:chExt cx="2546808" cy="804600"/>
              </a:xfrm>
            </p:grpSpPr>
            <p:sp>
              <p:nvSpPr>
                <p:cNvPr id="2973" name="Google Shape;2973;p31"/>
                <p:cNvSpPr/>
                <p:nvPr/>
              </p:nvSpPr>
              <p:spPr>
                <a:xfrm>
                  <a:off x="13891172" y="1977408"/>
                  <a:ext cx="2470225" cy="703199"/>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2974" name="Google Shape;2974;p31"/>
                <p:cNvGrpSpPr/>
                <p:nvPr/>
              </p:nvGrpSpPr>
              <p:grpSpPr>
                <a:xfrm>
                  <a:off x="14018731" y="2168949"/>
                  <a:ext cx="396177" cy="320504"/>
                  <a:chOff x="-3757613" y="5049838"/>
                  <a:chExt cx="5826126" cy="4713288"/>
                </a:xfrm>
              </p:grpSpPr>
              <p:sp>
                <p:nvSpPr>
                  <p:cNvPr id="2975" name="Google Shape;2975;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976" name="Google Shape;2976;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977" name="Google Shape;2977;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978" name="Google Shape;2978;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979" name="Google Shape;2979;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2980" name="Google Shape;2980;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2981" name="Google Shape;2981;p31"/>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2982" name="Google Shape;2982;p31"/>
              <p:cNvPicPr preferRelativeResize="0"/>
              <p:nvPr/>
            </p:nvPicPr>
            <p:blipFill rotWithShape="1">
              <a:blip r:embed="rId5">
                <a:alphaModFix/>
              </a:blip>
              <a:srcRect b="0" l="0" r="0" t="0"/>
              <a:stretch/>
            </p:blipFill>
            <p:spPr>
              <a:xfrm>
                <a:off x="1612093" y="2025505"/>
                <a:ext cx="272555" cy="252119"/>
              </a:xfrm>
              <a:prstGeom prst="rect">
                <a:avLst/>
              </a:prstGeom>
              <a:solidFill>
                <a:srgbClr val="F3F3F3"/>
              </a:solidFill>
              <a:ln>
                <a:noFill/>
              </a:ln>
            </p:spPr>
          </p:pic>
        </p:grpSp>
        <p:grpSp>
          <p:nvGrpSpPr>
            <p:cNvPr id="2983" name="Google Shape;2983;p31"/>
            <p:cNvGrpSpPr/>
            <p:nvPr/>
          </p:nvGrpSpPr>
          <p:grpSpPr>
            <a:xfrm>
              <a:off x="4133585" y="4660305"/>
              <a:ext cx="825685" cy="284741"/>
              <a:chOff x="5704388" y="3794681"/>
              <a:chExt cx="1100915" cy="320472"/>
            </a:xfrm>
          </p:grpSpPr>
          <p:grpSp>
            <p:nvGrpSpPr>
              <p:cNvPr id="2984" name="Google Shape;2984;p31"/>
              <p:cNvGrpSpPr/>
              <p:nvPr/>
            </p:nvGrpSpPr>
            <p:grpSpPr>
              <a:xfrm>
                <a:off x="5704388" y="3794681"/>
                <a:ext cx="1100915" cy="320472"/>
                <a:chOff x="13814589" y="1926698"/>
                <a:chExt cx="2541938" cy="804600"/>
              </a:xfrm>
            </p:grpSpPr>
            <p:sp>
              <p:nvSpPr>
                <p:cNvPr id="2985" name="Google Shape;2985;p31"/>
                <p:cNvSpPr/>
                <p:nvPr/>
              </p:nvSpPr>
              <p:spPr>
                <a:xfrm>
                  <a:off x="13915650" y="1977408"/>
                  <a:ext cx="2440877" cy="703199"/>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2986" name="Google Shape;2986;p31"/>
                <p:cNvGrpSpPr/>
                <p:nvPr/>
              </p:nvGrpSpPr>
              <p:grpSpPr>
                <a:xfrm>
                  <a:off x="14018731" y="2168949"/>
                  <a:ext cx="396177" cy="320504"/>
                  <a:chOff x="-3757613" y="5049838"/>
                  <a:chExt cx="5826126" cy="4713288"/>
                </a:xfrm>
              </p:grpSpPr>
              <p:sp>
                <p:nvSpPr>
                  <p:cNvPr id="2987" name="Google Shape;2987;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88" name="Google Shape;2988;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89" name="Google Shape;2989;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90" name="Google Shape;2990;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91" name="Google Shape;2991;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2992" name="Google Shape;2992;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2993" name="Google Shape;2993;p31"/>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2994" name="Google Shape;2994;p31"/>
              <p:cNvPicPr preferRelativeResize="0"/>
              <p:nvPr/>
            </p:nvPicPr>
            <p:blipFill rotWithShape="1">
              <a:blip r:embed="rId6">
                <a:alphaModFix/>
              </a:blip>
              <a:srcRect b="0" l="0" r="0" t="0"/>
              <a:stretch/>
            </p:blipFill>
            <p:spPr>
              <a:xfrm>
                <a:off x="5767008" y="3838479"/>
                <a:ext cx="223168" cy="205291"/>
              </a:xfrm>
              <a:prstGeom prst="rect">
                <a:avLst/>
              </a:prstGeom>
              <a:solidFill>
                <a:srgbClr val="F3F3F3"/>
              </a:solidFill>
              <a:ln>
                <a:noFill/>
              </a:ln>
            </p:spPr>
          </p:pic>
        </p:grpSp>
        <p:grpSp>
          <p:nvGrpSpPr>
            <p:cNvPr id="2995" name="Google Shape;2995;p31"/>
            <p:cNvGrpSpPr/>
            <p:nvPr/>
          </p:nvGrpSpPr>
          <p:grpSpPr>
            <a:xfrm>
              <a:off x="5456788" y="4645356"/>
              <a:ext cx="825134" cy="284741"/>
              <a:chOff x="2785851" y="1986995"/>
              <a:chExt cx="1100179" cy="320472"/>
            </a:xfrm>
          </p:grpSpPr>
          <p:grpSp>
            <p:nvGrpSpPr>
              <p:cNvPr id="2996" name="Google Shape;2996;p31"/>
              <p:cNvGrpSpPr/>
              <p:nvPr/>
            </p:nvGrpSpPr>
            <p:grpSpPr>
              <a:xfrm>
                <a:off x="2785851" y="1986995"/>
                <a:ext cx="1100179" cy="320472"/>
                <a:chOff x="13814589" y="1926698"/>
                <a:chExt cx="2540244" cy="804600"/>
              </a:xfrm>
            </p:grpSpPr>
            <p:sp>
              <p:nvSpPr>
                <p:cNvPr id="2997" name="Google Shape;2997;p31"/>
                <p:cNvSpPr/>
                <p:nvPr/>
              </p:nvSpPr>
              <p:spPr>
                <a:xfrm>
                  <a:off x="13964608" y="1977408"/>
                  <a:ext cx="2390225" cy="703199"/>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2998" name="Google Shape;2998;p31"/>
                <p:cNvGrpSpPr/>
                <p:nvPr/>
              </p:nvGrpSpPr>
              <p:grpSpPr>
                <a:xfrm>
                  <a:off x="14018731" y="2168949"/>
                  <a:ext cx="396177" cy="320504"/>
                  <a:chOff x="-3757613" y="5049838"/>
                  <a:chExt cx="5826126" cy="4713288"/>
                </a:xfrm>
              </p:grpSpPr>
              <p:sp>
                <p:nvSpPr>
                  <p:cNvPr id="2999" name="Google Shape;2999;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00" name="Google Shape;3000;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01" name="Google Shape;3001;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02" name="Google Shape;3002;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03" name="Google Shape;3003;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04" name="Google Shape;3004;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005" name="Google Shape;3005;p31"/>
                <p:cNvSpPr/>
                <p:nvPr/>
              </p:nvSpPr>
              <p:spPr>
                <a:xfrm>
                  <a:off x="13814589" y="1926698"/>
                  <a:ext cx="804600" cy="804600"/>
                </a:xfrm>
                <a:prstGeom prst="ellipse">
                  <a:avLst/>
                </a:prstGeom>
                <a:solidFill>
                  <a:schemeClr val="lt1"/>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006" name="Google Shape;3006;p31"/>
              <p:cNvPicPr preferRelativeResize="0"/>
              <p:nvPr/>
            </p:nvPicPr>
            <p:blipFill rotWithShape="1">
              <a:blip r:embed="rId7">
                <a:alphaModFix/>
              </a:blip>
              <a:srcRect b="0" l="0" r="0" t="0"/>
              <a:stretch/>
            </p:blipFill>
            <p:spPr>
              <a:xfrm>
                <a:off x="2837682" y="2047617"/>
                <a:ext cx="231349" cy="212818"/>
              </a:xfrm>
              <a:prstGeom prst="rect">
                <a:avLst/>
              </a:prstGeom>
              <a:solidFill>
                <a:srgbClr val="F3F3F3"/>
              </a:solidFill>
              <a:ln>
                <a:noFill/>
              </a:ln>
            </p:spPr>
          </p:pic>
        </p:grpSp>
        <p:grpSp>
          <p:nvGrpSpPr>
            <p:cNvPr id="3007" name="Google Shape;3007;p31"/>
            <p:cNvGrpSpPr/>
            <p:nvPr/>
          </p:nvGrpSpPr>
          <p:grpSpPr>
            <a:xfrm>
              <a:off x="8125609" y="4660305"/>
              <a:ext cx="807686" cy="284741"/>
              <a:chOff x="3756828" y="2436551"/>
              <a:chExt cx="1076914" cy="320472"/>
            </a:xfrm>
          </p:grpSpPr>
          <p:grpSp>
            <p:nvGrpSpPr>
              <p:cNvPr id="3008" name="Google Shape;3008;p31"/>
              <p:cNvGrpSpPr/>
              <p:nvPr/>
            </p:nvGrpSpPr>
            <p:grpSpPr>
              <a:xfrm>
                <a:off x="3756828" y="2436551"/>
                <a:ext cx="1076914" cy="320472"/>
                <a:chOff x="13814589" y="1926698"/>
                <a:chExt cx="2486526" cy="804600"/>
              </a:xfrm>
            </p:grpSpPr>
            <p:sp>
              <p:nvSpPr>
                <p:cNvPr id="3009" name="Google Shape;3009;p31"/>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3010" name="Google Shape;3010;p31"/>
                <p:cNvGrpSpPr/>
                <p:nvPr/>
              </p:nvGrpSpPr>
              <p:grpSpPr>
                <a:xfrm>
                  <a:off x="14018731" y="2168949"/>
                  <a:ext cx="396177" cy="320504"/>
                  <a:chOff x="-3757613" y="5049838"/>
                  <a:chExt cx="5826126" cy="4713288"/>
                </a:xfrm>
              </p:grpSpPr>
              <p:sp>
                <p:nvSpPr>
                  <p:cNvPr id="3011" name="Google Shape;3011;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12" name="Google Shape;3012;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13" name="Google Shape;3013;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14" name="Google Shape;3014;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15" name="Google Shape;3015;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16" name="Google Shape;3016;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017" name="Google Shape;3017;p31"/>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3018" name="Google Shape;3018;p31"/>
              <p:cNvPicPr preferRelativeResize="0"/>
              <p:nvPr/>
            </p:nvPicPr>
            <p:blipFill rotWithShape="1">
              <a:blip r:embed="rId8">
                <a:alphaModFix/>
              </a:blip>
              <a:srcRect b="0" l="0" r="0" t="0"/>
              <a:stretch/>
            </p:blipFill>
            <p:spPr>
              <a:xfrm>
                <a:off x="3826190" y="2481834"/>
                <a:ext cx="230642" cy="212165"/>
              </a:xfrm>
              <a:prstGeom prst="rect">
                <a:avLst/>
              </a:prstGeom>
              <a:solidFill>
                <a:srgbClr val="F3F3F3"/>
              </a:solidFill>
              <a:ln>
                <a:noFill/>
              </a:ln>
            </p:spPr>
          </p:pic>
        </p:grpSp>
        <p:grpSp>
          <p:nvGrpSpPr>
            <p:cNvPr id="3019" name="Google Shape;3019;p31"/>
            <p:cNvGrpSpPr/>
            <p:nvPr/>
          </p:nvGrpSpPr>
          <p:grpSpPr>
            <a:xfrm>
              <a:off x="198406" y="4660317"/>
              <a:ext cx="807733" cy="284716"/>
              <a:chOff x="1259501" y="3077120"/>
              <a:chExt cx="1076977" cy="320400"/>
            </a:xfrm>
          </p:grpSpPr>
          <p:sp>
            <p:nvSpPr>
              <p:cNvPr id="3020" name="Google Shape;3020;p31"/>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3021" name="Google Shape;3021;p31"/>
              <p:cNvGrpSpPr/>
              <p:nvPr/>
            </p:nvGrpSpPr>
            <p:grpSpPr>
              <a:xfrm>
                <a:off x="1347730" y="3173687"/>
                <a:ext cx="171871" cy="127730"/>
                <a:chOff x="-3757613" y="5049838"/>
                <a:chExt cx="5826126" cy="4713288"/>
              </a:xfrm>
            </p:grpSpPr>
            <p:sp>
              <p:nvSpPr>
                <p:cNvPr id="3022" name="Google Shape;3022;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23" name="Google Shape;3023;p31"/>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24" name="Google Shape;3024;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25" name="Google Shape;3025;p31"/>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26" name="Google Shape;3026;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027" name="Google Shape;3027;p31"/>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028" name="Google Shape;3028;p31"/>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3029" name="Google Shape;3029;p31"/>
              <p:cNvPicPr preferRelativeResize="0"/>
              <p:nvPr/>
            </p:nvPicPr>
            <p:blipFill rotWithShape="1">
              <a:blip r:embed="rId9">
                <a:alphaModFix/>
              </a:blip>
              <a:srcRect b="0" l="0" r="0" t="0"/>
              <a:stretch/>
            </p:blipFill>
            <p:spPr>
              <a:xfrm>
                <a:off x="1297196" y="3109639"/>
                <a:ext cx="259736" cy="240263"/>
              </a:xfrm>
              <a:prstGeom prst="rect">
                <a:avLst/>
              </a:prstGeom>
              <a:solidFill>
                <a:srgbClr val="F3F3F3"/>
              </a:solidFill>
              <a:ln>
                <a:noFill/>
              </a:ln>
            </p:spPr>
          </p:pic>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3" name="Shape 3033"/>
        <p:cNvGrpSpPr/>
        <p:nvPr/>
      </p:nvGrpSpPr>
      <p:grpSpPr>
        <a:xfrm>
          <a:off x="0" y="0"/>
          <a:ext cx="0" cy="0"/>
          <a:chOff x="0" y="0"/>
          <a:chExt cx="0" cy="0"/>
        </a:xfrm>
      </p:grpSpPr>
      <p:sp>
        <p:nvSpPr>
          <p:cNvPr id="3034" name="Google Shape;3034;p32"/>
          <p:cNvSpPr/>
          <p:nvPr/>
        </p:nvSpPr>
        <p:spPr>
          <a:xfrm>
            <a:off x="7683381" y="4546105"/>
            <a:ext cx="1299900" cy="217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35" name="Google Shape;3035;p32"/>
          <p:cNvSpPr/>
          <p:nvPr/>
        </p:nvSpPr>
        <p:spPr>
          <a:xfrm>
            <a:off x="155601" y="1078376"/>
            <a:ext cx="8830500" cy="2533200"/>
          </a:xfrm>
          <a:prstGeom prst="rect">
            <a:avLst/>
          </a:prstGeom>
          <a:solidFill>
            <a:srgbClr val="FFFFFF"/>
          </a:solidFill>
          <a:ln cap="flat" cmpd="sng" w="9525">
            <a:solidFill>
              <a:srgbClr val="BFBFBF"/>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3036" name="Google Shape;3036;p32"/>
          <p:cNvSpPr txBox="1"/>
          <p:nvPr/>
        </p:nvSpPr>
        <p:spPr>
          <a:xfrm>
            <a:off x="7626125" y="4173820"/>
            <a:ext cx="1312800" cy="4002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7" name="Google Shape;3037;p32"/>
          <p:cNvSpPr txBox="1"/>
          <p:nvPr/>
        </p:nvSpPr>
        <p:spPr>
          <a:xfrm>
            <a:off x="7571175" y="3945760"/>
            <a:ext cx="1297500" cy="4002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8" name="Google Shape;3038;p32"/>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3039" name="Google Shape;3039;p32"/>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3040" name="Google Shape;3040;p32"/>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3041" name="Google Shape;3041;p32"/>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3042" name="Google Shape;3042;p32"/>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3043" name="Google Shape;3043;p32"/>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044" name="Google Shape;3044;p32"/>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3045" name="Google Shape;3045;p32"/>
          <p:cNvSpPr/>
          <p:nvPr/>
        </p:nvSpPr>
        <p:spPr>
          <a:xfrm>
            <a:off x="3799284" y="3288556"/>
            <a:ext cx="5078100" cy="2886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46" name="Google Shape;3046;p32"/>
          <p:cNvSpPr/>
          <p:nvPr/>
        </p:nvSpPr>
        <p:spPr>
          <a:xfrm>
            <a:off x="3798694" y="1148353"/>
            <a:ext cx="883800" cy="8808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47" name="Google Shape;3047;p32"/>
          <p:cNvSpPr/>
          <p:nvPr/>
        </p:nvSpPr>
        <p:spPr>
          <a:xfrm>
            <a:off x="3799283" y="2062803"/>
            <a:ext cx="882600" cy="7317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3048" name="Google Shape;3048;p32"/>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49" name="Google Shape;3049;p32"/>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50" name="Google Shape;3050;p32"/>
          <p:cNvSpPr/>
          <p:nvPr/>
        </p:nvSpPr>
        <p:spPr>
          <a:xfrm>
            <a:off x="1204099" y="1806291"/>
            <a:ext cx="2494500" cy="9348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051" name="Google Shape;3051;p32"/>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3052" name="Google Shape;3052;p32"/>
          <p:cNvSpPr/>
          <p:nvPr/>
        </p:nvSpPr>
        <p:spPr>
          <a:xfrm>
            <a:off x="1206566" y="1148353"/>
            <a:ext cx="2489700" cy="6219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053" name="Google Shape;3053;p32"/>
          <p:cNvSpPr/>
          <p:nvPr/>
        </p:nvSpPr>
        <p:spPr>
          <a:xfrm>
            <a:off x="6488944" y="1148351"/>
            <a:ext cx="2389500" cy="6237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54" name="Google Shape;3054;p32"/>
          <p:cNvSpPr/>
          <p:nvPr/>
        </p:nvSpPr>
        <p:spPr>
          <a:xfrm>
            <a:off x="6490037" y="2776695"/>
            <a:ext cx="2387400" cy="474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3055" name="Google Shape;3055;p32"/>
          <p:cNvSpPr/>
          <p:nvPr/>
        </p:nvSpPr>
        <p:spPr>
          <a:xfrm>
            <a:off x="6483514" y="1803271"/>
            <a:ext cx="2390400" cy="9366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3056" name="Google Shape;3056;p32"/>
          <p:cNvSpPr/>
          <p:nvPr/>
        </p:nvSpPr>
        <p:spPr>
          <a:xfrm>
            <a:off x="4782477" y="1148353"/>
            <a:ext cx="1606200" cy="579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3057" name="Google Shape;3057;p32"/>
          <p:cNvSpPr/>
          <p:nvPr/>
        </p:nvSpPr>
        <p:spPr>
          <a:xfrm>
            <a:off x="4783580" y="2519181"/>
            <a:ext cx="1604100" cy="439800"/>
          </a:xfrm>
          <a:prstGeom prst="rect">
            <a:avLst/>
          </a:prstGeom>
          <a:noFill/>
          <a:ln cap="flat" cmpd="sng" w="9525">
            <a:solidFill>
              <a:srgbClr val="265AA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058" name="Google Shape;3058;p32"/>
          <p:cNvSpPr/>
          <p:nvPr/>
        </p:nvSpPr>
        <p:spPr>
          <a:xfrm>
            <a:off x="4784086" y="1750565"/>
            <a:ext cx="1603200" cy="748500"/>
          </a:xfrm>
          <a:prstGeom prst="rect">
            <a:avLst/>
          </a:prstGeom>
          <a:noFill/>
          <a:ln cap="flat" cmpd="sng" w="9525">
            <a:solidFill>
              <a:srgbClr val="BFBFBF"/>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59" name="Google Shape;3059;p32"/>
          <p:cNvSpPr/>
          <p:nvPr/>
        </p:nvSpPr>
        <p:spPr>
          <a:xfrm>
            <a:off x="4781464" y="2980599"/>
            <a:ext cx="1603500" cy="2766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060" name="Google Shape;3060;p32"/>
          <p:cNvSpPr/>
          <p:nvPr/>
        </p:nvSpPr>
        <p:spPr>
          <a:xfrm>
            <a:off x="58339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Conozca a su cliente (KYC)</a:t>
            </a:r>
            <a:endParaRPr b="0" i="0" sz="400" u="none" cap="none" strike="noStrike">
              <a:solidFill>
                <a:srgbClr val="595959"/>
              </a:solidFill>
              <a:latin typeface="Montserrat"/>
              <a:ea typeface="Montserrat"/>
              <a:cs typeface="Montserrat"/>
              <a:sym typeface="Montserrat"/>
            </a:endParaRPr>
          </a:p>
        </p:txBody>
      </p:sp>
      <p:sp>
        <p:nvSpPr>
          <p:cNvPr id="3061" name="Google Shape;3061;p32"/>
          <p:cNvSpPr/>
          <p:nvPr/>
        </p:nvSpPr>
        <p:spPr>
          <a:xfrm>
            <a:off x="5833996" y="4050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Comportamiento de la transacción</a:t>
            </a:r>
            <a:endParaRPr b="0" i="0" sz="400" u="none" cap="none" strike="noStrike">
              <a:solidFill>
                <a:srgbClr val="595959"/>
              </a:solidFill>
              <a:latin typeface="Montserrat"/>
              <a:ea typeface="Montserrat"/>
              <a:cs typeface="Montserrat"/>
              <a:sym typeface="Montserrat"/>
            </a:endParaRPr>
          </a:p>
        </p:txBody>
      </p:sp>
      <p:sp>
        <p:nvSpPr>
          <p:cNvPr id="3062" name="Google Shape;3062;p32"/>
          <p:cNvSpPr/>
          <p:nvPr/>
        </p:nvSpPr>
        <p:spPr>
          <a:xfrm>
            <a:off x="693777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Fondos disponibles</a:t>
            </a:r>
            <a:endParaRPr b="0" i="0" sz="400" u="none" cap="none" strike="noStrike">
              <a:solidFill>
                <a:srgbClr val="595959"/>
              </a:solidFill>
              <a:latin typeface="Montserrat"/>
              <a:ea typeface="Montserrat"/>
              <a:cs typeface="Montserrat"/>
              <a:sym typeface="Montserrat"/>
            </a:endParaRPr>
          </a:p>
        </p:txBody>
      </p:sp>
      <p:sp>
        <p:nvSpPr>
          <p:cNvPr id="3063" name="Google Shape;3063;p32"/>
          <p:cNvSpPr/>
          <p:nvPr/>
        </p:nvSpPr>
        <p:spPr>
          <a:xfrm>
            <a:off x="6937778" y="4046240"/>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Evaluación de ingresos (entrantes)</a:t>
            </a:r>
            <a:endParaRPr b="0" i="0" sz="400" u="none" cap="none" strike="noStrike">
              <a:solidFill>
                <a:srgbClr val="595959"/>
              </a:solidFill>
              <a:latin typeface="Montserrat"/>
              <a:ea typeface="Montserrat"/>
              <a:cs typeface="Montserrat"/>
              <a:sym typeface="Montserrat"/>
            </a:endParaRPr>
          </a:p>
        </p:txBody>
      </p:sp>
      <p:sp>
        <p:nvSpPr>
          <p:cNvPr id="3064" name="Google Shape;3064;p32"/>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Evaluación de gastos (saliente)</a:t>
            </a:r>
            <a:endParaRPr b="0" i="0" sz="400" u="none" cap="none" strike="noStrike">
              <a:solidFill>
                <a:srgbClr val="595959"/>
              </a:solidFill>
              <a:latin typeface="Montserrat"/>
              <a:ea typeface="Montserrat"/>
              <a:cs typeface="Montserrat"/>
              <a:sym typeface="Montserrat"/>
            </a:endParaRPr>
          </a:p>
        </p:txBody>
      </p:sp>
      <p:sp>
        <p:nvSpPr>
          <p:cNvPr id="3065" name="Google Shape;3065;p32"/>
          <p:cNvSpPr/>
          <p:nvPr/>
        </p:nvSpPr>
        <p:spPr>
          <a:xfrm>
            <a:off x="6937776" y="419557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Reclamaciones y disputas</a:t>
            </a:r>
            <a:endParaRPr b="0" i="0" sz="400" u="none" cap="none" strike="noStrike">
              <a:solidFill>
                <a:srgbClr val="595959"/>
              </a:solidFill>
              <a:latin typeface="Montserrat"/>
              <a:ea typeface="Montserrat"/>
              <a:cs typeface="Montserrat"/>
              <a:sym typeface="Montserrat"/>
            </a:endParaRPr>
          </a:p>
        </p:txBody>
      </p:sp>
      <p:sp>
        <p:nvSpPr>
          <p:cNvPr id="3066" name="Google Shape;3066;p32"/>
          <p:cNvSpPr/>
          <p:nvPr/>
        </p:nvSpPr>
        <p:spPr>
          <a:xfrm>
            <a:off x="4715038" y="407014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Buró de crédito</a:t>
            </a:r>
            <a:endParaRPr b="0" i="0" sz="400" u="none" cap="none" strike="noStrike">
              <a:solidFill>
                <a:srgbClr val="595959"/>
              </a:solidFill>
              <a:latin typeface="Montserrat"/>
              <a:ea typeface="Montserrat"/>
              <a:cs typeface="Montserrat"/>
              <a:sym typeface="Montserrat"/>
            </a:endParaRPr>
          </a:p>
        </p:txBody>
      </p:sp>
      <p:sp>
        <p:nvSpPr>
          <p:cNvPr id="3067" name="Google Shape;3067;p32"/>
          <p:cNvSpPr/>
          <p:nvPr/>
        </p:nvSpPr>
        <p:spPr>
          <a:xfrm>
            <a:off x="4715038" y="4220504"/>
            <a:ext cx="720900" cy="1503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Umbrales de riesgo (evaluar y modelar)</a:t>
            </a:r>
            <a:br>
              <a:rPr b="0" i="0" lang="es" sz="400" u="none" cap="none" strike="noStrike">
                <a:solidFill>
                  <a:srgbClr val="595959"/>
                </a:solidFill>
                <a:latin typeface="Montserrat"/>
                <a:ea typeface="Montserrat"/>
                <a:cs typeface="Montserrat"/>
                <a:sym typeface="Montserrat"/>
              </a:rPr>
            </a:br>
            <a:endParaRPr b="0" i="0" sz="400" u="none" cap="none" strike="noStrike">
              <a:solidFill>
                <a:srgbClr val="595959"/>
              </a:solidFill>
              <a:latin typeface="Montserrat"/>
              <a:ea typeface="Montserrat"/>
              <a:cs typeface="Montserrat"/>
              <a:sym typeface="Montserrat"/>
            </a:endParaRPr>
          </a:p>
        </p:txBody>
      </p:sp>
      <p:sp>
        <p:nvSpPr>
          <p:cNvPr id="3068" name="Google Shape;3068;p32"/>
          <p:cNvSpPr/>
          <p:nvPr/>
        </p:nvSpPr>
        <p:spPr>
          <a:xfrm>
            <a:off x="4708161" y="3896900"/>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Gestión de restricciones de cuenta</a:t>
            </a:r>
            <a:br>
              <a:rPr b="0" i="0" lang="es" sz="400" u="none" cap="none" strike="noStrike">
                <a:solidFill>
                  <a:srgbClr val="FFFFFF"/>
                </a:solidFill>
                <a:latin typeface="Montserrat"/>
                <a:ea typeface="Montserrat"/>
                <a:cs typeface="Montserrat"/>
                <a:sym typeface="Montserrat"/>
              </a:rPr>
            </a:br>
            <a:endParaRPr b="0" i="0" sz="400" u="none" cap="none" strike="noStrike">
              <a:solidFill>
                <a:srgbClr val="FFFFFF"/>
              </a:solidFill>
              <a:latin typeface="Montserrat"/>
              <a:ea typeface="Montserrat"/>
              <a:cs typeface="Montserrat"/>
              <a:sym typeface="Montserrat"/>
            </a:endParaRPr>
          </a:p>
        </p:txBody>
      </p:sp>
      <p:sp>
        <p:nvSpPr>
          <p:cNvPr id="3069" name="Google Shape;3069;p32"/>
          <p:cNvSpPr/>
          <p:nvPr/>
        </p:nvSpPr>
        <p:spPr>
          <a:xfrm>
            <a:off x="3555696" y="434491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Regulaciones locales y estatales</a:t>
            </a:r>
            <a:endParaRPr b="0" i="0" sz="400" u="none" cap="none" strike="noStrike">
              <a:solidFill>
                <a:srgbClr val="595959"/>
              </a:solidFill>
              <a:latin typeface="Montserrat"/>
              <a:ea typeface="Montserrat"/>
              <a:cs typeface="Montserrat"/>
              <a:sym typeface="Montserrat"/>
            </a:endParaRPr>
          </a:p>
        </p:txBody>
      </p:sp>
      <p:sp>
        <p:nvSpPr>
          <p:cNvPr id="3070" name="Google Shape;3070;p32"/>
          <p:cNvSpPr/>
          <p:nvPr/>
        </p:nvSpPr>
        <p:spPr>
          <a:xfrm>
            <a:off x="3555696"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Consumidor y privacidad</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(cumplimiento)</a:t>
            </a:r>
            <a:endParaRPr b="0" i="0" sz="400" u="none" cap="none" strike="noStrike">
              <a:solidFill>
                <a:srgbClr val="595959"/>
              </a:solidFill>
              <a:latin typeface="Montserrat"/>
              <a:ea typeface="Montserrat"/>
              <a:cs typeface="Montserrat"/>
              <a:sym typeface="Montserrat"/>
            </a:endParaRPr>
          </a:p>
        </p:txBody>
      </p:sp>
      <p:sp>
        <p:nvSpPr>
          <p:cNvPr id="3071" name="Google Shape;3071;p32"/>
          <p:cNvSpPr/>
          <p:nvPr/>
        </p:nvSpPr>
        <p:spPr>
          <a:xfrm>
            <a:off x="3555696" y="4046240"/>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Regulaciones de México.</a:t>
            </a:r>
            <a:endParaRPr b="0" i="0" sz="400" u="none" cap="none" strike="noStrike">
              <a:solidFill>
                <a:srgbClr val="FFFFFF"/>
              </a:solidFill>
              <a:latin typeface="Montserrat"/>
              <a:ea typeface="Montserrat"/>
              <a:cs typeface="Montserrat"/>
              <a:sym typeface="Montserrat"/>
            </a:endParaRPr>
          </a:p>
        </p:txBody>
      </p:sp>
      <p:sp>
        <p:nvSpPr>
          <p:cNvPr id="3072" name="Google Shape;3072;p32"/>
          <p:cNvSpPr/>
          <p:nvPr/>
        </p:nvSpPr>
        <p:spPr>
          <a:xfrm>
            <a:off x="3555696" y="419557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Regulaciones de BANXICO</a:t>
            </a:r>
            <a:endParaRPr b="0" i="0" sz="400" u="none" cap="none" strike="noStrike">
              <a:solidFill>
                <a:srgbClr val="FFFFFF"/>
              </a:solidFill>
              <a:latin typeface="Montserrat"/>
              <a:ea typeface="Montserrat"/>
              <a:cs typeface="Montserrat"/>
              <a:sym typeface="Montserrat"/>
            </a:endParaRPr>
          </a:p>
        </p:txBody>
      </p:sp>
      <p:sp>
        <p:nvSpPr>
          <p:cNvPr id="3073" name="Google Shape;3073;p32"/>
          <p:cNvSpPr/>
          <p:nvPr/>
        </p:nvSpPr>
        <p:spPr>
          <a:xfrm>
            <a:off x="1333302" y="4246040"/>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Seguridad del sistema (disposiciones)</a:t>
            </a:r>
            <a:endParaRPr b="0" i="0" sz="400" u="none" cap="none" strike="noStrike">
              <a:solidFill>
                <a:srgbClr val="FFFFFF"/>
              </a:solidFill>
              <a:latin typeface="Montserrat"/>
              <a:ea typeface="Montserrat"/>
              <a:cs typeface="Montserrat"/>
              <a:sym typeface="Montserrat"/>
            </a:endParaRPr>
          </a:p>
        </p:txBody>
      </p:sp>
      <p:sp>
        <p:nvSpPr>
          <p:cNvPr id="3074" name="Google Shape;3074;p32"/>
          <p:cNvSpPr/>
          <p:nvPr/>
        </p:nvSpPr>
        <p:spPr>
          <a:xfrm>
            <a:off x="1333302" y="3896900"/>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Autenticación (validación de ID de cliente)</a:t>
            </a:r>
            <a:endParaRPr b="0" i="0" sz="400" u="none" cap="none" strike="noStrike">
              <a:solidFill>
                <a:srgbClr val="FFFFFF"/>
              </a:solidFill>
              <a:latin typeface="Montserrat"/>
              <a:ea typeface="Montserrat"/>
              <a:cs typeface="Montserrat"/>
              <a:sym typeface="Montserrat"/>
            </a:endParaRPr>
          </a:p>
        </p:txBody>
      </p:sp>
      <p:sp>
        <p:nvSpPr>
          <p:cNvPr id="3075" name="Google Shape;3075;p32"/>
          <p:cNvSpPr/>
          <p:nvPr/>
        </p:nvSpPr>
        <p:spPr>
          <a:xfrm>
            <a:off x="8041532" y="4046389"/>
            <a:ext cx="722700" cy="128400"/>
          </a:xfrm>
          <a:prstGeom prst="roundRect">
            <a:avLst>
              <a:gd fmla="val 5041" name="adj"/>
            </a:avLst>
          </a:prstGeom>
          <a:solidFill>
            <a:schemeClr val="lt2"/>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plataformas</a:t>
            </a:r>
            <a:endParaRPr b="0" i="0" sz="400" u="none" cap="none" strike="noStrike">
              <a:solidFill>
                <a:srgbClr val="595959"/>
              </a:solidFill>
              <a:latin typeface="Montserrat"/>
              <a:ea typeface="Montserrat"/>
              <a:cs typeface="Montserrat"/>
              <a:sym typeface="Montserrat"/>
            </a:endParaRPr>
          </a:p>
        </p:txBody>
      </p:sp>
      <p:sp>
        <p:nvSpPr>
          <p:cNvPr id="3076" name="Google Shape;3076;p32"/>
          <p:cNvSpPr/>
          <p:nvPr/>
        </p:nvSpPr>
        <p:spPr>
          <a:xfrm>
            <a:off x="8041529" y="4195877"/>
            <a:ext cx="720900" cy="128400"/>
          </a:xfrm>
          <a:prstGeom prst="roundRect">
            <a:avLst>
              <a:gd fmla="val 5041" name="adj"/>
            </a:avLst>
          </a:prstGeom>
          <a:solidFill>
            <a:schemeClr val="lt2"/>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mensajería</a:t>
            </a:r>
            <a:endParaRPr b="0" i="0" sz="400" u="none" cap="none" strike="noStrike">
              <a:solidFill>
                <a:srgbClr val="BFBFBF"/>
              </a:solidFill>
              <a:latin typeface="Montserrat"/>
              <a:ea typeface="Montserrat"/>
              <a:cs typeface="Montserrat"/>
              <a:sym typeface="Montserrat"/>
            </a:endParaRPr>
          </a:p>
        </p:txBody>
      </p:sp>
      <p:sp>
        <p:nvSpPr>
          <p:cNvPr id="3077" name="Google Shape;3077;p32"/>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bases de datos</a:t>
            </a:r>
            <a:endParaRPr b="0" i="0" sz="400" u="none" cap="none" strike="noStrike">
              <a:solidFill>
                <a:srgbClr val="595959"/>
              </a:solidFill>
              <a:latin typeface="Montserrat"/>
              <a:ea typeface="Montserrat"/>
              <a:cs typeface="Montserrat"/>
              <a:sym typeface="Montserrat"/>
            </a:endParaRPr>
          </a:p>
        </p:txBody>
      </p:sp>
      <p:sp>
        <p:nvSpPr>
          <p:cNvPr id="3078" name="Google Shape;3078;p32"/>
          <p:cNvSpPr/>
          <p:nvPr/>
        </p:nvSpPr>
        <p:spPr>
          <a:xfrm>
            <a:off x="8041529" y="4345365"/>
            <a:ext cx="720900" cy="128400"/>
          </a:xfrm>
          <a:prstGeom prst="roundRect">
            <a:avLst>
              <a:gd fmla="val 5041" name="adj"/>
            </a:avLst>
          </a:prstGeom>
          <a:solidFill>
            <a:schemeClr val="lt2"/>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hardware</a:t>
            </a:r>
            <a:endParaRPr b="0" i="0" sz="400" u="none" cap="none" strike="noStrike">
              <a:solidFill>
                <a:srgbClr val="595959"/>
              </a:solidFill>
              <a:latin typeface="Montserrat"/>
              <a:ea typeface="Montserrat"/>
              <a:cs typeface="Montserrat"/>
              <a:sym typeface="Montserrat"/>
            </a:endParaRPr>
          </a:p>
        </p:txBody>
      </p:sp>
      <p:sp>
        <p:nvSpPr>
          <p:cNvPr id="3079" name="Google Shape;3079;p32"/>
          <p:cNvSpPr/>
          <p:nvPr/>
        </p:nvSpPr>
        <p:spPr>
          <a:xfrm>
            <a:off x="1333302" y="4067547"/>
            <a:ext cx="720900" cy="1503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Inicio de sesión único</a:t>
            </a:r>
            <a:endParaRPr b="0" i="0" sz="400" u="none" cap="none" strike="noStrike">
              <a:solidFill>
                <a:srgbClr val="FFFFFF"/>
              </a:solidFill>
              <a:latin typeface="Montserrat"/>
              <a:ea typeface="Montserrat"/>
              <a:cs typeface="Montserrat"/>
              <a:sym typeface="Montserrat"/>
            </a:endParaRPr>
          </a:p>
        </p:txBody>
      </p:sp>
      <p:sp>
        <p:nvSpPr>
          <p:cNvPr id="3080" name="Google Shape;3080;p32"/>
          <p:cNvSpPr/>
          <p:nvPr/>
        </p:nvSpPr>
        <p:spPr>
          <a:xfrm>
            <a:off x="2444808" y="389690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Recopilación de parámetros</a:t>
            </a:r>
            <a:endParaRPr b="0" i="0" sz="400" u="none" cap="none" strike="noStrike">
              <a:solidFill>
                <a:srgbClr val="FFFFFF"/>
              </a:solidFill>
              <a:latin typeface="Montserrat"/>
              <a:ea typeface="Montserrat"/>
              <a:cs typeface="Montserrat"/>
              <a:sym typeface="Montserrat"/>
            </a:endParaRPr>
          </a:p>
        </p:txBody>
      </p:sp>
      <p:sp>
        <p:nvSpPr>
          <p:cNvPr id="3081" name="Google Shape;3081;p32"/>
          <p:cNvSpPr/>
          <p:nvPr/>
        </p:nvSpPr>
        <p:spPr>
          <a:xfrm>
            <a:off x="2444808" y="404624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inspección</a:t>
            </a:r>
            <a:endParaRPr b="0" i="0" sz="400" u="none" cap="none" strike="noStrike">
              <a:solidFill>
                <a:srgbClr val="FFFFFF"/>
              </a:solidFill>
              <a:latin typeface="Montserrat"/>
              <a:ea typeface="Montserrat"/>
              <a:cs typeface="Montserrat"/>
              <a:sym typeface="Montserrat"/>
            </a:endParaRPr>
          </a:p>
        </p:txBody>
      </p:sp>
      <p:sp>
        <p:nvSpPr>
          <p:cNvPr id="3082" name="Google Shape;3082;p32"/>
          <p:cNvSpPr/>
          <p:nvPr/>
        </p:nvSpPr>
        <p:spPr>
          <a:xfrm>
            <a:off x="2444808" y="434491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notificación</a:t>
            </a:r>
            <a:endParaRPr b="0" i="0" sz="400" u="none" cap="none" strike="noStrike">
              <a:solidFill>
                <a:srgbClr val="FFFFFF"/>
              </a:solidFill>
              <a:latin typeface="Montserrat"/>
              <a:ea typeface="Montserrat"/>
              <a:cs typeface="Montserrat"/>
              <a:sym typeface="Montserrat"/>
            </a:endParaRPr>
          </a:p>
        </p:txBody>
      </p:sp>
      <p:sp>
        <p:nvSpPr>
          <p:cNvPr id="3083" name="Google Shape;3083;p32"/>
          <p:cNvSpPr/>
          <p:nvPr/>
        </p:nvSpPr>
        <p:spPr>
          <a:xfrm>
            <a:off x="2444808" y="4195579"/>
            <a:ext cx="7227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QA revisión</a:t>
            </a:r>
            <a:endParaRPr b="0" i="0" sz="400" u="none" cap="none" strike="noStrike">
              <a:solidFill>
                <a:srgbClr val="FFFFFF"/>
              </a:solidFill>
              <a:latin typeface="Montserrat"/>
              <a:ea typeface="Montserrat"/>
              <a:cs typeface="Montserrat"/>
              <a:sym typeface="Montserrat"/>
            </a:endParaRPr>
          </a:p>
        </p:txBody>
      </p:sp>
      <p:sp>
        <p:nvSpPr>
          <p:cNvPr id="3084" name="Google Shape;3084;p32"/>
          <p:cNvSpPr/>
          <p:nvPr/>
        </p:nvSpPr>
        <p:spPr>
          <a:xfrm>
            <a:off x="5519878" y="3397234"/>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Precio, honorarios y tarifas</a:t>
            </a:r>
            <a:endParaRPr b="0" i="0" sz="400" u="none" cap="none" strike="noStrike">
              <a:solidFill>
                <a:srgbClr val="595959"/>
              </a:solidFill>
              <a:latin typeface="Montserrat"/>
              <a:ea typeface="Montserrat"/>
              <a:cs typeface="Montserrat"/>
              <a:sym typeface="Montserrat"/>
            </a:endParaRPr>
          </a:p>
        </p:txBody>
      </p:sp>
      <p:sp>
        <p:nvSpPr>
          <p:cNvPr id="3085" name="Google Shape;3085;p32"/>
          <p:cNvSpPr/>
          <p:nvPr/>
        </p:nvSpPr>
        <p:spPr>
          <a:xfrm>
            <a:off x="4689602"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Parametrización</a:t>
            </a:r>
            <a:endParaRPr b="0" i="0" sz="400" u="none" cap="none" strike="noStrike">
              <a:solidFill>
                <a:srgbClr val="595959"/>
              </a:solidFill>
              <a:latin typeface="Montserrat"/>
              <a:ea typeface="Montserrat"/>
              <a:cs typeface="Montserrat"/>
              <a:sym typeface="Montserrat"/>
            </a:endParaRPr>
          </a:p>
        </p:txBody>
      </p:sp>
      <p:sp>
        <p:nvSpPr>
          <p:cNvPr id="3086" name="Google Shape;3086;p32"/>
          <p:cNvSpPr/>
          <p:nvPr/>
        </p:nvSpPr>
        <p:spPr>
          <a:xfrm>
            <a:off x="7168269" y="3397881"/>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 roles</a:t>
            </a:r>
            <a:endParaRPr b="0" i="0" sz="400" u="none" cap="none" strike="noStrike">
              <a:solidFill>
                <a:srgbClr val="595959"/>
              </a:solidFill>
              <a:latin typeface="Montserrat"/>
              <a:ea typeface="Montserrat"/>
              <a:cs typeface="Montserrat"/>
              <a:sym typeface="Montserrat"/>
            </a:endParaRPr>
          </a:p>
        </p:txBody>
      </p:sp>
      <p:sp>
        <p:nvSpPr>
          <p:cNvPr id="3087" name="Google Shape;3087;p32"/>
          <p:cNvSpPr/>
          <p:nvPr/>
        </p:nvSpPr>
        <p:spPr>
          <a:xfrm>
            <a:off x="7977593" y="3397611"/>
            <a:ext cx="8370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del motor de reglas</a:t>
            </a:r>
            <a:endParaRPr b="0" i="0" sz="400" u="none" cap="none" strike="noStrike">
              <a:solidFill>
                <a:srgbClr val="595959"/>
              </a:solidFill>
              <a:latin typeface="Montserrat"/>
              <a:ea typeface="Montserrat"/>
              <a:cs typeface="Montserrat"/>
              <a:sym typeface="Montserrat"/>
            </a:endParaRPr>
          </a:p>
        </p:txBody>
      </p:sp>
      <p:sp>
        <p:nvSpPr>
          <p:cNvPr id="3088" name="Google Shape;3088;p32"/>
          <p:cNvSpPr/>
          <p:nvPr/>
        </p:nvSpPr>
        <p:spPr>
          <a:xfrm>
            <a:off x="6353107" y="3397516"/>
            <a:ext cx="7206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Capacidades de gestión de productos</a:t>
            </a:r>
            <a:endParaRPr b="0" i="0" sz="400" u="none" cap="none" strike="noStrike">
              <a:solidFill>
                <a:srgbClr val="595959"/>
              </a:solidFill>
              <a:latin typeface="Montserrat"/>
              <a:ea typeface="Montserrat"/>
              <a:cs typeface="Montserrat"/>
              <a:sym typeface="Montserrat"/>
            </a:endParaRPr>
          </a:p>
        </p:txBody>
      </p:sp>
      <p:sp>
        <p:nvSpPr>
          <p:cNvPr id="3089" name="Google Shape;3089;p32"/>
          <p:cNvSpPr/>
          <p:nvPr/>
        </p:nvSpPr>
        <p:spPr>
          <a:xfrm>
            <a:off x="3880064" y="3397234"/>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Información de</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Modelos</a:t>
            </a:r>
            <a:endParaRPr b="0" i="0" sz="400" u="none" cap="none" strike="noStrike">
              <a:solidFill>
                <a:srgbClr val="595959"/>
              </a:solidFill>
              <a:latin typeface="Montserrat"/>
              <a:ea typeface="Montserrat"/>
              <a:cs typeface="Montserrat"/>
              <a:sym typeface="Montserrat"/>
            </a:endParaRPr>
          </a:p>
        </p:txBody>
      </p:sp>
      <p:sp>
        <p:nvSpPr>
          <p:cNvPr id="3090" name="Google Shape;3090;p32"/>
          <p:cNvSpPr/>
          <p:nvPr/>
        </p:nvSpPr>
        <p:spPr>
          <a:xfrm>
            <a:off x="3880356" y="187757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Reconciliaciones</a:t>
            </a:r>
            <a:endParaRPr b="0" i="0" sz="400" u="none" cap="none" strike="noStrike">
              <a:solidFill>
                <a:srgbClr val="595959"/>
              </a:solidFill>
              <a:latin typeface="Montserrat"/>
              <a:ea typeface="Montserrat"/>
              <a:cs typeface="Montserrat"/>
              <a:sym typeface="Montserrat"/>
            </a:endParaRPr>
          </a:p>
        </p:txBody>
      </p:sp>
      <p:sp>
        <p:nvSpPr>
          <p:cNvPr id="3091" name="Google Shape;3091;p32"/>
          <p:cNvSpPr/>
          <p:nvPr/>
        </p:nvSpPr>
        <p:spPr>
          <a:xfrm>
            <a:off x="3880356" y="125706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Ajustes</a:t>
            </a:r>
            <a:endParaRPr b="0" i="0" sz="400" u="none" cap="none" strike="noStrike">
              <a:solidFill>
                <a:srgbClr val="595959"/>
              </a:solidFill>
              <a:latin typeface="Montserrat"/>
              <a:ea typeface="Montserrat"/>
              <a:cs typeface="Montserrat"/>
              <a:sym typeface="Montserrat"/>
            </a:endParaRPr>
          </a:p>
        </p:txBody>
      </p:sp>
      <p:sp>
        <p:nvSpPr>
          <p:cNvPr id="3092" name="Google Shape;3092;p32"/>
          <p:cNvSpPr/>
          <p:nvPr/>
        </p:nvSpPr>
        <p:spPr>
          <a:xfrm>
            <a:off x="3880356" y="15673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Excepciones</a:t>
            </a:r>
            <a:endParaRPr b="0" i="0" sz="400" u="none" cap="none" strike="noStrike">
              <a:solidFill>
                <a:srgbClr val="595959"/>
              </a:solidFill>
              <a:latin typeface="Montserrat"/>
              <a:ea typeface="Montserrat"/>
              <a:cs typeface="Montserrat"/>
              <a:sym typeface="Montserrat"/>
            </a:endParaRPr>
          </a:p>
        </p:txBody>
      </p:sp>
      <p:sp>
        <p:nvSpPr>
          <p:cNvPr id="3093" name="Google Shape;3093;p32"/>
          <p:cNvSpPr/>
          <p:nvPr/>
        </p:nvSpPr>
        <p:spPr>
          <a:xfrm>
            <a:off x="3880356" y="141200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Procesamiento de saldos</a:t>
            </a:r>
            <a:endParaRPr b="0" i="0" sz="400" u="none" cap="none" strike="noStrike">
              <a:solidFill>
                <a:srgbClr val="595959"/>
              </a:solidFill>
              <a:latin typeface="Montserrat"/>
              <a:ea typeface="Montserrat"/>
              <a:cs typeface="Montserrat"/>
              <a:sym typeface="Montserrat"/>
            </a:endParaRPr>
          </a:p>
        </p:txBody>
      </p:sp>
      <p:sp>
        <p:nvSpPr>
          <p:cNvPr id="3094" name="Google Shape;3094;p32"/>
          <p:cNvSpPr/>
          <p:nvPr/>
        </p:nvSpPr>
        <p:spPr>
          <a:xfrm>
            <a:off x="3880356" y="1723188"/>
            <a:ext cx="720900" cy="128400"/>
          </a:xfrm>
          <a:prstGeom prst="roundRect">
            <a:avLst>
              <a:gd fmla="val 5041" name="adj"/>
            </a:avLst>
          </a:prstGeom>
          <a:solidFill>
            <a:srgbClr val="0065AD"/>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Contabilidad</a:t>
            </a:r>
            <a:endParaRPr b="0" i="0" sz="400" u="none" cap="none" strike="noStrike">
              <a:solidFill>
                <a:srgbClr val="FFFFFF"/>
              </a:solidFill>
              <a:latin typeface="Montserrat"/>
              <a:ea typeface="Montserrat"/>
              <a:cs typeface="Montserrat"/>
              <a:sym typeface="Montserrat"/>
            </a:endParaRPr>
          </a:p>
        </p:txBody>
      </p:sp>
      <p:sp>
        <p:nvSpPr>
          <p:cNvPr id="3095" name="Google Shape;3095;p32"/>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Asociaciones</a:t>
            </a:r>
            <a:endParaRPr b="0" i="0" sz="400" u="none" cap="none" strike="noStrike">
              <a:solidFill>
                <a:srgbClr val="595959"/>
              </a:solidFill>
              <a:latin typeface="Montserrat"/>
              <a:ea typeface="Montserrat"/>
              <a:cs typeface="Montserrat"/>
              <a:sym typeface="Montserrat"/>
            </a:endParaRPr>
          </a:p>
        </p:txBody>
      </p:sp>
      <p:sp>
        <p:nvSpPr>
          <p:cNvPr id="3096" name="Google Shape;3096;p32"/>
          <p:cNvSpPr/>
          <p:nvPr/>
        </p:nvSpPr>
        <p:spPr>
          <a:xfrm>
            <a:off x="3880356" y="2325110"/>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Ventas/incentivos</a:t>
            </a:r>
            <a:endParaRPr b="0" i="0" sz="400" u="none" cap="none" strike="noStrike">
              <a:solidFill>
                <a:srgbClr val="FFFFFF"/>
              </a:solidFill>
              <a:latin typeface="Montserrat"/>
              <a:ea typeface="Montserrat"/>
              <a:cs typeface="Montserrat"/>
              <a:sym typeface="Montserrat"/>
            </a:endParaRPr>
          </a:p>
        </p:txBody>
      </p:sp>
      <p:sp>
        <p:nvSpPr>
          <p:cNvPr id="3097" name="Google Shape;3097;p32"/>
          <p:cNvSpPr/>
          <p:nvPr/>
        </p:nvSpPr>
        <p:spPr>
          <a:xfrm>
            <a:off x="3880064" y="2472433"/>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a:t>
            </a:r>
            <a:r>
              <a:rPr b="0" i="0" lang="es" sz="400" u="none" cap="none" strike="noStrike">
                <a:solidFill>
                  <a:srgbClr val="FFFFFF"/>
                </a:solidFill>
                <a:latin typeface="Montserrat"/>
                <a:ea typeface="Montserrat"/>
                <a:cs typeface="Montserrat"/>
                <a:sym typeface="Montserrat"/>
              </a:rPr>
              <a:t> </a:t>
            </a:r>
            <a:r>
              <a:rPr b="0" i="0" lang="es" sz="400" u="none" cap="none" strike="noStrike">
                <a:solidFill>
                  <a:srgbClr val="595959"/>
                </a:solidFill>
                <a:latin typeface="Montserrat"/>
                <a:ea typeface="Montserrat"/>
                <a:cs typeface="Montserrat"/>
                <a:sym typeface="Montserrat"/>
              </a:rPr>
              <a:t>la</a:t>
            </a:r>
            <a:r>
              <a:rPr b="0" i="0" lang="es" sz="400" u="none" cap="none" strike="noStrike">
                <a:solidFill>
                  <a:srgbClr val="FFFFFF"/>
                </a:solidFill>
                <a:latin typeface="Montserrat"/>
                <a:ea typeface="Montserrat"/>
                <a:cs typeface="Montserrat"/>
                <a:sym typeface="Montserrat"/>
              </a:rPr>
              <a:t> </a:t>
            </a:r>
            <a:r>
              <a:rPr b="0" i="0" lang="es" sz="400" u="none" cap="none" strike="noStrike">
                <a:solidFill>
                  <a:srgbClr val="595959"/>
                </a:solidFill>
                <a:latin typeface="Montserrat"/>
                <a:ea typeface="Montserrat"/>
                <a:cs typeface="Montserrat"/>
                <a:sym typeface="Montserrat"/>
              </a:rPr>
              <a:t>relación</a:t>
            </a:r>
            <a:r>
              <a:rPr b="0" i="0" lang="es" sz="400" u="none" cap="none" strike="noStrike">
                <a:solidFill>
                  <a:srgbClr val="FFFFFF"/>
                </a:solidFill>
                <a:latin typeface="Montserrat"/>
                <a:ea typeface="Montserrat"/>
                <a:cs typeface="Montserrat"/>
                <a:sym typeface="Montserrat"/>
              </a:rPr>
              <a:t> </a:t>
            </a:r>
            <a:r>
              <a:rPr b="0" i="0" lang="es" sz="400" u="none" cap="none" strike="noStrike">
                <a:solidFill>
                  <a:srgbClr val="595959"/>
                </a:solidFill>
                <a:latin typeface="Montserrat"/>
                <a:ea typeface="Montserrat"/>
                <a:cs typeface="Montserrat"/>
                <a:sym typeface="Montserrat"/>
              </a:rPr>
              <a:t>con</a:t>
            </a:r>
            <a:r>
              <a:rPr b="0" i="0" lang="es" sz="400" u="none" cap="none" strike="noStrike">
                <a:solidFill>
                  <a:srgbClr val="FFFFFF"/>
                </a:solidFill>
                <a:latin typeface="Montserrat"/>
                <a:ea typeface="Montserrat"/>
                <a:cs typeface="Montserrat"/>
                <a:sym typeface="Montserrat"/>
              </a:rPr>
              <a:t> el </a:t>
            </a:r>
            <a:r>
              <a:rPr b="0" i="0" lang="es" sz="400" u="none" cap="none" strike="noStrike">
                <a:solidFill>
                  <a:srgbClr val="595959"/>
                </a:solidFill>
                <a:latin typeface="Montserrat"/>
                <a:ea typeface="Montserrat"/>
                <a:cs typeface="Montserrat"/>
                <a:sym typeface="Montserrat"/>
              </a:rPr>
              <a:t>cliente</a:t>
            </a:r>
            <a:endParaRPr b="0" i="0" sz="400" u="none" cap="none" strike="noStrike">
              <a:solidFill>
                <a:srgbClr val="595959"/>
              </a:solidFill>
              <a:latin typeface="Montserrat"/>
              <a:ea typeface="Montserrat"/>
              <a:cs typeface="Montserrat"/>
              <a:sym typeface="Montserrat"/>
            </a:endParaRPr>
          </a:p>
        </p:txBody>
      </p:sp>
      <p:sp>
        <p:nvSpPr>
          <p:cNvPr id="3098" name="Google Shape;3098;p32"/>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prospectos</a:t>
            </a:r>
            <a:endParaRPr b="0" i="0" sz="400" u="none" cap="none" strike="noStrike">
              <a:solidFill>
                <a:srgbClr val="595959"/>
              </a:solidFill>
              <a:latin typeface="Montserrat"/>
              <a:ea typeface="Montserrat"/>
              <a:cs typeface="Montserrat"/>
              <a:sym typeface="Montserrat"/>
            </a:endParaRPr>
          </a:p>
        </p:txBody>
      </p:sp>
      <p:sp>
        <p:nvSpPr>
          <p:cNvPr id="3099" name="Google Shape;3099;p32"/>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Finanzas y Tesorería</a:t>
            </a:r>
            <a:endParaRPr b="0" i="0" sz="400" u="none" cap="none" strike="noStrike">
              <a:solidFill>
                <a:srgbClr val="595959"/>
              </a:solidFill>
              <a:latin typeface="Montserrat"/>
              <a:ea typeface="Montserrat"/>
              <a:cs typeface="Montserrat"/>
              <a:sym typeface="Montserrat"/>
            </a:endParaRPr>
          </a:p>
        </p:txBody>
      </p:sp>
      <p:sp>
        <p:nvSpPr>
          <p:cNvPr id="3100" name="Google Shape;3100;p32"/>
          <p:cNvSpPr/>
          <p:nvPr/>
        </p:nvSpPr>
        <p:spPr>
          <a:xfrm>
            <a:off x="3880064" y="30927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inversión</a:t>
            </a:r>
            <a:endParaRPr b="0" i="0" sz="400" u="none" cap="none" strike="noStrike">
              <a:solidFill>
                <a:srgbClr val="595959"/>
              </a:solidFill>
              <a:latin typeface="Montserrat"/>
              <a:ea typeface="Montserrat"/>
              <a:cs typeface="Montserrat"/>
              <a:sym typeface="Montserrat"/>
            </a:endParaRPr>
          </a:p>
        </p:txBody>
      </p:sp>
      <p:sp>
        <p:nvSpPr>
          <p:cNvPr id="3101" name="Google Shape;3101;p32"/>
          <p:cNvSpPr/>
          <p:nvPr/>
        </p:nvSpPr>
        <p:spPr>
          <a:xfrm>
            <a:off x="2862242" y="291787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documentos de imagen</a:t>
            </a:r>
            <a:endParaRPr b="0" i="0" sz="400" u="none" cap="none" strike="noStrike">
              <a:solidFill>
                <a:srgbClr val="595959"/>
              </a:solidFill>
              <a:latin typeface="Montserrat"/>
              <a:ea typeface="Montserrat"/>
              <a:cs typeface="Montserrat"/>
              <a:sym typeface="Montserrat"/>
            </a:endParaRPr>
          </a:p>
        </p:txBody>
      </p:sp>
      <p:sp>
        <p:nvSpPr>
          <p:cNvPr id="3102" name="Google Shape;3102;p32"/>
          <p:cNvSpPr/>
          <p:nvPr/>
        </p:nvSpPr>
        <p:spPr>
          <a:xfrm>
            <a:off x="1291823" y="307300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Templates </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(correspondencia)</a:t>
            </a:r>
            <a:endParaRPr b="0" i="0" sz="400" u="none" cap="none" strike="noStrike">
              <a:solidFill>
                <a:srgbClr val="595959"/>
              </a:solidFill>
              <a:latin typeface="Montserrat"/>
              <a:ea typeface="Montserrat"/>
              <a:cs typeface="Montserrat"/>
              <a:sym typeface="Montserrat"/>
            </a:endParaRPr>
          </a:p>
        </p:txBody>
      </p:sp>
      <p:sp>
        <p:nvSpPr>
          <p:cNvPr id="3103" name="Google Shape;3103;p32"/>
          <p:cNvSpPr/>
          <p:nvPr/>
        </p:nvSpPr>
        <p:spPr>
          <a:xfrm>
            <a:off x="2078085"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Divulgación y aceptar</a:t>
            </a:r>
            <a:endParaRPr b="0" i="0" sz="400" u="none" cap="none" strike="noStrike">
              <a:solidFill>
                <a:srgbClr val="595959"/>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(Procesamienta de cuentas)</a:t>
            </a:r>
            <a:endParaRPr b="0" i="0" sz="400" u="none" cap="none" strike="noStrike">
              <a:solidFill>
                <a:srgbClr val="595959"/>
              </a:solidFill>
              <a:latin typeface="Montserrat"/>
              <a:ea typeface="Montserrat"/>
              <a:cs typeface="Montserrat"/>
              <a:sym typeface="Montserrat"/>
            </a:endParaRPr>
          </a:p>
        </p:txBody>
      </p:sp>
      <p:sp>
        <p:nvSpPr>
          <p:cNvPr id="3104" name="Google Shape;3104;p32"/>
          <p:cNvSpPr/>
          <p:nvPr/>
        </p:nvSpPr>
        <p:spPr>
          <a:xfrm>
            <a:off x="1291823" y="291747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Documentación de cumplimiento de cuenta</a:t>
            </a:r>
            <a:endParaRPr b="0" i="0" sz="400" u="none" cap="none" strike="noStrike">
              <a:solidFill>
                <a:srgbClr val="595959"/>
              </a:solidFill>
              <a:latin typeface="Montserrat"/>
              <a:ea typeface="Montserrat"/>
              <a:cs typeface="Montserrat"/>
              <a:sym typeface="Montserrat"/>
            </a:endParaRPr>
          </a:p>
        </p:txBody>
      </p:sp>
      <p:sp>
        <p:nvSpPr>
          <p:cNvPr id="3105" name="Google Shape;3105;p32"/>
          <p:cNvSpPr/>
          <p:nvPr/>
        </p:nvSpPr>
        <p:spPr>
          <a:xfrm>
            <a:off x="1294951"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Cierre de cuenta</a:t>
            </a:r>
            <a:endParaRPr b="0" i="0" sz="400" u="none" cap="none" strike="noStrike">
              <a:solidFill>
                <a:srgbClr val="595959"/>
              </a:solidFill>
              <a:latin typeface="Montserrat"/>
              <a:ea typeface="Montserrat"/>
              <a:cs typeface="Montserrat"/>
              <a:sym typeface="Montserrat"/>
            </a:endParaRPr>
          </a:p>
        </p:txBody>
      </p:sp>
      <p:sp>
        <p:nvSpPr>
          <p:cNvPr id="3106" name="Google Shape;3106;p32"/>
          <p:cNvSpPr/>
          <p:nvPr/>
        </p:nvSpPr>
        <p:spPr>
          <a:xfrm>
            <a:off x="1294951" y="2232766"/>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Depositar fondos</a:t>
            </a:r>
            <a:endParaRPr b="0" i="0" sz="400" u="none" cap="none" strike="noStrike">
              <a:solidFill>
                <a:srgbClr val="FFFFFF"/>
              </a:solidFill>
              <a:latin typeface="Montserrat"/>
              <a:ea typeface="Montserrat"/>
              <a:cs typeface="Montserrat"/>
              <a:sym typeface="Montserrat"/>
            </a:endParaRPr>
          </a:p>
        </p:txBody>
      </p:sp>
      <p:sp>
        <p:nvSpPr>
          <p:cNvPr id="3107" name="Google Shape;3107;p32"/>
          <p:cNvSpPr/>
          <p:nvPr/>
        </p:nvSpPr>
        <p:spPr>
          <a:xfrm>
            <a:off x="1294951"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Transferir fondos</a:t>
            </a:r>
            <a:endParaRPr b="0" i="0" sz="400" u="none" cap="none" strike="noStrike">
              <a:solidFill>
                <a:srgbClr val="FFFFFF"/>
              </a:solidFill>
              <a:latin typeface="Montserrat"/>
              <a:ea typeface="Montserrat"/>
              <a:cs typeface="Montserrat"/>
              <a:sym typeface="Montserrat"/>
            </a:endParaRPr>
          </a:p>
        </p:txBody>
      </p:sp>
      <p:sp>
        <p:nvSpPr>
          <p:cNvPr id="3108" name="Google Shape;3108;p32"/>
          <p:cNvSpPr/>
          <p:nvPr/>
        </p:nvSpPr>
        <p:spPr>
          <a:xfrm>
            <a:off x="2862246"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Retirar fondos</a:t>
            </a:r>
            <a:endParaRPr b="0" i="0" sz="400" u="none" cap="none" strike="noStrike">
              <a:solidFill>
                <a:srgbClr val="FFFFFF"/>
              </a:solidFill>
              <a:latin typeface="Montserrat"/>
              <a:ea typeface="Montserrat"/>
              <a:cs typeface="Montserrat"/>
              <a:sym typeface="Montserrat"/>
            </a:endParaRPr>
          </a:p>
        </p:txBody>
      </p:sp>
      <p:sp>
        <p:nvSpPr>
          <p:cNvPr id="3109" name="Google Shape;3109;p32"/>
          <p:cNvSpPr/>
          <p:nvPr/>
        </p:nvSpPr>
        <p:spPr>
          <a:xfrm>
            <a:off x="2078085" y="2389684"/>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Pequeñas empresas</a:t>
            </a:r>
            <a:endParaRPr b="0" i="0" sz="400" u="none" cap="none" strike="noStrike">
              <a:solidFill>
                <a:srgbClr val="595959"/>
              </a:solidFill>
              <a:latin typeface="Montserrat"/>
              <a:ea typeface="Montserrat"/>
              <a:cs typeface="Montserrat"/>
              <a:sym typeface="Montserrat"/>
            </a:endParaRPr>
          </a:p>
        </p:txBody>
      </p:sp>
      <p:sp>
        <p:nvSpPr>
          <p:cNvPr id="3110" name="Google Shape;3110;p32"/>
          <p:cNvSpPr/>
          <p:nvPr/>
        </p:nvSpPr>
        <p:spPr>
          <a:xfrm>
            <a:off x="2078085" y="2075051"/>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Eventos activados por el cliente</a:t>
            </a:r>
            <a:endParaRPr b="0" i="0" sz="400" u="none" cap="none" strike="noStrike">
              <a:solidFill>
                <a:srgbClr val="595959"/>
              </a:solidFill>
              <a:latin typeface="Montserrat"/>
              <a:ea typeface="Montserrat"/>
              <a:cs typeface="Montserrat"/>
              <a:sym typeface="Montserrat"/>
            </a:endParaRPr>
          </a:p>
        </p:txBody>
      </p:sp>
      <p:sp>
        <p:nvSpPr>
          <p:cNvPr id="3111" name="Google Shape;3111;p32"/>
          <p:cNvSpPr/>
          <p:nvPr/>
        </p:nvSpPr>
        <p:spPr>
          <a:xfrm>
            <a:off x="2078085"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Originación de cuentas</a:t>
            </a:r>
            <a:endParaRPr b="0" i="0" sz="400" u="none" cap="none" strike="noStrike">
              <a:solidFill>
                <a:srgbClr val="595959"/>
              </a:solidFill>
              <a:latin typeface="Montserrat"/>
              <a:ea typeface="Montserrat"/>
              <a:cs typeface="Montserrat"/>
              <a:sym typeface="Montserrat"/>
            </a:endParaRPr>
          </a:p>
        </p:txBody>
      </p:sp>
      <p:sp>
        <p:nvSpPr>
          <p:cNvPr id="3112" name="Google Shape;3112;p32"/>
          <p:cNvSpPr/>
          <p:nvPr/>
        </p:nvSpPr>
        <p:spPr>
          <a:xfrm>
            <a:off x="2078085" y="2228552"/>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cumplimiento./</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Incorporación de clientes</a:t>
            </a:r>
            <a:endParaRPr b="0" i="0" sz="400" u="none" cap="none" strike="noStrike">
              <a:solidFill>
                <a:srgbClr val="595959"/>
              </a:solidFill>
              <a:latin typeface="Montserrat"/>
              <a:ea typeface="Montserrat"/>
              <a:cs typeface="Montserrat"/>
              <a:sym typeface="Montserrat"/>
            </a:endParaRPr>
          </a:p>
        </p:txBody>
      </p:sp>
      <p:sp>
        <p:nvSpPr>
          <p:cNvPr id="3113" name="Google Shape;3113;p32"/>
          <p:cNvSpPr/>
          <p:nvPr/>
        </p:nvSpPr>
        <p:spPr>
          <a:xfrm>
            <a:off x="1294951" y="2076219"/>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configuración</a:t>
            </a:r>
            <a:endParaRPr b="0" i="0" sz="400" u="none" cap="none" strike="noStrike">
              <a:solidFill>
                <a:srgbClr val="595959"/>
              </a:solidFill>
              <a:latin typeface="Montserrat"/>
              <a:ea typeface="Montserrat"/>
              <a:cs typeface="Montserrat"/>
              <a:sym typeface="Montserrat"/>
            </a:endParaRPr>
          </a:p>
        </p:txBody>
      </p:sp>
      <p:sp>
        <p:nvSpPr>
          <p:cNvPr id="3114" name="Google Shape;3114;p32"/>
          <p:cNvSpPr/>
          <p:nvPr/>
        </p:nvSpPr>
        <p:spPr>
          <a:xfrm>
            <a:off x="2078085" y="2543185"/>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Actualizar información</a:t>
            </a:r>
            <a:endParaRPr b="0" i="0" sz="400" u="none" cap="none" strike="noStrike">
              <a:solidFill>
                <a:srgbClr val="595959"/>
              </a:solidFill>
              <a:latin typeface="Montserrat"/>
              <a:ea typeface="Montserrat"/>
              <a:cs typeface="Montserrat"/>
              <a:sym typeface="Montserrat"/>
            </a:endParaRPr>
          </a:p>
        </p:txBody>
      </p:sp>
      <p:sp>
        <p:nvSpPr>
          <p:cNvPr id="3115" name="Google Shape;3115;p32"/>
          <p:cNvSpPr/>
          <p:nvPr/>
        </p:nvSpPr>
        <p:spPr>
          <a:xfrm>
            <a:off x="2862246" y="2387473"/>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3116" name="Google Shape;3116;p32"/>
          <p:cNvSpPr/>
          <p:nvPr/>
        </p:nvSpPr>
        <p:spPr>
          <a:xfrm>
            <a:off x="2862246" y="192155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Eventos activados por calendario</a:t>
            </a:r>
            <a:endParaRPr b="0" i="0" sz="400" u="none" cap="none" strike="noStrike">
              <a:solidFill>
                <a:srgbClr val="595959"/>
              </a:solidFill>
              <a:latin typeface="Montserrat"/>
              <a:ea typeface="Montserrat"/>
              <a:cs typeface="Montserrat"/>
              <a:sym typeface="Montserrat"/>
            </a:endParaRPr>
          </a:p>
        </p:txBody>
      </p:sp>
      <p:sp>
        <p:nvSpPr>
          <p:cNvPr id="3117" name="Google Shape;3117;p32"/>
          <p:cNvSpPr/>
          <p:nvPr/>
        </p:nvSpPr>
        <p:spPr>
          <a:xfrm>
            <a:off x="2862246" y="223230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que generan intereses</a:t>
            </a:r>
            <a:endParaRPr b="0" i="0" sz="400" u="none" cap="none" strike="noStrike">
              <a:solidFill>
                <a:srgbClr val="595959"/>
              </a:solidFill>
              <a:latin typeface="Montserrat"/>
              <a:ea typeface="Montserrat"/>
              <a:cs typeface="Montserrat"/>
              <a:sym typeface="Montserrat"/>
            </a:endParaRPr>
          </a:p>
        </p:txBody>
      </p:sp>
      <p:sp>
        <p:nvSpPr>
          <p:cNvPr id="3118" name="Google Shape;3118;p32"/>
          <p:cNvSpPr/>
          <p:nvPr/>
        </p:nvSpPr>
        <p:spPr>
          <a:xfrm>
            <a:off x="2862246" y="2076219"/>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Servicios de tarjeta de débito/ATM</a:t>
            </a:r>
            <a:endParaRPr b="0" i="0" sz="400" u="none" cap="none" strike="noStrike">
              <a:solidFill>
                <a:srgbClr val="FFFFFF"/>
              </a:solidFill>
              <a:latin typeface="Montserrat"/>
              <a:ea typeface="Montserrat"/>
              <a:cs typeface="Montserrat"/>
              <a:sym typeface="Montserrat"/>
            </a:endParaRPr>
          </a:p>
        </p:txBody>
      </p:sp>
      <p:sp>
        <p:nvSpPr>
          <p:cNvPr id="3119" name="Google Shape;3119;p32"/>
          <p:cNvSpPr/>
          <p:nvPr/>
        </p:nvSpPr>
        <p:spPr>
          <a:xfrm>
            <a:off x="1294951" y="2388320"/>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de pago de facturas en línea</a:t>
            </a:r>
            <a:endParaRPr b="0" i="0" sz="400" u="none" cap="none" strike="noStrike">
              <a:solidFill>
                <a:srgbClr val="595959"/>
              </a:solidFill>
              <a:latin typeface="Montserrat"/>
              <a:ea typeface="Montserrat"/>
              <a:cs typeface="Montserrat"/>
              <a:sym typeface="Montserrat"/>
            </a:endParaRPr>
          </a:p>
        </p:txBody>
      </p:sp>
      <p:grpSp>
        <p:nvGrpSpPr>
          <p:cNvPr id="3120" name="Google Shape;3120;p32"/>
          <p:cNvGrpSpPr/>
          <p:nvPr/>
        </p:nvGrpSpPr>
        <p:grpSpPr>
          <a:xfrm>
            <a:off x="162854" y="4731071"/>
            <a:ext cx="8734889" cy="299813"/>
            <a:chOff x="198406" y="4645346"/>
            <a:chExt cx="8734889" cy="299813"/>
          </a:xfrm>
        </p:grpSpPr>
        <p:grpSp>
          <p:nvGrpSpPr>
            <p:cNvPr id="3121" name="Google Shape;3121;p32"/>
            <p:cNvGrpSpPr/>
            <p:nvPr/>
          </p:nvGrpSpPr>
          <p:grpSpPr>
            <a:xfrm>
              <a:off x="1503657" y="4660425"/>
              <a:ext cx="807625" cy="284734"/>
              <a:chOff x="1522664" y="3002519"/>
              <a:chExt cx="807625" cy="230759"/>
            </a:xfrm>
          </p:grpSpPr>
          <p:grpSp>
            <p:nvGrpSpPr>
              <p:cNvPr id="3122" name="Google Shape;3122;p32"/>
              <p:cNvGrpSpPr/>
              <p:nvPr/>
            </p:nvGrpSpPr>
            <p:grpSpPr>
              <a:xfrm>
                <a:off x="1522664" y="3002519"/>
                <a:ext cx="807625" cy="230759"/>
                <a:chOff x="13814585" y="1926698"/>
                <a:chExt cx="2486530" cy="804600"/>
              </a:xfrm>
            </p:grpSpPr>
            <p:sp>
              <p:nvSpPr>
                <p:cNvPr id="3123" name="Google Shape;3123;p32"/>
                <p:cNvSpPr/>
                <p:nvPr/>
              </p:nvSpPr>
              <p:spPr>
                <a:xfrm>
                  <a:off x="14062515" y="1977408"/>
                  <a:ext cx="22386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grpSp>
              <p:nvGrpSpPr>
                <p:cNvPr id="3124" name="Google Shape;3124;p32"/>
                <p:cNvGrpSpPr/>
                <p:nvPr/>
              </p:nvGrpSpPr>
              <p:grpSpPr>
                <a:xfrm>
                  <a:off x="14018731" y="2168949"/>
                  <a:ext cx="396177" cy="320504"/>
                  <a:chOff x="-3757613" y="5049838"/>
                  <a:chExt cx="5826126" cy="4713288"/>
                </a:xfrm>
              </p:grpSpPr>
              <p:sp>
                <p:nvSpPr>
                  <p:cNvPr id="3125" name="Google Shape;3125;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26" name="Google Shape;3126;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27" name="Google Shape;3127;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28" name="Google Shape;3128;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29" name="Google Shape;3129;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130" name="Google Shape;3130;p32"/>
                <p:cNvSpPr/>
                <p:nvPr/>
              </p:nvSpPr>
              <p:spPr>
                <a:xfrm>
                  <a:off x="13814585"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131" name="Google Shape;3131;p32"/>
              <p:cNvPicPr preferRelativeResize="0"/>
              <p:nvPr/>
            </p:nvPicPr>
            <p:blipFill rotWithShape="1">
              <a:blip r:embed="rId3">
                <a:alphaModFix/>
              </a:blip>
              <a:srcRect b="0" l="0" r="0" t="0"/>
              <a:stretch/>
            </p:blipFill>
            <p:spPr>
              <a:xfrm>
                <a:off x="1545256" y="3020281"/>
                <a:ext cx="192553" cy="170844"/>
              </a:xfrm>
              <a:prstGeom prst="rect">
                <a:avLst/>
              </a:prstGeom>
              <a:solidFill>
                <a:srgbClr val="F3F3F3"/>
              </a:solidFill>
              <a:ln>
                <a:noFill/>
              </a:ln>
            </p:spPr>
          </p:pic>
        </p:grpSp>
        <p:grpSp>
          <p:nvGrpSpPr>
            <p:cNvPr id="3132" name="Google Shape;3132;p32"/>
            <p:cNvGrpSpPr/>
            <p:nvPr/>
          </p:nvGrpSpPr>
          <p:grpSpPr>
            <a:xfrm>
              <a:off x="6779439" y="4652414"/>
              <a:ext cx="848667" cy="284740"/>
              <a:chOff x="3536079" y="1822016"/>
              <a:chExt cx="1131556" cy="320472"/>
            </a:xfrm>
          </p:grpSpPr>
          <p:grpSp>
            <p:nvGrpSpPr>
              <p:cNvPr id="3133" name="Google Shape;3133;p32"/>
              <p:cNvGrpSpPr/>
              <p:nvPr/>
            </p:nvGrpSpPr>
            <p:grpSpPr>
              <a:xfrm>
                <a:off x="3536079" y="1822016"/>
                <a:ext cx="1131556" cy="320472"/>
                <a:chOff x="13814589" y="1926698"/>
                <a:chExt cx="2612689" cy="804600"/>
              </a:xfrm>
            </p:grpSpPr>
            <p:sp>
              <p:nvSpPr>
                <p:cNvPr id="3134" name="Google Shape;3134;p32"/>
                <p:cNvSpPr/>
                <p:nvPr/>
              </p:nvSpPr>
              <p:spPr>
                <a:xfrm>
                  <a:off x="13857778" y="1977406"/>
                  <a:ext cx="25695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3135" name="Google Shape;3135;p32"/>
                <p:cNvGrpSpPr/>
                <p:nvPr/>
              </p:nvGrpSpPr>
              <p:grpSpPr>
                <a:xfrm>
                  <a:off x="14018731" y="2168949"/>
                  <a:ext cx="396177" cy="320504"/>
                  <a:chOff x="-3757613" y="5049838"/>
                  <a:chExt cx="5826126" cy="4713288"/>
                </a:xfrm>
              </p:grpSpPr>
              <p:sp>
                <p:nvSpPr>
                  <p:cNvPr id="3136" name="Google Shape;3136;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37" name="Google Shape;3137;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38" name="Google Shape;3138;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39" name="Google Shape;3139;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40" name="Google Shape;3140;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41" name="Google Shape;3141;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142" name="Google Shape;3142;p32"/>
                <p:cNvSpPr/>
                <p:nvPr/>
              </p:nvSpPr>
              <p:spPr>
                <a:xfrm>
                  <a:off x="13814589" y="1926698"/>
                  <a:ext cx="804600" cy="804600"/>
                </a:xfrm>
                <a:prstGeom prst="ellipse">
                  <a:avLst/>
                </a:prstGeom>
                <a:solidFill>
                  <a:schemeClr val="lt1"/>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143" name="Google Shape;3143;p32"/>
              <p:cNvPicPr preferRelativeResize="0"/>
              <p:nvPr/>
            </p:nvPicPr>
            <p:blipFill rotWithShape="1">
              <a:blip r:embed="rId4">
                <a:alphaModFix/>
              </a:blip>
              <a:srcRect b="0" l="0" r="0" t="0"/>
              <a:stretch/>
            </p:blipFill>
            <p:spPr>
              <a:xfrm>
                <a:off x="3580772" y="1872169"/>
                <a:ext cx="237222" cy="210318"/>
              </a:xfrm>
              <a:prstGeom prst="rect">
                <a:avLst/>
              </a:prstGeom>
              <a:noFill/>
              <a:ln>
                <a:noFill/>
              </a:ln>
            </p:spPr>
          </p:pic>
        </p:grpSp>
        <p:grpSp>
          <p:nvGrpSpPr>
            <p:cNvPr id="3144" name="Google Shape;3144;p32"/>
            <p:cNvGrpSpPr/>
            <p:nvPr/>
          </p:nvGrpSpPr>
          <p:grpSpPr>
            <a:xfrm>
              <a:off x="2808795" y="4652413"/>
              <a:ext cx="827259" cy="284740"/>
              <a:chOff x="1567179" y="1984411"/>
              <a:chExt cx="1103012" cy="320472"/>
            </a:xfrm>
          </p:grpSpPr>
          <p:grpSp>
            <p:nvGrpSpPr>
              <p:cNvPr id="3145" name="Google Shape;3145;p32"/>
              <p:cNvGrpSpPr/>
              <p:nvPr/>
            </p:nvGrpSpPr>
            <p:grpSpPr>
              <a:xfrm>
                <a:off x="1567179" y="1984411"/>
                <a:ext cx="1103012" cy="320472"/>
                <a:chOff x="13814589" y="1926698"/>
                <a:chExt cx="2546783" cy="804600"/>
              </a:xfrm>
            </p:grpSpPr>
            <p:sp>
              <p:nvSpPr>
                <p:cNvPr id="3146" name="Google Shape;3146;p32"/>
                <p:cNvSpPr/>
                <p:nvPr/>
              </p:nvSpPr>
              <p:spPr>
                <a:xfrm>
                  <a:off x="13891172" y="1977408"/>
                  <a:ext cx="2470200" cy="703200"/>
                </a:xfrm>
                <a:prstGeom prst="roundRect">
                  <a:avLst>
                    <a:gd fmla="val 50000" name="adj"/>
                  </a:avLst>
                </a:prstGeom>
                <a:solidFill>
                  <a:srgbClr val="BFBFBF"/>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3147" name="Google Shape;3147;p32"/>
                <p:cNvGrpSpPr/>
                <p:nvPr/>
              </p:nvGrpSpPr>
              <p:grpSpPr>
                <a:xfrm>
                  <a:off x="14018731" y="2168949"/>
                  <a:ext cx="396177" cy="320504"/>
                  <a:chOff x="-3757613" y="5049838"/>
                  <a:chExt cx="5826126" cy="4713288"/>
                </a:xfrm>
              </p:grpSpPr>
              <p:sp>
                <p:nvSpPr>
                  <p:cNvPr id="3148" name="Google Shape;3148;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149" name="Google Shape;3149;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150" name="Google Shape;3150;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151" name="Google Shape;3151;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152" name="Google Shape;3152;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153" name="Google Shape;3153;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3154" name="Google Shape;3154;p32"/>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3155" name="Google Shape;3155;p32"/>
              <p:cNvPicPr preferRelativeResize="0"/>
              <p:nvPr/>
            </p:nvPicPr>
            <p:blipFill rotWithShape="1">
              <a:blip r:embed="rId5">
                <a:alphaModFix/>
              </a:blip>
              <a:srcRect b="0" l="0" r="0" t="0"/>
              <a:stretch/>
            </p:blipFill>
            <p:spPr>
              <a:xfrm>
                <a:off x="1612093" y="2025505"/>
                <a:ext cx="272555" cy="252119"/>
              </a:xfrm>
              <a:prstGeom prst="rect">
                <a:avLst/>
              </a:prstGeom>
              <a:solidFill>
                <a:srgbClr val="F3F3F3"/>
              </a:solidFill>
              <a:ln>
                <a:noFill/>
              </a:ln>
            </p:spPr>
          </p:pic>
        </p:grpSp>
        <p:grpSp>
          <p:nvGrpSpPr>
            <p:cNvPr id="3156" name="Google Shape;3156;p32"/>
            <p:cNvGrpSpPr/>
            <p:nvPr/>
          </p:nvGrpSpPr>
          <p:grpSpPr>
            <a:xfrm>
              <a:off x="4133585" y="4660286"/>
              <a:ext cx="825660" cy="284740"/>
              <a:chOff x="5704379" y="3794681"/>
              <a:chExt cx="1100880" cy="320472"/>
            </a:xfrm>
          </p:grpSpPr>
          <p:grpSp>
            <p:nvGrpSpPr>
              <p:cNvPr id="3157" name="Google Shape;3157;p32"/>
              <p:cNvGrpSpPr/>
              <p:nvPr/>
            </p:nvGrpSpPr>
            <p:grpSpPr>
              <a:xfrm>
                <a:off x="5704379" y="3794681"/>
                <a:ext cx="1100880" cy="320472"/>
                <a:chOff x="13814589" y="1926698"/>
                <a:chExt cx="2541861" cy="804600"/>
              </a:xfrm>
            </p:grpSpPr>
            <p:sp>
              <p:nvSpPr>
                <p:cNvPr id="3158" name="Google Shape;3158;p32"/>
                <p:cNvSpPr/>
                <p:nvPr/>
              </p:nvSpPr>
              <p:spPr>
                <a:xfrm>
                  <a:off x="13915650" y="1977408"/>
                  <a:ext cx="2440800" cy="703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3159" name="Google Shape;3159;p32"/>
                <p:cNvGrpSpPr/>
                <p:nvPr/>
              </p:nvGrpSpPr>
              <p:grpSpPr>
                <a:xfrm>
                  <a:off x="14018731" y="2168949"/>
                  <a:ext cx="396177" cy="320504"/>
                  <a:chOff x="-3757613" y="5049838"/>
                  <a:chExt cx="5826126" cy="4713288"/>
                </a:xfrm>
              </p:grpSpPr>
              <p:sp>
                <p:nvSpPr>
                  <p:cNvPr id="3160" name="Google Shape;3160;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61" name="Google Shape;3161;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62" name="Google Shape;3162;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63" name="Google Shape;3163;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64" name="Google Shape;3164;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65" name="Google Shape;3165;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166" name="Google Shape;3166;p32"/>
                <p:cNvSpPr/>
                <p:nvPr/>
              </p:nvSpPr>
              <p:spPr>
                <a:xfrm>
                  <a:off x="13814589" y="1926698"/>
                  <a:ext cx="804600" cy="804600"/>
                </a:xfrm>
                <a:prstGeom prst="ellipse">
                  <a:avLst/>
                </a:prstGeom>
                <a:solidFill>
                  <a:srgbClr val="BFBFB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167" name="Google Shape;3167;p32"/>
              <p:cNvPicPr preferRelativeResize="0"/>
              <p:nvPr/>
            </p:nvPicPr>
            <p:blipFill rotWithShape="1">
              <a:blip r:embed="rId6">
                <a:alphaModFix/>
              </a:blip>
              <a:srcRect b="0" l="0" r="0" t="0"/>
              <a:stretch/>
            </p:blipFill>
            <p:spPr>
              <a:xfrm>
                <a:off x="5767008" y="3838479"/>
                <a:ext cx="223168" cy="205291"/>
              </a:xfrm>
              <a:prstGeom prst="rect">
                <a:avLst/>
              </a:prstGeom>
              <a:solidFill>
                <a:srgbClr val="F3F3F3"/>
              </a:solidFill>
              <a:ln>
                <a:noFill/>
              </a:ln>
            </p:spPr>
          </p:pic>
        </p:grpSp>
        <p:grpSp>
          <p:nvGrpSpPr>
            <p:cNvPr id="3168" name="Google Shape;3168;p32"/>
            <p:cNvGrpSpPr/>
            <p:nvPr/>
          </p:nvGrpSpPr>
          <p:grpSpPr>
            <a:xfrm>
              <a:off x="5456791" y="4645346"/>
              <a:ext cx="825094" cy="284740"/>
              <a:chOff x="2785855" y="1986995"/>
              <a:chExt cx="1100126" cy="320472"/>
            </a:xfrm>
          </p:grpSpPr>
          <p:grpSp>
            <p:nvGrpSpPr>
              <p:cNvPr id="3169" name="Google Shape;3169;p32"/>
              <p:cNvGrpSpPr/>
              <p:nvPr/>
            </p:nvGrpSpPr>
            <p:grpSpPr>
              <a:xfrm>
                <a:off x="2785855" y="1986995"/>
                <a:ext cx="1100126" cy="320472"/>
                <a:chOff x="13814589" y="1926698"/>
                <a:chExt cx="2540119" cy="804600"/>
              </a:xfrm>
            </p:grpSpPr>
            <p:sp>
              <p:nvSpPr>
                <p:cNvPr id="3170" name="Google Shape;3170;p32"/>
                <p:cNvSpPr/>
                <p:nvPr/>
              </p:nvSpPr>
              <p:spPr>
                <a:xfrm>
                  <a:off x="13964608" y="1977408"/>
                  <a:ext cx="2390100" cy="703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3171" name="Google Shape;3171;p32"/>
                <p:cNvGrpSpPr/>
                <p:nvPr/>
              </p:nvGrpSpPr>
              <p:grpSpPr>
                <a:xfrm>
                  <a:off x="14018731" y="2168949"/>
                  <a:ext cx="396177" cy="320504"/>
                  <a:chOff x="-3757613" y="5049838"/>
                  <a:chExt cx="5826126" cy="4713288"/>
                </a:xfrm>
              </p:grpSpPr>
              <p:sp>
                <p:nvSpPr>
                  <p:cNvPr id="3172" name="Google Shape;3172;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73" name="Google Shape;3173;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74" name="Google Shape;3174;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75" name="Google Shape;3175;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76" name="Google Shape;3176;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77" name="Google Shape;3177;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178" name="Google Shape;3178;p32"/>
                <p:cNvSpPr/>
                <p:nvPr/>
              </p:nvSpPr>
              <p:spPr>
                <a:xfrm>
                  <a:off x="13814589" y="1926698"/>
                  <a:ext cx="804600" cy="804600"/>
                </a:xfrm>
                <a:prstGeom prst="ellipse">
                  <a:avLst/>
                </a:prstGeom>
                <a:solidFill>
                  <a:schemeClr val="lt1"/>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179" name="Google Shape;3179;p32"/>
              <p:cNvPicPr preferRelativeResize="0"/>
              <p:nvPr/>
            </p:nvPicPr>
            <p:blipFill rotWithShape="1">
              <a:blip r:embed="rId7">
                <a:alphaModFix/>
              </a:blip>
              <a:srcRect b="0" l="0" r="0" t="0"/>
              <a:stretch/>
            </p:blipFill>
            <p:spPr>
              <a:xfrm>
                <a:off x="2837682" y="2047617"/>
                <a:ext cx="231349" cy="212818"/>
              </a:xfrm>
              <a:prstGeom prst="rect">
                <a:avLst/>
              </a:prstGeom>
              <a:solidFill>
                <a:srgbClr val="F3F3F3"/>
              </a:solidFill>
              <a:ln>
                <a:noFill/>
              </a:ln>
            </p:spPr>
          </p:pic>
        </p:grpSp>
        <p:grpSp>
          <p:nvGrpSpPr>
            <p:cNvPr id="3180" name="Google Shape;3180;p32"/>
            <p:cNvGrpSpPr/>
            <p:nvPr/>
          </p:nvGrpSpPr>
          <p:grpSpPr>
            <a:xfrm>
              <a:off x="8125609" y="4660293"/>
              <a:ext cx="807686" cy="284740"/>
              <a:chOff x="3756830" y="2436551"/>
              <a:chExt cx="1076914" cy="320472"/>
            </a:xfrm>
          </p:grpSpPr>
          <p:grpSp>
            <p:nvGrpSpPr>
              <p:cNvPr id="3181" name="Google Shape;3181;p32"/>
              <p:cNvGrpSpPr/>
              <p:nvPr/>
            </p:nvGrpSpPr>
            <p:grpSpPr>
              <a:xfrm>
                <a:off x="3756830" y="2436551"/>
                <a:ext cx="1076914" cy="320472"/>
                <a:chOff x="13814589" y="1926698"/>
                <a:chExt cx="2486526" cy="804600"/>
              </a:xfrm>
            </p:grpSpPr>
            <p:sp>
              <p:nvSpPr>
                <p:cNvPr id="3182" name="Google Shape;3182;p32"/>
                <p:cNvSpPr/>
                <p:nvPr/>
              </p:nvSpPr>
              <p:spPr>
                <a:xfrm>
                  <a:off x="14062515" y="1977408"/>
                  <a:ext cx="2238600" cy="7032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3183" name="Google Shape;3183;p32"/>
                <p:cNvGrpSpPr/>
                <p:nvPr/>
              </p:nvGrpSpPr>
              <p:grpSpPr>
                <a:xfrm>
                  <a:off x="14018731" y="2168949"/>
                  <a:ext cx="396177" cy="320504"/>
                  <a:chOff x="-3757613" y="5049838"/>
                  <a:chExt cx="5826126" cy="4713288"/>
                </a:xfrm>
              </p:grpSpPr>
              <p:sp>
                <p:nvSpPr>
                  <p:cNvPr id="3184" name="Google Shape;3184;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85" name="Google Shape;3185;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86" name="Google Shape;3186;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87" name="Google Shape;3187;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88" name="Google Shape;3188;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89" name="Google Shape;3189;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190" name="Google Shape;3190;p32"/>
                <p:cNvSpPr/>
                <p:nvPr/>
              </p:nvSpPr>
              <p:spPr>
                <a:xfrm>
                  <a:off x="13814589" y="1926698"/>
                  <a:ext cx="804600" cy="804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3191" name="Google Shape;3191;p32"/>
              <p:cNvPicPr preferRelativeResize="0"/>
              <p:nvPr/>
            </p:nvPicPr>
            <p:blipFill rotWithShape="1">
              <a:blip r:embed="rId8">
                <a:alphaModFix/>
              </a:blip>
              <a:srcRect b="0" l="0" r="0" t="0"/>
              <a:stretch/>
            </p:blipFill>
            <p:spPr>
              <a:xfrm>
                <a:off x="3816363" y="2481626"/>
                <a:ext cx="230643" cy="212164"/>
              </a:xfrm>
              <a:prstGeom prst="rect">
                <a:avLst/>
              </a:prstGeom>
              <a:noFill/>
              <a:ln>
                <a:noFill/>
              </a:ln>
            </p:spPr>
          </p:pic>
        </p:grpSp>
        <p:grpSp>
          <p:nvGrpSpPr>
            <p:cNvPr id="3192" name="Google Shape;3192;p32"/>
            <p:cNvGrpSpPr/>
            <p:nvPr/>
          </p:nvGrpSpPr>
          <p:grpSpPr>
            <a:xfrm>
              <a:off x="198406" y="4660235"/>
              <a:ext cx="807733" cy="284707"/>
              <a:chOff x="1259501" y="3077120"/>
              <a:chExt cx="1076977" cy="320400"/>
            </a:xfrm>
          </p:grpSpPr>
          <p:sp>
            <p:nvSpPr>
              <p:cNvPr id="3193" name="Google Shape;3193;p32"/>
              <p:cNvSpPr/>
              <p:nvPr/>
            </p:nvSpPr>
            <p:spPr>
              <a:xfrm>
                <a:off x="1366878" y="3097318"/>
                <a:ext cx="969600" cy="280200"/>
              </a:xfrm>
              <a:prstGeom prst="roundRect">
                <a:avLst>
                  <a:gd fmla="val 50000" name="adj"/>
                </a:avLst>
              </a:prstGeom>
              <a:solidFill>
                <a:srgbClr val="BFBFBF"/>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grpSp>
            <p:nvGrpSpPr>
              <p:cNvPr id="3194" name="Google Shape;3194;p32"/>
              <p:cNvGrpSpPr/>
              <p:nvPr/>
            </p:nvGrpSpPr>
            <p:grpSpPr>
              <a:xfrm>
                <a:off x="1347730" y="3173687"/>
                <a:ext cx="171871" cy="127730"/>
                <a:chOff x="-3757613" y="5049838"/>
                <a:chExt cx="5826126" cy="4713288"/>
              </a:xfrm>
            </p:grpSpPr>
            <p:sp>
              <p:nvSpPr>
                <p:cNvPr id="3195" name="Google Shape;3195;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96" name="Google Shape;3196;p32"/>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97" name="Google Shape;3197;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98" name="Google Shape;3198;p32"/>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199" name="Google Shape;3199;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200" name="Google Shape;3200;p32"/>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E1D5BB"/>
                </a:solidFill>
                <a:ln>
                  <a:noFill/>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201" name="Google Shape;3201;p32"/>
              <p:cNvSpPr/>
              <p:nvPr/>
            </p:nvSpPr>
            <p:spPr>
              <a:xfrm>
                <a:off x="1259501" y="3077120"/>
                <a:ext cx="348600" cy="320400"/>
              </a:xfrm>
              <a:prstGeom prst="ellipse">
                <a:avLst/>
              </a:prstGeom>
              <a:solidFill>
                <a:srgbClr val="FFFFFF"/>
              </a:solidFill>
              <a:ln cap="flat" cmpd="sng" w="76200">
                <a:solidFill>
                  <a:srgbClr val="BFBFBF"/>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3202" name="Google Shape;3202;p32"/>
              <p:cNvPicPr preferRelativeResize="0"/>
              <p:nvPr/>
            </p:nvPicPr>
            <p:blipFill rotWithShape="1">
              <a:blip r:embed="rId9">
                <a:alphaModFix/>
              </a:blip>
              <a:srcRect b="0" l="0" r="0" t="0"/>
              <a:stretch/>
            </p:blipFill>
            <p:spPr>
              <a:xfrm>
                <a:off x="1297196" y="3109639"/>
                <a:ext cx="259736" cy="240263"/>
              </a:xfrm>
              <a:prstGeom prst="rect">
                <a:avLst/>
              </a:prstGeom>
              <a:solidFill>
                <a:srgbClr val="F3F3F3"/>
              </a:solidFill>
              <a:ln>
                <a:noFill/>
              </a:ln>
            </p:spPr>
          </p:pic>
        </p:grpSp>
      </p:grpSp>
      <p:sp>
        <p:nvSpPr>
          <p:cNvPr id="3203" name="Google Shape;3203;p32"/>
          <p:cNvSpPr/>
          <p:nvPr/>
        </p:nvSpPr>
        <p:spPr>
          <a:xfrm>
            <a:off x="2862418"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Encuestas/investigación</a:t>
            </a:r>
            <a:endParaRPr b="0" i="0" sz="400" u="none" cap="none" strike="noStrike">
              <a:solidFill>
                <a:srgbClr val="595959"/>
              </a:solidFill>
              <a:latin typeface="Montserrat"/>
              <a:ea typeface="Montserrat"/>
              <a:cs typeface="Montserrat"/>
              <a:sym typeface="Montserrat"/>
            </a:endParaRPr>
          </a:p>
        </p:txBody>
      </p:sp>
      <p:sp>
        <p:nvSpPr>
          <p:cNvPr id="3204" name="Google Shape;3204;p32"/>
          <p:cNvSpPr/>
          <p:nvPr/>
        </p:nvSpPr>
        <p:spPr>
          <a:xfrm>
            <a:off x="129545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campañas</a:t>
            </a:r>
            <a:endParaRPr b="0" i="0" sz="400" u="none" cap="none" strike="noStrike">
              <a:solidFill>
                <a:srgbClr val="595959"/>
              </a:solidFill>
              <a:latin typeface="Montserrat"/>
              <a:ea typeface="Montserrat"/>
              <a:cs typeface="Montserrat"/>
              <a:sym typeface="Montserrat"/>
            </a:endParaRPr>
          </a:p>
        </p:txBody>
      </p:sp>
      <p:sp>
        <p:nvSpPr>
          <p:cNvPr id="3205" name="Google Shape;3205;p32"/>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garantías</a:t>
            </a:r>
            <a:endParaRPr b="0" i="0" sz="900" u="none" cap="none" strike="noStrike">
              <a:solidFill>
                <a:srgbClr val="595959"/>
              </a:solidFill>
              <a:latin typeface="Montserrat"/>
              <a:ea typeface="Montserrat"/>
              <a:cs typeface="Montserrat"/>
              <a:sym typeface="Montserrat"/>
            </a:endParaRPr>
          </a:p>
        </p:txBody>
      </p:sp>
      <p:sp>
        <p:nvSpPr>
          <p:cNvPr id="3206" name="Google Shape;3206;p32"/>
          <p:cNvSpPr/>
          <p:nvPr/>
        </p:nvSpPr>
        <p:spPr>
          <a:xfrm>
            <a:off x="129249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Información de la clase de producto</a:t>
            </a:r>
            <a:endParaRPr b="0" i="0" sz="400" u="none" cap="none" strike="noStrike">
              <a:solidFill>
                <a:srgbClr val="595959"/>
              </a:solidFill>
              <a:latin typeface="Montserrat"/>
              <a:ea typeface="Montserrat"/>
              <a:cs typeface="Montserrat"/>
              <a:sym typeface="Montserrat"/>
            </a:endParaRPr>
          </a:p>
        </p:txBody>
      </p:sp>
      <p:sp>
        <p:nvSpPr>
          <p:cNvPr id="3207" name="Google Shape;3207;p32"/>
          <p:cNvSpPr/>
          <p:nvPr/>
        </p:nvSpPr>
        <p:spPr>
          <a:xfrm>
            <a:off x="129249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Cuentas de depósito a plazo</a:t>
            </a:r>
            <a:endParaRPr b="0" i="0" sz="400" u="none" cap="none" strike="noStrike">
              <a:solidFill>
                <a:srgbClr val="FFFFFF"/>
              </a:solidFill>
              <a:latin typeface="Montserrat"/>
              <a:ea typeface="Montserrat"/>
              <a:cs typeface="Montserrat"/>
              <a:sym typeface="Montserrat"/>
            </a:endParaRPr>
          </a:p>
        </p:txBody>
      </p:sp>
      <p:sp>
        <p:nvSpPr>
          <p:cNvPr id="3208" name="Google Shape;3208;p32"/>
          <p:cNvSpPr/>
          <p:nvPr/>
        </p:nvSpPr>
        <p:spPr>
          <a:xfrm>
            <a:off x="129249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Cuentas Corrientes</a:t>
            </a:r>
            <a:endParaRPr b="0" i="0" sz="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rgbClr val="595959"/>
              </a:solidFill>
              <a:latin typeface="Montserrat"/>
              <a:ea typeface="Montserrat"/>
              <a:cs typeface="Montserrat"/>
              <a:sym typeface="Montserrat"/>
            </a:endParaRPr>
          </a:p>
        </p:txBody>
      </p:sp>
      <p:sp>
        <p:nvSpPr>
          <p:cNvPr id="3209" name="Google Shape;3209;p32"/>
          <p:cNvSpPr/>
          <p:nvPr/>
        </p:nvSpPr>
        <p:spPr>
          <a:xfrm>
            <a:off x="2077643" y="141722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jubilación</a:t>
            </a:r>
            <a:endParaRPr b="0" i="0" sz="400" u="none" cap="none" strike="noStrike">
              <a:solidFill>
                <a:srgbClr val="595959"/>
              </a:solidFill>
              <a:latin typeface="Montserrat"/>
              <a:ea typeface="Montserrat"/>
              <a:cs typeface="Montserrat"/>
              <a:sym typeface="Montserrat"/>
            </a:endParaRPr>
          </a:p>
        </p:txBody>
      </p:sp>
      <p:sp>
        <p:nvSpPr>
          <p:cNvPr id="3210" name="Google Shape;3210;p32"/>
          <p:cNvSpPr/>
          <p:nvPr/>
        </p:nvSpPr>
        <p:spPr>
          <a:xfrm>
            <a:off x="2863234" y="1261152"/>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Banco privado/</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Servicios patrimoniales</a:t>
            </a:r>
            <a:endParaRPr b="0" i="0" sz="400" u="none" cap="none" strike="noStrike">
              <a:solidFill>
                <a:srgbClr val="595959"/>
              </a:solidFill>
              <a:latin typeface="Montserrat"/>
              <a:ea typeface="Montserrat"/>
              <a:cs typeface="Montserrat"/>
              <a:sym typeface="Montserrat"/>
            </a:endParaRPr>
          </a:p>
        </p:txBody>
      </p:sp>
      <p:sp>
        <p:nvSpPr>
          <p:cNvPr id="3211" name="Google Shape;3211;p32"/>
          <p:cNvSpPr/>
          <p:nvPr/>
        </p:nvSpPr>
        <p:spPr>
          <a:xfrm>
            <a:off x="2863234"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Cuentas de ahorro</a:t>
            </a:r>
            <a:endParaRPr b="0" i="0" sz="400" u="none" cap="none" strike="noStrike">
              <a:solidFill>
                <a:srgbClr val="FFFFFF"/>
              </a:solidFill>
              <a:latin typeface="Montserrat"/>
              <a:ea typeface="Montserrat"/>
              <a:cs typeface="Montserrat"/>
              <a:sym typeface="Montserrat"/>
            </a:endParaRPr>
          </a:p>
        </p:txBody>
      </p:sp>
      <p:sp>
        <p:nvSpPr>
          <p:cNvPr id="3212" name="Google Shape;3212;p32"/>
          <p:cNvSpPr/>
          <p:nvPr/>
        </p:nvSpPr>
        <p:spPr>
          <a:xfrm>
            <a:off x="207764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Cuentas de crédito</a:t>
            </a:r>
            <a:endParaRPr b="0" i="0" sz="400" u="none" cap="none" strike="noStrike">
              <a:solidFill>
                <a:srgbClr val="FFFFFF"/>
              </a:solidFill>
              <a:latin typeface="Montserrat"/>
              <a:ea typeface="Montserrat"/>
              <a:cs typeface="Montserrat"/>
              <a:sym typeface="Montserrat"/>
            </a:endParaRPr>
          </a:p>
        </p:txBody>
      </p:sp>
      <p:sp>
        <p:nvSpPr>
          <p:cNvPr id="3213" name="Google Shape;3213;p32"/>
          <p:cNvSpPr/>
          <p:nvPr/>
        </p:nvSpPr>
        <p:spPr>
          <a:xfrm>
            <a:off x="207764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Banca transaccional</a:t>
            </a:r>
            <a:endParaRPr b="0" i="0" sz="400" u="none" cap="none" strike="noStrike">
              <a:solidFill>
                <a:srgbClr val="FFFFFF"/>
              </a:solidFill>
              <a:latin typeface="Montserrat"/>
              <a:ea typeface="Montserrat"/>
              <a:cs typeface="Montserrat"/>
              <a:sym typeface="Montserrat"/>
            </a:endParaRPr>
          </a:p>
        </p:txBody>
      </p:sp>
      <p:sp>
        <p:nvSpPr>
          <p:cNvPr id="3214" name="Google Shape;3214;p32"/>
          <p:cNvSpPr/>
          <p:nvPr/>
        </p:nvSpPr>
        <p:spPr>
          <a:xfrm>
            <a:off x="2863234" y="1572628"/>
            <a:ext cx="746400" cy="1356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Cuentas de saldo cero</a:t>
            </a:r>
            <a:endParaRPr b="0" i="0" sz="400" u="none" cap="none" strike="noStrike">
              <a:solidFill>
                <a:srgbClr val="595959"/>
              </a:solidFill>
              <a:latin typeface="Montserrat"/>
              <a:ea typeface="Montserrat"/>
              <a:cs typeface="Montserrat"/>
              <a:sym typeface="Montserrat"/>
            </a:endParaRPr>
          </a:p>
        </p:txBody>
      </p:sp>
      <p:sp>
        <p:nvSpPr>
          <p:cNvPr id="3215" name="Google Shape;3215;p32"/>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Caja de seguridad</a:t>
            </a:r>
            <a:endParaRPr b="0" i="0" sz="400" u="none" cap="none" strike="noStrike">
              <a:solidFill>
                <a:srgbClr val="595959"/>
              </a:solidFill>
              <a:latin typeface="Montserrat"/>
              <a:ea typeface="Montserrat"/>
              <a:cs typeface="Montserrat"/>
              <a:sym typeface="Montserrat"/>
            </a:endParaRPr>
          </a:p>
        </p:txBody>
      </p:sp>
      <p:sp>
        <p:nvSpPr>
          <p:cNvPr id="3216" name="Google Shape;3216;p32"/>
          <p:cNvSpPr/>
          <p:nvPr/>
        </p:nvSpPr>
        <p:spPr>
          <a:xfrm>
            <a:off x="8081185"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Cheque de caja/</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Giros postales</a:t>
            </a:r>
            <a:endParaRPr b="0" i="0" sz="400" u="none" cap="none" strike="noStrike">
              <a:solidFill>
                <a:srgbClr val="595959"/>
              </a:solidFill>
              <a:latin typeface="Montserrat"/>
              <a:ea typeface="Montserrat"/>
              <a:cs typeface="Montserrat"/>
              <a:sym typeface="Montserrat"/>
            </a:endParaRPr>
          </a:p>
        </p:txBody>
      </p:sp>
      <p:sp>
        <p:nvSpPr>
          <p:cNvPr id="3217" name="Google Shape;3217;p32"/>
          <p:cNvSpPr/>
          <p:nvPr/>
        </p:nvSpPr>
        <p:spPr>
          <a:xfrm>
            <a:off x="8081185"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Sobregiro</a:t>
            </a:r>
            <a:endParaRPr b="0" i="0" sz="400" u="none" cap="none" strike="noStrike">
              <a:solidFill>
                <a:srgbClr val="595959"/>
              </a:solidFill>
              <a:latin typeface="Montserrat"/>
              <a:ea typeface="Montserrat"/>
              <a:cs typeface="Montserrat"/>
              <a:sym typeface="Montserrat"/>
            </a:endParaRPr>
          </a:p>
        </p:txBody>
      </p:sp>
      <p:sp>
        <p:nvSpPr>
          <p:cNvPr id="3218" name="Google Shape;3218;p32"/>
          <p:cNvSpPr/>
          <p:nvPr/>
        </p:nvSpPr>
        <p:spPr>
          <a:xfrm>
            <a:off x="6567651" y="157245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Servicios de pago</a:t>
            </a:r>
            <a:endParaRPr b="0" i="0" sz="400" u="none" cap="none" strike="noStrike">
              <a:solidFill>
                <a:srgbClr val="FFFFFF"/>
              </a:solidFill>
              <a:latin typeface="Montserrat"/>
              <a:ea typeface="Montserrat"/>
              <a:cs typeface="Montserrat"/>
              <a:sym typeface="Montserrat"/>
            </a:endParaRPr>
          </a:p>
        </p:txBody>
      </p:sp>
      <p:sp>
        <p:nvSpPr>
          <p:cNvPr id="3219" name="Google Shape;3219;p32"/>
          <p:cNvSpPr/>
          <p:nvPr/>
        </p:nvSpPr>
        <p:spPr>
          <a:xfrm>
            <a:off x="7323830" y="141700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Servicios básicos de gestión</a:t>
            </a:r>
            <a:endParaRPr b="0" i="0" sz="400" u="none" cap="none" strike="noStrike">
              <a:solidFill>
                <a:srgbClr val="FFFFFF"/>
              </a:solidFill>
              <a:latin typeface="Montserrat"/>
              <a:ea typeface="Montserrat"/>
              <a:cs typeface="Montserrat"/>
              <a:sym typeface="Montserrat"/>
            </a:endParaRPr>
          </a:p>
        </p:txBody>
      </p:sp>
      <p:sp>
        <p:nvSpPr>
          <p:cNvPr id="3220" name="Google Shape;3220;p32"/>
          <p:cNvSpPr/>
          <p:nvPr/>
        </p:nvSpPr>
        <p:spPr>
          <a:xfrm>
            <a:off x="6567651"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Análisis de cuentas</a:t>
            </a:r>
            <a:endParaRPr b="0" i="0" sz="400" u="none" cap="none" strike="noStrike">
              <a:solidFill>
                <a:srgbClr val="595959"/>
              </a:solidFill>
              <a:latin typeface="Montserrat"/>
              <a:ea typeface="Montserrat"/>
              <a:cs typeface="Montserrat"/>
              <a:sym typeface="Montserrat"/>
            </a:endParaRPr>
          </a:p>
        </p:txBody>
      </p:sp>
      <p:sp>
        <p:nvSpPr>
          <p:cNvPr id="3221" name="Google Shape;3221;p32"/>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Gestión de Fideicomisos</a:t>
            </a:r>
            <a:endParaRPr b="0" i="0" sz="400" u="none" cap="none" strike="noStrike">
              <a:solidFill>
                <a:srgbClr val="595959"/>
              </a:solidFill>
              <a:latin typeface="Montserrat"/>
              <a:ea typeface="Montserrat"/>
              <a:cs typeface="Montserrat"/>
              <a:sym typeface="Montserrat"/>
            </a:endParaRPr>
          </a:p>
        </p:txBody>
      </p:sp>
      <p:sp>
        <p:nvSpPr>
          <p:cNvPr id="3222" name="Google Shape;3222;p32"/>
          <p:cNvSpPr/>
          <p:nvPr/>
        </p:nvSpPr>
        <p:spPr>
          <a:xfrm>
            <a:off x="7323830"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Retiro de Efectivo</a:t>
            </a:r>
            <a:endParaRPr b="0" i="0" sz="400" u="none" cap="none" strike="noStrike">
              <a:solidFill>
                <a:srgbClr val="FFFFFF"/>
              </a:solidFill>
              <a:latin typeface="Montserrat"/>
              <a:ea typeface="Montserrat"/>
              <a:cs typeface="Montserrat"/>
              <a:sym typeface="Montserrat"/>
            </a:endParaRPr>
          </a:p>
        </p:txBody>
      </p:sp>
      <p:sp>
        <p:nvSpPr>
          <p:cNvPr id="3223" name="Google Shape;3223;p32"/>
          <p:cNvSpPr/>
          <p:nvPr/>
        </p:nvSpPr>
        <p:spPr>
          <a:xfrm>
            <a:off x="6567651"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Servicios comerciales</a:t>
            </a:r>
            <a:endParaRPr b="0" i="0" sz="400" u="none" cap="none" strike="noStrike">
              <a:solidFill>
                <a:srgbClr val="595959"/>
              </a:solidFill>
              <a:latin typeface="Montserrat"/>
              <a:ea typeface="Montserrat"/>
              <a:cs typeface="Montserrat"/>
              <a:sym typeface="Montserrat"/>
            </a:endParaRPr>
          </a:p>
        </p:txBody>
      </p:sp>
      <p:sp>
        <p:nvSpPr>
          <p:cNvPr id="3224" name="Google Shape;3224;p32"/>
          <p:cNvSpPr/>
          <p:nvPr/>
        </p:nvSpPr>
        <p:spPr>
          <a:xfrm>
            <a:off x="8082270" y="2890402"/>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Capacidades del estado de cuenta</a:t>
            </a:r>
            <a:endParaRPr b="0" i="0" sz="400" u="none" cap="none" strike="noStrike">
              <a:solidFill>
                <a:srgbClr val="595959"/>
              </a:solidFill>
              <a:latin typeface="Montserrat"/>
              <a:ea typeface="Montserrat"/>
              <a:cs typeface="Montserrat"/>
              <a:sym typeface="Montserrat"/>
            </a:endParaRPr>
          </a:p>
        </p:txBody>
      </p:sp>
      <p:sp>
        <p:nvSpPr>
          <p:cNvPr id="3225" name="Google Shape;3225;p32"/>
          <p:cNvSpPr/>
          <p:nvPr/>
        </p:nvSpPr>
        <p:spPr>
          <a:xfrm>
            <a:off x="7323289" y="2890402"/>
            <a:ext cx="720900" cy="143100"/>
          </a:xfrm>
          <a:prstGeom prst="roundRect">
            <a:avLst>
              <a:gd fmla="val 5041" name="adj"/>
            </a:avLst>
          </a:prstGeom>
          <a:solidFill>
            <a:srgbClr val="EEEEEE"/>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Archivo de estado de cuenta/</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Seguimiento histórico</a:t>
            </a:r>
            <a:endParaRPr b="0" i="0" sz="400" u="none" cap="none" strike="noStrike">
              <a:solidFill>
                <a:srgbClr val="595959"/>
              </a:solidFill>
              <a:latin typeface="Montserrat"/>
              <a:ea typeface="Montserrat"/>
              <a:cs typeface="Montserrat"/>
              <a:sym typeface="Montserrat"/>
            </a:endParaRPr>
          </a:p>
        </p:txBody>
      </p:sp>
      <p:sp>
        <p:nvSpPr>
          <p:cNvPr id="3226" name="Google Shape;3226;p32"/>
          <p:cNvSpPr/>
          <p:nvPr/>
        </p:nvSpPr>
        <p:spPr>
          <a:xfrm>
            <a:off x="732328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Generación del estado de cuenta</a:t>
            </a:r>
            <a:endParaRPr b="0" i="0" sz="400" u="none" cap="none" strike="noStrike">
              <a:solidFill>
                <a:srgbClr val="595959"/>
              </a:solidFill>
              <a:latin typeface="Montserrat"/>
              <a:ea typeface="Montserrat"/>
              <a:cs typeface="Montserrat"/>
              <a:sym typeface="Montserrat"/>
            </a:endParaRPr>
          </a:p>
        </p:txBody>
      </p:sp>
      <p:sp>
        <p:nvSpPr>
          <p:cNvPr id="3227" name="Google Shape;3227;p32"/>
          <p:cNvSpPr/>
          <p:nvPr/>
        </p:nvSpPr>
        <p:spPr>
          <a:xfrm>
            <a:off x="6568479" y="306778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Definición del estado de cuenta</a:t>
            </a:r>
            <a:endParaRPr b="0" i="0" sz="400" u="none" cap="none" strike="noStrike">
              <a:solidFill>
                <a:srgbClr val="595959"/>
              </a:solidFill>
              <a:latin typeface="Montserrat"/>
              <a:ea typeface="Montserrat"/>
              <a:cs typeface="Montserrat"/>
              <a:sym typeface="Montserrat"/>
            </a:endParaRPr>
          </a:p>
        </p:txBody>
      </p:sp>
      <p:sp>
        <p:nvSpPr>
          <p:cNvPr id="3228" name="Google Shape;3228;p32"/>
          <p:cNvSpPr/>
          <p:nvPr/>
        </p:nvSpPr>
        <p:spPr>
          <a:xfrm>
            <a:off x="6568479" y="2890402"/>
            <a:ext cx="720900" cy="143100"/>
          </a:xfrm>
          <a:prstGeom prst="roundRect">
            <a:avLst>
              <a:gd fmla="val 5041" name="adj"/>
            </a:avLst>
          </a:prstGeom>
          <a:solidFill>
            <a:srgbClr val="EEEEEE"/>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Generación de estados de cuenta en línea</a:t>
            </a:r>
            <a:endParaRPr b="0" i="0" sz="400" u="none" cap="none" strike="noStrike">
              <a:solidFill>
                <a:srgbClr val="595959"/>
              </a:solidFill>
              <a:latin typeface="Montserrat"/>
              <a:ea typeface="Montserrat"/>
              <a:cs typeface="Montserrat"/>
              <a:sym typeface="Montserrat"/>
            </a:endParaRPr>
          </a:p>
        </p:txBody>
      </p:sp>
      <p:sp>
        <p:nvSpPr>
          <p:cNvPr id="3229" name="Google Shape;3229;p32"/>
          <p:cNvSpPr/>
          <p:nvPr/>
        </p:nvSpPr>
        <p:spPr>
          <a:xfrm>
            <a:off x="8077267"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Originaciones de procesos</a:t>
            </a:r>
            <a:endParaRPr b="0" i="0" sz="400" u="none" cap="none" strike="noStrike">
              <a:solidFill>
                <a:srgbClr val="FFFFFF"/>
              </a:solidFill>
              <a:latin typeface="Montserrat"/>
              <a:ea typeface="Montserrat"/>
              <a:cs typeface="Montserrat"/>
              <a:sym typeface="Montserrat"/>
            </a:endParaRPr>
          </a:p>
        </p:txBody>
      </p:sp>
      <p:sp>
        <p:nvSpPr>
          <p:cNvPr id="3230" name="Google Shape;3230;p32"/>
          <p:cNvSpPr/>
          <p:nvPr/>
        </p:nvSpPr>
        <p:spPr>
          <a:xfrm>
            <a:off x="6562648"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Fin del día y BATCH</a:t>
            </a:r>
            <a:endParaRPr b="0" i="0" sz="400" u="none" cap="none" strike="noStrike">
              <a:solidFill>
                <a:srgbClr val="595959"/>
              </a:solidFill>
              <a:latin typeface="Montserrat"/>
              <a:ea typeface="Montserrat"/>
              <a:cs typeface="Montserrat"/>
              <a:sym typeface="Montserrat"/>
            </a:endParaRPr>
          </a:p>
        </p:txBody>
      </p:sp>
      <p:sp>
        <p:nvSpPr>
          <p:cNvPr id="3231" name="Google Shape;3231;p32"/>
          <p:cNvSpPr/>
          <p:nvPr/>
        </p:nvSpPr>
        <p:spPr>
          <a:xfrm>
            <a:off x="6562648" y="2228228"/>
            <a:ext cx="720900" cy="128400"/>
          </a:xfrm>
          <a:prstGeom prst="roundRect">
            <a:avLst>
              <a:gd fmla="val 5041" name="adj"/>
            </a:avLst>
          </a:prstGeom>
          <a:solidFill>
            <a:srgbClr val="0065AD"/>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Cierre Contable</a:t>
            </a:r>
            <a:endParaRPr b="0" i="0" sz="400" u="none" cap="none" strike="noStrike">
              <a:solidFill>
                <a:srgbClr val="FFFFFF"/>
              </a:solidFill>
              <a:latin typeface="Montserrat"/>
              <a:ea typeface="Montserrat"/>
              <a:cs typeface="Montserrat"/>
              <a:sym typeface="Montserrat"/>
            </a:endParaRPr>
          </a:p>
        </p:txBody>
      </p:sp>
      <p:sp>
        <p:nvSpPr>
          <p:cNvPr id="3232" name="Google Shape;3232;p32"/>
          <p:cNvSpPr/>
          <p:nvPr/>
        </p:nvSpPr>
        <p:spPr>
          <a:xfrm>
            <a:off x="8077267"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Proceso de transferencia</a:t>
            </a:r>
            <a:endParaRPr b="0" i="0" sz="400" u="none" cap="none" strike="noStrike">
              <a:solidFill>
                <a:srgbClr val="FFFFFF"/>
              </a:solidFill>
              <a:latin typeface="Montserrat"/>
              <a:ea typeface="Montserrat"/>
              <a:cs typeface="Montserrat"/>
              <a:sym typeface="Montserrat"/>
            </a:endParaRPr>
          </a:p>
        </p:txBody>
      </p:sp>
      <p:sp>
        <p:nvSpPr>
          <p:cNvPr id="3233" name="Google Shape;3233;p32"/>
          <p:cNvSpPr/>
          <p:nvPr/>
        </p:nvSpPr>
        <p:spPr>
          <a:xfrm>
            <a:off x="7319255"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Planificación y preparación</a:t>
            </a:r>
            <a:endParaRPr b="0" i="0" sz="400" u="none" cap="none" strike="noStrike">
              <a:solidFill>
                <a:srgbClr val="FFFFFF"/>
              </a:solidFill>
              <a:latin typeface="Montserrat"/>
              <a:ea typeface="Montserrat"/>
              <a:cs typeface="Montserrat"/>
              <a:sym typeface="Montserrat"/>
            </a:endParaRPr>
          </a:p>
        </p:txBody>
      </p:sp>
      <p:sp>
        <p:nvSpPr>
          <p:cNvPr id="3234" name="Google Shape;3234;p32"/>
          <p:cNvSpPr/>
          <p:nvPr/>
        </p:nvSpPr>
        <p:spPr>
          <a:xfrm>
            <a:off x="7319255"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Procesamiento de cheques</a:t>
            </a:r>
            <a:endParaRPr b="0" i="0" sz="400" u="none" cap="none" strike="noStrike">
              <a:solidFill>
                <a:srgbClr val="FFFFFF"/>
              </a:solidFill>
              <a:latin typeface="Montserrat"/>
              <a:ea typeface="Montserrat"/>
              <a:cs typeface="Montserrat"/>
              <a:sym typeface="Montserrat"/>
            </a:endParaRPr>
          </a:p>
        </p:txBody>
      </p:sp>
      <p:sp>
        <p:nvSpPr>
          <p:cNvPr id="3235" name="Google Shape;3235;p32"/>
          <p:cNvSpPr/>
          <p:nvPr/>
        </p:nvSpPr>
        <p:spPr>
          <a:xfrm>
            <a:off x="8076183"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Proceso del día 1 y día 2</a:t>
            </a:r>
            <a:endParaRPr b="0" i="0" sz="400" u="none" cap="none" strike="noStrike">
              <a:solidFill>
                <a:srgbClr val="FFFFFF"/>
              </a:solidFill>
              <a:latin typeface="Montserrat"/>
              <a:ea typeface="Montserrat"/>
              <a:cs typeface="Montserrat"/>
              <a:sym typeface="Montserrat"/>
            </a:endParaRPr>
          </a:p>
        </p:txBody>
      </p:sp>
      <p:sp>
        <p:nvSpPr>
          <p:cNvPr id="3236" name="Google Shape;3236;p32"/>
          <p:cNvSpPr/>
          <p:nvPr/>
        </p:nvSpPr>
        <p:spPr>
          <a:xfrm>
            <a:off x="8076183" y="222822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Procesar transacciones de depósito</a:t>
            </a:r>
            <a:endParaRPr b="0" i="0" sz="400" u="none" cap="none" strike="noStrike">
              <a:solidFill>
                <a:srgbClr val="FFFFFF"/>
              </a:solidFill>
              <a:latin typeface="Montserrat"/>
              <a:ea typeface="Montserrat"/>
              <a:cs typeface="Montserrat"/>
              <a:sym typeface="Montserrat"/>
            </a:endParaRPr>
          </a:p>
        </p:txBody>
      </p:sp>
      <p:sp>
        <p:nvSpPr>
          <p:cNvPr id="3237" name="Google Shape;3237;p32"/>
          <p:cNvSpPr/>
          <p:nvPr/>
        </p:nvSpPr>
        <p:spPr>
          <a:xfrm>
            <a:off x="6563476"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Procesar transacciones electrónicas</a:t>
            </a:r>
            <a:endParaRPr b="0" i="0" sz="400" u="none" cap="none" strike="noStrike">
              <a:solidFill>
                <a:srgbClr val="FFFFFF"/>
              </a:solidFill>
              <a:latin typeface="Montserrat"/>
              <a:ea typeface="Montserrat"/>
              <a:cs typeface="Montserrat"/>
              <a:sym typeface="Montserrat"/>
            </a:endParaRPr>
          </a:p>
        </p:txBody>
      </p:sp>
      <p:sp>
        <p:nvSpPr>
          <p:cNvPr id="3238" name="Google Shape;3238;p32"/>
          <p:cNvSpPr/>
          <p:nvPr/>
        </p:nvSpPr>
        <p:spPr>
          <a:xfrm>
            <a:off x="7319255"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Banca transaccional</a:t>
            </a:r>
            <a:endParaRPr b="0" i="0" sz="400" u="none" cap="none" strike="noStrike">
              <a:solidFill>
                <a:srgbClr val="FFFFFF"/>
              </a:solidFill>
              <a:latin typeface="Montserrat"/>
              <a:ea typeface="Montserrat"/>
              <a:cs typeface="Montserrat"/>
              <a:sym typeface="Montserrat"/>
            </a:endParaRPr>
          </a:p>
        </p:txBody>
      </p:sp>
      <p:sp>
        <p:nvSpPr>
          <p:cNvPr id="3239" name="Google Shape;3239;p32"/>
          <p:cNvSpPr/>
          <p:nvPr/>
        </p:nvSpPr>
        <p:spPr>
          <a:xfrm>
            <a:off x="7319255"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Cámara de Compensación</a:t>
            </a:r>
            <a:endParaRPr b="0" i="0" sz="400" u="none" cap="none" strike="noStrike">
              <a:solidFill>
                <a:srgbClr val="595959"/>
              </a:solidFill>
              <a:latin typeface="Montserrat"/>
              <a:ea typeface="Montserrat"/>
              <a:cs typeface="Montserrat"/>
              <a:sym typeface="Montserrat"/>
            </a:endParaRPr>
          </a:p>
        </p:txBody>
      </p:sp>
      <p:sp>
        <p:nvSpPr>
          <p:cNvPr id="3240" name="Google Shape;3240;p32"/>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Procesamiento de pagos</a:t>
            </a:r>
            <a:endParaRPr b="0" i="0" sz="400" u="none" cap="none" strike="noStrike">
              <a:solidFill>
                <a:srgbClr val="595959"/>
              </a:solidFill>
              <a:latin typeface="Montserrat"/>
              <a:ea typeface="Montserrat"/>
              <a:cs typeface="Montserrat"/>
              <a:sym typeface="Montserrat"/>
            </a:endParaRPr>
          </a:p>
        </p:txBody>
      </p:sp>
      <p:sp>
        <p:nvSpPr>
          <p:cNvPr id="3241" name="Google Shape;3241;p32"/>
          <p:cNvSpPr/>
          <p:nvPr/>
        </p:nvSpPr>
        <p:spPr>
          <a:xfrm>
            <a:off x="7319255" y="2384287"/>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Procesar transacciones de cuentas de préstamo</a:t>
            </a:r>
            <a:endParaRPr b="0" i="0" sz="400" u="none" cap="none" strike="noStrike">
              <a:solidFill>
                <a:srgbClr val="FFFFFF"/>
              </a:solidFill>
              <a:latin typeface="Montserrat"/>
              <a:ea typeface="Montserrat"/>
              <a:cs typeface="Montserrat"/>
              <a:sym typeface="Montserrat"/>
            </a:endParaRPr>
          </a:p>
        </p:txBody>
      </p:sp>
      <p:sp>
        <p:nvSpPr>
          <p:cNvPr id="3242" name="Google Shape;3242;p32"/>
          <p:cNvSpPr/>
          <p:nvPr/>
        </p:nvSpPr>
        <p:spPr>
          <a:xfrm>
            <a:off x="6562648"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Facturación</a:t>
            </a:r>
            <a:endParaRPr b="0" i="0" sz="400" u="none" cap="none" strike="noStrike">
              <a:solidFill>
                <a:srgbClr val="FFFFFF"/>
              </a:solidFill>
              <a:latin typeface="Montserrat"/>
              <a:ea typeface="Montserrat"/>
              <a:cs typeface="Montserrat"/>
              <a:sym typeface="Montserrat"/>
            </a:endParaRPr>
          </a:p>
        </p:txBody>
      </p:sp>
      <p:sp>
        <p:nvSpPr>
          <p:cNvPr id="3243" name="Google Shape;3243;p32"/>
          <p:cNvSpPr/>
          <p:nvPr/>
        </p:nvSpPr>
        <p:spPr>
          <a:xfrm>
            <a:off x="6563476"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Pagos en tiempo real</a:t>
            </a:r>
            <a:br>
              <a:rPr b="0" i="0" lang="es" sz="400" u="none" cap="none" strike="noStrike">
                <a:solidFill>
                  <a:srgbClr val="FFFFFF"/>
                </a:solidFill>
                <a:latin typeface="Montserrat"/>
                <a:ea typeface="Montserrat"/>
                <a:cs typeface="Montserrat"/>
                <a:sym typeface="Montserrat"/>
              </a:rPr>
            </a:br>
            <a:r>
              <a:rPr b="0" i="0" lang="es" sz="400" u="none" cap="none" strike="noStrike">
                <a:solidFill>
                  <a:srgbClr val="FFFFFF"/>
                </a:solidFill>
                <a:latin typeface="Montserrat"/>
                <a:ea typeface="Montserrat"/>
                <a:cs typeface="Montserrat"/>
                <a:sym typeface="Montserrat"/>
              </a:rPr>
              <a:t>Tratamiento</a:t>
            </a:r>
            <a:endParaRPr b="0" i="0" sz="400" u="none" cap="none" strike="noStrike">
              <a:solidFill>
                <a:srgbClr val="FFFFFF"/>
              </a:solidFill>
              <a:latin typeface="Montserrat"/>
              <a:ea typeface="Montserrat"/>
              <a:cs typeface="Montserrat"/>
              <a:sym typeface="Montserrat"/>
            </a:endParaRPr>
          </a:p>
        </p:txBody>
      </p:sp>
      <p:sp>
        <p:nvSpPr>
          <p:cNvPr id="3244" name="Google Shape;3244;p32"/>
          <p:cNvSpPr/>
          <p:nvPr/>
        </p:nvSpPr>
        <p:spPr>
          <a:xfrm>
            <a:off x="4843050" y="12623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Contacto</a:t>
            </a:r>
            <a:endParaRPr b="0" i="0" sz="400" u="none" cap="none" strike="noStrike">
              <a:solidFill>
                <a:srgbClr val="595959"/>
              </a:solidFill>
              <a:latin typeface="Montserrat"/>
              <a:ea typeface="Montserrat"/>
              <a:cs typeface="Montserrat"/>
              <a:sym typeface="Montserrat"/>
            </a:endParaRPr>
          </a:p>
        </p:txBody>
      </p:sp>
      <p:sp>
        <p:nvSpPr>
          <p:cNvPr id="3245" name="Google Shape;3245;p32"/>
          <p:cNvSpPr/>
          <p:nvPr/>
        </p:nvSpPr>
        <p:spPr>
          <a:xfrm>
            <a:off x="5603670" y="126164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Entidad</a:t>
            </a:r>
            <a:endParaRPr b="0" i="0" sz="400" u="none" cap="none" strike="noStrike">
              <a:solidFill>
                <a:srgbClr val="595959"/>
              </a:solidFill>
              <a:latin typeface="Montserrat"/>
              <a:ea typeface="Montserrat"/>
              <a:cs typeface="Montserrat"/>
              <a:sym typeface="Montserrat"/>
            </a:endParaRPr>
          </a:p>
        </p:txBody>
      </p:sp>
      <p:sp>
        <p:nvSpPr>
          <p:cNvPr id="3246" name="Google Shape;3246;p32"/>
          <p:cNvSpPr/>
          <p:nvPr/>
        </p:nvSpPr>
        <p:spPr>
          <a:xfrm>
            <a:off x="5603670" y="141700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Relación</a:t>
            </a:r>
            <a:endParaRPr b="0" i="0" sz="400" u="none" cap="none" strike="noStrike">
              <a:solidFill>
                <a:srgbClr val="595959"/>
              </a:solidFill>
              <a:latin typeface="Montserrat"/>
              <a:ea typeface="Montserrat"/>
              <a:cs typeface="Montserrat"/>
              <a:sym typeface="Montserrat"/>
            </a:endParaRPr>
          </a:p>
        </p:txBody>
      </p:sp>
      <p:sp>
        <p:nvSpPr>
          <p:cNvPr id="3247" name="Google Shape;3247;p32"/>
          <p:cNvSpPr/>
          <p:nvPr/>
        </p:nvSpPr>
        <p:spPr>
          <a:xfrm>
            <a:off x="4843050" y="157262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Seguridad</a:t>
            </a:r>
            <a:endParaRPr b="0" i="0" sz="400" u="none" cap="none" strike="noStrike">
              <a:solidFill>
                <a:srgbClr val="FFFFFF"/>
              </a:solidFill>
              <a:latin typeface="Montserrat"/>
              <a:ea typeface="Montserrat"/>
              <a:cs typeface="Montserrat"/>
              <a:sym typeface="Montserrat"/>
            </a:endParaRPr>
          </a:p>
        </p:txBody>
      </p:sp>
      <p:sp>
        <p:nvSpPr>
          <p:cNvPr id="3248" name="Google Shape;3248;p32"/>
          <p:cNvSpPr/>
          <p:nvPr/>
        </p:nvSpPr>
        <p:spPr>
          <a:xfrm>
            <a:off x="4843050" y="141725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Preferencias</a:t>
            </a:r>
            <a:endParaRPr b="0" i="0" sz="400" u="none" cap="none" strike="noStrike">
              <a:solidFill>
                <a:srgbClr val="595959"/>
              </a:solidFill>
              <a:latin typeface="Montserrat"/>
              <a:ea typeface="Montserrat"/>
              <a:cs typeface="Montserrat"/>
              <a:sym typeface="Montserrat"/>
            </a:endParaRPr>
          </a:p>
        </p:txBody>
      </p:sp>
      <p:sp>
        <p:nvSpPr>
          <p:cNvPr id="3249" name="Google Shape;3249;p32"/>
          <p:cNvSpPr/>
          <p:nvPr/>
        </p:nvSpPr>
        <p:spPr>
          <a:xfrm>
            <a:off x="560367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Perfil de riesgo de la persona</a:t>
            </a:r>
            <a:endParaRPr b="0" i="0" sz="400" u="none" cap="none" strike="noStrike">
              <a:solidFill>
                <a:srgbClr val="595959"/>
              </a:solidFill>
              <a:latin typeface="Montserrat"/>
              <a:ea typeface="Montserrat"/>
              <a:cs typeface="Montserrat"/>
              <a:sym typeface="Montserrat"/>
            </a:endParaRPr>
          </a:p>
        </p:txBody>
      </p:sp>
      <p:sp>
        <p:nvSpPr>
          <p:cNvPr id="3250" name="Google Shape;3250;p32"/>
          <p:cNvSpPr/>
          <p:nvPr/>
        </p:nvSpPr>
        <p:spPr>
          <a:xfrm>
            <a:off x="4843050" y="2792041"/>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Data warehouse</a:t>
            </a:r>
            <a:endParaRPr b="0" i="0" sz="400" u="none" cap="none" strike="noStrike">
              <a:solidFill>
                <a:srgbClr val="595959"/>
              </a:solidFill>
              <a:latin typeface="Montserrat"/>
              <a:ea typeface="Montserrat"/>
              <a:cs typeface="Montserrat"/>
              <a:sym typeface="Montserrat"/>
            </a:endParaRPr>
          </a:p>
        </p:txBody>
      </p:sp>
      <p:sp>
        <p:nvSpPr>
          <p:cNvPr id="3251" name="Google Shape;3251;p32"/>
          <p:cNvSpPr/>
          <p:nvPr/>
        </p:nvSpPr>
        <p:spPr>
          <a:xfrm>
            <a:off x="560367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Archivo de información del cliente</a:t>
            </a:r>
            <a:endParaRPr b="0" i="0" sz="400" u="none" cap="none" strike="noStrike">
              <a:solidFill>
                <a:srgbClr val="595959"/>
              </a:solidFill>
              <a:latin typeface="Montserrat"/>
              <a:ea typeface="Montserrat"/>
              <a:cs typeface="Montserrat"/>
              <a:sym typeface="Montserrat"/>
            </a:endParaRPr>
          </a:p>
        </p:txBody>
      </p:sp>
      <p:sp>
        <p:nvSpPr>
          <p:cNvPr id="3252" name="Google Shape;3252;p32"/>
          <p:cNvSpPr/>
          <p:nvPr/>
        </p:nvSpPr>
        <p:spPr>
          <a:xfrm>
            <a:off x="4843050" y="263688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Analítica</a:t>
            </a:r>
            <a:endParaRPr b="0" i="0" sz="400" u="none" cap="none" strike="noStrike">
              <a:solidFill>
                <a:srgbClr val="595959"/>
              </a:solidFill>
              <a:latin typeface="Montserrat"/>
              <a:ea typeface="Montserrat"/>
              <a:cs typeface="Montserrat"/>
              <a:sym typeface="Montserrat"/>
            </a:endParaRPr>
          </a:p>
        </p:txBody>
      </p:sp>
      <p:sp>
        <p:nvSpPr>
          <p:cNvPr id="3253" name="Google Shape;3253;p32"/>
          <p:cNvSpPr/>
          <p:nvPr/>
        </p:nvSpPr>
        <p:spPr>
          <a:xfrm>
            <a:off x="5603670" y="2792041"/>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Datos Operacionales</a:t>
            </a:r>
            <a:endParaRPr b="0" i="0" sz="400" u="none" cap="none" strike="noStrike">
              <a:solidFill>
                <a:srgbClr val="FFFFFF"/>
              </a:solidFill>
              <a:latin typeface="Montserrat"/>
              <a:ea typeface="Montserrat"/>
              <a:cs typeface="Montserrat"/>
              <a:sym typeface="Montserrat"/>
            </a:endParaRPr>
          </a:p>
        </p:txBody>
      </p:sp>
      <p:sp>
        <p:nvSpPr>
          <p:cNvPr id="3254" name="Google Shape;3254;p32"/>
          <p:cNvSpPr/>
          <p:nvPr/>
        </p:nvSpPr>
        <p:spPr>
          <a:xfrm>
            <a:off x="560367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Reportes Regulatorios</a:t>
            </a:r>
            <a:endParaRPr b="0" i="0" sz="400" u="none" cap="none" strike="noStrike">
              <a:solidFill>
                <a:srgbClr val="595959"/>
              </a:solidFill>
              <a:latin typeface="Montserrat"/>
              <a:ea typeface="Montserrat"/>
              <a:cs typeface="Montserrat"/>
              <a:sym typeface="Montserrat"/>
            </a:endParaRPr>
          </a:p>
        </p:txBody>
      </p:sp>
      <p:sp>
        <p:nvSpPr>
          <p:cNvPr id="3255" name="Google Shape;3255;p32"/>
          <p:cNvSpPr/>
          <p:nvPr/>
        </p:nvSpPr>
        <p:spPr>
          <a:xfrm>
            <a:off x="4843050" y="2020465"/>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 Operacional</a:t>
            </a:r>
            <a:endParaRPr b="0" i="0" sz="400" u="none" cap="none" strike="noStrike">
              <a:solidFill>
                <a:srgbClr val="595959"/>
              </a:solidFill>
              <a:latin typeface="Montserrat"/>
              <a:ea typeface="Montserrat"/>
              <a:cs typeface="Montserrat"/>
              <a:sym typeface="Montserrat"/>
            </a:endParaRPr>
          </a:p>
        </p:txBody>
      </p:sp>
      <p:sp>
        <p:nvSpPr>
          <p:cNvPr id="3256" name="Google Shape;3256;p32"/>
          <p:cNvSpPr/>
          <p:nvPr/>
        </p:nvSpPr>
        <p:spPr>
          <a:xfrm>
            <a:off x="484305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FFFFFF"/>
                </a:solidFill>
                <a:latin typeface="Montserrat"/>
                <a:ea typeface="Montserrat"/>
                <a:cs typeface="Montserrat"/>
                <a:sym typeface="Montserrat"/>
              </a:rPr>
              <a:t>Reportes contables</a:t>
            </a:r>
            <a:endParaRPr b="0" i="0" sz="400" u="none" cap="none" strike="noStrike">
              <a:solidFill>
                <a:srgbClr val="FFFFFF"/>
              </a:solidFill>
              <a:latin typeface="Montserrat"/>
              <a:ea typeface="Montserrat"/>
              <a:cs typeface="Montserrat"/>
              <a:sym typeface="Montserrat"/>
            </a:endParaRPr>
          </a:p>
        </p:txBody>
      </p:sp>
      <p:sp>
        <p:nvSpPr>
          <p:cNvPr id="3257" name="Google Shape;3257;p32"/>
          <p:cNvSpPr/>
          <p:nvPr/>
        </p:nvSpPr>
        <p:spPr>
          <a:xfrm>
            <a:off x="4843050" y="2331579"/>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Informes de utilización (sistema)</a:t>
            </a:r>
            <a:endParaRPr b="0" i="0" sz="400" u="none" cap="none" strike="noStrike">
              <a:solidFill>
                <a:srgbClr val="595959"/>
              </a:solidFill>
              <a:latin typeface="Montserrat"/>
              <a:ea typeface="Montserrat"/>
              <a:cs typeface="Montserrat"/>
              <a:sym typeface="Montserrat"/>
            </a:endParaRPr>
          </a:p>
        </p:txBody>
      </p:sp>
      <p:sp>
        <p:nvSpPr>
          <p:cNvPr id="3258" name="Google Shape;3258;p32"/>
          <p:cNvSpPr/>
          <p:nvPr/>
        </p:nvSpPr>
        <p:spPr>
          <a:xfrm>
            <a:off x="5603670" y="186539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Reportes de clientes</a:t>
            </a:r>
            <a:endParaRPr b="0" i="0" sz="400" u="none" cap="none" strike="noStrike">
              <a:solidFill>
                <a:srgbClr val="595959"/>
              </a:solidFill>
              <a:latin typeface="Montserrat"/>
              <a:ea typeface="Montserrat"/>
              <a:cs typeface="Montserrat"/>
              <a:sym typeface="Montserrat"/>
            </a:endParaRPr>
          </a:p>
        </p:txBody>
      </p:sp>
      <p:sp>
        <p:nvSpPr>
          <p:cNvPr id="3259" name="Google Shape;3259;p32"/>
          <p:cNvSpPr/>
          <p:nvPr/>
        </p:nvSpPr>
        <p:spPr>
          <a:xfrm>
            <a:off x="5603670" y="2175520"/>
            <a:ext cx="7209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Reportes Transaccionales</a:t>
            </a:r>
            <a:endParaRPr b="0" i="0" sz="400" u="none" cap="none" strike="noStrike">
              <a:solidFill>
                <a:srgbClr val="595959"/>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 de clientes</a:t>
            </a:r>
            <a:endParaRPr b="0" i="0" sz="400" u="none" cap="none" strike="noStrike">
              <a:solidFill>
                <a:srgbClr val="595959"/>
              </a:solidFill>
              <a:latin typeface="Montserrat"/>
              <a:ea typeface="Montserrat"/>
              <a:cs typeface="Montserrat"/>
              <a:sym typeface="Montserrat"/>
            </a:endParaRPr>
          </a:p>
        </p:txBody>
      </p:sp>
      <p:sp>
        <p:nvSpPr>
          <p:cNvPr id="3260" name="Google Shape;3260;p32"/>
          <p:cNvSpPr/>
          <p:nvPr/>
        </p:nvSpPr>
        <p:spPr>
          <a:xfrm>
            <a:off x="4840646"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Alertas y</a:t>
            </a:r>
            <a:br>
              <a:rPr b="0" i="0" lang="es" sz="400" u="none" cap="none" strike="noStrike">
                <a:solidFill>
                  <a:srgbClr val="595959"/>
                </a:solidFill>
                <a:latin typeface="Montserrat"/>
                <a:ea typeface="Montserrat"/>
                <a:cs typeface="Montserrat"/>
                <a:sym typeface="Montserrat"/>
              </a:rPr>
            </a:br>
            <a:r>
              <a:rPr b="0" i="0" lang="es" sz="400" u="none" cap="none" strike="noStrike">
                <a:solidFill>
                  <a:srgbClr val="595959"/>
                </a:solidFill>
                <a:latin typeface="Montserrat"/>
                <a:ea typeface="Montserrat"/>
                <a:cs typeface="Montserrat"/>
                <a:sym typeface="Montserrat"/>
              </a:rPr>
              <a:t>notificaciones</a:t>
            </a:r>
            <a:endParaRPr b="0" i="0" sz="400" u="none" cap="none" strike="noStrike">
              <a:solidFill>
                <a:srgbClr val="595959"/>
              </a:solidFill>
              <a:latin typeface="Montserrat"/>
              <a:ea typeface="Montserrat"/>
              <a:cs typeface="Montserrat"/>
              <a:sym typeface="Montserrat"/>
            </a:endParaRPr>
          </a:p>
        </p:txBody>
      </p:sp>
      <p:sp>
        <p:nvSpPr>
          <p:cNvPr id="3261" name="Google Shape;3261;p32"/>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Interacciones humanas</a:t>
            </a:r>
            <a:endParaRPr b="0" i="0" sz="400" u="none" cap="none" strike="noStrike">
              <a:solidFill>
                <a:srgbClr val="595959"/>
              </a:solidFill>
              <a:latin typeface="Montserrat"/>
              <a:ea typeface="Montserrat"/>
              <a:cs typeface="Montserrat"/>
              <a:sym typeface="Montserrat"/>
            </a:endParaRPr>
          </a:p>
        </p:txBody>
      </p:sp>
      <p:sp>
        <p:nvSpPr>
          <p:cNvPr id="3262" name="Google Shape;3262;p32"/>
          <p:cNvSpPr/>
          <p:nvPr/>
        </p:nvSpPr>
        <p:spPr>
          <a:xfrm>
            <a:off x="4843050" y="217552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rgbClr val="595959"/>
                </a:solidFill>
                <a:latin typeface="Montserrat"/>
                <a:ea typeface="Montserrat"/>
                <a:cs typeface="Montserrat"/>
                <a:sym typeface="Montserrat"/>
              </a:rPr>
              <a:t>Banca transaccional</a:t>
            </a:r>
            <a:endParaRPr b="0" i="0" sz="400" u="none" cap="none" strike="noStrike">
              <a:solidFill>
                <a:srgbClr val="595959"/>
              </a:solidFill>
              <a:latin typeface="Montserrat"/>
              <a:ea typeface="Montserrat"/>
              <a:cs typeface="Montserrat"/>
              <a:sym typeface="Montserrat"/>
            </a:endParaRPr>
          </a:p>
        </p:txBody>
      </p:sp>
      <p:sp>
        <p:nvSpPr>
          <p:cNvPr id="3263" name="Google Shape;3263;p32"/>
          <p:cNvSpPr/>
          <p:nvPr/>
        </p:nvSpPr>
        <p:spPr>
          <a:xfrm>
            <a:off x="157900" y="5232958"/>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3264" name="Google Shape;3264;p32"/>
          <p:cNvSpPr/>
          <p:nvPr/>
        </p:nvSpPr>
        <p:spPr>
          <a:xfrm>
            <a:off x="155600" y="686927"/>
            <a:ext cx="8830500" cy="168600"/>
          </a:xfrm>
          <a:prstGeom prst="rect">
            <a:avLst/>
          </a:prstGeom>
          <a:solidFill>
            <a:srgbClr val="FFFFFF"/>
          </a:solidFill>
          <a:ln cap="flat" cmpd="sng" w="9525">
            <a:solidFill>
              <a:srgbClr val="BFBFBF"/>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3265" name="Google Shape;3265;p32"/>
          <p:cNvSpPr/>
          <p:nvPr/>
        </p:nvSpPr>
        <p:spPr>
          <a:xfrm>
            <a:off x="155601" y="883984"/>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3266" name="Google Shape;3266;p32"/>
          <p:cNvSpPr/>
          <p:nvPr/>
        </p:nvSpPr>
        <p:spPr>
          <a:xfrm>
            <a:off x="1205537"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Debito</a:t>
            </a:r>
            <a:endParaRPr b="0" i="0" sz="500" u="none" cap="none" strike="noStrike">
              <a:solidFill>
                <a:srgbClr val="FFFFFF"/>
              </a:solidFill>
              <a:latin typeface="Montserrat"/>
              <a:ea typeface="Montserrat"/>
              <a:cs typeface="Montserrat"/>
              <a:sym typeface="Montserrat"/>
            </a:endParaRPr>
          </a:p>
        </p:txBody>
      </p:sp>
      <p:sp>
        <p:nvSpPr>
          <p:cNvPr id="3267" name="Google Shape;3267;p32"/>
          <p:cNvSpPr/>
          <p:nvPr/>
        </p:nvSpPr>
        <p:spPr>
          <a:xfrm>
            <a:off x="2309365"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Ahorro</a:t>
            </a:r>
            <a:endParaRPr b="0" i="0" sz="500" u="none" cap="none" strike="noStrike">
              <a:solidFill>
                <a:srgbClr val="FFFFFF"/>
              </a:solidFill>
              <a:latin typeface="Montserrat"/>
              <a:ea typeface="Montserrat"/>
              <a:cs typeface="Montserrat"/>
              <a:sym typeface="Montserrat"/>
            </a:endParaRPr>
          </a:p>
        </p:txBody>
      </p:sp>
      <p:sp>
        <p:nvSpPr>
          <p:cNvPr id="3268" name="Google Shape;3268;p32"/>
          <p:cNvSpPr/>
          <p:nvPr/>
        </p:nvSpPr>
        <p:spPr>
          <a:xfrm>
            <a:off x="3413193" y="903874"/>
            <a:ext cx="1050300" cy="136200"/>
          </a:xfrm>
          <a:prstGeom prst="rect">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Crédito</a:t>
            </a:r>
            <a:endParaRPr b="0" i="0" sz="500" u="none" cap="none" strike="noStrike">
              <a:solidFill>
                <a:srgbClr val="FFFFFF"/>
              </a:solidFill>
              <a:latin typeface="Montserrat"/>
              <a:ea typeface="Montserrat"/>
              <a:cs typeface="Montserrat"/>
              <a:sym typeface="Montserrat"/>
            </a:endParaRPr>
          </a:p>
        </p:txBody>
      </p:sp>
      <p:sp>
        <p:nvSpPr>
          <p:cNvPr id="3269" name="Google Shape;3269;p32"/>
          <p:cNvSpPr/>
          <p:nvPr/>
        </p:nvSpPr>
        <p:spPr>
          <a:xfrm>
            <a:off x="4517021"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Pensiones</a:t>
            </a:r>
            <a:endParaRPr b="0" i="0" sz="500" u="none" cap="none" strike="noStrike">
              <a:solidFill>
                <a:srgbClr val="FFFFFF"/>
              </a:solidFill>
              <a:latin typeface="Montserrat"/>
              <a:ea typeface="Montserrat"/>
              <a:cs typeface="Montserrat"/>
              <a:sym typeface="Montserrat"/>
            </a:endParaRPr>
          </a:p>
        </p:txBody>
      </p:sp>
      <p:sp>
        <p:nvSpPr>
          <p:cNvPr id="3270" name="Google Shape;3270;p32"/>
          <p:cNvSpPr/>
          <p:nvPr/>
        </p:nvSpPr>
        <p:spPr>
          <a:xfrm>
            <a:off x="5620850"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Inversiones</a:t>
            </a:r>
            <a:endParaRPr b="0" i="0" sz="500" u="none" cap="none" strike="noStrike">
              <a:solidFill>
                <a:srgbClr val="FFFFFF"/>
              </a:solidFill>
              <a:latin typeface="Montserrat"/>
              <a:ea typeface="Montserrat"/>
              <a:cs typeface="Montserrat"/>
              <a:sym typeface="Montserrat"/>
            </a:endParaRPr>
          </a:p>
        </p:txBody>
      </p:sp>
      <p:sp>
        <p:nvSpPr>
          <p:cNvPr id="3271" name="Google Shape;3271;p32"/>
          <p:cNvSpPr/>
          <p:nvPr/>
        </p:nvSpPr>
        <p:spPr>
          <a:xfrm>
            <a:off x="6724678"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Hipotecario</a:t>
            </a:r>
            <a:endParaRPr b="0" i="0" sz="500" u="none" cap="none" strike="noStrike">
              <a:solidFill>
                <a:srgbClr val="FFFFFF"/>
              </a:solidFill>
              <a:latin typeface="Montserrat"/>
              <a:ea typeface="Montserrat"/>
              <a:cs typeface="Montserrat"/>
              <a:sym typeface="Montserrat"/>
            </a:endParaRPr>
          </a:p>
        </p:txBody>
      </p:sp>
      <p:sp>
        <p:nvSpPr>
          <p:cNvPr id="3272" name="Google Shape;3272;p32"/>
          <p:cNvSpPr/>
          <p:nvPr/>
        </p:nvSpPr>
        <p:spPr>
          <a:xfrm>
            <a:off x="7828504" y="903874"/>
            <a:ext cx="1050300" cy="136200"/>
          </a:xfrm>
          <a:prstGeom prst="rect">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Tarjeta de crédito</a:t>
            </a:r>
            <a:endParaRPr b="0" i="0" sz="500" u="none" cap="none" strike="noStrike">
              <a:solidFill>
                <a:srgbClr val="FFFFFF"/>
              </a:solidFill>
              <a:latin typeface="Montserrat"/>
              <a:ea typeface="Montserrat"/>
              <a:cs typeface="Montserrat"/>
              <a:sym typeface="Montserrat"/>
            </a:endParaRPr>
          </a:p>
        </p:txBody>
      </p:sp>
      <p:sp>
        <p:nvSpPr>
          <p:cNvPr id="3273" name="Google Shape;3273;p32"/>
          <p:cNvSpPr/>
          <p:nvPr/>
        </p:nvSpPr>
        <p:spPr>
          <a:xfrm>
            <a:off x="157900" y="478699"/>
            <a:ext cx="8830500" cy="1686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3274" name="Google Shape;3274;p32"/>
          <p:cNvSpPr/>
          <p:nvPr/>
        </p:nvSpPr>
        <p:spPr>
          <a:xfrm>
            <a:off x="1203986" y="499914"/>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Consumo</a:t>
            </a:r>
            <a:endParaRPr b="0" i="0" sz="500" u="none" cap="none" strike="noStrike">
              <a:solidFill>
                <a:srgbClr val="FFFFFF"/>
              </a:solidFill>
              <a:latin typeface="Montserrat"/>
              <a:ea typeface="Montserrat"/>
              <a:cs typeface="Montserrat"/>
              <a:sym typeface="Montserrat"/>
            </a:endParaRPr>
          </a:p>
        </p:txBody>
      </p:sp>
      <p:sp>
        <p:nvSpPr>
          <p:cNvPr id="3275" name="Google Shape;3275;p32"/>
          <p:cNvSpPr/>
          <p:nvPr/>
        </p:nvSpPr>
        <p:spPr>
          <a:xfrm>
            <a:off x="2748364"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Empresarial</a:t>
            </a:r>
            <a:endParaRPr b="0" i="0" sz="500" u="none" cap="none" strike="noStrike">
              <a:solidFill>
                <a:srgbClr val="FFFFFF"/>
              </a:solidFill>
              <a:latin typeface="Montserrat"/>
              <a:ea typeface="Montserrat"/>
              <a:cs typeface="Montserrat"/>
              <a:sym typeface="Montserrat"/>
            </a:endParaRPr>
          </a:p>
        </p:txBody>
      </p:sp>
      <p:sp>
        <p:nvSpPr>
          <p:cNvPr id="3276" name="Google Shape;3276;p32"/>
          <p:cNvSpPr/>
          <p:nvPr/>
        </p:nvSpPr>
        <p:spPr>
          <a:xfrm>
            <a:off x="4292741"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PYMES</a:t>
            </a:r>
            <a:endParaRPr b="0" i="0" sz="500" u="none" cap="none" strike="noStrike">
              <a:solidFill>
                <a:srgbClr val="FFFFFF"/>
              </a:solidFill>
              <a:latin typeface="Montserrat"/>
              <a:ea typeface="Montserrat"/>
              <a:cs typeface="Montserrat"/>
              <a:sym typeface="Montserrat"/>
            </a:endParaRPr>
          </a:p>
        </p:txBody>
      </p:sp>
      <p:sp>
        <p:nvSpPr>
          <p:cNvPr id="3277" name="Google Shape;3277;p32"/>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3278" name="Google Shape;3278;p32"/>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3279" name="Google Shape;3279;p32"/>
          <p:cNvSpPr/>
          <p:nvPr/>
        </p:nvSpPr>
        <p:spPr>
          <a:xfrm>
            <a:off x="1203986"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Kiosco</a:t>
            </a:r>
            <a:endParaRPr b="0" i="0" sz="500" u="none" cap="none" strike="noStrike">
              <a:solidFill>
                <a:srgbClr val="FFFFFF"/>
              </a:solidFill>
              <a:latin typeface="Montserrat"/>
              <a:ea typeface="Montserrat"/>
              <a:cs typeface="Montserrat"/>
              <a:sym typeface="Montserrat"/>
            </a:endParaRPr>
          </a:p>
        </p:txBody>
      </p:sp>
      <p:sp>
        <p:nvSpPr>
          <p:cNvPr id="3280" name="Google Shape;3280;p32"/>
          <p:cNvSpPr/>
          <p:nvPr/>
        </p:nvSpPr>
        <p:spPr>
          <a:xfrm>
            <a:off x="206217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Web/Online</a:t>
            </a:r>
            <a:endParaRPr b="0" i="0" sz="500" u="none" cap="none" strike="noStrike">
              <a:solidFill>
                <a:srgbClr val="FFFFFF"/>
              </a:solidFill>
              <a:latin typeface="Montserrat"/>
              <a:ea typeface="Montserrat"/>
              <a:cs typeface="Montserrat"/>
              <a:sym typeface="Montserrat"/>
            </a:endParaRPr>
          </a:p>
        </p:txBody>
      </p:sp>
      <p:sp>
        <p:nvSpPr>
          <p:cNvPr id="3281" name="Google Shape;3281;p32"/>
          <p:cNvSpPr/>
          <p:nvPr/>
        </p:nvSpPr>
        <p:spPr>
          <a:xfrm>
            <a:off x="3778546" y="702961"/>
            <a:ext cx="810900" cy="1362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Sucursal</a:t>
            </a:r>
            <a:endParaRPr b="0" i="0" sz="500" u="none" cap="none" strike="noStrike">
              <a:solidFill>
                <a:srgbClr val="FFFFFF"/>
              </a:solidFill>
              <a:latin typeface="Montserrat"/>
              <a:ea typeface="Montserrat"/>
              <a:cs typeface="Montserrat"/>
              <a:sym typeface="Montserrat"/>
            </a:endParaRPr>
          </a:p>
        </p:txBody>
      </p:sp>
      <p:sp>
        <p:nvSpPr>
          <p:cNvPr id="3282" name="Google Shape;3282;p32"/>
          <p:cNvSpPr/>
          <p:nvPr/>
        </p:nvSpPr>
        <p:spPr>
          <a:xfrm>
            <a:off x="463673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Móvil y Tablet</a:t>
            </a:r>
            <a:endParaRPr b="0" i="0" sz="500" u="none" cap="none" strike="noStrike">
              <a:solidFill>
                <a:srgbClr val="FFFFFF"/>
              </a:solidFill>
              <a:latin typeface="Montserrat"/>
              <a:ea typeface="Montserrat"/>
              <a:cs typeface="Montserrat"/>
              <a:sym typeface="Montserrat"/>
            </a:endParaRPr>
          </a:p>
        </p:txBody>
      </p:sp>
      <p:sp>
        <p:nvSpPr>
          <p:cNvPr id="3283" name="Google Shape;3283;p32"/>
          <p:cNvSpPr/>
          <p:nvPr/>
        </p:nvSpPr>
        <p:spPr>
          <a:xfrm>
            <a:off x="5494920"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ATM</a:t>
            </a:r>
            <a:endParaRPr b="0" i="0" sz="500" u="none" cap="none" strike="noStrike">
              <a:solidFill>
                <a:srgbClr val="FFFFFF"/>
              </a:solidFill>
              <a:latin typeface="Montserrat"/>
              <a:ea typeface="Montserrat"/>
              <a:cs typeface="Montserrat"/>
              <a:sym typeface="Montserrat"/>
            </a:endParaRPr>
          </a:p>
        </p:txBody>
      </p:sp>
      <p:sp>
        <p:nvSpPr>
          <p:cNvPr id="3284" name="Google Shape;3284;p32"/>
          <p:cNvSpPr/>
          <p:nvPr/>
        </p:nvSpPr>
        <p:spPr>
          <a:xfrm>
            <a:off x="6353107"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IVR</a:t>
            </a:r>
            <a:endParaRPr b="0" i="0" sz="900" u="none" cap="none" strike="noStrike">
              <a:solidFill>
                <a:srgbClr val="000000"/>
              </a:solidFill>
              <a:latin typeface="Arial"/>
              <a:ea typeface="Arial"/>
              <a:cs typeface="Arial"/>
              <a:sym typeface="Arial"/>
            </a:endParaRPr>
          </a:p>
        </p:txBody>
      </p:sp>
      <p:sp>
        <p:nvSpPr>
          <p:cNvPr id="3285" name="Google Shape;3285;p32"/>
          <p:cNvSpPr/>
          <p:nvPr/>
        </p:nvSpPr>
        <p:spPr>
          <a:xfrm>
            <a:off x="7211293"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Autoservicio</a:t>
            </a:r>
            <a:endParaRPr b="0" i="0" sz="500" u="none" cap="none" strike="noStrike">
              <a:solidFill>
                <a:srgbClr val="FFFFFF"/>
              </a:solidFill>
              <a:latin typeface="Montserrat"/>
              <a:ea typeface="Montserrat"/>
              <a:cs typeface="Montserrat"/>
              <a:sym typeface="Montserrat"/>
            </a:endParaRPr>
          </a:p>
        </p:txBody>
      </p:sp>
      <p:sp>
        <p:nvSpPr>
          <p:cNvPr id="3286" name="Google Shape;3286;p32"/>
          <p:cNvSpPr/>
          <p:nvPr/>
        </p:nvSpPr>
        <p:spPr>
          <a:xfrm>
            <a:off x="8069478" y="702961"/>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Terceros</a:t>
            </a:r>
            <a:endParaRPr b="0" i="0" sz="500" u="none" cap="none" strike="noStrike">
              <a:solidFill>
                <a:srgbClr val="FFFFFF"/>
              </a:solidFill>
              <a:latin typeface="Montserrat"/>
              <a:ea typeface="Montserrat"/>
              <a:cs typeface="Montserrat"/>
              <a:sym typeface="Montserrat"/>
            </a:endParaRPr>
          </a:p>
        </p:txBody>
      </p:sp>
      <p:sp>
        <p:nvSpPr>
          <p:cNvPr id="3287" name="Google Shape;3287;p32"/>
          <p:cNvSpPr/>
          <p:nvPr/>
        </p:nvSpPr>
        <p:spPr>
          <a:xfrm>
            <a:off x="2926715" y="712158"/>
            <a:ext cx="810900" cy="136200"/>
          </a:xfrm>
          <a:prstGeom prst="roundRect">
            <a:avLst>
              <a:gd fmla="val 5041" name="adj"/>
            </a:avLst>
          </a:prstGeom>
          <a:solidFill>
            <a:srgbClr val="AEABAB"/>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s" sz="500" u="none" cap="none" strike="noStrike">
                <a:solidFill>
                  <a:srgbClr val="FFFFFF"/>
                </a:solidFill>
                <a:latin typeface="Montserrat"/>
                <a:ea typeface="Montserrat"/>
                <a:cs typeface="Montserrat"/>
                <a:sym typeface="Montserrat"/>
              </a:rPr>
              <a:t>Call Center</a:t>
            </a:r>
            <a:endParaRPr b="0" i="0" sz="500" u="none" cap="none" strike="noStrike">
              <a:solidFill>
                <a:srgbClr val="FFFFFF"/>
              </a:solidFill>
              <a:latin typeface="Montserrat"/>
              <a:ea typeface="Montserrat"/>
              <a:cs typeface="Montserrat"/>
              <a:sym typeface="Montserrat"/>
            </a:endParaRPr>
          </a:p>
        </p:txBody>
      </p:sp>
      <p:sp>
        <p:nvSpPr>
          <p:cNvPr id="3288" name="Google Shape;3288;p32"/>
          <p:cNvSpPr txBox="1"/>
          <p:nvPr/>
        </p:nvSpPr>
        <p:spPr>
          <a:xfrm>
            <a:off x="260637" y="186150"/>
            <a:ext cx="8325900"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65AA7"/>
              </a:buClr>
              <a:buSzPts val="1500"/>
              <a:buFont typeface="Arial"/>
              <a:buNone/>
            </a:pPr>
            <a:r>
              <a:rPr b="1" i="0" lang="es" sz="1500" u="none" cap="none" strike="noStrike">
                <a:solidFill>
                  <a:srgbClr val="265AA7"/>
                </a:solidFill>
                <a:latin typeface="Montserrat"/>
                <a:ea typeface="Montserrat"/>
                <a:cs typeface="Montserrat"/>
                <a:sym typeface="Montserrat"/>
              </a:rPr>
              <a:t>Impacto del Teller MultiCore en la arquitectura empresarial de Unity</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2" name="Shape 3292"/>
        <p:cNvGrpSpPr/>
        <p:nvPr/>
      </p:nvGrpSpPr>
      <p:grpSpPr>
        <a:xfrm>
          <a:off x="0" y="0"/>
          <a:ext cx="0" cy="0"/>
          <a:chOff x="0" y="0"/>
          <a:chExt cx="0" cy="0"/>
        </a:xfrm>
      </p:grpSpPr>
      <p:sp>
        <p:nvSpPr>
          <p:cNvPr id="3293" name="Google Shape;3293;g251d9346719_0_1204"/>
          <p:cNvSpPr/>
          <p:nvPr/>
        </p:nvSpPr>
        <p:spPr>
          <a:xfrm>
            <a:off x="7658675" y="4212350"/>
            <a:ext cx="1329600" cy="5313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g251d9346719_0_1204"/>
          <p:cNvSpPr/>
          <p:nvPr/>
        </p:nvSpPr>
        <p:spPr>
          <a:xfrm>
            <a:off x="155601" y="1078376"/>
            <a:ext cx="8830500" cy="2533200"/>
          </a:xfrm>
          <a:prstGeom prst="rect">
            <a:avLst/>
          </a:prstGeom>
          <a:solidFill>
            <a:srgbClr val="FFFFFF"/>
          </a:solid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Capacidades del negocio</a:t>
            </a:r>
            <a:endParaRPr b="1" i="0" sz="500" u="none" cap="none" strike="noStrike">
              <a:solidFill>
                <a:srgbClr val="2E2E38"/>
              </a:solidFill>
              <a:latin typeface="Montserrat"/>
              <a:ea typeface="Montserrat"/>
              <a:cs typeface="Montserrat"/>
              <a:sym typeface="Montserrat"/>
            </a:endParaRPr>
          </a:p>
        </p:txBody>
      </p:sp>
      <p:sp>
        <p:nvSpPr>
          <p:cNvPr id="3295" name="Google Shape;3295;g251d9346719_0_1204"/>
          <p:cNvSpPr txBox="1"/>
          <p:nvPr/>
        </p:nvSpPr>
        <p:spPr>
          <a:xfrm>
            <a:off x="7626125" y="4173820"/>
            <a:ext cx="13128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6" name="Google Shape;3296;g251d9346719_0_1204"/>
          <p:cNvSpPr txBox="1"/>
          <p:nvPr/>
        </p:nvSpPr>
        <p:spPr>
          <a:xfrm>
            <a:off x="7571175" y="3945760"/>
            <a:ext cx="12975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g251d9346719_0_1204"/>
          <p:cNvSpPr/>
          <p:nvPr/>
        </p:nvSpPr>
        <p:spPr>
          <a:xfrm>
            <a:off x="5698874"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fraudes</a:t>
            </a:r>
            <a:endParaRPr b="1" i="0" sz="500" u="none" cap="none" strike="noStrike">
              <a:solidFill>
                <a:srgbClr val="2E2E38"/>
              </a:solidFill>
              <a:latin typeface="Montserrat"/>
              <a:ea typeface="Montserrat"/>
              <a:cs typeface="Montserrat"/>
              <a:sym typeface="Montserrat"/>
            </a:endParaRPr>
          </a:p>
        </p:txBody>
      </p:sp>
      <p:sp>
        <p:nvSpPr>
          <p:cNvPr id="3298" name="Google Shape;3298;g251d9346719_0_1204"/>
          <p:cNvSpPr/>
          <p:nvPr/>
        </p:nvSpPr>
        <p:spPr>
          <a:xfrm>
            <a:off x="6802655"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Evaluación de monitoreo</a:t>
            </a:r>
            <a:endParaRPr b="1" i="0" sz="500" u="none" cap="none" strike="noStrike">
              <a:solidFill>
                <a:srgbClr val="2E2E38"/>
              </a:solidFill>
              <a:latin typeface="Montserrat"/>
              <a:ea typeface="Montserrat"/>
              <a:cs typeface="Montserrat"/>
              <a:sym typeface="Montserrat"/>
            </a:endParaRPr>
          </a:p>
        </p:txBody>
      </p:sp>
      <p:sp>
        <p:nvSpPr>
          <p:cNvPr id="3299" name="Google Shape;3299;g251d9346719_0_1204"/>
          <p:cNvSpPr/>
          <p:nvPr/>
        </p:nvSpPr>
        <p:spPr>
          <a:xfrm>
            <a:off x="4573039" y="3681851"/>
            <a:ext cx="990900" cy="8508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riesgos</a:t>
            </a:r>
            <a:endParaRPr b="1" i="0" sz="500" u="none" cap="none" strike="noStrike">
              <a:solidFill>
                <a:srgbClr val="2E2E38"/>
              </a:solidFill>
              <a:latin typeface="Montserrat"/>
              <a:ea typeface="Montserrat"/>
              <a:cs typeface="Montserrat"/>
              <a:sym typeface="Montserrat"/>
            </a:endParaRPr>
          </a:p>
        </p:txBody>
      </p:sp>
      <p:sp>
        <p:nvSpPr>
          <p:cNvPr id="3300" name="Google Shape;3300;g251d9346719_0_1204"/>
          <p:cNvSpPr/>
          <p:nvPr/>
        </p:nvSpPr>
        <p:spPr>
          <a:xfrm>
            <a:off x="3445005"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cumplimiento</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3301" name="Google Shape;3301;g251d9346719_0_1204"/>
          <p:cNvSpPr/>
          <p:nvPr/>
        </p:nvSpPr>
        <p:spPr>
          <a:xfrm>
            <a:off x="2319952"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Aseguramiento de la calidad</a:t>
            </a:r>
            <a:br>
              <a:rPr b="1" i="0" lang="es" sz="500" u="none" cap="none" strike="noStrike">
                <a:solidFill>
                  <a:srgbClr val="2E2E38"/>
                </a:solidFill>
                <a:latin typeface="Montserrat"/>
                <a:ea typeface="Montserrat"/>
                <a:cs typeface="Montserrat"/>
                <a:sym typeface="Montserrat"/>
              </a:rPr>
            </a:br>
            <a:r>
              <a:rPr b="1" i="0" lang="es" sz="500" u="none" cap="none" strike="noStrike">
                <a:solidFill>
                  <a:srgbClr val="2E2E38"/>
                </a:solidFill>
                <a:latin typeface="Montserrat"/>
                <a:ea typeface="Montserrat"/>
                <a:cs typeface="Montserrat"/>
                <a:sym typeface="Montserrat"/>
              </a:rPr>
              <a:t>(QA)</a:t>
            </a:r>
            <a:endParaRPr b="0" i="0" sz="900" u="none" cap="none" strike="noStrike">
              <a:solidFill>
                <a:srgbClr val="000000"/>
              </a:solidFill>
              <a:latin typeface="Arial"/>
              <a:ea typeface="Arial"/>
              <a:cs typeface="Arial"/>
              <a:sym typeface="Arial"/>
            </a:endParaRPr>
          </a:p>
        </p:txBody>
      </p:sp>
      <p:sp>
        <p:nvSpPr>
          <p:cNvPr id="3302" name="Google Shape;3302;g251d9346719_0_1204"/>
          <p:cNvSpPr/>
          <p:nvPr/>
        </p:nvSpPr>
        <p:spPr>
          <a:xfrm>
            <a:off x="1198179" y="3681974"/>
            <a:ext cx="990900" cy="8490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identidad y seguridad</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303" name="Google Shape;3303;g251d9346719_0_1204"/>
          <p:cNvSpPr/>
          <p:nvPr/>
        </p:nvSpPr>
        <p:spPr>
          <a:xfrm>
            <a:off x="7906407" y="3681571"/>
            <a:ext cx="990900" cy="856200"/>
          </a:xfrm>
          <a:prstGeom prst="rect">
            <a:avLst/>
          </a:prstGeom>
          <a:solidFill>
            <a:srgbClr val="CCCCCC"/>
          </a:solidFill>
          <a:ln>
            <a:noFill/>
          </a:ln>
        </p:spPr>
        <p:txBody>
          <a:bodyPr anchorCtr="0" anchor="t" bIns="0" lIns="12775" spcFirstLastPara="1" rIns="0" wrap="square" tIns="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Infraestructura</a:t>
            </a:r>
            <a:endParaRPr b="1" i="0" sz="500" u="none" cap="none" strike="noStrike">
              <a:solidFill>
                <a:srgbClr val="2E2E38"/>
              </a:solidFill>
              <a:latin typeface="Montserrat"/>
              <a:ea typeface="Montserrat"/>
              <a:cs typeface="Montserrat"/>
              <a:sym typeface="Montserrat"/>
            </a:endParaRPr>
          </a:p>
        </p:txBody>
      </p:sp>
      <p:sp>
        <p:nvSpPr>
          <p:cNvPr id="3304" name="Google Shape;3304;g251d9346719_0_1204"/>
          <p:cNvSpPr/>
          <p:nvPr/>
        </p:nvSpPr>
        <p:spPr>
          <a:xfrm>
            <a:off x="3799284" y="3288556"/>
            <a:ext cx="5078100" cy="288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productos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05" name="Google Shape;3305;g251d9346719_0_1204"/>
          <p:cNvSpPr/>
          <p:nvPr/>
        </p:nvSpPr>
        <p:spPr>
          <a:xfrm>
            <a:off x="3798694" y="1148353"/>
            <a:ext cx="883800" cy="880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Proceso de cuenta</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06" name="Google Shape;3306;g251d9346719_0_1204"/>
          <p:cNvSpPr/>
          <p:nvPr/>
        </p:nvSpPr>
        <p:spPr>
          <a:xfrm>
            <a:off x="3799283" y="2062803"/>
            <a:ext cx="882600" cy="7317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Ventas</a:t>
            </a:r>
            <a:endParaRPr b="1" i="0" sz="900" u="none" cap="none" strike="noStrike">
              <a:solidFill>
                <a:srgbClr val="000000"/>
              </a:solidFill>
              <a:latin typeface="Montserrat"/>
              <a:ea typeface="Montserrat"/>
              <a:cs typeface="Montserrat"/>
              <a:sym typeface="Montserrat"/>
            </a:endParaRPr>
          </a:p>
        </p:txBody>
      </p:sp>
      <p:sp>
        <p:nvSpPr>
          <p:cNvPr id="3307" name="Google Shape;3307;g251d9346719_0_1204"/>
          <p:cNvSpPr/>
          <p:nvPr/>
        </p:nvSpPr>
        <p:spPr>
          <a:xfrm>
            <a:off x="3798695" y="2829884"/>
            <a:ext cx="883200" cy="422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de inversión</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08" name="Google Shape;3308;g251d9346719_0_1204"/>
          <p:cNvSpPr/>
          <p:nvPr/>
        </p:nvSpPr>
        <p:spPr>
          <a:xfrm>
            <a:off x="1203986" y="2776695"/>
            <a:ext cx="2494800" cy="4713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documental</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09" name="Google Shape;3309;g251d9346719_0_1204"/>
          <p:cNvSpPr/>
          <p:nvPr/>
        </p:nvSpPr>
        <p:spPr>
          <a:xfrm>
            <a:off x="1204099" y="1806291"/>
            <a:ext cx="2494500" cy="934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Gestión de cuentas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310" name="Google Shape;3310;g251d9346719_0_1204"/>
          <p:cNvSpPr/>
          <p:nvPr/>
        </p:nvSpPr>
        <p:spPr>
          <a:xfrm>
            <a:off x="1203987" y="3287004"/>
            <a:ext cx="2494800" cy="2904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Marketing</a:t>
            </a:r>
            <a:endParaRPr b="1" i="0" sz="900" u="none" cap="none" strike="noStrike">
              <a:solidFill>
                <a:srgbClr val="000000"/>
              </a:solidFill>
              <a:latin typeface="Montserrat"/>
              <a:ea typeface="Montserrat"/>
              <a:cs typeface="Montserrat"/>
              <a:sym typeface="Montserrat"/>
            </a:endParaRPr>
          </a:p>
        </p:txBody>
      </p:sp>
      <p:sp>
        <p:nvSpPr>
          <p:cNvPr id="3311" name="Google Shape;3311;g251d9346719_0_1204"/>
          <p:cNvSpPr/>
          <p:nvPr/>
        </p:nvSpPr>
        <p:spPr>
          <a:xfrm>
            <a:off x="1206566" y="1148353"/>
            <a:ext cx="2489700" cy="6219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Clase de producto: depósitos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312" name="Google Shape;3312;g251d9346719_0_1204"/>
          <p:cNvSpPr/>
          <p:nvPr/>
        </p:nvSpPr>
        <p:spPr>
          <a:xfrm>
            <a:off x="6488944" y="1148351"/>
            <a:ext cx="2389500" cy="6237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Servicios facturables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13" name="Google Shape;3313;g251d9346719_0_1204"/>
          <p:cNvSpPr/>
          <p:nvPr/>
        </p:nvSpPr>
        <p:spPr>
          <a:xfrm>
            <a:off x="6490037" y="2776695"/>
            <a:ext cx="2387400" cy="4743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Estado de cuenta</a:t>
            </a:r>
            <a:endParaRPr b="1" i="0" sz="500" u="none" cap="none" strike="noStrike">
              <a:solidFill>
                <a:srgbClr val="2E2E38"/>
              </a:solidFill>
              <a:latin typeface="Montserrat"/>
              <a:ea typeface="Montserrat"/>
              <a:cs typeface="Montserrat"/>
              <a:sym typeface="Montserrat"/>
            </a:endParaRPr>
          </a:p>
        </p:txBody>
      </p:sp>
      <p:sp>
        <p:nvSpPr>
          <p:cNvPr id="3314" name="Google Shape;3314;g251d9346719_0_1204"/>
          <p:cNvSpPr/>
          <p:nvPr/>
        </p:nvSpPr>
        <p:spPr>
          <a:xfrm>
            <a:off x="6483514" y="1803271"/>
            <a:ext cx="2390400" cy="936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Transacciones</a:t>
            </a:r>
            <a:endParaRPr b="1" i="0" sz="500" u="none" cap="none" strike="noStrike">
              <a:solidFill>
                <a:srgbClr val="2E2E38"/>
              </a:solidFill>
              <a:latin typeface="Montserrat"/>
              <a:ea typeface="Montserrat"/>
              <a:cs typeface="Montserrat"/>
              <a:sym typeface="Montserrat"/>
            </a:endParaRPr>
          </a:p>
        </p:txBody>
      </p:sp>
      <p:sp>
        <p:nvSpPr>
          <p:cNvPr id="3315" name="Google Shape;3315;g251d9346719_0_1204"/>
          <p:cNvSpPr/>
          <p:nvPr/>
        </p:nvSpPr>
        <p:spPr>
          <a:xfrm>
            <a:off x="4782477" y="1148353"/>
            <a:ext cx="1606200" cy="579900"/>
          </a:xfrm>
          <a:prstGeom prst="rect">
            <a:avLst/>
          </a:prstGeom>
          <a:noFill/>
          <a:ln cap="flat" cmpd="sng" w="9525">
            <a:solidFill>
              <a:srgbClr val="B7B7B7"/>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171717"/>
                </a:solidFill>
                <a:latin typeface="Montserrat"/>
                <a:ea typeface="Montserrat"/>
                <a:cs typeface="Montserrat"/>
                <a:sym typeface="Montserrat"/>
              </a:rPr>
              <a:t>Gestión de la información del cliente</a:t>
            </a:r>
            <a:br>
              <a:rPr b="1" i="0" lang="es" sz="500" u="none" cap="none" strike="noStrike">
                <a:solidFill>
                  <a:srgbClr val="171717"/>
                </a:solidFill>
                <a:latin typeface="Montserrat"/>
                <a:ea typeface="Montserrat"/>
                <a:cs typeface="Montserrat"/>
                <a:sym typeface="Montserrat"/>
              </a:rPr>
            </a:br>
            <a:endParaRPr b="1" i="0" sz="500" u="none" cap="none" strike="noStrike">
              <a:solidFill>
                <a:srgbClr val="171717"/>
              </a:solidFill>
              <a:latin typeface="Montserrat"/>
              <a:ea typeface="Montserrat"/>
              <a:cs typeface="Montserrat"/>
              <a:sym typeface="Montserrat"/>
            </a:endParaRPr>
          </a:p>
        </p:txBody>
      </p:sp>
      <p:sp>
        <p:nvSpPr>
          <p:cNvPr id="3316" name="Google Shape;3316;g251d9346719_0_1204"/>
          <p:cNvSpPr/>
          <p:nvPr/>
        </p:nvSpPr>
        <p:spPr>
          <a:xfrm>
            <a:off x="4783580" y="2519181"/>
            <a:ext cx="1604100" cy="4398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Data Analytics y procesamiento de datos</a:t>
            </a:r>
            <a:br>
              <a:rPr b="1" i="0" lang="es" sz="500" u="none" cap="none" strike="noStrike">
                <a:solidFill>
                  <a:srgbClr val="2E2E38"/>
                </a:solidFill>
                <a:latin typeface="Montserrat"/>
                <a:ea typeface="Montserrat"/>
                <a:cs typeface="Montserrat"/>
                <a:sym typeface="Montserrat"/>
              </a:rPr>
            </a:br>
            <a:endParaRPr b="1" i="0" sz="500" u="none" cap="none" strike="noStrike">
              <a:solidFill>
                <a:srgbClr val="2E2E38"/>
              </a:solidFill>
              <a:latin typeface="Montserrat"/>
              <a:ea typeface="Montserrat"/>
              <a:cs typeface="Montserrat"/>
              <a:sym typeface="Montserrat"/>
            </a:endParaRPr>
          </a:p>
        </p:txBody>
      </p:sp>
      <p:sp>
        <p:nvSpPr>
          <p:cNvPr id="3317" name="Google Shape;3317;g251d9346719_0_1204"/>
          <p:cNvSpPr/>
          <p:nvPr/>
        </p:nvSpPr>
        <p:spPr>
          <a:xfrm>
            <a:off x="4784086" y="1750565"/>
            <a:ext cx="1603200" cy="7485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Reportes y análisis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18" name="Google Shape;3318;g251d9346719_0_1204"/>
          <p:cNvSpPr/>
          <p:nvPr/>
        </p:nvSpPr>
        <p:spPr>
          <a:xfrm>
            <a:off x="4781464" y="2980599"/>
            <a:ext cx="1603500" cy="276600"/>
          </a:xfrm>
          <a:prstGeom prst="rect">
            <a:avLst/>
          </a:prstGeom>
          <a:noFill/>
          <a:ln cap="flat" cmpd="sng" w="9525">
            <a:solidFill>
              <a:schemeClr val="accent1"/>
            </a:solidFill>
            <a:prstDash val="solid"/>
            <a:round/>
            <a:headEnd len="sm" w="sm" type="none"/>
            <a:tailEnd len="sm" w="sm" type="none"/>
          </a:ln>
        </p:spPr>
        <p:txBody>
          <a:bodyPr anchorCtr="0" anchor="t" bIns="0" lIns="12775" spcFirstLastPara="1" rIns="0" wrap="square" tIns="14400">
            <a:noAutofit/>
          </a:bodyPr>
          <a:lstStyle/>
          <a:p>
            <a:pPr indent="0" lvl="0" marL="0" marR="0" rtl="0" algn="ctr">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Gestión de comunicaciones</a:t>
            </a:r>
            <a:br>
              <a:rPr b="1" i="0" lang="es" sz="500" u="none" cap="none" strike="noStrike">
                <a:solidFill>
                  <a:srgbClr val="2E2E38"/>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3319" name="Google Shape;3319;g251d9346719_0_1204"/>
          <p:cNvSpPr/>
          <p:nvPr/>
        </p:nvSpPr>
        <p:spPr>
          <a:xfrm>
            <a:off x="5833996" y="389690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Conozca a su cliente (KYC)</a:t>
            </a:r>
            <a:endParaRPr b="1" i="0" sz="400" u="none" cap="none" strike="noStrike">
              <a:solidFill>
                <a:schemeClr val="lt1"/>
              </a:solidFill>
              <a:latin typeface="Montserrat"/>
              <a:ea typeface="Montserrat"/>
              <a:cs typeface="Montserrat"/>
              <a:sym typeface="Montserrat"/>
            </a:endParaRPr>
          </a:p>
        </p:txBody>
      </p:sp>
      <p:sp>
        <p:nvSpPr>
          <p:cNvPr id="3320" name="Google Shape;3320;g251d9346719_0_1204"/>
          <p:cNvSpPr/>
          <p:nvPr/>
        </p:nvSpPr>
        <p:spPr>
          <a:xfrm>
            <a:off x="5833996" y="4050642"/>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Comportamiento de la transacción</a:t>
            </a:r>
            <a:endParaRPr b="1" i="0" sz="400" u="none" cap="none" strike="noStrike">
              <a:solidFill>
                <a:srgbClr val="171717"/>
              </a:solidFill>
              <a:latin typeface="Montserrat"/>
              <a:ea typeface="Montserrat"/>
              <a:cs typeface="Montserrat"/>
              <a:sym typeface="Montserrat"/>
            </a:endParaRPr>
          </a:p>
        </p:txBody>
      </p:sp>
      <p:sp>
        <p:nvSpPr>
          <p:cNvPr id="3321" name="Google Shape;3321;g251d9346719_0_1204"/>
          <p:cNvSpPr/>
          <p:nvPr/>
        </p:nvSpPr>
        <p:spPr>
          <a:xfrm>
            <a:off x="6937776" y="3896900"/>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Fondos disponibles</a:t>
            </a:r>
            <a:endParaRPr b="1" i="0" sz="900" u="none" cap="none" strike="noStrike">
              <a:solidFill>
                <a:srgbClr val="171717"/>
              </a:solidFill>
              <a:latin typeface="Arial"/>
              <a:ea typeface="Arial"/>
              <a:cs typeface="Arial"/>
              <a:sym typeface="Arial"/>
            </a:endParaRPr>
          </a:p>
        </p:txBody>
      </p:sp>
      <p:sp>
        <p:nvSpPr>
          <p:cNvPr id="3322" name="Google Shape;3322;g251d9346719_0_1204"/>
          <p:cNvSpPr/>
          <p:nvPr/>
        </p:nvSpPr>
        <p:spPr>
          <a:xfrm>
            <a:off x="6937778" y="4046240"/>
            <a:ext cx="7227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Evaluación de ingresos (entrantes)</a:t>
            </a:r>
            <a:endParaRPr b="1" i="0" sz="900" u="none" cap="none" strike="noStrike">
              <a:solidFill>
                <a:srgbClr val="171717"/>
              </a:solidFill>
              <a:latin typeface="Arial"/>
              <a:ea typeface="Arial"/>
              <a:cs typeface="Arial"/>
              <a:sym typeface="Arial"/>
            </a:endParaRPr>
          </a:p>
        </p:txBody>
      </p:sp>
      <p:sp>
        <p:nvSpPr>
          <p:cNvPr id="3323" name="Google Shape;3323;g251d9346719_0_1204"/>
          <p:cNvSpPr/>
          <p:nvPr/>
        </p:nvSpPr>
        <p:spPr>
          <a:xfrm>
            <a:off x="6937776"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Evaluación de gastos (saliente)</a:t>
            </a:r>
            <a:endParaRPr b="0" i="0" sz="900" u="none" cap="none" strike="noStrike">
              <a:solidFill>
                <a:schemeClr val="dk2"/>
              </a:solidFill>
              <a:latin typeface="Arial"/>
              <a:ea typeface="Arial"/>
              <a:cs typeface="Arial"/>
              <a:sym typeface="Arial"/>
            </a:endParaRPr>
          </a:p>
        </p:txBody>
      </p:sp>
      <p:sp>
        <p:nvSpPr>
          <p:cNvPr id="3324" name="Google Shape;3324;g251d9346719_0_1204"/>
          <p:cNvSpPr/>
          <p:nvPr/>
        </p:nvSpPr>
        <p:spPr>
          <a:xfrm>
            <a:off x="6937776" y="419557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Reclamaciones y disputas</a:t>
            </a:r>
            <a:endParaRPr b="1" i="0" sz="400" u="none" cap="none" strike="noStrike">
              <a:solidFill>
                <a:schemeClr val="dk1"/>
              </a:solidFill>
              <a:latin typeface="Montserrat"/>
              <a:ea typeface="Montserrat"/>
              <a:cs typeface="Montserrat"/>
              <a:sym typeface="Montserrat"/>
            </a:endParaRPr>
          </a:p>
        </p:txBody>
      </p:sp>
      <p:sp>
        <p:nvSpPr>
          <p:cNvPr id="3325" name="Google Shape;3325;g251d9346719_0_1204"/>
          <p:cNvSpPr/>
          <p:nvPr/>
        </p:nvSpPr>
        <p:spPr>
          <a:xfrm>
            <a:off x="4715038" y="407014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Buró de crédito</a:t>
            </a:r>
            <a:endParaRPr b="1" i="0" sz="400" u="none" cap="none" strike="noStrike">
              <a:solidFill>
                <a:schemeClr val="lt1"/>
              </a:solidFill>
              <a:latin typeface="Montserrat"/>
              <a:ea typeface="Montserrat"/>
              <a:cs typeface="Montserrat"/>
              <a:sym typeface="Montserrat"/>
            </a:endParaRPr>
          </a:p>
        </p:txBody>
      </p:sp>
      <p:sp>
        <p:nvSpPr>
          <p:cNvPr id="3326" name="Google Shape;3326;g251d9346719_0_1204"/>
          <p:cNvSpPr/>
          <p:nvPr/>
        </p:nvSpPr>
        <p:spPr>
          <a:xfrm>
            <a:off x="4715038" y="4220504"/>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Umbrales de riesgo (evaluar y modelar)</a:t>
            </a:r>
            <a:endParaRPr b="1" i="0" sz="400" u="none" cap="none" strike="noStrike">
              <a:solidFill>
                <a:schemeClr val="lt1"/>
              </a:solidFill>
              <a:latin typeface="Montserrat"/>
              <a:ea typeface="Montserrat"/>
              <a:cs typeface="Montserrat"/>
              <a:sym typeface="Montserrat"/>
            </a:endParaRPr>
          </a:p>
        </p:txBody>
      </p:sp>
      <p:sp>
        <p:nvSpPr>
          <p:cNvPr id="3327" name="Google Shape;3327;g251d9346719_0_1204"/>
          <p:cNvSpPr/>
          <p:nvPr/>
        </p:nvSpPr>
        <p:spPr>
          <a:xfrm>
            <a:off x="4708161" y="3896900"/>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Gestión de restricciones de cuenta</a:t>
            </a:r>
            <a:endParaRPr b="1" i="0" sz="400" u="none" cap="none" strike="noStrike">
              <a:solidFill>
                <a:schemeClr val="lt1"/>
              </a:solidFill>
              <a:latin typeface="Montserrat"/>
              <a:ea typeface="Montserrat"/>
              <a:cs typeface="Montserrat"/>
              <a:sym typeface="Montserrat"/>
            </a:endParaRPr>
          </a:p>
        </p:txBody>
      </p:sp>
      <p:sp>
        <p:nvSpPr>
          <p:cNvPr id="3328" name="Google Shape;3328;g251d9346719_0_1204"/>
          <p:cNvSpPr/>
          <p:nvPr/>
        </p:nvSpPr>
        <p:spPr>
          <a:xfrm>
            <a:off x="3555696" y="434491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locales y estatales</a:t>
            </a:r>
            <a:endParaRPr b="0" i="0" sz="900" u="none" cap="none" strike="noStrike">
              <a:solidFill>
                <a:schemeClr val="lt1"/>
              </a:solidFill>
              <a:latin typeface="Arial"/>
              <a:ea typeface="Arial"/>
              <a:cs typeface="Arial"/>
              <a:sym typeface="Arial"/>
            </a:endParaRPr>
          </a:p>
        </p:txBody>
      </p:sp>
      <p:sp>
        <p:nvSpPr>
          <p:cNvPr id="3329" name="Google Shape;3329;g251d9346719_0_1204"/>
          <p:cNvSpPr/>
          <p:nvPr/>
        </p:nvSpPr>
        <p:spPr>
          <a:xfrm>
            <a:off x="3555696" y="3896900"/>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Consumidor y privacidad</a:t>
            </a:r>
            <a:br>
              <a:rPr b="1" i="0" lang="es" sz="400" u="none" cap="none" strike="noStrike">
                <a:solidFill>
                  <a:srgbClr val="171717"/>
                </a:solidFill>
                <a:latin typeface="Montserrat"/>
                <a:ea typeface="Montserrat"/>
                <a:cs typeface="Montserrat"/>
                <a:sym typeface="Montserrat"/>
              </a:rPr>
            </a:br>
            <a:r>
              <a:rPr b="1" i="0" lang="es" sz="400" u="none" cap="none" strike="noStrike">
                <a:solidFill>
                  <a:srgbClr val="171717"/>
                </a:solidFill>
                <a:latin typeface="Montserrat"/>
                <a:ea typeface="Montserrat"/>
                <a:cs typeface="Montserrat"/>
                <a:sym typeface="Montserrat"/>
              </a:rPr>
              <a:t>(cumplimiento)</a:t>
            </a:r>
            <a:endParaRPr b="1" i="0" sz="400" u="none" cap="none" strike="noStrike">
              <a:solidFill>
                <a:srgbClr val="171717"/>
              </a:solidFill>
              <a:latin typeface="Montserrat"/>
              <a:ea typeface="Montserrat"/>
              <a:cs typeface="Montserrat"/>
              <a:sym typeface="Montserrat"/>
            </a:endParaRPr>
          </a:p>
        </p:txBody>
      </p:sp>
      <p:sp>
        <p:nvSpPr>
          <p:cNvPr id="3330" name="Google Shape;3330;g251d9346719_0_1204"/>
          <p:cNvSpPr/>
          <p:nvPr/>
        </p:nvSpPr>
        <p:spPr>
          <a:xfrm>
            <a:off x="3555696" y="4046240"/>
            <a:ext cx="7227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Regulaciones de México.</a:t>
            </a:r>
            <a:endParaRPr b="1" i="0" sz="900" u="none" cap="none" strike="noStrike">
              <a:solidFill>
                <a:srgbClr val="171717"/>
              </a:solidFill>
              <a:latin typeface="Arial"/>
              <a:ea typeface="Arial"/>
              <a:cs typeface="Arial"/>
              <a:sym typeface="Arial"/>
            </a:endParaRPr>
          </a:p>
        </p:txBody>
      </p:sp>
      <p:sp>
        <p:nvSpPr>
          <p:cNvPr id="3331" name="Google Shape;3331;g251d9346719_0_1204"/>
          <p:cNvSpPr/>
          <p:nvPr/>
        </p:nvSpPr>
        <p:spPr>
          <a:xfrm>
            <a:off x="3555696" y="419557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Regulaciones de BANXICO</a:t>
            </a:r>
            <a:endParaRPr b="0" i="0" sz="400" u="none" cap="none" strike="noStrike">
              <a:solidFill>
                <a:schemeClr val="lt1"/>
              </a:solidFill>
              <a:latin typeface="Montserrat"/>
              <a:ea typeface="Montserrat"/>
              <a:cs typeface="Montserrat"/>
              <a:sym typeface="Montserrat"/>
            </a:endParaRPr>
          </a:p>
        </p:txBody>
      </p:sp>
      <p:sp>
        <p:nvSpPr>
          <p:cNvPr id="3332" name="Google Shape;3332;g251d9346719_0_1204"/>
          <p:cNvSpPr/>
          <p:nvPr/>
        </p:nvSpPr>
        <p:spPr>
          <a:xfrm>
            <a:off x="1333302" y="4246040"/>
            <a:ext cx="720900" cy="1503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Seguridad del sistema (disposiciones)</a:t>
            </a:r>
            <a:endParaRPr b="1" i="0" sz="900" u="none" cap="none" strike="noStrike">
              <a:solidFill>
                <a:srgbClr val="171717"/>
              </a:solidFill>
              <a:latin typeface="Arial"/>
              <a:ea typeface="Arial"/>
              <a:cs typeface="Arial"/>
              <a:sym typeface="Arial"/>
            </a:endParaRPr>
          </a:p>
        </p:txBody>
      </p:sp>
      <p:sp>
        <p:nvSpPr>
          <p:cNvPr id="3333" name="Google Shape;3333;g251d9346719_0_1204"/>
          <p:cNvSpPr/>
          <p:nvPr/>
        </p:nvSpPr>
        <p:spPr>
          <a:xfrm>
            <a:off x="1333302" y="3896900"/>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Autenticación (validación de ID de cliente)</a:t>
            </a:r>
            <a:endParaRPr b="1" i="0" sz="400" u="none" cap="none" strike="noStrike">
              <a:solidFill>
                <a:schemeClr val="lt1"/>
              </a:solidFill>
              <a:latin typeface="Montserrat"/>
              <a:ea typeface="Montserrat"/>
              <a:cs typeface="Montserrat"/>
              <a:sym typeface="Montserrat"/>
            </a:endParaRPr>
          </a:p>
        </p:txBody>
      </p:sp>
      <p:sp>
        <p:nvSpPr>
          <p:cNvPr id="3334" name="Google Shape;3334;g251d9346719_0_1204"/>
          <p:cNvSpPr/>
          <p:nvPr/>
        </p:nvSpPr>
        <p:spPr>
          <a:xfrm>
            <a:off x="8041532" y="4046389"/>
            <a:ext cx="7227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plataformas</a:t>
            </a:r>
            <a:endParaRPr b="0" i="0" sz="400" u="none" cap="none" strike="noStrike">
              <a:solidFill>
                <a:schemeClr val="dk2"/>
              </a:solidFill>
              <a:latin typeface="Montserrat"/>
              <a:ea typeface="Montserrat"/>
              <a:cs typeface="Montserrat"/>
              <a:sym typeface="Montserrat"/>
            </a:endParaRPr>
          </a:p>
        </p:txBody>
      </p:sp>
      <p:sp>
        <p:nvSpPr>
          <p:cNvPr id="3335" name="Google Shape;3335;g251d9346719_0_1204"/>
          <p:cNvSpPr/>
          <p:nvPr/>
        </p:nvSpPr>
        <p:spPr>
          <a:xfrm>
            <a:off x="8041529" y="4195877"/>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mensajería</a:t>
            </a:r>
            <a:endParaRPr b="0" i="0" sz="400" u="none" cap="none" strike="noStrike">
              <a:solidFill>
                <a:schemeClr val="dk2"/>
              </a:solidFill>
              <a:latin typeface="Montserrat"/>
              <a:ea typeface="Montserrat"/>
              <a:cs typeface="Montserrat"/>
              <a:sym typeface="Montserrat"/>
            </a:endParaRPr>
          </a:p>
        </p:txBody>
      </p:sp>
      <p:sp>
        <p:nvSpPr>
          <p:cNvPr id="3336" name="Google Shape;3336;g251d9346719_0_1204"/>
          <p:cNvSpPr/>
          <p:nvPr/>
        </p:nvSpPr>
        <p:spPr>
          <a:xfrm>
            <a:off x="8041529" y="389690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bases de datos</a:t>
            </a:r>
            <a:endParaRPr b="0" i="0" sz="400" u="none" cap="none" strike="noStrike">
              <a:solidFill>
                <a:schemeClr val="dk2"/>
              </a:solidFill>
              <a:latin typeface="Montserrat"/>
              <a:ea typeface="Montserrat"/>
              <a:cs typeface="Montserrat"/>
              <a:sym typeface="Montserrat"/>
            </a:endParaRPr>
          </a:p>
        </p:txBody>
      </p:sp>
      <p:sp>
        <p:nvSpPr>
          <p:cNvPr id="3337" name="Google Shape;3337;g251d9346719_0_1204"/>
          <p:cNvSpPr/>
          <p:nvPr/>
        </p:nvSpPr>
        <p:spPr>
          <a:xfrm>
            <a:off x="8041529" y="4345365"/>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hardware</a:t>
            </a:r>
            <a:endParaRPr b="0" i="0" sz="900" u="none" cap="none" strike="noStrike">
              <a:solidFill>
                <a:schemeClr val="dk2"/>
              </a:solidFill>
              <a:latin typeface="Arial"/>
              <a:ea typeface="Arial"/>
              <a:cs typeface="Arial"/>
              <a:sym typeface="Arial"/>
            </a:endParaRPr>
          </a:p>
        </p:txBody>
      </p:sp>
      <p:sp>
        <p:nvSpPr>
          <p:cNvPr id="3338" name="Google Shape;3338;g251d9346719_0_1204"/>
          <p:cNvSpPr/>
          <p:nvPr/>
        </p:nvSpPr>
        <p:spPr>
          <a:xfrm>
            <a:off x="1333302" y="4067547"/>
            <a:ext cx="720900" cy="1503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Inicio de sesión único</a:t>
            </a:r>
            <a:endParaRPr b="1" i="0" sz="900" u="none" cap="none" strike="noStrike">
              <a:solidFill>
                <a:schemeClr val="lt1"/>
              </a:solidFill>
              <a:latin typeface="Arial"/>
              <a:ea typeface="Arial"/>
              <a:cs typeface="Arial"/>
              <a:sym typeface="Arial"/>
            </a:endParaRPr>
          </a:p>
        </p:txBody>
      </p:sp>
      <p:sp>
        <p:nvSpPr>
          <p:cNvPr id="3339" name="Google Shape;3339;g251d9346719_0_1204"/>
          <p:cNvSpPr/>
          <p:nvPr/>
        </p:nvSpPr>
        <p:spPr>
          <a:xfrm>
            <a:off x="2444808" y="3896900"/>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Recopilación de parámetros</a:t>
            </a:r>
            <a:endParaRPr b="1" i="0" sz="900" u="none" cap="none" strike="noStrike">
              <a:solidFill>
                <a:srgbClr val="171717"/>
              </a:solidFill>
              <a:latin typeface="Arial"/>
              <a:ea typeface="Arial"/>
              <a:cs typeface="Arial"/>
              <a:sym typeface="Arial"/>
            </a:endParaRPr>
          </a:p>
        </p:txBody>
      </p:sp>
      <p:sp>
        <p:nvSpPr>
          <p:cNvPr id="3340" name="Google Shape;3340;g251d9346719_0_1204"/>
          <p:cNvSpPr/>
          <p:nvPr/>
        </p:nvSpPr>
        <p:spPr>
          <a:xfrm>
            <a:off x="2444808" y="4046240"/>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QA inspección</a:t>
            </a:r>
            <a:endParaRPr b="1" i="0" sz="400" u="none" cap="none" strike="noStrike">
              <a:solidFill>
                <a:srgbClr val="171717"/>
              </a:solidFill>
              <a:latin typeface="Montserrat"/>
              <a:ea typeface="Montserrat"/>
              <a:cs typeface="Montserrat"/>
              <a:sym typeface="Montserrat"/>
            </a:endParaRPr>
          </a:p>
        </p:txBody>
      </p:sp>
      <p:sp>
        <p:nvSpPr>
          <p:cNvPr id="3341" name="Google Shape;3341;g251d9346719_0_1204"/>
          <p:cNvSpPr/>
          <p:nvPr/>
        </p:nvSpPr>
        <p:spPr>
          <a:xfrm>
            <a:off x="2444808" y="4344919"/>
            <a:ext cx="7227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QA notificación</a:t>
            </a:r>
            <a:endParaRPr b="1" i="0" sz="400" u="none" cap="none" strike="noStrike">
              <a:solidFill>
                <a:srgbClr val="171717"/>
              </a:solidFill>
              <a:latin typeface="Montserrat"/>
              <a:ea typeface="Montserrat"/>
              <a:cs typeface="Montserrat"/>
              <a:sym typeface="Montserrat"/>
            </a:endParaRPr>
          </a:p>
        </p:txBody>
      </p:sp>
      <p:sp>
        <p:nvSpPr>
          <p:cNvPr id="3342" name="Google Shape;3342;g251d9346719_0_1204"/>
          <p:cNvSpPr/>
          <p:nvPr/>
        </p:nvSpPr>
        <p:spPr>
          <a:xfrm>
            <a:off x="2444808" y="4195579"/>
            <a:ext cx="7227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QA revisión</a:t>
            </a:r>
            <a:endParaRPr b="1" i="0" sz="400" u="none" cap="none" strike="noStrike">
              <a:solidFill>
                <a:srgbClr val="171717"/>
              </a:solidFill>
              <a:latin typeface="Montserrat"/>
              <a:ea typeface="Montserrat"/>
              <a:cs typeface="Montserrat"/>
              <a:sym typeface="Montserrat"/>
            </a:endParaRPr>
          </a:p>
        </p:txBody>
      </p:sp>
      <p:sp>
        <p:nvSpPr>
          <p:cNvPr id="3343" name="Google Shape;3343;g251d9346719_0_1204"/>
          <p:cNvSpPr/>
          <p:nvPr/>
        </p:nvSpPr>
        <p:spPr>
          <a:xfrm>
            <a:off x="5519878" y="3397234"/>
            <a:ext cx="7206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2C2C2C"/>
                </a:solidFill>
                <a:latin typeface="Montserrat"/>
                <a:ea typeface="Montserrat"/>
                <a:cs typeface="Montserrat"/>
                <a:sym typeface="Montserrat"/>
              </a:rPr>
              <a:t>Precio, honorarios y tarifas</a:t>
            </a:r>
            <a:endParaRPr b="1" i="0" sz="400" u="none" cap="none" strike="noStrike">
              <a:solidFill>
                <a:srgbClr val="2C2C2C"/>
              </a:solidFill>
              <a:latin typeface="Montserrat"/>
              <a:ea typeface="Montserrat"/>
              <a:cs typeface="Montserrat"/>
              <a:sym typeface="Montserrat"/>
            </a:endParaRPr>
          </a:p>
        </p:txBody>
      </p:sp>
      <p:sp>
        <p:nvSpPr>
          <p:cNvPr id="3344" name="Google Shape;3344;g251d9346719_0_1204"/>
          <p:cNvSpPr/>
          <p:nvPr/>
        </p:nvSpPr>
        <p:spPr>
          <a:xfrm>
            <a:off x="4689602" y="3397234"/>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2C2C2C"/>
                </a:solidFill>
                <a:latin typeface="Montserrat"/>
                <a:ea typeface="Montserrat"/>
                <a:cs typeface="Montserrat"/>
                <a:sym typeface="Montserrat"/>
              </a:rPr>
              <a:t>Parametrización</a:t>
            </a:r>
            <a:endParaRPr b="1" i="0" sz="900" u="none" cap="none" strike="noStrike">
              <a:solidFill>
                <a:srgbClr val="2C2C2C"/>
              </a:solidFill>
              <a:latin typeface="Montserrat"/>
              <a:ea typeface="Montserrat"/>
              <a:cs typeface="Montserrat"/>
              <a:sym typeface="Montserrat"/>
            </a:endParaRPr>
          </a:p>
        </p:txBody>
      </p:sp>
      <p:sp>
        <p:nvSpPr>
          <p:cNvPr id="3345" name="Google Shape;3345;g251d9346719_0_1204"/>
          <p:cNvSpPr/>
          <p:nvPr/>
        </p:nvSpPr>
        <p:spPr>
          <a:xfrm>
            <a:off x="7168269" y="3397881"/>
            <a:ext cx="7206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2C2C2C"/>
                </a:solidFill>
                <a:latin typeface="Montserrat"/>
                <a:ea typeface="Montserrat"/>
                <a:cs typeface="Montserrat"/>
                <a:sym typeface="Montserrat"/>
              </a:rPr>
              <a:t>Definición de roles</a:t>
            </a:r>
            <a:endParaRPr b="1" i="0" sz="900" u="none" cap="none" strike="noStrike">
              <a:solidFill>
                <a:srgbClr val="2C2C2C"/>
              </a:solidFill>
              <a:latin typeface="Montserrat"/>
              <a:ea typeface="Montserrat"/>
              <a:cs typeface="Montserrat"/>
              <a:sym typeface="Montserrat"/>
            </a:endParaRPr>
          </a:p>
        </p:txBody>
      </p:sp>
      <p:sp>
        <p:nvSpPr>
          <p:cNvPr id="3346" name="Google Shape;3346;g251d9346719_0_1204"/>
          <p:cNvSpPr/>
          <p:nvPr/>
        </p:nvSpPr>
        <p:spPr>
          <a:xfrm>
            <a:off x="7977593" y="3397611"/>
            <a:ext cx="8370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2C2C2C"/>
                </a:solidFill>
                <a:latin typeface="Montserrat"/>
                <a:ea typeface="Montserrat"/>
                <a:cs typeface="Montserrat"/>
                <a:sym typeface="Montserrat"/>
              </a:rPr>
              <a:t>Definición del motor de reglas</a:t>
            </a:r>
            <a:endParaRPr b="1" i="0" sz="400" u="none" cap="none" strike="noStrike">
              <a:solidFill>
                <a:srgbClr val="2C2C2C"/>
              </a:solidFill>
              <a:latin typeface="Montserrat"/>
              <a:ea typeface="Montserrat"/>
              <a:cs typeface="Montserrat"/>
              <a:sym typeface="Montserrat"/>
            </a:endParaRPr>
          </a:p>
        </p:txBody>
      </p:sp>
      <p:sp>
        <p:nvSpPr>
          <p:cNvPr id="3347" name="Google Shape;3347;g251d9346719_0_1204"/>
          <p:cNvSpPr/>
          <p:nvPr/>
        </p:nvSpPr>
        <p:spPr>
          <a:xfrm>
            <a:off x="6353107" y="3397516"/>
            <a:ext cx="7206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2C2C2C"/>
                </a:solidFill>
                <a:latin typeface="Montserrat"/>
                <a:ea typeface="Montserrat"/>
                <a:cs typeface="Montserrat"/>
                <a:sym typeface="Montserrat"/>
              </a:rPr>
              <a:t>Capacidades de gestión de productos</a:t>
            </a:r>
            <a:endParaRPr b="1" i="0" sz="400" u="none" cap="none" strike="noStrike">
              <a:solidFill>
                <a:srgbClr val="2C2C2C"/>
              </a:solidFill>
              <a:latin typeface="Montserrat"/>
              <a:ea typeface="Montserrat"/>
              <a:cs typeface="Montserrat"/>
              <a:sym typeface="Montserrat"/>
            </a:endParaRPr>
          </a:p>
        </p:txBody>
      </p:sp>
      <p:sp>
        <p:nvSpPr>
          <p:cNvPr id="3348" name="Google Shape;3348;g251d9346719_0_1204"/>
          <p:cNvSpPr/>
          <p:nvPr/>
        </p:nvSpPr>
        <p:spPr>
          <a:xfrm>
            <a:off x="3880064" y="3397234"/>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1" i="0" lang="es" sz="400" u="none" cap="none" strike="noStrike">
                <a:solidFill>
                  <a:srgbClr val="2C2C2C"/>
                </a:solidFill>
                <a:latin typeface="Montserrat"/>
                <a:ea typeface="Montserrat"/>
                <a:cs typeface="Montserrat"/>
                <a:sym typeface="Montserrat"/>
              </a:rPr>
              <a:t>Información de Modelos</a:t>
            </a:r>
            <a:endParaRPr b="1" i="0" sz="900" u="none" cap="none" strike="noStrike">
              <a:solidFill>
                <a:srgbClr val="2C2C2C"/>
              </a:solidFill>
              <a:latin typeface="Montserrat"/>
              <a:ea typeface="Montserrat"/>
              <a:cs typeface="Montserrat"/>
              <a:sym typeface="Montserrat"/>
            </a:endParaRPr>
          </a:p>
        </p:txBody>
      </p:sp>
      <p:sp>
        <p:nvSpPr>
          <p:cNvPr id="3349" name="Google Shape;3349;g251d9346719_0_1204"/>
          <p:cNvSpPr/>
          <p:nvPr/>
        </p:nvSpPr>
        <p:spPr>
          <a:xfrm>
            <a:off x="3880356" y="1877571"/>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Reconciliaciones</a:t>
            </a:r>
            <a:endParaRPr b="1" i="0" sz="400" u="none" cap="none" strike="noStrike">
              <a:solidFill>
                <a:srgbClr val="171717"/>
              </a:solidFill>
              <a:latin typeface="Montserrat"/>
              <a:ea typeface="Montserrat"/>
              <a:cs typeface="Montserrat"/>
              <a:sym typeface="Montserrat"/>
            </a:endParaRPr>
          </a:p>
        </p:txBody>
      </p:sp>
      <p:sp>
        <p:nvSpPr>
          <p:cNvPr id="3350" name="Google Shape;3350;g251d9346719_0_1204"/>
          <p:cNvSpPr/>
          <p:nvPr/>
        </p:nvSpPr>
        <p:spPr>
          <a:xfrm>
            <a:off x="3880356" y="125706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Ajustes</a:t>
            </a:r>
            <a:endParaRPr b="1" i="0" sz="400" u="none" cap="none" strike="noStrike">
              <a:solidFill>
                <a:schemeClr val="dk1"/>
              </a:solidFill>
              <a:latin typeface="Montserrat"/>
              <a:ea typeface="Montserrat"/>
              <a:cs typeface="Montserrat"/>
              <a:sym typeface="Montserrat"/>
            </a:endParaRPr>
          </a:p>
        </p:txBody>
      </p:sp>
      <p:sp>
        <p:nvSpPr>
          <p:cNvPr id="3351" name="Google Shape;3351;g251d9346719_0_1204"/>
          <p:cNvSpPr/>
          <p:nvPr/>
        </p:nvSpPr>
        <p:spPr>
          <a:xfrm>
            <a:off x="3880356" y="156737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Excepciones</a:t>
            </a:r>
            <a:endParaRPr b="1" i="0" sz="400" u="none" cap="none" strike="noStrike">
              <a:solidFill>
                <a:schemeClr val="dk1"/>
              </a:solidFill>
              <a:latin typeface="Montserrat"/>
              <a:ea typeface="Montserrat"/>
              <a:cs typeface="Montserrat"/>
              <a:sym typeface="Montserrat"/>
            </a:endParaRPr>
          </a:p>
        </p:txBody>
      </p:sp>
      <p:sp>
        <p:nvSpPr>
          <p:cNvPr id="3352" name="Google Shape;3352;g251d9346719_0_1204"/>
          <p:cNvSpPr/>
          <p:nvPr/>
        </p:nvSpPr>
        <p:spPr>
          <a:xfrm>
            <a:off x="3880356" y="1412001"/>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Procesamiento de saldos</a:t>
            </a:r>
            <a:endParaRPr b="1" i="0" sz="400" u="none" cap="none" strike="noStrike">
              <a:solidFill>
                <a:srgbClr val="171717"/>
              </a:solidFill>
              <a:latin typeface="Montserrat"/>
              <a:ea typeface="Montserrat"/>
              <a:cs typeface="Montserrat"/>
              <a:sym typeface="Montserrat"/>
            </a:endParaRPr>
          </a:p>
        </p:txBody>
      </p:sp>
      <p:sp>
        <p:nvSpPr>
          <p:cNvPr id="3353" name="Google Shape;3353;g251d9346719_0_1204"/>
          <p:cNvSpPr/>
          <p:nvPr/>
        </p:nvSpPr>
        <p:spPr>
          <a:xfrm>
            <a:off x="3880356" y="1723188"/>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Contabilidad</a:t>
            </a:r>
            <a:endParaRPr b="1" i="0" sz="400" u="none" cap="none" strike="noStrike">
              <a:solidFill>
                <a:srgbClr val="171717"/>
              </a:solidFill>
              <a:latin typeface="Montserrat"/>
              <a:ea typeface="Montserrat"/>
              <a:cs typeface="Montserrat"/>
              <a:sym typeface="Montserrat"/>
            </a:endParaRPr>
          </a:p>
        </p:txBody>
      </p:sp>
      <p:sp>
        <p:nvSpPr>
          <p:cNvPr id="3354" name="Google Shape;3354;g251d9346719_0_1204"/>
          <p:cNvSpPr/>
          <p:nvPr/>
        </p:nvSpPr>
        <p:spPr>
          <a:xfrm>
            <a:off x="3880356" y="2169028"/>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Asociaciones</a:t>
            </a:r>
            <a:endParaRPr b="0" i="0" sz="400" u="none" cap="none" strike="noStrike">
              <a:solidFill>
                <a:schemeClr val="dk2"/>
              </a:solidFill>
              <a:latin typeface="Montserrat"/>
              <a:ea typeface="Montserrat"/>
              <a:cs typeface="Montserrat"/>
              <a:sym typeface="Montserrat"/>
            </a:endParaRPr>
          </a:p>
        </p:txBody>
      </p:sp>
      <p:sp>
        <p:nvSpPr>
          <p:cNvPr id="3355" name="Google Shape;3355;g251d9346719_0_1204"/>
          <p:cNvSpPr/>
          <p:nvPr/>
        </p:nvSpPr>
        <p:spPr>
          <a:xfrm>
            <a:off x="3880356" y="2325110"/>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Ventas/incentivos</a:t>
            </a:r>
            <a:endParaRPr b="1" i="0" sz="400" u="none" cap="none" strike="noStrike">
              <a:solidFill>
                <a:schemeClr val="dk1"/>
              </a:solidFill>
              <a:latin typeface="Montserrat"/>
              <a:ea typeface="Montserrat"/>
              <a:cs typeface="Montserrat"/>
              <a:sym typeface="Montserrat"/>
            </a:endParaRPr>
          </a:p>
        </p:txBody>
      </p:sp>
      <p:sp>
        <p:nvSpPr>
          <p:cNvPr id="3356" name="Google Shape;3356;g251d9346719_0_1204"/>
          <p:cNvSpPr/>
          <p:nvPr/>
        </p:nvSpPr>
        <p:spPr>
          <a:xfrm>
            <a:off x="3880064" y="2472433"/>
            <a:ext cx="7209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Gestión de la relación con el cliente</a:t>
            </a:r>
            <a:endParaRPr b="1" i="0" sz="400" u="none" cap="none" strike="noStrike">
              <a:solidFill>
                <a:schemeClr val="dk1"/>
              </a:solidFill>
              <a:latin typeface="Montserrat"/>
              <a:ea typeface="Montserrat"/>
              <a:cs typeface="Montserrat"/>
              <a:sym typeface="Montserrat"/>
            </a:endParaRPr>
          </a:p>
        </p:txBody>
      </p:sp>
      <p:sp>
        <p:nvSpPr>
          <p:cNvPr id="3357" name="Google Shape;3357;g251d9346719_0_1204"/>
          <p:cNvSpPr/>
          <p:nvPr/>
        </p:nvSpPr>
        <p:spPr>
          <a:xfrm>
            <a:off x="3880064" y="2635994"/>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prospectos</a:t>
            </a:r>
            <a:endParaRPr b="0" i="0" sz="400" u="none" cap="none" strike="noStrike">
              <a:solidFill>
                <a:schemeClr val="dk2"/>
              </a:solidFill>
              <a:latin typeface="Montserrat"/>
              <a:ea typeface="Montserrat"/>
              <a:cs typeface="Montserrat"/>
              <a:sym typeface="Montserrat"/>
            </a:endParaRPr>
          </a:p>
        </p:txBody>
      </p:sp>
      <p:sp>
        <p:nvSpPr>
          <p:cNvPr id="3358" name="Google Shape;3358;g251d9346719_0_1204"/>
          <p:cNvSpPr/>
          <p:nvPr/>
        </p:nvSpPr>
        <p:spPr>
          <a:xfrm>
            <a:off x="3880064" y="2937630"/>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Finanzas y Tesorería</a:t>
            </a:r>
            <a:endParaRPr b="0" i="0" sz="400" u="none" cap="none" strike="noStrike">
              <a:solidFill>
                <a:schemeClr val="dk2"/>
              </a:solidFill>
              <a:latin typeface="Montserrat"/>
              <a:ea typeface="Montserrat"/>
              <a:cs typeface="Montserrat"/>
              <a:sym typeface="Montserrat"/>
            </a:endParaRPr>
          </a:p>
        </p:txBody>
      </p:sp>
      <p:sp>
        <p:nvSpPr>
          <p:cNvPr id="3359" name="Google Shape;3359;g251d9346719_0_1204"/>
          <p:cNvSpPr/>
          <p:nvPr/>
        </p:nvSpPr>
        <p:spPr>
          <a:xfrm>
            <a:off x="3880064" y="3092759"/>
            <a:ext cx="720900" cy="1284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Servicios de inversión</a:t>
            </a:r>
            <a:endParaRPr b="1" i="0" sz="400" u="none" cap="none" strike="noStrike">
              <a:solidFill>
                <a:schemeClr val="dk1"/>
              </a:solidFill>
              <a:latin typeface="Montserrat"/>
              <a:ea typeface="Montserrat"/>
              <a:cs typeface="Montserrat"/>
              <a:sym typeface="Montserrat"/>
            </a:endParaRPr>
          </a:p>
        </p:txBody>
      </p:sp>
      <p:sp>
        <p:nvSpPr>
          <p:cNvPr id="3360" name="Google Shape;3360;g251d9346719_0_1204"/>
          <p:cNvSpPr/>
          <p:nvPr/>
        </p:nvSpPr>
        <p:spPr>
          <a:xfrm>
            <a:off x="2862242" y="2917874"/>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1" i="0" lang="es" sz="400" u="none" cap="none" strike="noStrike">
                <a:solidFill>
                  <a:schemeClr val="dk1"/>
                </a:solidFill>
                <a:latin typeface="Montserrat"/>
                <a:ea typeface="Montserrat"/>
                <a:cs typeface="Montserrat"/>
                <a:sym typeface="Montserrat"/>
              </a:rPr>
              <a:t>Gestión de documentos de imagen</a:t>
            </a:r>
            <a:endParaRPr b="1" i="0" sz="900" u="none" cap="none" strike="noStrike">
              <a:solidFill>
                <a:schemeClr val="dk1"/>
              </a:solidFill>
              <a:latin typeface="Montserrat"/>
              <a:ea typeface="Montserrat"/>
              <a:cs typeface="Montserrat"/>
              <a:sym typeface="Montserrat"/>
            </a:endParaRPr>
          </a:p>
        </p:txBody>
      </p:sp>
      <p:sp>
        <p:nvSpPr>
          <p:cNvPr id="3361" name="Google Shape;3361;g251d9346719_0_1204"/>
          <p:cNvSpPr/>
          <p:nvPr/>
        </p:nvSpPr>
        <p:spPr>
          <a:xfrm>
            <a:off x="1291823" y="3073003"/>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1" i="0" lang="es" sz="400" u="none" cap="none" strike="noStrike">
                <a:solidFill>
                  <a:schemeClr val="dk1"/>
                </a:solidFill>
                <a:latin typeface="Montserrat"/>
                <a:ea typeface="Montserrat"/>
                <a:cs typeface="Montserrat"/>
                <a:sym typeface="Montserrat"/>
              </a:rPr>
              <a:t>Templates </a:t>
            </a:r>
            <a:br>
              <a:rPr b="1" i="0" lang="es" sz="400" u="none" cap="none" strike="noStrike">
                <a:solidFill>
                  <a:schemeClr val="dk1"/>
                </a:solidFill>
                <a:latin typeface="Montserrat"/>
                <a:ea typeface="Montserrat"/>
                <a:cs typeface="Montserrat"/>
                <a:sym typeface="Montserrat"/>
              </a:rPr>
            </a:br>
            <a:r>
              <a:rPr b="1" i="0" lang="es" sz="400" u="none" cap="none" strike="noStrike">
                <a:solidFill>
                  <a:schemeClr val="dk1"/>
                </a:solidFill>
                <a:latin typeface="Montserrat"/>
                <a:ea typeface="Montserrat"/>
                <a:cs typeface="Montserrat"/>
                <a:sym typeface="Montserrat"/>
              </a:rPr>
              <a:t>(correspondencia)</a:t>
            </a:r>
            <a:endParaRPr b="1" i="0" sz="900" u="none" cap="none" strike="noStrike">
              <a:solidFill>
                <a:schemeClr val="dk1"/>
              </a:solidFill>
              <a:latin typeface="Montserrat"/>
              <a:ea typeface="Montserrat"/>
              <a:cs typeface="Montserrat"/>
              <a:sym typeface="Montserrat"/>
            </a:endParaRPr>
          </a:p>
        </p:txBody>
      </p:sp>
      <p:sp>
        <p:nvSpPr>
          <p:cNvPr id="3362" name="Google Shape;3362;g251d9346719_0_1204"/>
          <p:cNvSpPr/>
          <p:nvPr/>
        </p:nvSpPr>
        <p:spPr>
          <a:xfrm>
            <a:off x="2078085" y="2917470"/>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1" i="0" lang="es" sz="350" u="none" cap="none" strike="noStrike">
                <a:solidFill>
                  <a:schemeClr val="dk1"/>
                </a:solidFill>
                <a:latin typeface="Montserrat"/>
                <a:ea typeface="Montserrat"/>
                <a:cs typeface="Montserrat"/>
                <a:sym typeface="Montserrat"/>
              </a:rPr>
              <a:t>Divulgación y aceptar</a:t>
            </a:r>
            <a:endParaRPr b="1" i="0" sz="350"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400"/>
              <a:buFont typeface="Arial"/>
              <a:buNone/>
            </a:pPr>
            <a:r>
              <a:rPr b="1" i="0" lang="es" sz="350" u="none" cap="none" strike="noStrike">
                <a:solidFill>
                  <a:schemeClr val="dk1"/>
                </a:solidFill>
                <a:latin typeface="Montserrat"/>
                <a:ea typeface="Montserrat"/>
                <a:cs typeface="Montserrat"/>
                <a:sym typeface="Montserrat"/>
              </a:rPr>
              <a:t>(Procesamienta de cuentas)</a:t>
            </a:r>
            <a:endParaRPr b="1" i="0" sz="350" u="none" cap="none" strike="noStrike">
              <a:solidFill>
                <a:schemeClr val="dk1"/>
              </a:solidFill>
              <a:latin typeface="Montserrat"/>
              <a:ea typeface="Montserrat"/>
              <a:cs typeface="Montserrat"/>
              <a:sym typeface="Montserrat"/>
            </a:endParaRPr>
          </a:p>
        </p:txBody>
      </p:sp>
      <p:sp>
        <p:nvSpPr>
          <p:cNvPr id="3363" name="Google Shape;3363;g251d9346719_0_1204"/>
          <p:cNvSpPr/>
          <p:nvPr/>
        </p:nvSpPr>
        <p:spPr>
          <a:xfrm>
            <a:off x="1291823" y="2917470"/>
            <a:ext cx="746400" cy="1356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1" i="0" lang="es" sz="400" u="none" cap="none" strike="noStrike">
                <a:solidFill>
                  <a:schemeClr val="dk1"/>
                </a:solidFill>
                <a:latin typeface="Montserrat"/>
                <a:ea typeface="Montserrat"/>
                <a:cs typeface="Montserrat"/>
                <a:sym typeface="Montserrat"/>
              </a:rPr>
              <a:t>Documentación de cumplimiento de cuenta</a:t>
            </a:r>
            <a:endParaRPr b="1" i="0" sz="400" u="none" cap="none" strike="noStrike">
              <a:solidFill>
                <a:schemeClr val="dk1"/>
              </a:solidFill>
              <a:latin typeface="Montserrat"/>
              <a:ea typeface="Montserrat"/>
              <a:cs typeface="Montserrat"/>
              <a:sym typeface="Montserrat"/>
            </a:endParaRPr>
          </a:p>
        </p:txBody>
      </p:sp>
      <p:sp>
        <p:nvSpPr>
          <p:cNvPr id="3364" name="Google Shape;3364;g251d9346719_0_1204"/>
          <p:cNvSpPr/>
          <p:nvPr/>
        </p:nvSpPr>
        <p:spPr>
          <a:xfrm>
            <a:off x="1294951"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Cierre de cuenta</a:t>
            </a:r>
            <a:endParaRPr b="0" i="0" sz="400" u="none" cap="none" strike="noStrike">
              <a:solidFill>
                <a:schemeClr val="lt1"/>
              </a:solidFill>
              <a:latin typeface="Montserrat"/>
              <a:ea typeface="Montserrat"/>
              <a:cs typeface="Montserrat"/>
              <a:sym typeface="Montserrat"/>
            </a:endParaRPr>
          </a:p>
        </p:txBody>
      </p:sp>
      <p:sp>
        <p:nvSpPr>
          <p:cNvPr id="3365" name="Google Shape;3365;g251d9346719_0_1204"/>
          <p:cNvSpPr/>
          <p:nvPr/>
        </p:nvSpPr>
        <p:spPr>
          <a:xfrm>
            <a:off x="1294951" y="2232766"/>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Depositar fondos</a:t>
            </a:r>
            <a:endParaRPr b="0" i="0" sz="400" u="none" cap="none" strike="noStrike">
              <a:solidFill>
                <a:schemeClr val="lt1"/>
              </a:solidFill>
              <a:latin typeface="Montserrat"/>
              <a:ea typeface="Montserrat"/>
              <a:cs typeface="Montserrat"/>
              <a:sym typeface="Montserrat"/>
            </a:endParaRPr>
          </a:p>
        </p:txBody>
      </p:sp>
      <p:sp>
        <p:nvSpPr>
          <p:cNvPr id="3366" name="Google Shape;3366;g251d9346719_0_1204"/>
          <p:cNvSpPr/>
          <p:nvPr/>
        </p:nvSpPr>
        <p:spPr>
          <a:xfrm>
            <a:off x="1294951"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Transferir fondos</a:t>
            </a:r>
            <a:endParaRPr b="0" i="0" sz="400" u="none" cap="none" strike="noStrike">
              <a:solidFill>
                <a:schemeClr val="lt1"/>
              </a:solidFill>
              <a:latin typeface="Montserrat"/>
              <a:ea typeface="Montserrat"/>
              <a:cs typeface="Montserrat"/>
              <a:sym typeface="Montserrat"/>
            </a:endParaRPr>
          </a:p>
        </p:txBody>
      </p:sp>
      <p:sp>
        <p:nvSpPr>
          <p:cNvPr id="3367" name="Google Shape;3367;g251d9346719_0_1204"/>
          <p:cNvSpPr/>
          <p:nvPr/>
        </p:nvSpPr>
        <p:spPr>
          <a:xfrm>
            <a:off x="2862246"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Retirar fondos</a:t>
            </a:r>
            <a:endParaRPr b="0" i="0" sz="400" u="none" cap="none" strike="noStrike">
              <a:solidFill>
                <a:schemeClr val="lt1"/>
              </a:solidFill>
              <a:latin typeface="Montserrat"/>
              <a:ea typeface="Montserrat"/>
              <a:cs typeface="Montserrat"/>
              <a:sym typeface="Montserrat"/>
            </a:endParaRPr>
          </a:p>
        </p:txBody>
      </p:sp>
      <p:sp>
        <p:nvSpPr>
          <p:cNvPr id="3368" name="Google Shape;3368;g251d9346719_0_1204"/>
          <p:cNvSpPr/>
          <p:nvPr/>
        </p:nvSpPr>
        <p:spPr>
          <a:xfrm>
            <a:off x="2078085" y="2389684"/>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Pequeñas empresas</a:t>
            </a:r>
            <a:endParaRPr b="0" i="0" sz="400" u="none" cap="none" strike="noStrike">
              <a:solidFill>
                <a:schemeClr val="lt1"/>
              </a:solidFill>
              <a:latin typeface="Montserrat"/>
              <a:ea typeface="Montserrat"/>
              <a:cs typeface="Montserrat"/>
              <a:sym typeface="Montserrat"/>
            </a:endParaRPr>
          </a:p>
        </p:txBody>
      </p:sp>
      <p:sp>
        <p:nvSpPr>
          <p:cNvPr id="3369" name="Google Shape;3369;g251d9346719_0_1204"/>
          <p:cNvSpPr/>
          <p:nvPr/>
        </p:nvSpPr>
        <p:spPr>
          <a:xfrm>
            <a:off x="2078085" y="2075051"/>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Eventos activados por el cliente</a:t>
            </a:r>
            <a:endParaRPr b="0" i="0" sz="400" u="none" cap="none" strike="noStrike">
              <a:solidFill>
                <a:schemeClr val="lt1"/>
              </a:solidFill>
              <a:latin typeface="Montserrat"/>
              <a:ea typeface="Montserrat"/>
              <a:cs typeface="Montserrat"/>
              <a:sym typeface="Montserrat"/>
            </a:endParaRPr>
          </a:p>
        </p:txBody>
      </p:sp>
      <p:sp>
        <p:nvSpPr>
          <p:cNvPr id="3370" name="Google Shape;3370;g251d9346719_0_1204"/>
          <p:cNvSpPr/>
          <p:nvPr/>
        </p:nvSpPr>
        <p:spPr>
          <a:xfrm>
            <a:off x="2078085"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Originación de cuentas</a:t>
            </a:r>
            <a:endParaRPr b="0" i="0" sz="900" u="none" cap="none" strike="noStrike">
              <a:solidFill>
                <a:schemeClr val="lt1"/>
              </a:solidFill>
              <a:latin typeface="Montserrat"/>
              <a:ea typeface="Montserrat"/>
              <a:cs typeface="Montserrat"/>
              <a:sym typeface="Montserrat"/>
            </a:endParaRPr>
          </a:p>
        </p:txBody>
      </p:sp>
      <p:sp>
        <p:nvSpPr>
          <p:cNvPr id="3371" name="Google Shape;3371;g251d9346719_0_1204"/>
          <p:cNvSpPr/>
          <p:nvPr/>
        </p:nvSpPr>
        <p:spPr>
          <a:xfrm>
            <a:off x="2078085" y="2228552"/>
            <a:ext cx="7464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Gestión de cumplimiento./</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Incorporación de clientes</a:t>
            </a:r>
            <a:endParaRPr b="0" i="0" sz="400" u="none" cap="none" strike="noStrike">
              <a:solidFill>
                <a:schemeClr val="lt1"/>
              </a:solidFill>
              <a:latin typeface="Montserrat"/>
              <a:ea typeface="Montserrat"/>
              <a:cs typeface="Montserrat"/>
              <a:sym typeface="Montserrat"/>
            </a:endParaRPr>
          </a:p>
        </p:txBody>
      </p:sp>
      <p:sp>
        <p:nvSpPr>
          <p:cNvPr id="3372" name="Google Shape;3372;g251d9346719_0_1204"/>
          <p:cNvSpPr/>
          <p:nvPr/>
        </p:nvSpPr>
        <p:spPr>
          <a:xfrm>
            <a:off x="1294951" y="2076219"/>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configuración</a:t>
            </a:r>
            <a:endParaRPr b="0" i="0" sz="400" u="none" cap="none" strike="noStrike">
              <a:solidFill>
                <a:schemeClr val="lt1"/>
              </a:solidFill>
              <a:latin typeface="Montserrat"/>
              <a:ea typeface="Montserrat"/>
              <a:cs typeface="Montserrat"/>
              <a:sym typeface="Montserrat"/>
            </a:endParaRPr>
          </a:p>
        </p:txBody>
      </p:sp>
      <p:sp>
        <p:nvSpPr>
          <p:cNvPr id="3373" name="Google Shape;3373;g251d9346719_0_1204"/>
          <p:cNvSpPr/>
          <p:nvPr/>
        </p:nvSpPr>
        <p:spPr>
          <a:xfrm>
            <a:off x="2078085" y="2543185"/>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Actualizar información</a:t>
            </a:r>
            <a:endParaRPr b="0" i="0" sz="400" u="none" cap="none" strike="noStrike">
              <a:solidFill>
                <a:schemeClr val="lt1"/>
              </a:solidFill>
              <a:latin typeface="Montserrat"/>
              <a:ea typeface="Montserrat"/>
              <a:cs typeface="Montserrat"/>
              <a:sym typeface="Montserrat"/>
            </a:endParaRPr>
          </a:p>
        </p:txBody>
      </p:sp>
      <p:sp>
        <p:nvSpPr>
          <p:cNvPr id="3374" name="Google Shape;3374;g251d9346719_0_1204"/>
          <p:cNvSpPr/>
          <p:nvPr/>
        </p:nvSpPr>
        <p:spPr>
          <a:xfrm>
            <a:off x="2862246" y="2387473"/>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3375" name="Google Shape;3375;g251d9346719_0_1204"/>
          <p:cNvSpPr/>
          <p:nvPr/>
        </p:nvSpPr>
        <p:spPr>
          <a:xfrm>
            <a:off x="2862246" y="192155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Eventos activados por calendario</a:t>
            </a:r>
            <a:endParaRPr b="0" i="0" sz="400" u="none" cap="none" strike="noStrike">
              <a:solidFill>
                <a:schemeClr val="lt1"/>
              </a:solidFill>
              <a:latin typeface="Montserrat"/>
              <a:ea typeface="Montserrat"/>
              <a:cs typeface="Montserrat"/>
              <a:sym typeface="Montserrat"/>
            </a:endParaRPr>
          </a:p>
        </p:txBody>
      </p:sp>
      <p:sp>
        <p:nvSpPr>
          <p:cNvPr id="3376" name="Google Shape;3376;g251d9346719_0_1204"/>
          <p:cNvSpPr/>
          <p:nvPr/>
        </p:nvSpPr>
        <p:spPr>
          <a:xfrm>
            <a:off x="2862246" y="223230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0" i="0" lang="es" sz="400" u="none" cap="none" strike="noStrike">
                <a:solidFill>
                  <a:schemeClr val="lt1"/>
                </a:solidFill>
                <a:latin typeface="Montserrat"/>
                <a:ea typeface="Montserrat"/>
                <a:cs typeface="Montserrat"/>
                <a:sym typeface="Montserrat"/>
              </a:rPr>
              <a:t>Cuentas que generan intereses</a:t>
            </a:r>
            <a:endParaRPr b="0" i="0" sz="400" u="none" cap="none" strike="noStrike">
              <a:solidFill>
                <a:schemeClr val="lt1"/>
              </a:solidFill>
              <a:latin typeface="Montserrat"/>
              <a:ea typeface="Montserrat"/>
              <a:cs typeface="Montserrat"/>
              <a:sym typeface="Montserrat"/>
            </a:endParaRPr>
          </a:p>
        </p:txBody>
      </p:sp>
      <p:sp>
        <p:nvSpPr>
          <p:cNvPr id="3377" name="Google Shape;3377;g251d9346719_0_1204"/>
          <p:cNvSpPr/>
          <p:nvPr/>
        </p:nvSpPr>
        <p:spPr>
          <a:xfrm>
            <a:off x="2862246" y="2076219"/>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tarjeta de débito/ATM</a:t>
            </a:r>
            <a:endParaRPr b="0" i="0" sz="400" u="none" cap="none" strike="noStrike">
              <a:solidFill>
                <a:schemeClr val="lt1"/>
              </a:solidFill>
              <a:latin typeface="Montserrat"/>
              <a:ea typeface="Montserrat"/>
              <a:cs typeface="Montserrat"/>
              <a:sym typeface="Montserrat"/>
            </a:endParaRPr>
          </a:p>
        </p:txBody>
      </p:sp>
      <p:sp>
        <p:nvSpPr>
          <p:cNvPr id="3378" name="Google Shape;3378;g251d9346719_0_1204"/>
          <p:cNvSpPr/>
          <p:nvPr/>
        </p:nvSpPr>
        <p:spPr>
          <a:xfrm>
            <a:off x="1294951" y="2388320"/>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Servicios de pago de facturas en línea</a:t>
            </a:r>
            <a:endParaRPr b="0" i="0" sz="400" u="none" cap="none" strike="noStrike">
              <a:solidFill>
                <a:schemeClr val="lt1"/>
              </a:solidFill>
              <a:latin typeface="Montserrat"/>
              <a:ea typeface="Montserrat"/>
              <a:cs typeface="Montserrat"/>
              <a:sym typeface="Montserrat"/>
            </a:endParaRPr>
          </a:p>
        </p:txBody>
      </p:sp>
      <p:sp>
        <p:nvSpPr>
          <p:cNvPr id="3379" name="Google Shape;3379;g251d9346719_0_1204"/>
          <p:cNvSpPr/>
          <p:nvPr/>
        </p:nvSpPr>
        <p:spPr>
          <a:xfrm>
            <a:off x="2862418" y="3397234"/>
            <a:ext cx="7464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Encuestas/investigación</a:t>
            </a:r>
            <a:endParaRPr b="1" i="0" sz="900" u="none" cap="none" strike="noStrike">
              <a:solidFill>
                <a:schemeClr val="dk1"/>
              </a:solidFill>
              <a:latin typeface="Montserrat"/>
              <a:ea typeface="Montserrat"/>
              <a:cs typeface="Montserrat"/>
              <a:sym typeface="Montserrat"/>
            </a:endParaRPr>
          </a:p>
        </p:txBody>
      </p:sp>
      <p:sp>
        <p:nvSpPr>
          <p:cNvPr id="3380" name="Google Shape;3380;g251d9346719_0_1204"/>
          <p:cNvSpPr/>
          <p:nvPr/>
        </p:nvSpPr>
        <p:spPr>
          <a:xfrm>
            <a:off x="1295455" y="3397234"/>
            <a:ext cx="746400" cy="1431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Gestión de campañas</a:t>
            </a:r>
            <a:endParaRPr b="1" i="0" sz="900" u="none" cap="none" strike="noStrike">
              <a:solidFill>
                <a:schemeClr val="dk1"/>
              </a:solidFill>
              <a:latin typeface="Montserrat"/>
              <a:ea typeface="Montserrat"/>
              <a:cs typeface="Montserrat"/>
              <a:sym typeface="Montserrat"/>
            </a:endParaRPr>
          </a:p>
        </p:txBody>
      </p:sp>
      <p:sp>
        <p:nvSpPr>
          <p:cNvPr id="3381" name="Google Shape;3381;g251d9346719_0_1204"/>
          <p:cNvSpPr/>
          <p:nvPr/>
        </p:nvSpPr>
        <p:spPr>
          <a:xfrm>
            <a:off x="2078085" y="3397234"/>
            <a:ext cx="746400" cy="1431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garantías</a:t>
            </a:r>
            <a:endParaRPr b="0" i="0" sz="900" u="none" cap="none" strike="noStrike">
              <a:solidFill>
                <a:schemeClr val="dk2"/>
              </a:solidFill>
              <a:latin typeface="Montserrat"/>
              <a:ea typeface="Montserrat"/>
              <a:cs typeface="Montserrat"/>
              <a:sym typeface="Montserrat"/>
            </a:endParaRPr>
          </a:p>
        </p:txBody>
      </p:sp>
      <p:sp>
        <p:nvSpPr>
          <p:cNvPr id="3382" name="Google Shape;3382;g251d9346719_0_1204"/>
          <p:cNvSpPr/>
          <p:nvPr/>
        </p:nvSpPr>
        <p:spPr>
          <a:xfrm>
            <a:off x="1292493"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Información de la clase de producto</a:t>
            </a:r>
            <a:endParaRPr b="0" i="0" sz="400" u="none" cap="none" strike="noStrike">
              <a:solidFill>
                <a:schemeClr val="lt1"/>
              </a:solidFill>
              <a:latin typeface="Montserrat"/>
              <a:ea typeface="Montserrat"/>
              <a:cs typeface="Montserrat"/>
              <a:sym typeface="Montserrat"/>
            </a:endParaRPr>
          </a:p>
        </p:txBody>
      </p:sp>
      <p:sp>
        <p:nvSpPr>
          <p:cNvPr id="3383" name="Google Shape;3383;g251d9346719_0_1204"/>
          <p:cNvSpPr/>
          <p:nvPr/>
        </p:nvSpPr>
        <p:spPr>
          <a:xfrm>
            <a:off x="129249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depósito a plazo</a:t>
            </a:r>
            <a:endParaRPr b="0" i="0" sz="400" u="none" cap="none" strike="noStrike">
              <a:solidFill>
                <a:schemeClr val="lt1"/>
              </a:solidFill>
              <a:latin typeface="Montserrat"/>
              <a:ea typeface="Montserrat"/>
              <a:cs typeface="Montserrat"/>
              <a:sym typeface="Montserrat"/>
            </a:endParaRPr>
          </a:p>
        </p:txBody>
      </p:sp>
      <p:sp>
        <p:nvSpPr>
          <p:cNvPr id="3384" name="Google Shape;3384;g251d9346719_0_1204"/>
          <p:cNvSpPr/>
          <p:nvPr/>
        </p:nvSpPr>
        <p:spPr>
          <a:xfrm>
            <a:off x="129249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Corrientes</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t/>
            </a:r>
            <a:endParaRPr b="0" i="0" sz="400" u="none" cap="none" strike="noStrike">
              <a:solidFill>
                <a:schemeClr val="lt1"/>
              </a:solidFill>
              <a:latin typeface="Montserrat"/>
              <a:ea typeface="Montserrat"/>
              <a:cs typeface="Montserrat"/>
              <a:sym typeface="Montserrat"/>
            </a:endParaRPr>
          </a:p>
        </p:txBody>
      </p:sp>
      <p:sp>
        <p:nvSpPr>
          <p:cNvPr id="3385" name="Google Shape;3385;g251d9346719_0_1204"/>
          <p:cNvSpPr/>
          <p:nvPr/>
        </p:nvSpPr>
        <p:spPr>
          <a:xfrm>
            <a:off x="2077643"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jubilación</a:t>
            </a:r>
            <a:endParaRPr b="0" i="0" sz="400" u="none" cap="none" strike="noStrike">
              <a:solidFill>
                <a:schemeClr val="lt1"/>
              </a:solidFill>
              <a:latin typeface="Montserrat"/>
              <a:ea typeface="Montserrat"/>
              <a:cs typeface="Montserrat"/>
              <a:sym typeface="Montserrat"/>
            </a:endParaRPr>
          </a:p>
        </p:txBody>
      </p:sp>
      <p:sp>
        <p:nvSpPr>
          <p:cNvPr id="3386" name="Google Shape;3386;g251d9346719_0_1204"/>
          <p:cNvSpPr/>
          <p:nvPr/>
        </p:nvSpPr>
        <p:spPr>
          <a:xfrm>
            <a:off x="2863234"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Banco privado/</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Servicios patrimoniales</a:t>
            </a:r>
            <a:endParaRPr b="0" i="0" sz="400" u="none" cap="none" strike="noStrike">
              <a:solidFill>
                <a:schemeClr val="lt1"/>
              </a:solidFill>
              <a:latin typeface="Montserrat"/>
              <a:ea typeface="Montserrat"/>
              <a:cs typeface="Montserrat"/>
              <a:sym typeface="Montserrat"/>
            </a:endParaRPr>
          </a:p>
        </p:txBody>
      </p:sp>
      <p:sp>
        <p:nvSpPr>
          <p:cNvPr id="3387" name="Google Shape;3387;g251d9346719_0_1204"/>
          <p:cNvSpPr/>
          <p:nvPr/>
        </p:nvSpPr>
        <p:spPr>
          <a:xfrm>
            <a:off x="2863234" y="141722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ahorro</a:t>
            </a:r>
            <a:endParaRPr b="0" i="0" sz="400" u="none" cap="none" strike="noStrike">
              <a:solidFill>
                <a:schemeClr val="lt1"/>
              </a:solidFill>
              <a:latin typeface="Montserrat"/>
              <a:ea typeface="Montserrat"/>
              <a:cs typeface="Montserrat"/>
              <a:sym typeface="Montserrat"/>
            </a:endParaRPr>
          </a:p>
        </p:txBody>
      </p:sp>
      <p:sp>
        <p:nvSpPr>
          <p:cNvPr id="3388" name="Google Shape;3388;g251d9346719_0_1204"/>
          <p:cNvSpPr/>
          <p:nvPr/>
        </p:nvSpPr>
        <p:spPr>
          <a:xfrm>
            <a:off x="2077643" y="1261152"/>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crédito</a:t>
            </a:r>
            <a:endParaRPr b="0" i="0" sz="400" u="none" cap="none" strike="noStrike">
              <a:solidFill>
                <a:schemeClr val="lt1"/>
              </a:solidFill>
              <a:latin typeface="Montserrat"/>
              <a:ea typeface="Montserrat"/>
              <a:cs typeface="Montserrat"/>
              <a:sym typeface="Montserrat"/>
            </a:endParaRPr>
          </a:p>
        </p:txBody>
      </p:sp>
      <p:sp>
        <p:nvSpPr>
          <p:cNvPr id="3389" name="Google Shape;3389;g251d9346719_0_1204"/>
          <p:cNvSpPr/>
          <p:nvPr/>
        </p:nvSpPr>
        <p:spPr>
          <a:xfrm>
            <a:off x="2077643"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3390" name="Google Shape;3390;g251d9346719_0_1204"/>
          <p:cNvSpPr/>
          <p:nvPr/>
        </p:nvSpPr>
        <p:spPr>
          <a:xfrm>
            <a:off x="2863234" y="1572628"/>
            <a:ext cx="746400" cy="1356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Cuentas de saldo cero</a:t>
            </a:r>
            <a:endParaRPr b="0" i="0" sz="400" u="none" cap="none" strike="noStrike">
              <a:solidFill>
                <a:schemeClr val="lt1"/>
              </a:solidFill>
              <a:latin typeface="Montserrat"/>
              <a:ea typeface="Montserrat"/>
              <a:cs typeface="Montserrat"/>
              <a:sym typeface="Montserrat"/>
            </a:endParaRPr>
          </a:p>
        </p:txBody>
      </p:sp>
      <p:sp>
        <p:nvSpPr>
          <p:cNvPr id="3391" name="Google Shape;3391;g251d9346719_0_1204"/>
          <p:cNvSpPr/>
          <p:nvPr/>
        </p:nvSpPr>
        <p:spPr>
          <a:xfrm>
            <a:off x="7323830"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Caja de seguridad</a:t>
            </a:r>
            <a:endParaRPr b="0" i="0" sz="400" u="none" cap="none" strike="noStrike">
              <a:solidFill>
                <a:schemeClr val="dk2"/>
              </a:solidFill>
              <a:latin typeface="Montserrat"/>
              <a:ea typeface="Montserrat"/>
              <a:cs typeface="Montserrat"/>
              <a:sym typeface="Montserrat"/>
            </a:endParaRPr>
          </a:p>
        </p:txBody>
      </p:sp>
      <p:sp>
        <p:nvSpPr>
          <p:cNvPr id="3392" name="Google Shape;3392;g251d9346719_0_1204"/>
          <p:cNvSpPr/>
          <p:nvPr/>
        </p:nvSpPr>
        <p:spPr>
          <a:xfrm>
            <a:off x="8081185"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Cheque de caja/</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Giros postales</a:t>
            </a:r>
            <a:endParaRPr b="0" i="0" sz="400" u="none" cap="none" strike="noStrike">
              <a:solidFill>
                <a:schemeClr val="lt1"/>
              </a:solidFill>
              <a:latin typeface="Montserrat"/>
              <a:ea typeface="Montserrat"/>
              <a:cs typeface="Montserrat"/>
              <a:sym typeface="Montserrat"/>
            </a:endParaRPr>
          </a:p>
        </p:txBody>
      </p:sp>
      <p:sp>
        <p:nvSpPr>
          <p:cNvPr id="3393" name="Google Shape;3393;g251d9346719_0_1204"/>
          <p:cNvSpPr/>
          <p:nvPr/>
        </p:nvSpPr>
        <p:spPr>
          <a:xfrm>
            <a:off x="8081185" y="141700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Sobregiro</a:t>
            </a:r>
            <a:endParaRPr b="0" i="0" sz="400" u="none" cap="none" strike="noStrike">
              <a:solidFill>
                <a:schemeClr val="lt1"/>
              </a:solidFill>
              <a:latin typeface="Montserrat"/>
              <a:ea typeface="Montserrat"/>
              <a:cs typeface="Montserrat"/>
              <a:sym typeface="Montserrat"/>
            </a:endParaRPr>
          </a:p>
        </p:txBody>
      </p:sp>
      <p:sp>
        <p:nvSpPr>
          <p:cNvPr id="3394" name="Google Shape;3394;g251d9346719_0_1204"/>
          <p:cNvSpPr/>
          <p:nvPr/>
        </p:nvSpPr>
        <p:spPr>
          <a:xfrm>
            <a:off x="6567651" y="1572459"/>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Servicios de pago</a:t>
            </a:r>
            <a:endParaRPr b="1" i="0" sz="400" u="none" cap="none" strike="noStrike">
              <a:solidFill>
                <a:schemeClr val="lt1"/>
              </a:solidFill>
              <a:latin typeface="Montserrat"/>
              <a:ea typeface="Montserrat"/>
              <a:cs typeface="Montserrat"/>
              <a:sym typeface="Montserrat"/>
            </a:endParaRPr>
          </a:p>
        </p:txBody>
      </p:sp>
      <p:sp>
        <p:nvSpPr>
          <p:cNvPr id="3395" name="Google Shape;3395;g251d9346719_0_1204"/>
          <p:cNvSpPr/>
          <p:nvPr/>
        </p:nvSpPr>
        <p:spPr>
          <a:xfrm>
            <a:off x="7323830" y="1417004"/>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Servicios básicos de gestión</a:t>
            </a:r>
            <a:endParaRPr b="1" i="0" sz="400" u="none" cap="none" strike="noStrike">
              <a:solidFill>
                <a:srgbClr val="171717"/>
              </a:solidFill>
              <a:latin typeface="Montserrat"/>
              <a:ea typeface="Montserrat"/>
              <a:cs typeface="Montserrat"/>
              <a:sym typeface="Montserrat"/>
            </a:endParaRPr>
          </a:p>
        </p:txBody>
      </p:sp>
      <p:sp>
        <p:nvSpPr>
          <p:cNvPr id="3396" name="Google Shape;3396;g251d9346719_0_1204"/>
          <p:cNvSpPr/>
          <p:nvPr/>
        </p:nvSpPr>
        <p:spPr>
          <a:xfrm>
            <a:off x="6567651" y="126164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Análisis de cuentas</a:t>
            </a:r>
            <a:endParaRPr b="1" i="0" sz="400" u="none" cap="none" strike="noStrike">
              <a:solidFill>
                <a:schemeClr val="dk1"/>
              </a:solidFill>
              <a:latin typeface="Montserrat"/>
              <a:ea typeface="Montserrat"/>
              <a:cs typeface="Montserrat"/>
              <a:sym typeface="Montserrat"/>
            </a:endParaRPr>
          </a:p>
        </p:txBody>
      </p:sp>
      <p:sp>
        <p:nvSpPr>
          <p:cNvPr id="3397" name="Google Shape;3397;g251d9346719_0_1204"/>
          <p:cNvSpPr/>
          <p:nvPr/>
        </p:nvSpPr>
        <p:spPr>
          <a:xfrm>
            <a:off x="8081185" y="1572459"/>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Gestión de Fideicomisos</a:t>
            </a:r>
            <a:endParaRPr b="0" i="0" sz="400" u="none" cap="none" strike="noStrike">
              <a:solidFill>
                <a:schemeClr val="dk2"/>
              </a:solidFill>
              <a:latin typeface="Montserrat"/>
              <a:ea typeface="Montserrat"/>
              <a:cs typeface="Montserrat"/>
              <a:sym typeface="Montserrat"/>
            </a:endParaRPr>
          </a:p>
        </p:txBody>
      </p:sp>
      <p:sp>
        <p:nvSpPr>
          <p:cNvPr id="3398" name="Google Shape;3398;g251d9346719_0_1204"/>
          <p:cNvSpPr/>
          <p:nvPr/>
        </p:nvSpPr>
        <p:spPr>
          <a:xfrm>
            <a:off x="7323830" y="126164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400"/>
              <a:buFont typeface="Arial"/>
              <a:buNone/>
            </a:pPr>
            <a:r>
              <a:rPr b="0" i="0" lang="es" sz="400" u="none" cap="none" strike="noStrike">
                <a:solidFill>
                  <a:schemeClr val="lt1"/>
                </a:solidFill>
                <a:latin typeface="Montserrat"/>
                <a:ea typeface="Montserrat"/>
                <a:cs typeface="Montserrat"/>
                <a:sym typeface="Montserrat"/>
              </a:rPr>
              <a:t>Retiro de Efectivo</a:t>
            </a:r>
            <a:endParaRPr b="0" i="0" sz="900" u="none" cap="none" strike="noStrike">
              <a:solidFill>
                <a:schemeClr val="lt1"/>
              </a:solidFill>
              <a:latin typeface="Montserrat"/>
              <a:ea typeface="Montserrat"/>
              <a:cs typeface="Montserrat"/>
              <a:sym typeface="Montserrat"/>
            </a:endParaRPr>
          </a:p>
        </p:txBody>
      </p:sp>
      <p:sp>
        <p:nvSpPr>
          <p:cNvPr id="3399" name="Google Shape;3399;g251d9346719_0_1204"/>
          <p:cNvSpPr/>
          <p:nvPr/>
        </p:nvSpPr>
        <p:spPr>
          <a:xfrm>
            <a:off x="6567651" y="141700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Servicios comerciales</a:t>
            </a:r>
            <a:endParaRPr b="1" i="0" sz="400" u="none" cap="none" strike="noStrike">
              <a:solidFill>
                <a:schemeClr val="dk1"/>
              </a:solidFill>
              <a:latin typeface="Montserrat"/>
              <a:ea typeface="Montserrat"/>
              <a:cs typeface="Montserrat"/>
              <a:sym typeface="Montserrat"/>
            </a:endParaRPr>
          </a:p>
        </p:txBody>
      </p:sp>
      <p:sp>
        <p:nvSpPr>
          <p:cNvPr id="3400" name="Google Shape;3400;g251d9346719_0_1204"/>
          <p:cNvSpPr/>
          <p:nvPr/>
        </p:nvSpPr>
        <p:spPr>
          <a:xfrm>
            <a:off x="8082270" y="2890402"/>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Capacidades del estado de cuenta</a:t>
            </a:r>
            <a:endParaRPr b="1" i="0" sz="400" u="none" cap="none" strike="noStrike">
              <a:solidFill>
                <a:srgbClr val="171717"/>
              </a:solidFill>
              <a:latin typeface="Montserrat"/>
              <a:ea typeface="Montserrat"/>
              <a:cs typeface="Montserrat"/>
              <a:sym typeface="Montserrat"/>
            </a:endParaRPr>
          </a:p>
        </p:txBody>
      </p:sp>
      <p:sp>
        <p:nvSpPr>
          <p:cNvPr id="3401" name="Google Shape;3401;g251d9346719_0_1204"/>
          <p:cNvSpPr/>
          <p:nvPr/>
        </p:nvSpPr>
        <p:spPr>
          <a:xfrm>
            <a:off x="7323289" y="2890402"/>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350"/>
              <a:buFont typeface="Arial"/>
              <a:buNone/>
            </a:pPr>
            <a:r>
              <a:rPr b="1" i="0" lang="es" sz="350" u="none" cap="none" strike="noStrike">
                <a:solidFill>
                  <a:srgbClr val="171717"/>
                </a:solidFill>
                <a:latin typeface="Montserrat"/>
                <a:ea typeface="Montserrat"/>
                <a:cs typeface="Montserrat"/>
                <a:sym typeface="Montserrat"/>
              </a:rPr>
              <a:t>Archivo de estado de cuenta/</a:t>
            </a:r>
            <a:br>
              <a:rPr b="1" i="0" lang="es" sz="350" u="none" cap="none" strike="noStrike">
                <a:solidFill>
                  <a:srgbClr val="171717"/>
                </a:solidFill>
                <a:latin typeface="Montserrat"/>
                <a:ea typeface="Montserrat"/>
                <a:cs typeface="Montserrat"/>
                <a:sym typeface="Montserrat"/>
              </a:rPr>
            </a:br>
            <a:r>
              <a:rPr b="1" i="0" lang="es" sz="350" u="none" cap="none" strike="noStrike">
                <a:solidFill>
                  <a:srgbClr val="171717"/>
                </a:solidFill>
                <a:latin typeface="Montserrat"/>
                <a:ea typeface="Montserrat"/>
                <a:cs typeface="Montserrat"/>
                <a:sym typeface="Montserrat"/>
              </a:rPr>
              <a:t>Seguimiento histórico</a:t>
            </a:r>
            <a:endParaRPr b="1" i="0" sz="350" u="none" cap="none" strike="noStrike">
              <a:solidFill>
                <a:srgbClr val="171717"/>
              </a:solidFill>
              <a:latin typeface="Montserrat"/>
              <a:ea typeface="Montserrat"/>
              <a:cs typeface="Montserrat"/>
              <a:sym typeface="Montserrat"/>
            </a:endParaRPr>
          </a:p>
        </p:txBody>
      </p:sp>
      <p:sp>
        <p:nvSpPr>
          <p:cNvPr id="3402" name="Google Shape;3402;g251d9346719_0_1204"/>
          <p:cNvSpPr/>
          <p:nvPr/>
        </p:nvSpPr>
        <p:spPr>
          <a:xfrm>
            <a:off x="7323289" y="3067787"/>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Generación del estado de cuenta</a:t>
            </a:r>
            <a:endParaRPr b="1" i="0" sz="400" u="none" cap="none" strike="noStrike">
              <a:solidFill>
                <a:srgbClr val="171717"/>
              </a:solidFill>
              <a:latin typeface="Montserrat"/>
              <a:ea typeface="Montserrat"/>
              <a:cs typeface="Montserrat"/>
              <a:sym typeface="Montserrat"/>
            </a:endParaRPr>
          </a:p>
        </p:txBody>
      </p:sp>
      <p:sp>
        <p:nvSpPr>
          <p:cNvPr id="3403" name="Google Shape;3403;g251d9346719_0_1204"/>
          <p:cNvSpPr/>
          <p:nvPr/>
        </p:nvSpPr>
        <p:spPr>
          <a:xfrm>
            <a:off x="6568479" y="3067787"/>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Definición del estado de cuenta</a:t>
            </a:r>
            <a:endParaRPr b="1" i="0" sz="400" u="none" cap="none" strike="noStrike">
              <a:solidFill>
                <a:srgbClr val="171717"/>
              </a:solidFill>
              <a:latin typeface="Montserrat"/>
              <a:ea typeface="Montserrat"/>
              <a:cs typeface="Montserrat"/>
              <a:sym typeface="Montserrat"/>
            </a:endParaRPr>
          </a:p>
        </p:txBody>
      </p:sp>
      <p:sp>
        <p:nvSpPr>
          <p:cNvPr id="3404" name="Google Shape;3404;g251d9346719_0_1204"/>
          <p:cNvSpPr/>
          <p:nvPr/>
        </p:nvSpPr>
        <p:spPr>
          <a:xfrm>
            <a:off x="6568479" y="2890402"/>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Generación de estados de cuenta en línea</a:t>
            </a:r>
            <a:endParaRPr b="1" i="0" sz="400" u="none" cap="none" strike="noStrike">
              <a:solidFill>
                <a:srgbClr val="171717"/>
              </a:solidFill>
              <a:latin typeface="Montserrat"/>
              <a:ea typeface="Montserrat"/>
              <a:cs typeface="Montserrat"/>
              <a:sym typeface="Montserrat"/>
            </a:endParaRPr>
          </a:p>
        </p:txBody>
      </p:sp>
      <p:sp>
        <p:nvSpPr>
          <p:cNvPr id="3405" name="Google Shape;3405;g251d9346719_0_1204"/>
          <p:cNvSpPr/>
          <p:nvPr/>
        </p:nvSpPr>
        <p:spPr>
          <a:xfrm>
            <a:off x="8077267" y="2384287"/>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Originaciones de procesos</a:t>
            </a:r>
            <a:endParaRPr b="1" i="0" sz="400" u="none" cap="none" strike="noStrike">
              <a:solidFill>
                <a:schemeClr val="dk1"/>
              </a:solidFill>
              <a:latin typeface="Montserrat"/>
              <a:ea typeface="Montserrat"/>
              <a:cs typeface="Montserrat"/>
              <a:sym typeface="Montserrat"/>
            </a:endParaRPr>
          </a:p>
        </p:txBody>
      </p:sp>
      <p:sp>
        <p:nvSpPr>
          <p:cNvPr id="3406" name="Google Shape;3406;g251d9346719_0_1204"/>
          <p:cNvSpPr/>
          <p:nvPr/>
        </p:nvSpPr>
        <p:spPr>
          <a:xfrm>
            <a:off x="6562648" y="2073173"/>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Fin del día y BATCH</a:t>
            </a:r>
            <a:endParaRPr b="1" i="0" sz="400" u="none" cap="none" strike="noStrike">
              <a:solidFill>
                <a:srgbClr val="171717"/>
              </a:solidFill>
              <a:latin typeface="Montserrat"/>
              <a:ea typeface="Montserrat"/>
              <a:cs typeface="Montserrat"/>
              <a:sym typeface="Montserrat"/>
            </a:endParaRPr>
          </a:p>
        </p:txBody>
      </p:sp>
      <p:sp>
        <p:nvSpPr>
          <p:cNvPr id="3407" name="Google Shape;3407;g251d9346719_0_1204"/>
          <p:cNvSpPr/>
          <p:nvPr/>
        </p:nvSpPr>
        <p:spPr>
          <a:xfrm>
            <a:off x="6562648" y="2228228"/>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Cierre Contable</a:t>
            </a:r>
            <a:endParaRPr b="1" i="0" sz="900" u="none" cap="none" strike="noStrike">
              <a:solidFill>
                <a:srgbClr val="171717"/>
              </a:solidFill>
              <a:latin typeface="Montserrat"/>
              <a:ea typeface="Montserrat"/>
              <a:cs typeface="Montserrat"/>
              <a:sym typeface="Montserrat"/>
            </a:endParaRPr>
          </a:p>
        </p:txBody>
      </p:sp>
      <p:sp>
        <p:nvSpPr>
          <p:cNvPr id="3408" name="Google Shape;3408;g251d9346719_0_1204"/>
          <p:cNvSpPr/>
          <p:nvPr/>
        </p:nvSpPr>
        <p:spPr>
          <a:xfrm>
            <a:off x="8077267" y="2541324"/>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Proceso de transferencia</a:t>
            </a:r>
            <a:endParaRPr b="1" i="0" sz="400" u="none" cap="none" strike="noStrike">
              <a:solidFill>
                <a:srgbClr val="171717"/>
              </a:solidFill>
              <a:latin typeface="Montserrat"/>
              <a:ea typeface="Montserrat"/>
              <a:cs typeface="Montserrat"/>
              <a:sym typeface="Montserrat"/>
            </a:endParaRPr>
          </a:p>
        </p:txBody>
      </p:sp>
      <p:sp>
        <p:nvSpPr>
          <p:cNvPr id="3409" name="Google Shape;3409;g251d9346719_0_1204"/>
          <p:cNvSpPr/>
          <p:nvPr/>
        </p:nvSpPr>
        <p:spPr>
          <a:xfrm>
            <a:off x="7319255" y="2228228"/>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Planificación y preparación</a:t>
            </a:r>
            <a:endParaRPr b="1" i="0" sz="400" u="none" cap="none" strike="noStrike">
              <a:solidFill>
                <a:srgbClr val="171717"/>
              </a:solidFill>
              <a:latin typeface="Montserrat"/>
              <a:ea typeface="Montserrat"/>
              <a:cs typeface="Montserrat"/>
              <a:sym typeface="Montserrat"/>
            </a:endParaRPr>
          </a:p>
        </p:txBody>
      </p:sp>
      <p:sp>
        <p:nvSpPr>
          <p:cNvPr id="3410" name="Google Shape;3410;g251d9346719_0_1204"/>
          <p:cNvSpPr/>
          <p:nvPr/>
        </p:nvSpPr>
        <p:spPr>
          <a:xfrm>
            <a:off x="7319255"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Procesamiento de cheques</a:t>
            </a:r>
            <a:endParaRPr b="0" i="0" sz="900" u="none" cap="none" strike="noStrike">
              <a:solidFill>
                <a:schemeClr val="lt1"/>
              </a:solidFill>
              <a:latin typeface="Montserrat"/>
              <a:ea typeface="Montserrat"/>
              <a:cs typeface="Montserrat"/>
              <a:sym typeface="Montserrat"/>
            </a:endParaRPr>
          </a:p>
        </p:txBody>
      </p:sp>
      <p:sp>
        <p:nvSpPr>
          <p:cNvPr id="3411" name="Google Shape;3411;g251d9346719_0_1204"/>
          <p:cNvSpPr/>
          <p:nvPr/>
        </p:nvSpPr>
        <p:spPr>
          <a:xfrm>
            <a:off x="8076183" y="1918105"/>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Proceso del día 1 y día 2</a:t>
            </a:r>
            <a:endParaRPr b="1" i="0" sz="400" u="none" cap="none" strike="noStrike">
              <a:solidFill>
                <a:srgbClr val="171717"/>
              </a:solidFill>
              <a:latin typeface="Montserrat"/>
              <a:ea typeface="Montserrat"/>
              <a:cs typeface="Montserrat"/>
              <a:sym typeface="Montserrat"/>
            </a:endParaRPr>
          </a:p>
        </p:txBody>
      </p:sp>
      <p:sp>
        <p:nvSpPr>
          <p:cNvPr id="3412" name="Google Shape;3412;g251d9346719_0_1204"/>
          <p:cNvSpPr/>
          <p:nvPr/>
        </p:nvSpPr>
        <p:spPr>
          <a:xfrm>
            <a:off x="8076183" y="2228228"/>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Procesar transacciones de depósito</a:t>
            </a:r>
            <a:endParaRPr b="1" i="0" sz="400" u="none" cap="none" strike="noStrike">
              <a:solidFill>
                <a:srgbClr val="171717"/>
              </a:solidFill>
              <a:latin typeface="Montserrat"/>
              <a:ea typeface="Montserrat"/>
              <a:cs typeface="Montserrat"/>
              <a:sym typeface="Montserrat"/>
            </a:endParaRPr>
          </a:p>
        </p:txBody>
      </p:sp>
      <p:sp>
        <p:nvSpPr>
          <p:cNvPr id="3413" name="Google Shape;3413;g251d9346719_0_1204"/>
          <p:cNvSpPr/>
          <p:nvPr/>
        </p:nvSpPr>
        <p:spPr>
          <a:xfrm>
            <a:off x="6563476" y="2384287"/>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Procesar transacciones electrónicas</a:t>
            </a:r>
            <a:endParaRPr b="1" i="0" sz="400" u="none" cap="none" strike="noStrike">
              <a:solidFill>
                <a:srgbClr val="171717"/>
              </a:solidFill>
              <a:latin typeface="Montserrat"/>
              <a:ea typeface="Montserrat"/>
              <a:cs typeface="Montserrat"/>
              <a:sym typeface="Montserrat"/>
            </a:endParaRPr>
          </a:p>
        </p:txBody>
      </p:sp>
      <p:sp>
        <p:nvSpPr>
          <p:cNvPr id="3414" name="Google Shape;3414;g251d9346719_0_1204"/>
          <p:cNvSpPr/>
          <p:nvPr/>
        </p:nvSpPr>
        <p:spPr>
          <a:xfrm>
            <a:off x="7319255"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Banca transaccional</a:t>
            </a:r>
            <a:endParaRPr b="0" i="0" sz="400" u="none" cap="none" strike="noStrike">
              <a:solidFill>
                <a:schemeClr val="lt1"/>
              </a:solidFill>
              <a:latin typeface="Montserrat"/>
              <a:ea typeface="Montserrat"/>
              <a:cs typeface="Montserrat"/>
              <a:sym typeface="Montserrat"/>
            </a:endParaRPr>
          </a:p>
        </p:txBody>
      </p:sp>
      <p:sp>
        <p:nvSpPr>
          <p:cNvPr id="3415" name="Google Shape;3415;g251d9346719_0_1204"/>
          <p:cNvSpPr/>
          <p:nvPr/>
        </p:nvSpPr>
        <p:spPr>
          <a:xfrm>
            <a:off x="7319255" y="2073173"/>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Camara de Compensación</a:t>
            </a:r>
            <a:endParaRPr b="0" i="0" sz="400" u="none" cap="none" strike="noStrike">
              <a:solidFill>
                <a:schemeClr val="lt1"/>
              </a:solidFill>
              <a:latin typeface="Montserrat"/>
              <a:ea typeface="Montserrat"/>
              <a:cs typeface="Montserrat"/>
              <a:sym typeface="Montserrat"/>
            </a:endParaRPr>
          </a:p>
        </p:txBody>
      </p:sp>
      <p:sp>
        <p:nvSpPr>
          <p:cNvPr id="3416" name="Google Shape;3416;g251d9346719_0_1204"/>
          <p:cNvSpPr/>
          <p:nvPr/>
        </p:nvSpPr>
        <p:spPr>
          <a:xfrm>
            <a:off x="8076183" y="2073173"/>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Procesamiento de pagos</a:t>
            </a:r>
            <a:endParaRPr b="0" i="0" sz="400" u="none" cap="none" strike="noStrike">
              <a:solidFill>
                <a:schemeClr val="dk2"/>
              </a:solidFill>
              <a:latin typeface="Montserrat"/>
              <a:ea typeface="Montserrat"/>
              <a:cs typeface="Montserrat"/>
              <a:sym typeface="Montserrat"/>
            </a:endParaRPr>
          </a:p>
        </p:txBody>
      </p:sp>
      <p:sp>
        <p:nvSpPr>
          <p:cNvPr id="3417" name="Google Shape;3417;g251d9346719_0_1204"/>
          <p:cNvSpPr/>
          <p:nvPr/>
        </p:nvSpPr>
        <p:spPr>
          <a:xfrm>
            <a:off x="7319255" y="2384287"/>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Procesar transacciones de cuentas de préstamo</a:t>
            </a:r>
            <a:endParaRPr b="1" i="0" sz="400" u="none" cap="none" strike="noStrike">
              <a:solidFill>
                <a:srgbClr val="171717"/>
              </a:solidFill>
              <a:latin typeface="Montserrat"/>
              <a:ea typeface="Montserrat"/>
              <a:cs typeface="Montserrat"/>
              <a:sym typeface="Montserrat"/>
            </a:endParaRPr>
          </a:p>
        </p:txBody>
      </p:sp>
      <p:sp>
        <p:nvSpPr>
          <p:cNvPr id="3418" name="Google Shape;3418;g251d9346719_0_1204"/>
          <p:cNvSpPr/>
          <p:nvPr/>
        </p:nvSpPr>
        <p:spPr>
          <a:xfrm>
            <a:off x="6562648" y="1918105"/>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Facturación</a:t>
            </a:r>
            <a:endParaRPr b="1" i="0" sz="400" u="none" cap="none" strike="noStrike">
              <a:solidFill>
                <a:schemeClr val="lt1"/>
              </a:solidFill>
              <a:latin typeface="Montserrat"/>
              <a:ea typeface="Montserrat"/>
              <a:cs typeface="Montserrat"/>
              <a:sym typeface="Montserrat"/>
            </a:endParaRPr>
          </a:p>
        </p:txBody>
      </p:sp>
      <p:sp>
        <p:nvSpPr>
          <p:cNvPr id="3419" name="Google Shape;3419;g251d9346719_0_1204"/>
          <p:cNvSpPr/>
          <p:nvPr/>
        </p:nvSpPr>
        <p:spPr>
          <a:xfrm>
            <a:off x="6563476" y="2541324"/>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lt1"/>
                </a:solidFill>
                <a:latin typeface="Montserrat"/>
                <a:ea typeface="Montserrat"/>
                <a:cs typeface="Montserrat"/>
                <a:sym typeface="Montserrat"/>
              </a:rPr>
              <a:t>Pagos en tiempo real</a:t>
            </a:r>
            <a:br>
              <a:rPr b="1" i="0" lang="es" sz="400" u="none" cap="none" strike="noStrike">
                <a:solidFill>
                  <a:schemeClr val="lt1"/>
                </a:solidFill>
                <a:latin typeface="Montserrat"/>
                <a:ea typeface="Montserrat"/>
                <a:cs typeface="Montserrat"/>
                <a:sym typeface="Montserrat"/>
              </a:rPr>
            </a:br>
            <a:r>
              <a:rPr b="1" i="0" lang="es" sz="400" u="none" cap="none" strike="noStrike">
                <a:solidFill>
                  <a:schemeClr val="lt1"/>
                </a:solidFill>
                <a:latin typeface="Montserrat"/>
                <a:ea typeface="Montserrat"/>
                <a:cs typeface="Montserrat"/>
                <a:sym typeface="Montserrat"/>
              </a:rPr>
              <a:t>Tratamiento</a:t>
            </a:r>
            <a:endParaRPr b="1" i="0" sz="400" u="none" cap="none" strike="noStrike">
              <a:solidFill>
                <a:schemeClr val="lt1"/>
              </a:solidFill>
              <a:latin typeface="Montserrat"/>
              <a:ea typeface="Montserrat"/>
              <a:cs typeface="Montserrat"/>
              <a:sym typeface="Montserrat"/>
            </a:endParaRPr>
          </a:p>
        </p:txBody>
      </p:sp>
      <p:sp>
        <p:nvSpPr>
          <p:cNvPr id="3420" name="Google Shape;3420;g251d9346719_0_1204"/>
          <p:cNvSpPr/>
          <p:nvPr/>
        </p:nvSpPr>
        <p:spPr>
          <a:xfrm>
            <a:off x="4843050" y="1262320"/>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Contacto personal</a:t>
            </a:r>
            <a:endParaRPr b="1" i="0" sz="900" u="none" cap="none" strike="noStrike">
              <a:solidFill>
                <a:schemeClr val="dk1"/>
              </a:solidFill>
              <a:latin typeface="Montserrat"/>
              <a:ea typeface="Montserrat"/>
              <a:cs typeface="Montserrat"/>
              <a:sym typeface="Montserrat"/>
            </a:endParaRPr>
          </a:p>
        </p:txBody>
      </p:sp>
      <p:sp>
        <p:nvSpPr>
          <p:cNvPr id="3421" name="Google Shape;3421;g251d9346719_0_1204"/>
          <p:cNvSpPr/>
          <p:nvPr/>
        </p:nvSpPr>
        <p:spPr>
          <a:xfrm>
            <a:off x="5603670" y="1261642"/>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Entidad</a:t>
            </a:r>
            <a:endParaRPr b="1" i="0" sz="400" u="none" cap="none" strike="noStrike">
              <a:solidFill>
                <a:schemeClr val="dk1"/>
              </a:solidFill>
              <a:latin typeface="Montserrat"/>
              <a:ea typeface="Montserrat"/>
              <a:cs typeface="Montserrat"/>
              <a:sym typeface="Montserrat"/>
            </a:endParaRPr>
          </a:p>
        </p:txBody>
      </p:sp>
      <p:sp>
        <p:nvSpPr>
          <p:cNvPr id="3422" name="Google Shape;3422;g251d9346719_0_1204"/>
          <p:cNvSpPr/>
          <p:nvPr/>
        </p:nvSpPr>
        <p:spPr>
          <a:xfrm>
            <a:off x="5603670" y="141700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Relación</a:t>
            </a:r>
            <a:endParaRPr b="1" i="0" sz="400" u="none" cap="none" strike="noStrike">
              <a:solidFill>
                <a:schemeClr val="dk1"/>
              </a:solidFill>
              <a:latin typeface="Montserrat"/>
              <a:ea typeface="Montserrat"/>
              <a:cs typeface="Montserrat"/>
              <a:sym typeface="Montserrat"/>
            </a:endParaRPr>
          </a:p>
        </p:txBody>
      </p:sp>
      <p:sp>
        <p:nvSpPr>
          <p:cNvPr id="3423" name="Google Shape;3423;g251d9346719_0_1204"/>
          <p:cNvSpPr/>
          <p:nvPr/>
        </p:nvSpPr>
        <p:spPr>
          <a:xfrm>
            <a:off x="4843050" y="157262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Seguridad personal</a:t>
            </a:r>
            <a:endParaRPr b="1" i="0" sz="900" u="none" cap="none" strike="noStrike">
              <a:solidFill>
                <a:schemeClr val="dk1"/>
              </a:solidFill>
              <a:latin typeface="Montserrat"/>
              <a:ea typeface="Montserrat"/>
              <a:cs typeface="Montserrat"/>
              <a:sym typeface="Montserrat"/>
            </a:endParaRPr>
          </a:p>
        </p:txBody>
      </p:sp>
      <p:sp>
        <p:nvSpPr>
          <p:cNvPr id="3424" name="Google Shape;3424;g251d9346719_0_1204"/>
          <p:cNvSpPr/>
          <p:nvPr/>
        </p:nvSpPr>
        <p:spPr>
          <a:xfrm>
            <a:off x="4843050" y="1417254"/>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Preferencias personal</a:t>
            </a:r>
            <a:endParaRPr b="1" i="0" sz="900" u="none" cap="none" strike="noStrike">
              <a:solidFill>
                <a:schemeClr val="dk1"/>
              </a:solidFill>
              <a:latin typeface="Montserrat"/>
              <a:ea typeface="Montserrat"/>
              <a:cs typeface="Montserrat"/>
              <a:sym typeface="Montserrat"/>
            </a:endParaRPr>
          </a:p>
        </p:txBody>
      </p:sp>
      <p:sp>
        <p:nvSpPr>
          <p:cNvPr id="3425" name="Google Shape;3425;g251d9346719_0_1204"/>
          <p:cNvSpPr/>
          <p:nvPr/>
        </p:nvSpPr>
        <p:spPr>
          <a:xfrm>
            <a:off x="5603670" y="1572459"/>
            <a:ext cx="720900" cy="1284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Perfil de riesgo de la persona</a:t>
            </a:r>
            <a:endParaRPr b="1" i="0" sz="400" u="none" cap="none" strike="noStrike">
              <a:solidFill>
                <a:schemeClr val="dk1"/>
              </a:solidFill>
              <a:latin typeface="Montserrat"/>
              <a:ea typeface="Montserrat"/>
              <a:cs typeface="Montserrat"/>
              <a:sym typeface="Montserrat"/>
            </a:endParaRPr>
          </a:p>
        </p:txBody>
      </p:sp>
      <p:sp>
        <p:nvSpPr>
          <p:cNvPr id="3426" name="Google Shape;3426;g251d9346719_0_1204"/>
          <p:cNvSpPr/>
          <p:nvPr/>
        </p:nvSpPr>
        <p:spPr>
          <a:xfrm>
            <a:off x="4843050" y="2792041"/>
            <a:ext cx="720900" cy="128400"/>
          </a:xfrm>
          <a:prstGeom prst="roundRect">
            <a:avLst>
              <a:gd fmla="val 5041" name="adj"/>
            </a:avLst>
          </a:prstGeom>
          <a:solidFill>
            <a:srgbClr val="3DB9E5"/>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chemeClr val="dk1"/>
                </a:solidFill>
                <a:latin typeface="Montserrat"/>
                <a:ea typeface="Montserrat"/>
                <a:cs typeface="Montserrat"/>
                <a:sym typeface="Montserrat"/>
              </a:rPr>
              <a:t>Data warehouse</a:t>
            </a:r>
            <a:endParaRPr b="1" i="0" sz="900" u="none" cap="none" strike="noStrike">
              <a:solidFill>
                <a:schemeClr val="dk1"/>
              </a:solidFill>
              <a:latin typeface="Montserrat"/>
              <a:ea typeface="Montserrat"/>
              <a:cs typeface="Montserrat"/>
              <a:sym typeface="Montserrat"/>
            </a:endParaRPr>
          </a:p>
        </p:txBody>
      </p:sp>
      <p:sp>
        <p:nvSpPr>
          <p:cNvPr id="3427" name="Google Shape;3427;g251d9346719_0_1204"/>
          <p:cNvSpPr/>
          <p:nvPr/>
        </p:nvSpPr>
        <p:spPr>
          <a:xfrm>
            <a:off x="5603670" y="2636889"/>
            <a:ext cx="720900" cy="128400"/>
          </a:xfrm>
          <a:prstGeom prst="roundRect">
            <a:avLst>
              <a:gd fmla="val 5041" name="adj"/>
            </a:avLst>
          </a:prstGeom>
          <a:solidFill>
            <a:srgbClr val="3DB9E5"/>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Archivo de información del cliente</a:t>
            </a:r>
            <a:endParaRPr b="1" i="0" sz="400" u="none" cap="none" strike="noStrike">
              <a:solidFill>
                <a:schemeClr val="dk1"/>
              </a:solidFill>
              <a:latin typeface="Montserrat"/>
              <a:ea typeface="Montserrat"/>
              <a:cs typeface="Montserrat"/>
              <a:sym typeface="Montserrat"/>
            </a:endParaRPr>
          </a:p>
        </p:txBody>
      </p:sp>
      <p:sp>
        <p:nvSpPr>
          <p:cNvPr id="3428" name="Google Shape;3428;g251d9346719_0_1204"/>
          <p:cNvSpPr/>
          <p:nvPr/>
        </p:nvSpPr>
        <p:spPr>
          <a:xfrm>
            <a:off x="4843050" y="2636889"/>
            <a:ext cx="720900" cy="128400"/>
          </a:xfrm>
          <a:prstGeom prst="roundRect">
            <a:avLst>
              <a:gd fmla="val 5041" name="adj"/>
            </a:avLst>
          </a:prstGeom>
          <a:solidFill>
            <a:srgbClr val="3DB9E5"/>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chemeClr val="dk1"/>
                </a:solidFill>
                <a:latin typeface="Montserrat"/>
                <a:ea typeface="Montserrat"/>
                <a:cs typeface="Montserrat"/>
                <a:sym typeface="Montserrat"/>
              </a:rPr>
              <a:t>Analítica</a:t>
            </a:r>
            <a:endParaRPr b="1" i="0" sz="900" u="none" cap="none" strike="noStrike">
              <a:solidFill>
                <a:schemeClr val="dk1"/>
              </a:solidFill>
              <a:latin typeface="Montserrat"/>
              <a:ea typeface="Montserrat"/>
              <a:cs typeface="Montserrat"/>
              <a:sym typeface="Montserrat"/>
            </a:endParaRPr>
          </a:p>
        </p:txBody>
      </p:sp>
      <p:sp>
        <p:nvSpPr>
          <p:cNvPr id="3429" name="Google Shape;3429;g251d9346719_0_1204"/>
          <p:cNvSpPr/>
          <p:nvPr/>
        </p:nvSpPr>
        <p:spPr>
          <a:xfrm>
            <a:off x="5603670" y="2792041"/>
            <a:ext cx="720900" cy="128400"/>
          </a:xfrm>
          <a:prstGeom prst="roundRect">
            <a:avLst>
              <a:gd fmla="val 5041" name="adj"/>
            </a:avLst>
          </a:prstGeom>
          <a:solidFill>
            <a:srgbClr val="3DB9E5"/>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chemeClr val="dk1"/>
                </a:solidFill>
                <a:latin typeface="Montserrat"/>
                <a:ea typeface="Montserrat"/>
                <a:cs typeface="Montserrat"/>
                <a:sym typeface="Montserrat"/>
              </a:rPr>
              <a:t>Datos Operacionales</a:t>
            </a:r>
            <a:endParaRPr b="1" i="0" sz="900" u="none" cap="none" strike="noStrike">
              <a:solidFill>
                <a:schemeClr val="dk1"/>
              </a:solidFill>
              <a:latin typeface="Montserrat"/>
              <a:ea typeface="Montserrat"/>
              <a:cs typeface="Montserrat"/>
              <a:sym typeface="Montserrat"/>
            </a:endParaRPr>
          </a:p>
        </p:txBody>
      </p:sp>
      <p:sp>
        <p:nvSpPr>
          <p:cNvPr id="3430" name="Google Shape;3430;g251d9346719_0_1204"/>
          <p:cNvSpPr/>
          <p:nvPr/>
        </p:nvSpPr>
        <p:spPr>
          <a:xfrm>
            <a:off x="5603670" y="2020465"/>
            <a:ext cx="720900" cy="143100"/>
          </a:xfrm>
          <a:prstGeom prst="roundRect">
            <a:avLst>
              <a:gd fmla="val 5041" name="adj"/>
            </a:avLst>
          </a:prstGeom>
          <a:solidFill>
            <a:srgbClr val="3DB9E5"/>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chemeClr val="dk1"/>
                </a:solidFill>
                <a:latin typeface="Montserrat"/>
                <a:ea typeface="Montserrat"/>
                <a:cs typeface="Montserrat"/>
                <a:sym typeface="Montserrat"/>
              </a:rPr>
              <a:t>Reportes Regulatorios</a:t>
            </a:r>
            <a:endParaRPr b="1" i="0" sz="400" u="none" cap="none" strike="noStrike">
              <a:solidFill>
                <a:schemeClr val="dk1"/>
              </a:solidFill>
              <a:latin typeface="Montserrat"/>
              <a:ea typeface="Montserrat"/>
              <a:cs typeface="Montserrat"/>
              <a:sym typeface="Montserrat"/>
            </a:endParaRPr>
          </a:p>
        </p:txBody>
      </p:sp>
      <p:sp>
        <p:nvSpPr>
          <p:cNvPr id="3431" name="Google Shape;3431;g251d9346719_0_1204"/>
          <p:cNvSpPr/>
          <p:nvPr/>
        </p:nvSpPr>
        <p:spPr>
          <a:xfrm>
            <a:off x="4843050" y="2020465"/>
            <a:ext cx="720900" cy="1431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400"/>
              <a:buFont typeface="Arial"/>
              <a:buNone/>
            </a:pPr>
            <a:r>
              <a:rPr b="1" i="0" lang="es" sz="400" u="none" cap="none" strike="noStrike">
                <a:solidFill>
                  <a:srgbClr val="171717"/>
                </a:solidFill>
                <a:latin typeface="Montserrat"/>
                <a:ea typeface="Montserrat"/>
                <a:cs typeface="Montserrat"/>
                <a:sym typeface="Montserrat"/>
              </a:rPr>
              <a:t>Reporte Operacional</a:t>
            </a:r>
            <a:endParaRPr b="1" i="0" sz="400" u="none" cap="none" strike="noStrike">
              <a:solidFill>
                <a:srgbClr val="171717"/>
              </a:solidFill>
              <a:latin typeface="Montserrat"/>
              <a:ea typeface="Montserrat"/>
              <a:cs typeface="Montserrat"/>
              <a:sym typeface="Montserrat"/>
            </a:endParaRPr>
          </a:p>
        </p:txBody>
      </p:sp>
      <p:sp>
        <p:nvSpPr>
          <p:cNvPr id="3432" name="Google Shape;3432;g251d9346719_0_1204"/>
          <p:cNvSpPr/>
          <p:nvPr/>
        </p:nvSpPr>
        <p:spPr>
          <a:xfrm>
            <a:off x="4843050" y="1865398"/>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Reportes contables</a:t>
            </a:r>
            <a:endParaRPr b="1" i="0" sz="900" u="none" cap="none" strike="noStrike">
              <a:solidFill>
                <a:srgbClr val="171717"/>
              </a:solidFill>
              <a:latin typeface="Montserrat"/>
              <a:ea typeface="Montserrat"/>
              <a:cs typeface="Montserrat"/>
              <a:sym typeface="Montserrat"/>
            </a:endParaRPr>
          </a:p>
        </p:txBody>
      </p:sp>
      <p:sp>
        <p:nvSpPr>
          <p:cNvPr id="3433" name="Google Shape;3433;g251d9346719_0_1204"/>
          <p:cNvSpPr/>
          <p:nvPr/>
        </p:nvSpPr>
        <p:spPr>
          <a:xfrm>
            <a:off x="4843050" y="2331579"/>
            <a:ext cx="720900" cy="143100"/>
          </a:xfrm>
          <a:prstGeom prst="roundRect">
            <a:avLst>
              <a:gd fmla="val 5041" name="adj"/>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chemeClr val="dk1"/>
                </a:solidFill>
                <a:latin typeface="Montserrat"/>
                <a:ea typeface="Montserrat"/>
                <a:cs typeface="Montserrat"/>
                <a:sym typeface="Montserrat"/>
              </a:rPr>
              <a:t>Informes de utilización (sistema)</a:t>
            </a:r>
            <a:endParaRPr b="1" i="0" sz="900" u="none" cap="none" strike="noStrike">
              <a:solidFill>
                <a:schemeClr val="dk1"/>
              </a:solidFill>
              <a:latin typeface="Montserrat"/>
              <a:ea typeface="Montserrat"/>
              <a:cs typeface="Montserrat"/>
              <a:sym typeface="Montserrat"/>
            </a:endParaRPr>
          </a:p>
        </p:txBody>
      </p:sp>
      <p:sp>
        <p:nvSpPr>
          <p:cNvPr id="3434" name="Google Shape;3434;g251d9346719_0_1204"/>
          <p:cNvSpPr/>
          <p:nvPr/>
        </p:nvSpPr>
        <p:spPr>
          <a:xfrm>
            <a:off x="5603670" y="1865398"/>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de clientes</a:t>
            </a:r>
            <a:endParaRPr b="0" i="0" sz="400" u="none" cap="none" strike="noStrike">
              <a:solidFill>
                <a:schemeClr val="lt1"/>
              </a:solidFill>
              <a:latin typeface="Montserrat"/>
              <a:ea typeface="Montserrat"/>
              <a:cs typeface="Montserrat"/>
              <a:sym typeface="Montserrat"/>
            </a:endParaRPr>
          </a:p>
        </p:txBody>
      </p:sp>
      <p:sp>
        <p:nvSpPr>
          <p:cNvPr id="3435" name="Google Shape;3435;g251d9346719_0_1204"/>
          <p:cNvSpPr/>
          <p:nvPr/>
        </p:nvSpPr>
        <p:spPr>
          <a:xfrm>
            <a:off x="5603670" y="2175520"/>
            <a:ext cx="720900" cy="1431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Reportes Transaccionales</a:t>
            </a:r>
            <a:endParaRPr b="0" i="0" sz="4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 de clientes</a:t>
            </a:r>
            <a:endParaRPr b="0" i="0" sz="400" u="none" cap="none" strike="noStrike">
              <a:solidFill>
                <a:schemeClr val="lt1"/>
              </a:solidFill>
              <a:latin typeface="Montserrat"/>
              <a:ea typeface="Montserrat"/>
              <a:cs typeface="Montserrat"/>
              <a:sym typeface="Montserrat"/>
            </a:endParaRPr>
          </a:p>
        </p:txBody>
      </p:sp>
      <p:sp>
        <p:nvSpPr>
          <p:cNvPr id="3436" name="Google Shape;3436;g251d9346719_0_1204"/>
          <p:cNvSpPr/>
          <p:nvPr/>
        </p:nvSpPr>
        <p:spPr>
          <a:xfrm>
            <a:off x="4840646" y="3097292"/>
            <a:ext cx="720900" cy="128400"/>
          </a:xfrm>
          <a:prstGeom prst="roundRect">
            <a:avLst>
              <a:gd fmla="val 5041" name="adj"/>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lt1"/>
                </a:solidFill>
                <a:latin typeface="Montserrat"/>
                <a:ea typeface="Montserrat"/>
                <a:cs typeface="Montserrat"/>
                <a:sym typeface="Montserrat"/>
              </a:rPr>
              <a:t>Alertas y</a:t>
            </a:r>
            <a:br>
              <a:rPr b="0" i="0" lang="es" sz="400" u="none" cap="none" strike="noStrike">
                <a:solidFill>
                  <a:schemeClr val="lt1"/>
                </a:solidFill>
                <a:latin typeface="Montserrat"/>
                <a:ea typeface="Montserrat"/>
                <a:cs typeface="Montserrat"/>
                <a:sym typeface="Montserrat"/>
              </a:rPr>
            </a:br>
            <a:r>
              <a:rPr b="0" i="0" lang="es" sz="400" u="none" cap="none" strike="noStrike">
                <a:solidFill>
                  <a:schemeClr val="lt1"/>
                </a:solidFill>
                <a:latin typeface="Montserrat"/>
                <a:ea typeface="Montserrat"/>
                <a:cs typeface="Montserrat"/>
                <a:sym typeface="Montserrat"/>
              </a:rPr>
              <a:t>notificaciones</a:t>
            </a:r>
            <a:endParaRPr b="0" i="0" sz="400" u="none" cap="none" strike="noStrike">
              <a:solidFill>
                <a:schemeClr val="lt1"/>
              </a:solidFill>
              <a:latin typeface="Montserrat"/>
              <a:ea typeface="Montserrat"/>
              <a:cs typeface="Montserrat"/>
              <a:sym typeface="Montserrat"/>
            </a:endParaRPr>
          </a:p>
        </p:txBody>
      </p:sp>
      <p:sp>
        <p:nvSpPr>
          <p:cNvPr id="3437" name="Google Shape;3437;g251d9346719_0_1204"/>
          <p:cNvSpPr/>
          <p:nvPr/>
        </p:nvSpPr>
        <p:spPr>
          <a:xfrm>
            <a:off x="5601265" y="3097292"/>
            <a:ext cx="720900" cy="128400"/>
          </a:xfrm>
          <a:prstGeom prst="roundRect">
            <a:avLst>
              <a:gd fmla="val 5041" name="adj"/>
            </a:avLst>
          </a:prstGeom>
          <a:solidFill>
            <a:srgbClr val="F3F3F3"/>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0" i="0" lang="es" sz="400" u="none" cap="none" strike="noStrike">
                <a:solidFill>
                  <a:schemeClr val="dk2"/>
                </a:solidFill>
                <a:latin typeface="Montserrat"/>
                <a:ea typeface="Montserrat"/>
                <a:cs typeface="Montserrat"/>
                <a:sym typeface="Montserrat"/>
              </a:rPr>
              <a:t>Interacciones humanas</a:t>
            </a:r>
            <a:endParaRPr b="0" i="0" sz="400" u="none" cap="none" strike="noStrike">
              <a:solidFill>
                <a:schemeClr val="dk2"/>
              </a:solidFill>
              <a:latin typeface="Montserrat"/>
              <a:ea typeface="Montserrat"/>
              <a:cs typeface="Montserrat"/>
              <a:sym typeface="Montserrat"/>
            </a:endParaRPr>
          </a:p>
        </p:txBody>
      </p:sp>
      <p:sp>
        <p:nvSpPr>
          <p:cNvPr id="3438" name="Google Shape;3438;g251d9346719_0_1204"/>
          <p:cNvSpPr/>
          <p:nvPr/>
        </p:nvSpPr>
        <p:spPr>
          <a:xfrm>
            <a:off x="4843050" y="2175520"/>
            <a:ext cx="720900" cy="128400"/>
          </a:xfrm>
          <a:prstGeom prst="roundRect">
            <a:avLst>
              <a:gd fmla="val 5041" name="adj"/>
            </a:avLst>
          </a:prstGeom>
          <a:solidFill>
            <a:srgbClr val="FFCF3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171717"/>
                </a:solidFill>
                <a:latin typeface="Montserrat"/>
                <a:ea typeface="Montserrat"/>
                <a:cs typeface="Montserrat"/>
                <a:sym typeface="Montserrat"/>
              </a:rPr>
              <a:t>Banca transaccional</a:t>
            </a:r>
            <a:endParaRPr b="1" i="0" sz="900" u="none" cap="none" strike="noStrike">
              <a:solidFill>
                <a:srgbClr val="171717"/>
              </a:solidFill>
              <a:latin typeface="Montserrat"/>
              <a:ea typeface="Montserrat"/>
              <a:cs typeface="Montserrat"/>
              <a:sym typeface="Montserrat"/>
            </a:endParaRPr>
          </a:p>
        </p:txBody>
      </p:sp>
      <p:sp>
        <p:nvSpPr>
          <p:cNvPr id="3439" name="Google Shape;3439;g251d9346719_0_1204"/>
          <p:cNvSpPr txBox="1"/>
          <p:nvPr/>
        </p:nvSpPr>
        <p:spPr>
          <a:xfrm>
            <a:off x="258982" y="110735"/>
            <a:ext cx="8325900" cy="33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1500"/>
              <a:buFont typeface="Arial"/>
              <a:buNone/>
            </a:pPr>
            <a:r>
              <a:rPr b="1" i="0" lang="es" sz="1500" u="none" cap="none" strike="noStrike">
                <a:solidFill>
                  <a:schemeClr val="accent1"/>
                </a:solidFill>
                <a:latin typeface="Montserrat"/>
                <a:ea typeface="Montserrat"/>
                <a:cs typeface="Montserrat"/>
                <a:sym typeface="Montserrat"/>
              </a:rPr>
              <a:t>Impacto de las iniciativas en la arquitectura empresarial de UNITY</a:t>
            </a:r>
            <a:endParaRPr b="0" i="0" sz="900" u="none" cap="none" strike="noStrike">
              <a:solidFill>
                <a:srgbClr val="000000"/>
              </a:solidFill>
              <a:latin typeface="Arial"/>
              <a:ea typeface="Arial"/>
              <a:cs typeface="Arial"/>
              <a:sym typeface="Arial"/>
            </a:endParaRPr>
          </a:p>
        </p:txBody>
      </p:sp>
      <p:sp>
        <p:nvSpPr>
          <p:cNvPr id="3440" name="Google Shape;3440;g251d9346719_0_1204"/>
          <p:cNvSpPr/>
          <p:nvPr/>
        </p:nvSpPr>
        <p:spPr>
          <a:xfrm>
            <a:off x="150600" y="3653396"/>
            <a:ext cx="8830500" cy="929700"/>
          </a:xfrm>
          <a:prstGeom prst="rect">
            <a:avLst/>
          </a:prstGeom>
          <a:noFill/>
          <a:ln cap="flat" cmpd="sng" w="9525">
            <a:solidFill>
              <a:srgbClr val="747480"/>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000000"/>
              </a:buClr>
              <a:buSzPts val="500"/>
              <a:buFont typeface="Arial"/>
              <a:buNone/>
            </a:pPr>
            <a:r>
              <a:rPr b="1" i="0" lang="es" sz="500" u="none" cap="none" strike="noStrike">
                <a:solidFill>
                  <a:srgbClr val="2E2E38"/>
                </a:solidFill>
                <a:latin typeface="Montserrat"/>
                <a:ea typeface="Montserrat"/>
                <a:cs typeface="Montserrat"/>
                <a:sym typeface="Montserrat"/>
              </a:rPr>
              <a:t>Capacidades de soporte</a:t>
            </a:r>
            <a:br>
              <a:rPr b="1" i="0" lang="es" sz="500" u="none" cap="none" strike="noStrike">
                <a:solidFill>
                  <a:srgbClr val="2E2E38"/>
                </a:solidFill>
                <a:latin typeface="Montserrat"/>
                <a:ea typeface="Montserrat"/>
                <a:cs typeface="Montserrat"/>
                <a:sym typeface="Montserrat"/>
              </a:rPr>
            </a:br>
            <a:endParaRPr b="0" i="0" sz="900" u="none" cap="none" strike="noStrike">
              <a:solidFill>
                <a:srgbClr val="000000"/>
              </a:solidFill>
              <a:latin typeface="Arial"/>
              <a:ea typeface="Arial"/>
              <a:cs typeface="Arial"/>
              <a:sym typeface="Arial"/>
            </a:endParaRPr>
          </a:p>
        </p:txBody>
      </p:sp>
      <p:sp>
        <p:nvSpPr>
          <p:cNvPr id="3441" name="Google Shape;3441;g251d9346719_0_1204"/>
          <p:cNvSpPr/>
          <p:nvPr/>
        </p:nvSpPr>
        <p:spPr>
          <a:xfrm>
            <a:off x="155600" y="686927"/>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Canales</a:t>
            </a:r>
            <a:endParaRPr b="0" i="0" sz="900" u="none" cap="none" strike="noStrike">
              <a:solidFill>
                <a:srgbClr val="000000"/>
              </a:solidFill>
              <a:latin typeface="Arial"/>
              <a:ea typeface="Arial"/>
              <a:cs typeface="Arial"/>
              <a:sym typeface="Arial"/>
            </a:endParaRPr>
          </a:p>
        </p:txBody>
      </p:sp>
      <p:sp>
        <p:nvSpPr>
          <p:cNvPr id="3442" name="Google Shape;3442;g251d9346719_0_1204"/>
          <p:cNvSpPr/>
          <p:nvPr/>
        </p:nvSpPr>
        <p:spPr>
          <a:xfrm>
            <a:off x="155601" y="883984"/>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Productos</a:t>
            </a:r>
            <a:endParaRPr b="1" i="0" sz="500" u="none" cap="none" strike="noStrike">
              <a:solidFill>
                <a:srgbClr val="2E2E38"/>
              </a:solidFill>
              <a:latin typeface="Montserrat"/>
              <a:ea typeface="Montserrat"/>
              <a:cs typeface="Montserrat"/>
              <a:sym typeface="Montserrat"/>
            </a:endParaRPr>
          </a:p>
        </p:txBody>
      </p:sp>
      <p:sp>
        <p:nvSpPr>
          <p:cNvPr id="3443" name="Google Shape;3443;g251d9346719_0_1204"/>
          <p:cNvSpPr/>
          <p:nvPr/>
        </p:nvSpPr>
        <p:spPr>
          <a:xfrm>
            <a:off x="1205537"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Debito</a:t>
            </a:r>
            <a:endParaRPr b="1" i="0" sz="500" u="none" cap="none" strike="noStrike">
              <a:solidFill>
                <a:srgbClr val="FFFFFF"/>
              </a:solidFill>
              <a:latin typeface="Montserrat"/>
              <a:ea typeface="Montserrat"/>
              <a:cs typeface="Montserrat"/>
              <a:sym typeface="Montserrat"/>
            </a:endParaRPr>
          </a:p>
        </p:txBody>
      </p:sp>
      <p:sp>
        <p:nvSpPr>
          <p:cNvPr id="3444" name="Google Shape;3444;g251d9346719_0_1204"/>
          <p:cNvSpPr/>
          <p:nvPr/>
        </p:nvSpPr>
        <p:spPr>
          <a:xfrm>
            <a:off x="2309365"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Ahorro</a:t>
            </a:r>
            <a:endParaRPr b="1" i="0" sz="500" u="none" cap="none" strike="noStrike">
              <a:solidFill>
                <a:srgbClr val="FFFFFF"/>
              </a:solidFill>
              <a:latin typeface="Montserrat"/>
              <a:ea typeface="Montserrat"/>
              <a:cs typeface="Montserrat"/>
              <a:sym typeface="Montserrat"/>
            </a:endParaRPr>
          </a:p>
        </p:txBody>
      </p:sp>
      <p:sp>
        <p:nvSpPr>
          <p:cNvPr id="3445" name="Google Shape;3445;g251d9346719_0_1204"/>
          <p:cNvSpPr/>
          <p:nvPr/>
        </p:nvSpPr>
        <p:spPr>
          <a:xfrm>
            <a:off x="3413193"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1" i="0" lang="es" sz="500" u="none" cap="none" strike="noStrike">
                <a:solidFill>
                  <a:srgbClr val="FFFFFF"/>
                </a:solidFill>
                <a:latin typeface="Montserrat"/>
                <a:ea typeface="Montserrat"/>
                <a:cs typeface="Montserrat"/>
                <a:sym typeface="Montserrat"/>
              </a:rPr>
              <a:t>Crédito</a:t>
            </a:r>
            <a:endParaRPr b="1" i="0" sz="500" u="none" cap="none" strike="noStrike">
              <a:solidFill>
                <a:srgbClr val="FFFFFF"/>
              </a:solidFill>
              <a:latin typeface="Montserrat"/>
              <a:ea typeface="Montserrat"/>
              <a:cs typeface="Montserrat"/>
              <a:sym typeface="Montserrat"/>
            </a:endParaRPr>
          </a:p>
        </p:txBody>
      </p:sp>
      <p:sp>
        <p:nvSpPr>
          <p:cNvPr id="3446" name="Google Shape;3446;g251d9346719_0_1204"/>
          <p:cNvSpPr/>
          <p:nvPr/>
        </p:nvSpPr>
        <p:spPr>
          <a:xfrm>
            <a:off x="4517021"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1" i="0" lang="es" sz="500" u="none" cap="none" strike="noStrike">
                <a:solidFill>
                  <a:srgbClr val="FFFFFF"/>
                </a:solidFill>
                <a:latin typeface="Montserrat"/>
                <a:ea typeface="Montserrat"/>
                <a:cs typeface="Montserrat"/>
                <a:sym typeface="Montserrat"/>
              </a:rPr>
              <a:t>Pensiones</a:t>
            </a:r>
            <a:endParaRPr b="1" i="0" sz="500" u="none" cap="none" strike="noStrike">
              <a:solidFill>
                <a:srgbClr val="FFFFFF"/>
              </a:solidFill>
              <a:latin typeface="Montserrat"/>
              <a:ea typeface="Montserrat"/>
              <a:cs typeface="Montserrat"/>
              <a:sym typeface="Montserrat"/>
            </a:endParaRPr>
          </a:p>
        </p:txBody>
      </p:sp>
      <p:sp>
        <p:nvSpPr>
          <p:cNvPr id="3447" name="Google Shape;3447;g251d9346719_0_1204"/>
          <p:cNvSpPr/>
          <p:nvPr/>
        </p:nvSpPr>
        <p:spPr>
          <a:xfrm>
            <a:off x="5620850"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Inversiones</a:t>
            </a:r>
            <a:endParaRPr b="1" i="0" sz="500" u="none" cap="none" strike="noStrike">
              <a:solidFill>
                <a:srgbClr val="FFFFFF"/>
              </a:solidFill>
              <a:latin typeface="Montserrat"/>
              <a:ea typeface="Montserrat"/>
              <a:cs typeface="Montserrat"/>
              <a:sym typeface="Montserrat"/>
            </a:endParaRPr>
          </a:p>
        </p:txBody>
      </p:sp>
      <p:sp>
        <p:nvSpPr>
          <p:cNvPr id="3448" name="Google Shape;3448;g251d9346719_0_1204"/>
          <p:cNvSpPr/>
          <p:nvPr/>
        </p:nvSpPr>
        <p:spPr>
          <a:xfrm>
            <a:off x="6724678"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Hipotecario</a:t>
            </a:r>
            <a:endParaRPr b="1" i="0" sz="500" u="none" cap="none" strike="noStrike">
              <a:solidFill>
                <a:srgbClr val="FFFFFF"/>
              </a:solidFill>
              <a:latin typeface="Montserrat"/>
              <a:ea typeface="Montserrat"/>
              <a:cs typeface="Montserrat"/>
              <a:sym typeface="Montserrat"/>
            </a:endParaRPr>
          </a:p>
        </p:txBody>
      </p:sp>
      <p:sp>
        <p:nvSpPr>
          <p:cNvPr id="3449" name="Google Shape;3449;g251d9346719_0_1204"/>
          <p:cNvSpPr/>
          <p:nvPr/>
        </p:nvSpPr>
        <p:spPr>
          <a:xfrm>
            <a:off x="7828504" y="903874"/>
            <a:ext cx="1050300" cy="136200"/>
          </a:xfrm>
          <a:prstGeom prst="rect">
            <a:avLst/>
          </a:prstGeom>
          <a:solidFill>
            <a:schemeClr val="accent6"/>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chemeClr val="lt1"/>
                </a:solidFill>
                <a:latin typeface="Montserrat"/>
                <a:ea typeface="Montserrat"/>
                <a:cs typeface="Montserrat"/>
                <a:sym typeface="Montserrat"/>
              </a:rPr>
              <a:t>Tarjeta de crédito</a:t>
            </a:r>
            <a:endParaRPr b="1" i="0" sz="500" u="none" cap="none" strike="noStrike">
              <a:solidFill>
                <a:schemeClr val="lt1"/>
              </a:solidFill>
              <a:latin typeface="Montserrat"/>
              <a:ea typeface="Montserrat"/>
              <a:cs typeface="Montserrat"/>
              <a:sym typeface="Montserrat"/>
            </a:endParaRPr>
          </a:p>
        </p:txBody>
      </p:sp>
      <p:sp>
        <p:nvSpPr>
          <p:cNvPr id="3450" name="Google Shape;3450;g251d9346719_0_1204"/>
          <p:cNvSpPr/>
          <p:nvPr/>
        </p:nvSpPr>
        <p:spPr>
          <a:xfrm>
            <a:off x="157900" y="478699"/>
            <a:ext cx="8830500" cy="168600"/>
          </a:xfrm>
          <a:prstGeom prst="rect">
            <a:avLst/>
          </a:prstGeom>
          <a:solidFill>
            <a:srgbClr val="FFFFFF"/>
          </a:solidFill>
          <a:ln cap="flat" cmpd="sng" w="9525">
            <a:solidFill>
              <a:schemeClr val="accent1"/>
            </a:solidFill>
            <a:prstDash val="dash"/>
            <a:round/>
            <a:headEnd len="sm" w="sm" type="none"/>
            <a:tailEnd len="sm" w="sm" type="none"/>
          </a:ln>
        </p:spPr>
        <p:txBody>
          <a:bodyPr anchorCtr="0" anchor="ctr" bIns="57975" lIns="58875" spcFirstLastPara="1" rIns="58875" wrap="square" tIns="57975">
            <a:noAutofit/>
          </a:bodyPr>
          <a:lstStyle/>
          <a:p>
            <a:pPr indent="0" lvl="0" marL="0" marR="0" rtl="0" algn="l">
              <a:lnSpc>
                <a:spcPct val="100000"/>
              </a:lnSpc>
              <a:spcBef>
                <a:spcPts val="0"/>
              </a:spcBef>
              <a:spcAft>
                <a:spcPts val="0"/>
              </a:spcAft>
              <a:buClr>
                <a:srgbClr val="2E2E38"/>
              </a:buClr>
              <a:buSzPts val="500"/>
              <a:buFont typeface="Arial"/>
              <a:buNone/>
            </a:pPr>
            <a:r>
              <a:rPr b="1" i="0" lang="es" sz="500" u="none" cap="none" strike="noStrike">
                <a:solidFill>
                  <a:srgbClr val="2E2E38"/>
                </a:solidFill>
                <a:latin typeface="Montserrat"/>
                <a:ea typeface="Montserrat"/>
                <a:cs typeface="Montserrat"/>
                <a:sym typeface="Montserrat"/>
              </a:rPr>
              <a:t>Segmentos de clientes</a:t>
            </a:r>
            <a:endParaRPr b="1" i="0" sz="500" u="none" cap="none" strike="noStrike">
              <a:solidFill>
                <a:srgbClr val="2E2E38"/>
              </a:solidFill>
              <a:latin typeface="Montserrat"/>
              <a:ea typeface="Montserrat"/>
              <a:cs typeface="Montserrat"/>
              <a:sym typeface="Montserrat"/>
            </a:endParaRPr>
          </a:p>
        </p:txBody>
      </p:sp>
      <p:sp>
        <p:nvSpPr>
          <p:cNvPr id="3451" name="Google Shape;3451;g251d9346719_0_1204"/>
          <p:cNvSpPr/>
          <p:nvPr/>
        </p:nvSpPr>
        <p:spPr>
          <a:xfrm>
            <a:off x="2748364"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chemeClr val="lt1"/>
                </a:solidFill>
                <a:latin typeface="Montserrat"/>
                <a:ea typeface="Montserrat"/>
                <a:cs typeface="Montserrat"/>
                <a:sym typeface="Montserrat"/>
              </a:rPr>
              <a:t>Empresarial</a:t>
            </a:r>
            <a:endParaRPr b="1" i="0" sz="500" u="none" cap="none" strike="noStrike">
              <a:solidFill>
                <a:schemeClr val="lt1"/>
              </a:solidFill>
              <a:latin typeface="Montserrat"/>
              <a:ea typeface="Montserrat"/>
              <a:cs typeface="Montserrat"/>
              <a:sym typeface="Montserrat"/>
            </a:endParaRPr>
          </a:p>
        </p:txBody>
      </p:sp>
      <p:sp>
        <p:nvSpPr>
          <p:cNvPr id="3452" name="Google Shape;3452;g251d9346719_0_1204"/>
          <p:cNvSpPr/>
          <p:nvPr/>
        </p:nvSpPr>
        <p:spPr>
          <a:xfrm>
            <a:off x="1203986" y="499914"/>
            <a:ext cx="1497300" cy="136200"/>
          </a:xfrm>
          <a:prstGeom prst="rect">
            <a:avLst/>
          </a:prstGeom>
          <a:solidFill>
            <a:schemeClr val="accent1"/>
          </a:solidFill>
          <a:ln>
            <a:noFill/>
          </a:ln>
          <a:effectLst>
            <a:outerShdw blurRad="57150" rotWithShape="0" algn="bl" dir="5400000" dist="19050">
              <a:srgbClr val="000000">
                <a:alpha val="49803"/>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1" i="0" lang="es" sz="500" u="none" cap="none" strike="noStrike">
                <a:solidFill>
                  <a:schemeClr val="lt1"/>
                </a:solidFill>
                <a:latin typeface="Montserrat"/>
                <a:ea typeface="Montserrat"/>
                <a:cs typeface="Montserrat"/>
                <a:sym typeface="Montserrat"/>
              </a:rPr>
              <a:t>Consumo</a:t>
            </a:r>
            <a:endParaRPr b="1" i="0" sz="500" u="none" cap="none" strike="noStrike">
              <a:solidFill>
                <a:schemeClr val="lt1"/>
              </a:solidFill>
              <a:latin typeface="Montserrat"/>
              <a:ea typeface="Montserrat"/>
              <a:cs typeface="Montserrat"/>
              <a:sym typeface="Montserrat"/>
            </a:endParaRPr>
          </a:p>
        </p:txBody>
      </p:sp>
      <p:sp>
        <p:nvSpPr>
          <p:cNvPr id="3453" name="Google Shape;3453;g251d9346719_0_1204"/>
          <p:cNvSpPr/>
          <p:nvPr/>
        </p:nvSpPr>
        <p:spPr>
          <a:xfrm>
            <a:off x="4292741" y="504857"/>
            <a:ext cx="1497300" cy="136200"/>
          </a:xfrm>
          <a:prstGeom prst="rect">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chemeClr val="lt1"/>
                </a:solidFill>
                <a:latin typeface="Montserrat"/>
                <a:ea typeface="Montserrat"/>
                <a:cs typeface="Montserrat"/>
                <a:sym typeface="Montserrat"/>
              </a:rPr>
              <a:t>PYMES</a:t>
            </a:r>
            <a:endParaRPr b="1" i="0" sz="500" u="none" cap="none" strike="noStrike">
              <a:solidFill>
                <a:schemeClr val="lt1"/>
              </a:solidFill>
              <a:latin typeface="Montserrat"/>
              <a:ea typeface="Montserrat"/>
              <a:cs typeface="Montserrat"/>
              <a:sym typeface="Montserrat"/>
            </a:endParaRPr>
          </a:p>
        </p:txBody>
      </p:sp>
      <p:sp>
        <p:nvSpPr>
          <p:cNvPr id="3454" name="Google Shape;3454;g251d9346719_0_1204"/>
          <p:cNvSpPr/>
          <p:nvPr/>
        </p:nvSpPr>
        <p:spPr>
          <a:xfrm>
            <a:off x="7381497"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Fideicomisos</a:t>
            </a:r>
            <a:endParaRPr b="0" i="0" sz="500" u="none" cap="none" strike="noStrike">
              <a:solidFill>
                <a:srgbClr val="FFFFFF"/>
              </a:solidFill>
              <a:latin typeface="Montserrat"/>
              <a:ea typeface="Montserrat"/>
              <a:cs typeface="Montserrat"/>
              <a:sym typeface="Montserrat"/>
            </a:endParaRPr>
          </a:p>
        </p:txBody>
      </p:sp>
      <p:sp>
        <p:nvSpPr>
          <p:cNvPr id="3455" name="Google Shape;3455;g251d9346719_0_1204"/>
          <p:cNvSpPr/>
          <p:nvPr/>
        </p:nvSpPr>
        <p:spPr>
          <a:xfrm>
            <a:off x="5837119" y="504857"/>
            <a:ext cx="1497300" cy="136200"/>
          </a:xfrm>
          <a:prstGeom prst="rect">
            <a:avLst/>
          </a:prstGeom>
          <a:solidFill>
            <a:srgbClr val="2E2E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
              <a:buFont typeface="Arial"/>
              <a:buNone/>
            </a:pPr>
            <a:r>
              <a:rPr b="0" i="0" lang="es" sz="500" u="none" cap="none" strike="noStrike">
                <a:solidFill>
                  <a:srgbClr val="FFFFFF"/>
                </a:solidFill>
                <a:latin typeface="Montserrat"/>
                <a:ea typeface="Montserrat"/>
                <a:cs typeface="Montserrat"/>
                <a:sym typeface="Montserrat"/>
              </a:rPr>
              <a:t>Alto Valor</a:t>
            </a:r>
            <a:endParaRPr b="0" i="0" sz="500" u="none" cap="none" strike="noStrike">
              <a:solidFill>
                <a:srgbClr val="FFFFFF"/>
              </a:solidFill>
              <a:latin typeface="Montserrat"/>
              <a:ea typeface="Montserrat"/>
              <a:cs typeface="Montserrat"/>
              <a:sym typeface="Montserrat"/>
            </a:endParaRPr>
          </a:p>
        </p:txBody>
      </p:sp>
      <p:sp>
        <p:nvSpPr>
          <p:cNvPr id="3456" name="Google Shape;3456;g251d9346719_0_1204"/>
          <p:cNvSpPr/>
          <p:nvPr/>
        </p:nvSpPr>
        <p:spPr>
          <a:xfrm>
            <a:off x="1203986"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Kiosco</a:t>
            </a:r>
            <a:endParaRPr b="1" i="0" sz="500" u="none" cap="none" strike="noStrike">
              <a:solidFill>
                <a:schemeClr val="dk1"/>
              </a:solidFill>
              <a:latin typeface="Montserrat"/>
              <a:ea typeface="Montserrat"/>
              <a:cs typeface="Montserrat"/>
              <a:sym typeface="Montserrat"/>
            </a:endParaRPr>
          </a:p>
        </p:txBody>
      </p:sp>
      <p:sp>
        <p:nvSpPr>
          <p:cNvPr id="3457" name="Google Shape;3457;g251d9346719_0_1204"/>
          <p:cNvSpPr/>
          <p:nvPr/>
        </p:nvSpPr>
        <p:spPr>
          <a:xfrm>
            <a:off x="206217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Web/Online</a:t>
            </a:r>
            <a:endParaRPr b="1" i="0" sz="900" u="none" cap="none" strike="noStrike">
              <a:solidFill>
                <a:schemeClr val="dk1"/>
              </a:solidFill>
              <a:latin typeface="Arial"/>
              <a:ea typeface="Arial"/>
              <a:cs typeface="Arial"/>
              <a:sym typeface="Arial"/>
            </a:endParaRPr>
          </a:p>
        </p:txBody>
      </p:sp>
      <p:sp>
        <p:nvSpPr>
          <p:cNvPr id="3458" name="Google Shape;3458;g251d9346719_0_1204"/>
          <p:cNvSpPr/>
          <p:nvPr/>
        </p:nvSpPr>
        <p:spPr>
          <a:xfrm>
            <a:off x="3778546"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Sucursal</a:t>
            </a:r>
            <a:endParaRPr b="1" i="0" sz="500" u="none" cap="none" strike="noStrike">
              <a:solidFill>
                <a:schemeClr val="dk1"/>
              </a:solidFill>
              <a:latin typeface="Montserrat"/>
              <a:ea typeface="Montserrat"/>
              <a:cs typeface="Montserrat"/>
              <a:sym typeface="Montserrat"/>
            </a:endParaRPr>
          </a:p>
        </p:txBody>
      </p:sp>
      <p:sp>
        <p:nvSpPr>
          <p:cNvPr id="3459" name="Google Shape;3459;g251d9346719_0_1204"/>
          <p:cNvSpPr/>
          <p:nvPr/>
        </p:nvSpPr>
        <p:spPr>
          <a:xfrm>
            <a:off x="463673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Móvil y tablet</a:t>
            </a:r>
            <a:endParaRPr b="1" i="0" sz="900" u="none" cap="none" strike="noStrike">
              <a:solidFill>
                <a:schemeClr val="dk1"/>
              </a:solidFill>
              <a:latin typeface="Arial"/>
              <a:ea typeface="Arial"/>
              <a:cs typeface="Arial"/>
              <a:sym typeface="Arial"/>
            </a:endParaRPr>
          </a:p>
        </p:txBody>
      </p:sp>
      <p:sp>
        <p:nvSpPr>
          <p:cNvPr id="3460" name="Google Shape;3460;g251d9346719_0_1204"/>
          <p:cNvSpPr/>
          <p:nvPr/>
        </p:nvSpPr>
        <p:spPr>
          <a:xfrm>
            <a:off x="5494920"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ATM</a:t>
            </a:r>
            <a:endParaRPr b="1" i="0" sz="900" u="none" cap="none" strike="noStrike">
              <a:solidFill>
                <a:schemeClr val="dk1"/>
              </a:solidFill>
              <a:latin typeface="Arial"/>
              <a:ea typeface="Arial"/>
              <a:cs typeface="Arial"/>
              <a:sym typeface="Arial"/>
            </a:endParaRPr>
          </a:p>
        </p:txBody>
      </p:sp>
      <p:sp>
        <p:nvSpPr>
          <p:cNvPr id="3461" name="Google Shape;3461;g251d9346719_0_1204"/>
          <p:cNvSpPr/>
          <p:nvPr/>
        </p:nvSpPr>
        <p:spPr>
          <a:xfrm>
            <a:off x="6353107"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IVR</a:t>
            </a:r>
            <a:endParaRPr b="1" i="0" sz="900" u="none" cap="none" strike="noStrike">
              <a:solidFill>
                <a:schemeClr val="dk1"/>
              </a:solidFill>
              <a:latin typeface="Arial"/>
              <a:ea typeface="Arial"/>
              <a:cs typeface="Arial"/>
              <a:sym typeface="Arial"/>
            </a:endParaRPr>
          </a:p>
        </p:txBody>
      </p:sp>
      <p:sp>
        <p:nvSpPr>
          <p:cNvPr id="3462" name="Google Shape;3462;g251d9346719_0_1204"/>
          <p:cNvSpPr/>
          <p:nvPr/>
        </p:nvSpPr>
        <p:spPr>
          <a:xfrm>
            <a:off x="7211293"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75000"/>
              </a:lnSpc>
              <a:spcBef>
                <a:spcPts val="0"/>
              </a:spcBef>
              <a:spcAft>
                <a:spcPts val="0"/>
              </a:spcAft>
              <a:buClr>
                <a:schemeClr val="lt1"/>
              </a:buClr>
              <a:buSzPts val="400"/>
              <a:buFont typeface="Arial"/>
              <a:buNone/>
            </a:pPr>
            <a:r>
              <a:rPr b="1" i="0" lang="es" sz="400" u="none" cap="none" strike="noStrike">
                <a:solidFill>
                  <a:schemeClr val="dk1"/>
                </a:solidFill>
                <a:latin typeface="Montserrat"/>
                <a:ea typeface="Montserrat"/>
                <a:cs typeface="Montserrat"/>
                <a:sym typeface="Montserrat"/>
              </a:rPr>
              <a:t>Autoservicio</a:t>
            </a:r>
            <a:endParaRPr b="1" i="0" sz="400" u="none" cap="none" strike="noStrike">
              <a:solidFill>
                <a:schemeClr val="dk1"/>
              </a:solidFill>
              <a:latin typeface="Montserrat"/>
              <a:ea typeface="Montserrat"/>
              <a:cs typeface="Montserrat"/>
              <a:sym typeface="Montserrat"/>
            </a:endParaRPr>
          </a:p>
        </p:txBody>
      </p:sp>
      <p:sp>
        <p:nvSpPr>
          <p:cNvPr id="3463" name="Google Shape;3463;g251d9346719_0_1204"/>
          <p:cNvSpPr/>
          <p:nvPr/>
        </p:nvSpPr>
        <p:spPr>
          <a:xfrm>
            <a:off x="8069478" y="702961"/>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85000"/>
              </a:lnSpc>
              <a:spcBef>
                <a:spcPts val="0"/>
              </a:spcBef>
              <a:spcAft>
                <a:spcPts val="0"/>
              </a:spcAft>
              <a:buClr>
                <a:schemeClr val="lt1"/>
              </a:buClr>
              <a:buSzPts val="500"/>
              <a:buFont typeface="Arial"/>
              <a:buNone/>
            </a:pPr>
            <a:r>
              <a:rPr b="1" i="0" lang="es" sz="500" u="none" cap="none" strike="noStrike">
                <a:solidFill>
                  <a:schemeClr val="dk1"/>
                </a:solidFill>
                <a:latin typeface="Montserrat"/>
                <a:ea typeface="Montserrat"/>
                <a:cs typeface="Montserrat"/>
                <a:sym typeface="Montserrat"/>
              </a:rPr>
              <a:t>Terceros</a:t>
            </a:r>
            <a:endParaRPr b="1" i="0" sz="500" u="none" cap="none" strike="noStrike">
              <a:solidFill>
                <a:schemeClr val="dk1"/>
              </a:solidFill>
              <a:latin typeface="Montserrat"/>
              <a:ea typeface="Montserrat"/>
              <a:cs typeface="Montserrat"/>
              <a:sym typeface="Montserrat"/>
            </a:endParaRPr>
          </a:p>
        </p:txBody>
      </p:sp>
      <p:sp>
        <p:nvSpPr>
          <p:cNvPr id="3464" name="Google Shape;3464;g251d9346719_0_1204"/>
          <p:cNvSpPr/>
          <p:nvPr/>
        </p:nvSpPr>
        <p:spPr>
          <a:xfrm>
            <a:off x="2926715" y="712158"/>
            <a:ext cx="810900" cy="136200"/>
          </a:xfrm>
          <a:prstGeom prst="roundRect">
            <a:avLst>
              <a:gd fmla="val 5041" name="adj"/>
            </a:avLst>
          </a:prstGeom>
          <a:solidFill>
            <a:srgbClr val="ED7D3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chemeClr val="dk1"/>
                </a:solidFill>
                <a:latin typeface="Montserrat"/>
                <a:ea typeface="Montserrat"/>
                <a:cs typeface="Montserrat"/>
                <a:sym typeface="Montserrat"/>
              </a:rPr>
              <a:t>Call Center</a:t>
            </a:r>
            <a:endParaRPr b="1" i="0" sz="500" u="none" cap="none" strike="noStrike">
              <a:solidFill>
                <a:schemeClr val="dk1"/>
              </a:solidFill>
              <a:latin typeface="Montserrat"/>
              <a:ea typeface="Montserrat"/>
              <a:cs typeface="Montserrat"/>
              <a:sym typeface="Montserrat"/>
            </a:endParaRPr>
          </a:p>
        </p:txBody>
      </p:sp>
      <p:grpSp>
        <p:nvGrpSpPr>
          <p:cNvPr id="3465" name="Google Shape;3465;g251d9346719_0_1204"/>
          <p:cNvGrpSpPr/>
          <p:nvPr/>
        </p:nvGrpSpPr>
        <p:grpSpPr>
          <a:xfrm>
            <a:off x="7183742" y="4781337"/>
            <a:ext cx="848667" cy="284740"/>
            <a:chOff x="3536079" y="1822016"/>
            <a:chExt cx="1131556" cy="320472"/>
          </a:xfrm>
        </p:grpSpPr>
        <p:grpSp>
          <p:nvGrpSpPr>
            <p:cNvPr id="3466" name="Google Shape;3466;g251d9346719_0_1204"/>
            <p:cNvGrpSpPr/>
            <p:nvPr/>
          </p:nvGrpSpPr>
          <p:grpSpPr>
            <a:xfrm>
              <a:off x="3536079" y="1822016"/>
              <a:ext cx="1131556" cy="320472"/>
              <a:chOff x="13814589" y="1926698"/>
              <a:chExt cx="2612689" cy="804600"/>
            </a:xfrm>
          </p:grpSpPr>
          <p:sp>
            <p:nvSpPr>
              <p:cNvPr id="3467" name="Google Shape;3467;g251d9346719_0_1204"/>
              <p:cNvSpPr/>
              <p:nvPr/>
            </p:nvSpPr>
            <p:spPr>
              <a:xfrm>
                <a:off x="13857778" y="1977406"/>
                <a:ext cx="2569500" cy="703200"/>
              </a:xfrm>
              <a:prstGeom prst="roundRect">
                <a:avLst>
                  <a:gd fmla="val 50000" name="adj"/>
                </a:avLst>
              </a:prstGeom>
              <a:solidFill>
                <a:schemeClr val="accent3"/>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Datos y Reportes</a:t>
                </a:r>
                <a:endParaRPr b="1" i="0" sz="500" u="none" cap="none" strike="noStrike">
                  <a:solidFill>
                    <a:srgbClr val="000000"/>
                  </a:solidFill>
                  <a:latin typeface="Arial"/>
                  <a:ea typeface="Arial"/>
                  <a:cs typeface="Arial"/>
                  <a:sym typeface="Arial"/>
                </a:endParaRPr>
              </a:p>
            </p:txBody>
          </p:sp>
          <p:grpSp>
            <p:nvGrpSpPr>
              <p:cNvPr id="3468" name="Google Shape;3468;g251d9346719_0_1204"/>
              <p:cNvGrpSpPr/>
              <p:nvPr/>
            </p:nvGrpSpPr>
            <p:grpSpPr>
              <a:xfrm>
                <a:off x="14018731" y="2168949"/>
                <a:ext cx="396177" cy="320504"/>
                <a:chOff x="-3757613" y="5049838"/>
                <a:chExt cx="5826126" cy="4713288"/>
              </a:xfrm>
            </p:grpSpPr>
            <p:sp>
              <p:nvSpPr>
                <p:cNvPr id="3469" name="Google Shape;3469;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70" name="Google Shape;3470;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71" name="Google Shape;3471;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72" name="Google Shape;3472;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73" name="Google Shape;3473;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74" name="Google Shape;3474;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475" name="Google Shape;3475;g251d9346719_0_1204"/>
              <p:cNvSpPr/>
              <p:nvPr/>
            </p:nvSpPr>
            <p:spPr>
              <a:xfrm>
                <a:off x="13814589" y="1926698"/>
                <a:ext cx="804600" cy="804600"/>
              </a:xfrm>
              <a:prstGeom prst="ellipse">
                <a:avLst/>
              </a:prstGeom>
              <a:solidFill>
                <a:schemeClr val="accent3"/>
              </a:solidFill>
              <a:ln cap="flat" cmpd="sng" w="76200">
                <a:solidFill>
                  <a:schemeClr val="accent3"/>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476" name="Google Shape;3476;g251d9346719_0_1204"/>
            <p:cNvPicPr preferRelativeResize="0"/>
            <p:nvPr/>
          </p:nvPicPr>
          <p:blipFill rotWithShape="1">
            <a:blip r:embed="rId3">
              <a:alphaModFix/>
            </a:blip>
            <a:srcRect b="0" l="0" r="0" t="0"/>
            <a:stretch/>
          </p:blipFill>
          <p:spPr>
            <a:xfrm>
              <a:off x="3539776" y="1828534"/>
              <a:ext cx="315985" cy="280083"/>
            </a:xfrm>
            <a:prstGeom prst="rect">
              <a:avLst/>
            </a:prstGeom>
            <a:noFill/>
            <a:ln>
              <a:noFill/>
            </a:ln>
          </p:spPr>
        </p:pic>
      </p:grpSp>
      <p:grpSp>
        <p:nvGrpSpPr>
          <p:cNvPr id="3477" name="Google Shape;3477;g251d9346719_0_1204"/>
          <p:cNvGrpSpPr/>
          <p:nvPr/>
        </p:nvGrpSpPr>
        <p:grpSpPr>
          <a:xfrm>
            <a:off x="2963313" y="4781336"/>
            <a:ext cx="827259" cy="284740"/>
            <a:chOff x="1567179" y="1984411"/>
            <a:chExt cx="1103012" cy="320472"/>
          </a:xfrm>
        </p:grpSpPr>
        <p:grpSp>
          <p:nvGrpSpPr>
            <p:cNvPr id="3478" name="Google Shape;3478;g251d9346719_0_1204"/>
            <p:cNvGrpSpPr/>
            <p:nvPr/>
          </p:nvGrpSpPr>
          <p:grpSpPr>
            <a:xfrm>
              <a:off x="1567179" y="1984411"/>
              <a:ext cx="1103012" cy="320472"/>
              <a:chOff x="13814589" y="1926698"/>
              <a:chExt cx="2546783" cy="804600"/>
            </a:xfrm>
          </p:grpSpPr>
          <p:sp>
            <p:nvSpPr>
              <p:cNvPr id="3479" name="Google Shape;3479;g251d9346719_0_1204"/>
              <p:cNvSpPr/>
              <p:nvPr/>
            </p:nvSpPr>
            <p:spPr>
              <a:xfrm>
                <a:off x="13891172" y="1977408"/>
                <a:ext cx="2470200" cy="703200"/>
              </a:xfrm>
              <a:prstGeom prst="roundRect">
                <a:avLst>
                  <a:gd fmla="val 50000" name="adj"/>
                </a:avLst>
              </a:prstGeom>
              <a:solidFill>
                <a:schemeClr val="accent6"/>
              </a:solidFill>
              <a:ln cap="flat" cmpd="sng" w="9525">
                <a:solidFill>
                  <a:srgbClr val="BFBFBF"/>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Onboarding</a:t>
                </a:r>
                <a:endParaRPr b="1" i="0" sz="500" u="none" cap="none" strike="noStrike">
                  <a:solidFill>
                    <a:srgbClr val="FFFFFF"/>
                  </a:solidFill>
                  <a:latin typeface="Montserrat"/>
                  <a:ea typeface="Montserrat"/>
                  <a:cs typeface="Montserrat"/>
                  <a:sym typeface="Montserrat"/>
                </a:endParaRPr>
              </a:p>
            </p:txBody>
          </p:sp>
          <p:grpSp>
            <p:nvGrpSpPr>
              <p:cNvPr id="3480" name="Google Shape;3480;g251d9346719_0_1204"/>
              <p:cNvGrpSpPr/>
              <p:nvPr/>
            </p:nvGrpSpPr>
            <p:grpSpPr>
              <a:xfrm>
                <a:off x="14018731" y="2168949"/>
                <a:ext cx="396177" cy="320504"/>
                <a:chOff x="-3757613" y="5049838"/>
                <a:chExt cx="5826126" cy="4713288"/>
              </a:xfrm>
            </p:grpSpPr>
            <p:sp>
              <p:nvSpPr>
                <p:cNvPr id="3481" name="Google Shape;3481;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482" name="Google Shape;3482;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483" name="Google Shape;3483;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484" name="Google Shape;3484;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485" name="Google Shape;3485;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sp>
              <p:nvSpPr>
                <p:cNvPr id="3486" name="Google Shape;3486;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1200"/>
                    <a:buFont typeface="Calibri"/>
                    <a:buNone/>
                  </a:pPr>
                  <a:r>
                    <a:t/>
                  </a:r>
                  <a:endParaRPr b="1" i="0" sz="500" u="none" cap="none" strike="noStrike">
                    <a:solidFill>
                      <a:srgbClr val="000000"/>
                    </a:solidFill>
                    <a:latin typeface="Montserrat"/>
                    <a:ea typeface="Montserrat"/>
                    <a:cs typeface="Montserrat"/>
                    <a:sym typeface="Montserrat"/>
                  </a:endParaRPr>
                </a:p>
              </p:txBody>
            </p:sp>
          </p:grpSp>
          <p:sp>
            <p:nvSpPr>
              <p:cNvPr id="3487" name="Google Shape;3487;g251d9346719_0_1204"/>
              <p:cNvSpPr/>
              <p:nvPr/>
            </p:nvSpPr>
            <p:spPr>
              <a:xfrm>
                <a:off x="13814589" y="1926698"/>
                <a:ext cx="804600" cy="804600"/>
              </a:xfrm>
              <a:prstGeom prst="ellipse">
                <a:avLst/>
              </a:prstGeom>
              <a:solidFill>
                <a:schemeClr val="accent6"/>
              </a:solidFill>
              <a:ln cap="flat" cmpd="sng" w="76200">
                <a:solidFill>
                  <a:schemeClr val="accent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Calibri"/>
                  <a:buNone/>
                </a:pPr>
                <a:r>
                  <a:t/>
                </a:r>
                <a:endParaRPr b="1" i="0" sz="500" u="none" cap="none" strike="noStrike">
                  <a:solidFill>
                    <a:srgbClr val="808080"/>
                  </a:solidFill>
                  <a:latin typeface="Montserrat"/>
                  <a:ea typeface="Montserrat"/>
                  <a:cs typeface="Montserrat"/>
                  <a:sym typeface="Montserrat"/>
                </a:endParaRPr>
              </a:p>
            </p:txBody>
          </p:sp>
        </p:grpSp>
        <p:pic>
          <p:nvPicPr>
            <p:cNvPr id="3488" name="Google Shape;3488;g251d9346719_0_1204"/>
            <p:cNvPicPr preferRelativeResize="0"/>
            <p:nvPr/>
          </p:nvPicPr>
          <p:blipFill rotWithShape="1">
            <a:blip r:embed="rId4">
              <a:alphaModFix/>
            </a:blip>
            <a:srcRect b="0" l="0" r="0" t="0"/>
            <a:stretch/>
          </p:blipFill>
          <p:spPr>
            <a:xfrm>
              <a:off x="1590687" y="2007737"/>
              <a:ext cx="272555" cy="252119"/>
            </a:xfrm>
            <a:prstGeom prst="rect">
              <a:avLst/>
            </a:prstGeom>
            <a:noFill/>
            <a:ln>
              <a:noFill/>
            </a:ln>
          </p:spPr>
        </p:pic>
      </p:grpSp>
      <p:grpSp>
        <p:nvGrpSpPr>
          <p:cNvPr id="3489" name="Google Shape;3489;g251d9346719_0_1204"/>
          <p:cNvGrpSpPr/>
          <p:nvPr/>
        </p:nvGrpSpPr>
        <p:grpSpPr>
          <a:xfrm>
            <a:off x="6169796" y="4788211"/>
            <a:ext cx="825094" cy="284740"/>
            <a:chOff x="2785855" y="1986995"/>
            <a:chExt cx="1100126" cy="320472"/>
          </a:xfrm>
        </p:grpSpPr>
        <p:grpSp>
          <p:nvGrpSpPr>
            <p:cNvPr id="3490" name="Google Shape;3490;g251d9346719_0_1204"/>
            <p:cNvGrpSpPr/>
            <p:nvPr/>
          </p:nvGrpSpPr>
          <p:grpSpPr>
            <a:xfrm>
              <a:off x="2785855" y="1986995"/>
              <a:ext cx="1100126" cy="320472"/>
              <a:chOff x="13814589" y="1926698"/>
              <a:chExt cx="2540119" cy="804600"/>
            </a:xfrm>
          </p:grpSpPr>
          <p:sp>
            <p:nvSpPr>
              <p:cNvPr id="3491" name="Google Shape;3491;g251d9346719_0_1204"/>
              <p:cNvSpPr/>
              <p:nvPr/>
            </p:nvSpPr>
            <p:spPr>
              <a:xfrm>
                <a:off x="13964608" y="1977408"/>
                <a:ext cx="2390100" cy="7032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Canales</a:t>
                </a:r>
                <a:endParaRPr b="1" i="0" sz="500" u="none" cap="none" strike="noStrike">
                  <a:solidFill>
                    <a:srgbClr val="FFFFFF"/>
                  </a:solidFill>
                  <a:latin typeface="Montserrat"/>
                  <a:ea typeface="Montserrat"/>
                  <a:cs typeface="Montserrat"/>
                  <a:sym typeface="Montserrat"/>
                </a:endParaRPr>
              </a:p>
            </p:txBody>
          </p:sp>
          <p:grpSp>
            <p:nvGrpSpPr>
              <p:cNvPr id="3492" name="Google Shape;3492;g251d9346719_0_1204"/>
              <p:cNvGrpSpPr/>
              <p:nvPr/>
            </p:nvGrpSpPr>
            <p:grpSpPr>
              <a:xfrm>
                <a:off x="14018731" y="2168949"/>
                <a:ext cx="396177" cy="320504"/>
                <a:chOff x="-3757613" y="5049838"/>
                <a:chExt cx="5826126" cy="4713288"/>
              </a:xfrm>
            </p:grpSpPr>
            <p:sp>
              <p:nvSpPr>
                <p:cNvPr id="3493" name="Google Shape;3493;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94" name="Google Shape;3494;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95" name="Google Shape;3495;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96" name="Google Shape;3496;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97" name="Google Shape;3497;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498" name="Google Shape;3498;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499" name="Google Shape;3499;g251d9346719_0_1204"/>
              <p:cNvSpPr/>
              <p:nvPr/>
            </p:nvSpPr>
            <p:spPr>
              <a:xfrm>
                <a:off x="13814589" y="1926698"/>
                <a:ext cx="804600" cy="804600"/>
              </a:xfrm>
              <a:prstGeom prst="ellipse">
                <a:avLst/>
              </a:prstGeom>
              <a:solidFill>
                <a:srgbClr val="ED7D31"/>
              </a:solidFill>
              <a:ln cap="flat" cmpd="sng" w="76200">
                <a:solidFill>
                  <a:srgbClr val="ED7D3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500" name="Google Shape;3500;g251d9346719_0_1204"/>
            <p:cNvPicPr preferRelativeResize="0"/>
            <p:nvPr/>
          </p:nvPicPr>
          <p:blipFill rotWithShape="1">
            <a:blip r:embed="rId5">
              <a:alphaModFix/>
            </a:blip>
            <a:srcRect b="0" l="0" r="0" t="0"/>
            <a:stretch/>
          </p:blipFill>
          <p:spPr>
            <a:xfrm>
              <a:off x="2821379" y="2020069"/>
              <a:ext cx="264820" cy="254324"/>
            </a:xfrm>
            <a:prstGeom prst="rect">
              <a:avLst/>
            </a:prstGeom>
            <a:noFill/>
            <a:ln>
              <a:noFill/>
            </a:ln>
          </p:spPr>
        </p:pic>
      </p:grpSp>
      <p:grpSp>
        <p:nvGrpSpPr>
          <p:cNvPr id="3501" name="Google Shape;3501;g251d9346719_0_1204"/>
          <p:cNvGrpSpPr/>
          <p:nvPr/>
        </p:nvGrpSpPr>
        <p:grpSpPr>
          <a:xfrm>
            <a:off x="8249399" y="4781334"/>
            <a:ext cx="808089" cy="284740"/>
            <a:chOff x="3756292" y="2436551"/>
            <a:chExt cx="1077452" cy="320472"/>
          </a:xfrm>
        </p:grpSpPr>
        <p:grpSp>
          <p:nvGrpSpPr>
            <p:cNvPr id="3502" name="Google Shape;3502;g251d9346719_0_1204"/>
            <p:cNvGrpSpPr/>
            <p:nvPr/>
          </p:nvGrpSpPr>
          <p:grpSpPr>
            <a:xfrm>
              <a:off x="3756830" y="2436551"/>
              <a:ext cx="1076914" cy="320472"/>
              <a:chOff x="13814589" y="1926698"/>
              <a:chExt cx="2486526" cy="804600"/>
            </a:xfrm>
          </p:grpSpPr>
          <p:sp>
            <p:nvSpPr>
              <p:cNvPr id="3503" name="Google Shape;3503;g251d9346719_0_1204"/>
              <p:cNvSpPr/>
              <p:nvPr/>
            </p:nvSpPr>
            <p:spPr>
              <a:xfrm>
                <a:off x="14062515" y="1977408"/>
                <a:ext cx="2238600" cy="7032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Teller Multi Core</a:t>
                </a:r>
                <a:endParaRPr b="1" i="0" sz="500" u="none" cap="none" strike="noStrike">
                  <a:solidFill>
                    <a:srgbClr val="000000"/>
                  </a:solidFill>
                  <a:latin typeface="Arial"/>
                  <a:ea typeface="Arial"/>
                  <a:cs typeface="Arial"/>
                  <a:sym typeface="Arial"/>
                </a:endParaRPr>
              </a:p>
            </p:txBody>
          </p:sp>
          <p:grpSp>
            <p:nvGrpSpPr>
              <p:cNvPr id="3504" name="Google Shape;3504;g251d9346719_0_1204"/>
              <p:cNvGrpSpPr/>
              <p:nvPr/>
            </p:nvGrpSpPr>
            <p:grpSpPr>
              <a:xfrm>
                <a:off x="14018731" y="2168949"/>
                <a:ext cx="396177" cy="320504"/>
                <a:chOff x="-3757613" y="5049838"/>
                <a:chExt cx="5826126" cy="4713288"/>
              </a:xfrm>
            </p:grpSpPr>
            <p:sp>
              <p:nvSpPr>
                <p:cNvPr id="3505" name="Google Shape;3505;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06" name="Google Shape;3506;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07" name="Google Shape;3507;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08" name="Google Shape;3508;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09" name="Google Shape;3509;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10" name="Google Shape;3510;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511" name="Google Shape;3511;g251d9346719_0_1204"/>
              <p:cNvSpPr/>
              <p:nvPr/>
            </p:nvSpPr>
            <p:spPr>
              <a:xfrm>
                <a:off x="13814589" y="1926698"/>
                <a:ext cx="804600" cy="804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descr="Icon&#10;&#10;Description automatically generated" id="3512" name="Google Shape;3512;g251d9346719_0_1204"/>
            <p:cNvPicPr preferRelativeResize="0"/>
            <p:nvPr/>
          </p:nvPicPr>
          <p:blipFill rotWithShape="1">
            <a:blip r:embed="rId6">
              <a:alphaModFix/>
            </a:blip>
            <a:srcRect b="0" l="0" r="0" t="0"/>
            <a:stretch/>
          </p:blipFill>
          <p:spPr>
            <a:xfrm>
              <a:off x="3756292" y="2444022"/>
              <a:ext cx="338641" cy="266506"/>
            </a:xfrm>
            <a:prstGeom prst="rect">
              <a:avLst/>
            </a:prstGeom>
            <a:noFill/>
            <a:ln>
              <a:noFill/>
            </a:ln>
          </p:spPr>
        </p:pic>
      </p:grpSp>
      <p:grpSp>
        <p:nvGrpSpPr>
          <p:cNvPr id="3513" name="Google Shape;3513;g251d9346719_0_1204"/>
          <p:cNvGrpSpPr/>
          <p:nvPr/>
        </p:nvGrpSpPr>
        <p:grpSpPr>
          <a:xfrm>
            <a:off x="1951661" y="4771457"/>
            <a:ext cx="861672" cy="304551"/>
            <a:chOff x="6324690" y="1425668"/>
            <a:chExt cx="2129689" cy="727200"/>
          </a:xfrm>
        </p:grpSpPr>
        <p:sp>
          <p:nvSpPr>
            <p:cNvPr id="3514" name="Google Shape;3514;g251d9346719_0_1204"/>
            <p:cNvSpPr/>
            <p:nvPr/>
          </p:nvSpPr>
          <p:spPr>
            <a:xfrm>
              <a:off x="6527479" y="1452669"/>
              <a:ext cx="1926900" cy="634800"/>
            </a:xfrm>
            <a:prstGeom prst="roundRect">
              <a:avLst>
                <a:gd fmla="val 50000" name="adj"/>
              </a:avLst>
            </a:prstGeom>
            <a:solidFill>
              <a:srgbClr val="FFCF36"/>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400"/>
                <a:buFont typeface="Arial"/>
                <a:buNone/>
              </a:pPr>
              <a:r>
                <a:rPr b="1" i="0" lang="es" sz="400" u="none" cap="none" strike="noStrike">
                  <a:solidFill>
                    <a:srgbClr val="FFFFFF"/>
                  </a:solidFill>
                  <a:latin typeface="Montserrat"/>
                  <a:ea typeface="Montserrat"/>
                  <a:cs typeface="Montserrat"/>
                  <a:sym typeface="Montserrat"/>
                </a:rPr>
                <a:t>CBS/CMS</a:t>
              </a:r>
              <a:endParaRPr b="0" i="0" sz="400" u="none" cap="none" strike="noStrike">
                <a:solidFill>
                  <a:srgbClr val="000000"/>
                </a:solidFill>
                <a:latin typeface="Arial"/>
                <a:ea typeface="Arial"/>
                <a:cs typeface="Arial"/>
                <a:sym typeface="Arial"/>
              </a:endParaRPr>
            </a:p>
          </p:txBody>
        </p:sp>
        <p:sp>
          <p:nvSpPr>
            <p:cNvPr id="3515" name="Google Shape;3515;g251d9346719_0_1204"/>
            <p:cNvSpPr/>
            <p:nvPr/>
          </p:nvSpPr>
          <p:spPr>
            <a:xfrm>
              <a:off x="6373836" y="1425668"/>
              <a:ext cx="648000" cy="727200"/>
            </a:xfrm>
            <a:prstGeom prst="ellipse">
              <a:avLst/>
            </a:prstGeom>
            <a:solidFill>
              <a:schemeClr val="accent5"/>
            </a:solidFill>
            <a:ln cap="flat" cmpd="sng" w="76200">
              <a:solidFill>
                <a:srgbClr val="FFCF36"/>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808080"/>
                </a:solidFill>
                <a:latin typeface="Montserrat"/>
                <a:ea typeface="Montserrat"/>
                <a:cs typeface="Montserrat"/>
                <a:sym typeface="Montserrat"/>
              </a:endParaRPr>
            </a:p>
          </p:txBody>
        </p:sp>
        <p:grpSp>
          <p:nvGrpSpPr>
            <p:cNvPr id="3516" name="Google Shape;3516;g251d9346719_0_1204"/>
            <p:cNvGrpSpPr/>
            <p:nvPr/>
          </p:nvGrpSpPr>
          <p:grpSpPr>
            <a:xfrm>
              <a:off x="6324690" y="1425671"/>
              <a:ext cx="946664" cy="600005"/>
              <a:chOff x="5612969" y="2467885"/>
              <a:chExt cx="946664" cy="600005"/>
            </a:xfrm>
          </p:grpSpPr>
          <p:pic>
            <p:nvPicPr>
              <p:cNvPr id="3517" name="Google Shape;3517;g251d9346719_0_1204"/>
              <p:cNvPicPr preferRelativeResize="0"/>
              <p:nvPr/>
            </p:nvPicPr>
            <p:blipFill rotWithShape="1">
              <a:blip r:embed="rId7">
                <a:alphaModFix/>
              </a:blip>
              <a:srcRect b="0" l="0" r="0" t="0"/>
              <a:stretch/>
            </p:blipFill>
            <p:spPr>
              <a:xfrm>
                <a:off x="6089289" y="2680913"/>
                <a:ext cx="470344" cy="386977"/>
              </a:xfrm>
              <a:prstGeom prst="rect">
                <a:avLst/>
              </a:prstGeom>
              <a:noFill/>
              <a:ln>
                <a:noFill/>
              </a:ln>
            </p:spPr>
          </p:pic>
          <p:pic>
            <p:nvPicPr>
              <p:cNvPr id="3518" name="Google Shape;3518;g251d9346719_0_1204"/>
              <p:cNvPicPr preferRelativeResize="0"/>
              <p:nvPr/>
            </p:nvPicPr>
            <p:blipFill rotWithShape="1">
              <a:blip r:embed="rId8">
                <a:alphaModFix/>
              </a:blip>
              <a:srcRect b="0" l="0" r="0" t="0"/>
              <a:stretch/>
            </p:blipFill>
            <p:spPr>
              <a:xfrm>
                <a:off x="5612969" y="2467885"/>
                <a:ext cx="479684" cy="564289"/>
              </a:xfrm>
              <a:prstGeom prst="rect">
                <a:avLst/>
              </a:prstGeom>
              <a:noFill/>
              <a:ln>
                <a:noFill/>
              </a:ln>
            </p:spPr>
          </p:pic>
        </p:grpSp>
      </p:grpSp>
      <p:grpSp>
        <p:nvGrpSpPr>
          <p:cNvPr id="3519" name="Google Shape;3519;g251d9346719_0_1204"/>
          <p:cNvGrpSpPr/>
          <p:nvPr/>
        </p:nvGrpSpPr>
        <p:grpSpPr>
          <a:xfrm>
            <a:off x="5074953" y="4764009"/>
            <a:ext cx="833533" cy="284700"/>
            <a:chOff x="6536460" y="4689173"/>
            <a:chExt cx="833533" cy="284700"/>
          </a:xfrm>
        </p:grpSpPr>
        <p:sp>
          <p:nvSpPr>
            <p:cNvPr id="3520" name="Google Shape;3520;g251d9346719_0_1204"/>
            <p:cNvSpPr/>
            <p:nvPr/>
          </p:nvSpPr>
          <p:spPr>
            <a:xfrm>
              <a:off x="6616993" y="4707119"/>
              <a:ext cx="753000" cy="249000"/>
            </a:xfrm>
            <a:prstGeom prst="roundRect">
              <a:avLst>
                <a:gd fmla="val 50000" name="adj"/>
              </a:avLst>
            </a:prstGeom>
            <a:solidFill>
              <a:srgbClr val="ED7D31"/>
            </a:solidFill>
            <a:ln>
              <a:noFill/>
            </a:ln>
          </p:spPr>
          <p:txBody>
            <a:bodyPr anchorCtr="0" anchor="ctr" bIns="29425" lIns="246150" spcFirstLastPara="1" rIns="58875" wrap="square" tIns="29425">
              <a:noAutofit/>
            </a:bodyPr>
            <a:lstStyle/>
            <a:p>
              <a:pPr indent="0" lvl="0" marL="7937"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Interfases Temp.</a:t>
              </a:r>
              <a:endParaRPr b="1" i="0" sz="500" u="none" cap="none" strike="noStrike">
                <a:solidFill>
                  <a:srgbClr val="000000"/>
                </a:solidFill>
                <a:latin typeface="Arial"/>
                <a:ea typeface="Arial"/>
                <a:cs typeface="Arial"/>
                <a:sym typeface="Arial"/>
              </a:endParaRPr>
            </a:p>
          </p:txBody>
        </p:sp>
        <p:sp>
          <p:nvSpPr>
            <p:cNvPr id="3521" name="Google Shape;3521;g251d9346719_0_1204"/>
            <p:cNvSpPr/>
            <p:nvPr/>
          </p:nvSpPr>
          <p:spPr>
            <a:xfrm>
              <a:off x="6536460" y="4689173"/>
              <a:ext cx="261300" cy="284700"/>
            </a:xfrm>
            <a:prstGeom prst="ellipse">
              <a:avLst/>
            </a:prstGeom>
            <a:solidFill>
              <a:srgbClr val="ED7D31"/>
            </a:solidFill>
            <a:ln cap="flat" cmpd="sng" w="76200">
              <a:solidFill>
                <a:srgbClr val="ED7D3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pic>
          <p:nvPicPr>
            <p:cNvPr id="3522" name="Google Shape;3522;g251d9346719_0_1204"/>
            <p:cNvPicPr preferRelativeResize="0"/>
            <p:nvPr/>
          </p:nvPicPr>
          <p:blipFill rotWithShape="1">
            <a:blip r:embed="rId9">
              <a:alphaModFix/>
            </a:blip>
            <a:srcRect b="0" l="0" r="0" t="0"/>
            <a:stretch/>
          </p:blipFill>
          <p:spPr>
            <a:xfrm>
              <a:off x="6555218" y="4710989"/>
              <a:ext cx="206310" cy="231145"/>
            </a:xfrm>
            <a:prstGeom prst="rect">
              <a:avLst/>
            </a:prstGeom>
            <a:noFill/>
            <a:ln>
              <a:noFill/>
            </a:ln>
          </p:spPr>
        </p:pic>
      </p:grpSp>
      <p:grpSp>
        <p:nvGrpSpPr>
          <p:cNvPr id="3523" name="Google Shape;3523;g251d9346719_0_1204"/>
          <p:cNvGrpSpPr/>
          <p:nvPr/>
        </p:nvGrpSpPr>
        <p:grpSpPr>
          <a:xfrm>
            <a:off x="3937937" y="4750076"/>
            <a:ext cx="825660" cy="284740"/>
            <a:chOff x="5704379" y="3794681"/>
            <a:chExt cx="1100880" cy="320472"/>
          </a:xfrm>
        </p:grpSpPr>
        <p:grpSp>
          <p:nvGrpSpPr>
            <p:cNvPr id="3524" name="Google Shape;3524;g251d9346719_0_1204"/>
            <p:cNvGrpSpPr/>
            <p:nvPr/>
          </p:nvGrpSpPr>
          <p:grpSpPr>
            <a:xfrm>
              <a:off x="5704379" y="3794681"/>
              <a:ext cx="1100880" cy="320472"/>
              <a:chOff x="13814589" y="1926698"/>
              <a:chExt cx="2541861" cy="804600"/>
            </a:xfrm>
          </p:grpSpPr>
          <p:sp>
            <p:nvSpPr>
              <p:cNvPr id="3525" name="Google Shape;3525;g251d9346719_0_1204"/>
              <p:cNvSpPr/>
              <p:nvPr/>
            </p:nvSpPr>
            <p:spPr>
              <a:xfrm>
                <a:off x="13915650" y="1977408"/>
                <a:ext cx="2440800" cy="703200"/>
              </a:xfrm>
              <a:prstGeom prst="roundRect">
                <a:avLst>
                  <a:gd fmla="val 50000" name="adj"/>
                </a:avLst>
              </a:prstGeom>
              <a:solidFill>
                <a:srgbClr val="ED7D31"/>
              </a:solidFill>
              <a:ln cap="flat" cmpd="sng" w="9525">
                <a:solidFill>
                  <a:srgbClr val="ED7D31"/>
                </a:solidFill>
                <a:prstDash val="solid"/>
                <a:round/>
                <a:headEnd len="sm" w="sm" type="none"/>
                <a:tailEnd len="sm" w="sm" type="none"/>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Apificación</a:t>
                </a:r>
                <a:endParaRPr b="1" i="0" sz="5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 OFI Web</a:t>
                </a:r>
                <a:endParaRPr b="1" i="0" sz="500" u="none" cap="none" strike="noStrike">
                  <a:solidFill>
                    <a:srgbClr val="000000"/>
                  </a:solidFill>
                  <a:latin typeface="Arial"/>
                  <a:ea typeface="Arial"/>
                  <a:cs typeface="Arial"/>
                  <a:sym typeface="Arial"/>
                </a:endParaRPr>
              </a:p>
            </p:txBody>
          </p:sp>
          <p:grpSp>
            <p:nvGrpSpPr>
              <p:cNvPr id="3526" name="Google Shape;3526;g251d9346719_0_1204"/>
              <p:cNvGrpSpPr/>
              <p:nvPr/>
            </p:nvGrpSpPr>
            <p:grpSpPr>
              <a:xfrm>
                <a:off x="14018731" y="2168949"/>
                <a:ext cx="396177" cy="320504"/>
                <a:chOff x="-3757613" y="5049838"/>
                <a:chExt cx="5826126" cy="4713288"/>
              </a:xfrm>
            </p:grpSpPr>
            <p:sp>
              <p:nvSpPr>
                <p:cNvPr id="3527" name="Google Shape;3527;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close/>
                      <a:moveTo>
                        <a:pt x="964" y="351"/>
                      </a:moveTo>
                      <a:lnTo>
                        <a:pt x="1352" y="351"/>
                      </a:lnTo>
                      <a:lnTo>
                        <a:pt x="1352" y="741"/>
                      </a:lnTo>
                      <a:lnTo>
                        <a:pt x="964" y="741"/>
                      </a:lnTo>
                      <a:lnTo>
                        <a:pt x="964" y="351"/>
                      </a:lnTo>
                      <a:close/>
                      <a:moveTo>
                        <a:pt x="964" y="978"/>
                      </a:moveTo>
                      <a:lnTo>
                        <a:pt x="1352" y="978"/>
                      </a:lnTo>
                      <a:lnTo>
                        <a:pt x="1352" y="1366"/>
                      </a:lnTo>
                      <a:lnTo>
                        <a:pt x="964" y="1366"/>
                      </a:lnTo>
                      <a:lnTo>
                        <a:pt x="964" y="978"/>
                      </a:lnTo>
                      <a:close/>
                      <a:moveTo>
                        <a:pt x="964" y="1603"/>
                      </a:moveTo>
                      <a:lnTo>
                        <a:pt x="1352" y="1603"/>
                      </a:lnTo>
                      <a:lnTo>
                        <a:pt x="1352" y="1994"/>
                      </a:lnTo>
                      <a:lnTo>
                        <a:pt x="964" y="1994"/>
                      </a:lnTo>
                      <a:lnTo>
                        <a:pt x="964" y="1603"/>
                      </a:lnTo>
                      <a:close/>
                      <a:moveTo>
                        <a:pt x="336" y="351"/>
                      </a:moveTo>
                      <a:lnTo>
                        <a:pt x="727" y="351"/>
                      </a:lnTo>
                      <a:lnTo>
                        <a:pt x="727" y="741"/>
                      </a:lnTo>
                      <a:lnTo>
                        <a:pt x="336" y="741"/>
                      </a:lnTo>
                      <a:lnTo>
                        <a:pt x="336" y="351"/>
                      </a:lnTo>
                      <a:close/>
                      <a:moveTo>
                        <a:pt x="336" y="978"/>
                      </a:moveTo>
                      <a:lnTo>
                        <a:pt x="727" y="978"/>
                      </a:lnTo>
                      <a:lnTo>
                        <a:pt x="727" y="1366"/>
                      </a:lnTo>
                      <a:lnTo>
                        <a:pt x="336" y="1366"/>
                      </a:lnTo>
                      <a:lnTo>
                        <a:pt x="336" y="978"/>
                      </a:lnTo>
                      <a:close/>
                      <a:moveTo>
                        <a:pt x="336" y="1603"/>
                      </a:moveTo>
                      <a:lnTo>
                        <a:pt x="727" y="1603"/>
                      </a:lnTo>
                      <a:lnTo>
                        <a:pt x="727" y="1994"/>
                      </a:lnTo>
                      <a:lnTo>
                        <a:pt x="336" y="1994"/>
                      </a:lnTo>
                      <a:lnTo>
                        <a:pt x="336" y="1603"/>
                      </a:lnTo>
                      <a:close/>
                      <a:moveTo>
                        <a:pt x="336" y="1603"/>
                      </a:moveTo>
                      <a:lnTo>
                        <a:pt x="336" y="1603"/>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28" name="Google Shape;3528;g251d9346719_0_1204"/>
                <p:cNvSpPr/>
                <p:nvPr/>
              </p:nvSpPr>
              <p:spPr>
                <a:xfrm>
                  <a:off x="-2184400" y="5049838"/>
                  <a:ext cx="2679700" cy="4713288"/>
                </a:xfrm>
                <a:custGeom>
                  <a:rect b="b" l="l" r="r" t="t"/>
                  <a:pathLst>
                    <a:path extrusionOk="0" h="2969" w="1688">
                      <a:moveTo>
                        <a:pt x="0" y="2969"/>
                      </a:moveTo>
                      <a:lnTo>
                        <a:pt x="649" y="2969"/>
                      </a:lnTo>
                      <a:lnTo>
                        <a:pt x="649" y="2306"/>
                      </a:lnTo>
                      <a:lnTo>
                        <a:pt x="1039" y="2306"/>
                      </a:lnTo>
                      <a:lnTo>
                        <a:pt x="1039" y="2969"/>
                      </a:lnTo>
                      <a:lnTo>
                        <a:pt x="1688" y="2969"/>
                      </a:lnTo>
                      <a:lnTo>
                        <a:pt x="1688" y="0"/>
                      </a:lnTo>
                      <a:lnTo>
                        <a:pt x="0" y="0"/>
                      </a:lnTo>
                      <a:lnTo>
                        <a:pt x="0" y="2969"/>
                      </a:lnTo>
                      <a:moveTo>
                        <a:pt x="964" y="351"/>
                      </a:moveTo>
                      <a:lnTo>
                        <a:pt x="1352" y="351"/>
                      </a:lnTo>
                      <a:lnTo>
                        <a:pt x="1352" y="741"/>
                      </a:lnTo>
                      <a:lnTo>
                        <a:pt x="964" y="741"/>
                      </a:lnTo>
                      <a:lnTo>
                        <a:pt x="964" y="351"/>
                      </a:lnTo>
                      <a:moveTo>
                        <a:pt x="964" y="978"/>
                      </a:moveTo>
                      <a:lnTo>
                        <a:pt x="1352" y="978"/>
                      </a:lnTo>
                      <a:lnTo>
                        <a:pt x="1352" y="1366"/>
                      </a:lnTo>
                      <a:lnTo>
                        <a:pt x="964" y="1366"/>
                      </a:lnTo>
                      <a:lnTo>
                        <a:pt x="964" y="978"/>
                      </a:lnTo>
                      <a:moveTo>
                        <a:pt x="964" y="1603"/>
                      </a:moveTo>
                      <a:lnTo>
                        <a:pt x="1352" y="1603"/>
                      </a:lnTo>
                      <a:lnTo>
                        <a:pt x="1352" y="1994"/>
                      </a:lnTo>
                      <a:lnTo>
                        <a:pt x="964" y="1994"/>
                      </a:lnTo>
                      <a:lnTo>
                        <a:pt x="964" y="1603"/>
                      </a:lnTo>
                      <a:moveTo>
                        <a:pt x="336" y="351"/>
                      </a:moveTo>
                      <a:lnTo>
                        <a:pt x="727" y="351"/>
                      </a:lnTo>
                      <a:lnTo>
                        <a:pt x="727" y="741"/>
                      </a:lnTo>
                      <a:lnTo>
                        <a:pt x="336" y="741"/>
                      </a:lnTo>
                      <a:lnTo>
                        <a:pt x="336" y="351"/>
                      </a:lnTo>
                      <a:moveTo>
                        <a:pt x="336" y="978"/>
                      </a:moveTo>
                      <a:lnTo>
                        <a:pt x="727" y="978"/>
                      </a:lnTo>
                      <a:lnTo>
                        <a:pt x="727" y="1366"/>
                      </a:lnTo>
                      <a:lnTo>
                        <a:pt x="336" y="1366"/>
                      </a:lnTo>
                      <a:lnTo>
                        <a:pt x="336" y="978"/>
                      </a:lnTo>
                      <a:moveTo>
                        <a:pt x="336" y="1603"/>
                      </a:moveTo>
                      <a:lnTo>
                        <a:pt x="727" y="1603"/>
                      </a:lnTo>
                      <a:lnTo>
                        <a:pt x="727" y="1994"/>
                      </a:lnTo>
                      <a:lnTo>
                        <a:pt x="336" y="1994"/>
                      </a:lnTo>
                      <a:lnTo>
                        <a:pt x="336" y="1603"/>
                      </a:lnTo>
                      <a:moveTo>
                        <a:pt x="336" y="1603"/>
                      </a:moveTo>
                      <a:lnTo>
                        <a:pt x="336" y="1603"/>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29" name="Google Shape;3529;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close/>
                      <a:moveTo>
                        <a:pt x="535" y="1816"/>
                      </a:moveTo>
                      <a:lnTo>
                        <a:pt x="180" y="1816"/>
                      </a:lnTo>
                      <a:lnTo>
                        <a:pt x="180" y="1461"/>
                      </a:lnTo>
                      <a:lnTo>
                        <a:pt x="535" y="1461"/>
                      </a:lnTo>
                      <a:lnTo>
                        <a:pt x="535" y="1816"/>
                      </a:lnTo>
                      <a:close/>
                      <a:moveTo>
                        <a:pt x="535" y="1246"/>
                      </a:moveTo>
                      <a:lnTo>
                        <a:pt x="180" y="1246"/>
                      </a:lnTo>
                      <a:lnTo>
                        <a:pt x="180" y="891"/>
                      </a:lnTo>
                      <a:lnTo>
                        <a:pt x="535" y="891"/>
                      </a:lnTo>
                      <a:lnTo>
                        <a:pt x="535" y="1246"/>
                      </a:lnTo>
                      <a:close/>
                      <a:moveTo>
                        <a:pt x="535" y="675"/>
                      </a:moveTo>
                      <a:lnTo>
                        <a:pt x="180" y="675"/>
                      </a:lnTo>
                      <a:lnTo>
                        <a:pt x="180" y="320"/>
                      </a:lnTo>
                      <a:lnTo>
                        <a:pt x="535" y="320"/>
                      </a:lnTo>
                      <a:lnTo>
                        <a:pt x="535" y="675"/>
                      </a:lnTo>
                      <a:close/>
                      <a:moveTo>
                        <a:pt x="535" y="675"/>
                      </a:moveTo>
                      <a:lnTo>
                        <a:pt x="535" y="675"/>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30" name="Google Shape;3530;g251d9346719_0_1204"/>
                <p:cNvSpPr/>
                <p:nvPr/>
              </p:nvSpPr>
              <p:spPr>
                <a:xfrm>
                  <a:off x="735013" y="5470525"/>
                  <a:ext cx="1333500" cy="4292600"/>
                </a:xfrm>
                <a:custGeom>
                  <a:rect b="b" l="l" r="r" t="t"/>
                  <a:pathLst>
                    <a:path extrusionOk="0" h="2704" w="840">
                      <a:moveTo>
                        <a:pt x="0" y="0"/>
                      </a:moveTo>
                      <a:lnTo>
                        <a:pt x="0" y="2100"/>
                      </a:lnTo>
                      <a:lnTo>
                        <a:pt x="251" y="2100"/>
                      </a:lnTo>
                      <a:lnTo>
                        <a:pt x="251" y="2704"/>
                      </a:lnTo>
                      <a:lnTo>
                        <a:pt x="840" y="2704"/>
                      </a:lnTo>
                      <a:lnTo>
                        <a:pt x="840" y="0"/>
                      </a:lnTo>
                      <a:lnTo>
                        <a:pt x="0" y="0"/>
                      </a:lnTo>
                      <a:moveTo>
                        <a:pt x="535" y="1816"/>
                      </a:moveTo>
                      <a:lnTo>
                        <a:pt x="180" y="1816"/>
                      </a:lnTo>
                      <a:lnTo>
                        <a:pt x="180" y="1461"/>
                      </a:lnTo>
                      <a:lnTo>
                        <a:pt x="535" y="1461"/>
                      </a:lnTo>
                      <a:lnTo>
                        <a:pt x="535" y="1816"/>
                      </a:lnTo>
                      <a:moveTo>
                        <a:pt x="535" y="1246"/>
                      </a:moveTo>
                      <a:lnTo>
                        <a:pt x="180" y="1246"/>
                      </a:lnTo>
                      <a:lnTo>
                        <a:pt x="180" y="891"/>
                      </a:lnTo>
                      <a:lnTo>
                        <a:pt x="535" y="891"/>
                      </a:lnTo>
                      <a:lnTo>
                        <a:pt x="535" y="1246"/>
                      </a:lnTo>
                      <a:moveTo>
                        <a:pt x="535" y="675"/>
                      </a:moveTo>
                      <a:lnTo>
                        <a:pt x="180" y="675"/>
                      </a:lnTo>
                      <a:lnTo>
                        <a:pt x="180" y="320"/>
                      </a:lnTo>
                      <a:lnTo>
                        <a:pt x="535" y="320"/>
                      </a:lnTo>
                      <a:lnTo>
                        <a:pt x="535" y="675"/>
                      </a:lnTo>
                      <a:moveTo>
                        <a:pt x="535" y="675"/>
                      </a:moveTo>
                      <a:lnTo>
                        <a:pt x="535" y="675"/>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31" name="Google Shape;3531;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close/>
                      <a:moveTo>
                        <a:pt x="305" y="320"/>
                      </a:moveTo>
                      <a:lnTo>
                        <a:pt x="660" y="320"/>
                      </a:lnTo>
                      <a:lnTo>
                        <a:pt x="660" y="675"/>
                      </a:lnTo>
                      <a:lnTo>
                        <a:pt x="305" y="675"/>
                      </a:lnTo>
                      <a:lnTo>
                        <a:pt x="305" y="320"/>
                      </a:lnTo>
                      <a:close/>
                      <a:moveTo>
                        <a:pt x="305" y="891"/>
                      </a:moveTo>
                      <a:lnTo>
                        <a:pt x="660" y="891"/>
                      </a:lnTo>
                      <a:lnTo>
                        <a:pt x="660" y="1246"/>
                      </a:lnTo>
                      <a:lnTo>
                        <a:pt x="305" y="1246"/>
                      </a:lnTo>
                      <a:lnTo>
                        <a:pt x="305" y="891"/>
                      </a:lnTo>
                      <a:close/>
                      <a:moveTo>
                        <a:pt x="305" y="1461"/>
                      </a:moveTo>
                      <a:lnTo>
                        <a:pt x="660" y="1461"/>
                      </a:lnTo>
                      <a:lnTo>
                        <a:pt x="660" y="1816"/>
                      </a:lnTo>
                      <a:lnTo>
                        <a:pt x="305" y="1816"/>
                      </a:lnTo>
                      <a:lnTo>
                        <a:pt x="305" y="1461"/>
                      </a:lnTo>
                      <a:close/>
                      <a:moveTo>
                        <a:pt x="305" y="1461"/>
                      </a:moveTo>
                      <a:lnTo>
                        <a:pt x="305" y="1461"/>
                      </a:lnTo>
                      <a:close/>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sp>
              <p:nvSpPr>
                <p:cNvPr id="3532" name="Google Shape;3532;g251d9346719_0_1204"/>
                <p:cNvSpPr/>
                <p:nvPr/>
              </p:nvSpPr>
              <p:spPr>
                <a:xfrm>
                  <a:off x="-3757613" y="5470525"/>
                  <a:ext cx="1333500" cy="4292600"/>
                </a:xfrm>
                <a:custGeom>
                  <a:rect b="b" l="l" r="r" t="t"/>
                  <a:pathLst>
                    <a:path extrusionOk="0" h="2704" w="840">
                      <a:moveTo>
                        <a:pt x="0" y="2704"/>
                      </a:moveTo>
                      <a:lnTo>
                        <a:pt x="589" y="2704"/>
                      </a:lnTo>
                      <a:lnTo>
                        <a:pt x="589" y="2100"/>
                      </a:lnTo>
                      <a:lnTo>
                        <a:pt x="840" y="2100"/>
                      </a:lnTo>
                      <a:lnTo>
                        <a:pt x="840" y="0"/>
                      </a:lnTo>
                      <a:lnTo>
                        <a:pt x="0" y="0"/>
                      </a:lnTo>
                      <a:lnTo>
                        <a:pt x="0" y="2704"/>
                      </a:lnTo>
                      <a:moveTo>
                        <a:pt x="305" y="320"/>
                      </a:moveTo>
                      <a:lnTo>
                        <a:pt x="660" y="320"/>
                      </a:lnTo>
                      <a:lnTo>
                        <a:pt x="660" y="675"/>
                      </a:lnTo>
                      <a:lnTo>
                        <a:pt x="305" y="675"/>
                      </a:lnTo>
                      <a:lnTo>
                        <a:pt x="305" y="320"/>
                      </a:lnTo>
                      <a:moveTo>
                        <a:pt x="305" y="891"/>
                      </a:moveTo>
                      <a:lnTo>
                        <a:pt x="660" y="891"/>
                      </a:lnTo>
                      <a:lnTo>
                        <a:pt x="660" y="1246"/>
                      </a:lnTo>
                      <a:lnTo>
                        <a:pt x="305" y="1246"/>
                      </a:lnTo>
                      <a:lnTo>
                        <a:pt x="305" y="891"/>
                      </a:lnTo>
                      <a:moveTo>
                        <a:pt x="305" y="1461"/>
                      </a:moveTo>
                      <a:lnTo>
                        <a:pt x="660" y="1461"/>
                      </a:lnTo>
                      <a:lnTo>
                        <a:pt x="660" y="1816"/>
                      </a:lnTo>
                      <a:lnTo>
                        <a:pt x="305" y="1816"/>
                      </a:lnTo>
                      <a:lnTo>
                        <a:pt x="305" y="1461"/>
                      </a:lnTo>
                      <a:moveTo>
                        <a:pt x="305" y="1461"/>
                      </a:moveTo>
                      <a:lnTo>
                        <a:pt x="305" y="1461"/>
                      </a:lnTo>
                    </a:path>
                  </a:pathLst>
                </a:custGeom>
                <a:solidFill>
                  <a:srgbClr val="BFBFBF"/>
                </a:solidFill>
                <a:ln cap="flat" cmpd="sng" w="9525">
                  <a:solidFill>
                    <a:srgbClr val="BFBFBF"/>
                  </a:solidFill>
                  <a:prstDash val="solid"/>
                  <a:round/>
                  <a:headEnd len="sm" w="sm" type="none"/>
                  <a:tailEnd len="sm" w="sm" type="none"/>
                </a:ln>
              </p:spPr>
              <p:txBody>
                <a:bodyPr anchorCtr="0" anchor="t" bIns="18400" lIns="36775" spcFirstLastPara="1" rIns="36775" wrap="square" tIns="18400">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Montserrat"/>
                    <a:ea typeface="Montserrat"/>
                    <a:cs typeface="Montserrat"/>
                    <a:sym typeface="Montserrat"/>
                  </a:endParaRPr>
                </a:p>
              </p:txBody>
            </p:sp>
          </p:grpSp>
          <p:sp>
            <p:nvSpPr>
              <p:cNvPr id="3533" name="Google Shape;3533;g251d9346719_0_1204"/>
              <p:cNvSpPr/>
              <p:nvPr/>
            </p:nvSpPr>
            <p:spPr>
              <a:xfrm>
                <a:off x="13814589" y="1926698"/>
                <a:ext cx="804600" cy="804600"/>
              </a:xfrm>
              <a:prstGeom prst="ellipse">
                <a:avLst/>
              </a:prstGeom>
              <a:solidFill>
                <a:srgbClr val="ED7D31"/>
              </a:solidFill>
              <a:ln cap="flat" cmpd="sng" w="76200">
                <a:solidFill>
                  <a:srgbClr val="ED7D3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534" name="Google Shape;3534;g251d9346719_0_1204"/>
            <p:cNvPicPr preferRelativeResize="0"/>
            <p:nvPr/>
          </p:nvPicPr>
          <p:blipFill rotWithShape="1">
            <a:blip r:embed="rId10">
              <a:alphaModFix/>
            </a:blip>
            <a:srcRect b="0" l="0" r="0" t="0"/>
            <a:stretch/>
          </p:blipFill>
          <p:spPr>
            <a:xfrm>
              <a:off x="5767008" y="3838479"/>
              <a:ext cx="223168" cy="205291"/>
            </a:xfrm>
            <a:prstGeom prst="rect">
              <a:avLst/>
            </a:prstGeom>
            <a:noFill/>
            <a:ln>
              <a:noFill/>
            </a:ln>
          </p:spPr>
        </p:pic>
      </p:grpSp>
      <p:grpSp>
        <p:nvGrpSpPr>
          <p:cNvPr id="3535" name="Google Shape;3535;g251d9346719_0_1204"/>
          <p:cNvGrpSpPr/>
          <p:nvPr/>
        </p:nvGrpSpPr>
        <p:grpSpPr>
          <a:xfrm>
            <a:off x="150604" y="4763997"/>
            <a:ext cx="807733" cy="284707"/>
            <a:chOff x="1259501" y="3077120"/>
            <a:chExt cx="1076977" cy="320400"/>
          </a:xfrm>
        </p:grpSpPr>
        <p:sp>
          <p:nvSpPr>
            <p:cNvPr id="3536" name="Google Shape;3536;g251d9346719_0_1204"/>
            <p:cNvSpPr/>
            <p:nvPr/>
          </p:nvSpPr>
          <p:spPr>
            <a:xfrm>
              <a:off x="1366878" y="3097318"/>
              <a:ext cx="969600" cy="2802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CBS </a:t>
              </a:r>
              <a:endParaRPr b="1" i="0" sz="500" u="none" cap="none" strike="noStrike">
                <a:solidFill>
                  <a:srgbClr val="000000"/>
                </a:solidFill>
                <a:latin typeface="Arial"/>
                <a:ea typeface="Arial"/>
                <a:cs typeface="Arial"/>
                <a:sym typeface="Arial"/>
              </a:endParaRPr>
            </a:p>
          </p:txBody>
        </p:sp>
        <p:sp>
          <p:nvSpPr>
            <p:cNvPr id="3537" name="Google Shape;3537;g251d9346719_0_1204"/>
            <p:cNvSpPr/>
            <p:nvPr/>
          </p:nvSpPr>
          <p:spPr>
            <a:xfrm>
              <a:off x="1259501" y="3077120"/>
              <a:ext cx="348600" cy="3204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538" name="Google Shape;3538;g251d9346719_0_1204"/>
          <p:cNvPicPr preferRelativeResize="0"/>
          <p:nvPr/>
        </p:nvPicPr>
        <p:blipFill rotWithShape="1">
          <a:blip r:embed="rId8">
            <a:alphaModFix/>
          </a:blip>
          <a:srcRect b="0" l="0" r="0" t="0"/>
          <a:stretch/>
        </p:blipFill>
        <p:spPr>
          <a:xfrm>
            <a:off x="183825" y="4799606"/>
            <a:ext cx="194802" cy="213498"/>
          </a:xfrm>
          <a:prstGeom prst="rect">
            <a:avLst/>
          </a:prstGeom>
          <a:solidFill>
            <a:srgbClr val="F3F3F3"/>
          </a:solidFill>
          <a:ln>
            <a:noFill/>
          </a:ln>
        </p:spPr>
      </p:pic>
      <p:grpSp>
        <p:nvGrpSpPr>
          <p:cNvPr id="3539" name="Google Shape;3539;g251d9346719_0_1204"/>
          <p:cNvGrpSpPr/>
          <p:nvPr/>
        </p:nvGrpSpPr>
        <p:grpSpPr>
          <a:xfrm>
            <a:off x="1065004" y="4763997"/>
            <a:ext cx="807733" cy="284707"/>
            <a:chOff x="1259501" y="3077120"/>
            <a:chExt cx="1076977" cy="320400"/>
          </a:xfrm>
        </p:grpSpPr>
        <p:sp>
          <p:nvSpPr>
            <p:cNvPr id="3540" name="Google Shape;3540;g251d9346719_0_1204"/>
            <p:cNvSpPr/>
            <p:nvPr/>
          </p:nvSpPr>
          <p:spPr>
            <a:xfrm>
              <a:off x="1366878" y="3097318"/>
              <a:ext cx="969600" cy="280200"/>
            </a:xfrm>
            <a:prstGeom prst="roundRect">
              <a:avLst>
                <a:gd fmla="val 50000" name="adj"/>
              </a:avLst>
            </a:prstGeom>
            <a:solidFill>
              <a:schemeClr val="accent1"/>
            </a:solidFill>
            <a:ln>
              <a:noFill/>
            </a:ln>
          </p:spPr>
          <p:txBody>
            <a:bodyPr anchorCtr="0" anchor="ctr" bIns="29425" lIns="246150"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rPr b="1" i="0" lang="es" sz="500" u="none" cap="none" strike="noStrike">
                  <a:solidFill>
                    <a:srgbClr val="FFFFFF"/>
                  </a:solidFill>
                  <a:latin typeface="Montserrat"/>
                  <a:ea typeface="Montserrat"/>
                  <a:cs typeface="Montserrat"/>
                  <a:sym typeface="Montserrat"/>
                </a:rPr>
                <a:t>CmS </a:t>
              </a:r>
              <a:endParaRPr b="1" i="0" sz="500" u="none" cap="none" strike="noStrike">
                <a:solidFill>
                  <a:srgbClr val="000000"/>
                </a:solidFill>
                <a:latin typeface="Arial"/>
                <a:ea typeface="Arial"/>
                <a:cs typeface="Arial"/>
                <a:sym typeface="Arial"/>
              </a:endParaRPr>
            </a:p>
          </p:txBody>
        </p:sp>
        <p:sp>
          <p:nvSpPr>
            <p:cNvPr id="3541" name="Google Shape;3541;g251d9346719_0_1204"/>
            <p:cNvSpPr/>
            <p:nvPr/>
          </p:nvSpPr>
          <p:spPr>
            <a:xfrm>
              <a:off x="1259501" y="3077120"/>
              <a:ext cx="348600" cy="3204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29425" lIns="58875" spcFirstLastPara="1" rIns="58875" wrap="square" tIns="29425">
              <a:noAutofit/>
            </a:bodyPr>
            <a:lstStyle/>
            <a:p>
              <a:pPr indent="0" lvl="0" marL="0" marR="0" rtl="0" algn="ctr">
                <a:lnSpc>
                  <a:spcPct val="100000"/>
                </a:lnSpc>
                <a:spcBef>
                  <a:spcPts val="0"/>
                </a:spcBef>
                <a:spcAft>
                  <a:spcPts val="0"/>
                </a:spcAft>
                <a:buClr>
                  <a:srgbClr val="000000"/>
                </a:buClr>
                <a:buSzPts val="500"/>
                <a:buFont typeface="Arial"/>
                <a:buNone/>
              </a:pPr>
              <a:r>
                <a:t/>
              </a:r>
              <a:endParaRPr b="1" i="0" sz="500" u="none" cap="none" strike="noStrike">
                <a:solidFill>
                  <a:srgbClr val="808080"/>
                </a:solidFill>
                <a:latin typeface="Montserrat"/>
                <a:ea typeface="Montserrat"/>
                <a:cs typeface="Montserrat"/>
                <a:sym typeface="Montserrat"/>
              </a:endParaRPr>
            </a:p>
          </p:txBody>
        </p:sp>
      </p:grpSp>
      <p:pic>
        <p:nvPicPr>
          <p:cNvPr id="3542" name="Google Shape;3542;g251d9346719_0_1204"/>
          <p:cNvPicPr preferRelativeResize="0"/>
          <p:nvPr/>
        </p:nvPicPr>
        <p:blipFill rotWithShape="1">
          <a:blip r:embed="rId7">
            <a:alphaModFix/>
          </a:blip>
          <a:srcRect b="0" l="0" r="0" t="0"/>
          <a:stretch/>
        </p:blipFill>
        <p:spPr>
          <a:xfrm>
            <a:off x="1102897" y="4807242"/>
            <a:ext cx="192553" cy="210805"/>
          </a:xfrm>
          <a:prstGeom prst="rect">
            <a:avLst/>
          </a:prstGeom>
          <a:solidFill>
            <a:srgbClr val="F3F3F3"/>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lores Servicios Financieros">
  <a:themeElements>
    <a:clrScheme name="Simple Light">
      <a:dk1>
        <a:srgbClr val="FFFFFF"/>
      </a:dk1>
      <a:lt1>
        <a:srgbClr val="FFFFFF"/>
      </a:lt1>
      <a:dk2>
        <a:srgbClr val="595959"/>
      </a:dk2>
      <a:lt2>
        <a:srgbClr val="EEEEEE"/>
      </a:lt2>
      <a:accent1>
        <a:srgbClr val="265AA7"/>
      </a:accent1>
      <a:accent2>
        <a:srgbClr val="FFE400"/>
      </a:accent2>
      <a:accent3>
        <a:srgbClr val="3DB9E5"/>
      </a:accent3>
      <a:accent4>
        <a:srgbClr val="C4E3EF"/>
      </a:accent4>
      <a:accent5>
        <a:srgbClr val="FFCF36"/>
      </a:accent5>
      <a:accent6>
        <a:srgbClr val="87C544"/>
      </a:accent6>
      <a:hlink>
        <a:srgbClr val="DFE0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Props1.xml><?xml version="1.0" encoding="utf-8"?>
<ds:datastoreItem xmlns:ds="http://schemas.openxmlformats.org/officeDocument/2006/customXml" ds:itemID="{7452D41C-1709-4B64-A953-776038DFB533}"/>
</file>

<file path=customXml/itemProps2.xml><?xml version="1.0" encoding="utf-8"?>
<ds:datastoreItem xmlns:ds="http://schemas.openxmlformats.org/officeDocument/2006/customXml" ds:itemID="{054B8393-48E8-4643-A3F6-466094B93271}"/>
</file>

<file path=customXml/itemProps3.xml><?xml version="1.0" encoding="utf-8"?>
<ds:datastoreItem xmlns:ds="http://schemas.openxmlformats.org/officeDocument/2006/customXml" ds:itemID="{69266AC3-2D58-4BAC-AE28-1EF85986DCEF}"/>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