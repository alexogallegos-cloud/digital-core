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147483644" r:id="rId5"/>
    <p:sldId id="2147483645" r:id="rId6"/>
    <p:sldId id="314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7C109-5A54-4588-B2FD-A49909F672FD}" v="6" dt="2026-07-29T22:51:41.980"/>
    <p1510:client id="{8B43E3AC-F9DC-4349-B072-11375E4FEC37}" v="36" dt="2026-07-30T23:01:26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Díaz, Pablo" userId="bac49e77-f39a-40a2-af48-1e84dc2b788f" providerId="ADAL" clId="{528C2205-E162-4462-9FC5-E564358BD617}"/>
    <pc:docChg chg="addSld modSld">
      <pc:chgData name="Lorenzo Díaz, Pablo" userId="bac49e77-f39a-40a2-af48-1e84dc2b788f" providerId="ADAL" clId="{528C2205-E162-4462-9FC5-E564358BD617}" dt="2026-07-30T23:01:26.556" v="35"/>
      <pc:docMkLst>
        <pc:docMk/>
      </pc:docMkLst>
      <pc:sldChg chg="mod modShow">
        <pc:chgData name="Lorenzo Díaz, Pablo" userId="bac49e77-f39a-40a2-af48-1e84dc2b788f" providerId="ADAL" clId="{528C2205-E162-4462-9FC5-E564358BD617}" dt="2026-07-30T22:07:01.045" v="33" actId="729"/>
        <pc:sldMkLst>
          <pc:docMk/>
          <pc:sldMk cId="3371689021" sldId="314"/>
        </pc:sldMkLst>
      </pc:sldChg>
      <pc:sldChg chg="addSp modSp add mod">
        <pc:chgData name="Lorenzo Díaz, Pablo" userId="bac49e77-f39a-40a2-af48-1e84dc2b788f" providerId="ADAL" clId="{528C2205-E162-4462-9FC5-E564358BD617}" dt="2026-07-30T23:01:26.556" v="35"/>
        <pc:sldMkLst>
          <pc:docMk/>
          <pc:sldMk cId="2156735440" sldId="2147483645"/>
        </pc:sldMkLst>
        <pc:spChg chg="mod">
          <ac:chgData name="Lorenzo Díaz, Pablo" userId="bac49e77-f39a-40a2-af48-1e84dc2b788f" providerId="ADAL" clId="{528C2205-E162-4462-9FC5-E564358BD617}" dt="2026-07-30T22:04:03.710" v="26" actId="123"/>
          <ac:spMkLst>
            <pc:docMk/>
            <pc:sldMk cId="2156735440" sldId="2147483645"/>
            <ac:spMk id="6" creationId="{F87F3FA3-B62E-36BC-204B-6A345E850D2C}"/>
          </ac:spMkLst>
        </pc:spChg>
        <pc:spChg chg="mod">
          <ac:chgData name="Lorenzo Díaz, Pablo" userId="bac49e77-f39a-40a2-af48-1e84dc2b788f" providerId="ADAL" clId="{528C2205-E162-4462-9FC5-E564358BD617}" dt="2026-07-30T22:04:03.710" v="26" actId="123"/>
          <ac:spMkLst>
            <pc:docMk/>
            <pc:sldMk cId="2156735440" sldId="2147483645"/>
            <ac:spMk id="20" creationId="{46ACDDCD-765F-8A43-2DC2-09957C7FDBCF}"/>
          </ac:spMkLst>
        </pc:spChg>
        <pc:spChg chg="mod">
          <ac:chgData name="Lorenzo Díaz, Pablo" userId="bac49e77-f39a-40a2-af48-1e84dc2b788f" providerId="ADAL" clId="{528C2205-E162-4462-9FC5-E564358BD617}" dt="2026-07-30T22:04:03.710" v="26" actId="123"/>
          <ac:spMkLst>
            <pc:docMk/>
            <pc:sldMk cId="2156735440" sldId="2147483645"/>
            <ac:spMk id="26" creationId="{FB989D1F-BEE6-0DEE-0510-8D058EF037B7}"/>
          </ac:spMkLst>
        </pc:spChg>
        <pc:graphicFrameChg chg="add mod">
          <ac:chgData name="Lorenzo Díaz, Pablo" userId="bac49e77-f39a-40a2-af48-1e84dc2b788f" providerId="ADAL" clId="{528C2205-E162-4462-9FC5-E564358BD617}" dt="2026-07-30T23:01:26.556" v="35"/>
          <ac:graphicFrameMkLst>
            <pc:docMk/>
            <pc:sldMk cId="2156735440" sldId="2147483645"/>
            <ac:graphicFrameMk id="5" creationId="{72A53204-BBE6-DC91-DFA8-822899294A04}"/>
          </ac:graphicFrameMkLst>
        </pc:graphicFrameChg>
      </pc:sldChg>
    </pc:docChg>
  </pc:docChgLst>
  <pc:docChgLst>
    <pc:chgData name="Cervantes, Ana" userId="2016e598-b963-4fed-94e1-653d3bbf882a" providerId="ADAL" clId="{8D017DB0-5FA8-40E2-89E7-F7BB82F89662}"/>
    <pc:docChg chg="undo redo modSld">
      <pc:chgData name="Cervantes, Ana" userId="2016e598-b963-4fed-94e1-653d3bbf882a" providerId="ADAL" clId="{8D017DB0-5FA8-40E2-89E7-F7BB82F89662}" dt="2026-07-29T22:52:02.959" v="83" actId="20577"/>
      <pc:docMkLst>
        <pc:docMk/>
      </pc:docMkLst>
      <pc:sldChg chg="modSp mod">
        <pc:chgData name="Cervantes, Ana" userId="2016e598-b963-4fed-94e1-653d3bbf882a" providerId="ADAL" clId="{8D017DB0-5FA8-40E2-89E7-F7BB82F89662}" dt="2026-07-29T22:52:02.959" v="83" actId="20577"/>
        <pc:sldMkLst>
          <pc:docMk/>
          <pc:sldMk cId="3371689021" sldId="314"/>
        </pc:sldMkLst>
        <pc:spChg chg="mod">
          <ac:chgData name="Cervantes, Ana" userId="2016e598-b963-4fed-94e1-653d3bbf882a" providerId="ADAL" clId="{8D017DB0-5FA8-40E2-89E7-F7BB82F89662}" dt="2026-07-29T22:52:02.959" v="83" actId="20577"/>
          <ac:spMkLst>
            <pc:docMk/>
            <pc:sldMk cId="3371689021" sldId="314"/>
            <ac:spMk id="6" creationId="{F87F3FA3-B62E-36BC-204B-6A345E850D2C}"/>
          </ac:spMkLst>
        </pc:spChg>
        <pc:spChg chg="mod">
          <ac:chgData name="Cervantes, Ana" userId="2016e598-b963-4fed-94e1-653d3bbf882a" providerId="ADAL" clId="{8D017DB0-5FA8-40E2-89E7-F7BB82F89662}" dt="2026-07-29T22:51:50.130" v="79" actId="113"/>
          <ac:spMkLst>
            <pc:docMk/>
            <pc:sldMk cId="3371689021" sldId="314"/>
            <ac:spMk id="20" creationId="{46ACDDCD-765F-8A43-2DC2-09957C7FDBCF}"/>
          </ac:spMkLst>
        </pc:spChg>
        <pc:spChg chg="mod">
          <ac:chgData name="Cervantes, Ana" userId="2016e598-b963-4fed-94e1-653d3bbf882a" providerId="ADAL" clId="{8D017DB0-5FA8-40E2-89E7-F7BB82F89662}" dt="2026-07-29T22:51:02.243" v="73" actId="20577"/>
          <ac:spMkLst>
            <pc:docMk/>
            <pc:sldMk cId="3371689021" sldId="314"/>
            <ac:spMk id="26" creationId="{FB989D1F-BEE6-0DEE-0510-8D058EF037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C1751-17AD-4FC1-9195-43F19383B0F5}" type="datetimeFigureOut">
              <a:rPr lang="es-MX" smtClean="0"/>
              <a:t>30/07/2026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DDAAF-F2B2-4737-A1CB-06613C68257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180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2C5D8-91B8-40D4-9C9A-31EB0EF7358E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5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sz="14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5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800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s-MX"/>
              <a:t>Place </a:t>
            </a:r>
            <a:r>
              <a:rPr lang="es-MX" err="1"/>
              <a:t>title</a:t>
            </a:r>
            <a:br>
              <a:rPr lang="es-MX"/>
            </a:br>
            <a:r>
              <a:rPr lang="es-MX" err="1"/>
              <a:t>here</a:t>
            </a:r>
            <a:endParaRPr lang="es-MX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5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2000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s-MX"/>
              <a:t>Place </a:t>
            </a:r>
            <a:r>
              <a:rPr lang="es-MX" err="1"/>
              <a:t>subtitle</a:t>
            </a:r>
            <a:r>
              <a:rPr lang="es-MX"/>
              <a:t> </a:t>
            </a:r>
            <a:r>
              <a:rPr lang="es-MX" err="1"/>
              <a:t>here</a:t>
            </a:r>
            <a:r>
              <a:rPr lang="es-MX"/>
              <a:t> in 20pt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0B5E4-5205-03DD-3E5C-7072165945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940" y="419615"/>
            <a:ext cx="2934341" cy="33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34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9" y="426769"/>
            <a:ext cx="11143252" cy="535256"/>
          </a:xfrm>
        </p:spPr>
        <p:txBody>
          <a:bodyPr vert="horz" rIns="91440" anchor="ctr">
            <a:normAutofit/>
          </a:bodyPr>
          <a:lstStyle>
            <a:lvl1pPr>
              <a:defRPr sz="24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D0BE594-FD18-9164-2100-24A0BE678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2" y="6490025"/>
            <a:ext cx="326255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132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2"/>
            <a:ext cx="352495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sz="140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056618857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1" y="6536348"/>
            <a:ext cx="3706395" cy="1293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All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rights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reserved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For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internal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use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only</a:t>
            </a:r>
            <a:endParaRPr lang="es-MX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6" y="6407758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7056" y="6437764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9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sz="140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2" y="6490025"/>
            <a:ext cx="326255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34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_C39C3C2.xlsx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70D0AC6-E458-5A06-11D9-F04ADA9B1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0D0AC6-E458-5A06-11D9-F04ADA9B1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9E837A8-7F88-6603-96C8-99FC36B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135806"/>
            <a:ext cx="7048500" cy="1459477"/>
          </a:xfrm>
        </p:spPr>
        <p:txBody>
          <a:bodyPr vert="horz" rIns="91440"/>
          <a:lstStyle/>
          <a:p>
            <a:r>
              <a:rPr lang="es-MX">
                <a:latin typeface="Graphik" panose="020B0503030202060203" pitchFamily="34" charset="77"/>
              </a:rPr>
              <a:t>Propuesta de remediación: </a:t>
            </a:r>
            <a:br>
              <a:rPr lang="es-MX">
                <a:latin typeface="Graphik" panose="020B0503030202060203" pitchFamily="34" charset="77"/>
              </a:rPr>
            </a:br>
            <a:r>
              <a:rPr lang="es-MX">
                <a:latin typeface="Graphik" panose="020B0503030202060203" pitchFamily="34" charset="77"/>
              </a:rPr>
              <a:t>RAID R4</a:t>
            </a:r>
            <a:endParaRPr lang="es-MX" noProof="0">
              <a:latin typeface="Graphik" panose="020B0503030202060203" pitchFamily="34" charset="77"/>
            </a:endParaRP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A5FE71FC-D52B-8760-63A9-F27C8DA5F43C}"/>
              </a:ext>
            </a:extLst>
          </p:cNvPr>
          <p:cNvSpPr txBox="1">
            <a:spLocks/>
          </p:cNvSpPr>
          <p:nvPr/>
        </p:nvSpPr>
        <p:spPr bwMode="black">
          <a:xfrm>
            <a:off x="513270" y="6114210"/>
            <a:ext cx="2401379" cy="298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i="0" kern="1200" spc="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b="1">
                <a:solidFill>
                  <a:srgbClr val="FFFFFF"/>
                </a:solidFill>
              </a:rPr>
              <a:t>30</a:t>
            </a:r>
            <a:r>
              <a:rPr kumimoji="0" lang="es-MX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 de Julio 2026</a:t>
            </a:r>
            <a:endParaRPr kumimoji="0" lang="es-MX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3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5287EB-3B38-7E86-DDF5-6141D840BB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5287EB-3B38-7E86-DDF5-6141D840B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6167E7-E734-A1FE-AE63-1009B393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s-MX"/>
              <a:t>Un RAID Log único permitirá anticipar bloqueos y fortalecer el control de R4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3C7D0-F6D0-749A-586A-86BD31858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0041F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0041F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A742F135-D08A-3557-9080-B0DBD8449F22}"/>
              </a:ext>
            </a:extLst>
          </p:cNvPr>
          <p:cNvSpPr/>
          <p:nvPr/>
        </p:nvSpPr>
        <p:spPr>
          <a:xfrm>
            <a:off x="421505" y="1298673"/>
            <a:ext cx="3780414" cy="4648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9DDE8"/>
            </a:solidFill>
            <a:prstDash val="solid"/>
          </a:ln>
        </p:spPr>
        <p:txBody>
          <a:bodyPr/>
          <a:lstStyle/>
          <a:p>
            <a:endParaRPr lang="es-MX" sz="1400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F3FA3-B62E-36BC-204B-6A345E850D2C}"/>
              </a:ext>
            </a:extLst>
          </p:cNvPr>
          <p:cNvSpPr txBox="1"/>
          <p:nvPr/>
        </p:nvSpPr>
        <p:spPr>
          <a:xfrm>
            <a:off x="667333" y="1826201"/>
            <a:ext cx="3288758" cy="40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Sin artefacto formal de RAID en R4.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No existe template homologado ni repositorio único para riesgos, issues, supuestos y dependencias del release.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Riesgos e issues declarados manualmente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 el weekly, sin estructura de impacto, mitigación ni owner formal.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Gestión reactiva y fragmentada por track,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limitando la visibilidad integral del programa y la escalación oportuna.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Sin artefacto de gobierno,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 programa no tiene evidencia para sustentar el Go/No-Go de diciembre ni para escalar bloqueos a tiempo.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02780-B618-8BBC-62B6-0CB5040173C7}"/>
              </a:ext>
            </a:extLst>
          </p:cNvPr>
          <p:cNvSpPr txBox="1"/>
          <p:nvPr/>
        </p:nvSpPr>
        <p:spPr>
          <a:xfrm>
            <a:off x="1351696" y="1403852"/>
            <a:ext cx="1920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>
                <a:solidFill>
                  <a:schemeClr val="accent3"/>
                </a:solidFill>
              </a:rPr>
              <a:t>Situación Actual</a:t>
            </a:r>
            <a:endParaRPr lang="es-MX" sz="1400" b="1" i="1">
              <a:solidFill>
                <a:schemeClr val="accent3"/>
              </a:solidFill>
            </a:endParaRPr>
          </a:p>
        </p:txBody>
      </p:sp>
      <p:sp>
        <p:nvSpPr>
          <p:cNvPr id="16" name="Shape 25">
            <a:extLst>
              <a:ext uri="{FF2B5EF4-FFF2-40B4-BE49-F238E27FC236}">
                <a16:creationId xmlns:a16="http://schemas.microsoft.com/office/drawing/2014/main" id="{6C890769-37EA-B3FA-178B-BDCFF9AADF0A}"/>
              </a:ext>
            </a:extLst>
          </p:cNvPr>
          <p:cNvSpPr/>
          <p:nvPr/>
        </p:nvSpPr>
        <p:spPr>
          <a:xfrm>
            <a:off x="4298436" y="1298673"/>
            <a:ext cx="3780414" cy="4648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9DDE8"/>
            </a:solidFill>
            <a:prstDash val="solid"/>
          </a:ln>
        </p:spPr>
        <p:txBody>
          <a:bodyPr/>
          <a:lstStyle/>
          <a:p>
            <a:endParaRPr lang="es-MX" sz="1600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24E90-612D-F567-560A-A792129EAC57}"/>
              </a:ext>
            </a:extLst>
          </p:cNvPr>
          <p:cNvSpPr txBox="1"/>
          <p:nvPr/>
        </p:nvSpPr>
        <p:spPr>
          <a:xfrm>
            <a:off x="5128914" y="1403852"/>
            <a:ext cx="26053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>
                <a:solidFill>
                  <a:schemeClr val="accent5"/>
                </a:solidFill>
              </a:rPr>
              <a:t>Remediación - Descripción</a:t>
            </a:r>
            <a:endParaRPr lang="es-MX" sz="1400" b="1" i="1">
              <a:solidFill>
                <a:schemeClr val="accent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CDDCD-765F-8A43-2DC2-09957C7FDBCF}"/>
              </a:ext>
            </a:extLst>
          </p:cNvPr>
          <p:cNvSpPr txBox="1"/>
          <p:nvPr/>
        </p:nvSpPr>
        <p:spPr>
          <a:xfrm>
            <a:off x="4544264" y="1826201"/>
            <a:ext cx="3288758" cy="4793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Plantilla RAID adjunta,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alineada con Governance de BanCoppel, con riesgos, issues, supuestos y dependencias identificados para R4 tras entrevistas con líderes de subtracks, due diligence y reportados en últimos comités semanales.</a:t>
            </a:r>
          </a:p>
          <a:p>
            <a:pPr marR="0" lvl="0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tabLst/>
              <a:defRPr/>
            </a:pPr>
            <a:endParaRPr kumimoji="0" lang="es-MX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Proceso de integración propuesto:</a:t>
            </a:r>
          </a:p>
          <a:p>
            <a:pPr marL="457200" marR="0" lvl="0" indent="-228600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1)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Subir el RAID al SharePoint de BanCoppel como repositorio único.</a:t>
            </a:r>
          </a:p>
          <a:p>
            <a:pPr marL="457200" marR="0" lvl="0" indent="-228600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2)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Los PMs de subtracks, antes de cada sesión semanal: revisan el RAID para actualizar elementos registrados e incorporan ítems nuevos con calidad en todas las secciones.</a:t>
            </a:r>
          </a:p>
          <a:p>
            <a:pPr marL="457200" marR="0" lvl="0" indent="-228600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3)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 las sesiones semanales, los PMs exponen los cambios en el RAID.</a:t>
            </a:r>
          </a:p>
          <a:p>
            <a:pPr marL="457200" marR="0" lvl="0" indent="-228600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4)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 el comité semanal se incluye una slide adicional por track con riesgos e issues críticos/altos activos y nuevos, con ownership y fechas deadline claras. (Pendiente de comunicar por Gobierno.)</a:t>
            </a:r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64889432-9102-698C-D7E5-87115FCCC64D}"/>
              </a:ext>
            </a:extLst>
          </p:cNvPr>
          <p:cNvSpPr/>
          <p:nvPr/>
        </p:nvSpPr>
        <p:spPr>
          <a:xfrm>
            <a:off x="8175366" y="1298673"/>
            <a:ext cx="3780414" cy="4648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9DDE8"/>
            </a:solidFill>
            <a:prstDash val="solid"/>
          </a:ln>
        </p:spPr>
        <p:txBody>
          <a:bodyPr/>
          <a:lstStyle/>
          <a:p>
            <a:endParaRPr lang="es-MX" sz="1600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FF20C1-8E0A-9B63-A6AF-6CF5A16D1F77}"/>
              </a:ext>
            </a:extLst>
          </p:cNvPr>
          <p:cNvSpPr txBox="1"/>
          <p:nvPr/>
        </p:nvSpPr>
        <p:spPr>
          <a:xfrm>
            <a:off x="8748305" y="1403852"/>
            <a:ext cx="2634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>
                <a:solidFill>
                  <a:schemeClr val="accent2"/>
                </a:solidFill>
              </a:rPr>
              <a:t>Valor de la remediación</a:t>
            </a:r>
            <a:endParaRPr lang="es-MX" sz="1400" b="1" i="1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989D1F-BEE6-0DEE-0510-8D058EF037B7}"/>
              </a:ext>
            </a:extLst>
          </p:cNvPr>
          <p:cNvSpPr txBox="1"/>
          <p:nvPr/>
        </p:nvSpPr>
        <p:spPr>
          <a:xfrm>
            <a:off x="8421194" y="1826201"/>
            <a:ext cx="3288758" cy="40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Visibilidad centralizada del programa: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fuente única con severidad, owner, fecha compromiso y estatus — elimina el seguimiento fragmentado por track y reduce el tiempo de detección de bloqueos.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Anticipación de bloqueos: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riesgos críticos y altos identificados antes de materializarse, con mitigación y owner asignados — reduce la gestión reactiva que hoy consume tiempo de delivery.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Evidencia para el Go/No-Go de diciembre: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datos estructurados para decisiones de governance: qué está mitigado, qué está abierto y quién es responsable — evita decisiones basadas en información parcial.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Escalación oportuna</a:t>
            </a:r>
            <a:r>
              <a:rPr lang="es-MX" sz="1000" b="1">
                <a:solidFill>
                  <a:srgbClr val="000000"/>
                </a:solidFill>
                <a:latin typeface="Graphik"/>
              </a:rPr>
              <a:t> al Gobierno Unity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ítems críticos escalan en la siguiente sesión; altos exigen acción antes del siguiente gate — establece una cadencia de resolución predecible.</a:t>
            </a:r>
          </a:p>
          <a:p>
            <a:pPr marL="263525" marR="0" lvl="0" indent="-263525" algn="just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Trazabilidad entre releases: </a:t>
            </a:r>
            <a:r>
              <a:rPr kumimoji="0" lang="es-MX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 RAID mantiene continuidad entre R4, R4.5 y releases posteriores, evitando que problemas no resueltos se hereden sin visibilidad ni owner.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2A53204-BBE6-DC91-DFA8-822899294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476487"/>
              </p:ext>
            </p:extLst>
          </p:nvPr>
        </p:nvGraphicFramePr>
        <p:xfrm>
          <a:off x="7203299" y="2686049"/>
          <a:ext cx="531001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806585" progId="Excel.Sheet.12">
                  <p:embed/>
                </p:oleObj>
              </mc:Choice>
              <mc:Fallback>
                <p:oleObj name="Worksheet" showAsIcon="1" r:id="rId5" imgW="914400" imgH="80658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2A53204-BBE6-DC91-DFA8-822899294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03299" y="2686049"/>
                        <a:ext cx="531001" cy="46831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673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5287EB-3B38-7E86-DDF5-6141D840BB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0307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5287EB-3B38-7E86-DDF5-6141D840B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6167E7-E734-A1FE-AE63-1009B393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 fontScale="90000"/>
          </a:bodyPr>
          <a:lstStyle/>
          <a:p>
            <a:r>
              <a:rPr lang="es-MX"/>
              <a:t>Un RAID Log único permitirá anticipar bloqueos y fortalecer el control de R4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3C7D0-F6D0-749A-586A-86BD31858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0041F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0041F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A742F135-D08A-3557-9080-B0DBD8449F22}"/>
              </a:ext>
            </a:extLst>
          </p:cNvPr>
          <p:cNvSpPr/>
          <p:nvPr/>
        </p:nvSpPr>
        <p:spPr>
          <a:xfrm>
            <a:off x="421505" y="1298673"/>
            <a:ext cx="3780414" cy="4648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9DDE8"/>
            </a:solidFill>
            <a:prstDash val="solid"/>
          </a:ln>
        </p:spPr>
        <p:txBody>
          <a:bodyPr/>
          <a:lstStyle/>
          <a:p>
            <a:endParaRPr lang="es-MX" sz="1600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F3FA3-B62E-36BC-204B-6A345E850D2C}"/>
              </a:ext>
            </a:extLst>
          </p:cNvPr>
          <p:cNvSpPr txBox="1"/>
          <p:nvPr/>
        </p:nvSpPr>
        <p:spPr>
          <a:xfrm>
            <a:off x="667333" y="1826201"/>
            <a:ext cx="3288758" cy="40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No existe una fuente única 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para consolidar riesgos, </a:t>
            </a:r>
            <a:r>
              <a: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issues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supuestos y dependencias del </a:t>
            </a:r>
            <a:r>
              <a: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release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Falta de visibilidad sobre el avance de los riesgos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críticos y visibilidad sobre riesgos nuevos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Sin </a:t>
            </a:r>
            <a:r>
              <a:rPr kumimoji="0" lang="es-MX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ownership</a:t>
            </a: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ni fecha de resolución asignados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 seguimiento está fragmentado por </a:t>
            </a:r>
            <a:r>
              <a:rPr kumimoji="0" lang="es-MX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track</a:t>
            </a: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limitando la visibilidad integral y la escalación oportuna.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Sin un artefacto de gobierno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el programa no tiene evidencia para sustentar el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Go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/No-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Go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de diciembre ni para escalar a tiempo los bloqueos que hoy ya amenazan el cronograma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02780-B618-8BBC-62B6-0CB5040173C7}"/>
              </a:ext>
            </a:extLst>
          </p:cNvPr>
          <p:cNvSpPr txBox="1"/>
          <p:nvPr/>
        </p:nvSpPr>
        <p:spPr>
          <a:xfrm>
            <a:off x="1351696" y="1403852"/>
            <a:ext cx="1920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>
                <a:solidFill>
                  <a:schemeClr val="accent3"/>
                </a:solidFill>
              </a:rPr>
              <a:t>Situación Actual</a:t>
            </a:r>
            <a:endParaRPr lang="es-MX" sz="1400" b="1" i="1">
              <a:solidFill>
                <a:schemeClr val="accent3"/>
              </a:solidFill>
            </a:endParaRPr>
          </a:p>
        </p:txBody>
      </p:sp>
      <p:sp>
        <p:nvSpPr>
          <p:cNvPr id="16" name="Shape 25">
            <a:extLst>
              <a:ext uri="{FF2B5EF4-FFF2-40B4-BE49-F238E27FC236}">
                <a16:creationId xmlns:a16="http://schemas.microsoft.com/office/drawing/2014/main" id="{6C890769-37EA-B3FA-178B-BDCFF9AADF0A}"/>
              </a:ext>
            </a:extLst>
          </p:cNvPr>
          <p:cNvSpPr/>
          <p:nvPr/>
        </p:nvSpPr>
        <p:spPr>
          <a:xfrm>
            <a:off x="4298436" y="1298673"/>
            <a:ext cx="3780414" cy="4648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9DDE8"/>
            </a:solidFill>
            <a:prstDash val="solid"/>
          </a:ln>
        </p:spPr>
        <p:txBody>
          <a:bodyPr/>
          <a:lstStyle/>
          <a:p>
            <a:endParaRPr lang="es-MX" sz="1600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24E90-612D-F567-560A-A792129EAC57}"/>
              </a:ext>
            </a:extLst>
          </p:cNvPr>
          <p:cNvSpPr txBox="1"/>
          <p:nvPr/>
        </p:nvSpPr>
        <p:spPr>
          <a:xfrm>
            <a:off x="5128914" y="1403852"/>
            <a:ext cx="2119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>
                <a:solidFill>
                  <a:schemeClr val="accent5"/>
                </a:solidFill>
              </a:rPr>
              <a:t>El valor del RAID Log</a:t>
            </a:r>
            <a:endParaRPr lang="es-MX" sz="1400" b="1" i="1">
              <a:solidFill>
                <a:schemeClr val="accent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CDDCD-765F-8A43-2DC2-09957C7FDBCF}"/>
              </a:ext>
            </a:extLst>
          </p:cNvPr>
          <p:cNvSpPr txBox="1"/>
          <p:nvPr/>
        </p:nvSpPr>
        <p:spPr>
          <a:xfrm>
            <a:off x="4544264" y="1826201"/>
            <a:ext cx="3288758" cy="40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Visibilidad centralizada: 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Una única fuente con severidad, responsable, fecha compromiso y estatus.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Decisiones oportunas: 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Facilita priorización, escalación y resolución de bloqueos críticos.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Evidencia para </a:t>
            </a:r>
            <a:r>
              <a:rPr kumimoji="0" lang="es-MX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governance</a:t>
            </a: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 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Sustenta decisiones </a:t>
            </a:r>
            <a:r>
              <a: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Go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/No-</a:t>
            </a:r>
            <a:r>
              <a: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Go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con datos — qué está mitigado, qué está abierto y quién es responsable</a:t>
            </a:r>
          </a:p>
          <a:p>
            <a:pPr marL="263525" marR="0" lvl="0" indent="-263525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Trazabilidad del </a:t>
            </a:r>
            <a:r>
              <a:rPr kumimoji="0" lang="es-MX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release</a:t>
            </a: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 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Mantiene continuidad entre R4, R4.5 y </a:t>
            </a:r>
            <a:r>
              <a: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releases</a:t>
            </a:r>
            <a:r>
              <a:rPr kumimoji="0" lang="es-MX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posteriores.</a:t>
            </a:r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64889432-9102-698C-D7E5-87115FCCC64D}"/>
              </a:ext>
            </a:extLst>
          </p:cNvPr>
          <p:cNvSpPr/>
          <p:nvPr/>
        </p:nvSpPr>
        <p:spPr>
          <a:xfrm>
            <a:off x="8175366" y="1298673"/>
            <a:ext cx="3780414" cy="4648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9DDE8"/>
            </a:solidFill>
            <a:prstDash val="solid"/>
          </a:ln>
        </p:spPr>
        <p:txBody>
          <a:bodyPr/>
          <a:lstStyle/>
          <a:p>
            <a:endParaRPr lang="es-MX" sz="1600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FF20C1-8E0A-9B63-A6AF-6CF5A16D1F77}"/>
              </a:ext>
            </a:extLst>
          </p:cNvPr>
          <p:cNvSpPr txBox="1"/>
          <p:nvPr/>
        </p:nvSpPr>
        <p:spPr>
          <a:xfrm>
            <a:off x="8748305" y="1403852"/>
            <a:ext cx="2634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>
                <a:solidFill>
                  <a:schemeClr val="accent2"/>
                </a:solidFill>
              </a:rPr>
              <a:t>Propuesta de integración</a:t>
            </a:r>
            <a:endParaRPr lang="es-MX" sz="1400" b="1" i="1">
              <a:solidFill>
                <a:schemeClr val="accent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68C229-C716-D9F4-54DB-F8466CFE39C5}"/>
              </a:ext>
            </a:extLst>
          </p:cNvPr>
          <p:cNvSpPr/>
          <p:nvPr/>
        </p:nvSpPr>
        <p:spPr>
          <a:xfrm>
            <a:off x="8325046" y="4251960"/>
            <a:ext cx="3481055" cy="13073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sz="1600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989D1F-BEE6-0DEE-0510-8D058EF037B7}"/>
              </a:ext>
            </a:extLst>
          </p:cNvPr>
          <p:cNvSpPr txBox="1"/>
          <p:nvPr/>
        </p:nvSpPr>
        <p:spPr>
          <a:xfrm>
            <a:off x="8421194" y="1826201"/>
            <a:ext cx="3288758" cy="40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3525" lvl="0" indent="-263525" defTabSz="22860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s-MX" sz="1200" b="1">
                <a:solidFill>
                  <a:srgbClr val="000000"/>
                </a:solidFill>
              </a:rPr>
              <a:t>El </a:t>
            </a:r>
            <a:r>
              <a:rPr lang="es-MX" sz="1200" b="1" err="1">
                <a:solidFill>
                  <a:srgbClr val="000000"/>
                </a:solidFill>
              </a:rPr>
              <a:t>Program</a:t>
            </a:r>
            <a:r>
              <a:rPr lang="es-MX" sz="1200" b="1">
                <a:solidFill>
                  <a:srgbClr val="000000"/>
                </a:solidFill>
              </a:rPr>
              <a:t> Manager  del </a:t>
            </a:r>
            <a:r>
              <a:rPr lang="es-MX" sz="1200" b="1" err="1">
                <a:solidFill>
                  <a:srgbClr val="000000"/>
                </a:solidFill>
              </a:rPr>
              <a:t>release</a:t>
            </a:r>
            <a:r>
              <a:rPr lang="es-MX" sz="1200" b="1">
                <a:solidFill>
                  <a:srgbClr val="000000"/>
                </a:solidFill>
              </a:rPr>
              <a:t> es responsable de mantener el log actualizado semanalmente</a:t>
            </a:r>
            <a:r>
              <a:rPr lang="es-MX" sz="1200">
                <a:solidFill>
                  <a:srgbClr val="000000"/>
                </a:solidFill>
              </a:rPr>
              <a:t>, completo y con </a:t>
            </a:r>
            <a:r>
              <a:rPr lang="es-MX" sz="1200" err="1">
                <a:solidFill>
                  <a:srgbClr val="000000"/>
                </a:solidFill>
              </a:rPr>
              <a:t>owners</a:t>
            </a:r>
            <a:r>
              <a:rPr lang="es-MX" sz="1200">
                <a:solidFill>
                  <a:srgbClr val="000000"/>
                </a:solidFill>
              </a:rPr>
              <a:t> asignados.</a:t>
            </a:r>
          </a:p>
          <a:p>
            <a:pPr marL="263525" lvl="0" indent="-263525" defTabSz="22860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s-MX" sz="1200" b="1">
                <a:solidFill>
                  <a:srgbClr val="000000"/>
                </a:solidFill>
              </a:rPr>
              <a:t>Cualquier miembro de los </a:t>
            </a:r>
            <a:r>
              <a:rPr lang="es-MX" sz="1200" b="1" err="1">
                <a:solidFill>
                  <a:srgbClr val="000000"/>
                </a:solidFill>
              </a:rPr>
              <a:t>tracks</a:t>
            </a:r>
            <a:r>
              <a:rPr lang="es-MX" sz="1200" b="1">
                <a:solidFill>
                  <a:srgbClr val="000000"/>
                </a:solidFill>
              </a:rPr>
              <a:t> de </a:t>
            </a:r>
            <a:r>
              <a:rPr lang="es-MX" sz="1200" b="1" err="1">
                <a:solidFill>
                  <a:srgbClr val="000000"/>
                </a:solidFill>
              </a:rPr>
              <a:t>release</a:t>
            </a:r>
            <a:r>
              <a:rPr lang="es-MX" sz="1200" b="1">
                <a:solidFill>
                  <a:srgbClr val="000000"/>
                </a:solidFill>
              </a:rPr>
              <a:t> puede registrar un ítem</a:t>
            </a:r>
            <a:r>
              <a:rPr lang="es-MX" sz="1200">
                <a:solidFill>
                  <a:srgbClr val="000000"/>
                </a:solidFill>
              </a:rPr>
              <a:t>.</a:t>
            </a:r>
          </a:p>
          <a:p>
            <a:pPr marL="263525" lvl="0" indent="-263525" defTabSz="22860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s-MX" sz="1200" b="1">
                <a:solidFill>
                  <a:srgbClr val="000000"/>
                </a:solidFill>
              </a:rPr>
              <a:t>Revisión semanal en sesión de seguimiento de R4 </a:t>
            </a:r>
            <a:r>
              <a:rPr lang="es-MX" sz="1200">
                <a:solidFill>
                  <a:srgbClr val="000000"/>
                </a:solidFill>
              </a:rPr>
              <a:t>sobre ítems críticos y altos activos</a:t>
            </a:r>
          </a:p>
          <a:p>
            <a:pPr marL="263525" lvl="0" indent="-263525" defTabSz="22860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s-MX" sz="1200">
              <a:solidFill>
                <a:srgbClr val="000000"/>
              </a:solidFill>
            </a:endParaRPr>
          </a:p>
          <a:p>
            <a:pPr lvl="0" defTabSz="228600">
              <a:spcAft>
                <a:spcPts val="800"/>
              </a:spcAft>
              <a:defRPr/>
            </a:pPr>
            <a:endParaRPr lang="es-MX" sz="1200">
              <a:solidFill>
                <a:srgbClr val="000000"/>
              </a:solidFill>
            </a:endParaRPr>
          </a:p>
          <a:p>
            <a:pPr lvl="0" defTabSz="228600">
              <a:spcAft>
                <a:spcPts val="800"/>
              </a:spcAft>
              <a:defRPr/>
            </a:pPr>
            <a:r>
              <a:rPr lang="es-MX" sz="1200" b="1">
                <a:solidFill>
                  <a:srgbClr val="000000"/>
                </a:solidFill>
              </a:rPr>
              <a:t>Propuesta: </a:t>
            </a:r>
          </a:p>
          <a:p>
            <a:pPr lvl="0" algn="ctr" defTabSz="228600">
              <a:spcAft>
                <a:spcPts val="800"/>
              </a:spcAft>
              <a:defRPr/>
            </a:pPr>
            <a:r>
              <a:rPr lang="es-MX" sz="1200" b="1">
                <a:solidFill>
                  <a:srgbClr val="000000"/>
                </a:solidFill>
              </a:rPr>
              <a:t>Presentar una </a:t>
            </a:r>
            <a:r>
              <a:rPr lang="es-MX" sz="1200" b="1" err="1">
                <a:solidFill>
                  <a:srgbClr val="000000"/>
                </a:solidFill>
              </a:rPr>
              <a:t>slide</a:t>
            </a:r>
            <a:r>
              <a:rPr lang="es-MX" sz="1200" b="1">
                <a:solidFill>
                  <a:srgbClr val="000000"/>
                </a:solidFill>
              </a:rPr>
              <a:t> adicional para visibilizar los riesgos críticos, altos y nuevos en el Weekly de Unity con </a:t>
            </a:r>
            <a:r>
              <a:rPr lang="es-MX" sz="1200" b="1" err="1">
                <a:solidFill>
                  <a:srgbClr val="000000"/>
                </a:solidFill>
              </a:rPr>
              <a:t>ownership</a:t>
            </a:r>
            <a:r>
              <a:rPr lang="es-MX" sz="1200" b="1">
                <a:solidFill>
                  <a:srgbClr val="000000"/>
                </a:solidFill>
              </a:rPr>
              <a:t> y fechas </a:t>
            </a:r>
            <a:r>
              <a:rPr lang="es-MX" sz="1200" b="1" err="1">
                <a:solidFill>
                  <a:srgbClr val="000000"/>
                </a:solidFill>
              </a:rPr>
              <a:t>deadline</a:t>
            </a:r>
            <a:r>
              <a:rPr lang="es-MX" sz="1200" b="1">
                <a:solidFill>
                  <a:srgbClr val="000000"/>
                </a:solidFill>
              </a:rPr>
              <a:t> claras</a:t>
            </a:r>
          </a:p>
        </p:txBody>
      </p:sp>
    </p:spTree>
    <p:extLst>
      <p:ext uri="{BB962C8B-B14F-4D97-AF65-F5344CB8AC3E}">
        <p14:creationId xmlns:p14="http://schemas.microsoft.com/office/powerpoint/2010/main" val="33716890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19C14E6CE42D4B977263D409F6C8DA" ma:contentTypeVersion="3" ma:contentTypeDescription="Crear nuevo documento." ma:contentTypeScope="" ma:versionID="2f4c844843fc0eaeefe441df60b3155f">
  <xsd:schema xmlns:xsd="http://www.w3.org/2001/XMLSchema" xmlns:xs="http://www.w3.org/2001/XMLSchema" xmlns:p="http://schemas.microsoft.com/office/2006/metadata/properties" xmlns:ns2="2e63f7ca-11da-434c-beda-f4aca14d09b4" targetNamespace="http://schemas.microsoft.com/office/2006/metadata/properties" ma:root="true" ma:fieldsID="060792bb7d35dfa6360dd3fbf1c23d8f" ns2:_="">
    <xsd:import namespace="2e63f7ca-11da-434c-beda-f4aca14d09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63f7ca-11da-434c-beda-f4aca14d09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9DAD5D-ABA5-4F06-9259-BAAF73825A2D}">
  <ds:schemaRefs>
    <ds:schemaRef ds:uri="bcf21e1d-e7b2-4ba8-bb72-ca5e3ff425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2517F9C-EC9E-4D9A-966E-14CC5EEC60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4A9E3E-B2D5-4B3A-9F38-81B402F23E58}"/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Accenture 2020</vt:lpstr>
      <vt:lpstr>Propuesta de remediación:  RAID R4</vt:lpstr>
      <vt:lpstr>Un RAID Log único permitirá anticipar bloqueos y fortalecer el control de R4</vt:lpstr>
      <vt:lpstr>Un RAID Log único permitirá anticipar bloqueos y fortalecer el control de R4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Cervantes, Ana</dc:creator>
  <cp:revision>1</cp:revision>
  <dcterms:created xsi:type="dcterms:W3CDTF">2026-07-29T21:20:56Z</dcterms:created>
  <dcterms:modified xsi:type="dcterms:W3CDTF">2026-07-30T23:03:46Z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0x0101003E19C14E6CE42D4B977263D409F6C8DA</vt:lpwstr>
  </property>
</Properties>
</file>