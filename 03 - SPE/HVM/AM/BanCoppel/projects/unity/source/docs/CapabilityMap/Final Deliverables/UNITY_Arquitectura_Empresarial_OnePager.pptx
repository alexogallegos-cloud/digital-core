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29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1819" y="-14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Pichardo, Joaquín Ernesto" userId="c87ddcfd-47b6-4d33-88ec-183604329254" providerId="ADAL" clId="{FEED0C0E-EE09-4E8C-9317-9489866A5FB2}"/>
    <pc:docChg chg="undo custSel modSld">
      <pc:chgData name="Antonio Pichardo, Joaquín Ernesto" userId="c87ddcfd-47b6-4d33-88ec-183604329254" providerId="ADAL" clId="{FEED0C0E-EE09-4E8C-9317-9489866A5FB2}" dt="2026-08-10T23:33:16.442" v="13" actId="20577"/>
      <pc:docMkLst>
        <pc:docMk/>
      </pc:docMkLst>
      <pc:sldChg chg="addSp delSp modSp mod">
        <pc:chgData name="Antonio Pichardo, Joaquín Ernesto" userId="c87ddcfd-47b6-4d33-88ec-183604329254" providerId="ADAL" clId="{FEED0C0E-EE09-4E8C-9317-9489866A5FB2}" dt="2026-08-10T23:33:16.442" v="13" actId="20577"/>
        <pc:sldMkLst>
          <pc:docMk/>
          <pc:sldMk cId="0" sldId="256"/>
        </pc:sldMkLst>
        <pc:spChg chg="mod">
          <ac:chgData name="Antonio Pichardo, Joaquín Ernesto" userId="c87ddcfd-47b6-4d33-88ec-183604329254" providerId="ADAL" clId="{FEED0C0E-EE09-4E8C-9317-9489866A5FB2}" dt="2026-08-10T23:33:12.486" v="11" actId="20577"/>
          <ac:spMkLst>
            <pc:docMk/>
            <pc:sldMk cId="0" sldId="256"/>
            <ac:spMk id="196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0T23:33:16.442" v="13" actId="20577"/>
          <ac:spMkLst>
            <pc:docMk/>
            <pc:sldMk cId="0" sldId="256"/>
            <ac:spMk id="202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13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14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15" creationId="{00000000-0000-0000-0000-000000000000}"/>
          </ac:spMkLst>
        </pc:spChg>
        <pc:spChg chg="del mod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16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17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18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4.048" v="1" actId="478"/>
          <ac:spMkLst>
            <pc:docMk/>
            <pc:sldMk cId="0" sldId="256"/>
            <ac:spMk id="319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0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1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22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3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24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5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26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7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28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42.365" v="0" actId="478"/>
          <ac:spMkLst>
            <pc:docMk/>
            <pc:sldMk cId="0" sldId="256"/>
            <ac:spMk id="329" creationId="{00000000-0000-0000-0000-000000000000}"/>
          </ac:spMkLst>
        </pc:spChg>
        <pc:spChg chg="del">
          <ac:chgData name="Antonio Pichardo, Joaquín Ernesto" userId="c87ddcfd-47b6-4d33-88ec-183604329254" providerId="ADAL" clId="{FEED0C0E-EE09-4E8C-9317-9489866A5FB2}" dt="2026-08-10T23:27:53.721" v="3" actId="478"/>
          <ac:spMkLst>
            <pc:docMk/>
            <pc:sldMk cId="0" sldId="256"/>
            <ac:spMk id="330" creationId="{00000000-0000-0000-0000-000000000000}"/>
          </ac:spMkLst>
        </pc:spChg>
        <pc:spChg chg="mod">
          <ac:chgData name="Antonio Pichardo, Joaquín Ernesto" userId="c87ddcfd-47b6-4d33-88ec-183604329254" providerId="ADAL" clId="{FEED0C0E-EE09-4E8C-9317-9489866A5FB2}" dt="2026-08-10T23:30:20.557" v="9" actId="2085"/>
          <ac:spMkLst>
            <pc:docMk/>
            <pc:sldMk cId="0" sldId="256"/>
            <ac:spMk id="423" creationId="{45D71346-E075-71E2-1AC7-6505A4DD6F87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10" creationId="{4495A161-EBBA-8D44-6D75-A87CC4B357D3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12" creationId="{919B4BAE-B3BC-BA07-E5B0-653D5BC612AC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20" creationId="{8E7E2A63-EF3B-A876-02E8-4C7CF07A3556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24" creationId="{B655C9A4-7CD3-0856-6123-5674232348F2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26" creationId="{2C9D14F7-2E32-2856-DCA7-FFA4E8554C05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32" creationId="{E57D2E48-8C28-2C4B-D4DE-DB79F645E02F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36" creationId="{E456A9F3-EB21-F480-2CF9-E9B198DE4F8D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40" creationId="{4C39B768-762E-743A-7B03-BF9AAF98C55B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43" creationId="{27F9B866-F3ED-6FF7-00CE-8F07AF469985}"/>
          </ac:spMkLst>
        </pc:spChg>
        <pc:spChg chg="add del">
          <ac:chgData name="Antonio Pichardo, Joaquín Ernesto" userId="c87ddcfd-47b6-4d33-88ec-183604329254" providerId="ADAL" clId="{FEED0C0E-EE09-4E8C-9317-9489866A5FB2}" dt="2026-08-10T23:28:32.048" v="5" actId="22"/>
          <ac:spMkLst>
            <pc:docMk/>
            <pc:sldMk cId="0" sldId="256"/>
            <ac:spMk id="546" creationId="{76874110-496A-DAA7-9C5F-B6B3F9300FEB}"/>
          </ac:spMkLst>
        </pc:spChg>
        <pc:spChg chg="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48" creationId="{4B530D1D-9E39-8845-26AA-569001383F01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50" creationId="{CF22FF4F-BEDA-CC22-D2D2-237E5BD9E634}"/>
          </ac:spMkLst>
        </pc:spChg>
        <pc:spChg chg="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52" creationId="{406B74BF-DFA7-A272-EC1C-69599FAC3594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54" creationId="{24F8C5E4-EEE2-2D68-7A24-B309146EE9F5}"/>
          </ac:spMkLst>
        </pc:spChg>
        <pc:spChg chg="add 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56" creationId="{792A0849-467F-A13C-9CFE-C8C6EA6F6431}"/>
          </ac:spMkLst>
        </pc:spChg>
        <pc:spChg chg="add 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60" creationId="{F97FDB2E-C636-35CE-C68F-F1D847F1F068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62" creationId="{0F7E3A7C-13C2-5092-549C-1BF8F9D61525}"/>
          </ac:spMkLst>
        </pc:spChg>
        <pc:spChg chg="add 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64" creationId="{E594D0C4-624D-B146-A176-E469919D7194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66" creationId="{C8B0A7E0-945D-6E42-A0DC-4C8C3FDE3940}"/>
          </ac:spMkLst>
        </pc:spChg>
        <pc:spChg chg="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68" creationId="{547F8462-F043-F8F7-5927-6B355E5179A7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70" creationId="{F75640B2-13AC-86EA-8445-DDEC4C294C02}"/>
          </ac:spMkLst>
        </pc:spChg>
        <pc:spChg chg="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72" creationId="{EA3830AA-EE8F-88A4-ADF9-287377B0692C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74" creationId="{1A145EC5-C2B3-286C-4A08-C4560D265FA1}"/>
          </ac:spMkLst>
        </pc:spChg>
        <pc:spChg chg="mod">
          <ac:chgData name="Antonio Pichardo, Joaquín Ernesto" userId="c87ddcfd-47b6-4d33-88ec-183604329254" providerId="ADAL" clId="{FEED0C0E-EE09-4E8C-9317-9489866A5FB2}" dt="2026-08-10T23:30:11.206" v="8" actId="2085"/>
          <ac:spMkLst>
            <pc:docMk/>
            <pc:sldMk cId="0" sldId="256"/>
            <ac:spMk id="578" creationId="{89D87839-467F-E20D-43F2-F9F8B8E5C014}"/>
          </ac:spMkLst>
        </pc:spChg>
        <pc:spChg chg="add mod">
          <ac:chgData name="Antonio Pichardo, Joaquín Ernesto" userId="c87ddcfd-47b6-4d33-88ec-183604329254" providerId="ADAL" clId="{FEED0C0E-EE09-4E8C-9317-9489866A5FB2}" dt="2026-08-10T23:28:40.097" v="7" actId="207"/>
          <ac:spMkLst>
            <pc:docMk/>
            <pc:sldMk cId="0" sldId="256"/>
            <ac:spMk id="580" creationId="{9F04123D-C411-C886-2285-F50BD456F0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42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BanCoppel capability hierarchy source: BanCoppel_Mapa_Capacidades_Interactivo.html
- Visual layout reference: UNITY_Mapa_Empresarial_Referencia_Editable(1).pptx, slide 1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"/>
          </a:xfrm>
          <a:prstGeom prst="rect">
            <a:avLst/>
          </a:prstGeom>
          <a:solidFill>
            <a:srgbClr val="F4C300"/>
          </a:solidFill>
          <a:ln w="12700">
            <a:solidFill>
              <a:srgbClr val="F4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417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" y="54864"/>
            <a:ext cx="1380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clientes</a:t>
            </a:r>
            <a:endParaRPr lang="es-MX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148132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149047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</a:t>
            </a:r>
            <a:endParaRPr lang="es-MX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3267964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277108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Empresarial</a:t>
            </a:r>
            <a:endParaRPr lang="es-MX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5054600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063744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PYMES</a:t>
            </a:r>
            <a:endParaRPr lang="es-MX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6841236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6850380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valor</a:t>
            </a:r>
            <a:endParaRPr lang="es-MX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8627872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8637016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Fideicomisos</a:t>
            </a:r>
            <a:endParaRPr lang="es-MX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10414508" y="45720"/>
            <a:ext cx="1731772" cy="274320"/>
          </a:xfrm>
          <a:prstGeom prst="rect">
            <a:avLst/>
          </a:prstGeom>
          <a:solidFill>
            <a:srgbClr val="172949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10423652" y="51206"/>
            <a:ext cx="1713484" cy="263347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" y="36576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" y="374904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148132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149047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Kiosco</a:t>
            </a:r>
            <a:endParaRPr lang="es-MX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237312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238226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Online</a:t>
            </a:r>
            <a:endParaRPr lang="es-MX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326491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327406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15671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16585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Sucursal / Caja</a:t>
            </a:r>
            <a:endParaRPr lang="es-MX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04850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505764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 / Tablet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594029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594944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ATM / POS</a:t>
            </a:r>
            <a:endParaRPr lang="es-MX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83209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84123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s-MX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723886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733030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8615680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624824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Terceros</a:t>
            </a:r>
            <a:endParaRPr lang="es-MX" sz="900" noProof="0" dirty="0"/>
          </a:p>
        </p:txBody>
      </p:sp>
      <p:sp>
        <p:nvSpPr>
          <p:cNvPr id="37" name="Shape 35"/>
          <p:cNvSpPr/>
          <p:nvPr/>
        </p:nvSpPr>
        <p:spPr>
          <a:xfrm>
            <a:off x="9507474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38" name="Text 36"/>
          <p:cNvSpPr/>
          <p:nvPr/>
        </p:nvSpPr>
        <p:spPr>
          <a:xfrm>
            <a:off x="9516618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s-MX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10399268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10408412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/ SMS</a:t>
            </a:r>
            <a:endParaRPr lang="es-MX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11291062" y="365760"/>
            <a:ext cx="855218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2" name="Text 40"/>
          <p:cNvSpPr/>
          <p:nvPr/>
        </p:nvSpPr>
        <p:spPr>
          <a:xfrm>
            <a:off x="11300206" y="371246"/>
            <a:ext cx="836930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Corresponsales</a:t>
            </a:r>
            <a:endParaRPr lang="es-MX" sz="900" noProof="0" dirty="0"/>
          </a:p>
        </p:txBody>
      </p:sp>
      <p:sp>
        <p:nvSpPr>
          <p:cNvPr id="43" name="Shape 41"/>
          <p:cNvSpPr/>
          <p:nvPr/>
        </p:nvSpPr>
        <p:spPr>
          <a:xfrm>
            <a:off x="45720" y="667512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64008" y="676656"/>
            <a:ext cx="13807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s-MX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1481328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6" name="Text 44"/>
          <p:cNvSpPr/>
          <p:nvPr/>
        </p:nvSpPr>
        <p:spPr>
          <a:xfrm>
            <a:off x="1490472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Débito</a:t>
            </a:r>
            <a:endParaRPr lang="es-MX" sz="900" noProof="0" dirty="0"/>
          </a:p>
        </p:txBody>
      </p:sp>
      <p:sp>
        <p:nvSpPr>
          <p:cNvPr id="47" name="Shape 45"/>
          <p:cNvSpPr/>
          <p:nvPr/>
        </p:nvSpPr>
        <p:spPr>
          <a:xfrm>
            <a:off x="2819019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2828163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</a:t>
            </a:r>
            <a:endParaRPr lang="es-MX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156710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0" name="Text 48"/>
          <p:cNvSpPr/>
          <p:nvPr/>
        </p:nvSpPr>
        <p:spPr>
          <a:xfrm>
            <a:off x="4165854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Crédito</a:t>
            </a:r>
            <a:endParaRPr lang="es-MX" sz="900" noProof="0" dirty="0"/>
          </a:p>
        </p:txBody>
      </p:sp>
      <p:sp>
        <p:nvSpPr>
          <p:cNvPr id="51" name="Shape 49"/>
          <p:cNvSpPr/>
          <p:nvPr/>
        </p:nvSpPr>
        <p:spPr>
          <a:xfrm>
            <a:off x="5494401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5503545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crédito</a:t>
            </a:r>
            <a:endParaRPr lang="es-MX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6832092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4" name="Text 52"/>
          <p:cNvSpPr/>
          <p:nvPr/>
        </p:nvSpPr>
        <p:spPr>
          <a:xfrm>
            <a:off x="6841236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Pensiones</a:t>
            </a:r>
            <a:endParaRPr lang="es-MX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8169783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8178927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Inversiones</a:t>
            </a:r>
            <a:endParaRPr lang="es-MX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9507474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58" name="Text 56"/>
          <p:cNvSpPr/>
          <p:nvPr/>
        </p:nvSpPr>
        <p:spPr>
          <a:xfrm>
            <a:off x="9516618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Hipotecario</a:t>
            </a:r>
            <a:endParaRPr lang="es-MX" sz="900" noProof="0" dirty="0"/>
          </a:p>
        </p:txBody>
      </p:sp>
      <p:sp>
        <p:nvSpPr>
          <p:cNvPr id="59" name="Shape 57"/>
          <p:cNvSpPr/>
          <p:nvPr/>
        </p:nvSpPr>
        <p:spPr>
          <a:xfrm>
            <a:off x="10845165" y="667512"/>
            <a:ext cx="1301115" cy="256032"/>
          </a:xfrm>
          <a:prstGeom prst="rect">
            <a:avLst/>
          </a:prstGeom>
          <a:solidFill>
            <a:srgbClr val="9EA4A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10854309" y="672998"/>
            <a:ext cx="1282827" cy="2450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de debito</a:t>
            </a:r>
            <a:endParaRPr lang="es-MX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5720" y="969264"/>
            <a:ext cx="1417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4008" y="978408"/>
            <a:ext cx="1380744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y experiencia</a:t>
            </a:r>
            <a:endParaRPr lang="es-MX" sz="900" noProof="0" dirty="0"/>
          </a:p>
        </p:txBody>
      </p:sp>
      <p:sp>
        <p:nvSpPr>
          <p:cNvPr id="63" name="Shape 61"/>
          <p:cNvSpPr/>
          <p:nvPr/>
        </p:nvSpPr>
        <p:spPr>
          <a:xfrm>
            <a:off x="1481328" y="969264"/>
            <a:ext cx="471965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64" name="Text 62"/>
          <p:cNvSpPr/>
          <p:nvPr/>
        </p:nvSpPr>
        <p:spPr>
          <a:xfrm>
            <a:off x="1508760" y="974750"/>
            <a:ext cx="4664795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y conocimiento del cliente</a:t>
            </a:r>
            <a:endParaRPr lang="es-MX" sz="900" noProof="0" dirty="0"/>
          </a:p>
        </p:txBody>
      </p:sp>
      <p:sp>
        <p:nvSpPr>
          <p:cNvPr id="65" name="Shape 63"/>
          <p:cNvSpPr/>
          <p:nvPr/>
        </p:nvSpPr>
        <p:spPr>
          <a:xfrm>
            <a:off x="1517904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6" name="Text 64"/>
          <p:cNvSpPr/>
          <p:nvPr/>
        </p:nvSpPr>
        <p:spPr>
          <a:xfrm>
            <a:off x="1527048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clientes</a:t>
            </a:r>
            <a:endParaRPr lang="es-MX" sz="700" noProof="0" dirty="0"/>
          </a:p>
        </p:txBody>
      </p:sp>
      <p:sp>
        <p:nvSpPr>
          <p:cNvPr id="67" name="Shape 65"/>
          <p:cNvSpPr/>
          <p:nvPr/>
        </p:nvSpPr>
        <p:spPr>
          <a:xfrm>
            <a:off x="2453606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68" name="Text 66"/>
          <p:cNvSpPr/>
          <p:nvPr/>
        </p:nvSpPr>
        <p:spPr>
          <a:xfrm>
            <a:off x="2462750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 y preferencias</a:t>
            </a:r>
            <a:endParaRPr lang="es-MX" sz="700" noProof="0" dirty="0"/>
          </a:p>
        </p:txBody>
      </p:sp>
      <p:sp>
        <p:nvSpPr>
          <p:cNvPr id="69" name="Shape 67"/>
          <p:cNvSpPr/>
          <p:nvPr/>
        </p:nvSpPr>
        <p:spPr>
          <a:xfrm>
            <a:off x="3389308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0" name="Text 68"/>
          <p:cNvSpPr/>
          <p:nvPr/>
        </p:nvSpPr>
        <p:spPr>
          <a:xfrm>
            <a:off x="3398452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cliente</a:t>
            </a:r>
            <a:endParaRPr lang="es-MX" sz="700" noProof="0" dirty="0"/>
          </a:p>
        </p:txBody>
      </p:sp>
      <p:sp>
        <p:nvSpPr>
          <p:cNvPr id="71" name="Shape 69"/>
          <p:cNvSpPr/>
          <p:nvPr/>
        </p:nvSpPr>
        <p:spPr>
          <a:xfrm>
            <a:off x="4325010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2" name="Text 70"/>
          <p:cNvSpPr/>
          <p:nvPr/>
        </p:nvSpPr>
        <p:spPr>
          <a:xfrm>
            <a:off x="4334154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 y percepción del cliente</a:t>
            </a:r>
            <a:endParaRPr lang="es-MX" sz="700" noProof="0" dirty="0"/>
          </a:p>
        </p:txBody>
      </p:sp>
      <p:sp>
        <p:nvSpPr>
          <p:cNvPr id="73" name="Shape 71"/>
          <p:cNvSpPr/>
          <p:nvPr/>
        </p:nvSpPr>
        <p:spPr>
          <a:xfrm>
            <a:off x="5260712" y="1088136"/>
            <a:ext cx="903698" cy="370332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4" name="Text 72"/>
          <p:cNvSpPr/>
          <p:nvPr/>
        </p:nvSpPr>
        <p:spPr>
          <a:xfrm>
            <a:off x="5269856" y="1093622"/>
            <a:ext cx="885410" cy="359359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y conocimiento del cliente</a:t>
            </a:r>
            <a:endParaRPr lang="es-MX" sz="700" noProof="0" dirty="0"/>
          </a:p>
        </p:txBody>
      </p:sp>
      <p:sp>
        <p:nvSpPr>
          <p:cNvPr id="75" name="Shape 73"/>
          <p:cNvSpPr/>
          <p:nvPr/>
        </p:nvSpPr>
        <p:spPr>
          <a:xfrm>
            <a:off x="6246707" y="969264"/>
            <a:ext cx="589957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76" name="Text 74"/>
          <p:cNvSpPr/>
          <p:nvPr/>
        </p:nvSpPr>
        <p:spPr>
          <a:xfrm>
            <a:off x="6274139" y="974750"/>
            <a:ext cx="5844709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servicio al cliente</a:t>
            </a:r>
            <a:endParaRPr lang="es-MX" sz="900" noProof="0" dirty="0"/>
          </a:p>
        </p:txBody>
      </p:sp>
      <p:sp>
        <p:nvSpPr>
          <p:cNvPr id="77" name="Shape 75"/>
          <p:cNvSpPr/>
          <p:nvPr/>
        </p:nvSpPr>
        <p:spPr>
          <a:xfrm>
            <a:off x="6283283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78" name="Text 76"/>
          <p:cNvSpPr/>
          <p:nvPr/>
        </p:nvSpPr>
        <p:spPr>
          <a:xfrm>
            <a:off x="6292427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79" name="Shape 77"/>
          <p:cNvSpPr/>
          <p:nvPr/>
        </p:nvSpPr>
        <p:spPr>
          <a:xfrm>
            <a:off x="7747889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0" name="Text 78"/>
          <p:cNvSpPr/>
          <p:nvPr/>
        </p:nvSpPr>
        <p:spPr>
          <a:xfrm>
            <a:off x="7757033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Autoservicio del cliente</a:t>
            </a:r>
            <a:endParaRPr lang="es-MX" sz="700" noProof="0" dirty="0"/>
          </a:p>
        </p:txBody>
      </p:sp>
      <p:sp>
        <p:nvSpPr>
          <p:cNvPr id="81" name="Shape 79"/>
          <p:cNvSpPr/>
          <p:nvPr/>
        </p:nvSpPr>
        <p:spPr>
          <a:xfrm>
            <a:off x="9212495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2" name="Text 80"/>
          <p:cNvSpPr/>
          <p:nvPr/>
        </p:nvSpPr>
        <p:spPr>
          <a:xfrm>
            <a:off x="9221639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de transacciones en canal</a:t>
            </a:r>
            <a:endParaRPr lang="es-MX" sz="700" noProof="0" dirty="0"/>
          </a:p>
        </p:txBody>
      </p:sp>
      <p:sp>
        <p:nvSpPr>
          <p:cNvPr id="83" name="Shape 81"/>
          <p:cNvSpPr/>
          <p:nvPr/>
        </p:nvSpPr>
        <p:spPr>
          <a:xfrm>
            <a:off x="10677101" y="1088136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4" name="Text 82"/>
          <p:cNvSpPr/>
          <p:nvPr/>
        </p:nvSpPr>
        <p:spPr>
          <a:xfrm>
            <a:off x="10686245" y="1093622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Asistencia interactiva</a:t>
            </a:r>
            <a:endParaRPr lang="es-MX" sz="700" noProof="0" dirty="0"/>
          </a:p>
        </p:txBody>
      </p:sp>
      <p:sp>
        <p:nvSpPr>
          <p:cNvPr id="85" name="Shape 83"/>
          <p:cNvSpPr/>
          <p:nvPr/>
        </p:nvSpPr>
        <p:spPr>
          <a:xfrm>
            <a:off x="6283283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6" name="Text 84"/>
          <p:cNvSpPr/>
          <p:nvPr/>
        </p:nvSpPr>
        <p:spPr>
          <a:xfrm>
            <a:off x="6292427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</a:t>
            </a:r>
            <a:endParaRPr lang="es-MX" sz="700" noProof="0" dirty="0"/>
          </a:p>
        </p:txBody>
      </p:sp>
      <p:sp>
        <p:nvSpPr>
          <p:cNvPr id="87" name="Shape 85"/>
          <p:cNvSpPr/>
          <p:nvPr/>
        </p:nvSpPr>
        <p:spPr>
          <a:xfrm>
            <a:off x="7747889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88" name="Text 86"/>
          <p:cNvSpPr/>
          <p:nvPr/>
        </p:nvSpPr>
        <p:spPr>
          <a:xfrm>
            <a:off x="7757033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casos</a:t>
            </a:r>
            <a:endParaRPr lang="es-MX" sz="700" noProof="0" dirty="0"/>
          </a:p>
        </p:txBody>
      </p:sp>
      <p:sp>
        <p:nvSpPr>
          <p:cNvPr id="89" name="Shape 87"/>
          <p:cNvSpPr/>
          <p:nvPr/>
        </p:nvSpPr>
        <p:spPr>
          <a:xfrm>
            <a:off x="9212495" y="1284732"/>
            <a:ext cx="1432602" cy="173736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90" name="Text 88"/>
          <p:cNvSpPr/>
          <p:nvPr/>
        </p:nvSpPr>
        <p:spPr>
          <a:xfrm>
            <a:off x="9221639" y="1290218"/>
            <a:ext cx="1414314" cy="162763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problemas de servicio</a:t>
            </a:r>
            <a:endParaRPr lang="es-MX" sz="700" noProof="0" dirty="0"/>
          </a:p>
        </p:txBody>
      </p:sp>
      <p:sp>
        <p:nvSpPr>
          <p:cNvPr id="91" name="Shape 89"/>
          <p:cNvSpPr/>
          <p:nvPr/>
        </p:nvSpPr>
        <p:spPr>
          <a:xfrm>
            <a:off x="45720" y="1517904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2" name="Shape 90"/>
          <p:cNvSpPr/>
          <p:nvPr/>
        </p:nvSpPr>
        <p:spPr>
          <a:xfrm>
            <a:off x="45720" y="2084832"/>
            <a:ext cx="12100560" cy="0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3" name="Shape 91"/>
          <p:cNvSpPr/>
          <p:nvPr/>
        </p:nvSpPr>
        <p:spPr>
          <a:xfrm>
            <a:off x="4572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4" name="Shape 92"/>
          <p:cNvSpPr/>
          <p:nvPr/>
        </p:nvSpPr>
        <p:spPr>
          <a:xfrm>
            <a:off x="12146280" y="1517904"/>
            <a:ext cx="0" cy="566928"/>
          </a:xfrm>
          <a:prstGeom prst="line">
            <a:avLst/>
          </a:prstGeom>
          <a:noFill/>
          <a:ln w="10160">
            <a:solidFill>
              <a:srgbClr val="2D7D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5" name="Shape 93"/>
          <p:cNvSpPr/>
          <p:nvPr/>
        </p:nvSpPr>
        <p:spPr>
          <a:xfrm>
            <a:off x="45720" y="15179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96" name="Text 94"/>
          <p:cNvSpPr/>
          <p:nvPr/>
        </p:nvSpPr>
        <p:spPr>
          <a:xfrm>
            <a:off x="64008" y="1527048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orquestación de procesos</a:t>
            </a:r>
            <a:endParaRPr lang="es-MX" sz="900" noProof="0" dirty="0"/>
          </a:p>
        </p:txBody>
      </p:sp>
      <p:sp>
        <p:nvSpPr>
          <p:cNvPr id="97" name="Shape 95"/>
          <p:cNvSpPr/>
          <p:nvPr/>
        </p:nvSpPr>
        <p:spPr>
          <a:xfrm>
            <a:off x="1481328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98" name="Text 96"/>
          <p:cNvSpPr/>
          <p:nvPr/>
        </p:nvSpPr>
        <p:spPr>
          <a:xfrm>
            <a:off x="1508760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orquestación de servicios</a:t>
            </a:r>
            <a:endParaRPr lang="es-MX" sz="900" noProof="0" dirty="0"/>
          </a:p>
        </p:txBody>
      </p:sp>
      <p:sp>
        <p:nvSpPr>
          <p:cNvPr id="99" name="Shape 97"/>
          <p:cNvSpPr/>
          <p:nvPr/>
        </p:nvSpPr>
        <p:spPr>
          <a:xfrm>
            <a:off x="15224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0" name="Text 98"/>
          <p:cNvSpPr/>
          <p:nvPr/>
        </p:nvSpPr>
        <p:spPr>
          <a:xfrm>
            <a:off x="15316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s-MX" sz="700" noProof="0" dirty="0"/>
          </a:p>
        </p:txBody>
      </p:sp>
      <p:sp>
        <p:nvSpPr>
          <p:cNvPr id="101" name="Shape 99"/>
          <p:cNvSpPr/>
          <p:nvPr/>
        </p:nvSpPr>
        <p:spPr>
          <a:xfrm>
            <a:off x="2903220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2" name="Text 100"/>
          <p:cNvSpPr/>
          <p:nvPr/>
        </p:nvSpPr>
        <p:spPr>
          <a:xfrm>
            <a:off x="2912364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de servicios</a:t>
            </a:r>
            <a:endParaRPr lang="es-MX" sz="700" noProof="0" dirty="0"/>
          </a:p>
        </p:txBody>
      </p:sp>
      <p:sp>
        <p:nvSpPr>
          <p:cNvPr id="103" name="Shape 101"/>
          <p:cNvSpPr/>
          <p:nvPr/>
        </p:nvSpPr>
        <p:spPr>
          <a:xfrm>
            <a:off x="15224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4" name="Text 102"/>
          <p:cNvSpPr/>
          <p:nvPr/>
        </p:nvSpPr>
        <p:spPr>
          <a:xfrm>
            <a:off x="15316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Orquestación de servicios</a:t>
            </a:r>
            <a:endParaRPr lang="es-MX" sz="700" noProof="0" dirty="0"/>
          </a:p>
        </p:txBody>
      </p:sp>
      <p:sp>
        <p:nvSpPr>
          <p:cNvPr id="105" name="Shape 103"/>
          <p:cNvSpPr/>
          <p:nvPr/>
        </p:nvSpPr>
        <p:spPr>
          <a:xfrm>
            <a:off x="2903220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06" name="Text 104"/>
          <p:cNvSpPr/>
          <p:nvPr/>
        </p:nvSpPr>
        <p:spPr>
          <a:xfrm>
            <a:off x="2912364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de microservicios</a:t>
            </a:r>
            <a:endParaRPr lang="es-MX" sz="700" noProof="0" dirty="0"/>
          </a:p>
        </p:txBody>
      </p:sp>
      <p:sp>
        <p:nvSpPr>
          <p:cNvPr id="107" name="Shape 105"/>
          <p:cNvSpPr/>
          <p:nvPr/>
        </p:nvSpPr>
        <p:spPr>
          <a:xfrm>
            <a:off x="4334256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08" name="Text 106"/>
          <p:cNvSpPr/>
          <p:nvPr/>
        </p:nvSpPr>
        <p:spPr>
          <a:xfrm>
            <a:off x="4361688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y acceso a datos</a:t>
            </a:r>
            <a:endParaRPr lang="es-MX" sz="900" noProof="0" dirty="0"/>
          </a:p>
        </p:txBody>
      </p:sp>
      <p:sp>
        <p:nvSpPr>
          <p:cNvPr id="109" name="Shape 107"/>
          <p:cNvSpPr/>
          <p:nvPr/>
        </p:nvSpPr>
        <p:spPr>
          <a:xfrm>
            <a:off x="4375404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0" name="Text 108"/>
          <p:cNvSpPr/>
          <p:nvPr/>
        </p:nvSpPr>
        <p:spPr>
          <a:xfrm>
            <a:off x="4384548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mensajes</a:t>
            </a:r>
            <a:endParaRPr lang="es-MX" sz="700" noProof="0" dirty="0"/>
          </a:p>
        </p:txBody>
      </p:sp>
      <p:sp>
        <p:nvSpPr>
          <p:cNvPr id="111" name="Shape 109"/>
          <p:cNvSpPr/>
          <p:nvPr/>
        </p:nvSpPr>
        <p:spPr>
          <a:xfrm>
            <a:off x="5756148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2" name="Text 110"/>
          <p:cNvSpPr/>
          <p:nvPr/>
        </p:nvSpPr>
        <p:spPr>
          <a:xfrm>
            <a:off x="5765292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Mensajería de eventos</a:t>
            </a:r>
            <a:endParaRPr lang="es-MX" sz="700" noProof="0" dirty="0"/>
          </a:p>
        </p:txBody>
      </p:sp>
      <p:sp>
        <p:nvSpPr>
          <p:cNvPr id="113" name="Shape 111"/>
          <p:cNvSpPr/>
          <p:nvPr/>
        </p:nvSpPr>
        <p:spPr>
          <a:xfrm>
            <a:off x="4375404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4" name="Text 112"/>
          <p:cNvSpPr/>
          <p:nvPr/>
        </p:nvSpPr>
        <p:spPr>
          <a:xfrm>
            <a:off x="4384548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a datos</a:t>
            </a:r>
            <a:endParaRPr lang="es-MX" sz="700" noProof="0" dirty="0"/>
          </a:p>
        </p:txBody>
      </p:sp>
      <p:sp>
        <p:nvSpPr>
          <p:cNvPr id="115" name="Shape 113"/>
          <p:cNvSpPr/>
          <p:nvPr/>
        </p:nvSpPr>
        <p:spPr>
          <a:xfrm>
            <a:off x="5756148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16" name="Text 114"/>
          <p:cNvSpPr/>
          <p:nvPr/>
        </p:nvSpPr>
        <p:spPr>
          <a:xfrm>
            <a:off x="5765292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datos </a:t>
            </a: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omnicanal</a:t>
            </a:r>
            <a:endParaRPr lang="es-MX" sz="700" noProof="0" dirty="0"/>
          </a:p>
        </p:txBody>
      </p:sp>
      <p:sp>
        <p:nvSpPr>
          <p:cNvPr id="117" name="Shape 115"/>
          <p:cNvSpPr/>
          <p:nvPr/>
        </p:nvSpPr>
        <p:spPr>
          <a:xfrm>
            <a:off x="7187184" y="1559052"/>
            <a:ext cx="2816352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18" name="Text 116"/>
          <p:cNvSpPr/>
          <p:nvPr/>
        </p:nvSpPr>
        <p:spPr>
          <a:xfrm>
            <a:off x="7214616" y="1570025"/>
            <a:ext cx="2761488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 y estado</a:t>
            </a:r>
            <a:endParaRPr lang="es-MX" sz="900" noProof="0" dirty="0"/>
          </a:p>
        </p:txBody>
      </p:sp>
      <p:sp>
        <p:nvSpPr>
          <p:cNvPr id="119" name="Shape 117"/>
          <p:cNvSpPr/>
          <p:nvPr/>
        </p:nvSpPr>
        <p:spPr>
          <a:xfrm>
            <a:off x="7228332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0" name="Text 118"/>
          <p:cNvSpPr/>
          <p:nvPr/>
        </p:nvSpPr>
        <p:spPr>
          <a:xfrm>
            <a:off x="7237476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de transacciones</a:t>
            </a:r>
            <a:endParaRPr lang="es-MX" sz="700" noProof="0" dirty="0"/>
          </a:p>
        </p:txBody>
      </p:sp>
      <p:sp>
        <p:nvSpPr>
          <p:cNvPr id="121" name="Shape 119"/>
          <p:cNvSpPr/>
          <p:nvPr/>
        </p:nvSpPr>
        <p:spPr>
          <a:xfrm>
            <a:off x="8609076" y="168706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2" name="Text 120"/>
          <p:cNvSpPr/>
          <p:nvPr/>
        </p:nvSpPr>
        <p:spPr>
          <a:xfrm>
            <a:off x="8618220" y="1692554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transacciones</a:t>
            </a:r>
            <a:endParaRPr lang="es-MX" sz="700" noProof="0" dirty="0"/>
          </a:p>
        </p:txBody>
      </p:sp>
      <p:sp>
        <p:nvSpPr>
          <p:cNvPr id="123" name="Shape 121"/>
          <p:cNvSpPr/>
          <p:nvPr/>
        </p:nvSpPr>
        <p:spPr>
          <a:xfrm>
            <a:off x="7228332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4" name="Text 122"/>
          <p:cNvSpPr/>
          <p:nvPr/>
        </p:nvSpPr>
        <p:spPr>
          <a:xfrm>
            <a:off x="7237476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 y reenviar</a:t>
            </a:r>
            <a:endParaRPr lang="es-MX" sz="700" noProof="0" dirty="0"/>
          </a:p>
        </p:txBody>
      </p:sp>
      <p:sp>
        <p:nvSpPr>
          <p:cNvPr id="125" name="Shape 123"/>
          <p:cNvSpPr/>
          <p:nvPr/>
        </p:nvSpPr>
        <p:spPr>
          <a:xfrm>
            <a:off x="8609076" y="1861718"/>
            <a:ext cx="1353312" cy="15453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26" name="Text 124"/>
          <p:cNvSpPr/>
          <p:nvPr/>
        </p:nvSpPr>
        <p:spPr>
          <a:xfrm>
            <a:off x="8618220" y="1867205"/>
            <a:ext cx="1335024" cy="14356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contexto</a:t>
            </a:r>
            <a:endParaRPr lang="es-MX" sz="700" noProof="0" dirty="0"/>
          </a:p>
        </p:txBody>
      </p:sp>
      <p:sp>
        <p:nvSpPr>
          <p:cNvPr id="127" name="Shape 125"/>
          <p:cNvSpPr/>
          <p:nvPr/>
        </p:nvSpPr>
        <p:spPr>
          <a:xfrm>
            <a:off x="10040112" y="1559052"/>
            <a:ext cx="2106168" cy="484632"/>
          </a:xfrm>
          <a:prstGeom prst="rect">
            <a:avLst/>
          </a:prstGeom>
          <a:solidFill>
            <a:srgbClr val="FFFFFF"/>
          </a:solidFill>
          <a:ln w="8255">
            <a:solidFill>
              <a:srgbClr val="2D7D9A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28" name="Text 126"/>
          <p:cNvSpPr/>
          <p:nvPr/>
        </p:nvSpPr>
        <p:spPr>
          <a:xfrm>
            <a:off x="10067544" y="1570025"/>
            <a:ext cx="2051304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 con legado</a:t>
            </a:r>
            <a:endParaRPr lang="es-MX" sz="900" noProof="0" dirty="0"/>
          </a:p>
        </p:txBody>
      </p:sp>
      <p:sp>
        <p:nvSpPr>
          <p:cNvPr id="129" name="Shape 127"/>
          <p:cNvSpPr/>
          <p:nvPr/>
        </p:nvSpPr>
        <p:spPr>
          <a:xfrm>
            <a:off x="10081260" y="1687068"/>
            <a:ext cx="2023872" cy="32918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130" name="Text 128"/>
          <p:cNvSpPr/>
          <p:nvPr/>
        </p:nvSpPr>
        <p:spPr>
          <a:xfrm>
            <a:off x="10090404" y="1692554"/>
            <a:ext cx="2005584" cy="31821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 de legado</a:t>
            </a:r>
            <a:endParaRPr lang="es-MX" sz="700" noProof="0" dirty="0"/>
          </a:p>
        </p:txBody>
      </p:sp>
      <p:sp>
        <p:nvSpPr>
          <p:cNvPr id="131" name="Shape 129"/>
          <p:cNvSpPr/>
          <p:nvPr/>
        </p:nvSpPr>
        <p:spPr>
          <a:xfrm>
            <a:off x="45720" y="2121408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2" name="Shape 130"/>
          <p:cNvSpPr/>
          <p:nvPr/>
        </p:nvSpPr>
        <p:spPr>
          <a:xfrm>
            <a:off x="45720" y="576072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3" name="Shape 131"/>
          <p:cNvSpPr/>
          <p:nvPr/>
        </p:nvSpPr>
        <p:spPr>
          <a:xfrm>
            <a:off x="4572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4" name="Shape 132"/>
          <p:cNvSpPr/>
          <p:nvPr/>
        </p:nvSpPr>
        <p:spPr>
          <a:xfrm>
            <a:off x="12146280" y="2121408"/>
            <a:ext cx="0" cy="363931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5" name="Shape 133"/>
          <p:cNvSpPr/>
          <p:nvPr/>
        </p:nvSpPr>
        <p:spPr>
          <a:xfrm>
            <a:off x="45720" y="2121408"/>
            <a:ext cx="141732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136" name="Text 134"/>
          <p:cNvSpPr/>
          <p:nvPr/>
        </p:nvSpPr>
        <p:spPr>
          <a:xfrm>
            <a:off x="64008" y="2130552"/>
            <a:ext cx="13807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negocio</a:t>
            </a:r>
            <a:endParaRPr lang="es-MX" sz="9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481328" y="2167128"/>
            <a:ext cx="272457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38" name="Text 136"/>
          <p:cNvSpPr/>
          <p:nvPr/>
        </p:nvSpPr>
        <p:spPr>
          <a:xfrm>
            <a:off x="1508760" y="2178101"/>
            <a:ext cx="266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productos</a:t>
            </a:r>
            <a:endParaRPr lang="es-MX" sz="900" noProof="0" dirty="0"/>
          </a:p>
        </p:txBody>
      </p:sp>
      <p:sp>
        <p:nvSpPr>
          <p:cNvPr id="139" name="Shape 137"/>
          <p:cNvSpPr/>
          <p:nvPr/>
        </p:nvSpPr>
        <p:spPr>
          <a:xfrm>
            <a:off x="1522476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0" name="Text 138"/>
          <p:cNvSpPr/>
          <p:nvPr/>
        </p:nvSpPr>
        <p:spPr>
          <a:xfrm>
            <a:off x="1531620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 de mercado</a:t>
            </a:r>
            <a:endParaRPr lang="es-MX" sz="600" noProof="0" dirty="0"/>
          </a:p>
        </p:txBody>
      </p:sp>
      <p:sp>
        <p:nvSpPr>
          <p:cNvPr id="141" name="Shape 139"/>
          <p:cNvSpPr/>
          <p:nvPr/>
        </p:nvSpPr>
        <p:spPr>
          <a:xfrm>
            <a:off x="2189903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2" name="Text 140"/>
          <p:cNvSpPr/>
          <p:nvPr/>
        </p:nvSpPr>
        <p:spPr>
          <a:xfrm>
            <a:off x="2199047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de nuevos productos</a:t>
            </a:r>
            <a:endParaRPr lang="es-MX" sz="600" noProof="0" dirty="0"/>
          </a:p>
        </p:txBody>
      </p:sp>
      <p:sp>
        <p:nvSpPr>
          <p:cNvPr id="143" name="Shape 141"/>
          <p:cNvSpPr/>
          <p:nvPr/>
        </p:nvSpPr>
        <p:spPr>
          <a:xfrm>
            <a:off x="2857331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4" name="Text 142"/>
          <p:cNvSpPr/>
          <p:nvPr/>
        </p:nvSpPr>
        <p:spPr>
          <a:xfrm>
            <a:off x="2866475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Modelos</a:t>
            </a:r>
            <a:endParaRPr lang="es-MX" sz="600" noProof="0" dirty="0"/>
          </a:p>
        </p:txBody>
      </p:sp>
      <p:sp>
        <p:nvSpPr>
          <p:cNvPr id="145" name="Shape 143"/>
          <p:cNvSpPr/>
          <p:nvPr/>
        </p:nvSpPr>
        <p:spPr>
          <a:xfrm>
            <a:off x="3524758" y="2313431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6" name="Text 144"/>
          <p:cNvSpPr/>
          <p:nvPr/>
        </p:nvSpPr>
        <p:spPr>
          <a:xfrm>
            <a:off x="3533902" y="2318918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Parametrización</a:t>
            </a:r>
            <a:endParaRPr lang="es-MX" sz="600" noProof="0" dirty="0"/>
          </a:p>
        </p:txBody>
      </p:sp>
      <p:sp>
        <p:nvSpPr>
          <p:cNvPr id="147" name="Shape 145"/>
          <p:cNvSpPr/>
          <p:nvPr/>
        </p:nvSpPr>
        <p:spPr>
          <a:xfrm>
            <a:off x="1522476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48" name="Text 146"/>
          <p:cNvSpPr/>
          <p:nvPr/>
        </p:nvSpPr>
        <p:spPr>
          <a:xfrm>
            <a:off x="1531620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gestión de productos</a:t>
            </a:r>
            <a:endParaRPr lang="es-MX" sz="600" noProof="0" dirty="0"/>
          </a:p>
        </p:txBody>
      </p:sp>
      <p:sp>
        <p:nvSpPr>
          <p:cNvPr id="149" name="Shape 147"/>
          <p:cNvSpPr/>
          <p:nvPr/>
        </p:nvSpPr>
        <p:spPr>
          <a:xfrm>
            <a:off x="2189903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0" name="Text 148"/>
          <p:cNvSpPr/>
          <p:nvPr/>
        </p:nvSpPr>
        <p:spPr>
          <a:xfrm>
            <a:off x="2199047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motor de reglas</a:t>
            </a:r>
            <a:endParaRPr lang="es-MX" sz="600" noProof="0" dirty="0"/>
          </a:p>
        </p:txBody>
      </p:sp>
      <p:sp>
        <p:nvSpPr>
          <p:cNvPr id="151" name="Shape 149"/>
          <p:cNvSpPr/>
          <p:nvPr/>
        </p:nvSpPr>
        <p:spPr>
          <a:xfrm>
            <a:off x="2857331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2" name="Text 150"/>
          <p:cNvSpPr/>
          <p:nvPr/>
        </p:nvSpPr>
        <p:spPr>
          <a:xfrm>
            <a:off x="2866475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roles</a:t>
            </a:r>
            <a:endParaRPr lang="es-MX" sz="600" noProof="0" dirty="0"/>
          </a:p>
        </p:txBody>
      </p:sp>
      <p:sp>
        <p:nvSpPr>
          <p:cNvPr id="153" name="Shape 151"/>
          <p:cNvSpPr/>
          <p:nvPr/>
        </p:nvSpPr>
        <p:spPr>
          <a:xfrm>
            <a:off x="3524758" y="2573375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4" name="Text 152"/>
          <p:cNvSpPr/>
          <p:nvPr/>
        </p:nvSpPr>
        <p:spPr>
          <a:xfrm>
            <a:off x="3533902" y="2578862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de productos</a:t>
            </a:r>
            <a:endParaRPr lang="es-MX" sz="600" noProof="0" dirty="0"/>
          </a:p>
        </p:txBody>
      </p:sp>
      <p:sp>
        <p:nvSpPr>
          <p:cNvPr id="155" name="Shape 153"/>
          <p:cNvSpPr/>
          <p:nvPr/>
        </p:nvSpPr>
        <p:spPr>
          <a:xfrm>
            <a:off x="1522476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6" name="Text 154"/>
          <p:cNvSpPr/>
          <p:nvPr/>
        </p:nvSpPr>
        <p:spPr>
          <a:xfrm>
            <a:off x="1531620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Precios, honorarios y tarifas</a:t>
            </a:r>
            <a:endParaRPr lang="es-MX" sz="600" noProof="0" dirty="0"/>
          </a:p>
        </p:txBody>
      </p:sp>
      <p:sp>
        <p:nvSpPr>
          <p:cNvPr id="157" name="Shape 155"/>
          <p:cNvSpPr/>
          <p:nvPr/>
        </p:nvSpPr>
        <p:spPr>
          <a:xfrm>
            <a:off x="2189903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58" name="Text 156"/>
          <p:cNvSpPr/>
          <p:nvPr/>
        </p:nvSpPr>
        <p:spPr>
          <a:xfrm>
            <a:off x="2199047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fijación de precios</a:t>
            </a:r>
            <a:endParaRPr lang="es-MX" sz="600" noProof="0" dirty="0"/>
          </a:p>
        </p:txBody>
      </p:sp>
      <p:sp>
        <p:nvSpPr>
          <p:cNvPr id="159" name="Shape 157"/>
          <p:cNvSpPr/>
          <p:nvPr/>
        </p:nvSpPr>
        <p:spPr>
          <a:xfrm>
            <a:off x="2857331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0" name="Text 158"/>
          <p:cNvSpPr/>
          <p:nvPr/>
        </p:nvSpPr>
        <p:spPr>
          <a:xfrm>
            <a:off x="2866475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precios y rentabilidad</a:t>
            </a:r>
            <a:endParaRPr lang="es-MX" sz="600" noProof="0" dirty="0"/>
          </a:p>
        </p:txBody>
      </p:sp>
      <p:sp>
        <p:nvSpPr>
          <p:cNvPr id="161" name="Shape 159"/>
          <p:cNvSpPr/>
          <p:nvPr/>
        </p:nvSpPr>
        <p:spPr>
          <a:xfrm>
            <a:off x="3524758" y="2820618"/>
            <a:ext cx="63999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2" name="Text 160"/>
          <p:cNvSpPr/>
          <p:nvPr/>
        </p:nvSpPr>
        <p:spPr>
          <a:xfrm>
            <a:off x="3533902" y="2826106"/>
            <a:ext cx="62170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ciclo de vida del producto</a:t>
            </a:r>
            <a:endParaRPr lang="es-MX" sz="600" noProof="0" dirty="0"/>
          </a:p>
        </p:txBody>
      </p:sp>
      <p:sp>
        <p:nvSpPr>
          <p:cNvPr id="163" name="Shape 161"/>
          <p:cNvSpPr/>
          <p:nvPr/>
        </p:nvSpPr>
        <p:spPr>
          <a:xfrm>
            <a:off x="4242478" y="2167128"/>
            <a:ext cx="267916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64" name="Text 162"/>
          <p:cNvSpPr/>
          <p:nvPr/>
        </p:nvSpPr>
        <p:spPr>
          <a:xfrm>
            <a:off x="4269910" y="2178101"/>
            <a:ext cx="26243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de producto: depósitos</a:t>
            </a:r>
            <a:endParaRPr lang="es-MX" sz="900" noProof="0" dirty="0"/>
          </a:p>
        </p:txBody>
      </p:sp>
      <p:sp>
        <p:nvSpPr>
          <p:cNvPr id="165" name="Shape 163"/>
          <p:cNvSpPr/>
          <p:nvPr/>
        </p:nvSpPr>
        <p:spPr>
          <a:xfrm>
            <a:off x="4283626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6" name="Text 164"/>
          <p:cNvSpPr/>
          <p:nvPr/>
        </p:nvSpPr>
        <p:spPr>
          <a:xfrm>
            <a:off x="4292770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de la clase de producto</a:t>
            </a:r>
            <a:endParaRPr lang="es-MX" sz="600" noProof="0" dirty="0"/>
          </a:p>
        </p:txBody>
      </p:sp>
      <p:sp>
        <p:nvSpPr>
          <p:cNvPr id="167" name="Shape 165"/>
          <p:cNvSpPr/>
          <p:nvPr/>
        </p:nvSpPr>
        <p:spPr>
          <a:xfrm>
            <a:off x="5158392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68" name="Text 166"/>
          <p:cNvSpPr/>
          <p:nvPr/>
        </p:nvSpPr>
        <p:spPr>
          <a:xfrm>
            <a:off x="5167536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Corrientes</a:t>
            </a:r>
            <a:endParaRPr lang="es-MX" sz="600" noProof="0" dirty="0"/>
          </a:p>
        </p:txBody>
      </p:sp>
      <p:sp>
        <p:nvSpPr>
          <p:cNvPr id="169" name="Shape 167"/>
          <p:cNvSpPr/>
          <p:nvPr/>
        </p:nvSpPr>
        <p:spPr>
          <a:xfrm>
            <a:off x="6033159" y="2313431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0" name="Text 168"/>
          <p:cNvSpPr/>
          <p:nvPr/>
        </p:nvSpPr>
        <p:spPr>
          <a:xfrm>
            <a:off x="6042303" y="2318918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ahorro</a:t>
            </a:r>
            <a:endParaRPr lang="es-MX" sz="600" noProof="0" dirty="0"/>
          </a:p>
        </p:txBody>
      </p:sp>
      <p:sp>
        <p:nvSpPr>
          <p:cNvPr id="171" name="Shape 169"/>
          <p:cNvSpPr/>
          <p:nvPr/>
        </p:nvSpPr>
        <p:spPr>
          <a:xfrm>
            <a:off x="4283626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2" name="Text 170"/>
          <p:cNvSpPr/>
          <p:nvPr/>
        </p:nvSpPr>
        <p:spPr>
          <a:xfrm>
            <a:off x="4292770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deposito a plazo</a:t>
            </a:r>
            <a:endParaRPr lang="es-MX" sz="600" noProof="0" dirty="0"/>
          </a:p>
        </p:txBody>
      </p:sp>
      <p:sp>
        <p:nvSpPr>
          <p:cNvPr id="173" name="Shape 171"/>
          <p:cNvSpPr/>
          <p:nvPr/>
        </p:nvSpPr>
        <p:spPr>
          <a:xfrm>
            <a:off x="5158392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4" name="Text 172"/>
          <p:cNvSpPr/>
          <p:nvPr/>
        </p:nvSpPr>
        <p:spPr>
          <a:xfrm>
            <a:off x="5167536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saldo cero</a:t>
            </a:r>
            <a:endParaRPr lang="es-MX" sz="600" noProof="0" dirty="0"/>
          </a:p>
        </p:txBody>
      </p:sp>
      <p:sp>
        <p:nvSpPr>
          <p:cNvPr id="175" name="Shape 173"/>
          <p:cNvSpPr/>
          <p:nvPr/>
        </p:nvSpPr>
        <p:spPr>
          <a:xfrm>
            <a:off x="6033159" y="2573375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6" name="Text 174"/>
          <p:cNvSpPr/>
          <p:nvPr/>
        </p:nvSpPr>
        <p:spPr>
          <a:xfrm>
            <a:off x="6042303" y="2578862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jubilación</a:t>
            </a:r>
            <a:endParaRPr lang="es-MX" sz="600" noProof="0" dirty="0"/>
          </a:p>
        </p:txBody>
      </p:sp>
      <p:sp>
        <p:nvSpPr>
          <p:cNvPr id="177" name="Shape 175"/>
          <p:cNvSpPr/>
          <p:nvPr/>
        </p:nvSpPr>
        <p:spPr>
          <a:xfrm>
            <a:off x="4283626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78" name="Text 176"/>
          <p:cNvSpPr/>
          <p:nvPr/>
        </p:nvSpPr>
        <p:spPr>
          <a:xfrm>
            <a:off x="4292770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de crédito</a:t>
            </a:r>
            <a:endParaRPr lang="es-MX" sz="600" noProof="0" dirty="0"/>
          </a:p>
        </p:txBody>
      </p:sp>
      <p:sp>
        <p:nvSpPr>
          <p:cNvPr id="179" name="Shape 177"/>
          <p:cNvSpPr/>
          <p:nvPr/>
        </p:nvSpPr>
        <p:spPr>
          <a:xfrm>
            <a:off x="5158392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0" name="Text 178"/>
          <p:cNvSpPr/>
          <p:nvPr/>
        </p:nvSpPr>
        <p:spPr>
          <a:xfrm>
            <a:off x="5167536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privada/Servicios patrimoniales</a:t>
            </a:r>
            <a:endParaRPr lang="es-MX" sz="600" noProof="0" dirty="0"/>
          </a:p>
        </p:txBody>
      </p:sp>
      <p:sp>
        <p:nvSpPr>
          <p:cNvPr id="181" name="Shape 179"/>
          <p:cNvSpPr/>
          <p:nvPr/>
        </p:nvSpPr>
        <p:spPr>
          <a:xfrm>
            <a:off x="6033159" y="2820618"/>
            <a:ext cx="847335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2" name="Text 180"/>
          <p:cNvSpPr/>
          <p:nvPr/>
        </p:nvSpPr>
        <p:spPr>
          <a:xfrm>
            <a:off x="6042303" y="2826106"/>
            <a:ext cx="829047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183" name="Shape 181"/>
          <p:cNvSpPr/>
          <p:nvPr/>
        </p:nvSpPr>
        <p:spPr>
          <a:xfrm>
            <a:off x="6958218" y="2167128"/>
            <a:ext cx="190720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84" name="Text 182"/>
          <p:cNvSpPr/>
          <p:nvPr/>
        </p:nvSpPr>
        <p:spPr>
          <a:xfrm>
            <a:off x="6985650" y="2178101"/>
            <a:ext cx="185233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tarjetas</a:t>
            </a:r>
            <a:endParaRPr lang="es-MX" sz="900" noProof="0" dirty="0"/>
          </a:p>
        </p:txBody>
      </p:sp>
      <p:sp>
        <p:nvSpPr>
          <p:cNvPr id="185" name="Shape 183"/>
          <p:cNvSpPr/>
          <p:nvPr/>
        </p:nvSpPr>
        <p:spPr>
          <a:xfrm>
            <a:off x="6999366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6" name="Text 184"/>
          <p:cNvSpPr/>
          <p:nvPr/>
        </p:nvSpPr>
        <p:spPr>
          <a:xfrm>
            <a:off x="7008510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Emisión y activación de tarjetas</a:t>
            </a:r>
            <a:endParaRPr lang="es-MX" sz="600" noProof="0" dirty="0"/>
          </a:p>
        </p:txBody>
      </p:sp>
      <p:sp>
        <p:nvSpPr>
          <p:cNvPr id="187" name="Shape 185"/>
          <p:cNvSpPr/>
          <p:nvPr/>
        </p:nvSpPr>
        <p:spPr>
          <a:xfrm>
            <a:off x="7925535" y="2313431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88" name="Text 186"/>
          <p:cNvSpPr/>
          <p:nvPr/>
        </p:nvSpPr>
        <p:spPr>
          <a:xfrm>
            <a:off x="7934679" y="2318918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y captura de tarjetas</a:t>
            </a:r>
            <a:endParaRPr lang="es-MX" sz="600" noProof="0" dirty="0"/>
          </a:p>
        </p:txBody>
      </p:sp>
      <p:sp>
        <p:nvSpPr>
          <p:cNvPr id="189" name="Shape 187"/>
          <p:cNvSpPr/>
          <p:nvPr/>
        </p:nvSpPr>
        <p:spPr>
          <a:xfrm>
            <a:off x="6999366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0" name="Text 188"/>
          <p:cNvSpPr/>
          <p:nvPr/>
        </p:nvSpPr>
        <p:spPr>
          <a:xfrm>
            <a:off x="7008510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 y pagos de tarjeta</a:t>
            </a:r>
            <a:endParaRPr lang="es-MX" sz="600" noProof="0" dirty="0"/>
          </a:p>
        </p:txBody>
      </p:sp>
      <p:sp>
        <p:nvSpPr>
          <p:cNvPr id="191" name="Shape 189"/>
          <p:cNvSpPr/>
          <p:nvPr/>
        </p:nvSpPr>
        <p:spPr>
          <a:xfrm>
            <a:off x="7925535" y="2573375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2" name="Text 190"/>
          <p:cNvSpPr/>
          <p:nvPr/>
        </p:nvSpPr>
        <p:spPr>
          <a:xfrm>
            <a:off x="7934679" y="2578862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y ciclo de vida de tarjetas</a:t>
            </a:r>
            <a:endParaRPr lang="es-MX" sz="600" noProof="0" dirty="0"/>
          </a:p>
        </p:txBody>
      </p:sp>
      <p:sp>
        <p:nvSpPr>
          <p:cNvPr id="193" name="Shape 191"/>
          <p:cNvSpPr/>
          <p:nvPr/>
        </p:nvSpPr>
        <p:spPr>
          <a:xfrm>
            <a:off x="6999366" y="2820618"/>
            <a:ext cx="898737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4" name="Text 192"/>
          <p:cNvSpPr/>
          <p:nvPr/>
        </p:nvSpPr>
        <p:spPr>
          <a:xfrm>
            <a:off x="7008510" y="2826106"/>
            <a:ext cx="880449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 y ATM</a:t>
            </a:r>
            <a:endParaRPr lang="es-MX" sz="600" noProof="0" dirty="0"/>
          </a:p>
        </p:txBody>
      </p:sp>
      <p:sp>
        <p:nvSpPr>
          <p:cNvPr id="195" name="Shape 193"/>
          <p:cNvSpPr/>
          <p:nvPr/>
        </p:nvSpPr>
        <p:spPr>
          <a:xfrm>
            <a:off x="8901995" y="2167128"/>
            <a:ext cx="3235885" cy="912956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196" name="Text 194"/>
          <p:cNvSpPr/>
          <p:nvPr/>
        </p:nvSpPr>
        <p:spPr>
          <a:xfrm>
            <a:off x="8929427" y="2178101"/>
            <a:ext cx="318102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gestión de crédito</a:t>
            </a:r>
            <a:endParaRPr lang="es-MX" sz="900" noProof="0" dirty="0"/>
          </a:p>
        </p:txBody>
      </p:sp>
      <p:sp>
        <p:nvSpPr>
          <p:cNvPr id="197" name="Shape 195"/>
          <p:cNvSpPr/>
          <p:nvPr/>
        </p:nvSpPr>
        <p:spPr>
          <a:xfrm>
            <a:off x="8943143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198" name="Text 196"/>
          <p:cNvSpPr/>
          <p:nvPr/>
        </p:nvSpPr>
        <p:spPr>
          <a:xfrm>
            <a:off x="8952287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Suscripción y decisión crediticia</a:t>
            </a:r>
            <a:endParaRPr lang="es-MX" sz="600" noProof="0" dirty="0"/>
          </a:p>
        </p:txBody>
      </p:sp>
      <p:sp>
        <p:nvSpPr>
          <p:cNvPr id="199" name="Shape 197"/>
          <p:cNvSpPr/>
          <p:nvPr/>
        </p:nvSpPr>
        <p:spPr>
          <a:xfrm>
            <a:off x="973839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0" name="Text 198"/>
          <p:cNvSpPr/>
          <p:nvPr/>
        </p:nvSpPr>
        <p:spPr>
          <a:xfrm>
            <a:off x="974754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Garantías y colaterales</a:t>
            </a:r>
            <a:endParaRPr lang="es-MX" sz="600" noProof="0" dirty="0"/>
          </a:p>
        </p:txBody>
      </p:sp>
      <p:sp>
        <p:nvSpPr>
          <p:cNvPr id="201" name="Shape 199"/>
          <p:cNvSpPr/>
          <p:nvPr/>
        </p:nvSpPr>
        <p:spPr>
          <a:xfrm>
            <a:off x="10533654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2" name="Text 200"/>
          <p:cNvSpPr/>
          <p:nvPr/>
        </p:nvSpPr>
        <p:spPr>
          <a:xfrm>
            <a:off x="10542798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Originación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desembolso de crédito</a:t>
            </a:r>
            <a:endParaRPr lang="es-MX" sz="600" noProof="0" dirty="0"/>
          </a:p>
        </p:txBody>
      </p:sp>
      <p:sp>
        <p:nvSpPr>
          <p:cNvPr id="203" name="Shape 201"/>
          <p:cNvSpPr/>
          <p:nvPr/>
        </p:nvSpPr>
        <p:spPr>
          <a:xfrm>
            <a:off x="11328909" y="231343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4" name="Text 202"/>
          <p:cNvSpPr/>
          <p:nvPr/>
        </p:nvSpPr>
        <p:spPr>
          <a:xfrm>
            <a:off x="11338053" y="2318918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y mantenimiento de crédito</a:t>
            </a:r>
            <a:endParaRPr lang="es-MX" sz="600" noProof="0" dirty="0"/>
          </a:p>
        </p:txBody>
      </p:sp>
      <p:sp>
        <p:nvSpPr>
          <p:cNvPr id="205" name="Shape 203"/>
          <p:cNvSpPr/>
          <p:nvPr/>
        </p:nvSpPr>
        <p:spPr>
          <a:xfrm>
            <a:off x="8943143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6" name="Text 204"/>
          <p:cNvSpPr/>
          <p:nvPr/>
        </p:nvSpPr>
        <p:spPr>
          <a:xfrm>
            <a:off x="8952287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Renovación y ajuste de crédito</a:t>
            </a:r>
            <a:endParaRPr lang="es-MX" sz="600" noProof="0" dirty="0"/>
          </a:p>
        </p:txBody>
      </p:sp>
      <p:sp>
        <p:nvSpPr>
          <p:cNvPr id="207" name="Shape 205"/>
          <p:cNvSpPr/>
          <p:nvPr/>
        </p:nvSpPr>
        <p:spPr>
          <a:xfrm>
            <a:off x="9738399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08" name="Text 206"/>
          <p:cNvSpPr/>
          <p:nvPr/>
        </p:nvSpPr>
        <p:spPr>
          <a:xfrm>
            <a:off x="9747543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hipotecaria (relación y mantenimiento)</a:t>
            </a:r>
            <a:endParaRPr lang="es-MX" sz="600" noProof="0" dirty="0"/>
          </a:p>
        </p:txBody>
      </p:sp>
      <p:sp>
        <p:nvSpPr>
          <p:cNvPr id="209" name="Shape 207"/>
          <p:cNvSpPr/>
          <p:nvPr/>
        </p:nvSpPr>
        <p:spPr>
          <a:xfrm>
            <a:off x="10533654" y="2579522"/>
            <a:ext cx="767823" cy="24597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0" name="Text 208"/>
          <p:cNvSpPr/>
          <p:nvPr/>
        </p:nvSpPr>
        <p:spPr>
          <a:xfrm>
            <a:off x="10542798" y="2585009"/>
            <a:ext cx="749535" cy="235001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crédito</a:t>
            </a:r>
            <a:endParaRPr lang="es-MX" sz="600" noProof="0" dirty="0"/>
          </a:p>
        </p:txBody>
      </p:sp>
      <p:sp>
        <p:nvSpPr>
          <p:cNvPr id="211" name="Shape 209"/>
          <p:cNvSpPr/>
          <p:nvPr/>
        </p:nvSpPr>
        <p:spPr>
          <a:xfrm>
            <a:off x="1481328" y="3112088"/>
            <a:ext cx="228864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12" name="Text 210"/>
          <p:cNvSpPr/>
          <p:nvPr/>
        </p:nvSpPr>
        <p:spPr>
          <a:xfrm>
            <a:off x="1508760" y="3123061"/>
            <a:ext cx="223377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s-MX" sz="900" noProof="0" dirty="0"/>
          </a:p>
        </p:txBody>
      </p:sp>
      <p:sp>
        <p:nvSpPr>
          <p:cNvPr id="213" name="Shape 211"/>
          <p:cNvSpPr/>
          <p:nvPr/>
        </p:nvSpPr>
        <p:spPr>
          <a:xfrm>
            <a:off x="1522476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4" name="Text 212"/>
          <p:cNvSpPr/>
          <p:nvPr/>
        </p:nvSpPr>
        <p:spPr>
          <a:xfrm>
            <a:off x="1531620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y políticas de marketing</a:t>
            </a:r>
            <a:endParaRPr lang="es-MX" sz="600" noProof="0" dirty="0"/>
          </a:p>
        </p:txBody>
      </p:sp>
      <p:sp>
        <p:nvSpPr>
          <p:cNvPr id="215" name="Shape 213"/>
          <p:cNvSpPr/>
          <p:nvPr/>
        </p:nvSpPr>
        <p:spPr>
          <a:xfrm>
            <a:off x="2267069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6" name="Text 214"/>
          <p:cNvSpPr/>
          <p:nvPr/>
        </p:nvSpPr>
        <p:spPr>
          <a:xfrm>
            <a:off x="2276213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marca</a:t>
            </a:r>
            <a:endParaRPr lang="es-MX" sz="600" noProof="0" dirty="0"/>
          </a:p>
        </p:txBody>
      </p:sp>
      <p:sp>
        <p:nvSpPr>
          <p:cNvPr id="217" name="Shape 215"/>
          <p:cNvSpPr/>
          <p:nvPr/>
        </p:nvSpPr>
        <p:spPr>
          <a:xfrm>
            <a:off x="3011661" y="325839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18" name="Text 216"/>
          <p:cNvSpPr/>
          <p:nvPr/>
        </p:nvSpPr>
        <p:spPr>
          <a:xfrm>
            <a:off x="3020805" y="3263878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campañas</a:t>
            </a:r>
            <a:endParaRPr lang="es-MX" sz="600" noProof="0" dirty="0"/>
          </a:p>
        </p:txBody>
      </p:sp>
      <p:sp>
        <p:nvSpPr>
          <p:cNvPr id="219" name="Shape 217"/>
          <p:cNvSpPr/>
          <p:nvPr/>
        </p:nvSpPr>
        <p:spPr>
          <a:xfrm>
            <a:off x="1522476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0" name="Text 218"/>
          <p:cNvSpPr/>
          <p:nvPr/>
        </p:nvSpPr>
        <p:spPr>
          <a:xfrm>
            <a:off x="1531620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ofertas y promociones</a:t>
            </a:r>
            <a:endParaRPr lang="es-MX" sz="600" noProof="0" dirty="0"/>
          </a:p>
        </p:txBody>
      </p:sp>
      <p:sp>
        <p:nvSpPr>
          <p:cNvPr id="221" name="Shape 219"/>
          <p:cNvSpPr/>
          <p:nvPr/>
        </p:nvSpPr>
        <p:spPr>
          <a:xfrm>
            <a:off x="2267069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2" name="Text 220"/>
          <p:cNvSpPr/>
          <p:nvPr/>
        </p:nvSpPr>
        <p:spPr>
          <a:xfrm>
            <a:off x="2276213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 marketing y publicidad</a:t>
            </a:r>
            <a:endParaRPr lang="es-MX" sz="600" noProof="0" dirty="0"/>
          </a:p>
        </p:txBody>
      </p:sp>
      <p:sp>
        <p:nvSpPr>
          <p:cNvPr id="223" name="Shape 221"/>
          <p:cNvSpPr/>
          <p:nvPr/>
        </p:nvSpPr>
        <p:spPr>
          <a:xfrm>
            <a:off x="3011661" y="3508332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4" name="Text 222"/>
          <p:cNvSpPr/>
          <p:nvPr/>
        </p:nvSpPr>
        <p:spPr>
          <a:xfrm>
            <a:off x="3020805" y="351381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garantías</a:t>
            </a:r>
            <a:endParaRPr lang="es-MX" sz="600" noProof="0" dirty="0"/>
          </a:p>
        </p:txBody>
      </p:sp>
      <p:sp>
        <p:nvSpPr>
          <p:cNvPr id="225" name="Shape 223"/>
          <p:cNvSpPr/>
          <p:nvPr/>
        </p:nvSpPr>
        <p:spPr>
          <a:xfrm>
            <a:off x="1522476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6" name="Text 224"/>
          <p:cNvSpPr/>
          <p:nvPr/>
        </p:nvSpPr>
        <p:spPr>
          <a:xfrm>
            <a:off x="1531620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lealtad y recompensas</a:t>
            </a:r>
            <a:endParaRPr lang="es-MX" sz="600" noProof="0" dirty="0"/>
          </a:p>
        </p:txBody>
      </p:sp>
      <p:sp>
        <p:nvSpPr>
          <p:cNvPr id="227" name="Shape 225"/>
          <p:cNvSpPr/>
          <p:nvPr/>
        </p:nvSpPr>
        <p:spPr>
          <a:xfrm>
            <a:off x="2267069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28" name="Text 226"/>
          <p:cNvSpPr/>
          <p:nvPr/>
        </p:nvSpPr>
        <p:spPr>
          <a:xfrm>
            <a:off x="2276213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Encuestas/Investigación</a:t>
            </a:r>
            <a:endParaRPr lang="es-MX" sz="600" noProof="0" dirty="0"/>
          </a:p>
        </p:txBody>
      </p:sp>
      <p:sp>
        <p:nvSpPr>
          <p:cNvPr id="229" name="Shape 227"/>
          <p:cNvSpPr/>
          <p:nvPr/>
        </p:nvSpPr>
        <p:spPr>
          <a:xfrm>
            <a:off x="3011661" y="3758441"/>
            <a:ext cx="717161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0" name="Text 228"/>
          <p:cNvSpPr/>
          <p:nvPr/>
        </p:nvSpPr>
        <p:spPr>
          <a:xfrm>
            <a:off x="3020805" y="3763929"/>
            <a:ext cx="698873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Supervisión de la eficacia del marketing</a:t>
            </a:r>
            <a:endParaRPr lang="es-MX" sz="600" noProof="0" dirty="0"/>
          </a:p>
        </p:txBody>
      </p:sp>
      <p:sp>
        <p:nvSpPr>
          <p:cNvPr id="231" name="Shape 229"/>
          <p:cNvSpPr/>
          <p:nvPr/>
        </p:nvSpPr>
        <p:spPr>
          <a:xfrm>
            <a:off x="3806546" y="3112088"/>
            <a:ext cx="202526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32" name="Text 230"/>
          <p:cNvSpPr/>
          <p:nvPr/>
        </p:nvSpPr>
        <p:spPr>
          <a:xfrm>
            <a:off x="3833978" y="3123061"/>
            <a:ext cx="19704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s-MX" sz="900" noProof="0" dirty="0"/>
          </a:p>
        </p:txBody>
      </p:sp>
      <p:sp>
        <p:nvSpPr>
          <p:cNvPr id="233" name="Shape 231"/>
          <p:cNvSpPr/>
          <p:nvPr/>
        </p:nvSpPr>
        <p:spPr>
          <a:xfrm>
            <a:off x="3847694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4" name="Text 232"/>
          <p:cNvSpPr/>
          <p:nvPr/>
        </p:nvSpPr>
        <p:spPr>
          <a:xfrm>
            <a:off x="3856838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prospectos</a:t>
            </a:r>
            <a:endParaRPr lang="es-MX" sz="600" noProof="0" dirty="0"/>
          </a:p>
        </p:txBody>
      </p:sp>
      <p:sp>
        <p:nvSpPr>
          <p:cNvPr id="235" name="Shape 233"/>
          <p:cNvSpPr/>
          <p:nvPr/>
        </p:nvSpPr>
        <p:spPr>
          <a:xfrm>
            <a:off x="4504495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6" name="Text 234"/>
          <p:cNvSpPr/>
          <p:nvPr/>
        </p:nvSpPr>
        <p:spPr>
          <a:xfrm>
            <a:off x="4513639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Calificación de prospectos</a:t>
            </a:r>
            <a:endParaRPr lang="es-MX" sz="600" noProof="0" dirty="0"/>
          </a:p>
        </p:txBody>
      </p:sp>
      <p:sp>
        <p:nvSpPr>
          <p:cNvPr id="237" name="Shape 235"/>
          <p:cNvSpPr/>
          <p:nvPr/>
        </p:nvSpPr>
        <p:spPr>
          <a:xfrm>
            <a:off x="5161296" y="325839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38" name="Text 236"/>
          <p:cNvSpPr/>
          <p:nvPr/>
        </p:nvSpPr>
        <p:spPr>
          <a:xfrm>
            <a:off x="5170440" y="3263878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</a:t>
            </a:r>
            <a:endParaRPr lang="es-MX" sz="600" noProof="0" dirty="0"/>
          </a:p>
        </p:txBody>
      </p:sp>
      <p:sp>
        <p:nvSpPr>
          <p:cNvPr id="239" name="Shape 237"/>
          <p:cNvSpPr/>
          <p:nvPr/>
        </p:nvSpPr>
        <p:spPr>
          <a:xfrm>
            <a:off x="3847694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0" name="Text 238"/>
          <p:cNvSpPr/>
          <p:nvPr/>
        </p:nvSpPr>
        <p:spPr>
          <a:xfrm>
            <a:off x="3856838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del pipeline</a:t>
            </a:r>
            <a:endParaRPr lang="es-MX" sz="600" noProof="0" dirty="0"/>
          </a:p>
        </p:txBody>
      </p:sp>
      <p:sp>
        <p:nvSpPr>
          <p:cNvPr id="241" name="Shape 239"/>
          <p:cNvSpPr/>
          <p:nvPr/>
        </p:nvSpPr>
        <p:spPr>
          <a:xfrm>
            <a:off x="4504495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2" name="Text 240"/>
          <p:cNvSpPr/>
          <p:nvPr/>
        </p:nvSpPr>
        <p:spPr>
          <a:xfrm>
            <a:off x="4513639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oportunidades</a:t>
            </a:r>
            <a:endParaRPr lang="es-MX" sz="600" noProof="0" dirty="0"/>
          </a:p>
        </p:txBody>
      </p:sp>
      <p:sp>
        <p:nvSpPr>
          <p:cNvPr id="243" name="Shape 241"/>
          <p:cNvSpPr/>
          <p:nvPr/>
        </p:nvSpPr>
        <p:spPr>
          <a:xfrm>
            <a:off x="5161296" y="3508332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4" name="Text 242"/>
          <p:cNvSpPr/>
          <p:nvPr/>
        </p:nvSpPr>
        <p:spPr>
          <a:xfrm>
            <a:off x="5170440" y="351381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relación con el cliente</a:t>
            </a:r>
            <a:endParaRPr lang="es-MX" sz="600" noProof="0" dirty="0"/>
          </a:p>
        </p:txBody>
      </p:sp>
      <p:sp>
        <p:nvSpPr>
          <p:cNvPr id="245" name="Shape 243"/>
          <p:cNvSpPr/>
          <p:nvPr/>
        </p:nvSpPr>
        <p:spPr>
          <a:xfrm>
            <a:off x="3847694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6" name="Text 244"/>
          <p:cNvSpPr/>
          <p:nvPr/>
        </p:nvSpPr>
        <p:spPr>
          <a:xfrm>
            <a:off x="3856838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Asociaciones</a:t>
            </a:r>
            <a:endParaRPr lang="es-MX" sz="600" noProof="0" dirty="0"/>
          </a:p>
        </p:txBody>
      </p:sp>
      <p:sp>
        <p:nvSpPr>
          <p:cNvPr id="247" name="Shape 245"/>
          <p:cNvSpPr/>
          <p:nvPr/>
        </p:nvSpPr>
        <p:spPr>
          <a:xfrm>
            <a:off x="4504495" y="3758441"/>
            <a:ext cx="629369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48" name="Text 246"/>
          <p:cNvSpPr/>
          <p:nvPr/>
        </p:nvSpPr>
        <p:spPr>
          <a:xfrm>
            <a:off x="4513639" y="3763929"/>
            <a:ext cx="611081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Ventas/incentivo</a:t>
            </a:r>
            <a:endParaRPr lang="es-MX" sz="600" noProof="0" dirty="0"/>
          </a:p>
        </p:txBody>
      </p:sp>
      <p:sp>
        <p:nvSpPr>
          <p:cNvPr id="249" name="Shape 247"/>
          <p:cNvSpPr/>
          <p:nvPr/>
        </p:nvSpPr>
        <p:spPr>
          <a:xfrm>
            <a:off x="5868388" y="3112088"/>
            <a:ext cx="2933458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50" name="Text 248"/>
          <p:cNvSpPr/>
          <p:nvPr/>
        </p:nvSpPr>
        <p:spPr>
          <a:xfrm>
            <a:off x="5895820" y="3123061"/>
            <a:ext cx="287859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la información del cliente</a:t>
            </a:r>
            <a:endParaRPr lang="es-MX" sz="900" noProof="0" dirty="0"/>
          </a:p>
        </p:txBody>
      </p:sp>
      <p:sp>
        <p:nvSpPr>
          <p:cNvPr id="251" name="Shape 249"/>
          <p:cNvSpPr/>
          <p:nvPr/>
        </p:nvSpPr>
        <p:spPr>
          <a:xfrm>
            <a:off x="5909536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2" name="Text 250"/>
          <p:cNvSpPr/>
          <p:nvPr/>
        </p:nvSpPr>
        <p:spPr>
          <a:xfrm>
            <a:off x="5918680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personal</a:t>
            </a:r>
            <a:endParaRPr lang="es-MX" sz="600" noProof="0" dirty="0"/>
          </a:p>
        </p:txBody>
      </p:sp>
      <p:sp>
        <p:nvSpPr>
          <p:cNvPr id="253" name="Shape 251"/>
          <p:cNvSpPr/>
          <p:nvPr/>
        </p:nvSpPr>
        <p:spPr>
          <a:xfrm>
            <a:off x="6629185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4" name="Text 252"/>
          <p:cNvSpPr/>
          <p:nvPr/>
        </p:nvSpPr>
        <p:spPr>
          <a:xfrm>
            <a:off x="6638329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</a:t>
            </a:r>
            <a:endParaRPr lang="es-MX" sz="600" noProof="0" dirty="0"/>
          </a:p>
        </p:txBody>
      </p:sp>
      <p:sp>
        <p:nvSpPr>
          <p:cNvPr id="255" name="Shape 253"/>
          <p:cNvSpPr/>
          <p:nvPr/>
        </p:nvSpPr>
        <p:spPr>
          <a:xfrm>
            <a:off x="7348833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6" name="Text 254"/>
          <p:cNvSpPr/>
          <p:nvPr/>
        </p:nvSpPr>
        <p:spPr>
          <a:xfrm>
            <a:off x="7357977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personal</a:t>
            </a:r>
            <a:endParaRPr lang="es-MX" sz="600" noProof="0" dirty="0"/>
          </a:p>
        </p:txBody>
      </p:sp>
      <p:sp>
        <p:nvSpPr>
          <p:cNvPr id="257" name="Shape 255"/>
          <p:cNvSpPr/>
          <p:nvPr/>
        </p:nvSpPr>
        <p:spPr>
          <a:xfrm>
            <a:off x="8068482" y="325839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58" name="Text 256"/>
          <p:cNvSpPr/>
          <p:nvPr/>
        </p:nvSpPr>
        <p:spPr>
          <a:xfrm>
            <a:off x="8077626" y="3263878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</a:t>
            </a:r>
            <a:endParaRPr lang="es-MX" sz="600" noProof="0" dirty="0"/>
          </a:p>
        </p:txBody>
      </p:sp>
      <p:sp>
        <p:nvSpPr>
          <p:cNvPr id="259" name="Shape 257"/>
          <p:cNvSpPr/>
          <p:nvPr/>
        </p:nvSpPr>
        <p:spPr>
          <a:xfrm>
            <a:off x="5909536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0" name="Text 258"/>
          <p:cNvSpPr/>
          <p:nvPr/>
        </p:nvSpPr>
        <p:spPr>
          <a:xfrm>
            <a:off x="5918680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grupos familiares (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600" noProof="0" dirty="0"/>
          </a:p>
        </p:txBody>
      </p:sp>
      <p:sp>
        <p:nvSpPr>
          <p:cNvPr id="261" name="Shape 259"/>
          <p:cNvSpPr/>
          <p:nvPr/>
        </p:nvSpPr>
        <p:spPr>
          <a:xfrm>
            <a:off x="6629185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2" name="Text 260"/>
          <p:cNvSpPr/>
          <p:nvPr/>
        </p:nvSpPr>
        <p:spPr>
          <a:xfrm>
            <a:off x="6638329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 con clientes</a:t>
            </a:r>
            <a:endParaRPr lang="es-MX" sz="600" noProof="0" dirty="0"/>
          </a:p>
        </p:txBody>
      </p:sp>
      <p:sp>
        <p:nvSpPr>
          <p:cNvPr id="263" name="Shape 261"/>
          <p:cNvSpPr/>
          <p:nvPr/>
        </p:nvSpPr>
        <p:spPr>
          <a:xfrm>
            <a:off x="7348833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4" name="Text 262"/>
          <p:cNvSpPr/>
          <p:nvPr/>
        </p:nvSpPr>
        <p:spPr>
          <a:xfrm>
            <a:off x="7357977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y derechos del cliente</a:t>
            </a:r>
            <a:endParaRPr lang="es-MX" sz="600" noProof="0" dirty="0"/>
          </a:p>
        </p:txBody>
      </p:sp>
      <p:sp>
        <p:nvSpPr>
          <p:cNvPr id="265" name="Shape 263"/>
          <p:cNvSpPr/>
          <p:nvPr/>
        </p:nvSpPr>
        <p:spPr>
          <a:xfrm>
            <a:off x="8068482" y="3508332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6" name="Text 264"/>
          <p:cNvSpPr/>
          <p:nvPr/>
        </p:nvSpPr>
        <p:spPr>
          <a:xfrm>
            <a:off x="8077626" y="351381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personal</a:t>
            </a:r>
            <a:endParaRPr lang="es-MX" sz="600" noProof="0" dirty="0"/>
          </a:p>
        </p:txBody>
      </p:sp>
      <p:sp>
        <p:nvSpPr>
          <p:cNvPr id="267" name="Shape 265"/>
          <p:cNvSpPr/>
          <p:nvPr/>
        </p:nvSpPr>
        <p:spPr>
          <a:xfrm>
            <a:off x="5909536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68" name="Text 266"/>
          <p:cNvSpPr/>
          <p:nvPr/>
        </p:nvSpPr>
        <p:spPr>
          <a:xfrm>
            <a:off x="5918680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riesgo de la persona</a:t>
            </a:r>
            <a:endParaRPr lang="es-MX" sz="600" noProof="0" dirty="0"/>
          </a:p>
        </p:txBody>
      </p:sp>
      <p:sp>
        <p:nvSpPr>
          <p:cNvPr id="269" name="Shape 267"/>
          <p:cNvSpPr/>
          <p:nvPr/>
        </p:nvSpPr>
        <p:spPr>
          <a:xfrm>
            <a:off x="6629185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0" name="Text 268"/>
          <p:cNvSpPr/>
          <p:nvPr/>
        </p:nvSpPr>
        <p:spPr>
          <a:xfrm>
            <a:off x="6638329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e historial de cuentas</a:t>
            </a:r>
            <a:endParaRPr lang="es-MX" sz="600" noProof="0" dirty="0"/>
          </a:p>
        </p:txBody>
      </p:sp>
      <p:sp>
        <p:nvSpPr>
          <p:cNvPr id="271" name="Shape 269"/>
          <p:cNvSpPr/>
          <p:nvPr/>
        </p:nvSpPr>
        <p:spPr>
          <a:xfrm>
            <a:off x="7348833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2" name="Text 270"/>
          <p:cNvSpPr/>
          <p:nvPr/>
        </p:nvSpPr>
        <p:spPr>
          <a:xfrm>
            <a:off x="7357977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de información de cliente y cuenta</a:t>
            </a:r>
            <a:endParaRPr lang="es-MX" sz="600" noProof="0" dirty="0"/>
          </a:p>
        </p:txBody>
      </p:sp>
      <p:sp>
        <p:nvSpPr>
          <p:cNvPr id="273" name="Shape 271"/>
          <p:cNvSpPr/>
          <p:nvPr/>
        </p:nvSpPr>
        <p:spPr>
          <a:xfrm>
            <a:off x="8068482" y="3758441"/>
            <a:ext cx="692216" cy="23774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274" name="Text 272"/>
          <p:cNvSpPr/>
          <p:nvPr/>
        </p:nvSpPr>
        <p:spPr>
          <a:xfrm>
            <a:off x="8077626" y="3763929"/>
            <a:ext cx="673928" cy="237744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 de venta cruzada/adicional</a:t>
            </a:r>
            <a:endParaRPr lang="es-MX" sz="600" noProof="0" dirty="0"/>
          </a:p>
        </p:txBody>
      </p:sp>
      <p:sp>
        <p:nvSpPr>
          <p:cNvPr id="275" name="Shape 273"/>
          <p:cNvSpPr/>
          <p:nvPr/>
        </p:nvSpPr>
        <p:spPr>
          <a:xfrm>
            <a:off x="8838422" y="3112088"/>
            <a:ext cx="3299459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276" name="Text 274"/>
          <p:cNvSpPr/>
          <p:nvPr/>
        </p:nvSpPr>
        <p:spPr>
          <a:xfrm>
            <a:off x="8865854" y="3123061"/>
            <a:ext cx="32445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cuentas</a:t>
            </a:r>
            <a:endParaRPr lang="es-MX" sz="900" noProof="0" dirty="0"/>
          </a:p>
        </p:txBody>
      </p:sp>
      <p:sp>
        <p:nvSpPr>
          <p:cNvPr id="277" name="Shape 275"/>
          <p:cNvSpPr/>
          <p:nvPr/>
        </p:nvSpPr>
        <p:spPr>
          <a:xfrm>
            <a:off x="8879570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78" name="Text 276"/>
          <p:cNvSpPr/>
          <p:nvPr/>
        </p:nvSpPr>
        <p:spPr>
          <a:xfrm>
            <a:off x="8888714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cuentas</a:t>
            </a:r>
            <a:endParaRPr lang="es-MX" sz="500" noProof="0" dirty="0"/>
          </a:p>
        </p:txBody>
      </p:sp>
      <p:sp>
        <p:nvSpPr>
          <p:cNvPr id="279" name="Shape 277"/>
          <p:cNvSpPr/>
          <p:nvPr/>
        </p:nvSpPr>
        <p:spPr>
          <a:xfrm>
            <a:off x="9528489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0" name="Text 278"/>
          <p:cNvSpPr/>
          <p:nvPr/>
        </p:nvSpPr>
        <p:spPr>
          <a:xfrm>
            <a:off x="9537633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cumplimiento/Incorporación de clientes</a:t>
            </a:r>
            <a:endParaRPr lang="es-MX" sz="500" noProof="0" dirty="0"/>
          </a:p>
        </p:txBody>
      </p:sp>
      <p:sp>
        <p:nvSpPr>
          <p:cNvPr id="281" name="Shape 279"/>
          <p:cNvSpPr/>
          <p:nvPr/>
        </p:nvSpPr>
        <p:spPr>
          <a:xfrm>
            <a:off x="10177408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2" name="Text 280"/>
          <p:cNvSpPr/>
          <p:nvPr/>
        </p:nvSpPr>
        <p:spPr>
          <a:xfrm>
            <a:off x="10186552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Verificaciones de terceros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283" name="Shape 281"/>
          <p:cNvSpPr/>
          <p:nvPr/>
        </p:nvSpPr>
        <p:spPr>
          <a:xfrm>
            <a:off x="10826327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4" name="Text 282"/>
          <p:cNvSpPr/>
          <p:nvPr/>
        </p:nvSpPr>
        <p:spPr>
          <a:xfrm>
            <a:off x="10835471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configuración</a:t>
            </a:r>
            <a:endParaRPr lang="es-MX" sz="500" noProof="0" dirty="0"/>
          </a:p>
        </p:txBody>
      </p:sp>
      <p:sp>
        <p:nvSpPr>
          <p:cNvPr id="285" name="Shape 283"/>
          <p:cNvSpPr/>
          <p:nvPr/>
        </p:nvSpPr>
        <p:spPr>
          <a:xfrm>
            <a:off x="11475246" y="3258392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6" name="Text 284"/>
          <p:cNvSpPr/>
          <p:nvPr/>
        </p:nvSpPr>
        <p:spPr>
          <a:xfrm>
            <a:off x="11484390" y="3263878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dinámica de productos</a:t>
            </a:r>
            <a:endParaRPr lang="es-MX" sz="500" noProof="0" dirty="0"/>
          </a:p>
        </p:txBody>
      </p:sp>
      <p:sp>
        <p:nvSpPr>
          <p:cNvPr id="287" name="Shape 285"/>
          <p:cNvSpPr/>
          <p:nvPr/>
        </p:nvSpPr>
        <p:spPr>
          <a:xfrm>
            <a:off x="8879570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88" name="Text 286"/>
          <p:cNvSpPr/>
          <p:nvPr/>
        </p:nvSpPr>
        <p:spPr>
          <a:xfrm>
            <a:off x="8888714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Depositar fondos</a:t>
            </a:r>
            <a:endParaRPr lang="es-MX" sz="500" noProof="0" dirty="0"/>
          </a:p>
        </p:txBody>
      </p:sp>
      <p:sp>
        <p:nvSpPr>
          <p:cNvPr id="289" name="Shape 287"/>
          <p:cNvSpPr/>
          <p:nvPr/>
        </p:nvSpPr>
        <p:spPr>
          <a:xfrm>
            <a:off x="9528489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0" name="Text 288"/>
          <p:cNvSpPr/>
          <p:nvPr/>
        </p:nvSpPr>
        <p:spPr>
          <a:xfrm>
            <a:off x="9537633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 fondos</a:t>
            </a:r>
            <a:endParaRPr lang="es-MX" sz="500" noProof="0" dirty="0"/>
          </a:p>
        </p:txBody>
      </p:sp>
      <p:sp>
        <p:nvSpPr>
          <p:cNvPr id="291" name="Shape 289"/>
          <p:cNvSpPr/>
          <p:nvPr/>
        </p:nvSpPr>
        <p:spPr>
          <a:xfrm>
            <a:off x="10177408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2" name="Text 290"/>
          <p:cNvSpPr/>
          <p:nvPr/>
        </p:nvSpPr>
        <p:spPr>
          <a:xfrm>
            <a:off x="10186552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fondos</a:t>
            </a:r>
            <a:endParaRPr lang="es-MX" sz="500" noProof="0" dirty="0"/>
          </a:p>
        </p:txBody>
      </p:sp>
      <p:sp>
        <p:nvSpPr>
          <p:cNvPr id="293" name="Shape 291"/>
          <p:cNvSpPr/>
          <p:nvPr/>
        </p:nvSpPr>
        <p:spPr>
          <a:xfrm>
            <a:off x="10826327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4" name="Text 292"/>
          <p:cNvSpPr/>
          <p:nvPr/>
        </p:nvSpPr>
        <p:spPr>
          <a:xfrm>
            <a:off x="10835471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 de facturas en línea</a:t>
            </a:r>
            <a:endParaRPr lang="es-MX" sz="500" noProof="0" dirty="0"/>
          </a:p>
        </p:txBody>
      </p:sp>
      <p:sp>
        <p:nvSpPr>
          <p:cNvPr id="295" name="Shape 293"/>
          <p:cNvSpPr/>
          <p:nvPr/>
        </p:nvSpPr>
        <p:spPr>
          <a:xfrm>
            <a:off x="11475246" y="3453096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6" name="Text 294"/>
          <p:cNvSpPr/>
          <p:nvPr/>
        </p:nvSpPr>
        <p:spPr>
          <a:xfrm>
            <a:off x="11484390" y="3458583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Cuentas que generan intereses</a:t>
            </a:r>
            <a:endParaRPr lang="es-MX" sz="500" noProof="0" dirty="0"/>
          </a:p>
        </p:txBody>
      </p:sp>
      <p:sp>
        <p:nvSpPr>
          <p:cNvPr id="297" name="Shape 295"/>
          <p:cNvSpPr/>
          <p:nvPr/>
        </p:nvSpPr>
        <p:spPr>
          <a:xfrm>
            <a:off x="8879570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298" name="Text 296"/>
          <p:cNvSpPr/>
          <p:nvPr/>
        </p:nvSpPr>
        <p:spPr>
          <a:xfrm>
            <a:off x="8888714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calendario</a:t>
            </a:r>
            <a:endParaRPr lang="es-MX" sz="500" noProof="0" dirty="0"/>
          </a:p>
        </p:txBody>
      </p:sp>
      <p:sp>
        <p:nvSpPr>
          <p:cNvPr id="299" name="Shape 297"/>
          <p:cNvSpPr/>
          <p:nvPr/>
        </p:nvSpPr>
        <p:spPr>
          <a:xfrm>
            <a:off x="9528489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0" name="Text 298"/>
          <p:cNvSpPr/>
          <p:nvPr/>
        </p:nvSpPr>
        <p:spPr>
          <a:xfrm>
            <a:off x="9537633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activados por el cliente</a:t>
            </a:r>
            <a:endParaRPr lang="es-MX" sz="500" noProof="0" dirty="0"/>
          </a:p>
        </p:txBody>
      </p:sp>
      <p:sp>
        <p:nvSpPr>
          <p:cNvPr id="301" name="Shape 299"/>
          <p:cNvSpPr/>
          <p:nvPr/>
        </p:nvSpPr>
        <p:spPr>
          <a:xfrm>
            <a:off x="10177408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2" name="Text 300"/>
          <p:cNvSpPr/>
          <p:nvPr/>
        </p:nvSpPr>
        <p:spPr>
          <a:xfrm>
            <a:off x="10186552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información</a:t>
            </a:r>
            <a:endParaRPr lang="es-MX" sz="500" noProof="0" dirty="0"/>
          </a:p>
        </p:txBody>
      </p:sp>
      <p:sp>
        <p:nvSpPr>
          <p:cNvPr id="303" name="Shape 301"/>
          <p:cNvSpPr/>
          <p:nvPr/>
        </p:nvSpPr>
        <p:spPr>
          <a:xfrm>
            <a:off x="10826327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4" name="Text 302"/>
          <p:cNvSpPr/>
          <p:nvPr/>
        </p:nvSpPr>
        <p:spPr>
          <a:xfrm>
            <a:off x="10835471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 tarjeta de debito/ATM</a:t>
            </a:r>
            <a:endParaRPr lang="es-MX" sz="500" noProof="0" dirty="0"/>
          </a:p>
        </p:txBody>
      </p:sp>
      <p:sp>
        <p:nvSpPr>
          <p:cNvPr id="305" name="Shape 303"/>
          <p:cNvSpPr/>
          <p:nvPr/>
        </p:nvSpPr>
        <p:spPr>
          <a:xfrm>
            <a:off x="11475246" y="3641453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6" name="Text 304"/>
          <p:cNvSpPr/>
          <p:nvPr/>
        </p:nvSpPr>
        <p:spPr>
          <a:xfrm>
            <a:off x="11484390" y="3646940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 empresas</a:t>
            </a:r>
            <a:endParaRPr lang="es-MX" sz="500" noProof="0" dirty="0"/>
          </a:p>
        </p:txBody>
      </p:sp>
      <p:sp>
        <p:nvSpPr>
          <p:cNvPr id="307" name="Shape 305"/>
          <p:cNvSpPr/>
          <p:nvPr/>
        </p:nvSpPr>
        <p:spPr>
          <a:xfrm>
            <a:off x="8879570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08" name="Text 306"/>
          <p:cNvSpPr/>
          <p:nvPr/>
        </p:nvSpPr>
        <p:spPr>
          <a:xfrm>
            <a:off x="8888714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09" name="Shape 307"/>
          <p:cNvSpPr/>
          <p:nvPr/>
        </p:nvSpPr>
        <p:spPr>
          <a:xfrm>
            <a:off x="9528489" y="3828221"/>
            <a:ext cx="621487" cy="182880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10" name="Text 308"/>
          <p:cNvSpPr/>
          <p:nvPr/>
        </p:nvSpPr>
        <p:spPr>
          <a:xfrm>
            <a:off x="9537633" y="3828944"/>
            <a:ext cx="603199" cy="18288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cuenta</a:t>
            </a:r>
            <a:endParaRPr lang="es-MX" sz="500" noProof="0" dirty="0"/>
          </a:p>
        </p:txBody>
      </p:sp>
      <p:sp>
        <p:nvSpPr>
          <p:cNvPr id="311" name="Shape 309"/>
          <p:cNvSpPr/>
          <p:nvPr/>
        </p:nvSpPr>
        <p:spPr>
          <a:xfrm>
            <a:off x="1481328" y="4055365"/>
            <a:ext cx="159069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12" name="Text 310"/>
          <p:cNvSpPr/>
          <p:nvPr/>
        </p:nvSpPr>
        <p:spPr>
          <a:xfrm>
            <a:off x="1508760" y="4066338"/>
            <a:ext cx="153582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cuenta</a:t>
            </a:r>
            <a:endParaRPr lang="es-MX" sz="900" noProof="0" dirty="0"/>
          </a:p>
        </p:txBody>
      </p:sp>
      <p:sp>
        <p:nvSpPr>
          <p:cNvPr id="331" name="Shape 329"/>
          <p:cNvSpPr/>
          <p:nvPr/>
        </p:nvSpPr>
        <p:spPr>
          <a:xfrm>
            <a:off x="3108594" y="4055365"/>
            <a:ext cx="3408622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32" name="Text 330"/>
          <p:cNvSpPr/>
          <p:nvPr/>
        </p:nvSpPr>
        <p:spPr>
          <a:xfrm>
            <a:off x="3136026" y="4066338"/>
            <a:ext cx="33537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</a:t>
            </a:r>
            <a:endParaRPr lang="es-MX" sz="900" noProof="0" dirty="0"/>
          </a:p>
        </p:txBody>
      </p:sp>
      <p:sp>
        <p:nvSpPr>
          <p:cNvPr id="333" name="Shape 331"/>
          <p:cNvSpPr/>
          <p:nvPr/>
        </p:nvSpPr>
        <p:spPr>
          <a:xfrm>
            <a:off x="3149742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4" name="Text 332"/>
          <p:cNvSpPr/>
          <p:nvPr/>
        </p:nvSpPr>
        <p:spPr>
          <a:xfrm>
            <a:off x="3158886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deposito</a:t>
            </a:r>
            <a:endParaRPr lang="es-MX" sz="500" noProof="0" dirty="0"/>
          </a:p>
        </p:txBody>
      </p:sp>
      <p:sp>
        <p:nvSpPr>
          <p:cNvPr id="335" name="Shape 333"/>
          <p:cNvSpPr/>
          <p:nvPr/>
        </p:nvSpPr>
        <p:spPr>
          <a:xfrm>
            <a:off x="3820494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6" name="Text 334"/>
          <p:cNvSpPr/>
          <p:nvPr/>
        </p:nvSpPr>
        <p:spPr>
          <a:xfrm>
            <a:off x="3829638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electrónicas</a:t>
            </a:r>
            <a:endParaRPr lang="es-MX" sz="500" noProof="0" dirty="0"/>
          </a:p>
        </p:txBody>
      </p:sp>
      <p:sp>
        <p:nvSpPr>
          <p:cNvPr id="337" name="Shape 335"/>
          <p:cNvSpPr/>
          <p:nvPr/>
        </p:nvSpPr>
        <p:spPr>
          <a:xfrm>
            <a:off x="4491246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38" name="Text 336"/>
          <p:cNvSpPr/>
          <p:nvPr/>
        </p:nvSpPr>
        <p:spPr>
          <a:xfrm>
            <a:off x="4500390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transacciones de cuentas de préstamo</a:t>
            </a:r>
            <a:endParaRPr lang="es-MX" sz="500" noProof="0" dirty="0"/>
          </a:p>
        </p:txBody>
      </p:sp>
      <p:sp>
        <p:nvSpPr>
          <p:cNvPr id="339" name="Shape 337"/>
          <p:cNvSpPr/>
          <p:nvPr/>
        </p:nvSpPr>
        <p:spPr>
          <a:xfrm>
            <a:off x="5161997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0" name="Text 338"/>
          <p:cNvSpPr/>
          <p:nvPr/>
        </p:nvSpPr>
        <p:spPr>
          <a:xfrm>
            <a:off x="5171141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cheques</a:t>
            </a:r>
            <a:endParaRPr lang="es-MX" sz="500" noProof="0" dirty="0"/>
          </a:p>
        </p:txBody>
      </p:sp>
      <p:sp>
        <p:nvSpPr>
          <p:cNvPr id="341" name="Shape 339"/>
          <p:cNvSpPr/>
          <p:nvPr/>
        </p:nvSpPr>
        <p:spPr>
          <a:xfrm>
            <a:off x="5832749" y="4201669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2" name="Text 340"/>
          <p:cNvSpPr/>
          <p:nvPr/>
        </p:nvSpPr>
        <p:spPr>
          <a:xfrm>
            <a:off x="5841893" y="4207155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 con tarjeta</a:t>
            </a:r>
            <a:endParaRPr lang="es-MX" sz="500" noProof="0" dirty="0"/>
          </a:p>
        </p:txBody>
      </p:sp>
      <p:sp>
        <p:nvSpPr>
          <p:cNvPr id="343" name="Shape 341"/>
          <p:cNvSpPr/>
          <p:nvPr/>
        </p:nvSpPr>
        <p:spPr>
          <a:xfrm>
            <a:off x="3149742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4" name="Text 342"/>
          <p:cNvSpPr/>
          <p:nvPr/>
        </p:nvSpPr>
        <p:spPr>
          <a:xfrm>
            <a:off x="3158886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pagos</a:t>
            </a:r>
            <a:endParaRPr lang="es-MX" sz="500" noProof="0" dirty="0"/>
          </a:p>
        </p:txBody>
      </p:sp>
      <p:sp>
        <p:nvSpPr>
          <p:cNvPr id="345" name="Shape 343"/>
          <p:cNvSpPr/>
          <p:nvPr/>
        </p:nvSpPr>
        <p:spPr>
          <a:xfrm>
            <a:off x="3820494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6" name="Text 344"/>
          <p:cNvSpPr/>
          <p:nvPr/>
        </p:nvSpPr>
        <p:spPr>
          <a:xfrm>
            <a:off x="3829638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en tiempo real Transferencias</a:t>
            </a:r>
            <a:endParaRPr lang="es-MX" sz="500" noProof="0" dirty="0"/>
          </a:p>
        </p:txBody>
      </p:sp>
      <p:sp>
        <p:nvSpPr>
          <p:cNvPr id="347" name="Shape 345"/>
          <p:cNvSpPr/>
          <p:nvPr/>
        </p:nvSpPr>
        <p:spPr>
          <a:xfrm>
            <a:off x="4491246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48" name="Text 346"/>
          <p:cNvSpPr/>
          <p:nvPr/>
        </p:nvSpPr>
        <p:spPr>
          <a:xfrm>
            <a:off x="4500390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transferencia</a:t>
            </a:r>
            <a:endParaRPr lang="es-MX" sz="500" noProof="0" dirty="0"/>
          </a:p>
        </p:txBody>
      </p:sp>
      <p:sp>
        <p:nvSpPr>
          <p:cNvPr id="349" name="Shape 347"/>
          <p:cNvSpPr/>
          <p:nvPr/>
        </p:nvSpPr>
        <p:spPr>
          <a:xfrm>
            <a:off x="5161997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0" name="Text 348"/>
          <p:cNvSpPr/>
          <p:nvPr/>
        </p:nvSpPr>
        <p:spPr>
          <a:xfrm>
            <a:off x="5171141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P2P</a:t>
            </a:r>
            <a:endParaRPr lang="es-MX" sz="500" noProof="0" dirty="0"/>
          </a:p>
        </p:txBody>
      </p:sp>
      <p:sp>
        <p:nvSpPr>
          <p:cNvPr id="351" name="Shape 349"/>
          <p:cNvSpPr/>
          <p:nvPr/>
        </p:nvSpPr>
        <p:spPr>
          <a:xfrm>
            <a:off x="5832749" y="4371290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2" name="Text 350"/>
          <p:cNvSpPr/>
          <p:nvPr/>
        </p:nvSpPr>
        <p:spPr>
          <a:xfrm>
            <a:off x="5841893" y="4376777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remesas</a:t>
            </a:r>
            <a:endParaRPr lang="es-MX" sz="500" noProof="0" dirty="0"/>
          </a:p>
        </p:txBody>
      </p:sp>
      <p:sp>
        <p:nvSpPr>
          <p:cNvPr id="353" name="Shape 351"/>
          <p:cNvSpPr/>
          <p:nvPr/>
        </p:nvSpPr>
        <p:spPr>
          <a:xfrm>
            <a:off x="3149742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4" name="Text 352"/>
          <p:cNvSpPr/>
          <p:nvPr/>
        </p:nvSpPr>
        <p:spPr>
          <a:xfrm>
            <a:off x="3158886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500" noProof="0" dirty="0"/>
          </a:p>
        </p:txBody>
      </p:sp>
      <p:sp>
        <p:nvSpPr>
          <p:cNvPr id="355" name="Shape 353"/>
          <p:cNvSpPr/>
          <p:nvPr/>
        </p:nvSpPr>
        <p:spPr>
          <a:xfrm>
            <a:off x="3820494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6" name="Text 354"/>
          <p:cNvSpPr/>
          <p:nvPr/>
        </p:nvSpPr>
        <p:spPr>
          <a:xfrm>
            <a:off x="3829638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Camara de Compensación</a:t>
            </a:r>
            <a:endParaRPr lang="es-MX" sz="500" noProof="0" dirty="0"/>
          </a:p>
        </p:txBody>
      </p:sp>
      <p:sp>
        <p:nvSpPr>
          <p:cNvPr id="357" name="Shape 355"/>
          <p:cNvSpPr/>
          <p:nvPr/>
        </p:nvSpPr>
        <p:spPr>
          <a:xfrm>
            <a:off x="4491246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58" name="Text 356"/>
          <p:cNvSpPr/>
          <p:nvPr/>
        </p:nvSpPr>
        <p:spPr>
          <a:xfrm>
            <a:off x="4500390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Enrutamiento y liquidación de pagos</a:t>
            </a:r>
            <a:endParaRPr lang="es-MX" sz="500" noProof="0" dirty="0"/>
          </a:p>
        </p:txBody>
      </p:sp>
      <p:sp>
        <p:nvSpPr>
          <p:cNvPr id="359" name="Shape 357"/>
          <p:cNvSpPr/>
          <p:nvPr/>
        </p:nvSpPr>
        <p:spPr>
          <a:xfrm>
            <a:off x="5161997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0" name="Text 358"/>
          <p:cNvSpPr/>
          <p:nvPr/>
        </p:nvSpPr>
        <p:spPr>
          <a:xfrm>
            <a:off x="5171141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Originaciones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procesos</a:t>
            </a:r>
            <a:endParaRPr lang="es-MX" sz="500" noProof="0" dirty="0"/>
          </a:p>
        </p:txBody>
      </p:sp>
      <p:sp>
        <p:nvSpPr>
          <p:cNvPr id="361" name="Shape 359"/>
          <p:cNvSpPr/>
          <p:nvPr/>
        </p:nvSpPr>
        <p:spPr>
          <a:xfrm>
            <a:off x="5832749" y="4540911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2" name="Text 360"/>
          <p:cNvSpPr/>
          <p:nvPr/>
        </p:nvSpPr>
        <p:spPr>
          <a:xfrm>
            <a:off x="5841893" y="4546398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Facturación</a:t>
            </a:r>
            <a:endParaRPr lang="es-MX" sz="500" noProof="0" dirty="0"/>
          </a:p>
        </p:txBody>
      </p:sp>
      <p:sp>
        <p:nvSpPr>
          <p:cNvPr id="363" name="Shape 361"/>
          <p:cNvSpPr/>
          <p:nvPr/>
        </p:nvSpPr>
        <p:spPr>
          <a:xfrm>
            <a:off x="3149742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4" name="Text 362"/>
          <p:cNvSpPr/>
          <p:nvPr/>
        </p:nvSpPr>
        <p:spPr>
          <a:xfrm>
            <a:off x="3158886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del día 1 y día 2</a:t>
            </a:r>
            <a:endParaRPr lang="es-MX" sz="500" noProof="0" dirty="0"/>
          </a:p>
        </p:txBody>
      </p:sp>
      <p:sp>
        <p:nvSpPr>
          <p:cNvPr id="365" name="Shape 363"/>
          <p:cNvSpPr/>
          <p:nvPr/>
        </p:nvSpPr>
        <p:spPr>
          <a:xfrm>
            <a:off x="3820494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6" name="Text 364"/>
          <p:cNvSpPr/>
          <p:nvPr/>
        </p:nvSpPr>
        <p:spPr>
          <a:xfrm>
            <a:off x="3829638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y preparación</a:t>
            </a:r>
            <a:endParaRPr lang="es-MX" sz="500" noProof="0" dirty="0"/>
          </a:p>
        </p:txBody>
      </p:sp>
      <p:sp>
        <p:nvSpPr>
          <p:cNvPr id="367" name="Shape 365"/>
          <p:cNvSpPr/>
          <p:nvPr/>
        </p:nvSpPr>
        <p:spPr>
          <a:xfrm>
            <a:off x="4491246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68" name="Text 366"/>
          <p:cNvSpPr/>
          <p:nvPr/>
        </p:nvSpPr>
        <p:spPr>
          <a:xfrm>
            <a:off x="4500390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del día y BATCH</a:t>
            </a:r>
            <a:endParaRPr lang="es-MX" sz="500" noProof="0" dirty="0"/>
          </a:p>
        </p:txBody>
      </p:sp>
      <p:sp>
        <p:nvSpPr>
          <p:cNvPr id="369" name="Shape 367"/>
          <p:cNvSpPr/>
          <p:nvPr/>
        </p:nvSpPr>
        <p:spPr>
          <a:xfrm>
            <a:off x="5161997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0" name="Text 368"/>
          <p:cNvSpPr/>
          <p:nvPr/>
        </p:nvSpPr>
        <p:spPr>
          <a:xfrm>
            <a:off x="5171141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Contable</a:t>
            </a:r>
            <a:endParaRPr lang="es-MX" sz="500" noProof="0" dirty="0"/>
          </a:p>
        </p:txBody>
      </p:sp>
      <p:sp>
        <p:nvSpPr>
          <p:cNvPr id="371" name="Shape 369"/>
          <p:cNvSpPr/>
          <p:nvPr/>
        </p:nvSpPr>
        <p:spPr>
          <a:xfrm>
            <a:off x="5832749" y="4710533"/>
            <a:ext cx="643320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2" name="Text 370"/>
          <p:cNvSpPr/>
          <p:nvPr/>
        </p:nvSpPr>
        <p:spPr>
          <a:xfrm>
            <a:off x="5841893" y="4716019"/>
            <a:ext cx="625032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artículos y excepciones</a:t>
            </a:r>
            <a:endParaRPr lang="es-MX" sz="500" noProof="0" dirty="0"/>
          </a:p>
        </p:txBody>
      </p:sp>
      <p:sp>
        <p:nvSpPr>
          <p:cNvPr id="373" name="Shape 371"/>
          <p:cNvSpPr/>
          <p:nvPr/>
        </p:nvSpPr>
        <p:spPr>
          <a:xfrm>
            <a:off x="6553793" y="4055365"/>
            <a:ext cx="2290594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74" name="Text 372"/>
          <p:cNvSpPr/>
          <p:nvPr/>
        </p:nvSpPr>
        <p:spPr>
          <a:xfrm>
            <a:off x="6581225" y="4066338"/>
            <a:ext cx="223573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facturables</a:t>
            </a:r>
            <a:endParaRPr lang="es-MX" sz="900" noProof="0" dirty="0"/>
          </a:p>
        </p:txBody>
      </p:sp>
      <p:sp>
        <p:nvSpPr>
          <p:cNvPr id="375" name="Shape 373"/>
          <p:cNvSpPr/>
          <p:nvPr/>
        </p:nvSpPr>
        <p:spPr>
          <a:xfrm>
            <a:off x="6594941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6" name="Text 374"/>
          <p:cNvSpPr/>
          <p:nvPr/>
        </p:nvSpPr>
        <p:spPr>
          <a:xfrm>
            <a:off x="6604085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cuentas</a:t>
            </a:r>
            <a:endParaRPr lang="es-MX" sz="500" noProof="0" dirty="0"/>
          </a:p>
        </p:txBody>
      </p:sp>
      <p:sp>
        <p:nvSpPr>
          <p:cNvPr id="377" name="Shape 375"/>
          <p:cNvSpPr/>
          <p:nvPr/>
        </p:nvSpPr>
        <p:spPr>
          <a:xfrm>
            <a:off x="7340184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78" name="Text 376"/>
          <p:cNvSpPr/>
          <p:nvPr/>
        </p:nvSpPr>
        <p:spPr>
          <a:xfrm>
            <a:off x="7349328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básicos de gestión</a:t>
            </a:r>
            <a:endParaRPr lang="es-MX" sz="500" noProof="0" dirty="0"/>
          </a:p>
        </p:txBody>
      </p:sp>
      <p:sp>
        <p:nvSpPr>
          <p:cNvPr id="379" name="Shape 377"/>
          <p:cNvSpPr/>
          <p:nvPr/>
        </p:nvSpPr>
        <p:spPr>
          <a:xfrm>
            <a:off x="8085427" y="4201669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0" name="Text 378"/>
          <p:cNvSpPr/>
          <p:nvPr/>
        </p:nvSpPr>
        <p:spPr>
          <a:xfrm>
            <a:off x="8094571" y="4207155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pago</a:t>
            </a:r>
            <a:endParaRPr lang="es-MX" sz="500" noProof="0" dirty="0"/>
          </a:p>
        </p:txBody>
      </p:sp>
      <p:sp>
        <p:nvSpPr>
          <p:cNvPr id="381" name="Shape 379"/>
          <p:cNvSpPr/>
          <p:nvPr/>
        </p:nvSpPr>
        <p:spPr>
          <a:xfrm>
            <a:off x="6594941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2" name="Text 380"/>
          <p:cNvSpPr/>
          <p:nvPr/>
        </p:nvSpPr>
        <p:spPr>
          <a:xfrm>
            <a:off x="6604085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Retiro de Efectivo</a:t>
            </a:r>
            <a:endParaRPr lang="es-MX" sz="500" noProof="0" dirty="0"/>
          </a:p>
        </p:txBody>
      </p:sp>
      <p:sp>
        <p:nvSpPr>
          <p:cNvPr id="383" name="Shape 381"/>
          <p:cNvSpPr/>
          <p:nvPr/>
        </p:nvSpPr>
        <p:spPr>
          <a:xfrm>
            <a:off x="7340184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4" name="Text 382"/>
          <p:cNvSpPr/>
          <p:nvPr/>
        </p:nvSpPr>
        <p:spPr>
          <a:xfrm>
            <a:off x="7349328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Cheque de caja/Giros postales</a:t>
            </a:r>
            <a:endParaRPr lang="es-MX" sz="500" noProof="0" dirty="0"/>
          </a:p>
        </p:txBody>
      </p:sp>
      <p:sp>
        <p:nvSpPr>
          <p:cNvPr id="385" name="Shape 383"/>
          <p:cNvSpPr/>
          <p:nvPr/>
        </p:nvSpPr>
        <p:spPr>
          <a:xfrm>
            <a:off x="8085427" y="4371290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6" name="Text 384"/>
          <p:cNvSpPr/>
          <p:nvPr/>
        </p:nvSpPr>
        <p:spPr>
          <a:xfrm>
            <a:off x="8094571" y="4376777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descubierto</a:t>
            </a:r>
            <a:endParaRPr lang="es-MX" sz="500" noProof="0" dirty="0"/>
          </a:p>
        </p:txBody>
      </p:sp>
      <p:sp>
        <p:nvSpPr>
          <p:cNvPr id="387" name="Shape 385"/>
          <p:cNvSpPr/>
          <p:nvPr/>
        </p:nvSpPr>
        <p:spPr>
          <a:xfrm>
            <a:off x="6594941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88" name="Text 386"/>
          <p:cNvSpPr/>
          <p:nvPr/>
        </p:nvSpPr>
        <p:spPr>
          <a:xfrm>
            <a:off x="6604085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Sobregiro</a:t>
            </a:r>
            <a:endParaRPr lang="es-MX" sz="500" noProof="0" dirty="0"/>
          </a:p>
        </p:txBody>
      </p:sp>
      <p:sp>
        <p:nvSpPr>
          <p:cNvPr id="389" name="Shape 387"/>
          <p:cNvSpPr/>
          <p:nvPr/>
        </p:nvSpPr>
        <p:spPr>
          <a:xfrm>
            <a:off x="7340184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0" name="Text 388"/>
          <p:cNvSpPr/>
          <p:nvPr/>
        </p:nvSpPr>
        <p:spPr>
          <a:xfrm>
            <a:off x="7349328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comerciales</a:t>
            </a:r>
            <a:endParaRPr lang="es-MX" sz="500" noProof="0" dirty="0"/>
          </a:p>
        </p:txBody>
      </p:sp>
      <p:sp>
        <p:nvSpPr>
          <p:cNvPr id="391" name="Shape 389"/>
          <p:cNvSpPr/>
          <p:nvPr/>
        </p:nvSpPr>
        <p:spPr>
          <a:xfrm>
            <a:off x="8085427" y="4540911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2" name="Text 390"/>
          <p:cNvSpPr/>
          <p:nvPr/>
        </p:nvSpPr>
        <p:spPr>
          <a:xfrm>
            <a:off x="8094571" y="4546398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 de seguridad</a:t>
            </a:r>
            <a:endParaRPr lang="es-MX" sz="500" noProof="0" dirty="0"/>
          </a:p>
        </p:txBody>
      </p:sp>
      <p:sp>
        <p:nvSpPr>
          <p:cNvPr id="393" name="Shape 391"/>
          <p:cNvSpPr/>
          <p:nvPr/>
        </p:nvSpPr>
        <p:spPr>
          <a:xfrm>
            <a:off x="6594941" y="4710533"/>
            <a:ext cx="717811" cy="149504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4" name="Text 392"/>
          <p:cNvSpPr/>
          <p:nvPr/>
        </p:nvSpPr>
        <p:spPr>
          <a:xfrm>
            <a:off x="6604085" y="4716019"/>
            <a:ext cx="699523" cy="13853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confianza/Gestión de Fideicomisos</a:t>
            </a:r>
            <a:endParaRPr lang="es-MX" sz="500" noProof="0" dirty="0"/>
          </a:p>
        </p:txBody>
      </p:sp>
      <p:sp>
        <p:nvSpPr>
          <p:cNvPr id="395" name="Shape 393"/>
          <p:cNvSpPr/>
          <p:nvPr/>
        </p:nvSpPr>
        <p:spPr>
          <a:xfrm>
            <a:off x="8880963" y="4055365"/>
            <a:ext cx="1599780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396" name="Text 394"/>
          <p:cNvSpPr/>
          <p:nvPr/>
        </p:nvSpPr>
        <p:spPr>
          <a:xfrm>
            <a:off x="8908395" y="4066338"/>
            <a:ext cx="154491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reclamos</a:t>
            </a:r>
            <a:endParaRPr lang="es-MX" sz="900" noProof="0" dirty="0"/>
          </a:p>
        </p:txBody>
      </p:sp>
      <p:sp>
        <p:nvSpPr>
          <p:cNvPr id="397" name="Shape 395"/>
          <p:cNvSpPr/>
          <p:nvPr/>
        </p:nvSpPr>
        <p:spPr>
          <a:xfrm>
            <a:off x="8922111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398" name="Text 396"/>
          <p:cNvSpPr/>
          <p:nvPr/>
        </p:nvSpPr>
        <p:spPr>
          <a:xfrm>
            <a:off x="8931255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Cobranza y recuperación</a:t>
            </a:r>
            <a:endParaRPr lang="es-MX" sz="500" noProof="0" dirty="0"/>
          </a:p>
        </p:txBody>
      </p:sp>
      <p:sp>
        <p:nvSpPr>
          <p:cNvPr id="399" name="Shape 397"/>
          <p:cNvSpPr/>
          <p:nvPr/>
        </p:nvSpPr>
        <p:spPr>
          <a:xfrm>
            <a:off x="9694569" y="4201669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0" name="Text 398"/>
          <p:cNvSpPr/>
          <p:nvPr/>
        </p:nvSpPr>
        <p:spPr>
          <a:xfrm>
            <a:off x="9703713" y="4207155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Contratación de agencias de cobranza</a:t>
            </a:r>
            <a:endParaRPr lang="es-MX" sz="500" noProof="0" dirty="0"/>
          </a:p>
        </p:txBody>
      </p:sp>
      <p:sp>
        <p:nvSpPr>
          <p:cNvPr id="401" name="Shape 399"/>
          <p:cNvSpPr/>
          <p:nvPr/>
        </p:nvSpPr>
        <p:spPr>
          <a:xfrm>
            <a:off x="8922111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2" name="Text 400"/>
          <p:cNvSpPr/>
          <p:nvPr/>
        </p:nvSpPr>
        <p:spPr>
          <a:xfrm>
            <a:off x="8931255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activos especiales y recuperación</a:t>
            </a:r>
            <a:endParaRPr lang="es-MX" sz="500" noProof="0" dirty="0"/>
          </a:p>
        </p:txBody>
      </p:sp>
      <p:sp>
        <p:nvSpPr>
          <p:cNvPr id="403" name="Shape 401"/>
          <p:cNvSpPr/>
          <p:nvPr/>
        </p:nvSpPr>
        <p:spPr>
          <a:xfrm>
            <a:off x="9694569" y="4427831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4" name="Text 402"/>
          <p:cNvSpPr/>
          <p:nvPr/>
        </p:nvSpPr>
        <p:spPr>
          <a:xfrm>
            <a:off x="9703713" y="4433317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Bajas y cancelaciones (</a:t>
            </a:r>
            <a:r>
              <a:rPr lang="es-MX" sz="5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write-offs</a:t>
            </a: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s-MX" sz="500" noProof="0" dirty="0"/>
          </a:p>
        </p:txBody>
      </p:sp>
      <p:sp>
        <p:nvSpPr>
          <p:cNvPr id="405" name="Shape 403"/>
          <p:cNvSpPr/>
          <p:nvPr/>
        </p:nvSpPr>
        <p:spPr>
          <a:xfrm>
            <a:off x="8922111" y="4653992"/>
            <a:ext cx="745026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06" name="Text 404"/>
          <p:cNvSpPr/>
          <p:nvPr/>
        </p:nvSpPr>
        <p:spPr>
          <a:xfrm>
            <a:off x="8931255" y="4659479"/>
            <a:ext cx="726738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reclamos y disputas</a:t>
            </a:r>
            <a:endParaRPr lang="es-MX" sz="500" noProof="0" dirty="0"/>
          </a:p>
        </p:txBody>
      </p:sp>
      <p:sp>
        <p:nvSpPr>
          <p:cNvPr id="407" name="Shape 405"/>
          <p:cNvSpPr/>
          <p:nvPr/>
        </p:nvSpPr>
        <p:spPr>
          <a:xfrm>
            <a:off x="10517319" y="4055365"/>
            <a:ext cx="1620686" cy="914400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08" name="Text 406"/>
          <p:cNvSpPr/>
          <p:nvPr/>
        </p:nvSpPr>
        <p:spPr>
          <a:xfrm>
            <a:off x="10544751" y="4066338"/>
            <a:ext cx="156582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cuenta</a:t>
            </a:r>
            <a:endParaRPr lang="es-MX" sz="900" noProof="0" dirty="0"/>
          </a:p>
        </p:txBody>
      </p:sp>
      <p:sp>
        <p:nvSpPr>
          <p:cNvPr id="409" name="Shape 407"/>
          <p:cNvSpPr/>
          <p:nvPr/>
        </p:nvSpPr>
        <p:spPr>
          <a:xfrm>
            <a:off x="10558467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0" name="Text 408"/>
          <p:cNvSpPr/>
          <p:nvPr/>
        </p:nvSpPr>
        <p:spPr>
          <a:xfrm>
            <a:off x="10567611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del estado de cuenta</a:t>
            </a:r>
            <a:endParaRPr lang="es-MX" sz="500" noProof="0" dirty="0"/>
          </a:p>
        </p:txBody>
      </p:sp>
      <p:sp>
        <p:nvSpPr>
          <p:cNvPr id="411" name="Shape 409"/>
          <p:cNvSpPr/>
          <p:nvPr/>
        </p:nvSpPr>
        <p:spPr>
          <a:xfrm>
            <a:off x="11341378" y="4201669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2" name="Text 410"/>
          <p:cNvSpPr/>
          <p:nvPr/>
        </p:nvSpPr>
        <p:spPr>
          <a:xfrm>
            <a:off x="11350522" y="4207155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del estado de cuenta</a:t>
            </a:r>
            <a:endParaRPr lang="es-MX" sz="500" noProof="0" dirty="0"/>
          </a:p>
        </p:txBody>
      </p:sp>
      <p:sp>
        <p:nvSpPr>
          <p:cNvPr id="413" name="Shape 411"/>
          <p:cNvSpPr/>
          <p:nvPr/>
        </p:nvSpPr>
        <p:spPr>
          <a:xfrm>
            <a:off x="10558467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4" name="Text 412"/>
          <p:cNvSpPr/>
          <p:nvPr/>
        </p:nvSpPr>
        <p:spPr>
          <a:xfrm>
            <a:off x="10567611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del estado de cuenta</a:t>
            </a:r>
            <a:endParaRPr lang="es-MX" sz="500" noProof="0" dirty="0"/>
          </a:p>
        </p:txBody>
      </p:sp>
      <p:sp>
        <p:nvSpPr>
          <p:cNvPr id="415" name="Shape 413"/>
          <p:cNvSpPr/>
          <p:nvPr/>
        </p:nvSpPr>
        <p:spPr>
          <a:xfrm>
            <a:off x="11341378" y="4427831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6" name="Text 414"/>
          <p:cNvSpPr/>
          <p:nvPr/>
        </p:nvSpPr>
        <p:spPr>
          <a:xfrm>
            <a:off x="11350522" y="4433317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estados de cuenta en línea</a:t>
            </a:r>
            <a:endParaRPr lang="es-MX" sz="500" noProof="0" dirty="0"/>
          </a:p>
        </p:txBody>
      </p:sp>
      <p:sp>
        <p:nvSpPr>
          <p:cNvPr id="417" name="Shape 415"/>
          <p:cNvSpPr/>
          <p:nvPr/>
        </p:nvSpPr>
        <p:spPr>
          <a:xfrm>
            <a:off x="10558467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18" name="Text 416"/>
          <p:cNvSpPr/>
          <p:nvPr/>
        </p:nvSpPr>
        <p:spPr>
          <a:xfrm>
            <a:off x="10567611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estado de cuenta</a:t>
            </a:r>
            <a:endParaRPr lang="es-MX" sz="500" noProof="0" dirty="0"/>
          </a:p>
        </p:txBody>
      </p:sp>
      <p:sp>
        <p:nvSpPr>
          <p:cNvPr id="419" name="Shape 417"/>
          <p:cNvSpPr/>
          <p:nvPr/>
        </p:nvSpPr>
        <p:spPr>
          <a:xfrm>
            <a:off x="11341378" y="4653992"/>
            <a:ext cx="755479" cy="206045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420" name="Text 418"/>
          <p:cNvSpPr/>
          <p:nvPr/>
        </p:nvSpPr>
        <p:spPr>
          <a:xfrm>
            <a:off x="11350522" y="4659479"/>
            <a:ext cx="737191" cy="19507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5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histórico</a:t>
            </a:r>
            <a:endParaRPr lang="es-MX" sz="500" noProof="0" dirty="0"/>
          </a:p>
        </p:txBody>
      </p:sp>
      <p:sp>
        <p:nvSpPr>
          <p:cNvPr id="421" name="Shape 419"/>
          <p:cNvSpPr/>
          <p:nvPr/>
        </p:nvSpPr>
        <p:spPr>
          <a:xfrm>
            <a:off x="1481328" y="4984205"/>
            <a:ext cx="121697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2" name="Text 420"/>
          <p:cNvSpPr/>
          <p:nvPr/>
        </p:nvSpPr>
        <p:spPr>
          <a:xfrm>
            <a:off x="1508760" y="4995178"/>
            <a:ext cx="11621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de inversión</a:t>
            </a:r>
            <a:endParaRPr lang="es-MX" sz="900" noProof="0" dirty="0"/>
          </a:p>
        </p:txBody>
      </p:sp>
      <p:sp>
        <p:nvSpPr>
          <p:cNvPr id="425" name="Shape 423"/>
          <p:cNvSpPr/>
          <p:nvPr/>
        </p:nvSpPr>
        <p:spPr>
          <a:xfrm>
            <a:off x="2734880" y="4984205"/>
            <a:ext cx="1589335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26" name="Text 424"/>
          <p:cNvSpPr/>
          <p:nvPr/>
        </p:nvSpPr>
        <p:spPr>
          <a:xfrm>
            <a:off x="2762312" y="4995178"/>
            <a:ext cx="153447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comunicaciones</a:t>
            </a:r>
            <a:endParaRPr lang="es-MX" sz="900" noProof="0" dirty="0"/>
          </a:p>
        </p:txBody>
      </p:sp>
      <p:sp>
        <p:nvSpPr>
          <p:cNvPr id="427" name="Shape 425"/>
          <p:cNvSpPr/>
          <p:nvPr/>
        </p:nvSpPr>
        <p:spPr>
          <a:xfrm>
            <a:off x="2776028" y="5130509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28" name="Text 426"/>
          <p:cNvSpPr/>
          <p:nvPr/>
        </p:nvSpPr>
        <p:spPr>
          <a:xfrm>
            <a:off x="2785172" y="5135995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y notificaciones</a:t>
            </a:r>
            <a:endParaRPr lang="es-MX" sz="600" noProof="0" dirty="0"/>
          </a:p>
        </p:txBody>
      </p:sp>
      <p:sp>
        <p:nvSpPr>
          <p:cNvPr id="429" name="Shape 427"/>
          <p:cNvSpPr/>
          <p:nvPr/>
        </p:nvSpPr>
        <p:spPr>
          <a:xfrm>
            <a:off x="2776028" y="5428603"/>
            <a:ext cx="150703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0" name="Text 428"/>
          <p:cNvSpPr/>
          <p:nvPr/>
        </p:nvSpPr>
        <p:spPr>
          <a:xfrm>
            <a:off x="2785172" y="5434090"/>
            <a:ext cx="148875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Interacciones humanas</a:t>
            </a:r>
            <a:endParaRPr lang="es-MX" sz="600" noProof="0" dirty="0"/>
          </a:p>
        </p:txBody>
      </p:sp>
      <p:sp>
        <p:nvSpPr>
          <p:cNvPr id="431" name="Shape 429"/>
          <p:cNvSpPr/>
          <p:nvPr/>
        </p:nvSpPr>
        <p:spPr>
          <a:xfrm>
            <a:off x="4360791" y="4984205"/>
            <a:ext cx="1952611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32" name="Text 430"/>
          <p:cNvSpPr/>
          <p:nvPr/>
        </p:nvSpPr>
        <p:spPr>
          <a:xfrm>
            <a:off x="4388223" y="4995178"/>
            <a:ext cx="18977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s-MX" sz="900" noProof="0" dirty="0"/>
          </a:p>
        </p:txBody>
      </p:sp>
      <p:sp>
        <p:nvSpPr>
          <p:cNvPr id="433" name="Shape 431"/>
          <p:cNvSpPr/>
          <p:nvPr/>
        </p:nvSpPr>
        <p:spPr>
          <a:xfrm>
            <a:off x="4401939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4" name="Text 432"/>
          <p:cNvSpPr/>
          <p:nvPr/>
        </p:nvSpPr>
        <p:spPr>
          <a:xfrm>
            <a:off x="4411083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de cumplimiento de cuenta</a:t>
            </a:r>
            <a:endParaRPr lang="es-MX" sz="600" noProof="0" dirty="0"/>
          </a:p>
        </p:txBody>
      </p:sp>
      <p:sp>
        <p:nvSpPr>
          <p:cNvPr id="435" name="Shape 433"/>
          <p:cNvSpPr/>
          <p:nvPr/>
        </p:nvSpPr>
        <p:spPr>
          <a:xfrm>
            <a:off x="5350812" y="5130509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6" name="Text 434"/>
          <p:cNvSpPr/>
          <p:nvPr/>
        </p:nvSpPr>
        <p:spPr>
          <a:xfrm>
            <a:off x="5359956" y="5135995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Divulgación y aceptar (Procesamiento de cuentas)</a:t>
            </a:r>
            <a:endParaRPr lang="es-MX" sz="600" noProof="0" dirty="0"/>
          </a:p>
        </p:txBody>
      </p:sp>
      <p:sp>
        <p:nvSpPr>
          <p:cNvPr id="437" name="Shape 435"/>
          <p:cNvSpPr/>
          <p:nvPr/>
        </p:nvSpPr>
        <p:spPr>
          <a:xfrm>
            <a:off x="4401939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38" name="Text 436"/>
          <p:cNvSpPr/>
          <p:nvPr/>
        </p:nvSpPr>
        <p:spPr>
          <a:xfrm>
            <a:off x="4411083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documentos de imagen</a:t>
            </a:r>
            <a:endParaRPr lang="es-MX" sz="600" noProof="0" dirty="0"/>
          </a:p>
        </p:txBody>
      </p:sp>
      <p:sp>
        <p:nvSpPr>
          <p:cNvPr id="439" name="Shape 437"/>
          <p:cNvSpPr/>
          <p:nvPr/>
        </p:nvSpPr>
        <p:spPr>
          <a:xfrm>
            <a:off x="5350812" y="5428603"/>
            <a:ext cx="921442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0" name="Text 438"/>
          <p:cNvSpPr/>
          <p:nvPr/>
        </p:nvSpPr>
        <p:spPr>
          <a:xfrm>
            <a:off x="5359956" y="5434090"/>
            <a:ext cx="903154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</a:t>
            </a: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(correspondencia)</a:t>
            </a:r>
            <a:endParaRPr lang="es-MX" sz="600" noProof="0" dirty="0"/>
          </a:p>
        </p:txBody>
      </p:sp>
      <p:sp>
        <p:nvSpPr>
          <p:cNvPr id="441" name="Shape 439"/>
          <p:cNvSpPr/>
          <p:nvPr/>
        </p:nvSpPr>
        <p:spPr>
          <a:xfrm>
            <a:off x="6349978" y="4984205"/>
            <a:ext cx="279722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42" name="Text 440"/>
          <p:cNvSpPr/>
          <p:nvPr/>
        </p:nvSpPr>
        <p:spPr>
          <a:xfrm>
            <a:off x="6377410" y="4995178"/>
            <a:ext cx="274236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y análisis</a:t>
            </a:r>
            <a:endParaRPr lang="es-MX" sz="900" noProof="0" dirty="0"/>
          </a:p>
        </p:txBody>
      </p:sp>
      <p:sp>
        <p:nvSpPr>
          <p:cNvPr id="443" name="Shape 441"/>
          <p:cNvSpPr/>
          <p:nvPr/>
        </p:nvSpPr>
        <p:spPr>
          <a:xfrm>
            <a:off x="6391126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4" name="Text 442"/>
          <p:cNvSpPr/>
          <p:nvPr/>
        </p:nvSpPr>
        <p:spPr>
          <a:xfrm>
            <a:off x="6400270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contables</a:t>
            </a:r>
            <a:endParaRPr lang="es-MX" sz="600" noProof="0" dirty="0"/>
          </a:p>
        </p:txBody>
      </p:sp>
      <p:sp>
        <p:nvSpPr>
          <p:cNvPr id="445" name="Shape 443"/>
          <p:cNvSpPr/>
          <p:nvPr/>
        </p:nvSpPr>
        <p:spPr>
          <a:xfrm>
            <a:off x="7305248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6" name="Text 444"/>
          <p:cNvSpPr/>
          <p:nvPr/>
        </p:nvSpPr>
        <p:spPr>
          <a:xfrm>
            <a:off x="7314392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Operacional</a:t>
            </a:r>
            <a:endParaRPr lang="es-MX" sz="600" noProof="0" dirty="0"/>
          </a:p>
        </p:txBody>
      </p:sp>
      <p:sp>
        <p:nvSpPr>
          <p:cNvPr id="447" name="Shape 445"/>
          <p:cNvSpPr/>
          <p:nvPr/>
        </p:nvSpPr>
        <p:spPr>
          <a:xfrm>
            <a:off x="8219369" y="513050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48" name="Text 446"/>
          <p:cNvSpPr/>
          <p:nvPr/>
        </p:nvSpPr>
        <p:spPr>
          <a:xfrm>
            <a:off x="8228513" y="513599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Regulatorios</a:t>
            </a:r>
            <a:endParaRPr lang="es-MX" sz="600" noProof="0" dirty="0"/>
          </a:p>
        </p:txBody>
      </p:sp>
      <p:sp>
        <p:nvSpPr>
          <p:cNvPr id="449" name="Shape 447"/>
          <p:cNvSpPr/>
          <p:nvPr/>
        </p:nvSpPr>
        <p:spPr>
          <a:xfrm>
            <a:off x="6391126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0" name="Text 448"/>
          <p:cNvSpPr/>
          <p:nvPr/>
        </p:nvSpPr>
        <p:spPr>
          <a:xfrm>
            <a:off x="6400270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 clientes</a:t>
            </a:r>
            <a:endParaRPr lang="es-MX" sz="600" noProof="0" dirty="0"/>
          </a:p>
        </p:txBody>
      </p:sp>
      <p:sp>
        <p:nvSpPr>
          <p:cNvPr id="451" name="Shape 449"/>
          <p:cNvSpPr/>
          <p:nvPr/>
        </p:nvSpPr>
        <p:spPr>
          <a:xfrm>
            <a:off x="7305248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2" name="Text 450"/>
          <p:cNvSpPr/>
          <p:nvPr/>
        </p:nvSpPr>
        <p:spPr>
          <a:xfrm>
            <a:off x="7314392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Transaccionales/Reportes de Clientes</a:t>
            </a:r>
            <a:endParaRPr lang="es-MX" sz="600" noProof="0" dirty="0"/>
          </a:p>
        </p:txBody>
      </p:sp>
      <p:sp>
        <p:nvSpPr>
          <p:cNvPr id="453" name="Shape 451"/>
          <p:cNvSpPr/>
          <p:nvPr/>
        </p:nvSpPr>
        <p:spPr>
          <a:xfrm>
            <a:off x="8219369" y="5329239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4" name="Text 452"/>
          <p:cNvSpPr/>
          <p:nvPr/>
        </p:nvSpPr>
        <p:spPr>
          <a:xfrm>
            <a:off x="8228513" y="533472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Banca transaccional</a:t>
            </a:r>
            <a:endParaRPr lang="es-MX" sz="600" noProof="0" dirty="0"/>
          </a:p>
        </p:txBody>
      </p:sp>
      <p:sp>
        <p:nvSpPr>
          <p:cNvPr id="455" name="Shape 453"/>
          <p:cNvSpPr/>
          <p:nvPr/>
        </p:nvSpPr>
        <p:spPr>
          <a:xfrm>
            <a:off x="6391126" y="5527968"/>
            <a:ext cx="886690" cy="178613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56" name="Text 454"/>
          <p:cNvSpPr/>
          <p:nvPr/>
        </p:nvSpPr>
        <p:spPr>
          <a:xfrm>
            <a:off x="6400270" y="5533455"/>
            <a:ext cx="868402" cy="167640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Informes de utilización (sistemas)</a:t>
            </a:r>
            <a:endParaRPr lang="es-MX" sz="600" noProof="0" dirty="0"/>
          </a:p>
        </p:txBody>
      </p:sp>
      <p:sp>
        <p:nvSpPr>
          <p:cNvPr id="457" name="Shape 455"/>
          <p:cNvSpPr/>
          <p:nvPr/>
        </p:nvSpPr>
        <p:spPr>
          <a:xfrm>
            <a:off x="9183783" y="4984205"/>
            <a:ext cx="2954346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58" name="Text 456"/>
          <p:cNvSpPr/>
          <p:nvPr/>
        </p:nvSpPr>
        <p:spPr>
          <a:xfrm>
            <a:off x="9211215" y="4995178"/>
            <a:ext cx="289948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900" b="1" noProof="0" dirty="0" err="1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procesamiento de datos</a:t>
            </a:r>
            <a:endParaRPr lang="es-MX" sz="900" noProof="0" dirty="0"/>
          </a:p>
        </p:txBody>
      </p:sp>
      <p:sp>
        <p:nvSpPr>
          <p:cNvPr id="459" name="Shape 457"/>
          <p:cNvSpPr/>
          <p:nvPr/>
        </p:nvSpPr>
        <p:spPr>
          <a:xfrm>
            <a:off x="9224931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0" name="Text 458"/>
          <p:cNvSpPr/>
          <p:nvPr/>
        </p:nvSpPr>
        <p:spPr>
          <a:xfrm>
            <a:off x="9234075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</a:t>
            </a:r>
            <a:r>
              <a:rPr lang="es-MX" sz="6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s-MX" sz="600" noProof="0" dirty="0"/>
          </a:p>
        </p:txBody>
      </p:sp>
      <p:sp>
        <p:nvSpPr>
          <p:cNvPr id="461" name="Shape 459"/>
          <p:cNvSpPr/>
          <p:nvPr/>
        </p:nvSpPr>
        <p:spPr>
          <a:xfrm>
            <a:off x="10674672" y="5130509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2" name="Text 460"/>
          <p:cNvSpPr/>
          <p:nvPr/>
        </p:nvSpPr>
        <p:spPr>
          <a:xfrm>
            <a:off x="10683816" y="5135995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Operacionales</a:t>
            </a:r>
            <a:endParaRPr lang="es-MX" sz="600" noProof="0" dirty="0"/>
          </a:p>
        </p:txBody>
      </p:sp>
      <p:sp>
        <p:nvSpPr>
          <p:cNvPr id="463" name="Shape 461"/>
          <p:cNvSpPr/>
          <p:nvPr/>
        </p:nvSpPr>
        <p:spPr>
          <a:xfrm>
            <a:off x="9224931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4" name="Text 462"/>
          <p:cNvSpPr/>
          <p:nvPr/>
        </p:nvSpPr>
        <p:spPr>
          <a:xfrm>
            <a:off x="9234075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información del cliente</a:t>
            </a:r>
            <a:endParaRPr lang="es-MX" sz="600" noProof="0" dirty="0"/>
          </a:p>
        </p:txBody>
      </p:sp>
      <p:sp>
        <p:nvSpPr>
          <p:cNvPr id="465" name="Shape 463"/>
          <p:cNvSpPr/>
          <p:nvPr/>
        </p:nvSpPr>
        <p:spPr>
          <a:xfrm>
            <a:off x="10674672" y="5428603"/>
            <a:ext cx="1422309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600" noProof="0" dirty="0"/>
          </a:p>
        </p:txBody>
      </p:sp>
      <p:sp>
        <p:nvSpPr>
          <p:cNvPr id="466" name="Text 464"/>
          <p:cNvSpPr/>
          <p:nvPr/>
        </p:nvSpPr>
        <p:spPr>
          <a:xfrm>
            <a:off x="10683816" y="5434090"/>
            <a:ext cx="1404021" cy="26700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Analítica</a:t>
            </a:r>
            <a:endParaRPr lang="es-MX" sz="600" noProof="0" dirty="0"/>
          </a:p>
        </p:txBody>
      </p:sp>
      <p:sp>
        <p:nvSpPr>
          <p:cNvPr id="467" name="Shape 465"/>
          <p:cNvSpPr/>
          <p:nvPr/>
        </p:nvSpPr>
        <p:spPr>
          <a:xfrm>
            <a:off x="45720" y="5806440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8" name="Shape 466"/>
          <p:cNvSpPr/>
          <p:nvPr/>
        </p:nvSpPr>
        <p:spPr>
          <a:xfrm>
            <a:off x="45720" y="6611112"/>
            <a:ext cx="12100560" cy="0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69" name="Shape 467"/>
          <p:cNvSpPr/>
          <p:nvPr/>
        </p:nvSpPr>
        <p:spPr>
          <a:xfrm>
            <a:off x="4572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0" name="Shape 468"/>
          <p:cNvSpPr/>
          <p:nvPr/>
        </p:nvSpPr>
        <p:spPr>
          <a:xfrm>
            <a:off x="12146280" y="5806440"/>
            <a:ext cx="0" cy="804672"/>
          </a:xfrm>
          <a:prstGeom prst="line">
            <a:avLst/>
          </a:prstGeom>
          <a:noFill/>
          <a:ln w="8890">
            <a:solidFill>
              <a:srgbClr val="7D87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1" name="Shape 469"/>
          <p:cNvSpPr/>
          <p:nvPr/>
        </p:nvSpPr>
        <p:spPr>
          <a:xfrm>
            <a:off x="45720" y="580644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7"/>
            </a:solidFill>
            <a:prstDash val="solid"/>
          </a:ln>
        </p:spPr>
        <p:txBody>
          <a:bodyPr/>
          <a:lstStyle/>
          <a:p>
            <a:endParaRPr lang="es-MX" sz="900" noProof="0" dirty="0"/>
          </a:p>
        </p:txBody>
      </p:sp>
      <p:sp>
        <p:nvSpPr>
          <p:cNvPr id="472" name="Text 470"/>
          <p:cNvSpPr/>
          <p:nvPr/>
        </p:nvSpPr>
        <p:spPr>
          <a:xfrm>
            <a:off x="64008" y="5815584"/>
            <a:ext cx="1380744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soporte</a:t>
            </a:r>
            <a:endParaRPr lang="es-MX" sz="900" noProof="0" dirty="0"/>
          </a:p>
        </p:txBody>
      </p:sp>
      <p:sp>
        <p:nvSpPr>
          <p:cNvPr id="473" name="Shape 471"/>
          <p:cNvSpPr/>
          <p:nvPr/>
        </p:nvSpPr>
        <p:spPr>
          <a:xfrm>
            <a:off x="1481328" y="5815584"/>
            <a:ext cx="5257800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74" name="Text 472"/>
          <p:cNvSpPr/>
          <p:nvPr/>
        </p:nvSpPr>
        <p:spPr>
          <a:xfrm>
            <a:off x="1508760" y="5862218"/>
            <a:ext cx="5202936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Tecnología</a:t>
            </a:r>
            <a:endParaRPr lang="es-MX" sz="900" noProof="0" dirty="0"/>
          </a:p>
        </p:txBody>
      </p:sp>
      <p:sp>
        <p:nvSpPr>
          <p:cNvPr id="475" name="Shape 473"/>
          <p:cNvSpPr/>
          <p:nvPr/>
        </p:nvSpPr>
        <p:spPr>
          <a:xfrm>
            <a:off x="1517904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6" name="Text 474"/>
          <p:cNvSpPr/>
          <p:nvPr/>
        </p:nvSpPr>
        <p:spPr>
          <a:xfrm>
            <a:off x="1527048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de la información</a:t>
            </a:r>
            <a:endParaRPr lang="es-MX" sz="700" noProof="0" dirty="0"/>
          </a:p>
        </p:txBody>
      </p:sp>
      <p:sp>
        <p:nvSpPr>
          <p:cNvPr id="477" name="Shape 475"/>
          <p:cNvSpPr/>
          <p:nvPr/>
        </p:nvSpPr>
        <p:spPr>
          <a:xfrm>
            <a:off x="2822067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78" name="Text 476"/>
          <p:cNvSpPr/>
          <p:nvPr/>
        </p:nvSpPr>
        <p:spPr>
          <a:xfrm>
            <a:off x="2831211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Infraestructura</a:t>
            </a:r>
            <a:endParaRPr lang="es-MX" sz="700" noProof="0" dirty="0"/>
          </a:p>
        </p:txBody>
      </p:sp>
      <p:sp>
        <p:nvSpPr>
          <p:cNvPr id="479" name="Shape 477"/>
          <p:cNvSpPr/>
          <p:nvPr/>
        </p:nvSpPr>
        <p:spPr>
          <a:xfrm>
            <a:off x="4126230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0" name="Text 478"/>
          <p:cNvSpPr/>
          <p:nvPr/>
        </p:nvSpPr>
        <p:spPr>
          <a:xfrm>
            <a:off x="4135374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Homologación de ambientes</a:t>
            </a:r>
            <a:endParaRPr lang="es-MX" sz="700" noProof="0" dirty="0"/>
          </a:p>
        </p:txBody>
      </p:sp>
      <p:sp>
        <p:nvSpPr>
          <p:cNvPr id="481" name="Shape 479"/>
          <p:cNvSpPr/>
          <p:nvPr/>
        </p:nvSpPr>
        <p:spPr>
          <a:xfrm>
            <a:off x="5430393" y="5975604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2" name="Text 480"/>
          <p:cNvSpPr/>
          <p:nvPr/>
        </p:nvSpPr>
        <p:spPr>
          <a:xfrm>
            <a:off x="5439537" y="5981090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 err="1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DevSecOps</a:t>
            </a:r>
            <a:endParaRPr lang="es-MX" sz="700" noProof="0" dirty="0"/>
          </a:p>
        </p:txBody>
      </p:sp>
      <p:sp>
        <p:nvSpPr>
          <p:cNvPr id="483" name="Shape 481"/>
          <p:cNvSpPr/>
          <p:nvPr/>
        </p:nvSpPr>
        <p:spPr>
          <a:xfrm>
            <a:off x="1517904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4" name="Text 482"/>
          <p:cNvSpPr/>
          <p:nvPr/>
        </p:nvSpPr>
        <p:spPr>
          <a:xfrm>
            <a:off x="1527048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Identidad y seguridad</a:t>
            </a:r>
            <a:endParaRPr lang="es-MX" sz="700" noProof="0" dirty="0"/>
          </a:p>
        </p:txBody>
      </p:sp>
      <p:sp>
        <p:nvSpPr>
          <p:cNvPr id="485" name="Shape 483"/>
          <p:cNvSpPr/>
          <p:nvPr/>
        </p:nvSpPr>
        <p:spPr>
          <a:xfrm>
            <a:off x="2822067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6" name="Text 484"/>
          <p:cNvSpPr/>
          <p:nvPr/>
        </p:nvSpPr>
        <p:spPr>
          <a:xfrm>
            <a:off x="2831211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la información y física</a:t>
            </a:r>
            <a:endParaRPr lang="es-MX" sz="700" noProof="0" dirty="0"/>
          </a:p>
        </p:txBody>
      </p:sp>
      <p:sp>
        <p:nvSpPr>
          <p:cNvPr id="487" name="Shape 485"/>
          <p:cNvSpPr/>
          <p:nvPr/>
        </p:nvSpPr>
        <p:spPr>
          <a:xfrm>
            <a:off x="4126230" y="6268212"/>
            <a:ext cx="1272159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88" name="Text 486"/>
          <p:cNvSpPr/>
          <p:nvPr/>
        </p:nvSpPr>
        <p:spPr>
          <a:xfrm>
            <a:off x="4135374" y="6273698"/>
            <a:ext cx="1253871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Aseguramiento de la calidad (QA)</a:t>
            </a:r>
            <a:endParaRPr lang="es-MX" sz="700" noProof="0" dirty="0"/>
          </a:p>
        </p:txBody>
      </p:sp>
      <p:sp>
        <p:nvSpPr>
          <p:cNvPr id="489" name="Shape 487"/>
          <p:cNvSpPr/>
          <p:nvPr/>
        </p:nvSpPr>
        <p:spPr>
          <a:xfrm>
            <a:off x="6775704" y="5815584"/>
            <a:ext cx="5370576" cy="745236"/>
          </a:xfrm>
          <a:prstGeom prst="rect">
            <a:avLst/>
          </a:prstGeom>
          <a:solidFill>
            <a:srgbClr val="FFFFFF"/>
          </a:solidFill>
          <a:ln w="5715">
            <a:solidFill>
              <a:srgbClr val="8A5CB8"/>
            </a:solidFill>
            <a:prstDash val="solid"/>
          </a:ln>
        </p:spPr>
        <p:txBody>
          <a:bodyPr/>
          <a:lstStyle/>
          <a:p>
            <a:endParaRPr lang="es-MX" sz="2400" noProof="0" dirty="0"/>
          </a:p>
        </p:txBody>
      </p:sp>
      <p:sp>
        <p:nvSpPr>
          <p:cNvPr id="490" name="Text 488"/>
          <p:cNvSpPr/>
          <p:nvPr/>
        </p:nvSpPr>
        <p:spPr>
          <a:xfrm>
            <a:off x="6803136" y="5862218"/>
            <a:ext cx="5315712" cy="86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s-MX" sz="900" b="1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de Soporte al Negocio</a:t>
            </a:r>
            <a:endParaRPr lang="es-MX" sz="900" noProof="0" dirty="0"/>
          </a:p>
        </p:txBody>
      </p:sp>
      <p:sp>
        <p:nvSpPr>
          <p:cNvPr id="491" name="Shape 489"/>
          <p:cNvSpPr/>
          <p:nvPr/>
        </p:nvSpPr>
        <p:spPr>
          <a:xfrm>
            <a:off x="6812280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2" name="Text 490"/>
          <p:cNvSpPr/>
          <p:nvPr/>
        </p:nvSpPr>
        <p:spPr>
          <a:xfrm>
            <a:off x="6821424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cumplimiento</a:t>
            </a:r>
            <a:endParaRPr lang="es-MX" sz="700" noProof="0" dirty="0"/>
          </a:p>
        </p:txBody>
      </p:sp>
      <p:sp>
        <p:nvSpPr>
          <p:cNvPr id="493" name="Shape 491"/>
          <p:cNvSpPr/>
          <p:nvPr/>
        </p:nvSpPr>
        <p:spPr>
          <a:xfrm>
            <a:off x="8144637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4" name="Text 492"/>
          <p:cNvSpPr/>
          <p:nvPr/>
        </p:nvSpPr>
        <p:spPr>
          <a:xfrm>
            <a:off x="8153781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riesgos</a:t>
            </a:r>
            <a:endParaRPr lang="es-MX" sz="700" noProof="0" dirty="0"/>
          </a:p>
        </p:txBody>
      </p:sp>
      <p:sp>
        <p:nvSpPr>
          <p:cNvPr id="495" name="Shape 493"/>
          <p:cNvSpPr/>
          <p:nvPr/>
        </p:nvSpPr>
        <p:spPr>
          <a:xfrm>
            <a:off x="9476994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6" name="Text 494"/>
          <p:cNvSpPr/>
          <p:nvPr/>
        </p:nvSpPr>
        <p:spPr>
          <a:xfrm>
            <a:off x="9486138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fraudes</a:t>
            </a:r>
            <a:endParaRPr lang="es-MX" sz="700" noProof="0" dirty="0"/>
          </a:p>
        </p:txBody>
      </p:sp>
      <p:sp>
        <p:nvSpPr>
          <p:cNvPr id="497" name="Shape 495"/>
          <p:cNvSpPr/>
          <p:nvPr/>
        </p:nvSpPr>
        <p:spPr>
          <a:xfrm>
            <a:off x="10809351" y="5975604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498" name="Text 496"/>
          <p:cNvSpPr/>
          <p:nvPr/>
        </p:nvSpPr>
        <p:spPr>
          <a:xfrm>
            <a:off x="10818495" y="5981090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monitoreo</a:t>
            </a:r>
            <a:endParaRPr lang="es-MX" sz="700" noProof="0" dirty="0"/>
          </a:p>
        </p:txBody>
      </p:sp>
      <p:sp>
        <p:nvSpPr>
          <p:cNvPr id="499" name="Shape 497"/>
          <p:cNvSpPr/>
          <p:nvPr/>
        </p:nvSpPr>
        <p:spPr>
          <a:xfrm>
            <a:off x="6812280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0" name="Text 498"/>
          <p:cNvSpPr/>
          <p:nvPr/>
        </p:nvSpPr>
        <p:spPr>
          <a:xfrm>
            <a:off x="6821424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financiera</a:t>
            </a:r>
            <a:endParaRPr lang="es-MX" sz="700" noProof="0" dirty="0"/>
          </a:p>
        </p:txBody>
      </p:sp>
      <p:sp>
        <p:nvSpPr>
          <p:cNvPr id="501" name="Shape 499"/>
          <p:cNvSpPr/>
          <p:nvPr/>
        </p:nvSpPr>
        <p:spPr>
          <a:xfrm>
            <a:off x="8144637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2" name="Text 500"/>
          <p:cNvSpPr/>
          <p:nvPr/>
        </p:nvSpPr>
        <p:spPr>
          <a:xfrm>
            <a:off x="8153781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humanos</a:t>
            </a:r>
            <a:endParaRPr lang="es-MX" sz="700" noProof="0" dirty="0"/>
          </a:p>
        </p:txBody>
      </p:sp>
      <p:sp>
        <p:nvSpPr>
          <p:cNvPr id="503" name="Shape 501"/>
          <p:cNvSpPr/>
          <p:nvPr/>
        </p:nvSpPr>
        <p:spPr>
          <a:xfrm>
            <a:off x="9476994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4" name="Text 502"/>
          <p:cNvSpPr/>
          <p:nvPr/>
        </p:nvSpPr>
        <p:spPr>
          <a:xfrm>
            <a:off x="9486138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Adquisiciones y proveedores</a:t>
            </a:r>
            <a:endParaRPr lang="es-MX" sz="700" noProof="0" dirty="0"/>
          </a:p>
        </p:txBody>
      </p:sp>
      <p:sp>
        <p:nvSpPr>
          <p:cNvPr id="505" name="Shape 503"/>
          <p:cNvSpPr/>
          <p:nvPr/>
        </p:nvSpPr>
        <p:spPr>
          <a:xfrm>
            <a:off x="10809351" y="6268212"/>
            <a:ext cx="1300353" cy="26974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700" noProof="0" dirty="0"/>
          </a:p>
        </p:txBody>
      </p:sp>
      <p:sp>
        <p:nvSpPr>
          <p:cNvPr id="506" name="Text 504"/>
          <p:cNvSpPr/>
          <p:nvPr/>
        </p:nvSpPr>
        <p:spPr>
          <a:xfrm>
            <a:off x="10818495" y="6273698"/>
            <a:ext cx="1282065" cy="258775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</a:pPr>
            <a:r>
              <a:rPr lang="es-MX" sz="7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Instalaciones y activos físicos</a:t>
            </a:r>
            <a:endParaRPr lang="es-MX" sz="700" noProof="0" dirty="0"/>
          </a:p>
        </p:txBody>
      </p:sp>
      <p:sp>
        <p:nvSpPr>
          <p:cNvPr id="507" name="Text 505"/>
          <p:cNvSpPr/>
          <p:nvPr/>
        </p:nvSpPr>
        <p:spPr>
          <a:xfrm>
            <a:off x="274320" y="670255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UNITY | Arquitectura Empresarial de Referencia</a:t>
            </a:r>
            <a:endParaRPr lang="es-MX" sz="600" noProof="0" dirty="0"/>
          </a:p>
        </p:txBody>
      </p:sp>
      <p:sp>
        <p:nvSpPr>
          <p:cNvPr id="508" name="Text 506"/>
          <p:cNvSpPr/>
          <p:nvPr/>
        </p:nvSpPr>
        <p:spPr>
          <a:xfrm>
            <a:off x="9189720" y="6702552"/>
            <a:ext cx="2743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s-MX" sz="600" noProof="0" dirty="0">
                <a:solidFill>
                  <a:srgbClr val="5360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Financieros Coppel | Confidencial</a:t>
            </a:r>
            <a:endParaRPr lang="es-MX" sz="600" noProof="0" dirty="0"/>
          </a:p>
        </p:txBody>
      </p:sp>
      <p:sp>
        <p:nvSpPr>
          <p:cNvPr id="542" name="Shape 425">
            <a:extLst>
              <a:ext uri="{FF2B5EF4-FFF2-40B4-BE49-F238E27FC236}">
                <a16:creationId xmlns:a16="http://schemas.microsoft.com/office/drawing/2014/main" id="{588B0852-3EE8-EAF8-ADA7-E963BF40B929}"/>
              </a:ext>
            </a:extLst>
          </p:cNvPr>
          <p:cNvSpPr/>
          <p:nvPr/>
        </p:nvSpPr>
        <p:spPr>
          <a:xfrm>
            <a:off x="1531620" y="5125022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Finanzas y Tesorería</a:t>
            </a:r>
          </a:p>
        </p:txBody>
      </p:sp>
      <p:sp>
        <p:nvSpPr>
          <p:cNvPr id="544" name="Shape 427">
            <a:extLst>
              <a:ext uri="{FF2B5EF4-FFF2-40B4-BE49-F238E27FC236}">
                <a16:creationId xmlns:a16="http://schemas.microsoft.com/office/drawing/2014/main" id="{DFC60E61-66EF-7CF2-DEC6-CBB851A6331C}"/>
              </a:ext>
            </a:extLst>
          </p:cNvPr>
          <p:cNvSpPr/>
          <p:nvPr/>
        </p:nvSpPr>
        <p:spPr>
          <a:xfrm>
            <a:off x="1531620" y="5423116"/>
            <a:ext cx="1121093" cy="277978"/>
          </a:xfrm>
          <a:prstGeom prst="rect">
            <a:avLst/>
          </a:prstGeom>
          <a:solidFill>
            <a:srgbClr val="F0F2F5"/>
          </a:solidFill>
          <a:ln w="31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s-MX" sz="600" noProof="0" dirty="0">
                <a:solidFill>
                  <a:srgbClr val="536073"/>
                </a:solidFill>
                <a:latin typeface="Aptos" pitchFamily="34" charset="0"/>
              </a:rPr>
              <a:t>Servicios de Inversión</a:t>
            </a:r>
          </a:p>
        </p:txBody>
      </p:sp>
      <p:sp>
        <p:nvSpPr>
          <p:cNvPr id="548" name="Shape 311">
            <a:extLst>
              <a:ext uri="{FF2B5EF4-FFF2-40B4-BE49-F238E27FC236}">
                <a16:creationId xmlns:a16="http://schemas.microsoft.com/office/drawing/2014/main" id="{4B530D1D-9E39-8845-26AA-569001383F01}"/>
              </a:ext>
            </a:extLst>
          </p:cNvPr>
          <p:cNvSpPr/>
          <p:nvPr/>
        </p:nvSpPr>
        <p:spPr>
          <a:xfrm>
            <a:off x="1522476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0" name="Text 312">
            <a:extLst>
              <a:ext uri="{FF2B5EF4-FFF2-40B4-BE49-F238E27FC236}">
                <a16:creationId xmlns:a16="http://schemas.microsoft.com/office/drawing/2014/main" id="{CF22FF4F-BEDA-CC22-D2D2-237E5BD9E634}"/>
              </a:ext>
            </a:extLst>
          </p:cNvPr>
          <p:cNvSpPr/>
          <p:nvPr/>
        </p:nvSpPr>
        <p:spPr>
          <a:xfrm>
            <a:off x="1531620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saldos</a:t>
            </a:r>
            <a:endParaRPr lang="es-MX" sz="500" noProof="0" dirty="0"/>
          </a:p>
        </p:txBody>
      </p:sp>
      <p:sp>
        <p:nvSpPr>
          <p:cNvPr id="552" name="Shape 313">
            <a:extLst>
              <a:ext uri="{FF2B5EF4-FFF2-40B4-BE49-F238E27FC236}">
                <a16:creationId xmlns:a16="http://schemas.microsoft.com/office/drawing/2014/main" id="{406B74BF-DFA7-A272-EC1C-69599FAC3594}"/>
              </a:ext>
            </a:extLst>
          </p:cNvPr>
          <p:cNvSpPr/>
          <p:nvPr/>
        </p:nvSpPr>
        <p:spPr>
          <a:xfrm>
            <a:off x="2290389" y="4201669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4" name="Text 314">
            <a:extLst>
              <a:ext uri="{FF2B5EF4-FFF2-40B4-BE49-F238E27FC236}">
                <a16:creationId xmlns:a16="http://schemas.microsoft.com/office/drawing/2014/main" id="{24F8C5E4-EEE2-2D68-7A24-B309146EE9F5}"/>
              </a:ext>
            </a:extLst>
          </p:cNvPr>
          <p:cNvSpPr/>
          <p:nvPr/>
        </p:nvSpPr>
        <p:spPr>
          <a:xfrm>
            <a:off x="2299533" y="42199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intereses</a:t>
            </a:r>
            <a:endParaRPr lang="es-MX" sz="500" noProof="0" dirty="0"/>
          </a:p>
        </p:txBody>
      </p:sp>
      <p:sp>
        <p:nvSpPr>
          <p:cNvPr id="556" name="Shape 315">
            <a:extLst>
              <a:ext uri="{FF2B5EF4-FFF2-40B4-BE49-F238E27FC236}">
                <a16:creationId xmlns:a16="http://schemas.microsoft.com/office/drawing/2014/main" id="{792A0849-467F-A13C-9CFE-C8C6EA6F6431}"/>
              </a:ext>
            </a:extLst>
          </p:cNvPr>
          <p:cNvSpPr/>
          <p:nvPr/>
        </p:nvSpPr>
        <p:spPr>
          <a:xfrm>
            <a:off x="1522476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58" name="Text 316">
            <a:extLst>
              <a:ext uri="{FF2B5EF4-FFF2-40B4-BE49-F238E27FC236}">
                <a16:creationId xmlns:a16="http://schemas.microsoft.com/office/drawing/2014/main" id="{67378D3A-3FEF-1225-D8BF-39E2A24D64E4}"/>
              </a:ext>
            </a:extLst>
          </p:cNvPr>
          <p:cNvSpPr/>
          <p:nvPr/>
        </p:nvSpPr>
        <p:spPr>
          <a:xfrm>
            <a:off x="1531620" y="4373257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comisiones y tarifas</a:t>
            </a:r>
            <a:endParaRPr lang="es-MX" sz="500" noProof="0" dirty="0"/>
          </a:p>
        </p:txBody>
      </p:sp>
      <p:sp>
        <p:nvSpPr>
          <p:cNvPr id="560" name="Shape 317">
            <a:extLst>
              <a:ext uri="{FF2B5EF4-FFF2-40B4-BE49-F238E27FC236}">
                <a16:creationId xmlns:a16="http://schemas.microsoft.com/office/drawing/2014/main" id="{F97FDB2E-C636-35CE-C68F-F1D847F1F068}"/>
              </a:ext>
            </a:extLst>
          </p:cNvPr>
          <p:cNvSpPr/>
          <p:nvPr/>
        </p:nvSpPr>
        <p:spPr>
          <a:xfrm>
            <a:off x="2290389" y="4357845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2" name="Text 318">
            <a:extLst>
              <a:ext uri="{FF2B5EF4-FFF2-40B4-BE49-F238E27FC236}">
                <a16:creationId xmlns:a16="http://schemas.microsoft.com/office/drawing/2014/main" id="{0F7E3A7C-13C2-5092-549C-1BF8F9D61525}"/>
              </a:ext>
            </a:extLst>
          </p:cNvPr>
          <p:cNvSpPr/>
          <p:nvPr/>
        </p:nvSpPr>
        <p:spPr>
          <a:xfrm>
            <a:off x="2299533" y="4376133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Calculo de impuestos y retenciones</a:t>
            </a:r>
            <a:endParaRPr lang="es-MX" sz="500" noProof="0" dirty="0"/>
          </a:p>
        </p:txBody>
      </p:sp>
      <p:sp>
        <p:nvSpPr>
          <p:cNvPr id="564" name="Shape 319">
            <a:extLst>
              <a:ext uri="{FF2B5EF4-FFF2-40B4-BE49-F238E27FC236}">
                <a16:creationId xmlns:a16="http://schemas.microsoft.com/office/drawing/2014/main" id="{E594D0C4-624D-B146-A176-E469919D7194}"/>
              </a:ext>
            </a:extLst>
          </p:cNvPr>
          <p:cNvSpPr/>
          <p:nvPr/>
        </p:nvSpPr>
        <p:spPr>
          <a:xfrm>
            <a:off x="1522476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66" name="Text 320">
            <a:extLst>
              <a:ext uri="{FF2B5EF4-FFF2-40B4-BE49-F238E27FC236}">
                <a16:creationId xmlns:a16="http://schemas.microsoft.com/office/drawing/2014/main" id="{C8B0A7E0-945D-6E42-A0DC-4C8C3FDE3940}"/>
              </a:ext>
            </a:extLst>
          </p:cNvPr>
          <p:cNvSpPr/>
          <p:nvPr/>
        </p:nvSpPr>
        <p:spPr>
          <a:xfrm>
            <a:off x="1531620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divisas (FX)</a:t>
            </a:r>
            <a:endParaRPr lang="es-MX" sz="500" noProof="0" dirty="0"/>
          </a:p>
        </p:txBody>
      </p:sp>
      <p:sp>
        <p:nvSpPr>
          <p:cNvPr id="568" name="Shape 321">
            <a:extLst>
              <a:ext uri="{FF2B5EF4-FFF2-40B4-BE49-F238E27FC236}">
                <a16:creationId xmlns:a16="http://schemas.microsoft.com/office/drawing/2014/main" id="{547F8462-F043-F8F7-5927-6B355E5179A7}"/>
              </a:ext>
            </a:extLst>
          </p:cNvPr>
          <p:cNvSpPr/>
          <p:nvPr/>
        </p:nvSpPr>
        <p:spPr>
          <a:xfrm>
            <a:off x="2290389" y="4514021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0" name="Text 322">
            <a:extLst>
              <a:ext uri="{FF2B5EF4-FFF2-40B4-BE49-F238E27FC236}">
                <a16:creationId xmlns:a16="http://schemas.microsoft.com/office/drawing/2014/main" id="{F75640B2-13AC-86EA-8445-DDEC4C294C02}"/>
              </a:ext>
            </a:extLst>
          </p:cNvPr>
          <p:cNvSpPr/>
          <p:nvPr/>
        </p:nvSpPr>
        <p:spPr>
          <a:xfrm>
            <a:off x="2299533" y="4532309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s-MX" sz="500" noProof="0" dirty="0"/>
          </a:p>
        </p:txBody>
      </p:sp>
      <p:sp>
        <p:nvSpPr>
          <p:cNvPr id="572" name="Shape 323">
            <a:extLst>
              <a:ext uri="{FF2B5EF4-FFF2-40B4-BE49-F238E27FC236}">
                <a16:creationId xmlns:a16="http://schemas.microsoft.com/office/drawing/2014/main" id="{EA3830AA-EE8F-88A4-ADF9-287377B0692C}"/>
              </a:ext>
            </a:extLst>
          </p:cNvPr>
          <p:cNvSpPr/>
          <p:nvPr/>
        </p:nvSpPr>
        <p:spPr>
          <a:xfrm>
            <a:off x="1522476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4" name="Text 324">
            <a:extLst>
              <a:ext uri="{FF2B5EF4-FFF2-40B4-BE49-F238E27FC236}">
                <a16:creationId xmlns:a16="http://schemas.microsoft.com/office/drawing/2014/main" id="{1A145EC5-C2B3-286C-4A08-C4560D265FA1}"/>
              </a:ext>
            </a:extLst>
          </p:cNvPr>
          <p:cNvSpPr/>
          <p:nvPr/>
        </p:nvSpPr>
        <p:spPr>
          <a:xfrm>
            <a:off x="1531620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s-MX" sz="500" noProof="0" dirty="0"/>
          </a:p>
        </p:txBody>
      </p:sp>
      <p:sp>
        <p:nvSpPr>
          <p:cNvPr id="423" name="Shape 325">
            <a:extLst>
              <a:ext uri="{FF2B5EF4-FFF2-40B4-BE49-F238E27FC236}">
                <a16:creationId xmlns:a16="http://schemas.microsoft.com/office/drawing/2014/main" id="{45D71346-E075-71E2-1AC7-6505A4DD6F87}"/>
              </a:ext>
            </a:extLst>
          </p:cNvPr>
          <p:cNvSpPr/>
          <p:nvPr/>
        </p:nvSpPr>
        <p:spPr>
          <a:xfrm>
            <a:off x="2290389" y="4670197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76" name="Text 326">
            <a:extLst>
              <a:ext uri="{FF2B5EF4-FFF2-40B4-BE49-F238E27FC236}">
                <a16:creationId xmlns:a16="http://schemas.microsoft.com/office/drawing/2014/main" id="{A00C4918-43BE-F447-125A-19A3B328F4D0}"/>
              </a:ext>
            </a:extLst>
          </p:cNvPr>
          <p:cNvSpPr/>
          <p:nvPr/>
        </p:nvSpPr>
        <p:spPr>
          <a:xfrm>
            <a:off x="2299533" y="4688485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Contabilidad</a:t>
            </a:r>
            <a:endParaRPr lang="es-MX" sz="500" noProof="0" dirty="0"/>
          </a:p>
        </p:txBody>
      </p:sp>
      <p:sp>
        <p:nvSpPr>
          <p:cNvPr id="578" name="Shape 327">
            <a:extLst>
              <a:ext uri="{FF2B5EF4-FFF2-40B4-BE49-F238E27FC236}">
                <a16:creationId xmlns:a16="http://schemas.microsoft.com/office/drawing/2014/main" id="{89D87839-467F-E20D-43F2-F9F8B8E5C014}"/>
              </a:ext>
            </a:extLst>
          </p:cNvPr>
          <p:cNvSpPr/>
          <p:nvPr/>
        </p:nvSpPr>
        <p:spPr>
          <a:xfrm>
            <a:off x="1522476" y="4826372"/>
            <a:ext cx="740481" cy="141183"/>
          </a:xfrm>
          <a:prstGeom prst="rect">
            <a:avLst/>
          </a:prstGeom>
          <a:solidFill>
            <a:srgbClr val="F0F2F5"/>
          </a:solidFill>
          <a:ln w="6985">
            <a:noFill/>
            <a:prstDash val="solid"/>
          </a:ln>
        </p:spPr>
        <p:txBody>
          <a:bodyPr/>
          <a:lstStyle/>
          <a:p>
            <a:endParaRPr lang="es-MX" sz="500" noProof="0" dirty="0"/>
          </a:p>
        </p:txBody>
      </p:sp>
      <p:sp>
        <p:nvSpPr>
          <p:cNvPr id="580" name="Text 328">
            <a:extLst>
              <a:ext uri="{FF2B5EF4-FFF2-40B4-BE49-F238E27FC236}">
                <a16:creationId xmlns:a16="http://schemas.microsoft.com/office/drawing/2014/main" id="{9F04123D-C411-C886-2285-F50BD456F016}"/>
              </a:ext>
            </a:extLst>
          </p:cNvPr>
          <p:cNvSpPr/>
          <p:nvPr/>
        </p:nvSpPr>
        <p:spPr>
          <a:xfrm>
            <a:off x="1531620" y="4844660"/>
            <a:ext cx="722193" cy="104607"/>
          </a:xfrm>
          <a:prstGeom prst="rect">
            <a:avLst/>
          </a:prstGeom>
          <a:solidFill>
            <a:srgbClr val="F0F2F5"/>
          </a:solidFill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ctr">
              <a:buNone/>
              <a:defRPr>
                <a:solidFill>
                  <a:srgbClr val="1D2B47"/>
                </a:solidFill>
              </a:defRPr>
            </a:pPr>
            <a:r>
              <a:rPr lang="es-MX" sz="500" noProof="0" dirty="0">
                <a:solidFill>
                  <a:srgbClr val="1D2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Reconciliaciones</a:t>
            </a:r>
            <a:endParaRPr lang="es-MX" sz="5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6A265388-A23D-4B92-A64A-5A686A9B69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554A52-0E77-482D-A6BB-1E1E2BA1A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BC95A2-6ED5-4EFD-9801-042807E006AB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926</Words>
  <Application>Microsoft Office PowerPoint</Application>
  <PresentationFormat>Widescreen</PresentationFormat>
  <Paragraphs>251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Servicios Financieros Coppel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- Arquitectura Empresarial de Referencia</dc:title>
  <dc:subject>UNITY Enterprise Architecture L1 L2 L3 Capability Map</dc:subject>
  <dc:creator>OpenAI</dc:creator>
  <cp:lastModifiedBy>Antonio Pichardo, Joaquín Ernesto</cp:lastModifiedBy>
  <cp:revision>2</cp:revision>
  <dcterms:created xsi:type="dcterms:W3CDTF">2026-07-30T22:14:29Z</dcterms:created>
  <dcterms:modified xsi:type="dcterms:W3CDTF">2026-08-10T23:33:23Z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