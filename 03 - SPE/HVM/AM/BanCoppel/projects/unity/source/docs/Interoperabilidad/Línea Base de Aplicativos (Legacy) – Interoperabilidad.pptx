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3" r:id="rId10"/>
    <p:sldId id="264" r:id="rId11"/>
    <p:sldId id="265" r:id="rId12"/>
    <p:sldId id="266" r:id="rId13"/>
    <p:sldId id="261" r:id="rId14"/>
    <p:sldId id="262" r:id="rId15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llena, Jose" userId="eadb7e09-7b37-48d9-b51e-4fa15d8fe010" providerId="ADAL" clId="{B3520F0D-3DEA-4580-B5AC-1B6B5994B701}"/>
    <pc:docChg chg="modSld sldOrd">
      <pc:chgData name="Villena, Jose" userId="eadb7e09-7b37-48d9-b51e-4fa15d8fe010" providerId="ADAL" clId="{B3520F0D-3DEA-4580-B5AC-1B6B5994B701}" dt="2026-08-14T23:24:41.775" v="3"/>
      <pc:docMkLst>
        <pc:docMk/>
      </pc:docMkLst>
      <pc:sldChg chg="ord">
        <pc:chgData name="Villena, Jose" userId="eadb7e09-7b37-48d9-b51e-4fa15d8fe010" providerId="ADAL" clId="{B3520F0D-3DEA-4580-B5AC-1B6B5994B701}" dt="2026-08-14T23:24:31.696" v="1"/>
        <pc:sldMkLst>
          <pc:docMk/>
          <pc:sldMk cId="0" sldId="261"/>
        </pc:sldMkLst>
      </pc:sldChg>
      <pc:sldChg chg="ord">
        <pc:chgData name="Villena, Jose" userId="eadb7e09-7b37-48d9-b51e-4fa15d8fe010" providerId="ADAL" clId="{B3520F0D-3DEA-4580-B5AC-1B6B5994B701}" dt="2026-08-14T23:24:41.775" v="3"/>
        <pc:sldMkLst>
          <pc:docMk/>
          <pc:sldMk cId="0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Estrategia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2B3-4124-8D1D-33ED35D3D118}"/>
              </c:ext>
            </c:extLst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B3-4124-8D1D-33ED35D3D118}"/>
              </c:ext>
            </c:extLst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2B3-4124-8D1D-33ED35D3D118}"/>
              </c:ext>
            </c:extLst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2B3-4124-8D1D-33ED35D3D118}"/>
              </c:ext>
            </c:extLst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2B3-4124-8D1D-33ED35D3D11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Sin Definir</c:v>
                </c:pt>
                <c:pt idx="1">
                  <c:v>Invertir</c:v>
                </c:pt>
                <c:pt idx="2">
                  <c:v>Tolerar</c:v>
                </c:pt>
                <c:pt idx="3">
                  <c:v>Migrar</c:v>
                </c:pt>
                <c:pt idx="4">
                  <c:v>Eliminar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32</c:v>
                </c:pt>
                <c:pt idx="2">
                  <c:v>16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2B3-4124-8D1D-33ED35D3D1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2136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12161520" cy="2103120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DE APLICATIVOS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Interoperabilidad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· Sub-Dominio · Capacidad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5029200"/>
            <a:ext cx="2377440" cy="1280160"/>
          </a:xfrm>
          <a:prstGeom prst="rect">
            <a:avLst/>
          </a:prstGeom>
          <a:solidFill>
            <a:srgbClr val="162D4A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5074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5669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5029200"/>
            <a:ext cx="2377440" cy="1280160"/>
          </a:xfrm>
          <a:prstGeom prst="rect">
            <a:avLst/>
          </a:prstGeom>
          <a:solidFill>
            <a:srgbClr val="162D4A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474720" y="5074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5669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Interoperabilidad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5029200"/>
            <a:ext cx="2377440" cy="1280160"/>
          </a:xfrm>
          <a:prstGeom prst="rect">
            <a:avLst/>
          </a:prstGeom>
          <a:solidFill>
            <a:srgbClr val="162D4A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217920" y="5074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5669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5029200"/>
            <a:ext cx="2377440" cy="1280160"/>
          </a:xfrm>
          <a:prstGeom prst="rect">
            <a:avLst/>
          </a:prstGeom>
          <a:solidFill>
            <a:srgbClr val="162D4A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961120" y="5074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961120" y="5669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7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MasTipo · Arquitectura Empresarial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Recomendada (APO) — Semáforo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486400" cy="21945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64592" cy="2194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21792" y="13258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Invertir (Innovar)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estratégico con alto potencial. Se recomienda inversión activa en innovación, modernización y escalabilidad.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aplicativos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5486400" cy="21945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164592" cy="2194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382512" y="13258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Tolerar (Mantener)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82512" y="17373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funcional pero con limitaciones. Se mantiene operativo mientras se evalúa una evolución futura o migración.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82512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aplicativos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5486400" cy="21945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164592" cy="2194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21792" y="3886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Migrar (Transformar)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" y="42976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con deuda técnica significativa. Se requiere migración a nuevas plataformas o transformación arquitectónica.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" y="5486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aplicativos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5486400" cy="21945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6126480" y="3749040"/>
            <a:ext cx="164592" cy="2194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382512" y="3886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Eliminar (Deprecar)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82512" y="42976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obsoleto o duplicado. Se recomienda su retiro del portafolio para reducir complejidad y costos.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82512" y="5486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aplicativos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por Estrategia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685800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188720"/>
            <a:ext cx="4389120" cy="8686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7498080" y="1188720"/>
            <a:ext cx="109728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680960" y="12618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(Innovar)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80960" y="16276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aplicativos  (25%)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98080" y="2240280"/>
            <a:ext cx="438912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7498080" y="2240280"/>
            <a:ext cx="109728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7680960" y="23134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Tolerar (Mantener)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680960" y="26791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aplicativos  (12%)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498080" y="3291840"/>
            <a:ext cx="438912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7498080" y="3291840"/>
            <a:ext cx="10972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7680960" y="33649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(Transformar)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680960" y="37307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aplicativos  (8%)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498080" y="4343400"/>
            <a:ext cx="4389120" cy="8686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7498080" y="4343400"/>
            <a:ext cx="109728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7680960" y="44165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(Deprecar)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680960" y="47823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aplicativos  (8%)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498080" y="5394960"/>
            <a:ext cx="438912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7498080" y="5394960"/>
            <a:ext cx="109728" cy="8686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7680960" y="54681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Definir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680960" y="5833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aplicativos  (46%)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Interoperabilidad — 3 Niveles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374904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8288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1: Dominio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1005840"/>
            <a:ext cx="374904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16052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2: Sub-Dominio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1005840"/>
            <a:ext cx="374904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13816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3: Capacidad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508760"/>
            <a:ext cx="3749040" cy="5669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82880" y="15087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apps)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0520" y="1508760"/>
            <a:ext cx="37490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160520" y="1508760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Identidad y Acceso (7)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84048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13816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usuarios, políticas y credenciales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autenticación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82880" y="2130552"/>
            <a:ext cx="3749040" cy="17190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82880" y="2130552"/>
            <a:ext cx="374904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Empresariales Comunes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 apps)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60520" y="2130552"/>
            <a:ext cx="37490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160520" y="2130552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al Cliente y las partes (12)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138160" y="2130552"/>
            <a:ext cx="384048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138160" y="2130552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datos del cliente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160520" y="2496312"/>
            <a:ext cx="374904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160520" y="2496312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Límites y Riesgos (6)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138160" y="2496312"/>
            <a:ext cx="384048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8138160" y="2496312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calificación de riesgo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160520" y="2862072"/>
            <a:ext cx="37490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160520" y="2862072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Documentos y Contenidos (3)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138160" y="2862072"/>
            <a:ext cx="384048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8138160" y="2862072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Captura, almacenamiento y recuperación de documentos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160520" y="3227832"/>
            <a:ext cx="374904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160520" y="3227832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 Servicios de Confianza (1)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38160" y="3227832"/>
            <a:ext cx="384048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8138160" y="3227832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firma y verificación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82880" y="3904488"/>
            <a:ext cx="3749040" cy="56692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182880" y="390448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Datos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apps)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60520" y="3904488"/>
            <a:ext cx="37490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4160520" y="3904488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Canalizaciones y Entrega de Datos (2)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138160" y="3904488"/>
            <a:ext cx="384048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8138160" y="3904488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Replicación de datos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82880" y="4526280"/>
            <a:ext cx="3749040" cy="133502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182880" y="4526280"/>
            <a:ext cx="374904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 apps)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60520" y="4526280"/>
            <a:ext cx="37490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4160520" y="4526280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 (2)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138160" y="4526280"/>
            <a:ext cx="384048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8138160" y="4526280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salud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160520" y="4892040"/>
            <a:ext cx="374904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4160520" y="4892040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Analítica e Informes (3)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138160" y="4892040"/>
            <a:ext cx="384048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8138160" y="4892040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informes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160520" y="5257800"/>
            <a:ext cx="37490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4160520" y="5257800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Paneles (4)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138160" y="5257800"/>
            <a:ext cx="384048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8138160" y="5257800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 de negocio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 técnicos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82880" y="5916168"/>
            <a:ext cx="3749040" cy="566928"/>
          </a:xfrm>
          <a:prstGeom prst="rect">
            <a:avLst/>
          </a:prstGeom>
          <a:solidFill>
            <a:srgbClr val="854D0E"/>
          </a:solidFill>
          <a:ln w="12700">
            <a:solidFill>
              <a:srgbClr val="854D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182880" y="591616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de procesos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apps)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160520" y="5916168"/>
            <a:ext cx="37490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4160520" y="5916168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flujo de trabajo (1)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138160" y="5916168"/>
            <a:ext cx="384048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8138160" y="5916168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flujos de trabajo y coordinación de pasos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1.0 Seguridad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1143000"/>
            <a:ext cx="117957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Sub-Dominio: 1.1  Gestión de Identidad y Acceso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0" y="1143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aplicativos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⚡ Administración de usuarios, políticas y credenciales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de token (CAS)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0" y="1828800"/>
            <a:ext cx="301752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686800" y="18288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Migrar (Transformar)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2121408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⚡ Servicios de autenticación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395728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94360" y="239572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Autentificación de token RSA/Gemalto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686800" y="2441448"/>
            <a:ext cx="301752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686800" y="244144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Tolerar (Mantener)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2734056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94360" y="273405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Autentificación de Token RSA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0" y="2779776"/>
            <a:ext cx="301752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8686800" y="277977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Invertir (Innovar)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" y="3072384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94360" y="307238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686800" y="3118104"/>
            <a:ext cx="301752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8686800" y="311810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Tolerar (Mantener)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" y="3410712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94360" y="341071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Rostros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686800" y="3456432"/>
            <a:ext cx="301752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686800" y="345643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Tolerar (Mantener)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" y="3749040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594360" y="3749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Huellas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686800" y="3794760"/>
            <a:ext cx="301752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8686800" y="37947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Tolerar (Mantener)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640" y="4087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+ 1 más…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2.0 Observabilidad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1143000"/>
            <a:ext cx="117957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Sub-Dominio: 2.1  Monitorización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0" y="1143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aplicativos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⚡ Monitoreo de salud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Netxms Monitor ATM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0" y="1828800"/>
            <a:ext cx="301752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686800" y="18288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Invertir (Innovar)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" y="2231136"/>
            <a:ext cx="117957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20040" y="223113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Sub-Dominio: 2.4  Métricas, Analítica e Informes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0" y="22311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aplicativos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596896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⚡ Generación de informes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871216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94360" y="287121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Audisoft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0" y="2916936"/>
            <a:ext cx="301752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686800" y="29169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Invertir (Innovar)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" y="3319272"/>
            <a:ext cx="117957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20040" y="33192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Sub-Dominio: 2.5 Paneles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0" y="33192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aplicativos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68503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⚡ Tableros de negocio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3959352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94360" y="395935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 Operaciones BPI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686800" y="4005072"/>
            <a:ext cx="301752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8686800" y="400507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Tolerar (Mantener)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4297680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594360" y="42976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Monitor Transaccional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686800" y="4343400"/>
            <a:ext cx="301752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8686800" y="43434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Invertir (Innovar)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920" y="4636008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94360" y="46360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General (SPL)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686800" y="4681728"/>
            <a:ext cx="3017520" cy="22860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8686800" y="468172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Sin Definir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5760" y="4974336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⚡ Tableros técnicos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" y="5248656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594360" y="524865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Monitor Transaccional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686800" y="5294376"/>
            <a:ext cx="301752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8686800" y="529437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Invertir (Innovar)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4.0 Servicios de Gateway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1143000"/>
            <a:ext cx="117957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Sub-Dominio: 4.1  Servicios de pasarela entrantes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0" y="1143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aplicativos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618488"/>
            <a:ext cx="117957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6184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Sub-Dominio: 4.3  Ecosistema y ventaja de Open Banking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0" y="16184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aplicativos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984248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⚡ Capa perimetral de banca abierta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258568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94360" y="225856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OpenBanking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86800" y="2304288"/>
            <a:ext cx="301752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686800" y="230428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Tolerar (Mantener)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2596896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94360" y="259689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servicios Coppel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86800" y="2642616"/>
            <a:ext cx="3017520" cy="22860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8686800" y="264261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Sin Definir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8.0 Orquestación de Servicios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1143000"/>
            <a:ext cx="117957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Sub-Dominio: 8.2  Marco de Integración y Mediación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0" y="1143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aplicativos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⚡ Puente de protocolos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 Router (21)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0" y="1828800"/>
            <a:ext cx="301752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686800" y="18288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Invertir (Innovar)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2121408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4360" y="21214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IBM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0" y="2167128"/>
            <a:ext cx="301752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686800" y="216712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Migrar (Transformar)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" y="2569464"/>
            <a:ext cx="117957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20040" y="256946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Sub-Dominio: 8.4  Adaptadores heredados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0" y="25694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aplicativos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293522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⚡ Interfaces heredadas de procesamiento por lotes y sincronización de datos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209544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94360" y="320954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Inets (servicios para Coppel)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686800" y="3255264"/>
            <a:ext cx="3017520" cy="22860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8686800" y="325526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Sin Definir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854D0E"/>
          </a:solidFill>
          <a:ln w="12700">
            <a:solidFill>
              <a:srgbClr val="854D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9.0 Orquestación de procesos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1143000"/>
            <a:ext cx="117957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Sub-Dominio: 9.1  Servicios de flujo de trabajo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0" y="1143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aplicativos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⚡ Ejecución de flujos de trabajo y coordinación de pasos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(Robots)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0" y="1828800"/>
            <a:ext cx="301752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686800" y="18288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Invertir (Innovar)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10.0 Servicios Empresariales Comunes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1143000"/>
            <a:ext cx="117957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Sub-Dominio: 10.1  Servicios al Cliente y las partes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0" y="1143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aplicativos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⚡ Servicio de datos del cliente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INE (Bus INE 4.0)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0" y="1828800"/>
            <a:ext cx="301752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686800" y="18288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Migrar (Transformar)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2121408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4360" y="21214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0" y="2167128"/>
            <a:ext cx="301752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686800" y="216712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Migrar (Transformar)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2459736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94360" y="245973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Latinia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0" y="2505456"/>
            <a:ext cx="301752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686800" y="250545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Tolerar (Mantener)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2798064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94360" y="279806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ARCO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686800" y="2843784"/>
            <a:ext cx="301752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8686800" y="284378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Invertir (Innovar)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" y="3136392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94360" y="313639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Dictamen Unificado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686800" y="3182112"/>
            <a:ext cx="3017520" cy="22860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8686800" y="318211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Sin Definir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" y="3474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+ 7 más…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" y="3840480"/>
            <a:ext cx="117957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20040" y="3840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Sub-Dominio: 10.3  Servicios de Límites y Riesgos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01200" y="3840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aplicativos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206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⚡ Servicios de calificación de riesgo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4480560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594360" y="4480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Unilogic (Risk Logic)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686800" y="4526280"/>
            <a:ext cx="301752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868680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Invertir (Innovar)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2920" y="4818888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594360" y="481888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Fraudes (SPL)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686800" y="4864608"/>
            <a:ext cx="3017520" cy="22860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8686800" y="48646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Sin Definir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2920" y="5157216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594360" y="515721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Evaluación de Crédito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686800" y="5202936"/>
            <a:ext cx="301752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8686800" y="52029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Invertir (Innovar)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02920" y="5495544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594360" y="549554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SICC´s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686800" y="5541264"/>
            <a:ext cx="3017520" cy="22860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8686800" y="554126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Sin Definir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920" y="5833872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594360" y="583387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686800" y="5879592"/>
            <a:ext cx="301752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8686800" y="58795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Tolerar (Mantener)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82880" y="6281928"/>
            <a:ext cx="117957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320040" y="628192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Sub-Dominio: 10.5  Servicios de Documentos y Contenidos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601200" y="62819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aplicativos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11.0 Entrega de Datos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1143000"/>
            <a:ext cx="117957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Sub-Dominio: 11.2  Canalizaciones y Entrega de Datos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0" y="1143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aplicativos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⚡ Replicación de datos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Replicación de Empleados (INET)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0" y="1828800"/>
            <a:ext cx="3017520" cy="22860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686800" y="18288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Sin Definir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2121408"/>
            <a:ext cx="114300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4360" y="21214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Replicadores Coppel / Bancoppel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0" y="2167128"/>
            <a:ext cx="3017520" cy="22860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686800" y="216712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Sin Definir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1463040"/>
          </a:xfrm>
          <a:prstGeom prst="rect">
            <a:avLst/>
          </a:prstGeom>
          <a:solidFill>
            <a:srgbClr val="162D4A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14400" y="15361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32  (25%)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993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(Innovar)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Aplicativos estratégicos con inversión activa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120640" cy="1463040"/>
          </a:xfrm>
          <a:prstGeom prst="rect">
            <a:avLst/>
          </a:prstGeom>
          <a:solidFill>
            <a:srgbClr val="162D4A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400800" y="15361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16  (12%)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1993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Tolerar (Mantener)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Aplicativos funcionales en evaluación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5120640" cy="1463040"/>
          </a:xfrm>
          <a:prstGeom prst="rect">
            <a:avLst/>
          </a:prstGeom>
          <a:solidFill>
            <a:srgbClr val="162D4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914400" y="33649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11  (8%)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3822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(Transformar)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transformación arquitectónica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200400"/>
            <a:ext cx="5120640" cy="1463040"/>
          </a:xfrm>
          <a:prstGeom prst="rect">
            <a:avLst/>
          </a:prstGeom>
          <a:solidFill>
            <a:srgbClr val="162D4A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400800" y="33649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11  (8%)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3822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(Deprecar)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a retiro del portafolio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6035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A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de 130 aplicativos cuentan con mapeo de interoperabilidad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B923FE-32F1-4DCC-8022-CE3B14F485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f21e1d-e7b2-4ba8-bb72-ca5e3ff425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B94572B-725E-47B3-A66C-F5AAFB742C83}">
  <ds:schemaRefs>
    <ds:schemaRef ds:uri="http://schemas.microsoft.com/office/2006/metadata/properties"/>
    <ds:schemaRef ds:uri="http://schemas.microsoft.com/office/infopath/2007/PartnerControls"/>
    <ds:schemaRef ds:uri="bcf21e1d-e7b2-4ba8-bb72-ca5e3ff425f9"/>
  </ds:schemaRefs>
</ds:datastoreItem>
</file>

<file path=customXml/itemProps3.xml><?xml version="1.0" encoding="utf-8"?>
<ds:datastoreItem xmlns:ds="http://schemas.openxmlformats.org/officeDocument/2006/customXml" ds:itemID="{D5B45304-DCC2-4612-84DD-98C5154C386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937</Words>
  <Application>Microsoft Office PowerPoint</Application>
  <PresentationFormat>Widescreen</PresentationFormat>
  <Paragraphs>206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Villena, Jose</cp:lastModifiedBy>
  <cp:revision>1</cp:revision>
  <dcterms:created xsi:type="dcterms:W3CDTF">2026-08-14T00:52:13Z</dcterms:created>
  <dcterms:modified xsi:type="dcterms:W3CDTF">2026-08-14T23:24:51Z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</Properties>
</file>