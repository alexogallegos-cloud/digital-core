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0"/>
  </p:notesMasterIdLst>
  <p:sldIdLst>
    <p:sldId id="444" r:id="rId5"/>
    <p:sldId id="265" r:id="rId6"/>
    <p:sldId id="266" r:id="rId7"/>
    <p:sldId id="422" r:id="rId8"/>
    <p:sldId id="445" r:id="rId9"/>
    <p:sldId id="315" r:id="rId10"/>
    <p:sldId id="414" r:id="rId11"/>
    <p:sldId id="462" r:id="rId12"/>
    <p:sldId id="416" r:id="rId13"/>
    <p:sldId id="417" r:id="rId14"/>
    <p:sldId id="446" r:id="rId15"/>
    <p:sldId id="447" r:id="rId16"/>
    <p:sldId id="390" r:id="rId17"/>
    <p:sldId id="443" r:id="rId18"/>
    <p:sldId id="466" r:id="rId19"/>
    <p:sldId id="463" r:id="rId20"/>
    <p:sldId id="465" r:id="rId21"/>
    <p:sldId id="464" r:id="rId22"/>
    <p:sldId id="467" r:id="rId23"/>
    <p:sldId id="468" r:id="rId24"/>
    <p:sldId id="469" r:id="rId25"/>
    <p:sldId id="470" r:id="rId26"/>
    <p:sldId id="450" r:id="rId27"/>
    <p:sldId id="451" r:id="rId28"/>
    <p:sldId id="459" r:id="rId29"/>
    <p:sldId id="449" r:id="rId30"/>
    <p:sldId id="448" r:id="rId31"/>
    <p:sldId id="457" r:id="rId32"/>
    <p:sldId id="455" r:id="rId33"/>
    <p:sldId id="453" r:id="rId34"/>
    <p:sldId id="454" r:id="rId35"/>
    <p:sldId id="460" r:id="rId36"/>
    <p:sldId id="458" r:id="rId37"/>
    <p:sldId id="456" r:id="rId38"/>
    <p:sldId id="452" r:id="rId39"/>
    <p:sldId id="362" r:id="rId40"/>
    <p:sldId id="442" r:id="rId41"/>
    <p:sldId id="334" r:id="rId42"/>
    <p:sldId id="282" r:id="rId43"/>
    <p:sldId id="333" r:id="rId44"/>
    <p:sldId id="358" r:id="rId45"/>
    <p:sldId id="335" r:id="rId46"/>
    <p:sldId id="338" r:id="rId47"/>
    <p:sldId id="341" r:id="rId48"/>
    <p:sldId id="441" r:id="rId49"/>
    <p:sldId id="344" r:id="rId50"/>
    <p:sldId id="342" r:id="rId51"/>
    <p:sldId id="339" r:id="rId52"/>
    <p:sldId id="340" r:id="rId53"/>
    <p:sldId id="343" r:id="rId54"/>
    <p:sldId id="350" r:id="rId55"/>
    <p:sldId id="351" r:id="rId56"/>
    <p:sldId id="352" r:id="rId57"/>
    <p:sldId id="353" r:id="rId58"/>
    <p:sldId id="35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6E6DC"/>
    <a:srgbClr val="750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22A73C-8A52-465B-B1CE-CA63AB37BD49}" v="2" dt="2026-08-13T00:36:02.1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820" autoAdjust="0"/>
  </p:normalViewPr>
  <p:slideViewPr>
    <p:cSldViewPr snapToGrid="0">
      <p:cViewPr varScale="1">
        <p:scale>
          <a:sx n="116" d="100"/>
          <a:sy n="116" d="100"/>
        </p:scale>
        <p:origin x="2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llena, Jose" userId="eadb7e09-7b37-48d9-b51e-4fa15d8fe010" providerId="ADAL" clId="{B3520F0D-3DEA-4580-B5AC-1B6B5994B701}"/>
    <pc:docChg chg="undo custSel addSld modSld">
      <pc:chgData name="Villena, Jose" userId="eadb7e09-7b37-48d9-b51e-4fa15d8fe010" providerId="ADAL" clId="{B3520F0D-3DEA-4580-B5AC-1B6B5994B701}" dt="2026-08-13T00:36:56.015" v="145" actId="1076"/>
      <pc:docMkLst>
        <pc:docMk/>
      </pc:docMkLst>
      <pc:sldChg chg="addSp modSp mod">
        <pc:chgData name="Villena, Jose" userId="eadb7e09-7b37-48d9-b51e-4fa15d8fe010" providerId="ADAL" clId="{B3520F0D-3DEA-4580-B5AC-1B6B5994B701}" dt="2026-08-13T00:03:45.639" v="19" actId="20577"/>
        <pc:sldMkLst>
          <pc:docMk/>
          <pc:sldMk cId="0" sldId="467"/>
        </pc:sldMkLst>
        <pc:spChg chg="add mod">
          <ac:chgData name="Villena, Jose" userId="eadb7e09-7b37-48d9-b51e-4fa15d8fe010" providerId="ADAL" clId="{B3520F0D-3DEA-4580-B5AC-1B6B5994B701}" dt="2026-08-13T00:03:45.639" v="19" actId="20577"/>
          <ac:spMkLst>
            <pc:docMk/>
            <pc:sldMk cId="0" sldId="467"/>
            <ac:spMk id="530" creationId="{C303BDDC-0A10-58B8-5161-6EE2ECC7432D}"/>
          </ac:spMkLst>
        </pc:spChg>
      </pc:sldChg>
      <pc:sldChg chg="addSp delSp modSp mod">
        <pc:chgData name="Villena, Jose" userId="eadb7e09-7b37-48d9-b51e-4fa15d8fe010" providerId="ADAL" clId="{B3520F0D-3DEA-4580-B5AC-1B6B5994B701}" dt="2026-08-13T00:20:22.215" v="80" actId="1076"/>
        <pc:sldMkLst>
          <pc:docMk/>
          <pc:sldMk cId="0" sldId="468"/>
        </pc:sldMkLst>
        <pc:spChg chg="add del mod">
          <ac:chgData name="Villena, Jose" userId="eadb7e09-7b37-48d9-b51e-4fa15d8fe010" providerId="ADAL" clId="{B3520F0D-3DEA-4580-B5AC-1B6B5994B701}" dt="2026-08-13T00:03:30.211" v="3" actId="478"/>
          <ac:spMkLst>
            <pc:docMk/>
            <pc:sldMk cId="0" sldId="468"/>
            <ac:spMk id="541" creationId="{55F1541E-B1A3-5312-4F9F-86E5E023335E}"/>
          </ac:spMkLst>
        </pc:spChg>
        <pc:spChg chg="add mod">
          <ac:chgData name="Villena, Jose" userId="eadb7e09-7b37-48d9-b51e-4fa15d8fe010" providerId="ADAL" clId="{B3520F0D-3DEA-4580-B5AC-1B6B5994B701}" dt="2026-08-13T00:20:22.215" v="80" actId="1076"/>
          <ac:spMkLst>
            <pc:docMk/>
            <pc:sldMk cId="0" sldId="468"/>
            <ac:spMk id="542" creationId="{B38BA994-F120-F6D6-D23D-61114751F30B}"/>
          </ac:spMkLst>
        </pc:spChg>
      </pc:sldChg>
      <pc:sldChg chg="addSp modSp add mod">
        <pc:chgData name="Villena, Jose" userId="eadb7e09-7b37-48d9-b51e-4fa15d8fe010" providerId="ADAL" clId="{B3520F0D-3DEA-4580-B5AC-1B6B5994B701}" dt="2026-08-13T00:26:44.746" v="130" actId="404"/>
        <pc:sldMkLst>
          <pc:docMk/>
          <pc:sldMk cId="0" sldId="469"/>
        </pc:sldMkLst>
        <pc:spChg chg="add mod">
          <ac:chgData name="Villena, Jose" userId="eadb7e09-7b37-48d9-b51e-4fa15d8fe010" providerId="ADAL" clId="{B3520F0D-3DEA-4580-B5AC-1B6B5994B701}" dt="2026-08-13T00:26:44.746" v="130" actId="404"/>
          <ac:spMkLst>
            <pc:docMk/>
            <pc:sldMk cId="0" sldId="469"/>
            <ac:spMk id="305" creationId="{AE275541-ED70-4681-4DAA-39299E2C1348}"/>
          </ac:spMkLst>
        </pc:spChg>
      </pc:sldChg>
      <pc:sldChg chg="addSp modSp add mod">
        <pc:chgData name="Villena, Jose" userId="eadb7e09-7b37-48d9-b51e-4fa15d8fe010" providerId="ADAL" clId="{B3520F0D-3DEA-4580-B5AC-1B6B5994B701}" dt="2026-08-13T00:36:56.015" v="145" actId="1076"/>
        <pc:sldMkLst>
          <pc:docMk/>
          <pc:sldMk cId="0" sldId="470"/>
        </pc:sldMkLst>
        <pc:spChg chg="mod">
          <ac:chgData name="Villena, Jose" userId="eadb7e09-7b37-48d9-b51e-4fa15d8fe010" providerId="ADAL" clId="{B3520F0D-3DEA-4580-B5AC-1B6B5994B701}" dt="2026-08-13T00:36:56.015" v="145" actId="1076"/>
          <ac:spMkLst>
            <pc:docMk/>
            <pc:sldMk cId="0" sldId="470"/>
            <ac:spMk id="250" creationId="{00000000-0000-0000-0000-000000000000}"/>
          </ac:spMkLst>
        </pc:spChg>
        <pc:spChg chg="add mod">
          <ac:chgData name="Villena, Jose" userId="eadb7e09-7b37-48d9-b51e-4fa15d8fe010" providerId="ADAL" clId="{B3520F0D-3DEA-4580-B5AC-1B6B5994B701}" dt="2026-08-13T00:36:52.273" v="143" actId="20577"/>
          <ac:spMkLst>
            <pc:docMk/>
            <pc:sldMk cId="0" sldId="470"/>
            <ac:spMk id="563" creationId="{23DC34EB-B581-D7A2-50DF-4CB1DBD22AE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D8439F-F0A5-4C0D-AD57-80E4C14A7F32}" type="datetimeFigureOut">
              <a:t>12/08/2026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AF1892-54DF-4B18-83C8-92F8FE765213}" type="slidenum">
              <a:t>‹#›</a:t>
            </a:fld>
            <a:endParaRPr lang="en-US"/>
          </a:p>
        </p:txBody>
      </p:sp>
    </p:spTree>
    <p:extLst>
      <p:ext uri="{BB962C8B-B14F-4D97-AF65-F5344CB8AC3E}">
        <p14:creationId xmlns:p14="http://schemas.microsoft.com/office/powerpoint/2010/main" val="229304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55065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072C5D8-91B8-40D4-9C9A-31EB0EF7358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7783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10</a:t>
            </a:fld>
            <a:endParaRPr lang="es-ES"/>
          </a:p>
        </p:txBody>
      </p:sp>
    </p:spTree>
    <p:extLst>
      <p:ext uri="{BB962C8B-B14F-4D97-AF65-F5344CB8AC3E}">
        <p14:creationId xmlns:p14="http://schemas.microsoft.com/office/powerpoint/2010/main" val="32664562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18</a:t>
            </a:fld>
            <a:endParaRPr lang="es-ES"/>
          </a:p>
        </p:txBody>
      </p:sp>
    </p:spTree>
    <p:extLst>
      <p:ext uri="{BB962C8B-B14F-4D97-AF65-F5344CB8AC3E}">
        <p14:creationId xmlns:p14="http://schemas.microsoft.com/office/powerpoint/2010/main" val="7417833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20</a:t>
            </a:fld>
            <a:endParaRPr lang="es-ES"/>
          </a:p>
        </p:txBody>
      </p:sp>
    </p:spTree>
    <p:extLst>
      <p:ext uri="{BB962C8B-B14F-4D97-AF65-F5344CB8AC3E}">
        <p14:creationId xmlns:p14="http://schemas.microsoft.com/office/powerpoint/2010/main" val="27256758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80EE857-C304-45B0-8088-656281E00E68}" type="slidenum">
              <a:rPr lang="en-US" smtClean="0"/>
              <a:t>32</a:t>
            </a:fld>
            <a:endParaRPr lang="en-US"/>
          </a:p>
        </p:txBody>
      </p:sp>
    </p:spTree>
    <p:extLst>
      <p:ext uri="{BB962C8B-B14F-4D97-AF65-F5344CB8AC3E}">
        <p14:creationId xmlns:p14="http://schemas.microsoft.com/office/powerpoint/2010/main" val="2270338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34</a:t>
            </a:fld>
            <a:endParaRPr lang="es-ES"/>
          </a:p>
        </p:txBody>
      </p:sp>
    </p:spTree>
    <p:extLst>
      <p:ext uri="{BB962C8B-B14F-4D97-AF65-F5344CB8AC3E}">
        <p14:creationId xmlns:p14="http://schemas.microsoft.com/office/powerpoint/2010/main" val="1808252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a:p>
        </p:txBody>
      </p:sp>
      <p:sp>
        <p:nvSpPr>
          <p:cNvPr id="4" name="Slide Number Placeholder 3"/>
          <p:cNvSpPr>
            <a:spLocks noGrp="1"/>
          </p:cNvSpPr>
          <p:nvPr>
            <p:ph type="sldNum" sz="quarter" idx="5"/>
          </p:nvPr>
        </p:nvSpPr>
        <p:spPr/>
        <p:txBody>
          <a:bodyPr/>
          <a:lstStyle/>
          <a:p>
            <a:fld id="{AAAF1892-54DF-4B18-83C8-92F8FE765213}" type="slidenum">
              <a:rPr lang="es-ES" smtClean="0"/>
              <a:t>35</a:t>
            </a:fld>
            <a:endParaRPr lang="es-ES"/>
          </a:p>
        </p:txBody>
      </p:sp>
    </p:spTree>
    <p:extLst>
      <p:ext uri="{BB962C8B-B14F-4D97-AF65-F5344CB8AC3E}">
        <p14:creationId xmlns:p14="http://schemas.microsoft.com/office/powerpoint/2010/main" val="4065839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 dirty="0"/>
          </a:p>
        </p:txBody>
      </p:sp>
      <p:sp>
        <p:nvSpPr>
          <p:cNvPr id="4" name="Slide Number Placeholder 3"/>
          <p:cNvSpPr>
            <a:spLocks noGrp="1"/>
          </p:cNvSpPr>
          <p:nvPr>
            <p:ph type="sldNum" sz="quarter" idx="5"/>
          </p:nvPr>
        </p:nvSpPr>
        <p:spPr/>
        <p:txBody>
          <a:bodyPr/>
          <a:lstStyle/>
          <a:p>
            <a:fld id="{AAAF1892-54DF-4B18-83C8-92F8FE765213}" type="slidenum">
              <a:rPr lang="es-ES" smtClean="0"/>
              <a:t>50</a:t>
            </a:fld>
            <a:endParaRPr lang="es-ES"/>
          </a:p>
        </p:txBody>
      </p:sp>
    </p:spTree>
    <p:extLst>
      <p:ext uri="{BB962C8B-B14F-4D97-AF65-F5344CB8AC3E}">
        <p14:creationId xmlns:p14="http://schemas.microsoft.com/office/powerpoint/2010/main" val="26411344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5_Title: Black7 Acquisition+Image">
    <p:bg>
      <p:bgPr>
        <a:solidFill>
          <a:schemeClr val="accent3"/>
        </a:solidFill>
        <a:effectLst/>
      </p:bgPr>
    </p:bg>
    <p:spTree>
      <p:nvGrpSpPr>
        <p:cNvPr id="1" name=""/>
        <p:cNvGrpSpPr/>
        <p:nvPr/>
      </p:nvGrpSpPr>
      <p:grpSpPr>
        <a:xfrm>
          <a:off x="0" y="0"/>
          <a:ext cx="0" cy="0"/>
          <a:chOff x="0" y="0"/>
          <a:chExt cx="0" cy="0"/>
        </a:xfrm>
      </p:grpSpPr>
      <p:pic>
        <p:nvPicPr>
          <p:cNvPr id="6" name="Picture 5" descr="Un tren atravesando un túnel&#10;&#10;Descripción generada automáticamente">
            <a:extLst>
              <a:ext uri="{FF2B5EF4-FFF2-40B4-BE49-F238E27FC236}">
                <a16:creationId xmlns:a16="http://schemas.microsoft.com/office/drawing/2014/main" id="{85C5FF8B-95C7-C551-B1CB-374F0F58FEC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7868" b="7868"/>
          <a:stretch/>
        </p:blipFill>
        <p:spPr>
          <a:xfrm>
            <a:off x="-7984" y="0"/>
            <a:ext cx="12207968" cy="6858000"/>
          </a:xfrm>
          <a:prstGeom prst="rect">
            <a:avLst/>
          </a:prstGeom>
        </p:spPr>
      </p:pic>
      <p:pic>
        <p:nvPicPr>
          <p:cNvPr id="3" name="Picture 2">
            <a:extLst>
              <a:ext uri="{FF2B5EF4-FFF2-40B4-BE49-F238E27FC236}">
                <a16:creationId xmlns:a16="http://schemas.microsoft.com/office/drawing/2014/main" id="{3619E561-A29C-8FA0-CBD7-3A266E6204AA}"/>
              </a:ext>
            </a:extLst>
          </p:cNvPr>
          <p:cNvPicPr>
            <a:picLocks noChangeAspect="1"/>
          </p:cNvPicPr>
          <p:nvPr userDrawn="1"/>
        </p:nvPicPr>
        <p:blipFill>
          <a:blip r:embed="rId3">
            <a:alphaModFix amt="52000"/>
            <a:extLst>
              <a:ext uri="{28A0092B-C50C-407E-A947-70E740481C1C}">
                <a14:useLocalDpi xmlns:a14="http://schemas.microsoft.com/office/drawing/2010/main" val="0"/>
              </a:ext>
            </a:extLst>
          </a:blip>
          <a:stretch/>
        </p:blipFill>
        <p:spPr>
          <a:xfrm>
            <a:off x="0" y="-823"/>
            <a:ext cx="12188952" cy="6858000"/>
          </a:xfrm>
          <a:prstGeom prst="rect">
            <a:avLst/>
          </a:prstGeom>
        </p:spPr>
      </p:pic>
      <p:sp>
        <p:nvSpPr>
          <p:cNvPr id="4" name="Rectangle 3">
            <a:extLst>
              <a:ext uri="{FF2B5EF4-FFF2-40B4-BE49-F238E27FC236}">
                <a16:creationId xmlns:a16="http://schemas.microsoft.com/office/drawing/2014/main" id="{5EDA6F70-65FF-FCD8-1B47-38ADD6F6B5FE}"/>
              </a:ext>
            </a:extLst>
          </p:cNvPr>
          <p:cNvSpPr/>
          <p:nvPr userDrawn="1"/>
        </p:nvSpPr>
        <p:spPr>
          <a:xfrm>
            <a:off x="0" y="0"/>
            <a:ext cx="6096000" cy="6858000"/>
          </a:xfrm>
          <a:prstGeom prst="rect">
            <a:avLst/>
          </a:prstGeom>
          <a:gradFill>
            <a:gsLst>
              <a:gs pos="0">
                <a:schemeClr val="bg1"/>
              </a:gs>
              <a:gs pos="100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IN" err="1"/>
          </a:p>
        </p:txBody>
      </p:sp>
      <p:sp>
        <p:nvSpPr>
          <p:cNvPr id="7" name="Title 1">
            <a:extLst>
              <a:ext uri="{FF2B5EF4-FFF2-40B4-BE49-F238E27FC236}">
                <a16:creationId xmlns:a16="http://schemas.microsoft.com/office/drawing/2014/main" id="{37524701-2790-4705-8FD4-F1B02CBB78FC}"/>
              </a:ext>
            </a:extLst>
          </p:cNvPr>
          <p:cNvSpPr>
            <a:spLocks noGrp="1"/>
          </p:cNvSpPr>
          <p:nvPr>
            <p:ph type="ctrTitle" hasCustomPrompt="1"/>
          </p:nvPr>
        </p:nvSpPr>
        <p:spPr bwMode="black">
          <a:xfrm>
            <a:off x="1090024" y="2737373"/>
            <a:ext cx="10027921" cy="1459477"/>
          </a:xfrm>
        </p:spPr>
        <p:txBody>
          <a:bodyPr anchor="b"/>
          <a:lstStyle>
            <a:lvl1pPr algn="l">
              <a:lnSpc>
                <a:spcPct val="90000"/>
              </a:lnSpc>
              <a:defRPr sz="4800" b="1">
                <a:solidFill>
                  <a:schemeClr val="tx1"/>
                </a:solidFill>
                <a:latin typeface="Graphik (Body)"/>
              </a:defRPr>
            </a:lvl1pPr>
          </a:lstStyle>
          <a:p>
            <a:r>
              <a:rPr lang="es"/>
              <a:t>Título del lugar</a:t>
            </a:r>
            <a:br>
              <a:rPr lang="en-US"/>
            </a:br>
            <a:r>
              <a:rPr lang="es"/>
              <a:t>aquí</a:t>
            </a:r>
          </a:p>
        </p:txBody>
      </p:sp>
      <p:sp>
        <p:nvSpPr>
          <p:cNvPr id="8" name="Subtitle 2">
            <a:extLst>
              <a:ext uri="{FF2B5EF4-FFF2-40B4-BE49-F238E27FC236}">
                <a16:creationId xmlns:a16="http://schemas.microsoft.com/office/drawing/2014/main" id="{E2B04ECA-6F5D-4ABE-B739-A5A491724792}"/>
              </a:ext>
            </a:extLst>
          </p:cNvPr>
          <p:cNvSpPr>
            <a:spLocks noGrp="1"/>
          </p:cNvSpPr>
          <p:nvPr>
            <p:ph type="subTitle" idx="1" hasCustomPrompt="1"/>
          </p:nvPr>
        </p:nvSpPr>
        <p:spPr bwMode="black">
          <a:xfrm>
            <a:off x="1090024" y="4355303"/>
            <a:ext cx="10027921" cy="481496"/>
          </a:xfrm>
        </p:spPr>
        <p:txBody>
          <a:bodyPr/>
          <a:lstStyle>
            <a:lvl1pPr marL="0" indent="0" algn="l">
              <a:lnSpc>
                <a:spcPct val="90000"/>
              </a:lnSpc>
              <a:spcAft>
                <a:spcPts val="1200"/>
              </a:spcAft>
              <a:buNone/>
              <a:defRPr sz="2000" b="0" i="0" spc="0">
                <a:solidFill>
                  <a:schemeClr val="tx1"/>
                </a:solidFill>
                <a:latin typeface="Graphik" panose="020B050303020206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s"/>
              <a:t>Coloca el subtítulo aquí en 20pt</a:t>
            </a:r>
            <a:endParaRPr lang="en-US"/>
          </a:p>
        </p:txBody>
      </p:sp>
      <p:sp>
        <p:nvSpPr>
          <p:cNvPr id="14" name="GTS_WH">
            <a:extLst>
              <a:ext uri="{FF2B5EF4-FFF2-40B4-BE49-F238E27FC236}">
                <a16:creationId xmlns:a16="http://schemas.microsoft.com/office/drawing/2014/main" id="{A319DDD6-88DD-4991-B24D-5A7AEE42F80E}"/>
              </a:ext>
              <a:ext uri="{C183D7F6-B498-43B3-948B-1728B52AA6E4}">
                <adec:decorative xmlns:adec="http://schemas.microsoft.com/office/drawing/2017/decorative" val="1"/>
              </a:ext>
            </a:extLst>
          </p:cNvPr>
          <p:cNvSpPr>
            <a:spLocks noChangeAspect="1"/>
          </p:cNvSpPr>
          <p:nvPr userDrawn="1"/>
        </p:nvSpPr>
        <p:spPr bwMode="auto">
          <a:xfrm>
            <a:off x="1090024" y="416469"/>
            <a:ext cx="546149" cy="599405"/>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3" name="Graphic 21">
            <a:extLst>
              <a:ext uri="{FF2B5EF4-FFF2-40B4-BE49-F238E27FC236}">
                <a16:creationId xmlns:a16="http://schemas.microsoft.com/office/drawing/2014/main" id="{8205AA92-7D23-457D-A2A1-B60A48C67F49}"/>
              </a:ext>
            </a:extLst>
          </p:cNvPr>
          <p:cNvSpPr/>
          <p:nvPr/>
        </p:nvSpPr>
        <p:spPr>
          <a:xfrm rot="5400000">
            <a:off x="384632" y="5388754"/>
            <a:ext cx="917291" cy="917291"/>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24" name="Graphic 21">
            <a:extLst>
              <a:ext uri="{FF2B5EF4-FFF2-40B4-BE49-F238E27FC236}">
                <a16:creationId xmlns:a16="http://schemas.microsoft.com/office/drawing/2014/main" id="{B85AA6E9-E996-4D63-B7FB-443282A480B4}"/>
              </a:ext>
            </a:extLst>
          </p:cNvPr>
          <p:cNvSpPr/>
          <p:nvPr userDrawn="1"/>
        </p:nvSpPr>
        <p:spPr>
          <a:xfrm rot="16200000">
            <a:off x="10555705" y="380999"/>
            <a:ext cx="1255295" cy="1255295"/>
          </a:xfrm>
          <a:custGeom>
            <a:avLst/>
            <a:gdLst>
              <a:gd name="connsiteX0" fmla="*/ 2324100 w 2324100"/>
              <a:gd name="connsiteY0" fmla="*/ 0 h 2324100"/>
              <a:gd name="connsiteX1" fmla="*/ 2324100 w 2324100"/>
              <a:gd name="connsiteY1" fmla="*/ 2324100 h 2324100"/>
              <a:gd name="connsiteX2" fmla="*/ 0 w 2324100"/>
              <a:gd name="connsiteY2" fmla="*/ 2324100 h 2324100"/>
            </a:gdLst>
            <a:ahLst/>
            <a:cxnLst>
              <a:cxn ang="0">
                <a:pos x="connsiteX0" y="connsiteY0"/>
              </a:cxn>
              <a:cxn ang="0">
                <a:pos x="connsiteX1" y="connsiteY1"/>
              </a:cxn>
              <a:cxn ang="0">
                <a:pos x="connsiteX2" y="connsiteY2"/>
              </a:cxn>
            </a:cxnLst>
            <a:rect l="l" t="t" r="r" b="b"/>
            <a:pathLst>
              <a:path w="2324100" h="2324100">
                <a:moveTo>
                  <a:pt x="2324100" y="0"/>
                </a:moveTo>
                <a:lnTo>
                  <a:pt x="2324100" y="2324100"/>
                </a:lnTo>
                <a:lnTo>
                  <a:pt x="0" y="2324100"/>
                </a:lnTo>
              </a:path>
            </a:pathLst>
          </a:custGeom>
          <a:noFill/>
          <a:ln w="19050" cap="flat">
            <a:solidFill>
              <a:schemeClr val="tx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14517179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Side stripe blan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119FEF2-BA68-89B0-0974-A87A45F4685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151" t="10096" r="38466" b="29520"/>
          <a:stretch/>
        </p:blipFill>
        <p:spPr bwMode="invGray">
          <a:xfrm>
            <a:off x="0" y="0"/>
            <a:ext cx="12188952" cy="6858000"/>
          </a:xfrm>
          <a:prstGeom prst="rect">
            <a:avLst/>
          </a:prstGeom>
        </p:spPr>
      </p:pic>
      <p:sp>
        <p:nvSpPr>
          <p:cNvPr id="5" name="Rectangle 4">
            <a:extLst>
              <a:ext uri="{FF2B5EF4-FFF2-40B4-BE49-F238E27FC236}">
                <a16:creationId xmlns:a16="http://schemas.microsoft.com/office/drawing/2014/main" id="{1377DAFA-3362-4425-8CD2-4290DB9845EC}"/>
              </a:ext>
            </a:extLst>
          </p:cNvPr>
          <p:cNvSpPr/>
          <p:nvPr userDrawn="1"/>
        </p:nvSpPr>
        <p:spPr>
          <a:xfrm>
            <a:off x="111967" y="0"/>
            <a:ext cx="1208003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Accenture GTS">
            <a:extLst>
              <a:ext uri="{FF2B5EF4-FFF2-40B4-BE49-F238E27FC236}">
                <a16:creationId xmlns:a16="http://schemas.microsoft.com/office/drawing/2014/main" id="{B4910298-83CA-2AFB-7BE4-D7DCA8F9B160}"/>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1000" y="6474701"/>
            <a:ext cx="190800" cy="209415"/>
          </a:xfrm>
          <a:prstGeom prst="rect">
            <a:avLst/>
          </a:prstGeom>
        </p:spPr>
      </p:pic>
      <p:sp>
        <p:nvSpPr>
          <p:cNvPr id="3" name="Footer Placeholder 4">
            <a:extLst>
              <a:ext uri="{FF2B5EF4-FFF2-40B4-BE49-F238E27FC236}">
                <a16:creationId xmlns:a16="http://schemas.microsoft.com/office/drawing/2014/main" id="{BE33DF40-0BA4-F87D-AF22-972ED99888C2}"/>
              </a:ext>
            </a:extLst>
          </p:cNvPr>
          <p:cNvSpPr>
            <a:spLocks noGrp="1"/>
          </p:cNvSpPr>
          <p:nvPr>
            <p:ph type="ftr" sz="quarter" idx="3"/>
          </p:nvPr>
        </p:nvSpPr>
        <p:spPr>
          <a:xfrm>
            <a:off x="8684895" y="6622818"/>
            <a:ext cx="3175200" cy="132523"/>
          </a:xfrm>
          <a:prstGeom prst="rect">
            <a:avLst/>
          </a:prstGeom>
        </p:spPr>
        <p:txBody>
          <a:bodyPr vert="horz" wrap="none" lIns="0" tIns="0" rIns="0" bIns="0" rtlCol="0" anchor="ctr">
            <a:noAutofit/>
          </a:bodyPr>
          <a:lstStyle>
            <a:lvl1pPr algn="r">
              <a:defRPr sz="800">
                <a:solidFill>
                  <a:schemeClr val="tx1">
                    <a:alpha val="65000"/>
                  </a:schemeClr>
                </a:solidFill>
              </a:defRPr>
            </a:lvl1pPr>
          </a:lstStyle>
          <a:p>
            <a:r>
              <a:rPr lang="es"/>
              <a:t>Copyright © 2025 Accenture. Todos los derechos reservados.</a:t>
            </a:r>
          </a:p>
        </p:txBody>
      </p:sp>
    </p:spTree>
    <p:extLst>
      <p:ext uri="{BB962C8B-B14F-4D97-AF65-F5344CB8AC3E}">
        <p14:creationId xmlns:p14="http://schemas.microsoft.com/office/powerpoint/2010/main" val="10716886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722738-7C96-E8CF-04DC-3D2F9296DDD7}"/>
              </a:ext>
            </a:extLst>
          </p:cNvPr>
          <p:cNvSpPr txBox="1"/>
          <p:nvPr userDrawn="1"/>
        </p:nvSpPr>
        <p:spPr>
          <a:xfrm>
            <a:off x="7986335" y="6657117"/>
            <a:ext cx="3855145" cy="140115"/>
          </a:xfrm>
          <a:prstGeom prst="rect">
            <a:avLst/>
          </a:prstGeom>
          <a:noFill/>
        </p:spPr>
        <p:txBody>
          <a:bodyPr wrap="square" lIns="0" tIns="0" rIns="0" bIns="0" rtlCol="0">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s" sz="800" b="0" i="0">
                <a:solidFill>
                  <a:schemeClr val="tx1">
                    <a:alpha val="50000"/>
                  </a:schemeClr>
                </a:solidFill>
                <a:latin typeface="Graphik" panose="020B0503030202060203" pitchFamily="34" charset="77"/>
              </a:rPr>
              <a:t>Copyright © 2025 Accenture. Todos los derechos reservados. Solo para uso interno</a:t>
            </a:r>
            <a:endParaRPr lang="en-US" sz="800" b="0" i="0">
              <a:solidFill>
                <a:schemeClr val="tx1">
                  <a:alpha val="50000"/>
                </a:schemeClr>
              </a:solidFill>
              <a:latin typeface="Graphik" panose="020B0503030202060203" pitchFamily="34" charset="77"/>
            </a:endParaRPr>
          </a:p>
          <a:p>
            <a:pPr algn="r" defTabSz="228600">
              <a:spcAft>
                <a:spcPts val="1200"/>
              </a:spcAft>
            </a:pPr>
            <a:endParaRPr lang="en-US" b="0" i="0" noProof="0">
              <a:solidFill>
                <a:schemeClr val="tx1">
                  <a:alpha val="50000"/>
                </a:schemeClr>
              </a:solidFill>
              <a:latin typeface="Graphik" panose="020B0503030202060203" pitchFamily="34" charset="77"/>
            </a:endParaRPr>
          </a:p>
        </p:txBody>
      </p:sp>
    </p:spTree>
    <p:extLst>
      <p:ext uri="{BB962C8B-B14F-4D97-AF65-F5344CB8AC3E}">
        <p14:creationId xmlns:p14="http://schemas.microsoft.com/office/powerpoint/2010/main" val="533618743"/>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dt="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400" kern="1200">
          <a:solidFill>
            <a:schemeClr val="tx1"/>
          </a:solidFill>
          <a:latin typeface="+mn-lt"/>
          <a:ea typeface="+mn-ea"/>
          <a:cs typeface="+mn-cs"/>
        </a:defRPr>
      </a:lvl2pPr>
      <a:lvl3pPr marL="914400" algn="l" defTabSz="914400" rtl="0" eaLnBrk="1" latinLnBrk="0" hangingPunct="1">
        <a:defRPr sz="1400" kern="1200">
          <a:solidFill>
            <a:schemeClr val="tx1"/>
          </a:solidFill>
          <a:latin typeface="+mn-lt"/>
          <a:ea typeface="+mn-ea"/>
          <a:cs typeface="+mn-cs"/>
        </a:defRPr>
      </a:lvl3pPr>
      <a:lvl4pPr marL="1371600" algn="l" defTabSz="914400" rtl="0" eaLnBrk="1" latinLnBrk="0" hangingPunct="1">
        <a:defRPr sz="1400" kern="1200">
          <a:solidFill>
            <a:schemeClr val="tx1"/>
          </a:solidFill>
          <a:latin typeface="+mn-lt"/>
          <a:ea typeface="+mn-ea"/>
          <a:cs typeface="+mn-cs"/>
        </a:defRPr>
      </a:lvl4pPr>
      <a:lvl5pPr marL="1828800" algn="l" defTabSz="914400" rtl="0" eaLnBrk="1" latinLnBrk="0" hangingPunct="1">
        <a:defRPr sz="1400" kern="1200">
          <a:solidFill>
            <a:schemeClr val="tx1"/>
          </a:solidFill>
          <a:latin typeface="+mn-lt"/>
          <a:ea typeface="+mn-ea"/>
          <a:cs typeface="+mn-cs"/>
        </a:defRPr>
      </a:lvl5pPr>
      <a:lvl6pPr marL="2286000" algn="l" defTabSz="914400" rtl="0" eaLnBrk="1" latinLnBrk="0" hangingPunct="1">
        <a:defRPr sz="1400" kern="1200">
          <a:solidFill>
            <a:schemeClr val="tx1"/>
          </a:solidFill>
          <a:latin typeface="+mn-lt"/>
          <a:ea typeface="+mn-ea"/>
          <a:cs typeface="+mn-cs"/>
        </a:defRPr>
      </a:lvl6pPr>
      <a:lvl7pPr marL="2743200" algn="l" defTabSz="914400" rtl="0" eaLnBrk="1" latinLnBrk="0" hangingPunct="1">
        <a:defRPr sz="1400" kern="1200">
          <a:solidFill>
            <a:schemeClr val="tx1"/>
          </a:solidFill>
          <a:latin typeface="+mn-lt"/>
          <a:ea typeface="+mn-ea"/>
          <a:cs typeface="+mn-cs"/>
        </a:defRPr>
      </a:lvl7pPr>
      <a:lvl8pPr marL="3200400" algn="l" defTabSz="914400" rtl="0" eaLnBrk="1" latinLnBrk="0" hangingPunct="1">
        <a:defRPr sz="1400" kern="1200">
          <a:solidFill>
            <a:schemeClr val="tx1"/>
          </a:solidFill>
          <a:latin typeface="+mn-lt"/>
          <a:ea typeface="+mn-ea"/>
          <a:cs typeface="+mn-cs"/>
        </a:defRPr>
      </a:lvl8pPr>
      <a:lvl9pPr marL="3657600" algn="l" defTabSz="9144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 Target="slide3.xml"/><Relationship Id="rId1" Type="http://schemas.openxmlformats.org/officeDocument/2006/relationships/slideLayout" Target="../slideLayouts/slideLayout2.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png"/><Relationship Id="rId5" Type="http://schemas.microsoft.com/office/2007/relationships/hdphoto" Target="../media/hdphoto1.wdp"/><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32.png"/><Relationship Id="rId4" Type="http://schemas.openxmlformats.org/officeDocument/2006/relationships/image" Target="../media/image31.png"/></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A4AD4-2923-9EA3-0435-14BBF92E40A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4303AB5D-6534-ECB0-CC9F-E90553B7EF8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C677428-B5B0-0397-7930-65E5ED50410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C6D7642A-C595-A717-05EE-87D17B840778}"/>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1B29711C-72F6-1415-6827-3616652CB011}"/>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01. </a:t>
            </a:r>
          </a:p>
        </p:txBody>
      </p:sp>
      <p:sp>
        <p:nvSpPr>
          <p:cNvPr id="15" name="Title 7">
            <a:extLst>
              <a:ext uri="{FF2B5EF4-FFF2-40B4-BE49-F238E27FC236}">
                <a16:creationId xmlns:a16="http://schemas.microsoft.com/office/drawing/2014/main" id="{2F77F5EF-E020-7D3E-769E-8FEBB8C9EF97}"/>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Conceptos fundamentales</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
        <p:nvSpPr>
          <p:cNvPr id="2" name="TextBox 1">
            <a:extLst>
              <a:ext uri="{FF2B5EF4-FFF2-40B4-BE49-F238E27FC236}">
                <a16:creationId xmlns:a16="http://schemas.microsoft.com/office/drawing/2014/main" id="{21A2D352-4764-FF7C-34BB-5B3FAF493F57}"/>
              </a:ext>
            </a:extLst>
          </p:cNvPr>
          <p:cNvSpPr txBox="1"/>
          <p:nvPr/>
        </p:nvSpPr>
        <p:spPr>
          <a:xfrm>
            <a:off x="5553075" y="2971800"/>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164924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65693-B91D-033D-FD45-70EEBFB7306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BAAB644B-FD1D-4C17-A370-FE8C50F04DD2}"/>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55" name="Subtitle 2">
            <a:extLst>
              <a:ext uri="{FF2B5EF4-FFF2-40B4-BE49-F238E27FC236}">
                <a16:creationId xmlns:a16="http://schemas.microsoft.com/office/drawing/2014/main" id="{071E4A91-1428-1069-0214-C97E410DCD3B}"/>
              </a:ext>
            </a:extLst>
          </p:cNvPr>
          <p:cNvSpPr txBox="1">
            <a:spLocks/>
          </p:cNvSpPr>
          <p:nvPr/>
        </p:nvSpPr>
        <p:spPr>
          <a:xfrm>
            <a:off x="5631501" y="1637499"/>
            <a:ext cx="5264428" cy="4357279"/>
          </a:xfrm>
          <a:prstGeom prst="rect">
            <a:avLst/>
          </a:prstGeom>
        </p:spPr>
        <p:txBody>
          <a:bodyPr vert="horz" lIns="0" tIns="0" rIns="0" bIns="0" rtlCol="0" anchor="t">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228600" rtl="0" eaLnBrk="1" fontAlgn="auto" latinLnBrk="0" hangingPunct="1">
              <a:lnSpc>
                <a:spcPct val="90000"/>
              </a:lnSpc>
              <a:spcBef>
                <a:spcPts val="600"/>
              </a:spcBef>
              <a:spcAft>
                <a:spcPts val="600"/>
              </a:spcAft>
              <a:buClrTx/>
              <a:buSzTx/>
              <a:buFontTx/>
              <a:buNone/>
              <a:tabLst/>
              <a:defRPr/>
            </a:pPr>
            <a:r>
              <a:rPr lang="es" sz="1200" b="0" i="0" dirty="0">
                <a:latin typeface="Graphik"/>
              </a:rPr>
              <a:t>Nuestra visión de la arquitectura de TI bancaria del futuro se basa en tres componentes principales:</a:t>
            </a:r>
            <a:endParaRPr kumimoji="0" lang="en-US" sz="16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algn="just" defTabSz="228600">
              <a:lnSpc>
                <a:spcPct val="90000"/>
              </a:lnSpc>
              <a:spcBef>
                <a:spcPts val="6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Un motor de "Banco of One"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basado en</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 IA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donde la mejor elección de productos, servicios y experiencias se crea individualmente para ajustarse perfectamente al contexto del cliente, utilizando las capacidades propias y del ecosistema del mercado de forma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proactiva</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el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momento y momento de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necesidad a través de todos los medios de interacción posibles. Esto requerirá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capacidades analíticas</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en todos los ámbitos y un sólido centro de datos orientado individualmente.</a:t>
            </a:r>
            <a:endParaRPr lang="en-US" sz="1200" dirty="0">
              <a:solidFill>
                <a:srgbClr val="000000">
                  <a:lumMod val="85000"/>
                  <a:lumOff val="15000"/>
                </a:srgbClr>
              </a:solidFill>
              <a:latin typeface="Graphik"/>
            </a:endParaRPr>
          </a:p>
          <a:p>
            <a:pPr marL="342900" algn="just" defTabSz="228600">
              <a:spcBef>
                <a:spcPts val="1800"/>
              </a:spcBef>
              <a:spcAft>
                <a:spcPts val="600"/>
              </a:spcAft>
              <a:defRPr/>
            </a:pP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Motor</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de abstracción </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de Interoperabilidad</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que asegura el desacoplamiento, integración técnica, orquestación y coexistencia de todas las tecnologías potenciales de diferentes fuentes, alojando alternativas y protocolos de comunicación, de manera fluida. </a:t>
            </a:r>
            <a:endParaRPr lang="en-US" sz="1200" dirty="0">
              <a:solidFill>
                <a:srgbClr val="000000">
                  <a:lumMod val="85000"/>
                  <a:lumOff val="15000"/>
                </a:srgbClr>
              </a:solidFill>
              <a:latin typeface="Graphik"/>
            </a:endParaRPr>
          </a:p>
          <a:p>
            <a:pPr marL="342900" algn="just" defTabSz="228600">
              <a:lnSpc>
                <a:spcPct val="90000"/>
              </a:lnSpc>
              <a:spcBef>
                <a:spcPts val="2500"/>
              </a:spcBef>
              <a:spcAft>
                <a:spcPts val="600"/>
              </a:spcAft>
              <a:defRPr/>
            </a:pPr>
            <a:r>
              <a:rPr lang="es" sz="1200" dirty="0">
                <a:solidFill>
                  <a:srgbClr val="000000">
                    <a:lumMod val="85000"/>
                    <a:lumOff val="15000"/>
                  </a:srgbClr>
                </a:solidFill>
                <a:latin typeface="Graphik"/>
              </a:rPr>
              <a:t>Aplicaciones</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 y </a:t>
            </a:r>
            <a:r>
              <a:rPr lang="es" sz="1200" dirty="0">
                <a:solidFill>
                  <a:srgbClr val="000000">
                    <a:lumMod val="85000"/>
                    <a:lumOff val="15000"/>
                  </a:srgbClr>
                </a:solidFill>
                <a:latin typeface="Graphik"/>
              </a:rPr>
              <a:t>p</a:t>
            </a:r>
            <a:r>
              <a:rPr kumimoji="0" lang="es" sz="1200" i="0" u="none" strike="noStrike" kern="1200" cap="none" spc="0" normalizeH="0" baseline="0" noProof="0" dirty="0">
                <a:ln>
                  <a:noFill/>
                </a:ln>
                <a:solidFill>
                  <a:srgbClr val="000000">
                    <a:lumMod val="85000"/>
                    <a:lumOff val="15000"/>
                  </a:srgbClr>
                </a:solidFill>
                <a:effectLst/>
                <a:uLnTx/>
                <a:uFillTx/>
                <a:latin typeface="Graphik"/>
                <a:ea typeface="+mn-ea"/>
                <a:cs typeface="+mn-cs"/>
              </a:rPr>
              <a:t>rocesadores </a:t>
            </a:r>
            <a:r>
              <a:rPr lang="es" sz="1200" b="1" dirty="0">
                <a:solidFill>
                  <a:srgbClr val="000000">
                    <a:lumMod val="85000"/>
                    <a:lumOff val="15000"/>
                  </a:srgbClr>
                </a:solidFill>
                <a:latin typeface="Graphik"/>
              </a:rPr>
              <a:t>H</a:t>
            </a:r>
            <a:r>
              <a:rPr kumimoji="0" lang="es" sz="1200" b="1" i="0" u="none" strike="noStrike" kern="1200" cap="none" spc="0" normalizeH="0" baseline="0" noProof="0" dirty="0">
                <a:ln>
                  <a:noFill/>
                </a:ln>
                <a:solidFill>
                  <a:srgbClr val="000000">
                    <a:lumMod val="85000"/>
                    <a:lumOff val="15000"/>
                  </a:srgbClr>
                </a:solidFill>
                <a:effectLst/>
                <a:uLnTx/>
                <a:uFillTx/>
                <a:latin typeface="Graphik"/>
                <a:ea typeface="+mn-ea"/>
                <a:cs typeface="+mn-cs"/>
              </a:rPr>
              <a:t>íbrid-Core</a:t>
            </a:r>
            <a:r>
              <a:rPr kumimoji="0" lang="e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rPr>
              <a:t>, heredados y de próxima generación, on-premise, cloud y SaaS trabajando juntos bajo un enfoque empresarial adaptado al propósito, alimentando y siendo alimentados desde la capa de interoperabilidad con las capacidades funcionales y técnicas requeridas de interoperabilidad/coexistencia.</a:t>
            </a:r>
            <a:endParaRPr lang="en-US" sz="1200" b="0" i="0" u="none" strike="noStrike" kern="1200" cap="none" spc="0" normalizeH="0" baseline="0" noProof="0" dirty="0">
              <a:ln>
                <a:noFill/>
              </a:ln>
              <a:solidFill>
                <a:srgbClr val="000000">
                  <a:lumMod val="85000"/>
                  <a:lumOff val="15000"/>
                </a:srgbClr>
              </a:solidFill>
              <a:effectLst/>
              <a:uLnTx/>
              <a:uFillTx/>
              <a:latin typeface="Graphik"/>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a:p>
            <a:pPr marL="342900" marR="0" lvl="0" indent="-228600" algn="just" defTabSz="228600" rtl="0" eaLnBrk="1" fontAlgn="auto" latinLnBrk="0" hangingPunct="1">
              <a:lnSpc>
                <a:spcPct val="90000"/>
              </a:lnSpc>
              <a:spcBef>
                <a:spcPts val="600"/>
              </a:spcBef>
              <a:spcAft>
                <a:spcPts val="600"/>
              </a:spcAft>
              <a:buClrTx/>
              <a:buSzTx/>
              <a:buFont typeface="Arial"/>
              <a:buChar char="•"/>
              <a:tabLst/>
              <a:defRPr/>
            </a:pPr>
            <a:endParaRPr kumimoji="0" lang="en-US" sz="1200" b="0" i="0" u="none" strike="noStrike" kern="1200" cap="none" spc="0" normalizeH="0" baseline="0" noProof="0" dirty="0">
              <a:ln>
                <a:noFill/>
              </a:ln>
              <a:solidFill>
                <a:srgbClr val="000000">
                  <a:lumMod val="85000"/>
                  <a:lumOff val="15000"/>
                </a:srgbClr>
              </a:solidFill>
              <a:effectLst/>
              <a:uLnTx/>
              <a:uFillTx/>
              <a:latin typeface="Graphik"/>
              <a:ea typeface="+mn-ea"/>
              <a:cs typeface="+mn-cs"/>
            </a:endParaRPr>
          </a:p>
        </p:txBody>
      </p:sp>
      <p:sp>
        <p:nvSpPr>
          <p:cNvPr id="56" name="Oval 55">
            <a:extLst>
              <a:ext uri="{FF2B5EF4-FFF2-40B4-BE49-F238E27FC236}">
                <a16:creationId xmlns:a16="http://schemas.microsoft.com/office/drawing/2014/main" id="{37B38617-C3E6-7B09-53B1-0B1B806B73CA}"/>
              </a:ext>
            </a:extLst>
          </p:cNvPr>
          <p:cNvSpPr/>
          <p:nvPr/>
        </p:nvSpPr>
        <p:spPr>
          <a:xfrm>
            <a:off x="5607921" y="2071533"/>
            <a:ext cx="270328" cy="270329"/>
          </a:xfrm>
          <a:prstGeom prst="ellipse">
            <a:avLst/>
          </a:prstGeom>
          <a:solidFill>
            <a:srgbClr val="A1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1</a:t>
            </a:r>
          </a:p>
        </p:txBody>
      </p:sp>
      <p:sp>
        <p:nvSpPr>
          <p:cNvPr id="57" name="Oval 56">
            <a:extLst>
              <a:ext uri="{FF2B5EF4-FFF2-40B4-BE49-F238E27FC236}">
                <a16:creationId xmlns:a16="http://schemas.microsoft.com/office/drawing/2014/main" id="{A8FA98C8-1DBA-0BB8-5E3B-57C87E287044}"/>
              </a:ext>
            </a:extLst>
          </p:cNvPr>
          <p:cNvSpPr/>
          <p:nvPr/>
        </p:nvSpPr>
        <p:spPr>
          <a:xfrm>
            <a:off x="5646844" y="4999145"/>
            <a:ext cx="270328" cy="270329"/>
          </a:xfrm>
          <a:prstGeom prst="ellipse">
            <a:avLst/>
          </a:prstGeom>
          <a:solidFill>
            <a:srgbClr val="350056"/>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3</a:t>
            </a:r>
          </a:p>
        </p:txBody>
      </p:sp>
      <p:sp>
        <p:nvSpPr>
          <p:cNvPr id="58" name="Oval 57">
            <a:extLst>
              <a:ext uri="{FF2B5EF4-FFF2-40B4-BE49-F238E27FC236}">
                <a16:creationId xmlns:a16="http://schemas.microsoft.com/office/drawing/2014/main" id="{1868E8F0-8CB1-EDAA-A0FD-CA350FC45409}"/>
              </a:ext>
            </a:extLst>
          </p:cNvPr>
          <p:cNvSpPr/>
          <p:nvPr/>
        </p:nvSpPr>
        <p:spPr>
          <a:xfrm>
            <a:off x="5615861" y="3700759"/>
            <a:ext cx="270328" cy="270329"/>
          </a:xfrm>
          <a:prstGeom prst="ellipse">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1200" cap="none" spc="0" normalizeH="0" baseline="0" noProof="0">
                <a:ln>
                  <a:noFill/>
                </a:ln>
                <a:solidFill>
                  <a:srgbClr val="FFFFFF"/>
                </a:solidFill>
                <a:effectLst/>
                <a:uLnTx/>
                <a:uFillTx/>
                <a:latin typeface="Graphik"/>
                <a:ea typeface="+mn-ea"/>
                <a:cs typeface="+mn-cs"/>
              </a:rPr>
              <a:t>2</a:t>
            </a:r>
          </a:p>
        </p:txBody>
      </p:sp>
      <p:sp>
        <p:nvSpPr>
          <p:cNvPr id="59" name="Rectangle 58">
            <a:extLst>
              <a:ext uri="{FF2B5EF4-FFF2-40B4-BE49-F238E27FC236}">
                <a16:creationId xmlns:a16="http://schemas.microsoft.com/office/drawing/2014/main" id="{C06CF606-936D-729D-FF0A-9EB99F93684D}"/>
              </a:ext>
            </a:extLst>
          </p:cNvPr>
          <p:cNvSpPr/>
          <p:nvPr/>
        </p:nvSpPr>
        <p:spPr>
          <a:xfrm>
            <a:off x="11384694" y="1871708"/>
            <a:ext cx="144000" cy="3600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0" name="Right Triangle 59">
            <a:extLst>
              <a:ext uri="{FF2B5EF4-FFF2-40B4-BE49-F238E27FC236}">
                <a16:creationId xmlns:a16="http://schemas.microsoft.com/office/drawing/2014/main" id="{5FCDC153-B7D1-F90C-8CE1-0C2B7BFA7329}"/>
              </a:ext>
            </a:extLst>
          </p:cNvPr>
          <p:cNvSpPr/>
          <p:nvPr/>
        </p:nvSpPr>
        <p:spPr>
          <a:xfrm>
            <a:off x="11252066" y="1838826"/>
            <a:ext cx="428325" cy="3870074"/>
          </a:xfrm>
          <a:prstGeom prst="r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1" name="Cross 60">
            <a:extLst>
              <a:ext uri="{FF2B5EF4-FFF2-40B4-BE49-F238E27FC236}">
                <a16:creationId xmlns:a16="http://schemas.microsoft.com/office/drawing/2014/main" id="{5C5F4DDC-85E8-D5E4-2159-D3A16B1BA075}"/>
              </a:ext>
            </a:extLst>
          </p:cNvPr>
          <p:cNvSpPr/>
          <p:nvPr/>
        </p:nvSpPr>
        <p:spPr>
          <a:xfrm>
            <a:off x="11373492" y="5441023"/>
            <a:ext cx="144000" cy="144000"/>
          </a:xfrm>
          <a:prstGeom prst="plus">
            <a:avLst>
              <a:gd name="adj" fmla="val 3558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63" name="TextBox 62">
            <a:extLst>
              <a:ext uri="{FF2B5EF4-FFF2-40B4-BE49-F238E27FC236}">
                <a16:creationId xmlns:a16="http://schemas.microsoft.com/office/drawing/2014/main" id="{7B1D3CAF-B5F3-BFD1-1036-B8FE8548F7CB}"/>
              </a:ext>
            </a:extLst>
          </p:cNvPr>
          <p:cNvSpPr txBox="1"/>
          <p:nvPr/>
        </p:nvSpPr>
        <p:spPr>
          <a:xfrm>
            <a:off x="2317023" y="6196484"/>
            <a:ext cx="1151165"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lumMod val="85000"/>
                    <a:lumOff val="15000"/>
                  </a:srgbClr>
                </a:solidFill>
                <a:effectLst/>
                <a:uLnTx/>
                <a:uFillTx/>
                <a:latin typeface="Graphik"/>
                <a:ea typeface="+mn-ea"/>
                <a:cs typeface="+mn-cs"/>
              </a:rPr>
              <a:t>Vista detallada </a:t>
            </a: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4DCD60B0-6849-559D-65E0-6DF6632053A2}"/>
              </a:ext>
            </a:extLst>
          </p:cNvPr>
          <p:cNvPicPr>
            <a:picLocks noChangeAspect="1"/>
          </p:cNvPicPr>
          <p:nvPr/>
        </p:nvPicPr>
        <p:blipFill>
          <a:blip r:embed="rId2"/>
          <a:stretch>
            <a:fillRect/>
          </a:stretch>
        </p:blipFill>
        <p:spPr>
          <a:xfrm>
            <a:off x="3372201" y="6061568"/>
            <a:ext cx="1115575" cy="627511"/>
          </a:xfrm>
          <a:prstGeom prst="rect">
            <a:avLst/>
          </a:prstGeom>
        </p:spPr>
      </p:pic>
      <p:sp>
        <p:nvSpPr>
          <p:cNvPr id="65" name="Content Placeholder 34">
            <a:extLst>
              <a:ext uri="{FF2B5EF4-FFF2-40B4-BE49-F238E27FC236}">
                <a16:creationId xmlns:a16="http://schemas.microsoft.com/office/drawing/2014/main" id="{2399DF29-4080-133A-5108-59C634AC399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C97A567D-A43F-B0E6-BC63-81188CC88EF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Bancaria de nueva generación</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pic>
        <p:nvPicPr>
          <p:cNvPr id="4" name="Picture 3">
            <a:extLst>
              <a:ext uri="{FF2B5EF4-FFF2-40B4-BE49-F238E27FC236}">
                <a16:creationId xmlns:a16="http://schemas.microsoft.com/office/drawing/2014/main" id="{FEB1A953-FB75-0F18-9F8C-EAFA3DF4461D}"/>
              </a:ext>
            </a:extLst>
          </p:cNvPr>
          <p:cNvPicPr>
            <a:picLocks noChangeAspect="1"/>
          </p:cNvPicPr>
          <p:nvPr/>
        </p:nvPicPr>
        <p:blipFill>
          <a:blip r:embed="rId3"/>
          <a:stretch>
            <a:fillRect/>
          </a:stretch>
        </p:blipFill>
        <p:spPr>
          <a:xfrm>
            <a:off x="672118" y="1432972"/>
            <a:ext cx="4571605" cy="4484763"/>
          </a:xfrm>
          <a:prstGeom prst="rect">
            <a:avLst/>
          </a:prstGeom>
          <a:effectLst>
            <a:outerShdw blurRad="50800" dist="139700" dir="1200000" algn="tl" rotWithShape="0">
              <a:schemeClr val="accent4">
                <a:alpha val="40000"/>
              </a:schemeClr>
            </a:outerShdw>
          </a:effectLst>
        </p:spPr>
      </p:pic>
    </p:spTree>
    <p:extLst>
      <p:ext uri="{BB962C8B-B14F-4D97-AF65-F5344CB8AC3E}">
        <p14:creationId xmlns:p14="http://schemas.microsoft.com/office/powerpoint/2010/main" val="1782007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CA83A-8D80-D4C0-4776-9471B6DAF1F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A2C0BA3-0349-76E5-ADF4-1124763AEA4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Banco del futuro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Arquitectura de TI de nueva generación (Detallado)</a:t>
            </a:r>
          </a:p>
          <a:p>
            <a:pPr marL="0" marR="0" lvl="0" indent="0" algn="l" defTabSz="914400" rtl="0" eaLnBrk="1" fontAlgn="auto" latinLnBrk="0" hangingPunct="1">
              <a:lnSpc>
                <a:spcPct val="80000"/>
              </a:lnSpc>
              <a:spcBef>
                <a:spcPct val="0"/>
              </a:spcBef>
              <a:spcAft>
                <a:spcPts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Graphik"/>
              <a:ea typeface="+mj-ea"/>
              <a:cs typeface="+mj-cs"/>
            </a:endParaRPr>
          </a:p>
        </p:txBody>
      </p:sp>
      <p:sp>
        <p:nvSpPr>
          <p:cNvPr id="16" name="Footer Placeholder 2">
            <a:extLst>
              <a:ext uri="{FF2B5EF4-FFF2-40B4-BE49-F238E27FC236}">
                <a16:creationId xmlns:a16="http://schemas.microsoft.com/office/drawing/2014/main" id="{DAA737C7-ADA7-8B2D-61B8-505715BA3E69}"/>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65915FF7-BC35-90ED-A9A2-AF9E4B3C0F13}"/>
              </a:ext>
            </a:extLst>
          </p:cNvPr>
          <p:cNvSpPr txBox="1">
            <a:spLocks/>
          </p:cNvSpPr>
          <p:nvPr/>
        </p:nvSpPr>
        <p:spPr>
          <a:xfrm>
            <a:off x="304800" y="674264"/>
            <a:ext cx="11430000"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 ecosistema evolucionado para impulsar los flujos de negocio, ofrecer a los clientes una experiencia y servicios de "Bank of One" y estimular la productividad de los empleados aprovechando el poder de la nube, los datos y las tecnologías de IA</a:t>
            </a:r>
          </a:p>
        </p:txBody>
      </p:sp>
      <p:sp>
        <p:nvSpPr>
          <p:cNvPr id="3" name="TextBox 27">
            <a:extLst>
              <a:ext uri="{FF2B5EF4-FFF2-40B4-BE49-F238E27FC236}">
                <a16:creationId xmlns:a16="http://schemas.microsoft.com/office/drawing/2014/main" id="{5962EBB6-93E3-1205-F6E6-2D472B7CC5FD}"/>
              </a:ext>
            </a:extLst>
          </p:cNvPr>
          <p:cNvSpPr txBox="1"/>
          <p:nvPr/>
        </p:nvSpPr>
        <p:spPr>
          <a:xfrm>
            <a:off x="480493" y="3934042"/>
            <a:ext cx="2409067" cy="1169551"/>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dirty="0">
                <a:ln>
                  <a:noFill/>
                </a:ln>
                <a:solidFill>
                  <a:prstClr val="black"/>
                </a:solidFill>
                <a:effectLst/>
                <a:uLnTx/>
                <a:uFillTx/>
                <a:latin typeface="Graphik"/>
                <a:ea typeface="+mn-ea"/>
                <a:cs typeface="+mn-cs"/>
              </a:rPr>
              <a:t>Hibrid-Core y Motores más pequeños</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dirty="0">
                <a:ln>
                  <a:noFill/>
                </a:ln>
                <a:solidFill>
                  <a:prstClr val="black"/>
                </a:solidFill>
                <a:effectLst/>
                <a:uLnTx/>
                <a:uFillTx/>
                <a:latin typeface="Graphik Light" panose="020B0403030202060203" pitchFamily="34" charset="0"/>
                <a:ea typeface="+mn-ea"/>
                <a:cs typeface="+mn-cs"/>
              </a:rPr>
              <a:t>Coexistencia de diferentes motores de banca central y distintos enfoques de alojamiento (soluciones locales, en la nube y SaaS), siguiendo un enfoque empresarial adaptado a su propósito.</a:t>
            </a:r>
          </a:p>
        </p:txBody>
      </p:sp>
      <p:sp>
        <p:nvSpPr>
          <p:cNvPr id="55" name="Rectangle 54">
            <a:extLst>
              <a:ext uri="{FF2B5EF4-FFF2-40B4-BE49-F238E27FC236}">
                <a16:creationId xmlns:a16="http://schemas.microsoft.com/office/drawing/2014/main" id="{6F02DD73-5D9A-ED1A-876D-657D9AEF1ECA}"/>
              </a:ext>
            </a:extLst>
          </p:cNvPr>
          <p:cNvSpPr/>
          <p:nvPr/>
        </p:nvSpPr>
        <p:spPr>
          <a:xfrm>
            <a:off x="406487" y="1657779"/>
            <a:ext cx="2795478" cy="1006813"/>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n-U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56" name="Graphic 55" descr="Esquema de piezas del puzzle">
            <a:extLst>
              <a:ext uri="{FF2B5EF4-FFF2-40B4-BE49-F238E27FC236}">
                <a16:creationId xmlns:a16="http://schemas.microsoft.com/office/drawing/2014/main" id="{1DC3F743-10EC-1621-2A86-E20C3DB625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87408" y="1474083"/>
            <a:ext cx="268172" cy="268172"/>
          </a:xfrm>
          <a:prstGeom prst="rect">
            <a:avLst/>
          </a:prstGeom>
        </p:spPr>
      </p:pic>
      <p:grpSp>
        <p:nvGrpSpPr>
          <p:cNvPr id="57" name="Group 56">
            <a:extLst>
              <a:ext uri="{FF2B5EF4-FFF2-40B4-BE49-F238E27FC236}">
                <a16:creationId xmlns:a16="http://schemas.microsoft.com/office/drawing/2014/main" id="{70E8FA55-F94D-3A44-E596-EB1EAB539DEF}"/>
              </a:ext>
            </a:extLst>
          </p:cNvPr>
          <p:cNvGrpSpPr>
            <a:grpSpLocks noChangeAspect="1"/>
          </p:cNvGrpSpPr>
          <p:nvPr/>
        </p:nvGrpSpPr>
        <p:grpSpPr>
          <a:xfrm>
            <a:off x="2762823" y="1724043"/>
            <a:ext cx="209539" cy="204328"/>
            <a:chOff x="7494588" y="5003801"/>
            <a:chExt cx="914401" cy="850900"/>
          </a:xfrm>
          <a:solidFill>
            <a:schemeClr val="bg1"/>
          </a:solidFill>
        </p:grpSpPr>
        <p:sp>
          <p:nvSpPr>
            <p:cNvPr id="58" name="Freeform 5">
              <a:extLst>
                <a:ext uri="{FF2B5EF4-FFF2-40B4-BE49-F238E27FC236}">
                  <a16:creationId xmlns:a16="http://schemas.microsoft.com/office/drawing/2014/main" id="{A20B38C6-40A2-A1F9-53E7-7C378D3478E0}"/>
                </a:ext>
              </a:extLst>
            </p:cNvPr>
            <p:cNvSpPr>
              <a:spLocks/>
            </p:cNvSpPr>
            <p:nvPr/>
          </p:nvSpPr>
          <p:spPr bwMode="auto">
            <a:xfrm>
              <a:off x="7585076" y="5657851"/>
              <a:ext cx="690563" cy="196850"/>
            </a:xfrm>
            <a:custGeom>
              <a:avLst/>
              <a:gdLst>
                <a:gd name="T0" fmla="*/ 201 w 212"/>
                <a:gd name="T1" fmla="*/ 5 h 60"/>
                <a:gd name="T2" fmla="*/ 180 w 212"/>
                <a:gd name="T3" fmla="*/ 24 h 60"/>
                <a:gd name="T4" fmla="*/ 159 w 212"/>
                <a:gd name="T5" fmla="*/ 4 h 60"/>
                <a:gd name="T6" fmla="*/ 152 w 212"/>
                <a:gd name="T7" fmla="*/ 3 h 60"/>
                <a:gd name="T8" fmla="*/ 127 w 212"/>
                <a:gd name="T9" fmla="*/ 13 h 60"/>
                <a:gd name="T10" fmla="*/ 122 w 212"/>
                <a:gd name="T11" fmla="*/ 19 h 60"/>
                <a:gd name="T12" fmla="*/ 122 w 212"/>
                <a:gd name="T13" fmla="*/ 48 h 60"/>
                <a:gd name="T14" fmla="*/ 92 w 212"/>
                <a:gd name="T15" fmla="*/ 48 h 60"/>
                <a:gd name="T16" fmla="*/ 92 w 212"/>
                <a:gd name="T17" fmla="*/ 19 h 60"/>
                <a:gd name="T18" fmla="*/ 88 w 212"/>
                <a:gd name="T19" fmla="*/ 13 h 60"/>
                <a:gd name="T20" fmla="*/ 62 w 212"/>
                <a:gd name="T21" fmla="*/ 3 h 60"/>
                <a:gd name="T22" fmla="*/ 55 w 212"/>
                <a:gd name="T23" fmla="*/ 4 h 60"/>
                <a:gd name="T24" fmla="*/ 34 w 212"/>
                <a:gd name="T25" fmla="*/ 24 h 60"/>
                <a:gd name="T26" fmla="*/ 11 w 212"/>
                <a:gd name="T27" fmla="*/ 2 h 60"/>
                <a:gd name="T28" fmla="*/ 3 w 212"/>
                <a:gd name="T29" fmla="*/ 3 h 60"/>
                <a:gd name="T30" fmla="*/ 3 w 212"/>
                <a:gd name="T31" fmla="*/ 11 h 60"/>
                <a:gd name="T32" fmla="*/ 30 w 212"/>
                <a:gd name="T33" fmla="*/ 37 h 60"/>
                <a:gd name="T34" fmla="*/ 39 w 212"/>
                <a:gd name="T35" fmla="*/ 37 h 60"/>
                <a:gd name="T36" fmla="*/ 60 w 212"/>
                <a:gd name="T37" fmla="*/ 15 h 60"/>
                <a:gd name="T38" fmla="*/ 80 w 212"/>
                <a:gd name="T39" fmla="*/ 23 h 60"/>
                <a:gd name="T40" fmla="*/ 80 w 212"/>
                <a:gd name="T41" fmla="*/ 54 h 60"/>
                <a:gd name="T42" fmla="*/ 86 w 212"/>
                <a:gd name="T43" fmla="*/ 60 h 60"/>
                <a:gd name="T44" fmla="*/ 128 w 212"/>
                <a:gd name="T45" fmla="*/ 60 h 60"/>
                <a:gd name="T46" fmla="*/ 134 w 212"/>
                <a:gd name="T47" fmla="*/ 54 h 60"/>
                <a:gd name="T48" fmla="*/ 134 w 212"/>
                <a:gd name="T49" fmla="*/ 23 h 60"/>
                <a:gd name="T50" fmla="*/ 154 w 212"/>
                <a:gd name="T51" fmla="*/ 15 h 60"/>
                <a:gd name="T52" fmla="*/ 176 w 212"/>
                <a:gd name="T53" fmla="*/ 37 h 60"/>
                <a:gd name="T54" fmla="*/ 184 w 212"/>
                <a:gd name="T55" fmla="*/ 37 h 60"/>
                <a:gd name="T56" fmla="*/ 209 w 212"/>
                <a:gd name="T57" fmla="*/ 13 h 60"/>
                <a:gd name="T58" fmla="*/ 210 w 212"/>
                <a:gd name="T59" fmla="*/ 5 h 60"/>
                <a:gd name="T60" fmla="*/ 201 w 212"/>
                <a:gd name="T61"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2" h="60">
                  <a:moveTo>
                    <a:pt x="201" y="5"/>
                  </a:moveTo>
                  <a:cubicBezTo>
                    <a:pt x="180" y="24"/>
                    <a:pt x="180" y="24"/>
                    <a:pt x="180" y="24"/>
                  </a:cubicBezTo>
                  <a:cubicBezTo>
                    <a:pt x="159" y="4"/>
                    <a:pt x="159" y="4"/>
                    <a:pt x="159" y="4"/>
                  </a:cubicBezTo>
                  <a:cubicBezTo>
                    <a:pt x="157" y="2"/>
                    <a:pt x="154" y="1"/>
                    <a:pt x="152" y="3"/>
                  </a:cubicBezTo>
                  <a:cubicBezTo>
                    <a:pt x="145" y="7"/>
                    <a:pt x="136" y="11"/>
                    <a:pt x="127" y="13"/>
                  </a:cubicBezTo>
                  <a:cubicBezTo>
                    <a:pt x="124" y="14"/>
                    <a:pt x="122" y="16"/>
                    <a:pt x="122" y="19"/>
                  </a:cubicBezTo>
                  <a:cubicBezTo>
                    <a:pt x="122" y="48"/>
                    <a:pt x="122" y="48"/>
                    <a:pt x="122" y="48"/>
                  </a:cubicBezTo>
                  <a:cubicBezTo>
                    <a:pt x="92" y="48"/>
                    <a:pt x="92" y="48"/>
                    <a:pt x="92" y="48"/>
                  </a:cubicBezTo>
                  <a:cubicBezTo>
                    <a:pt x="92" y="19"/>
                    <a:pt x="92" y="19"/>
                    <a:pt x="92" y="19"/>
                  </a:cubicBezTo>
                  <a:cubicBezTo>
                    <a:pt x="92" y="16"/>
                    <a:pt x="90" y="14"/>
                    <a:pt x="88" y="13"/>
                  </a:cubicBezTo>
                  <a:cubicBezTo>
                    <a:pt x="78" y="11"/>
                    <a:pt x="69" y="7"/>
                    <a:pt x="62" y="3"/>
                  </a:cubicBezTo>
                  <a:cubicBezTo>
                    <a:pt x="60" y="1"/>
                    <a:pt x="57" y="2"/>
                    <a:pt x="55" y="4"/>
                  </a:cubicBezTo>
                  <a:cubicBezTo>
                    <a:pt x="34" y="24"/>
                    <a:pt x="34" y="24"/>
                    <a:pt x="34" y="24"/>
                  </a:cubicBezTo>
                  <a:cubicBezTo>
                    <a:pt x="11" y="2"/>
                    <a:pt x="11" y="2"/>
                    <a:pt x="11" y="2"/>
                  </a:cubicBezTo>
                  <a:cubicBezTo>
                    <a:pt x="9" y="0"/>
                    <a:pt x="5" y="0"/>
                    <a:pt x="3" y="3"/>
                  </a:cubicBezTo>
                  <a:cubicBezTo>
                    <a:pt x="0" y="5"/>
                    <a:pt x="0" y="9"/>
                    <a:pt x="3" y="11"/>
                  </a:cubicBezTo>
                  <a:cubicBezTo>
                    <a:pt x="30" y="37"/>
                    <a:pt x="30" y="37"/>
                    <a:pt x="30" y="37"/>
                  </a:cubicBezTo>
                  <a:cubicBezTo>
                    <a:pt x="33" y="39"/>
                    <a:pt x="36" y="39"/>
                    <a:pt x="39" y="37"/>
                  </a:cubicBezTo>
                  <a:cubicBezTo>
                    <a:pt x="60" y="15"/>
                    <a:pt x="60" y="15"/>
                    <a:pt x="60" y="15"/>
                  </a:cubicBezTo>
                  <a:cubicBezTo>
                    <a:pt x="66" y="19"/>
                    <a:pt x="73" y="21"/>
                    <a:pt x="80" y="23"/>
                  </a:cubicBezTo>
                  <a:cubicBezTo>
                    <a:pt x="80" y="54"/>
                    <a:pt x="80" y="54"/>
                    <a:pt x="80" y="54"/>
                  </a:cubicBezTo>
                  <a:cubicBezTo>
                    <a:pt x="80" y="57"/>
                    <a:pt x="83" y="60"/>
                    <a:pt x="86" y="60"/>
                  </a:cubicBezTo>
                  <a:cubicBezTo>
                    <a:pt x="128" y="60"/>
                    <a:pt x="128" y="60"/>
                    <a:pt x="128" y="60"/>
                  </a:cubicBezTo>
                  <a:cubicBezTo>
                    <a:pt x="131" y="60"/>
                    <a:pt x="134" y="57"/>
                    <a:pt x="134" y="54"/>
                  </a:cubicBezTo>
                  <a:cubicBezTo>
                    <a:pt x="134" y="23"/>
                    <a:pt x="134" y="23"/>
                    <a:pt x="134" y="23"/>
                  </a:cubicBezTo>
                  <a:cubicBezTo>
                    <a:pt x="141" y="21"/>
                    <a:pt x="148" y="19"/>
                    <a:pt x="154" y="15"/>
                  </a:cubicBezTo>
                  <a:cubicBezTo>
                    <a:pt x="176" y="37"/>
                    <a:pt x="176" y="37"/>
                    <a:pt x="176" y="37"/>
                  </a:cubicBezTo>
                  <a:cubicBezTo>
                    <a:pt x="178" y="39"/>
                    <a:pt x="182" y="39"/>
                    <a:pt x="184" y="37"/>
                  </a:cubicBezTo>
                  <a:cubicBezTo>
                    <a:pt x="209" y="13"/>
                    <a:pt x="209" y="13"/>
                    <a:pt x="209" y="13"/>
                  </a:cubicBezTo>
                  <a:cubicBezTo>
                    <a:pt x="212" y="11"/>
                    <a:pt x="212" y="7"/>
                    <a:pt x="210" y="5"/>
                  </a:cubicBezTo>
                  <a:cubicBezTo>
                    <a:pt x="207" y="2"/>
                    <a:pt x="204" y="2"/>
                    <a:pt x="20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59" name="Freeform 6">
              <a:extLst>
                <a:ext uri="{FF2B5EF4-FFF2-40B4-BE49-F238E27FC236}">
                  <a16:creationId xmlns:a16="http://schemas.microsoft.com/office/drawing/2014/main" id="{BC066DE2-C662-32F2-3BBF-2B58E89BD4C6}"/>
                </a:ext>
              </a:extLst>
            </p:cNvPr>
            <p:cNvSpPr>
              <a:spLocks/>
            </p:cNvSpPr>
            <p:nvPr/>
          </p:nvSpPr>
          <p:spPr bwMode="auto">
            <a:xfrm>
              <a:off x="7507288" y="5003801"/>
              <a:ext cx="852488" cy="598488"/>
            </a:xfrm>
            <a:custGeom>
              <a:avLst/>
              <a:gdLst>
                <a:gd name="T0" fmla="*/ 37 w 262"/>
                <a:gd name="T1" fmla="*/ 157 h 183"/>
                <a:gd name="T2" fmla="*/ 56 w 262"/>
                <a:gd name="T3" fmla="*/ 181 h 183"/>
                <a:gd name="T4" fmla="*/ 47 w 262"/>
                <a:gd name="T5" fmla="*/ 149 h 183"/>
                <a:gd name="T6" fmla="*/ 12 w 262"/>
                <a:gd name="T7" fmla="*/ 145 h 183"/>
                <a:gd name="T8" fmla="*/ 42 w 262"/>
                <a:gd name="T9" fmla="*/ 116 h 183"/>
                <a:gd name="T10" fmla="*/ 58 w 262"/>
                <a:gd name="T11" fmla="*/ 86 h 183"/>
                <a:gd name="T12" fmla="*/ 36 w 262"/>
                <a:gd name="T13" fmla="*/ 58 h 183"/>
                <a:gd name="T14" fmla="*/ 79 w 262"/>
                <a:gd name="T15" fmla="*/ 56 h 183"/>
                <a:gd name="T16" fmla="*/ 112 w 262"/>
                <a:gd name="T17" fmla="*/ 47 h 183"/>
                <a:gd name="T18" fmla="*/ 116 w 262"/>
                <a:gd name="T19" fmla="*/ 12 h 183"/>
                <a:gd name="T20" fmla="*/ 146 w 262"/>
                <a:gd name="T21" fmla="*/ 41 h 183"/>
                <a:gd name="T22" fmla="*/ 176 w 262"/>
                <a:gd name="T23" fmla="*/ 57 h 183"/>
                <a:gd name="T24" fmla="*/ 204 w 262"/>
                <a:gd name="T25" fmla="*/ 35 h 183"/>
                <a:gd name="T26" fmla="*/ 206 w 262"/>
                <a:gd name="T27" fmla="*/ 78 h 183"/>
                <a:gd name="T28" fmla="*/ 215 w 262"/>
                <a:gd name="T29" fmla="*/ 112 h 183"/>
                <a:gd name="T30" fmla="*/ 250 w 262"/>
                <a:gd name="T31" fmla="*/ 116 h 183"/>
                <a:gd name="T32" fmla="*/ 221 w 262"/>
                <a:gd name="T33" fmla="*/ 145 h 183"/>
                <a:gd name="T34" fmla="*/ 205 w 262"/>
                <a:gd name="T35" fmla="*/ 173 h 183"/>
                <a:gd name="T36" fmla="*/ 210 w 262"/>
                <a:gd name="T37" fmla="*/ 182 h 183"/>
                <a:gd name="T38" fmla="*/ 225 w 262"/>
                <a:gd name="T39" fmla="*/ 157 h 183"/>
                <a:gd name="T40" fmla="*/ 262 w 262"/>
                <a:gd name="T41" fmla="*/ 151 h 183"/>
                <a:gd name="T42" fmla="*/ 256 w 262"/>
                <a:gd name="T43" fmla="*/ 104 h 183"/>
                <a:gd name="T44" fmla="*/ 217 w 262"/>
                <a:gd name="T45" fmla="*/ 83 h 183"/>
                <a:gd name="T46" fmla="*/ 241 w 262"/>
                <a:gd name="T47" fmla="*/ 58 h 183"/>
                <a:gd name="T48" fmla="*/ 208 w 262"/>
                <a:gd name="T49" fmla="*/ 23 h 183"/>
                <a:gd name="T50" fmla="*/ 178 w 262"/>
                <a:gd name="T51" fmla="*/ 44 h 183"/>
                <a:gd name="T52" fmla="*/ 158 w 262"/>
                <a:gd name="T53" fmla="*/ 6 h 183"/>
                <a:gd name="T54" fmla="*/ 110 w 262"/>
                <a:gd name="T55" fmla="*/ 0 h 183"/>
                <a:gd name="T56" fmla="*/ 104 w 262"/>
                <a:gd name="T57" fmla="*/ 36 h 183"/>
                <a:gd name="T58" fmla="*/ 63 w 262"/>
                <a:gd name="T59" fmla="*/ 23 h 183"/>
                <a:gd name="T60" fmla="*/ 23 w 262"/>
                <a:gd name="T61" fmla="*/ 53 h 183"/>
                <a:gd name="T62" fmla="*/ 23 w 262"/>
                <a:gd name="T63" fmla="*/ 62 h 183"/>
                <a:gd name="T64" fmla="*/ 37 w 262"/>
                <a:gd name="T65" fmla="*/ 104 h 183"/>
                <a:gd name="T66" fmla="*/ 0 w 262"/>
                <a:gd name="T67" fmla="*/ 110 h 183"/>
                <a:gd name="T68" fmla="*/ 6 w 262"/>
                <a:gd name="T69" fmla="*/ 157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62" h="183">
                  <a:moveTo>
                    <a:pt x="6" y="157"/>
                  </a:moveTo>
                  <a:cubicBezTo>
                    <a:pt x="37" y="157"/>
                    <a:pt x="37" y="157"/>
                    <a:pt x="37" y="157"/>
                  </a:cubicBezTo>
                  <a:cubicBezTo>
                    <a:pt x="39" y="164"/>
                    <a:pt x="43" y="172"/>
                    <a:pt x="47" y="179"/>
                  </a:cubicBezTo>
                  <a:cubicBezTo>
                    <a:pt x="49" y="182"/>
                    <a:pt x="53" y="183"/>
                    <a:pt x="56" y="181"/>
                  </a:cubicBezTo>
                  <a:cubicBezTo>
                    <a:pt x="58" y="180"/>
                    <a:pt x="59" y="176"/>
                    <a:pt x="58" y="173"/>
                  </a:cubicBezTo>
                  <a:cubicBezTo>
                    <a:pt x="53" y="165"/>
                    <a:pt x="49" y="157"/>
                    <a:pt x="47" y="149"/>
                  </a:cubicBezTo>
                  <a:cubicBezTo>
                    <a:pt x="47" y="147"/>
                    <a:pt x="44" y="145"/>
                    <a:pt x="42" y="145"/>
                  </a:cubicBezTo>
                  <a:cubicBezTo>
                    <a:pt x="12" y="145"/>
                    <a:pt x="12" y="145"/>
                    <a:pt x="12" y="145"/>
                  </a:cubicBezTo>
                  <a:cubicBezTo>
                    <a:pt x="12" y="116"/>
                    <a:pt x="12" y="116"/>
                    <a:pt x="12" y="116"/>
                  </a:cubicBezTo>
                  <a:cubicBezTo>
                    <a:pt x="42" y="116"/>
                    <a:pt x="42" y="116"/>
                    <a:pt x="42" y="116"/>
                  </a:cubicBezTo>
                  <a:cubicBezTo>
                    <a:pt x="44" y="116"/>
                    <a:pt x="47" y="114"/>
                    <a:pt x="47" y="112"/>
                  </a:cubicBezTo>
                  <a:cubicBezTo>
                    <a:pt x="50" y="102"/>
                    <a:pt x="54" y="92"/>
                    <a:pt x="58" y="86"/>
                  </a:cubicBezTo>
                  <a:cubicBezTo>
                    <a:pt x="59" y="83"/>
                    <a:pt x="59" y="80"/>
                    <a:pt x="57" y="78"/>
                  </a:cubicBezTo>
                  <a:cubicBezTo>
                    <a:pt x="36" y="58"/>
                    <a:pt x="36" y="58"/>
                    <a:pt x="36" y="58"/>
                  </a:cubicBezTo>
                  <a:cubicBezTo>
                    <a:pt x="58" y="35"/>
                    <a:pt x="58" y="35"/>
                    <a:pt x="58" y="35"/>
                  </a:cubicBezTo>
                  <a:cubicBezTo>
                    <a:pt x="79" y="56"/>
                    <a:pt x="79" y="56"/>
                    <a:pt x="79" y="56"/>
                  </a:cubicBezTo>
                  <a:cubicBezTo>
                    <a:pt x="81" y="58"/>
                    <a:pt x="84" y="58"/>
                    <a:pt x="86" y="57"/>
                  </a:cubicBezTo>
                  <a:cubicBezTo>
                    <a:pt x="93" y="53"/>
                    <a:pt x="102" y="49"/>
                    <a:pt x="112" y="47"/>
                  </a:cubicBezTo>
                  <a:cubicBezTo>
                    <a:pt x="114" y="46"/>
                    <a:pt x="116" y="44"/>
                    <a:pt x="116" y="41"/>
                  </a:cubicBezTo>
                  <a:cubicBezTo>
                    <a:pt x="116" y="12"/>
                    <a:pt x="116" y="12"/>
                    <a:pt x="116" y="12"/>
                  </a:cubicBezTo>
                  <a:cubicBezTo>
                    <a:pt x="146" y="12"/>
                    <a:pt x="146" y="12"/>
                    <a:pt x="146" y="12"/>
                  </a:cubicBezTo>
                  <a:cubicBezTo>
                    <a:pt x="146" y="41"/>
                    <a:pt x="146" y="41"/>
                    <a:pt x="146" y="41"/>
                  </a:cubicBezTo>
                  <a:cubicBezTo>
                    <a:pt x="146" y="44"/>
                    <a:pt x="148" y="46"/>
                    <a:pt x="151" y="47"/>
                  </a:cubicBezTo>
                  <a:cubicBezTo>
                    <a:pt x="160" y="49"/>
                    <a:pt x="169" y="53"/>
                    <a:pt x="176" y="57"/>
                  </a:cubicBezTo>
                  <a:cubicBezTo>
                    <a:pt x="178" y="58"/>
                    <a:pt x="181" y="58"/>
                    <a:pt x="183" y="56"/>
                  </a:cubicBezTo>
                  <a:cubicBezTo>
                    <a:pt x="204" y="35"/>
                    <a:pt x="204" y="35"/>
                    <a:pt x="204" y="35"/>
                  </a:cubicBezTo>
                  <a:cubicBezTo>
                    <a:pt x="226" y="58"/>
                    <a:pt x="226" y="58"/>
                    <a:pt x="226" y="58"/>
                  </a:cubicBezTo>
                  <a:cubicBezTo>
                    <a:pt x="206" y="78"/>
                    <a:pt x="206" y="78"/>
                    <a:pt x="206" y="78"/>
                  </a:cubicBezTo>
                  <a:cubicBezTo>
                    <a:pt x="204" y="80"/>
                    <a:pt x="203" y="83"/>
                    <a:pt x="205" y="86"/>
                  </a:cubicBezTo>
                  <a:cubicBezTo>
                    <a:pt x="209" y="92"/>
                    <a:pt x="212" y="102"/>
                    <a:pt x="215" y="112"/>
                  </a:cubicBezTo>
                  <a:cubicBezTo>
                    <a:pt x="216" y="114"/>
                    <a:pt x="218" y="116"/>
                    <a:pt x="221" y="116"/>
                  </a:cubicBezTo>
                  <a:cubicBezTo>
                    <a:pt x="250" y="116"/>
                    <a:pt x="250" y="116"/>
                    <a:pt x="250" y="116"/>
                  </a:cubicBezTo>
                  <a:cubicBezTo>
                    <a:pt x="250" y="145"/>
                    <a:pt x="250" y="145"/>
                    <a:pt x="250" y="145"/>
                  </a:cubicBezTo>
                  <a:cubicBezTo>
                    <a:pt x="221" y="145"/>
                    <a:pt x="221" y="145"/>
                    <a:pt x="221" y="145"/>
                  </a:cubicBezTo>
                  <a:cubicBezTo>
                    <a:pt x="218" y="145"/>
                    <a:pt x="216" y="147"/>
                    <a:pt x="215" y="149"/>
                  </a:cubicBezTo>
                  <a:cubicBezTo>
                    <a:pt x="213" y="157"/>
                    <a:pt x="210" y="165"/>
                    <a:pt x="205" y="173"/>
                  </a:cubicBezTo>
                  <a:cubicBezTo>
                    <a:pt x="203" y="176"/>
                    <a:pt x="204" y="180"/>
                    <a:pt x="207" y="181"/>
                  </a:cubicBezTo>
                  <a:cubicBezTo>
                    <a:pt x="208" y="182"/>
                    <a:pt x="209" y="182"/>
                    <a:pt x="210" y="182"/>
                  </a:cubicBezTo>
                  <a:cubicBezTo>
                    <a:pt x="212" y="182"/>
                    <a:pt x="214" y="181"/>
                    <a:pt x="215" y="179"/>
                  </a:cubicBezTo>
                  <a:cubicBezTo>
                    <a:pt x="220" y="172"/>
                    <a:pt x="223" y="164"/>
                    <a:pt x="225" y="157"/>
                  </a:cubicBezTo>
                  <a:cubicBezTo>
                    <a:pt x="256" y="157"/>
                    <a:pt x="256" y="157"/>
                    <a:pt x="256" y="157"/>
                  </a:cubicBezTo>
                  <a:cubicBezTo>
                    <a:pt x="259" y="157"/>
                    <a:pt x="262" y="154"/>
                    <a:pt x="262" y="151"/>
                  </a:cubicBezTo>
                  <a:cubicBezTo>
                    <a:pt x="262" y="110"/>
                    <a:pt x="262" y="110"/>
                    <a:pt x="262" y="110"/>
                  </a:cubicBezTo>
                  <a:cubicBezTo>
                    <a:pt x="262" y="107"/>
                    <a:pt x="259" y="104"/>
                    <a:pt x="256" y="104"/>
                  </a:cubicBezTo>
                  <a:cubicBezTo>
                    <a:pt x="225" y="104"/>
                    <a:pt x="225" y="104"/>
                    <a:pt x="225" y="104"/>
                  </a:cubicBezTo>
                  <a:cubicBezTo>
                    <a:pt x="223" y="97"/>
                    <a:pt x="220" y="90"/>
                    <a:pt x="217" y="83"/>
                  </a:cubicBezTo>
                  <a:cubicBezTo>
                    <a:pt x="239" y="62"/>
                    <a:pt x="239" y="62"/>
                    <a:pt x="239" y="62"/>
                  </a:cubicBezTo>
                  <a:cubicBezTo>
                    <a:pt x="240" y="61"/>
                    <a:pt x="241" y="59"/>
                    <a:pt x="241" y="58"/>
                  </a:cubicBezTo>
                  <a:cubicBezTo>
                    <a:pt x="241" y="56"/>
                    <a:pt x="240" y="54"/>
                    <a:pt x="239" y="53"/>
                  </a:cubicBezTo>
                  <a:cubicBezTo>
                    <a:pt x="208" y="23"/>
                    <a:pt x="208" y="23"/>
                    <a:pt x="208" y="23"/>
                  </a:cubicBezTo>
                  <a:cubicBezTo>
                    <a:pt x="206" y="20"/>
                    <a:pt x="202" y="20"/>
                    <a:pt x="200" y="23"/>
                  </a:cubicBezTo>
                  <a:cubicBezTo>
                    <a:pt x="178" y="44"/>
                    <a:pt x="178" y="44"/>
                    <a:pt x="178" y="44"/>
                  </a:cubicBezTo>
                  <a:cubicBezTo>
                    <a:pt x="172" y="41"/>
                    <a:pt x="165" y="38"/>
                    <a:pt x="158" y="36"/>
                  </a:cubicBezTo>
                  <a:cubicBezTo>
                    <a:pt x="158" y="6"/>
                    <a:pt x="158" y="6"/>
                    <a:pt x="158" y="6"/>
                  </a:cubicBezTo>
                  <a:cubicBezTo>
                    <a:pt x="158" y="2"/>
                    <a:pt x="155" y="0"/>
                    <a:pt x="152" y="0"/>
                  </a:cubicBezTo>
                  <a:cubicBezTo>
                    <a:pt x="110" y="0"/>
                    <a:pt x="110" y="0"/>
                    <a:pt x="110" y="0"/>
                  </a:cubicBezTo>
                  <a:cubicBezTo>
                    <a:pt x="107" y="0"/>
                    <a:pt x="104" y="2"/>
                    <a:pt x="104" y="6"/>
                  </a:cubicBezTo>
                  <a:cubicBezTo>
                    <a:pt x="104" y="36"/>
                    <a:pt x="104" y="36"/>
                    <a:pt x="104" y="36"/>
                  </a:cubicBezTo>
                  <a:cubicBezTo>
                    <a:pt x="97" y="38"/>
                    <a:pt x="90" y="41"/>
                    <a:pt x="84" y="44"/>
                  </a:cubicBezTo>
                  <a:cubicBezTo>
                    <a:pt x="63" y="23"/>
                    <a:pt x="63" y="23"/>
                    <a:pt x="63" y="23"/>
                  </a:cubicBezTo>
                  <a:cubicBezTo>
                    <a:pt x="60" y="20"/>
                    <a:pt x="56" y="20"/>
                    <a:pt x="54" y="23"/>
                  </a:cubicBezTo>
                  <a:cubicBezTo>
                    <a:pt x="23" y="53"/>
                    <a:pt x="23" y="53"/>
                    <a:pt x="23" y="53"/>
                  </a:cubicBezTo>
                  <a:cubicBezTo>
                    <a:pt x="22" y="54"/>
                    <a:pt x="22" y="56"/>
                    <a:pt x="22" y="58"/>
                  </a:cubicBezTo>
                  <a:cubicBezTo>
                    <a:pt x="22" y="59"/>
                    <a:pt x="22" y="61"/>
                    <a:pt x="23" y="62"/>
                  </a:cubicBezTo>
                  <a:cubicBezTo>
                    <a:pt x="45" y="84"/>
                    <a:pt x="45" y="84"/>
                    <a:pt x="45" y="84"/>
                  </a:cubicBezTo>
                  <a:cubicBezTo>
                    <a:pt x="42" y="90"/>
                    <a:pt x="39" y="97"/>
                    <a:pt x="37" y="104"/>
                  </a:cubicBezTo>
                  <a:cubicBezTo>
                    <a:pt x="6" y="104"/>
                    <a:pt x="6" y="104"/>
                    <a:pt x="6" y="104"/>
                  </a:cubicBezTo>
                  <a:cubicBezTo>
                    <a:pt x="3" y="104"/>
                    <a:pt x="0" y="107"/>
                    <a:pt x="0" y="110"/>
                  </a:cubicBezTo>
                  <a:cubicBezTo>
                    <a:pt x="0" y="151"/>
                    <a:pt x="0" y="151"/>
                    <a:pt x="0" y="151"/>
                  </a:cubicBezTo>
                  <a:cubicBezTo>
                    <a:pt x="0" y="154"/>
                    <a:pt x="3" y="157"/>
                    <a:pt x="6" y="1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0" name="Freeform 7">
              <a:extLst>
                <a:ext uri="{FF2B5EF4-FFF2-40B4-BE49-F238E27FC236}">
                  <a16:creationId xmlns:a16="http://schemas.microsoft.com/office/drawing/2014/main" id="{06C7FF32-9CC5-B330-0AC1-D2AC86AF8126}"/>
                </a:ext>
              </a:extLst>
            </p:cNvPr>
            <p:cNvSpPr>
              <a:spLocks/>
            </p:cNvSpPr>
            <p:nvPr/>
          </p:nvSpPr>
          <p:spPr bwMode="auto">
            <a:xfrm>
              <a:off x="7885113" y="5176838"/>
              <a:ext cx="260350" cy="415925"/>
            </a:xfrm>
            <a:custGeom>
              <a:avLst/>
              <a:gdLst>
                <a:gd name="T0" fmla="*/ 52 w 80"/>
                <a:gd name="T1" fmla="*/ 126 h 127"/>
                <a:gd name="T2" fmla="*/ 57 w 80"/>
                <a:gd name="T3" fmla="*/ 127 h 127"/>
                <a:gd name="T4" fmla="*/ 61 w 80"/>
                <a:gd name="T5" fmla="*/ 126 h 127"/>
                <a:gd name="T6" fmla="*/ 79 w 80"/>
                <a:gd name="T7" fmla="*/ 79 h 127"/>
                <a:gd name="T8" fmla="*/ 57 w 80"/>
                <a:gd name="T9" fmla="*/ 32 h 127"/>
                <a:gd name="T10" fmla="*/ 23 w 80"/>
                <a:gd name="T11" fmla="*/ 17 h 127"/>
                <a:gd name="T12" fmla="*/ 30 w 80"/>
                <a:gd name="T13" fmla="*/ 12 h 127"/>
                <a:gd name="T14" fmla="*/ 31 w 80"/>
                <a:gd name="T15" fmla="*/ 3 h 127"/>
                <a:gd name="T16" fmla="*/ 23 w 80"/>
                <a:gd name="T17" fmla="*/ 2 h 127"/>
                <a:gd name="T18" fmla="*/ 2 w 80"/>
                <a:gd name="T19" fmla="*/ 18 h 127"/>
                <a:gd name="T20" fmla="*/ 0 w 80"/>
                <a:gd name="T21" fmla="*/ 22 h 127"/>
                <a:gd name="T22" fmla="*/ 1 w 80"/>
                <a:gd name="T23" fmla="*/ 27 h 127"/>
                <a:gd name="T24" fmla="*/ 17 w 80"/>
                <a:gd name="T25" fmla="*/ 46 h 127"/>
                <a:gd name="T26" fmla="*/ 22 w 80"/>
                <a:gd name="T27" fmla="*/ 48 h 127"/>
                <a:gd name="T28" fmla="*/ 26 w 80"/>
                <a:gd name="T29" fmla="*/ 47 h 127"/>
                <a:gd name="T30" fmla="*/ 26 w 80"/>
                <a:gd name="T31" fmla="*/ 38 h 127"/>
                <a:gd name="T32" fmla="*/ 19 w 80"/>
                <a:gd name="T33" fmla="*/ 29 h 127"/>
                <a:gd name="T34" fmla="*/ 49 w 80"/>
                <a:gd name="T35" fmla="*/ 41 h 127"/>
                <a:gd name="T36" fmla="*/ 67 w 80"/>
                <a:gd name="T37" fmla="*/ 79 h 127"/>
                <a:gd name="T38" fmla="*/ 52 w 80"/>
                <a:gd name="T39" fmla="*/ 117 h 127"/>
                <a:gd name="T40" fmla="*/ 52 w 80"/>
                <a:gd name="T41" fmla="*/ 126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0" h="127">
                  <a:moveTo>
                    <a:pt x="52" y="126"/>
                  </a:moveTo>
                  <a:cubicBezTo>
                    <a:pt x="54" y="127"/>
                    <a:pt x="55" y="127"/>
                    <a:pt x="57" y="127"/>
                  </a:cubicBezTo>
                  <a:cubicBezTo>
                    <a:pt x="58" y="127"/>
                    <a:pt x="60" y="127"/>
                    <a:pt x="61" y="126"/>
                  </a:cubicBezTo>
                  <a:cubicBezTo>
                    <a:pt x="73" y="113"/>
                    <a:pt x="80" y="96"/>
                    <a:pt x="79" y="79"/>
                  </a:cubicBezTo>
                  <a:cubicBezTo>
                    <a:pt x="78" y="61"/>
                    <a:pt x="70" y="44"/>
                    <a:pt x="57" y="32"/>
                  </a:cubicBezTo>
                  <a:cubicBezTo>
                    <a:pt x="47" y="24"/>
                    <a:pt x="35" y="19"/>
                    <a:pt x="23" y="17"/>
                  </a:cubicBezTo>
                  <a:cubicBezTo>
                    <a:pt x="30" y="12"/>
                    <a:pt x="30" y="12"/>
                    <a:pt x="30" y="12"/>
                  </a:cubicBezTo>
                  <a:cubicBezTo>
                    <a:pt x="33" y="10"/>
                    <a:pt x="33" y="6"/>
                    <a:pt x="31" y="3"/>
                  </a:cubicBezTo>
                  <a:cubicBezTo>
                    <a:pt x="29" y="1"/>
                    <a:pt x="25" y="0"/>
                    <a:pt x="23" y="2"/>
                  </a:cubicBezTo>
                  <a:cubicBezTo>
                    <a:pt x="2" y="18"/>
                    <a:pt x="2" y="18"/>
                    <a:pt x="2" y="18"/>
                  </a:cubicBezTo>
                  <a:cubicBezTo>
                    <a:pt x="1" y="19"/>
                    <a:pt x="0" y="21"/>
                    <a:pt x="0" y="22"/>
                  </a:cubicBezTo>
                  <a:cubicBezTo>
                    <a:pt x="0" y="24"/>
                    <a:pt x="0" y="26"/>
                    <a:pt x="1" y="27"/>
                  </a:cubicBezTo>
                  <a:cubicBezTo>
                    <a:pt x="17" y="46"/>
                    <a:pt x="17" y="46"/>
                    <a:pt x="17" y="46"/>
                  </a:cubicBezTo>
                  <a:cubicBezTo>
                    <a:pt x="18" y="47"/>
                    <a:pt x="20" y="48"/>
                    <a:pt x="22" y="48"/>
                  </a:cubicBezTo>
                  <a:cubicBezTo>
                    <a:pt x="23" y="48"/>
                    <a:pt x="24" y="48"/>
                    <a:pt x="26" y="47"/>
                  </a:cubicBezTo>
                  <a:cubicBezTo>
                    <a:pt x="28" y="45"/>
                    <a:pt x="29" y="41"/>
                    <a:pt x="26" y="38"/>
                  </a:cubicBezTo>
                  <a:cubicBezTo>
                    <a:pt x="19" y="29"/>
                    <a:pt x="19" y="29"/>
                    <a:pt x="19" y="29"/>
                  </a:cubicBezTo>
                  <a:cubicBezTo>
                    <a:pt x="30" y="30"/>
                    <a:pt x="40" y="34"/>
                    <a:pt x="49" y="41"/>
                  </a:cubicBezTo>
                  <a:cubicBezTo>
                    <a:pt x="60" y="51"/>
                    <a:pt x="66" y="64"/>
                    <a:pt x="67" y="79"/>
                  </a:cubicBezTo>
                  <a:cubicBezTo>
                    <a:pt x="68" y="93"/>
                    <a:pt x="62" y="107"/>
                    <a:pt x="52" y="117"/>
                  </a:cubicBezTo>
                  <a:cubicBezTo>
                    <a:pt x="50" y="120"/>
                    <a:pt x="50" y="123"/>
                    <a:pt x="52" y="1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1" name="Freeform 8">
              <a:extLst>
                <a:ext uri="{FF2B5EF4-FFF2-40B4-BE49-F238E27FC236}">
                  <a16:creationId xmlns:a16="http://schemas.microsoft.com/office/drawing/2014/main" id="{E5B2969D-E3A3-ED05-51CE-ABB08A59C172}"/>
                </a:ext>
              </a:extLst>
            </p:cNvPr>
            <p:cNvSpPr>
              <a:spLocks/>
            </p:cNvSpPr>
            <p:nvPr/>
          </p:nvSpPr>
          <p:spPr bwMode="auto">
            <a:xfrm>
              <a:off x="7494588" y="5611813"/>
              <a:ext cx="288925" cy="39688"/>
            </a:xfrm>
            <a:custGeom>
              <a:avLst/>
              <a:gdLst>
                <a:gd name="T0" fmla="*/ 89 w 89"/>
                <a:gd name="T1" fmla="*/ 6 h 12"/>
                <a:gd name="T2" fmla="*/ 83 w 89"/>
                <a:gd name="T3" fmla="*/ 0 h 12"/>
                <a:gd name="T4" fmla="*/ 6 w 89"/>
                <a:gd name="T5" fmla="*/ 0 h 12"/>
                <a:gd name="T6" fmla="*/ 0 w 89"/>
                <a:gd name="T7" fmla="*/ 6 h 12"/>
                <a:gd name="T8" fmla="*/ 6 w 89"/>
                <a:gd name="T9" fmla="*/ 12 h 12"/>
                <a:gd name="T10" fmla="*/ 83 w 89"/>
                <a:gd name="T11" fmla="*/ 12 h 12"/>
                <a:gd name="T12" fmla="*/ 89 w 89"/>
                <a:gd name="T13" fmla="*/ 6 h 12"/>
              </a:gdLst>
              <a:ahLst/>
              <a:cxnLst>
                <a:cxn ang="0">
                  <a:pos x="T0" y="T1"/>
                </a:cxn>
                <a:cxn ang="0">
                  <a:pos x="T2" y="T3"/>
                </a:cxn>
                <a:cxn ang="0">
                  <a:pos x="T4" y="T5"/>
                </a:cxn>
                <a:cxn ang="0">
                  <a:pos x="T6" y="T7"/>
                </a:cxn>
                <a:cxn ang="0">
                  <a:pos x="T8" y="T9"/>
                </a:cxn>
                <a:cxn ang="0">
                  <a:pos x="T10" y="T11"/>
                </a:cxn>
                <a:cxn ang="0">
                  <a:pos x="T12" y="T13"/>
                </a:cxn>
              </a:cxnLst>
              <a:rect l="0" t="0" r="r" b="b"/>
              <a:pathLst>
                <a:path w="89" h="12">
                  <a:moveTo>
                    <a:pt x="89" y="6"/>
                  </a:moveTo>
                  <a:cubicBezTo>
                    <a:pt x="89" y="3"/>
                    <a:pt x="86" y="0"/>
                    <a:pt x="83" y="0"/>
                  </a:cubicBezTo>
                  <a:cubicBezTo>
                    <a:pt x="6" y="0"/>
                    <a:pt x="6" y="0"/>
                    <a:pt x="6" y="0"/>
                  </a:cubicBezTo>
                  <a:cubicBezTo>
                    <a:pt x="3" y="0"/>
                    <a:pt x="0" y="3"/>
                    <a:pt x="0" y="6"/>
                  </a:cubicBezTo>
                  <a:cubicBezTo>
                    <a:pt x="0" y="9"/>
                    <a:pt x="3" y="12"/>
                    <a:pt x="6" y="12"/>
                  </a:cubicBezTo>
                  <a:cubicBezTo>
                    <a:pt x="83" y="12"/>
                    <a:pt x="83" y="12"/>
                    <a:pt x="83" y="12"/>
                  </a:cubicBezTo>
                  <a:cubicBezTo>
                    <a:pt x="86" y="12"/>
                    <a:pt x="89" y="9"/>
                    <a:pt x="89"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62" name="Freeform 9">
              <a:extLst>
                <a:ext uri="{FF2B5EF4-FFF2-40B4-BE49-F238E27FC236}">
                  <a16:creationId xmlns:a16="http://schemas.microsoft.com/office/drawing/2014/main" id="{957823FC-65C7-DA81-FD4C-9AB292F88F88}"/>
                </a:ext>
              </a:extLst>
            </p:cNvPr>
            <p:cNvSpPr>
              <a:spLocks/>
            </p:cNvSpPr>
            <p:nvPr/>
          </p:nvSpPr>
          <p:spPr bwMode="auto">
            <a:xfrm>
              <a:off x="7721601" y="5251451"/>
              <a:ext cx="687388" cy="461963"/>
            </a:xfrm>
            <a:custGeom>
              <a:avLst/>
              <a:gdLst>
                <a:gd name="T0" fmla="*/ 209 w 211"/>
                <a:gd name="T1" fmla="*/ 112 h 141"/>
                <a:gd name="T2" fmla="*/ 189 w 211"/>
                <a:gd name="T3" fmla="*/ 93 h 141"/>
                <a:gd name="T4" fmla="*/ 181 w 211"/>
                <a:gd name="T5" fmla="*/ 93 h 141"/>
                <a:gd name="T6" fmla="*/ 181 w 211"/>
                <a:gd name="T7" fmla="*/ 102 h 141"/>
                <a:gd name="T8" fmla="*/ 190 w 211"/>
                <a:gd name="T9" fmla="*/ 110 h 141"/>
                <a:gd name="T10" fmla="*/ 68 w 211"/>
                <a:gd name="T11" fmla="*/ 110 h 141"/>
                <a:gd name="T12" fmla="*/ 67 w 211"/>
                <a:gd name="T13" fmla="*/ 110 h 141"/>
                <a:gd name="T14" fmla="*/ 30 w 211"/>
                <a:gd name="T15" fmla="*/ 96 h 141"/>
                <a:gd name="T16" fmla="*/ 13 w 211"/>
                <a:gd name="T17" fmla="*/ 60 h 141"/>
                <a:gd name="T18" fmla="*/ 40 w 211"/>
                <a:gd name="T19" fmla="*/ 13 h 141"/>
                <a:gd name="T20" fmla="*/ 43 w 211"/>
                <a:gd name="T21" fmla="*/ 4 h 141"/>
                <a:gd name="T22" fmla="*/ 34 w 211"/>
                <a:gd name="T23" fmla="*/ 2 h 141"/>
                <a:gd name="T24" fmla="*/ 1 w 211"/>
                <a:gd name="T25" fmla="*/ 60 h 141"/>
                <a:gd name="T26" fmla="*/ 22 w 211"/>
                <a:gd name="T27" fmla="*/ 105 h 141"/>
                <a:gd name="T28" fmla="*/ 65 w 211"/>
                <a:gd name="T29" fmla="*/ 122 h 141"/>
                <a:gd name="T30" fmla="*/ 67 w 211"/>
                <a:gd name="T31" fmla="*/ 122 h 141"/>
                <a:gd name="T32" fmla="*/ 67 w 211"/>
                <a:gd name="T33" fmla="*/ 122 h 141"/>
                <a:gd name="T34" fmla="*/ 190 w 211"/>
                <a:gd name="T35" fmla="*/ 122 h 141"/>
                <a:gd name="T36" fmla="*/ 180 w 211"/>
                <a:gd name="T37" fmla="*/ 130 h 141"/>
                <a:gd name="T38" fmla="*/ 180 w 211"/>
                <a:gd name="T39" fmla="*/ 138 h 141"/>
                <a:gd name="T40" fmla="*/ 184 w 211"/>
                <a:gd name="T41" fmla="*/ 141 h 141"/>
                <a:gd name="T42" fmla="*/ 188 w 211"/>
                <a:gd name="T43" fmla="*/ 139 h 141"/>
                <a:gd name="T44" fmla="*/ 209 w 211"/>
                <a:gd name="T45" fmla="*/ 121 h 141"/>
                <a:gd name="T46" fmla="*/ 211 w 211"/>
                <a:gd name="T47" fmla="*/ 116 h 141"/>
                <a:gd name="T48" fmla="*/ 209 w 211"/>
                <a:gd name="T49" fmla="*/ 112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11" h="141">
                  <a:moveTo>
                    <a:pt x="209" y="112"/>
                  </a:moveTo>
                  <a:cubicBezTo>
                    <a:pt x="189" y="93"/>
                    <a:pt x="189" y="93"/>
                    <a:pt x="189" y="93"/>
                  </a:cubicBezTo>
                  <a:cubicBezTo>
                    <a:pt x="187" y="91"/>
                    <a:pt x="183" y="91"/>
                    <a:pt x="181" y="93"/>
                  </a:cubicBezTo>
                  <a:cubicBezTo>
                    <a:pt x="178" y="95"/>
                    <a:pt x="178" y="99"/>
                    <a:pt x="181" y="102"/>
                  </a:cubicBezTo>
                  <a:cubicBezTo>
                    <a:pt x="190" y="110"/>
                    <a:pt x="190" y="110"/>
                    <a:pt x="190" y="110"/>
                  </a:cubicBezTo>
                  <a:cubicBezTo>
                    <a:pt x="68" y="110"/>
                    <a:pt x="68" y="110"/>
                    <a:pt x="68" y="110"/>
                  </a:cubicBezTo>
                  <a:cubicBezTo>
                    <a:pt x="67" y="110"/>
                    <a:pt x="67" y="110"/>
                    <a:pt x="67" y="110"/>
                  </a:cubicBezTo>
                  <a:cubicBezTo>
                    <a:pt x="53" y="110"/>
                    <a:pt x="40" y="105"/>
                    <a:pt x="30" y="96"/>
                  </a:cubicBezTo>
                  <a:cubicBezTo>
                    <a:pt x="20" y="87"/>
                    <a:pt x="14" y="74"/>
                    <a:pt x="13" y="60"/>
                  </a:cubicBezTo>
                  <a:cubicBezTo>
                    <a:pt x="13" y="40"/>
                    <a:pt x="23" y="22"/>
                    <a:pt x="40" y="13"/>
                  </a:cubicBezTo>
                  <a:cubicBezTo>
                    <a:pt x="43" y="11"/>
                    <a:pt x="44" y="7"/>
                    <a:pt x="43" y="4"/>
                  </a:cubicBezTo>
                  <a:cubicBezTo>
                    <a:pt x="41" y="1"/>
                    <a:pt x="37" y="0"/>
                    <a:pt x="34" y="2"/>
                  </a:cubicBezTo>
                  <a:cubicBezTo>
                    <a:pt x="13" y="14"/>
                    <a:pt x="0" y="36"/>
                    <a:pt x="1" y="60"/>
                  </a:cubicBezTo>
                  <a:cubicBezTo>
                    <a:pt x="2" y="77"/>
                    <a:pt x="9" y="93"/>
                    <a:pt x="22" y="105"/>
                  </a:cubicBezTo>
                  <a:cubicBezTo>
                    <a:pt x="34" y="116"/>
                    <a:pt x="49" y="122"/>
                    <a:pt x="65" y="122"/>
                  </a:cubicBezTo>
                  <a:cubicBezTo>
                    <a:pt x="66" y="122"/>
                    <a:pt x="66" y="122"/>
                    <a:pt x="67" y="122"/>
                  </a:cubicBezTo>
                  <a:cubicBezTo>
                    <a:pt x="67" y="122"/>
                    <a:pt x="67" y="122"/>
                    <a:pt x="67" y="122"/>
                  </a:cubicBezTo>
                  <a:cubicBezTo>
                    <a:pt x="190" y="122"/>
                    <a:pt x="190" y="122"/>
                    <a:pt x="190" y="122"/>
                  </a:cubicBezTo>
                  <a:cubicBezTo>
                    <a:pt x="180" y="130"/>
                    <a:pt x="180" y="130"/>
                    <a:pt x="180" y="130"/>
                  </a:cubicBezTo>
                  <a:cubicBezTo>
                    <a:pt x="178" y="132"/>
                    <a:pt x="177" y="136"/>
                    <a:pt x="180" y="138"/>
                  </a:cubicBezTo>
                  <a:cubicBezTo>
                    <a:pt x="181" y="140"/>
                    <a:pt x="182" y="141"/>
                    <a:pt x="184" y="141"/>
                  </a:cubicBezTo>
                  <a:cubicBezTo>
                    <a:pt x="186" y="141"/>
                    <a:pt x="187" y="140"/>
                    <a:pt x="188" y="139"/>
                  </a:cubicBezTo>
                  <a:cubicBezTo>
                    <a:pt x="209" y="121"/>
                    <a:pt x="209" y="121"/>
                    <a:pt x="209" y="121"/>
                  </a:cubicBezTo>
                  <a:cubicBezTo>
                    <a:pt x="210" y="120"/>
                    <a:pt x="211" y="118"/>
                    <a:pt x="211" y="116"/>
                  </a:cubicBezTo>
                  <a:cubicBezTo>
                    <a:pt x="211" y="115"/>
                    <a:pt x="211" y="113"/>
                    <a:pt x="209"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35" tIns="45668" rIns="91335" bIns="45668" numCol="1" anchor="t" anchorCtr="0" compatLnSpc="1">
              <a:prstTxWarp prst="textNoShape">
                <a:avLst/>
              </a:prstTxWarp>
            </a:bodyPr>
            <a:lstStyle/>
            <a:p>
              <a:pPr marL="0" marR="0" lvl="0" indent="0" algn="l" defTabSz="913309"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grpSp>
      <p:sp>
        <p:nvSpPr>
          <p:cNvPr id="63" name="TextBox 27">
            <a:extLst>
              <a:ext uri="{FF2B5EF4-FFF2-40B4-BE49-F238E27FC236}">
                <a16:creationId xmlns:a16="http://schemas.microsoft.com/office/drawing/2014/main" id="{1174BA8A-1FD3-8C97-CECF-7737176CA458}"/>
              </a:ext>
            </a:extLst>
          </p:cNvPr>
          <p:cNvSpPr txBox="1"/>
          <p:nvPr/>
        </p:nvSpPr>
        <p:spPr>
          <a:xfrm>
            <a:off x="9552825" y="1708672"/>
            <a:ext cx="2386495" cy="1533753"/>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0"/>
              </a:spcBef>
              <a:spcAft>
                <a:spcPts val="30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Sistemas de Innovación</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Alto grado de cambio con una mentalidad de Fallar Rápido</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Permitir la experimentación y el prototipado</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Uso de la nube y la arquitectura de microservicios </a:t>
            </a:r>
          </a:p>
          <a:p>
            <a:pPr marL="179785" marR="0" lvl="0" indent="-179785" algn="l" defTabSz="584116" rtl="0" eaLnBrk="1" fontAlgn="auto" latinLnBrk="0" hangingPunct="1">
              <a:lnSpc>
                <a:spcPct val="100000"/>
              </a:lnSpc>
              <a:spcBef>
                <a:spcPts val="0"/>
              </a:spcBef>
              <a:spcAft>
                <a:spcPts val="199"/>
              </a:spcAft>
              <a:buClrTx/>
              <a:buSzTx/>
              <a:buFont typeface="Arial" panose="020B0604020202020204" pitchFamily="34" charset="0"/>
              <a:buChar char="•"/>
              <a:tabLst/>
              <a:defRPr/>
            </a:pPr>
            <a:r>
              <a:rPr kumimoji="0" lang="es" sz="1000" b="1" i="0" u="sng" strike="noStrike" kern="1200" cap="none" spc="0" normalizeH="0" baseline="0" noProof="0">
                <a:ln>
                  <a:noFill/>
                </a:ln>
                <a:solidFill>
                  <a:prstClr val="black"/>
                </a:solidFill>
                <a:effectLst/>
                <a:uLnTx/>
                <a:uFillTx/>
                <a:latin typeface="Graphik Light" panose="020B0403030202060203" pitchFamily="34" charset="0"/>
                <a:ea typeface="+mn-ea"/>
                <a:cs typeface="+mn-cs"/>
              </a:rPr>
              <a:t>Construcción propia</a:t>
            </a:r>
          </a:p>
          <a:p>
            <a:pPr marL="179785" marR="0" lvl="0" indent="-179785" algn="l" defTabSz="913309" rtl="0" eaLnBrk="1" fontAlgn="auto" latinLnBrk="0" hangingPunct="1">
              <a:lnSpc>
                <a:spcPct val="100000"/>
              </a:lnSpc>
              <a:spcBef>
                <a:spcPts val="0"/>
              </a:spcBef>
              <a:spcAft>
                <a:spcPts val="199"/>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endParaRPr>
          </a:p>
        </p:txBody>
      </p:sp>
      <p:sp>
        <p:nvSpPr>
          <p:cNvPr id="64" name="TextBox 28">
            <a:extLst>
              <a:ext uri="{FF2B5EF4-FFF2-40B4-BE49-F238E27FC236}">
                <a16:creationId xmlns:a16="http://schemas.microsoft.com/office/drawing/2014/main" id="{49335F67-5F3C-96D0-4318-5144F73F310B}"/>
              </a:ext>
            </a:extLst>
          </p:cNvPr>
          <p:cNvSpPr txBox="1"/>
          <p:nvPr/>
        </p:nvSpPr>
        <p:spPr>
          <a:xfrm rot="16200000">
            <a:off x="8637370" y="5230530"/>
            <a:ext cx="1302700" cy="261610"/>
          </a:xfrm>
          <a:prstGeom prst="rect">
            <a:avLst/>
          </a:prstGeom>
          <a:noFill/>
        </p:spPr>
        <p:txBody>
          <a:bodyPr wrap="squar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Estabilidad</a:t>
            </a:r>
          </a:p>
        </p:txBody>
      </p:sp>
      <p:sp>
        <p:nvSpPr>
          <p:cNvPr id="65" name="TextBox 33">
            <a:extLst>
              <a:ext uri="{FF2B5EF4-FFF2-40B4-BE49-F238E27FC236}">
                <a16:creationId xmlns:a16="http://schemas.microsoft.com/office/drawing/2014/main" id="{FB47440D-B024-509D-4500-62EF571D0201}"/>
              </a:ext>
            </a:extLst>
          </p:cNvPr>
          <p:cNvSpPr txBox="1"/>
          <p:nvPr/>
        </p:nvSpPr>
        <p:spPr>
          <a:xfrm rot="16200000">
            <a:off x="8807658" y="2012440"/>
            <a:ext cx="962123" cy="261610"/>
          </a:xfrm>
          <a:prstGeom prst="rect">
            <a:avLst/>
          </a:prstGeom>
          <a:noFill/>
        </p:spPr>
        <p:txBody>
          <a:bodyPr wrap="none" rtlCol="0">
            <a:spAutoFit/>
          </a:bodyPr>
          <a:lstStyle/>
          <a:p>
            <a:pPr marL="0" marR="0" lvl="0" indent="0" algn="l" defTabSz="913309"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prstClr val="black"/>
                </a:solidFill>
                <a:effectLst/>
                <a:uLnTx/>
                <a:uFillTx/>
                <a:latin typeface="Graphik" panose="020B0503030202060203" pitchFamily="34" charset="0"/>
                <a:ea typeface="+mn-ea"/>
                <a:cs typeface="+mn-cs"/>
              </a:rPr>
              <a:t>Flexibilidad</a:t>
            </a:r>
          </a:p>
        </p:txBody>
      </p:sp>
      <p:sp>
        <p:nvSpPr>
          <p:cNvPr id="66" name="Arrow: Up-Down 34">
            <a:extLst>
              <a:ext uri="{FF2B5EF4-FFF2-40B4-BE49-F238E27FC236}">
                <a16:creationId xmlns:a16="http://schemas.microsoft.com/office/drawing/2014/main" id="{D15CA3BF-FD7C-0F85-5532-3875EE7DFA43}"/>
              </a:ext>
            </a:extLst>
          </p:cNvPr>
          <p:cNvSpPr/>
          <p:nvPr/>
        </p:nvSpPr>
        <p:spPr>
          <a:xfrm>
            <a:off x="8986459" y="1765588"/>
            <a:ext cx="199006" cy="4138720"/>
          </a:xfrm>
          <a:prstGeom prst="upDownArrow">
            <a:avLst>
              <a:gd name="adj1" fmla="val 18726"/>
              <a:gd name="adj2" fmla="val 59865"/>
            </a:avLst>
          </a:prstGeom>
          <a:solidFill>
            <a:srgbClr val="FF0000"/>
          </a:solidFill>
          <a:ln>
            <a:solidFill>
              <a:srgbClr val="FF324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309" rtl="0" eaLnBrk="1" fontAlgn="auto" latinLnBrk="0" hangingPunct="1">
              <a:lnSpc>
                <a:spcPct val="100000"/>
              </a:lnSpc>
              <a:spcBef>
                <a:spcPts val="0"/>
              </a:spcBef>
              <a:spcAft>
                <a:spcPts val="0"/>
              </a:spcAft>
              <a:buClrTx/>
              <a:buSzTx/>
              <a:buFontTx/>
              <a:buNone/>
              <a:tabLst/>
              <a:defRPr/>
            </a:pPr>
            <a:endParaRPr kumimoji="0" lang="en-US" sz="1198" b="0" i="0" u="none" strike="noStrike" kern="1200" cap="none" spc="0" normalizeH="0" baseline="0" noProof="0">
              <a:ln>
                <a:noFill/>
              </a:ln>
              <a:solidFill>
                <a:srgbClr val="7030A0"/>
              </a:solidFill>
              <a:effectLst/>
              <a:uLnTx/>
              <a:uFillTx/>
              <a:latin typeface="Calibri"/>
              <a:ea typeface="+mn-ea"/>
              <a:cs typeface="+mn-cs"/>
            </a:endParaRPr>
          </a:p>
        </p:txBody>
      </p:sp>
      <p:sp>
        <p:nvSpPr>
          <p:cNvPr id="67" name="TextBox 35">
            <a:extLst>
              <a:ext uri="{FF2B5EF4-FFF2-40B4-BE49-F238E27FC236}">
                <a16:creationId xmlns:a16="http://schemas.microsoft.com/office/drawing/2014/main" id="{11DAF220-39E6-7E94-1734-4E28B27AC035}"/>
              </a:ext>
            </a:extLst>
          </p:cNvPr>
          <p:cNvSpPr txBox="1"/>
          <p:nvPr/>
        </p:nvSpPr>
        <p:spPr>
          <a:xfrm>
            <a:off x="9539415" y="4919002"/>
            <a:ext cx="2395081" cy="1000274"/>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Registro</a:t>
            </a:r>
          </a:p>
          <a:p>
            <a:pPr marL="171450" indent="-171450">
              <a:buFont typeface="Arial" panose="020B0604020202020204" pitchFamily="34" charset="0"/>
              <a:buChar char="•"/>
            </a:pPr>
            <a:r>
              <a:rPr lang="es" sz="1000" b="0">
                <a:latin typeface="Graphik Light" panose="020B0403030202060203" pitchFamily="34" charset="0"/>
              </a:rPr>
              <a:t>Enfoque en la seguridad y disponibilidad</a:t>
            </a:r>
          </a:p>
          <a:p>
            <a:pPr marL="171450" indent="-171450">
              <a:buFont typeface="Arial" panose="020B0604020202020204" pitchFamily="34" charset="0"/>
              <a:buChar char="•"/>
            </a:pPr>
            <a:r>
              <a:rPr lang="es" sz="1000" b="0">
                <a:latin typeface="Graphik Light" panose="020B0403030202060203" pitchFamily="34" charset="0"/>
              </a:rPr>
              <a:t>Evolución más predecible de las funcionalidades</a:t>
            </a:r>
          </a:p>
          <a:p>
            <a:pPr marL="171450" indent="-171450">
              <a:buFont typeface="Arial" panose="020B0604020202020204" pitchFamily="34" charset="0"/>
              <a:buChar char="•"/>
            </a:pPr>
            <a:r>
              <a:rPr lang="es" sz="1000" b="0">
                <a:latin typeface="Graphik Light" panose="020B0403030202060203" pitchFamily="34" charset="0"/>
              </a:rPr>
              <a:t>Mayor uso de paquetes</a:t>
            </a:r>
          </a:p>
        </p:txBody>
      </p:sp>
      <p:sp>
        <p:nvSpPr>
          <p:cNvPr id="68" name="TextBox 36">
            <a:extLst>
              <a:ext uri="{FF2B5EF4-FFF2-40B4-BE49-F238E27FC236}">
                <a16:creationId xmlns:a16="http://schemas.microsoft.com/office/drawing/2014/main" id="{699432CF-A79C-9CF2-28A4-6C751AD76C3A}"/>
              </a:ext>
            </a:extLst>
          </p:cNvPr>
          <p:cNvSpPr txBox="1"/>
          <p:nvPr/>
        </p:nvSpPr>
        <p:spPr>
          <a:xfrm>
            <a:off x="9548002" y="3211494"/>
            <a:ext cx="2386495" cy="1738938"/>
          </a:xfrm>
          <a:prstGeom prst="rect">
            <a:avLst/>
          </a:prstGeom>
          <a:noFill/>
        </p:spPr>
        <p:txBody>
          <a:bodyPr wrap="square" lIns="0" tIns="0" rIns="0" bIns="0" rtlCol="0">
            <a:spAutoFit/>
          </a:bodyPr>
          <a:lstStyle>
            <a:defPPr>
              <a:defRPr lang="en-US"/>
            </a:defPPr>
            <a:lvl1pPr marR="0" lvl="0" indent="0" defTabSz="913309" fontAlgn="auto">
              <a:lnSpc>
                <a:spcPct val="100000"/>
              </a:lnSpc>
              <a:spcBef>
                <a:spcPts val="0"/>
              </a:spcBef>
              <a:spcAft>
                <a:spcPts val="300"/>
              </a:spcAft>
              <a:buClrTx/>
              <a:buSzTx/>
              <a:buFontTx/>
              <a:buNone/>
              <a:tabLst/>
              <a:defRPr kumimoji="0" sz="1050" b="1" i="0" u="none" strike="noStrike" cap="none" spc="0" normalizeH="0" baseline="0">
                <a:ln>
                  <a:noFill/>
                </a:ln>
                <a:solidFill>
                  <a:prstClr val="black"/>
                </a:solidFill>
                <a:effectLst/>
                <a:uLnTx/>
                <a:uFillTx/>
                <a:latin typeface="Graphik"/>
              </a:defRPr>
            </a:lvl1pPr>
          </a:lstStyle>
          <a:p>
            <a:r>
              <a:rPr lang="es"/>
              <a:t>Sistemas de diferenciación</a:t>
            </a:r>
          </a:p>
          <a:p>
            <a:pPr marL="171450" indent="-171450">
              <a:buFont typeface="Arial" panose="020B0604020202020204" pitchFamily="34" charset="0"/>
              <a:buChar char="•"/>
            </a:pPr>
            <a:r>
              <a:rPr lang="es" sz="1000" b="0">
                <a:latin typeface="Graphik Light" panose="020B0403030202060203" pitchFamily="34" charset="0"/>
              </a:rPr>
              <a:t>Alto grado de cambio, buscando aumentar la eficiencia y reducir el tiempo de lanzamiento al mercado</a:t>
            </a:r>
          </a:p>
          <a:p>
            <a:pPr marL="171450" indent="-171450">
              <a:buFont typeface="Arial" panose="020B0604020202020204" pitchFamily="34" charset="0"/>
              <a:buChar char="•"/>
            </a:pPr>
            <a:r>
              <a:rPr lang="es" sz="1000" b="0">
                <a:latin typeface="Graphik Light" panose="020B0403030202060203" pitchFamily="34" charset="0"/>
              </a:rPr>
              <a:t>Tendencia a añadir funcionalidades de productos bancarios</a:t>
            </a:r>
          </a:p>
          <a:p>
            <a:pPr marL="171450" indent="-171450">
              <a:buFont typeface="Arial" panose="020B0604020202020204" pitchFamily="34" charset="0"/>
              <a:buChar char="•"/>
            </a:pPr>
            <a:r>
              <a:rPr lang="es" sz="1000" b="0">
                <a:latin typeface="Graphik Light" panose="020B0403030202060203" pitchFamily="34" charset="0"/>
              </a:rPr>
              <a:t>Arquitectura flexible y débilmente acoplada</a:t>
            </a:r>
          </a:p>
          <a:p>
            <a:pPr marL="171450" indent="-171450">
              <a:buFont typeface="Arial" panose="020B0604020202020204" pitchFamily="34" charset="0"/>
              <a:buChar char="•"/>
            </a:pPr>
            <a:r>
              <a:rPr lang="es" sz="1000" u="sng">
                <a:latin typeface="Graphik Light" panose="020B0403030202060203" pitchFamily="34" charset="0"/>
              </a:rPr>
              <a:t>Construcción propia</a:t>
            </a:r>
          </a:p>
          <a:p>
            <a:pPr marL="171450" indent="-171450">
              <a:buFont typeface="Arial" panose="020B0604020202020204" pitchFamily="34" charset="0"/>
              <a:buChar char="•"/>
            </a:pPr>
            <a:endParaRPr lang="es" sz="1000" u="sng">
              <a:latin typeface="Graphik Light" panose="020B0403030202060203" pitchFamily="34" charset="0"/>
            </a:endParaRPr>
          </a:p>
        </p:txBody>
      </p:sp>
      <p:sp>
        <p:nvSpPr>
          <p:cNvPr id="69" name="TextBox 27">
            <a:extLst>
              <a:ext uri="{FF2B5EF4-FFF2-40B4-BE49-F238E27FC236}">
                <a16:creationId xmlns:a16="http://schemas.microsoft.com/office/drawing/2014/main" id="{03DE4179-9D74-E3D7-98C2-3112B252539B}"/>
              </a:ext>
            </a:extLst>
          </p:cNvPr>
          <p:cNvSpPr txBox="1"/>
          <p:nvPr/>
        </p:nvSpPr>
        <p:spPr>
          <a:xfrm>
            <a:off x="480493" y="2770709"/>
            <a:ext cx="2427611" cy="1007968"/>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Capa de interoperabilidad</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Permite el desacoplamiento, integración, orquestación y coexistencia de todas las posibles tecnologías, fuentes, alternativas de alojamiento y protocolos de comunicación.</a:t>
            </a:r>
          </a:p>
        </p:txBody>
      </p:sp>
      <p:grpSp>
        <p:nvGrpSpPr>
          <p:cNvPr id="70" name="Group 69">
            <a:extLst>
              <a:ext uri="{FF2B5EF4-FFF2-40B4-BE49-F238E27FC236}">
                <a16:creationId xmlns:a16="http://schemas.microsoft.com/office/drawing/2014/main" id="{5E11709E-7B76-4C28-295F-CAB4FABE1C60}"/>
              </a:ext>
            </a:extLst>
          </p:cNvPr>
          <p:cNvGrpSpPr/>
          <p:nvPr>
            <p:custDataLst>
              <p:tags r:id="rId1"/>
            </p:custDataLst>
          </p:nvPr>
        </p:nvGrpSpPr>
        <p:grpSpPr>
          <a:xfrm>
            <a:off x="6524834" y="1267587"/>
            <a:ext cx="1808294" cy="125756"/>
            <a:chOff x="10456977" y="228600"/>
            <a:chExt cx="973023" cy="266244"/>
          </a:xfrm>
        </p:grpSpPr>
        <p:sp>
          <p:nvSpPr>
            <p:cNvPr id="71" name="TextBox 70">
              <a:extLst>
                <a:ext uri="{FF2B5EF4-FFF2-40B4-BE49-F238E27FC236}">
                  <a16:creationId xmlns:a16="http://schemas.microsoft.com/office/drawing/2014/main" id="{15D36AAB-2F4A-1857-A5C3-FC3EABCE434D}"/>
                </a:ext>
              </a:extLst>
            </p:cNvPr>
            <p:cNvSpPr txBox="1"/>
            <p:nvPr/>
          </p:nvSpPr>
          <p:spPr>
            <a:xfrm>
              <a:off x="10456977" y="248029"/>
              <a:ext cx="973023" cy="227385"/>
            </a:xfrm>
            <a:prstGeom prst="rect">
              <a:avLst/>
            </a:prstGeom>
            <a:noFill/>
          </p:spPr>
          <p:txBody>
            <a:bodyPr vert="horz" wrap="square" lIns="0" tIns="0" rIns="0" bIns="0" rtlCol="0" anchor="ctr" anchorCtr="1">
              <a:spAutoFit/>
            </a:bodyPr>
            <a:lstStyle/>
            <a:p>
              <a:pPr marL="0" marR="0" lvl="0" indent="0" algn="ctr" defTabSz="228327" rtl="0" eaLnBrk="1" fontAlgn="auto" latinLnBrk="0" hangingPunct="1">
                <a:lnSpc>
                  <a:spcPct val="100000"/>
                </a:lnSpc>
                <a:spcBef>
                  <a:spcPts val="0"/>
                </a:spcBef>
                <a:spcAft>
                  <a:spcPts val="1198"/>
                </a:spcAft>
                <a:buClrTx/>
                <a:buSzTx/>
                <a:buFontTx/>
                <a:buNone/>
                <a:tabLst/>
                <a:defRPr/>
              </a:pPr>
              <a:r>
                <a:rPr kumimoji="0" lang="es" sz="698" b="1" i="0" u="none" strike="noStrike" kern="1200" cap="none" spc="0" normalizeH="0" baseline="0" noProof="0">
                  <a:ln>
                    <a:noFill/>
                  </a:ln>
                  <a:solidFill>
                    <a:srgbClr val="000000"/>
                  </a:solidFill>
                  <a:effectLst/>
                  <a:uLnTx/>
                  <a:uFillTx/>
                  <a:latin typeface="Graphik"/>
                  <a:ea typeface="+mn-ea"/>
                  <a:cs typeface="+mn-cs"/>
                </a:rPr>
                <a:t>CONCEPTUAL / NO EXHAUSTIVO</a:t>
              </a:r>
            </a:p>
          </p:txBody>
        </p:sp>
        <p:cxnSp>
          <p:nvCxnSpPr>
            <p:cNvPr id="72" name="Straight Connector 71">
              <a:extLst>
                <a:ext uri="{FF2B5EF4-FFF2-40B4-BE49-F238E27FC236}">
                  <a16:creationId xmlns:a16="http://schemas.microsoft.com/office/drawing/2014/main" id="{06ECE2C8-4847-8A98-C56E-429269E88D87}"/>
                </a:ext>
              </a:extLst>
            </p:cNvPr>
            <p:cNvCxnSpPr>
              <a:cxnSpLocks/>
            </p:cNvCxnSpPr>
            <p:nvPr/>
          </p:nvCxnSpPr>
          <p:spPr>
            <a:xfrm>
              <a:off x="10456977" y="228600"/>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9E2A5A31-679C-6A37-633D-354B6C0984B7}"/>
                </a:ext>
              </a:extLst>
            </p:cNvPr>
            <p:cNvCxnSpPr>
              <a:cxnSpLocks/>
            </p:cNvCxnSpPr>
            <p:nvPr/>
          </p:nvCxnSpPr>
          <p:spPr>
            <a:xfrm>
              <a:off x="10456977" y="494844"/>
              <a:ext cx="973023" cy="0"/>
            </a:xfrm>
            <a:prstGeom prst="line">
              <a:avLst/>
            </a:prstGeom>
            <a:ln w="12700" cmpd="sng">
              <a:solidFill>
                <a:srgbClr val="000000"/>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 name="TextBox 73">
            <a:extLst>
              <a:ext uri="{FF2B5EF4-FFF2-40B4-BE49-F238E27FC236}">
                <a16:creationId xmlns:a16="http://schemas.microsoft.com/office/drawing/2014/main" id="{8C087FAF-BCC1-B7C8-FF20-76198AB87191}"/>
              </a:ext>
            </a:extLst>
          </p:cNvPr>
          <p:cNvSpPr txBox="1"/>
          <p:nvPr/>
        </p:nvSpPr>
        <p:spPr>
          <a:xfrm>
            <a:off x="9026153" y="1325454"/>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Arquitectura del Ecosistema</a:t>
            </a:r>
          </a:p>
        </p:txBody>
      </p:sp>
      <p:sp>
        <p:nvSpPr>
          <p:cNvPr id="75" name="TextBox 27">
            <a:extLst>
              <a:ext uri="{FF2B5EF4-FFF2-40B4-BE49-F238E27FC236}">
                <a16:creationId xmlns:a16="http://schemas.microsoft.com/office/drawing/2014/main" id="{F6579F12-54E5-A578-D319-119FE017783D}"/>
              </a:ext>
            </a:extLst>
          </p:cNvPr>
          <p:cNvSpPr txBox="1"/>
          <p:nvPr/>
        </p:nvSpPr>
        <p:spPr>
          <a:xfrm>
            <a:off x="480493" y="1736553"/>
            <a:ext cx="2778271" cy="854080"/>
          </a:xfrm>
          <a:prstGeom prst="rect">
            <a:avLst/>
          </a:prstGeom>
          <a:noFill/>
        </p:spPr>
        <p:txBody>
          <a:bodyPr wrap="square" lIns="0" tIns="0" rIns="0" bIns="0" rtlCol="0">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50" b="1" i="0" u="none" strike="noStrike" kern="1200" cap="none" spc="0" normalizeH="0" baseline="0" noProof="0">
                <a:ln>
                  <a:noFill/>
                </a:ln>
                <a:solidFill>
                  <a:prstClr val="black"/>
                </a:solidFill>
                <a:effectLst/>
                <a:uLnTx/>
                <a:uFillTx/>
                <a:latin typeface="Graphik"/>
                <a:ea typeface="+mn-ea"/>
                <a:cs typeface="+mn-cs"/>
              </a:rPr>
              <a:t>"Bank of One" basado en IA</a:t>
            </a:r>
          </a:p>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000" b="0" i="0" u="none" strike="noStrike" kern="1200" cap="none" spc="0" normalizeH="0" baseline="0" noProof="0">
                <a:ln>
                  <a:noFill/>
                </a:ln>
                <a:solidFill>
                  <a:prstClr val="black"/>
                </a:solidFill>
                <a:effectLst/>
                <a:uLnTx/>
                <a:uFillTx/>
                <a:latin typeface="Graphik Light" panose="020B0403030202060203" pitchFamily="34" charset="0"/>
                <a:ea typeface="+mn-ea"/>
                <a:cs typeface="+mn-cs"/>
              </a:rPr>
              <a:t>Productos, servicios y experiencias personalizados utilizando capacidades internas y del ecosistema del banco para responder a cada necesidad de forma proactiva.</a:t>
            </a:r>
          </a:p>
        </p:txBody>
      </p:sp>
      <p:sp>
        <p:nvSpPr>
          <p:cNvPr id="76" name="TextBox 75">
            <a:extLst>
              <a:ext uri="{FF2B5EF4-FFF2-40B4-BE49-F238E27FC236}">
                <a16:creationId xmlns:a16="http://schemas.microsoft.com/office/drawing/2014/main" id="{4EB5A4A1-742D-5527-8E35-CBD56C835FAC}"/>
              </a:ext>
            </a:extLst>
          </p:cNvPr>
          <p:cNvSpPr txBox="1"/>
          <p:nvPr/>
        </p:nvSpPr>
        <p:spPr>
          <a:xfrm>
            <a:off x="299889" y="1325452"/>
            <a:ext cx="2913167" cy="276679"/>
          </a:xfrm>
          <a:prstGeom prst="rect">
            <a:avLst/>
          </a:prstGeom>
          <a:noFill/>
        </p:spPr>
        <p:txBody>
          <a:bodyPr wrap="square">
            <a:spAutoFit/>
          </a:bodyPr>
          <a:lstStyle/>
          <a:p>
            <a:pPr marL="0" marR="0" lvl="0" indent="0" algn="l" defTabSz="913309" rtl="0" eaLnBrk="1" fontAlgn="auto" latinLnBrk="0" hangingPunct="1">
              <a:lnSpc>
                <a:spcPct val="100000"/>
              </a:lnSpc>
              <a:spcBef>
                <a:spcPts val="600"/>
              </a:spcBef>
              <a:spcAft>
                <a:spcPts val="0"/>
              </a:spcAft>
              <a:buClrTx/>
              <a:buSzTx/>
              <a:buFontTx/>
              <a:buNone/>
              <a:tabLst/>
              <a:defRPr/>
            </a:pPr>
            <a:r>
              <a:rPr kumimoji="0" lang="es" sz="1198" b="1" i="0" u="none" strike="noStrike" kern="1200" cap="none" spc="0" normalizeH="0" baseline="0" noProof="0">
                <a:ln>
                  <a:noFill/>
                </a:ln>
                <a:solidFill>
                  <a:srgbClr val="460073"/>
                </a:solidFill>
                <a:effectLst/>
                <a:uLnTx/>
                <a:uFillTx/>
                <a:latin typeface="Graphik"/>
                <a:ea typeface="+mn-ea"/>
                <a:cs typeface="+mn-cs"/>
              </a:rPr>
              <a:t>Componentes clave del ecosistema</a:t>
            </a:r>
          </a:p>
        </p:txBody>
      </p:sp>
      <p:cxnSp>
        <p:nvCxnSpPr>
          <p:cNvPr id="77" name="Straight Connector 76">
            <a:extLst>
              <a:ext uri="{FF2B5EF4-FFF2-40B4-BE49-F238E27FC236}">
                <a16:creationId xmlns:a16="http://schemas.microsoft.com/office/drawing/2014/main" id="{C0D27FE2-5C70-51D6-EE7A-EAF6C480B8B4}"/>
              </a:ext>
            </a:extLst>
          </p:cNvPr>
          <p:cNvCxnSpPr>
            <a:cxnSpLocks/>
          </p:cNvCxnSpPr>
          <p:nvPr/>
        </p:nvCxnSpPr>
        <p:spPr>
          <a:xfrm>
            <a:off x="379083" y="1595125"/>
            <a:ext cx="2833972"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F7D2017-719C-BCB2-3FA1-6E3A4FBA40CC}"/>
              </a:ext>
            </a:extLst>
          </p:cNvPr>
          <p:cNvCxnSpPr>
            <a:cxnSpLocks/>
          </p:cNvCxnSpPr>
          <p:nvPr/>
        </p:nvCxnSpPr>
        <p:spPr>
          <a:xfrm>
            <a:off x="9056062" y="1595125"/>
            <a:ext cx="2748385"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79" name="Freeform: Shape 78">
            <a:extLst>
              <a:ext uri="{FF2B5EF4-FFF2-40B4-BE49-F238E27FC236}">
                <a16:creationId xmlns:a16="http://schemas.microsoft.com/office/drawing/2014/main" id="{958BA757-C07E-12EE-7325-8D92CBAFB067}"/>
              </a:ext>
            </a:extLst>
          </p:cNvPr>
          <p:cNvSpPr/>
          <p:nvPr/>
        </p:nvSpPr>
        <p:spPr>
          <a:xfrm>
            <a:off x="2461621" y="1475443"/>
            <a:ext cx="6171467" cy="1541280"/>
          </a:xfrm>
          <a:custGeom>
            <a:avLst/>
            <a:gdLst>
              <a:gd name="connsiteX0" fmla="*/ 0 w 6178550"/>
              <a:gd name="connsiteY0" fmla="*/ 273050 h 1543050"/>
              <a:gd name="connsiteX1" fmla="*/ 819150 w 6178550"/>
              <a:gd name="connsiteY1" fmla="*/ 285750 h 1543050"/>
              <a:gd name="connsiteX2" fmla="*/ 812800 w 6178550"/>
              <a:gd name="connsiteY2" fmla="*/ 6350 h 1543050"/>
              <a:gd name="connsiteX3" fmla="*/ 6165850 w 6178550"/>
              <a:gd name="connsiteY3" fmla="*/ 0 h 1543050"/>
              <a:gd name="connsiteX4" fmla="*/ 6178550 w 6178550"/>
              <a:gd name="connsiteY4" fmla="*/ 1524000 h 1543050"/>
              <a:gd name="connsiteX5" fmla="*/ 6178550 w 6178550"/>
              <a:gd name="connsiteY5" fmla="*/ 1530350 h 1543050"/>
              <a:gd name="connsiteX6" fmla="*/ 6178550 w 6178550"/>
              <a:gd name="connsiteY6" fmla="*/ 1543050 h 1543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8550" h="1543050">
                <a:moveTo>
                  <a:pt x="0" y="273050"/>
                </a:moveTo>
                <a:lnTo>
                  <a:pt x="819150" y="285750"/>
                </a:lnTo>
                <a:lnTo>
                  <a:pt x="812800" y="6350"/>
                </a:lnTo>
                <a:lnTo>
                  <a:pt x="6165850" y="0"/>
                </a:lnTo>
                <a:lnTo>
                  <a:pt x="6178550" y="1524000"/>
                </a:lnTo>
                <a:lnTo>
                  <a:pt x="6178550" y="1530350"/>
                </a:lnTo>
                <a:lnTo>
                  <a:pt x="6178550" y="1543050"/>
                </a:lnTo>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a:ln>
                <a:noFill/>
              </a:ln>
              <a:solidFill>
                <a:srgbClr val="FFFFFF"/>
              </a:solidFill>
              <a:effectLst/>
              <a:uLnTx/>
              <a:uFillTx/>
              <a:latin typeface="Graphik"/>
              <a:ea typeface="+mn-ea"/>
              <a:cs typeface="+mn-cs"/>
            </a:endParaRPr>
          </a:p>
        </p:txBody>
      </p:sp>
      <p:sp>
        <p:nvSpPr>
          <p:cNvPr id="80" name="Oval 79">
            <a:extLst>
              <a:ext uri="{FF2B5EF4-FFF2-40B4-BE49-F238E27FC236}">
                <a16:creationId xmlns:a16="http://schemas.microsoft.com/office/drawing/2014/main" id="{C1D7B18D-BED9-859A-2543-005E51CC72B7}"/>
              </a:ext>
            </a:extLst>
          </p:cNvPr>
          <p:cNvSpPr/>
          <p:nvPr/>
        </p:nvSpPr>
        <p:spPr>
          <a:xfrm>
            <a:off x="2770179" y="3971897"/>
            <a:ext cx="101748" cy="10531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sp>
        <p:nvSpPr>
          <p:cNvPr id="81" name="Oval 80">
            <a:extLst>
              <a:ext uri="{FF2B5EF4-FFF2-40B4-BE49-F238E27FC236}">
                <a16:creationId xmlns:a16="http://schemas.microsoft.com/office/drawing/2014/main" id="{8A1CF340-B2CF-B72B-96C9-005B51A77E9A}"/>
              </a:ext>
            </a:extLst>
          </p:cNvPr>
          <p:cNvSpPr/>
          <p:nvPr/>
        </p:nvSpPr>
        <p:spPr>
          <a:xfrm>
            <a:off x="2792352" y="3965035"/>
            <a:ext cx="45667" cy="103812"/>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1335" bIns="91335" rtlCol="0" anchor="ctr"/>
          <a:lstStyle/>
          <a:p>
            <a:pPr marL="0" marR="0" lvl="0" indent="0" algn="ctr" defTabSz="584116" rtl="0" eaLnBrk="1" fontAlgn="auto" latinLnBrk="0" hangingPunct="1">
              <a:lnSpc>
                <a:spcPct val="100000"/>
              </a:lnSpc>
              <a:spcBef>
                <a:spcPts val="0"/>
              </a:spcBef>
              <a:spcAft>
                <a:spcPts val="0"/>
              </a:spcAft>
              <a:buClrTx/>
              <a:buSzTx/>
              <a:buFontTx/>
              <a:buNone/>
              <a:tabLst/>
              <a:defRPr/>
            </a:pPr>
            <a:endParaRPr kumimoji="0" lang="es-ES" sz="1798" b="0" i="0" u="none" strike="noStrike" kern="1200" cap="none" spc="0" normalizeH="0" baseline="0" noProof="0" err="1">
              <a:ln>
                <a:noFill/>
              </a:ln>
              <a:solidFill>
                <a:srgbClr val="FFFFFF"/>
              </a:solidFill>
              <a:effectLst/>
              <a:uLnTx/>
              <a:uFillTx/>
              <a:latin typeface="Graphik"/>
              <a:ea typeface="+mn-ea"/>
              <a:cs typeface="+mn-cs"/>
            </a:endParaRPr>
          </a:p>
        </p:txBody>
      </p:sp>
      <p:pic>
        <p:nvPicPr>
          <p:cNvPr id="82" name="Picture 81">
            <a:extLst>
              <a:ext uri="{FF2B5EF4-FFF2-40B4-BE49-F238E27FC236}">
                <a16:creationId xmlns:a16="http://schemas.microsoft.com/office/drawing/2014/main" id="{1609A540-B722-A2CB-7CC4-0896358508CA}"/>
              </a:ext>
            </a:extLst>
          </p:cNvPr>
          <p:cNvPicPr>
            <a:picLocks noChangeAspect="1"/>
          </p:cNvPicPr>
          <p:nvPr/>
        </p:nvPicPr>
        <p:blipFill>
          <a:blip r:embed="rId4"/>
          <a:stretch>
            <a:fillRect/>
          </a:stretch>
        </p:blipFill>
        <p:spPr>
          <a:xfrm>
            <a:off x="3373420" y="2015230"/>
            <a:ext cx="5550637" cy="3545035"/>
          </a:xfrm>
          <a:prstGeom prst="rect">
            <a:avLst/>
          </a:prstGeom>
        </p:spPr>
      </p:pic>
      <p:cxnSp>
        <p:nvCxnSpPr>
          <p:cNvPr id="83" name="Connector: Elbow 82">
            <a:extLst>
              <a:ext uri="{FF2B5EF4-FFF2-40B4-BE49-F238E27FC236}">
                <a16:creationId xmlns:a16="http://schemas.microsoft.com/office/drawing/2014/main" id="{07E849A0-62DF-0DE5-3EF9-01667EC97D17}"/>
              </a:ext>
            </a:extLst>
          </p:cNvPr>
          <p:cNvCxnSpPr>
            <a:cxnSpLocks/>
          </p:cNvCxnSpPr>
          <p:nvPr/>
        </p:nvCxnSpPr>
        <p:spPr>
          <a:xfrm>
            <a:off x="2474781" y="1825580"/>
            <a:ext cx="2363919" cy="174973"/>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4" name="Connector: Elbow 83">
            <a:extLst>
              <a:ext uri="{FF2B5EF4-FFF2-40B4-BE49-F238E27FC236}">
                <a16:creationId xmlns:a16="http://schemas.microsoft.com/office/drawing/2014/main" id="{43D2D590-5656-AFDE-A3D9-080310920A65}"/>
              </a:ext>
            </a:extLst>
          </p:cNvPr>
          <p:cNvCxnSpPr>
            <a:cxnSpLocks/>
          </p:cNvCxnSpPr>
          <p:nvPr/>
        </p:nvCxnSpPr>
        <p:spPr>
          <a:xfrm flipV="1">
            <a:off x="2814862" y="3542267"/>
            <a:ext cx="2282761" cy="482288"/>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45B6D2A1-E65A-B25E-4F32-1BC438A685BB}"/>
              </a:ext>
            </a:extLst>
          </p:cNvPr>
          <p:cNvCxnSpPr>
            <a:cxnSpLocks/>
          </p:cNvCxnSpPr>
          <p:nvPr/>
        </p:nvCxnSpPr>
        <p:spPr>
          <a:xfrm flipV="1">
            <a:off x="2474571" y="2770709"/>
            <a:ext cx="912837" cy="57482"/>
          </a:xfrm>
          <a:prstGeom prst="bentConnector3">
            <a:avLst>
              <a:gd name="adj1" fmla="val 50000"/>
            </a:avLst>
          </a:prstGeom>
          <a:ln w="28575">
            <a:solidFill>
              <a:srgbClr val="FF3246"/>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80507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2743D-A9EB-BB47-FC8B-9CBA25DE2166}"/>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E27A8107-D50D-2913-4486-B489CE76B2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legado y banco del futuro</a:t>
            </a:r>
          </a:p>
        </p:txBody>
      </p:sp>
      <p:sp>
        <p:nvSpPr>
          <p:cNvPr id="16" name="Footer Placeholder 2">
            <a:extLst>
              <a:ext uri="{FF2B5EF4-FFF2-40B4-BE49-F238E27FC236}">
                <a16:creationId xmlns:a16="http://schemas.microsoft.com/office/drawing/2014/main" id="{81D84C92-CD89-7580-D1B5-59C04281A76F}"/>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ext Placeholder 1">
            <a:extLst>
              <a:ext uri="{FF2B5EF4-FFF2-40B4-BE49-F238E27FC236}">
                <a16:creationId xmlns:a16="http://schemas.microsoft.com/office/drawing/2014/main" id="{7B581C34-F2CE-16FA-494E-70C76A087FE1}"/>
              </a:ext>
            </a:extLst>
          </p:cNvPr>
          <p:cNvSpPr txBox="1">
            <a:spLocks/>
          </p:cNvSpPr>
          <p:nvPr/>
        </p:nvSpPr>
        <p:spPr>
          <a:xfrm>
            <a:off x="304800" y="674264"/>
            <a:ext cx="11522004" cy="288925"/>
          </a:xfrm>
          <a:prstGeom prst="rect">
            <a:avLst/>
          </a:prstGeom>
        </p:spPr>
        <p:txBody>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sz="1800" b="0" kern="1200">
                <a:solidFill>
                  <a:schemeClr val="tx1"/>
                </a:solidFill>
                <a:latin typeface="+mn-lt"/>
                <a:ea typeface="+mn-ea"/>
                <a:cs typeface="+mn-cs"/>
              </a:defRPr>
            </a:lvl1pPr>
            <a:lvl2pPr marL="182563" indent="-182563" algn="l" defTabSz="228600" rtl="0" eaLnBrk="1" latinLnBrk="0" hangingPunct="1">
              <a:lnSpc>
                <a:spcPct val="100000"/>
              </a:lnSpc>
              <a:spcBef>
                <a:spcPts val="0"/>
              </a:spcBef>
              <a:spcAft>
                <a:spcPts val="600"/>
              </a:spcAft>
              <a:buClrTx/>
              <a:buFont typeface="Arial" panose="020B0604020202020204" pitchFamily="34" charset="0"/>
              <a:buChar char="•"/>
              <a:defRPr sz="1800" kern="1200">
                <a:solidFill>
                  <a:schemeClr val="tx1"/>
                </a:solidFill>
                <a:latin typeface="+mn-lt"/>
                <a:ea typeface="+mn-ea"/>
                <a:cs typeface="+mn-cs"/>
              </a:defRPr>
            </a:lvl2pPr>
            <a:lvl3pPr marL="355600" indent="-173038"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3pPr>
            <a:lvl4pPr marL="538163" indent="-182563"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4pPr>
            <a:lvl5pPr marL="720725" indent="-182563" algn="l" defTabSz="228600" rtl="0" eaLnBrk="1" latinLnBrk="0" hangingPunct="1">
              <a:lnSpc>
                <a:spcPct val="100000"/>
              </a:lnSpc>
              <a:spcBef>
                <a:spcPts val="0"/>
              </a:spcBef>
              <a:spcAft>
                <a:spcPts val="6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 - Coexistencia </a:t>
            </a:r>
            <a:r>
              <a:rPr kumimoji="0" lang="es" sz="135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(Motores de productos cruzados e integridad transaccional)</a:t>
            </a:r>
          </a:p>
        </p:txBody>
      </p:sp>
      <p:sp>
        <p:nvSpPr>
          <p:cNvPr id="3" name="Rectangle 2">
            <a:extLst>
              <a:ext uri="{FF2B5EF4-FFF2-40B4-BE49-F238E27FC236}">
                <a16:creationId xmlns:a16="http://schemas.microsoft.com/office/drawing/2014/main" id="{505BA973-4928-2DC1-C030-6965D1ACDE35}"/>
              </a:ext>
            </a:extLst>
          </p:cNvPr>
          <p:cNvSpPr/>
          <p:nvPr/>
        </p:nvSpPr>
        <p:spPr>
          <a:xfrm>
            <a:off x="0" y="1690359"/>
            <a:ext cx="12191999" cy="1224000"/>
          </a:xfrm>
          <a:prstGeom prst="rect">
            <a:avLst/>
          </a:prstGeom>
          <a:blipFill>
            <a:blip r:embed="rId2"/>
            <a:stretch>
              <a:fillRect/>
            </a:stretch>
          </a:blip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rgbClr val="FFFFFF"/>
              </a:solidFill>
              <a:effectLst/>
              <a:uLnTx/>
              <a:uFillTx/>
              <a:latin typeface="Graphik"/>
              <a:ea typeface="+mn-ea"/>
              <a:cs typeface="+mn-cs"/>
            </a:endParaRPr>
          </a:p>
        </p:txBody>
      </p:sp>
      <p:sp>
        <p:nvSpPr>
          <p:cNvPr id="6" name="Text Placeholder 3">
            <a:extLst>
              <a:ext uri="{FF2B5EF4-FFF2-40B4-BE49-F238E27FC236}">
                <a16:creationId xmlns:a16="http://schemas.microsoft.com/office/drawing/2014/main" id="{64BF129C-2DB6-9BCB-B302-4D8F58D33EB4}"/>
              </a:ext>
            </a:extLst>
          </p:cNvPr>
          <p:cNvSpPr txBox="1">
            <a:spLocks/>
          </p:cNvSpPr>
          <p:nvPr/>
        </p:nvSpPr>
        <p:spPr>
          <a:xfrm>
            <a:off x="323572" y="1017924"/>
            <a:ext cx="11430000" cy="116942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Graphik" panose="020B0604020202020204" pitchFamily="34" charset="0"/>
              <a:buNone/>
              <a:tabLst/>
              <a:defRPr/>
            </a:pPr>
            <a:r>
              <a:rPr kumimoji="0" lang="es" sz="1400" b="0" i="0" u="none" strike="noStrike" kern="1200" cap="none" spc="0" normalizeH="0" baseline="0" noProof="0">
                <a:ln>
                  <a:noFill/>
                </a:ln>
                <a:solidFill>
                  <a:srgbClr val="000000"/>
                </a:solidFill>
                <a:effectLst/>
                <a:uLnTx/>
                <a:uFillTx/>
                <a:latin typeface="Graphik"/>
                <a:ea typeface="+mn-ea"/>
                <a:cs typeface="+mn-cs"/>
              </a:rPr>
              <a:t>Una vista arquitectónica integral de extremo a extremo permite una integración fluida entre sistemas, reduce la complejidad y garantiza una estrategia de modernización coherente que apoya el crecimiento futuro.</a:t>
            </a:r>
          </a:p>
        </p:txBody>
      </p:sp>
      <p:sp>
        <p:nvSpPr>
          <p:cNvPr id="7" name="TextBox 6">
            <a:extLst>
              <a:ext uri="{FF2B5EF4-FFF2-40B4-BE49-F238E27FC236}">
                <a16:creationId xmlns:a16="http://schemas.microsoft.com/office/drawing/2014/main" id="{5CB0A7F1-4FDF-A6AE-2921-6A4788A303FD}"/>
              </a:ext>
            </a:extLst>
          </p:cNvPr>
          <p:cNvSpPr txBox="1"/>
          <p:nvPr/>
        </p:nvSpPr>
        <p:spPr>
          <a:xfrm>
            <a:off x="380999" y="2201154"/>
            <a:ext cx="614827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Los servicios de coexistencia permitirán evolucionar gradualmente la arquitectura, pivotando en cualquier momento. La convivencia será estructural facilitando un ecosistema orientado y componible de enfoque empresarial.</a:t>
            </a:r>
            <a:endParaRPr kumimoji="0" lang="en-IE"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endParaRPr>
          </a:p>
        </p:txBody>
      </p:sp>
      <p:sp>
        <p:nvSpPr>
          <p:cNvPr id="13" name="Rectangle 12">
            <a:extLst>
              <a:ext uri="{FF2B5EF4-FFF2-40B4-BE49-F238E27FC236}">
                <a16:creationId xmlns:a16="http://schemas.microsoft.com/office/drawing/2014/main" id="{901E092C-7191-4494-F906-59BA8264F1BD}"/>
              </a:ext>
            </a:extLst>
          </p:cNvPr>
          <p:cNvSpPr/>
          <p:nvPr/>
        </p:nvSpPr>
        <p:spPr>
          <a:xfrm>
            <a:off x="959117" y="1803787"/>
            <a:ext cx="3455088"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Lógica</a:t>
            </a:r>
          </a:p>
        </p:txBody>
      </p:sp>
      <p:sp>
        <p:nvSpPr>
          <p:cNvPr id="14" name="Freeform 73">
            <a:extLst>
              <a:ext uri="{FF2B5EF4-FFF2-40B4-BE49-F238E27FC236}">
                <a16:creationId xmlns:a16="http://schemas.microsoft.com/office/drawing/2014/main" id="{BA97192B-1B62-1A3E-B67D-64ED3ECE1CD6}"/>
              </a:ext>
            </a:extLst>
          </p:cNvPr>
          <p:cNvSpPr>
            <a:spLocks/>
          </p:cNvSpPr>
          <p:nvPr/>
        </p:nvSpPr>
        <p:spPr bwMode="auto">
          <a:xfrm>
            <a:off x="385745" y="1855776"/>
            <a:ext cx="490202" cy="244528"/>
          </a:xfrm>
          <a:custGeom>
            <a:avLst/>
            <a:gdLst>
              <a:gd name="T0" fmla="*/ 216 w 288"/>
              <a:gd name="T1" fmla="*/ 144 h 144"/>
              <a:gd name="T2" fmla="*/ 151 w 288"/>
              <a:gd name="T3" fmla="*/ 105 h 144"/>
              <a:gd name="T4" fmla="*/ 153 w 288"/>
              <a:gd name="T5" fmla="*/ 97 h 144"/>
              <a:gd name="T6" fmla="*/ 161 w 288"/>
              <a:gd name="T7" fmla="*/ 99 h 144"/>
              <a:gd name="T8" fmla="*/ 161 w 288"/>
              <a:gd name="T9" fmla="*/ 99 h 144"/>
              <a:gd name="T10" fmla="*/ 216 w 288"/>
              <a:gd name="T11" fmla="*/ 132 h 144"/>
              <a:gd name="T12" fmla="*/ 276 w 288"/>
              <a:gd name="T13" fmla="*/ 72 h 144"/>
              <a:gd name="T14" fmla="*/ 216 w 288"/>
              <a:gd name="T15" fmla="*/ 12 h 144"/>
              <a:gd name="T16" fmla="*/ 149 w 288"/>
              <a:gd name="T17" fmla="*/ 75 h 144"/>
              <a:gd name="T18" fmla="*/ 72 w 288"/>
              <a:gd name="T19" fmla="*/ 144 h 144"/>
              <a:gd name="T20" fmla="*/ 0 w 288"/>
              <a:gd name="T21" fmla="*/ 72 h 144"/>
              <a:gd name="T22" fmla="*/ 72 w 288"/>
              <a:gd name="T23" fmla="*/ 0 h 144"/>
              <a:gd name="T24" fmla="*/ 132 w 288"/>
              <a:gd name="T25" fmla="*/ 45 h 144"/>
              <a:gd name="T26" fmla="*/ 128 w 288"/>
              <a:gd name="T27" fmla="*/ 53 h 144"/>
              <a:gd name="T28" fmla="*/ 121 w 288"/>
              <a:gd name="T29" fmla="*/ 50 h 144"/>
              <a:gd name="T30" fmla="*/ 72 w 288"/>
              <a:gd name="T31" fmla="*/ 12 h 144"/>
              <a:gd name="T32" fmla="*/ 12 w 288"/>
              <a:gd name="T33" fmla="*/ 72 h 144"/>
              <a:gd name="T34" fmla="*/ 72 w 288"/>
              <a:gd name="T35" fmla="*/ 132 h 144"/>
              <a:gd name="T36" fmla="*/ 139 w 288"/>
              <a:gd name="T37" fmla="*/ 69 h 144"/>
              <a:gd name="T38" fmla="*/ 216 w 288"/>
              <a:gd name="T39" fmla="*/ 0 h 144"/>
              <a:gd name="T40" fmla="*/ 288 w 288"/>
              <a:gd name="T41" fmla="*/ 72 h 144"/>
              <a:gd name="T42" fmla="*/ 216 w 288"/>
              <a:gd name="T43"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88" h="144">
                <a:moveTo>
                  <a:pt x="216" y="144"/>
                </a:moveTo>
                <a:cubicBezTo>
                  <a:pt x="177" y="144"/>
                  <a:pt x="152" y="107"/>
                  <a:pt x="151" y="105"/>
                </a:cubicBezTo>
                <a:cubicBezTo>
                  <a:pt x="149" y="102"/>
                  <a:pt x="150" y="99"/>
                  <a:pt x="153" y="97"/>
                </a:cubicBezTo>
                <a:cubicBezTo>
                  <a:pt x="155" y="95"/>
                  <a:pt x="159" y="96"/>
                  <a:pt x="161" y="99"/>
                </a:cubicBezTo>
                <a:cubicBezTo>
                  <a:pt x="161" y="99"/>
                  <a:pt x="161" y="99"/>
                  <a:pt x="161" y="99"/>
                </a:cubicBezTo>
                <a:cubicBezTo>
                  <a:pt x="161" y="99"/>
                  <a:pt x="184" y="132"/>
                  <a:pt x="216" y="132"/>
                </a:cubicBezTo>
                <a:cubicBezTo>
                  <a:pt x="249" y="132"/>
                  <a:pt x="276" y="105"/>
                  <a:pt x="276" y="72"/>
                </a:cubicBezTo>
                <a:cubicBezTo>
                  <a:pt x="276" y="39"/>
                  <a:pt x="249" y="12"/>
                  <a:pt x="216" y="12"/>
                </a:cubicBezTo>
                <a:cubicBezTo>
                  <a:pt x="189" y="12"/>
                  <a:pt x="169" y="44"/>
                  <a:pt x="149" y="75"/>
                </a:cubicBezTo>
                <a:cubicBezTo>
                  <a:pt x="128" y="109"/>
                  <a:pt x="105" y="144"/>
                  <a:pt x="72" y="144"/>
                </a:cubicBezTo>
                <a:cubicBezTo>
                  <a:pt x="32" y="144"/>
                  <a:pt x="0" y="112"/>
                  <a:pt x="0" y="72"/>
                </a:cubicBezTo>
                <a:cubicBezTo>
                  <a:pt x="0" y="32"/>
                  <a:pt x="32" y="0"/>
                  <a:pt x="72" y="0"/>
                </a:cubicBezTo>
                <a:cubicBezTo>
                  <a:pt x="112" y="0"/>
                  <a:pt x="131" y="44"/>
                  <a:pt x="132" y="45"/>
                </a:cubicBezTo>
                <a:cubicBezTo>
                  <a:pt x="133" y="49"/>
                  <a:pt x="131" y="52"/>
                  <a:pt x="128" y="53"/>
                </a:cubicBezTo>
                <a:cubicBezTo>
                  <a:pt x="125" y="55"/>
                  <a:pt x="122" y="53"/>
                  <a:pt x="121" y="50"/>
                </a:cubicBezTo>
                <a:cubicBezTo>
                  <a:pt x="120" y="50"/>
                  <a:pt x="104" y="12"/>
                  <a:pt x="72" y="12"/>
                </a:cubicBezTo>
                <a:cubicBezTo>
                  <a:pt x="39" y="12"/>
                  <a:pt x="12" y="39"/>
                  <a:pt x="12" y="72"/>
                </a:cubicBezTo>
                <a:cubicBezTo>
                  <a:pt x="12" y="105"/>
                  <a:pt x="39" y="132"/>
                  <a:pt x="72" y="132"/>
                </a:cubicBezTo>
                <a:cubicBezTo>
                  <a:pt x="99" y="132"/>
                  <a:pt x="119" y="100"/>
                  <a:pt x="139" y="69"/>
                </a:cubicBezTo>
                <a:cubicBezTo>
                  <a:pt x="160" y="35"/>
                  <a:pt x="183" y="0"/>
                  <a:pt x="216" y="0"/>
                </a:cubicBezTo>
                <a:cubicBezTo>
                  <a:pt x="256" y="0"/>
                  <a:pt x="288" y="32"/>
                  <a:pt x="288" y="72"/>
                </a:cubicBezTo>
                <a:cubicBezTo>
                  <a:pt x="288" y="112"/>
                  <a:pt x="256" y="144"/>
                  <a:pt x="216" y="14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a:ea typeface="+mn-ea"/>
              <a:cs typeface="Arial" charset="0"/>
            </a:endParaRPr>
          </a:p>
        </p:txBody>
      </p:sp>
      <p:sp>
        <p:nvSpPr>
          <p:cNvPr id="17" name="TextBox 16">
            <a:extLst>
              <a:ext uri="{FF2B5EF4-FFF2-40B4-BE49-F238E27FC236}">
                <a16:creationId xmlns:a16="http://schemas.microsoft.com/office/drawing/2014/main" id="{040852C9-6570-468A-B7E0-9DCE296AFFE0}"/>
              </a:ext>
            </a:extLst>
          </p:cNvPr>
          <p:cNvSpPr txBox="1"/>
          <p:nvPr/>
        </p:nvSpPr>
        <p:spPr>
          <a:xfrm>
            <a:off x="6919484" y="2201154"/>
            <a:ext cx="4891517" cy="646331"/>
          </a:xfrm>
          <a:prstGeom prst="rect">
            <a:avLst/>
          </a:prstGeom>
          <a:noFill/>
        </p:spPr>
        <p:txBody>
          <a:bodyPr wrap="square" lIns="0">
            <a:spAutoFit/>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kumimoji="0" lang="es" sz="1200" b="0" i="0" u="none" strike="noStrike" kern="1200" cap="none" spc="0" normalizeH="0" baseline="0" noProof="0">
                <a:ln>
                  <a:noFill/>
                </a:ln>
                <a:solidFill>
                  <a:srgbClr val="FFFFFF"/>
                </a:solidFill>
                <a:effectLst/>
                <a:uLnTx/>
                <a:uFillTx/>
                <a:latin typeface="Graphik Light" panose="020B0403030202060203" pitchFamily="34" charset="0"/>
                <a:ea typeface="+mn-ea"/>
                <a:cs typeface="+mn-cs"/>
              </a:rPr>
              <a:t>La coexistencia técnica es un conjunto de facilitadores que apoyan los servicios de desacoplamiento e integración, así como los servicios de coexistencia </a:t>
            </a:r>
          </a:p>
        </p:txBody>
      </p:sp>
      <p:grpSp>
        <p:nvGrpSpPr>
          <p:cNvPr id="18" name="Group 17">
            <a:extLst>
              <a:ext uri="{FF2B5EF4-FFF2-40B4-BE49-F238E27FC236}">
                <a16:creationId xmlns:a16="http://schemas.microsoft.com/office/drawing/2014/main" id="{378D6DCC-294E-321A-4C9E-E695E529F505}"/>
              </a:ext>
            </a:extLst>
          </p:cNvPr>
          <p:cNvGrpSpPr/>
          <p:nvPr/>
        </p:nvGrpSpPr>
        <p:grpSpPr>
          <a:xfrm>
            <a:off x="6944047" y="1772716"/>
            <a:ext cx="4685974" cy="400403"/>
            <a:chOff x="7336427" y="1772716"/>
            <a:chExt cx="4685974" cy="400403"/>
          </a:xfrm>
        </p:grpSpPr>
        <p:grpSp>
          <p:nvGrpSpPr>
            <p:cNvPr id="20" name="Group 242">
              <a:extLst>
                <a:ext uri="{FF2B5EF4-FFF2-40B4-BE49-F238E27FC236}">
                  <a16:creationId xmlns:a16="http://schemas.microsoft.com/office/drawing/2014/main" id="{EF32896C-8DD6-A9FF-CAD6-A91E8E437FE5}"/>
                </a:ext>
              </a:extLst>
            </p:cNvPr>
            <p:cNvGrpSpPr>
              <a:grpSpLocks noChangeAspect="1"/>
            </p:cNvGrpSpPr>
            <p:nvPr/>
          </p:nvGrpSpPr>
          <p:grpSpPr bwMode="auto">
            <a:xfrm>
              <a:off x="7336427" y="1772716"/>
              <a:ext cx="384185" cy="385083"/>
              <a:chOff x="4478" y="440"/>
              <a:chExt cx="426" cy="427"/>
            </a:xfrm>
            <a:solidFill>
              <a:schemeClr val="bg1"/>
            </a:solidFill>
          </p:grpSpPr>
          <p:sp>
            <p:nvSpPr>
              <p:cNvPr id="23" name="Freeform 243">
                <a:extLst>
                  <a:ext uri="{FF2B5EF4-FFF2-40B4-BE49-F238E27FC236}">
                    <a16:creationId xmlns:a16="http://schemas.microsoft.com/office/drawing/2014/main" id="{33951A2B-DB2C-6C24-1287-F4057114FE4C}"/>
                  </a:ext>
                </a:extLst>
              </p:cNvPr>
              <p:cNvSpPr>
                <a:spLocks noEditPoints="1"/>
              </p:cNvSpPr>
              <p:nvPr/>
            </p:nvSpPr>
            <p:spPr bwMode="auto">
              <a:xfrm>
                <a:off x="4549" y="440"/>
                <a:ext cx="284" cy="284"/>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4" name="Freeform 244">
                <a:extLst>
                  <a:ext uri="{FF2B5EF4-FFF2-40B4-BE49-F238E27FC236}">
                    <a16:creationId xmlns:a16="http://schemas.microsoft.com/office/drawing/2014/main" id="{D177E4C0-F701-BDB1-ABCF-60B94AC194AD}"/>
                  </a:ext>
                </a:extLst>
              </p:cNvPr>
              <p:cNvSpPr>
                <a:spLocks noEditPoints="1"/>
              </p:cNvSpPr>
              <p:nvPr/>
            </p:nvSpPr>
            <p:spPr bwMode="auto">
              <a:xfrm>
                <a:off x="4478"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sp>
            <p:nvSpPr>
              <p:cNvPr id="25" name="Freeform 245">
                <a:extLst>
                  <a:ext uri="{FF2B5EF4-FFF2-40B4-BE49-F238E27FC236}">
                    <a16:creationId xmlns:a16="http://schemas.microsoft.com/office/drawing/2014/main" id="{02C745C0-8E0F-EC2B-297D-6662E76D7CA1}"/>
                  </a:ext>
                </a:extLst>
              </p:cNvPr>
              <p:cNvSpPr>
                <a:spLocks noEditPoints="1"/>
              </p:cNvSpPr>
              <p:nvPr/>
            </p:nvSpPr>
            <p:spPr bwMode="auto">
              <a:xfrm>
                <a:off x="4620" y="582"/>
                <a:ext cx="284" cy="285"/>
              </a:xfrm>
              <a:custGeom>
                <a:avLst/>
                <a:gdLst>
                  <a:gd name="T0" fmla="*/ 96 w 192"/>
                  <a:gd name="T1" fmla="*/ 192 h 192"/>
                  <a:gd name="T2" fmla="*/ 0 w 192"/>
                  <a:gd name="T3" fmla="*/ 96 h 192"/>
                  <a:gd name="T4" fmla="*/ 96 w 192"/>
                  <a:gd name="T5" fmla="*/ 0 h 192"/>
                  <a:gd name="T6" fmla="*/ 192 w 192"/>
                  <a:gd name="T7" fmla="*/ 96 h 192"/>
                  <a:gd name="T8" fmla="*/ 96 w 192"/>
                  <a:gd name="T9" fmla="*/ 192 h 192"/>
                  <a:gd name="T10" fmla="*/ 96 w 192"/>
                  <a:gd name="T11" fmla="*/ 12 h 192"/>
                  <a:gd name="T12" fmla="*/ 12 w 192"/>
                  <a:gd name="T13" fmla="*/ 96 h 192"/>
                  <a:gd name="T14" fmla="*/ 96 w 192"/>
                  <a:gd name="T15" fmla="*/ 180 h 192"/>
                  <a:gd name="T16" fmla="*/ 180 w 192"/>
                  <a:gd name="T17" fmla="*/ 96 h 192"/>
                  <a:gd name="T18" fmla="*/ 96 w 192"/>
                  <a:gd name="T19"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2" h="192">
                    <a:moveTo>
                      <a:pt x="96" y="192"/>
                    </a:moveTo>
                    <a:cubicBezTo>
                      <a:pt x="43" y="192"/>
                      <a:pt x="0" y="149"/>
                      <a:pt x="0" y="96"/>
                    </a:cubicBezTo>
                    <a:cubicBezTo>
                      <a:pt x="0" y="43"/>
                      <a:pt x="43" y="0"/>
                      <a:pt x="96" y="0"/>
                    </a:cubicBezTo>
                    <a:cubicBezTo>
                      <a:pt x="149" y="0"/>
                      <a:pt x="192" y="43"/>
                      <a:pt x="192" y="96"/>
                    </a:cubicBezTo>
                    <a:cubicBezTo>
                      <a:pt x="192" y="149"/>
                      <a:pt x="149" y="192"/>
                      <a:pt x="96" y="192"/>
                    </a:cubicBezTo>
                    <a:close/>
                    <a:moveTo>
                      <a:pt x="96" y="12"/>
                    </a:moveTo>
                    <a:cubicBezTo>
                      <a:pt x="50" y="12"/>
                      <a:pt x="12" y="50"/>
                      <a:pt x="12" y="96"/>
                    </a:cubicBezTo>
                    <a:cubicBezTo>
                      <a:pt x="12" y="142"/>
                      <a:pt x="50" y="180"/>
                      <a:pt x="96" y="180"/>
                    </a:cubicBezTo>
                    <a:cubicBezTo>
                      <a:pt x="143" y="180"/>
                      <a:pt x="180" y="142"/>
                      <a:pt x="180" y="96"/>
                    </a:cubicBezTo>
                    <a:cubicBezTo>
                      <a:pt x="180" y="50"/>
                      <a:pt x="143" y="12"/>
                      <a:pt x="9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AU" sz="1800" b="0" i="0" u="none" strike="noStrike" kern="0" cap="none" spc="0" normalizeH="0" baseline="0" noProof="0">
                  <a:ln>
                    <a:noFill/>
                  </a:ln>
                  <a:solidFill>
                    <a:srgbClr val="96968C"/>
                  </a:solidFill>
                  <a:effectLst/>
                  <a:uLnTx/>
                  <a:uFillTx/>
                  <a:latin typeface="Arial" charset="0"/>
                  <a:ea typeface="+mn-ea"/>
                  <a:cs typeface="Arial" charset="0"/>
                </a:endParaRPr>
              </a:p>
            </p:txBody>
          </p:sp>
        </p:grpSp>
        <p:sp>
          <p:nvSpPr>
            <p:cNvPr id="22" name="Rectangle 21">
              <a:extLst>
                <a:ext uri="{FF2B5EF4-FFF2-40B4-BE49-F238E27FC236}">
                  <a16:creationId xmlns:a16="http://schemas.microsoft.com/office/drawing/2014/main" id="{D8B279E3-BD8E-2F48-C3D1-C3E79E478644}"/>
                </a:ext>
              </a:extLst>
            </p:cNvPr>
            <p:cNvSpPr/>
            <p:nvPr/>
          </p:nvSpPr>
          <p:spPr>
            <a:xfrm>
              <a:off x="7784620" y="1803787"/>
              <a:ext cx="4237781" cy="36933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91440" bIns="914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600" b="1" i="0" u="none" strike="noStrike" kern="1200" cap="none" spc="0" normalizeH="0" baseline="0" noProof="0">
                  <a:ln>
                    <a:noFill/>
                  </a:ln>
                  <a:solidFill>
                    <a:srgbClr val="FFFFFF"/>
                  </a:solidFill>
                  <a:effectLst/>
                  <a:uLnTx/>
                  <a:uFillTx/>
                  <a:latin typeface="Graphik Semibold" panose="020B0703030202060203" pitchFamily="34" charset="0"/>
                  <a:ea typeface="+mn-ea"/>
                  <a:cs typeface="+mn-cs"/>
                </a:rPr>
                <a:t>Coexistencia Técnica (Patrones clave)</a:t>
              </a:r>
            </a:p>
          </p:txBody>
        </p:sp>
      </p:grpSp>
      <p:sp>
        <p:nvSpPr>
          <p:cNvPr id="26" name="Rounded Rectangle 46">
            <a:extLst>
              <a:ext uri="{FF2B5EF4-FFF2-40B4-BE49-F238E27FC236}">
                <a16:creationId xmlns:a16="http://schemas.microsoft.com/office/drawing/2014/main" id="{B9EA2929-A56C-EE8A-6D40-448C15AB1695}"/>
              </a:ext>
            </a:extLst>
          </p:cNvPr>
          <p:cNvSpPr/>
          <p:nvPr/>
        </p:nvSpPr>
        <p:spPr>
          <a:xfrm>
            <a:off x="4103874"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Agrupación y Barrido</a:t>
            </a:r>
          </a:p>
        </p:txBody>
      </p:sp>
      <p:sp>
        <p:nvSpPr>
          <p:cNvPr id="27" name="Rounded Rectangle 28">
            <a:extLst>
              <a:ext uri="{FF2B5EF4-FFF2-40B4-BE49-F238E27FC236}">
                <a16:creationId xmlns:a16="http://schemas.microsoft.com/office/drawing/2014/main" id="{4AC7C17E-85B4-7227-5F81-DF4DA0955450}"/>
              </a:ext>
            </a:extLst>
          </p:cNvPr>
          <p:cNvSpPr/>
          <p:nvPr/>
        </p:nvSpPr>
        <p:spPr>
          <a:xfrm>
            <a:off x="410387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Estrategia de gestión de caja que consiste en consolidar varias cuentas de caja de una empresa en una sola cuenta o fondo para optimizar la posición global de caja, mejorar la gestión del flujo de caja y beneficiarse de ingresos por intereses o ahorro de costes.</a:t>
            </a:r>
          </a:p>
        </p:txBody>
      </p:sp>
      <p:sp>
        <p:nvSpPr>
          <p:cNvPr id="28" name="Rounded Rectangle 46">
            <a:extLst>
              <a:ext uri="{FF2B5EF4-FFF2-40B4-BE49-F238E27FC236}">
                <a16:creationId xmlns:a16="http://schemas.microsoft.com/office/drawing/2014/main" id="{11A2D84D-2E7D-6A6B-47A7-CC5BB5FDA955}"/>
              </a:ext>
            </a:extLst>
          </p:cNvPr>
          <p:cNvSpPr/>
          <p:nvPr/>
        </p:nvSpPr>
        <p:spPr>
          <a:xfrm>
            <a:off x="4103874"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Declaraciones</a:t>
            </a:r>
          </a:p>
        </p:txBody>
      </p:sp>
      <p:sp>
        <p:nvSpPr>
          <p:cNvPr id="29" name="Rounded Rectangle 28">
            <a:extLst>
              <a:ext uri="{FF2B5EF4-FFF2-40B4-BE49-F238E27FC236}">
                <a16:creationId xmlns:a16="http://schemas.microsoft.com/office/drawing/2014/main" id="{84827374-C3FA-7007-1D3F-B255E0F2162A}"/>
              </a:ext>
            </a:extLst>
          </p:cNvPr>
          <p:cNvSpPr/>
          <p:nvPr/>
        </p:nvSpPr>
        <p:spPr>
          <a:xfrm>
            <a:off x="410387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actividades relacionadas con la emisión de extractos regulares de clientes/cuentas tanto en formatos electrónicos como físicos, así como notificaciones y notificaciones ad- hoc / on-event eventos.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0" name="Rounded Rectangle 48">
            <a:extLst>
              <a:ext uri="{FF2B5EF4-FFF2-40B4-BE49-F238E27FC236}">
                <a16:creationId xmlns:a16="http://schemas.microsoft.com/office/drawing/2014/main" id="{F26FC224-BB46-93A8-0755-D95C933AF197}"/>
              </a:ext>
            </a:extLst>
          </p:cNvPr>
          <p:cNvSpPr/>
          <p:nvPr/>
        </p:nvSpPr>
        <p:spPr>
          <a:xfrm>
            <a:off x="1621958"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Moneda</a:t>
            </a:r>
          </a:p>
        </p:txBody>
      </p:sp>
      <p:sp>
        <p:nvSpPr>
          <p:cNvPr id="31" name="Rounded Rectangle 28">
            <a:extLst>
              <a:ext uri="{FF2B5EF4-FFF2-40B4-BE49-F238E27FC236}">
                <a16:creationId xmlns:a16="http://schemas.microsoft.com/office/drawing/2014/main" id="{EAA47A27-D086-6E51-4D4E-71975CA826ED}"/>
              </a:ext>
            </a:extLst>
          </p:cNvPr>
          <p:cNvSpPr/>
          <p:nvPr/>
        </p:nvSpPr>
        <p:spPr>
          <a:xfrm>
            <a:off x="1621958"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 refiere a la capacidad de una entidad para facilitar la conversión de una moneda en otra, facilitando transacciones y comercios internacionales. Permite el intercambio de monedas a los tipos de mercado vigentes.</a:t>
            </a:r>
          </a:p>
        </p:txBody>
      </p:sp>
      <p:sp>
        <p:nvSpPr>
          <p:cNvPr id="32" name="Rounded Rectangle 48">
            <a:extLst>
              <a:ext uri="{FF2B5EF4-FFF2-40B4-BE49-F238E27FC236}">
                <a16:creationId xmlns:a16="http://schemas.microsoft.com/office/drawing/2014/main" id="{8853EBFA-E688-7426-F63A-7739DEF08D7F}"/>
              </a:ext>
            </a:extLst>
          </p:cNvPr>
          <p:cNvSpPr/>
          <p:nvPr/>
        </p:nvSpPr>
        <p:spPr>
          <a:xfrm>
            <a:off x="1621958"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36000" tIns="72000" rIns="36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Contratos</a:t>
            </a:r>
          </a:p>
        </p:txBody>
      </p:sp>
      <p:sp>
        <p:nvSpPr>
          <p:cNvPr id="33" name="Rounded Rectangle 28">
            <a:extLst>
              <a:ext uri="{FF2B5EF4-FFF2-40B4-BE49-F238E27FC236}">
                <a16:creationId xmlns:a16="http://schemas.microsoft.com/office/drawing/2014/main" id="{DAEDA170-3395-3844-77DC-F6930478EF0A}"/>
              </a:ext>
            </a:extLst>
          </p:cNvPr>
          <p:cNvSpPr/>
          <p:nvPr/>
        </p:nvSpPr>
        <p:spPr>
          <a:xfrm>
            <a:off x="1621958"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Mantener y actualizar la información contractual, monitorizar la actividad contractual y gestionar solicitudes y consultas relacionadas con el contrato.</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34" name="Rounded Rectangle 50">
            <a:extLst>
              <a:ext uri="{FF2B5EF4-FFF2-40B4-BE49-F238E27FC236}">
                <a16:creationId xmlns:a16="http://schemas.microsoft.com/office/drawing/2014/main" id="{42937F7D-77F5-4816-3D2C-DFC83A5EFD23}"/>
              </a:ext>
            </a:extLst>
          </p:cNvPr>
          <p:cNvSpPr/>
          <p:nvPr/>
        </p:nvSpPr>
        <p:spPr>
          <a:xfrm>
            <a:off x="381000"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Límites</a:t>
            </a:r>
          </a:p>
        </p:txBody>
      </p:sp>
      <p:sp>
        <p:nvSpPr>
          <p:cNvPr id="35" name="Rounded Rectangle 28">
            <a:extLst>
              <a:ext uri="{FF2B5EF4-FFF2-40B4-BE49-F238E27FC236}">
                <a16:creationId xmlns:a16="http://schemas.microsoft.com/office/drawing/2014/main" id="{499243EE-B41B-4455-71B1-B90ED45B7010}"/>
              </a:ext>
            </a:extLst>
          </p:cNvPr>
          <p:cNvSpPr/>
          <p:nvPr/>
        </p:nvSpPr>
        <p:spPr>
          <a:xfrm>
            <a:off x="381000"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gestión de autorizaciones y límites de líneas de crédito de contrapartes para monitorizar la gestión de contraparte y riesgo crediticio.</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Los límites se gestionan en actividades crediticias y transaccionales.</a:t>
            </a:r>
          </a:p>
        </p:txBody>
      </p:sp>
      <p:sp>
        <p:nvSpPr>
          <p:cNvPr id="36" name="Rounded Rectangle 50">
            <a:extLst>
              <a:ext uri="{FF2B5EF4-FFF2-40B4-BE49-F238E27FC236}">
                <a16:creationId xmlns:a16="http://schemas.microsoft.com/office/drawing/2014/main" id="{14D721D6-D109-8212-85C2-C3F14A9BFECB}"/>
              </a:ext>
            </a:extLst>
          </p:cNvPr>
          <p:cNvSpPr/>
          <p:nvPr/>
        </p:nvSpPr>
        <p:spPr>
          <a:xfrm>
            <a:off x="381000"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Maestro de Partido</a:t>
            </a:r>
          </a:p>
        </p:txBody>
      </p:sp>
      <p:sp>
        <p:nvSpPr>
          <p:cNvPr id="37" name="Rounded Rectangle 28">
            <a:extLst>
              <a:ext uri="{FF2B5EF4-FFF2-40B4-BE49-F238E27FC236}">
                <a16:creationId xmlns:a16="http://schemas.microsoft.com/office/drawing/2014/main" id="{782C14F9-853C-EFD4-760F-9D1D1BB8E828}"/>
              </a:ext>
            </a:extLst>
          </p:cNvPr>
          <p:cNvSpPr/>
          <p:nvPr/>
        </p:nvSpPr>
        <p:spPr>
          <a:xfrm>
            <a:off x="381000"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único para sistemas de información al cliente que permitirá compartir la información del cliente en toda la organización. Puede proporcionar vistas segmentadas basadas en diferentes perfiles. </a:t>
            </a:r>
          </a:p>
        </p:txBody>
      </p:sp>
      <p:sp>
        <p:nvSpPr>
          <p:cNvPr id="38" name="Rounded Rectangle 50">
            <a:extLst>
              <a:ext uri="{FF2B5EF4-FFF2-40B4-BE49-F238E27FC236}">
                <a16:creationId xmlns:a16="http://schemas.microsoft.com/office/drawing/2014/main" id="{DFCF6420-13E4-641C-8886-E5EF24D18C1B}"/>
              </a:ext>
            </a:extLst>
          </p:cNvPr>
          <p:cNvSpPr/>
          <p:nvPr/>
        </p:nvSpPr>
        <p:spPr>
          <a:xfrm>
            <a:off x="2862916"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Precios (Intereses y Comisiones) </a:t>
            </a:r>
          </a:p>
        </p:txBody>
      </p:sp>
      <p:sp>
        <p:nvSpPr>
          <p:cNvPr id="39" name="Rounded Rectangle 28">
            <a:extLst>
              <a:ext uri="{FF2B5EF4-FFF2-40B4-BE49-F238E27FC236}">
                <a16:creationId xmlns:a16="http://schemas.microsoft.com/office/drawing/2014/main" id="{7C498894-0763-1059-E2A3-D9CFA2C08CFB}"/>
              </a:ext>
            </a:extLst>
          </p:cNvPr>
          <p:cNvSpPr/>
          <p:nvPr/>
        </p:nvSpPr>
        <p:spPr>
          <a:xfrm>
            <a:off x="286291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Gestión de la estrategia de precios mediante el cálculo de costes, la aplicación de diferentes modelos y la evaluación del comportamiento de clientes y competidores.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Aplicar los tipos de interés y comisiones adecuados basados en ofertas personalizadas.</a:t>
            </a:r>
          </a:p>
        </p:txBody>
      </p:sp>
      <p:sp>
        <p:nvSpPr>
          <p:cNvPr id="40" name="Rounded Rectangle 50">
            <a:extLst>
              <a:ext uri="{FF2B5EF4-FFF2-40B4-BE49-F238E27FC236}">
                <a16:creationId xmlns:a16="http://schemas.microsoft.com/office/drawing/2014/main" id="{676B8430-2439-BFA9-2927-48D9A78B35A0}"/>
              </a:ext>
            </a:extLst>
          </p:cNvPr>
          <p:cNvSpPr/>
          <p:nvPr/>
        </p:nvSpPr>
        <p:spPr>
          <a:xfrm>
            <a:off x="2862916"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Catálogo de productos</a:t>
            </a:r>
          </a:p>
        </p:txBody>
      </p:sp>
      <p:sp>
        <p:nvSpPr>
          <p:cNvPr id="41" name="Rounded Rectangle 28">
            <a:extLst>
              <a:ext uri="{FF2B5EF4-FFF2-40B4-BE49-F238E27FC236}">
                <a16:creationId xmlns:a16="http://schemas.microsoft.com/office/drawing/2014/main" id="{E237D928-4D2C-CEA1-8DE6-94EE82724055}"/>
              </a:ext>
            </a:extLst>
          </p:cNvPr>
          <p:cNvSpPr/>
          <p:nvPr/>
        </p:nvSpPr>
        <p:spPr>
          <a:xfrm>
            <a:off x="2862916"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Implica mantener y gestionar de forma proactiva los componentes y la configuración del producto, guiados por un análisis profundo basado en datos.</a:t>
            </a:r>
          </a:p>
        </p:txBody>
      </p:sp>
      <p:cxnSp>
        <p:nvCxnSpPr>
          <p:cNvPr id="42" name="Straight Connector 41">
            <a:extLst>
              <a:ext uri="{FF2B5EF4-FFF2-40B4-BE49-F238E27FC236}">
                <a16:creationId xmlns:a16="http://schemas.microsoft.com/office/drawing/2014/main" id="{A7A120C0-8855-28ED-7D23-449E6EEB4BC5}"/>
              </a:ext>
            </a:extLst>
          </p:cNvPr>
          <p:cNvCxnSpPr>
            <a:cxnSpLocks/>
          </p:cNvCxnSpPr>
          <p:nvPr/>
        </p:nvCxnSpPr>
        <p:spPr>
          <a:xfrm>
            <a:off x="6735959" y="2904018"/>
            <a:ext cx="0" cy="363600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Rounded Rectangle 46">
            <a:extLst>
              <a:ext uri="{FF2B5EF4-FFF2-40B4-BE49-F238E27FC236}">
                <a16:creationId xmlns:a16="http://schemas.microsoft.com/office/drawing/2014/main" id="{BCADB121-2B7A-124B-7E71-A90A54D019F6}"/>
              </a:ext>
            </a:extLst>
          </p:cNvPr>
          <p:cNvSpPr/>
          <p:nvPr/>
        </p:nvSpPr>
        <p:spPr>
          <a:xfrm>
            <a:off x="5344832" y="4657902"/>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Motor de Contabilidad</a:t>
            </a:r>
          </a:p>
        </p:txBody>
      </p:sp>
      <p:sp>
        <p:nvSpPr>
          <p:cNvPr id="44" name="Rounded Rectangle 28">
            <a:extLst>
              <a:ext uri="{FF2B5EF4-FFF2-40B4-BE49-F238E27FC236}">
                <a16:creationId xmlns:a16="http://schemas.microsoft.com/office/drawing/2014/main" id="{FD942A02-F95D-7490-AE1A-7C33477D22C1}"/>
              </a:ext>
            </a:extLst>
          </p:cNvPr>
          <p:cNvSpPr/>
          <p:nvPr/>
        </p:nvSpPr>
        <p:spPr>
          <a:xfrm>
            <a:off x="5344832"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Generación, enriquecimiento e informe de eventos contables. Incluye el uso del proceso de Open Banking/PSD2 para agregar datos financieros de movimientos de cuentas bancarias y alimentar el motor de riesgo crediticio con datos más precisos.</a:t>
            </a:r>
          </a:p>
        </p:txBody>
      </p:sp>
      <p:sp>
        <p:nvSpPr>
          <p:cNvPr id="45" name="Rounded Rectangle 46">
            <a:extLst>
              <a:ext uri="{FF2B5EF4-FFF2-40B4-BE49-F238E27FC236}">
                <a16:creationId xmlns:a16="http://schemas.microsoft.com/office/drawing/2014/main" id="{596AB52C-5FF0-E444-567F-82690A462185}"/>
              </a:ext>
            </a:extLst>
          </p:cNvPr>
          <p:cNvSpPr/>
          <p:nvPr/>
        </p:nvSpPr>
        <p:spPr>
          <a:xfrm>
            <a:off x="5344832" y="3004355"/>
            <a:ext cx="1184444" cy="306000"/>
          </a:xfrm>
          <a:prstGeom prst="rect">
            <a:avLst/>
          </a:prstGeom>
          <a:solidFill>
            <a:srgbClr val="440073"/>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Informes</a:t>
            </a:r>
          </a:p>
        </p:txBody>
      </p:sp>
      <p:sp>
        <p:nvSpPr>
          <p:cNvPr id="46" name="Rounded Rectangle 28">
            <a:extLst>
              <a:ext uri="{FF2B5EF4-FFF2-40B4-BE49-F238E27FC236}">
                <a16:creationId xmlns:a16="http://schemas.microsoft.com/office/drawing/2014/main" id="{75974420-9CA7-F487-686D-B5253C901667}"/>
              </a:ext>
            </a:extLst>
          </p:cNvPr>
          <p:cNvSpPr/>
          <p:nvPr/>
        </p:nvSpPr>
        <p:spPr>
          <a:xfrm>
            <a:off x="5344832"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Incluye la capacidad de fusionar información entre diferentes sistemas y proporcionar una visión unificada entre informes operativos, contables, informativos y regulatorios.</a:t>
            </a:r>
            <a:endParaRPr kumimoji="0" lang="LID4096"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47" name="Rounded Rectangle 46">
            <a:extLst>
              <a:ext uri="{FF2B5EF4-FFF2-40B4-BE49-F238E27FC236}">
                <a16:creationId xmlns:a16="http://schemas.microsoft.com/office/drawing/2014/main" id="{6D5F045E-809C-E40E-CFD5-C4069B175733}"/>
              </a:ext>
            </a:extLst>
          </p:cNvPr>
          <p:cNvSpPr/>
          <p:nvPr/>
        </p:nvSpPr>
        <p:spPr>
          <a:xfrm>
            <a:off x="10642359"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Datos de referencia</a:t>
            </a:r>
          </a:p>
        </p:txBody>
      </p:sp>
      <p:sp>
        <p:nvSpPr>
          <p:cNvPr id="48" name="Rounded Rectangle 28">
            <a:extLst>
              <a:ext uri="{FF2B5EF4-FFF2-40B4-BE49-F238E27FC236}">
                <a16:creationId xmlns:a16="http://schemas.microsoft.com/office/drawing/2014/main" id="{353DD3A4-D2D5-85B2-ED2A-443819E82DE3}"/>
              </a:ext>
            </a:extLst>
          </p:cNvPr>
          <p:cNvSpPr/>
          <p:nvPr/>
        </p:nvSpPr>
        <p:spPr>
          <a:xfrm>
            <a:off x="10642359"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la relación entre los valores admitidos para parámetros dados.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Dependiendo de un código, recupera una combinación de valores.</a:t>
            </a:r>
          </a:p>
        </p:txBody>
      </p:sp>
      <p:sp>
        <p:nvSpPr>
          <p:cNvPr id="49" name="Rounded Rectangle 48">
            <a:extLst>
              <a:ext uri="{FF2B5EF4-FFF2-40B4-BE49-F238E27FC236}">
                <a16:creationId xmlns:a16="http://schemas.microsoft.com/office/drawing/2014/main" id="{3B0AF467-FCDC-6A21-B5A1-1C02BBAF1732}"/>
              </a:ext>
            </a:extLst>
          </p:cNvPr>
          <p:cNvSpPr/>
          <p:nvPr/>
        </p:nvSpPr>
        <p:spPr>
          <a:xfrm>
            <a:off x="8160443"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Confidencialidad</a:t>
            </a:r>
          </a:p>
        </p:txBody>
      </p:sp>
      <p:sp>
        <p:nvSpPr>
          <p:cNvPr id="50" name="Rounded Rectangle 28">
            <a:extLst>
              <a:ext uri="{FF2B5EF4-FFF2-40B4-BE49-F238E27FC236}">
                <a16:creationId xmlns:a16="http://schemas.microsoft.com/office/drawing/2014/main" id="{FF27AD00-D761-B90F-3824-6473576A237F}"/>
              </a:ext>
            </a:extLst>
          </p:cNvPr>
          <p:cNvSpPr/>
          <p:nvPr/>
        </p:nvSpPr>
        <p:spPr>
          <a:xfrm>
            <a:off x="8160443"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18000" tIns="36000" rIns="18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Verifica que un usuario, incluso si está autorizado para realizar una operación sobre una persona o contrato, tiene el perfil necesario para acceder a la información en función del nivel de confidencialidad que la entidad ha establecido para esa persona o contrato.</a:t>
            </a:r>
          </a:p>
        </p:txBody>
      </p:sp>
      <p:sp>
        <p:nvSpPr>
          <p:cNvPr id="51" name="Rounded Rectangle 50">
            <a:extLst>
              <a:ext uri="{FF2B5EF4-FFF2-40B4-BE49-F238E27FC236}">
                <a16:creationId xmlns:a16="http://schemas.microsoft.com/office/drawing/2014/main" id="{D5178BA4-40D4-F45D-3606-8055F4284124}"/>
              </a:ext>
            </a:extLst>
          </p:cNvPr>
          <p:cNvSpPr/>
          <p:nvPr/>
        </p:nvSpPr>
        <p:spPr>
          <a:xfrm>
            <a:off x="6919484"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Conductor (Saga)</a:t>
            </a:r>
          </a:p>
        </p:txBody>
      </p:sp>
      <p:sp>
        <p:nvSpPr>
          <p:cNvPr id="52" name="Rounded Rectangle 28">
            <a:extLst>
              <a:ext uri="{FF2B5EF4-FFF2-40B4-BE49-F238E27FC236}">
                <a16:creationId xmlns:a16="http://schemas.microsoft.com/office/drawing/2014/main" id="{D34429E8-0975-CA48-F236-72DBABCFDE6E}"/>
              </a:ext>
            </a:extLst>
          </p:cNvPr>
          <p:cNvSpPr/>
          <p:nvPr/>
        </p:nvSpPr>
        <p:spPr>
          <a:xfrm>
            <a:off x="6919484"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Gestiona transacciones de larga duración que abarcan múltiples servicios. Permite la coordinación y orquestación de estas transacciones para garantizar la consistencia y fiabilidad de los datos.</a:t>
            </a:r>
          </a:p>
        </p:txBody>
      </p:sp>
      <p:sp>
        <p:nvSpPr>
          <p:cNvPr id="53" name="Rounded Rectangle 50">
            <a:extLst>
              <a:ext uri="{FF2B5EF4-FFF2-40B4-BE49-F238E27FC236}">
                <a16:creationId xmlns:a16="http://schemas.microsoft.com/office/drawing/2014/main" id="{5DB434AB-12F8-1BF9-C264-56323FA186BE}"/>
              </a:ext>
            </a:extLst>
          </p:cNvPr>
          <p:cNvSpPr/>
          <p:nvPr/>
        </p:nvSpPr>
        <p:spPr>
          <a:xfrm>
            <a:off x="9401401" y="3004355"/>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Caché</a:t>
            </a:r>
          </a:p>
        </p:txBody>
      </p:sp>
      <p:sp>
        <p:nvSpPr>
          <p:cNvPr id="54" name="Rounded Rectangle 28">
            <a:extLst>
              <a:ext uri="{FF2B5EF4-FFF2-40B4-BE49-F238E27FC236}">
                <a16:creationId xmlns:a16="http://schemas.microsoft.com/office/drawing/2014/main" id="{45F4BAD2-C720-57CC-AB95-CC64F3E27052}"/>
              </a:ext>
            </a:extLst>
          </p:cNvPr>
          <p:cNvSpPr/>
          <p:nvPr/>
        </p:nvSpPr>
        <p:spPr>
          <a:xfrm>
            <a:off x="9401401" y="3342439"/>
            <a:ext cx="1184444" cy="1226227"/>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tIns="36000" rIns="36000" b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Proceso de almacenar datos frecuentemente consultados en una ubicación temporal (caché) para mejorar el rendimiento reduciendo la necesidad de recuperar repetidamente los datos de su fuente original.</a:t>
            </a:r>
          </a:p>
        </p:txBody>
      </p:sp>
      <p:sp>
        <p:nvSpPr>
          <p:cNvPr id="55" name="Rounded Rectangle 48">
            <a:extLst>
              <a:ext uri="{FF2B5EF4-FFF2-40B4-BE49-F238E27FC236}">
                <a16:creationId xmlns:a16="http://schemas.microsoft.com/office/drawing/2014/main" id="{4AC898B3-C2C1-C8A5-C1AA-06E6C7F77C49}"/>
              </a:ext>
            </a:extLst>
          </p:cNvPr>
          <p:cNvSpPr/>
          <p:nvPr/>
        </p:nvSpPr>
        <p:spPr>
          <a:xfrm>
            <a:off x="8160443"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Gestión de Errores</a:t>
            </a:r>
          </a:p>
        </p:txBody>
      </p:sp>
      <p:sp>
        <p:nvSpPr>
          <p:cNvPr id="56" name="Rounded Rectangle 28">
            <a:extLst>
              <a:ext uri="{FF2B5EF4-FFF2-40B4-BE49-F238E27FC236}">
                <a16:creationId xmlns:a16="http://schemas.microsoft.com/office/drawing/2014/main" id="{54938650-A80D-A9AD-4E52-3AB817C2B8D5}"/>
              </a:ext>
            </a:extLst>
          </p:cNvPr>
          <p:cNvSpPr/>
          <p:nvPr/>
        </p:nvSpPr>
        <p:spPr>
          <a:xfrm>
            <a:off x="8160443"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Permite la gestión de errores de componentes (funcionales o técnicos) y de aquellos dentro de la coreografía de proceso/API. Se basa en códigos de error que deben ser interpretados por la capa de coreografía / orquestación.</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57" name="Rounded Rectangle 50">
            <a:extLst>
              <a:ext uri="{FF2B5EF4-FFF2-40B4-BE49-F238E27FC236}">
                <a16:creationId xmlns:a16="http://schemas.microsoft.com/office/drawing/2014/main" id="{8410C7BE-5001-6CA6-2F36-9CDCBC2C5549}"/>
              </a:ext>
            </a:extLst>
          </p:cNvPr>
          <p:cNvSpPr/>
          <p:nvPr/>
        </p:nvSpPr>
        <p:spPr>
          <a:xfrm>
            <a:off x="6919484"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ID de operación</a:t>
            </a:r>
          </a:p>
        </p:txBody>
      </p:sp>
      <p:sp>
        <p:nvSpPr>
          <p:cNvPr id="58" name="Rounded Rectangle 28">
            <a:extLst>
              <a:ext uri="{FF2B5EF4-FFF2-40B4-BE49-F238E27FC236}">
                <a16:creationId xmlns:a16="http://schemas.microsoft.com/office/drawing/2014/main" id="{91791855-6A17-D330-E2F5-963A61639F63}"/>
              </a:ext>
            </a:extLst>
          </p:cNvPr>
          <p:cNvSpPr/>
          <p:nvPr/>
        </p:nvSpPr>
        <p:spPr>
          <a:xfrm>
            <a:off x="6919484"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ID único que debe generarse en la solicitud para propagarse a lo largo de las diferentes capas.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la trazabilidad de toda la operación.</a:t>
            </a:r>
          </a:p>
        </p:txBody>
      </p:sp>
      <p:sp>
        <p:nvSpPr>
          <p:cNvPr id="59" name="Rounded Rectangle 50">
            <a:extLst>
              <a:ext uri="{FF2B5EF4-FFF2-40B4-BE49-F238E27FC236}">
                <a16:creationId xmlns:a16="http://schemas.microsoft.com/office/drawing/2014/main" id="{FCA82FBC-925E-3846-FEA8-438C2FFAFAFB}"/>
              </a:ext>
            </a:extLst>
          </p:cNvPr>
          <p:cNvSpPr/>
          <p:nvPr/>
        </p:nvSpPr>
        <p:spPr>
          <a:xfrm>
            <a:off x="9401401"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Modelado de Datos</a:t>
            </a:r>
          </a:p>
        </p:txBody>
      </p:sp>
      <p:sp>
        <p:nvSpPr>
          <p:cNvPr id="60" name="Rounded Rectangle 28">
            <a:extLst>
              <a:ext uri="{FF2B5EF4-FFF2-40B4-BE49-F238E27FC236}">
                <a16:creationId xmlns:a16="http://schemas.microsoft.com/office/drawing/2014/main" id="{39CA02F8-9FC8-C343-B5AA-6E23A20EDAF6}"/>
              </a:ext>
            </a:extLst>
          </p:cNvPr>
          <p:cNvSpPr/>
          <p:nvPr/>
        </p:nvSpPr>
        <p:spPr>
          <a:xfrm>
            <a:off x="9401401"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Repositorio central para registrar y mantener datos relacionados entre diferentes conceptos empresariales. Punto único de contacto para registrar la información existente, cómo se genera y dependencias de datos.</a:t>
            </a:r>
          </a:p>
        </p:txBody>
      </p:sp>
      <p:cxnSp>
        <p:nvCxnSpPr>
          <p:cNvPr id="61" name="Straight Connector 60">
            <a:extLst>
              <a:ext uri="{FF2B5EF4-FFF2-40B4-BE49-F238E27FC236}">
                <a16:creationId xmlns:a16="http://schemas.microsoft.com/office/drawing/2014/main" id="{13888B29-E0D2-2046-7F5E-6C765D807F0E}"/>
              </a:ext>
            </a:extLst>
          </p:cNvPr>
          <p:cNvCxnSpPr>
            <a:cxnSpLocks/>
          </p:cNvCxnSpPr>
          <p:nvPr/>
        </p:nvCxnSpPr>
        <p:spPr>
          <a:xfrm>
            <a:off x="6735959" y="1648460"/>
            <a:ext cx="0" cy="1265899"/>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
        <p:nvSpPr>
          <p:cNvPr id="62" name="Rounded Rectangle 50">
            <a:extLst>
              <a:ext uri="{FF2B5EF4-FFF2-40B4-BE49-F238E27FC236}">
                <a16:creationId xmlns:a16="http://schemas.microsoft.com/office/drawing/2014/main" id="{598B7AB6-0CED-70C8-033A-6757CE12389C}"/>
              </a:ext>
            </a:extLst>
          </p:cNvPr>
          <p:cNvSpPr/>
          <p:nvPr/>
        </p:nvSpPr>
        <p:spPr>
          <a:xfrm>
            <a:off x="10626556" y="4657902"/>
            <a:ext cx="1184444" cy="306000"/>
          </a:xfrm>
          <a:prstGeom prst="rect">
            <a:avLst/>
          </a:prstGeom>
          <a:solidFill>
            <a:srgbClr val="AB2E72"/>
          </a:solidFill>
          <a:ln w="6350">
            <a:noFill/>
            <a:miter lim="800000"/>
            <a:headEnd/>
            <a:tailEnd/>
          </a:ln>
          <a:effectLst/>
        </p:spPr>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85000"/>
              </a:lnSpc>
              <a:spcBef>
                <a:spcPts val="0"/>
              </a:spcBef>
              <a:spcAft>
                <a:spcPts val="300"/>
              </a:spcAft>
              <a:buClrTx/>
              <a:buSzTx/>
              <a:buFontTx/>
              <a:buNone/>
              <a:tabLst/>
              <a:defRPr/>
            </a:pPr>
            <a:r>
              <a:rPr kumimoji="0" lang="es" sz="900" b="1" i="0" u="none" strike="noStrike" kern="0" cap="none" spc="0" normalizeH="0" baseline="0" noProof="0">
                <a:ln>
                  <a:noFill/>
                </a:ln>
                <a:solidFill>
                  <a:srgbClr val="FFFFFF"/>
                </a:solidFill>
                <a:effectLst/>
                <a:uLnTx/>
                <a:uFillTx/>
                <a:latin typeface="Graphik Semibold" panose="020B0703030202060203" pitchFamily="34" charset="0"/>
                <a:ea typeface="+mn-ea"/>
                <a:cs typeface="Arial" charset="0"/>
              </a:rPr>
              <a:t>Observabilidad</a:t>
            </a:r>
          </a:p>
        </p:txBody>
      </p:sp>
      <p:sp>
        <p:nvSpPr>
          <p:cNvPr id="63" name="Rounded Rectangle 28">
            <a:extLst>
              <a:ext uri="{FF2B5EF4-FFF2-40B4-BE49-F238E27FC236}">
                <a16:creationId xmlns:a16="http://schemas.microsoft.com/office/drawing/2014/main" id="{DC2F9B1C-E008-C741-C777-A09339DAB9A4}"/>
              </a:ext>
            </a:extLst>
          </p:cNvPr>
          <p:cNvSpPr/>
          <p:nvPr/>
        </p:nvSpPr>
        <p:spPr>
          <a:xfrm>
            <a:off x="10626556" y="5011526"/>
            <a:ext cx="1184444" cy="1414935"/>
          </a:xfrm>
          <a:prstGeom prst="rect">
            <a:avLst/>
          </a:prstGeom>
          <a:solidFill>
            <a:schemeClr val="bg1">
              <a:lumMod val="95000"/>
            </a:schemeClr>
          </a:solidFill>
          <a:ln w="19050">
            <a:noFill/>
            <a:prstDash val="sysDot"/>
            <a:headEnd type="none" w="med" len="med"/>
            <a:tailEnd type="oval" w="med" len="med"/>
          </a:ln>
        </p:spPr>
        <p:style>
          <a:lnRef idx="1">
            <a:schemeClr val="accent1"/>
          </a:lnRef>
          <a:fillRef idx="0">
            <a:schemeClr val="accent1"/>
          </a:fillRef>
          <a:effectRef idx="0">
            <a:schemeClr val="accent1"/>
          </a:effectRef>
          <a:fontRef idx="minor">
            <a:schemeClr val="tx1"/>
          </a:fontRef>
        </p:style>
        <p:txBody>
          <a:bodyPr lIns="36000" rIns="36000" rtlCol="0" anchor="t"/>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Asegurar la observabilidad desde dos ángulos diferentes: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1.- Mapeo de todos los componentes tecnológicos que soportan cada uno de los diferentes servicios empresariales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s" sz="75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2.- Trazabilidad dinámica y en tiempo real de todos los diferentes flujos entre todos los componentes tecnológicas implicados. </a:t>
            </a:r>
          </a:p>
        </p:txBody>
      </p:sp>
    </p:spTree>
    <p:extLst>
      <p:ext uri="{BB962C8B-B14F-4D97-AF65-F5344CB8AC3E}">
        <p14:creationId xmlns:p14="http://schemas.microsoft.com/office/powerpoint/2010/main" val="2000197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F42E0-77FA-8A8E-216D-94907D0AC5C5}"/>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FC621569-776A-22A2-1A1A-8CC96862874B}"/>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3EEFEE3B-750C-69C5-5DF5-0C711038C8F1}"/>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322C619A-891C-DD26-7F57-CBC9839A777B}"/>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30AA5193-F654-0B35-8BB7-285734F523D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02. </a:t>
            </a:r>
          </a:p>
        </p:txBody>
      </p:sp>
      <p:sp>
        <p:nvSpPr>
          <p:cNvPr id="15" name="Title 7">
            <a:extLst>
              <a:ext uri="{FF2B5EF4-FFF2-40B4-BE49-F238E27FC236}">
                <a16:creationId xmlns:a16="http://schemas.microsoft.com/office/drawing/2014/main" id="{688F91BC-4E87-BBE5-E1DD-E2AEA0B31B3E}"/>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Marco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394922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92211-BCB6-B0A6-01A4-B7FEC33BAA8C}"/>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E657014F-BE1C-59A8-D821-68B10929D570}"/>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34D2D05E-5B8A-7FDC-6E18-186D9FA041C0}"/>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La arquitectura interoperable es RED (reactiva, en tiempo real, impulsada por eventos y desacoplada)</a:t>
            </a:r>
          </a:p>
        </p:txBody>
      </p:sp>
      <p:sp>
        <p:nvSpPr>
          <p:cNvPr id="66" name="Title 1">
            <a:extLst>
              <a:ext uri="{FF2B5EF4-FFF2-40B4-BE49-F238E27FC236}">
                <a16:creationId xmlns:a16="http://schemas.microsoft.com/office/drawing/2014/main" id="{27E3D597-A553-8B74-D85D-1707C388D3D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Principios de Arquitectura Interoperable</a:t>
            </a:r>
          </a:p>
        </p:txBody>
      </p:sp>
      <p:pic>
        <p:nvPicPr>
          <p:cNvPr id="10" name="Picture 9">
            <a:extLst>
              <a:ext uri="{FF2B5EF4-FFF2-40B4-BE49-F238E27FC236}">
                <a16:creationId xmlns:a16="http://schemas.microsoft.com/office/drawing/2014/main" id="{015A5905-F222-A0EB-014F-525C0427A74B}"/>
              </a:ext>
            </a:extLst>
          </p:cNvPr>
          <p:cNvPicPr>
            <a:picLocks noChangeAspect="1"/>
          </p:cNvPicPr>
          <p:nvPr/>
        </p:nvPicPr>
        <p:blipFill rotWithShape="1">
          <a:blip r:embed="rId3">
            <a:extLst>
              <a:ext uri="{28A0092B-C50C-407E-A947-70E740481C1C}">
                <a14:useLocalDpi xmlns:a14="http://schemas.microsoft.com/office/drawing/2010/main" val="0"/>
              </a:ext>
            </a:extLst>
          </a:blip>
          <a:srcRect l="1151" t="55820" r="38466" b="34387"/>
          <a:stretch/>
        </p:blipFill>
        <p:spPr bwMode="invGray">
          <a:xfrm>
            <a:off x="-1256" y="5280062"/>
            <a:ext cx="12188952" cy="1112083"/>
          </a:xfrm>
          <a:prstGeom prst="rect">
            <a:avLst/>
          </a:prstGeom>
        </p:spPr>
      </p:pic>
      <p:sp>
        <p:nvSpPr>
          <p:cNvPr id="11" name="TextBox 10">
            <a:extLst>
              <a:ext uri="{FF2B5EF4-FFF2-40B4-BE49-F238E27FC236}">
                <a16:creationId xmlns:a16="http://schemas.microsoft.com/office/drawing/2014/main" id="{173F7284-FB3B-EB79-37D5-8AD8EF05309C}"/>
              </a:ext>
            </a:extLst>
          </p:cNvPr>
          <p:cNvSpPr txBox="1"/>
          <p:nvPr/>
        </p:nvSpPr>
        <p:spPr>
          <a:xfrm>
            <a:off x="435403" y="1119272"/>
            <a:ext cx="6459638" cy="4139595"/>
          </a:xfrm>
          <a:prstGeom prst="rect">
            <a:avLst/>
          </a:prstGeom>
          <a:noFill/>
        </p:spPr>
        <p:txBody>
          <a:bodyPr wrap="square" lIns="0">
            <a:spAutoFit/>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Reactivo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Una arquitectura </a:t>
            </a:r>
            <a:r>
              <a:rPr lang="es" sz="1400" dirty="0">
                <a:solidFill>
                  <a:srgbClr val="000000"/>
                </a:solidFill>
                <a:highlight>
                  <a:srgbClr val="FFFF00"/>
                </a:highlight>
                <a:latin typeface="Graphik Light" panose="020B0403030202060203" pitchFamily="34" charset="0"/>
              </a:rPr>
              <a:t>responsiva</a:t>
            </a:r>
            <a:r>
              <a:rPr lang="es" sz="1400" dirty="0">
                <a:solidFill>
                  <a:srgbClr val="000000"/>
                </a:solidFill>
                <a:latin typeface="Graphik Light" panose="020B0403030202060203" pitchFamily="34" charset="0"/>
              </a:rPr>
              <a:t> en caso de fallo, que permite escalar a cualquier tamaño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y gestionar volúmenes variables. La arquitectura reactiva permite resiliencia y escalabilidad en cualquier dominio.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Tiempo real: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os datos y mensajes están en coreografía constante, fluyendo por el sistema como flujos. La arquitectura interoperable garantiza que los datos se entreguen en tiempo real, permitiendo eliminar las limitaciones actuales de los sistemas de enfrentamiento.</a:t>
            </a:r>
            <a:endParaRPr kumimoji="0" lang="en-US" sz="1400" b="1"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Impulsado por eventos: </a:t>
            </a:r>
            <a:r>
              <a:rPr lang="es" sz="1400" dirty="0">
                <a:solidFill>
                  <a:srgbClr val="000000"/>
                </a:solidFill>
                <a:latin typeface="Graphik Light" panose="020B0403030202060203" pitchFamily="34" charset="0"/>
              </a:rPr>
              <a:t>T</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odos los mensajes tienden a gestionarse mediante eventos, servicios de datos y funciones (que forman parte de los diferentes dominios). Reaccionar a los eventos suscritos y generar o promover sus propios eventos aislados del resto. </a:t>
            </a:r>
          </a:p>
          <a:p>
            <a:pPr marL="0" marR="0" lvl="0" indent="0" algn="l" defTabSz="914400" rtl="0" eaLnBrk="1" fontAlgn="auto" latinLnBrk="0" hangingPunct="1">
              <a:lnSpc>
                <a:spcPct val="100000"/>
              </a:lnSpc>
              <a:spcBef>
                <a:spcPts val="0"/>
              </a:spcBef>
              <a:spcAft>
                <a:spcPts val="100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Desacoplado:</a:t>
            </a:r>
            <a:r>
              <a:rPr lang="es" sz="1400" dirty="0">
                <a:solidFill>
                  <a:srgbClr val="000000"/>
                </a:solidFill>
                <a:latin typeface="Graphik Light" panose="020B0403030202060203" pitchFamily="34" charset="0"/>
                <a:cs typeface="Helvetica"/>
              </a:rPr>
              <a:t> </a:t>
            </a:r>
            <a:r>
              <a:rPr lang="es" sz="1400" dirty="0">
                <a:solidFill>
                  <a:srgbClr val="000000"/>
                </a:solidFill>
                <a:latin typeface="Graphik Light" panose="020B0403030202060203" pitchFamily="34" charset="0"/>
                <a:cs typeface="Helvetica"/>
                <a:sym typeface="Graphik"/>
              </a:rPr>
              <a:t>Los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Helvetica"/>
                <a:sym typeface="Graphik"/>
              </a:rPr>
              <a:t>componentes del sistema son autónomos, modulares, desplegables de forma independiente y coreografiados. El desacoplamiento aumenta la velocidad de salida al mercado, rompiendo las interdependencias de las aplicaciones. Esto permite una mayor flexibilidad y escalabilidad para adaptarse a los cambios en los requisitos empresariales. Fragmentación adecuada de los servicios.</a:t>
            </a:r>
          </a:p>
        </p:txBody>
      </p:sp>
      <p:sp>
        <p:nvSpPr>
          <p:cNvPr id="12" name="Rectangle 11">
            <a:extLst>
              <a:ext uri="{FF2B5EF4-FFF2-40B4-BE49-F238E27FC236}">
                <a16:creationId xmlns:a16="http://schemas.microsoft.com/office/drawing/2014/main" id="{210AF6B0-A53C-2849-BDC5-C97F519D8DDA}"/>
              </a:ext>
            </a:extLst>
          </p:cNvPr>
          <p:cNvSpPr/>
          <p:nvPr/>
        </p:nvSpPr>
        <p:spPr>
          <a:xfrm>
            <a:off x="1715708" y="5426988"/>
            <a:ext cx="8869388" cy="744070"/>
          </a:xfrm>
          <a:prstGeom prst="rect">
            <a:avLst/>
          </a:prstGeom>
          <a:no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0" i="0" u="none" strike="noStrike" kern="0" cap="none" spc="0" normalizeH="0" baseline="0" noProof="0" dirty="0">
                <a:ln>
                  <a:noFill/>
                </a:ln>
                <a:solidFill>
                  <a:srgbClr val="FFFFFF"/>
                </a:solidFill>
                <a:effectLst/>
                <a:uLnTx/>
                <a:uFillTx/>
                <a:latin typeface="Graphik Light" panose="020B0403030202060203" pitchFamily="34" charset="0"/>
                <a:ea typeface="+mn-ea"/>
                <a:cs typeface="+mn-cs"/>
              </a:rPr>
              <a:t>"La interoperabilidad permitirá que las plataformas existentes evolucionen bajo un enfoque transversal, al tiempo que se permite la coexistencia con sistemas heredados y la transformación de los modelos de negocio y tecnología."</a:t>
            </a:r>
          </a:p>
        </p:txBody>
      </p:sp>
      <p:grpSp>
        <p:nvGrpSpPr>
          <p:cNvPr id="13" name="Group 12">
            <a:extLst>
              <a:ext uri="{FF2B5EF4-FFF2-40B4-BE49-F238E27FC236}">
                <a16:creationId xmlns:a16="http://schemas.microsoft.com/office/drawing/2014/main" id="{AAC39B34-69CD-629D-EF16-1D4D841C93BE}"/>
              </a:ext>
            </a:extLst>
          </p:cNvPr>
          <p:cNvGrpSpPr/>
          <p:nvPr/>
        </p:nvGrpSpPr>
        <p:grpSpPr>
          <a:xfrm>
            <a:off x="7275472" y="1437489"/>
            <a:ext cx="4589930" cy="3333885"/>
            <a:chOff x="7333129" y="1695315"/>
            <a:chExt cx="4589930" cy="3333885"/>
          </a:xfrm>
        </p:grpSpPr>
        <p:sp>
          <p:nvSpPr>
            <p:cNvPr id="14" name="Rectangle: Rounded Corners 13">
              <a:extLst>
                <a:ext uri="{FF2B5EF4-FFF2-40B4-BE49-F238E27FC236}">
                  <a16:creationId xmlns:a16="http://schemas.microsoft.com/office/drawing/2014/main" id="{38EE64C8-EF90-A9BA-A394-617EF6491CBE}"/>
                </a:ext>
              </a:extLst>
            </p:cNvPr>
            <p:cNvSpPr/>
            <p:nvPr/>
          </p:nvSpPr>
          <p:spPr>
            <a:xfrm>
              <a:off x="7333129" y="1695315"/>
              <a:ext cx="4589930" cy="3333885"/>
            </a:xfrm>
            <a:prstGeom prst="roundRect">
              <a:avLst>
                <a:gd name="adj" fmla="val 6386"/>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a:t>
              </a:r>
              <a:r>
                <a:rPr lang="es" b="1" kern="0">
                  <a:solidFill>
                    <a:srgbClr val="FFFFFF">
                      <a:lumMod val="65000"/>
                    </a:srgbClr>
                  </a:solidFill>
                  <a:latin typeface="Graphik Semibold" panose="020B0703030202060203" pitchFamily="34" charset="0"/>
                </a:rPr>
                <a:t>I</a:t>
              </a:r>
              <a:r>
                <a:rPr kumimoji="0" lang="es"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nteroperable</a:t>
              </a:r>
              <a:endParaRPr kumimoji="0" lang="es-ES_tradnl" sz="1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endParaRPr>
            </a:p>
          </p:txBody>
        </p:sp>
        <p:sp>
          <p:nvSpPr>
            <p:cNvPr id="17" name="Rectangle: Rounded Corners 16">
              <a:extLst>
                <a:ext uri="{FF2B5EF4-FFF2-40B4-BE49-F238E27FC236}">
                  <a16:creationId xmlns:a16="http://schemas.microsoft.com/office/drawing/2014/main" id="{5439FED8-A873-1CD0-A401-A9775BDBA51A}"/>
                </a:ext>
              </a:extLst>
            </p:cNvPr>
            <p:cNvSpPr/>
            <p:nvPr/>
          </p:nvSpPr>
          <p:spPr>
            <a:xfrm>
              <a:off x="8077200" y="2148025"/>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18" name="Rectangle: Rounded Corners 17">
              <a:extLst>
                <a:ext uri="{FF2B5EF4-FFF2-40B4-BE49-F238E27FC236}">
                  <a16:creationId xmlns:a16="http://schemas.microsoft.com/office/drawing/2014/main" id="{537F8204-FFDC-BFC2-B835-A0F446D269FC}"/>
                </a:ext>
              </a:extLst>
            </p:cNvPr>
            <p:cNvSpPr/>
            <p:nvPr/>
          </p:nvSpPr>
          <p:spPr>
            <a:xfrm>
              <a:off x="8077200" y="255213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19" name="Rectangle: Rounded Corners 18">
              <a:extLst>
                <a:ext uri="{FF2B5EF4-FFF2-40B4-BE49-F238E27FC236}">
                  <a16:creationId xmlns:a16="http://schemas.microsoft.com/office/drawing/2014/main" id="{8CEA6F69-5329-86C3-8733-C55E7BD15D31}"/>
                </a:ext>
              </a:extLst>
            </p:cNvPr>
            <p:cNvSpPr/>
            <p:nvPr/>
          </p:nvSpPr>
          <p:spPr>
            <a:xfrm>
              <a:off x="8077200" y="3446935"/>
              <a:ext cx="3675531"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20" name="Rectangle: Rounded Corners 19">
              <a:extLst>
                <a:ext uri="{FF2B5EF4-FFF2-40B4-BE49-F238E27FC236}">
                  <a16:creationId xmlns:a16="http://schemas.microsoft.com/office/drawing/2014/main" id="{532419E0-2E4D-012A-F229-021DBABA77E2}"/>
                </a:ext>
              </a:extLst>
            </p:cNvPr>
            <p:cNvSpPr/>
            <p:nvPr/>
          </p:nvSpPr>
          <p:spPr>
            <a:xfrm>
              <a:off x="8077200" y="2997293"/>
              <a:ext cx="3675531" cy="360000"/>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 Orquestación</a:t>
              </a:r>
            </a:p>
          </p:txBody>
        </p:sp>
        <p:sp>
          <p:nvSpPr>
            <p:cNvPr id="21" name="Rectangle: Rounded Corners 20">
              <a:extLst>
                <a:ext uri="{FF2B5EF4-FFF2-40B4-BE49-F238E27FC236}">
                  <a16:creationId xmlns:a16="http://schemas.microsoft.com/office/drawing/2014/main" id="{6216CA2F-6002-5DE7-12D4-C26BA87495AB}"/>
                </a:ext>
              </a:extLst>
            </p:cNvPr>
            <p:cNvSpPr/>
            <p:nvPr/>
          </p:nvSpPr>
          <p:spPr>
            <a:xfrm>
              <a:off x="8077200" y="4141696"/>
              <a:ext cx="3675532" cy="60511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2" name="Rectangle: Rounded Corners 21">
              <a:extLst>
                <a:ext uri="{FF2B5EF4-FFF2-40B4-BE49-F238E27FC236}">
                  <a16:creationId xmlns:a16="http://schemas.microsoft.com/office/drawing/2014/main" id="{65BF1814-A45E-C7DD-0591-F51FA46AB22E}"/>
                </a:ext>
              </a:extLst>
            </p:cNvPr>
            <p:cNvSpPr/>
            <p:nvPr/>
          </p:nvSpPr>
          <p:spPr>
            <a:xfrm rot="16200000">
              <a:off x="6490580" y="3240878"/>
              <a:ext cx="2598790" cy="413084"/>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Servicios Empresariales Principales (Backbone)</a:t>
              </a:r>
            </a:p>
          </p:txBody>
        </p:sp>
        <p:pic>
          <p:nvPicPr>
            <p:cNvPr id="23" name="Graphic 22" descr="Esquema de piezas del puzzle">
              <a:extLst>
                <a:ext uri="{FF2B5EF4-FFF2-40B4-BE49-F238E27FC236}">
                  <a16:creationId xmlns:a16="http://schemas.microsoft.com/office/drawing/2014/main" id="{4A107591-E9C4-8DC6-AC33-97A60288F90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10005" y="1724806"/>
              <a:ext cx="386510" cy="386510"/>
            </a:xfrm>
            <a:prstGeom prst="rect">
              <a:avLst/>
            </a:prstGeom>
          </p:spPr>
        </p:pic>
        <p:grpSp>
          <p:nvGrpSpPr>
            <p:cNvPr id="24" name="Group 48">
              <a:extLst>
                <a:ext uri="{FF2B5EF4-FFF2-40B4-BE49-F238E27FC236}">
                  <a16:creationId xmlns:a16="http://schemas.microsoft.com/office/drawing/2014/main" id="{CDE290B3-D6F3-6E51-37B4-43F9D1184FCD}"/>
                </a:ext>
              </a:extLst>
            </p:cNvPr>
            <p:cNvGrpSpPr>
              <a:grpSpLocks noChangeAspect="1"/>
            </p:cNvGrpSpPr>
            <p:nvPr/>
          </p:nvGrpSpPr>
          <p:grpSpPr bwMode="auto">
            <a:xfrm>
              <a:off x="8244648" y="2265624"/>
              <a:ext cx="216405" cy="180002"/>
              <a:chOff x="3427" y="474"/>
              <a:chExt cx="428" cy="356"/>
            </a:xfrm>
            <a:solidFill>
              <a:srgbClr val="FFFFFF"/>
            </a:solidFill>
          </p:grpSpPr>
          <p:sp>
            <p:nvSpPr>
              <p:cNvPr id="32" name="Freeform 49">
                <a:extLst>
                  <a:ext uri="{FF2B5EF4-FFF2-40B4-BE49-F238E27FC236}">
                    <a16:creationId xmlns:a16="http://schemas.microsoft.com/office/drawing/2014/main" id="{9F1518F9-2348-7FBE-A268-2104FB9E003B}"/>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0">
                <a:extLst>
                  <a:ext uri="{FF2B5EF4-FFF2-40B4-BE49-F238E27FC236}">
                    <a16:creationId xmlns:a16="http://schemas.microsoft.com/office/drawing/2014/main" id="{BCFEA7B9-25BE-D36F-5A28-353F084D379B}"/>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4" name="Freeform 51">
                <a:extLst>
                  <a:ext uri="{FF2B5EF4-FFF2-40B4-BE49-F238E27FC236}">
                    <a16:creationId xmlns:a16="http://schemas.microsoft.com/office/drawing/2014/main" id="{DA20F1AA-DC00-8959-780E-62A500A77C01}"/>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5" name="Freeform 52">
                <a:extLst>
                  <a:ext uri="{FF2B5EF4-FFF2-40B4-BE49-F238E27FC236}">
                    <a16:creationId xmlns:a16="http://schemas.microsoft.com/office/drawing/2014/main" id="{09269973-0EC1-5D51-819A-489E229EB906}"/>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5" name="Graphic 24" descr="Red">
              <a:extLst>
                <a:ext uri="{FF2B5EF4-FFF2-40B4-BE49-F238E27FC236}">
                  <a16:creationId xmlns:a16="http://schemas.microsoft.com/office/drawing/2014/main" id="{C15BC799-A0F5-DB7B-E2C5-E0B78DE1D0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35683" y="2608737"/>
              <a:ext cx="252000" cy="252000"/>
            </a:xfrm>
            <a:prstGeom prst="rect">
              <a:avLst/>
            </a:prstGeom>
          </p:spPr>
        </p:pic>
        <p:sp>
          <p:nvSpPr>
            <p:cNvPr id="26" name="Freeform 147">
              <a:extLst>
                <a:ext uri="{FF2B5EF4-FFF2-40B4-BE49-F238E27FC236}">
                  <a16:creationId xmlns:a16="http://schemas.microsoft.com/office/drawing/2014/main" id="{B88558DE-40B6-04AB-73A3-F966601797BC}"/>
                </a:ext>
              </a:extLst>
            </p:cNvPr>
            <p:cNvSpPr>
              <a:spLocks noEditPoints="1"/>
            </p:cNvSpPr>
            <p:nvPr/>
          </p:nvSpPr>
          <p:spPr bwMode="auto">
            <a:xfrm>
              <a:off x="8174247" y="4362223"/>
              <a:ext cx="396000" cy="216000"/>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7" name="Freeform 5">
              <a:extLst>
                <a:ext uri="{FF2B5EF4-FFF2-40B4-BE49-F238E27FC236}">
                  <a16:creationId xmlns:a16="http://schemas.microsoft.com/office/drawing/2014/main" id="{FBA83DF6-BA93-5561-651A-7988DC91D251}"/>
                </a:ext>
              </a:extLst>
            </p:cNvPr>
            <p:cNvSpPr>
              <a:spLocks noEditPoints="1"/>
            </p:cNvSpPr>
            <p:nvPr/>
          </p:nvSpPr>
          <p:spPr bwMode="auto">
            <a:xfrm>
              <a:off x="8235683" y="3641494"/>
              <a:ext cx="252000" cy="252000"/>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8" name="Group 67">
              <a:extLst>
                <a:ext uri="{FF2B5EF4-FFF2-40B4-BE49-F238E27FC236}">
                  <a16:creationId xmlns:a16="http://schemas.microsoft.com/office/drawing/2014/main" id="{1AB62754-2FD0-6662-E478-72C8F4DA8DBD}"/>
                </a:ext>
              </a:extLst>
            </p:cNvPr>
            <p:cNvGrpSpPr>
              <a:grpSpLocks noChangeAspect="1"/>
            </p:cNvGrpSpPr>
            <p:nvPr/>
          </p:nvGrpSpPr>
          <p:grpSpPr bwMode="auto">
            <a:xfrm>
              <a:off x="8235683" y="3043950"/>
              <a:ext cx="252000" cy="251409"/>
              <a:chOff x="1356" y="1721"/>
              <a:chExt cx="427" cy="426"/>
            </a:xfrm>
            <a:solidFill>
              <a:srgbClr val="FFFFFF"/>
            </a:solidFill>
          </p:grpSpPr>
          <p:sp>
            <p:nvSpPr>
              <p:cNvPr id="29" name="Freeform 68">
                <a:extLst>
                  <a:ext uri="{FF2B5EF4-FFF2-40B4-BE49-F238E27FC236}">
                    <a16:creationId xmlns:a16="http://schemas.microsoft.com/office/drawing/2014/main" id="{222EAAA6-295F-E684-E7D2-8F4633CA3CC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0" name="Freeform 69">
                <a:extLst>
                  <a:ext uri="{FF2B5EF4-FFF2-40B4-BE49-F238E27FC236}">
                    <a16:creationId xmlns:a16="http://schemas.microsoft.com/office/drawing/2014/main" id="{A65102E5-7928-4DD9-FD40-2BBF9A35A34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70">
                <a:extLst>
                  <a:ext uri="{FF2B5EF4-FFF2-40B4-BE49-F238E27FC236}">
                    <a16:creationId xmlns:a16="http://schemas.microsoft.com/office/drawing/2014/main" id="{669F7C7C-DB09-61DF-53AC-E8D99E7CC931}"/>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1295378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C0E7A-B07A-37D4-74D9-8292B2418680}"/>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0A3DC084-F45A-384C-232B-FDEF85FD95E7}"/>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1AE61D69-E1E3-91CF-5A18-4CB66EF7AA8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sp>
        <p:nvSpPr>
          <p:cNvPr id="38" name="TextBox 37">
            <a:extLst>
              <a:ext uri="{FF2B5EF4-FFF2-40B4-BE49-F238E27FC236}">
                <a16:creationId xmlns:a16="http://schemas.microsoft.com/office/drawing/2014/main" id="{8C51231C-39D5-5C64-3FE7-BA7531E32DA5}"/>
              </a:ext>
            </a:extLst>
          </p:cNvPr>
          <p:cNvSpPr txBox="1"/>
          <p:nvPr/>
        </p:nvSpPr>
        <p:spPr>
          <a:xfrm>
            <a:off x="2942264" y="1038122"/>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Desacoplamiento:</a:t>
            </a:r>
            <a:r>
              <a:rPr kumimoji="0" lang="es" sz="1400" b="0"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 </a:t>
            </a:r>
            <a:r>
              <a:rPr lang="es" sz="1400" dirty="0">
                <a:solidFill>
                  <a:srgbClr val="000000"/>
                </a:solidFill>
                <a:latin typeface="Graphik Light" panose="020B0403030202060203" pitchFamily="34" charset="0"/>
              </a:rPr>
              <a:t>L</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a reutilizabilidad y la modularidad son principios fundamentales para una arquitectura compuesta. Esta capa de desacoplamiento soportará diferentes niveles de abstracción, permitiendo exponer información utilizando lenguaje de datos que puede entenderse en todo el ecosistema de aplicaciones disponibles tanto en sistemas upstream como downstream.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Capa de abstracción que permite reutilizar componentes / artefactos e incluye una fuerte capa de control, seguridad y monitorización.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sp>
        <p:nvSpPr>
          <p:cNvPr id="39" name="TextBox 38">
            <a:extLst>
              <a:ext uri="{FF2B5EF4-FFF2-40B4-BE49-F238E27FC236}">
                <a16:creationId xmlns:a16="http://schemas.microsoft.com/office/drawing/2014/main" id="{A243CC9B-D121-7B8A-2E7B-4EAAFA8B894E}"/>
              </a:ext>
            </a:extLst>
          </p:cNvPr>
          <p:cNvSpPr txBox="1"/>
          <p:nvPr/>
        </p:nvSpPr>
        <p:spPr>
          <a:xfrm>
            <a:off x="2942263" y="2838763"/>
            <a:ext cx="8749553"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Integración: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integrar diferentes tecnologías y aplicaciones independientemente de las tecnologías objetivo y de origen. También se encarga de la seguridad y permite transmitir datos de manera confidencial y de seguridad.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Permite agregar información, procesar la ingesta de datos y sincronizar la información entre aplicaciones. </a:t>
            </a:r>
          </a:p>
        </p:txBody>
      </p:sp>
      <p:sp>
        <p:nvSpPr>
          <p:cNvPr id="40" name="TextBox 39">
            <a:extLst>
              <a:ext uri="{FF2B5EF4-FFF2-40B4-BE49-F238E27FC236}">
                <a16:creationId xmlns:a16="http://schemas.microsoft.com/office/drawing/2014/main" id="{8741CEA2-1D59-7D2A-B44D-8BDB9481F098}"/>
              </a:ext>
            </a:extLst>
          </p:cNvPr>
          <p:cNvSpPr txBox="1"/>
          <p:nvPr/>
        </p:nvSpPr>
        <p:spPr>
          <a:xfrm>
            <a:off x="2942262" y="4653344"/>
            <a:ext cx="8749553"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Coreografía / Orquestación: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Proceso de coordinación de servicios, recursos y dominios para agilizar las actividades de TI y negocio de extremo a extremo. La coreografía coordina servicios síncronos y asíncronos usando colas o eventos a través de HUBs o brokers específicos </a:t>
            </a: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(APIs y Eventos).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Esta fachada de orquestación permite configurar y monitorizar fácilmente los servicios, agrupando diferentes servicios granulares en funciones de extremo a extremo. Dicha función puede ser de negocio (por ejemplo, abrir una cuenta, realizar una transferencia, ...) o técnica (</a:t>
            </a:r>
            <a:r>
              <a:rPr lang="es" sz="1400" dirty="0">
                <a:solidFill>
                  <a:srgbClr val="000000"/>
                </a:solidFill>
                <a:latin typeface="Graphik Light" panose="020B0403030202060203" pitchFamily="34" charset="0"/>
              </a:rPr>
              <a:t>por ejemplo</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capacidad de gestión de errores y rollback/reversión).</a:t>
            </a:r>
          </a:p>
        </p:txBody>
      </p:sp>
      <p:grpSp>
        <p:nvGrpSpPr>
          <p:cNvPr id="12" name="Group 11">
            <a:extLst>
              <a:ext uri="{FF2B5EF4-FFF2-40B4-BE49-F238E27FC236}">
                <a16:creationId xmlns:a16="http://schemas.microsoft.com/office/drawing/2014/main" id="{DF369160-BC7B-BFAA-34D7-F6960AB7CFA9}"/>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B5D24E89-3025-EE35-F169-974C085BDD5F}"/>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8BE0391C-D80C-71DE-48F0-515B03C4BB41}"/>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238B2B41-DA44-3091-5EE3-8110AAD59A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79AFA44A-38D5-D018-DB12-8DB729F1AA7D}"/>
                </a:ext>
              </a:extLst>
            </p:cNvPr>
            <p:cNvSpPr/>
            <p:nvPr/>
          </p:nvSpPr>
          <p:spPr>
            <a:xfrm>
              <a:off x="743613" y="1245038"/>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Desacoplamiento</a:t>
              </a:r>
            </a:p>
          </p:txBody>
        </p:sp>
        <p:sp>
          <p:nvSpPr>
            <p:cNvPr id="42" name="Rectangle: Rounded Corners 41">
              <a:extLst>
                <a:ext uri="{FF2B5EF4-FFF2-40B4-BE49-F238E27FC236}">
                  <a16:creationId xmlns:a16="http://schemas.microsoft.com/office/drawing/2014/main" id="{0AAC9C74-8219-3B10-F0C4-DD230FA3CDF8}"/>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8886C973-13FB-0AE5-B382-68EDD977F9D7}"/>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44" name="Rectangle: Rounded Corners 43">
              <a:extLst>
                <a:ext uri="{FF2B5EF4-FFF2-40B4-BE49-F238E27FC236}">
                  <a16:creationId xmlns:a16="http://schemas.microsoft.com/office/drawing/2014/main" id="{93F5226F-35A1-3040-3EE9-351AD2C963CB}"/>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0A9B179A-4255-ABC9-8C8E-FDC03282C93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E8561BB2-B6B8-A55B-BC74-DA1FC82672C8}"/>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3BD1DEC-55C9-C607-F54F-0E46C582D544}"/>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8D2374CA-C731-6539-CC57-A2D20F7B6B9F}"/>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405ABF90-C909-E9DF-0711-0A37BA22FAFE}"/>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DD8AE31A-7FFF-83E9-3ED9-C2B7AD3F21AF}"/>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995D2C99-D264-C867-2A51-6188B9C05843}"/>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3F07AB43-EF22-23D9-EBB1-1123A5954E6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1748E439-DE62-514B-C617-EE666F40801D}"/>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541CBF42-A58F-4FCE-C6DD-58F5B5948A75}"/>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B72B853C-0506-5E42-3266-607DC56A98CF}"/>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E30E76B2-755D-AE8E-06EB-6C7B1D62CDF8}"/>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1B71CDE-A997-2708-8742-7FFB0F94F826}"/>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1D48A89F-4F45-1BD2-0141-1DCBC74D920D}"/>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FC263745-1886-DAE9-A9E1-F1A79772AB27}"/>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2DE417EB-CF53-B922-780E-CF16F1EDB041}"/>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B975F03-3472-76DF-883D-BFF411693AC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34E0842A-A4C5-97E1-6270-9580F714C4F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A44B8348-9FC2-CF25-CC20-1AA6112028B2}"/>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C229E189-3861-9516-E12B-43D13985A087}"/>
                </a:ext>
              </a:extLst>
            </p:cNvPr>
            <p:cNvSpPr/>
            <p:nvPr/>
          </p:nvSpPr>
          <p:spPr>
            <a:xfrm>
              <a:off x="743613" y="1443305"/>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068D40BA-DEEB-C99D-F08A-63454FEA35B1}"/>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B17944FD-EBE0-CC66-0142-FB4898DE7EE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4E47D1B9-9E61-5001-8B4A-476E6EFB061F}"/>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21" name="Rectangle: Rounded Corners 20">
              <a:extLst>
                <a:ext uri="{FF2B5EF4-FFF2-40B4-BE49-F238E27FC236}">
                  <a16:creationId xmlns:a16="http://schemas.microsoft.com/office/drawing/2014/main" id="{3E0293CA-308C-F74E-586C-9D97DD28C2CE}"/>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D456AA16-3BFA-80BE-984E-9ABA153F4FC0}"/>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8F98BE7E-EFBA-EEFC-10EB-2E62CD1836FD}"/>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79AD0EBA-82A6-FBA2-A32A-428FD2647316}"/>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5DE8665D-8255-903C-DD58-15B208950BE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1E5BA77C-CFCA-C972-82FE-B0D8EEA1253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76CDB7DE-5869-4229-ED1E-B83F363E7E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F52B7F88-26CE-6AC3-1E97-20717BCEEC4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6052337A-1BB7-42F2-7327-D167B84D06D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972A5BDE-9D40-FA59-BA84-D1110E1041E8}"/>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FDF97164-2EEB-64D3-5831-087FEB95B195}"/>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F4B486FD-8C0E-071C-3601-3E44A4867B32}"/>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5C968EE2-64A2-CAB9-85B1-5DA5E1203B83}"/>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C85D9E30-25AE-E0F9-A684-3CF9388BD525}"/>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BA0BA79B-0AB7-9CF6-386F-4ABB3E066D58}"/>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E873E641-1667-D518-E3AE-CF2E8CDA7C4C}"/>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6A0EDDAB-8781-320A-AA96-C8624400C6A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2BFDE471-50EF-9C63-6A4C-D1B953520F27}"/>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E7634BA3-5966-2B79-4861-EBDC67189243}"/>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4ABAD211-ADCC-5CDC-1DE7-37C074F42ED9}"/>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76019A0B-B55C-3654-EBE5-5F0840D8254D}"/>
                </a:ext>
              </a:extLst>
            </p:cNvPr>
            <p:cNvSpPr/>
            <p:nvPr/>
          </p:nvSpPr>
          <p:spPr>
            <a:xfrm>
              <a:off x="743613" y="1661714"/>
              <a:ext cx="1841349" cy="176627"/>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614DE727-B58F-4E30-5295-F6FC5233A4C8}"/>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B3413C98-5145-2FE3-5B33-7AAEFB2D90DD}"/>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108" name="Group 48">
              <a:extLst>
                <a:ext uri="{FF2B5EF4-FFF2-40B4-BE49-F238E27FC236}">
                  <a16:creationId xmlns:a16="http://schemas.microsoft.com/office/drawing/2014/main" id="{3F07D1D4-0286-661B-069A-59711EEE6BD6}"/>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4560B463-83F4-9198-F238-1FA9916F312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82003E0E-F690-389E-3A20-B2BCC6E67DEA}"/>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C5A30D3-403D-C4B5-FEA4-1D3C7EE5064B}"/>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D10F88DA-9420-BD8D-6C09-70C0F586F1CA}"/>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C00D6FDE-CF44-6BA8-89AF-7795A635E7A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E6C719FB-EA53-B2E5-5753-A064946DD4AF}"/>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69741ABB-3C8C-07BB-25D0-4762754CA410}"/>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4C4E8081-F96A-A068-15DE-807B92A9E71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59A15B4E-5389-D7BC-FF18-D01B2B138469}"/>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7A0F179-8F3E-A6DF-B9E5-8FB60881316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170382BB-E739-CF62-2E9F-33157B70EEE8}"/>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Tree>
    <p:extLst>
      <p:ext uri="{BB962C8B-B14F-4D97-AF65-F5344CB8AC3E}">
        <p14:creationId xmlns:p14="http://schemas.microsoft.com/office/powerpoint/2010/main" val="2256778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BF021-9F39-EAE1-F0D8-CBBA34ABD5A8}"/>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184FA134-DD50-9429-F37A-E920404E3E93}"/>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6" name="Title 1">
            <a:extLst>
              <a:ext uri="{FF2B5EF4-FFF2-40B4-BE49-F238E27FC236}">
                <a16:creationId xmlns:a16="http://schemas.microsoft.com/office/drawing/2014/main" id="{FA94DCAB-110B-AC93-A562-5BC3D40ABF3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interoperable</a:t>
            </a:r>
          </a:p>
        </p:txBody>
      </p:sp>
      <p:grpSp>
        <p:nvGrpSpPr>
          <p:cNvPr id="12" name="Group 11">
            <a:extLst>
              <a:ext uri="{FF2B5EF4-FFF2-40B4-BE49-F238E27FC236}">
                <a16:creationId xmlns:a16="http://schemas.microsoft.com/office/drawing/2014/main" id="{A7821558-2CBE-EF94-AC3B-A616B9F8244D}"/>
              </a:ext>
            </a:extLst>
          </p:cNvPr>
          <p:cNvGrpSpPr/>
          <p:nvPr/>
        </p:nvGrpSpPr>
        <p:grpSpPr>
          <a:xfrm>
            <a:off x="381001" y="1022926"/>
            <a:ext cx="2388481" cy="1581473"/>
            <a:chOff x="381001" y="1022926"/>
            <a:chExt cx="2388481" cy="1581473"/>
          </a:xfrm>
        </p:grpSpPr>
        <p:grpSp>
          <p:nvGrpSpPr>
            <p:cNvPr id="9" name="Group 8">
              <a:extLst>
                <a:ext uri="{FF2B5EF4-FFF2-40B4-BE49-F238E27FC236}">
                  <a16:creationId xmlns:a16="http://schemas.microsoft.com/office/drawing/2014/main" id="{14DAA628-77C9-6BCA-EAE9-92F8D05B6F27}"/>
                </a:ext>
              </a:extLst>
            </p:cNvPr>
            <p:cNvGrpSpPr/>
            <p:nvPr/>
          </p:nvGrpSpPr>
          <p:grpSpPr>
            <a:xfrm>
              <a:off x="381001" y="1022926"/>
              <a:ext cx="2388481" cy="1581473"/>
              <a:chOff x="596766" y="1022926"/>
              <a:chExt cx="2388481" cy="1581473"/>
            </a:xfrm>
          </p:grpSpPr>
          <p:sp>
            <p:nvSpPr>
              <p:cNvPr id="36" name="Rectangle: Rounded Corners 35">
                <a:extLst>
                  <a:ext uri="{FF2B5EF4-FFF2-40B4-BE49-F238E27FC236}">
                    <a16:creationId xmlns:a16="http://schemas.microsoft.com/office/drawing/2014/main" id="{9B560CF0-350B-BDDA-9A99-3D499467F317}"/>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7" name="Graphic 36" descr="Esquema de piezas del puzzle">
                <a:extLst>
                  <a:ext uri="{FF2B5EF4-FFF2-40B4-BE49-F238E27FC236}">
                    <a16:creationId xmlns:a16="http://schemas.microsoft.com/office/drawing/2014/main" id="{B3BF03F7-5BAA-B2B4-9D16-5EEBDA84BC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41" name="Rectangle: Rounded Corners 40">
              <a:extLst>
                <a:ext uri="{FF2B5EF4-FFF2-40B4-BE49-F238E27FC236}">
                  <a16:creationId xmlns:a16="http://schemas.microsoft.com/office/drawing/2014/main" id="{D05E7251-4767-13B2-6C0F-7AA1DACE89EB}"/>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Desacoplamiento</a:t>
              </a:r>
            </a:p>
          </p:txBody>
        </p:sp>
        <p:sp>
          <p:nvSpPr>
            <p:cNvPr id="42" name="Rectangle: Rounded Corners 41">
              <a:extLst>
                <a:ext uri="{FF2B5EF4-FFF2-40B4-BE49-F238E27FC236}">
                  <a16:creationId xmlns:a16="http://schemas.microsoft.com/office/drawing/2014/main" id="{DB25D30E-BBC7-D53B-103E-19E4F7E7CC2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Integración</a:t>
              </a:r>
            </a:p>
          </p:txBody>
        </p:sp>
        <p:sp>
          <p:nvSpPr>
            <p:cNvPr id="43" name="Rectangle: Rounded Corners 42">
              <a:extLst>
                <a:ext uri="{FF2B5EF4-FFF2-40B4-BE49-F238E27FC236}">
                  <a16:creationId xmlns:a16="http://schemas.microsoft.com/office/drawing/2014/main" id="{BD3FA4B6-5C06-5F98-D662-5B9DBA9A1D35}"/>
                </a:ext>
              </a:extLst>
            </p:cNvPr>
            <p:cNvSpPr/>
            <p:nvPr/>
          </p:nvSpPr>
          <p:spPr>
            <a:xfrm>
              <a:off x="743613" y="1882322"/>
              <a:ext cx="1841349" cy="296889"/>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Coexistencia</a:t>
              </a:r>
            </a:p>
          </p:txBody>
        </p:sp>
        <p:sp>
          <p:nvSpPr>
            <p:cNvPr id="44" name="Rectangle: Rounded Corners 43">
              <a:extLst>
                <a:ext uri="{FF2B5EF4-FFF2-40B4-BE49-F238E27FC236}">
                  <a16:creationId xmlns:a16="http://schemas.microsoft.com/office/drawing/2014/main" id="{10BFE1B9-14D7-DF9A-4A78-E219ECE7D586}"/>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45" name="Rectangle: Rounded Corners 44">
              <a:extLst>
                <a:ext uri="{FF2B5EF4-FFF2-40B4-BE49-F238E27FC236}">
                  <a16:creationId xmlns:a16="http://schemas.microsoft.com/office/drawing/2014/main" id="{9D2090A0-807B-FA57-D415-0B30937B0856}"/>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46" name="Rectangle: Rounded Corners 45">
              <a:extLst>
                <a:ext uri="{FF2B5EF4-FFF2-40B4-BE49-F238E27FC236}">
                  <a16:creationId xmlns:a16="http://schemas.microsoft.com/office/drawing/2014/main" id="{658694E7-DC7C-1BC8-B99D-2275DC4B73DA}"/>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47" name="Group 48">
              <a:extLst>
                <a:ext uri="{FF2B5EF4-FFF2-40B4-BE49-F238E27FC236}">
                  <a16:creationId xmlns:a16="http://schemas.microsoft.com/office/drawing/2014/main" id="{B1519755-A2EA-E5EC-5C99-11379860E62A}"/>
                </a:ext>
              </a:extLst>
            </p:cNvPr>
            <p:cNvGrpSpPr>
              <a:grpSpLocks noChangeAspect="1"/>
            </p:cNvGrpSpPr>
            <p:nvPr/>
          </p:nvGrpSpPr>
          <p:grpSpPr bwMode="auto">
            <a:xfrm>
              <a:off x="867921" y="1302739"/>
              <a:ext cx="108414" cy="88314"/>
              <a:chOff x="3427" y="474"/>
              <a:chExt cx="428" cy="356"/>
            </a:xfrm>
            <a:solidFill>
              <a:srgbClr val="FFFFFF"/>
            </a:solidFill>
          </p:grpSpPr>
          <p:sp>
            <p:nvSpPr>
              <p:cNvPr id="48" name="Freeform 49">
                <a:extLst>
                  <a:ext uri="{FF2B5EF4-FFF2-40B4-BE49-F238E27FC236}">
                    <a16:creationId xmlns:a16="http://schemas.microsoft.com/office/drawing/2014/main" id="{DA2F9E31-7CB5-9D25-6187-2DCE3D7A4A11}"/>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49" name="Freeform 50">
                <a:extLst>
                  <a:ext uri="{FF2B5EF4-FFF2-40B4-BE49-F238E27FC236}">
                    <a16:creationId xmlns:a16="http://schemas.microsoft.com/office/drawing/2014/main" id="{72092F57-E337-B680-373E-EA377A275517}"/>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0" name="Freeform 51">
                <a:extLst>
                  <a:ext uri="{FF2B5EF4-FFF2-40B4-BE49-F238E27FC236}">
                    <a16:creationId xmlns:a16="http://schemas.microsoft.com/office/drawing/2014/main" id="{3B09A9A9-4DBD-B7CD-8C33-95C1EF01D2C5}"/>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1" name="Freeform 52">
                <a:extLst>
                  <a:ext uri="{FF2B5EF4-FFF2-40B4-BE49-F238E27FC236}">
                    <a16:creationId xmlns:a16="http://schemas.microsoft.com/office/drawing/2014/main" id="{DF5D5016-DB3C-D145-F947-EFFF9E26788E}"/>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52" name="Graphic 51" descr="Red">
              <a:extLst>
                <a:ext uri="{FF2B5EF4-FFF2-40B4-BE49-F238E27FC236}">
                  <a16:creationId xmlns:a16="http://schemas.microsoft.com/office/drawing/2014/main" id="{D964B0B4-6071-A1BB-F70A-BA5EFEBFEA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53" name="Freeform 147">
              <a:extLst>
                <a:ext uri="{FF2B5EF4-FFF2-40B4-BE49-F238E27FC236}">
                  <a16:creationId xmlns:a16="http://schemas.microsoft.com/office/drawing/2014/main" id="{8FB68BB4-D0B7-D9F7-EFE8-B739D4D4E920}"/>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4" name="Freeform 5">
              <a:extLst>
                <a:ext uri="{FF2B5EF4-FFF2-40B4-BE49-F238E27FC236}">
                  <a16:creationId xmlns:a16="http://schemas.microsoft.com/office/drawing/2014/main" id="{6AB8F436-CC7C-E001-3282-6A79A08DB18F}"/>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55" name="Group 67">
              <a:extLst>
                <a:ext uri="{FF2B5EF4-FFF2-40B4-BE49-F238E27FC236}">
                  <a16:creationId xmlns:a16="http://schemas.microsoft.com/office/drawing/2014/main" id="{F91DF847-6B27-8D5E-EB46-1E8007E9CDC8}"/>
                </a:ext>
              </a:extLst>
            </p:cNvPr>
            <p:cNvGrpSpPr>
              <a:grpSpLocks noChangeAspect="1"/>
            </p:cNvGrpSpPr>
            <p:nvPr/>
          </p:nvGrpSpPr>
          <p:grpSpPr bwMode="auto">
            <a:xfrm>
              <a:off x="863430" y="1684605"/>
              <a:ext cx="126246" cy="123349"/>
              <a:chOff x="1356" y="1721"/>
              <a:chExt cx="427" cy="426"/>
            </a:xfrm>
            <a:solidFill>
              <a:srgbClr val="FFFFFF"/>
            </a:solidFill>
          </p:grpSpPr>
          <p:sp>
            <p:nvSpPr>
              <p:cNvPr id="56" name="Freeform 68">
                <a:extLst>
                  <a:ext uri="{FF2B5EF4-FFF2-40B4-BE49-F238E27FC236}">
                    <a16:creationId xmlns:a16="http://schemas.microsoft.com/office/drawing/2014/main" id="{D51F3864-3B2C-96A0-074D-1F15A4782F7E}"/>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7" name="Freeform 69">
                <a:extLst>
                  <a:ext uri="{FF2B5EF4-FFF2-40B4-BE49-F238E27FC236}">
                    <a16:creationId xmlns:a16="http://schemas.microsoft.com/office/drawing/2014/main" id="{18153F75-2224-D47F-0262-3E118A56BA99}"/>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58" name="Freeform 70">
                <a:extLst>
                  <a:ext uri="{FF2B5EF4-FFF2-40B4-BE49-F238E27FC236}">
                    <a16:creationId xmlns:a16="http://schemas.microsoft.com/office/drawing/2014/main" id="{8F5DDCCE-575A-ED01-1C8B-83109CD3194B}"/>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13" name="Group 12">
            <a:extLst>
              <a:ext uri="{FF2B5EF4-FFF2-40B4-BE49-F238E27FC236}">
                <a16:creationId xmlns:a16="http://schemas.microsoft.com/office/drawing/2014/main" id="{C677F2AC-B57F-820E-8523-665C1757F549}"/>
              </a:ext>
            </a:extLst>
          </p:cNvPr>
          <p:cNvGrpSpPr/>
          <p:nvPr/>
        </p:nvGrpSpPr>
        <p:grpSpPr>
          <a:xfrm>
            <a:off x="381000" y="2838763"/>
            <a:ext cx="2388481" cy="1581473"/>
            <a:chOff x="381001" y="1022926"/>
            <a:chExt cx="2388481" cy="1581473"/>
          </a:xfrm>
        </p:grpSpPr>
        <p:grpSp>
          <p:nvGrpSpPr>
            <p:cNvPr id="14" name="Group 13">
              <a:extLst>
                <a:ext uri="{FF2B5EF4-FFF2-40B4-BE49-F238E27FC236}">
                  <a16:creationId xmlns:a16="http://schemas.microsoft.com/office/drawing/2014/main" id="{1CE519EA-AA26-6B71-508A-2ED2F2ED984C}"/>
                </a:ext>
              </a:extLst>
            </p:cNvPr>
            <p:cNvGrpSpPr/>
            <p:nvPr/>
          </p:nvGrpSpPr>
          <p:grpSpPr>
            <a:xfrm>
              <a:off x="381001" y="1022926"/>
              <a:ext cx="2388481" cy="1581473"/>
              <a:chOff x="596766" y="1022926"/>
              <a:chExt cx="2388481" cy="1581473"/>
            </a:xfrm>
          </p:grpSpPr>
          <p:sp>
            <p:nvSpPr>
              <p:cNvPr id="34" name="Rectangle: Rounded Corners 33">
                <a:extLst>
                  <a:ext uri="{FF2B5EF4-FFF2-40B4-BE49-F238E27FC236}">
                    <a16:creationId xmlns:a16="http://schemas.microsoft.com/office/drawing/2014/main" id="{1C5E35BA-9844-62E6-6EDA-1818DB070209}"/>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35" name="Graphic 34" descr="Esquema de piezas del puzzle">
                <a:extLst>
                  <a:ext uri="{FF2B5EF4-FFF2-40B4-BE49-F238E27FC236}">
                    <a16:creationId xmlns:a16="http://schemas.microsoft.com/office/drawing/2014/main" id="{82EDBA50-25C6-70CB-9BFA-3588970DC83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5" name="Rectangle: Rounded Corners 14">
              <a:extLst>
                <a:ext uri="{FF2B5EF4-FFF2-40B4-BE49-F238E27FC236}">
                  <a16:creationId xmlns:a16="http://schemas.microsoft.com/office/drawing/2014/main" id="{57854E20-6FFA-8406-42CF-A9DB577B31CC}"/>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7" name="Rectangle: Rounded Corners 16">
              <a:extLst>
                <a:ext uri="{FF2B5EF4-FFF2-40B4-BE49-F238E27FC236}">
                  <a16:creationId xmlns:a16="http://schemas.microsoft.com/office/drawing/2014/main" id="{E285E510-2B18-A661-0375-A7BC2990E827}"/>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Integración</a:t>
              </a:r>
            </a:p>
          </p:txBody>
        </p:sp>
        <p:sp>
          <p:nvSpPr>
            <p:cNvPr id="18" name="Rectangle: Rounded Corners 17">
              <a:extLst>
                <a:ext uri="{FF2B5EF4-FFF2-40B4-BE49-F238E27FC236}">
                  <a16:creationId xmlns:a16="http://schemas.microsoft.com/office/drawing/2014/main" id="{679610F1-FB18-D8FD-61B3-7C576620BAB6}"/>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9" name="Rectangle: Rounded Corners 18">
              <a:extLst>
                <a:ext uri="{FF2B5EF4-FFF2-40B4-BE49-F238E27FC236}">
                  <a16:creationId xmlns:a16="http://schemas.microsoft.com/office/drawing/2014/main" id="{3199FE28-57C8-F35B-9D9B-40E149905BEE}"/>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dirty="0">
                  <a:ln>
                    <a:noFill/>
                  </a:ln>
                  <a:solidFill>
                    <a:srgbClr val="FFFFFF"/>
                  </a:solidFill>
                  <a:effectLst/>
                  <a:uLnTx/>
                  <a:uFillTx/>
                  <a:latin typeface="Graphik Semibold" panose="020B0703030202060203" pitchFamily="34" charset="0"/>
                  <a:ea typeface="+mn-ea"/>
                  <a:cs typeface="+mn-cs"/>
                </a:rPr>
                <a:t>Coreografía y Orquia</a:t>
              </a:r>
            </a:p>
          </p:txBody>
        </p:sp>
        <p:sp>
          <p:nvSpPr>
            <p:cNvPr id="20" name="Rectangle: Rounded Corners 19">
              <a:extLst>
                <a:ext uri="{FF2B5EF4-FFF2-40B4-BE49-F238E27FC236}">
                  <a16:creationId xmlns:a16="http://schemas.microsoft.com/office/drawing/2014/main" id="{511324C2-33CF-51B5-408A-B8BC7D1FD68D}"/>
                </a:ext>
              </a:extLst>
            </p:cNvPr>
            <p:cNvSpPr/>
            <p:nvPr/>
          </p:nvSpPr>
          <p:spPr>
            <a:xfrm>
              <a:off x="743613" y="2223192"/>
              <a:ext cx="1841349" cy="31223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Microservicios</a:t>
              </a:r>
            </a:p>
          </p:txBody>
        </p:sp>
        <p:sp>
          <p:nvSpPr>
            <p:cNvPr id="21" name="Rectangle: Rounded Corners 20">
              <a:extLst>
                <a:ext uri="{FF2B5EF4-FFF2-40B4-BE49-F238E27FC236}">
                  <a16:creationId xmlns:a16="http://schemas.microsoft.com/office/drawing/2014/main" id="{A1118B9D-C6A9-61E6-1F44-92F6731DDE02}"/>
                </a:ext>
              </a:extLst>
            </p:cNvPr>
            <p:cNvSpPr/>
            <p:nvPr/>
          </p:nvSpPr>
          <p:spPr>
            <a:xfrm rot="16200000">
              <a:off x="-37801" y="1797017"/>
              <a:ext cx="1275043" cy="20694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Servicios Empresariales Principales (Backbone)</a:t>
              </a:r>
            </a:p>
          </p:txBody>
        </p:sp>
        <p:grpSp>
          <p:nvGrpSpPr>
            <p:cNvPr id="22" name="Group 48">
              <a:extLst>
                <a:ext uri="{FF2B5EF4-FFF2-40B4-BE49-F238E27FC236}">
                  <a16:creationId xmlns:a16="http://schemas.microsoft.com/office/drawing/2014/main" id="{1B3C4B56-33CA-66EB-D034-D2F13F4F05AA}"/>
                </a:ext>
              </a:extLst>
            </p:cNvPr>
            <p:cNvGrpSpPr>
              <a:grpSpLocks noChangeAspect="1"/>
            </p:cNvGrpSpPr>
            <p:nvPr/>
          </p:nvGrpSpPr>
          <p:grpSpPr bwMode="auto">
            <a:xfrm>
              <a:off x="867921" y="1302739"/>
              <a:ext cx="108414" cy="88314"/>
              <a:chOff x="3427" y="474"/>
              <a:chExt cx="428" cy="356"/>
            </a:xfrm>
            <a:solidFill>
              <a:srgbClr val="FFFFFF"/>
            </a:solidFill>
          </p:grpSpPr>
          <p:sp>
            <p:nvSpPr>
              <p:cNvPr id="30" name="Freeform 49">
                <a:extLst>
                  <a:ext uri="{FF2B5EF4-FFF2-40B4-BE49-F238E27FC236}">
                    <a16:creationId xmlns:a16="http://schemas.microsoft.com/office/drawing/2014/main" id="{B2FEBB2F-01E7-F2B9-0DD9-9C975E419297}"/>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1" name="Freeform 50">
                <a:extLst>
                  <a:ext uri="{FF2B5EF4-FFF2-40B4-BE49-F238E27FC236}">
                    <a16:creationId xmlns:a16="http://schemas.microsoft.com/office/drawing/2014/main" id="{28EE2852-BC87-4130-A103-7934B371A172}"/>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2" name="Freeform 51">
                <a:extLst>
                  <a:ext uri="{FF2B5EF4-FFF2-40B4-BE49-F238E27FC236}">
                    <a16:creationId xmlns:a16="http://schemas.microsoft.com/office/drawing/2014/main" id="{1DC2B608-3D2D-950D-6AD2-6F69A2A3DC3C}"/>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33" name="Freeform 52">
                <a:extLst>
                  <a:ext uri="{FF2B5EF4-FFF2-40B4-BE49-F238E27FC236}">
                    <a16:creationId xmlns:a16="http://schemas.microsoft.com/office/drawing/2014/main" id="{7406101A-66B7-174B-C318-582898D59EB8}"/>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23" name="Graphic 22" descr="Red">
              <a:extLst>
                <a:ext uri="{FF2B5EF4-FFF2-40B4-BE49-F238E27FC236}">
                  <a16:creationId xmlns:a16="http://schemas.microsoft.com/office/drawing/2014/main" id="{8820CEF9-0995-5CEA-7C35-2551F462DE7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24" name="Freeform 147">
              <a:extLst>
                <a:ext uri="{FF2B5EF4-FFF2-40B4-BE49-F238E27FC236}">
                  <a16:creationId xmlns:a16="http://schemas.microsoft.com/office/drawing/2014/main" id="{4389EA00-E630-38F6-0A88-E708FD089AFC}"/>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5" name="Freeform 5">
              <a:extLst>
                <a:ext uri="{FF2B5EF4-FFF2-40B4-BE49-F238E27FC236}">
                  <a16:creationId xmlns:a16="http://schemas.microsoft.com/office/drawing/2014/main" id="{B747D79A-7163-E246-9D1A-E7C807506E59}"/>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26" name="Group 67">
              <a:extLst>
                <a:ext uri="{FF2B5EF4-FFF2-40B4-BE49-F238E27FC236}">
                  <a16:creationId xmlns:a16="http://schemas.microsoft.com/office/drawing/2014/main" id="{7D56EEBD-184F-C1E4-C5F8-7AA5B28F4F3C}"/>
                </a:ext>
              </a:extLst>
            </p:cNvPr>
            <p:cNvGrpSpPr>
              <a:grpSpLocks noChangeAspect="1"/>
            </p:cNvGrpSpPr>
            <p:nvPr/>
          </p:nvGrpSpPr>
          <p:grpSpPr bwMode="auto">
            <a:xfrm>
              <a:off x="863430" y="1684605"/>
              <a:ext cx="126246" cy="123349"/>
              <a:chOff x="1356" y="1721"/>
              <a:chExt cx="427" cy="426"/>
            </a:xfrm>
            <a:solidFill>
              <a:srgbClr val="FFFFFF"/>
            </a:solidFill>
          </p:grpSpPr>
          <p:sp>
            <p:nvSpPr>
              <p:cNvPr id="27" name="Freeform 68">
                <a:extLst>
                  <a:ext uri="{FF2B5EF4-FFF2-40B4-BE49-F238E27FC236}">
                    <a16:creationId xmlns:a16="http://schemas.microsoft.com/office/drawing/2014/main" id="{D0CDDC53-E810-FA29-1847-228DA4C5B42A}"/>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8" name="Freeform 69">
                <a:extLst>
                  <a:ext uri="{FF2B5EF4-FFF2-40B4-BE49-F238E27FC236}">
                    <a16:creationId xmlns:a16="http://schemas.microsoft.com/office/drawing/2014/main" id="{9E0DA207-C748-6B3E-566E-4C4D35C75B5A}"/>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29" name="Freeform 70">
                <a:extLst>
                  <a:ext uri="{FF2B5EF4-FFF2-40B4-BE49-F238E27FC236}">
                    <a16:creationId xmlns:a16="http://schemas.microsoft.com/office/drawing/2014/main" id="{EDE37036-1465-A07E-3C5E-DB3C717A8D62}"/>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grpSp>
        <p:nvGrpSpPr>
          <p:cNvPr id="65" name="Group 64">
            <a:extLst>
              <a:ext uri="{FF2B5EF4-FFF2-40B4-BE49-F238E27FC236}">
                <a16:creationId xmlns:a16="http://schemas.microsoft.com/office/drawing/2014/main" id="{2DAA7D3B-6B67-0903-9DDE-B19D612EE409}"/>
              </a:ext>
            </a:extLst>
          </p:cNvPr>
          <p:cNvGrpSpPr/>
          <p:nvPr/>
        </p:nvGrpSpPr>
        <p:grpSpPr>
          <a:xfrm>
            <a:off x="381000" y="4653344"/>
            <a:ext cx="2388481" cy="1581473"/>
            <a:chOff x="381001" y="1022926"/>
            <a:chExt cx="2388481" cy="1581473"/>
          </a:xfrm>
        </p:grpSpPr>
        <p:grpSp>
          <p:nvGrpSpPr>
            <p:cNvPr id="101" name="Group 100">
              <a:extLst>
                <a:ext uri="{FF2B5EF4-FFF2-40B4-BE49-F238E27FC236}">
                  <a16:creationId xmlns:a16="http://schemas.microsoft.com/office/drawing/2014/main" id="{4C57B5F4-0245-32E2-EAF4-20DBFAC0B1DA}"/>
                </a:ext>
              </a:extLst>
            </p:cNvPr>
            <p:cNvGrpSpPr/>
            <p:nvPr/>
          </p:nvGrpSpPr>
          <p:grpSpPr>
            <a:xfrm>
              <a:off x="381001" y="1022926"/>
              <a:ext cx="2388481" cy="1581473"/>
              <a:chOff x="596766" y="1022926"/>
              <a:chExt cx="2388481" cy="1581473"/>
            </a:xfrm>
          </p:grpSpPr>
          <p:sp>
            <p:nvSpPr>
              <p:cNvPr id="120" name="Rectangle: Rounded Corners 119">
                <a:extLst>
                  <a:ext uri="{FF2B5EF4-FFF2-40B4-BE49-F238E27FC236}">
                    <a16:creationId xmlns:a16="http://schemas.microsoft.com/office/drawing/2014/main" id="{2289D3E5-6F77-4120-2B19-3BF3813E5390}"/>
                  </a:ext>
                </a:extLst>
              </p:cNvPr>
              <p:cNvSpPr/>
              <p:nvPr/>
            </p:nvSpPr>
            <p:spPr>
              <a:xfrm>
                <a:off x="596766" y="1022926"/>
                <a:ext cx="2388481" cy="1581473"/>
              </a:xfrm>
              <a:prstGeom prst="roundRect">
                <a:avLst>
                  <a:gd name="adj" fmla="val 8731"/>
                </a:avLst>
              </a:prstGeom>
              <a:solidFill>
                <a:srgbClr val="FFFFFF"/>
              </a:solidFill>
              <a:ln w="12700" cap="flat" cmpd="sng" algn="ctr">
                <a:solidFill>
                  <a:srgbClr val="96968C"/>
                </a:solidFill>
                <a:prstDash val="solid"/>
                <a:miter lim="800000"/>
              </a:ln>
              <a:effectLst/>
            </p:spPr>
            <p:txBody>
              <a:bodyPr tIns="0" bIns="9144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lumMod val="65000"/>
                      </a:srgbClr>
                    </a:solidFill>
                    <a:effectLst/>
                    <a:uLnTx/>
                    <a:uFillTx/>
                    <a:latin typeface="Graphik Semibold" panose="020B0703030202060203" pitchFamily="34" charset="0"/>
                    <a:ea typeface="+mn-ea"/>
                    <a:cs typeface="+mn-cs"/>
                  </a:rPr>
                  <a:t>Arquitectura interoperable</a:t>
                </a:r>
              </a:p>
            </p:txBody>
          </p:sp>
          <p:pic>
            <p:nvPicPr>
              <p:cNvPr id="121" name="Graphic 120" descr="Esquema de piezas del puzzle">
                <a:extLst>
                  <a:ext uri="{FF2B5EF4-FFF2-40B4-BE49-F238E27FC236}">
                    <a16:creationId xmlns:a16="http://schemas.microsoft.com/office/drawing/2014/main" id="{1AF34DF9-D88F-B0CD-058C-9599C445704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95164" y="1042277"/>
                <a:ext cx="193632" cy="193632"/>
              </a:xfrm>
              <a:prstGeom prst="rect">
                <a:avLst/>
              </a:prstGeom>
            </p:spPr>
          </p:pic>
        </p:grpSp>
        <p:sp>
          <p:nvSpPr>
            <p:cNvPr id="102" name="Rectangle: Rounded Corners 101">
              <a:extLst>
                <a:ext uri="{FF2B5EF4-FFF2-40B4-BE49-F238E27FC236}">
                  <a16:creationId xmlns:a16="http://schemas.microsoft.com/office/drawing/2014/main" id="{06D65C1D-65B7-1CEC-58A8-9EE9BFC95966}"/>
                </a:ext>
              </a:extLst>
            </p:cNvPr>
            <p:cNvSpPr/>
            <p:nvPr/>
          </p:nvSpPr>
          <p:spPr>
            <a:xfrm>
              <a:off x="743613" y="1245038"/>
              <a:ext cx="1841349" cy="176627"/>
            </a:xfrm>
            <a:prstGeom prst="roundRect">
              <a:avLst/>
            </a:prstGeom>
            <a:solidFill>
              <a:srgbClr val="FFFFFF">
                <a:lumMod val="75000"/>
              </a:srgbClr>
            </a:solidFill>
            <a:ln w="12700" cap="flat" cmpd="sng" algn="ctr">
              <a:noFill/>
              <a:prstDash val="solid"/>
              <a:miter lim="800000"/>
            </a:ln>
            <a:effectLst/>
          </p:spPr>
          <p:txBody>
            <a:bodyPr lIns="0" tIns="91440" rIns="0" bIns="91440" rtlCol="0" anchor="ctr"/>
            <a:lstStyle/>
            <a:p>
              <a:pPr algn="ctr"/>
              <a:r>
                <a:rPr lang="es" sz="800" b="1" kern="0">
                  <a:solidFill>
                    <a:srgbClr val="FFFFFF"/>
                  </a:solidFill>
                  <a:latin typeface="Graphik Semibold" panose="020B0703030202060203" pitchFamily="34" charset="0"/>
                </a:rPr>
                <a:t>Desacoplamiento</a:t>
              </a:r>
            </a:p>
          </p:txBody>
        </p:sp>
        <p:sp>
          <p:nvSpPr>
            <p:cNvPr id="103" name="Rectangle: Rounded Corners 102">
              <a:extLst>
                <a:ext uri="{FF2B5EF4-FFF2-40B4-BE49-F238E27FC236}">
                  <a16:creationId xmlns:a16="http://schemas.microsoft.com/office/drawing/2014/main" id="{7A6EEB2E-C087-C1EC-2E77-9EB3AFF47BAE}"/>
                </a:ext>
              </a:extLst>
            </p:cNvPr>
            <p:cNvSpPr/>
            <p:nvPr/>
          </p:nvSpPr>
          <p:spPr>
            <a:xfrm>
              <a:off x="743613" y="1443305"/>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a:solidFill>
                    <a:srgbClr val="FFFFFF"/>
                  </a:solidFill>
                  <a:latin typeface="Graphik Semibold" panose="020B0703030202060203" pitchFamily="34" charset="0"/>
                </a:rPr>
                <a:t>Integración</a:t>
              </a:r>
            </a:p>
          </p:txBody>
        </p:sp>
        <p:sp>
          <p:nvSpPr>
            <p:cNvPr id="104" name="Rectangle: Rounded Corners 103">
              <a:extLst>
                <a:ext uri="{FF2B5EF4-FFF2-40B4-BE49-F238E27FC236}">
                  <a16:creationId xmlns:a16="http://schemas.microsoft.com/office/drawing/2014/main" id="{2D991DFE-9C91-14BA-C645-3F39EC0247DF}"/>
                </a:ext>
              </a:extLst>
            </p:cNvPr>
            <p:cNvSpPr/>
            <p:nvPr/>
          </p:nvSpPr>
          <p:spPr>
            <a:xfrm>
              <a:off x="743613" y="1882322"/>
              <a:ext cx="1841349" cy="296889"/>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Coexistencia</a:t>
              </a:r>
            </a:p>
          </p:txBody>
        </p:sp>
        <p:sp>
          <p:nvSpPr>
            <p:cNvPr id="105" name="Rectangle: Rounded Corners 104">
              <a:extLst>
                <a:ext uri="{FF2B5EF4-FFF2-40B4-BE49-F238E27FC236}">
                  <a16:creationId xmlns:a16="http://schemas.microsoft.com/office/drawing/2014/main" id="{3BA4B79B-C6ED-FC39-F2AB-643BD1339030}"/>
                </a:ext>
              </a:extLst>
            </p:cNvPr>
            <p:cNvSpPr/>
            <p:nvPr/>
          </p:nvSpPr>
          <p:spPr>
            <a:xfrm>
              <a:off x="743613" y="1661714"/>
              <a:ext cx="1841349" cy="176627"/>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algn="ctr"/>
              <a:r>
                <a:rPr lang="es" sz="800" b="1" kern="0" dirty="0">
                  <a:solidFill>
                    <a:srgbClr val="FFFFFF"/>
                  </a:solidFill>
                  <a:latin typeface="Graphik Semibold" panose="020B0703030202060203" pitchFamily="34" charset="0"/>
                </a:rPr>
                <a:t>Coreografía y Orquia</a:t>
              </a:r>
            </a:p>
          </p:txBody>
        </p:sp>
        <p:sp>
          <p:nvSpPr>
            <p:cNvPr id="106" name="Rectangle: Rounded Corners 105">
              <a:extLst>
                <a:ext uri="{FF2B5EF4-FFF2-40B4-BE49-F238E27FC236}">
                  <a16:creationId xmlns:a16="http://schemas.microsoft.com/office/drawing/2014/main" id="{B88601BE-1BD9-F764-9179-8A62EB7F2579}"/>
                </a:ext>
              </a:extLst>
            </p:cNvPr>
            <p:cNvSpPr/>
            <p:nvPr/>
          </p:nvSpPr>
          <p:spPr>
            <a:xfrm>
              <a:off x="743613" y="2223192"/>
              <a:ext cx="1841349" cy="312235"/>
            </a:xfrm>
            <a:prstGeom prst="roundRect">
              <a:avLst/>
            </a:prstGeom>
            <a:solidFill>
              <a:srgbClr val="FFFFFF">
                <a:lumMod val="75000"/>
              </a:srgbClr>
            </a:solidFill>
            <a:ln w="12700" cap="flat" cmpd="sng" algn="ctr">
              <a:noFill/>
              <a:prstDash val="solid"/>
              <a:miter lim="800000"/>
            </a:ln>
            <a:effectLst/>
          </p:spPr>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1" i="0" u="none" strike="noStrike" kern="0" cap="none" spc="0" normalizeH="0" baseline="0" noProof="0">
                  <a:ln>
                    <a:noFill/>
                  </a:ln>
                  <a:solidFill>
                    <a:srgbClr val="FFFFFF"/>
                  </a:solidFill>
                  <a:effectLst/>
                  <a:uLnTx/>
                  <a:uFillTx/>
                  <a:latin typeface="Graphik Semibold" panose="020B0703030202060203" pitchFamily="34" charset="0"/>
                  <a:ea typeface="+mn-ea"/>
                  <a:cs typeface="+mn-cs"/>
                </a:rPr>
                <a:t>Microservicios</a:t>
              </a:r>
            </a:p>
          </p:txBody>
        </p:sp>
        <p:sp>
          <p:nvSpPr>
            <p:cNvPr id="107" name="Rectangle: Rounded Corners 106">
              <a:extLst>
                <a:ext uri="{FF2B5EF4-FFF2-40B4-BE49-F238E27FC236}">
                  <a16:creationId xmlns:a16="http://schemas.microsoft.com/office/drawing/2014/main" id="{2BCF0355-EFF5-147E-AC1B-22531751695F}"/>
                </a:ext>
              </a:extLst>
            </p:cNvPr>
            <p:cNvSpPr/>
            <p:nvPr/>
          </p:nvSpPr>
          <p:spPr>
            <a:xfrm rot="16200000">
              <a:off x="-37801" y="1797017"/>
              <a:ext cx="1275043" cy="206945"/>
            </a:xfrm>
            <a:prstGeom prst="roundRect">
              <a:avLst/>
            </a:prstGeom>
            <a:solidFill>
              <a:srgbClr val="580090"/>
            </a:solidFill>
            <a:ln w="12700" cap="flat" cmpd="sng" algn="ctr">
              <a:noFill/>
              <a:prstDash val="solid"/>
              <a:miter lim="800000"/>
            </a:ln>
            <a:effectLst/>
          </p:spPr>
          <p:txBody>
            <a:bodyPr tIns="91440" bIns="91440" rtlCol="0" anchor="ctr"/>
            <a:lstStyle/>
            <a:p>
              <a:pPr algn="ctr"/>
              <a:r>
                <a:rPr lang="es" sz="700" b="1" kern="0">
                  <a:solidFill>
                    <a:srgbClr val="FFFFFF"/>
                  </a:solidFill>
                  <a:latin typeface="Graphik Semibold" panose="020B0703030202060203" pitchFamily="34" charset="0"/>
                </a:rPr>
                <a:t>Servicios Empresariales Principales (Backbone)</a:t>
              </a:r>
            </a:p>
          </p:txBody>
        </p:sp>
        <p:grpSp>
          <p:nvGrpSpPr>
            <p:cNvPr id="108" name="Group 48">
              <a:extLst>
                <a:ext uri="{FF2B5EF4-FFF2-40B4-BE49-F238E27FC236}">
                  <a16:creationId xmlns:a16="http://schemas.microsoft.com/office/drawing/2014/main" id="{2A0BD252-3153-E24D-CCB0-8F3949426999}"/>
                </a:ext>
              </a:extLst>
            </p:cNvPr>
            <p:cNvGrpSpPr>
              <a:grpSpLocks noChangeAspect="1"/>
            </p:cNvGrpSpPr>
            <p:nvPr/>
          </p:nvGrpSpPr>
          <p:grpSpPr bwMode="auto">
            <a:xfrm>
              <a:off x="867921" y="1302739"/>
              <a:ext cx="108414" cy="88314"/>
              <a:chOff x="3427" y="474"/>
              <a:chExt cx="428" cy="356"/>
            </a:xfrm>
            <a:solidFill>
              <a:srgbClr val="FFFFFF"/>
            </a:solidFill>
          </p:grpSpPr>
          <p:sp>
            <p:nvSpPr>
              <p:cNvPr id="116" name="Freeform 49">
                <a:extLst>
                  <a:ext uri="{FF2B5EF4-FFF2-40B4-BE49-F238E27FC236}">
                    <a16:creationId xmlns:a16="http://schemas.microsoft.com/office/drawing/2014/main" id="{8F16BDBD-64BA-8A0A-33B6-CE718F304B38}"/>
                  </a:ext>
                </a:extLst>
              </p:cNvPr>
              <p:cNvSpPr>
                <a:spLocks/>
              </p:cNvSpPr>
              <p:nvPr/>
            </p:nvSpPr>
            <p:spPr bwMode="auto">
              <a:xfrm>
                <a:off x="3427" y="615"/>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7" name="Freeform 50">
                <a:extLst>
                  <a:ext uri="{FF2B5EF4-FFF2-40B4-BE49-F238E27FC236}">
                    <a16:creationId xmlns:a16="http://schemas.microsoft.com/office/drawing/2014/main" id="{50971C48-1AAF-AFAB-77FA-91A38D11609D}"/>
                  </a:ext>
                </a:extLst>
              </p:cNvPr>
              <p:cNvSpPr>
                <a:spLocks/>
              </p:cNvSpPr>
              <p:nvPr/>
            </p:nvSpPr>
            <p:spPr bwMode="auto">
              <a:xfrm>
                <a:off x="3427" y="668"/>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8" name="Freeform 51">
                <a:extLst>
                  <a:ext uri="{FF2B5EF4-FFF2-40B4-BE49-F238E27FC236}">
                    <a16:creationId xmlns:a16="http://schemas.microsoft.com/office/drawing/2014/main" id="{49D0A371-36BA-E25F-9833-93BBE8B0FF68}"/>
                  </a:ext>
                </a:extLst>
              </p:cNvPr>
              <p:cNvSpPr>
                <a:spLocks/>
              </p:cNvSpPr>
              <p:nvPr/>
            </p:nvSpPr>
            <p:spPr bwMode="auto">
              <a:xfrm>
                <a:off x="3427" y="722"/>
                <a:ext cx="428" cy="108"/>
              </a:xfrm>
              <a:custGeom>
                <a:avLst/>
                <a:gdLst>
                  <a:gd name="T0" fmla="*/ 144 w 289"/>
                  <a:gd name="T1" fmla="*/ 73 h 73"/>
                  <a:gd name="T2" fmla="*/ 142 w 289"/>
                  <a:gd name="T3" fmla="*/ 73 h 73"/>
                  <a:gd name="T4" fmla="*/ 4 w 289"/>
                  <a:gd name="T5" fmla="*/ 13 h 73"/>
                  <a:gd name="T6" fmla="*/ 1 w 289"/>
                  <a:gd name="T7" fmla="*/ 5 h 73"/>
                  <a:gd name="T8" fmla="*/ 9 w 289"/>
                  <a:gd name="T9" fmla="*/ 2 h 73"/>
                  <a:gd name="T10" fmla="*/ 144 w 289"/>
                  <a:gd name="T11" fmla="*/ 61 h 73"/>
                  <a:gd name="T12" fmla="*/ 280 w 289"/>
                  <a:gd name="T13" fmla="*/ 2 h 73"/>
                  <a:gd name="T14" fmla="*/ 288 w 289"/>
                  <a:gd name="T15" fmla="*/ 5 h 73"/>
                  <a:gd name="T16" fmla="*/ 285 w 289"/>
                  <a:gd name="T17" fmla="*/ 13 h 73"/>
                  <a:gd name="T18" fmla="*/ 147 w 289"/>
                  <a:gd name="T19" fmla="*/ 73 h 73"/>
                  <a:gd name="T20" fmla="*/ 144 w 289"/>
                  <a:gd name="T21"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9" h="73">
                    <a:moveTo>
                      <a:pt x="144" y="73"/>
                    </a:moveTo>
                    <a:cubicBezTo>
                      <a:pt x="144" y="73"/>
                      <a:pt x="143" y="73"/>
                      <a:pt x="142" y="73"/>
                    </a:cubicBezTo>
                    <a:cubicBezTo>
                      <a:pt x="4" y="13"/>
                      <a:pt x="4" y="13"/>
                      <a:pt x="4" y="13"/>
                    </a:cubicBezTo>
                    <a:cubicBezTo>
                      <a:pt x="1" y="11"/>
                      <a:pt x="0" y="8"/>
                      <a:pt x="1" y="5"/>
                    </a:cubicBezTo>
                    <a:cubicBezTo>
                      <a:pt x="2" y="2"/>
                      <a:pt x="6" y="0"/>
                      <a:pt x="9" y="2"/>
                    </a:cubicBezTo>
                    <a:cubicBezTo>
                      <a:pt x="144" y="61"/>
                      <a:pt x="144" y="61"/>
                      <a:pt x="144" y="61"/>
                    </a:cubicBezTo>
                    <a:cubicBezTo>
                      <a:pt x="280" y="2"/>
                      <a:pt x="280" y="2"/>
                      <a:pt x="280" y="2"/>
                    </a:cubicBezTo>
                    <a:cubicBezTo>
                      <a:pt x="283" y="0"/>
                      <a:pt x="287" y="2"/>
                      <a:pt x="288" y="5"/>
                    </a:cubicBezTo>
                    <a:cubicBezTo>
                      <a:pt x="289" y="8"/>
                      <a:pt x="288" y="11"/>
                      <a:pt x="285" y="13"/>
                    </a:cubicBezTo>
                    <a:cubicBezTo>
                      <a:pt x="147" y="73"/>
                      <a:pt x="147" y="73"/>
                      <a:pt x="147" y="73"/>
                    </a:cubicBezTo>
                    <a:cubicBezTo>
                      <a:pt x="146" y="73"/>
                      <a:pt x="145" y="73"/>
                      <a:pt x="144"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9" name="Freeform 52">
                <a:extLst>
                  <a:ext uri="{FF2B5EF4-FFF2-40B4-BE49-F238E27FC236}">
                    <a16:creationId xmlns:a16="http://schemas.microsoft.com/office/drawing/2014/main" id="{0D30073F-3F66-CE58-40DB-FA8615296A1B}"/>
                  </a:ext>
                </a:extLst>
              </p:cNvPr>
              <p:cNvSpPr>
                <a:spLocks noEditPoints="1"/>
              </p:cNvSpPr>
              <p:nvPr/>
            </p:nvSpPr>
            <p:spPr bwMode="auto">
              <a:xfrm>
                <a:off x="3427" y="474"/>
                <a:ext cx="426" cy="196"/>
              </a:xfrm>
              <a:custGeom>
                <a:avLst/>
                <a:gdLst>
                  <a:gd name="T0" fmla="*/ 144 w 288"/>
                  <a:gd name="T1" fmla="*/ 132 h 132"/>
                  <a:gd name="T2" fmla="*/ 142 w 288"/>
                  <a:gd name="T3" fmla="*/ 132 h 132"/>
                  <a:gd name="T4" fmla="*/ 4 w 288"/>
                  <a:gd name="T5" fmla="*/ 72 h 132"/>
                  <a:gd name="T6" fmla="*/ 0 w 288"/>
                  <a:gd name="T7" fmla="*/ 66 h 132"/>
                  <a:gd name="T8" fmla="*/ 4 w 288"/>
                  <a:gd name="T9" fmla="*/ 61 h 132"/>
                  <a:gd name="T10" fmla="*/ 142 w 288"/>
                  <a:gd name="T11" fmla="*/ 1 h 132"/>
                  <a:gd name="T12" fmla="*/ 147 w 288"/>
                  <a:gd name="T13" fmla="*/ 1 h 132"/>
                  <a:gd name="T14" fmla="*/ 285 w 288"/>
                  <a:gd name="T15" fmla="*/ 61 h 132"/>
                  <a:gd name="T16" fmla="*/ 288 w 288"/>
                  <a:gd name="T17" fmla="*/ 66 h 132"/>
                  <a:gd name="T18" fmla="*/ 285 w 288"/>
                  <a:gd name="T19" fmla="*/ 72 h 132"/>
                  <a:gd name="T20" fmla="*/ 147 w 288"/>
                  <a:gd name="T21" fmla="*/ 132 h 132"/>
                  <a:gd name="T22" fmla="*/ 144 w 288"/>
                  <a:gd name="T23" fmla="*/ 132 h 132"/>
                  <a:gd name="T24" fmla="*/ 21 w 288"/>
                  <a:gd name="T25" fmla="*/ 66 h 132"/>
                  <a:gd name="T26" fmla="*/ 144 w 288"/>
                  <a:gd name="T27" fmla="*/ 120 h 132"/>
                  <a:gd name="T28" fmla="*/ 267 w 288"/>
                  <a:gd name="T29" fmla="*/ 66 h 132"/>
                  <a:gd name="T30" fmla="*/ 144 w 288"/>
                  <a:gd name="T31" fmla="*/ 13 h 132"/>
                  <a:gd name="T32" fmla="*/ 21 w 288"/>
                  <a:gd name="T33" fmla="*/ 66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88" h="132">
                    <a:moveTo>
                      <a:pt x="144" y="132"/>
                    </a:moveTo>
                    <a:cubicBezTo>
                      <a:pt x="144" y="132"/>
                      <a:pt x="143" y="132"/>
                      <a:pt x="142" y="132"/>
                    </a:cubicBezTo>
                    <a:cubicBezTo>
                      <a:pt x="4" y="72"/>
                      <a:pt x="4" y="72"/>
                      <a:pt x="4" y="72"/>
                    </a:cubicBezTo>
                    <a:cubicBezTo>
                      <a:pt x="2" y="71"/>
                      <a:pt x="0" y="69"/>
                      <a:pt x="0" y="66"/>
                    </a:cubicBezTo>
                    <a:cubicBezTo>
                      <a:pt x="0" y="64"/>
                      <a:pt x="2" y="62"/>
                      <a:pt x="4" y="61"/>
                    </a:cubicBezTo>
                    <a:cubicBezTo>
                      <a:pt x="142" y="1"/>
                      <a:pt x="142" y="1"/>
                      <a:pt x="142" y="1"/>
                    </a:cubicBezTo>
                    <a:cubicBezTo>
                      <a:pt x="144" y="0"/>
                      <a:pt x="145" y="0"/>
                      <a:pt x="147" y="1"/>
                    </a:cubicBezTo>
                    <a:cubicBezTo>
                      <a:pt x="285" y="61"/>
                      <a:pt x="285" y="61"/>
                      <a:pt x="285" y="61"/>
                    </a:cubicBezTo>
                    <a:cubicBezTo>
                      <a:pt x="287" y="62"/>
                      <a:pt x="288" y="64"/>
                      <a:pt x="288" y="66"/>
                    </a:cubicBezTo>
                    <a:cubicBezTo>
                      <a:pt x="288" y="69"/>
                      <a:pt x="287" y="71"/>
                      <a:pt x="285" y="72"/>
                    </a:cubicBezTo>
                    <a:cubicBezTo>
                      <a:pt x="147" y="132"/>
                      <a:pt x="147" y="132"/>
                      <a:pt x="147" y="132"/>
                    </a:cubicBezTo>
                    <a:cubicBezTo>
                      <a:pt x="146" y="132"/>
                      <a:pt x="145" y="132"/>
                      <a:pt x="144" y="132"/>
                    </a:cubicBezTo>
                    <a:close/>
                    <a:moveTo>
                      <a:pt x="21" y="66"/>
                    </a:moveTo>
                    <a:cubicBezTo>
                      <a:pt x="144" y="120"/>
                      <a:pt x="144" y="120"/>
                      <a:pt x="144" y="120"/>
                    </a:cubicBezTo>
                    <a:cubicBezTo>
                      <a:pt x="267" y="66"/>
                      <a:pt x="267" y="66"/>
                      <a:pt x="267" y="66"/>
                    </a:cubicBezTo>
                    <a:cubicBezTo>
                      <a:pt x="144" y="13"/>
                      <a:pt x="144" y="13"/>
                      <a:pt x="144" y="13"/>
                    </a:cubicBezTo>
                    <a:lnTo>
                      <a:pt x="21"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pic>
          <p:nvPicPr>
            <p:cNvPr id="109" name="Graphic 108" descr="Red">
              <a:extLst>
                <a:ext uri="{FF2B5EF4-FFF2-40B4-BE49-F238E27FC236}">
                  <a16:creationId xmlns:a16="http://schemas.microsoft.com/office/drawing/2014/main" id="{9A2748A7-5DE0-D76D-021F-153CAC3CDFC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4733" y="1471077"/>
              <a:ext cx="123639" cy="123639"/>
            </a:xfrm>
            <a:prstGeom prst="rect">
              <a:avLst/>
            </a:prstGeom>
          </p:spPr>
        </p:pic>
        <p:sp>
          <p:nvSpPr>
            <p:cNvPr id="110" name="Freeform 147">
              <a:extLst>
                <a:ext uri="{FF2B5EF4-FFF2-40B4-BE49-F238E27FC236}">
                  <a16:creationId xmlns:a16="http://schemas.microsoft.com/office/drawing/2014/main" id="{F817A8D0-E4C4-F475-CE09-494CD8B731FB}"/>
                </a:ext>
              </a:extLst>
            </p:cNvPr>
            <p:cNvSpPr>
              <a:spLocks noEditPoints="1"/>
            </p:cNvSpPr>
            <p:nvPr/>
          </p:nvSpPr>
          <p:spPr bwMode="auto">
            <a:xfrm>
              <a:off x="832652" y="2331389"/>
              <a:ext cx="198386" cy="105976"/>
            </a:xfrm>
            <a:custGeom>
              <a:avLst/>
              <a:gdLst>
                <a:gd name="T0" fmla="*/ 54 w 288"/>
                <a:gd name="T1" fmla="*/ 180 h 180"/>
                <a:gd name="T2" fmla="*/ 14 w 288"/>
                <a:gd name="T3" fmla="*/ 164 h 180"/>
                <a:gd name="T4" fmla="*/ 0 w 288"/>
                <a:gd name="T5" fmla="*/ 129 h 180"/>
                <a:gd name="T6" fmla="*/ 19 w 288"/>
                <a:gd name="T7" fmla="*/ 89 h 180"/>
                <a:gd name="T8" fmla="*/ 55 w 288"/>
                <a:gd name="T9" fmla="*/ 78 h 180"/>
                <a:gd name="T10" fmla="*/ 144 w 288"/>
                <a:gd name="T11" fmla="*/ 0 h 180"/>
                <a:gd name="T12" fmla="*/ 224 w 288"/>
                <a:gd name="T13" fmla="*/ 48 h 180"/>
                <a:gd name="T14" fmla="*/ 268 w 288"/>
                <a:gd name="T15" fmla="*/ 66 h 180"/>
                <a:gd name="T16" fmla="*/ 288 w 288"/>
                <a:gd name="T17" fmla="*/ 114 h 180"/>
                <a:gd name="T18" fmla="*/ 229 w 288"/>
                <a:gd name="T19" fmla="*/ 180 h 180"/>
                <a:gd name="T20" fmla="*/ 228 w 288"/>
                <a:gd name="T21" fmla="*/ 180 h 180"/>
                <a:gd name="T22" fmla="*/ 54 w 288"/>
                <a:gd name="T23" fmla="*/ 180 h 180"/>
                <a:gd name="T24" fmla="*/ 54 w 288"/>
                <a:gd name="T25" fmla="*/ 180 h 180"/>
                <a:gd name="T26" fmla="*/ 51 w 288"/>
                <a:gd name="T27" fmla="*/ 90 h 180"/>
                <a:gd name="T28" fmla="*/ 27 w 288"/>
                <a:gd name="T29" fmla="*/ 99 h 180"/>
                <a:gd name="T30" fmla="*/ 12 w 288"/>
                <a:gd name="T31" fmla="*/ 129 h 180"/>
                <a:gd name="T32" fmla="*/ 22 w 288"/>
                <a:gd name="T33" fmla="*/ 156 h 180"/>
                <a:gd name="T34" fmla="*/ 54 w 288"/>
                <a:gd name="T35" fmla="*/ 168 h 180"/>
                <a:gd name="T36" fmla="*/ 54 w 288"/>
                <a:gd name="T37" fmla="*/ 168 h 180"/>
                <a:gd name="T38" fmla="*/ 228 w 288"/>
                <a:gd name="T39" fmla="*/ 168 h 180"/>
                <a:gd name="T40" fmla="*/ 276 w 288"/>
                <a:gd name="T41" fmla="*/ 114 h 180"/>
                <a:gd name="T42" fmla="*/ 260 w 288"/>
                <a:gd name="T43" fmla="*/ 75 h 180"/>
                <a:gd name="T44" fmla="*/ 220 w 288"/>
                <a:gd name="T45" fmla="*/ 60 h 180"/>
                <a:gd name="T46" fmla="*/ 215 w 288"/>
                <a:gd name="T47" fmla="*/ 57 h 180"/>
                <a:gd name="T48" fmla="*/ 144 w 288"/>
                <a:gd name="T49" fmla="*/ 12 h 180"/>
                <a:gd name="T50" fmla="*/ 66 w 288"/>
                <a:gd name="T51" fmla="*/ 85 h 180"/>
                <a:gd name="T52" fmla="*/ 64 w 288"/>
                <a:gd name="T53" fmla="*/ 90 h 180"/>
                <a:gd name="T54" fmla="*/ 59 w 288"/>
                <a:gd name="T55" fmla="*/ 91 h 180"/>
                <a:gd name="T56" fmla="*/ 51 w 288"/>
                <a:gd name="T57" fmla="*/ 90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88" h="180">
                  <a:moveTo>
                    <a:pt x="54" y="180"/>
                  </a:moveTo>
                  <a:cubicBezTo>
                    <a:pt x="51" y="180"/>
                    <a:pt x="29" y="179"/>
                    <a:pt x="14" y="164"/>
                  </a:cubicBezTo>
                  <a:cubicBezTo>
                    <a:pt x="5" y="156"/>
                    <a:pt x="0" y="144"/>
                    <a:pt x="0" y="129"/>
                  </a:cubicBezTo>
                  <a:cubicBezTo>
                    <a:pt x="0" y="113"/>
                    <a:pt x="7" y="99"/>
                    <a:pt x="19" y="89"/>
                  </a:cubicBezTo>
                  <a:cubicBezTo>
                    <a:pt x="29" y="81"/>
                    <a:pt x="42" y="77"/>
                    <a:pt x="55" y="78"/>
                  </a:cubicBezTo>
                  <a:cubicBezTo>
                    <a:pt x="61" y="34"/>
                    <a:pt x="99" y="0"/>
                    <a:pt x="144" y="0"/>
                  </a:cubicBezTo>
                  <a:cubicBezTo>
                    <a:pt x="177" y="0"/>
                    <a:pt x="208" y="19"/>
                    <a:pt x="224" y="48"/>
                  </a:cubicBezTo>
                  <a:cubicBezTo>
                    <a:pt x="240" y="48"/>
                    <a:pt x="256" y="55"/>
                    <a:pt x="268" y="66"/>
                  </a:cubicBezTo>
                  <a:cubicBezTo>
                    <a:pt x="281" y="79"/>
                    <a:pt x="288" y="96"/>
                    <a:pt x="288" y="114"/>
                  </a:cubicBezTo>
                  <a:cubicBezTo>
                    <a:pt x="288" y="171"/>
                    <a:pt x="230" y="180"/>
                    <a:pt x="229" y="180"/>
                  </a:cubicBezTo>
                  <a:cubicBezTo>
                    <a:pt x="229" y="180"/>
                    <a:pt x="228" y="180"/>
                    <a:pt x="228" y="180"/>
                  </a:cubicBezTo>
                  <a:cubicBezTo>
                    <a:pt x="54" y="180"/>
                    <a:pt x="54" y="180"/>
                    <a:pt x="54" y="180"/>
                  </a:cubicBezTo>
                  <a:cubicBezTo>
                    <a:pt x="54" y="180"/>
                    <a:pt x="54" y="180"/>
                    <a:pt x="54" y="180"/>
                  </a:cubicBezTo>
                  <a:close/>
                  <a:moveTo>
                    <a:pt x="51" y="90"/>
                  </a:moveTo>
                  <a:cubicBezTo>
                    <a:pt x="42" y="90"/>
                    <a:pt x="34" y="93"/>
                    <a:pt x="27" y="99"/>
                  </a:cubicBezTo>
                  <a:cubicBezTo>
                    <a:pt x="17" y="106"/>
                    <a:pt x="12" y="117"/>
                    <a:pt x="12" y="129"/>
                  </a:cubicBezTo>
                  <a:cubicBezTo>
                    <a:pt x="12" y="140"/>
                    <a:pt x="16" y="149"/>
                    <a:pt x="22" y="156"/>
                  </a:cubicBezTo>
                  <a:cubicBezTo>
                    <a:pt x="34" y="168"/>
                    <a:pt x="53" y="168"/>
                    <a:pt x="54" y="168"/>
                  </a:cubicBezTo>
                  <a:cubicBezTo>
                    <a:pt x="54" y="168"/>
                    <a:pt x="54" y="168"/>
                    <a:pt x="54" y="168"/>
                  </a:cubicBezTo>
                  <a:cubicBezTo>
                    <a:pt x="228" y="168"/>
                    <a:pt x="228" y="168"/>
                    <a:pt x="228" y="168"/>
                  </a:cubicBezTo>
                  <a:cubicBezTo>
                    <a:pt x="233" y="167"/>
                    <a:pt x="276" y="159"/>
                    <a:pt x="276" y="114"/>
                  </a:cubicBezTo>
                  <a:cubicBezTo>
                    <a:pt x="276" y="99"/>
                    <a:pt x="270" y="85"/>
                    <a:pt x="260" y="75"/>
                  </a:cubicBezTo>
                  <a:cubicBezTo>
                    <a:pt x="249" y="65"/>
                    <a:pt x="235" y="59"/>
                    <a:pt x="220" y="60"/>
                  </a:cubicBezTo>
                  <a:cubicBezTo>
                    <a:pt x="218" y="60"/>
                    <a:pt x="216" y="59"/>
                    <a:pt x="215" y="57"/>
                  </a:cubicBezTo>
                  <a:cubicBezTo>
                    <a:pt x="202" y="29"/>
                    <a:pt x="174" y="12"/>
                    <a:pt x="144" y="12"/>
                  </a:cubicBezTo>
                  <a:cubicBezTo>
                    <a:pt x="103" y="12"/>
                    <a:pt x="69" y="44"/>
                    <a:pt x="66" y="85"/>
                  </a:cubicBezTo>
                  <a:cubicBezTo>
                    <a:pt x="66" y="87"/>
                    <a:pt x="66" y="88"/>
                    <a:pt x="64" y="90"/>
                  </a:cubicBezTo>
                  <a:cubicBezTo>
                    <a:pt x="63" y="91"/>
                    <a:pt x="61" y="91"/>
                    <a:pt x="59" y="91"/>
                  </a:cubicBezTo>
                  <a:cubicBezTo>
                    <a:pt x="57" y="90"/>
                    <a:pt x="54" y="90"/>
                    <a:pt x="51" y="9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1" name="Freeform 5">
              <a:extLst>
                <a:ext uri="{FF2B5EF4-FFF2-40B4-BE49-F238E27FC236}">
                  <a16:creationId xmlns:a16="http://schemas.microsoft.com/office/drawing/2014/main" id="{D2621AC5-CABB-7F74-85BD-AA8B8EC6FBAA}"/>
                </a:ext>
              </a:extLst>
            </p:cNvPr>
            <p:cNvSpPr>
              <a:spLocks noEditPoints="1"/>
            </p:cNvSpPr>
            <p:nvPr/>
          </p:nvSpPr>
          <p:spPr bwMode="auto">
            <a:xfrm>
              <a:off x="863430" y="1977778"/>
              <a:ext cx="126246" cy="123639"/>
            </a:xfrm>
            <a:custGeom>
              <a:avLst/>
              <a:gdLst>
                <a:gd name="T0" fmla="*/ 60 w 88"/>
                <a:gd name="T1" fmla="*/ 8 h 88"/>
                <a:gd name="T2" fmla="*/ 60 w 88"/>
                <a:gd name="T3" fmla="*/ 29 h 88"/>
                <a:gd name="T4" fmla="*/ 28 w 88"/>
                <a:gd name="T5" fmla="*/ 29 h 88"/>
                <a:gd name="T6" fmla="*/ 28 w 88"/>
                <a:gd name="T7" fmla="*/ 8 h 88"/>
                <a:gd name="T8" fmla="*/ 0 w 88"/>
                <a:gd name="T9" fmla="*/ 8 h 88"/>
                <a:gd name="T10" fmla="*/ 14 w 88"/>
                <a:gd name="T11" fmla="*/ 36 h 88"/>
                <a:gd name="T12" fmla="*/ 41 w 88"/>
                <a:gd name="T13" fmla="*/ 44 h 88"/>
                <a:gd name="T14" fmla="*/ 14 w 88"/>
                <a:gd name="T15" fmla="*/ 52 h 88"/>
                <a:gd name="T16" fmla="*/ 0 w 88"/>
                <a:gd name="T17" fmla="*/ 80 h 88"/>
                <a:gd name="T18" fmla="*/ 28 w 88"/>
                <a:gd name="T19" fmla="*/ 80 h 88"/>
                <a:gd name="T20" fmla="*/ 28 w 88"/>
                <a:gd name="T21" fmla="*/ 59 h 88"/>
                <a:gd name="T22" fmla="*/ 60 w 88"/>
                <a:gd name="T23" fmla="*/ 59 h 88"/>
                <a:gd name="T24" fmla="*/ 60 w 88"/>
                <a:gd name="T25" fmla="*/ 80 h 88"/>
                <a:gd name="T26" fmla="*/ 88 w 88"/>
                <a:gd name="T27" fmla="*/ 80 h 88"/>
                <a:gd name="T28" fmla="*/ 74 w 88"/>
                <a:gd name="T29" fmla="*/ 52 h 88"/>
                <a:gd name="T30" fmla="*/ 47 w 88"/>
                <a:gd name="T31" fmla="*/ 44 h 88"/>
                <a:gd name="T32" fmla="*/ 74 w 88"/>
                <a:gd name="T33" fmla="*/ 36 h 88"/>
                <a:gd name="T34" fmla="*/ 88 w 88"/>
                <a:gd name="T35" fmla="*/ 8 h 88"/>
                <a:gd name="T36" fmla="*/ 4 w 88"/>
                <a:gd name="T37" fmla="*/ 14 h 88"/>
                <a:gd name="T38" fmla="*/ 24 w 88"/>
                <a:gd name="T39" fmla="*/ 14 h 88"/>
                <a:gd name="T40" fmla="*/ 14 w 88"/>
                <a:gd name="T41" fmla="*/ 22 h 88"/>
                <a:gd name="T42" fmla="*/ 4 w 88"/>
                <a:gd name="T43" fmla="*/ 14 h 88"/>
                <a:gd name="T44" fmla="*/ 24 w 88"/>
                <a:gd name="T45" fmla="*/ 8 h 88"/>
                <a:gd name="T46" fmla="*/ 4 w 88"/>
                <a:gd name="T47" fmla="*/ 8 h 88"/>
                <a:gd name="T48" fmla="*/ 14 w 88"/>
                <a:gd name="T49" fmla="*/ 32 h 88"/>
                <a:gd name="T50" fmla="*/ 4 w 88"/>
                <a:gd name="T51" fmla="*/ 24 h 88"/>
                <a:gd name="T52" fmla="*/ 24 w 88"/>
                <a:gd name="T53" fmla="*/ 24 h 88"/>
                <a:gd name="T54" fmla="*/ 14 w 88"/>
                <a:gd name="T55" fmla="*/ 32 h 88"/>
                <a:gd name="T56" fmla="*/ 14 w 88"/>
                <a:gd name="T57" fmla="*/ 74 h 88"/>
                <a:gd name="T58" fmla="*/ 4 w 88"/>
                <a:gd name="T59" fmla="*/ 66 h 88"/>
                <a:gd name="T60" fmla="*/ 24 w 88"/>
                <a:gd name="T61" fmla="*/ 66 h 88"/>
                <a:gd name="T62" fmla="*/ 14 w 88"/>
                <a:gd name="T63" fmla="*/ 56 h 88"/>
                <a:gd name="T64" fmla="*/ 14 w 88"/>
                <a:gd name="T65" fmla="*/ 64 h 88"/>
                <a:gd name="T66" fmla="*/ 14 w 88"/>
                <a:gd name="T67" fmla="*/ 56 h 88"/>
                <a:gd name="T68" fmla="*/ 4 w 88"/>
                <a:gd name="T69" fmla="*/ 80 h 88"/>
                <a:gd name="T70" fmla="*/ 14 w 88"/>
                <a:gd name="T71" fmla="*/ 78 h 88"/>
                <a:gd name="T72" fmla="*/ 24 w 88"/>
                <a:gd name="T73" fmla="*/ 80 h 88"/>
                <a:gd name="T74" fmla="*/ 84 w 88"/>
                <a:gd name="T75" fmla="*/ 70 h 88"/>
                <a:gd name="T76" fmla="*/ 64 w 88"/>
                <a:gd name="T77" fmla="*/ 70 h 88"/>
                <a:gd name="T78" fmla="*/ 74 w 88"/>
                <a:gd name="T79" fmla="*/ 68 h 88"/>
                <a:gd name="T80" fmla="*/ 84 w 88"/>
                <a:gd name="T81" fmla="*/ 70 h 88"/>
                <a:gd name="T82" fmla="*/ 64 w 88"/>
                <a:gd name="T83" fmla="*/ 80 h 88"/>
                <a:gd name="T84" fmla="*/ 74 w 88"/>
                <a:gd name="T85" fmla="*/ 78 h 88"/>
                <a:gd name="T86" fmla="*/ 84 w 88"/>
                <a:gd name="T87" fmla="*/ 80 h 88"/>
                <a:gd name="T88" fmla="*/ 74 w 88"/>
                <a:gd name="T89" fmla="*/ 56 h 88"/>
                <a:gd name="T90" fmla="*/ 74 w 88"/>
                <a:gd name="T91" fmla="*/ 64 h 88"/>
                <a:gd name="T92" fmla="*/ 74 w 88"/>
                <a:gd name="T93" fmla="*/ 56 h 88"/>
                <a:gd name="T94" fmla="*/ 74 w 88"/>
                <a:gd name="T95" fmla="*/ 22 h 88"/>
                <a:gd name="T96" fmla="*/ 64 w 88"/>
                <a:gd name="T97" fmla="*/ 14 h 88"/>
                <a:gd name="T98" fmla="*/ 84 w 88"/>
                <a:gd name="T99" fmla="*/ 14 h 88"/>
                <a:gd name="T100" fmla="*/ 74 w 88"/>
                <a:gd name="T101" fmla="*/ 4 h 88"/>
                <a:gd name="T102" fmla="*/ 74 w 88"/>
                <a:gd name="T103" fmla="*/ 12 h 88"/>
                <a:gd name="T104" fmla="*/ 74 w 88"/>
                <a:gd name="T105" fmla="*/ 4 h 88"/>
                <a:gd name="T106" fmla="*/ 64 w 88"/>
                <a:gd name="T107" fmla="*/ 28 h 88"/>
                <a:gd name="T108" fmla="*/ 74 w 88"/>
                <a:gd name="T109" fmla="*/ 26 h 88"/>
                <a:gd name="T110" fmla="*/ 84 w 88"/>
                <a:gd name="T111" fmla="*/ 28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8" h="88">
                  <a:moveTo>
                    <a:pt x="74" y="0"/>
                  </a:moveTo>
                  <a:cubicBezTo>
                    <a:pt x="66" y="0"/>
                    <a:pt x="60" y="3"/>
                    <a:pt x="60" y="8"/>
                  </a:cubicBezTo>
                  <a:cubicBezTo>
                    <a:pt x="60" y="28"/>
                    <a:pt x="60" y="28"/>
                    <a:pt x="60" y="28"/>
                  </a:cubicBezTo>
                  <a:cubicBezTo>
                    <a:pt x="60" y="28"/>
                    <a:pt x="60" y="29"/>
                    <a:pt x="60" y="29"/>
                  </a:cubicBezTo>
                  <a:cubicBezTo>
                    <a:pt x="44" y="41"/>
                    <a:pt x="44" y="41"/>
                    <a:pt x="44" y="41"/>
                  </a:cubicBezTo>
                  <a:cubicBezTo>
                    <a:pt x="28" y="29"/>
                    <a:pt x="28" y="29"/>
                    <a:pt x="28" y="29"/>
                  </a:cubicBezTo>
                  <a:cubicBezTo>
                    <a:pt x="28" y="29"/>
                    <a:pt x="28" y="28"/>
                    <a:pt x="28" y="28"/>
                  </a:cubicBezTo>
                  <a:cubicBezTo>
                    <a:pt x="28" y="8"/>
                    <a:pt x="28" y="8"/>
                    <a:pt x="28" y="8"/>
                  </a:cubicBezTo>
                  <a:cubicBezTo>
                    <a:pt x="28" y="3"/>
                    <a:pt x="22" y="0"/>
                    <a:pt x="14" y="0"/>
                  </a:cubicBezTo>
                  <a:cubicBezTo>
                    <a:pt x="6" y="0"/>
                    <a:pt x="0" y="3"/>
                    <a:pt x="0" y="8"/>
                  </a:cubicBezTo>
                  <a:cubicBezTo>
                    <a:pt x="0" y="28"/>
                    <a:pt x="0" y="28"/>
                    <a:pt x="0" y="28"/>
                  </a:cubicBezTo>
                  <a:cubicBezTo>
                    <a:pt x="0" y="33"/>
                    <a:pt x="6" y="36"/>
                    <a:pt x="14" y="36"/>
                  </a:cubicBezTo>
                  <a:cubicBezTo>
                    <a:pt x="19" y="36"/>
                    <a:pt x="23" y="35"/>
                    <a:pt x="26" y="32"/>
                  </a:cubicBezTo>
                  <a:cubicBezTo>
                    <a:pt x="41" y="44"/>
                    <a:pt x="41" y="44"/>
                    <a:pt x="41" y="44"/>
                  </a:cubicBezTo>
                  <a:cubicBezTo>
                    <a:pt x="26" y="56"/>
                    <a:pt x="26" y="56"/>
                    <a:pt x="26" y="56"/>
                  </a:cubicBezTo>
                  <a:cubicBezTo>
                    <a:pt x="23" y="53"/>
                    <a:pt x="19" y="52"/>
                    <a:pt x="14" y="52"/>
                  </a:cubicBezTo>
                  <a:cubicBezTo>
                    <a:pt x="6" y="52"/>
                    <a:pt x="0" y="55"/>
                    <a:pt x="0" y="60"/>
                  </a:cubicBezTo>
                  <a:cubicBezTo>
                    <a:pt x="0" y="80"/>
                    <a:pt x="0" y="80"/>
                    <a:pt x="0" y="80"/>
                  </a:cubicBezTo>
                  <a:cubicBezTo>
                    <a:pt x="0" y="85"/>
                    <a:pt x="6" y="88"/>
                    <a:pt x="14" y="88"/>
                  </a:cubicBezTo>
                  <a:cubicBezTo>
                    <a:pt x="22" y="88"/>
                    <a:pt x="28" y="85"/>
                    <a:pt x="28" y="80"/>
                  </a:cubicBezTo>
                  <a:cubicBezTo>
                    <a:pt x="28" y="60"/>
                    <a:pt x="28" y="60"/>
                    <a:pt x="28" y="60"/>
                  </a:cubicBezTo>
                  <a:cubicBezTo>
                    <a:pt x="28" y="60"/>
                    <a:pt x="28" y="59"/>
                    <a:pt x="28" y="59"/>
                  </a:cubicBezTo>
                  <a:cubicBezTo>
                    <a:pt x="44" y="47"/>
                    <a:pt x="44" y="47"/>
                    <a:pt x="44" y="47"/>
                  </a:cubicBezTo>
                  <a:cubicBezTo>
                    <a:pt x="60" y="59"/>
                    <a:pt x="60" y="59"/>
                    <a:pt x="60" y="59"/>
                  </a:cubicBezTo>
                  <a:cubicBezTo>
                    <a:pt x="60" y="59"/>
                    <a:pt x="60" y="60"/>
                    <a:pt x="60" y="60"/>
                  </a:cubicBezTo>
                  <a:cubicBezTo>
                    <a:pt x="60" y="80"/>
                    <a:pt x="60" y="80"/>
                    <a:pt x="60" y="80"/>
                  </a:cubicBezTo>
                  <a:cubicBezTo>
                    <a:pt x="60" y="85"/>
                    <a:pt x="66" y="88"/>
                    <a:pt x="74" y="88"/>
                  </a:cubicBezTo>
                  <a:cubicBezTo>
                    <a:pt x="82" y="88"/>
                    <a:pt x="88" y="85"/>
                    <a:pt x="88" y="80"/>
                  </a:cubicBezTo>
                  <a:cubicBezTo>
                    <a:pt x="88" y="60"/>
                    <a:pt x="88" y="60"/>
                    <a:pt x="88" y="60"/>
                  </a:cubicBezTo>
                  <a:cubicBezTo>
                    <a:pt x="88" y="55"/>
                    <a:pt x="82" y="52"/>
                    <a:pt x="74" y="52"/>
                  </a:cubicBezTo>
                  <a:cubicBezTo>
                    <a:pt x="69" y="52"/>
                    <a:pt x="65" y="53"/>
                    <a:pt x="62" y="56"/>
                  </a:cubicBezTo>
                  <a:cubicBezTo>
                    <a:pt x="47" y="44"/>
                    <a:pt x="47" y="44"/>
                    <a:pt x="47" y="44"/>
                  </a:cubicBezTo>
                  <a:cubicBezTo>
                    <a:pt x="62" y="32"/>
                    <a:pt x="62" y="32"/>
                    <a:pt x="62" y="32"/>
                  </a:cubicBezTo>
                  <a:cubicBezTo>
                    <a:pt x="65" y="35"/>
                    <a:pt x="69" y="36"/>
                    <a:pt x="74" y="36"/>
                  </a:cubicBezTo>
                  <a:cubicBezTo>
                    <a:pt x="82" y="36"/>
                    <a:pt x="88" y="33"/>
                    <a:pt x="88" y="28"/>
                  </a:cubicBezTo>
                  <a:cubicBezTo>
                    <a:pt x="88" y="8"/>
                    <a:pt x="88" y="8"/>
                    <a:pt x="88" y="8"/>
                  </a:cubicBezTo>
                  <a:cubicBezTo>
                    <a:pt x="88" y="3"/>
                    <a:pt x="82" y="0"/>
                    <a:pt x="74" y="0"/>
                  </a:cubicBezTo>
                  <a:close/>
                  <a:moveTo>
                    <a:pt x="4" y="14"/>
                  </a:moveTo>
                  <a:cubicBezTo>
                    <a:pt x="7" y="15"/>
                    <a:pt x="10" y="16"/>
                    <a:pt x="14" y="16"/>
                  </a:cubicBezTo>
                  <a:cubicBezTo>
                    <a:pt x="18" y="16"/>
                    <a:pt x="21" y="15"/>
                    <a:pt x="24" y="14"/>
                  </a:cubicBezTo>
                  <a:cubicBezTo>
                    <a:pt x="24" y="18"/>
                    <a:pt x="24" y="18"/>
                    <a:pt x="24" y="18"/>
                  </a:cubicBezTo>
                  <a:cubicBezTo>
                    <a:pt x="24" y="20"/>
                    <a:pt x="20" y="22"/>
                    <a:pt x="14" y="22"/>
                  </a:cubicBezTo>
                  <a:cubicBezTo>
                    <a:pt x="8" y="22"/>
                    <a:pt x="4" y="20"/>
                    <a:pt x="4" y="18"/>
                  </a:cubicBezTo>
                  <a:lnTo>
                    <a:pt x="4" y="14"/>
                  </a:lnTo>
                  <a:close/>
                  <a:moveTo>
                    <a:pt x="14" y="4"/>
                  </a:moveTo>
                  <a:cubicBezTo>
                    <a:pt x="20" y="4"/>
                    <a:pt x="24" y="6"/>
                    <a:pt x="24" y="8"/>
                  </a:cubicBezTo>
                  <a:cubicBezTo>
                    <a:pt x="24" y="10"/>
                    <a:pt x="20" y="12"/>
                    <a:pt x="14" y="12"/>
                  </a:cubicBezTo>
                  <a:cubicBezTo>
                    <a:pt x="8" y="12"/>
                    <a:pt x="4" y="10"/>
                    <a:pt x="4" y="8"/>
                  </a:cubicBezTo>
                  <a:cubicBezTo>
                    <a:pt x="4" y="6"/>
                    <a:pt x="8" y="4"/>
                    <a:pt x="14" y="4"/>
                  </a:cubicBezTo>
                  <a:close/>
                  <a:moveTo>
                    <a:pt x="14" y="32"/>
                  </a:moveTo>
                  <a:cubicBezTo>
                    <a:pt x="8" y="32"/>
                    <a:pt x="4" y="30"/>
                    <a:pt x="4" y="28"/>
                  </a:cubicBezTo>
                  <a:cubicBezTo>
                    <a:pt x="4" y="24"/>
                    <a:pt x="4" y="24"/>
                    <a:pt x="4" y="24"/>
                  </a:cubicBezTo>
                  <a:cubicBezTo>
                    <a:pt x="7" y="25"/>
                    <a:pt x="10" y="26"/>
                    <a:pt x="14" y="26"/>
                  </a:cubicBezTo>
                  <a:cubicBezTo>
                    <a:pt x="18" y="26"/>
                    <a:pt x="21" y="25"/>
                    <a:pt x="24" y="24"/>
                  </a:cubicBezTo>
                  <a:cubicBezTo>
                    <a:pt x="24" y="28"/>
                    <a:pt x="24" y="28"/>
                    <a:pt x="24" y="28"/>
                  </a:cubicBezTo>
                  <a:cubicBezTo>
                    <a:pt x="24" y="30"/>
                    <a:pt x="20" y="32"/>
                    <a:pt x="14" y="32"/>
                  </a:cubicBezTo>
                  <a:close/>
                  <a:moveTo>
                    <a:pt x="24" y="70"/>
                  </a:moveTo>
                  <a:cubicBezTo>
                    <a:pt x="24" y="72"/>
                    <a:pt x="20" y="74"/>
                    <a:pt x="14" y="74"/>
                  </a:cubicBezTo>
                  <a:cubicBezTo>
                    <a:pt x="8" y="74"/>
                    <a:pt x="4" y="72"/>
                    <a:pt x="4" y="70"/>
                  </a:cubicBezTo>
                  <a:cubicBezTo>
                    <a:pt x="4" y="66"/>
                    <a:pt x="4" y="66"/>
                    <a:pt x="4" y="66"/>
                  </a:cubicBezTo>
                  <a:cubicBezTo>
                    <a:pt x="7" y="67"/>
                    <a:pt x="10" y="68"/>
                    <a:pt x="14" y="68"/>
                  </a:cubicBezTo>
                  <a:cubicBezTo>
                    <a:pt x="18" y="68"/>
                    <a:pt x="21" y="67"/>
                    <a:pt x="24" y="66"/>
                  </a:cubicBezTo>
                  <a:lnTo>
                    <a:pt x="24" y="70"/>
                  </a:lnTo>
                  <a:close/>
                  <a:moveTo>
                    <a:pt x="14" y="56"/>
                  </a:moveTo>
                  <a:cubicBezTo>
                    <a:pt x="20" y="56"/>
                    <a:pt x="24" y="58"/>
                    <a:pt x="24" y="60"/>
                  </a:cubicBezTo>
                  <a:cubicBezTo>
                    <a:pt x="24" y="62"/>
                    <a:pt x="20" y="64"/>
                    <a:pt x="14" y="64"/>
                  </a:cubicBezTo>
                  <a:cubicBezTo>
                    <a:pt x="8" y="64"/>
                    <a:pt x="4" y="62"/>
                    <a:pt x="4" y="60"/>
                  </a:cubicBezTo>
                  <a:cubicBezTo>
                    <a:pt x="4" y="58"/>
                    <a:pt x="8" y="56"/>
                    <a:pt x="14" y="56"/>
                  </a:cubicBezTo>
                  <a:close/>
                  <a:moveTo>
                    <a:pt x="14" y="84"/>
                  </a:moveTo>
                  <a:cubicBezTo>
                    <a:pt x="8" y="84"/>
                    <a:pt x="4" y="82"/>
                    <a:pt x="4" y="80"/>
                  </a:cubicBezTo>
                  <a:cubicBezTo>
                    <a:pt x="4" y="76"/>
                    <a:pt x="4" y="76"/>
                    <a:pt x="4" y="76"/>
                  </a:cubicBezTo>
                  <a:cubicBezTo>
                    <a:pt x="7" y="77"/>
                    <a:pt x="10" y="78"/>
                    <a:pt x="14" y="78"/>
                  </a:cubicBezTo>
                  <a:cubicBezTo>
                    <a:pt x="18" y="78"/>
                    <a:pt x="21" y="77"/>
                    <a:pt x="24" y="76"/>
                  </a:cubicBezTo>
                  <a:cubicBezTo>
                    <a:pt x="24" y="80"/>
                    <a:pt x="24" y="80"/>
                    <a:pt x="24" y="80"/>
                  </a:cubicBezTo>
                  <a:cubicBezTo>
                    <a:pt x="24" y="82"/>
                    <a:pt x="20" y="84"/>
                    <a:pt x="14" y="84"/>
                  </a:cubicBezTo>
                  <a:close/>
                  <a:moveTo>
                    <a:pt x="84" y="70"/>
                  </a:moveTo>
                  <a:cubicBezTo>
                    <a:pt x="84" y="72"/>
                    <a:pt x="80" y="74"/>
                    <a:pt x="74" y="74"/>
                  </a:cubicBezTo>
                  <a:cubicBezTo>
                    <a:pt x="68" y="74"/>
                    <a:pt x="64" y="72"/>
                    <a:pt x="64" y="70"/>
                  </a:cubicBezTo>
                  <a:cubicBezTo>
                    <a:pt x="64" y="66"/>
                    <a:pt x="64" y="66"/>
                    <a:pt x="64" y="66"/>
                  </a:cubicBezTo>
                  <a:cubicBezTo>
                    <a:pt x="67" y="67"/>
                    <a:pt x="70" y="68"/>
                    <a:pt x="74" y="68"/>
                  </a:cubicBezTo>
                  <a:cubicBezTo>
                    <a:pt x="78" y="68"/>
                    <a:pt x="81" y="67"/>
                    <a:pt x="84" y="66"/>
                  </a:cubicBezTo>
                  <a:lnTo>
                    <a:pt x="84" y="70"/>
                  </a:lnTo>
                  <a:close/>
                  <a:moveTo>
                    <a:pt x="74" y="84"/>
                  </a:moveTo>
                  <a:cubicBezTo>
                    <a:pt x="68" y="84"/>
                    <a:pt x="64" y="82"/>
                    <a:pt x="64" y="80"/>
                  </a:cubicBezTo>
                  <a:cubicBezTo>
                    <a:pt x="64" y="76"/>
                    <a:pt x="64" y="76"/>
                    <a:pt x="64" y="76"/>
                  </a:cubicBezTo>
                  <a:cubicBezTo>
                    <a:pt x="67" y="77"/>
                    <a:pt x="70" y="78"/>
                    <a:pt x="74" y="78"/>
                  </a:cubicBezTo>
                  <a:cubicBezTo>
                    <a:pt x="78" y="78"/>
                    <a:pt x="81" y="77"/>
                    <a:pt x="84" y="76"/>
                  </a:cubicBezTo>
                  <a:cubicBezTo>
                    <a:pt x="84" y="80"/>
                    <a:pt x="84" y="80"/>
                    <a:pt x="84" y="80"/>
                  </a:cubicBezTo>
                  <a:cubicBezTo>
                    <a:pt x="84" y="82"/>
                    <a:pt x="80" y="84"/>
                    <a:pt x="74" y="84"/>
                  </a:cubicBezTo>
                  <a:close/>
                  <a:moveTo>
                    <a:pt x="74" y="56"/>
                  </a:moveTo>
                  <a:cubicBezTo>
                    <a:pt x="80" y="56"/>
                    <a:pt x="84" y="58"/>
                    <a:pt x="84" y="60"/>
                  </a:cubicBezTo>
                  <a:cubicBezTo>
                    <a:pt x="84" y="62"/>
                    <a:pt x="80" y="64"/>
                    <a:pt x="74" y="64"/>
                  </a:cubicBezTo>
                  <a:cubicBezTo>
                    <a:pt x="68" y="64"/>
                    <a:pt x="64" y="62"/>
                    <a:pt x="64" y="60"/>
                  </a:cubicBezTo>
                  <a:cubicBezTo>
                    <a:pt x="64" y="58"/>
                    <a:pt x="68" y="56"/>
                    <a:pt x="74" y="56"/>
                  </a:cubicBezTo>
                  <a:close/>
                  <a:moveTo>
                    <a:pt x="84" y="18"/>
                  </a:moveTo>
                  <a:cubicBezTo>
                    <a:pt x="84" y="20"/>
                    <a:pt x="80" y="22"/>
                    <a:pt x="74" y="22"/>
                  </a:cubicBezTo>
                  <a:cubicBezTo>
                    <a:pt x="68" y="22"/>
                    <a:pt x="64" y="20"/>
                    <a:pt x="64" y="18"/>
                  </a:cubicBezTo>
                  <a:cubicBezTo>
                    <a:pt x="64" y="14"/>
                    <a:pt x="64" y="14"/>
                    <a:pt x="64" y="14"/>
                  </a:cubicBezTo>
                  <a:cubicBezTo>
                    <a:pt x="67" y="15"/>
                    <a:pt x="70" y="16"/>
                    <a:pt x="74" y="16"/>
                  </a:cubicBezTo>
                  <a:cubicBezTo>
                    <a:pt x="78" y="16"/>
                    <a:pt x="81" y="15"/>
                    <a:pt x="84" y="14"/>
                  </a:cubicBezTo>
                  <a:lnTo>
                    <a:pt x="84" y="18"/>
                  </a:lnTo>
                  <a:close/>
                  <a:moveTo>
                    <a:pt x="74" y="4"/>
                  </a:moveTo>
                  <a:cubicBezTo>
                    <a:pt x="80" y="4"/>
                    <a:pt x="84" y="6"/>
                    <a:pt x="84" y="8"/>
                  </a:cubicBezTo>
                  <a:cubicBezTo>
                    <a:pt x="84" y="10"/>
                    <a:pt x="80" y="12"/>
                    <a:pt x="74" y="12"/>
                  </a:cubicBezTo>
                  <a:cubicBezTo>
                    <a:pt x="68" y="12"/>
                    <a:pt x="64" y="10"/>
                    <a:pt x="64" y="8"/>
                  </a:cubicBezTo>
                  <a:cubicBezTo>
                    <a:pt x="64" y="6"/>
                    <a:pt x="68" y="4"/>
                    <a:pt x="74" y="4"/>
                  </a:cubicBezTo>
                  <a:close/>
                  <a:moveTo>
                    <a:pt x="74" y="32"/>
                  </a:moveTo>
                  <a:cubicBezTo>
                    <a:pt x="68" y="32"/>
                    <a:pt x="64" y="30"/>
                    <a:pt x="64" y="28"/>
                  </a:cubicBezTo>
                  <a:cubicBezTo>
                    <a:pt x="64" y="24"/>
                    <a:pt x="64" y="24"/>
                    <a:pt x="64" y="24"/>
                  </a:cubicBezTo>
                  <a:cubicBezTo>
                    <a:pt x="67" y="25"/>
                    <a:pt x="70" y="26"/>
                    <a:pt x="74" y="26"/>
                  </a:cubicBezTo>
                  <a:cubicBezTo>
                    <a:pt x="78" y="26"/>
                    <a:pt x="81" y="25"/>
                    <a:pt x="84" y="24"/>
                  </a:cubicBezTo>
                  <a:cubicBezTo>
                    <a:pt x="84" y="28"/>
                    <a:pt x="84" y="28"/>
                    <a:pt x="84" y="28"/>
                  </a:cubicBezTo>
                  <a:cubicBezTo>
                    <a:pt x="84" y="30"/>
                    <a:pt x="80" y="32"/>
                    <a:pt x="74" y="32"/>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800" b="0" i="0" u="none" strike="noStrike" kern="0" cap="none" spc="0" normalizeH="0" baseline="0" noProof="0">
                <a:ln>
                  <a:noFill/>
                </a:ln>
                <a:solidFill>
                  <a:srgbClr val="96968C"/>
                </a:solidFill>
                <a:effectLst/>
                <a:uLnTx/>
                <a:uFillTx/>
                <a:latin typeface="Graphik Semibold" panose="020B0703030202060203" pitchFamily="34" charset="0"/>
                <a:ea typeface="+mn-ea"/>
                <a:cs typeface="Arial" charset="0"/>
              </a:endParaRPr>
            </a:p>
          </p:txBody>
        </p:sp>
        <p:grpSp>
          <p:nvGrpSpPr>
            <p:cNvPr id="112" name="Group 67">
              <a:extLst>
                <a:ext uri="{FF2B5EF4-FFF2-40B4-BE49-F238E27FC236}">
                  <a16:creationId xmlns:a16="http://schemas.microsoft.com/office/drawing/2014/main" id="{1BA47B8F-C098-4A0D-D8EC-4C493AA111F6}"/>
                </a:ext>
              </a:extLst>
            </p:cNvPr>
            <p:cNvGrpSpPr>
              <a:grpSpLocks noChangeAspect="1"/>
            </p:cNvGrpSpPr>
            <p:nvPr/>
          </p:nvGrpSpPr>
          <p:grpSpPr bwMode="auto">
            <a:xfrm>
              <a:off x="863430" y="1684605"/>
              <a:ext cx="126246" cy="123349"/>
              <a:chOff x="1356" y="1721"/>
              <a:chExt cx="427" cy="426"/>
            </a:xfrm>
            <a:solidFill>
              <a:srgbClr val="FFFFFF"/>
            </a:solidFill>
          </p:grpSpPr>
          <p:sp>
            <p:nvSpPr>
              <p:cNvPr id="113" name="Freeform 68">
                <a:extLst>
                  <a:ext uri="{FF2B5EF4-FFF2-40B4-BE49-F238E27FC236}">
                    <a16:creationId xmlns:a16="http://schemas.microsoft.com/office/drawing/2014/main" id="{C919F29F-8126-FF25-BBE3-AB5480BC81B4}"/>
                  </a:ext>
                </a:extLst>
              </p:cNvPr>
              <p:cNvSpPr>
                <a:spLocks noEditPoints="1"/>
              </p:cNvSpPr>
              <p:nvPr/>
            </p:nvSpPr>
            <p:spPr bwMode="auto">
              <a:xfrm>
                <a:off x="1356" y="1721"/>
                <a:ext cx="427" cy="426"/>
              </a:xfrm>
              <a:custGeom>
                <a:avLst/>
                <a:gdLst>
                  <a:gd name="T0" fmla="*/ 126 w 288"/>
                  <a:gd name="T1" fmla="*/ 288 h 288"/>
                  <a:gd name="T2" fmla="*/ 120 w 288"/>
                  <a:gd name="T3" fmla="*/ 247 h 288"/>
                  <a:gd name="T4" fmla="*/ 67 w 288"/>
                  <a:gd name="T5" fmla="*/ 262 h 288"/>
                  <a:gd name="T6" fmla="*/ 25 w 288"/>
                  <a:gd name="T7" fmla="*/ 229 h 288"/>
                  <a:gd name="T8" fmla="*/ 25 w 288"/>
                  <a:gd name="T9" fmla="*/ 220 h 288"/>
                  <a:gd name="T10" fmla="*/ 40 w 288"/>
                  <a:gd name="T11" fmla="*/ 168 h 288"/>
                  <a:gd name="T12" fmla="*/ 0 w 288"/>
                  <a:gd name="T13" fmla="*/ 162 h 288"/>
                  <a:gd name="T14" fmla="*/ 6 w 288"/>
                  <a:gd name="T15" fmla="*/ 120 h 288"/>
                  <a:gd name="T16" fmla="*/ 49 w 288"/>
                  <a:gd name="T17" fmla="*/ 92 h 288"/>
                  <a:gd name="T18" fmla="*/ 23 w 288"/>
                  <a:gd name="T19" fmla="*/ 63 h 288"/>
                  <a:gd name="T20" fmla="*/ 59 w 288"/>
                  <a:gd name="T21" fmla="*/ 25 h 288"/>
                  <a:gd name="T22" fmla="*/ 92 w 288"/>
                  <a:gd name="T23" fmla="*/ 49 h 288"/>
                  <a:gd name="T24" fmla="*/ 120 w 288"/>
                  <a:gd name="T25" fmla="*/ 6 h 288"/>
                  <a:gd name="T26" fmla="*/ 162 w 288"/>
                  <a:gd name="T27" fmla="*/ 0 h 288"/>
                  <a:gd name="T28" fmla="*/ 168 w 288"/>
                  <a:gd name="T29" fmla="*/ 40 h 288"/>
                  <a:gd name="T30" fmla="*/ 220 w 288"/>
                  <a:gd name="T31" fmla="*/ 25 h 288"/>
                  <a:gd name="T32" fmla="*/ 263 w 288"/>
                  <a:gd name="T33" fmla="*/ 59 h 288"/>
                  <a:gd name="T34" fmla="*/ 263 w 288"/>
                  <a:gd name="T35" fmla="*/ 67 h 288"/>
                  <a:gd name="T36" fmla="*/ 248 w 288"/>
                  <a:gd name="T37" fmla="*/ 120 h 288"/>
                  <a:gd name="T38" fmla="*/ 288 w 288"/>
                  <a:gd name="T39" fmla="*/ 126 h 288"/>
                  <a:gd name="T40" fmla="*/ 282 w 288"/>
                  <a:gd name="T41" fmla="*/ 168 h 288"/>
                  <a:gd name="T42" fmla="*/ 238 w 288"/>
                  <a:gd name="T43" fmla="*/ 196 h 288"/>
                  <a:gd name="T44" fmla="*/ 263 w 288"/>
                  <a:gd name="T45" fmla="*/ 229 h 288"/>
                  <a:gd name="T46" fmla="*/ 220 w 288"/>
                  <a:gd name="T47" fmla="*/ 262 h 288"/>
                  <a:gd name="T48" fmla="*/ 168 w 288"/>
                  <a:gd name="T49" fmla="*/ 247 h 288"/>
                  <a:gd name="T50" fmla="*/ 162 w 288"/>
                  <a:gd name="T51" fmla="*/ 288 h 288"/>
                  <a:gd name="T52" fmla="*/ 156 w 288"/>
                  <a:gd name="T53" fmla="*/ 276 h 288"/>
                  <a:gd name="T54" fmla="*/ 160 w 288"/>
                  <a:gd name="T55" fmla="*/ 237 h 288"/>
                  <a:gd name="T56" fmla="*/ 201 w 288"/>
                  <a:gd name="T57" fmla="*/ 226 h 288"/>
                  <a:gd name="T58" fmla="*/ 250 w 288"/>
                  <a:gd name="T59" fmla="*/ 224 h 288"/>
                  <a:gd name="T60" fmla="*/ 226 w 288"/>
                  <a:gd name="T61" fmla="*/ 194 h 288"/>
                  <a:gd name="T62" fmla="*/ 243 w 288"/>
                  <a:gd name="T63" fmla="*/ 156 h 288"/>
                  <a:gd name="T64" fmla="*/ 276 w 288"/>
                  <a:gd name="T65" fmla="*/ 132 h 288"/>
                  <a:gd name="T66" fmla="*/ 237 w 288"/>
                  <a:gd name="T67" fmla="*/ 127 h 288"/>
                  <a:gd name="T68" fmla="*/ 227 w 288"/>
                  <a:gd name="T69" fmla="*/ 86 h 288"/>
                  <a:gd name="T70" fmla="*/ 224 w 288"/>
                  <a:gd name="T71" fmla="*/ 38 h 288"/>
                  <a:gd name="T72" fmla="*/ 194 w 288"/>
                  <a:gd name="T73" fmla="*/ 62 h 288"/>
                  <a:gd name="T74" fmla="*/ 156 w 288"/>
                  <a:gd name="T75" fmla="*/ 45 h 288"/>
                  <a:gd name="T76" fmla="*/ 132 w 288"/>
                  <a:gd name="T77" fmla="*/ 12 h 288"/>
                  <a:gd name="T78" fmla="*/ 127 w 288"/>
                  <a:gd name="T79" fmla="*/ 50 h 288"/>
                  <a:gd name="T80" fmla="*/ 87 w 288"/>
                  <a:gd name="T81" fmla="*/ 61 h 288"/>
                  <a:gd name="T82" fmla="*/ 38 w 288"/>
                  <a:gd name="T83" fmla="*/ 63 h 288"/>
                  <a:gd name="T84" fmla="*/ 62 w 288"/>
                  <a:gd name="T85" fmla="*/ 94 h 288"/>
                  <a:gd name="T86" fmla="*/ 45 w 288"/>
                  <a:gd name="T87" fmla="*/ 132 h 288"/>
                  <a:gd name="T88" fmla="*/ 12 w 288"/>
                  <a:gd name="T89" fmla="*/ 156 h 288"/>
                  <a:gd name="T90" fmla="*/ 51 w 288"/>
                  <a:gd name="T91" fmla="*/ 160 h 288"/>
                  <a:gd name="T92" fmla="*/ 61 w 288"/>
                  <a:gd name="T93" fmla="*/ 201 h 288"/>
                  <a:gd name="T94" fmla="*/ 63 w 288"/>
                  <a:gd name="T95" fmla="*/ 250 h 288"/>
                  <a:gd name="T96" fmla="*/ 94 w 288"/>
                  <a:gd name="T97" fmla="*/ 226 h 288"/>
                  <a:gd name="T98" fmla="*/ 132 w 288"/>
                  <a:gd name="T99" fmla="*/ 24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8" h="288">
                    <a:moveTo>
                      <a:pt x="162" y="288"/>
                    </a:moveTo>
                    <a:cubicBezTo>
                      <a:pt x="126" y="288"/>
                      <a:pt x="126" y="288"/>
                      <a:pt x="126" y="288"/>
                    </a:cubicBezTo>
                    <a:cubicBezTo>
                      <a:pt x="123" y="288"/>
                      <a:pt x="120" y="285"/>
                      <a:pt x="120" y="282"/>
                    </a:cubicBezTo>
                    <a:cubicBezTo>
                      <a:pt x="120" y="247"/>
                      <a:pt x="120" y="247"/>
                      <a:pt x="120" y="247"/>
                    </a:cubicBezTo>
                    <a:cubicBezTo>
                      <a:pt x="110" y="245"/>
                      <a:pt x="100" y="242"/>
                      <a:pt x="92" y="238"/>
                    </a:cubicBezTo>
                    <a:cubicBezTo>
                      <a:pt x="67" y="262"/>
                      <a:pt x="67" y="262"/>
                      <a:pt x="67" y="262"/>
                    </a:cubicBezTo>
                    <a:cubicBezTo>
                      <a:pt x="65" y="265"/>
                      <a:pt x="61" y="265"/>
                      <a:pt x="59" y="262"/>
                    </a:cubicBezTo>
                    <a:cubicBezTo>
                      <a:pt x="25" y="229"/>
                      <a:pt x="25" y="229"/>
                      <a:pt x="25" y="229"/>
                    </a:cubicBezTo>
                    <a:cubicBezTo>
                      <a:pt x="24" y="227"/>
                      <a:pt x="23" y="226"/>
                      <a:pt x="23" y="224"/>
                    </a:cubicBezTo>
                    <a:cubicBezTo>
                      <a:pt x="23" y="223"/>
                      <a:pt x="24" y="221"/>
                      <a:pt x="25" y="220"/>
                    </a:cubicBezTo>
                    <a:cubicBezTo>
                      <a:pt x="49" y="196"/>
                      <a:pt x="49" y="196"/>
                      <a:pt x="49" y="196"/>
                    </a:cubicBezTo>
                    <a:cubicBezTo>
                      <a:pt x="46" y="188"/>
                      <a:pt x="43" y="177"/>
                      <a:pt x="40" y="168"/>
                    </a:cubicBezTo>
                    <a:cubicBezTo>
                      <a:pt x="6" y="168"/>
                      <a:pt x="6" y="168"/>
                      <a:pt x="6" y="168"/>
                    </a:cubicBezTo>
                    <a:cubicBezTo>
                      <a:pt x="3" y="168"/>
                      <a:pt x="0" y="165"/>
                      <a:pt x="0" y="162"/>
                    </a:cubicBezTo>
                    <a:cubicBezTo>
                      <a:pt x="0" y="126"/>
                      <a:pt x="0" y="126"/>
                      <a:pt x="0" y="126"/>
                    </a:cubicBezTo>
                    <a:cubicBezTo>
                      <a:pt x="0" y="122"/>
                      <a:pt x="3" y="120"/>
                      <a:pt x="6" y="120"/>
                    </a:cubicBezTo>
                    <a:cubicBezTo>
                      <a:pt x="40" y="120"/>
                      <a:pt x="40" y="120"/>
                      <a:pt x="40" y="120"/>
                    </a:cubicBezTo>
                    <a:cubicBezTo>
                      <a:pt x="43" y="110"/>
                      <a:pt x="46" y="100"/>
                      <a:pt x="49" y="92"/>
                    </a:cubicBezTo>
                    <a:cubicBezTo>
                      <a:pt x="25" y="67"/>
                      <a:pt x="25" y="67"/>
                      <a:pt x="25" y="67"/>
                    </a:cubicBezTo>
                    <a:cubicBezTo>
                      <a:pt x="24" y="66"/>
                      <a:pt x="23" y="65"/>
                      <a:pt x="23" y="63"/>
                    </a:cubicBezTo>
                    <a:cubicBezTo>
                      <a:pt x="23" y="61"/>
                      <a:pt x="24" y="60"/>
                      <a:pt x="25" y="59"/>
                    </a:cubicBezTo>
                    <a:cubicBezTo>
                      <a:pt x="59" y="25"/>
                      <a:pt x="59" y="25"/>
                      <a:pt x="59" y="25"/>
                    </a:cubicBezTo>
                    <a:cubicBezTo>
                      <a:pt x="61" y="23"/>
                      <a:pt x="65" y="23"/>
                      <a:pt x="67" y="25"/>
                    </a:cubicBezTo>
                    <a:cubicBezTo>
                      <a:pt x="92" y="49"/>
                      <a:pt x="92" y="49"/>
                      <a:pt x="92" y="49"/>
                    </a:cubicBezTo>
                    <a:cubicBezTo>
                      <a:pt x="100" y="45"/>
                      <a:pt x="110" y="42"/>
                      <a:pt x="120" y="40"/>
                    </a:cubicBezTo>
                    <a:cubicBezTo>
                      <a:pt x="120" y="6"/>
                      <a:pt x="120" y="6"/>
                      <a:pt x="120" y="6"/>
                    </a:cubicBezTo>
                    <a:cubicBezTo>
                      <a:pt x="120" y="2"/>
                      <a:pt x="123" y="0"/>
                      <a:pt x="126" y="0"/>
                    </a:cubicBezTo>
                    <a:cubicBezTo>
                      <a:pt x="162" y="0"/>
                      <a:pt x="162" y="0"/>
                      <a:pt x="162" y="0"/>
                    </a:cubicBezTo>
                    <a:cubicBezTo>
                      <a:pt x="165" y="0"/>
                      <a:pt x="168" y="2"/>
                      <a:pt x="168" y="6"/>
                    </a:cubicBezTo>
                    <a:cubicBezTo>
                      <a:pt x="168" y="40"/>
                      <a:pt x="168" y="40"/>
                      <a:pt x="168" y="40"/>
                    </a:cubicBezTo>
                    <a:cubicBezTo>
                      <a:pt x="177" y="42"/>
                      <a:pt x="188" y="45"/>
                      <a:pt x="196" y="49"/>
                    </a:cubicBezTo>
                    <a:cubicBezTo>
                      <a:pt x="220" y="25"/>
                      <a:pt x="220" y="25"/>
                      <a:pt x="220" y="25"/>
                    </a:cubicBezTo>
                    <a:cubicBezTo>
                      <a:pt x="223" y="23"/>
                      <a:pt x="226" y="23"/>
                      <a:pt x="229" y="25"/>
                    </a:cubicBezTo>
                    <a:cubicBezTo>
                      <a:pt x="263" y="59"/>
                      <a:pt x="263" y="59"/>
                      <a:pt x="263" y="59"/>
                    </a:cubicBezTo>
                    <a:cubicBezTo>
                      <a:pt x="264" y="60"/>
                      <a:pt x="264" y="61"/>
                      <a:pt x="264" y="63"/>
                    </a:cubicBezTo>
                    <a:cubicBezTo>
                      <a:pt x="264" y="65"/>
                      <a:pt x="264" y="66"/>
                      <a:pt x="263" y="67"/>
                    </a:cubicBezTo>
                    <a:cubicBezTo>
                      <a:pt x="238" y="92"/>
                      <a:pt x="238" y="92"/>
                      <a:pt x="238" y="92"/>
                    </a:cubicBezTo>
                    <a:cubicBezTo>
                      <a:pt x="242" y="100"/>
                      <a:pt x="245" y="110"/>
                      <a:pt x="248" y="120"/>
                    </a:cubicBezTo>
                    <a:cubicBezTo>
                      <a:pt x="282" y="120"/>
                      <a:pt x="282" y="120"/>
                      <a:pt x="282" y="120"/>
                    </a:cubicBezTo>
                    <a:cubicBezTo>
                      <a:pt x="285" y="120"/>
                      <a:pt x="288" y="122"/>
                      <a:pt x="288" y="126"/>
                    </a:cubicBezTo>
                    <a:cubicBezTo>
                      <a:pt x="288" y="162"/>
                      <a:pt x="288" y="162"/>
                      <a:pt x="288" y="162"/>
                    </a:cubicBezTo>
                    <a:cubicBezTo>
                      <a:pt x="288" y="165"/>
                      <a:pt x="285" y="168"/>
                      <a:pt x="282" y="168"/>
                    </a:cubicBezTo>
                    <a:cubicBezTo>
                      <a:pt x="248" y="168"/>
                      <a:pt x="248" y="168"/>
                      <a:pt x="248" y="168"/>
                    </a:cubicBezTo>
                    <a:cubicBezTo>
                      <a:pt x="245" y="177"/>
                      <a:pt x="242" y="188"/>
                      <a:pt x="238" y="196"/>
                    </a:cubicBezTo>
                    <a:cubicBezTo>
                      <a:pt x="263" y="220"/>
                      <a:pt x="263" y="220"/>
                      <a:pt x="263" y="220"/>
                    </a:cubicBezTo>
                    <a:cubicBezTo>
                      <a:pt x="265" y="222"/>
                      <a:pt x="265" y="226"/>
                      <a:pt x="263" y="229"/>
                    </a:cubicBezTo>
                    <a:cubicBezTo>
                      <a:pt x="229" y="262"/>
                      <a:pt x="229" y="262"/>
                      <a:pt x="229" y="262"/>
                    </a:cubicBezTo>
                    <a:cubicBezTo>
                      <a:pt x="226" y="265"/>
                      <a:pt x="223" y="265"/>
                      <a:pt x="220" y="262"/>
                    </a:cubicBezTo>
                    <a:cubicBezTo>
                      <a:pt x="196" y="238"/>
                      <a:pt x="196" y="238"/>
                      <a:pt x="196" y="238"/>
                    </a:cubicBezTo>
                    <a:cubicBezTo>
                      <a:pt x="188" y="242"/>
                      <a:pt x="177" y="245"/>
                      <a:pt x="168" y="247"/>
                    </a:cubicBezTo>
                    <a:cubicBezTo>
                      <a:pt x="168" y="282"/>
                      <a:pt x="168" y="282"/>
                      <a:pt x="168" y="282"/>
                    </a:cubicBezTo>
                    <a:cubicBezTo>
                      <a:pt x="168" y="285"/>
                      <a:pt x="165" y="288"/>
                      <a:pt x="162" y="288"/>
                    </a:cubicBezTo>
                    <a:close/>
                    <a:moveTo>
                      <a:pt x="132" y="276"/>
                    </a:moveTo>
                    <a:cubicBezTo>
                      <a:pt x="156" y="276"/>
                      <a:pt x="156" y="276"/>
                      <a:pt x="156" y="276"/>
                    </a:cubicBezTo>
                    <a:cubicBezTo>
                      <a:pt x="156" y="243"/>
                      <a:pt x="156" y="243"/>
                      <a:pt x="156" y="243"/>
                    </a:cubicBezTo>
                    <a:cubicBezTo>
                      <a:pt x="156" y="240"/>
                      <a:pt x="158" y="238"/>
                      <a:pt x="160" y="237"/>
                    </a:cubicBezTo>
                    <a:cubicBezTo>
                      <a:pt x="167" y="235"/>
                      <a:pt x="185" y="231"/>
                      <a:pt x="194" y="226"/>
                    </a:cubicBezTo>
                    <a:cubicBezTo>
                      <a:pt x="196" y="224"/>
                      <a:pt x="199" y="224"/>
                      <a:pt x="201" y="226"/>
                    </a:cubicBezTo>
                    <a:cubicBezTo>
                      <a:pt x="224" y="250"/>
                      <a:pt x="224" y="250"/>
                      <a:pt x="224" y="250"/>
                    </a:cubicBezTo>
                    <a:cubicBezTo>
                      <a:pt x="250" y="224"/>
                      <a:pt x="250" y="224"/>
                      <a:pt x="250" y="224"/>
                    </a:cubicBezTo>
                    <a:cubicBezTo>
                      <a:pt x="227" y="201"/>
                      <a:pt x="227" y="201"/>
                      <a:pt x="227" y="201"/>
                    </a:cubicBezTo>
                    <a:cubicBezTo>
                      <a:pt x="225" y="199"/>
                      <a:pt x="224" y="196"/>
                      <a:pt x="226" y="194"/>
                    </a:cubicBezTo>
                    <a:cubicBezTo>
                      <a:pt x="231" y="185"/>
                      <a:pt x="235" y="167"/>
                      <a:pt x="237" y="160"/>
                    </a:cubicBezTo>
                    <a:cubicBezTo>
                      <a:pt x="238" y="158"/>
                      <a:pt x="240" y="156"/>
                      <a:pt x="243" y="156"/>
                    </a:cubicBezTo>
                    <a:cubicBezTo>
                      <a:pt x="276" y="156"/>
                      <a:pt x="276" y="156"/>
                      <a:pt x="276" y="156"/>
                    </a:cubicBezTo>
                    <a:cubicBezTo>
                      <a:pt x="276" y="132"/>
                      <a:pt x="276" y="132"/>
                      <a:pt x="276" y="132"/>
                    </a:cubicBezTo>
                    <a:cubicBezTo>
                      <a:pt x="243" y="132"/>
                      <a:pt x="243" y="132"/>
                      <a:pt x="243" y="132"/>
                    </a:cubicBezTo>
                    <a:cubicBezTo>
                      <a:pt x="240" y="132"/>
                      <a:pt x="238" y="130"/>
                      <a:pt x="237" y="127"/>
                    </a:cubicBezTo>
                    <a:cubicBezTo>
                      <a:pt x="235" y="120"/>
                      <a:pt x="231" y="103"/>
                      <a:pt x="226" y="94"/>
                    </a:cubicBezTo>
                    <a:cubicBezTo>
                      <a:pt x="224" y="91"/>
                      <a:pt x="225" y="88"/>
                      <a:pt x="227" y="86"/>
                    </a:cubicBezTo>
                    <a:cubicBezTo>
                      <a:pt x="250" y="63"/>
                      <a:pt x="250" y="63"/>
                      <a:pt x="250" y="63"/>
                    </a:cubicBezTo>
                    <a:cubicBezTo>
                      <a:pt x="224" y="38"/>
                      <a:pt x="224" y="38"/>
                      <a:pt x="224" y="38"/>
                    </a:cubicBezTo>
                    <a:cubicBezTo>
                      <a:pt x="201" y="61"/>
                      <a:pt x="201" y="61"/>
                      <a:pt x="201" y="61"/>
                    </a:cubicBezTo>
                    <a:cubicBezTo>
                      <a:pt x="199" y="63"/>
                      <a:pt x="196" y="63"/>
                      <a:pt x="194" y="62"/>
                    </a:cubicBezTo>
                    <a:cubicBezTo>
                      <a:pt x="186" y="57"/>
                      <a:pt x="171" y="53"/>
                      <a:pt x="160" y="50"/>
                    </a:cubicBezTo>
                    <a:cubicBezTo>
                      <a:pt x="158" y="50"/>
                      <a:pt x="156" y="47"/>
                      <a:pt x="156" y="45"/>
                    </a:cubicBezTo>
                    <a:cubicBezTo>
                      <a:pt x="156" y="12"/>
                      <a:pt x="156" y="12"/>
                      <a:pt x="156" y="12"/>
                    </a:cubicBezTo>
                    <a:cubicBezTo>
                      <a:pt x="132" y="12"/>
                      <a:pt x="132" y="12"/>
                      <a:pt x="132" y="12"/>
                    </a:cubicBezTo>
                    <a:cubicBezTo>
                      <a:pt x="132" y="45"/>
                      <a:pt x="132" y="45"/>
                      <a:pt x="132" y="45"/>
                    </a:cubicBezTo>
                    <a:cubicBezTo>
                      <a:pt x="132" y="47"/>
                      <a:pt x="130" y="50"/>
                      <a:pt x="127" y="50"/>
                    </a:cubicBezTo>
                    <a:cubicBezTo>
                      <a:pt x="117" y="53"/>
                      <a:pt x="102" y="57"/>
                      <a:pt x="94" y="62"/>
                    </a:cubicBezTo>
                    <a:cubicBezTo>
                      <a:pt x="92" y="63"/>
                      <a:pt x="89" y="63"/>
                      <a:pt x="87" y="61"/>
                    </a:cubicBezTo>
                    <a:cubicBezTo>
                      <a:pt x="63" y="38"/>
                      <a:pt x="63" y="38"/>
                      <a:pt x="63" y="38"/>
                    </a:cubicBezTo>
                    <a:cubicBezTo>
                      <a:pt x="38" y="63"/>
                      <a:pt x="38" y="63"/>
                      <a:pt x="38" y="63"/>
                    </a:cubicBezTo>
                    <a:cubicBezTo>
                      <a:pt x="61" y="86"/>
                      <a:pt x="61" y="86"/>
                      <a:pt x="61" y="86"/>
                    </a:cubicBezTo>
                    <a:cubicBezTo>
                      <a:pt x="63" y="88"/>
                      <a:pt x="63" y="91"/>
                      <a:pt x="62" y="94"/>
                    </a:cubicBezTo>
                    <a:cubicBezTo>
                      <a:pt x="57" y="103"/>
                      <a:pt x="52" y="120"/>
                      <a:pt x="51" y="127"/>
                    </a:cubicBezTo>
                    <a:cubicBezTo>
                      <a:pt x="50" y="130"/>
                      <a:pt x="48" y="132"/>
                      <a:pt x="45" y="132"/>
                    </a:cubicBezTo>
                    <a:cubicBezTo>
                      <a:pt x="12" y="132"/>
                      <a:pt x="12" y="132"/>
                      <a:pt x="12" y="132"/>
                    </a:cubicBezTo>
                    <a:cubicBezTo>
                      <a:pt x="12" y="156"/>
                      <a:pt x="12" y="156"/>
                      <a:pt x="12" y="156"/>
                    </a:cubicBezTo>
                    <a:cubicBezTo>
                      <a:pt x="45" y="156"/>
                      <a:pt x="45" y="156"/>
                      <a:pt x="45" y="156"/>
                    </a:cubicBezTo>
                    <a:cubicBezTo>
                      <a:pt x="48" y="156"/>
                      <a:pt x="50" y="158"/>
                      <a:pt x="51" y="160"/>
                    </a:cubicBezTo>
                    <a:cubicBezTo>
                      <a:pt x="52" y="167"/>
                      <a:pt x="57" y="185"/>
                      <a:pt x="62" y="194"/>
                    </a:cubicBezTo>
                    <a:cubicBezTo>
                      <a:pt x="63" y="196"/>
                      <a:pt x="63" y="199"/>
                      <a:pt x="61" y="201"/>
                    </a:cubicBezTo>
                    <a:cubicBezTo>
                      <a:pt x="38" y="224"/>
                      <a:pt x="38" y="224"/>
                      <a:pt x="38" y="224"/>
                    </a:cubicBezTo>
                    <a:cubicBezTo>
                      <a:pt x="63" y="250"/>
                      <a:pt x="63" y="250"/>
                      <a:pt x="63" y="250"/>
                    </a:cubicBezTo>
                    <a:cubicBezTo>
                      <a:pt x="87" y="226"/>
                      <a:pt x="87" y="226"/>
                      <a:pt x="87" y="226"/>
                    </a:cubicBezTo>
                    <a:cubicBezTo>
                      <a:pt x="88" y="224"/>
                      <a:pt x="92" y="224"/>
                      <a:pt x="94" y="226"/>
                    </a:cubicBezTo>
                    <a:cubicBezTo>
                      <a:pt x="103" y="231"/>
                      <a:pt x="121" y="235"/>
                      <a:pt x="127" y="237"/>
                    </a:cubicBezTo>
                    <a:cubicBezTo>
                      <a:pt x="130" y="238"/>
                      <a:pt x="132" y="240"/>
                      <a:pt x="132" y="243"/>
                    </a:cubicBezTo>
                    <a:lnTo>
                      <a:pt x="13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4" name="Freeform 69">
                <a:extLst>
                  <a:ext uri="{FF2B5EF4-FFF2-40B4-BE49-F238E27FC236}">
                    <a16:creationId xmlns:a16="http://schemas.microsoft.com/office/drawing/2014/main" id="{FFD4FCDA-36A3-D6C8-B6B3-2F86D7503D15}"/>
                  </a:ext>
                </a:extLst>
              </p:cNvPr>
              <p:cNvSpPr>
                <a:spLocks noEditPoints="1"/>
              </p:cNvSpPr>
              <p:nvPr/>
            </p:nvSpPr>
            <p:spPr bwMode="auto">
              <a:xfrm>
                <a:off x="1454" y="1819"/>
                <a:ext cx="231" cy="230"/>
              </a:xfrm>
              <a:custGeom>
                <a:avLst/>
                <a:gdLst>
                  <a:gd name="T0" fmla="*/ 78 w 156"/>
                  <a:gd name="T1" fmla="*/ 156 h 156"/>
                  <a:gd name="T2" fmla="*/ 0 w 156"/>
                  <a:gd name="T3" fmla="*/ 78 h 156"/>
                  <a:gd name="T4" fmla="*/ 78 w 156"/>
                  <a:gd name="T5" fmla="*/ 0 h 156"/>
                  <a:gd name="T6" fmla="*/ 156 w 156"/>
                  <a:gd name="T7" fmla="*/ 78 h 156"/>
                  <a:gd name="T8" fmla="*/ 78 w 156"/>
                  <a:gd name="T9" fmla="*/ 156 h 156"/>
                  <a:gd name="T10" fmla="*/ 78 w 156"/>
                  <a:gd name="T11" fmla="*/ 12 h 156"/>
                  <a:gd name="T12" fmla="*/ 12 w 156"/>
                  <a:gd name="T13" fmla="*/ 78 h 156"/>
                  <a:gd name="T14" fmla="*/ 78 w 156"/>
                  <a:gd name="T15" fmla="*/ 144 h 156"/>
                  <a:gd name="T16" fmla="*/ 144 w 156"/>
                  <a:gd name="T17" fmla="*/ 78 h 156"/>
                  <a:gd name="T18" fmla="*/ 78 w 156"/>
                  <a:gd name="T19"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6" h="156">
                    <a:moveTo>
                      <a:pt x="78" y="156"/>
                    </a:moveTo>
                    <a:cubicBezTo>
                      <a:pt x="35" y="156"/>
                      <a:pt x="0" y="121"/>
                      <a:pt x="0" y="78"/>
                    </a:cubicBezTo>
                    <a:cubicBezTo>
                      <a:pt x="0" y="35"/>
                      <a:pt x="35" y="0"/>
                      <a:pt x="78" y="0"/>
                    </a:cubicBezTo>
                    <a:cubicBezTo>
                      <a:pt x="121" y="0"/>
                      <a:pt x="156" y="35"/>
                      <a:pt x="156" y="78"/>
                    </a:cubicBezTo>
                    <a:cubicBezTo>
                      <a:pt x="156" y="121"/>
                      <a:pt x="121" y="156"/>
                      <a:pt x="78" y="156"/>
                    </a:cubicBezTo>
                    <a:close/>
                    <a:moveTo>
                      <a:pt x="78" y="12"/>
                    </a:moveTo>
                    <a:cubicBezTo>
                      <a:pt x="41" y="12"/>
                      <a:pt x="12" y="41"/>
                      <a:pt x="12" y="78"/>
                    </a:cubicBezTo>
                    <a:cubicBezTo>
                      <a:pt x="12" y="114"/>
                      <a:pt x="41" y="144"/>
                      <a:pt x="78" y="144"/>
                    </a:cubicBezTo>
                    <a:cubicBezTo>
                      <a:pt x="114" y="144"/>
                      <a:pt x="144" y="114"/>
                      <a:pt x="144" y="78"/>
                    </a:cubicBezTo>
                    <a:cubicBezTo>
                      <a:pt x="144" y="41"/>
                      <a:pt x="114" y="12"/>
                      <a:pt x="7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sp>
            <p:nvSpPr>
              <p:cNvPr id="115" name="Freeform 70">
                <a:extLst>
                  <a:ext uri="{FF2B5EF4-FFF2-40B4-BE49-F238E27FC236}">
                    <a16:creationId xmlns:a16="http://schemas.microsoft.com/office/drawing/2014/main" id="{3D020E5A-FBB7-4EF9-30D6-CAD5F0A271FE}"/>
                  </a:ext>
                </a:extLst>
              </p:cNvPr>
              <p:cNvSpPr>
                <a:spLocks noEditPoints="1"/>
              </p:cNvSpPr>
              <p:nvPr/>
            </p:nvSpPr>
            <p:spPr bwMode="auto">
              <a:xfrm>
                <a:off x="1534" y="1872"/>
                <a:ext cx="98" cy="124"/>
              </a:xfrm>
              <a:custGeom>
                <a:avLst/>
                <a:gdLst>
                  <a:gd name="T0" fmla="*/ 6 w 66"/>
                  <a:gd name="T1" fmla="*/ 84 h 84"/>
                  <a:gd name="T2" fmla="*/ 3 w 66"/>
                  <a:gd name="T3" fmla="*/ 83 h 84"/>
                  <a:gd name="T4" fmla="*/ 0 w 66"/>
                  <a:gd name="T5" fmla="*/ 78 h 84"/>
                  <a:gd name="T6" fmla="*/ 0 w 66"/>
                  <a:gd name="T7" fmla="*/ 6 h 84"/>
                  <a:gd name="T8" fmla="*/ 3 w 66"/>
                  <a:gd name="T9" fmla="*/ 1 h 84"/>
                  <a:gd name="T10" fmla="*/ 9 w 66"/>
                  <a:gd name="T11" fmla="*/ 1 h 84"/>
                  <a:gd name="T12" fmla="*/ 63 w 66"/>
                  <a:gd name="T13" fmla="*/ 37 h 84"/>
                  <a:gd name="T14" fmla="*/ 66 w 66"/>
                  <a:gd name="T15" fmla="*/ 42 h 84"/>
                  <a:gd name="T16" fmla="*/ 63 w 66"/>
                  <a:gd name="T17" fmla="*/ 47 h 84"/>
                  <a:gd name="T18" fmla="*/ 9 w 66"/>
                  <a:gd name="T19" fmla="*/ 83 h 84"/>
                  <a:gd name="T20" fmla="*/ 6 w 66"/>
                  <a:gd name="T21" fmla="*/ 84 h 84"/>
                  <a:gd name="T22" fmla="*/ 12 w 66"/>
                  <a:gd name="T23" fmla="*/ 17 h 84"/>
                  <a:gd name="T24" fmla="*/ 12 w 66"/>
                  <a:gd name="T25" fmla="*/ 66 h 84"/>
                  <a:gd name="T26" fmla="*/ 49 w 66"/>
                  <a:gd name="T27" fmla="*/ 42 h 84"/>
                  <a:gd name="T28" fmla="*/ 12 w 66"/>
                  <a:gd name="T29" fmla="*/ 17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6" h="84">
                    <a:moveTo>
                      <a:pt x="6" y="84"/>
                    </a:moveTo>
                    <a:cubicBezTo>
                      <a:pt x="5" y="84"/>
                      <a:pt x="4" y="83"/>
                      <a:pt x="3" y="83"/>
                    </a:cubicBezTo>
                    <a:cubicBezTo>
                      <a:pt x="1" y="82"/>
                      <a:pt x="0" y="80"/>
                      <a:pt x="0" y="78"/>
                    </a:cubicBezTo>
                    <a:cubicBezTo>
                      <a:pt x="0" y="6"/>
                      <a:pt x="0" y="6"/>
                      <a:pt x="0" y="6"/>
                    </a:cubicBezTo>
                    <a:cubicBezTo>
                      <a:pt x="0" y="4"/>
                      <a:pt x="1" y="2"/>
                      <a:pt x="3" y="1"/>
                    </a:cubicBezTo>
                    <a:cubicBezTo>
                      <a:pt x="5" y="0"/>
                      <a:pt x="7" y="0"/>
                      <a:pt x="9" y="1"/>
                    </a:cubicBezTo>
                    <a:cubicBezTo>
                      <a:pt x="63" y="37"/>
                      <a:pt x="63" y="37"/>
                      <a:pt x="63" y="37"/>
                    </a:cubicBezTo>
                    <a:cubicBezTo>
                      <a:pt x="65" y="38"/>
                      <a:pt x="66" y="40"/>
                      <a:pt x="66" y="42"/>
                    </a:cubicBezTo>
                    <a:cubicBezTo>
                      <a:pt x="66" y="44"/>
                      <a:pt x="65" y="46"/>
                      <a:pt x="63" y="47"/>
                    </a:cubicBezTo>
                    <a:cubicBezTo>
                      <a:pt x="9" y="83"/>
                      <a:pt x="9" y="83"/>
                      <a:pt x="9" y="83"/>
                    </a:cubicBezTo>
                    <a:cubicBezTo>
                      <a:pt x="8" y="83"/>
                      <a:pt x="7" y="84"/>
                      <a:pt x="6" y="84"/>
                    </a:cubicBezTo>
                    <a:close/>
                    <a:moveTo>
                      <a:pt x="12" y="17"/>
                    </a:moveTo>
                    <a:cubicBezTo>
                      <a:pt x="12" y="66"/>
                      <a:pt x="12" y="66"/>
                      <a:pt x="12" y="66"/>
                    </a:cubicBezTo>
                    <a:cubicBezTo>
                      <a:pt x="49" y="42"/>
                      <a:pt x="49" y="42"/>
                      <a:pt x="49" y="42"/>
                    </a:cubicBezTo>
                    <a:lnTo>
                      <a:pt x="12"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srgbClr val="000000"/>
                  </a:solidFill>
                  <a:effectLst/>
                  <a:uLnTx/>
                  <a:uFillTx/>
                  <a:latin typeface="Graphik Semibold" panose="020B0703030202060203" pitchFamily="34" charset="0"/>
                  <a:ea typeface="+mn-ea"/>
                  <a:cs typeface="+mn-cs"/>
                </a:endParaRPr>
              </a:p>
            </p:txBody>
          </p:sp>
        </p:grpSp>
      </p:grpSp>
      <p:sp>
        <p:nvSpPr>
          <p:cNvPr id="3" name="TextBox 2">
            <a:extLst>
              <a:ext uri="{FF2B5EF4-FFF2-40B4-BE49-F238E27FC236}">
                <a16:creationId xmlns:a16="http://schemas.microsoft.com/office/drawing/2014/main" id="{585C7D05-8F2E-E56E-4F3B-5263FC933E5C}"/>
              </a:ext>
            </a:extLst>
          </p:cNvPr>
          <p:cNvSpPr txBox="1"/>
          <p:nvPr/>
        </p:nvSpPr>
        <p:spPr>
          <a:xfrm>
            <a:off x="2942263" y="1022926"/>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Coexistencia: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requerida al modernizar núcleos antiguos heredados. Esta fachada permite que aplicaciones antiguas sean interoperables con dominios o aplicaciones empresariales completamente nuevas.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
        <p:nvSpPr>
          <p:cNvPr id="5" name="TextBox 4">
            <a:extLst>
              <a:ext uri="{FF2B5EF4-FFF2-40B4-BE49-F238E27FC236}">
                <a16:creationId xmlns:a16="http://schemas.microsoft.com/office/drawing/2014/main" id="{2F750EF6-47A0-8CBF-1DB9-5458F99C5451}"/>
              </a:ext>
            </a:extLst>
          </p:cNvPr>
          <p:cNvSpPr txBox="1"/>
          <p:nvPr/>
        </p:nvSpPr>
        <p:spPr>
          <a:xfrm>
            <a:off x="2942263" y="2838763"/>
            <a:ext cx="8637495" cy="13849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7500C0"/>
                </a:solidFill>
                <a:effectLst/>
                <a:uLnTx/>
                <a:uFillTx/>
                <a:latin typeface="Graphik Semibold" panose="020B0703030202060203" pitchFamily="34" charset="0"/>
                <a:ea typeface="+mn-ea"/>
                <a:cs typeface="+mn-cs"/>
              </a:rPr>
              <a:t>Microservicios: </a:t>
            </a: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Servicios síncronos y asíncronos que integran lógica de negocio y aceleradores técnicos necesarios para soportar procesos de coexistencia y que contendrán servicios empresariales granulares que no son proporcionados ni por los sistemas heredados existentes ni por ninguna de las plataformas seleccionadas.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Esta capa puede entenderse como una capa de extensibilidad para complementar cualquier tipo de función faltante necesaria para permitir la interoperabilidad de las distintas aplicaciones del ecosistema. </a:t>
            </a:r>
          </a:p>
        </p:txBody>
      </p:sp>
      <p:sp>
        <p:nvSpPr>
          <p:cNvPr id="7" name="TextBox 6">
            <a:extLst>
              <a:ext uri="{FF2B5EF4-FFF2-40B4-BE49-F238E27FC236}">
                <a16:creationId xmlns:a16="http://schemas.microsoft.com/office/drawing/2014/main" id="{EE64D269-6C68-0F35-E43A-DB9AEACF0023}"/>
              </a:ext>
            </a:extLst>
          </p:cNvPr>
          <p:cNvSpPr txBox="1"/>
          <p:nvPr/>
        </p:nvSpPr>
        <p:spPr>
          <a:xfrm>
            <a:off x="2942263" y="4653344"/>
            <a:ext cx="8637495" cy="160043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dirty="0">
                <a:ln>
                  <a:noFill/>
                </a:ln>
                <a:solidFill>
                  <a:srgbClr val="7500C0"/>
                </a:solidFill>
                <a:effectLst/>
                <a:uLnTx/>
                <a:uFillTx/>
                <a:latin typeface="Graphik Semibold" panose="020B0703030202060203" pitchFamily="34" charset="0"/>
                <a:ea typeface="+mn-ea"/>
                <a:cs typeface="+mn-cs"/>
              </a:rPr>
              <a:t>Servicios Empresariales Centrales: </a:t>
            </a: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Principal facilitador de la interoperabilidad necesaria al modernizar núcleos antiguos heredados. Esta fachada permite que aplicaciones antiguas sean interoperables con dominios o aplicaciones empresariales completamente nuevas. </a:t>
            </a:r>
            <a:endParaRPr kumimoji="0" lang="en-U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4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Los programas de modernización de la banca central tardan mucho y están sujetos a cambios; la flexibilidad llegará mediante la implementación de una capa de coexistencia que facilitará las interoperaciones entre las plataformas nuevas y antiguas (por ejemplo, mantener identificadores de clientes antiguos vs nuevos, números de cuenta o incluso transacciones, etc.) .</a:t>
            </a:r>
          </a:p>
        </p:txBody>
      </p:sp>
    </p:spTree>
    <p:extLst>
      <p:ext uri="{BB962C8B-B14F-4D97-AF65-F5344CB8AC3E}">
        <p14:creationId xmlns:p14="http://schemas.microsoft.com/office/powerpoint/2010/main" val="3458940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910F7-7FE6-7634-34DD-345330F40B8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401008BD-F1EA-1AF9-6876-B0AFE178704B}"/>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1BEE959C-49D0-E6FE-1811-CAC9B7C53BB4}"/>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Mucho más que integración.</a:t>
            </a:r>
          </a:p>
        </p:txBody>
      </p:sp>
      <p:sp>
        <p:nvSpPr>
          <p:cNvPr id="66" name="Title 1">
            <a:extLst>
              <a:ext uri="{FF2B5EF4-FFF2-40B4-BE49-F238E27FC236}">
                <a16:creationId xmlns:a16="http://schemas.microsoft.com/office/drawing/2014/main" id="{CC278DA2-8227-C511-7E32-B9A35B8851F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La Arquitectura </a:t>
            </a:r>
            <a:r>
              <a:rPr lang="es" sz="2400">
                <a:solidFill>
                  <a:srgbClr val="7500C0"/>
                </a:solidFill>
                <a:latin typeface="Graphik"/>
              </a:rPr>
              <a:t>I</a:t>
            </a:r>
            <a:r>
              <a:rPr kumimoji="0" lang="es" sz="2400" b="1" i="0" u="none" strike="noStrike" kern="1200" cap="none" spc="0" normalizeH="0" baseline="0" noProof="0">
                <a:ln>
                  <a:noFill/>
                </a:ln>
                <a:solidFill>
                  <a:srgbClr val="7500C0"/>
                </a:solidFill>
                <a:effectLst/>
                <a:uLnTx/>
                <a:uFillTx/>
                <a:latin typeface="Graphik"/>
                <a:ea typeface="+mj-ea"/>
                <a:cs typeface="+mj-cs"/>
              </a:rPr>
              <a:t>nteroperable es más que una Arquitectura de Integración</a:t>
            </a:r>
          </a:p>
        </p:txBody>
      </p:sp>
      <p:pic>
        <p:nvPicPr>
          <p:cNvPr id="3" name="Picture 2">
            <a:extLst>
              <a:ext uri="{FF2B5EF4-FFF2-40B4-BE49-F238E27FC236}">
                <a16:creationId xmlns:a16="http://schemas.microsoft.com/office/drawing/2014/main" id="{B8C13D21-BD95-B352-9414-52D80E33A09F}"/>
              </a:ext>
            </a:extLst>
          </p:cNvPr>
          <p:cNvPicPr>
            <a:picLocks noChangeAspect="1"/>
          </p:cNvPicPr>
          <p:nvPr/>
        </p:nvPicPr>
        <p:blipFill>
          <a:blip r:embed="rId3"/>
          <a:stretch>
            <a:fillRect/>
          </a:stretch>
        </p:blipFill>
        <p:spPr>
          <a:xfrm>
            <a:off x="252666" y="2305408"/>
            <a:ext cx="7205711" cy="4317410"/>
          </a:xfrm>
          <a:prstGeom prst="rect">
            <a:avLst/>
          </a:prstGeom>
        </p:spPr>
      </p:pic>
      <p:sp>
        <p:nvSpPr>
          <p:cNvPr id="4" name="Oval 3">
            <a:extLst>
              <a:ext uri="{FF2B5EF4-FFF2-40B4-BE49-F238E27FC236}">
                <a16:creationId xmlns:a16="http://schemas.microsoft.com/office/drawing/2014/main" id="{E71E2DA5-769D-23FF-CE88-53ADBC4D5086}"/>
              </a:ext>
            </a:extLst>
          </p:cNvPr>
          <p:cNvSpPr/>
          <p:nvPr/>
        </p:nvSpPr>
        <p:spPr>
          <a:xfrm>
            <a:off x="3277056" y="2358011"/>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1</a:t>
            </a:r>
          </a:p>
        </p:txBody>
      </p:sp>
      <p:sp>
        <p:nvSpPr>
          <p:cNvPr id="5" name="Oval 4">
            <a:extLst>
              <a:ext uri="{FF2B5EF4-FFF2-40B4-BE49-F238E27FC236}">
                <a16:creationId xmlns:a16="http://schemas.microsoft.com/office/drawing/2014/main" id="{07269EE4-0FE8-C632-BBB4-AEF5945112CB}"/>
              </a:ext>
            </a:extLst>
          </p:cNvPr>
          <p:cNvSpPr/>
          <p:nvPr/>
        </p:nvSpPr>
        <p:spPr>
          <a:xfrm>
            <a:off x="1507712" y="4302684"/>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3</a:t>
            </a:r>
          </a:p>
        </p:txBody>
      </p:sp>
      <p:sp>
        <p:nvSpPr>
          <p:cNvPr id="6" name="Oval 5">
            <a:extLst>
              <a:ext uri="{FF2B5EF4-FFF2-40B4-BE49-F238E27FC236}">
                <a16:creationId xmlns:a16="http://schemas.microsoft.com/office/drawing/2014/main" id="{5F6C1771-A6B2-283A-C740-1B74E9CD84C5}"/>
              </a:ext>
            </a:extLst>
          </p:cNvPr>
          <p:cNvSpPr/>
          <p:nvPr/>
        </p:nvSpPr>
        <p:spPr>
          <a:xfrm>
            <a:off x="3054399" y="389008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4</a:t>
            </a:r>
          </a:p>
        </p:txBody>
      </p:sp>
      <p:sp>
        <p:nvSpPr>
          <p:cNvPr id="7" name="Oval 6">
            <a:extLst>
              <a:ext uri="{FF2B5EF4-FFF2-40B4-BE49-F238E27FC236}">
                <a16:creationId xmlns:a16="http://schemas.microsoft.com/office/drawing/2014/main" id="{D7A32D64-80FA-045E-976C-80B926C95067}"/>
              </a:ext>
            </a:extLst>
          </p:cNvPr>
          <p:cNvSpPr/>
          <p:nvPr/>
        </p:nvSpPr>
        <p:spPr>
          <a:xfrm>
            <a:off x="1507712" y="3141000"/>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8" name="Oval 7">
            <a:extLst>
              <a:ext uri="{FF2B5EF4-FFF2-40B4-BE49-F238E27FC236}">
                <a16:creationId xmlns:a16="http://schemas.microsoft.com/office/drawing/2014/main" id="{A39A17BA-80CA-D8BE-1FD3-020FF6237B44}"/>
              </a:ext>
            </a:extLst>
          </p:cNvPr>
          <p:cNvSpPr/>
          <p:nvPr/>
        </p:nvSpPr>
        <p:spPr>
          <a:xfrm>
            <a:off x="1507712" y="5464368"/>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9" name="Oval 8">
            <a:extLst>
              <a:ext uri="{FF2B5EF4-FFF2-40B4-BE49-F238E27FC236}">
                <a16:creationId xmlns:a16="http://schemas.microsoft.com/office/drawing/2014/main" id="{F63A9619-4500-F90B-EBBA-C19D8549D665}"/>
              </a:ext>
            </a:extLst>
          </p:cNvPr>
          <p:cNvSpPr/>
          <p:nvPr/>
        </p:nvSpPr>
        <p:spPr>
          <a:xfrm>
            <a:off x="6414244" y="3522862"/>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2</a:t>
            </a:r>
          </a:p>
        </p:txBody>
      </p:sp>
      <p:sp>
        <p:nvSpPr>
          <p:cNvPr id="36" name="TextBox 35">
            <a:extLst>
              <a:ext uri="{FF2B5EF4-FFF2-40B4-BE49-F238E27FC236}">
                <a16:creationId xmlns:a16="http://schemas.microsoft.com/office/drawing/2014/main" id="{2D8EEAFC-6304-DD3B-2B29-9D9B88EF56D7}"/>
              </a:ext>
            </a:extLst>
          </p:cNvPr>
          <p:cNvSpPr txBox="1"/>
          <p:nvPr/>
        </p:nvSpPr>
        <p:spPr>
          <a:xfrm>
            <a:off x="376715" y="963175"/>
            <a:ext cx="8532227" cy="1354217"/>
          </a:xfrm>
          <a:prstGeom prst="rect">
            <a:avLst/>
          </a:prstGeom>
          <a:noFill/>
        </p:spPr>
        <p:txBody>
          <a:bodyPr wrap="square" lIns="0">
            <a:spAutoFit/>
          </a:bodyPr>
          <a:lstStyle/>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La arquitectura interoperable se crea a lo largo de diferentes capas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Cubre la interacción del cliente mediante la integración y finalización con servicios empresariales y orquestación con diferentes procesadores (permitiendo la coexistencia) y sistemas heredados</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Desagrega las aplicaciones antiguas en capacidades y dominios, haciéndolas independientes entre sí, simplificando la lógica </a:t>
            </a:r>
          </a:p>
          <a:p>
            <a:pPr marL="177800" marR="0" lvl="0" indent="-177800" algn="just" defTabSz="914400" rtl="0" eaLnBrk="1" fontAlgn="auto" latinLnBrk="0" hangingPunct="1">
              <a:lnSpc>
                <a:spcPct val="100000"/>
              </a:lnSpc>
              <a:spcBef>
                <a:spcPts val="200"/>
              </a:spcBef>
              <a:spcAft>
                <a:spcPts val="200"/>
              </a:spcAft>
              <a:buClrTx/>
              <a:buSzTx/>
              <a:buFont typeface="Arial" panose="020B0604020202020204" pitchFamily="34" charset="0"/>
              <a:buChar char="•"/>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Maximiza el código abierto para desacoplarse del bloqueo del proveedor</a:t>
            </a:r>
          </a:p>
        </p:txBody>
      </p:sp>
      <p:sp>
        <p:nvSpPr>
          <p:cNvPr id="38" name="TextBox 37">
            <a:extLst>
              <a:ext uri="{FF2B5EF4-FFF2-40B4-BE49-F238E27FC236}">
                <a16:creationId xmlns:a16="http://schemas.microsoft.com/office/drawing/2014/main" id="{4A7E2CCD-95A1-8C32-B869-4A688076ECB9}"/>
              </a:ext>
            </a:extLst>
          </p:cNvPr>
          <p:cNvSpPr txBox="1"/>
          <p:nvPr/>
        </p:nvSpPr>
        <p:spPr>
          <a:xfrm>
            <a:off x="7370859" y="2994252"/>
            <a:ext cx="4713283" cy="3642023"/>
          </a:xfrm>
          <a:prstGeom prst="rect">
            <a:avLst/>
          </a:prstGeom>
          <a:noFill/>
        </p:spPr>
        <p:txBody>
          <a:bodyPr wrap="square">
            <a:spAutoFit/>
          </a:bodyPr>
          <a:lstStyle/>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 frontends que pueden integrarse en la composición de funcionalidades independientes o en parte de un proceso de canal único o multicanal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Integración y desacoplamiento para aislar la complejidad y lograrla consistencia y compatibilidad entre diferentes plataformas, asegurando al mismo tiempo los flujos de datos   </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Coreografía o gestor de eventos que permite que cada componente soporte de forma independiente una operación empresarial dependiendo de un orquestador central</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Microservicios alineados con capacidades empresariales que proporcionan características granulares bajo estructuras de datos estándar siguiendo los estándares BIAN.</a:t>
            </a:r>
          </a:p>
          <a:p>
            <a:pPr marL="342900" marR="0" lvl="0" indent="-254000" algn="l" defTabSz="914400" rtl="0" eaLnBrk="1" fontAlgn="auto" latinLnBrk="0" hangingPunct="1">
              <a:lnSpc>
                <a:spcPct val="100000"/>
              </a:lnSpc>
              <a:spcBef>
                <a:spcPts val="200"/>
              </a:spcBef>
              <a:spcAft>
                <a:spcPts val="600"/>
              </a:spcAft>
              <a:buClr>
                <a:srgbClr val="7500C0">
                  <a:lumMod val="60000"/>
                  <a:lumOff val="40000"/>
                </a:srgbClr>
              </a:buClr>
              <a:buSzTx/>
              <a:buFont typeface="+mj-lt"/>
              <a:buAutoNum type="arabicPeriod"/>
              <a:tabLst/>
              <a:defRPr/>
            </a:pPr>
            <a:r>
              <a:rPr kumimoji="0" lang="es" sz="1200" b="0" i="0" u="none" strike="noStrike" kern="1200" cap="none" spc="0" normalizeH="0" baseline="0" noProof="0" dirty="0">
                <a:ln>
                  <a:noFill/>
                </a:ln>
                <a:solidFill>
                  <a:srgbClr val="000000"/>
                </a:solidFill>
                <a:effectLst/>
                <a:uLnTx/>
                <a:uFillTx/>
                <a:latin typeface="Graphik Light" panose="020B0403030202060203" pitchFamily="34" charset="77"/>
                <a:ea typeface="+mn-ea"/>
                <a:cs typeface="+mn-cs"/>
              </a:rPr>
              <a:t>Capacidades de coexistencia e integración que permiten cruzar servicios y funciones comunes </a:t>
            </a:r>
          </a:p>
        </p:txBody>
      </p:sp>
      <p:sp>
        <p:nvSpPr>
          <p:cNvPr id="39" name="Oval 38">
            <a:extLst>
              <a:ext uri="{FF2B5EF4-FFF2-40B4-BE49-F238E27FC236}">
                <a16:creationId xmlns:a16="http://schemas.microsoft.com/office/drawing/2014/main" id="{97E780E6-08DE-C74C-2D70-C6E192BB9811}"/>
              </a:ext>
            </a:extLst>
          </p:cNvPr>
          <p:cNvSpPr/>
          <p:nvPr/>
        </p:nvSpPr>
        <p:spPr>
          <a:xfrm>
            <a:off x="4937280" y="3953996"/>
            <a:ext cx="288000" cy="288000"/>
          </a:xfrm>
          <a:prstGeom prst="ellipse">
            <a:avLst/>
          </a:prstGeom>
          <a:solidFill>
            <a:schemeClr val="accent3">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400" b="1" i="0" u="none" strike="noStrike" kern="1200" cap="none" spc="0" normalizeH="0" baseline="0" noProof="0">
                <a:ln>
                  <a:noFill/>
                </a:ln>
                <a:solidFill>
                  <a:srgbClr val="FFFFFF"/>
                </a:solidFill>
                <a:effectLst/>
                <a:uLnTx/>
                <a:uFillTx/>
                <a:latin typeface="Graphik"/>
                <a:ea typeface="+mn-ea"/>
                <a:cs typeface="+mn-cs"/>
              </a:rPr>
              <a:t>5</a:t>
            </a:r>
          </a:p>
        </p:txBody>
      </p:sp>
      <p:pic>
        <p:nvPicPr>
          <p:cNvPr id="59" name="Picture 58">
            <a:extLst>
              <a:ext uri="{FF2B5EF4-FFF2-40B4-BE49-F238E27FC236}">
                <a16:creationId xmlns:a16="http://schemas.microsoft.com/office/drawing/2014/main" id="{9C47091C-2598-B383-6C62-E78CB0A2C903}"/>
              </a:ext>
            </a:extLst>
          </p:cNvPr>
          <p:cNvPicPr>
            <a:picLocks noChangeAspect="1"/>
          </p:cNvPicPr>
          <p:nvPr/>
        </p:nvPicPr>
        <p:blipFill>
          <a:blip r:embed="rId4"/>
          <a:stretch>
            <a:fillRect/>
          </a:stretch>
        </p:blipFill>
        <p:spPr>
          <a:xfrm>
            <a:off x="8972879" y="945550"/>
            <a:ext cx="2843282" cy="2071265"/>
          </a:xfrm>
          <a:prstGeom prst="rect">
            <a:avLst/>
          </a:prstGeom>
        </p:spPr>
      </p:pic>
    </p:spTree>
    <p:extLst>
      <p:ext uri="{BB962C8B-B14F-4D97-AF65-F5344CB8AC3E}">
        <p14:creationId xmlns:p14="http://schemas.microsoft.com/office/powerpoint/2010/main" val="655068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FCE66-F1F1-A549-24D2-06E451C7EAF7}"/>
            </a:ext>
          </a:extLst>
        </p:cNvPr>
        <p:cNvGrpSpPr/>
        <p:nvPr/>
      </p:nvGrpSpPr>
      <p:grpSpPr>
        <a:xfrm>
          <a:off x="0" y="0"/>
          <a:ext cx="0" cy="0"/>
          <a:chOff x="0" y="0"/>
          <a:chExt cx="0" cy="0"/>
        </a:xfrm>
      </p:grpSpPr>
      <p:sp>
        <p:nvSpPr>
          <p:cNvPr id="16" name="Footer Placeholder 2">
            <a:extLst>
              <a:ext uri="{FF2B5EF4-FFF2-40B4-BE49-F238E27FC236}">
                <a16:creationId xmlns:a16="http://schemas.microsoft.com/office/drawing/2014/main" id="{6CC9D78B-D072-6303-55B5-FFC390E27666}"/>
              </a:ext>
            </a:extLst>
          </p:cNvPr>
          <p:cNvSpPr>
            <a:spLocks noGrp="1"/>
          </p:cNvSpPr>
          <p:nvPr>
            <p:ph type="ftr" sz="quarter" idx="3"/>
          </p:nvPr>
        </p:nvSpPr>
        <p:spPr>
          <a:xfrm>
            <a:off x="8908942" y="6617127"/>
            <a:ext cx="3175200" cy="132523"/>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65" name="Content Placeholder 34">
            <a:extLst>
              <a:ext uri="{FF2B5EF4-FFF2-40B4-BE49-F238E27FC236}">
                <a16:creationId xmlns:a16="http://schemas.microsoft.com/office/drawing/2014/main" id="{D38959B3-9BFF-098B-0B50-391D968B630C}"/>
              </a:ext>
            </a:extLst>
          </p:cNvPr>
          <p:cNvSpPr txBox="1">
            <a:spLocks/>
          </p:cNvSpPr>
          <p:nvPr/>
        </p:nvSpPr>
        <p:spPr>
          <a:xfrm>
            <a:off x="3240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Modernización de la Arquitectura Tecnológica</a:t>
            </a:r>
          </a:p>
        </p:txBody>
      </p:sp>
      <p:sp>
        <p:nvSpPr>
          <p:cNvPr id="66" name="Title 1">
            <a:extLst>
              <a:ext uri="{FF2B5EF4-FFF2-40B4-BE49-F238E27FC236}">
                <a16:creationId xmlns:a16="http://schemas.microsoft.com/office/drawing/2014/main" id="{6A35B2DE-33EC-3244-1B15-1AEE43548AB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Modernización del </a:t>
            </a:r>
            <a:r>
              <a:rPr lang="es" sz="2400">
                <a:solidFill>
                  <a:srgbClr val="7500C0"/>
                </a:solidFill>
                <a:latin typeface="Graphik"/>
              </a:rPr>
              <a:t>l</a:t>
            </a:r>
            <a:r>
              <a:rPr kumimoji="0" lang="es" sz="2400" b="1" i="0" u="none" strike="noStrike" kern="1200" cap="none" spc="0" normalizeH="0" baseline="0" noProof="0">
                <a:ln>
                  <a:noFill/>
                </a:ln>
                <a:solidFill>
                  <a:srgbClr val="7500C0"/>
                </a:solidFill>
                <a:effectLst/>
                <a:uLnTx/>
                <a:uFillTx/>
                <a:latin typeface="Graphik"/>
                <a:ea typeface="+mj-ea"/>
                <a:cs typeface="+mj-cs"/>
              </a:rPr>
              <a:t>egado y </a:t>
            </a:r>
            <a:r>
              <a:rPr lang="es" sz="2400">
                <a:solidFill>
                  <a:srgbClr val="7500C0"/>
                </a:solidFill>
                <a:latin typeface="Graphik"/>
              </a:rPr>
              <a:t>b</a:t>
            </a:r>
            <a:r>
              <a:rPr kumimoji="0" lang="es" sz="2400" b="1" i="0" u="none" strike="noStrike" kern="1200" cap="none" spc="0" normalizeH="0" baseline="0" noProof="0">
                <a:ln>
                  <a:noFill/>
                </a:ln>
                <a:solidFill>
                  <a:srgbClr val="7500C0"/>
                </a:solidFill>
                <a:effectLst/>
                <a:uLnTx/>
                <a:uFillTx/>
                <a:latin typeface="Graphik"/>
                <a:ea typeface="+mj-ea"/>
                <a:cs typeface="+mj-cs"/>
              </a:rPr>
              <a:t>anco del futuro</a:t>
            </a:r>
          </a:p>
        </p:txBody>
      </p:sp>
      <p:pic>
        <p:nvPicPr>
          <p:cNvPr id="10" name="Picture 9">
            <a:extLst>
              <a:ext uri="{FF2B5EF4-FFF2-40B4-BE49-F238E27FC236}">
                <a16:creationId xmlns:a16="http://schemas.microsoft.com/office/drawing/2014/main" id="{A05F7DC3-770D-8C02-C4D4-FAAF50847E75}"/>
              </a:ext>
            </a:extLst>
          </p:cNvPr>
          <p:cNvPicPr>
            <a:picLocks noChangeAspect="1"/>
          </p:cNvPicPr>
          <p:nvPr/>
        </p:nvPicPr>
        <p:blipFill>
          <a:blip r:embed="rId3"/>
          <a:stretch>
            <a:fillRect/>
          </a:stretch>
        </p:blipFill>
        <p:spPr>
          <a:xfrm>
            <a:off x="3223301" y="2829617"/>
            <a:ext cx="5537703" cy="2685998"/>
          </a:xfrm>
          <a:prstGeom prst="rect">
            <a:avLst/>
          </a:prstGeom>
        </p:spPr>
      </p:pic>
      <p:sp>
        <p:nvSpPr>
          <p:cNvPr id="11" name="Text Placeholder 28">
            <a:extLst>
              <a:ext uri="{FF2B5EF4-FFF2-40B4-BE49-F238E27FC236}">
                <a16:creationId xmlns:a16="http://schemas.microsoft.com/office/drawing/2014/main" id="{83935CCD-A91B-4E1F-A307-87D5DE320DCC}"/>
              </a:ext>
            </a:extLst>
          </p:cNvPr>
          <p:cNvSpPr txBox="1">
            <a:spLocks/>
          </p:cNvSpPr>
          <p:nvPr/>
        </p:nvSpPr>
        <p:spPr>
          <a:xfrm>
            <a:off x="381000" y="1019207"/>
            <a:ext cx="11430000" cy="1400383"/>
          </a:xfrm>
          <a:prstGeom prst="rect">
            <a:avLst/>
          </a:prstGeom>
        </p:spPr>
        <p:txBody>
          <a:bodyPr/>
          <a:lstStyle>
            <a:lvl1pPr marL="228600" indent="-228600" algn="l" defTabSz="228600" rtl="0" eaLnBrk="1" latinLnBrk="0" hangingPunct="1">
              <a:lnSpc>
                <a:spcPct val="100000"/>
              </a:lnSpc>
              <a:spcBef>
                <a:spcPts val="0"/>
              </a:spcBef>
              <a:spcAft>
                <a:spcPts val="600"/>
              </a:spcAft>
              <a:buFont typeface="Graphik"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Graphik"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Graphik"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Graphik"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Graphik"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Graphik"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Graphik"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Graphik"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None/>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desacoplamiento de los sistemas heredados y la integración habilitada son clave para la interoperabilidad:</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 arquitectura debe acoplarse de forma flexible para apoyar la asignación de diferentes capacidades empresariales a los procesos empresariales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El principio de desacoplamiento permite el aislamiento de integraciones entre componentes principales</a:t>
            </a:r>
          </a:p>
          <a:p>
            <a:pPr marL="230188" marR="0" lvl="0" indent="-2301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200" b="0" i="0" u="none" strike="noStrike" kern="1200" cap="none" spc="0" normalizeH="0" baseline="0" noProof="0">
                <a:ln>
                  <a:noFill/>
                </a:ln>
                <a:solidFill>
                  <a:srgbClr val="000000"/>
                </a:solidFill>
                <a:effectLst/>
                <a:uLnTx/>
                <a:uFillTx/>
                <a:latin typeface="Graphik"/>
                <a:ea typeface="+mn-ea"/>
                <a:cs typeface="+mn-cs"/>
              </a:rPr>
              <a:t>Las integraciones online se gestionan a través de dos tipos de integraciones: APIs REST y Eventos, que se publican en los diferentes registros habilitados por la arquitectura. Cualquier integración online se realizará mediante los mecanismos mencionados anteriormente</a:t>
            </a:r>
          </a:p>
        </p:txBody>
      </p:sp>
      <p:grpSp>
        <p:nvGrpSpPr>
          <p:cNvPr id="12" name="Group 11">
            <a:extLst>
              <a:ext uri="{FF2B5EF4-FFF2-40B4-BE49-F238E27FC236}">
                <a16:creationId xmlns:a16="http://schemas.microsoft.com/office/drawing/2014/main" id="{673DE77F-1309-F625-6631-54D69B5CAD8D}"/>
              </a:ext>
            </a:extLst>
          </p:cNvPr>
          <p:cNvGrpSpPr/>
          <p:nvPr/>
        </p:nvGrpSpPr>
        <p:grpSpPr>
          <a:xfrm>
            <a:off x="4162087" y="2786743"/>
            <a:ext cx="3989030" cy="2239919"/>
            <a:chOff x="3767729" y="3238849"/>
            <a:chExt cx="3991321" cy="2241202"/>
          </a:xfrm>
        </p:grpSpPr>
        <p:sp>
          <p:nvSpPr>
            <p:cNvPr id="13" name="Oval 12">
              <a:extLst>
                <a:ext uri="{FF2B5EF4-FFF2-40B4-BE49-F238E27FC236}">
                  <a16:creationId xmlns:a16="http://schemas.microsoft.com/office/drawing/2014/main" id="{B5106C1A-4B91-D8AC-9801-12CD8EAB170A}"/>
                </a:ext>
              </a:extLst>
            </p:cNvPr>
            <p:cNvSpPr/>
            <p:nvPr/>
          </p:nvSpPr>
          <p:spPr>
            <a:xfrm>
              <a:off x="3867420" y="3238849"/>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A</a:t>
              </a:r>
            </a:p>
          </p:txBody>
        </p:sp>
        <p:sp>
          <p:nvSpPr>
            <p:cNvPr id="14" name="Oval 13">
              <a:extLst>
                <a:ext uri="{FF2B5EF4-FFF2-40B4-BE49-F238E27FC236}">
                  <a16:creationId xmlns:a16="http://schemas.microsoft.com/office/drawing/2014/main" id="{71300FE1-FF13-F123-6C12-577A14F486BF}"/>
                </a:ext>
              </a:extLst>
            </p:cNvPr>
            <p:cNvSpPr/>
            <p:nvPr/>
          </p:nvSpPr>
          <p:spPr>
            <a:xfrm>
              <a:off x="3872032"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B</a:t>
              </a:r>
            </a:p>
          </p:txBody>
        </p:sp>
        <p:sp>
          <p:nvSpPr>
            <p:cNvPr id="17" name="Oval 16">
              <a:extLst>
                <a:ext uri="{FF2B5EF4-FFF2-40B4-BE49-F238E27FC236}">
                  <a16:creationId xmlns:a16="http://schemas.microsoft.com/office/drawing/2014/main" id="{51F0E1E2-ED5D-1983-B6EA-9C9A30FF584C}"/>
                </a:ext>
              </a:extLst>
            </p:cNvPr>
            <p:cNvSpPr/>
            <p:nvPr/>
          </p:nvSpPr>
          <p:spPr>
            <a:xfrm>
              <a:off x="6698669" y="3610597"/>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C</a:t>
              </a:r>
            </a:p>
          </p:txBody>
        </p:sp>
        <p:sp>
          <p:nvSpPr>
            <p:cNvPr id="18" name="Oval 17">
              <a:extLst>
                <a:ext uri="{FF2B5EF4-FFF2-40B4-BE49-F238E27FC236}">
                  <a16:creationId xmlns:a16="http://schemas.microsoft.com/office/drawing/2014/main" id="{35BC0225-DA38-2A8B-324E-3E8CCE2E5EEE}"/>
                </a:ext>
              </a:extLst>
            </p:cNvPr>
            <p:cNvSpPr/>
            <p:nvPr/>
          </p:nvSpPr>
          <p:spPr>
            <a:xfrm>
              <a:off x="7471050" y="3815364"/>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D</a:t>
              </a:r>
            </a:p>
          </p:txBody>
        </p:sp>
        <p:sp>
          <p:nvSpPr>
            <p:cNvPr id="19" name="Oval 18">
              <a:extLst>
                <a:ext uri="{FF2B5EF4-FFF2-40B4-BE49-F238E27FC236}">
                  <a16:creationId xmlns:a16="http://schemas.microsoft.com/office/drawing/2014/main" id="{EE1AB38C-2C55-57C2-A99E-2FBECA21EEB8}"/>
                </a:ext>
              </a:extLst>
            </p:cNvPr>
            <p:cNvSpPr/>
            <p:nvPr/>
          </p:nvSpPr>
          <p:spPr>
            <a:xfrm>
              <a:off x="3767729" y="5192051"/>
              <a:ext cx="288000" cy="288000"/>
            </a:xfrm>
            <a:prstGeom prst="ellipse">
              <a:avLst/>
            </a:prstGeom>
            <a:solidFill>
              <a:schemeClr val="accent3">
                <a:lumMod val="60000"/>
                <a:lumOff val="40000"/>
              </a:schemeClr>
            </a:solidFill>
            <a:ln>
              <a:solidFill>
                <a:schemeClr val="bg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3854" rtl="0" eaLnBrk="1" fontAlgn="auto" latinLnBrk="0" hangingPunct="1">
                <a:lnSpc>
                  <a:spcPct val="100000"/>
                </a:lnSpc>
                <a:spcBef>
                  <a:spcPts val="0"/>
                </a:spcBef>
                <a:spcAft>
                  <a:spcPts val="0"/>
                </a:spcAft>
                <a:buClrTx/>
                <a:buSzTx/>
                <a:buFontTx/>
                <a:buNone/>
                <a:tabLst/>
                <a:defRPr/>
              </a:pPr>
              <a:r>
                <a:rPr kumimoji="0" lang="es" sz="1399" b="1" i="0" u="none" strike="noStrike" kern="1200" cap="none" spc="0" normalizeH="0" baseline="0" noProof="0">
                  <a:ln>
                    <a:noFill/>
                  </a:ln>
                  <a:solidFill>
                    <a:srgbClr val="FFFFFF"/>
                  </a:solidFill>
                  <a:effectLst/>
                  <a:uLnTx/>
                  <a:uFillTx/>
                  <a:latin typeface="Graphik"/>
                  <a:ea typeface="+mn-ea"/>
                  <a:cs typeface="+mn-cs"/>
                </a:rPr>
                <a:t>E</a:t>
              </a:r>
            </a:p>
          </p:txBody>
        </p:sp>
      </p:grpSp>
      <p:sp>
        <p:nvSpPr>
          <p:cNvPr id="20" name="TextBox 19">
            <a:extLst>
              <a:ext uri="{FF2B5EF4-FFF2-40B4-BE49-F238E27FC236}">
                <a16:creationId xmlns:a16="http://schemas.microsoft.com/office/drawing/2014/main" id="{1B91E949-6290-1FF4-6E89-9D86A15D975F}"/>
              </a:ext>
            </a:extLst>
          </p:cNvPr>
          <p:cNvSpPr txBox="1"/>
          <p:nvPr/>
        </p:nvSpPr>
        <p:spPr>
          <a:xfrm>
            <a:off x="471448" y="2598727"/>
            <a:ext cx="2524324" cy="1631216"/>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600"/>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El desacoplamiento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con aplicaciones y sistemas que lo consumen se logra a través de diferentes componentes, mediante pasarela y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registros para API Rest y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El desacoplamiento con sistemas heredados se logra mediante componentes proxy instrumentales aprovechando los mecanismos de integración prescritos por la arquitectura interoperable.</a:t>
            </a:r>
            <a:endParaRPr kumimoji="0" lang="en-US" sz="1000" b="0" i="0" u="none" strike="sngStrike" kern="1200" cap="none" spc="0" normalizeH="0" baseline="0" noProof="0" dirty="0">
              <a:ln>
                <a:noFill/>
              </a:ln>
              <a:solidFill>
                <a:srgbClr val="000000"/>
              </a:solidFill>
              <a:effectLst/>
              <a:uLnTx/>
              <a:uFillTx/>
              <a:latin typeface="Graphik Light" panose="020B0403030202060203" pitchFamily="34" charset="0"/>
              <a:ea typeface="+mn-ea"/>
              <a:cs typeface="+mn-cs"/>
            </a:endParaRPr>
          </a:p>
        </p:txBody>
      </p:sp>
      <p:cxnSp>
        <p:nvCxnSpPr>
          <p:cNvPr id="21" name="Connector: Elbow 20">
            <a:extLst>
              <a:ext uri="{FF2B5EF4-FFF2-40B4-BE49-F238E27FC236}">
                <a16:creationId xmlns:a16="http://schemas.microsoft.com/office/drawing/2014/main" id="{E384BF30-56DC-71D7-511B-B9FB5B1D4EAC}"/>
              </a:ext>
            </a:extLst>
          </p:cNvPr>
          <p:cNvCxnSpPr>
            <a:cxnSpLocks/>
            <a:endCxn id="20" idx="0"/>
          </p:cNvCxnSpPr>
          <p:nvPr/>
        </p:nvCxnSpPr>
        <p:spPr>
          <a:xfrm rot="10800000">
            <a:off x="1733611" y="2598728"/>
            <a:ext cx="2528111" cy="200475"/>
          </a:xfrm>
          <a:prstGeom prst="bentConnector4">
            <a:avLst>
              <a:gd name="adj1" fmla="val 25037"/>
              <a:gd name="adj2" fmla="val 19023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1DD1912-8258-C45C-1E21-F550A2103375}"/>
              </a:ext>
            </a:extLst>
          </p:cNvPr>
          <p:cNvSpPr txBox="1"/>
          <p:nvPr/>
        </p:nvSpPr>
        <p:spPr>
          <a:xfrm>
            <a:off x="386872" y="4882744"/>
            <a:ext cx="2524324" cy="1169551"/>
          </a:xfrm>
          <a:prstGeom prst="rect">
            <a:avLst/>
          </a:prstGeom>
          <a:noFill/>
        </p:spPr>
        <p:txBody>
          <a:bodyPr wrap="square" lIns="0">
            <a:spAutoFit/>
          </a:bodyPr>
          <a:lstStyle/>
          <a:p>
            <a:pPr marL="0" marR="0" lvl="0" indent="0" algn="l" defTabSz="913854" rtl="0" eaLnBrk="1" fontAlgn="auto" latinLnBrk="0" hangingPunct="1">
              <a:lnSpc>
                <a:spcPct val="100000"/>
              </a:lnSpc>
              <a:spcBef>
                <a:spcPts val="600"/>
              </a:spcBef>
              <a:spcAft>
                <a:spcPts val="199"/>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Registro API REST</a:t>
            </a:r>
            <a:r>
              <a:rPr lang="es" sz="1000">
                <a:solidFill>
                  <a:srgbClr val="000000"/>
                </a:solidFill>
                <a:latin typeface="Graphik Light" panose="020B0403030202060203" pitchFamily="34" charset="0"/>
              </a:rPr>
              <a:t>, los servicios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de API son gestionados por un único registro a través de un inventario de todas las APIs registradas en la arquitectura, lo que permite proporcionar un mejor control. Las APIs pueden usar patrones síncronos o asíncronos.</a:t>
            </a:r>
          </a:p>
        </p:txBody>
      </p:sp>
      <p:cxnSp>
        <p:nvCxnSpPr>
          <p:cNvPr id="23" name="Connector: Elbow 22">
            <a:extLst>
              <a:ext uri="{FF2B5EF4-FFF2-40B4-BE49-F238E27FC236}">
                <a16:creationId xmlns:a16="http://schemas.microsoft.com/office/drawing/2014/main" id="{8EBC76C1-4CA2-7E0C-7CAD-6D6170DD5B40}"/>
              </a:ext>
            </a:extLst>
          </p:cNvPr>
          <p:cNvCxnSpPr>
            <a:cxnSpLocks/>
            <a:stCxn id="14" idx="2"/>
            <a:endCxn id="22" idx="3"/>
          </p:cNvCxnSpPr>
          <p:nvPr/>
        </p:nvCxnSpPr>
        <p:spPr>
          <a:xfrm rot="10800000" flipV="1">
            <a:off x="2911196" y="3302196"/>
            <a:ext cx="1355134" cy="2165324"/>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32A1E05E-92DB-7CFA-C258-EF608074CD04}"/>
              </a:ext>
            </a:extLst>
          </p:cNvPr>
          <p:cNvSpPr txBox="1"/>
          <p:nvPr/>
        </p:nvSpPr>
        <p:spPr>
          <a:xfrm>
            <a:off x="8898240" y="2566585"/>
            <a:ext cx="2966634" cy="2195473"/>
          </a:xfrm>
          <a:prstGeom prst="rect">
            <a:avLst/>
          </a:prstGeom>
          <a:noFill/>
        </p:spPr>
        <p:txBody>
          <a:bodyPr wrap="square" lIns="0">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Las integraciones basadas en eventos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son la opción preferida para lograr  integraciones en </a:t>
            </a: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tiempo </a:t>
            </a:r>
            <a:r>
              <a:rPr lang="es" sz="1000" b="1" dirty="0">
                <a:solidFill>
                  <a:srgbClr val="7500C0"/>
                </a:solidFill>
                <a:latin typeface="Graphik Light" panose="020B0403030202060203" pitchFamily="34" charset="0"/>
              </a:rPr>
              <a:t>real </a:t>
            </a:r>
            <a:r>
              <a:rPr lang="es" sz="1000" dirty="0">
                <a:solidFill>
                  <a:srgbClr val="000000"/>
                </a:solidFill>
                <a:latin typeface="Graphik Light" panose="020B0403030202060203" pitchFamily="34" charset="0"/>
              </a:rPr>
              <a:t>y </a:t>
            </a:r>
            <a:r>
              <a:rPr lang="es" sz="1000" b="1" dirty="0">
                <a:solidFill>
                  <a:srgbClr val="7500C0"/>
                </a:solidFill>
                <a:latin typeface="Graphik Light" panose="020B0403030202060203" pitchFamily="34" charset="0"/>
              </a:rPr>
              <a:t>sin estado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orientadas a eventos en una arquitectura interoperable. Los eventos se identifican y listan en el registro de eventos para suscripción mediante otros componentes:</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puntuales </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generados por servicios construidos en la arquitectura interoperable (stream-in), o generados por un tercero (stream-out)</a:t>
            </a:r>
          </a:p>
          <a:p>
            <a:pPr marL="171347" marR="0" lvl="1" indent="-171347" algn="l" defTabSz="913854" rtl="0" eaLnBrk="1" fontAlgn="auto" latinLnBrk="0" hangingPunct="1">
              <a:lnSpc>
                <a:spcPct val="100000"/>
              </a:lnSpc>
              <a:spcBef>
                <a:spcPts val="199"/>
              </a:spcBef>
              <a:spcAft>
                <a:spcPts val="199"/>
              </a:spcAft>
              <a:buClrTx/>
              <a:buSzTx/>
              <a:buFont typeface="Arial" panose="020B0604020202020204" pitchFamily="34" charset="0"/>
              <a:buChar char="•"/>
              <a:tabLst/>
              <a:defRPr/>
            </a:pPr>
            <a:r>
              <a:rPr kumimoji="0" lang="es" sz="1000" b="1" i="0" u="none" strike="noStrike" kern="1200" cap="none" spc="0" normalizeH="0" baseline="0" noProof="0" dirty="0">
                <a:ln>
                  <a:noFill/>
                </a:ln>
                <a:solidFill>
                  <a:srgbClr val="7500C0"/>
                </a:solidFill>
                <a:effectLst/>
                <a:uLnTx/>
                <a:uFillTx/>
                <a:latin typeface="Graphik Light" panose="020B0403030202060203" pitchFamily="34" charset="0"/>
                <a:ea typeface="+mn-ea"/>
                <a:cs typeface="+mn-cs"/>
              </a:rPr>
              <a:t>Eventos </a:t>
            </a:r>
            <a:r>
              <a:rPr lang="es" sz="1000" b="1" dirty="0">
                <a:solidFill>
                  <a:srgbClr val="7500C0"/>
                </a:solidFill>
                <a:latin typeface="Graphik Light" panose="020B0403030202060203" pitchFamily="34" charset="0"/>
              </a:rPr>
              <a:t>programados</a:t>
            </a:r>
            <a:r>
              <a:rPr kumimoji="0" lang="es" sz="1000" b="0" i="0" u="none" strike="noStrike" kern="1200" cap="none" spc="0" normalizeH="0" baseline="0" noProof="0" dirty="0">
                <a:ln>
                  <a:noFill/>
                </a:ln>
                <a:solidFill>
                  <a:srgbClr val="000000"/>
                </a:solidFill>
                <a:effectLst/>
                <a:uLnTx/>
                <a:uFillTx/>
                <a:latin typeface="Graphik Light" panose="020B0403030202060203" pitchFamily="34" charset="0"/>
                <a:ea typeface="+mn-ea"/>
                <a:cs typeface="+mn-cs"/>
              </a:rPr>
              <a:t> que serán generados por los servicios compuestos con el apoyo de un mecanismo específico de planificador</a:t>
            </a:r>
          </a:p>
        </p:txBody>
      </p:sp>
      <p:cxnSp>
        <p:nvCxnSpPr>
          <p:cNvPr id="25" name="Connector: Elbow 24">
            <a:extLst>
              <a:ext uri="{FF2B5EF4-FFF2-40B4-BE49-F238E27FC236}">
                <a16:creationId xmlns:a16="http://schemas.microsoft.com/office/drawing/2014/main" id="{8CF93C1A-35A4-50BB-8D0B-D7381C59CA21}"/>
              </a:ext>
            </a:extLst>
          </p:cNvPr>
          <p:cNvCxnSpPr>
            <a:cxnSpLocks/>
            <a:stCxn id="17" idx="6"/>
            <a:endCxn id="24" idx="0"/>
          </p:cNvCxnSpPr>
          <p:nvPr/>
        </p:nvCxnSpPr>
        <p:spPr>
          <a:xfrm flipV="1">
            <a:off x="7379180" y="2566585"/>
            <a:ext cx="3002377" cy="735611"/>
          </a:xfrm>
          <a:prstGeom prst="bentConnector4">
            <a:avLst>
              <a:gd name="adj1" fmla="val 25298"/>
              <a:gd name="adj2" fmla="val 123509"/>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390F7F6-DAF8-95FC-6616-B9962D453740}"/>
              </a:ext>
            </a:extLst>
          </p:cNvPr>
          <p:cNvSpPr txBox="1"/>
          <p:nvPr/>
        </p:nvSpPr>
        <p:spPr>
          <a:xfrm>
            <a:off x="8898240" y="4912625"/>
            <a:ext cx="2966634" cy="1692771"/>
          </a:xfrm>
          <a:prstGeom prst="rect">
            <a:avLst/>
          </a:prstGeom>
          <a:noFill/>
        </p:spPr>
        <p:txBody>
          <a:bodyPr wrap="square" lIns="0" tIns="0" rIns="0" bIns="0">
            <a:spAutoFit/>
          </a:bodyPr>
          <a:lstStyle/>
          <a:p>
            <a:pPr marL="0" marR="0" lvl="0" indent="0" algn="l" defTabSz="913854"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Gestión de Identidad y Acceso</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centrada en la gestión de identidades de usuarios y el control del acceso a recursos. Incluye prácticas como autenticación fuerte, aprovisionamiento de usuarios y control de acceso basado en roles, incluyendo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la monitorización de identidad y accesos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para inspeccionar identidades de usuarios y prevenir accesos no autorizados, así como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monitorización de la actividad de usuarios (UAM)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que analiza comportamientos de los usuarios para identificar posibles riesgos de seguridad.</a:t>
            </a:r>
          </a:p>
        </p:txBody>
      </p:sp>
      <p:cxnSp>
        <p:nvCxnSpPr>
          <p:cNvPr id="27" name="Connector: Elbow 26">
            <a:extLst>
              <a:ext uri="{FF2B5EF4-FFF2-40B4-BE49-F238E27FC236}">
                <a16:creationId xmlns:a16="http://schemas.microsoft.com/office/drawing/2014/main" id="{AE00B4DE-5744-ED15-6C94-91382DC2F3AF}"/>
              </a:ext>
            </a:extLst>
          </p:cNvPr>
          <p:cNvCxnSpPr>
            <a:cxnSpLocks/>
            <a:stCxn id="18" idx="6"/>
            <a:endCxn id="26" idx="1"/>
          </p:cNvCxnSpPr>
          <p:nvPr/>
        </p:nvCxnSpPr>
        <p:spPr>
          <a:xfrm>
            <a:off x="8151117" y="3506846"/>
            <a:ext cx="747123" cy="2252165"/>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AF1014E-6D92-21A9-1286-4ED0B77D1411}"/>
              </a:ext>
            </a:extLst>
          </p:cNvPr>
          <p:cNvSpPr txBox="1"/>
          <p:nvPr/>
        </p:nvSpPr>
        <p:spPr>
          <a:xfrm>
            <a:off x="3912014" y="5909053"/>
            <a:ext cx="4158560" cy="707886"/>
          </a:xfrm>
          <a:prstGeom prst="rect">
            <a:avLst/>
          </a:prstGeom>
          <a:noFill/>
        </p:spPr>
        <p:txBody>
          <a:bodyPr wrap="square">
            <a:spAutoFit/>
          </a:bodyPr>
          <a:lstStyle/>
          <a:p>
            <a:pPr marL="0" marR="0" lvl="0" indent="0" algn="l" defTabSz="913854" rtl="0" eaLnBrk="1" fontAlgn="auto" latinLnBrk="0" hangingPunct="1">
              <a:lnSpc>
                <a:spcPct val="100000"/>
              </a:lnSpc>
              <a:spcBef>
                <a:spcPts val="199"/>
              </a:spcBef>
              <a:spcAft>
                <a:spcPts val="199"/>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La capa de integración debe ser flexible para gestionar cualquier tipo de mensajería y formato, incluyendo mecanismos ETL,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plataformas de intercambio </a:t>
            </a:r>
            <a:r>
              <a:rPr lang="es" sz="1000" b="1">
                <a:solidFill>
                  <a:srgbClr val="7500C0"/>
                </a:solidFill>
                <a:latin typeface="Graphik Light" panose="020B0403030202060203" pitchFamily="34" charset="0"/>
              </a:rPr>
              <a:t>de archivos </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y </a:t>
            </a:r>
            <a:r>
              <a:rPr kumimoji="0" lang="es" sz="1000" b="1" i="0" u="none" strike="noStrike" kern="1200" cap="none" spc="0" normalizeH="0" baseline="0" noProof="0">
                <a:ln>
                  <a:noFill/>
                </a:ln>
                <a:solidFill>
                  <a:srgbClr val="7500C0"/>
                </a:solidFill>
                <a:effectLst/>
                <a:uLnTx/>
                <a:uFillTx/>
                <a:latin typeface="Graphik Light" panose="020B0403030202060203" pitchFamily="34" charset="0"/>
                <a:ea typeface="+mn-ea"/>
                <a:cs typeface="+mn-cs"/>
              </a:rPr>
              <a:t>persistencia de datos</a:t>
            </a:r>
            <a:r>
              <a:rPr kumimoji="0" lang="es" sz="10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para la interoperabilidad con legados o aplicaciones de terceros.</a:t>
            </a:r>
          </a:p>
        </p:txBody>
      </p:sp>
      <p:cxnSp>
        <p:nvCxnSpPr>
          <p:cNvPr id="29" name="Connector: Elbow 28">
            <a:extLst>
              <a:ext uri="{FF2B5EF4-FFF2-40B4-BE49-F238E27FC236}">
                <a16:creationId xmlns:a16="http://schemas.microsoft.com/office/drawing/2014/main" id="{A004AB6C-F5FE-9539-C71F-5C29260DAB59}"/>
              </a:ext>
            </a:extLst>
          </p:cNvPr>
          <p:cNvCxnSpPr>
            <a:cxnSpLocks/>
            <a:stCxn id="19" idx="4"/>
            <a:endCxn id="28" idx="0"/>
          </p:cNvCxnSpPr>
          <p:nvPr/>
        </p:nvCxnSpPr>
        <p:spPr>
          <a:xfrm rot="16200000" flipH="1">
            <a:off x="4707454" y="4625212"/>
            <a:ext cx="882391" cy="1685289"/>
          </a:xfrm>
          <a:prstGeom prst="bentConnector3">
            <a:avLst>
              <a:gd name="adj1" fmla="val 50000"/>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6507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F5A75-B37E-8D40-4016-998FC80F1840}"/>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E40919DF-5A2C-EA3D-66EA-2DB83C393584}"/>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DB76613C-3850-A612-F1CB-42D34E182EBF}"/>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893DCFA3-59E6-24EC-41B7-6717CA70BC45}"/>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41B61ED9-6CCE-B54E-5B6F-ECB3204132B8}"/>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03. </a:t>
            </a:r>
          </a:p>
        </p:txBody>
      </p:sp>
      <p:sp>
        <p:nvSpPr>
          <p:cNvPr id="15" name="Title 7">
            <a:extLst>
              <a:ext uri="{FF2B5EF4-FFF2-40B4-BE49-F238E27FC236}">
                <a16:creationId xmlns:a16="http://schemas.microsoft.com/office/drawing/2014/main" id="{56CB5FF7-1C3B-1835-11C1-0E0926B91A45}"/>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Modelo de Capacidad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1909060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F9623-AC4E-AF2E-55BC-71AE2C08D30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46BF84E-3050-91AD-EDC0-877BCD7105B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2CD85E0-84AD-1FD8-A3E5-C18A07D1E35E}"/>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80C01CC5-C373-5FA3-6707-A7F26820CE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Kernel y Plataforma vs Dominio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7" name="TextBox 6">
            <a:extLst>
              <a:ext uri="{FF2B5EF4-FFF2-40B4-BE49-F238E27FC236}">
                <a16:creationId xmlns:a16="http://schemas.microsoft.com/office/drawing/2014/main" id="{8F1B6623-9D40-8EF4-D00A-5C63512A29D8}"/>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00" name="Banner"/>
          <p:cNvSpPr/>
          <p:nvPr/>
        </p:nvSpPr>
        <p:spPr>
          <a:xfrm>
            <a:off x="380000" y="852000"/>
            <a:ext cx="11432000" cy="560000"/>
          </a:xfrm>
          <a:prstGeom prst="roundRect">
            <a:avLst>
              <a:gd name="adj" fmla="val 8000"/>
            </a:avLst>
          </a:prstGeom>
          <a:solidFill>
            <a:srgbClr val="F1E9F8"/>
          </a:solidFill>
          <a:ln w="9525">
            <a:solidFill>
              <a:srgbClr val="7500C0"/>
            </a:solidFill>
          </a:ln>
        </p:spPr>
        <p:txBody>
          <a:bodyPr lIns="0" tIns="0" rIns="0" bIns="0" anchor="ctr"/>
          <a:lstStyle/>
          <a:p>
            <a:endParaRPr/>
          </a:p>
        </p:txBody>
      </p:sp>
      <p:sp>
        <p:nvSpPr>
          <p:cNvPr id="101" name="BannerTxt"/>
          <p:cNvSpPr txBox="1"/>
          <p:nvPr/>
        </p:nvSpPr>
        <p:spPr>
          <a:xfrm>
            <a:off x="580000" y="852000"/>
            <a:ext cx="11032000" cy="560000"/>
          </a:xfrm>
          <a:prstGeom prst="rect">
            <a:avLst/>
          </a:prstGeom>
          <a:noFill/>
        </p:spPr>
        <p:txBody>
          <a:bodyPr lIns="110000" tIns="60000" rIns="110000" bIns="60000" rtlCol="0" anchor="ctr">
            <a:normAutofit/>
          </a:bodyPr>
          <a:lstStyle/>
          <a:p>
            <a:pPr marL="0" indent="0" algn="ctr">
              <a:lnSpc>
                <a:spcPct val="104000"/>
              </a:lnSpc>
              <a:spcAft>
                <a:spcPts val="0"/>
              </a:spcAft>
              <a:buNone/>
            </a:pPr>
            <a:r>
              <a:rPr lang="es" sz="1500" b="1" i="0">
                <a:solidFill>
                  <a:srgbClr val="7500C0"/>
                </a:solidFill>
                <a:latin typeface="Graphik"/>
              </a:rPr>
              <a:t>En una línea</a:t>
            </a:r>
            <a:r>
              <a:rPr lang="es" sz="1500" b="0" i="0">
                <a:solidFill>
                  <a:srgbClr val="1A1A1A"/>
                </a:solidFill>
                <a:latin typeface="Graphik"/>
              </a:rPr>
              <a:t>, Kernel &amp; Platform es el </a:t>
            </a:r>
            <a:r>
              <a:rPr lang="es" sz="1500" b="1" i="0">
                <a:solidFill>
                  <a:srgbClr val="7500C0"/>
                </a:solidFill>
                <a:latin typeface="Graphik"/>
              </a:rPr>
              <a:t>edificio</a:t>
            </a:r>
            <a:r>
              <a:rPr lang="es" sz="1500" b="0" i="0">
                <a:solidFill>
                  <a:srgbClr val="1A1A1A"/>
                </a:solidFill>
                <a:latin typeface="Graphik"/>
              </a:rPr>
              <a:t>.  Las capacidades de dominio son las </a:t>
            </a:r>
            <a:r>
              <a:rPr lang="es" sz="1500" b="1" i="0">
                <a:solidFill>
                  <a:srgbClr val="156082"/>
                </a:solidFill>
                <a:latin typeface="Graphik"/>
              </a:rPr>
              <a:t>oficinas</a:t>
            </a:r>
            <a:r>
              <a:rPr lang="es" sz="1500" b="0" i="0">
                <a:solidFill>
                  <a:srgbClr val="1A1A1A"/>
                </a:solidFill>
                <a:latin typeface="Graphik"/>
              </a:rPr>
              <a:t> que instalas dentro de ella.</a:t>
            </a:r>
          </a:p>
        </p:txBody>
      </p:sp>
      <p:sp>
        <p:nvSpPr>
          <p:cNvPr id="102" name="Card"/>
          <p:cNvSpPr/>
          <p:nvPr/>
        </p:nvSpPr>
        <p:spPr>
          <a:xfrm>
            <a:off x="380000" y="1560000"/>
            <a:ext cx="5556000" cy="4556604"/>
          </a:xfrm>
          <a:prstGeom prst="roundRect">
            <a:avLst>
              <a:gd name="adj" fmla="val 3500"/>
            </a:avLst>
          </a:prstGeom>
          <a:solidFill>
            <a:srgbClr val="FFFFFF"/>
          </a:solidFill>
          <a:ln w="15875">
            <a:solidFill>
              <a:srgbClr val="7500C0"/>
            </a:solidFill>
          </a:ln>
        </p:spPr>
        <p:txBody>
          <a:bodyPr lIns="0" tIns="0" rIns="0" bIns="0" anchor="ctr"/>
          <a:lstStyle/>
          <a:p>
            <a:endParaRPr/>
          </a:p>
        </p:txBody>
      </p:sp>
      <p:sp>
        <p:nvSpPr>
          <p:cNvPr id="107" name="Chips"/>
          <p:cNvSpPr txBox="1"/>
          <p:nvPr/>
        </p:nvSpPr>
        <p:spPr>
          <a:xfrm>
            <a:off x="380000" y="2250000"/>
            <a:ext cx="5556000" cy="340000"/>
          </a:xfrm>
          <a:prstGeom prst="rect">
            <a:avLst/>
          </a:prstGeom>
          <a:noFill/>
        </p:spPr>
        <p:txBody>
          <a:bodyPr lIns="110000" tIns="60000" rIns="110000" bIns="60000" rtlCol="0" anchor="ctr">
            <a:normAutofit fontScale="92500"/>
          </a:bodyPr>
          <a:lstStyle/>
          <a:p>
            <a:pPr marL="0" indent="0" algn="ctr">
              <a:lnSpc>
                <a:spcPct val="100000"/>
              </a:lnSpc>
              <a:spcAft>
                <a:spcPts val="0"/>
              </a:spcAft>
              <a:buNone/>
            </a:pPr>
            <a:r>
              <a:rPr lang="es" sz="1000" b="1" i="0" dirty="0">
                <a:solidFill>
                  <a:srgbClr val="7500C0"/>
                </a:solidFill>
                <a:latin typeface="Graphik"/>
              </a:rPr>
              <a:t>Seguridad ·  Observabilidad ·  Infraestructura ·  API Management ·  Servicios de Gateway</a:t>
            </a:r>
          </a:p>
        </p:txBody>
      </p:sp>
      <p:sp>
        <p:nvSpPr>
          <p:cNvPr id="108" name="MetBox"/>
          <p:cNvSpPr/>
          <p:nvPr/>
        </p:nvSpPr>
        <p:spPr>
          <a:xfrm>
            <a:off x="530000" y="2650000"/>
            <a:ext cx="5256000" cy="1180000"/>
          </a:xfrm>
          <a:prstGeom prst="roundRect">
            <a:avLst>
              <a:gd name="adj" fmla="val 6000"/>
            </a:avLst>
          </a:prstGeom>
          <a:solidFill>
            <a:srgbClr val="F1E9F8"/>
          </a:solidFill>
          <a:ln>
            <a:noFill/>
          </a:ln>
        </p:spPr>
        <p:txBody>
          <a:bodyPr lIns="0" tIns="0" rIns="0" bIns="0" anchor="ctr"/>
          <a:lstStyle/>
          <a:p>
            <a:endParaRPr/>
          </a:p>
        </p:txBody>
      </p:sp>
      <p:sp>
        <p:nvSpPr>
          <p:cNvPr id="109" name="MetTxt"/>
          <p:cNvSpPr txBox="1"/>
          <p:nvPr/>
        </p:nvSpPr>
        <p:spPr>
          <a:xfrm>
            <a:off x="530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a:solidFill>
                  <a:srgbClr val="3A2050"/>
                </a:solidFill>
                <a:latin typeface="Graphik"/>
              </a:rPr>
              <a:t>Como la estructura de un centro comercial, electricidad, fontanería, alarmas de incendios, CCTV y mostrador de seguridad: construido antes de que abra cualquier tienda. Todas las tiendas las usan, ninguna ofrece las suyas propias — y sin ellas nada puede abrirse legalmente.</a:t>
            </a:r>
          </a:p>
        </p:txBody>
      </p:sp>
      <p:sp>
        <p:nvSpPr>
          <p:cNvPr id="110" name="Chars"/>
          <p:cNvSpPr txBox="1"/>
          <p:nvPr/>
        </p:nvSpPr>
        <p:spPr>
          <a:xfrm>
            <a:off x="440000" y="3982294"/>
            <a:ext cx="5436000" cy="2250000"/>
          </a:xfrm>
          <a:prstGeom prst="rect">
            <a:avLst/>
          </a:prstGeom>
          <a:noFill/>
        </p:spPr>
        <p:txBody>
          <a:bodyPr lIns="110000" tIns="40000" rIns="110000" bIns="40000" rtlCol="0" anchor="t">
            <a:normAutofit fontScale="92500"/>
          </a:bodyPr>
          <a:lstStyle/>
          <a:p>
            <a:pPr marL="280000" indent="-280000">
              <a:lnSpc>
                <a:spcPct val="106000"/>
              </a:lnSpc>
              <a:spcAft>
                <a:spcPts val="720"/>
              </a:spcAft>
            </a:pPr>
            <a:r>
              <a:rPr lang="es" sz="1200" b="1" i="0">
                <a:solidFill>
                  <a:srgbClr val="7500C0"/>
                </a:solidFill>
                <a:latin typeface="Graphik" panose="020B0503030202060203" pitchFamily="34" charset="0"/>
              </a:rPr>
              <a:t>▸ Nadie lo pide directamente.  </a:t>
            </a:r>
            <a:r>
              <a:rPr lang="es" sz="1200" b="0" i="0">
                <a:solidFill>
                  <a:srgbClr val="1A1A1A"/>
                </a:solidFill>
                <a:latin typeface="Graphik" panose="020B0503030202060203" pitchFamily="34" charset="0"/>
              </a:rPr>
              <a:t>Ningún patrocinador solicita "observabilidad</a:t>
            </a:r>
            <a:r>
              <a:rPr lang="es" sz="1200">
                <a:solidFill>
                  <a:srgbClr val="1A1A1A"/>
                </a:solidFill>
                <a:latin typeface="Graphik" panose="020B0503030202060203" pitchFamily="34" charset="0"/>
              </a:rPr>
              <a:t>“ —</a:t>
            </a:r>
            <a:r>
              <a:rPr lang="es" sz="1200" b="0" i="0">
                <a:solidFill>
                  <a:srgbClr val="1A1A1A"/>
                </a:solidFill>
                <a:latin typeface="Graphik" panose="020B0503030202060203" pitchFamily="34" charset="0"/>
              </a:rPr>
              <a:t> piden un proceso hipotecario que no puede vivir sin ella.</a:t>
            </a:r>
          </a:p>
          <a:p>
            <a:pPr marL="280000" indent="-280000" algn="l">
              <a:lnSpc>
                <a:spcPct val="106000"/>
              </a:lnSpc>
              <a:spcAft>
                <a:spcPts val="720"/>
              </a:spcAft>
              <a:buNone/>
            </a:pPr>
            <a:r>
              <a:rPr lang="es" sz="1200" b="1" i="0">
                <a:solidFill>
                  <a:srgbClr val="7500C0"/>
                </a:solidFill>
                <a:latin typeface="Graphik" panose="020B0503030202060203" pitchFamily="34" charset="0"/>
              </a:rPr>
              <a:t>▸ Construido una vez, centralizado, </a:t>
            </a:r>
            <a:r>
              <a:rPr lang="es" sz="1200" b="1">
                <a:solidFill>
                  <a:srgbClr val="7500C0"/>
                </a:solidFill>
                <a:latin typeface="Graphik" panose="020B0503030202060203" pitchFamily="34" charset="0"/>
              </a:rPr>
              <a:t>anticipado</a:t>
            </a:r>
            <a:r>
              <a:rPr lang="es" sz="1200" b="1" i="0">
                <a:solidFill>
                  <a:srgbClr val="7500C0"/>
                </a:solidFill>
                <a:latin typeface="Graphik" panose="020B0503030202060203" pitchFamily="34" charset="0"/>
              </a:rPr>
              <a:t>.  </a:t>
            </a:r>
            <a:r>
              <a:rPr lang="es" sz="1200" b="0" i="0">
                <a:solidFill>
                  <a:srgbClr val="1A1A1A"/>
                </a:solidFill>
                <a:latin typeface="Graphik" panose="020B0503030202060203" pitchFamily="34" charset="0"/>
              </a:rPr>
              <a:t>Un coste fijo que posee el equipo de plataforma, no algo que cada equipo de producto repita.</a:t>
            </a:r>
          </a:p>
          <a:p>
            <a:pPr marL="280000" indent="-280000" algn="l">
              <a:lnSpc>
                <a:spcPct val="106000"/>
              </a:lnSpc>
              <a:spcAft>
                <a:spcPts val="720"/>
              </a:spcAft>
              <a:buNone/>
            </a:pPr>
            <a:r>
              <a:rPr lang="es" sz="1200" b="1" i="0">
                <a:solidFill>
                  <a:srgbClr val="7500C0"/>
                </a:solidFill>
                <a:latin typeface="Graphik" panose="020B0503030202060203" pitchFamily="34" charset="0"/>
              </a:rPr>
              <a:t>▸ Es binario.  </a:t>
            </a:r>
            <a:r>
              <a:rPr lang="es" sz="1200" b="0" i="0">
                <a:solidFill>
                  <a:srgbClr val="1A1A1A"/>
                </a:solidFill>
                <a:latin typeface="Graphik" panose="020B0503030202060203" pitchFamily="34" charset="0"/>
              </a:rPr>
              <a:t>O tienes una base certificada en seguridad y monitorización, o no. No hay ni la mitad de una alarma de incendios.</a:t>
            </a:r>
          </a:p>
          <a:p>
            <a:pPr marL="280000" indent="0" algn="l">
              <a:lnSpc>
                <a:spcPct val="106000"/>
              </a:lnSpc>
              <a:spcAft>
                <a:spcPts val="0"/>
              </a:spcAft>
              <a:buNone/>
            </a:pPr>
            <a:r>
              <a:rPr lang="es" sz="1200" b="1" i="0">
                <a:solidFill>
                  <a:srgbClr val="7500C0"/>
                </a:solidFill>
                <a:latin typeface="Graphik" panose="020B0503030202060203" pitchFamily="34" charset="0"/>
              </a:rPr>
              <a:t>→ Constrúyelo una vez. Es la base sobre la que se sostiene todo lo demás.</a:t>
            </a:r>
          </a:p>
        </p:txBody>
      </p:sp>
      <p:sp>
        <p:nvSpPr>
          <p:cNvPr id="111" name="Card"/>
          <p:cNvSpPr/>
          <p:nvPr/>
        </p:nvSpPr>
        <p:spPr>
          <a:xfrm>
            <a:off x="6256000" y="1560000"/>
            <a:ext cx="5556000" cy="4556604"/>
          </a:xfrm>
          <a:prstGeom prst="roundRect">
            <a:avLst>
              <a:gd name="adj" fmla="val 3500"/>
            </a:avLst>
          </a:prstGeom>
          <a:solidFill>
            <a:srgbClr val="FFFFFF"/>
          </a:solidFill>
          <a:ln w="15875">
            <a:solidFill>
              <a:srgbClr val="156082"/>
            </a:solidFill>
          </a:ln>
        </p:spPr>
        <p:txBody>
          <a:bodyPr lIns="0" tIns="0" rIns="0" bIns="0" anchor="ctr"/>
          <a:lstStyle/>
          <a:p>
            <a:endParaRPr/>
          </a:p>
        </p:txBody>
      </p:sp>
      <p:sp>
        <p:nvSpPr>
          <p:cNvPr id="115" name="Chips"/>
          <p:cNvSpPr txBox="1"/>
          <p:nvPr/>
        </p:nvSpPr>
        <p:spPr>
          <a:xfrm>
            <a:off x="6256000" y="2250000"/>
            <a:ext cx="5556000" cy="340000"/>
          </a:xfrm>
          <a:prstGeom prst="rect">
            <a:avLst/>
          </a:prstGeom>
          <a:noFill/>
        </p:spPr>
        <p:txBody>
          <a:bodyPr lIns="110000" tIns="60000" rIns="110000" bIns="60000" rtlCol="0" anchor="ctr">
            <a:normAutofit fontScale="92500" lnSpcReduction="20000"/>
          </a:bodyPr>
          <a:lstStyle/>
          <a:p>
            <a:pPr marL="0" indent="0" algn="ctr">
              <a:lnSpc>
                <a:spcPct val="100000"/>
              </a:lnSpc>
              <a:spcAft>
                <a:spcPts val="0"/>
              </a:spcAft>
              <a:buNone/>
            </a:pPr>
            <a:r>
              <a:rPr lang="es" sz="1000" b="1" i="0">
                <a:solidFill>
                  <a:srgbClr val="156082"/>
                </a:solidFill>
                <a:latin typeface="Graphik"/>
              </a:rPr>
              <a:t>Orquestación ·  Eventos ·  Transacciones ·  Entrega de datos ·  Omnicanal ·  Servicios Empresariales Comunes</a:t>
            </a:r>
          </a:p>
        </p:txBody>
      </p:sp>
      <p:sp>
        <p:nvSpPr>
          <p:cNvPr id="10" name="Card">
            <a:extLst>
              <a:ext uri="{FF2B5EF4-FFF2-40B4-BE49-F238E27FC236}">
                <a16:creationId xmlns:a16="http://schemas.microsoft.com/office/drawing/2014/main" id="{637B4621-D18C-EA37-FCB1-006F2E22A33B}"/>
              </a:ext>
            </a:extLst>
          </p:cNvPr>
          <p:cNvSpPr/>
          <p:nvPr/>
        </p:nvSpPr>
        <p:spPr>
          <a:xfrm>
            <a:off x="379000" y="1560000"/>
            <a:ext cx="5556000" cy="605132"/>
          </a:xfrm>
          <a:prstGeom prst="roundRect">
            <a:avLst>
              <a:gd name="adj" fmla="val 25613"/>
            </a:avLst>
          </a:prstGeom>
          <a:solidFill>
            <a:srgbClr val="7500C0"/>
          </a:solidFill>
          <a:ln w="15875">
            <a:solidFill>
              <a:srgbClr val="7500C0"/>
            </a:solidFill>
          </a:ln>
        </p:spPr>
        <p:txBody>
          <a:bodyPr lIns="0" tIns="0" rIns="0" bIns="0" anchor="ctr"/>
          <a:lstStyle/>
          <a:p>
            <a:endParaRPr/>
          </a:p>
        </p:txBody>
      </p:sp>
      <p:sp>
        <p:nvSpPr>
          <p:cNvPr id="116" name="MetBox"/>
          <p:cNvSpPr/>
          <p:nvPr/>
        </p:nvSpPr>
        <p:spPr>
          <a:xfrm>
            <a:off x="6406000" y="2650000"/>
            <a:ext cx="5256000" cy="1180000"/>
          </a:xfrm>
          <a:prstGeom prst="roundRect">
            <a:avLst>
              <a:gd name="adj" fmla="val 6000"/>
            </a:avLst>
          </a:prstGeom>
          <a:solidFill>
            <a:srgbClr val="E7F0F3"/>
          </a:solidFill>
          <a:ln>
            <a:noFill/>
          </a:ln>
        </p:spPr>
        <p:txBody>
          <a:bodyPr lIns="0" tIns="0" rIns="0" bIns="0" anchor="ctr"/>
          <a:lstStyle/>
          <a:p>
            <a:endParaRPr/>
          </a:p>
        </p:txBody>
      </p:sp>
      <p:sp>
        <p:nvSpPr>
          <p:cNvPr id="117" name="MetTxt"/>
          <p:cNvSpPr txBox="1"/>
          <p:nvPr/>
        </p:nvSpPr>
        <p:spPr>
          <a:xfrm>
            <a:off x="6406000" y="2650000"/>
            <a:ext cx="5256000" cy="1180000"/>
          </a:xfrm>
          <a:prstGeom prst="rect">
            <a:avLst/>
          </a:prstGeom>
          <a:noFill/>
        </p:spPr>
        <p:txBody>
          <a:bodyPr lIns="170000" tIns="90000" rIns="170000" bIns="90000" rtlCol="0" anchor="ctr">
            <a:normAutofit/>
          </a:bodyPr>
          <a:lstStyle/>
          <a:p>
            <a:pPr marL="0" indent="0" algn="l">
              <a:lnSpc>
                <a:spcPct val="108000"/>
              </a:lnSpc>
              <a:spcAft>
                <a:spcPts val="0"/>
              </a:spcAft>
              <a:buNone/>
            </a:pPr>
            <a:r>
              <a:rPr lang="es" sz="1150" b="0" i="1" dirty="0">
                <a:solidFill>
                  <a:srgbClr val="0E3B4A"/>
                </a:solidFill>
                <a:latin typeface="Graphik"/>
              </a:rPr>
              <a:t>Estas son las tiendas. Cada uno realiza trabajos que puedes nombrar y valorar: "coordinar seis servicios en un solo desembolso de préstamos", "mantener un saldo hipotecario consistente entre mainframe y el nuevo núcleo", "reanudar la incorporación desde móvil tras empezar en la sucursal."</a:t>
            </a:r>
          </a:p>
        </p:txBody>
      </p:sp>
      <p:sp>
        <p:nvSpPr>
          <p:cNvPr id="118" name="Chars"/>
          <p:cNvSpPr txBox="1"/>
          <p:nvPr/>
        </p:nvSpPr>
        <p:spPr>
          <a:xfrm>
            <a:off x="6316000" y="3982294"/>
            <a:ext cx="5436000" cy="2250000"/>
          </a:xfrm>
          <a:prstGeom prst="rect">
            <a:avLst/>
          </a:prstGeom>
          <a:noFill/>
        </p:spPr>
        <p:txBody>
          <a:bodyPr lIns="110000" tIns="40000" rIns="110000" bIns="40000" rtlCol="0" anchor="t">
            <a:normAutofit/>
          </a:bodyPr>
          <a:lstStyle/>
          <a:p>
            <a:pPr marL="280000" indent="-280000" algn="l">
              <a:lnSpc>
                <a:spcPct val="106000"/>
              </a:lnSpc>
              <a:spcAft>
                <a:spcPts val="720"/>
              </a:spcAft>
              <a:buNone/>
            </a:pPr>
            <a:r>
              <a:rPr lang="es" sz="1100" b="1" i="0" dirty="0">
                <a:solidFill>
                  <a:srgbClr val="156082"/>
                </a:solidFill>
                <a:latin typeface="Graphik"/>
              </a:rPr>
              <a:t>▸ Un caso de negocio atrae cada uno.  </a:t>
            </a:r>
            <a:r>
              <a:rPr lang="es" sz="1100" b="0" i="0" dirty="0">
                <a:solidFill>
                  <a:srgbClr val="1A1A1A"/>
                </a:solidFill>
                <a:latin typeface="Graphik"/>
              </a:rPr>
              <a:t>Construyes streaming de eventos cuando un journey lo necesita — no por principio.</a:t>
            </a:r>
          </a:p>
          <a:p>
            <a:pPr marL="280000" indent="-280000" algn="l">
              <a:lnSpc>
                <a:spcPct val="106000"/>
              </a:lnSpc>
              <a:spcAft>
                <a:spcPts val="720"/>
              </a:spcAft>
              <a:buNone/>
            </a:pPr>
            <a:r>
              <a:rPr lang="es" sz="1100" b="1" i="0" dirty="0">
                <a:solidFill>
                  <a:srgbClr val="156082"/>
                </a:solidFill>
                <a:latin typeface="Graphik"/>
              </a:rPr>
              <a:t>▸ Construido de forma incremental y parcial.  </a:t>
            </a:r>
            <a:r>
              <a:rPr lang="es" sz="1100" b="0" i="0" dirty="0">
                <a:solidFill>
                  <a:srgbClr val="1A1A1A"/>
                </a:solidFill>
                <a:latin typeface="Graphik"/>
              </a:rPr>
              <a:t>Consistencia basada en </a:t>
            </a:r>
            <a:r>
              <a:rPr lang="es" sz="1100" dirty="0">
                <a:solidFill>
                  <a:srgbClr val="1A1A1A"/>
                </a:solidFill>
                <a:latin typeface="Graphik"/>
              </a:rPr>
              <a:t>Saga</a:t>
            </a:r>
            <a:r>
              <a:rPr lang="es" sz="1100" b="0" i="0" dirty="0">
                <a:solidFill>
                  <a:srgbClr val="1A1A1A"/>
                </a:solidFill>
                <a:latin typeface="Graphik"/>
              </a:rPr>
              <a:t> para los pagos este año, préstamos el año que viene. Eso es normal y correcto.</a:t>
            </a:r>
          </a:p>
          <a:p>
            <a:pPr marL="280000" indent="-280000" algn="l">
              <a:lnSpc>
                <a:spcPct val="106000"/>
              </a:lnSpc>
              <a:spcAft>
                <a:spcPts val="720"/>
              </a:spcAft>
              <a:buNone/>
            </a:pPr>
            <a:r>
              <a:rPr lang="es" sz="1100" b="1" i="0" dirty="0">
                <a:solidFill>
                  <a:srgbClr val="156082"/>
                </a:solidFill>
                <a:latin typeface="Graphik"/>
              </a:rPr>
              <a:t>▸ Opcional en secuencia, no en sustancia.  </a:t>
            </a:r>
            <a:r>
              <a:rPr lang="es" sz="1100" b="0" i="0" dirty="0">
                <a:solidFill>
                  <a:srgbClr val="1A1A1A"/>
                </a:solidFill>
                <a:latin typeface="Graphik"/>
              </a:rPr>
              <a:t>Algunos bancos nunca necesitan un procesamiento complejo de eventos; casi ninguno puede saltarse la consistencia de las transacciones.</a:t>
            </a:r>
          </a:p>
          <a:p>
            <a:pPr marL="280000" indent="0" algn="l">
              <a:lnSpc>
                <a:spcPct val="106000"/>
              </a:lnSpc>
              <a:spcAft>
                <a:spcPts val="0"/>
              </a:spcAft>
              <a:buNone/>
            </a:pPr>
            <a:r>
              <a:rPr lang="es" sz="1100" b="1" i="0" dirty="0">
                <a:solidFill>
                  <a:srgbClr val="156082"/>
                </a:solidFill>
                <a:latin typeface="Graphik"/>
              </a:rPr>
              <a:t>→ Añadir cada uno cuando llegue el caso de negocio e ir creciendo con el tiempo.</a:t>
            </a:r>
          </a:p>
        </p:txBody>
      </p:sp>
      <p:sp>
        <p:nvSpPr>
          <p:cNvPr id="104" name="HdrFix"/>
          <p:cNvSpPr/>
          <p:nvPr/>
        </p:nvSpPr>
        <p:spPr>
          <a:xfrm>
            <a:off x="380000" y="2060000"/>
            <a:ext cx="5556000" cy="120000"/>
          </a:xfrm>
          <a:prstGeom prst="rect">
            <a:avLst/>
          </a:prstGeom>
          <a:solidFill>
            <a:srgbClr val="7500C0"/>
          </a:solidFill>
          <a:ln>
            <a:noFill/>
          </a:ln>
        </p:spPr>
        <p:txBody>
          <a:bodyPr lIns="0" tIns="0" rIns="0" bIns="0" anchor="ctr"/>
          <a:lstStyle/>
          <a:p>
            <a:endParaRPr/>
          </a:p>
        </p:txBody>
      </p:sp>
      <p:sp>
        <p:nvSpPr>
          <p:cNvPr id="105" name="HdrTxt"/>
          <p:cNvSpPr txBox="1"/>
          <p:nvPr/>
        </p:nvSpPr>
        <p:spPr>
          <a:xfrm>
            <a:off x="740000" y="1560000"/>
            <a:ext cx="5196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Kernel y Plataforma</a:t>
            </a:r>
          </a:p>
          <a:p>
            <a:pPr marL="0" indent="0" algn="l">
              <a:lnSpc>
                <a:spcPct val="100000"/>
              </a:lnSpc>
              <a:spcAft>
                <a:spcPts val="0"/>
              </a:spcAft>
              <a:buNone/>
            </a:pPr>
            <a:r>
              <a:rPr lang="es" sz="1050" b="0" i="1">
                <a:solidFill>
                  <a:srgbClr val="EAD9F7"/>
                </a:solidFill>
                <a:latin typeface="Graphik"/>
              </a:rPr>
              <a:t>El edificio — siempre encendido, compartido por todos</a:t>
            </a:r>
          </a:p>
        </p:txBody>
      </p:sp>
      <p:sp>
        <p:nvSpPr>
          <p:cNvPr id="106" name="K badge"/>
          <p:cNvSpPr/>
          <p:nvPr/>
        </p:nvSpPr>
        <p:spPr>
          <a:xfrm>
            <a:off x="470000" y="1720000"/>
            <a:ext cx="300000" cy="300000"/>
          </a:xfrm>
          <a:prstGeom prst="ellipse">
            <a:avLst/>
          </a:prstGeom>
          <a:solidFill>
            <a:srgbClr val="C00000"/>
          </a:solidFill>
          <a:ln w="19050">
            <a:solidFill>
              <a:srgbClr val="FFFFFF"/>
            </a:solidFill>
          </a:ln>
        </p:spPr>
        <p:txBody>
          <a:bodyPr lIns="0" tIns="0" rIns="0" bIns="0" anchor="ctr"/>
          <a:lstStyle/>
          <a:p>
            <a:pPr algn="ctr"/>
            <a:r>
              <a:rPr lang="es" sz="1400" b="1">
                <a:solidFill>
                  <a:srgbClr val="FFFFFF"/>
                </a:solidFill>
                <a:latin typeface="Graphik"/>
              </a:rPr>
              <a:t>K</a:t>
            </a:r>
          </a:p>
        </p:txBody>
      </p:sp>
      <p:sp>
        <p:nvSpPr>
          <p:cNvPr id="12" name="Card">
            <a:extLst>
              <a:ext uri="{FF2B5EF4-FFF2-40B4-BE49-F238E27FC236}">
                <a16:creationId xmlns:a16="http://schemas.microsoft.com/office/drawing/2014/main" id="{A8B59E5C-45B0-0F9D-6045-E2B48FEFC93E}"/>
              </a:ext>
            </a:extLst>
          </p:cNvPr>
          <p:cNvSpPr/>
          <p:nvPr/>
        </p:nvSpPr>
        <p:spPr>
          <a:xfrm>
            <a:off x="6255000" y="1560000"/>
            <a:ext cx="5556000" cy="605132"/>
          </a:xfrm>
          <a:prstGeom prst="roundRect">
            <a:avLst>
              <a:gd name="adj" fmla="val 26068"/>
            </a:avLst>
          </a:prstGeom>
          <a:solidFill>
            <a:srgbClr val="156082"/>
          </a:solidFill>
          <a:ln w="15875">
            <a:solidFill>
              <a:srgbClr val="156082"/>
            </a:solidFill>
          </a:ln>
        </p:spPr>
        <p:txBody>
          <a:bodyPr lIns="0" tIns="0" rIns="0" bIns="0" anchor="ctr"/>
          <a:lstStyle/>
          <a:p>
            <a:endParaRPr/>
          </a:p>
        </p:txBody>
      </p:sp>
      <p:sp>
        <p:nvSpPr>
          <p:cNvPr id="113" name="HdrFix"/>
          <p:cNvSpPr/>
          <p:nvPr/>
        </p:nvSpPr>
        <p:spPr>
          <a:xfrm>
            <a:off x="6256000" y="2060000"/>
            <a:ext cx="5556000" cy="120000"/>
          </a:xfrm>
          <a:prstGeom prst="rect">
            <a:avLst/>
          </a:prstGeom>
          <a:solidFill>
            <a:srgbClr val="156082"/>
          </a:solidFill>
          <a:ln>
            <a:noFill/>
          </a:ln>
        </p:spPr>
        <p:txBody>
          <a:bodyPr lIns="0" tIns="0" rIns="0" bIns="0" anchor="ctr"/>
          <a:lstStyle/>
          <a:p>
            <a:endParaRPr/>
          </a:p>
        </p:txBody>
      </p:sp>
      <p:sp>
        <p:nvSpPr>
          <p:cNvPr id="114" name="HdrTxt"/>
          <p:cNvSpPr txBox="1"/>
          <p:nvPr/>
        </p:nvSpPr>
        <p:spPr>
          <a:xfrm>
            <a:off x="6406000" y="1545132"/>
            <a:ext cx="5405000" cy="620000"/>
          </a:xfrm>
          <a:prstGeom prst="rect">
            <a:avLst/>
          </a:prstGeom>
          <a:noFill/>
        </p:spPr>
        <p:txBody>
          <a:bodyPr lIns="110000" tIns="60000" rIns="110000" bIns="60000" rtlCol="0" anchor="ctr">
            <a:normAutofit/>
          </a:bodyPr>
          <a:lstStyle/>
          <a:p>
            <a:pPr marL="0" indent="0" algn="l">
              <a:lnSpc>
                <a:spcPct val="100000"/>
              </a:lnSpc>
              <a:spcAft>
                <a:spcPts val="100"/>
              </a:spcAft>
              <a:buNone/>
            </a:pPr>
            <a:r>
              <a:rPr lang="es" sz="1500" b="1" i="0">
                <a:solidFill>
                  <a:srgbClr val="FFFFFF"/>
                </a:solidFill>
                <a:latin typeface="Graphik"/>
              </a:rPr>
              <a:t>Capacidades del dominio</a:t>
            </a:r>
          </a:p>
          <a:p>
            <a:pPr marL="0" indent="0" algn="l">
              <a:lnSpc>
                <a:spcPct val="100000"/>
              </a:lnSpc>
              <a:spcAft>
                <a:spcPts val="0"/>
              </a:spcAft>
              <a:buNone/>
            </a:pPr>
            <a:r>
              <a:rPr lang="es" sz="1050" b="0" i="1">
                <a:solidFill>
                  <a:srgbClr val="CFE3EA"/>
                </a:solidFill>
                <a:latin typeface="Graphik"/>
              </a:rPr>
              <a:t>Las tiendas — obras con nombre, añadidas cuando era necesario</a:t>
            </a:r>
          </a:p>
        </p:txBody>
      </p:sp>
    </p:spTree>
    <p:extLst>
      <p:ext uri="{BB962C8B-B14F-4D97-AF65-F5344CB8AC3E}">
        <p14:creationId xmlns:p14="http://schemas.microsoft.com/office/powerpoint/2010/main" val="3983546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CFDF9771-8CBA-EB08-DE3B-8AF337FFD430}"/>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26727DF-6F03-BC04-4A78-F43393023CF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B8329EC3-7002-5766-1217-CE4C85857BB1}"/>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397E75AD-DE87-3765-530C-C37F7C229DF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07032E24-4EBC-4359-B6FA-4AE01DEFC30C}"/>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6D739B0F-062A-9D0D-688E-C5956D05F86F}"/>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B626ACA0-B499-3614-76D1-A4644845A15A}"/>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851C038D-02DD-A1C2-B094-4AEE3C4CA255}"/>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EB03432-3045-B4A7-2427-3D2D522CCEE0}"/>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A2CB8B61-1F8F-67B2-D843-9A628C1AB852}"/>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4E88CC31-C2D8-C7C3-E374-245980F7F53F}"/>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A99BFA2C-2E45-962D-69CE-6004D2B03A4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854C8E03-D227-4330-5D5C-9549616F5A99}"/>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5828082A-0A90-A83F-BAC2-99722558492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9ADEBD79-E68C-3605-B739-14CC7B8C9933}"/>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4635A679-91B1-9924-7D56-044B595E2BE9}"/>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5D7EE6-2931-8EDB-5810-D807DAD789C5}"/>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70D0727D-E3A6-A5A5-CA73-4F0A2F5D98F6}"/>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9FA365B-0F31-880D-17F4-C38788A2E195}"/>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1450ECB1-9DB4-2AEB-3F82-94E78101F090}"/>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D94902BD-45BD-4F63-A070-A81A4B44E9C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B0FEE892-6CA4-BED1-56DB-7BBA97A57FC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
        <p:nvSpPr>
          <p:cNvPr id="14" name="Oval 13">
            <a:extLst>
              <a:ext uri="{FF2B5EF4-FFF2-40B4-BE49-F238E27FC236}">
                <a16:creationId xmlns:a16="http://schemas.microsoft.com/office/drawing/2014/main" id="{64D95C56-9E79-4ED2-D4BB-ED3D3E283C8C}"/>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Tree>
    <p:extLst>
      <p:ext uri="{BB962C8B-B14F-4D97-AF65-F5344CB8AC3E}">
        <p14:creationId xmlns:p14="http://schemas.microsoft.com/office/powerpoint/2010/main" val="335016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A8D74AC-2277-4F46-791F-D1E85CA7714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0207964D-8E46-FDF2-1A6B-862C7F07B769}"/>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68425746-EAF5-AE0A-FFFC-004556DAE8C0}"/>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200" b="1" i="0" u="none" strike="noStrike" kern="1200" cap="none" spc="0" normalizeH="0" baseline="0" noProof="0">
                <a:ln>
                  <a:noFill/>
                </a:ln>
                <a:solidFill>
                  <a:srgbClr val="000000"/>
                </a:solidFill>
                <a:effectLst/>
                <a:uLnTx/>
                <a:uFillTx/>
                <a:latin typeface="Graphik"/>
                <a:ea typeface="+mj-ea"/>
                <a:cs typeface="+mj-cs"/>
              </a:rPr>
              <a:t>Capacidades de Nivel 0 </a:t>
            </a:r>
            <a:r>
              <a:rPr kumimoji="0" lang="es" sz="1700" b="1" i="0" u="none" strike="noStrike" kern="1200" cap="none" spc="0" normalizeH="0" baseline="0" noProof="0">
                <a:ln>
                  <a:noFill/>
                </a:ln>
                <a:solidFill>
                  <a:srgbClr val="000000"/>
                </a:solidFill>
                <a:effectLst/>
                <a:uLnTx/>
                <a:uFillTx/>
                <a:latin typeface="Graphik"/>
                <a:ea typeface="+mj-ea"/>
                <a:cs typeface="+mj-cs"/>
              </a:rPr>
              <a:t>(Descripción y propósito)</a:t>
            </a:r>
          </a:p>
        </p:txBody>
      </p:sp>
      <p:sp>
        <p:nvSpPr>
          <p:cNvPr id="100" name="Section Kernel &amp; Platform Capabilities"/>
          <p:cNvSpPr txBox="1"/>
          <p:nvPr/>
        </p:nvSpPr>
        <p:spPr>
          <a:xfrm>
            <a:off x="380000" y="815000"/>
            <a:ext cx="11432000" cy="230000"/>
          </a:xfrm>
          <a:prstGeom prst="rect">
            <a:avLst/>
          </a:prstGeom>
        </p:spPr>
        <p:txBody>
          <a:bodyPr lIns="0" tIns="0" rIns="0" bIns="0" anchor="ctr"/>
          <a:lstStyle/>
          <a:p>
            <a:pPr algn="l"/>
            <a:r>
              <a:rPr lang="es" sz="1200" b="1">
                <a:solidFill>
                  <a:srgbClr val="000000"/>
                </a:solidFill>
                <a:latin typeface="Graphik"/>
              </a:rPr>
              <a:t>Kernel y Capacidades de Plataforma</a:t>
            </a:r>
            <a:r>
              <a:rPr lang="es" sz="1050" b="1">
                <a:solidFill>
                  <a:srgbClr val="C00000"/>
                </a:solidFill>
                <a:latin typeface="Graphik"/>
              </a:rPr>
              <a:t>  (K = Kernel y Componentes de Plataforma)</a:t>
            </a:r>
          </a:p>
        </p:txBody>
      </p:sp>
      <p:sp>
        <p:nvSpPr>
          <p:cNvPr id="101" name="Card API Management"/>
          <p:cNvSpPr/>
          <p:nvPr/>
        </p:nvSpPr>
        <p:spPr>
          <a:xfrm>
            <a:off x="38000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API Management</a:t>
            </a:r>
          </a:p>
          <a:p>
            <a:pPr marL="0" algn="l">
              <a:lnSpc>
                <a:spcPct val="96000"/>
              </a:lnSpc>
              <a:spcAft>
                <a:spcPts val="300"/>
              </a:spcAft>
            </a:pPr>
            <a:r>
              <a:rPr lang="es" sz="700" dirty="0">
                <a:solidFill>
                  <a:srgbClr val="1A1A1A"/>
                </a:solidFill>
                <a:latin typeface="Graphik"/>
              </a:rPr>
              <a:t>Diseñar, publicar, versionar, asegurar, medir y retirar los contratos de servicios síncronos del banco, además del portal para desarrolladores, el catálogo y el sandbox.</a:t>
            </a:r>
          </a:p>
          <a:p>
            <a:pPr marL="0" algn="l"/>
            <a:r>
              <a:rPr lang="es" sz="700" b="1" dirty="0">
                <a:solidFill>
                  <a:srgbClr val="7500C0"/>
                </a:solidFill>
                <a:latin typeface="Graphik"/>
              </a:rPr>
              <a:t>Propósito  </a:t>
            </a:r>
            <a:r>
              <a:rPr lang="es" sz="700" i="1" dirty="0">
                <a:solidFill>
                  <a:srgbClr val="404040"/>
                </a:solidFill>
                <a:latin typeface="Graphik"/>
              </a:rPr>
              <a:t>El principal instrumento de desacoplamiento: un contrato API estable permite que canales y núcleos se re-platformen de forma independiente, convirtiendo una llamada al sistema en una llamada de capacidad bancaria.</a:t>
            </a:r>
          </a:p>
        </p:txBody>
      </p:sp>
      <p:sp>
        <p:nvSpPr>
          <p:cNvPr id="601" name="K 101"/>
          <p:cNvSpPr/>
          <p:nvPr/>
        </p:nvSpPr>
        <p:spPr>
          <a:xfrm>
            <a:off x="2964622"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2" name="Card Gateway Services"/>
          <p:cNvSpPr/>
          <p:nvPr/>
        </p:nvSpPr>
        <p:spPr>
          <a:xfrm>
            <a:off x="3262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Servicios de Gateway</a:t>
            </a:r>
          </a:p>
          <a:p>
            <a:pPr marL="0" algn="l">
              <a:lnSpc>
                <a:spcPct val="96000"/>
              </a:lnSpc>
              <a:spcAft>
                <a:spcPts val="300"/>
              </a:spcAft>
            </a:pPr>
            <a:r>
              <a:rPr lang="es" sz="700" dirty="0">
                <a:solidFill>
                  <a:srgbClr val="1A1A1A"/>
                </a:solidFill>
                <a:latin typeface="Graphik"/>
              </a:rPr>
              <a:t>Controlado la entrada y salida a través del límite de confianza en tres modalidades — API, archivo y evento, entrada y salida — </a:t>
            </a:r>
            <a:r>
              <a:rPr lang="es-ES" sz="700" dirty="0">
                <a:solidFill>
                  <a:srgbClr val="1A1A1A"/>
                </a:solidFill>
                <a:latin typeface="Graphik"/>
              </a:rPr>
              <a:t>además de los puntos de conexión con Open </a:t>
            </a:r>
            <a:r>
              <a:rPr lang="es-ES" sz="700" dirty="0" err="1">
                <a:solidFill>
                  <a:srgbClr val="1A1A1A"/>
                </a:solidFill>
                <a:latin typeface="Graphik"/>
              </a:rPr>
              <a:t>Banking</a:t>
            </a:r>
            <a:r>
              <a:rPr lang="es-ES" sz="700" dirty="0">
                <a:solidFill>
                  <a:srgbClr val="1A1A1A"/>
                </a:solidFill>
                <a:latin typeface="Graphik"/>
              </a:rPr>
              <a:t> y socios</a:t>
            </a:r>
            <a:r>
              <a:rPr lang="es" sz="700" dirty="0">
                <a:solidFill>
                  <a:srgbClr val="1A1A1A"/>
                </a:solidFill>
                <a:latin typeface="Graphik"/>
              </a:rPr>
              <a:t>.</a:t>
            </a:r>
          </a:p>
          <a:p>
            <a:pPr marL="0" algn="l"/>
            <a:r>
              <a:rPr lang="es" sz="700" b="1" dirty="0">
                <a:solidFill>
                  <a:srgbClr val="7500C0"/>
                </a:solidFill>
                <a:latin typeface="Graphik"/>
              </a:rPr>
              <a:t>Propósito  </a:t>
            </a:r>
            <a:r>
              <a:rPr lang="es" sz="700" i="1" dirty="0">
                <a:solidFill>
                  <a:srgbClr val="404040"/>
                </a:solidFill>
                <a:latin typeface="Graphik"/>
              </a:rPr>
              <a:t>Convierte la participación en el ecosistema en un ejercicio de configuración, no en un proyecto. Las pasarelas API entrantes suelen estar maduras; Los gateways de archivos salientes y eventos son la brecha común en rutas críticas.</a:t>
            </a:r>
          </a:p>
        </p:txBody>
      </p:sp>
      <p:sp>
        <p:nvSpPr>
          <p:cNvPr id="602" name="K 102"/>
          <p:cNvSpPr/>
          <p:nvPr/>
        </p:nvSpPr>
        <p:spPr>
          <a:xfrm>
            <a:off x="583625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3" name="Card Security"/>
          <p:cNvSpPr/>
          <p:nvPr/>
        </p:nvSpPr>
        <p:spPr>
          <a:xfrm>
            <a:off x="61425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Seguridad</a:t>
            </a:r>
          </a:p>
          <a:p>
            <a:pPr marL="0" algn="l">
              <a:lnSpc>
                <a:spcPct val="96000"/>
              </a:lnSpc>
              <a:spcAft>
                <a:spcPts val="300"/>
              </a:spcAft>
            </a:pPr>
            <a:r>
              <a:rPr lang="es" sz="700" dirty="0">
                <a:solidFill>
                  <a:srgbClr val="1A1A1A"/>
                </a:solidFill>
                <a:latin typeface="Graphik"/>
              </a:rPr>
              <a:t>Protección de extremo a extremo de la capa de interoperabilidad: IAM, criptografía y HSM, gestión de certificados y secretos, registro de auditorías, protección contra amenazas, seguridad en contenedores y streaming.</a:t>
            </a:r>
          </a:p>
          <a:p>
            <a:pPr marL="0" algn="l"/>
            <a:r>
              <a:rPr lang="es" sz="700" b="1" dirty="0">
                <a:solidFill>
                  <a:srgbClr val="7500C0"/>
                </a:solidFill>
                <a:latin typeface="Graphik"/>
              </a:rPr>
              <a:t>La Seguridad por Propósito  </a:t>
            </a:r>
            <a:r>
              <a:rPr lang="es" sz="700" i="1" dirty="0">
                <a:solidFill>
                  <a:srgbClr val="404040"/>
                </a:solidFill>
                <a:latin typeface="Graphik"/>
              </a:rPr>
              <a:t>se hereda de la plataforma, no se recodifica por servicio, por lo que la superficie de ataque y el coste de remediación no crecen más rápido que la funcionalidad.</a:t>
            </a:r>
          </a:p>
        </p:txBody>
      </p:sp>
      <p:sp>
        <p:nvSpPr>
          <p:cNvPr id="603" name="K 103"/>
          <p:cNvSpPr/>
          <p:nvPr/>
        </p:nvSpPr>
        <p:spPr>
          <a:xfrm>
            <a:off x="8707290"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4" name="Card Observability"/>
          <p:cNvSpPr/>
          <p:nvPr/>
        </p:nvSpPr>
        <p:spPr>
          <a:xfrm>
            <a:off x="9023080" y="1080000"/>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a:solidFill>
                  <a:srgbClr val="7500C0"/>
                </a:solidFill>
                <a:latin typeface="Graphik"/>
              </a:rPr>
              <a:t>Observabilidad</a:t>
            </a:r>
          </a:p>
          <a:p>
            <a:pPr marL="0" algn="l">
              <a:lnSpc>
                <a:spcPct val="96000"/>
              </a:lnSpc>
              <a:spcAft>
                <a:spcPts val="300"/>
              </a:spcAft>
            </a:pPr>
            <a:r>
              <a:rPr lang="es" sz="700">
                <a:solidFill>
                  <a:srgbClr val="1A1A1A"/>
                </a:solidFill>
                <a:latin typeface="Graphik"/>
              </a:rPr>
              <a:t>Evidencia en todo el entorno: agregación de registros, rastreo distribuido, API y monitorización del estado, alertas, métricas y paneles técnicos y empresariales.</a:t>
            </a:r>
          </a:p>
          <a:p>
            <a:pPr marL="0" algn="l"/>
            <a:r>
              <a:rPr lang="es" sz="700" b="1">
                <a:solidFill>
                  <a:srgbClr val="7500C0"/>
                </a:solidFill>
                <a:latin typeface="Graphik"/>
              </a:rPr>
              <a:t>Propósito  </a:t>
            </a:r>
            <a:r>
              <a:rPr lang="es" sz="700" i="1">
                <a:solidFill>
                  <a:srgbClr val="404040"/>
                </a:solidFill>
                <a:latin typeface="Graphik"/>
              </a:rPr>
              <a:t>Restaura la verdad de extremo a extremo de una transacción que ningún sistema único tiene ahora y convierte la telemetría en una visión de riesgo y rendimiento a nivel de servicio empresarial.</a:t>
            </a:r>
          </a:p>
        </p:txBody>
      </p:sp>
      <p:sp>
        <p:nvSpPr>
          <p:cNvPr id="604" name="K 104"/>
          <p:cNvSpPr/>
          <p:nvPr/>
        </p:nvSpPr>
        <p:spPr>
          <a:xfrm>
            <a:off x="11585798" y="1121728"/>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105" name="Card Infrastructure (Tech Stack)"/>
          <p:cNvSpPr/>
          <p:nvPr/>
        </p:nvSpPr>
        <p:spPr>
          <a:xfrm>
            <a:off x="3260500" y="2310553"/>
            <a:ext cx="278892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300000" algn="l">
              <a:lnSpc>
                <a:spcPct val="98000"/>
              </a:lnSpc>
              <a:spcAft>
                <a:spcPts val="200"/>
              </a:spcAft>
            </a:pPr>
            <a:r>
              <a:rPr lang="es" sz="700" b="1" dirty="0">
                <a:solidFill>
                  <a:srgbClr val="7500C0"/>
                </a:solidFill>
                <a:latin typeface="Graphik"/>
              </a:rPr>
              <a:t>Infraestructura (Pila Tecnológica)</a:t>
            </a:r>
          </a:p>
          <a:p>
            <a:pPr marL="0" algn="l">
              <a:lnSpc>
                <a:spcPct val="96000"/>
              </a:lnSpc>
              <a:spcAft>
                <a:spcPts val="300"/>
              </a:spcAft>
            </a:pPr>
            <a:r>
              <a:rPr lang="es" sz="700" dirty="0">
                <a:solidFill>
                  <a:srgbClr val="1A1A1A"/>
                </a:solidFill>
                <a:latin typeface="Graphik"/>
              </a:rPr>
              <a:t>La base de ejecución: marco de microservicios, plataforma de contenedores y service mesh, descubrimiento, caché, automatización de configuración, despliegue y resiliencia (incluyendo ingeniería del caos).</a:t>
            </a:r>
          </a:p>
          <a:p>
            <a:pPr marL="0" algn="l"/>
            <a:r>
              <a:rPr lang="es" sz="700" b="1" dirty="0">
                <a:solidFill>
                  <a:srgbClr val="7500C0"/>
                </a:solidFill>
                <a:latin typeface="Graphik"/>
              </a:rPr>
              <a:t>Propósito  </a:t>
            </a:r>
            <a:r>
              <a:rPr lang="es" sz="700" i="1" dirty="0">
                <a:solidFill>
                  <a:srgbClr val="404040"/>
                </a:solidFill>
                <a:latin typeface="Graphik"/>
              </a:rPr>
              <a:t>Determina el coste marginal de añadir un componente. Una pila curada y gobernada proporciona agilidad en el despliegue y escala elástica, manteniendo miles de servicios gobernables por un pequeño equipo.</a:t>
            </a:r>
          </a:p>
        </p:txBody>
      </p:sp>
      <p:sp>
        <p:nvSpPr>
          <p:cNvPr id="106" name="Section Domain Capabilities"/>
          <p:cNvSpPr txBox="1"/>
          <p:nvPr/>
        </p:nvSpPr>
        <p:spPr>
          <a:xfrm>
            <a:off x="380000" y="3476846"/>
            <a:ext cx="11432000" cy="230000"/>
          </a:xfrm>
          <a:prstGeom prst="rect">
            <a:avLst/>
          </a:prstGeom>
        </p:spPr>
        <p:txBody>
          <a:bodyPr lIns="0" tIns="0" rIns="0" bIns="0" anchor="ctr"/>
          <a:lstStyle/>
          <a:p>
            <a:pPr algn="l"/>
            <a:r>
              <a:rPr lang="es" sz="1200" b="1">
                <a:solidFill>
                  <a:srgbClr val="000000"/>
                </a:solidFill>
                <a:latin typeface="Graphik"/>
              </a:rPr>
              <a:t>Capacidades del dominio</a:t>
            </a:r>
          </a:p>
        </p:txBody>
      </p:sp>
      <p:sp>
        <p:nvSpPr>
          <p:cNvPr id="107" name="Card Service Orchestration"/>
          <p:cNvSpPr/>
          <p:nvPr/>
        </p:nvSpPr>
        <p:spPr>
          <a:xfrm>
            <a:off x="3800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Orquestación de Servicio</a:t>
            </a:r>
          </a:p>
          <a:p>
            <a:pPr marL="0" algn="l">
              <a:lnSpc>
                <a:spcPct val="96000"/>
              </a:lnSpc>
              <a:spcAft>
                <a:spcPts val="300"/>
              </a:spcAft>
            </a:pPr>
            <a:r>
              <a:rPr lang="es" sz="700" dirty="0">
                <a:solidFill>
                  <a:srgbClr val="1A1A1A"/>
                </a:solidFill>
                <a:latin typeface="Graphik"/>
              </a:rPr>
              <a:t>Composición de servicios de grano fino en servicios empresariales complejos a través de plataformas heterogéneas, sincronización o asincrónico — marco de integración, orquestador, adaptadores heredados, gestión de contexto.</a:t>
            </a:r>
          </a:p>
          <a:p>
            <a:pPr marL="0" algn="l"/>
            <a:r>
              <a:rPr lang="es" sz="700" b="1" dirty="0">
                <a:solidFill>
                  <a:srgbClr val="7500C0"/>
                </a:solidFill>
                <a:latin typeface="Graphik"/>
              </a:rPr>
              <a:t>Propósito  </a:t>
            </a:r>
            <a:r>
              <a:rPr lang="es" sz="700" i="1" dirty="0">
                <a:solidFill>
                  <a:srgbClr val="404040"/>
                </a:solidFill>
                <a:latin typeface="Graphik"/>
              </a:rPr>
              <a:t>Hace que la mejor coexistencia sea ejecutable: un servicio abarca el núcleo de próxima generación, el procesador SaaS y el mainframe de forma invisible. Normalmente la mayor ganancia de productividad y la condición previa para retirar middleware heredado.</a:t>
            </a:r>
          </a:p>
        </p:txBody>
      </p:sp>
      <p:sp>
        <p:nvSpPr>
          <p:cNvPr id="108" name="Card Process Orchestration"/>
          <p:cNvSpPr/>
          <p:nvPr/>
        </p:nvSpPr>
        <p:spPr>
          <a:xfrm>
            <a:off x="3260500" y="36923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Orquestación de procesos</a:t>
            </a:r>
          </a:p>
          <a:p>
            <a:pPr marL="0" algn="l">
              <a:lnSpc>
                <a:spcPct val="96000"/>
              </a:lnSpc>
              <a:spcAft>
                <a:spcPts val="300"/>
              </a:spcAft>
            </a:pPr>
            <a:r>
              <a:rPr lang="es" sz="700" dirty="0">
                <a:solidFill>
                  <a:srgbClr val="1A1A1A"/>
                </a:solidFill>
                <a:latin typeface="Graphik"/>
              </a:rPr>
              <a:t>Flujos humanos y de sistema de larga duración — flujo de trabajo, aprobaciones, listas de tareas, gestión de estados y reglas — en motores de flujo de trabajo ligeros en lugar de BPM empresarial pesado.</a:t>
            </a:r>
          </a:p>
          <a:p>
            <a:pPr marL="0" algn="l"/>
            <a:r>
              <a:rPr lang="es" sz="700" b="1" dirty="0">
                <a:solidFill>
                  <a:srgbClr val="7500C0"/>
                </a:solidFill>
                <a:latin typeface="Graphik"/>
              </a:rPr>
              <a:t>Propósito  </a:t>
            </a:r>
            <a:r>
              <a:rPr lang="es" sz="700" i="1" dirty="0">
                <a:solidFill>
                  <a:srgbClr val="404040"/>
                </a:solidFill>
                <a:latin typeface="Graphik"/>
              </a:rPr>
              <a:t>Separa el flujo técnico de milisegundos del flujo de negocio de varios días, haciendo que los journeys, los controles de cuatro ojos y la gestión de excepciones sean portátiles entre productos y canales.</a:t>
            </a:r>
          </a:p>
        </p:txBody>
      </p:sp>
      <p:sp>
        <p:nvSpPr>
          <p:cNvPr id="109" name="Card Distributed Transactions"/>
          <p:cNvSpPr/>
          <p:nvPr/>
        </p:nvSpPr>
        <p:spPr>
          <a:xfrm>
            <a:off x="61410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Transacciones distribuidas</a:t>
            </a:r>
          </a:p>
          <a:p>
            <a:pPr marL="0" algn="l">
              <a:lnSpc>
                <a:spcPct val="96000"/>
              </a:lnSpc>
              <a:spcAft>
                <a:spcPts val="300"/>
              </a:spcAft>
            </a:pPr>
            <a:r>
              <a:rPr lang="es" sz="700">
                <a:solidFill>
                  <a:srgbClr val="1A1A1A"/>
                </a:solidFill>
                <a:latin typeface="Graphik"/>
              </a:rPr>
              <a:t>Atomicidad y consistencia entre servicios y almacenes de datos: 2PC cuando sea posible, Saga/compensación cuando no; Coordinador, Bandeja de Salida/Entrada, Tienda y Reenvío, Administración Online.</a:t>
            </a:r>
          </a:p>
          <a:p>
            <a:pPr marL="0" algn="l"/>
            <a:r>
              <a:rPr lang="es" sz="700" b="1">
                <a:solidFill>
                  <a:srgbClr val="7500C0"/>
                </a:solidFill>
                <a:latin typeface="Graphik"/>
              </a:rPr>
              <a:t>Propósito  </a:t>
            </a:r>
            <a:r>
              <a:rPr lang="es" sz="700" i="1">
                <a:solidFill>
                  <a:srgbClr val="404040"/>
                </a:solidFill>
                <a:latin typeface="Graphik"/>
              </a:rPr>
              <a:t>: No negociable para la banca. Proporciona el marco y las herramientas para reintentar, revertir e informar; Almacenar y reenviar añade continuidad cuando un host está caído y para acciones con fecha futura.</a:t>
            </a:r>
          </a:p>
        </p:txBody>
      </p:sp>
      <p:sp>
        <p:nvSpPr>
          <p:cNvPr id="110" name="Card Event Processing &amp; Reactive Components"/>
          <p:cNvSpPr/>
          <p:nvPr/>
        </p:nvSpPr>
        <p:spPr>
          <a:xfrm>
            <a:off x="9021500" y="3682494"/>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Procesamiento de eventos y componentes reactivos</a:t>
            </a:r>
          </a:p>
          <a:p>
            <a:pPr marL="0" algn="l">
              <a:lnSpc>
                <a:spcPct val="96000"/>
              </a:lnSpc>
              <a:spcAft>
                <a:spcPts val="300"/>
              </a:spcAft>
            </a:pPr>
            <a:r>
              <a:rPr lang="es" sz="700">
                <a:solidFill>
                  <a:srgbClr val="1A1A1A"/>
                </a:solidFill>
                <a:latin typeface="Graphik"/>
              </a:rPr>
              <a:t>La columna vertebral asíncrona: mensajería y transmisión de eventos, registros de eventos y eventos canónicos, entrega garantizada, malla de eventos, búsqueda de eventos, CEP, CQRS.</a:t>
            </a:r>
          </a:p>
          <a:p>
            <a:pPr marL="0" algn="l"/>
            <a:r>
              <a:rPr lang="es" sz="700" b="1">
                <a:solidFill>
                  <a:srgbClr val="7500C0"/>
                </a:solidFill>
                <a:latin typeface="Graphik"/>
              </a:rPr>
              <a:t>Propósito  </a:t>
            </a:r>
            <a:r>
              <a:rPr lang="es" sz="700" i="1">
                <a:solidFill>
                  <a:srgbClr val="404040"/>
                </a:solidFill>
                <a:latin typeface="Graphik"/>
              </a:rPr>
              <a:t>Permite que los sistemas interoperen sin conocerse entre sí — el desacoplamiento más profundo. Mayor inversión en reutilización; CQRS/CDC es la palanca inicial más barata para descargar el mainframe sin cambiar el núcleo.</a:t>
            </a:r>
          </a:p>
        </p:txBody>
      </p:sp>
      <p:sp>
        <p:nvSpPr>
          <p:cNvPr id="111" name="Card Omnichannel &amp; Caching Components"/>
          <p:cNvSpPr/>
          <p:nvPr/>
        </p:nvSpPr>
        <p:spPr>
          <a:xfrm>
            <a:off x="380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dirty="0">
                <a:solidFill>
                  <a:srgbClr val="7500C0"/>
                </a:solidFill>
                <a:latin typeface="Graphik"/>
              </a:rPr>
              <a:t>Omnicanal y componentes de caché</a:t>
            </a:r>
          </a:p>
          <a:p>
            <a:pPr marL="0" algn="l">
              <a:lnSpc>
                <a:spcPct val="96000"/>
              </a:lnSpc>
              <a:spcAft>
                <a:spcPts val="300"/>
              </a:spcAft>
            </a:pPr>
            <a:r>
              <a:rPr lang="es" sz="700" dirty="0">
                <a:solidFill>
                  <a:srgbClr val="1A1A1A"/>
                </a:solidFill>
                <a:latin typeface="Graphik"/>
              </a:rPr>
              <a:t>Gestión y acceso a datos omnicanal, caché de transacciones, replicación de sesiones y estado de sesión entre dominios, caché y componentes CDN.</a:t>
            </a:r>
          </a:p>
          <a:p>
            <a:pPr marL="0" algn="l"/>
            <a:r>
              <a:rPr lang="es" sz="700" b="1" dirty="0">
                <a:solidFill>
                  <a:srgbClr val="7500C0"/>
                </a:solidFill>
                <a:latin typeface="Graphik"/>
              </a:rPr>
              <a:t>Propósito  </a:t>
            </a:r>
            <a:r>
              <a:rPr lang="es" sz="700" i="1" dirty="0">
                <a:solidFill>
                  <a:srgbClr val="404040"/>
                </a:solidFill>
                <a:latin typeface="Graphik"/>
              </a:rPr>
              <a:t>Mantiene el contexto multicanal para que el journey se reanude en otro canal y se sirva con una latencia que el núcleo no puede cumplir — reduciendo el abandono y añadiendo continuidad cuando un backend está caído.</a:t>
            </a:r>
          </a:p>
        </p:txBody>
      </p:sp>
      <p:sp>
        <p:nvSpPr>
          <p:cNvPr id="112" name="Card Data Delivery"/>
          <p:cNvSpPr/>
          <p:nvPr/>
        </p:nvSpPr>
        <p:spPr>
          <a:xfrm>
            <a:off x="32605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rmAutofit/>
          </a:bodyPr>
          <a:lstStyle/>
          <a:p>
            <a:pPr marL="0" marR="0" algn="l">
              <a:lnSpc>
                <a:spcPct val="98000"/>
              </a:lnSpc>
              <a:spcAft>
                <a:spcPts val="200"/>
              </a:spcAft>
            </a:pPr>
            <a:r>
              <a:rPr lang="es" sz="700" b="1">
                <a:solidFill>
                  <a:srgbClr val="7500C0"/>
                </a:solidFill>
                <a:latin typeface="Graphik"/>
              </a:rPr>
              <a:t>Entrega de datos</a:t>
            </a:r>
          </a:p>
          <a:p>
            <a:pPr marL="0" algn="l">
              <a:lnSpc>
                <a:spcPct val="96000"/>
              </a:lnSpc>
              <a:spcAft>
                <a:spcPts val="300"/>
              </a:spcAft>
            </a:pPr>
            <a:r>
              <a:rPr lang="es" sz="700">
                <a:solidFill>
                  <a:srgbClr val="1A1A1A"/>
                </a:solidFill>
                <a:latin typeface="Graphik"/>
              </a:rPr>
              <a:t>Catálogo y modelado de datos (catálogo, metadatos, linaje, calidad, gobernanza) además de canalizaciones y entrega de datos (lote/stream, CDC, virtualización, ODS, multivelocidad).</a:t>
            </a:r>
          </a:p>
          <a:p>
            <a:pPr marL="0" algn="l"/>
            <a:r>
              <a:rPr lang="es" sz="700" b="1">
                <a:solidFill>
                  <a:srgbClr val="7500C0"/>
                </a:solidFill>
                <a:latin typeface="Graphik"/>
              </a:rPr>
              <a:t>Propósito  </a:t>
            </a:r>
            <a:r>
              <a:rPr lang="es" sz="700" i="1">
                <a:solidFill>
                  <a:srgbClr val="404040"/>
                </a:solidFill>
                <a:latin typeface="Graphik"/>
              </a:rPr>
              <a:t>Proporciona una vista agregada multinúcleo estandarizada en tiempo real para que los consumidores usen "los datos del banco", no "los datos del núcleo", eliminando así el acceso directo a aplicaciones y el bloqueo de un solo núcleo.</a:t>
            </a:r>
          </a:p>
        </p:txBody>
      </p:sp>
      <p:sp>
        <p:nvSpPr>
          <p:cNvPr id="113" name="Card Operations"/>
          <p:cNvSpPr/>
          <p:nvPr/>
        </p:nvSpPr>
        <p:spPr>
          <a:xfrm>
            <a:off x="380000" y="2310553"/>
            <a:ext cx="2790500" cy="118872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Operaciones</a:t>
            </a:r>
          </a:p>
          <a:p>
            <a:pPr marL="0" algn="l">
              <a:lnSpc>
                <a:spcPct val="96000"/>
              </a:lnSpc>
              <a:spcAft>
                <a:spcPts val="300"/>
              </a:spcAft>
            </a:pPr>
            <a:r>
              <a:rPr lang="es-ES" sz="700" dirty="0"/>
              <a:t>Primitivas de tiempo de ejecución transversales</a:t>
            </a:r>
            <a:r>
              <a:rPr lang="es" sz="700" dirty="0">
                <a:solidFill>
                  <a:srgbClr val="1A1A1A"/>
                </a:solidFill>
                <a:latin typeface="Graphik"/>
              </a:rPr>
              <a:t>: operaciones de folio, feature flags, servicios UUID/correlación distribuidos y las consolas de administración de la capa.</a:t>
            </a:r>
          </a:p>
          <a:p>
            <a:pPr marL="0" algn="l"/>
            <a:r>
              <a:rPr lang="es" sz="700" b="1" dirty="0">
                <a:solidFill>
                  <a:srgbClr val="7500C0"/>
                </a:solidFill>
                <a:latin typeface="Graphik"/>
              </a:rPr>
              <a:t>Propósito  </a:t>
            </a:r>
            <a:r>
              <a:rPr lang="es" sz="700" i="1" dirty="0">
                <a:solidFill>
                  <a:srgbClr val="404040"/>
                </a:solidFill>
                <a:latin typeface="Graphik"/>
              </a:rPr>
              <a:t>Capacidad pequeña, apalancamiento desproporcionado — features flag y UUIDs distribuidos hacen posible una migración incremental y reversible: enruta un porcentaje del tráfico, rastrearlo, revertir sin liberación.</a:t>
            </a:r>
          </a:p>
        </p:txBody>
      </p:sp>
      <p:sp>
        <p:nvSpPr>
          <p:cNvPr id="114" name="Card Common Business Services"/>
          <p:cNvSpPr/>
          <p:nvPr/>
        </p:nvSpPr>
        <p:spPr>
          <a:xfrm>
            <a:off x="6141000" y="5096796"/>
            <a:ext cx="2790500" cy="1343000"/>
          </a:xfrm>
          <a:prstGeom prst="roundRect">
            <a:avLst>
              <a:gd name="adj" fmla="val 4000"/>
            </a:avLst>
          </a:prstGeom>
          <a:solidFill>
            <a:schemeClr val="bg2"/>
          </a:solidFill>
          <a:ln w="9525">
            <a:solidFill>
              <a:srgbClr val="7500C0"/>
            </a:solidFill>
          </a:ln>
        </p:spPr>
        <p:txBody>
          <a:bodyPr lIns="90000" tIns="54000" rIns="90000" bIns="54000" rtlCol="0" anchor="t">
            <a:noAutofit/>
          </a:bodyPr>
          <a:lstStyle/>
          <a:p>
            <a:pPr marL="0" marR="0" algn="l">
              <a:lnSpc>
                <a:spcPct val="98000"/>
              </a:lnSpc>
              <a:spcAft>
                <a:spcPts val="200"/>
              </a:spcAft>
            </a:pPr>
            <a:r>
              <a:rPr lang="es" sz="700" b="1" dirty="0">
                <a:solidFill>
                  <a:srgbClr val="7500C0"/>
                </a:solidFill>
                <a:latin typeface="Graphik"/>
              </a:rPr>
              <a:t>Servicios Empresariales Comunes</a:t>
            </a:r>
          </a:p>
          <a:p>
            <a:pPr marL="0" algn="l">
              <a:lnSpc>
                <a:spcPct val="96000"/>
              </a:lnSpc>
              <a:spcAft>
                <a:spcPts val="300"/>
              </a:spcAft>
            </a:pPr>
            <a:r>
              <a:rPr lang="es" sz="700" dirty="0">
                <a:solidFill>
                  <a:srgbClr val="1A1A1A"/>
                </a:solidFill>
                <a:latin typeface="Graphik"/>
              </a:rPr>
              <a:t>Servicios empresariales horizontales estandarizados y reutilizables — datos de clientes, catálogo de productos, tarifas/precios, límites, divisas, contabilidad, documentos, pagos, puntuación de riesgos, aprobaciones.</a:t>
            </a:r>
          </a:p>
          <a:p>
            <a:pPr marL="0" algn="l"/>
            <a:r>
              <a:rPr lang="es" sz="700" b="1" dirty="0">
                <a:solidFill>
                  <a:srgbClr val="7500C0"/>
                </a:solidFill>
                <a:latin typeface="Graphik"/>
              </a:rPr>
              <a:t>Propósito  </a:t>
            </a:r>
            <a:r>
              <a:rPr lang="es" sz="700" i="1" dirty="0">
                <a:solidFill>
                  <a:srgbClr val="404040"/>
                </a:solidFill>
                <a:latin typeface="Graphik"/>
              </a:rPr>
              <a:t>Convierte la interoperabilidad en coexistencia estructural: convertir funciones entre productos en servicios compartidos reduce el riesgo de reemplazo de núcleos y impide reimplementar la misma lógica por producto.</a:t>
            </a:r>
          </a:p>
        </p:txBody>
      </p:sp>
      <p:sp>
        <p:nvSpPr>
          <p:cNvPr id="6" name="K 103">
            <a:extLst>
              <a:ext uri="{FF2B5EF4-FFF2-40B4-BE49-F238E27FC236}">
                <a16:creationId xmlns:a16="http://schemas.microsoft.com/office/drawing/2014/main" id="{FB341AF8-16A4-FF9C-78B5-A4CD3B5AC7BE}"/>
              </a:ext>
            </a:extLst>
          </p:cNvPr>
          <p:cNvSpPr/>
          <p:nvPr/>
        </p:nvSpPr>
        <p:spPr>
          <a:xfrm>
            <a:off x="2964622"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9" name="K 103">
            <a:extLst>
              <a:ext uri="{FF2B5EF4-FFF2-40B4-BE49-F238E27FC236}">
                <a16:creationId xmlns:a16="http://schemas.microsoft.com/office/drawing/2014/main" id="{9EC9F281-3ABC-2465-0517-6946FB46C289}"/>
              </a:ext>
            </a:extLst>
          </p:cNvPr>
          <p:cNvSpPr/>
          <p:nvPr/>
        </p:nvSpPr>
        <p:spPr>
          <a:xfrm>
            <a:off x="5836250" y="2352891"/>
            <a:ext cx="180000" cy="180000"/>
          </a:xfrm>
          <a:prstGeom prst="ellipse">
            <a:avLst/>
          </a:prstGeom>
          <a:solidFill>
            <a:srgbClr val="C00000"/>
          </a:solidFill>
          <a:ln>
            <a:noFill/>
          </a:ln>
        </p:spPr>
        <p:txBody>
          <a:bodyPr lIns="0" tIns="0" rIns="0" bIns="0" rtlCol="0" anchor="ctr"/>
          <a:lstStyle/>
          <a:p>
            <a:pPr algn="ctr"/>
            <a:r>
              <a:rPr lang="es" sz="700" b="1">
                <a:solidFill>
                  <a:srgbClr val="FFFFFF"/>
                </a:solidFill>
                <a:latin typeface="Graphik"/>
              </a:rPr>
              <a:t>K</a:t>
            </a:r>
          </a:p>
        </p:txBody>
      </p:sp>
      <p:sp>
        <p:nvSpPr>
          <p:cNvPr id="5" name="TextBox 4">
            <a:extLst>
              <a:ext uri="{FF2B5EF4-FFF2-40B4-BE49-F238E27FC236}">
                <a16:creationId xmlns:a16="http://schemas.microsoft.com/office/drawing/2014/main" id="{D1438A92-E251-4AEB-F268-663AFC1C891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350161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EB98F-D643-E505-B397-39441E3009A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CB0098E1-D70D-0F5E-4CBF-1197AC4207F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0FC5D81-7ED7-3966-F0AF-36DCB461A92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21367F5-B95A-3B63-E9EC-7C0BCE1EE9AD}"/>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13C497A-B0E7-49E0-0CBC-F450A87AAC5F}"/>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CA4C529A-539C-A69A-B103-750E4051FD68}"/>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F7DEF7FE-351C-4EE3-C78E-00739904D584}"/>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9BA047CD-5906-0F12-281F-CF9240792CA0}"/>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340CA33A-5B94-8D9C-20FC-027A05294F68}"/>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CB95C51B-525C-5CEE-A78E-67397BF51BA5}"/>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36347D7-0532-6AFB-0295-3FF98C4E8BCD}"/>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F94ECCCA-A8DF-8D57-2A13-90E37F52EE61}"/>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946BA9E7-7AF1-6A04-6E69-E667C50FE043}"/>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874C461D-4265-656E-E53D-34088ABB90E5}"/>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C9B9EA20-852C-4590-B313-02E661064F1C}"/>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05C95DBF-C5BC-145D-B0EB-22C74629C197}"/>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0836421E-9CFD-E658-B950-92C7C8F7D8A0}"/>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10461C46-1EB4-D396-7EFE-23161503560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AAEB0676-C8FC-7E44-2811-BC3FCF8C53BD}"/>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B3A3F12B-0403-9650-918D-B388117AD3B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EDC30666-9B0B-BC32-4795-3F11538F724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969B9B0A-3415-C5BC-C02A-6FA49CE4CF00}"/>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CA2BC914-DA75-7F8E-FED9-0E3263E9922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786A7A20-FDBE-1470-5AFD-A81466D730E0}"/>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A888B3F7-DEFA-4279-7354-ECC34CE8F6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6843DFE3-052B-062E-CC7C-5C7C3295823B}"/>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253A097E-B29B-0263-6B7C-4C7F0537209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F924C1F2-FE2E-2D8B-6904-542A9546F6DF}"/>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59" name="Rectangle 58">
            <a:extLst>
              <a:ext uri="{FF2B5EF4-FFF2-40B4-BE49-F238E27FC236}">
                <a16:creationId xmlns:a16="http://schemas.microsoft.com/office/drawing/2014/main" id="{94225A38-F335-E3FC-2F01-EBEAA3D47CA0}"/>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n-US" sz="800" dirty="0" err="1"/>
              <a:t>Aplicaciones</a:t>
            </a:r>
            <a:r>
              <a:rPr lang="en-US" sz="800" dirty="0"/>
              <a:t> </a:t>
            </a:r>
            <a:r>
              <a:rPr lang="en-US" sz="800" dirty="0" err="1"/>
              <a:t>Interoperables</a:t>
            </a:r>
            <a:endParaRPr lang="es" sz="800" dirty="0"/>
          </a:p>
        </p:txBody>
      </p:sp>
      <p:sp>
        <p:nvSpPr>
          <p:cNvPr id="15" name="Rectangle 14">
            <a:extLst>
              <a:ext uri="{FF2B5EF4-FFF2-40B4-BE49-F238E27FC236}">
                <a16:creationId xmlns:a16="http://schemas.microsoft.com/office/drawing/2014/main" id="{C60E84CA-54FB-56D1-34E6-54FA7E23A742}"/>
              </a:ext>
            </a:extLst>
          </p:cNvPr>
          <p:cNvSpPr/>
          <p:nvPr/>
        </p:nvSpPr>
        <p:spPr>
          <a:xfrm>
            <a:off x="2236867" y="-64657"/>
            <a:ext cx="7630615" cy="523220"/>
          </a:xfrm>
          <a:prstGeom prst="rect">
            <a:avLst/>
          </a:prstGeom>
          <a:noFill/>
        </p:spPr>
        <p:txBody>
          <a:bodyPr wrap="none" lIns="91440" tIns="45720" rIns="91440" bIns="45720">
            <a:spAutoFit/>
          </a:bodyPr>
          <a:lstStyle/>
          <a:p>
            <a:pPr algn="ct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Identificar</a:t>
            </a:r>
            <a:r>
              <a:rPr lang="en-US" sz="2800" b="1" dirty="0">
                <a:ln w="9525">
                  <a:solidFill>
                    <a:schemeClr val="bg1"/>
                  </a:solidFill>
                  <a:prstDash val="solid"/>
                </a:ln>
                <a:solidFill>
                  <a:srgbClr val="FF0000"/>
                </a:solidFill>
                <a:effectLst>
                  <a:outerShdw blurRad="12700" dist="38100" dir="2700000" algn="tl" rotWithShape="0">
                    <a:schemeClr val="bg1">
                      <a:lumMod val="50000"/>
                    </a:schemeClr>
                  </a:outerShdw>
                </a:effectLst>
              </a:rPr>
              <a:t> Anexo 5 APP </a:t>
            </a:r>
            <a:r>
              <a:rPr lang="en-US" sz="2800" b="1" dirty="0" err="1">
                <a:ln w="9525">
                  <a:solidFill>
                    <a:schemeClr val="bg1"/>
                  </a:solidFill>
                  <a:prstDash val="solid"/>
                </a:ln>
                <a:solidFill>
                  <a:srgbClr val="FF0000"/>
                </a:solidFill>
                <a:effectLst>
                  <a:outerShdw blurRad="12700" dist="38100" dir="2700000" algn="tl" rotWithShape="0">
                    <a:schemeClr val="bg1">
                      <a:lumMod val="50000"/>
                    </a:schemeClr>
                  </a:outerShdw>
                </a:effectLst>
              </a:rPr>
              <a:t>interoperabilidad</a:t>
            </a:r>
            <a:endParaRPr lang="en-US" sz="2800" b="1" cap="none" spc="0" dirty="0">
              <a:ln w="9525">
                <a:solidFill>
                  <a:schemeClr val="bg1"/>
                </a:solidFill>
                <a:prstDash val="solid"/>
              </a:ln>
              <a:solidFill>
                <a:srgbClr val="FF0000"/>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953111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E53B4-0188-B927-8FCA-B52518F01B6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4B02E79-7613-547C-7967-AFD1BF3A46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F3932B04-E3A8-6E7A-A7B2-A90EDC551661}"/>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2B072B9D-0BAE-CDA9-BA1E-B0884325C786}"/>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DA26D1B7-7B3A-F2C0-EE5E-4695B8AB2DE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A11F4702-7211-923C-DD10-6D8B7B05CCA3}"/>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E3F1D747-F3FC-A28C-E57D-74AC06EBF97F}"/>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7FBCD96B-4F48-125F-4731-D1C3719BCF49}"/>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A81F6335-196B-5EBF-9D65-02588BEFCCE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F93BF2AF-F579-5D71-9137-31DBD377BE73}"/>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4FA5D375-C234-BDD8-E438-00A3096C700F}"/>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3D9CDD56-0B9A-D725-5A5B-9D6DE4F342E0}"/>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B2BB0E28-FE4D-C5E8-B43A-892E743E8CE8}"/>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1F31D55D-4E31-D278-C98B-E597C0502973}"/>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1852EE41-69B4-780A-585C-34FFAA6C0BE7}"/>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B85E3A06-55CC-ED57-A58F-D08363F6EDA1}"/>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6D18569-1BA2-A2B3-8885-4CBF14768A0D}"/>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5E6A302B-3AF0-3965-6038-8B76EC494477}"/>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8648BB0B-D544-1E7C-FE0E-1BA30891B67F}"/>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8CBC1C85-15FF-11E5-A24A-BAEDE3FDAE4E}"/>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2F14D8F-E04A-DC63-EA10-93CB9973F8E4}"/>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B2614243-10D9-74EC-11E8-78D8B74609A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0EC9F0DE-E9D4-F702-90EB-0E1DA29756B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BAF4C1EA-DFD3-2326-E0CA-092FFA075EAF}"/>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CEE6629D-F27D-9B7C-36AC-7792FCD55924}"/>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D8676DA-7016-DD9F-F2A6-342FECC9BF18}"/>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71E4B5E-E1E5-FB41-73BC-E1062E712322}"/>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884E96AC-DB48-3475-4D53-B9BE1B22ABCE}"/>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F2966107-D6DA-6370-D85E-14EFFC8C61B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8BECA29C-B35D-FE0A-1B31-0CB4E79138E7}"/>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A3E4DA82-CDCE-D80D-3748-D8DF21B58E3C}"/>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4CE2D40E-B701-0371-B7BC-D984E93868FF}"/>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8A7C838B-E2B0-350C-1380-ADE78CBF2CD2}"/>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57" name="Rectangle 56">
            <a:extLst>
              <a:ext uri="{FF2B5EF4-FFF2-40B4-BE49-F238E27FC236}">
                <a16:creationId xmlns:a16="http://schemas.microsoft.com/office/drawing/2014/main" id="{6EC1B125-E73B-1921-0865-21C836C32400}"/>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(migrar)</a:t>
            </a:r>
          </a:p>
        </p:txBody>
      </p:sp>
      <p:sp>
        <p:nvSpPr>
          <p:cNvPr id="64" name="Rectangle 63">
            <a:extLst>
              <a:ext uri="{FF2B5EF4-FFF2-40B4-BE49-F238E27FC236}">
                <a16:creationId xmlns:a16="http://schemas.microsoft.com/office/drawing/2014/main" id="{BDC3DD9A-4EAF-9873-536C-3B57E2AFB3C3}"/>
              </a:ext>
            </a:extLst>
          </p:cNvPr>
          <p:cNvSpPr/>
          <p:nvPr/>
        </p:nvSpPr>
        <p:spPr>
          <a:xfrm>
            <a:off x="3878087" y="2967335"/>
            <a:ext cx="4435831" cy="923330"/>
          </a:xfrm>
          <a:prstGeom prst="rect">
            <a:avLst/>
          </a:prstGeom>
          <a:noFill/>
        </p:spPr>
        <p:txBody>
          <a:bodyPr wrap="none" lIns="91440" tIns="45720" rIns="91440" bIns="45720">
            <a:spAutoFit/>
          </a:bodyPr>
          <a:lstStyle/>
          <a:p>
            <a:pPr algn="ct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Slide Lukasz</a:t>
            </a:r>
          </a:p>
        </p:txBody>
      </p:sp>
    </p:spTree>
    <p:extLst>
      <p:ext uri="{BB962C8B-B14F-4D97-AF65-F5344CB8AC3E}">
        <p14:creationId xmlns:p14="http://schemas.microsoft.com/office/powerpoint/2010/main" val="34121958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0409D-7CDF-CCC9-479F-B0A195F751A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FB00FA76-76A5-ABB5-5FE2-1331C61CBB1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1D2095FD-05DF-6972-B4FC-BE89CBD25350}"/>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3F2E0D37-E93D-BA6E-73A4-DBEA543AE1A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Mapa de capacidades Nivel 0</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35CAF95D-6B8C-9E94-196D-EA7492D1E889}"/>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3B684265-D6EA-71E2-2302-A84E24488B51}"/>
              </a:ext>
            </a:extLst>
          </p:cNvPr>
          <p:cNvSpPr/>
          <p:nvPr/>
        </p:nvSpPr>
        <p:spPr>
          <a:xfrm>
            <a:off x="1897863" y="961183"/>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DD7C210E-F88A-72DC-6329-5111E0A784A0}"/>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EE7889EA-B7F8-3755-8A1D-261AE1A57D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6F1D8B91-F8E9-DA72-D6BE-BCB1B0F3579D}"/>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BE853095-31D2-82AE-9172-982352C07FA0}"/>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C5FA8029-4F87-E423-C7C5-81395BDB8DAC}"/>
              </a:ext>
            </a:extLst>
          </p:cNvPr>
          <p:cNvSpPr/>
          <p:nvPr/>
        </p:nvSpPr>
        <p:spPr>
          <a:xfrm>
            <a:off x="3166592" y="3442991"/>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45F0B9D3-6C9E-7BA7-31DD-AC943E23A694}"/>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2331BFAC-4582-D6C2-0B9D-7B9423776C12}"/>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4348B68A-460A-7E8D-CF03-2C9D148C9E4B}"/>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E5B10B80-9089-6A7E-DEA3-35568C4227A4}"/>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6" name="Oval 35">
            <a:extLst>
              <a:ext uri="{FF2B5EF4-FFF2-40B4-BE49-F238E27FC236}">
                <a16:creationId xmlns:a16="http://schemas.microsoft.com/office/drawing/2014/main" id="{C4ADD5A6-387B-A6A8-FBEF-25F80ABC7914}"/>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C321EF74-2630-8D79-2E16-83A3B6DB51E5}"/>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952237D2-2F4C-2D59-422B-EF7D4BF0F35F}"/>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4DAAAD8E-B9F3-9108-D1A1-C81AAAAA5191}"/>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grpSp>
        <p:nvGrpSpPr>
          <p:cNvPr id="10" name="Group 9">
            <a:extLst>
              <a:ext uri="{FF2B5EF4-FFF2-40B4-BE49-F238E27FC236}">
                <a16:creationId xmlns:a16="http://schemas.microsoft.com/office/drawing/2014/main" id="{A715F0A8-9A07-D1F4-8E94-E69505C8BC4F}"/>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10CE7E30-FB49-87C3-6315-6BA117E30961}"/>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1DDAE80A-3BE9-F699-2356-053B41867887}"/>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286BB76A-3F9B-D1F9-6950-D3BDD77F566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6DCA3CFE-F1DB-D7D2-950A-21687A44241E}"/>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287C8FB2-D5DE-6280-FB13-34069B176F48}"/>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1B0E70EF-BC92-62AA-DBAC-D832C206422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9" name="TextBox 8">
            <a:extLst>
              <a:ext uri="{FF2B5EF4-FFF2-40B4-BE49-F238E27FC236}">
                <a16:creationId xmlns:a16="http://schemas.microsoft.com/office/drawing/2014/main" id="{DFDF29F5-8E30-A006-0773-586224C86D4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dirty="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2" action="ppaction://hlinksldjump"/>
            <a:extLst>
              <a:ext uri="{FF2B5EF4-FFF2-40B4-BE49-F238E27FC236}">
                <a16:creationId xmlns:a16="http://schemas.microsoft.com/office/drawing/2014/main" id="{BFFD0609-C65D-3873-A3BC-E3A639D41C59}"/>
              </a:ext>
            </a:extLst>
          </p:cNvPr>
          <p:cNvPicPr>
            <a:picLocks noChangeAspect="1" noChangeArrowheads="1"/>
          </p:cNvPicPr>
          <p:nvPr/>
        </p:nvPicPr>
        <p:blipFill rotWithShape="1">
          <a:blip r:embed="rId3" cstate="hqprint">
            <a:duotone>
              <a:schemeClr val="accent2">
                <a:shade val="45000"/>
                <a:satMod val="135000"/>
              </a:schemeClr>
              <a:prstClr val="white"/>
            </a:duotone>
            <a:extLst>
              <a:ext uri="{BEBA8EAE-BF5A-486C-A8C5-ECC9F3942E4B}">
                <a14:imgProps xmlns:a14="http://schemas.microsoft.com/office/drawing/2010/main">
                  <a14:imgLayer r:embed="rId4">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2" name="Rectangle 11">
            <a:extLst>
              <a:ext uri="{FF2B5EF4-FFF2-40B4-BE49-F238E27FC236}">
                <a16:creationId xmlns:a16="http://schemas.microsoft.com/office/drawing/2014/main" id="{E8896A5D-E29D-1A23-6B60-D2B3121BA6F9}"/>
              </a:ext>
            </a:extLst>
          </p:cNvPr>
          <p:cNvSpPr/>
          <p:nvPr/>
        </p:nvSpPr>
        <p:spPr>
          <a:xfrm>
            <a:off x="9088387" y="17342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Realizar transacciones internas</a:t>
            </a:r>
          </a:p>
        </p:txBody>
      </p:sp>
      <p:sp>
        <p:nvSpPr>
          <p:cNvPr id="14" name="Rectangle 13">
            <a:extLst>
              <a:ext uri="{FF2B5EF4-FFF2-40B4-BE49-F238E27FC236}">
                <a16:creationId xmlns:a16="http://schemas.microsoft.com/office/drawing/2014/main" id="{0A76888A-9AEE-CF3B-F48A-77C83B5D34C9}"/>
              </a:ext>
            </a:extLst>
          </p:cNvPr>
          <p:cNvSpPr/>
          <p:nvPr/>
        </p:nvSpPr>
        <p:spPr>
          <a:xfrm>
            <a:off x="3272833" y="284306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dirty="0"/>
              <a:t>Origen de Apolo</a:t>
            </a:r>
          </a:p>
        </p:txBody>
      </p:sp>
      <p:sp>
        <p:nvSpPr>
          <p:cNvPr id="16" name="Rectangle 15">
            <a:extLst>
              <a:ext uri="{FF2B5EF4-FFF2-40B4-BE49-F238E27FC236}">
                <a16:creationId xmlns:a16="http://schemas.microsoft.com/office/drawing/2014/main" id="{07FCFF0D-17F3-2F1A-9518-4788968EAB86}"/>
              </a:ext>
            </a:extLst>
          </p:cNvPr>
          <p:cNvSpPr/>
          <p:nvPr/>
        </p:nvSpPr>
        <p:spPr>
          <a:xfrm>
            <a:off x="3272833" y="5577732"/>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Sincronización de datos de clientes</a:t>
            </a:r>
            <a:endParaRPr lang="en-US" sz="800"/>
          </a:p>
        </p:txBody>
      </p:sp>
      <p:sp>
        <p:nvSpPr>
          <p:cNvPr id="18" name="Rectangle 17">
            <a:extLst>
              <a:ext uri="{FF2B5EF4-FFF2-40B4-BE49-F238E27FC236}">
                <a16:creationId xmlns:a16="http://schemas.microsoft.com/office/drawing/2014/main" id="{A9847621-B9CC-93DF-CD27-182686AD28A9}"/>
              </a:ext>
            </a:extLst>
          </p:cNvPr>
          <p:cNvSpPr/>
          <p:nvPr/>
        </p:nvSpPr>
        <p:spPr>
          <a:xfrm>
            <a:off x="3288116" y="3795918"/>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Amortizar préstamos Pisa-&gt; Trasnact</a:t>
            </a:r>
            <a:endParaRPr lang="en-US" sz="800"/>
          </a:p>
        </p:txBody>
      </p:sp>
      <p:sp>
        <p:nvSpPr>
          <p:cNvPr id="20" name="Rectangle 19">
            <a:extLst>
              <a:ext uri="{FF2B5EF4-FFF2-40B4-BE49-F238E27FC236}">
                <a16:creationId xmlns:a16="http://schemas.microsoft.com/office/drawing/2014/main" id="{CBFBC529-1644-2543-E4D2-920FEA409697}"/>
              </a:ext>
            </a:extLst>
          </p:cNvPr>
          <p:cNvSpPr/>
          <p:nvPr/>
        </p:nvSpPr>
        <p:spPr>
          <a:xfrm>
            <a:off x="1145583" y="6347453"/>
            <a:ext cx="914400" cy="4015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800"/>
              <a:t>Potenciales casos de uso</a:t>
            </a:r>
          </a:p>
        </p:txBody>
      </p:sp>
      <p:sp>
        <p:nvSpPr>
          <p:cNvPr id="11" name="Rectangle 10">
            <a:extLst>
              <a:ext uri="{FF2B5EF4-FFF2-40B4-BE49-F238E27FC236}">
                <a16:creationId xmlns:a16="http://schemas.microsoft.com/office/drawing/2014/main" id="{112648E3-5643-69A6-1D63-9FE790C172ED}"/>
              </a:ext>
            </a:extLst>
          </p:cNvPr>
          <p:cNvSpPr/>
          <p:nvPr/>
        </p:nvSpPr>
        <p:spPr>
          <a:xfrm>
            <a:off x="1997154" y="1531004"/>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22" name="Rectangle 21">
            <a:extLst>
              <a:ext uri="{FF2B5EF4-FFF2-40B4-BE49-F238E27FC236}">
                <a16:creationId xmlns:a16="http://schemas.microsoft.com/office/drawing/2014/main" id="{0FAD632A-8270-F39C-A26C-A23C364B50E0}"/>
              </a:ext>
            </a:extLst>
          </p:cNvPr>
          <p:cNvSpPr/>
          <p:nvPr/>
        </p:nvSpPr>
        <p:spPr>
          <a:xfrm>
            <a:off x="4341213"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OFI (deprecar)</a:t>
            </a:r>
          </a:p>
        </p:txBody>
      </p:sp>
      <p:sp>
        <p:nvSpPr>
          <p:cNvPr id="40" name="Rectangle 39">
            <a:extLst>
              <a:ext uri="{FF2B5EF4-FFF2-40B4-BE49-F238E27FC236}">
                <a16:creationId xmlns:a16="http://schemas.microsoft.com/office/drawing/2014/main" id="{B4027EDC-D3E5-3BD6-2127-C9FE374E8FCF}"/>
              </a:ext>
            </a:extLst>
          </p:cNvPr>
          <p:cNvSpPr/>
          <p:nvPr/>
        </p:nvSpPr>
        <p:spPr>
          <a:xfrm>
            <a:off x="7807299" y="2843068"/>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APP Bancoppel (mantener)</a:t>
            </a:r>
          </a:p>
        </p:txBody>
      </p:sp>
      <p:sp>
        <p:nvSpPr>
          <p:cNvPr id="45" name="Rectangle 44">
            <a:extLst>
              <a:ext uri="{FF2B5EF4-FFF2-40B4-BE49-F238E27FC236}">
                <a16:creationId xmlns:a16="http://schemas.microsoft.com/office/drawing/2014/main" id="{67A5E09F-EEBA-89E3-D97B-6F52BF11447C}"/>
              </a:ext>
            </a:extLst>
          </p:cNvPr>
          <p:cNvSpPr/>
          <p:nvPr/>
        </p:nvSpPr>
        <p:spPr>
          <a:xfrm>
            <a:off x="5353098" y="293805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SIWEB (deprecar)</a:t>
            </a:r>
          </a:p>
        </p:txBody>
      </p:sp>
      <p:sp>
        <p:nvSpPr>
          <p:cNvPr id="47" name="Rectangle 46">
            <a:extLst>
              <a:ext uri="{FF2B5EF4-FFF2-40B4-BE49-F238E27FC236}">
                <a16:creationId xmlns:a16="http://schemas.microsoft.com/office/drawing/2014/main" id="{3CE3E2A1-390A-C389-349D-460E74ED5F87}"/>
              </a:ext>
            </a:extLst>
          </p:cNvPr>
          <p:cNvSpPr/>
          <p:nvPr/>
        </p:nvSpPr>
        <p:spPr>
          <a:xfrm>
            <a:off x="6364983" y="2947862"/>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49" name="Rectangle 48">
            <a:extLst>
              <a:ext uri="{FF2B5EF4-FFF2-40B4-BE49-F238E27FC236}">
                <a16:creationId xmlns:a16="http://schemas.microsoft.com/office/drawing/2014/main" id="{A674F534-FE99-364F-37A8-F7399CD41216}"/>
              </a:ext>
            </a:extLst>
          </p:cNvPr>
          <p:cNvSpPr/>
          <p:nvPr/>
        </p:nvSpPr>
        <p:spPr>
          <a:xfrm>
            <a:off x="3325789" y="4667634"/>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SPEI (invertir)</a:t>
            </a:r>
          </a:p>
        </p:txBody>
      </p:sp>
      <p:sp>
        <p:nvSpPr>
          <p:cNvPr id="51" name="Rectangle 50">
            <a:extLst>
              <a:ext uri="{FF2B5EF4-FFF2-40B4-BE49-F238E27FC236}">
                <a16:creationId xmlns:a16="http://schemas.microsoft.com/office/drawing/2014/main" id="{D7FDB399-CB8E-B44C-0C44-37FEA8D26EA6}"/>
              </a:ext>
            </a:extLst>
          </p:cNvPr>
          <p:cNvSpPr/>
          <p:nvPr/>
        </p:nvSpPr>
        <p:spPr>
          <a:xfrm>
            <a:off x="4348969" y="4656163"/>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3" name="Rectangle 52">
            <a:extLst>
              <a:ext uri="{FF2B5EF4-FFF2-40B4-BE49-F238E27FC236}">
                <a16:creationId xmlns:a16="http://schemas.microsoft.com/office/drawing/2014/main" id="{1C2D229C-3B92-B55E-B3D0-3D08B16C28A4}"/>
              </a:ext>
            </a:extLst>
          </p:cNvPr>
          <p:cNvSpPr/>
          <p:nvPr/>
        </p:nvSpPr>
        <p:spPr>
          <a:xfrm>
            <a:off x="7716707" y="5548213"/>
            <a:ext cx="9144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Bajaware (deprecar)</a:t>
            </a:r>
          </a:p>
        </p:txBody>
      </p:sp>
      <p:sp>
        <p:nvSpPr>
          <p:cNvPr id="55" name="Rectangle 54">
            <a:extLst>
              <a:ext uri="{FF2B5EF4-FFF2-40B4-BE49-F238E27FC236}">
                <a16:creationId xmlns:a16="http://schemas.microsoft.com/office/drawing/2014/main" id="{B23FFAA5-9DE9-B73B-6EE2-C1DA98462D3C}"/>
              </a:ext>
            </a:extLst>
          </p:cNvPr>
          <p:cNvSpPr/>
          <p:nvPr/>
        </p:nvSpPr>
        <p:spPr>
          <a:xfrm>
            <a:off x="5452061" y="5560736"/>
            <a:ext cx="876727" cy="316035"/>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 sz="800" dirty="0"/>
              <a:t>OnBase (invertir)</a:t>
            </a:r>
          </a:p>
        </p:txBody>
      </p:sp>
      <p:sp>
        <p:nvSpPr>
          <p:cNvPr id="57" name="Rectangle 56">
            <a:extLst>
              <a:ext uri="{FF2B5EF4-FFF2-40B4-BE49-F238E27FC236}">
                <a16:creationId xmlns:a16="http://schemas.microsoft.com/office/drawing/2014/main" id="{E36D4977-A99B-A9C4-2DC1-65E035E9AF81}"/>
              </a:ext>
            </a:extLst>
          </p:cNvPr>
          <p:cNvSpPr/>
          <p:nvPr/>
        </p:nvSpPr>
        <p:spPr>
          <a:xfrm>
            <a:off x="7383999" y="4645792"/>
            <a:ext cx="1247108" cy="316035"/>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Consulta RENAPO</a:t>
            </a:r>
          </a:p>
          <a:p>
            <a:pPr algn="ctr"/>
            <a:r>
              <a:rPr lang="es" sz="800" dirty="0"/>
              <a:t> (transformar)</a:t>
            </a:r>
          </a:p>
        </p:txBody>
      </p:sp>
      <p:sp>
        <p:nvSpPr>
          <p:cNvPr id="59" name="Rectangle 58">
            <a:extLst>
              <a:ext uri="{FF2B5EF4-FFF2-40B4-BE49-F238E27FC236}">
                <a16:creationId xmlns:a16="http://schemas.microsoft.com/office/drawing/2014/main" id="{65B61807-7C73-6E8F-DC47-532F020B31F2}"/>
              </a:ext>
            </a:extLst>
          </p:cNvPr>
          <p:cNvSpPr/>
          <p:nvPr/>
        </p:nvSpPr>
        <p:spPr>
          <a:xfrm>
            <a:off x="2288754" y="6345994"/>
            <a:ext cx="1080000" cy="401540"/>
          </a:xfrm>
          <a:prstGeom prst="rect">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tIns="91440" bIns="91440" rtlCol="0" anchor="ctr"/>
          <a:lstStyle/>
          <a:p>
            <a:pPr algn="ctr"/>
            <a:r>
              <a:rPr lang="es-ES" sz="800" dirty="0"/>
              <a:t>C</a:t>
            </a:r>
            <a:r>
              <a:rPr lang="es" sz="800" dirty="0"/>
              <a:t>ruzan capacidades con APO/Anexo</a:t>
            </a:r>
          </a:p>
        </p:txBody>
      </p:sp>
      <p:sp>
        <p:nvSpPr>
          <p:cNvPr id="61" name="Rectangle 60">
            <a:extLst>
              <a:ext uri="{FF2B5EF4-FFF2-40B4-BE49-F238E27FC236}">
                <a16:creationId xmlns:a16="http://schemas.microsoft.com/office/drawing/2014/main" id="{565EB67C-4E35-3DB5-9AD5-A78B76FC706A}"/>
              </a:ext>
            </a:extLst>
          </p:cNvPr>
          <p:cNvSpPr/>
          <p:nvPr/>
        </p:nvSpPr>
        <p:spPr>
          <a:xfrm>
            <a:off x="3406975" y="6345994"/>
            <a:ext cx="1018889"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Cruza parcialmente con APO /Anexo</a:t>
            </a:r>
          </a:p>
        </p:txBody>
      </p:sp>
      <p:sp>
        <p:nvSpPr>
          <p:cNvPr id="63" name="Rectangle 62">
            <a:extLst>
              <a:ext uri="{FF2B5EF4-FFF2-40B4-BE49-F238E27FC236}">
                <a16:creationId xmlns:a16="http://schemas.microsoft.com/office/drawing/2014/main" id="{00D5E00B-5B2B-4330-4674-50A4901BE38A}"/>
              </a:ext>
            </a:extLst>
          </p:cNvPr>
          <p:cNvSpPr/>
          <p:nvPr/>
        </p:nvSpPr>
        <p:spPr>
          <a:xfrm>
            <a:off x="782375" y="1483173"/>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WS-RSA (invertir)</a:t>
            </a:r>
          </a:p>
        </p:txBody>
      </p:sp>
      <p:sp>
        <p:nvSpPr>
          <p:cNvPr id="13" name="Rectangle 12">
            <a:extLst>
              <a:ext uri="{FF2B5EF4-FFF2-40B4-BE49-F238E27FC236}">
                <a16:creationId xmlns:a16="http://schemas.microsoft.com/office/drawing/2014/main" id="{01DA13C9-B30C-989B-65BA-9F1226A6A555}"/>
              </a:ext>
            </a:extLst>
          </p:cNvPr>
          <p:cNvSpPr/>
          <p:nvPr/>
        </p:nvSpPr>
        <p:spPr>
          <a:xfrm>
            <a:off x="792406" y="2091032"/>
            <a:ext cx="914400"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WS-AMY (mantener)</a:t>
            </a:r>
          </a:p>
        </p:txBody>
      </p:sp>
      <p:sp>
        <p:nvSpPr>
          <p:cNvPr id="17" name="Rectangle 16">
            <a:extLst>
              <a:ext uri="{FF2B5EF4-FFF2-40B4-BE49-F238E27FC236}">
                <a16:creationId xmlns:a16="http://schemas.microsoft.com/office/drawing/2014/main" id="{ACBE4244-E974-22D3-B925-6F5034A8A6D8}"/>
              </a:ext>
            </a:extLst>
          </p:cNvPr>
          <p:cNvSpPr/>
          <p:nvPr/>
        </p:nvSpPr>
        <p:spPr>
          <a:xfrm>
            <a:off x="775319" y="2689778"/>
            <a:ext cx="935313" cy="401540"/>
          </a:xfrm>
          <a:prstGeom prst="rect">
            <a:avLst/>
          </a:prstGeom>
          <a:ln/>
        </p:spPr>
        <p:style>
          <a:lnRef idx="1">
            <a:schemeClr val="dk1"/>
          </a:lnRef>
          <a:fillRef idx="2">
            <a:schemeClr val="dk1"/>
          </a:fillRef>
          <a:effectRef idx="1">
            <a:schemeClr val="dk1"/>
          </a:effectRef>
          <a:fontRef idx="minor">
            <a:schemeClr val="dk1"/>
          </a:fontRef>
        </p:style>
        <p:txBody>
          <a:bodyPr tIns="91440" bIns="91440" rtlCol="0" anchor="ctr"/>
          <a:lstStyle/>
          <a:p>
            <a:pPr algn="ctr"/>
            <a:r>
              <a:rPr lang="es" sz="800" dirty="0"/>
              <a:t>Administracion Token</a:t>
            </a:r>
          </a:p>
          <a:p>
            <a:pPr algn="ctr"/>
            <a:r>
              <a:rPr lang="es" sz="800" dirty="0"/>
              <a:t>(transformar)</a:t>
            </a:r>
          </a:p>
        </p:txBody>
      </p:sp>
      <p:sp>
        <p:nvSpPr>
          <p:cNvPr id="15" name="Rectangle 14">
            <a:extLst>
              <a:ext uri="{FF2B5EF4-FFF2-40B4-BE49-F238E27FC236}">
                <a16:creationId xmlns:a16="http://schemas.microsoft.com/office/drawing/2014/main" id="{31D16F28-8F17-8158-9DF8-9E9FBAF330AE}"/>
              </a:ext>
            </a:extLst>
          </p:cNvPr>
          <p:cNvSpPr/>
          <p:nvPr/>
        </p:nvSpPr>
        <p:spPr>
          <a:xfrm>
            <a:off x="413355" y="394538"/>
            <a:ext cx="10261142"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Cruce Anexo 5 vs </a:t>
            </a:r>
            <a:r>
              <a:rPr lang="en-US" sz="5400" b="1" dirty="0" err="1">
                <a:ln w="9525">
                  <a:solidFill>
                    <a:schemeClr val="bg1"/>
                  </a:solidFill>
                  <a:prstDash val="solid"/>
                </a:ln>
                <a:effectLst>
                  <a:outerShdw blurRad="12700" dist="38100" dir="2700000" algn="tl" rotWithShape="0">
                    <a:schemeClr val="bg1">
                      <a:lumMod val="50000"/>
                    </a:schemeClr>
                  </a:outerShdw>
                </a:effectLst>
              </a:rPr>
              <a:t>Interoperat</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998972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D1E92-9D67-2064-7B11-94A1FFADE419}"/>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DE0A91F4-8280-63DD-1FF2-FBE9457F2783}"/>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9C0033E-70B6-E748-22A7-F064BC1228E3}"/>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92E4C03A-8F60-B195-0A19-ED3292698C5E}"/>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Mapa de capacidades Nivel 1</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5" name="Rectangle 24">
            <a:extLst>
              <a:ext uri="{FF2B5EF4-FFF2-40B4-BE49-F238E27FC236}">
                <a16:creationId xmlns:a16="http://schemas.microsoft.com/office/drawing/2014/main" id="{95B4DB36-BB14-BE7D-7293-DFA289DCF264}"/>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26" name="Rectangle 25">
            <a:extLst>
              <a:ext uri="{FF2B5EF4-FFF2-40B4-BE49-F238E27FC236}">
                <a16:creationId xmlns:a16="http://schemas.microsoft.com/office/drawing/2014/main" id="{BCE8C328-DD20-CE40-3CC6-F22A27615B20}"/>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27" name="Rectangle 26">
            <a:extLst>
              <a:ext uri="{FF2B5EF4-FFF2-40B4-BE49-F238E27FC236}">
                <a16:creationId xmlns:a16="http://schemas.microsoft.com/office/drawing/2014/main" id="{6085F1F4-2DF1-0D07-E0E9-D983C650954A}"/>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28" name="Rectangle 27">
            <a:extLst>
              <a:ext uri="{FF2B5EF4-FFF2-40B4-BE49-F238E27FC236}">
                <a16:creationId xmlns:a16="http://schemas.microsoft.com/office/drawing/2014/main" id="{F1CD6098-2D86-68F3-EBD5-491280F0CFA8}"/>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de Gateway</a:t>
            </a:r>
          </a:p>
        </p:txBody>
      </p:sp>
      <p:sp>
        <p:nvSpPr>
          <p:cNvPr id="29" name="Rectangle 28">
            <a:extLst>
              <a:ext uri="{FF2B5EF4-FFF2-40B4-BE49-F238E27FC236}">
                <a16:creationId xmlns:a16="http://schemas.microsoft.com/office/drawing/2014/main" id="{BC098BE3-CDE8-7481-EB32-8E3C4579BC8B}"/>
              </a:ext>
            </a:extLst>
          </p:cNvPr>
          <p:cNvSpPr/>
          <p:nvPr/>
        </p:nvSpPr>
        <p:spPr>
          <a:xfrm>
            <a:off x="3161292" y="2773838"/>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30" name="Rectangle 29">
            <a:extLst>
              <a:ext uri="{FF2B5EF4-FFF2-40B4-BE49-F238E27FC236}">
                <a16:creationId xmlns:a16="http://schemas.microsoft.com/office/drawing/2014/main" id="{46D09AB4-295C-E2D9-FE2F-C497A16C1606}"/>
              </a:ext>
            </a:extLst>
          </p:cNvPr>
          <p:cNvSpPr/>
          <p:nvPr/>
        </p:nvSpPr>
        <p:spPr>
          <a:xfrm>
            <a:off x="3167494" y="5132461"/>
            <a:ext cx="5681779" cy="1042899"/>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31" name="Rectangle 30">
            <a:extLst>
              <a:ext uri="{FF2B5EF4-FFF2-40B4-BE49-F238E27FC236}">
                <a16:creationId xmlns:a16="http://schemas.microsoft.com/office/drawing/2014/main" id="{FEBDE29D-84CD-D847-A42A-F46D802052AB}"/>
              </a:ext>
            </a:extLst>
          </p:cNvPr>
          <p:cNvSpPr/>
          <p:nvPr/>
        </p:nvSpPr>
        <p:spPr>
          <a:xfrm>
            <a:off x="3169828" y="3419879"/>
            <a:ext cx="5681779" cy="960502"/>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32" name="Rectangle 31">
            <a:extLst>
              <a:ext uri="{FF2B5EF4-FFF2-40B4-BE49-F238E27FC236}">
                <a16:creationId xmlns:a16="http://schemas.microsoft.com/office/drawing/2014/main" id="{0D752F81-9D8A-6C6A-0D06-BE28DC733B78}"/>
              </a:ext>
            </a:extLst>
          </p:cNvPr>
          <p:cNvSpPr/>
          <p:nvPr/>
        </p:nvSpPr>
        <p:spPr>
          <a:xfrm>
            <a:off x="9005587" y="944591"/>
            <a:ext cx="1080000" cy="5230768"/>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33" name="Rectangle 32">
            <a:extLst>
              <a:ext uri="{FF2B5EF4-FFF2-40B4-BE49-F238E27FC236}">
                <a16:creationId xmlns:a16="http://schemas.microsoft.com/office/drawing/2014/main" id="{1C8D111C-C67B-43D4-BB14-60834E82D8CE}"/>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API Management</a:t>
            </a:r>
          </a:p>
        </p:txBody>
      </p:sp>
      <p:sp>
        <p:nvSpPr>
          <p:cNvPr id="34" name="Oval 33">
            <a:extLst>
              <a:ext uri="{FF2B5EF4-FFF2-40B4-BE49-F238E27FC236}">
                <a16:creationId xmlns:a16="http://schemas.microsoft.com/office/drawing/2014/main" id="{338B4F55-6930-C6DF-5841-188536C5071D}"/>
              </a:ext>
            </a:extLst>
          </p:cNvPr>
          <p:cNvSpPr/>
          <p:nvPr/>
        </p:nvSpPr>
        <p:spPr>
          <a:xfrm>
            <a:off x="751436"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5" name="Oval 34">
            <a:extLst>
              <a:ext uri="{FF2B5EF4-FFF2-40B4-BE49-F238E27FC236}">
                <a16:creationId xmlns:a16="http://schemas.microsoft.com/office/drawing/2014/main" id="{902CF8B6-05E1-289A-D852-7E787BCA9EF3}"/>
              </a:ext>
            </a:extLst>
          </p:cNvPr>
          <p:cNvSpPr/>
          <p:nvPr/>
        </p:nvSpPr>
        <p:spPr>
          <a:xfrm>
            <a:off x="1946299"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7" name="Oval 36">
            <a:extLst>
              <a:ext uri="{FF2B5EF4-FFF2-40B4-BE49-F238E27FC236}">
                <a16:creationId xmlns:a16="http://schemas.microsoft.com/office/drawing/2014/main" id="{7CE2238B-849D-78E3-CC1F-DE635D0EBBB9}"/>
              </a:ext>
            </a:extLst>
          </p:cNvPr>
          <p:cNvSpPr/>
          <p:nvPr/>
        </p:nvSpPr>
        <p:spPr>
          <a:xfrm>
            <a:off x="10248103" y="1147797"/>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8" name="Oval 37">
            <a:extLst>
              <a:ext uri="{FF2B5EF4-FFF2-40B4-BE49-F238E27FC236}">
                <a16:creationId xmlns:a16="http://schemas.microsoft.com/office/drawing/2014/main" id="{7CBA84F8-9BAB-4CC8-C149-B22474446ACB}"/>
              </a:ext>
            </a:extLst>
          </p:cNvPr>
          <p:cNvSpPr/>
          <p:nvPr/>
        </p:nvSpPr>
        <p:spPr>
          <a:xfrm>
            <a:off x="5306545" y="2158233"/>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39" name="Rectangle 38">
            <a:extLst>
              <a:ext uri="{FF2B5EF4-FFF2-40B4-BE49-F238E27FC236}">
                <a16:creationId xmlns:a16="http://schemas.microsoft.com/office/drawing/2014/main" id="{6493E20E-36FD-F512-52C1-353B10BC4558}"/>
              </a:ext>
            </a:extLst>
          </p:cNvPr>
          <p:cNvSpPr/>
          <p:nvPr/>
        </p:nvSpPr>
        <p:spPr>
          <a:xfrm>
            <a:off x="3160153" y="4486422"/>
            <a:ext cx="5681779" cy="540000"/>
          </a:xfrm>
          <a:prstGeom prst="rect">
            <a:avLst/>
          </a:prstGeom>
          <a:solidFill>
            <a:schemeClr val="bg2"/>
          </a:solidFill>
          <a:ln w="38100">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9" name="TextBox 8">
            <a:extLst>
              <a:ext uri="{FF2B5EF4-FFF2-40B4-BE49-F238E27FC236}">
                <a16:creationId xmlns:a16="http://schemas.microsoft.com/office/drawing/2014/main" id="{76C4BCB4-E16A-120C-A79E-FA7547E10E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pic>
        <p:nvPicPr>
          <p:cNvPr id="7" name="Picture 6" descr="Imágenes del botón de atrás – Navega por 625.558 fotos de stock, vectores y vídeos |  Adobe Stock">
            <a:hlinkClick r:id="rId3" action="ppaction://hlinksldjump"/>
            <a:extLst>
              <a:ext uri="{FF2B5EF4-FFF2-40B4-BE49-F238E27FC236}">
                <a16:creationId xmlns:a16="http://schemas.microsoft.com/office/drawing/2014/main" id="{067D99E4-56B9-F037-A737-7F02C585B1D0}"/>
              </a:ext>
            </a:extLst>
          </p:cNvPr>
          <p:cNvPicPr>
            <a:picLocks noChangeAspect="1" noChangeArrowheads="1"/>
          </p:cNvPicPr>
          <p:nvPr/>
        </p:nvPicPr>
        <p:blipFill rotWithShape="1">
          <a:blip r:embed="rId4" cstate="hqprint">
            <a:duotone>
              <a:schemeClr val="accent2">
                <a:shade val="45000"/>
                <a:satMod val="135000"/>
              </a:schemeClr>
              <a:prstClr val="white"/>
            </a:duotone>
            <a:extLst>
              <a:ext uri="{BEBA8EAE-BF5A-486C-A8C5-ECC9F3942E4B}">
                <a14:imgProps xmlns:a14="http://schemas.microsoft.com/office/drawing/2010/main">
                  <a14:imgLayer r:embed="rId5">
                    <a14:imgEffect>
                      <a14:backgroundRemoval t="10000" b="90000" l="10000" r="90000">
                        <a14:foregroundMark x1="24259" y1="46667" x2="24259" y2="46667"/>
                        <a14:foregroundMark x1="25000" y1="53611" x2="25000" y2="53611"/>
                        <a14:foregroundMark x1="32778" y1="49167" x2="32778" y2="49167"/>
                        <a14:foregroundMark x1="73889" y1="51389" x2="73889" y2="51389"/>
                      </a14:backgroundRemoval>
                    </a14:imgEffect>
                  </a14:imgLayer>
                </a14:imgProps>
              </a:ext>
              <a:ext uri="{28A0092B-C50C-407E-A947-70E740481C1C}">
                <a14:useLocalDpi xmlns:a14="http://schemas.microsoft.com/office/drawing/2010/main"/>
              </a:ext>
            </a:extLst>
          </a:blip>
          <a:srcRect l="8527" t="26395" r="7584" b="26395"/>
          <a:stretch/>
        </p:blipFill>
        <p:spPr bwMode="auto">
          <a:xfrm>
            <a:off x="11306376" y="11050"/>
            <a:ext cx="839056" cy="314796"/>
          </a:xfrm>
          <a:prstGeom prst="rect">
            <a:avLst/>
          </a:prstGeom>
          <a:solidFill>
            <a:schemeClr val="bg1"/>
          </a:solidFill>
        </p:spPr>
      </p:pic>
      <p:sp>
        <p:nvSpPr>
          <p:cNvPr id="11" name="Rectangle 10">
            <a:extLst>
              <a:ext uri="{FF2B5EF4-FFF2-40B4-BE49-F238E27FC236}">
                <a16:creationId xmlns:a16="http://schemas.microsoft.com/office/drawing/2014/main" id="{8B86B774-C632-7004-E9AA-713F3B265084}"/>
              </a:ext>
            </a:extLst>
          </p:cNvPr>
          <p:cNvSpPr/>
          <p:nvPr/>
        </p:nvSpPr>
        <p:spPr>
          <a:xfrm>
            <a:off x="762603" y="4259243"/>
            <a:ext cx="972000" cy="116543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Secretos</a:t>
            </a:r>
          </a:p>
        </p:txBody>
      </p:sp>
      <p:sp>
        <p:nvSpPr>
          <p:cNvPr id="15" name="Rectangle 14">
            <a:extLst>
              <a:ext uri="{FF2B5EF4-FFF2-40B4-BE49-F238E27FC236}">
                <a16:creationId xmlns:a16="http://schemas.microsoft.com/office/drawing/2014/main" id="{940D981A-5CE2-1036-8310-AAAD9B9CCA4D}"/>
              </a:ext>
            </a:extLst>
          </p:cNvPr>
          <p:cNvSpPr/>
          <p:nvPr/>
        </p:nvSpPr>
        <p:spPr>
          <a:xfrm>
            <a:off x="798603" y="1568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Identidad y Acceso</a:t>
            </a:r>
          </a:p>
        </p:txBody>
      </p:sp>
      <p:sp>
        <p:nvSpPr>
          <p:cNvPr id="19" name="Rectangle 18">
            <a:extLst>
              <a:ext uri="{FF2B5EF4-FFF2-40B4-BE49-F238E27FC236}">
                <a16:creationId xmlns:a16="http://schemas.microsoft.com/office/drawing/2014/main" id="{65032CDE-7176-D404-4B33-DABABD0CC02A}"/>
              </a:ext>
            </a:extLst>
          </p:cNvPr>
          <p:cNvSpPr/>
          <p:nvPr/>
        </p:nvSpPr>
        <p:spPr>
          <a:xfrm>
            <a:off x="798603" y="183809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Token de acceso / SSO</a:t>
            </a:r>
          </a:p>
        </p:txBody>
      </p:sp>
      <p:sp>
        <p:nvSpPr>
          <p:cNvPr id="22" name="Rectangle 21">
            <a:extLst>
              <a:ext uri="{FF2B5EF4-FFF2-40B4-BE49-F238E27FC236}">
                <a16:creationId xmlns:a16="http://schemas.microsoft.com/office/drawing/2014/main" id="{7BF06738-2138-613D-E5EC-DFD12E52F0BF}"/>
              </a:ext>
            </a:extLst>
          </p:cNvPr>
          <p:cNvSpPr/>
          <p:nvPr/>
        </p:nvSpPr>
        <p:spPr>
          <a:xfrm>
            <a:off x="798603" y="210791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autenticación</a:t>
            </a:r>
          </a:p>
        </p:txBody>
      </p:sp>
      <p:sp>
        <p:nvSpPr>
          <p:cNvPr id="40" name="Rectangle 39">
            <a:extLst>
              <a:ext uri="{FF2B5EF4-FFF2-40B4-BE49-F238E27FC236}">
                <a16:creationId xmlns:a16="http://schemas.microsoft.com/office/drawing/2014/main" id="{BD494730-B488-CA0F-0D36-1B97EE35E481}"/>
              </a:ext>
            </a:extLst>
          </p:cNvPr>
          <p:cNvSpPr/>
          <p:nvPr/>
        </p:nvSpPr>
        <p:spPr>
          <a:xfrm>
            <a:off x="798603" y="237772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Sesión</a:t>
            </a:r>
          </a:p>
        </p:txBody>
      </p:sp>
      <p:sp>
        <p:nvSpPr>
          <p:cNvPr id="45" name="Rectangle 44">
            <a:extLst>
              <a:ext uri="{FF2B5EF4-FFF2-40B4-BE49-F238E27FC236}">
                <a16:creationId xmlns:a16="http://schemas.microsoft.com/office/drawing/2014/main" id="{D251D99F-B8DB-21D6-9C2F-563CE6B88C45}"/>
              </a:ext>
            </a:extLst>
          </p:cNvPr>
          <p:cNvSpPr/>
          <p:nvPr/>
        </p:nvSpPr>
        <p:spPr>
          <a:xfrm>
            <a:off x="798603" y="264753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Autorización</a:t>
            </a:r>
          </a:p>
        </p:txBody>
      </p:sp>
      <p:sp>
        <p:nvSpPr>
          <p:cNvPr id="47" name="Rectangle 46">
            <a:extLst>
              <a:ext uri="{FF2B5EF4-FFF2-40B4-BE49-F238E27FC236}">
                <a16:creationId xmlns:a16="http://schemas.microsoft.com/office/drawing/2014/main" id="{CF4379C7-2192-AD54-7859-8726F2F3BBB3}"/>
              </a:ext>
            </a:extLst>
          </p:cNvPr>
          <p:cNvSpPr/>
          <p:nvPr/>
        </p:nvSpPr>
        <p:spPr>
          <a:xfrm>
            <a:off x="762603" y="2996189"/>
            <a:ext cx="972000" cy="121658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Servicios criptográgicos</a:t>
            </a:r>
          </a:p>
        </p:txBody>
      </p:sp>
      <p:sp>
        <p:nvSpPr>
          <p:cNvPr id="49" name="Rectangle 48">
            <a:extLst>
              <a:ext uri="{FF2B5EF4-FFF2-40B4-BE49-F238E27FC236}">
                <a16:creationId xmlns:a16="http://schemas.microsoft.com/office/drawing/2014/main" id="{E9126152-9893-D4B2-CC17-EF5A1DC72273}"/>
              </a:ext>
            </a:extLst>
          </p:cNvPr>
          <p:cNvSpPr/>
          <p:nvPr/>
        </p:nvSpPr>
        <p:spPr>
          <a:xfrm>
            <a:off x="798603" y="338441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firma</a:t>
            </a:r>
          </a:p>
        </p:txBody>
      </p:sp>
      <p:sp>
        <p:nvSpPr>
          <p:cNvPr id="51" name="Rectangle 50">
            <a:extLst>
              <a:ext uri="{FF2B5EF4-FFF2-40B4-BE49-F238E27FC236}">
                <a16:creationId xmlns:a16="http://schemas.microsoft.com/office/drawing/2014/main" id="{C6B1E452-723C-29D1-69C7-5312B412E197}"/>
              </a:ext>
            </a:extLst>
          </p:cNvPr>
          <p:cNvSpPr/>
          <p:nvPr/>
        </p:nvSpPr>
        <p:spPr>
          <a:xfrm>
            <a:off x="798603" y="366317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Cifrado</a:t>
            </a:r>
          </a:p>
        </p:txBody>
      </p:sp>
      <p:sp>
        <p:nvSpPr>
          <p:cNvPr id="53" name="Rectangle 52">
            <a:extLst>
              <a:ext uri="{FF2B5EF4-FFF2-40B4-BE49-F238E27FC236}">
                <a16:creationId xmlns:a16="http://schemas.microsoft.com/office/drawing/2014/main" id="{3E54C030-F349-E7E9-CBFC-767D44405FD5}"/>
              </a:ext>
            </a:extLst>
          </p:cNvPr>
          <p:cNvSpPr/>
          <p:nvPr/>
        </p:nvSpPr>
        <p:spPr>
          <a:xfrm>
            <a:off x="798603" y="392098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Cifrado E2E</a:t>
            </a:r>
          </a:p>
        </p:txBody>
      </p:sp>
      <p:sp>
        <p:nvSpPr>
          <p:cNvPr id="55" name="Rectangle 54">
            <a:extLst>
              <a:ext uri="{FF2B5EF4-FFF2-40B4-BE49-F238E27FC236}">
                <a16:creationId xmlns:a16="http://schemas.microsoft.com/office/drawing/2014/main" id="{BEB9EDA9-A9BD-E9D3-CB56-A831F662B62A}"/>
              </a:ext>
            </a:extLst>
          </p:cNvPr>
          <p:cNvSpPr/>
          <p:nvPr/>
        </p:nvSpPr>
        <p:spPr>
          <a:xfrm>
            <a:off x="798603" y="5532589"/>
            <a:ext cx="900000" cy="38082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Vulnerabilidades y Amenazas (VTM)</a:t>
            </a:r>
          </a:p>
        </p:txBody>
      </p:sp>
      <p:sp>
        <p:nvSpPr>
          <p:cNvPr id="57" name="Rectangle 56">
            <a:extLst>
              <a:ext uri="{FF2B5EF4-FFF2-40B4-BE49-F238E27FC236}">
                <a16:creationId xmlns:a16="http://schemas.microsoft.com/office/drawing/2014/main" id="{CDA03B36-C63F-0D3C-5344-1A3CF7E58947}"/>
              </a:ext>
            </a:extLst>
          </p:cNvPr>
          <p:cNvSpPr/>
          <p:nvPr/>
        </p:nvSpPr>
        <p:spPr>
          <a:xfrm>
            <a:off x="798603" y="46113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59" name="Rectangle 58">
            <a:extLst>
              <a:ext uri="{FF2B5EF4-FFF2-40B4-BE49-F238E27FC236}">
                <a16:creationId xmlns:a16="http://schemas.microsoft.com/office/drawing/2014/main" id="{A210B84C-35B5-0C14-91B6-BC71621D3F3C}"/>
              </a:ext>
            </a:extLst>
          </p:cNvPr>
          <p:cNvSpPr/>
          <p:nvPr/>
        </p:nvSpPr>
        <p:spPr>
          <a:xfrm>
            <a:off x="798603" y="486320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1" name="Rectangle 60">
            <a:extLst>
              <a:ext uri="{FF2B5EF4-FFF2-40B4-BE49-F238E27FC236}">
                <a16:creationId xmlns:a16="http://schemas.microsoft.com/office/drawing/2014/main" id="{DF6F9FB4-229D-65AE-CEA3-30E784CB3E86}"/>
              </a:ext>
            </a:extLst>
          </p:cNvPr>
          <p:cNvSpPr/>
          <p:nvPr/>
        </p:nvSpPr>
        <p:spPr>
          <a:xfrm>
            <a:off x="798603" y="5121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HSM</a:t>
            </a:r>
          </a:p>
        </p:txBody>
      </p:sp>
      <p:sp>
        <p:nvSpPr>
          <p:cNvPr id="91" name="Rectangle 90">
            <a:extLst>
              <a:ext uri="{FF2B5EF4-FFF2-40B4-BE49-F238E27FC236}">
                <a16:creationId xmlns:a16="http://schemas.microsoft.com/office/drawing/2014/main" id="{124E13AF-4E1F-5BD0-261D-3A4DA110E9EA}"/>
              </a:ext>
            </a:extLst>
          </p:cNvPr>
          <p:cNvSpPr/>
          <p:nvPr/>
        </p:nvSpPr>
        <p:spPr>
          <a:xfrm>
            <a:off x="1961612" y="1587453"/>
            <a:ext cx="972000" cy="32399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Monitorización</a:t>
            </a:r>
          </a:p>
        </p:txBody>
      </p:sp>
      <p:sp>
        <p:nvSpPr>
          <p:cNvPr id="93" name="Rectangle 92">
            <a:extLst>
              <a:ext uri="{FF2B5EF4-FFF2-40B4-BE49-F238E27FC236}">
                <a16:creationId xmlns:a16="http://schemas.microsoft.com/office/drawing/2014/main" id="{D02CB382-3D21-99A7-B33F-86257B311592}"/>
              </a:ext>
            </a:extLst>
          </p:cNvPr>
          <p:cNvSpPr/>
          <p:nvPr/>
        </p:nvSpPr>
        <p:spPr>
          <a:xfrm>
            <a:off x="1997612" y="179348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de Registro Operativo</a:t>
            </a:r>
          </a:p>
        </p:txBody>
      </p:sp>
      <p:sp>
        <p:nvSpPr>
          <p:cNvPr id="95" name="Rectangle 94">
            <a:extLst>
              <a:ext uri="{FF2B5EF4-FFF2-40B4-BE49-F238E27FC236}">
                <a16:creationId xmlns:a16="http://schemas.microsoft.com/office/drawing/2014/main" id="{9239EF5D-CFBC-88AF-2084-2336323A8BA4}"/>
              </a:ext>
            </a:extLst>
          </p:cNvPr>
          <p:cNvSpPr/>
          <p:nvPr/>
        </p:nvSpPr>
        <p:spPr>
          <a:xfrm>
            <a:off x="1997612" y="20558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Monitorización del estado</a:t>
            </a:r>
          </a:p>
        </p:txBody>
      </p:sp>
      <p:sp>
        <p:nvSpPr>
          <p:cNvPr id="97" name="Rectangle 96">
            <a:extLst>
              <a:ext uri="{FF2B5EF4-FFF2-40B4-BE49-F238E27FC236}">
                <a16:creationId xmlns:a16="http://schemas.microsoft.com/office/drawing/2014/main" id="{51F902CF-0D0F-1E9C-F29D-2B8F4122BB19}"/>
              </a:ext>
            </a:extLst>
          </p:cNvPr>
          <p:cNvSpPr/>
          <p:nvPr/>
        </p:nvSpPr>
        <p:spPr>
          <a:xfrm>
            <a:off x="1997612" y="23233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empresariales</a:t>
            </a:r>
          </a:p>
        </p:txBody>
      </p:sp>
      <p:sp>
        <p:nvSpPr>
          <p:cNvPr id="99" name="Rectangle 98">
            <a:extLst>
              <a:ext uri="{FF2B5EF4-FFF2-40B4-BE49-F238E27FC236}">
                <a16:creationId xmlns:a16="http://schemas.microsoft.com/office/drawing/2014/main" id="{4DD35D09-D0CD-81E4-3DF6-D5673A7427CC}"/>
              </a:ext>
            </a:extLst>
          </p:cNvPr>
          <p:cNvSpPr/>
          <p:nvPr/>
        </p:nvSpPr>
        <p:spPr>
          <a:xfrm>
            <a:off x="1997612" y="312606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Métricas y Analítica</a:t>
            </a:r>
          </a:p>
        </p:txBody>
      </p:sp>
      <p:sp>
        <p:nvSpPr>
          <p:cNvPr id="101" name="Rectangle 100">
            <a:extLst>
              <a:ext uri="{FF2B5EF4-FFF2-40B4-BE49-F238E27FC236}">
                <a16:creationId xmlns:a16="http://schemas.microsoft.com/office/drawing/2014/main" id="{1E5205E3-31FC-75E8-64F5-0404C3CF90E2}"/>
              </a:ext>
            </a:extLst>
          </p:cNvPr>
          <p:cNvSpPr/>
          <p:nvPr/>
        </p:nvSpPr>
        <p:spPr>
          <a:xfrm>
            <a:off x="1997612" y="285850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03" name="Rectangle 102">
            <a:extLst>
              <a:ext uri="{FF2B5EF4-FFF2-40B4-BE49-F238E27FC236}">
                <a16:creationId xmlns:a16="http://schemas.microsoft.com/office/drawing/2014/main" id="{8F39847A-A5AA-FAAD-59FE-803C93ED17E0}"/>
              </a:ext>
            </a:extLst>
          </p:cNvPr>
          <p:cNvSpPr/>
          <p:nvPr/>
        </p:nvSpPr>
        <p:spPr>
          <a:xfrm>
            <a:off x="1997612" y="339362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E2E</a:t>
            </a:r>
          </a:p>
        </p:txBody>
      </p:sp>
      <p:sp>
        <p:nvSpPr>
          <p:cNvPr id="105" name="Rectangle 104">
            <a:extLst>
              <a:ext uri="{FF2B5EF4-FFF2-40B4-BE49-F238E27FC236}">
                <a16:creationId xmlns:a16="http://schemas.microsoft.com/office/drawing/2014/main" id="{2FC22468-16C7-AFFA-1DD3-709C630E69EC}"/>
              </a:ext>
            </a:extLst>
          </p:cNvPr>
          <p:cNvSpPr/>
          <p:nvPr/>
        </p:nvSpPr>
        <p:spPr>
          <a:xfrm>
            <a:off x="1997612" y="259095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Paneles de control tecnológicos</a:t>
            </a:r>
          </a:p>
        </p:txBody>
      </p:sp>
      <p:sp>
        <p:nvSpPr>
          <p:cNvPr id="107" name="Rectangle 106">
            <a:extLst>
              <a:ext uri="{FF2B5EF4-FFF2-40B4-BE49-F238E27FC236}">
                <a16:creationId xmlns:a16="http://schemas.microsoft.com/office/drawing/2014/main" id="{59DCCE70-FAFB-E0BE-3036-72F715E7C25D}"/>
              </a:ext>
            </a:extLst>
          </p:cNvPr>
          <p:cNvSpPr/>
          <p:nvPr/>
        </p:nvSpPr>
        <p:spPr>
          <a:xfrm>
            <a:off x="1997612" y="3661175"/>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Reportes</a:t>
            </a:r>
          </a:p>
        </p:txBody>
      </p:sp>
      <p:sp>
        <p:nvSpPr>
          <p:cNvPr id="109" name="Rectangle 108">
            <a:extLst>
              <a:ext uri="{FF2B5EF4-FFF2-40B4-BE49-F238E27FC236}">
                <a16:creationId xmlns:a16="http://schemas.microsoft.com/office/drawing/2014/main" id="{04D7DC5F-2000-3584-59F4-2A7EF0D7B9D8}"/>
              </a:ext>
            </a:extLst>
          </p:cNvPr>
          <p:cNvSpPr/>
          <p:nvPr/>
        </p:nvSpPr>
        <p:spPr>
          <a:xfrm>
            <a:off x="1961612" y="4907368"/>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11" name="Rectangle 110">
            <a:extLst>
              <a:ext uri="{FF2B5EF4-FFF2-40B4-BE49-F238E27FC236}">
                <a16:creationId xmlns:a16="http://schemas.microsoft.com/office/drawing/2014/main" id="{16A34D4D-BB71-BACE-6872-35AF21C844F5}"/>
              </a:ext>
            </a:extLst>
          </p:cNvPr>
          <p:cNvSpPr/>
          <p:nvPr/>
        </p:nvSpPr>
        <p:spPr>
          <a:xfrm>
            <a:off x="1997612" y="53896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Operaciones de Folio</a:t>
            </a:r>
          </a:p>
        </p:txBody>
      </p:sp>
      <p:sp>
        <p:nvSpPr>
          <p:cNvPr id="113" name="Rectangle 112">
            <a:extLst>
              <a:ext uri="{FF2B5EF4-FFF2-40B4-BE49-F238E27FC236}">
                <a16:creationId xmlns:a16="http://schemas.microsoft.com/office/drawing/2014/main" id="{11377453-8C8C-14B0-BDFD-4B16A5B6688C}"/>
              </a:ext>
            </a:extLst>
          </p:cNvPr>
          <p:cNvSpPr/>
          <p:nvPr/>
        </p:nvSpPr>
        <p:spPr>
          <a:xfrm>
            <a:off x="1997612" y="513667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115" name="Rectangle 114">
            <a:extLst>
              <a:ext uri="{FF2B5EF4-FFF2-40B4-BE49-F238E27FC236}">
                <a16:creationId xmlns:a16="http://schemas.microsoft.com/office/drawing/2014/main" id="{31A94A0E-ADF5-C73B-783E-8E7A58F8B926}"/>
              </a:ext>
            </a:extLst>
          </p:cNvPr>
          <p:cNvSpPr/>
          <p:nvPr/>
        </p:nvSpPr>
        <p:spPr>
          <a:xfrm>
            <a:off x="1997612" y="564271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 UUID distribuidos</a:t>
            </a:r>
          </a:p>
        </p:txBody>
      </p:sp>
      <p:sp>
        <p:nvSpPr>
          <p:cNvPr id="117" name="Rectangle 116">
            <a:extLst>
              <a:ext uri="{FF2B5EF4-FFF2-40B4-BE49-F238E27FC236}">
                <a16:creationId xmlns:a16="http://schemas.microsoft.com/office/drawing/2014/main" id="{9FBE8AC4-5554-F29C-25D7-66D5B8E50E0F}"/>
              </a:ext>
            </a:extLst>
          </p:cNvPr>
          <p:cNvSpPr/>
          <p:nvPr/>
        </p:nvSpPr>
        <p:spPr>
          <a:xfrm>
            <a:off x="7797100" y="12332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Sandbox</a:t>
            </a:r>
          </a:p>
        </p:txBody>
      </p:sp>
      <p:sp>
        <p:nvSpPr>
          <p:cNvPr id="119" name="Rectangle 118">
            <a:extLst>
              <a:ext uri="{FF2B5EF4-FFF2-40B4-BE49-F238E27FC236}">
                <a16:creationId xmlns:a16="http://schemas.microsoft.com/office/drawing/2014/main" id="{90B76389-AB01-FF4A-56BE-663B79BEEC5B}"/>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21" name="Rectangle 120">
            <a:extLst>
              <a:ext uri="{FF2B5EF4-FFF2-40B4-BE49-F238E27FC236}">
                <a16:creationId xmlns:a16="http://schemas.microsoft.com/office/drawing/2014/main" id="{7C358B4B-4AAE-B8DD-995F-08D7F30E324F}"/>
              </a:ext>
            </a:extLst>
          </p:cNvPr>
          <p:cNvSpPr/>
          <p:nvPr/>
        </p:nvSpPr>
        <p:spPr>
          <a:xfrm>
            <a:off x="4806781"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23" name="Rectangle 122">
            <a:extLst>
              <a:ext uri="{FF2B5EF4-FFF2-40B4-BE49-F238E27FC236}">
                <a16:creationId xmlns:a16="http://schemas.microsoft.com/office/drawing/2014/main" id="{A2704BC5-43B7-26A9-2AF0-895661246AC0}"/>
              </a:ext>
            </a:extLst>
          </p:cNvPr>
          <p:cNvSpPr/>
          <p:nvPr/>
        </p:nvSpPr>
        <p:spPr>
          <a:xfrm>
            <a:off x="3876415"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Conmutación</a:t>
            </a:r>
          </a:p>
        </p:txBody>
      </p:sp>
      <p:sp>
        <p:nvSpPr>
          <p:cNvPr id="127" name="Rectangle 126">
            <a:extLst>
              <a:ext uri="{FF2B5EF4-FFF2-40B4-BE49-F238E27FC236}">
                <a16:creationId xmlns:a16="http://schemas.microsoft.com/office/drawing/2014/main" id="{7AD81C2D-EB3E-B7E4-C395-BD980535735C}"/>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29" name="Rectangle 128">
            <a:extLst>
              <a:ext uri="{FF2B5EF4-FFF2-40B4-BE49-F238E27FC236}">
                <a16:creationId xmlns:a16="http://schemas.microsoft.com/office/drawing/2014/main" id="{2BAACC41-5848-43AD-4925-33F04F2F6826}"/>
              </a:ext>
            </a:extLst>
          </p:cNvPr>
          <p:cNvSpPr/>
          <p:nvPr/>
        </p:nvSpPr>
        <p:spPr>
          <a:xfrm>
            <a:off x="3876415"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Servicio de Token de Seguridad (STS)</a:t>
            </a:r>
          </a:p>
        </p:txBody>
      </p:sp>
      <p:sp>
        <p:nvSpPr>
          <p:cNvPr id="131" name="Rectangle 130">
            <a:extLst>
              <a:ext uri="{FF2B5EF4-FFF2-40B4-BE49-F238E27FC236}">
                <a16:creationId xmlns:a16="http://schemas.microsoft.com/office/drawing/2014/main" id="{FCE23F47-141D-AC56-A60B-A4D25568978A}"/>
              </a:ext>
            </a:extLst>
          </p:cNvPr>
          <p:cNvSpPr/>
          <p:nvPr/>
        </p:nvSpPr>
        <p:spPr>
          <a:xfrm>
            <a:off x="4806781"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API Gateway</a:t>
            </a:r>
          </a:p>
        </p:txBody>
      </p:sp>
      <p:sp>
        <p:nvSpPr>
          <p:cNvPr id="167" name="Oval 166">
            <a:extLst>
              <a:ext uri="{FF2B5EF4-FFF2-40B4-BE49-F238E27FC236}">
                <a16:creationId xmlns:a16="http://schemas.microsoft.com/office/drawing/2014/main" id="{296B9FB0-4001-2D0E-918A-7E1CEDF95AB9}"/>
              </a:ext>
            </a:extLst>
          </p:cNvPr>
          <p:cNvSpPr/>
          <p:nvPr/>
        </p:nvSpPr>
        <p:spPr>
          <a:xfrm>
            <a:off x="5200332" y="978921"/>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169" name="Rectangle 168">
            <a:extLst>
              <a:ext uri="{FF2B5EF4-FFF2-40B4-BE49-F238E27FC236}">
                <a16:creationId xmlns:a16="http://schemas.microsoft.com/office/drawing/2014/main" id="{8F2399B0-D0BC-10C4-D93D-CDA56765E8FF}"/>
              </a:ext>
            </a:extLst>
          </p:cNvPr>
          <p:cNvSpPr/>
          <p:nvPr/>
        </p:nvSpPr>
        <p:spPr>
          <a:xfrm>
            <a:off x="5737147"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File Gateway</a:t>
            </a:r>
          </a:p>
        </p:txBody>
      </p:sp>
      <p:sp>
        <p:nvSpPr>
          <p:cNvPr id="171" name="Rectangle 170">
            <a:extLst>
              <a:ext uri="{FF2B5EF4-FFF2-40B4-BE49-F238E27FC236}">
                <a16:creationId xmlns:a16="http://schemas.microsoft.com/office/drawing/2014/main" id="{99F3D9D1-663E-D90F-5187-E788B6EA7C75}"/>
              </a:ext>
            </a:extLst>
          </p:cNvPr>
          <p:cNvSpPr/>
          <p:nvPr/>
        </p:nvSpPr>
        <p:spPr>
          <a:xfrm>
            <a:off x="6667513" y="118423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3" name="Rectangle 172">
            <a:extLst>
              <a:ext uri="{FF2B5EF4-FFF2-40B4-BE49-F238E27FC236}">
                <a16:creationId xmlns:a16="http://schemas.microsoft.com/office/drawing/2014/main" id="{7EC746F7-37B7-3E00-FD67-E38E4680B7C7}"/>
              </a:ext>
            </a:extLst>
          </p:cNvPr>
          <p:cNvSpPr/>
          <p:nvPr/>
        </p:nvSpPr>
        <p:spPr>
          <a:xfrm>
            <a:off x="6667513"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EventHub Gateway</a:t>
            </a:r>
          </a:p>
        </p:txBody>
      </p:sp>
      <p:sp>
        <p:nvSpPr>
          <p:cNvPr id="175" name="Rectangle 174">
            <a:extLst>
              <a:ext uri="{FF2B5EF4-FFF2-40B4-BE49-F238E27FC236}">
                <a16:creationId xmlns:a16="http://schemas.microsoft.com/office/drawing/2014/main" id="{6802AFE4-E63F-DCEE-676D-811651A50147}"/>
              </a:ext>
            </a:extLst>
          </p:cNvPr>
          <p:cNvSpPr/>
          <p:nvPr/>
        </p:nvSpPr>
        <p:spPr>
          <a:xfrm>
            <a:off x="5737147" y="149628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File Gateway</a:t>
            </a:r>
          </a:p>
        </p:txBody>
      </p:sp>
      <p:sp>
        <p:nvSpPr>
          <p:cNvPr id="177" name="Rectangle 176">
            <a:extLst>
              <a:ext uri="{FF2B5EF4-FFF2-40B4-BE49-F238E27FC236}">
                <a16:creationId xmlns:a16="http://schemas.microsoft.com/office/drawing/2014/main" id="{9CE2B0C9-07AF-23D1-75D6-9D58C8E39672}"/>
              </a:ext>
            </a:extLst>
          </p:cNvPr>
          <p:cNvSpPr/>
          <p:nvPr/>
        </p:nvSpPr>
        <p:spPr>
          <a:xfrm>
            <a:off x="3876415" y="174133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000000"/>
                </a:solidFill>
                <a:effectLst/>
                <a:uLnTx/>
                <a:uFillTx/>
                <a:latin typeface="Graphik"/>
                <a:ea typeface="+mn-ea"/>
                <a:cs typeface="+mn-cs"/>
              </a:rPr>
              <a:t>Open Banking Edge</a:t>
            </a:r>
          </a:p>
        </p:txBody>
      </p:sp>
      <p:sp>
        <p:nvSpPr>
          <p:cNvPr id="179" name="Rectangle 178">
            <a:extLst>
              <a:ext uri="{FF2B5EF4-FFF2-40B4-BE49-F238E27FC236}">
                <a16:creationId xmlns:a16="http://schemas.microsoft.com/office/drawing/2014/main" id="{97C2870C-34E0-6B76-3776-FD76FBB728F8}"/>
              </a:ext>
            </a:extLst>
          </p:cNvPr>
          <p:cNvSpPr/>
          <p:nvPr/>
        </p:nvSpPr>
        <p:spPr>
          <a:xfrm>
            <a:off x="4806781" y="174344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Graphik"/>
                <a:ea typeface="+mn-ea"/>
                <a:cs typeface="+mn-cs"/>
              </a:rPr>
              <a:t>Filter Edge</a:t>
            </a:r>
          </a:p>
        </p:txBody>
      </p:sp>
      <p:sp>
        <p:nvSpPr>
          <p:cNvPr id="181" name="Rectangle 180">
            <a:extLst>
              <a:ext uri="{FF2B5EF4-FFF2-40B4-BE49-F238E27FC236}">
                <a16:creationId xmlns:a16="http://schemas.microsoft.com/office/drawing/2014/main" id="{A14C04ED-764E-B37B-CDE7-3CF1A8B01C5A}"/>
              </a:ext>
            </a:extLst>
          </p:cNvPr>
          <p:cNvSpPr/>
          <p:nvPr/>
        </p:nvSpPr>
        <p:spPr>
          <a:xfrm>
            <a:off x="4154326"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Versionado de API</a:t>
            </a:r>
          </a:p>
        </p:txBody>
      </p:sp>
      <p:sp>
        <p:nvSpPr>
          <p:cNvPr id="183" name="Rectangle 182">
            <a:extLst>
              <a:ext uri="{FF2B5EF4-FFF2-40B4-BE49-F238E27FC236}">
                <a16:creationId xmlns:a16="http://schemas.microsoft.com/office/drawing/2014/main" id="{17CC8978-46F9-E7B4-F548-1F6F25338F00}"/>
              </a:ext>
            </a:extLst>
          </p:cNvPr>
          <p:cNvSpPr/>
          <p:nvPr/>
        </p:nvSpPr>
        <p:spPr>
          <a:xfrm>
            <a:off x="3223524"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Enrutamiento</a:t>
            </a:r>
          </a:p>
        </p:txBody>
      </p:sp>
      <p:sp>
        <p:nvSpPr>
          <p:cNvPr id="185" name="Rectangle 184">
            <a:extLst>
              <a:ext uri="{FF2B5EF4-FFF2-40B4-BE49-F238E27FC236}">
                <a16:creationId xmlns:a16="http://schemas.microsoft.com/office/drawing/2014/main" id="{1B1E7ECE-F2B8-5E22-DFA4-5B73CBD502D3}"/>
              </a:ext>
            </a:extLst>
          </p:cNvPr>
          <p:cNvSpPr/>
          <p:nvPr/>
        </p:nvSpPr>
        <p:spPr>
          <a:xfrm>
            <a:off x="5085128"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Manejo de errores</a:t>
            </a:r>
          </a:p>
        </p:txBody>
      </p:sp>
      <p:sp>
        <p:nvSpPr>
          <p:cNvPr id="187" name="Rectangle 186">
            <a:extLst>
              <a:ext uri="{FF2B5EF4-FFF2-40B4-BE49-F238E27FC236}">
                <a16:creationId xmlns:a16="http://schemas.microsoft.com/office/drawing/2014/main" id="{7878B985-ECF0-8765-7C47-B66A85B9CB37}"/>
              </a:ext>
            </a:extLst>
          </p:cNvPr>
          <p:cNvSpPr/>
          <p:nvPr/>
        </p:nvSpPr>
        <p:spPr>
          <a:xfrm>
            <a:off x="6015930"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del ciclo de vida</a:t>
            </a:r>
          </a:p>
        </p:txBody>
      </p:sp>
      <p:sp>
        <p:nvSpPr>
          <p:cNvPr id="189" name="Rectangle 188">
            <a:extLst>
              <a:ext uri="{FF2B5EF4-FFF2-40B4-BE49-F238E27FC236}">
                <a16:creationId xmlns:a16="http://schemas.microsoft.com/office/drawing/2014/main" id="{5AC8B13D-6CB7-88D3-6222-304581F77190}"/>
              </a:ext>
            </a:extLst>
          </p:cNvPr>
          <p:cNvSpPr/>
          <p:nvPr/>
        </p:nvSpPr>
        <p:spPr>
          <a:xfrm>
            <a:off x="6946732"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Manager</a:t>
            </a:r>
          </a:p>
        </p:txBody>
      </p:sp>
      <p:sp>
        <p:nvSpPr>
          <p:cNvPr id="191" name="Rectangle 190">
            <a:extLst>
              <a:ext uri="{FF2B5EF4-FFF2-40B4-BE49-F238E27FC236}">
                <a16:creationId xmlns:a16="http://schemas.microsoft.com/office/drawing/2014/main" id="{5E26ED04-C08F-7CDD-3174-31ADE7D6B15E}"/>
              </a:ext>
            </a:extLst>
          </p:cNvPr>
          <p:cNvSpPr/>
          <p:nvPr/>
        </p:nvSpPr>
        <p:spPr>
          <a:xfrm>
            <a:off x="7877535" y="237425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Portal para desarrolladores</a:t>
            </a:r>
          </a:p>
        </p:txBody>
      </p:sp>
      <p:sp>
        <p:nvSpPr>
          <p:cNvPr id="193" name="Rectangle 192">
            <a:extLst>
              <a:ext uri="{FF2B5EF4-FFF2-40B4-BE49-F238E27FC236}">
                <a16:creationId xmlns:a16="http://schemas.microsoft.com/office/drawing/2014/main" id="{0E8940FC-75B8-7A18-C368-4FDA88972487}"/>
              </a:ext>
            </a:extLst>
          </p:cNvPr>
          <p:cNvSpPr/>
          <p:nvPr/>
        </p:nvSpPr>
        <p:spPr>
          <a:xfrm>
            <a:off x="3218224"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Gestión de Datos Omnicanal</a:t>
            </a:r>
            <a:endParaRPr kumimoji="0" lang="en-US" sz="7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94">
            <a:extLst>
              <a:ext uri="{FF2B5EF4-FFF2-40B4-BE49-F238E27FC236}">
                <a16:creationId xmlns:a16="http://schemas.microsoft.com/office/drawing/2014/main" id="{86F8716F-F718-DC6F-C36D-EFC63AA37FF1}"/>
              </a:ext>
            </a:extLst>
          </p:cNvPr>
          <p:cNvSpPr/>
          <p:nvPr/>
        </p:nvSpPr>
        <p:spPr>
          <a:xfrm>
            <a:off x="4197677" y="299483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Orquestación de procesos</a:t>
            </a:r>
          </a:p>
        </p:txBody>
      </p:sp>
      <p:sp>
        <p:nvSpPr>
          <p:cNvPr id="197" name="Rectangle 196">
            <a:extLst>
              <a:ext uri="{FF2B5EF4-FFF2-40B4-BE49-F238E27FC236}">
                <a16:creationId xmlns:a16="http://schemas.microsoft.com/office/drawing/2014/main" id="{4BCA1C5F-1F15-9737-9ABE-B3E524428931}"/>
              </a:ext>
            </a:extLst>
          </p:cNvPr>
          <p:cNvSpPr/>
          <p:nvPr/>
        </p:nvSpPr>
        <p:spPr>
          <a:xfrm>
            <a:off x="5157027" y="299963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Aprobaciones</a:t>
            </a:r>
          </a:p>
        </p:txBody>
      </p:sp>
      <p:grpSp>
        <p:nvGrpSpPr>
          <p:cNvPr id="204" name="Group 203">
            <a:extLst>
              <a:ext uri="{FF2B5EF4-FFF2-40B4-BE49-F238E27FC236}">
                <a16:creationId xmlns:a16="http://schemas.microsoft.com/office/drawing/2014/main" id="{6AC33675-FDAE-BAD2-1DA7-42AD0B7E10F7}"/>
              </a:ext>
            </a:extLst>
          </p:cNvPr>
          <p:cNvGrpSpPr/>
          <p:nvPr/>
        </p:nvGrpSpPr>
        <p:grpSpPr>
          <a:xfrm>
            <a:off x="3971033" y="6281399"/>
            <a:ext cx="4194278" cy="195601"/>
            <a:chOff x="3522429" y="6281399"/>
            <a:chExt cx="4194278" cy="195601"/>
          </a:xfrm>
        </p:grpSpPr>
        <p:grpSp>
          <p:nvGrpSpPr>
            <p:cNvPr id="10" name="Group 9">
              <a:extLst>
                <a:ext uri="{FF2B5EF4-FFF2-40B4-BE49-F238E27FC236}">
                  <a16:creationId xmlns:a16="http://schemas.microsoft.com/office/drawing/2014/main" id="{32B93D61-B211-4901-E947-D26702E1FBD2}"/>
                </a:ext>
              </a:extLst>
            </p:cNvPr>
            <p:cNvGrpSpPr/>
            <p:nvPr/>
          </p:nvGrpSpPr>
          <p:grpSpPr>
            <a:xfrm>
              <a:off x="4475293" y="6283462"/>
              <a:ext cx="3241414" cy="180000"/>
              <a:chOff x="3701850" y="6283462"/>
              <a:chExt cx="3241414" cy="180000"/>
            </a:xfrm>
          </p:grpSpPr>
          <p:grpSp>
            <p:nvGrpSpPr>
              <p:cNvPr id="2" name="Group 1">
                <a:extLst>
                  <a:ext uri="{FF2B5EF4-FFF2-40B4-BE49-F238E27FC236}">
                    <a16:creationId xmlns:a16="http://schemas.microsoft.com/office/drawing/2014/main" id="{55F569C2-3C42-92B8-4933-3FFA66FBCDDE}"/>
                  </a:ext>
                </a:extLst>
              </p:cNvPr>
              <p:cNvGrpSpPr/>
              <p:nvPr/>
            </p:nvGrpSpPr>
            <p:grpSpPr>
              <a:xfrm>
                <a:off x="5366382" y="6283462"/>
                <a:ext cx="1576882" cy="180000"/>
                <a:chOff x="9283672" y="6207566"/>
                <a:chExt cx="1576882" cy="180000"/>
              </a:xfrm>
            </p:grpSpPr>
            <p:sp>
              <p:nvSpPr>
                <p:cNvPr id="6" name="Oval 5">
                  <a:extLst>
                    <a:ext uri="{FF2B5EF4-FFF2-40B4-BE49-F238E27FC236}">
                      <a16:creationId xmlns:a16="http://schemas.microsoft.com/office/drawing/2014/main" id="{D0BE9631-D106-FB1E-1CA1-68B3C5A991BE}"/>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 name="Rectangle 7">
                  <a:extLst>
                    <a:ext uri="{FF2B5EF4-FFF2-40B4-BE49-F238E27FC236}">
                      <a16:creationId xmlns:a16="http://schemas.microsoft.com/office/drawing/2014/main" id="{1AE665B3-4DA2-859D-542B-73D69F715E91}"/>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Kernel y componentes de plataforma</a:t>
                  </a:r>
                </a:p>
              </p:txBody>
            </p:sp>
          </p:grpSp>
          <p:grpSp>
            <p:nvGrpSpPr>
              <p:cNvPr id="41" name="Group 40">
                <a:extLst>
                  <a:ext uri="{FF2B5EF4-FFF2-40B4-BE49-F238E27FC236}">
                    <a16:creationId xmlns:a16="http://schemas.microsoft.com/office/drawing/2014/main" id="{CE17CE59-03EF-F791-5513-80CC431D46CA}"/>
                  </a:ext>
                </a:extLst>
              </p:cNvPr>
              <p:cNvGrpSpPr/>
              <p:nvPr/>
            </p:nvGrpSpPr>
            <p:grpSpPr>
              <a:xfrm>
                <a:off x="3701850" y="6283462"/>
                <a:ext cx="1576882" cy="180000"/>
                <a:chOff x="9283672" y="6207566"/>
                <a:chExt cx="1576882" cy="180000"/>
              </a:xfrm>
            </p:grpSpPr>
            <p:sp>
              <p:nvSpPr>
                <p:cNvPr id="42" name="Rectangle 41">
                  <a:extLst>
                    <a:ext uri="{FF2B5EF4-FFF2-40B4-BE49-F238E27FC236}">
                      <a16:creationId xmlns:a16="http://schemas.microsoft.com/office/drawing/2014/main" id="{30D8AE93-C3D9-79DC-44C4-244822AC259C}"/>
                    </a:ext>
                  </a:extLst>
                </p:cNvPr>
                <p:cNvSpPr/>
                <p:nvPr/>
              </p:nvSpPr>
              <p:spPr>
                <a:xfrm>
                  <a:off x="9283672" y="6207566"/>
                  <a:ext cx="180000" cy="180000"/>
                </a:xfrm>
                <a:prstGeom prst="rect">
                  <a:avLst/>
                </a:prstGeom>
                <a:solidFill>
                  <a:srgbClr val="E6E6DC"/>
                </a:solidFill>
                <a:ln>
                  <a:solidFill>
                    <a:srgbClr val="15608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C737FF3F-6569-81BB-7E84-F7DC54CD0612}"/>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Componentes de dominio</a:t>
                  </a:r>
                </a:p>
              </p:txBody>
            </p:sp>
          </p:grpSp>
        </p:grpSp>
        <p:sp>
          <p:nvSpPr>
            <p:cNvPr id="203" name="Rectangle 202">
              <a:extLst>
                <a:ext uri="{FF2B5EF4-FFF2-40B4-BE49-F238E27FC236}">
                  <a16:creationId xmlns:a16="http://schemas.microsoft.com/office/drawing/2014/main" id="{3C408EA7-457F-3ABB-4B7A-26CE79B07DAA}"/>
                </a:ext>
              </a:extLst>
            </p:cNvPr>
            <p:cNvSpPr/>
            <p:nvPr/>
          </p:nvSpPr>
          <p:spPr>
            <a:xfrm>
              <a:off x="3522429" y="6281399"/>
              <a:ext cx="739471" cy="195601"/>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Capacidad</a:t>
              </a:r>
            </a:p>
          </p:txBody>
        </p:sp>
      </p:grpSp>
      <p:sp>
        <p:nvSpPr>
          <p:cNvPr id="206" name="Rectangle 205">
            <a:extLst>
              <a:ext uri="{FF2B5EF4-FFF2-40B4-BE49-F238E27FC236}">
                <a16:creationId xmlns:a16="http://schemas.microsoft.com/office/drawing/2014/main" id="{54A40B35-7E68-93F1-4CB8-910AF70EB474}"/>
              </a:ext>
            </a:extLst>
          </p:cNvPr>
          <p:cNvSpPr/>
          <p:nvPr/>
        </p:nvSpPr>
        <p:spPr>
          <a:xfrm>
            <a:off x="3218223" y="3610571"/>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208" name="Rectangle 207">
            <a:extLst>
              <a:ext uri="{FF2B5EF4-FFF2-40B4-BE49-F238E27FC236}">
                <a16:creationId xmlns:a16="http://schemas.microsoft.com/office/drawing/2014/main" id="{64B7EF9F-99D2-85C2-5307-7E39FD3DDBF5}"/>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210" name="Rectangle 209">
            <a:extLst>
              <a:ext uri="{FF2B5EF4-FFF2-40B4-BE49-F238E27FC236}">
                <a16:creationId xmlns:a16="http://schemas.microsoft.com/office/drawing/2014/main" id="{3EDFDFA4-EB10-9351-3632-A342AEDB8EBA}"/>
              </a:ext>
            </a:extLst>
          </p:cNvPr>
          <p:cNvSpPr/>
          <p:nvPr/>
        </p:nvSpPr>
        <p:spPr>
          <a:xfrm>
            <a:off x="3638943" y="381589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Orquestador de Servicios</a:t>
            </a:r>
          </a:p>
        </p:txBody>
      </p:sp>
      <p:sp>
        <p:nvSpPr>
          <p:cNvPr id="212" name="Rectangle 211">
            <a:extLst>
              <a:ext uri="{FF2B5EF4-FFF2-40B4-BE49-F238E27FC236}">
                <a16:creationId xmlns:a16="http://schemas.microsoft.com/office/drawing/2014/main" id="{E9E0DB14-2D68-98B8-CFA0-F2DC7022D7BC}"/>
              </a:ext>
            </a:extLst>
          </p:cNvPr>
          <p:cNvSpPr/>
          <p:nvPr/>
        </p:nvSpPr>
        <p:spPr>
          <a:xfrm>
            <a:off x="3638943"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Adaptadores heredados</a:t>
            </a:r>
          </a:p>
        </p:txBody>
      </p:sp>
      <p:sp>
        <p:nvSpPr>
          <p:cNvPr id="214" name="Rectangle 213">
            <a:extLst>
              <a:ext uri="{FF2B5EF4-FFF2-40B4-BE49-F238E27FC236}">
                <a16:creationId xmlns:a16="http://schemas.microsoft.com/office/drawing/2014/main" id="{78D28367-4D14-603F-758B-F700C875C0EE}"/>
              </a:ext>
            </a:extLst>
          </p:cNvPr>
          <p:cNvSpPr/>
          <p:nvPr/>
        </p:nvSpPr>
        <p:spPr>
          <a:xfrm>
            <a:off x="6484915" y="381986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Administración en línea</a:t>
            </a:r>
          </a:p>
        </p:txBody>
      </p:sp>
      <p:sp>
        <p:nvSpPr>
          <p:cNvPr id="216" name="Rectangle 215">
            <a:extLst>
              <a:ext uri="{FF2B5EF4-FFF2-40B4-BE49-F238E27FC236}">
                <a16:creationId xmlns:a16="http://schemas.microsoft.com/office/drawing/2014/main" id="{D209F422-8467-DAE5-64D9-C632C11577AF}"/>
              </a:ext>
            </a:extLst>
          </p:cNvPr>
          <p:cNvSpPr/>
          <p:nvPr/>
        </p:nvSpPr>
        <p:spPr>
          <a:xfrm>
            <a:off x="4608969" y="40769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Almacenar y reenviar</a:t>
            </a:r>
          </a:p>
        </p:txBody>
      </p:sp>
      <p:sp>
        <p:nvSpPr>
          <p:cNvPr id="218" name="Rectangle 217">
            <a:extLst>
              <a:ext uri="{FF2B5EF4-FFF2-40B4-BE49-F238E27FC236}">
                <a16:creationId xmlns:a16="http://schemas.microsoft.com/office/drawing/2014/main" id="{CA7DD1C6-3EEB-9603-5AD0-B6CAA36C3D5B}"/>
              </a:ext>
            </a:extLst>
          </p:cNvPr>
          <p:cNvSpPr/>
          <p:nvPr/>
        </p:nvSpPr>
        <p:spPr>
          <a:xfrm>
            <a:off x="3475399" y="4733358"/>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highlight>
                  <a:srgbClr val="FFFF00"/>
                </a:highlight>
                <a:uLnTx/>
                <a:uFillTx/>
                <a:latin typeface="Graphik"/>
                <a:ea typeface="+mn-ea"/>
                <a:cs typeface="+mn-cs"/>
              </a:rPr>
              <a:t>Dependiente del alcance</a:t>
            </a:r>
          </a:p>
        </p:txBody>
      </p:sp>
      <p:pic>
        <p:nvPicPr>
          <p:cNvPr id="220" name="Picture 219">
            <a:extLst>
              <a:ext uri="{FF2B5EF4-FFF2-40B4-BE49-F238E27FC236}">
                <a16:creationId xmlns:a16="http://schemas.microsoft.com/office/drawing/2014/main" id="{C05A481B-2F58-95E4-4951-1CEAED695DFF}"/>
              </a:ext>
            </a:extLst>
          </p:cNvPr>
          <p:cNvPicPr>
            <a:picLocks noChangeAspect="1"/>
          </p:cNvPicPr>
          <p:nvPr/>
        </p:nvPicPr>
        <p:blipFill>
          <a:blip r:embed="rId6"/>
          <a:srcRect t="10381"/>
          <a:stretch>
            <a:fillRect/>
          </a:stretch>
        </p:blipFill>
        <p:spPr>
          <a:xfrm>
            <a:off x="6789740" y="4654114"/>
            <a:ext cx="2014719" cy="326801"/>
          </a:xfrm>
          <a:prstGeom prst="rect">
            <a:avLst/>
          </a:prstGeom>
        </p:spPr>
      </p:pic>
      <p:sp>
        <p:nvSpPr>
          <p:cNvPr id="222" name="Rectangle 221">
            <a:extLst>
              <a:ext uri="{FF2B5EF4-FFF2-40B4-BE49-F238E27FC236}">
                <a16:creationId xmlns:a16="http://schemas.microsoft.com/office/drawing/2014/main" id="{72CD2E8E-AA3D-2A7F-15FD-332FCE816F67}"/>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224" name="Rectangle 223">
            <a:extLst>
              <a:ext uri="{FF2B5EF4-FFF2-40B4-BE49-F238E27FC236}">
                <a16:creationId xmlns:a16="http://schemas.microsoft.com/office/drawing/2014/main" id="{9F24EA81-BE61-2C8F-2C80-BC2C8EAF77F0}"/>
              </a:ext>
            </a:extLst>
          </p:cNvPr>
          <p:cNvSpPr/>
          <p:nvPr/>
        </p:nvSpPr>
        <p:spPr>
          <a:xfrm>
            <a:off x="3290224"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Catálogo de datos</a:t>
            </a:r>
          </a:p>
        </p:txBody>
      </p:sp>
      <p:sp>
        <p:nvSpPr>
          <p:cNvPr id="226" name="Rectangle 225">
            <a:extLst>
              <a:ext uri="{FF2B5EF4-FFF2-40B4-BE49-F238E27FC236}">
                <a16:creationId xmlns:a16="http://schemas.microsoft.com/office/drawing/2014/main" id="{3AF9F7E6-95F3-1FCB-0D1E-841C25E4E74E}"/>
              </a:ext>
            </a:extLst>
          </p:cNvPr>
          <p:cNvSpPr/>
          <p:nvPr/>
        </p:nvSpPr>
        <p:spPr>
          <a:xfrm>
            <a:off x="3475399" y="5841873"/>
            <a:ext cx="1414653"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Grafo de conocimiento y enriquecimiento</a:t>
            </a:r>
          </a:p>
        </p:txBody>
      </p:sp>
      <p:sp>
        <p:nvSpPr>
          <p:cNvPr id="228" name="Rectangle 227">
            <a:extLst>
              <a:ext uri="{FF2B5EF4-FFF2-40B4-BE49-F238E27FC236}">
                <a16:creationId xmlns:a16="http://schemas.microsoft.com/office/drawing/2014/main" id="{489EB534-466B-9AE0-24EF-63745CA678C5}"/>
              </a:ext>
            </a:extLst>
          </p:cNvPr>
          <p:cNvSpPr/>
          <p:nvPr/>
        </p:nvSpPr>
        <p:spPr>
          <a:xfrm>
            <a:off x="4147323"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Gestión de metadatos</a:t>
            </a:r>
          </a:p>
        </p:txBody>
      </p:sp>
      <p:sp>
        <p:nvSpPr>
          <p:cNvPr id="230" name="Rectangle 229">
            <a:extLst>
              <a:ext uri="{FF2B5EF4-FFF2-40B4-BE49-F238E27FC236}">
                <a16:creationId xmlns:a16="http://schemas.microsoft.com/office/drawing/2014/main" id="{1CE9542C-BD9A-1DA6-0173-8E4330313EFA}"/>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232" name="Rectangle 231">
            <a:extLst>
              <a:ext uri="{FF2B5EF4-FFF2-40B4-BE49-F238E27FC236}">
                <a16:creationId xmlns:a16="http://schemas.microsoft.com/office/drawing/2014/main" id="{661AA7C2-D7B2-F26F-CEFF-E95DC2656624}"/>
              </a:ext>
            </a:extLst>
          </p:cNvPr>
          <p:cNvSpPr/>
          <p:nvPr/>
        </p:nvSpPr>
        <p:spPr>
          <a:xfrm>
            <a:off x="5180908"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Integración de </a:t>
            </a:r>
            <a:r>
              <a:rPr lang="es" sz="700">
                <a:solidFill>
                  <a:srgbClr val="000000"/>
                </a:solidFill>
                <a:latin typeface="Graphik"/>
              </a:rPr>
              <a:t>Flujo de </a:t>
            </a:r>
            <a:r>
              <a:rPr kumimoji="0" lang="es" sz="700" b="0" i="0" u="none" strike="noStrike" kern="1200" cap="none" spc="0" normalizeH="0" baseline="0" noProof="0">
                <a:ln>
                  <a:noFill/>
                </a:ln>
                <a:solidFill>
                  <a:srgbClr val="000000"/>
                </a:solidFill>
                <a:effectLst/>
                <a:uLnTx/>
                <a:uFillTx/>
                <a:latin typeface="Graphik"/>
                <a:ea typeface="+mn-ea"/>
                <a:cs typeface="+mn-cs"/>
              </a:rPr>
              <a:t>Datos</a:t>
            </a:r>
          </a:p>
        </p:txBody>
      </p:sp>
      <p:sp>
        <p:nvSpPr>
          <p:cNvPr id="234" name="Rectangle 233">
            <a:extLst>
              <a:ext uri="{FF2B5EF4-FFF2-40B4-BE49-F238E27FC236}">
                <a16:creationId xmlns:a16="http://schemas.microsoft.com/office/drawing/2014/main" id="{6C3C6043-961D-787C-C070-484670B2D52A}"/>
              </a:ext>
            </a:extLst>
          </p:cNvPr>
          <p:cNvSpPr/>
          <p:nvPr/>
        </p:nvSpPr>
        <p:spPr>
          <a:xfrm>
            <a:off x="6046840" y="5584141"/>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Replicación de datos</a:t>
            </a:r>
          </a:p>
        </p:txBody>
      </p:sp>
      <p:sp>
        <p:nvSpPr>
          <p:cNvPr id="236" name="Rectangle 235">
            <a:extLst>
              <a:ext uri="{FF2B5EF4-FFF2-40B4-BE49-F238E27FC236}">
                <a16:creationId xmlns:a16="http://schemas.microsoft.com/office/drawing/2014/main" id="{B687B3BE-890A-7570-E9C2-B336DC35DDDB}"/>
              </a:ext>
            </a:extLst>
          </p:cNvPr>
          <p:cNvSpPr/>
          <p:nvPr/>
        </p:nvSpPr>
        <p:spPr>
          <a:xfrm>
            <a:off x="6046840"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Virtualización de datos</a:t>
            </a:r>
          </a:p>
        </p:txBody>
      </p:sp>
      <p:sp>
        <p:nvSpPr>
          <p:cNvPr id="238" name="Rectangle 237">
            <a:extLst>
              <a:ext uri="{FF2B5EF4-FFF2-40B4-BE49-F238E27FC236}">
                <a16:creationId xmlns:a16="http://schemas.microsoft.com/office/drawing/2014/main" id="{D375ADF4-5057-91F1-794B-DEF4DEE48A34}"/>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240" name="Rectangle 239">
            <a:extLst>
              <a:ext uri="{FF2B5EF4-FFF2-40B4-BE49-F238E27FC236}">
                <a16:creationId xmlns:a16="http://schemas.microsoft.com/office/drawing/2014/main" id="{686A92C8-88C3-1C7C-8AF0-AC7E8CA2F81E}"/>
              </a:ext>
            </a:extLst>
          </p:cNvPr>
          <p:cNvSpPr/>
          <p:nvPr/>
        </p:nvSpPr>
        <p:spPr>
          <a:xfrm>
            <a:off x="5180908" y="5841873"/>
            <a:ext cx="828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Integración de Datos por Lotes</a:t>
            </a:r>
          </a:p>
        </p:txBody>
      </p:sp>
      <p:sp>
        <p:nvSpPr>
          <p:cNvPr id="242" name="Rectangle 241">
            <a:extLst>
              <a:ext uri="{FF2B5EF4-FFF2-40B4-BE49-F238E27FC236}">
                <a16:creationId xmlns:a16="http://schemas.microsoft.com/office/drawing/2014/main" id="{64512011-E80D-92D8-6440-158AE9A183BE}"/>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Pila tecnológica</a:t>
            </a:r>
          </a:p>
        </p:txBody>
      </p:sp>
      <p:sp>
        <p:nvSpPr>
          <p:cNvPr id="244" name="Rectangle 243">
            <a:extLst>
              <a:ext uri="{FF2B5EF4-FFF2-40B4-BE49-F238E27FC236}">
                <a16:creationId xmlns:a16="http://schemas.microsoft.com/office/drawing/2014/main" id="{C1CE0D08-D0D4-D9EA-1C9D-841424E05D34}"/>
              </a:ext>
            </a:extLst>
          </p:cNvPr>
          <p:cNvSpPr/>
          <p:nvPr/>
        </p:nvSpPr>
        <p:spPr>
          <a:xfrm>
            <a:off x="10275552" y="2640911"/>
            <a:ext cx="972000" cy="243828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246" name="Rectangle 245">
            <a:extLst>
              <a:ext uri="{FF2B5EF4-FFF2-40B4-BE49-F238E27FC236}">
                <a16:creationId xmlns:a16="http://schemas.microsoft.com/office/drawing/2014/main" id="{449ACD4E-0117-5A5E-DE3F-1F328E5F3BC7}"/>
              </a:ext>
            </a:extLst>
          </p:cNvPr>
          <p:cNvSpPr/>
          <p:nvPr/>
        </p:nvSpPr>
        <p:spPr>
          <a:xfrm>
            <a:off x="10311552" y="155741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Resiliencia de la infraestructura</a:t>
            </a:r>
          </a:p>
        </p:txBody>
      </p:sp>
      <p:sp>
        <p:nvSpPr>
          <p:cNvPr id="248" name="Rectangle 247">
            <a:extLst>
              <a:ext uri="{FF2B5EF4-FFF2-40B4-BE49-F238E27FC236}">
                <a16:creationId xmlns:a16="http://schemas.microsoft.com/office/drawing/2014/main" id="{82684918-01A0-0BF5-6B1F-3600B84A17CA}"/>
              </a:ext>
            </a:extLst>
          </p:cNvPr>
          <p:cNvSpPr/>
          <p:nvPr/>
        </p:nvSpPr>
        <p:spPr>
          <a:xfrm>
            <a:off x="10311552" y="3002389"/>
            <a:ext cx="900000" cy="366126"/>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Automatización de la configuración de la plataforma</a:t>
            </a:r>
          </a:p>
        </p:txBody>
      </p:sp>
      <p:sp>
        <p:nvSpPr>
          <p:cNvPr id="250" name="Rectangle 249">
            <a:extLst>
              <a:ext uri="{FF2B5EF4-FFF2-40B4-BE49-F238E27FC236}">
                <a16:creationId xmlns:a16="http://schemas.microsoft.com/office/drawing/2014/main" id="{99F0DA81-243F-418C-CDA9-9EA967FD9515}"/>
              </a:ext>
            </a:extLst>
          </p:cNvPr>
          <p:cNvSpPr/>
          <p:nvPr/>
        </p:nvSpPr>
        <p:spPr>
          <a:xfrm>
            <a:off x="10311552" y="468460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Librerias base</a:t>
            </a:r>
          </a:p>
        </p:txBody>
      </p:sp>
      <p:sp>
        <p:nvSpPr>
          <p:cNvPr id="252" name="Rectangle 251">
            <a:extLst>
              <a:ext uri="{FF2B5EF4-FFF2-40B4-BE49-F238E27FC236}">
                <a16:creationId xmlns:a16="http://schemas.microsoft.com/office/drawing/2014/main" id="{F251AC58-FB19-0D93-4533-151C761D827A}"/>
              </a:ext>
            </a:extLst>
          </p:cNvPr>
          <p:cNvSpPr/>
          <p:nvPr/>
        </p:nvSpPr>
        <p:spPr>
          <a:xfrm>
            <a:off x="10311552" y="2093514"/>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Caché</a:t>
            </a:r>
          </a:p>
        </p:txBody>
      </p:sp>
      <p:sp>
        <p:nvSpPr>
          <p:cNvPr id="254" name="Rectangle 253">
            <a:extLst>
              <a:ext uri="{FF2B5EF4-FFF2-40B4-BE49-F238E27FC236}">
                <a16:creationId xmlns:a16="http://schemas.microsoft.com/office/drawing/2014/main" id="{2CC97E39-5210-0977-E2CE-F32DB237E070}"/>
              </a:ext>
            </a:extLst>
          </p:cNvPr>
          <p:cNvSpPr/>
          <p:nvPr/>
        </p:nvSpPr>
        <p:spPr>
          <a:xfrm>
            <a:off x="10311552" y="3429000"/>
            <a:ext cx="900000" cy="335745"/>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Leguaje de los </a:t>
            </a:r>
            <a:r>
              <a:rPr lang="es" sz="700">
                <a:solidFill>
                  <a:srgbClr val="000000"/>
                </a:solidFill>
                <a:latin typeface="Graphik"/>
              </a:rPr>
              <a:t>t</a:t>
            </a:r>
            <a:r>
              <a:rPr kumimoji="0" lang="es" sz="700" b="0" i="0" u="none" strike="noStrike" kern="1200" cap="none" spc="0" normalizeH="0" baseline="0" noProof="0">
                <a:ln>
                  <a:noFill/>
                </a:ln>
                <a:solidFill>
                  <a:srgbClr val="000000"/>
                </a:solidFill>
                <a:effectLst/>
                <a:uLnTx/>
                <a:uFillTx/>
                <a:latin typeface="Graphik"/>
                <a:ea typeface="+mn-ea"/>
                <a:cs typeface="+mn-cs"/>
              </a:rPr>
              <a:t>iempos de ejecución</a:t>
            </a:r>
          </a:p>
        </p:txBody>
      </p:sp>
      <p:sp>
        <p:nvSpPr>
          <p:cNvPr id="256" name="Rectangle 255">
            <a:extLst>
              <a:ext uri="{FF2B5EF4-FFF2-40B4-BE49-F238E27FC236}">
                <a16:creationId xmlns:a16="http://schemas.microsoft.com/office/drawing/2014/main" id="{5BC464A3-E2CA-E260-D646-630E11349638}"/>
              </a:ext>
            </a:extLst>
          </p:cNvPr>
          <p:cNvSpPr/>
          <p:nvPr/>
        </p:nvSpPr>
        <p:spPr>
          <a:xfrm>
            <a:off x="10311552" y="3832709"/>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Transmisión de imágenes</a:t>
            </a:r>
          </a:p>
        </p:txBody>
      </p:sp>
      <p:sp>
        <p:nvSpPr>
          <p:cNvPr id="258" name="Rectangle 257">
            <a:extLst>
              <a:ext uri="{FF2B5EF4-FFF2-40B4-BE49-F238E27FC236}">
                <a16:creationId xmlns:a16="http://schemas.microsoft.com/office/drawing/2014/main" id="{0B12F7D5-C411-F6EA-5D32-AAB652B71B95}"/>
              </a:ext>
            </a:extLst>
          </p:cNvPr>
          <p:cNvSpPr/>
          <p:nvPr/>
        </p:nvSpPr>
        <p:spPr>
          <a:xfrm>
            <a:off x="10311552" y="4116673"/>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60" name="Rectangle 259">
            <a:extLst>
              <a:ext uri="{FF2B5EF4-FFF2-40B4-BE49-F238E27FC236}">
                <a16:creationId xmlns:a16="http://schemas.microsoft.com/office/drawing/2014/main" id="{0637CB7D-0335-35D7-3CD0-13D0215502F2}"/>
              </a:ext>
            </a:extLst>
          </p:cNvPr>
          <p:cNvSpPr/>
          <p:nvPr/>
        </p:nvSpPr>
        <p:spPr>
          <a:xfrm>
            <a:off x="10311552" y="440063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62" name="Rectangle 261">
            <a:extLst>
              <a:ext uri="{FF2B5EF4-FFF2-40B4-BE49-F238E27FC236}">
                <a16:creationId xmlns:a16="http://schemas.microsoft.com/office/drawing/2014/main" id="{C1C2DEEF-FEBB-0809-7165-8B3ADA8F8E29}"/>
              </a:ext>
            </a:extLst>
          </p:cNvPr>
          <p:cNvSpPr/>
          <p:nvPr/>
        </p:nvSpPr>
        <p:spPr>
          <a:xfrm>
            <a:off x="9064845" y="1583645"/>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264" name="Rectangle 263">
            <a:extLst>
              <a:ext uri="{FF2B5EF4-FFF2-40B4-BE49-F238E27FC236}">
                <a16:creationId xmlns:a16="http://schemas.microsoft.com/office/drawing/2014/main" id="{C2F7CE63-F9C8-5235-0E35-5BB8AEB170C1}"/>
              </a:ext>
            </a:extLst>
          </p:cNvPr>
          <p:cNvSpPr/>
          <p:nvPr/>
        </p:nvSpPr>
        <p:spPr>
          <a:xfrm>
            <a:off x="9100845" y="2280596"/>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Retransmisión de eventos</a:t>
            </a:r>
          </a:p>
        </p:txBody>
      </p:sp>
      <p:sp>
        <p:nvSpPr>
          <p:cNvPr id="266" name="Rectangle 265">
            <a:extLst>
              <a:ext uri="{FF2B5EF4-FFF2-40B4-BE49-F238E27FC236}">
                <a16:creationId xmlns:a16="http://schemas.microsoft.com/office/drawing/2014/main" id="{498280DB-2403-965F-8F17-F448A99E0FB1}"/>
              </a:ext>
            </a:extLst>
          </p:cNvPr>
          <p:cNvSpPr/>
          <p:nvPr/>
        </p:nvSpPr>
        <p:spPr>
          <a:xfrm>
            <a:off x="9100845" y="1976560"/>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eventos</a:t>
            </a:r>
          </a:p>
        </p:txBody>
      </p:sp>
      <p:sp>
        <p:nvSpPr>
          <p:cNvPr id="268" name="Rectangle 267">
            <a:extLst>
              <a:ext uri="{FF2B5EF4-FFF2-40B4-BE49-F238E27FC236}">
                <a16:creationId xmlns:a16="http://schemas.microsoft.com/office/drawing/2014/main" id="{9E8BD2D2-775D-3FC1-B099-BF51B4317E39}"/>
              </a:ext>
            </a:extLst>
          </p:cNvPr>
          <p:cNvSpPr/>
          <p:nvPr/>
        </p:nvSpPr>
        <p:spPr>
          <a:xfrm>
            <a:off x="9100845" y="2556161"/>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Mensajeria Multiprotocolo</a:t>
            </a:r>
          </a:p>
        </p:txBody>
      </p:sp>
      <p:sp>
        <p:nvSpPr>
          <p:cNvPr id="270" name="Rectangle 269">
            <a:extLst>
              <a:ext uri="{FF2B5EF4-FFF2-40B4-BE49-F238E27FC236}">
                <a16:creationId xmlns:a16="http://schemas.microsoft.com/office/drawing/2014/main" id="{C50D8115-9402-98B3-9747-24E93F79EC33}"/>
              </a:ext>
            </a:extLst>
          </p:cNvPr>
          <p:cNvSpPr/>
          <p:nvPr/>
        </p:nvSpPr>
        <p:spPr>
          <a:xfrm>
            <a:off x="9100845" y="2860197"/>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Procesamiento CEP</a:t>
            </a:r>
          </a:p>
        </p:txBody>
      </p:sp>
      <p:sp>
        <p:nvSpPr>
          <p:cNvPr id="272" name="Rectangle 271">
            <a:extLst>
              <a:ext uri="{FF2B5EF4-FFF2-40B4-BE49-F238E27FC236}">
                <a16:creationId xmlns:a16="http://schemas.microsoft.com/office/drawing/2014/main" id="{59EB263D-190E-7974-2BCA-858838C77951}"/>
              </a:ext>
            </a:extLst>
          </p:cNvPr>
          <p:cNvSpPr/>
          <p:nvPr/>
        </p:nvSpPr>
        <p:spPr>
          <a:xfrm>
            <a:off x="9100845" y="3134162"/>
            <a:ext cx="900000" cy="216000"/>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Monitorización de Eventos</a:t>
            </a:r>
          </a:p>
        </p:txBody>
      </p:sp>
      <p:sp>
        <p:nvSpPr>
          <p:cNvPr id="274" name="Rectangle 273">
            <a:extLst>
              <a:ext uri="{FF2B5EF4-FFF2-40B4-BE49-F238E27FC236}">
                <a16:creationId xmlns:a16="http://schemas.microsoft.com/office/drawing/2014/main" id="{8434C8AB-D352-2F9D-D457-6BD9FD54B77F}"/>
              </a:ext>
            </a:extLst>
          </p:cNvPr>
          <p:cNvSpPr/>
          <p:nvPr/>
        </p:nvSpPr>
        <p:spPr>
          <a:xfrm>
            <a:off x="9064845" y="4326330"/>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Tree>
    <p:extLst>
      <p:ext uri="{BB962C8B-B14F-4D97-AF65-F5344CB8AC3E}">
        <p14:creationId xmlns:p14="http://schemas.microsoft.com/office/powerpoint/2010/main" val="2011745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2000" dirty="0">
                <a:solidFill>
                  <a:srgbClr val="000000"/>
                </a:solidFill>
              </a:rPr>
              <a:t> | Mapa de capacidades Nivel 2</a:t>
            </a:r>
            <a:endParaRPr lang="en-US" sz="2000" dirty="0"/>
          </a:p>
        </p:txBody>
      </p:sp>
      <p:sp>
        <p:nvSpPr>
          <p:cNvPr id="6" name="Shape 4"/>
          <p:cNvSpPr/>
          <p:nvPr/>
        </p:nvSpPr>
        <p:spPr>
          <a:xfrm>
            <a:off x="109728"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7" name="Shape 5"/>
          <p:cNvSpPr/>
          <p:nvPr/>
        </p:nvSpPr>
        <p:spPr>
          <a:xfrm>
            <a:off x="118872"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8" name="Text 6"/>
          <p:cNvSpPr/>
          <p:nvPr/>
        </p:nvSpPr>
        <p:spPr>
          <a:xfrm>
            <a:off x="118872"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9" name="Shape 7"/>
          <p:cNvSpPr/>
          <p:nvPr/>
        </p:nvSpPr>
        <p:spPr>
          <a:xfrm>
            <a:off x="274320"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10" name="Text 8"/>
          <p:cNvSpPr/>
          <p:nvPr/>
        </p:nvSpPr>
        <p:spPr>
          <a:xfrm>
            <a:off x="292608"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118872"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12" name="Text 10"/>
          <p:cNvSpPr/>
          <p:nvPr/>
        </p:nvSpPr>
        <p:spPr>
          <a:xfrm>
            <a:off x="118872"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IAM</a:t>
            </a:r>
            <a:endParaRPr lang="en-US" sz="400" dirty="0"/>
          </a:p>
        </p:txBody>
      </p:sp>
      <p:sp>
        <p:nvSpPr>
          <p:cNvPr id="13" name="Shape 11"/>
          <p:cNvSpPr/>
          <p:nvPr/>
        </p:nvSpPr>
        <p:spPr>
          <a:xfrm>
            <a:off x="118872" y="987552"/>
            <a:ext cx="475488" cy="160934"/>
          </a:xfrm>
          <a:prstGeom prst="rect">
            <a:avLst/>
          </a:prstGeom>
          <a:solidFill>
            <a:srgbClr val="FFFFFF"/>
          </a:solidFill>
          <a:ln w="3810">
            <a:solidFill>
              <a:srgbClr val="BE82FF"/>
            </a:solidFill>
            <a:prstDash val="solid"/>
          </a:ln>
        </p:spPr>
        <p:txBody>
          <a:bodyPr/>
          <a:lstStyle/>
          <a:p>
            <a:endParaRPr lang="es-ES"/>
          </a:p>
        </p:txBody>
      </p:sp>
      <p:sp>
        <p:nvSpPr>
          <p:cNvPr id="14" name="Text 12"/>
          <p:cNvSpPr/>
          <p:nvPr/>
        </p:nvSpPr>
        <p:spPr>
          <a:xfrm>
            <a:off x="118872" y="987552"/>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Autenticación</a:t>
            </a:r>
            <a:endParaRPr lang="en-US" sz="380" dirty="0"/>
          </a:p>
        </p:txBody>
      </p:sp>
      <p:sp>
        <p:nvSpPr>
          <p:cNvPr id="15" name="Shape 13"/>
          <p:cNvSpPr/>
          <p:nvPr/>
        </p:nvSpPr>
        <p:spPr>
          <a:xfrm>
            <a:off x="118872" y="1153058"/>
            <a:ext cx="475488" cy="160934"/>
          </a:xfrm>
          <a:prstGeom prst="rect">
            <a:avLst/>
          </a:prstGeom>
          <a:solidFill>
            <a:srgbClr val="FFFFFF"/>
          </a:solidFill>
          <a:ln w="3810">
            <a:solidFill>
              <a:srgbClr val="BE82FF"/>
            </a:solidFill>
            <a:prstDash val="solid"/>
          </a:ln>
        </p:spPr>
        <p:txBody>
          <a:bodyPr/>
          <a:lstStyle/>
          <a:p>
            <a:endParaRPr lang="es-ES"/>
          </a:p>
        </p:txBody>
      </p:sp>
      <p:sp>
        <p:nvSpPr>
          <p:cNvPr id="16" name="Text 14"/>
          <p:cNvSpPr/>
          <p:nvPr/>
        </p:nvSpPr>
        <p:spPr>
          <a:xfrm>
            <a:off x="118872" y="115305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17" name="Shape 15"/>
          <p:cNvSpPr/>
          <p:nvPr/>
        </p:nvSpPr>
        <p:spPr>
          <a:xfrm>
            <a:off x="118872" y="1318565"/>
            <a:ext cx="475488" cy="160934"/>
          </a:xfrm>
          <a:prstGeom prst="rect">
            <a:avLst/>
          </a:prstGeom>
          <a:solidFill>
            <a:srgbClr val="FFFFFF"/>
          </a:solidFill>
          <a:ln w="3810">
            <a:solidFill>
              <a:srgbClr val="BE82FF"/>
            </a:solidFill>
            <a:prstDash val="solid"/>
          </a:ln>
        </p:spPr>
        <p:txBody>
          <a:bodyPr/>
          <a:lstStyle/>
          <a:p>
            <a:endParaRPr lang="es-ES"/>
          </a:p>
        </p:txBody>
      </p:sp>
      <p:sp>
        <p:nvSpPr>
          <p:cNvPr id="18" name="Text 16"/>
          <p:cNvSpPr/>
          <p:nvPr/>
        </p:nvSpPr>
        <p:spPr>
          <a:xfrm>
            <a:off x="118872" y="1318565"/>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19" name="Shape 17"/>
          <p:cNvSpPr/>
          <p:nvPr/>
        </p:nvSpPr>
        <p:spPr>
          <a:xfrm>
            <a:off x="118872" y="1484071"/>
            <a:ext cx="475488" cy="160934"/>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484071"/>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1" name="Shape 19"/>
          <p:cNvSpPr/>
          <p:nvPr/>
        </p:nvSpPr>
        <p:spPr>
          <a:xfrm>
            <a:off x="118872" y="1649578"/>
            <a:ext cx="475488" cy="160934"/>
          </a:xfrm>
          <a:prstGeom prst="rect">
            <a:avLst/>
          </a:prstGeom>
          <a:solidFill>
            <a:srgbClr val="FFFFFF"/>
          </a:solidFill>
          <a:ln w="3810">
            <a:solidFill>
              <a:srgbClr val="BE82FF"/>
            </a:solidFill>
            <a:prstDash val="solid"/>
          </a:ln>
        </p:spPr>
        <p:txBody>
          <a:bodyPr/>
          <a:lstStyle/>
          <a:p>
            <a:endParaRPr lang="es-ES"/>
          </a:p>
        </p:txBody>
      </p:sp>
      <p:sp>
        <p:nvSpPr>
          <p:cNvPr id="22" name="Text 20"/>
          <p:cNvSpPr/>
          <p:nvPr/>
        </p:nvSpPr>
        <p:spPr>
          <a:xfrm>
            <a:off x="118872" y="164957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Admin.Usuarios</a:t>
            </a:r>
            <a:endParaRPr lang="en-US" sz="380" dirty="0"/>
          </a:p>
        </p:txBody>
      </p:sp>
      <p:sp>
        <p:nvSpPr>
          <p:cNvPr id="23" name="Shape 21"/>
          <p:cNvSpPr/>
          <p:nvPr/>
        </p:nvSpPr>
        <p:spPr>
          <a:xfrm>
            <a:off x="118872" y="1815084"/>
            <a:ext cx="475488" cy="109728"/>
          </a:xfrm>
          <a:prstGeom prst="rect">
            <a:avLst/>
          </a:prstGeom>
          <a:solidFill>
            <a:srgbClr val="BE82FF"/>
          </a:solidFill>
          <a:ln w="6350">
            <a:solidFill>
              <a:srgbClr val="A100FF"/>
            </a:solidFill>
            <a:prstDash val="solid"/>
          </a:ln>
        </p:spPr>
        <p:txBody>
          <a:bodyPr/>
          <a:lstStyle/>
          <a:p>
            <a:endParaRPr lang="es-ES"/>
          </a:p>
        </p:txBody>
      </p:sp>
      <p:sp>
        <p:nvSpPr>
          <p:cNvPr id="24" name="Text 22"/>
          <p:cNvSpPr/>
          <p:nvPr/>
        </p:nvSpPr>
        <p:spPr>
          <a:xfrm>
            <a:off x="118872" y="181508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5" name="Shape 23"/>
          <p:cNvSpPr/>
          <p:nvPr/>
        </p:nvSpPr>
        <p:spPr>
          <a:xfrm>
            <a:off x="118872" y="1933956"/>
            <a:ext cx="475488" cy="202311"/>
          </a:xfrm>
          <a:prstGeom prst="rect">
            <a:avLst/>
          </a:prstGeom>
          <a:solidFill>
            <a:srgbClr val="FFFFFF"/>
          </a:solidFill>
          <a:ln w="3810">
            <a:solidFill>
              <a:srgbClr val="BE82FF"/>
            </a:solidFill>
            <a:prstDash val="solid"/>
          </a:ln>
        </p:spPr>
        <p:txBody>
          <a:bodyPr/>
          <a:lstStyle/>
          <a:p>
            <a:endParaRPr lang="es-ES"/>
          </a:p>
        </p:txBody>
      </p:sp>
      <p:sp>
        <p:nvSpPr>
          <p:cNvPr id="26" name="Text 24"/>
          <p:cNvSpPr/>
          <p:nvPr/>
        </p:nvSpPr>
        <p:spPr>
          <a:xfrm>
            <a:off x="118872" y="1933956"/>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27" name="Shape 25"/>
          <p:cNvSpPr/>
          <p:nvPr/>
        </p:nvSpPr>
        <p:spPr>
          <a:xfrm>
            <a:off x="118872" y="2140839"/>
            <a:ext cx="475488" cy="202311"/>
          </a:xfrm>
          <a:prstGeom prst="rect">
            <a:avLst/>
          </a:prstGeom>
          <a:solidFill>
            <a:srgbClr val="FFFFFF"/>
          </a:solidFill>
          <a:ln w="3810">
            <a:solidFill>
              <a:srgbClr val="BE82FF"/>
            </a:solidFill>
            <a:prstDash val="solid"/>
          </a:ln>
        </p:spPr>
        <p:txBody>
          <a:bodyPr/>
          <a:lstStyle/>
          <a:p>
            <a:endParaRPr lang="es-ES"/>
          </a:p>
        </p:txBody>
      </p:sp>
      <p:sp>
        <p:nvSpPr>
          <p:cNvPr id="28" name="Text 26"/>
          <p:cNvSpPr/>
          <p:nvPr/>
        </p:nvSpPr>
        <p:spPr>
          <a:xfrm>
            <a:off x="118872" y="2140839"/>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29" name="Shape 27"/>
          <p:cNvSpPr/>
          <p:nvPr/>
        </p:nvSpPr>
        <p:spPr>
          <a:xfrm>
            <a:off x="118872" y="2347722"/>
            <a:ext cx="475488" cy="202311"/>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2347722"/>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1" name="Shape 29"/>
          <p:cNvSpPr/>
          <p:nvPr/>
        </p:nvSpPr>
        <p:spPr>
          <a:xfrm>
            <a:off x="118872" y="2554605"/>
            <a:ext cx="475488" cy="202311"/>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554605"/>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3" name="Shape 31"/>
          <p:cNvSpPr/>
          <p:nvPr/>
        </p:nvSpPr>
        <p:spPr>
          <a:xfrm>
            <a:off x="118872" y="2761488"/>
            <a:ext cx="475488" cy="109728"/>
          </a:xfrm>
          <a:prstGeom prst="rect">
            <a:avLst/>
          </a:prstGeom>
          <a:solidFill>
            <a:srgbClr val="BE82FF"/>
          </a:solidFill>
          <a:ln w="6350">
            <a:solidFill>
              <a:srgbClr val="A100FF"/>
            </a:solidFill>
            <a:prstDash val="solid"/>
          </a:ln>
        </p:spPr>
        <p:txBody>
          <a:bodyPr/>
          <a:lstStyle/>
          <a:p>
            <a:endParaRPr lang="es-ES"/>
          </a:p>
        </p:txBody>
      </p:sp>
      <p:sp>
        <p:nvSpPr>
          <p:cNvPr id="34" name="Text 32"/>
          <p:cNvSpPr/>
          <p:nvPr/>
        </p:nvSpPr>
        <p:spPr>
          <a:xfrm>
            <a:off x="118872" y="2761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5" name="Shape 33"/>
          <p:cNvSpPr/>
          <p:nvPr/>
        </p:nvSpPr>
        <p:spPr>
          <a:xfrm>
            <a:off x="118872" y="2880360"/>
            <a:ext cx="475488" cy="409194"/>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880360"/>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37" name="Shape 35"/>
          <p:cNvSpPr/>
          <p:nvPr/>
        </p:nvSpPr>
        <p:spPr>
          <a:xfrm>
            <a:off x="118872" y="3294126"/>
            <a:ext cx="475488" cy="409194"/>
          </a:xfrm>
          <a:prstGeom prst="rect">
            <a:avLst/>
          </a:prstGeom>
          <a:solidFill>
            <a:srgbClr val="FFFFFF"/>
          </a:solidFill>
          <a:ln w="3810">
            <a:solidFill>
              <a:srgbClr val="BE82FF"/>
            </a:solidFill>
            <a:prstDash val="solid"/>
          </a:ln>
        </p:spPr>
        <p:txBody>
          <a:bodyPr/>
          <a:lstStyle/>
          <a:p>
            <a:endParaRPr lang="es-ES"/>
          </a:p>
        </p:txBody>
      </p:sp>
      <p:sp>
        <p:nvSpPr>
          <p:cNvPr id="38" name="Text 36"/>
          <p:cNvSpPr/>
          <p:nvPr/>
        </p:nvSpPr>
        <p:spPr>
          <a:xfrm>
            <a:off x="118872" y="3294126"/>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39" name="Shape 37"/>
          <p:cNvSpPr/>
          <p:nvPr/>
        </p:nvSpPr>
        <p:spPr>
          <a:xfrm>
            <a:off x="118872" y="3707892"/>
            <a:ext cx="475488" cy="109728"/>
          </a:xfrm>
          <a:prstGeom prst="rect">
            <a:avLst/>
          </a:prstGeom>
          <a:solidFill>
            <a:srgbClr val="BE82FF"/>
          </a:solidFill>
          <a:ln w="6350">
            <a:solidFill>
              <a:srgbClr val="A100FF"/>
            </a:solidFill>
            <a:prstDash val="solid"/>
          </a:ln>
        </p:spPr>
        <p:txBody>
          <a:bodyPr/>
          <a:lstStyle/>
          <a:p>
            <a:endParaRPr lang="es-ES"/>
          </a:p>
        </p:txBody>
      </p:sp>
      <p:sp>
        <p:nvSpPr>
          <p:cNvPr id="40" name="Text 38"/>
          <p:cNvSpPr/>
          <p:nvPr/>
        </p:nvSpPr>
        <p:spPr>
          <a:xfrm>
            <a:off x="118872" y="3707892"/>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1" name="Shape 39"/>
          <p:cNvSpPr/>
          <p:nvPr/>
        </p:nvSpPr>
        <p:spPr>
          <a:xfrm>
            <a:off x="118872" y="3826764"/>
            <a:ext cx="475488" cy="202311"/>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826764"/>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3" name="Shape 41"/>
          <p:cNvSpPr/>
          <p:nvPr/>
        </p:nvSpPr>
        <p:spPr>
          <a:xfrm>
            <a:off x="118872" y="4033647"/>
            <a:ext cx="475488" cy="202311"/>
          </a:xfrm>
          <a:prstGeom prst="rect">
            <a:avLst/>
          </a:prstGeom>
          <a:solidFill>
            <a:srgbClr val="FFFFFF"/>
          </a:solidFill>
          <a:ln w="3810">
            <a:solidFill>
              <a:srgbClr val="BE82FF"/>
            </a:solidFill>
            <a:prstDash val="solid"/>
          </a:ln>
        </p:spPr>
        <p:txBody>
          <a:bodyPr/>
          <a:lstStyle/>
          <a:p>
            <a:endParaRPr lang="es-ES"/>
          </a:p>
        </p:txBody>
      </p:sp>
      <p:sp>
        <p:nvSpPr>
          <p:cNvPr id="44" name="Text 42"/>
          <p:cNvSpPr/>
          <p:nvPr/>
        </p:nvSpPr>
        <p:spPr>
          <a:xfrm>
            <a:off x="118872" y="4033647"/>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5" name="Shape 43"/>
          <p:cNvSpPr/>
          <p:nvPr/>
        </p:nvSpPr>
        <p:spPr>
          <a:xfrm>
            <a:off x="118872" y="4240530"/>
            <a:ext cx="475488" cy="202311"/>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4240530"/>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47" name="Shape 45"/>
          <p:cNvSpPr/>
          <p:nvPr/>
        </p:nvSpPr>
        <p:spPr>
          <a:xfrm>
            <a:off x="118872" y="4447413"/>
            <a:ext cx="475488" cy="202311"/>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447413"/>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49" name="Shape 47"/>
          <p:cNvSpPr/>
          <p:nvPr/>
        </p:nvSpPr>
        <p:spPr>
          <a:xfrm>
            <a:off x="118872" y="4654296"/>
            <a:ext cx="475488" cy="109728"/>
          </a:xfrm>
          <a:prstGeom prst="rect">
            <a:avLst/>
          </a:prstGeom>
          <a:solidFill>
            <a:srgbClr val="BE82FF"/>
          </a:solidFill>
          <a:ln w="6350">
            <a:solidFill>
              <a:srgbClr val="A100FF"/>
            </a:solidFill>
            <a:prstDash val="solid"/>
          </a:ln>
        </p:spPr>
        <p:txBody>
          <a:bodyPr/>
          <a:lstStyle/>
          <a:p>
            <a:endParaRPr lang="es-ES"/>
          </a:p>
        </p:txBody>
      </p:sp>
      <p:sp>
        <p:nvSpPr>
          <p:cNvPr id="50" name="Text 48"/>
          <p:cNvSpPr/>
          <p:nvPr/>
        </p:nvSpPr>
        <p:spPr>
          <a:xfrm>
            <a:off x="118872" y="4654296"/>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1" name="Shape 49"/>
          <p:cNvSpPr/>
          <p:nvPr/>
        </p:nvSpPr>
        <p:spPr>
          <a:xfrm>
            <a:off x="118872" y="4773168"/>
            <a:ext cx="475488" cy="271272"/>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773168"/>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3" name="Shape 51"/>
          <p:cNvSpPr/>
          <p:nvPr/>
        </p:nvSpPr>
        <p:spPr>
          <a:xfrm>
            <a:off x="118872" y="5049012"/>
            <a:ext cx="475488" cy="271272"/>
          </a:xfrm>
          <a:prstGeom prst="rect">
            <a:avLst/>
          </a:prstGeom>
          <a:solidFill>
            <a:srgbClr val="FFFFFF"/>
          </a:solidFill>
          <a:ln w="3810">
            <a:solidFill>
              <a:srgbClr val="BE82FF"/>
            </a:solidFill>
            <a:prstDash val="solid"/>
          </a:ln>
        </p:spPr>
        <p:txBody>
          <a:bodyPr/>
          <a:lstStyle/>
          <a:p>
            <a:endParaRPr lang="es-ES"/>
          </a:p>
        </p:txBody>
      </p:sp>
      <p:sp>
        <p:nvSpPr>
          <p:cNvPr id="54" name="Text 52"/>
          <p:cNvSpPr/>
          <p:nvPr/>
        </p:nvSpPr>
        <p:spPr>
          <a:xfrm>
            <a:off x="118872" y="5049012"/>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5" name="Shape 53"/>
          <p:cNvSpPr/>
          <p:nvPr/>
        </p:nvSpPr>
        <p:spPr>
          <a:xfrm>
            <a:off x="118872" y="5324856"/>
            <a:ext cx="475488" cy="271272"/>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5324856"/>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57" name="Shape 55"/>
          <p:cNvSpPr/>
          <p:nvPr/>
        </p:nvSpPr>
        <p:spPr>
          <a:xfrm>
            <a:off x="118872" y="5600700"/>
            <a:ext cx="475488" cy="109728"/>
          </a:xfrm>
          <a:prstGeom prst="rect">
            <a:avLst/>
          </a:prstGeom>
          <a:solidFill>
            <a:srgbClr val="BE82FF"/>
          </a:solidFill>
          <a:ln w="6350">
            <a:solidFill>
              <a:srgbClr val="A100FF"/>
            </a:solidFill>
            <a:prstDash val="solid"/>
          </a:ln>
        </p:spPr>
        <p:txBody>
          <a:bodyPr/>
          <a:lstStyle/>
          <a:p>
            <a:endParaRPr lang="es-ES"/>
          </a:p>
        </p:txBody>
      </p:sp>
      <p:sp>
        <p:nvSpPr>
          <p:cNvPr id="58" name="Text 56"/>
          <p:cNvSpPr/>
          <p:nvPr/>
        </p:nvSpPr>
        <p:spPr>
          <a:xfrm>
            <a:off x="118872" y="560070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59" name="Shape 57"/>
          <p:cNvSpPr/>
          <p:nvPr/>
        </p:nvSpPr>
        <p:spPr>
          <a:xfrm>
            <a:off x="118872" y="5719572"/>
            <a:ext cx="475488" cy="40919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719572"/>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1" name="Shape 59"/>
          <p:cNvSpPr/>
          <p:nvPr/>
        </p:nvSpPr>
        <p:spPr>
          <a:xfrm>
            <a:off x="118872" y="6133338"/>
            <a:ext cx="475488" cy="409194"/>
          </a:xfrm>
          <a:prstGeom prst="rect">
            <a:avLst/>
          </a:prstGeom>
          <a:solidFill>
            <a:srgbClr val="FFFFFF"/>
          </a:solidFill>
          <a:ln w="3810">
            <a:solidFill>
              <a:srgbClr val="BE82FF"/>
            </a:solidFill>
            <a:prstDash val="solid"/>
          </a:ln>
        </p:spPr>
        <p:txBody>
          <a:bodyPr/>
          <a:lstStyle/>
          <a:p>
            <a:endParaRPr lang="es-ES"/>
          </a:p>
        </p:txBody>
      </p:sp>
      <p:sp>
        <p:nvSpPr>
          <p:cNvPr id="62" name="Text 60"/>
          <p:cNvSpPr/>
          <p:nvPr/>
        </p:nvSpPr>
        <p:spPr>
          <a:xfrm>
            <a:off x="118872" y="6133338"/>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3" name="Shape 61"/>
          <p:cNvSpPr/>
          <p:nvPr/>
        </p:nvSpPr>
        <p:spPr>
          <a:xfrm>
            <a:off x="630936"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64" name="Shape 62"/>
          <p:cNvSpPr/>
          <p:nvPr/>
        </p:nvSpPr>
        <p:spPr>
          <a:xfrm>
            <a:off x="640080"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65" name="Text 63"/>
          <p:cNvSpPr/>
          <p:nvPr/>
        </p:nvSpPr>
        <p:spPr>
          <a:xfrm>
            <a:off x="640080"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6" name="Shape 64"/>
          <p:cNvSpPr/>
          <p:nvPr/>
        </p:nvSpPr>
        <p:spPr>
          <a:xfrm>
            <a:off x="795528"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67" name="Text 65"/>
          <p:cNvSpPr/>
          <p:nvPr/>
        </p:nvSpPr>
        <p:spPr>
          <a:xfrm>
            <a:off x="813816"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Observ.</a:t>
            </a:r>
            <a:endParaRPr lang="en-US" sz="500" dirty="0"/>
          </a:p>
        </p:txBody>
      </p:sp>
      <p:sp>
        <p:nvSpPr>
          <p:cNvPr id="68" name="Shape 66"/>
          <p:cNvSpPr/>
          <p:nvPr/>
        </p:nvSpPr>
        <p:spPr>
          <a:xfrm>
            <a:off x="640080" y="868680"/>
            <a:ext cx="475488" cy="109728"/>
          </a:xfrm>
          <a:prstGeom prst="rect">
            <a:avLst/>
          </a:prstGeom>
          <a:solidFill>
            <a:srgbClr val="BE82FF"/>
          </a:solidFill>
          <a:ln w="6350">
            <a:solidFill>
              <a:srgbClr val="A100FF"/>
            </a:solidFill>
            <a:prstDash val="solid"/>
          </a:ln>
        </p:spPr>
        <p:txBody>
          <a:bodyPr/>
          <a:lstStyle/>
          <a:p>
            <a:endParaRPr lang="es-ES"/>
          </a:p>
        </p:txBody>
      </p:sp>
      <p:sp>
        <p:nvSpPr>
          <p:cNvPr id="69" name="Text 67"/>
          <p:cNvSpPr/>
          <p:nvPr/>
        </p:nvSpPr>
        <p:spPr>
          <a:xfrm>
            <a:off x="640080"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t>
            </a:r>
            <a:endParaRPr lang="en-US" sz="400" dirty="0"/>
          </a:p>
        </p:txBody>
      </p:sp>
      <p:sp>
        <p:nvSpPr>
          <p:cNvPr id="70" name="Shape 68"/>
          <p:cNvSpPr/>
          <p:nvPr/>
        </p:nvSpPr>
        <p:spPr>
          <a:xfrm>
            <a:off x="640080" y="987552"/>
            <a:ext cx="475488" cy="250088"/>
          </a:xfrm>
          <a:prstGeom prst="rect">
            <a:avLst/>
          </a:prstGeom>
          <a:solidFill>
            <a:srgbClr val="FFFFFF"/>
          </a:solidFill>
          <a:ln w="3810">
            <a:solidFill>
              <a:srgbClr val="BE82FF"/>
            </a:solidFill>
            <a:prstDash val="solid"/>
          </a:ln>
        </p:spPr>
        <p:txBody>
          <a:bodyPr/>
          <a:lstStyle/>
          <a:p>
            <a:endParaRPr lang="es-ES"/>
          </a:p>
        </p:txBody>
      </p:sp>
      <p:sp>
        <p:nvSpPr>
          <p:cNvPr id="71" name="Text 69"/>
          <p:cNvSpPr/>
          <p:nvPr/>
        </p:nvSpPr>
        <p:spPr>
          <a:xfrm>
            <a:off x="640080" y="98755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Salud</a:t>
            </a:r>
            <a:endParaRPr lang="en-US" sz="380" dirty="0"/>
          </a:p>
        </p:txBody>
      </p:sp>
      <p:sp>
        <p:nvSpPr>
          <p:cNvPr id="72" name="Shape 70"/>
          <p:cNvSpPr/>
          <p:nvPr/>
        </p:nvSpPr>
        <p:spPr>
          <a:xfrm>
            <a:off x="640080" y="1242212"/>
            <a:ext cx="475488" cy="250088"/>
          </a:xfrm>
          <a:prstGeom prst="rect">
            <a:avLst/>
          </a:prstGeom>
          <a:solidFill>
            <a:srgbClr val="FFFFFF"/>
          </a:solidFill>
          <a:ln w="3810">
            <a:solidFill>
              <a:srgbClr val="BE82FF"/>
            </a:solidFill>
            <a:prstDash val="solid"/>
          </a:ln>
        </p:spPr>
        <p:txBody>
          <a:bodyPr/>
          <a:lstStyle/>
          <a:p>
            <a:endParaRPr lang="es-ES"/>
          </a:p>
        </p:txBody>
      </p:sp>
      <p:sp>
        <p:nvSpPr>
          <p:cNvPr id="73" name="Text 71"/>
          <p:cNvSpPr/>
          <p:nvPr/>
        </p:nvSpPr>
        <p:spPr>
          <a:xfrm>
            <a:off x="640080" y="1242212"/>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APIs/Disponib.</a:t>
            </a:r>
            <a:endParaRPr lang="en-US" sz="380" dirty="0"/>
          </a:p>
        </p:txBody>
      </p:sp>
      <p:sp>
        <p:nvSpPr>
          <p:cNvPr id="74" name="Shape 72"/>
          <p:cNvSpPr/>
          <p:nvPr/>
        </p:nvSpPr>
        <p:spPr>
          <a:xfrm>
            <a:off x="640080" y="1496873"/>
            <a:ext cx="475488" cy="250088"/>
          </a:xfrm>
          <a:prstGeom prst="rect">
            <a:avLst/>
          </a:prstGeom>
          <a:solidFill>
            <a:srgbClr val="FFFFFF"/>
          </a:solidFill>
          <a:ln w="3810">
            <a:solidFill>
              <a:srgbClr val="BE82FF"/>
            </a:solidFill>
            <a:prstDash val="solid"/>
          </a:ln>
        </p:spPr>
        <p:txBody>
          <a:bodyPr/>
          <a:lstStyle/>
          <a:p>
            <a:endParaRPr lang="es-ES"/>
          </a:p>
        </p:txBody>
      </p:sp>
      <p:sp>
        <p:nvSpPr>
          <p:cNvPr id="75" name="Text 73"/>
          <p:cNvSpPr/>
          <p:nvPr/>
        </p:nvSpPr>
        <p:spPr>
          <a:xfrm>
            <a:off x="640080" y="149687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a:t>
            </a:r>
            <a:endParaRPr lang="en-US" sz="380" dirty="0"/>
          </a:p>
        </p:txBody>
      </p:sp>
      <p:sp>
        <p:nvSpPr>
          <p:cNvPr id="76" name="Shape 74"/>
          <p:cNvSpPr/>
          <p:nvPr/>
        </p:nvSpPr>
        <p:spPr>
          <a:xfrm>
            <a:off x="640080" y="1751533"/>
            <a:ext cx="475488" cy="250088"/>
          </a:xfrm>
          <a:prstGeom prst="rect">
            <a:avLst/>
          </a:prstGeom>
          <a:solidFill>
            <a:srgbClr val="FFFFFF"/>
          </a:solidFill>
          <a:ln w="3810">
            <a:solidFill>
              <a:srgbClr val="BE82FF"/>
            </a:solidFill>
            <a:prstDash val="solid"/>
          </a:ln>
        </p:spPr>
        <p:txBody>
          <a:bodyPr/>
          <a:lstStyle/>
          <a:p>
            <a:endParaRPr lang="es-ES"/>
          </a:p>
        </p:txBody>
      </p:sp>
      <p:sp>
        <p:nvSpPr>
          <p:cNvPr id="77" name="Text 75"/>
          <p:cNvSpPr/>
          <p:nvPr/>
        </p:nvSpPr>
        <p:spPr>
          <a:xfrm>
            <a:off x="640080" y="1751533"/>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Capacidad</a:t>
            </a:r>
            <a:endParaRPr lang="en-US" sz="380" dirty="0"/>
          </a:p>
        </p:txBody>
      </p:sp>
      <p:sp>
        <p:nvSpPr>
          <p:cNvPr id="78" name="Shape 76"/>
          <p:cNvSpPr/>
          <p:nvPr/>
        </p:nvSpPr>
        <p:spPr>
          <a:xfrm>
            <a:off x="640080" y="2006194"/>
            <a:ext cx="475488" cy="109728"/>
          </a:xfrm>
          <a:prstGeom prst="rect">
            <a:avLst/>
          </a:prstGeom>
          <a:solidFill>
            <a:srgbClr val="BE82FF"/>
          </a:solidFill>
          <a:ln w="6350">
            <a:solidFill>
              <a:srgbClr val="A100FF"/>
            </a:solidFill>
            <a:prstDash val="solid"/>
          </a:ln>
        </p:spPr>
        <p:txBody>
          <a:bodyPr/>
          <a:lstStyle/>
          <a:p>
            <a:endParaRPr lang="es-ES"/>
          </a:p>
        </p:txBody>
      </p:sp>
      <p:sp>
        <p:nvSpPr>
          <p:cNvPr id="79" name="Text 77"/>
          <p:cNvSpPr/>
          <p:nvPr/>
        </p:nvSpPr>
        <p:spPr>
          <a:xfrm>
            <a:off x="640080" y="200619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0" name="Shape 78"/>
          <p:cNvSpPr/>
          <p:nvPr/>
        </p:nvSpPr>
        <p:spPr>
          <a:xfrm>
            <a:off x="640080" y="2125066"/>
            <a:ext cx="475488" cy="250088"/>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212506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82" name="Shape 80"/>
          <p:cNvSpPr/>
          <p:nvPr/>
        </p:nvSpPr>
        <p:spPr>
          <a:xfrm>
            <a:off x="640080" y="2379726"/>
            <a:ext cx="475488" cy="250088"/>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237972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84" name="Shape 82"/>
          <p:cNvSpPr/>
          <p:nvPr/>
        </p:nvSpPr>
        <p:spPr>
          <a:xfrm>
            <a:off x="640080" y="2634386"/>
            <a:ext cx="475488" cy="250088"/>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263438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86" name="Shape 84"/>
          <p:cNvSpPr/>
          <p:nvPr/>
        </p:nvSpPr>
        <p:spPr>
          <a:xfrm>
            <a:off x="640080" y="2889047"/>
            <a:ext cx="475488" cy="250088"/>
          </a:xfrm>
          <a:prstGeom prst="rect">
            <a:avLst/>
          </a:prstGeom>
          <a:solidFill>
            <a:srgbClr val="FFFFFF"/>
          </a:solidFill>
          <a:ln w="3810">
            <a:solidFill>
              <a:srgbClr val="BE82FF"/>
            </a:solidFill>
            <a:prstDash val="solid"/>
          </a:ln>
        </p:spPr>
        <p:txBody>
          <a:bodyPr/>
          <a:lstStyle/>
          <a:p>
            <a:endParaRPr lang="es-ES"/>
          </a:p>
        </p:txBody>
      </p:sp>
      <p:sp>
        <p:nvSpPr>
          <p:cNvPr id="87" name="Text 85"/>
          <p:cNvSpPr/>
          <p:nvPr/>
        </p:nvSpPr>
        <p:spPr>
          <a:xfrm>
            <a:off x="640080" y="2889047"/>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88" name="Shape 86"/>
          <p:cNvSpPr/>
          <p:nvPr/>
        </p:nvSpPr>
        <p:spPr>
          <a:xfrm>
            <a:off x="640080" y="3143707"/>
            <a:ext cx="475488" cy="109728"/>
          </a:xfrm>
          <a:prstGeom prst="rect">
            <a:avLst/>
          </a:prstGeom>
          <a:solidFill>
            <a:srgbClr val="BE82FF"/>
          </a:solidFill>
          <a:ln w="6350">
            <a:solidFill>
              <a:srgbClr val="A100FF"/>
            </a:solidFill>
            <a:prstDash val="solid"/>
          </a:ln>
        </p:spPr>
        <p:txBody>
          <a:bodyPr/>
          <a:lstStyle/>
          <a:p>
            <a:endParaRPr lang="es-ES"/>
          </a:p>
        </p:txBody>
      </p:sp>
      <p:sp>
        <p:nvSpPr>
          <p:cNvPr id="89" name="Text 87"/>
          <p:cNvSpPr/>
          <p:nvPr/>
        </p:nvSpPr>
        <p:spPr>
          <a:xfrm>
            <a:off x="640080" y="3143707"/>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0" name="Shape 88"/>
          <p:cNvSpPr/>
          <p:nvPr/>
        </p:nvSpPr>
        <p:spPr>
          <a:xfrm>
            <a:off x="640080" y="3262579"/>
            <a:ext cx="475488" cy="504749"/>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3262579"/>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a:t>
            </a:r>
            <a:endParaRPr lang="en-US" sz="380" dirty="0"/>
          </a:p>
        </p:txBody>
      </p:sp>
      <p:sp>
        <p:nvSpPr>
          <p:cNvPr id="92" name="Shape 90"/>
          <p:cNvSpPr/>
          <p:nvPr/>
        </p:nvSpPr>
        <p:spPr>
          <a:xfrm>
            <a:off x="640080" y="3771900"/>
            <a:ext cx="475488" cy="504749"/>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3771900"/>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94" name="Shape 92"/>
          <p:cNvSpPr/>
          <p:nvPr/>
        </p:nvSpPr>
        <p:spPr>
          <a:xfrm>
            <a:off x="640080" y="4281221"/>
            <a:ext cx="475488" cy="109728"/>
          </a:xfrm>
          <a:prstGeom prst="rect">
            <a:avLst/>
          </a:prstGeom>
          <a:solidFill>
            <a:srgbClr val="BE82FF"/>
          </a:solidFill>
          <a:ln w="6350">
            <a:solidFill>
              <a:srgbClr val="A100FF"/>
            </a:solidFill>
            <a:prstDash val="solid"/>
          </a:ln>
        </p:spPr>
        <p:txBody>
          <a:bodyPr/>
          <a:lstStyle/>
          <a:p>
            <a:endParaRPr lang="es-ES"/>
          </a:p>
        </p:txBody>
      </p:sp>
      <p:sp>
        <p:nvSpPr>
          <p:cNvPr id="95" name="Text 93"/>
          <p:cNvSpPr/>
          <p:nvPr/>
        </p:nvSpPr>
        <p:spPr>
          <a:xfrm>
            <a:off x="640080" y="4281221"/>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Métr.&amp;Analít.</a:t>
            </a:r>
            <a:endParaRPr lang="en-US" sz="400" dirty="0"/>
          </a:p>
        </p:txBody>
      </p:sp>
      <p:sp>
        <p:nvSpPr>
          <p:cNvPr id="96" name="Shape 94"/>
          <p:cNvSpPr/>
          <p:nvPr/>
        </p:nvSpPr>
        <p:spPr>
          <a:xfrm>
            <a:off x="640080" y="4400093"/>
            <a:ext cx="475488" cy="504749"/>
          </a:xfrm>
          <a:prstGeom prst="rect">
            <a:avLst/>
          </a:prstGeom>
          <a:solidFill>
            <a:srgbClr val="FFFFFF"/>
          </a:solidFill>
          <a:ln w="3810">
            <a:solidFill>
              <a:srgbClr val="BE82FF"/>
            </a:solidFill>
            <a:prstDash val="solid"/>
          </a:ln>
        </p:spPr>
        <p:txBody>
          <a:bodyPr/>
          <a:lstStyle/>
          <a:p>
            <a:endParaRPr lang="es-ES"/>
          </a:p>
        </p:txBody>
      </p:sp>
      <p:sp>
        <p:nvSpPr>
          <p:cNvPr id="97" name="Text 95"/>
          <p:cNvSpPr/>
          <p:nvPr/>
        </p:nvSpPr>
        <p:spPr>
          <a:xfrm>
            <a:off x="640080" y="4400093"/>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98" name="Shape 96"/>
          <p:cNvSpPr/>
          <p:nvPr/>
        </p:nvSpPr>
        <p:spPr>
          <a:xfrm>
            <a:off x="640080" y="4909414"/>
            <a:ext cx="475488" cy="504749"/>
          </a:xfrm>
          <a:prstGeom prst="rect">
            <a:avLst/>
          </a:prstGeom>
          <a:solidFill>
            <a:srgbClr val="FFFFFF"/>
          </a:solidFill>
          <a:ln w="3810">
            <a:solidFill>
              <a:srgbClr val="BE82FF"/>
            </a:solidFill>
            <a:prstDash val="solid"/>
          </a:ln>
        </p:spPr>
        <p:txBody>
          <a:bodyPr/>
          <a:lstStyle/>
          <a:p>
            <a:endParaRPr lang="es-ES"/>
          </a:p>
        </p:txBody>
      </p:sp>
      <p:sp>
        <p:nvSpPr>
          <p:cNvPr id="99" name="Text 97"/>
          <p:cNvSpPr/>
          <p:nvPr/>
        </p:nvSpPr>
        <p:spPr>
          <a:xfrm>
            <a:off x="640080" y="4909414"/>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a:t>
            </a:r>
            <a:endParaRPr lang="en-US" sz="380" dirty="0"/>
          </a:p>
        </p:txBody>
      </p:sp>
      <p:sp>
        <p:nvSpPr>
          <p:cNvPr id="100" name="Shape 98"/>
          <p:cNvSpPr/>
          <p:nvPr/>
        </p:nvSpPr>
        <p:spPr>
          <a:xfrm>
            <a:off x="640080" y="5418734"/>
            <a:ext cx="475488" cy="109728"/>
          </a:xfrm>
          <a:prstGeom prst="rect">
            <a:avLst/>
          </a:prstGeom>
          <a:solidFill>
            <a:srgbClr val="BE82FF"/>
          </a:solidFill>
          <a:ln w="6350">
            <a:solidFill>
              <a:srgbClr val="A100FF"/>
            </a:solidFill>
            <a:prstDash val="solid"/>
          </a:ln>
        </p:spPr>
        <p:txBody>
          <a:bodyPr/>
          <a:lstStyle/>
          <a:p>
            <a:endParaRPr lang="es-ES"/>
          </a:p>
        </p:txBody>
      </p:sp>
      <p:sp>
        <p:nvSpPr>
          <p:cNvPr id="101" name="Text 99"/>
          <p:cNvSpPr/>
          <p:nvPr/>
        </p:nvSpPr>
        <p:spPr>
          <a:xfrm>
            <a:off x="640080" y="541873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Paneles</a:t>
            </a:r>
            <a:endParaRPr lang="en-US" sz="400" dirty="0"/>
          </a:p>
        </p:txBody>
      </p:sp>
      <p:sp>
        <p:nvSpPr>
          <p:cNvPr id="102" name="Shape 100"/>
          <p:cNvSpPr/>
          <p:nvPr/>
        </p:nvSpPr>
        <p:spPr>
          <a:xfrm>
            <a:off x="640080" y="5537606"/>
            <a:ext cx="475488" cy="504749"/>
          </a:xfrm>
          <a:prstGeom prst="rect">
            <a:avLst/>
          </a:prstGeom>
          <a:solidFill>
            <a:srgbClr val="FFFFFF"/>
          </a:solidFill>
          <a:ln w="3810">
            <a:solidFill>
              <a:srgbClr val="BE82FF"/>
            </a:solidFill>
            <a:prstDash val="solid"/>
          </a:ln>
        </p:spPr>
        <p:txBody>
          <a:bodyPr/>
          <a:lstStyle/>
          <a:p>
            <a:endParaRPr lang="es-ES"/>
          </a:p>
        </p:txBody>
      </p:sp>
      <p:sp>
        <p:nvSpPr>
          <p:cNvPr id="103" name="Text 101"/>
          <p:cNvSpPr/>
          <p:nvPr/>
        </p:nvSpPr>
        <p:spPr>
          <a:xfrm>
            <a:off x="640080" y="5537606"/>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Técnicos</a:t>
            </a:r>
            <a:endParaRPr lang="en-US" sz="380" dirty="0"/>
          </a:p>
        </p:txBody>
      </p:sp>
      <p:sp>
        <p:nvSpPr>
          <p:cNvPr id="104" name="Shape 102"/>
          <p:cNvSpPr/>
          <p:nvPr/>
        </p:nvSpPr>
        <p:spPr>
          <a:xfrm>
            <a:off x="640080" y="6046927"/>
            <a:ext cx="475488" cy="504749"/>
          </a:xfrm>
          <a:prstGeom prst="rect">
            <a:avLst/>
          </a:prstGeom>
          <a:solidFill>
            <a:srgbClr val="FFFFFF"/>
          </a:solidFill>
          <a:ln w="3810">
            <a:solidFill>
              <a:srgbClr val="BE82FF"/>
            </a:solidFill>
            <a:prstDash val="solid"/>
          </a:ln>
        </p:spPr>
        <p:txBody>
          <a:bodyPr/>
          <a:lstStyle/>
          <a:p>
            <a:endParaRPr lang="es-ES"/>
          </a:p>
        </p:txBody>
      </p:sp>
      <p:sp>
        <p:nvSpPr>
          <p:cNvPr id="105" name="Text 103"/>
          <p:cNvSpPr/>
          <p:nvPr/>
        </p:nvSpPr>
        <p:spPr>
          <a:xfrm>
            <a:off x="640080" y="6046927"/>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Paneles Empresar.</a:t>
            </a:r>
            <a:endParaRPr lang="en-US" sz="380" dirty="0"/>
          </a:p>
        </p:txBody>
      </p:sp>
      <p:sp>
        <p:nvSpPr>
          <p:cNvPr id="106" name="Shape 104"/>
          <p:cNvSpPr/>
          <p:nvPr/>
        </p:nvSpPr>
        <p:spPr>
          <a:xfrm>
            <a:off x="11027664" y="685800"/>
            <a:ext cx="1051560" cy="5916168"/>
          </a:xfrm>
          <a:prstGeom prst="rect">
            <a:avLst/>
          </a:prstGeom>
          <a:solidFill>
            <a:srgbClr val="EDE5FF"/>
          </a:solidFill>
          <a:ln w="12700">
            <a:solidFill>
              <a:srgbClr val="A100FF"/>
            </a:solidFill>
            <a:prstDash val="solid"/>
          </a:ln>
        </p:spPr>
        <p:txBody>
          <a:bodyPr/>
          <a:lstStyle/>
          <a:p>
            <a:endParaRPr lang="es-ES"/>
          </a:p>
        </p:txBody>
      </p:sp>
      <p:sp>
        <p:nvSpPr>
          <p:cNvPr id="107" name="Shape 105"/>
          <p:cNvSpPr/>
          <p:nvPr/>
        </p:nvSpPr>
        <p:spPr>
          <a:xfrm>
            <a:off x="1103680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08" name="Text 106"/>
          <p:cNvSpPr/>
          <p:nvPr/>
        </p:nvSpPr>
        <p:spPr>
          <a:xfrm>
            <a:off x="1103680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9" name="Shape 107"/>
          <p:cNvSpPr/>
          <p:nvPr/>
        </p:nvSpPr>
        <p:spPr>
          <a:xfrm>
            <a:off x="11192256" y="685800"/>
            <a:ext cx="877824" cy="164592"/>
          </a:xfrm>
          <a:prstGeom prst="rect">
            <a:avLst/>
          </a:prstGeom>
          <a:solidFill>
            <a:srgbClr val="A100FF"/>
          </a:solidFill>
          <a:ln w="12700">
            <a:solidFill>
              <a:srgbClr val="A100FF"/>
            </a:solidFill>
            <a:prstDash val="solid"/>
          </a:ln>
        </p:spPr>
        <p:txBody>
          <a:bodyPr/>
          <a:lstStyle/>
          <a:p>
            <a:endParaRPr lang="es-ES"/>
          </a:p>
        </p:txBody>
      </p:sp>
      <p:sp>
        <p:nvSpPr>
          <p:cNvPr id="110" name="Text 108"/>
          <p:cNvSpPr/>
          <p:nvPr/>
        </p:nvSpPr>
        <p:spPr>
          <a:xfrm>
            <a:off x="11210544" y="685800"/>
            <a:ext cx="841248" cy="164592"/>
          </a:xfrm>
          <a:prstGeom prst="rect">
            <a:avLst/>
          </a:prstGeom>
          <a:noFill/>
          <a:ln/>
        </p:spPr>
        <p:txBody>
          <a:bodyPr wrap="square" lIns="0" tIns="0" rIns="0" bIns="0" rtlCol="0" anchor="ctr"/>
          <a:lstStyle/>
          <a:p>
            <a:pPr marL="0" indent="0" algn="ctr">
              <a:buNone/>
            </a:pPr>
            <a:r>
              <a:rPr lang="en-US" sz="500" b="1" dirty="0">
                <a:solidFill>
                  <a:srgbClr val="FFFFFF"/>
                </a:solidFill>
              </a:rPr>
              <a:t>Infraestructura (Pila Tecnológica)</a:t>
            </a:r>
            <a:endParaRPr lang="en-US" sz="500" dirty="0"/>
          </a:p>
        </p:txBody>
      </p:sp>
      <p:sp>
        <p:nvSpPr>
          <p:cNvPr id="111" name="Shape 109"/>
          <p:cNvSpPr/>
          <p:nvPr/>
        </p:nvSpPr>
        <p:spPr>
          <a:xfrm>
            <a:off x="11036808" y="868680"/>
            <a:ext cx="1033272" cy="109728"/>
          </a:xfrm>
          <a:prstGeom prst="rect">
            <a:avLst/>
          </a:prstGeom>
          <a:solidFill>
            <a:srgbClr val="BE82FF"/>
          </a:solidFill>
          <a:ln w="6350">
            <a:solidFill>
              <a:srgbClr val="A100FF"/>
            </a:solidFill>
            <a:prstDash val="solid"/>
          </a:ln>
        </p:spPr>
        <p:txBody>
          <a:bodyPr/>
          <a:lstStyle/>
          <a:p>
            <a:endParaRPr lang="es-ES"/>
          </a:p>
        </p:txBody>
      </p:sp>
      <p:sp>
        <p:nvSpPr>
          <p:cNvPr id="112" name="Text 110"/>
          <p:cNvSpPr/>
          <p:nvPr/>
        </p:nvSpPr>
        <p:spPr>
          <a:xfrm>
            <a:off x="11036808" y="868680"/>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13" name="Shape 111"/>
          <p:cNvSpPr/>
          <p:nvPr/>
        </p:nvSpPr>
        <p:spPr>
          <a:xfrm>
            <a:off x="11036808"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14" name="Text 112"/>
          <p:cNvSpPr/>
          <p:nvPr/>
        </p:nvSpPr>
        <p:spPr>
          <a:xfrm>
            <a:off x="11036808"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15" name="Shape 113"/>
          <p:cNvSpPr/>
          <p:nvPr/>
        </p:nvSpPr>
        <p:spPr>
          <a:xfrm>
            <a:off x="11036808"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16" name="Text 114"/>
          <p:cNvSpPr/>
          <p:nvPr/>
        </p:nvSpPr>
        <p:spPr>
          <a:xfrm>
            <a:off x="11036808"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17" name="Shape 115"/>
          <p:cNvSpPr/>
          <p:nvPr/>
        </p:nvSpPr>
        <p:spPr>
          <a:xfrm>
            <a:off x="11036808" y="1666646"/>
            <a:ext cx="498348" cy="334975"/>
          </a:xfrm>
          <a:prstGeom prst="rect">
            <a:avLst/>
          </a:prstGeom>
          <a:solidFill>
            <a:srgbClr val="FFFFFF"/>
          </a:solidFill>
          <a:ln w="3810">
            <a:solidFill>
              <a:srgbClr val="BE82FF"/>
            </a:solidFill>
            <a:prstDash val="solid"/>
          </a:ln>
        </p:spPr>
        <p:txBody>
          <a:bodyPr/>
          <a:lstStyle/>
          <a:p>
            <a:endParaRPr lang="es-ES"/>
          </a:p>
        </p:txBody>
      </p:sp>
      <p:sp>
        <p:nvSpPr>
          <p:cNvPr id="118" name="Text 116"/>
          <p:cNvSpPr/>
          <p:nvPr/>
        </p:nvSpPr>
        <p:spPr>
          <a:xfrm>
            <a:off x="11036808" y="1666646"/>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19" name="Shape 117"/>
          <p:cNvSpPr/>
          <p:nvPr/>
        </p:nvSpPr>
        <p:spPr>
          <a:xfrm>
            <a:off x="11553444"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20" name="Text 118"/>
          <p:cNvSpPr/>
          <p:nvPr/>
        </p:nvSpPr>
        <p:spPr>
          <a:xfrm>
            <a:off x="11553444"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21" name="Shape 119"/>
          <p:cNvSpPr/>
          <p:nvPr/>
        </p:nvSpPr>
        <p:spPr>
          <a:xfrm>
            <a:off x="11553444"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22" name="Text 120"/>
          <p:cNvSpPr/>
          <p:nvPr/>
        </p:nvSpPr>
        <p:spPr>
          <a:xfrm>
            <a:off x="11553444"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23" name="Shape 121"/>
          <p:cNvSpPr/>
          <p:nvPr/>
        </p:nvSpPr>
        <p:spPr>
          <a:xfrm>
            <a:off x="11036808" y="2006194"/>
            <a:ext cx="1033272" cy="109728"/>
          </a:xfrm>
          <a:prstGeom prst="rect">
            <a:avLst/>
          </a:prstGeom>
          <a:solidFill>
            <a:srgbClr val="BE82FF"/>
          </a:solidFill>
          <a:ln w="6350">
            <a:solidFill>
              <a:srgbClr val="A100FF"/>
            </a:solidFill>
            <a:prstDash val="solid"/>
          </a:ln>
        </p:spPr>
        <p:txBody>
          <a:bodyPr/>
          <a:lstStyle/>
          <a:p>
            <a:endParaRPr lang="es-ES"/>
          </a:p>
        </p:txBody>
      </p:sp>
      <p:sp>
        <p:nvSpPr>
          <p:cNvPr id="124" name="Text 122"/>
          <p:cNvSpPr/>
          <p:nvPr/>
        </p:nvSpPr>
        <p:spPr>
          <a:xfrm>
            <a:off x="11036808" y="200619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25" name="Shape 123"/>
          <p:cNvSpPr/>
          <p:nvPr/>
        </p:nvSpPr>
        <p:spPr>
          <a:xfrm>
            <a:off x="11036808"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27" name="Shape 125"/>
          <p:cNvSpPr/>
          <p:nvPr/>
        </p:nvSpPr>
        <p:spPr>
          <a:xfrm>
            <a:off x="11036808" y="2634386"/>
            <a:ext cx="498348" cy="504749"/>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263438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29" name="Shape 127"/>
          <p:cNvSpPr/>
          <p:nvPr/>
        </p:nvSpPr>
        <p:spPr>
          <a:xfrm>
            <a:off x="11553444"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553444"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31" name="Shape 129"/>
          <p:cNvSpPr/>
          <p:nvPr/>
        </p:nvSpPr>
        <p:spPr>
          <a:xfrm>
            <a:off x="11036808" y="3143707"/>
            <a:ext cx="1033272" cy="109728"/>
          </a:xfrm>
          <a:prstGeom prst="rect">
            <a:avLst/>
          </a:prstGeom>
          <a:solidFill>
            <a:srgbClr val="BE82FF"/>
          </a:solidFill>
          <a:ln w="6350">
            <a:solidFill>
              <a:srgbClr val="A100FF"/>
            </a:solidFill>
            <a:prstDash val="solid"/>
          </a:ln>
        </p:spPr>
        <p:txBody>
          <a:bodyPr/>
          <a:lstStyle/>
          <a:p>
            <a:endParaRPr lang="es-ES"/>
          </a:p>
        </p:txBody>
      </p:sp>
      <p:sp>
        <p:nvSpPr>
          <p:cNvPr id="132" name="Text 130"/>
          <p:cNvSpPr/>
          <p:nvPr/>
        </p:nvSpPr>
        <p:spPr>
          <a:xfrm>
            <a:off x="11036808" y="3143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33" name="Shape 131"/>
          <p:cNvSpPr/>
          <p:nvPr/>
        </p:nvSpPr>
        <p:spPr>
          <a:xfrm>
            <a:off x="11036808"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036808"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35" name="Shape 133"/>
          <p:cNvSpPr/>
          <p:nvPr/>
        </p:nvSpPr>
        <p:spPr>
          <a:xfrm>
            <a:off x="11036808" y="3771900"/>
            <a:ext cx="498348" cy="504749"/>
          </a:xfrm>
          <a:prstGeom prst="rect">
            <a:avLst/>
          </a:prstGeom>
          <a:solidFill>
            <a:srgbClr val="FFFFFF"/>
          </a:solidFill>
          <a:ln w="3810">
            <a:solidFill>
              <a:srgbClr val="BE82FF"/>
            </a:solidFill>
            <a:prstDash val="solid"/>
          </a:ln>
        </p:spPr>
        <p:txBody>
          <a:bodyPr/>
          <a:lstStyle/>
          <a:p>
            <a:endParaRPr lang="es-ES"/>
          </a:p>
        </p:txBody>
      </p:sp>
      <p:sp>
        <p:nvSpPr>
          <p:cNvPr id="136" name="Text 134"/>
          <p:cNvSpPr/>
          <p:nvPr/>
        </p:nvSpPr>
        <p:spPr>
          <a:xfrm>
            <a:off x="11036808" y="3771900"/>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37" name="Shape 135"/>
          <p:cNvSpPr/>
          <p:nvPr/>
        </p:nvSpPr>
        <p:spPr>
          <a:xfrm>
            <a:off x="11553444"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553444"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39" name="Shape 137"/>
          <p:cNvSpPr/>
          <p:nvPr/>
        </p:nvSpPr>
        <p:spPr>
          <a:xfrm>
            <a:off x="11036808" y="4281221"/>
            <a:ext cx="1033272" cy="109728"/>
          </a:xfrm>
          <a:prstGeom prst="rect">
            <a:avLst/>
          </a:prstGeom>
          <a:solidFill>
            <a:srgbClr val="BE82FF"/>
          </a:solidFill>
          <a:ln w="6350">
            <a:solidFill>
              <a:srgbClr val="A100FF"/>
            </a:solidFill>
            <a:prstDash val="solid"/>
          </a:ln>
        </p:spPr>
        <p:txBody>
          <a:bodyPr/>
          <a:lstStyle/>
          <a:p>
            <a:endParaRPr lang="es-ES"/>
          </a:p>
        </p:txBody>
      </p:sp>
      <p:sp>
        <p:nvSpPr>
          <p:cNvPr id="140" name="Text 138"/>
          <p:cNvSpPr/>
          <p:nvPr/>
        </p:nvSpPr>
        <p:spPr>
          <a:xfrm>
            <a:off x="11036808" y="4281221"/>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41" name="Shape 139"/>
          <p:cNvSpPr/>
          <p:nvPr/>
        </p:nvSpPr>
        <p:spPr>
          <a:xfrm>
            <a:off x="11036808"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036808"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43" name="Shape 141"/>
          <p:cNvSpPr/>
          <p:nvPr/>
        </p:nvSpPr>
        <p:spPr>
          <a:xfrm>
            <a:off x="11553444"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4" name="Text 142"/>
          <p:cNvSpPr/>
          <p:nvPr/>
        </p:nvSpPr>
        <p:spPr>
          <a:xfrm>
            <a:off x="11553444"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45" name="Shape 143"/>
          <p:cNvSpPr/>
          <p:nvPr/>
        </p:nvSpPr>
        <p:spPr>
          <a:xfrm>
            <a:off x="11036808" y="5418734"/>
            <a:ext cx="1033272" cy="109728"/>
          </a:xfrm>
          <a:prstGeom prst="rect">
            <a:avLst/>
          </a:prstGeom>
          <a:solidFill>
            <a:srgbClr val="BE82FF"/>
          </a:solidFill>
          <a:ln w="6350">
            <a:solidFill>
              <a:srgbClr val="A100FF"/>
            </a:solidFill>
            <a:prstDash val="solid"/>
          </a:ln>
        </p:spPr>
        <p:txBody>
          <a:bodyPr/>
          <a:lstStyle/>
          <a:p>
            <a:endParaRPr lang="es-ES"/>
          </a:p>
        </p:txBody>
      </p:sp>
      <p:sp>
        <p:nvSpPr>
          <p:cNvPr id="146" name="Text 144"/>
          <p:cNvSpPr/>
          <p:nvPr/>
        </p:nvSpPr>
        <p:spPr>
          <a:xfrm>
            <a:off x="11036808" y="541873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47" name="Shape 145"/>
          <p:cNvSpPr/>
          <p:nvPr/>
        </p:nvSpPr>
        <p:spPr>
          <a:xfrm>
            <a:off x="11036808"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49" name="Shape 147"/>
          <p:cNvSpPr/>
          <p:nvPr/>
        </p:nvSpPr>
        <p:spPr>
          <a:xfrm>
            <a:off x="11036808" y="6046927"/>
            <a:ext cx="498348" cy="504749"/>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036808" y="6046927"/>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51" name="Shape 149"/>
          <p:cNvSpPr/>
          <p:nvPr/>
        </p:nvSpPr>
        <p:spPr>
          <a:xfrm>
            <a:off x="11553444"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52" name="Text 150"/>
          <p:cNvSpPr/>
          <p:nvPr/>
        </p:nvSpPr>
        <p:spPr>
          <a:xfrm>
            <a:off x="11553444"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53" name="Shape 151"/>
          <p:cNvSpPr/>
          <p:nvPr/>
        </p:nvSpPr>
        <p:spPr>
          <a:xfrm>
            <a:off x="1152144" y="685800"/>
            <a:ext cx="5121006" cy="603504"/>
          </a:xfrm>
          <a:prstGeom prst="rect">
            <a:avLst/>
          </a:prstGeom>
          <a:solidFill>
            <a:srgbClr val="EDE5FF"/>
          </a:solidFill>
          <a:ln w="12700">
            <a:solidFill>
              <a:srgbClr val="A100FF"/>
            </a:solidFill>
            <a:prstDash val="solid"/>
          </a:ln>
        </p:spPr>
        <p:txBody>
          <a:bodyPr/>
          <a:lstStyle/>
          <a:p>
            <a:endParaRPr lang="es-ES"/>
          </a:p>
        </p:txBody>
      </p:sp>
      <p:sp>
        <p:nvSpPr>
          <p:cNvPr id="154" name="Shape 152"/>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55" name="Text 153"/>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56" name="Shape 154"/>
          <p:cNvSpPr/>
          <p:nvPr/>
        </p:nvSpPr>
        <p:spPr>
          <a:xfrm>
            <a:off x="1325880" y="685800"/>
            <a:ext cx="4947270" cy="155448"/>
          </a:xfrm>
          <a:prstGeom prst="rect">
            <a:avLst/>
          </a:prstGeom>
          <a:solidFill>
            <a:srgbClr val="A100FF"/>
          </a:solidFill>
          <a:ln w="12700">
            <a:solidFill>
              <a:srgbClr val="A100FF"/>
            </a:solidFill>
            <a:prstDash val="solid"/>
          </a:ln>
        </p:spPr>
        <p:txBody>
          <a:bodyPr/>
          <a:lstStyle/>
          <a:p>
            <a:endParaRPr lang="es-ES"/>
          </a:p>
        </p:txBody>
      </p:sp>
      <p:sp>
        <p:nvSpPr>
          <p:cNvPr id="157" name="Text 155"/>
          <p:cNvSpPr/>
          <p:nvPr/>
        </p:nvSpPr>
        <p:spPr>
          <a:xfrm>
            <a:off x="1344168" y="685800"/>
            <a:ext cx="4910694" cy="155448"/>
          </a:xfrm>
          <a:prstGeom prst="rect">
            <a:avLst/>
          </a:prstGeom>
          <a:noFill/>
          <a:ln/>
        </p:spPr>
        <p:txBody>
          <a:bodyPr wrap="square" lIns="0" tIns="0" rIns="0" bIns="0" rtlCol="0" anchor="ctr"/>
          <a:lstStyle/>
          <a:p>
            <a:pPr marL="0" indent="0" algn="ctr">
              <a:buNone/>
            </a:pPr>
            <a:r>
              <a:rPr lang="en-US" sz="500" b="1" dirty="0">
                <a:solidFill>
                  <a:srgbClr val="FFFFFF"/>
                </a:solidFill>
              </a:rPr>
              <a:t>Servicios de Gateway</a:t>
            </a:r>
            <a:endParaRPr lang="en-US" sz="500" dirty="0"/>
          </a:p>
        </p:txBody>
      </p:sp>
      <p:sp>
        <p:nvSpPr>
          <p:cNvPr id="158" name="Text 156"/>
          <p:cNvSpPr/>
          <p:nvPr/>
        </p:nvSpPr>
        <p:spPr>
          <a:xfrm>
            <a:off x="1170432" y="859536"/>
            <a:ext cx="182880" cy="205740"/>
          </a:xfrm>
          <a:prstGeom prst="rect">
            <a:avLst/>
          </a:prstGeom>
          <a:noFill/>
          <a:ln/>
        </p:spPr>
        <p:txBody>
          <a:bodyPr wrap="square" rtlCol="0" anchor="ctr"/>
          <a:lstStyle/>
          <a:p>
            <a:pPr marL="0" indent="0" algn="ctr">
              <a:buNone/>
            </a:pPr>
            <a:r>
              <a:rPr lang="en-US" sz="380" b="1" dirty="0">
                <a:solidFill>
                  <a:srgbClr val="7500C0"/>
                </a:solidFill>
              </a:rPr>
              <a:t>Outbound</a:t>
            </a:r>
            <a:endParaRPr lang="en-US" sz="380" dirty="0"/>
          </a:p>
        </p:txBody>
      </p:sp>
      <p:sp>
        <p:nvSpPr>
          <p:cNvPr id="159" name="Shape 157"/>
          <p:cNvSpPr/>
          <p:nvPr/>
        </p:nvSpPr>
        <p:spPr>
          <a:xfrm>
            <a:off x="1371600"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0" name="Text 158"/>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61" name="Shape 159"/>
          <p:cNvSpPr/>
          <p:nvPr/>
        </p:nvSpPr>
        <p:spPr>
          <a:xfrm>
            <a:off x="2592415"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2" name="Text 160"/>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63" name="Shape 161"/>
          <p:cNvSpPr/>
          <p:nvPr/>
        </p:nvSpPr>
        <p:spPr>
          <a:xfrm>
            <a:off x="3813231"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4" name="Text 162"/>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65" name="Shape 163"/>
          <p:cNvSpPr/>
          <p:nvPr/>
        </p:nvSpPr>
        <p:spPr>
          <a:xfrm>
            <a:off x="5034046" y="868680"/>
            <a:ext cx="1211671" cy="187452"/>
          </a:xfrm>
          <a:prstGeom prst="rect">
            <a:avLst/>
          </a:prstGeom>
          <a:solidFill>
            <a:srgbClr val="F3ECFF"/>
          </a:solidFill>
          <a:ln w="6350">
            <a:solidFill>
              <a:srgbClr val="BE82FF"/>
            </a:solidFill>
            <a:prstDash val="solid"/>
          </a:ln>
        </p:spPr>
        <p:txBody>
          <a:bodyPr/>
          <a:lstStyle/>
          <a:p>
            <a:endParaRPr lang="es-ES"/>
          </a:p>
        </p:txBody>
      </p:sp>
      <p:sp>
        <p:nvSpPr>
          <p:cNvPr id="166" name="Text 164"/>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67" name="Text 165"/>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7500C0"/>
                </a:solidFill>
              </a:rPr>
              <a:t>Inbound</a:t>
            </a:r>
            <a:endParaRPr lang="en-US" sz="380" dirty="0"/>
          </a:p>
        </p:txBody>
      </p:sp>
      <p:sp>
        <p:nvSpPr>
          <p:cNvPr id="168" name="Shape 166"/>
          <p:cNvSpPr/>
          <p:nvPr/>
        </p:nvSpPr>
        <p:spPr>
          <a:xfrm>
            <a:off x="1371600"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69" name="Text 167"/>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Inbound</a:t>
            </a:r>
            <a:endParaRPr lang="en-US" sz="380" dirty="0"/>
          </a:p>
        </p:txBody>
      </p:sp>
      <p:sp>
        <p:nvSpPr>
          <p:cNvPr id="170" name="Shape 168"/>
          <p:cNvSpPr/>
          <p:nvPr/>
        </p:nvSpPr>
        <p:spPr>
          <a:xfrm>
            <a:off x="2592415"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1" name="Text 169"/>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Inbound</a:t>
            </a:r>
            <a:endParaRPr lang="en-US" sz="380" dirty="0"/>
          </a:p>
        </p:txBody>
      </p:sp>
      <p:sp>
        <p:nvSpPr>
          <p:cNvPr id="172" name="Shape 170"/>
          <p:cNvSpPr/>
          <p:nvPr/>
        </p:nvSpPr>
        <p:spPr>
          <a:xfrm>
            <a:off x="3813231"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3" name="Text 171"/>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Inbound</a:t>
            </a:r>
            <a:endParaRPr lang="en-US" sz="380" dirty="0"/>
          </a:p>
        </p:txBody>
      </p:sp>
      <p:sp>
        <p:nvSpPr>
          <p:cNvPr id="174" name="Shape 172"/>
          <p:cNvSpPr/>
          <p:nvPr/>
        </p:nvSpPr>
        <p:spPr>
          <a:xfrm>
            <a:off x="5034046" y="1092708"/>
            <a:ext cx="1211671" cy="187452"/>
          </a:xfrm>
          <a:prstGeom prst="rect">
            <a:avLst/>
          </a:prstGeom>
          <a:solidFill>
            <a:srgbClr val="F3ECFF"/>
          </a:solidFill>
          <a:ln w="6350">
            <a:solidFill>
              <a:srgbClr val="BE82FF"/>
            </a:solidFill>
            <a:prstDash val="solid"/>
          </a:ln>
        </p:spPr>
        <p:txBody>
          <a:bodyPr/>
          <a:lstStyle/>
          <a:p>
            <a:endParaRPr lang="es-ES"/>
          </a:p>
        </p:txBody>
      </p:sp>
      <p:sp>
        <p:nvSpPr>
          <p:cNvPr id="175" name="Text 173"/>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STS / Open Banking / Filter Edge</a:t>
            </a:r>
            <a:endParaRPr lang="en-US" sz="380" dirty="0"/>
          </a:p>
        </p:txBody>
      </p:sp>
      <p:sp>
        <p:nvSpPr>
          <p:cNvPr id="176" name="Shape 174"/>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77" name="Shape 175"/>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78" name="Text 176"/>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79" name="Shape 177"/>
          <p:cNvSpPr/>
          <p:nvPr/>
        </p:nvSpPr>
        <p:spPr>
          <a:xfrm>
            <a:off x="6474318" y="685800"/>
            <a:ext cx="4525914" cy="155448"/>
          </a:xfrm>
          <a:prstGeom prst="rect">
            <a:avLst/>
          </a:prstGeom>
          <a:solidFill>
            <a:srgbClr val="A100FF"/>
          </a:solidFill>
          <a:ln w="12700">
            <a:solidFill>
              <a:srgbClr val="A100FF"/>
            </a:solidFill>
            <a:prstDash val="solid"/>
          </a:ln>
        </p:spPr>
        <p:txBody>
          <a:bodyPr/>
          <a:lstStyle/>
          <a:p>
            <a:endParaRPr lang="es-ES"/>
          </a:p>
        </p:txBody>
      </p:sp>
      <p:sp>
        <p:nvSpPr>
          <p:cNvPr id="180" name="Text 178"/>
          <p:cNvSpPr/>
          <p:nvPr/>
        </p:nvSpPr>
        <p:spPr>
          <a:xfrm>
            <a:off x="6492606" y="685800"/>
            <a:ext cx="4489338" cy="155448"/>
          </a:xfrm>
          <a:prstGeom prst="rect">
            <a:avLst/>
          </a:prstGeom>
          <a:noFill/>
          <a:ln/>
        </p:spPr>
        <p:txBody>
          <a:bodyPr wrap="square" lIns="0" tIns="0" rIns="0" bIns="0" rtlCol="0" anchor="ctr"/>
          <a:lstStyle/>
          <a:p>
            <a:pPr marL="0" indent="0" algn="ctr">
              <a:buNone/>
            </a:pPr>
            <a:r>
              <a:rPr lang="en-US" sz="500" b="1" dirty="0">
                <a:solidFill>
                  <a:srgbClr val="FFFFFF"/>
                </a:solidFill>
              </a:rPr>
              <a:t>API Management</a:t>
            </a:r>
            <a:endParaRPr lang="en-US" sz="500" dirty="0"/>
          </a:p>
        </p:txBody>
      </p:sp>
      <p:sp>
        <p:nvSpPr>
          <p:cNvPr id="181" name="Shape 179"/>
          <p:cNvSpPr/>
          <p:nvPr/>
        </p:nvSpPr>
        <p:spPr>
          <a:xfrm>
            <a:off x="630972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82" name="Text 180"/>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83" name="Shape 181"/>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84" name="Text 182"/>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185" name="Shape 183"/>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186" name="Text 184"/>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187" name="Shape 185"/>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188" name="Text 186"/>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189" name="Shape 187"/>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190" name="Text 188"/>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191" name="Shape 189"/>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192" name="Text 190"/>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193" name="Shape 191"/>
          <p:cNvSpPr/>
          <p:nvPr/>
        </p:nvSpPr>
        <p:spPr>
          <a:xfrm>
            <a:off x="748006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94" name="Text 192"/>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195" name="Shape 193"/>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196" name="Text 194"/>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197" name="Shape 195"/>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198" name="Text 196"/>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199" name="Shape 197"/>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00" name="Text 198"/>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01" name="Shape 199"/>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02" name="Text 200"/>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03" name="Shape 201"/>
          <p:cNvSpPr/>
          <p:nvPr/>
        </p:nvSpPr>
        <p:spPr>
          <a:xfrm>
            <a:off x="865040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04" name="Text 202"/>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05" name="Shape 203"/>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06" name="Text 204"/>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07" name="Shape 205"/>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08" name="Text 206"/>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09" name="Shape 207"/>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0" name="Text 208"/>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11" name="Shape 209"/>
          <p:cNvSpPr/>
          <p:nvPr/>
        </p:nvSpPr>
        <p:spPr>
          <a:xfrm>
            <a:off x="982074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12" name="Text 210"/>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13" name="Shape 211"/>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14" name="Text 212"/>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15" name="Shape 213"/>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6" name="Text 214"/>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17" name="Shape 215"/>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8" name="Text 216"/>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19" name="Shape 217"/>
          <p:cNvSpPr/>
          <p:nvPr/>
        </p:nvSpPr>
        <p:spPr>
          <a:xfrm>
            <a:off x="1152144" y="1316736"/>
            <a:ext cx="9848088" cy="633222"/>
          </a:xfrm>
          <a:prstGeom prst="rect">
            <a:avLst/>
          </a:prstGeom>
          <a:solidFill>
            <a:srgbClr val="F0F8FF"/>
          </a:solidFill>
          <a:ln w="7620">
            <a:solidFill>
              <a:srgbClr val="7500C0"/>
            </a:solidFill>
            <a:prstDash val="solid"/>
          </a:ln>
        </p:spPr>
        <p:txBody>
          <a:bodyPr/>
          <a:lstStyle/>
          <a:p>
            <a:endParaRPr lang="es-ES"/>
          </a:p>
        </p:txBody>
      </p:sp>
      <p:sp>
        <p:nvSpPr>
          <p:cNvPr id="220" name="Shape 218"/>
          <p:cNvSpPr/>
          <p:nvPr/>
        </p:nvSpPr>
        <p:spPr>
          <a:xfrm>
            <a:off x="1152144" y="1316736"/>
            <a:ext cx="9848088" cy="118872"/>
          </a:xfrm>
          <a:prstGeom prst="rect">
            <a:avLst/>
          </a:prstGeom>
          <a:solidFill>
            <a:srgbClr val="7500C0"/>
          </a:solidFill>
          <a:ln w="12700">
            <a:solidFill>
              <a:srgbClr val="7500C0"/>
            </a:solidFill>
            <a:prstDash val="solid"/>
          </a:ln>
        </p:spPr>
        <p:txBody>
          <a:bodyPr/>
          <a:lstStyle/>
          <a:p>
            <a:endParaRPr lang="es-ES"/>
          </a:p>
        </p:txBody>
      </p:sp>
      <p:sp>
        <p:nvSpPr>
          <p:cNvPr id="221" name="Text 219"/>
          <p:cNvSpPr/>
          <p:nvPr/>
        </p:nvSpPr>
        <p:spPr>
          <a:xfrm>
            <a:off x="1188720" y="131673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Servicio</a:t>
            </a:r>
            <a:endParaRPr lang="en-US" sz="550" dirty="0"/>
          </a:p>
        </p:txBody>
      </p:sp>
      <p:sp>
        <p:nvSpPr>
          <p:cNvPr id="222" name="Shape 220"/>
          <p:cNvSpPr/>
          <p:nvPr/>
        </p:nvSpPr>
        <p:spPr>
          <a:xfrm>
            <a:off x="1170432"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23" name="Text 221"/>
          <p:cNvSpPr/>
          <p:nvPr/>
        </p:nvSpPr>
        <p:spPr>
          <a:xfrm>
            <a:off x="1170432"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24" name="Shape 222"/>
          <p:cNvSpPr/>
          <p:nvPr/>
        </p:nvSpPr>
        <p:spPr>
          <a:xfrm>
            <a:off x="1170432"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25" name="Text 223"/>
          <p:cNvSpPr/>
          <p:nvPr/>
        </p:nvSpPr>
        <p:spPr>
          <a:xfrm>
            <a:off x="1170432"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26" name="Shape 224"/>
          <p:cNvSpPr/>
          <p:nvPr/>
        </p:nvSpPr>
        <p:spPr>
          <a:xfrm>
            <a:off x="1170432"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27" name="Text 225"/>
          <p:cNvSpPr/>
          <p:nvPr/>
        </p:nvSpPr>
        <p:spPr>
          <a:xfrm>
            <a:off x="1170432"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28" name="Shape 226"/>
          <p:cNvSpPr/>
          <p:nvPr/>
        </p:nvSpPr>
        <p:spPr>
          <a:xfrm>
            <a:off x="1170432"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29" name="Text 227"/>
          <p:cNvSpPr/>
          <p:nvPr/>
        </p:nvSpPr>
        <p:spPr>
          <a:xfrm>
            <a:off x="1170432"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30" name="Shape 228"/>
          <p:cNvSpPr/>
          <p:nvPr/>
        </p:nvSpPr>
        <p:spPr>
          <a:xfrm>
            <a:off x="1170432"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31" name="Text 229"/>
          <p:cNvSpPr/>
          <p:nvPr/>
        </p:nvSpPr>
        <p:spPr>
          <a:xfrm>
            <a:off x="1170432"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32" name="Shape 230"/>
          <p:cNvSpPr/>
          <p:nvPr/>
        </p:nvSpPr>
        <p:spPr>
          <a:xfrm>
            <a:off x="3623310"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33" name="Text 231"/>
          <p:cNvSpPr/>
          <p:nvPr/>
        </p:nvSpPr>
        <p:spPr>
          <a:xfrm>
            <a:off x="3623310"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Integración y Mediación</a:t>
            </a:r>
            <a:endParaRPr lang="en-US" sz="400" dirty="0"/>
          </a:p>
        </p:txBody>
      </p:sp>
      <p:sp>
        <p:nvSpPr>
          <p:cNvPr id="234" name="Shape 232"/>
          <p:cNvSpPr/>
          <p:nvPr/>
        </p:nvSpPr>
        <p:spPr>
          <a:xfrm>
            <a:off x="3623310" y="1554480"/>
            <a:ext cx="2434590" cy="124206"/>
          </a:xfrm>
          <a:prstGeom prst="rect">
            <a:avLst/>
          </a:prstGeom>
          <a:solidFill>
            <a:srgbClr val="FFFFFF"/>
          </a:solidFill>
          <a:ln w="3810">
            <a:solidFill>
              <a:srgbClr val="BE82FF"/>
            </a:solidFill>
            <a:prstDash val="solid"/>
          </a:ln>
        </p:spPr>
        <p:txBody>
          <a:bodyPr/>
          <a:lstStyle/>
          <a:p>
            <a:endParaRPr lang="es-ES"/>
          </a:p>
        </p:txBody>
      </p:sp>
      <p:sp>
        <p:nvSpPr>
          <p:cNvPr id="235" name="Text 233"/>
          <p:cNvSpPr/>
          <p:nvPr/>
        </p:nvSpPr>
        <p:spPr>
          <a:xfrm>
            <a:off x="3623310" y="155448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36" name="Shape 234"/>
          <p:cNvSpPr/>
          <p:nvPr/>
        </p:nvSpPr>
        <p:spPr>
          <a:xfrm>
            <a:off x="3623310" y="1683258"/>
            <a:ext cx="2434590" cy="124206"/>
          </a:xfrm>
          <a:prstGeom prst="rect">
            <a:avLst/>
          </a:prstGeom>
          <a:solidFill>
            <a:srgbClr val="FFFFFF"/>
          </a:solidFill>
          <a:ln w="3810">
            <a:solidFill>
              <a:srgbClr val="BE82FF"/>
            </a:solidFill>
            <a:prstDash val="solid"/>
          </a:ln>
        </p:spPr>
        <p:txBody>
          <a:bodyPr/>
          <a:lstStyle/>
          <a:p>
            <a:endParaRPr lang="es-ES"/>
          </a:p>
        </p:txBody>
      </p:sp>
      <p:sp>
        <p:nvSpPr>
          <p:cNvPr id="237" name="Text 235"/>
          <p:cNvSpPr/>
          <p:nvPr/>
        </p:nvSpPr>
        <p:spPr>
          <a:xfrm>
            <a:off x="3623310" y="168325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Protocol Bridging</a:t>
            </a:r>
            <a:endParaRPr lang="en-US" sz="380" dirty="0"/>
          </a:p>
        </p:txBody>
      </p:sp>
      <p:sp>
        <p:nvSpPr>
          <p:cNvPr id="238" name="Shape 236"/>
          <p:cNvSpPr/>
          <p:nvPr/>
        </p:nvSpPr>
        <p:spPr>
          <a:xfrm>
            <a:off x="3623310" y="1812036"/>
            <a:ext cx="2434590" cy="124206"/>
          </a:xfrm>
          <a:prstGeom prst="rect">
            <a:avLst/>
          </a:prstGeom>
          <a:solidFill>
            <a:srgbClr val="FFFFFF"/>
          </a:solidFill>
          <a:ln w="3810">
            <a:solidFill>
              <a:srgbClr val="BE82FF"/>
            </a:solidFill>
            <a:prstDash val="solid"/>
          </a:ln>
        </p:spPr>
        <p:txBody>
          <a:bodyPr/>
          <a:lstStyle/>
          <a:p>
            <a:endParaRPr lang="es-ES"/>
          </a:p>
        </p:txBody>
      </p:sp>
      <p:sp>
        <p:nvSpPr>
          <p:cNvPr id="239" name="Text 237"/>
          <p:cNvSpPr/>
          <p:nvPr/>
        </p:nvSpPr>
        <p:spPr>
          <a:xfrm>
            <a:off x="3623310" y="181203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40" name="Shape 238"/>
          <p:cNvSpPr/>
          <p:nvPr/>
        </p:nvSpPr>
        <p:spPr>
          <a:xfrm>
            <a:off x="6076188"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1" name="Text 239"/>
          <p:cNvSpPr/>
          <p:nvPr/>
        </p:nvSpPr>
        <p:spPr>
          <a:xfrm>
            <a:off x="6076188"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42" name="Shape 240"/>
          <p:cNvSpPr/>
          <p:nvPr/>
        </p:nvSpPr>
        <p:spPr>
          <a:xfrm>
            <a:off x="6076188" y="1554480"/>
            <a:ext cx="2434590" cy="188595"/>
          </a:xfrm>
          <a:prstGeom prst="rect">
            <a:avLst/>
          </a:prstGeom>
          <a:solidFill>
            <a:srgbClr val="FFFFFF"/>
          </a:solidFill>
          <a:ln w="3810">
            <a:solidFill>
              <a:srgbClr val="BE82FF"/>
            </a:solidFill>
            <a:prstDash val="solid"/>
          </a:ln>
        </p:spPr>
        <p:txBody>
          <a:bodyPr/>
          <a:lstStyle/>
          <a:p>
            <a:endParaRPr lang="es-ES"/>
          </a:p>
        </p:txBody>
      </p:sp>
      <p:sp>
        <p:nvSpPr>
          <p:cNvPr id="243" name="Text 241"/>
          <p:cNvSpPr/>
          <p:nvPr/>
        </p:nvSpPr>
        <p:spPr>
          <a:xfrm>
            <a:off x="6076188" y="1554480"/>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44" name="Shape 242"/>
          <p:cNvSpPr/>
          <p:nvPr/>
        </p:nvSpPr>
        <p:spPr>
          <a:xfrm>
            <a:off x="6076188" y="1747647"/>
            <a:ext cx="2434590" cy="188595"/>
          </a:xfrm>
          <a:prstGeom prst="rect">
            <a:avLst/>
          </a:prstGeom>
          <a:solidFill>
            <a:srgbClr val="FFFFFF"/>
          </a:solidFill>
          <a:ln w="3810">
            <a:solidFill>
              <a:srgbClr val="BE82FF"/>
            </a:solidFill>
            <a:prstDash val="solid"/>
          </a:ln>
        </p:spPr>
        <p:txBody>
          <a:bodyPr/>
          <a:lstStyle/>
          <a:p>
            <a:endParaRPr lang="es-ES"/>
          </a:p>
        </p:txBody>
      </p:sp>
      <p:sp>
        <p:nvSpPr>
          <p:cNvPr id="245" name="Text 243"/>
          <p:cNvSpPr/>
          <p:nvPr/>
        </p:nvSpPr>
        <p:spPr>
          <a:xfrm>
            <a:off x="6076188" y="1747647"/>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46" name="Shape 244"/>
          <p:cNvSpPr/>
          <p:nvPr/>
        </p:nvSpPr>
        <p:spPr>
          <a:xfrm>
            <a:off x="8529066"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7" name="Text 245"/>
          <p:cNvSpPr/>
          <p:nvPr/>
        </p:nvSpPr>
        <p:spPr>
          <a:xfrm>
            <a:off x="8529066"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Adaptadores Heredados</a:t>
            </a:r>
            <a:endParaRPr lang="en-US" sz="400" dirty="0"/>
          </a:p>
        </p:txBody>
      </p:sp>
      <p:sp>
        <p:nvSpPr>
          <p:cNvPr id="248" name="Shape 246"/>
          <p:cNvSpPr/>
          <p:nvPr/>
        </p:nvSpPr>
        <p:spPr>
          <a:xfrm>
            <a:off x="8529066"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49" name="Text 247"/>
          <p:cNvSpPr/>
          <p:nvPr/>
        </p:nvSpPr>
        <p:spPr>
          <a:xfrm>
            <a:off x="8529066"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50" name="Shape 248"/>
          <p:cNvSpPr/>
          <p:nvPr/>
        </p:nvSpPr>
        <p:spPr>
          <a:xfrm>
            <a:off x="8529066"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51" name="Text 249"/>
          <p:cNvSpPr/>
          <p:nvPr/>
        </p:nvSpPr>
        <p:spPr>
          <a:xfrm>
            <a:off x="8529066"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52" name="Shape 250"/>
          <p:cNvSpPr/>
          <p:nvPr/>
        </p:nvSpPr>
        <p:spPr>
          <a:xfrm>
            <a:off x="8529066"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53" name="Text 251"/>
          <p:cNvSpPr/>
          <p:nvPr/>
        </p:nvSpPr>
        <p:spPr>
          <a:xfrm>
            <a:off x="8529066"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Batch &amp; Sincroniz. Datos Legado</a:t>
            </a:r>
            <a:endParaRPr lang="en-US" sz="380" dirty="0"/>
          </a:p>
        </p:txBody>
      </p:sp>
      <p:sp>
        <p:nvSpPr>
          <p:cNvPr id="254" name="Shape 252"/>
          <p:cNvSpPr/>
          <p:nvPr/>
        </p:nvSpPr>
        <p:spPr>
          <a:xfrm>
            <a:off x="8529066"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55" name="Text 253"/>
          <p:cNvSpPr/>
          <p:nvPr/>
        </p:nvSpPr>
        <p:spPr>
          <a:xfrm>
            <a:off x="8529066"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56" name="Shape 254"/>
          <p:cNvSpPr/>
          <p:nvPr/>
        </p:nvSpPr>
        <p:spPr>
          <a:xfrm>
            <a:off x="1152144" y="1977390"/>
            <a:ext cx="9848088" cy="633222"/>
          </a:xfrm>
          <a:prstGeom prst="rect">
            <a:avLst/>
          </a:prstGeom>
          <a:solidFill>
            <a:srgbClr val="F0F8FF"/>
          </a:solidFill>
          <a:ln w="7620">
            <a:solidFill>
              <a:srgbClr val="7500C0"/>
            </a:solidFill>
            <a:prstDash val="solid"/>
          </a:ln>
        </p:spPr>
        <p:txBody>
          <a:bodyPr/>
          <a:lstStyle/>
          <a:p>
            <a:endParaRPr lang="es-ES"/>
          </a:p>
        </p:txBody>
      </p:sp>
      <p:sp>
        <p:nvSpPr>
          <p:cNvPr id="257" name="Shape 255"/>
          <p:cNvSpPr/>
          <p:nvPr/>
        </p:nvSpPr>
        <p:spPr>
          <a:xfrm>
            <a:off x="1152144" y="1977390"/>
            <a:ext cx="9848088" cy="118872"/>
          </a:xfrm>
          <a:prstGeom prst="rect">
            <a:avLst/>
          </a:prstGeom>
          <a:solidFill>
            <a:srgbClr val="7500C0"/>
          </a:solidFill>
          <a:ln w="12700">
            <a:solidFill>
              <a:srgbClr val="7500C0"/>
            </a:solidFill>
            <a:prstDash val="solid"/>
          </a:ln>
        </p:spPr>
        <p:txBody>
          <a:bodyPr/>
          <a:lstStyle/>
          <a:p>
            <a:endParaRPr lang="es-ES"/>
          </a:p>
        </p:txBody>
      </p:sp>
      <p:sp>
        <p:nvSpPr>
          <p:cNvPr id="258" name="Text 256"/>
          <p:cNvSpPr/>
          <p:nvPr/>
        </p:nvSpPr>
        <p:spPr>
          <a:xfrm>
            <a:off x="1188720" y="197739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Procesos</a:t>
            </a:r>
            <a:endParaRPr lang="en-US" sz="550" dirty="0"/>
          </a:p>
        </p:txBody>
      </p:sp>
      <p:sp>
        <p:nvSpPr>
          <p:cNvPr id="259" name="Shape 257"/>
          <p:cNvSpPr/>
          <p:nvPr/>
        </p:nvSpPr>
        <p:spPr>
          <a:xfrm>
            <a:off x="1170432"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0" name="Text 258"/>
          <p:cNvSpPr/>
          <p:nvPr/>
        </p:nvSpPr>
        <p:spPr>
          <a:xfrm>
            <a:off x="1170432"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de Workflow</a:t>
            </a:r>
            <a:endParaRPr lang="en-US" sz="400" dirty="0"/>
          </a:p>
        </p:txBody>
      </p:sp>
      <p:sp>
        <p:nvSpPr>
          <p:cNvPr id="261" name="Shape 259"/>
          <p:cNvSpPr/>
          <p:nvPr/>
        </p:nvSpPr>
        <p:spPr>
          <a:xfrm>
            <a:off x="1170432"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62" name="Text 260"/>
          <p:cNvSpPr/>
          <p:nvPr/>
        </p:nvSpPr>
        <p:spPr>
          <a:xfrm>
            <a:off x="1170432"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63" name="Shape 261"/>
          <p:cNvSpPr/>
          <p:nvPr/>
        </p:nvSpPr>
        <p:spPr>
          <a:xfrm>
            <a:off x="1170432"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64" name="Text 262"/>
          <p:cNvSpPr/>
          <p:nvPr/>
        </p:nvSpPr>
        <p:spPr>
          <a:xfrm>
            <a:off x="1170432"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y Coordinación Pasos</a:t>
            </a:r>
            <a:endParaRPr lang="en-US" sz="380" dirty="0"/>
          </a:p>
        </p:txBody>
      </p:sp>
      <p:sp>
        <p:nvSpPr>
          <p:cNvPr id="265" name="Shape 263"/>
          <p:cNvSpPr/>
          <p:nvPr/>
        </p:nvSpPr>
        <p:spPr>
          <a:xfrm>
            <a:off x="1170432"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66" name="Text 264"/>
          <p:cNvSpPr/>
          <p:nvPr/>
        </p:nvSpPr>
        <p:spPr>
          <a:xfrm>
            <a:off x="1170432"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67" name="Shape 265"/>
          <p:cNvSpPr/>
          <p:nvPr/>
        </p:nvSpPr>
        <p:spPr>
          <a:xfrm>
            <a:off x="3623310"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8" name="Text 266"/>
          <p:cNvSpPr/>
          <p:nvPr/>
        </p:nvSpPr>
        <p:spPr>
          <a:xfrm>
            <a:off x="3623310"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69" name="Shape 267"/>
          <p:cNvSpPr/>
          <p:nvPr/>
        </p:nvSpPr>
        <p:spPr>
          <a:xfrm>
            <a:off x="3623310"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70" name="Text 268"/>
          <p:cNvSpPr/>
          <p:nvPr/>
        </p:nvSpPr>
        <p:spPr>
          <a:xfrm>
            <a:off x="3623310"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71" name="Shape 269"/>
          <p:cNvSpPr/>
          <p:nvPr/>
        </p:nvSpPr>
        <p:spPr>
          <a:xfrm>
            <a:off x="3623310"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72" name="Text 270"/>
          <p:cNvSpPr/>
          <p:nvPr/>
        </p:nvSpPr>
        <p:spPr>
          <a:xfrm>
            <a:off x="3623310"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73" name="Shape 271"/>
          <p:cNvSpPr/>
          <p:nvPr/>
        </p:nvSpPr>
        <p:spPr>
          <a:xfrm>
            <a:off x="6076188"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4" name="Text 272"/>
          <p:cNvSpPr/>
          <p:nvPr/>
        </p:nvSpPr>
        <p:spPr>
          <a:xfrm>
            <a:off x="6076188"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275" name="Shape 273"/>
          <p:cNvSpPr/>
          <p:nvPr/>
        </p:nvSpPr>
        <p:spPr>
          <a:xfrm>
            <a:off x="6076188"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76" name="Text 274"/>
          <p:cNvSpPr/>
          <p:nvPr/>
        </p:nvSpPr>
        <p:spPr>
          <a:xfrm>
            <a:off x="6076188"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277" name="Shape 275"/>
          <p:cNvSpPr/>
          <p:nvPr/>
        </p:nvSpPr>
        <p:spPr>
          <a:xfrm>
            <a:off x="6076188"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78" name="Text 276"/>
          <p:cNvSpPr/>
          <p:nvPr/>
        </p:nvSpPr>
        <p:spPr>
          <a:xfrm>
            <a:off x="6076188"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279" name="Shape 277"/>
          <p:cNvSpPr/>
          <p:nvPr/>
        </p:nvSpPr>
        <p:spPr>
          <a:xfrm>
            <a:off x="6076188"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80" name="Text 278"/>
          <p:cNvSpPr/>
          <p:nvPr/>
        </p:nvSpPr>
        <p:spPr>
          <a:xfrm>
            <a:off x="6076188"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281" name="Shape 279"/>
          <p:cNvSpPr/>
          <p:nvPr/>
        </p:nvSpPr>
        <p:spPr>
          <a:xfrm>
            <a:off x="8529066"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82" name="Text 280"/>
          <p:cNvSpPr/>
          <p:nvPr/>
        </p:nvSpPr>
        <p:spPr>
          <a:xfrm>
            <a:off x="8529066"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283" name="Shape 281"/>
          <p:cNvSpPr/>
          <p:nvPr/>
        </p:nvSpPr>
        <p:spPr>
          <a:xfrm>
            <a:off x="8529066"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84" name="Text 282"/>
          <p:cNvSpPr/>
          <p:nvPr/>
        </p:nvSpPr>
        <p:spPr>
          <a:xfrm>
            <a:off x="8529066"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285" name="Shape 283"/>
          <p:cNvSpPr/>
          <p:nvPr/>
        </p:nvSpPr>
        <p:spPr>
          <a:xfrm>
            <a:off x="8529066"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86" name="Text 284"/>
          <p:cNvSpPr/>
          <p:nvPr/>
        </p:nvSpPr>
        <p:spPr>
          <a:xfrm>
            <a:off x="8529066"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287" name="Shape 285"/>
          <p:cNvSpPr/>
          <p:nvPr/>
        </p:nvSpPr>
        <p:spPr>
          <a:xfrm>
            <a:off x="1152144" y="2638044"/>
            <a:ext cx="9848088" cy="633222"/>
          </a:xfrm>
          <a:prstGeom prst="rect">
            <a:avLst/>
          </a:prstGeom>
          <a:solidFill>
            <a:srgbClr val="F0F8FF"/>
          </a:solidFill>
          <a:ln w="7620">
            <a:solidFill>
              <a:srgbClr val="7500C0"/>
            </a:solidFill>
            <a:prstDash val="solid"/>
          </a:ln>
        </p:spPr>
        <p:txBody>
          <a:bodyPr/>
          <a:lstStyle/>
          <a:p>
            <a:endParaRPr lang="es-ES"/>
          </a:p>
        </p:txBody>
      </p:sp>
      <p:sp>
        <p:nvSpPr>
          <p:cNvPr id="288" name="Shape 286"/>
          <p:cNvSpPr/>
          <p:nvPr/>
        </p:nvSpPr>
        <p:spPr>
          <a:xfrm>
            <a:off x="1152144" y="2638044"/>
            <a:ext cx="9848088" cy="118872"/>
          </a:xfrm>
          <a:prstGeom prst="rect">
            <a:avLst/>
          </a:prstGeom>
          <a:solidFill>
            <a:srgbClr val="7500C0"/>
          </a:solidFill>
          <a:ln w="12700">
            <a:solidFill>
              <a:srgbClr val="7500C0"/>
            </a:solidFill>
            <a:prstDash val="solid"/>
          </a:ln>
        </p:spPr>
        <p:txBody>
          <a:bodyPr/>
          <a:lstStyle/>
          <a:p>
            <a:endParaRPr lang="es-ES"/>
          </a:p>
        </p:txBody>
      </p:sp>
      <p:sp>
        <p:nvSpPr>
          <p:cNvPr id="289" name="Text 287"/>
          <p:cNvSpPr/>
          <p:nvPr/>
        </p:nvSpPr>
        <p:spPr>
          <a:xfrm>
            <a:off x="1188720" y="263804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Transacciones Distribuidas</a:t>
            </a:r>
            <a:endParaRPr lang="en-US" sz="550" dirty="0"/>
          </a:p>
        </p:txBody>
      </p:sp>
      <p:sp>
        <p:nvSpPr>
          <p:cNvPr id="290" name="Shape 288"/>
          <p:cNvSpPr/>
          <p:nvPr/>
        </p:nvSpPr>
        <p:spPr>
          <a:xfrm>
            <a:off x="1170432"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291" name="Text 289"/>
          <p:cNvSpPr/>
          <p:nvPr/>
        </p:nvSpPr>
        <p:spPr>
          <a:xfrm>
            <a:off x="1170432"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292" name="Shape 290"/>
          <p:cNvSpPr/>
          <p:nvPr/>
        </p:nvSpPr>
        <p:spPr>
          <a:xfrm>
            <a:off x="1170432"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293" name="Text 291"/>
          <p:cNvSpPr/>
          <p:nvPr/>
        </p:nvSpPr>
        <p:spPr>
          <a:xfrm>
            <a:off x="1170432"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294" name="Shape 292"/>
          <p:cNvSpPr/>
          <p:nvPr/>
        </p:nvSpPr>
        <p:spPr>
          <a:xfrm>
            <a:off x="1170432"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295" name="Text 293"/>
          <p:cNvSpPr/>
          <p:nvPr/>
        </p:nvSpPr>
        <p:spPr>
          <a:xfrm>
            <a:off x="1170432"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296" name="Shape 294"/>
          <p:cNvSpPr/>
          <p:nvPr/>
        </p:nvSpPr>
        <p:spPr>
          <a:xfrm>
            <a:off x="1170432"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297" name="Text 295"/>
          <p:cNvSpPr/>
          <p:nvPr/>
        </p:nvSpPr>
        <p:spPr>
          <a:xfrm>
            <a:off x="1170432"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298" name="Shape 296"/>
          <p:cNvSpPr/>
          <p:nvPr/>
        </p:nvSpPr>
        <p:spPr>
          <a:xfrm>
            <a:off x="1170432"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299" name="Text 297"/>
          <p:cNvSpPr/>
          <p:nvPr/>
        </p:nvSpPr>
        <p:spPr>
          <a:xfrm>
            <a:off x="1170432"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00" name="Shape 298"/>
          <p:cNvSpPr/>
          <p:nvPr/>
        </p:nvSpPr>
        <p:spPr>
          <a:xfrm>
            <a:off x="3623310"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01" name="Text 299"/>
          <p:cNvSpPr/>
          <p:nvPr/>
        </p:nvSpPr>
        <p:spPr>
          <a:xfrm>
            <a:off x="3623310"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02" name="Shape 300"/>
          <p:cNvSpPr/>
          <p:nvPr/>
        </p:nvSpPr>
        <p:spPr>
          <a:xfrm>
            <a:off x="3623310"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03" name="Text 301"/>
          <p:cNvSpPr/>
          <p:nvPr/>
        </p:nvSpPr>
        <p:spPr>
          <a:xfrm>
            <a:off x="3623310"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04" name="Shape 302"/>
          <p:cNvSpPr/>
          <p:nvPr/>
        </p:nvSpPr>
        <p:spPr>
          <a:xfrm>
            <a:off x="3623310"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05" name="Text 303"/>
          <p:cNvSpPr/>
          <p:nvPr/>
        </p:nvSpPr>
        <p:spPr>
          <a:xfrm>
            <a:off x="3623310"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06" name="Shape 304"/>
          <p:cNvSpPr/>
          <p:nvPr/>
        </p:nvSpPr>
        <p:spPr>
          <a:xfrm>
            <a:off x="3623310"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07" name="Text 305"/>
          <p:cNvSpPr/>
          <p:nvPr/>
        </p:nvSpPr>
        <p:spPr>
          <a:xfrm>
            <a:off x="3623310"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08" name="Shape 306"/>
          <p:cNvSpPr/>
          <p:nvPr/>
        </p:nvSpPr>
        <p:spPr>
          <a:xfrm>
            <a:off x="3623310"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09" name="Text 307"/>
          <p:cNvSpPr/>
          <p:nvPr/>
        </p:nvSpPr>
        <p:spPr>
          <a:xfrm>
            <a:off x="3623310"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10" name="Shape 308"/>
          <p:cNvSpPr/>
          <p:nvPr/>
        </p:nvSpPr>
        <p:spPr>
          <a:xfrm>
            <a:off x="6076188"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11" name="Text 309"/>
          <p:cNvSpPr/>
          <p:nvPr/>
        </p:nvSpPr>
        <p:spPr>
          <a:xfrm>
            <a:off x="6076188"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12" name="Shape 310"/>
          <p:cNvSpPr/>
          <p:nvPr/>
        </p:nvSpPr>
        <p:spPr>
          <a:xfrm>
            <a:off x="6076188"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13" name="Text 311"/>
          <p:cNvSpPr/>
          <p:nvPr/>
        </p:nvSpPr>
        <p:spPr>
          <a:xfrm>
            <a:off x="6076188"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14" name="Shape 312"/>
          <p:cNvSpPr/>
          <p:nvPr/>
        </p:nvSpPr>
        <p:spPr>
          <a:xfrm>
            <a:off x="6076188"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15" name="Text 313"/>
          <p:cNvSpPr/>
          <p:nvPr/>
        </p:nvSpPr>
        <p:spPr>
          <a:xfrm>
            <a:off x="6076188"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16" name="Shape 314"/>
          <p:cNvSpPr/>
          <p:nvPr/>
        </p:nvSpPr>
        <p:spPr>
          <a:xfrm>
            <a:off x="6076188"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17" name="Text 315"/>
          <p:cNvSpPr/>
          <p:nvPr/>
        </p:nvSpPr>
        <p:spPr>
          <a:xfrm>
            <a:off x="6076188"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18" name="Shape 316"/>
          <p:cNvSpPr/>
          <p:nvPr/>
        </p:nvSpPr>
        <p:spPr>
          <a:xfrm>
            <a:off x="6076188"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19" name="Text 317"/>
          <p:cNvSpPr/>
          <p:nvPr/>
        </p:nvSpPr>
        <p:spPr>
          <a:xfrm>
            <a:off x="6076188"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20" name="Shape 318"/>
          <p:cNvSpPr/>
          <p:nvPr/>
        </p:nvSpPr>
        <p:spPr>
          <a:xfrm>
            <a:off x="8529066"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21" name="Text 319"/>
          <p:cNvSpPr/>
          <p:nvPr/>
        </p:nvSpPr>
        <p:spPr>
          <a:xfrm>
            <a:off x="8529066"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22" name="Shape 320"/>
          <p:cNvSpPr/>
          <p:nvPr/>
        </p:nvSpPr>
        <p:spPr>
          <a:xfrm>
            <a:off x="8529066" y="2875788"/>
            <a:ext cx="2434590" cy="188595"/>
          </a:xfrm>
          <a:prstGeom prst="rect">
            <a:avLst/>
          </a:prstGeom>
          <a:solidFill>
            <a:srgbClr val="FFFFFF"/>
          </a:solidFill>
          <a:ln w="3810">
            <a:solidFill>
              <a:srgbClr val="BE82FF"/>
            </a:solidFill>
            <a:prstDash val="solid"/>
          </a:ln>
        </p:spPr>
        <p:txBody>
          <a:bodyPr/>
          <a:lstStyle/>
          <a:p>
            <a:endParaRPr lang="es-ES"/>
          </a:p>
        </p:txBody>
      </p:sp>
      <p:sp>
        <p:nvSpPr>
          <p:cNvPr id="323" name="Text 321"/>
          <p:cNvSpPr/>
          <p:nvPr/>
        </p:nvSpPr>
        <p:spPr>
          <a:xfrm>
            <a:off x="8529066" y="2875788"/>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24" name="Shape 322"/>
          <p:cNvSpPr/>
          <p:nvPr/>
        </p:nvSpPr>
        <p:spPr>
          <a:xfrm>
            <a:off x="8529066" y="3068955"/>
            <a:ext cx="2434590" cy="188595"/>
          </a:xfrm>
          <a:prstGeom prst="rect">
            <a:avLst/>
          </a:prstGeom>
          <a:solidFill>
            <a:srgbClr val="FFFFFF"/>
          </a:solidFill>
          <a:ln w="3810">
            <a:solidFill>
              <a:srgbClr val="BE82FF"/>
            </a:solidFill>
            <a:prstDash val="solid"/>
          </a:ln>
        </p:spPr>
        <p:txBody>
          <a:bodyPr/>
          <a:lstStyle/>
          <a:p>
            <a:endParaRPr lang="es-ES"/>
          </a:p>
        </p:txBody>
      </p:sp>
      <p:sp>
        <p:nvSpPr>
          <p:cNvPr id="325" name="Text 323"/>
          <p:cNvSpPr/>
          <p:nvPr/>
        </p:nvSpPr>
        <p:spPr>
          <a:xfrm>
            <a:off x="8529066" y="3068955"/>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26" name="Shape 324"/>
          <p:cNvSpPr/>
          <p:nvPr/>
        </p:nvSpPr>
        <p:spPr>
          <a:xfrm>
            <a:off x="1152144" y="3298698"/>
            <a:ext cx="9848088" cy="633222"/>
          </a:xfrm>
          <a:prstGeom prst="rect">
            <a:avLst/>
          </a:prstGeom>
          <a:solidFill>
            <a:srgbClr val="F0F8FF"/>
          </a:solidFill>
          <a:ln w="7620">
            <a:solidFill>
              <a:srgbClr val="7500C0"/>
            </a:solidFill>
            <a:prstDash val="solid"/>
          </a:ln>
        </p:spPr>
        <p:txBody>
          <a:bodyPr/>
          <a:lstStyle/>
          <a:p>
            <a:endParaRPr lang="es-ES"/>
          </a:p>
        </p:txBody>
      </p:sp>
      <p:sp>
        <p:nvSpPr>
          <p:cNvPr id="327" name="Shape 325"/>
          <p:cNvSpPr/>
          <p:nvPr/>
        </p:nvSpPr>
        <p:spPr>
          <a:xfrm>
            <a:off x="1152144" y="3298698"/>
            <a:ext cx="9848088" cy="118872"/>
          </a:xfrm>
          <a:prstGeom prst="rect">
            <a:avLst/>
          </a:prstGeom>
          <a:solidFill>
            <a:srgbClr val="7500C0"/>
          </a:solidFill>
          <a:ln w="12700">
            <a:solidFill>
              <a:srgbClr val="7500C0"/>
            </a:solidFill>
            <a:prstDash val="solid"/>
          </a:ln>
        </p:spPr>
        <p:txBody>
          <a:bodyPr/>
          <a:lstStyle/>
          <a:p>
            <a:endParaRPr lang="es-ES"/>
          </a:p>
        </p:txBody>
      </p:sp>
      <p:sp>
        <p:nvSpPr>
          <p:cNvPr id="328" name="Text 326"/>
          <p:cNvSpPr/>
          <p:nvPr/>
        </p:nvSpPr>
        <p:spPr>
          <a:xfrm>
            <a:off x="1188720" y="3298698"/>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Procesamiento de Eventos &amp; Componentes Reactivos</a:t>
            </a:r>
            <a:endParaRPr lang="en-US" sz="550" dirty="0"/>
          </a:p>
        </p:txBody>
      </p:sp>
      <p:sp>
        <p:nvSpPr>
          <p:cNvPr id="329" name="Shape 327"/>
          <p:cNvSpPr/>
          <p:nvPr/>
        </p:nvSpPr>
        <p:spPr>
          <a:xfrm>
            <a:off x="117043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0" name="Text 328"/>
          <p:cNvSpPr/>
          <p:nvPr/>
        </p:nvSpPr>
        <p:spPr>
          <a:xfrm>
            <a:off x="117043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31" name="Shape 329"/>
          <p:cNvSpPr/>
          <p:nvPr/>
        </p:nvSpPr>
        <p:spPr>
          <a:xfrm>
            <a:off x="1170432"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32" name="Text 330"/>
          <p:cNvSpPr/>
          <p:nvPr/>
        </p:nvSpPr>
        <p:spPr>
          <a:xfrm>
            <a:off x="1170432"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33" name="Shape 331"/>
          <p:cNvSpPr/>
          <p:nvPr/>
        </p:nvSpPr>
        <p:spPr>
          <a:xfrm>
            <a:off x="1170432"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34" name="Text 332"/>
          <p:cNvSpPr/>
          <p:nvPr/>
        </p:nvSpPr>
        <p:spPr>
          <a:xfrm>
            <a:off x="1170432"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35" name="Shape 333"/>
          <p:cNvSpPr/>
          <p:nvPr/>
        </p:nvSpPr>
        <p:spPr>
          <a:xfrm>
            <a:off x="1170432"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36" name="Text 334"/>
          <p:cNvSpPr/>
          <p:nvPr/>
        </p:nvSpPr>
        <p:spPr>
          <a:xfrm>
            <a:off x="1170432"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37" name="Shape 335"/>
          <p:cNvSpPr/>
          <p:nvPr/>
        </p:nvSpPr>
        <p:spPr>
          <a:xfrm>
            <a:off x="2805684"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8" name="Text 336"/>
          <p:cNvSpPr/>
          <p:nvPr/>
        </p:nvSpPr>
        <p:spPr>
          <a:xfrm>
            <a:off x="2805684"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39" name="Shape 337"/>
          <p:cNvSpPr/>
          <p:nvPr/>
        </p:nvSpPr>
        <p:spPr>
          <a:xfrm>
            <a:off x="2805684"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0" name="Text 338"/>
          <p:cNvSpPr/>
          <p:nvPr/>
        </p:nvSpPr>
        <p:spPr>
          <a:xfrm>
            <a:off x="2805684"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41" name="Shape 339"/>
          <p:cNvSpPr/>
          <p:nvPr/>
        </p:nvSpPr>
        <p:spPr>
          <a:xfrm>
            <a:off x="2805684"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42" name="Text 340"/>
          <p:cNvSpPr/>
          <p:nvPr/>
        </p:nvSpPr>
        <p:spPr>
          <a:xfrm>
            <a:off x="2805684"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43" name="Shape 341"/>
          <p:cNvSpPr/>
          <p:nvPr/>
        </p:nvSpPr>
        <p:spPr>
          <a:xfrm>
            <a:off x="2805684"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44" name="Text 342"/>
          <p:cNvSpPr/>
          <p:nvPr/>
        </p:nvSpPr>
        <p:spPr>
          <a:xfrm>
            <a:off x="2805684"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45" name="Shape 343"/>
          <p:cNvSpPr/>
          <p:nvPr/>
        </p:nvSpPr>
        <p:spPr>
          <a:xfrm>
            <a:off x="4440936"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6" name="Text 344"/>
          <p:cNvSpPr/>
          <p:nvPr/>
        </p:nvSpPr>
        <p:spPr>
          <a:xfrm>
            <a:off x="4440936"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47" name="Shape 345"/>
          <p:cNvSpPr/>
          <p:nvPr/>
        </p:nvSpPr>
        <p:spPr>
          <a:xfrm>
            <a:off x="4440936"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8" name="Text 346"/>
          <p:cNvSpPr/>
          <p:nvPr/>
        </p:nvSpPr>
        <p:spPr>
          <a:xfrm>
            <a:off x="4440936"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49" name="Shape 347"/>
          <p:cNvSpPr/>
          <p:nvPr/>
        </p:nvSpPr>
        <p:spPr>
          <a:xfrm>
            <a:off x="4440936"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0" name="Text 348"/>
          <p:cNvSpPr/>
          <p:nvPr/>
        </p:nvSpPr>
        <p:spPr>
          <a:xfrm>
            <a:off x="4440936"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51" name="Shape 349"/>
          <p:cNvSpPr/>
          <p:nvPr/>
        </p:nvSpPr>
        <p:spPr>
          <a:xfrm>
            <a:off x="4440936"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52" name="Text 350"/>
          <p:cNvSpPr/>
          <p:nvPr/>
        </p:nvSpPr>
        <p:spPr>
          <a:xfrm>
            <a:off x="4440936"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53" name="Shape 351"/>
          <p:cNvSpPr/>
          <p:nvPr/>
        </p:nvSpPr>
        <p:spPr>
          <a:xfrm>
            <a:off x="6076188"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54" name="Text 352"/>
          <p:cNvSpPr/>
          <p:nvPr/>
        </p:nvSpPr>
        <p:spPr>
          <a:xfrm>
            <a:off x="6076188"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55" name="Shape 353"/>
          <p:cNvSpPr/>
          <p:nvPr/>
        </p:nvSpPr>
        <p:spPr>
          <a:xfrm>
            <a:off x="6076188"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6" name="Text 354"/>
          <p:cNvSpPr/>
          <p:nvPr/>
        </p:nvSpPr>
        <p:spPr>
          <a:xfrm>
            <a:off x="6076188"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57" name="Shape 355"/>
          <p:cNvSpPr/>
          <p:nvPr/>
        </p:nvSpPr>
        <p:spPr>
          <a:xfrm>
            <a:off x="6076188"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8" name="Text 356"/>
          <p:cNvSpPr/>
          <p:nvPr/>
        </p:nvSpPr>
        <p:spPr>
          <a:xfrm>
            <a:off x="6076188"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59" name="Shape 357"/>
          <p:cNvSpPr/>
          <p:nvPr/>
        </p:nvSpPr>
        <p:spPr>
          <a:xfrm>
            <a:off x="6076188"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60" name="Text 358"/>
          <p:cNvSpPr/>
          <p:nvPr/>
        </p:nvSpPr>
        <p:spPr>
          <a:xfrm>
            <a:off x="6076188"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61" name="Shape 359"/>
          <p:cNvSpPr/>
          <p:nvPr/>
        </p:nvSpPr>
        <p:spPr>
          <a:xfrm>
            <a:off x="7711440"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2" name="Text 360"/>
          <p:cNvSpPr/>
          <p:nvPr/>
        </p:nvSpPr>
        <p:spPr>
          <a:xfrm>
            <a:off x="7711440"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63" name="Shape 361"/>
          <p:cNvSpPr/>
          <p:nvPr/>
        </p:nvSpPr>
        <p:spPr>
          <a:xfrm>
            <a:off x="7711440"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64" name="Text 362"/>
          <p:cNvSpPr/>
          <p:nvPr/>
        </p:nvSpPr>
        <p:spPr>
          <a:xfrm>
            <a:off x="7711440"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65" name="Shape 363"/>
          <p:cNvSpPr/>
          <p:nvPr/>
        </p:nvSpPr>
        <p:spPr>
          <a:xfrm>
            <a:off x="7711440"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66" name="Text 364"/>
          <p:cNvSpPr/>
          <p:nvPr/>
        </p:nvSpPr>
        <p:spPr>
          <a:xfrm>
            <a:off x="7711440"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67" name="Shape 365"/>
          <p:cNvSpPr/>
          <p:nvPr/>
        </p:nvSpPr>
        <p:spPr>
          <a:xfrm>
            <a:off x="934669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8" name="Text 366"/>
          <p:cNvSpPr/>
          <p:nvPr/>
        </p:nvSpPr>
        <p:spPr>
          <a:xfrm>
            <a:off x="934669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69" name="Shape 367"/>
          <p:cNvSpPr/>
          <p:nvPr/>
        </p:nvSpPr>
        <p:spPr>
          <a:xfrm>
            <a:off x="9346692"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70" name="Text 368"/>
          <p:cNvSpPr/>
          <p:nvPr/>
        </p:nvSpPr>
        <p:spPr>
          <a:xfrm>
            <a:off x="9346692"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71" name="Shape 369"/>
          <p:cNvSpPr/>
          <p:nvPr/>
        </p:nvSpPr>
        <p:spPr>
          <a:xfrm>
            <a:off x="9346692"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72" name="Text 370"/>
          <p:cNvSpPr/>
          <p:nvPr/>
        </p:nvSpPr>
        <p:spPr>
          <a:xfrm>
            <a:off x="9346692"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73" name="Shape 371"/>
          <p:cNvSpPr/>
          <p:nvPr/>
        </p:nvSpPr>
        <p:spPr>
          <a:xfrm>
            <a:off x="1152144" y="3959352"/>
            <a:ext cx="9848088" cy="633222"/>
          </a:xfrm>
          <a:prstGeom prst="rect">
            <a:avLst/>
          </a:prstGeom>
          <a:solidFill>
            <a:srgbClr val="F0F8FF"/>
          </a:solidFill>
          <a:ln w="7620">
            <a:solidFill>
              <a:srgbClr val="7500C0"/>
            </a:solidFill>
            <a:prstDash val="solid"/>
          </a:ln>
        </p:spPr>
        <p:txBody>
          <a:bodyPr/>
          <a:lstStyle/>
          <a:p>
            <a:endParaRPr lang="es-ES"/>
          </a:p>
        </p:txBody>
      </p:sp>
      <p:sp>
        <p:nvSpPr>
          <p:cNvPr id="374" name="Shape 372"/>
          <p:cNvSpPr/>
          <p:nvPr/>
        </p:nvSpPr>
        <p:spPr>
          <a:xfrm>
            <a:off x="1152144" y="3959352"/>
            <a:ext cx="9848088" cy="118872"/>
          </a:xfrm>
          <a:prstGeom prst="rect">
            <a:avLst/>
          </a:prstGeom>
          <a:solidFill>
            <a:srgbClr val="7500C0"/>
          </a:solidFill>
          <a:ln w="12700">
            <a:solidFill>
              <a:srgbClr val="7500C0"/>
            </a:solidFill>
            <a:prstDash val="solid"/>
          </a:ln>
        </p:spPr>
        <p:txBody>
          <a:bodyPr/>
          <a:lstStyle/>
          <a:p>
            <a:endParaRPr lang="es-ES"/>
          </a:p>
        </p:txBody>
      </p:sp>
      <p:sp>
        <p:nvSpPr>
          <p:cNvPr id="375" name="Text 373"/>
          <p:cNvSpPr/>
          <p:nvPr/>
        </p:nvSpPr>
        <p:spPr>
          <a:xfrm>
            <a:off x="1188720" y="3959352"/>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Omnicanal &amp; Componentes de Caché</a:t>
            </a:r>
            <a:endParaRPr lang="en-US" sz="550" dirty="0"/>
          </a:p>
        </p:txBody>
      </p:sp>
      <p:sp>
        <p:nvSpPr>
          <p:cNvPr id="376" name="Shape 374"/>
          <p:cNvSpPr/>
          <p:nvPr/>
        </p:nvSpPr>
        <p:spPr>
          <a:xfrm>
            <a:off x="1170432"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77" name="Text 375"/>
          <p:cNvSpPr/>
          <p:nvPr/>
        </p:nvSpPr>
        <p:spPr>
          <a:xfrm>
            <a:off x="1170432"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378" name="Shape 376"/>
          <p:cNvSpPr/>
          <p:nvPr/>
        </p:nvSpPr>
        <p:spPr>
          <a:xfrm>
            <a:off x="1170432"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79" name="Text 377"/>
          <p:cNvSpPr/>
          <p:nvPr/>
        </p:nvSpPr>
        <p:spPr>
          <a:xfrm>
            <a:off x="1170432"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380" name="Shape 378"/>
          <p:cNvSpPr/>
          <p:nvPr/>
        </p:nvSpPr>
        <p:spPr>
          <a:xfrm>
            <a:off x="1170432"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1" name="Text 379"/>
          <p:cNvSpPr/>
          <p:nvPr/>
        </p:nvSpPr>
        <p:spPr>
          <a:xfrm>
            <a:off x="1170432"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382" name="Shape 380"/>
          <p:cNvSpPr/>
          <p:nvPr/>
        </p:nvSpPr>
        <p:spPr>
          <a:xfrm>
            <a:off x="1170432"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83" name="Text 381"/>
          <p:cNvSpPr/>
          <p:nvPr/>
        </p:nvSpPr>
        <p:spPr>
          <a:xfrm>
            <a:off x="1170432"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384" name="Shape 382"/>
          <p:cNvSpPr/>
          <p:nvPr/>
        </p:nvSpPr>
        <p:spPr>
          <a:xfrm>
            <a:off x="3623310"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5" name="Text 383"/>
          <p:cNvSpPr/>
          <p:nvPr/>
        </p:nvSpPr>
        <p:spPr>
          <a:xfrm>
            <a:off x="3623310"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386" name="Shape 384"/>
          <p:cNvSpPr/>
          <p:nvPr/>
        </p:nvSpPr>
        <p:spPr>
          <a:xfrm>
            <a:off x="3623310"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87" name="Text 385"/>
          <p:cNvSpPr/>
          <p:nvPr/>
        </p:nvSpPr>
        <p:spPr>
          <a:xfrm>
            <a:off x="3623310"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388" name="Shape 386"/>
          <p:cNvSpPr/>
          <p:nvPr/>
        </p:nvSpPr>
        <p:spPr>
          <a:xfrm>
            <a:off x="3623310"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9" name="Text 387"/>
          <p:cNvSpPr/>
          <p:nvPr/>
        </p:nvSpPr>
        <p:spPr>
          <a:xfrm>
            <a:off x="3623310"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390" name="Shape 388"/>
          <p:cNvSpPr/>
          <p:nvPr/>
        </p:nvSpPr>
        <p:spPr>
          <a:xfrm>
            <a:off x="3623310"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91" name="Text 389"/>
          <p:cNvSpPr/>
          <p:nvPr/>
        </p:nvSpPr>
        <p:spPr>
          <a:xfrm>
            <a:off x="3623310"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392" name="Shape 390"/>
          <p:cNvSpPr/>
          <p:nvPr/>
        </p:nvSpPr>
        <p:spPr>
          <a:xfrm>
            <a:off x="6076188"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3" name="Text 391"/>
          <p:cNvSpPr/>
          <p:nvPr/>
        </p:nvSpPr>
        <p:spPr>
          <a:xfrm>
            <a:off x="6076188"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394" name="Shape 392"/>
          <p:cNvSpPr/>
          <p:nvPr/>
        </p:nvSpPr>
        <p:spPr>
          <a:xfrm>
            <a:off x="6076188" y="4197096"/>
            <a:ext cx="2434590" cy="188595"/>
          </a:xfrm>
          <a:prstGeom prst="rect">
            <a:avLst/>
          </a:prstGeom>
          <a:solidFill>
            <a:srgbClr val="FFFFFF"/>
          </a:solidFill>
          <a:ln w="3810">
            <a:solidFill>
              <a:srgbClr val="BE82FF"/>
            </a:solidFill>
            <a:prstDash val="solid"/>
          </a:ln>
        </p:spPr>
        <p:txBody>
          <a:bodyPr/>
          <a:lstStyle/>
          <a:p>
            <a:endParaRPr lang="es-ES"/>
          </a:p>
        </p:txBody>
      </p:sp>
      <p:sp>
        <p:nvSpPr>
          <p:cNvPr id="395" name="Text 393"/>
          <p:cNvSpPr/>
          <p:nvPr/>
        </p:nvSpPr>
        <p:spPr>
          <a:xfrm>
            <a:off x="6076188" y="4197096"/>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396" name="Shape 394"/>
          <p:cNvSpPr/>
          <p:nvPr/>
        </p:nvSpPr>
        <p:spPr>
          <a:xfrm>
            <a:off x="6076188" y="4390263"/>
            <a:ext cx="2434590" cy="188595"/>
          </a:xfrm>
          <a:prstGeom prst="rect">
            <a:avLst/>
          </a:prstGeom>
          <a:solidFill>
            <a:srgbClr val="FFFFFF"/>
          </a:solidFill>
          <a:ln w="3810">
            <a:solidFill>
              <a:srgbClr val="BE82FF"/>
            </a:solidFill>
            <a:prstDash val="solid"/>
          </a:ln>
        </p:spPr>
        <p:txBody>
          <a:bodyPr/>
          <a:lstStyle/>
          <a:p>
            <a:endParaRPr lang="es-ES"/>
          </a:p>
        </p:txBody>
      </p:sp>
      <p:sp>
        <p:nvSpPr>
          <p:cNvPr id="397" name="Text 395"/>
          <p:cNvSpPr/>
          <p:nvPr/>
        </p:nvSpPr>
        <p:spPr>
          <a:xfrm>
            <a:off x="6076188" y="4390263"/>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398" name="Shape 396"/>
          <p:cNvSpPr/>
          <p:nvPr/>
        </p:nvSpPr>
        <p:spPr>
          <a:xfrm>
            <a:off x="8529066"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9" name="Text 397"/>
          <p:cNvSpPr/>
          <p:nvPr/>
        </p:nvSpPr>
        <p:spPr>
          <a:xfrm>
            <a:off x="8529066"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00" name="Shape 398"/>
          <p:cNvSpPr/>
          <p:nvPr/>
        </p:nvSpPr>
        <p:spPr>
          <a:xfrm>
            <a:off x="8529066"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401" name="Text 399"/>
          <p:cNvSpPr/>
          <p:nvPr/>
        </p:nvSpPr>
        <p:spPr>
          <a:xfrm>
            <a:off x="8529066"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02" name="Shape 400"/>
          <p:cNvSpPr/>
          <p:nvPr/>
        </p:nvSpPr>
        <p:spPr>
          <a:xfrm>
            <a:off x="8529066"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403" name="Text 401"/>
          <p:cNvSpPr/>
          <p:nvPr/>
        </p:nvSpPr>
        <p:spPr>
          <a:xfrm>
            <a:off x="8529066"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04" name="Shape 402"/>
          <p:cNvSpPr/>
          <p:nvPr/>
        </p:nvSpPr>
        <p:spPr>
          <a:xfrm>
            <a:off x="8529066"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405" name="Text 403"/>
          <p:cNvSpPr/>
          <p:nvPr/>
        </p:nvSpPr>
        <p:spPr>
          <a:xfrm>
            <a:off x="8529066"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06" name="Shape 404"/>
          <p:cNvSpPr/>
          <p:nvPr/>
        </p:nvSpPr>
        <p:spPr>
          <a:xfrm>
            <a:off x="1152144" y="4620006"/>
            <a:ext cx="9848088" cy="633222"/>
          </a:xfrm>
          <a:prstGeom prst="rect">
            <a:avLst/>
          </a:prstGeom>
          <a:solidFill>
            <a:srgbClr val="F0F8FF"/>
          </a:solidFill>
          <a:ln w="7620">
            <a:solidFill>
              <a:srgbClr val="7500C0"/>
            </a:solidFill>
            <a:prstDash val="solid"/>
          </a:ln>
        </p:spPr>
        <p:txBody>
          <a:bodyPr/>
          <a:lstStyle/>
          <a:p>
            <a:endParaRPr lang="es-ES"/>
          </a:p>
        </p:txBody>
      </p:sp>
      <p:sp>
        <p:nvSpPr>
          <p:cNvPr id="407" name="Shape 405"/>
          <p:cNvSpPr/>
          <p:nvPr/>
        </p:nvSpPr>
        <p:spPr>
          <a:xfrm>
            <a:off x="1152144" y="4620006"/>
            <a:ext cx="9848088" cy="118872"/>
          </a:xfrm>
          <a:prstGeom prst="rect">
            <a:avLst/>
          </a:prstGeom>
          <a:solidFill>
            <a:srgbClr val="7500C0"/>
          </a:solidFill>
          <a:ln w="12700">
            <a:solidFill>
              <a:srgbClr val="7500C0"/>
            </a:solidFill>
            <a:prstDash val="solid"/>
          </a:ln>
        </p:spPr>
        <p:txBody>
          <a:bodyPr/>
          <a:lstStyle/>
          <a:p>
            <a:endParaRPr lang="es-ES"/>
          </a:p>
        </p:txBody>
      </p:sp>
      <p:sp>
        <p:nvSpPr>
          <p:cNvPr id="408" name="Text 406"/>
          <p:cNvSpPr/>
          <p:nvPr/>
        </p:nvSpPr>
        <p:spPr>
          <a:xfrm>
            <a:off x="1188720" y="4620006"/>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Entrega de Datos</a:t>
            </a:r>
            <a:endParaRPr lang="en-US" sz="550" dirty="0"/>
          </a:p>
        </p:txBody>
      </p:sp>
      <p:sp>
        <p:nvSpPr>
          <p:cNvPr id="409" name="Shape 407"/>
          <p:cNvSpPr/>
          <p:nvPr/>
        </p:nvSpPr>
        <p:spPr>
          <a:xfrm>
            <a:off x="1170432"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10" name="Text 408"/>
          <p:cNvSpPr/>
          <p:nvPr/>
        </p:nvSpPr>
        <p:spPr>
          <a:xfrm>
            <a:off x="1170432"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Catálogo de Datos y Modelado</a:t>
            </a:r>
            <a:endParaRPr lang="en-US" sz="400" dirty="0"/>
          </a:p>
        </p:txBody>
      </p:sp>
      <p:sp>
        <p:nvSpPr>
          <p:cNvPr id="411" name="Shape 409"/>
          <p:cNvSpPr/>
          <p:nvPr/>
        </p:nvSpPr>
        <p:spPr>
          <a:xfrm>
            <a:off x="1170432" y="4857750"/>
            <a:ext cx="2434590" cy="64008"/>
          </a:xfrm>
          <a:prstGeom prst="rect">
            <a:avLst/>
          </a:prstGeom>
          <a:solidFill>
            <a:srgbClr val="FFFFFF"/>
          </a:solidFill>
          <a:ln w="3810">
            <a:solidFill>
              <a:srgbClr val="BE82FF"/>
            </a:solidFill>
            <a:prstDash val="solid"/>
          </a:ln>
        </p:spPr>
        <p:txBody>
          <a:bodyPr/>
          <a:lstStyle/>
          <a:p>
            <a:endParaRPr lang="es-ES"/>
          </a:p>
        </p:txBody>
      </p:sp>
      <p:sp>
        <p:nvSpPr>
          <p:cNvPr id="412" name="Text 410"/>
          <p:cNvSpPr/>
          <p:nvPr/>
        </p:nvSpPr>
        <p:spPr>
          <a:xfrm>
            <a:off x="1170432" y="4857750"/>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e Inventario</a:t>
            </a:r>
            <a:endParaRPr lang="en-US" sz="380" dirty="0"/>
          </a:p>
        </p:txBody>
      </p:sp>
      <p:sp>
        <p:nvSpPr>
          <p:cNvPr id="413" name="Shape 411"/>
          <p:cNvSpPr/>
          <p:nvPr/>
        </p:nvSpPr>
        <p:spPr>
          <a:xfrm>
            <a:off x="1170432" y="4922139"/>
            <a:ext cx="2434590" cy="64008"/>
          </a:xfrm>
          <a:prstGeom prst="rect">
            <a:avLst/>
          </a:prstGeom>
          <a:solidFill>
            <a:srgbClr val="FFFFFF"/>
          </a:solidFill>
          <a:ln w="3810">
            <a:solidFill>
              <a:srgbClr val="BE82FF"/>
            </a:solidFill>
            <a:prstDash val="solid"/>
          </a:ln>
        </p:spPr>
        <p:txBody>
          <a:bodyPr/>
          <a:lstStyle/>
          <a:p>
            <a:endParaRPr lang="es-ES"/>
          </a:p>
        </p:txBody>
      </p:sp>
      <p:sp>
        <p:nvSpPr>
          <p:cNvPr id="414" name="Text 412"/>
          <p:cNvSpPr/>
          <p:nvPr/>
        </p:nvSpPr>
        <p:spPr>
          <a:xfrm>
            <a:off x="1170432" y="4922139"/>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Metadatos</a:t>
            </a:r>
            <a:endParaRPr lang="en-US" sz="380" dirty="0"/>
          </a:p>
        </p:txBody>
      </p:sp>
      <p:sp>
        <p:nvSpPr>
          <p:cNvPr id="415" name="Shape 413"/>
          <p:cNvSpPr/>
          <p:nvPr/>
        </p:nvSpPr>
        <p:spPr>
          <a:xfrm>
            <a:off x="1170432" y="4986528"/>
            <a:ext cx="2434590" cy="64008"/>
          </a:xfrm>
          <a:prstGeom prst="rect">
            <a:avLst/>
          </a:prstGeom>
          <a:solidFill>
            <a:srgbClr val="FFFFFF"/>
          </a:solidFill>
          <a:ln w="3810">
            <a:solidFill>
              <a:srgbClr val="BE82FF"/>
            </a:solidFill>
            <a:prstDash val="solid"/>
          </a:ln>
        </p:spPr>
        <p:txBody>
          <a:bodyPr/>
          <a:lstStyle/>
          <a:p>
            <a:endParaRPr lang="es-ES"/>
          </a:p>
        </p:txBody>
      </p:sp>
      <p:sp>
        <p:nvSpPr>
          <p:cNvPr id="416" name="Text 414"/>
          <p:cNvSpPr/>
          <p:nvPr/>
        </p:nvSpPr>
        <p:spPr>
          <a:xfrm>
            <a:off x="1170432" y="4986528"/>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Linaje de Datos</a:t>
            </a:r>
            <a:endParaRPr lang="en-US" sz="380" dirty="0"/>
          </a:p>
        </p:txBody>
      </p:sp>
      <p:sp>
        <p:nvSpPr>
          <p:cNvPr id="417" name="Shape 415"/>
          <p:cNvSpPr/>
          <p:nvPr/>
        </p:nvSpPr>
        <p:spPr>
          <a:xfrm>
            <a:off x="1170432" y="5050917"/>
            <a:ext cx="2434590" cy="64008"/>
          </a:xfrm>
          <a:prstGeom prst="rect">
            <a:avLst/>
          </a:prstGeom>
          <a:solidFill>
            <a:srgbClr val="FFFFFF"/>
          </a:solidFill>
          <a:ln w="3810">
            <a:solidFill>
              <a:srgbClr val="BE82FF"/>
            </a:solidFill>
            <a:prstDash val="solid"/>
          </a:ln>
        </p:spPr>
        <p:txBody>
          <a:bodyPr/>
          <a:lstStyle/>
          <a:p>
            <a:endParaRPr lang="es-ES"/>
          </a:p>
        </p:txBody>
      </p:sp>
      <p:sp>
        <p:nvSpPr>
          <p:cNvPr id="418" name="Text 416"/>
          <p:cNvSpPr/>
          <p:nvPr/>
        </p:nvSpPr>
        <p:spPr>
          <a:xfrm>
            <a:off x="1170432" y="5050917"/>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Grafo Conocimiento/Enriq.</a:t>
            </a:r>
            <a:endParaRPr lang="en-US" sz="380" dirty="0"/>
          </a:p>
        </p:txBody>
      </p:sp>
      <p:sp>
        <p:nvSpPr>
          <p:cNvPr id="419" name="Shape 417"/>
          <p:cNvSpPr/>
          <p:nvPr/>
        </p:nvSpPr>
        <p:spPr>
          <a:xfrm>
            <a:off x="1170432" y="5115306"/>
            <a:ext cx="2434590" cy="64008"/>
          </a:xfrm>
          <a:prstGeom prst="rect">
            <a:avLst/>
          </a:prstGeom>
          <a:solidFill>
            <a:srgbClr val="FFFFFF"/>
          </a:solidFill>
          <a:ln w="3810">
            <a:solidFill>
              <a:srgbClr val="BE82FF"/>
            </a:solidFill>
            <a:prstDash val="solid"/>
          </a:ln>
        </p:spPr>
        <p:txBody>
          <a:bodyPr/>
          <a:lstStyle/>
          <a:p>
            <a:endParaRPr lang="es-ES"/>
          </a:p>
        </p:txBody>
      </p:sp>
      <p:sp>
        <p:nvSpPr>
          <p:cNvPr id="420" name="Text 418"/>
          <p:cNvSpPr/>
          <p:nvPr/>
        </p:nvSpPr>
        <p:spPr>
          <a:xfrm>
            <a:off x="1170432" y="5115306"/>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Perfilado y Calidad</a:t>
            </a:r>
            <a:endParaRPr lang="en-US" sz="380" dirty="0"/>
          </a:p>
        </p:txBody>
      </p:sp>
      <p:sp>
        <p:nvSpPr>
          <p:cNvPr id="421" name="Shape 419"/>
          <p:cNvSpPr/>
          <p:nvPr/>
        </p:nvSpPr>
        <p:spPr>
          <a:xfrm>
            <a:off x="1170432" y="5179695"/>
            <a:ext cx="2434590" cy="64008"/>
          </a:xfrm>
          <a:prstGeom prst="rect">
            <a:avLst/>
          </a:prstGeom>
          <a:solidFill>
            <a:srgbClr val="FFFFFF"/>
          </a:solidFill>
          <a:ln w="3810">
            <a:solidFill>
              <a:srgbClr val="BE82FF"/>
            </a:solidFill>
            <a:prstDash val="solid"/>
          </a:ln>
        </p:spPr>
        <p:txBody>
          <a:bodyPr/>
          <a:lstStyle/>
          <a:p>
            <a:endParaRPr lang="es-ES"/>
          </a:p>
        </p:txBody>
      </p:sp>
      <p:sp>
        <p:nvSpPr>
          <p:cNvPr id="422" name="Text 420"/>
          <p:cNvSpPr/>
          <p:nvPr/>
        </p:nvSpPr>
        <p:spPr>
          <a:xfrm>
            <a:off x="1170432" y="5179695"/>
            <a:ext cx="2434590" cy="64008"/>
          </a:xfrm>
          <a:prstGeom prst="rect">
            <a:avLst/>
          </a:prstGeom>
          <a:noFill/>
          <a:ln/>
        </p:spPr>
        <p:txBody>
          <a:bodyPr wrap="square" lIns="6350" tIns="6350" rIns="6350" bIns="6350" rtlCol="0" anchor="ctr"/>
          <a:lstStyle/>
          <a:p>
            <a:pPr marL="0" indent="0" algn="ctr">
              <a:buNone/>
            </a:pPr>
            <a:r>
              <a:rPr lang="en-US" sz="380" dirty="0">
                <a:solidFill>
                  <a:srgbClr val="000000"/>
                </a:solidFill>
              </a:rPr>
              <a:t>Gobernanza, Acceso y Privacidad</a:t>
            </a:r>
            <a:endParaRPr lang="en-US" sz="380" dirty="0"/>
          </a:p>
        </p:txBody>
      </p:sp>
      <p:sp>
        <p:nvSpPr>
          <p:cNvPr id="423" name="Shape 421"/>
          <p:cNvSpPr/>
          <p:nvPr/>
        </p:nvSpPr>
        <p:spPr>
          <a:xfrm>
            <a:off x="3623310"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24" name="Text 422"/>
          <p:cNvSpPr/>
          <p:nvPr/>
        </p:nvSpPr>
        <p:spPr>
          <a:xfrm>
            <a:off x="3623310"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Pipelines y Entrega de Datos</a:t>
            </a:r>
            <a:endParaRPr lang="en-US" sz="400" dirty="0"/>
          </a:p>
        </p:txBody>
      </p:sp>
      <p:sp>
        <p:nvSpPr>
          <p:cNvPr id="425" name="Shape 423"/>
          <p:cNvSpPr/>
          <p:nvPr/>
        </p:nvSpPr>
        <p:spPr>
          <a:xfrm>
            <a:off x="3623310" y="4857750"/>
            <a:ext cx="2434590" cy="72695"/>
          </a:xfrm>
          <a:prstGeom prst="rect">
            <a:avLst/>
          </a:prstGeom>
          <a:solidFill>
            <a:srgbClr val="FFFFFF"/>
          </a:solidFill>
          <a:ln w="3810">
            <a:solidFill>
              <a:srgbClr val="BE82FF"/>
            </a:solidFill>
            <a:prstDash val="solid"/>
          </a:ln>
        </p:spPr>
        <p:txBody>
          <a:bodyPr/>
          <a:lstStyle/>
          <a:p>
            <a:endParaRPr lang="es-ES"/>
          </a:p>
        </p:txBody>
      </p:sp>
      <p:sp>
        <p:nvSpPr>
          <p:cNvPr id="426" name="Text 424"/>
          <p:cNvSpPr/>
          <p:nvPr/>
        </p:nvSpPr>
        <p:spPr>
          <a:xfrm>
            <a:off x="3623310" y="48577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por Lotes</a:t>
            </a:r>
            <a:endParaRPr lang="en-US" sz="380" dirty="0"/>
          </a:p>
        </p:txBody>
      </p:sp>
      <p:sp>
        <p:nvSpPr>
          <p:cNvPr id="427" name="Shape 425"/>
          <p:cNvSpPr/>
          <p:nvPr/>
        </p:nvSpPr>
        <p:spPr>
          <a:xfrm>
            <a:off x="3623310" y="4935017"/>
            <a:ext cx="2434590" cy="72695"/>
          </a:xfrm>
          <a:prstGeom prst="rect">
            <a:avLst/>
          </a:prstGeom>
          <a:solidFill>
            <a:srgbClr val="FFFFFF"/>
          </a:solidFill>
          <a:ln w="3810">
            <a:solidFill>
              <a:srgbClr val="BE82FF"/>
            </a:solidFill>
            <a:prstDash val="solid"/>
          </a:ln>
        </p:spPr>
        <p:txBody>
          <a:bodyPr/>
          <a:lstStyle/>
          <a:p>
            <a:endParaRPr lang="es-ES"/>
          </a:p>
        </p:txBody>
      </p:sp>
      <p:sp>
        <p:nvSpPr>
          <p:cNvPr id="428" name="Text 426"/>
          <p:cNvSpPr/>
          <p:nvPr/>
        </p:nvSpPr>
        <p:spPr>
          <a:xfrm>
            <a:off x="3623310" y="49350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Integración Datos en Stream</a:t>
            </a:r>
            <a:endParaRPr lang="en-US" sz="380" dirty="0"/>
          </a:p>
        </p:txBody>
      </p:sp>
      <p:sp>
        <p:nvSpPr>
          <p:cNvPr id="429" name="Shape 427"/>
          <p:cNvSpPr/>
          <p:nvPr/>
        </p:nvSpPr>
        <p:spPr>
          <a:xfrm>
            <a:off x="3623310" y="5012284"/>
            <a:ext cx="2434590" cy="72695"/>
          </a:xfrm>
          <a:prstGeom prst="rect">
            <a:avLst/>
          </a:prstGeom>
          <a:solidFill>
            <a:srgbClr val="FFFFFF"/>
          </a:solidFill>
          <a:ln w="3810">
            <a:solidFill>
              <a:srgbClr val="BE82FF"/>
            </a:solidFill>
            <a:prstDash val="solid"/>
          </a:ln>
        </p:spPr>
        <p:txBody>
          <a:bodyPr/>
          <a:lstStyle/>
          <a:p>
            <a:endParaRPr lang="es-ES"/>
          </a:p>
        </p:txBody>
      </p:sp>
      <p:sp>
        <p:nvSpPr>
          <p:cNvPr id="430" name="Text 428"/>
          <p:cNvSpPr/>
          <p:nvPr/>
        </p:nvSpPr>
        <p:spPr>
          <a:xfrm>
            <a:off x="3623310" y="5012284"/>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de Datos</a:t>
            </a:r>
            <a:endParaRPr lang="en-US" sz="380" dirty="0"/>
          </a:p>
        </p:txBody>
      </p:sp>
      <p:sp>
        <p:nvSpPr>
          <p:cNvPr id="431" name="Shape 429"/>
          <p:cNvSpPr/>
          <p:nvPr/>
        </p:nvSpPr>
        <p:spPr>
          <a:xfrm>
            <a:off x="3623310" y="5089550"/>
            <a:ext cx="2434590" cy="72695"/>
          </a:xfrm>
          <a:prstGeom prst="rect">
            <a:avLst/>
          </a:prstGeom>
          <a:solidFill>
            <a:srgbClr val="FFFFFF"/>
          </a:solidFill>
          <a:ln w="3810">
            <a:solidFill>
              <a:srgbClr val="BE82FF"/>
            </a:solidFill>
            <a:prstDash val="solid"/>
          </a:ln>
        </p:spPr>
        <p:txBody>
          <a:bodyPr/>
          <a:lstStyle/>
          <a:p>
            <a:endParaRPr lang="es-ES"/>
          </a:p>
        </p:txBody>
      </p:sp>
      <p:sp>
        <p:nvSpPr>
          <p:cNvPr id="432" name="Text 430"/>
          <p:cNvSpPr/>
          <p:nvPr/>
        </p:nvSpPr>
        <p:spPr>
          <a:xfrm>
            <a:off x="3623310" y="5089550"/>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Virtualización de Datos</a:t>
            </a:r>
            <a:endParaRPr lang="en-US" sz="380" dirty="0"/>
          </a:p>
        </p:txBody>
      </p:sp>
      <p:sp>
        <p:nvSpPr>
          <p:cNvPr id="433" name="Shape 431"/>
          <p:cNvSpPr/>
          <p:nvPr/>
        </p:nvSpPr>
        <p:spPr>
          <a:xfrm>
            <a:off x="3623310" y="5166817"/>
            <a:ext cx="2434590" cy="72695"/>
          </a:xfrm>
          <a:prstGeom prst="rect">
            <a:avLst/>
          </a:prstGeom>
          <a:solidFill>
            <a:srgbClr val="FFFFFF"/>
          </a:solidFill>
          <a:ln w="3810">
            <a:solidFill>
              <a:srgbClr val="BE82FF"/>
            </a:solidFill>
            <a:prstDash val="solid"/>
          </a:ln>
        </p:spPr>
        <p:txBody>
          <a:bodyPr/>
          <a:lstStyle/>
          <a:p>
            <a:endParaRPr lang="es-ES"/>
          </a:p>
        </p:txBody>
      </p:sp>
      <p:sp>
        <p:nvSpPr>
          <p:cNvPr id="434" name="Text 432"/>
          <p:cNvSpPr/>
          <p:nvPr/>
        </p:nvSpPr>
        <p:spPr>
          <a:xfrm>
            <a:off x="3623310" y="5166817"/>
            <a:ext cx="2434590" cy="72695"/>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y Monitoriz. Pipelines</a:t>
            </a:r>
            <a:endParaRPr lang="en-US" sz="380" dirty="0"/>
          </a:p>
        </p:txBody>
      </p:sp>
      <p:sp>
        <p:nvSpPr>
          <p:cNvPr id="435" name="Shape 433"/>
          <p:cNvSpPr/>
          <p:nvPr/>
        </p:nvSpPr>
        <p:spPr>
          <a:xfrm>
            <a:off x="6076188"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36" name="Text 434"/>
          <p:cNvSpPr/>
          <p:nvPr/>
        </p:nvSpPr>
        <p:spPr>
          <a:xfrm>
            <a:off x="6076188"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ODS y Modelo Datos Unificado</a:t>
            </a:r>
            <a:endParaRPr lang="en-US" sz="400" dirty="0"/>
          </a:p>
        </p:txBody>
      </p:sp>
      <p:sp>
        <p:nvSpPr>
          <p:cNvPr id="437" name="Shape 435"/>
          <p:cNvSpPr/>
          <p:nvPr/>
        </p:nvSpPr>
        <p:spPr>
          <a:xfrm>
            <a:off x="6076188" y="4857750"/>
            <a:ext cx="2434590" cy="92011"/>
          </a:xfrm>
          <a:prstGeom prst="rect">
            <a:avLst/>
          </a:prstGeom>
          <a:solidFill>
            <a:srgbClr val="FFFFFF"/>
          </a:solidFill>
          <a:ln w="3810">
            <a:solidFill>
              <a:srgbClr val="BE82FF"/>
            </a:solidFill>
            <a:prstDash val="solid"/>
          </a:ln>
        </p:spPr>
        <p:txBody>
          <a:bodyPr/>
          <a:lstStyle/>
          <a:p>
            <a:endParaRPr lang="es-ES"/>
          </a:p>
        </p:txBody>
      </p:sp>
      <p:sp>
        <p:nvSpPr>
          <p:cNvPr id="438" name="Text 436"/>
          <p:cNvSpPr/>
          <p:nvPr/>
        </p:nvSpPr>
        <p:spPr>
          <a:xfrm>
            <a:off x="6076188" y="485775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Modelo Canónico/Unificado</a:t>
            </a:r>
            <a:endParaRPr lang="en-US" sz="380" dirty="0"/>
          </a:p>
        </p:txBody>
      </p:sp>
      <p:sp>
        <p:nvSpPr>
          <p:cNvPr id="439" name="Shape 437"/>
          <p:cNvSpPr/>
          <p:nvPr/>
        </p:nvSpPr>
        <p:spPr>
          <a:xfrm>
            <a:off x="6076188" y="4954334"/>
            <a:ext cx="2434590" cy="92011"/>
          </a:xfrm>
          <a:prstGeom prst="rect">
            <a:avLst/>
          </a:prstGeom>
          <a:solidFill>
            <a:srgbClr val="FFFFFF"/>
          </a:solidFill>
          <a:ln w="3810">
            <a:solidFill>
              <a:srgbClr val="BE82FF"/>
            </a:solidFill>
            <a:prstDash val="solid"/>
          </a:ln>
        </p:spPr>
        <p:txBody>
          <a:bodyPr/>
          <a:lstStyle/>
          <a:p>
            <a:endParaRPr lang="es-ES"/>
          </a:p>
        </p:txBody>
      </p:sp>
      <p:sp>
        <p:nvSpPr>
          <p:cNvPr id="440" name="Text 438"/>
          <p:cNvSpPr/>
          <p:nvPr/>
        </p:nvSpPr>
        <p:spPr>
          <a:xfrm>
            <a:off x="6076188" y="495433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Consolid. Cross-Core Tiempo Real</a:t>
            </a:r>
            <a:endParaRPr lang="en-US" sz="380" dirty="0"/>
          </a:p>
        </p:txBody>
      </p:sp>
      <p:sp>
        <p:nvSpPr>
          <p:cNvPr id="441" name="Shape 439"/>
          <p:cNvSpPr/>
          <p:nvPr/>
        </p:nvSpPr>
        <p:spPr>
          <a:xfrm>
            <a:off x="6076188" y="5050917"/>
            <a:ext cx="2434590" cy="92011"/>
          </a:xfrm>
          <a:prstGeom prst="rect">
            <a:avLst/>
          </a:prstGeom>
          <a:solidFill>
            <a:srgbClr val="FFFFFF"/>
          </a:solidFill>
          <a:ln w="3810">
            <a:solidFill>
              <a:srgbClr val="BE82FF"/>
            </a:solidFill>
            <a:prstDash val="solid"/>
          </a:ln>
        </p:spPr>
        <p:txBody>
          <a:bodyPr/>
          <a:lstStyle/>
          <a:p>
            <a:endParaRPr lang="es-ES"/>
          </a:p>
        </p:txBody>
      </p:sp>
      <p:sp>
        <p:nvSpPr>
          <p:cNvPr id="442" name="Text 440"/>
          <p:cNvSpPr/>
          <p:nvPr/>
        </p:nvSpPr>
        <p:spPr>
          <a:xfrm>
            <a:off x="6076188" y="505091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Motor Entrega Multi-Velocidad</a:t>
            </a:r>
            <a:endParaRPr lang="en-US" sz="380" dirty="0"/>
          </a:p>
        </p:txBody>
      </p:sp>
      <p:sp>
        <p:nvSpPr>
          <p:cNvPr id="443" name="Shape 441"/>
          <p:cNvSpPr/>
          <p:nvPr/>
        </p:nvSpPr>
        <p:spPr>
          <a:xfrm>
            <a:off x="6076188" y="5147501"/>
            <a:ext cx="2434590" cy="92011"/>
          </a:xfrm>
          <a:prstGeom prst="rect">
            <a:avLst/>
          </a:prstGeom>
          <a:solidFill>
            <a:srgbClr val="FFFFFF"/>
          </a:solidFill>
          <a:ln w="3810">
            <a:solidFill>
              <a:srgbClr val="BE82FF"/>
            </a:solidFill>
            <a:prstDash val="solid"/>
          </a:ln>
        </p:spPr>
        <p:txBody>
          <a:bodyPr/>
          <a:lstStyle/>
          <a:p>
            <a:endParaRPr lang="es-ES"/>
          </a:p>
        </p:txBody>
      </p:sp>
      <p:sp>
        <p:nvSpPr>
          <p:cNvPr id="444" name="Text 442"/>
          <p:cNvSpPr/>
          <p:nvPr/>
        </p:nvSpPr>
        <p:spPr>
          <a:xfrm>
            <a:off x="6076188" y="514750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ODS Serving y Control Acceso</a:t>
            </a:r>
            <a:endParaRPr lang="en-US" sz="380" dirty="0"/>
          </a:p>
        </p:txBody>
      </p:sp>
      <p:sp>
        <p:nvSpPr>
          <p:cNvPr id="445" name="Shape 443"/>
          <p:cNvSpPr/>
          <p:nvPr/>
        </p:nvSpPr>
        <p:spPr>
          <a:xfrm>
            <a:off x="8529066" y="4748022"/>
            <a:ext cx="2434590" cy="100584"/>
          </a:xfrm>
          <a:prstGeom prst="rect">
            <a:avLst/>
          </a:prstGeom>
          <a:solidFill>
            <a:srgbClr val="BE82FF"/>
          </a:solidFill>
          <a:ln w="6350">
            <a:solidFill>
              <a:srgbClr val="7500C0"/>
            </a:solidFill>
            <a:prstDash val="solid"/>
          </a:ln>
        </p:spPr>
        <p:txBody>
          <a:bodyPr/>
          <a:lstStyle/>
          <a:p>
            <a:endParaRPr lang="es-ES"/>
          </a:p>
        </p:txBody>
      </p:sp>
      <p:sp>
        <p:nvSpPr>
          <p:cNvPr id="446" name="Text 444"/>
          <p:cNvSpPr/>
          <p:nvPr/>
        </p:nvSpPr>
        <p:spPr>
          <a:xfrm>
            <a:off x="8529066"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Consumo de Datos</a:t>
            </a:r>
            <a:endParaRPr lang="en-US" sz="400" dirty="0"/>
          </a:p>
        </p:txBody>
      </p:sp>
      <p:sp>
        <p:nvSpPr>
          <p:cNvPr id="447" name="Shape 445"/>
          <p:cNvSpPr/>
          <p:nvPr/>
        </p:nvSpPr>
        <p:spPr>
          <a:xfrm>
            <a:off x="8529066" y="4857750"/>
            <a:ext cx="2434590" cy="124206"/>
          </a:xfrm>
          <a:prstGeom prst="rect">
            <a:avLst/>
          </a:prstGeom>
          <a:solidFill>
            <a:srgbClr val="FFFFFF"/>
          </a:solidFill>
          <a:ln w="3810">
            <a:solidFill>
              <a:srgbClr val="BE82FF"/>
            </a:solidFill>
            <a:prstDash val="solid"/>
          </a:ln>
        </p:spPr>
        <p:txBody>
          <a:bodyPr/>
          <a:lstStyle/>
          <a:p>
            <a:endParaRPr lang="es-ES"/>
          </a:p>
        </p:txBody>
      </p:sp>
      <p:sp>
        <p:nvSpPr>
          <p:cNvPr id="448" name="Text 446"/>
          <p:cNvSpPr/>
          <p:nvPr/>
        </p:nvSpPr>
        <p:spPr>
          <a:xfrm>
            <a:off x="8529066" y="485775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APIs de Datos</a:t>
            </a:r>
            <a:endParaRPr lang="en-US" sz="380" dirty="0"/>
          </a:p>
        </p:txBody>
      </p:sp>
      <p:sp>
        <p:nvSpPr>
          <p:cNvPr id="449" name="Shape 447"/>
          <p:cNvSpPr/>
          <p:nvPr/>
        </p:nvSpPr>
        <p:spPr>
          <a:xfrm>
            <a:off x="8529066" y="4986528"/>
            <a:ext cx="2434590" cy="124206"/>
          </a:xfrm>
          <a:prstGeom prst="rect">
            <a:avLst/>
          </a:prstGeom>
          <a:solidFill>
            <a:srgbClr val="FFFFFF"/>
          </a:solidFill>
          <a:ln w="3810">
            <a:solidFill>
              <a:srgbClr val="BE82FF"/>
            </a:solidFill>
            <a:prstDash val="solid"/>
          </a:ln>
        </p:spPr>
        <p:txBody>
          <a:bodyPr/>
          <a:lstStyle/>
          <a:p>
            <a:endParaRPr lang="es-ES"/>
          </a:p>
        </p:txBody>
      </p:sp>
      <p:sp>
        <p:nvSpPr>
          <p:cNvPr id="450" name="Text 448"/>
          <p:cNvSpPr/>
          <p:nvPr/>
        </p:nvSpPr>
        <p:spPr>
          <a:xfrm>
            <a:off x="8529066" y="4986528"/>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Feeds Analítica y Reportes</a:t>
            </a:r>
            <a:endParaRPr lang="en-US" sz="380" dirty="0"/>
          </a:p>
        </p:txBody>
      </p:sp>
      <p:sp>
        <p:nvSpPr>
          <p:cNvPr id="451" name="Shape 449"/>
          <p:cNvSpPr/>
          <p:nvPr/>
        </p:nvSpPr>
        <p:spPr>
          <a:xfrm>
            <a:off x="8529066" y="5115306"/>
            <a:ext cx="2434590" cy="124206"/>
          </a:xfrm>
          <a:prstGeom prst="rect">
            <a:avLst/>
          </a:prstGeom>
          <a:solidFill>
            <a:srgbClr val="FFFFFF"/>
          </a:solidFill>
          <a:ln w="3810">
            <a:solidFill>
              <a:srgbClr val="BE82FF"/>
            </a:solidFill>
            <a:prstDash val="solid"/>
          </a:ln>
        </p:spPr>
        <p:txBody>
          <a:bodyPr/>
          <a:lstStyle/>
          <a:p>
            <a:endParaRPr lang="es-ES"/>
          </a:p>
        </p:txBody>
      </p:sp>
      <p:sp>
        <p:nvSpPr>
          <p:cNvPr id="452" name="Text 450"/>
          <p:cNvSpPr/>
          <p:nvPr/>
        </p:nvSpPr>
        <p:spPr>
          <a:xfrm>
            <a:off x="8529066" y="511530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 Datos Sandbox</a:t>
            </a:r>
            <a:endParaRPr lang="en-US" sz="380" dirty="0"/>
          </a:p>
        </p:txBody>
      </p:sp>
      <p:sp>
        <p:nvSpPr>
          <p:cNvPr id="453" name="Shape 451"/>
          <p:cNvSpPr/>
          <p:nvPr/>
        </p:nvSpPr>
        <p:spPr>
          <a:xfrm>
            <a:off x="1152144" y="5280660"/>
            <a:ext cx="9848088" cy="633222"/>
          </a:xfrm>
          <a:prstGeom prst="rect">
            <a:avLst/>
          </a:prstGeom>
          <a:solidFill>
            <a:srgbClr val="F0F8FF"/>
          </a:solidFill>
          <a:ln w="7620">
            <a:solidFill>
              <a:srgbClr val="7500C0"/>
            </a:solidFill>
            <a:prstDash val="solid"/>
          </a:ln>
        </p:spPr>
        <p:txBody>
          <a:bodyPr/>
          <a:lstStyle/>
          <a:p>
            <a:endParaRPr lang="es-ES"/>
          </a:p>
        </p:txBody>
      </p:sp>
      <p:sp>
        <p:nvSpPr>
          <p:cNvPr id="454" name="Shape 452"/>
          <p:cNvSpPr/>
          <p:nvPr/>
        </p:nvSpPr>
        <p:spPr>
          <a:xfrm>
            <a:off x="1152144" y="5280660"/>
            <a:ext cx="9848088" cy="118872"/>
          </a:xfrm>
          <a:prstGeom prst="rect">
            <a:avLst/>
          </a:prstGeom>
          <a:solidFill>
            <a:srgbClr val="7500C0"/>
          </a:solidFill>
          <a:ln w="12700">
            <a:solidFill>
              <a:srgbClr val="7500C0"/>
            </a:solidFill>
            <a:prstDash val="solid"/>
          </a:ln>
        </p:spPr>
        <p:txBody>
          <a:bodyPr/>
          <a:lstStyle/>
          <a:p>
            <a:endParaRPr lang="es-ES"/>
          </a:p>
        </p:txBody>
      </p:sp>
      <p:sp>
        <p:nvSpPr>
          <p:cNvPr id="455" name="Text 453"/>
          <p:cNvSpPr/>
          <p:nvPr/>
        </p:nvSpPr>
        <p:spPr>
          <a:xfrm>
            <a:off x="1188720" y="5280660"/>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Operaciones</a:t>
            </a:r>
            <a:endParaRPr lang="en-US" sz="550" dirty="0"/>
          </a:p>
        </p:txBody>
      </p:sp>
      <p:sp>
        <p:nvSpPr>
          <p:cNvPr id="456" name="Shape 454"/>
          <p:cNvSpPr/>
          <p:nvPr/>
        </p:nvSpPr>
        <p:spPr>
          <a:xfrm>
            <a:off x="1170432"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57" name="Text 455"/>
          <p:cNvSpPr/>
          <p:nvPr/>
        </p:nvSpPr>
        <p:spPr>
          <a:xfrm>
            <a:off x="1170432"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58" name="Shape 456"/>
          <p:cNvSpPr/>
          <p:nvPr/>
        </p:nvSpPr>
        <p:spPr>
          <a:xfrm>
            <a:off x="1170432"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59" name="Text 457"/>
          <p:cNvSpPr/>
          <p:nvPr/>
        </p:nvSpPr>
        <p:spPr>
          <a:xfrm>
            <a:off x="1170432"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60" name="Shape 458"/>
          <p:cNvSpPr/>
          <p:nvPr/>
        </p:nvSpPr>
        <p:spPr>
          <a:xfrm>
            <a:off x="1170432"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1" name="Text 459"/>
          <p:cNvSpPr/>
          <p:nvPr/>
        </p:nvSpPr>
        <p:spPr>
          <a:xfrm>
            <a:off x="1170432"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62" name="Shape 460"/>
          <p:cNvSpPr/>
          <p:nvPr/>
        </p:nvSpPr>
        <p:spPr>
          <a:xfrm>
            <a:off x="3623310"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3" name="Text 461"/>
          <p:cNvSpPr/>
          <p:nvPr/>
        </p:nvSpPr>
        <p:spPr>
          <a:xfrm>
            <a:off x="3623310"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64" name="Shape 462"/>
          <p:cNvSpPr/>
          <p:nvPr/>
        </p:nvSpPr>
        <p:spPr>
          <a:xfrm>
            <a:off x="3623310"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65" name="Text 463"/>
          <p:cNvSpPr/>
          <p:nvPr/>
        </p:nvSpPr>
        <p:spPr>
          <a:xfrm>
            <a:off x="3623310"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466" name="Shape 464"/>
          <p:cNvSpPr/>
          <p:nvPr/>
        </p:nvSpPr>
        <p:spPr>
          <a:xfrm>
            <a:off x="3623310"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7" name="Text 465"/>
          <p:cNvSpPr/>
          <p:nvPr/>
        </p:nvSpPr>
        <p:spPr>
          <a:xfrm>
            <a:off x="3623310"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468" name="Shape 466"/>
          <p:cNvSpPr/>
          <p:nvPr/>
        </p:nvSpPr>
        <p:spPr>
          <a:xfrm>
            <a:off x="6076188"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9" name="Text 467"/>
          <p:cNvSpPr/>
          <p:nvPr/>
        </p:nvSpPr>
        <p:spPr>
          <a:xfrm>
            <a:off x="6076188"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470" name="Shape 468"/>
          <p:cNvSpPr/>
          <p:nvPr/>
        </p:nvSpPr>
        <p:spPr>
          <a:xfrm>
            <a:off x="6076188"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1" name="Text 469"/>
          <p:cNvSpPr/>
          <p:nvPr/>
        </p:nvSpPr>
        <p:spPr>
          <a:xfrm>
            <a:off x="6076188"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472" name="Shape 470"/>
          <p:cNvSpPr/>
          <p:nvPr/>
        </p:nvSpPr>
        <p:spPr>
          <a:xfrm>
            <a:off x="6076188"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3" name="Text 471"/>
          <p:cNvSpPr/>
          <p:nvPr/>
        </p:nvSpPr>
        <p:spPr>
          <a:xfrm>
            <a:off x="6076188"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474" name="Shape 472"/>
          <p:cNvSpPr/>
          <p:nvPr/>
        </p:nvSpPr>
        <p:spPr>
          <a:xfrm>
            <a:off x="8529066"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75" name="Text 473"/>
          <p:cNvSpPr/>
          <p:nvPr/>
        </p:nvSpPr>
        <p:spPr>
          <a:xfrm>
            <a:off x="8529066"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476" name="Shape 474"/>
          <p:cNvSpPr/>
          <p:nvPr/>
        </p:nvSpPr>
        <p:spPr>
          <a:xfrm>
            <a:off x="8529066"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7" name="Text 475"/>
          <p:cNvSpPr/>
          <p:nvPr/>
        </p:nvSpPr>
        <p:spPr>
          <a:xfrm>
            <a:off x="8529066"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478" name="Shape 476"/>
          <p:cNvSpPr/>
          <p:nvPr/>
        </p:nvSpPr>
        <p:spPr>
          <a:xfrm>
            <a:off x="8529066"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9" name="Text 477"/>
          <p:cNvSpPr/>
          <p:nvPr/>
        </p:nvSpPr>
        <p:spPr>
          <a:xfrm>
            <a:off x="8529066"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480" name="Shape 478"/>
          <p:cNvSpPr/>
          <p:nvPr/>
        </p:nvSpPr>
        <p:spPr>
          <a:xfrm>
            <a:off x="1152144" y="5941314"/>
            <a:ext cx="9848088" cy="633222"/>
          </a:xfrm>
          <a:prstGeom prst="rect">
            <a:avLst/>
          </a:prstGeom>
          <a:solidFill>
            <a:srgbClr val="F0F8FF"/>
          </a:solidFill>
          <a:ln w="7620">
            <a:solidFill>
              <a:srgbClr val="7500C0"/>
            </a:solidFill>
            <a:prstDash val="solid"/>
          </a:ln>
        </p:spPr>
        <p:txBody>
          <a:bodyPr/>
          <a:lstStyle/>
          <a:p>
            <a:endParaRPr lang="es-ES"/>
          </a:p>
        </p:txBody>
      </p:sp>
      <p:sp>
        <p:nvSpPr>
          <p:cNvPr id="481" name="Shape 479"/>
          <p:cNvSpPr/>
          <p:nvPr/>
        </p:nvSpPr>
        <p:spPr>
          <a:xfrm>
            <a:off x="1152144" y="5941314"/>
            <a:ext cx="9848088" cy="118872"/>
          </a:xfrm>
          <a:prstGeom prst="rect">
            <a:avLst/>
          </a:prstGeom>
          <a:solidFill>
            <a:srgbClr val="7500C0"/>
          </a:solidFill>
          <a:ln w="12700">
            <a:solidFill>
              <a:srgbClr val="7500C0"/>
            </a:solidFill>
            <a:prstDash val="solid"/>
          </a:ln>
        </p:spPr>
        <p:txBody>
          <a:bodyPr/>
          <a:lstStyle/>
          <a:p>
            <a:endParaRPr lang="es-ES"/>
          </a:p>
        </p:txBody>
      </p:sp>
      <p:sp>
        <p:nvSpPr>
          <p:cNvPr id="482" name="Text 480"/>
          <p:cNvSpPr/>
          <p:nvPr/>
        </p:nvSpPr>
        <p:spPr>
          <a:xfrm>
            <a:off x="1188720" y="5941314"/>
            <a:ext cx="9774936" cy="118872"/>
          </a:xfrm>
          <a:prstGeom prst="rect">
            <a:avLst/>
          </a:prstGeom>
          <a:noFill/>
          <a:ln/>
        </p:spPr>
        <p:txBody>
          <a:bodyPr wrap="square" lIns="0" tIns="0" rIns="0" bIns="0" rtlCol="0" anchor="ctr"/>
          <a:lstStyle/>
          <a:p>
            <a:pPr marL="0" indent="0" algn="l">
              <a:buNone/>
            </a:pPr>
            <a:r>
              <a:rPr lang="en-US" sz="550" b="1" dirty="0">
                <a:solidFill>
                  <a:srgbClr val="FFFFFF"/>
                </a:solidFill>
              </a:rPr>
              <a:t>Servicios Empresariales Comunes</a:t>
            </a:r>
            <a:endParaRPr lang="en-US" sz="550" dirty="0"/>
          </a:p>
        </p:txBody>
      </p:sp>
      <p:sp>
        <p:nvSpPr>
          <p:cNvPr id="483" name="Shape 481"/>
          <p:cNvSpPr/>
          <p:nvPr/>
        </p:nvSpPr>
        <p:spPr>
          <a:xfrm>
            <a:off x="117043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84" name="Text 482"/>
          <p:cNvSpPr/>
          <p:nvPr/>
        </p:nvSpPr>
        <p:spPr>
          <a:xfrm>
            <a:off x="117043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Cliente y Parte</a:t>
            </a:r>
            <a:endParaRPr lang="en-US" sz="400" dirty="0"/>
          </a:p>
        </p:txBody>
      </p:sp>
      <p:sp>
        <p:nvSpPr>
          <p:cNvPr id="485" name="Shape 483"/>
          <p:cNvSpPr/>
          <p:nvPr/>
        </p:nvSpPr>
        <p:spPr>
          <a:xfrm>
            <a:off x="117043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86" name="Text 484"/>
          <p:cNvSpPr/>
          <p:nvPr/>
        </p:nvSpPr>
        <p:spPr>
          <a:xfrm>
            <a:off x="117043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Datos de Cliente</a:t>
            </a:r>
            <a:endParaRPr lang="en-US" sz="380" dirty="0"/>
          </a:p>
        </p:txBody>
      </p:sp>
      <p:sp>
        <p:nvSpPr>
          <p:cNvPr id="487" name="Shape 485"/>
          <p:cNvSpPr/>
          <p:nvPr/>
        </p:nvSpPr>
        <p:spPr>
          <a:xfrm>
            <a:off x="117043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88" name="Text 486"/>
          <p:cNvSpPr/>
          <p:nvPr/>
        </p:nvSpPr>
        <p:spPr>
          <a:xfrm>
            <a:off x="117043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489" name="Shape 487"/>
          <p:cNvSpPr/>
          <p:nvPr/>
        </p:nvSpPr>
        <p:spPr>
          <a:xfrm>
            <a:off x="2805684"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0" name="Text 488"/>
          <p:cNvSpPr/>
          <p:nvPr/>
        </p:nvSpPr>
        <p:spPr>
          <a:xfrm>
            <a:off x="2805684"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491" name="Shape 489"/>
          <p:cNvSpPr/>
          <p:nvPr/>
        </p:nvSpPr>
        <p:spPr>
          <a:xfrm>
            <a:off x="2805684"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2" name="Text 490"/>
          <p:cNvSpPr/>
          <p:nvPr/>
        </p:nvSpPr>
        <p:spPr>
          <a:xfrm>
            <a:off x="2805684"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493" name="Shape 491"/>
          <p:cNvSpPr/>
          <p:nvPr/>
        </p:nvSpPr>
        <p:spPr>
          <a:xfrm>
            <a:off x="2805684"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4" name="Text 492"/>
          <p:cNvSpPr/>
          <p:nvPr/>
        </p:nvSpPr>
        <p:spPr>
          <a:xfrm>
            <a:off x="2805684"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495" name="Shape 493"/>
          <p:cNvSpPr/>
          <p:nvPr/>
        </p:nvSpPr>
        <p:spPr>
          <a:xfrm>
            <a:off x="4440936"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6" name="Text 494"/>
          <p:cNvSpPr/>
          <p:nvPr/>
        </p:nvSpPr>
        <p:spPr>
          <a:xfrm>
            <a:off x="4440936"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Límites y Riesgo</a:t>
            </a:r>
            <a:endParaRPr lang="en-US" sz="400" dirty="0"/>
          </a:p>
        </p:txBody>
      </p:sp>
      <p:sp>
        <p:nvSpPr>
          <p:cNvPr id="497" name="Shape 495"/>
          <p:cNvSpPr/>
          <p:nvPr/>
        </p:nvSpPr>
        <p:spPr>
          <a:xfrm>
            <a:off x="4440936"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8" name="Text 496"/>
          <p:cNvSpPr/>
          <p:nvPr/>
        </p:nvSpPr>
        <p:spPr>
          <a:xfrm>
            <a:off x="4440936"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499" name="Shape 497"/>
          <p:cNvSpPr/>
          <p:nvPr/>
        </p:nvSpPr>
        <p:spPr>
          <a:xfrm>
            <a:off x="4440936"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00" name="Text 498"/>
          <p:cNvSpPr/>
          <p:nvPr/>
        </p:nvSpPr>
        <p:spPr>
          <a:xfrm>
            <a:off x="4440936"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Scoring de Riesgo</a:t>
            </a:r>
            <a:endParaRPr lang="en-US" sz="380" dirty="0"/>
          </a:p>
        </p:txBody>
      </p:sp>
      <p:sp>
        <p:nvSpPr>
          <p:cNvPr id="501" name="Shape 499"/>
          <p:cNvSpPr/>
          <p:nvPr/>
        </p:nvSpPr>
        <p:spPr>
          <a:xfrm>
            <a:off x="6076188"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2" name="Text 500"/>
          <p:cNvSpPr/>
          <p:nvPr/>
        </p:nvSpPr>
        <p:spPr>
          <a:xfrm>
            <a:off x="6076188"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03" name="Shape 501"/>
          <p:cNvSpPr/>
          <p:nvPr/>
        </p:nvSpPr>
        <p:spPr>
          <a:xfrm>
            <a:off x="6076188" y="6179058"/>
            <a:ext cx="1616964" cy="124206"/>
          </a:xfrm>
          <a:prstGeom prst="rect">
            <a:avLst/>
          </a:prstGeom>
          <a:solidFill>
            <a:srgbClr val="FFFFFF"/>
          </a:solidFill>
          <a:ln w="3810">
            <a:solidFill>
              <a:srgbClr val="BE82FF"/>
            </a:solidFill>
            <a:prstDash val="solid"/>
          </a:ln>
        </p:spPr>
        <p:txBody>
          <a:bodyPr/>
          <a:lstStyle/>
          <a:p>
            <a:endParaRPr lang="es-ES"/>
          </a:p>
        </p:txBody>
      </p:sp>
      <p:sp>
        <p:nvSpPr>
          <p:cNvPr id="504" name="Text 502"/>
          <p:cNvSpPr/>
          <p:nvPr/>
        </p:nvSpPr>
        <p:spPr>
          <a:xfrm>
            <a:off x="6076188" y="617905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05" name="Shape 503"/>
          <p:cNvSpPr/>
          <p:nvPr/>
        </p:nvSpPr>
        <p:spPr>
          <a:xfrm>
            <a:off x="6076188" y="6307836"/>
            <a:ext cx="1616964" cy="124206"/>
          </a:xfrm>
          <a:prstGeom prst="rect">
            <a:avLst/>
          </a:prstGeom>
          <a:solidFill>
            <a:srgbClr val="FFFFFF"/>
          </a:solidFill>
          <a:ln w="3810">
            <a:solidFill>
              <a:srgbClr val="BE82FF"/>
            </a:solidFill>
            <a:prstDash val="solid"/>
          </a:ln>
        </p:spPr>
        <p:txBody>
          <a:bodyPr/>
          <a:lstStyle/>
          <a:p>
            <a:endParaRPr lang="es-ES"/>
          </a:p>
        </p:txBody>
      </p:sp>
      <p:sp>
        <p:nvSpPr>
          <p:cNvPr id="506" name="Text 504"/>
          <p:cNvSpPr/>
          <p:nvPr/>
        </p:nvSpPr>
        <p:spPr>
          <a:xfrm>
            <a:off x="6076188" y="6307836"/>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07" name="Shape 505"/>
          <p:cNvSpPr/>
          <p:nvPr/>
        </p:nvSpPr>
        <p:spPr>
          <a:xfrm>
            <a:off x="6076188" y="6436614"/>
            <a:ext cx="1616964" cy="124206"/>
          </a:xfrm>
          <a:prstGeom prst="rect">
            <a:avLst/>
          </a:prstGeom>
          <a:solidFill>
            <a:srgbClr val="FFFFFF"/>
          </a:solidFill>
          <a:ln w="3810">
            <a:solidFill>
              <a:srgbClr val="BE82FF"/>
            </a:solidFill>
            <a:prstDash val="solid"/>
          </a:ln>
        </p:spPr>
        <p:txBody>
          <a:bodyPr/>
          <a:lstStyle/>
          <a:p>
            <a:endParaRPr lang="es-ES"/>
          </a:p>
        </p:txBody>
      </p:sp>
      <p:sp>
        <p:nvSpPr>
          <p:cNvPr id="508" name="Text 506"/>
          <p:cNvSpPr/>
          <p:nvPr/>
        </p:nvSpPr>
        <p:spPr>
          <a:xfrm>
            <a:off x="6076188" y="6436614"/>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09" name="Shape 507"/>
          <p:cNvSpPr/>
          <p:nvPr/>
        </p:nvSpPr>
        <p:spPr>
          <a:xfrm>
            <a:off x="7711440"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0" name="Text 508"/>
          <p:cNvSpPr/>
          <p:nvPr/>
        </p:nvSpPr>
        <p:spPr>
          <a:xfrm>
            <a:off x="7711440"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Documentos y Contenidos</a:t>
            </a:r>
            <a:endParaRPr lang="en-US" sz="400" dirty="0"/>
          </a:p>
        </p:txBody>
      </p:sp>
      <p:sp>
        <p:nvSpPr>
          <p:cNvPr id="511" name="Shape 509"/>
          <p:cNvSpPr/>
          <p:nvPr/>
        </p:nvSpPr>
        <p:spPr>
          <a:xfrm>
            <a:off x="7711440"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2" name="Text 510"/>
          <p:cNvSpPr/>
          <p:nvPr/>
        </p:nvSpPr>
        <p:spPr>
          <a:xfrm>
            <a:off x="7711440"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y Composición Docs.</a:t>
            </a:r>
            <a:endParaRPr lang="en-US" sz="380" dirty="0"/>
          </a:p>
        </p:txBody>
      </p:sp>
      <p:sp>
        <p:nvSpPr>
          <p:cNvPr id="513" name="Shape 511"/>
          <p:cNvSpPr/>
          <p:nvPr/>
        </p:nvSpPr>
        <p:spPr>
          <a:xfrm>
            <a:off x="7711440"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14" name="Text 512"/>
          <p:cNvSpPr/>
          <p:nvPr/>
        </p:nvSpPr>
        <p:spPr>
          <a:xfrm>
            <a:off x="7711440"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Captura, Almacen. y Recuperación</a:t>
            </a:r>
            <a:endParaRPr lang="en-US" sz="380" dirty="0"/>
          </a:p>
        </p:txBody>
      </p:sp>
      <p:sp>
        <p:nvSpPr>
          <p:cNvPr id="515" name="Shape 513"/>
          <p:cNvSpPr/>
          <p:nvPr/>
        </p:nvSpPr>
        <p:spPr>
          <a:xfrm>
            <a:off x="934669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16" name="Text 514"/>
          <p:cNvSpPr/>
          <p:nvPr/>
        </p:nvSpPr>
        <p:spPr>
          <a:xfrm>
            <a:off x="934669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Control y Confianza</a:t>
            </a:r>
            <a:endParaRPr lang="en-US" sz="400" dirty="0"/>
          </a:p>
        </p:txBody>
      </p:sp>
      <p:sp>
        <p:nvSpPr>
          <p:cNvPr id="517" name="Shape 515"/>
          <p:cNvSpPr/>
          <p:nvPr/>
        </p:nvSpPr>
        <p:spPr>
          <a:xfrm>
            <a:off x="934669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18" name="Text 516"/>
          <p:cNvSpPr/>
          <p:nvPr/>
        </p:nvSpPr>
        <p:spPr>
          <a:xfrm>
            <a:off x="934669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19" name="Shape 517"/>
          <p:cNvSpPr/>
          <p:nvPr/>
        </p:nvSpPr>
        <p:spPr>
          <a:xfrm>
            <a:off x="934669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520" name="Text 518"/>
          <p:cNvSpPr/>
          <p:nvPr/>
        </p:nvSpPr>
        <p:spPr>
          <a:xfrm>
            <a:off x="934669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Firma y Verificación</a:t>
            </a:r>
            <a:endParaRPr lang="en-US" sz="380" dirty="0"/>
          </a:p>
        </p:txBody>
      </p:sp>
      <p:sp>
        <p:nvSpPr>
          <p:cNvPr id="521" name="Shape 519"/>
          <p:cNvSpPr/>
          <p:nvPr/>
        </p:nvSpPr>
        <p:spPr>
          <a:xfrm>
            <a:off x="137160" y="6638544"/>
            <a:ext cx="640080" cy="146304"/>
          </a:xfrm>
          <a:prstGeom prst="rect">
            <a:avLst/>
          </a:prstGeom>
          <a:solidFill>
            <a:srgbClr val="BE82FF"/>
          </a:solidFill>
          <a:ln w="6350">
            <a:solidFill>
              <a:srgbClr val="A100FF"/>
            </a:solidFill>
            <a:prstDash val="solid"/>
          </a:ln>
        </p:spPr>
        <p:txBody>
          <a:bodyPr/>
          <a:lstStyle/>
          <a:p>
            <a:endParaRPr lang="es-ES"/>
          </a:p>
        </p:txBody>
      </p:sp>
      <p:sp>
        <p:nvSpPr>
          <p:cNvPr id="522" name="Text 520"/>
          <p:cNvSpPr/>
          <p:nvPr/>
        </p:nvSpPr>
        <p:spPr>
          <a:xfrm>
            <a:off x="137160" y="6638544"/>
            <a:ext cx="640080" cy="146304"/>
          </a:xfrm>
          <a:prstGeom prst="rect">
            <a:avLst/>
          </a:prstGeom>
          <a:noFill/>
          <a:ln/>
        </p:spPr>
        <p:txBody>
          <a:bodyPr wrap="square" rtlCol="0" anchor="ctr"/>
          <a:lstStyle/>
          <a:p>
            <a:pPr marL="0" indent="0" algn="ctr">
              <a:buNone/>
            </a:pPr>
            <a:r>
              <a:rPr lang="en-US" sz="450" dirty="0">
                <a:solidFill>
                  <a:srgbClr val="000000"/>
                </a:solidFill>
              </a:rPr>
              <a:t>Capacidad (L2)</a:t>
            </a:r>
            <a:endParaRPr lang="en-US" sz="450" dirty="0"/>
          </a:p>
        </p:txBody>
      </p:sp>
      <p:sp>
        <p:nvSpPr>
          <p:cNvPr id="523" name="Shape 521"/>
          <p:cNvSpPr/>
          <p:nvPr/>
        </p:nvSpPr>
        <p:spPr>
          <a:xfrm>
            <a:off x="868680" y="6638544"/>
            <a:ext cx="731520" cy="146304"/>
          </a:xfrm>
          <a:prstGeom prst="rect">
            <a:avLst/>
          </a:prstGeom>
          <a:solidFill>
            <a:srgbClr val="F0F8FF"/>
          </a:solidFill>
          <a:ln w="6350">
            <a:solidFill>
              <a:srgbClr val="7500C0"/>
            </a:solidFill>
            <a:prstDash val="solid"/>
          </a:ln>
        </p:spPr>
        <p:txBody>
          <a:bodyPr/>
          <a:lstStyle/>
          <a:p>
            <a:endParaRPr lang="es-ES"/>
          </a:p>
        </p:txBody>
      </p:sp>
      <p:sp>
        <p:nvSpPr>
          <p:cNvPr id="524" name="Text 522"/>
          <p:cNvSpPr/>
          <p:nvPr/>
        </p:nvSpPr>
        <p:spPr>
          <a:xfrm>
            <a:off x="868680" y="6638544"/>
            <a:ext cx="731520" cy="146304"/>
          </a:xfrm>
          <a:prstGeom prst="rect">
            <a:avLst/>
          </a:prstGeom>
          <a:noFill/>
          <a:ln/>
        </p:spPr>
        <p:txBody>
          <a:bodyPr wrap="square" rtlCol="0" anchor="ctr"/>
          <a:lstStyle/>
          <a:p>
            <a:pPr marL="0" indent="0" algn="ctr">
              <a:buNone/>
            </a:pPr>
            <a:r>
              <a:rPr lang="en-US" sz="450" dirty="0">
                <a:solidFill>
                  <a:srgbClr val="000000"/>
                </a:solidFill>
              </a:rPr>
              <a:t>Componentes de dominio</a:t>
            </a:r>
            <a:endParaRPr lang="en-US" sz="450" dirty="0"/>
          </a:p>
        </p:txBody>
      </p:sp>
      <p:sp>
        <p:nvSpPr>
          <p:cNvPr id="525" name="Shape 523"/>
          <p:cNvSpPr/>
          <p:nvPr/>
        </p:nvSpPr>
        <p:spPr>
          <a:xfrm>
            <a:off x="1691640" y="6647688"/>
            <a:ext cx="146304" cy="146304"/>
          </a:xfrm>
          <a:prstGeom prst="ellipse">
            <a:avLst/>
          </a:prstGeom>
          <a:solidFill>
            <a:srgbClr val="C00000"/>
          </a:solidFill>
          <a:ln w="12700">
            <a:solidFill>
              <a:srgbClr val="C00000"/>
            </a:solidFill>
            <a:prstDash val="solid"/>
          </a:ln>
        </p:spPr>
        <p:txBody>
          <a:bodyPr/>
          <a:lstStyle/>
          <a:p>
            <a:endParaRPr lang="es-ES"/>
          </a:p>
        </p:txBody>
      </p:sp>
      <p:sp>
        <p:nvSpPr>
          <p:cNvPr id="526" name="Text 524"/>
          <p:cNvSpPr/>
          <p:nvPr/>
        </p:nvSpPr>
        <p:spPr>
          <a:xfrm>
            <a:off x="1691640" y="66476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27" name="Text 525"/>
          <p:cNvSpPr/>
          <p:nvPr/>
        </p:nvSpPr>
        <p:spPr>
          <a:xfrm>
            <a:off x="1865376" y="6638544"/>
            <a:ext cx="1645920" cy="146304"/>
          </a:xfrm>
          <a:prstGeom prst="rect">
            <a:avLst/>
          </a:prstGeom>
          <a:noFill/>
          <a:ln/>
        </p:spPr>
        <p:txBody>
          <a:bodyPr wrap="square" rtlCol="0" anchor="ctr"/>
          <a:lstStyle/>
          <a:p>
            <a:pPr marL="0" indent="0">
              <a:buNone/>
            </a:pPr>
            <a:r>
              <a:rPr lang="en-US" sz="450" dirty="0">
                <a:solidFill>
                  <a:srgbClr val="000000"/>
                </a:solidFill>
              </a:rPr>
              <a:t>Kernel y componentes de plataforma</a:t>
            </a:r>
            <a:endParaRPr lang="en-US" sz="450" dirty="0"/>
          </a:p>
        </p:txBody>
      </p:sp>
      <p:sp>
        <p:nvSpPr>
          <p:cNvPr id="528" name="Text 526"/>
          <p:cNvSpPr/>
          <p:nvPr/>
        </p:nvSpPr>
        <p:spPr>
          <a:xfrm>
            <a:off x="8988552" y="6638544"/>
            <a:ext cx="3063240" cy="146304"/>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30" name="Rectangle 529">
            <a:extLst>
              <a:ext uri="{FF2B5EF4-FFF2-40B4-BE49-F238E27FC236}">
                <a16:creationId xmlns:a16="http://schemas.microsoft.com/office/drawing/2014/main" id="{C303BDDC-0A10-58B8-5161-6EE2ECC7432D}"/>
              </a:ext>
            </a:extLst>
          </p:cNvPr>
          <p:cNvSpPr/>
          <p:nvPr/>
        </p:nvSpPr>
        <p:spPr>
          <a:xfrm>
            <a:off x="2635921" y="394538"/>
            <a:ext cx="5816016" cy="923330"/>
          </a:xfrm>
          <a:prstGeom prst="rect">
            <a:avLst/>
          </a:prstGeom>
          <a:noFill/>
        </p:spPr>
        <p:txBody>
          <a:bodyPr wrap="none" lIns="91440" tIns="45720" rIns="91440" bIns="45720">
            <a:spAutoFit/>
          </a:bodyPr>
          <a:lstStyle/>
          <a:p>
            <a:pPr algn="ctr"/>
            <a:r>
              <a:rPr lang="en-US" sz="5400" b="1" dirty="0">
                <a:ln w="9525">
                  <a:solidFill>
                    <a:schemeClr val="bg1"/>
                  </a:solidFill>
                  <a:prstDash val="solid"/>
                </a:ln>
                <a:effectLst>
                  <a:outerShdw blurRad="12700" dist="38100" dir="2700000" algn="tl" rotWithShape="0">
                    <a:schemeClr val="bg1">
                      <a:lumMod val="50000"/>
                    </a:schemeClr>
                  </a:outerShdw>
                </a:effectLst>
              </a:rPr>
              <a:t>Marco </a:t>
            </a:r>
            <a:r>
              <a:rPr lang="en-US" sz="5400" b="1" dirty="0" err="1">
                <a:ln w="9525">
                  <a:solidFill>
                    <a:schemeClr val="bg1"/>
                  </a:solidFill>
                  <a:prstDash val="solid"/>
                </a:ln>
                <a:effectLst>
                  <a:outerShdw blurRad="12700" dist="38100" dir="2700000" algn="tl" rotWithShape="0">
                    <a:schemeClr val="bg1">
                      <a:lumMod val="50000"/>
                    </a:schemeClr>
                  </a:outerShdw>
                </a:effectLst>
              </a:rPr>
              <a:t>completo</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800" dirty="0">
                <a:solidFill>
                  <a:srgbClr val="000000"/>
                </a:solidFill>
              </a:rPr>
              <a:t> | Mapa de capacidades Nivel 2 — Impacto R4</a:t>
            </a:r>
            <a:endParaRPr lang="en-US" sz="1800" dirty="0"/>
          </a:p>
        </p:txBody>
      </p:sp>
      <p:sp>
        <p:nvSpPr>
          <p:cNvPr id="6" name="Shape 4"/>
          <p:cNvSpPr/>
          <p:nvPr/>
        </p:nvSpPr>
        <p:spPr>
          <a:xfrm>
            <a:off x="109728"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7" name="Shape 5"/>
          <p:cNvSpPr/>
          <p:nvPr/>
        </p:nvSpPr>
        <p:spPr>
          <a:xfrm>
            <a:off x="118872"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8" name="Text 6"/>
          <p:cNvSpPr/>
          <p:nvPr/>
        </p:nvSpPr>
        <p:spPr>
          <a:xfrm>
            <a:off x="118872"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9" name="Shape 7"/>
          <p:cNvSpPr/>
          <p:nvPr/>
        </p:nvSpPr>
        <p:spPr>
          <a:xfrm>
            <a:off x="274320"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10" name="Text 8"/>
          <p:cNvSpPr/>
          <p:nvPr/>
        </p:nvSpPr>
        <p:spPr>
          <a:xfrm>
            <a:off x="292608"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118872" y="868680"/>
            <a:ext cx="475488" cy="109728"/>
          </a:xfrm>
          <a:prstGeom prst="rect">
            <a:avLst/>
          </a:prstGeom>
          <a:solidFill>
            <a:srgbClr val="FF8C00"/>
          </a:solidFill>
          <a:ln w="9525">
            <a:solidFill>
              <a:srgbClr val="E05000"/>
            </a:solidFill>
            <a:prstDash val="solid"/>
          </a:ln>
        </p:spPr>
        <p:txBody>
          <a:bodyPr/>
          <a:lstStyle/>
          <a:p>
            <a:endParaRPr lang="es-ES"/>
          </a:p>
        </p:txBody>
      </p:sp>
      <p:sp>
        <p:nvSpPr>
          <p:cNvPr id="12" name="Text 10"/>
          <p:cNvSpPr/>
          <p:nvPr/>
        </p:nvSpPr>
        <p:spPr>
          <a:xfrm>
            <a:off x="118872"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3" name="Shape 11"/>
          <p:cNvSpPr/>
          <p:nvPr/>
        </p:nvSpPr>
        <p:spPr>
          <a:xfrm>
            <a:off x="118872" y="987552"/>
            <a:ext cx="475488" cy="160934"/>
          </a:xfrm>
          <a:prstGeom prst="rect">
            <a:avLst/>
          </a:prstGeom>
          <a:solidFill>
            <a:srgbClr val="FFD580"/>
          </a:solidFill>
          <a:ln w="7620">
            <a:solidFill>
              <a:srgbClr val="FF8C00"/>
            </a:solidFill>
            <a:prstDash val="solid"/>
          </a:ln>
        </p:spPr>
        <p:txBody>
          <a:bodyPr/>
          <a:lstStyle/>
          <a:p>
            <a:endParaRPr lang="es-ES"/>
          </a:p>
        </p:txBody>
      </p:sp>
      <p:sp>
        <p:nvSpPr>
          <p:cNvPr id="14" name="Text 12"/>
          <p:cNvSpPr/>
          <p:nvPr/>
        </p:nvSpPr>
        <p:spPr>
          <a:xfrm>
            <a:off x="118872" y="987552"/>
            <a:ext cx="475488" cy="160934"/>
          </a:xfrm>
          <a:prstGeom prst="rect">
            <a:avLst/>
          </a:prstGeom>
          <a:noFill/>
          <a:ln/>
        </p:spPr>
        <p:txBody>
          <a:bodyPr wrap="square" lIns="6350" tIns="6350" rIns="6350" bIns="6350" rtlCol="0" anchor="ctr"/>
          <a:lstStyle/>
          <a:p>
            <a:pPr marL="0" indent="0" algn="ctr">
              <a:buNone/>
            </a:pPr>
            <a:r>
              <a:rPr lang="en-US" sz="380" b="1" dirty="0">
                <a:solidFill>
                  <a:srgbClr val="3D1D00"/>
                </a:solidFill>
              </a:rPr>
              <a:t>Autenticación</a:t>
            </a:r>
            <a:endParaRPr lang="en-US" sz="380" dirty="0"/>
          </a:p>
        </p:txBody>
      </p:sp>
      <p:sp>
        <p:nvSpPr>
          <p:cNvPr id="15" name="Shape 13"/>
          <p:cNvSpPr/>
          <p:nvPr/>
        </p:nvSpPr>
        <p:spPr>
          <a:xfrm>
            <a:off x="118872" y="1153058"/>
            <a:ext cx="475488" cy="160934"/>
          </a:xfrm>
          <a:prstGeom prst="rect">
            <a:avLst/>
          </a:prstGeom>
          <a:solidFill>
            <a:srgbClr val="FFFFFF"/>
          </a:solidFill>
          <a:ln w="3810">
            <a:solidFill>
              <a:srgbClr val="BE82FF"/>
            </a:solidFill>
            <a:prstDash val="solid"/>
          </a:ln>
        </p:spPr>
        <p:txBody>
          <a:bodyPr/>
          <a:lstStyle/>
          <a:p>
            <a:endParaRPr lang="es-ES"/>
          </a:p>
        </p:txBody>
      </p:sp>
      <p:sp>
        <p:nvSpPr>
          <p:cNvPr id="16" name="Text 14"/>
          <p:cNvSpPr/>
          <p:nvPr/>
        </p:nvSpPr>
        <p:spPr>
          <a:xfrm>
            <a:off x="118872" y="1153058"/>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Autorización</a:t>
            </a:r>
            <a:endParaRPr lang="en-US" sz="380" dirty="0"/>
          </a:p>
        </p:txBody>
      </p:sp>
      <p:sp>
        <p:nvSpPr>
          <p:cNvPr id="17" name="Shape 15"/>
          <p:cNvSpPr/>
          <p:nvPr/>
        </p:nvSpPr>
        <p:spPr>
          <a:xfrm>
            <a:off x="118872" y="1318565"/>
            <a:ext cx="475488" cy="160934"/>
          </a:xfrm>
          <a:prstGeom prst="rect">
            <a:avLst/>
          </a:prstGeom>
          <a:solidFill>
            <a:srgbClr val="FFFFFF"/>
          </a:solidFill>
          <a:ln w="3810">
            <a:solidFill>
              <a:srgbClr val="BE82FF"/>
            </a:solidFill>
            <a:prstDash val="solid"/>
          </a:ln>
        </p:spPr>
        <p:txBody>
          <a:bodyPr/>
          <a:lstStyle/>
          <a:p>
            <a:endParaRPr lang="es-ES"/>
          </a:p>
        </p:txBody>
      </p:sp>
      <p:sp>
        <p:nvSpPr>
          <p:cNvPr id="18" name="Text 16"/>
          <p:cNvSpPr/>
          <p:nvPr/>
        </p:nvSpPr>
        <p:spPr>
          <a:xfrm>
            <a:off x="118872" y="1318565"/>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Token/SSO</a:t>
            </a:r>
            <a:endParaRPr lang="en-US" sz="380" dirty="0"/>
          </a:p>
        </p:txBody>
      </p:sp>
      <p:sp>
        <p:nvSpPr>
          <p:cNvPr id="19" name="Shape 17"/>
          <p:cNvSpPr/>
          <p:nvPr/>
        </p:nvSpPr>
        <p:spPr>
          <a:xfrm>
            <a:off x="118872" y="1484071"/>
            <a:ext cx="475488" cy="160934"/>
          </a:xfrm>
          <a:prstGeom prst="rect">
            <a:avLst/>
          </a:prstGeom>
          <a:solidFill>
            <a:srgbClr val="FFFFFF"/>
          </a:solidFill>
          <a:ln w="3810">
            <a:solidFill>
              <a:srgbClr val="BE82FF"/>
            </a:solidFill>
            <a:prstDash val="solid"/>
          </a:ln>
        </p:spPr>
        <p:txBody>
          <a:bodyPr/>
          <a:lstStyle/>
          <a:p>
            <a:endParaRPr lang="es-ES"/>
          </a:p>
        </p:txBody>
      </p:sp>
      <p:sp>
        <p:nvSpPr>
          <p:cNvPr id="20" name="Text 18"/>
          <p:cNvSpPr/>
          <p:nvPr/>
        </p:nvSpPr>
        <p:spPr>
          <a:xfrm>
            <a:off x="118872" y="1484071"/>
            <a:ext cx="475488" cy="160934"/>
          </a:xfrm>
          <a:prstGeom prst="rect">
            <a:avLst/>
          </a:prstGeom>
          <a:noFill/>
          <a:ln/>
        </p:spPr>
        <p:txBody>
          <a:bodyPr wrap="square" lIns="6350" tIns="6350" rIns="6350" bIns="6350" rtlCol="0" anchor="ctr"/>
          <a:lstStyle/>
          <a:p>
            <a:pPr marL="0" indent="0" algn="ctr">
              <a:buNone/>
            </a:pPr>
            <a:r>
              <a:rPr lang="en-US" sz="380" dirty="0">
                <a:solidFill>
                  <a:srgbClr val="000000"/>
                </a:solidFill>
              </a:rPr>
              <a:t>Sesión</a:t>
            </a:r>
            <a:endParaRPr lang="en-US" sz="380" dirty="0"/>
          </a:p>
        </p:txBody>
      </p:sp>
      <p:sp>
        <p:nvSpPr>
          <p:cNvPr id="21" name="Shape 19"/>
          <p:cNvSpPr/>
          <p:nvPr/>
        </p:nvSpPr>
        <p:spPr>
          <a:xfrm>
            <a:off x="118872" y="1649578"/>
            <a:ext cx="475488" cy="160934"/>
          </a:xfrm>
          <a:prstGeom prst="rect">
            <a:avLst/>
          </a:prstGeom>
          <a:solidFill>
            <a:srgbClr val="FFD580"/>
          </a:solidFill>
          <a:ln w="7620">
            <a:solidFill>
              <a:srgbClr val="FF8C00"/>
            </a:solidFill>
            <a:prstDash val="solid"/>
          </a:ln>
        </p:spPr>
        <p:txBody>
          <a:bodyPr/>
          <a:lstStyle/>
          <a:p>
            <a:endParaRPr lang="es-ES"/>
          </a:p>
        </p:txBody>
      </p:sp>
      <p:sp>
        <p:nvSpPr>
          <p:cNvPr id="22" name="Text 20"/>
          <p:cNvSpPr/>
          <p:nvPr/>
        </p:nvSpPr>
        <p:spPr>
          <a:xfrm>
            <a:off x="118872" y="1649578"/>
            <a:ext cx="475488" cy="160934"/>
          </a:xfrm>
          <a:prstGeom prst="rect">
            <a:avLst/>
          </a:prstGeom>
          <a:noFill/>
          <a:ln/>
        </p:spPr>
        <p:txBody>
          <a:bodyPr wrap="square" lIns="6350" tIns="6350" rIns="6350" bIns="6350" rtlCol="0" anchor="ctr"/>
          <a:lstStyle/>
          <a:p>
            <a:pPr marL="0" indent="0" algn="ctr">
              <a:buNone/>
            </a:pPr>
            <a:r>
              <a:rPr lang="en-US" sz="380" b="1" dirty="0">
                <a:solidFill>
                  <a:srgbClr val="3D1D00"/>
                </a:solidFill>
              </a:rPr>
              <a:t>Admin.Usuarios</a:t>
            </a:r>
            <a:endParaRPr lang="en-US" sz="380" dirty="0"/>
          </a:p>
        </p:txBody>
      </p:sp>
      <p:sp>
        <p:nvSpPr>
          <p:cNvPr id="23" name="Shape 21"/>
          <p:cNvSpPr/>
          <p:nvPr/>
        </p:nvSpPr>
        <p:spPr>
          <a:xfrm>
            <a:off x="118872" y="1815084"/>
            <a:ext cx="475488" cy="109728"/>
          </a:xfrm>
          <a:prstGeom prst="rect">
            <a:avLst/>
          </a:prstGeom>
          <a:solidFill>
            <a:srgbClr val="BE82FF"/>
          </a:solidFill>
          <a:ln w="6350">
            <a:solidFill>
              <a:srgbClr val="A100FF"/>
            </a:solidFill>
            <a:prstDash val="solid"/>
          </a:ln>
        </p:spPr>
        <p:txBody>
          <a:bodyPr/>
          <a:lstStyle/>
          <a:p>
            <a:endParaRPr lang="es-ES"/>
          </a:p>
        </p:txBody>
      </p:sp>
      <p:sp>
        <p:nvSpPr>
          <p:cNvPr id="24" name="Text 22"/>
          <p:cNvSpPr/>
          <p:nvPr/>
        </p:nvSpPr>
        <p:spPr>
          <a:xfrm>
            <a:off x="118872" y="181508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Criptografía</a:t>
            </a:r>
            <a:endParaRPr lang="en-US" sz="400" dirty="0"/>
          </a:p>
        </p:txBody>
      </p:sp>
      <p:sp>
        <p:nvSpPr>
          <p:cNvPr id="25" name="Shape 23"/>
          <p:cNvSpPr/>
          <p:nvPr/>
        </p:nvSpPr>
        <p:spPr>
          <a:xfrm>
            <a:off x="118872" y="1933956"/>
            <a:ext cx="475488" cy="202311"/>
          </a:xfrm>
          <a:prstGeom prst="rect">
            <a:avLst/>
          </a:prstGeom>
          <a:solidFill>
            <a:srgbClr val="FFFFFF"/>
          </a:solidFill>
          <a:ln w="3810">
            <a:solidFill>
              <a:srgbClr val="BE82FF"/>
            </a:solidFill>
            <a:prstDash val="solid"/>
          </a:ln>
        </p:spPr>
        <p:txBody>
          <a:bodyPr/>
          <a:lstStyle/>
          <a:p>
            <a:endParaRPr lang="es-ES"/>
          </a:p>
        </p:txBody>
      </p:sp>
      <p:sp>
        <p:nvSpPr>
          <p:cNvPr id="26" name="Text 24"/>
          <p:cNvSpPr/>
          <p:nvPr/>
        </p:nvSpPr>
        <p:spPr>
          <a:xfrm>
            <a:off x="118872" y="1933956"/>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Firma Digital</a:t>
            </a:r>
            <a:endParaRPr lang="en-US" sz="380" dirty="0"/>
          </a:p>
        </p:txBody>
      </p:sp>
      <p:sp>
        <p:nvSpPr>
          <p:cNvPr id="27" name="Shape 25"/>
          <p:cNvSpPr/>
          <p:nvPr/>
        </p:nvSpPr>
        <p:spPr>
          <a:xfrm>
            <a:off x="118872" y="2140839"/>
            <a:ext cx="475488" cy="202311"/>
          </a:xfrm>
          <a:prstGeom prst="rect">
            <a:avLst/>
          </a:prstGeom>
          <a:solidFill>
            <a:srgbClr val="FFFFFF"/>
          </a:solidFill>
          <a:ln w="3810">
            <a:solidFill>
              <a:srgbClr val="BE82FF"/>
            </a:solidFill>
            <a:prstDash val="solid"/>
          </a:ln>
        </p:spPr>
        <p:txBody>
          <a:bodyPr/>
          <a:lstStyle/>
          <a:p>
            <a:endParaRPr lang="es-ES"/>
          </a:p>
        </p:txBody>
      </p:sp>
      <p:sp>
        <p:nvSpPr>
          <p:cNvPr id="28" name="Text 26"/>
          <p:cNvSpPr/>
          <p:nvPr/>
        </p:nvSpPr>
        <p:spPr>
          <a:xfrm>
            <a:off x="118872" y="2140839"/>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a:t>
            </a:r>
            <a:endParaRPr lang="en-US" sz="380" dirty="0"/>
          </a:p>
        </p:txBody>
      </p:sp>
      <p:sp>
        <p:nvSpPr>
          <p:cNvPr id="29" name="Shape 27"/>
          <p:cNvSpPr/>
          <p:nvPr/>
        </p:nvSpPr>
        <p:spPr>
          <a:xfrm>
            <a:off x="118872" y="2347722"/>
            <a:ext cx="475488" cy="202311"/>
          </a:xfrm>
          <a:prstGeom prst="rect">
            <a:avLst/>
          </a:prstGeom>
          <a:solidFill>
            <a:srgbClr val="FFFFFF"/>
          </a:solidFill>
          <a:ln w="3810">
            <a:solidFill>
              <a:srgbClr val="BE82FF"/>
            </a:solidFill>
            <a:prstDash val="solid"/>
          </a:ln>
        </p:spPr>
        <p:txBody>
          <a:bodyPr/>
          <a:lstStyle/>
          <a:p>
            <a:endParaRPr lang="es-ES"/>
          </a:p>
        </p:txBody>
      </p:sp>
      <p:sp>
        <p:nvSpPr>
          <p:cNvPr id="30" name="Text 28"/>
          <p:cNvSpPr/>
          <p:nvPr/>
        </p:nvSpPr>
        <p:spPr>
          <a:xfrm>
            <a:off x="118872" y="2347722"/>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Cifrado E2E</a:t>
            </a:r>
            <a:endParaRPr lang="en-US" sz="380" dirty="0"/>
          </a:p>
        </p:txBody>
      </p:sp>
      <p:sp>
        <p:nvSpPr>
          <p:cNvPr id="31" name="Shape 29"/>
          <p:cNvSpPr/>
          <p:nvPr/>
        </p:nvSpPr>
        <p:spPr>
          <a:xfrm>
            <a:off x="118872" y="2554605"/>
            <a:ext cx="475488" cy="202311"/>
          </a:xfrm>
          <a:prstGeom prst="rect">
            <a:avLst/>
          </a:prstGeom>
          <a:solidFill>
            <a:srgbClr val="FFFFFF"/>
          </a:solidFill>
          <a:ln w="3810">
            <a:solidFill>
              <a:srgbClr val="BE82FF"/>
            </a:solidFill>
            <a:prstDash val="solid"/>
          </a:ln>
        </p:spPr>
        <p:txBody>
          <a:bodyPr/>
          <a:lstStyle/>
          <a:p>
            <a:endParaRPr lang="es-ES"/>
          </a:p>
        </p:txBody>
      </p:sp>
      <p:sp>
        <p:nvSpPr>
          <p:cNvPr id="32" name="Text 30"/>
          <p:cNvSpPr/>
          <p:nvPr/>
        </p:nvSpPr>
        <p:spPr>
          <a:xfrm>
            <a:off x="118872" y="2554605"/>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HSM/Claves</a:t>
            </a:r>
            <a:endParaRPr lang="en-US" sz="380" dirty="0"/>
          </a:p>
        </p:txBody>
      </p:sp>
      <p:sp>
        <p:nvSpPr>
          <p:cNvPr id="33" name="Shape 31"/>
          <p:cNvSpPr/>
          <p:nvPr/>
        </p:nvSpPr>
        <p:spPr>
          <a:xfrm>
            <a:off x="118872" y="2761488"/>
            <a:ext cx="475488" cy="109728"/>
          </a:xfrm>
          <a:prstGeom prst="rect">
            <a:avLst/>
          </a:prstGeom>
          <a:solidFill>
            <a:srgbClr val="BE82FF"/>
          </a:solidFill>
          <a:ln w="6350">
            <a:solidFill>
              <a:srgbClr val="A100FF"/>
            </a:solidFill>
            <a:prstDash val="solid"/>
          </a:ln>
        </p:spPr>
        <p:txBody>
          <a:bodyPr/>
          <a:lstStyle/>
          <a:p>
            <a:endParaRPr lang="es-ES"/>
          </a:p>
        </p:txBody>
      </p:sp>
      <p:sp>
        <p:nvSpPr>
          <p:cNvPr id="34" name="Text 32"/>
          <p:cNvSpPr/>
          <p:nvPr/>
        </p:nvSpPr>
        <p:spPr>
          <a:xfrm>
            <a:off x="118872" y="2761488"/>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Cert.&amp;Secretos</a:t>
            </a:r>
            <a:endParaRPr lang="en-US" sz="400" dirty="0"/>
          </a:p>
        </p:txBody>
      </p:sp>
      <p:sp>
        <p:nvSpPr>
          <p:cNvPr id="35" name="Shape 33"/>
          <p:cNvSpPr/>
          <p:nvPr/>
        </p:nvSpPr>
        <p:spPr>
          <a:xfrm>
            <a:off x="118872" y="2880360"/>
            <a:ext cx="475488" cy="409194"/>
          </a:xfrm>
          <a:prstGeom prst="rect">
            <a:avLst/>
          </a:prstGeom>
          <a:solidFill>
            <a:srgbClr val="FFFFFF"/>
          </a:solidFill>
          <a:ln w="3810">
            <a:solidFill>
              <a:srgbClr val="BE82FF"/>
            </a:solidFill>
            <a:prstDash val="solid"/>
          </a:ln>
        </p:spPr>
        <p:txBody>
          <a:bodyPr/>
          <a:lstStyle/>
          <a:p>
            <a:endParaRPr lang="es-ES"/>
          </a:p>
        </p:txBody>
      </p:sp>
      <p:sp>
        <p:nvSpPr>
          <p:cNvPr id="36" name="Text 34"/>
          <p:cNvSpPr/>
          <p:nvPr/>
        </p:nvSpPr>
        <p:spPr>
          <a:xfrm>
            <a:off x="118872" y="2880360"/>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Certificados</a:t>
            </a:r>
            <a:endParaRPr lang="en-US" sz="380" dirty="0"/>
          </a:p>
        </p:txBody>
      </p:sp>
      <p:sp>
        <p:nvSpPr>
          <p:cNvPr id="37" name="Shape 35"/>
          <p:cNvSpPr/>
          <p:nvPr/>
        </p:nvSpPr>
        <p:spPr>
          <a:xfrm>
            <a:off x="118872" y="3294126"/>
            <a:ext cx="475488" cy="409194"/>
          </a:xfrm>
          <a:prstGeom prst="rect">
            <a:avLst/>
          </a:prstGeom>
          <a:solidFill>
            <a:srgbClr val="FFFFFF"/>
          </a:solidFill>
          <a:ln w="3810">
            <a:solidFill>
              <a:srgbClr val="BE82FF"/>
            </a:solidFill>
            <a:prstDash val="solid"/>
          </a:ln>
        </p:spPr>
        <p:txBody>
          <a:bodyPr/>
          <a:lstStyle/>
          <a:p>
            <a:endParaRPr lang="es-ES"/>
          </a:p>
        </p:txBody>
      </p:sp>
      <p:sp>
        <p:nvSpPr>
          <p:cNvPr id="38" name="Text 36"/>
          <p:cNvSpPr/>
          <p:nvPr/>
        </p:nvSpPr>
        <p:spPr>
          <a:xfrm>
            <a:off x="118872" y="3294126"/>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Secreta</a:t>
            </a:r>
            <a:endParaRPr lang="en-US" sz="380" dirty="0"/>
          </a:p>
        </p:txBody>
      </p:sp>
      <p:sp>
        <p:nvSpPr>
          <p:cNvPr id="39" name="Shape 37"/>
          <p:cNvSpPr/>
          <p:nvPr/>
        </p:nvSpPr>
        <p:spPr>
          <a:xfrm>
            <a:off x="118872" y="3707892"/>
            <a:ext cx="475488" cy="109728"/>
          </a:xfrm>
          <a:prstGeom prst="rect">
            <a:avLst/>
          </a:prstGeom>
          <a:solidFill>
            <a:srgbClr val="BE82FF"/>
          </a:solidFill>
          <a:ln w="6350">
            <a:solidFill>
              <a:srgbClr val="A100FF"/>
            </a:solidFill>
            <a:prstDash val="solid"/>
          </a:ln>
        </p:spPr>
        <p:txBody>
          <a:bodyPr/>
          <a:lstStyle/>
          <a:p>
            <a:endParaRPr lang="es-ES"/>
          </a:p>
        </p:txBody>
      </p:sp>
      <p:sp>
        <p:nvSpPr>
          <p:cNvPr id="40" name="Text 38"/>
          <p:cNvSpPr/>
          <p:nvPr/>
        </p:nvSpPr>
        <p:spPr>
          <a:xfrm>
            <a:off x="118872" y="3707892"/>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Prot.Amenazas</a:t>
            </a:r>
            <a:endParaRPr lang="en-US" sz="400" dirty="0"/>
          </a:p>
        </p:txBody>
      </p:sp>
      <p:sp>
        <p:nvSpPr>
          <p:cNvPr id="41" name="Shape 39"/>
          <p:cNvSpPr/>
          <p:nvPr/>
        </p:nvSpPr>
        <p:spPr>
          <a:xfrm>
            <a:off x="118872" y="3826764"/>
            <a:ext cx="475488" cy="202311"/>
          </a:xfrm>
          <a:prstGeom prst="rect">
            <a:avLst/>
          </a:prstGeom>
          <a:solidFill>
            <a:srgbClr val="FFFFFF"/>
          </a:solidFill>
          <a:ln w="3810">
            <a:solidFill>
              <a:srgbClr val="BE82FF"/>
            </a:solidFill>
            <a:prstDash val="solid"/>
          </a:ln>
        </p:spPr>
        <p:txBody>
          <a:bodyPr/>
          <a:lstStyle/>
          <a:p>
            <a:endParaRPr lang="es-ES"/>
          </a:p>
        </p:txBody>
      </p:sp>
      <p:sp>
        <p:nvSpPr>
          <p:cNvPr id="42" name="Text 40"/>
          <p:cNvSpPr/>
          <p:nvPr/>
        </p:nvSpPr>
        <p:spPr>
          <a:xfrm>
            <a:off x="118872" y="3826764"/>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 API</a:t>
            </a:r>
            <a:endParaRPr lang="en-US" sz="380" dirty="0"/>
          </a:p>
        </p:txBody>
      </p:sp>
      <p:sp>
        <p:nvSpPr>
          <p:cNvPr id="43" name="Shape 41"/>
          <p:cNvSpPr/>
          <p:nvPr/>
        </p:nvSpPr>
        <p:spPr>
          <a:xfrm>
            <a:off x="118872" y="4033647"/>
            <a:ext cx="475488" cy="202311"/>
          </a:xfrm>
          <a:prstGeom prst="rect">
            <a:avLst/>
          </a:prstGeom>
          <a:solidFill>
            <a:srgbClr val="FFFFFF"/>
          </a:solidFill>
          <a:ln w="3810">
            <a:solidFill>
              <a:srgbClr val="BE82FF"/>
            </a:solidFill>
            <a:prstDash val="solid"/>
          </a:ln>
        </p:spPr>
        <p:txBody>
          <a:bodyPr/>
          <a:lstStyle/>
          <a:p>
            <a:endParaRPr lang="es-ES"/>
          </a:p>
        </p:txBody>
      </p:sp>
      <p:sp>
        <p:nvSpPr>
          <p:cNvPr id="44" name="Text 42"/>
          <p:cNvSpPr/>
          <p:nvPr/>
        </p:nvSpPr>
        <p:spPr>
          <a:xfrm>
            <a:off x="118872" y="4033647"/>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Prot.Perimetral</a:t>
            </a:r>
            <a:endParaRPr lang="en-US" sz="380" dirty="0"/>
          </a:p>
        </p:txBody>
      </p:sp>
      <p:sp>
        <p:nvSpPr>
          <p:cNvPr id="45" name="Shape 43"/>
          <p:cNvSpPr/>
          <p:nvPr/>
        </p:nvSpPr>
        <p:spPr>
          <a:xfrm>
            <a:off x="118872" y="4240530"/>
            <a:ext cx="475488" cy="202311"/>
          </a:xfrm>
          <a:prstGeom prst="rect">
            <a:avLst/>
          </a:prstGeom>
          <a:solidFill>
            <a:srgbClr val="FFFFFF"/>
          </a:solidFill>
          <a:ln w="3810">
            <a:solidFill>
              <a:srgbClr val="BE82FF"/>
            </a:solidFill>
            <a:prstDash val="solid"/>
          </a:ln>
        </p:spPr>
        <p:txBody>
          <a:bodyPr/>
          <a:lstStyle/>
          <a:p>
            <a:endParaRPr lang="es-ES"/>
          </a:p>
        </p:txBody>
      </p:sp>
      <p:sp>
        <p:nvSpPr>
          <p:cNvPr id="46" name="Text 44"/>
          <p:cNvSpPr/>
          <p:nvPr/>
        </p:nvSpPr>
        <p:spPr>
          <a:xfrm>
            <a:off x="118872" y="4240530"/>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Cuotas/Payloads</a:t>
            </a:r>
            <a:endParaRPr lang="en-US" sz="380" dirty="0"/>
          </a:p>
        </p:txBody>
      </p:sp>
      <p:sp>
        <p:nvSpPr>
          <p:cNvPr id="47" name="Shape 45"/>
          <p:cNvSpPr/>
          <p:nvPr/>
        </p:nvSpPr>
        <p:spPr>
          <a:xfrm>
            <a:off x="118872" y="4447413"/>
            <a:ext cx="475488" cy="202311"/>
          </a:xfrm>
          <a:prstGeom prst="rect">
            <a:avLst/>
          </a:prstGeom>
          <a:solidFill>
            <a:srgbClr val="FFFFFF"/>
          </a:solidFill>
          <a:ln w="3810">
            <a:solidFill>
              <a:srgbClr val="BE82FF"/>
            </a:solidFill>
            <a:prstDash val="solid"/>
          </a:ln>
        </p:spPr>
        <p:txBody>
          <a:bodyPr/>
          <a:lstStyle/>
          <a:p>
            <a:endParaRPr lang="es-ES"/>
          </a:p>
        </p:txBody>
      </p:sp>
      <p:sp>
        <p:nvSpPr>
          <p:cNvPr id="48" name="Text 46"/>
          <p:cNvSpPr/>
          <p:nvPr/>
        </p:nvSpPr>
        <p:spPr>
          <a:xfrm>
            <a:off x="118872" y="4447413"/>
            <a:ext cx="475488" cy="202311"/>
          </a:xfrm>
          <a:prstGeom prst="rect">
            <a:avLst/>
          </a:prstGeom>
          <a:noFill/>
          <a:ln/>
        </p:spPr>
        <p:txBody>
          <a:bodyPr wrap="square" lIns="6350" tIns="6350" rIns="6350" bIns="6350" rtlCol="0" anchor="ctr"/>
          <a:lstStyle/>
          <a:p>
            <a:pPr marL="0" indent="0" algn="ctr">
              <a:buNone/>
            </a:pPr>
            <a:r>
              <a:rPr lang="en-US" sz="380" dirty="0">
                <a:solidFill>
                  <a:srgbClr val="000000"/>
                </a:solidFill>
              </a:rPr>
              <a:t>Seg.Contenedores</a:t>
            </a:r>
            <a:endParaRPr lang="en-US" sz="380" dirty="0"/>
          </a:p>
        </p:txBody>
      </p:sp>
      <p:sp>
        <p:nvSpPr>
          <p:cNvPr id="49" name="Shape 47"/>
          <p:cNvSpPr/>
          <p:nvPr/>
        </p:nvSpPr>
        <p:spPr>
          <a:xfrm>
            <a:off x="118872" y="4654296"/>
            <a:ext cx="475488" cy="109728"/>
          </a:xfrm>
          <a:prstGeom prst="rect">
            <a:avLst/>
          </a:prstGeom>
          <a:solidFill>
            <a:srgbClr val="BE82FF"/>
          </a:solidFill>
          <a:ln w="6350">
            <a:solidFill>
              <a:srgbClr val="A100FF"/>
            </a:solidFill>
            <a:prstDash val="solid"/>
          </a:ln>
        </p:spPr>
        <p:txBody>
          <a:bodyPr/>
          <a:lstStyle/>
          <a:p>
            <a:endParaRPr lang="es-ES"/>
          </a:p>
        </p:txBody>
      </p:sp>
      <p:sp>
        <p:nvSpPr>
          <p:cNvPr id="50" name="Text 48"/>
          <p:cNvSpPr/>
          <p:nvPr/>
        </p:nvSpPr>
        <p:spPr>
          <a:xfrm>
            <a:off x="118872" y="4654296"/>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VTM</a:t>
            </a:r>
            <a:endParaRPr lang="en-US" sz="400" dirty="0"/>
          </a:p>
        </p:txBody>
      </p:sp>
      <p:sp>
        <p:nvSpPr>
          <p:cNvPr id="51" name="Shape 49"/>
          <p:cNvSpPr/>
          <p:nvPr/>
        </p:nvSpPr>
        <p:spPr>
          <a:xfrm>
            <a:off x="118872" y="4773168"/>
            <a:ext cx="475488" cy="271272"/>
          </a:xfrm>
          <a:prstGeom prst="rect">
            <a:avLst/>
          </a:prstGeom>
          <a:solidFill>
            <a:srgbClr val="FFFFFF"/>
          </a:solidFill>
          <a:ln w="3810">
            <a:solidFill>
              <a:srgbClr val="BE82FF"/>
            </a:solidFill>
            <a:prstDash val="solid"/>
          </a:ln>
        </p:spPr>
        <p:txBody>
          <a:bodyPr/>
          <a:lstStyle/>
          <a:p>
            <a:endParaRPr lang="es-ES"/>
          </a:p>
        </p:txBody>
      </p:sp>
      <p:sp>
        <p:nvSpPr>
          <p:cNvPr id="52" name="Text 50"/>
          <p:cNvSpPr/>
          <p:nvPr/>
        </p:nvSpPr>
        <p:spPr>
          <a:xfrm>
            <a:off x="118872" y="4773168"/>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Escaneo Vuln.</a:t>
            </a:r>
            <a:endParaRPr lang="en-US" sz="380" dirty="0"/>
          </a:p>
        </p:txBody>
      </p:sp>
      <p:sp>
        <p:nvSpPr>
          <p:cNvPr id="53" name="Shape 51"/>
          <p:cNvSpPr/>
          <p:nvPr/>
        </p:nvSpPr>
        <p:spPr>
          <a:xfrm>
            <a:off x="118872" y="5049012"/>
            <a:ext cx="475488" cy="271272"/>
          </a:xfrm>
          <a:prstGeom prst="rect">
            <a:avLst/>
          </a:prstGeom>
          <a:solidFill>
            <a:srgbClr val="FFFFFF"/>
          </a:solidFill>
          <a:ln w="3810">
            <a:solidFill>
              <a:srgbClr val="BE82FF"/>
            </a:solidFill>
            <a:prstDash val="solid"/>
          </a:ln>
        </p:spPr>
        <p:txBody>
          <a:bodyPr/>
          <a:lstStyle/>
          <a:p>
            <a:endParaRPr lang="es-ES"/>
          </a:p>
        </p:txBody>
      </p:sp>
      <p:sp>
        <p:nvSpPr>
          <p:cNvPr id="54" name="Text 52"/>
          <p:cNvSpPr/>
          <p:nvPr/>
        </p:nvSpPr>
        <p:spPr>
          <a:xfrm>
            <a:off x="118872" y="5049012"/>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Pen Testing</a:t>
            </a:r>
            <a:endParaRPr lang="en-US" sz="380" dirty="0"/>
          </a:p>
        </p:txBody>
      </p:sp>
      <p:sp>
        <p:nvSpPr>
          <p:cNvPr id="55" name="Shape 53"/>
          <p:cNvSpPr/>
          <p:nvPr/>
        </p:nvSpPr>
        <p:spPr>
          <a:xfrm>
            <a:off x="118872" y="5324856"/>
            <a:ext cx="475488" cy="271272"/>
          </a:xfrm>
          <a:prstGeom prst="rect">
            <a:avLst/>
          </a:prstGeom>
          <a:solidFill>
            <a:srgbClr val="FFFFFF"/>
          </a:solidFill>
          <a:ln w="3810">
            <a:solidFill>
              <a:srgbClr val="BE82FF"/>
            </a:solidFill>
            <a:prstDash val="solid"/>
          </a:ln>
        </p:spPr>
        <p:txBody>
          <a:bodyPr/>
          <a:lstStyle/>
          <a:p>
            <a:endParaRPr lang="es-ES"/>
          </a:p>
        </p:txBody>
      </p:sp>
      <p:sp>
        <p:nvSpPr>
          <p:cNvPr id="56" name="Text 54"/>
          <p:cNvSpPr/>
          <p:nvPr/>
        </p:nvSpPr>
        <p:spPr>
          <a:xfrm>
            <a:off x="118872" y="5324856"/>
            <a:ext cx="475488" cy="271272"/>
          </a:xfrm>
          <a:prstGeom prst="rect">
            <a:avLst/>
          </a:prstGeom>
          <a:noFill/>
          <a:ln/>
        </p:spPr>
        <p:txBody>
          <a:bodyPr wrap="square" lIns="6350" tIns="6350" rIns="6350" bIns="6350" rtlCol="0" anchor="ctr"/>
          <a:lstStyle/>
          <a:p>
            <a:pPr marL="0" indent="0" algn="ctr">
              <a:buNone/>
            </a:pPr>
            <a:r>
              <a:rPr lang="en-US" sz="380" dirty="0">
                <a:solidFill>
                  <a:srgbClr val="000000"/>
                </a:solidFill>
              </a:rPr>
              <a:t>Políticas Seg.Base</a:t>
            </a:r>
            <a:endParaRPr lang="en-US" sz="380" dirty="0"/>
          </a:p>
        </p:txBody>
      </p:sp>
      <p:sp>
        <p:nvSpPr>
          <p:cNvPr id="57" name="Shape 55"/>
          <p:cNvSpPr/>
          <p:nvPr/>
        </p:nvSpPr>
        <p:spPr>
          <a:xfrm>
            <a:off x="118872" y="5600700"/>
            <a:ext cx="475488" cy="109728"/>
          </a:xfrm>
          <a:prstGeom prst="rect">
            <a:avLst/>
          </a:prstGeom>
          <a:solidFill>
            <a:srgbClr val="BE82FF"/>
          </a:solidFill>
          <a:ln w="6350">
            <a:solidFill>
              <a:srgbClr val="A100FF"/>
            </a:solidFill>
            <a:prstDash val="solid"/>
          </a:ln>
        </p:spPr>
        <p:txBody>
          <a:bodyPr/>
          <a:lstStyle/>
          <a:p>
            <a:endParaRPr lang="es-ES"/>
          </a:p>
        </p:txBody>
      </p:sp>
      <p:sp>
        <p:nvSpPr>
          <p:cNvPr id="58" name="Text 56"/>
          <p:cNvSpPr/>
          <p:nvPr/>
        </p:nvSpPr>
        <p:spPr>
          <a:xfrm>
            <a:off x="118872" y="5600700"/>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Observab.Seg.</a:t>
            </a:r>
            <a:endParaRPr lang="en-US" sz="400" dirty="0"/>
          </a:p>
        </p:txBody>
      </p:sp>
      <p:sp>
        <p:nvSpPr>
          <p:cNvPr id="59" name="Shape 57"/>
          <p:cNvSpPr/>
          <p:nvPr/>
        </p:nvSpPr>
        <p:spPr>
          <a:xfrm>
            <a:off x="118872" y="5719572"/>
            <a:ext cx="475488" cy="409194"/>
          </a:xfrm>
          <a:prstGeom prst="rect">
            <a:avLst/>
          </a:prstGeom>
          <a:solidFill>
            <a:srgbClr val="FFFFFF"/>
          </a:solidFill>
          <a:ln w="3810">
            <a:solidFill>
              <a:srgbClr val="BE82FF"/>
            </a:solidFill>
            <a:prstDash val="solid"/>
          </a:ln>
        </p:spPr>
        <p:txBody>
          <a:bodyPr/>
          <a:lstStyle/>
          <a:p>
            <a:endParaRPr lang="es-ES"/>
          </a:p>
        </p:txBody>
      </p:sp>
      <p:sp>
        <p:nvSpPr>
          <p:cNvPr id="60" name="Text 58"/>
          <p:cNvSpPr/>
          <p:nvPr/>
        </p:nvSpPr>
        <p:spPr>
          <a:xfrm>
            <a:off x="118872" y="5719572"/>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Alertas Seg.</a:t>
            </a:r>
            <a:endParaRPr lang="en-US" sz="380" dirty="0"/>
          </a:p>
        </p:txBody>
      </p:sp>
      <p:sp>
        <p:nvSpPr>
          <p:cNvPr id="61" name="Shape 59"/>
          <p:cNvSpPr/>
          <p:nvPr/>
        </p:nvSpPr>
        <p:spPr>
          <a:xfrm>
            <a:off x="118872" y="6133338"/>
            <a:ext cx="475488" cy="409194"/>
          </a:xfrm>
          <a:prstGeom prst="rect">
            <a:avLst/>
          </a:prstGeom>
          <a:solidFill>
            <a:srgbClr val="FFFFFF"/>
          </a:solidFill>
          <a:ln w="3810">
            <a:solidFill>
              <a:srgbClr val="BE82FF"/>
            </a:solidFill>
            <a:prstDash val="solid"/>
          </a:ln>
        </p:spPr>
        <p:txBody>
          <a:bodyPr/>
          <a:lstStyle/>
          <a:p>
            <a:endParaRPr lang="es-ES"/>
          </a:p>
        </p:txBody>
      </p:sp>
      <p:sp>
        <p:nvSpPr>
          <p:cNvPr id="62" name="Text 60"/>
          <p:cNvSpPr/>
          <p:nvPr/>
        </p:nvSpPr>
        <p:spPr>
          <a:xfrm>
            <a:off x="118872" y="6133338"/>
            <a:ext cx="475488" cy="409194"/>
          </a:xfrm>
          <a:prstGeom prst="rect">
            <a:avLst/>
          </a:prstGeom>
          <a:noFill/>
          <a:ln/>
        </p:spPr>
        <p:txBody>
          <a:bodyPr wrap="square" lIns="6350" tIns="6350" rIns="6350" bIns="6350" rtlCol="0" anchor="ctr"/>
          <a:lstStyle/>
          <a:p>
            <a:pPr marL="0" indent="0" algn="ctr">
              <a:buNone/>
            </a:pPr>
            <a:r>
              <a:rPr lang="en-US" sz="380" dirty="0">
                <a:solidFill>
                  <a:srgbClr val="000000"/>
                </a:solidFill>
              </a:rPr>
              <a:t>Resp.Incidentes</a:t>
            </a:r>
            <a:endParaRPr lang="en-US" sz="380" dirty="0"/>
          </a:p>
        </p:txBody>
      </p:sp>
      <p:sp>
        <p:nvSpPr>
          <p:cNvPr id="63" name="Shape 61"/>
          <p:cNvSpPr/>
          <p:nvPr/>
        </p:nvSpPr>
        <p:spPr>
          <a:xfrm>
            <a:off x="630936" y="685800"/>
            <a:ext cx="493776" cy="5916168"/>
          </a:xfrm>
          <a:prstGeom prst="rect">
            <a:avLst/>
          </a:prstGeom>
          <a:solidFill>
            <a:srgbClr val="EDE5FF"/>
          </a:solidFill>
          <a:ln w="12700">
            <a:solidFill>
              <a:srgbClr val="A100FF"/>
            </a:solidFill>
            <a:prstDash val="solid"/>
          </a:ln>
        </p:spPr>
        <p:txBody>
          <a:bodyPr/>
          <a:lstStyle/>
          <a:p>
            <a:endParaRPr lang="es-ES"/>
          </a:p>
        </p:txBody>
      </p:sp>
      <p:sp>
        <p:nvSpPr>
          <p:cNvPr id="64" name="Shape 62"/>
          <p:cNvSpPr/>
          <p:nvPr/>
        </p:nvSpPr>
        <p:spPr>
          <a:xfrm>
            <a:off x="640080"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65" name="Text 63"/>
          <p:cNvSpPr/>
          <p:nvPr/>
        </p:nvSpPr>
        <p:spPr>
          <a:xfrm>
            <a:off x="640080"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6" name="Shape 64"/>
          <p:cNvSpPr/>
          <p:nvPr/>
        </p:nvSpPr>
        <p:spPr>
          <a:xfrm>
            <a:off x="795528" y="685800"/>
            <a:ext cx="329184" cy="164592"/>
          </a:xfrm>
          <a:prstGeom prst="rect">
            <a:avLst/>
          </a:prstGeom>
          <a:solidFill>
            <a:srgbClr val="A100FF"/>
          </a:solidFill>
          <a:ln w="12700">
            <a:solidFill>
              <a:srgbClr val="A100FF"/>
            </a:solidFill>
            <a:prstDash val="solid"/>
          </a:ln>
        </p:spPr>
        <p:txBody>
          <a:bodyPr/>
          <a:lstStyle/>
          <a:p>
            <a:endParaRPr lang="es-ES"/>
          </a:p>
        </p:txBody>
      </p:sp>
      <p:sp>
        <p:nvSpPr>
          <p:cNvPr id="67" name="Text 65"/>
          <p:cNvSpPr/>
          <p:nvPr/>
        </p:nvSpPr>
        <p:spPr>
          <a:xfrm>
            <a:off x="813816" y="685800"/>
            <a:ext cx="292608" cy="164592"/>
          </a:xfrm>
          <a:prstGeom prst="rect">
            <a:avLst/>
          </a:prstGeom>
          <a:noFill/>
          <a:ln/>
        </p:spPr>
        <p:txBody>
          <a:bodyPr wrap="square" lIns="0" tIns="0" rIns="0" bIns="0" rtlCol="0" anchor="ctr"/>
          <a:lstStyle/>
          <a:p>
            <a:pPr marL="0" indent="0" algn="ctr">
              <a:buNone/>
            </a:pPr>
            <a:r>
              <a:rPr lang="en-US" sz="500" b="1" dirty="0">
                <a:solidFill>
                  <a:srgbClr val="FFFFFF"/>
                </a:solidFill>
              </a:rPr>
              <a:t>Observ.</a:t>
            </a:r>
            <a:endParaRPr lang="en-US" sz="500" dirty="0"/>
          </a:p>
        </p:txBody>
      </p:sp>
      <p:sp>
        <p:nvSpPr>
          <p:cNvPr id="68" name="Shape 66"/>
          <p:cNvSpPr/>
          <p:nvPr/>
        </p:nvSpPr>
        <p:spPr>
          <a:xfrm>
            <a:off x="640080" y="868680"/>
            <a:ext cx="475488" cy="109728"/>
          </a:xfrm>
          <a:prstGeom prst="rect">
            <a:avLst/>
          </a:prstGeom>
          <a:solidFill>
            <a:srgbClr val="FF8C00"/>
          </a:solidFill>
          <a:ln w="9525">
            <a:solidFill>
              <a:srgbClr val="E05000"/>
            </a:solidFill>
            <a:prstDash val="solid"/>
          </a:ln>
        </p:spPr>
        <p:txBody>
          <a:bodyPr/>
          <a:lstStyle/>
          <a:p>
            <a:endParaRPr lang="es-ES"/>
          </a:p>
        </p:txBody>
      </p:sp>
      <p:sp>
        <p:nvSpPr>
          <p:cNvPr id="69" name="Text 67"/>
          <p:cNvSpPr/>
          <p:nvPr/>
        </p:nvSpPr>
        <p:spPr>
          <a:xfrm>
            <a:off x="640080" y="868680"/>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0" name="Shape 68"/>
          <p:cNvSpPr/>
          <p:nvPr/>
        </p:nvSpPr>
        <p:spPr>
          <a:xfrm>
            <a:off x="640080" y="987552"/>
            <a:ext cx="475488" cy="250088"/>
          </a:xfrm>
          <a:prstGeom prst="rect">
            <a:avLst/>
          </a:prstGeom>
          <a:solidFill>
            <a:srgbClr val="FFD580"/>
          </a:solidFill>
          <a:ln w="7620">
            <a:solidFill>
              <a:srgbClr val="FF8C00"/>
            </a:solidFill>
            <a:prstDash val="solid"/>
          </a:ln>
        </p:spPr>
        <p:txBody>
          <a:bodyPr/>
          <a:lstStyle/>
          <a:p>
            <a:endParaRPr lang="es-ES"/>
          </a:p>
        </p:txBody>
      </p:sp>
      <p:sp>
        <p:nvSpPr>
          <p:cNvPr id="71" name="Text 69"/>
          <p:cNvSpPr/>
          <p:nvPr/>
        </p:nvSpPr>
        <p:spPr>
          <a:xfrm>
            <a:off x="640080" y="987552"/>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Salud</a:t>
            </a:r>
            <a:endParaRPr lang="en-US" sz="380" dirty="0"/>
          </a:p>
        </p:txBody>
      </p:sp>
      <p:sp>
        <p:nvSpPr>
          <p:cNvPr id="72" name="Shape 70"/>
          <p:cNvSpPr/>
          <p:nvPr/>
        </p:nvSpPr>
        <p:spPr>
          <a:xfrm>
            <a:off x="640080" y="1242212"/>
            <a:ext cx="475488" cy="250088"/>
          </a:xfrm>
          <a:prstGeom prst="rect">
            <a:avLst/>
          </a:prstGeom>
          <a:solidFill>
            <a:srgbClr val="FFD580"/>
          </a:solidFill>
          <a:ln w="7620">
            <a:solidFill>
              <a:srgbClr val="FF8C00"/>
            </a:solidFill>
            <a:prstDash val="solid"/>
          </a:ln>
        </p:spPr>
        <p:txBody>
          <a:bodyPr/>
          <a:lstStyle/>
          <a:p>
            <a:endParaRPr lang="es-ES"/>
          </a:p>
        </p:txBody>
      </p:sp>
      <p:sp>
        <p:nvSpPr>
          <p:cNvPr id="73" name="Text 71"/>
          <p:cNvSpPr/>
          <p:nvPr/>
        </p:nvSpPr>
        <p:spPr>
          <a:xfrm>
            <a:off x="640080" y="1242212"/>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APIs/Disponib.</a:t>
            </a:r>
            <a:endParaRPr lang="en-US" sz="380" dirty="0"/>
          </a:p>
        </p:txBody>
      </p:sp>
      <p:sp>
        <p:nvSpPr>
          <p:cNvPr id="74" name="Shape 72"/>
          <p:cNvSpPr/>
          <p:nvPr/>
        </p:nvSpPr>
        <p:spPr>
          <a:xfrm>
            <a:off x="640080" y="1496873"/>
            <a:ext cx="475488" cy="250088"/>
          </a:xfrm>
          <a:prstGeom prst="rect">
            <a:avLst/>
          </a:prstGeom>
          <a:solidFill>
            <a:srgbClr val="FFD580"/>
          </a:solidFill>
          <a:ln w="7620">
            <a:solidFill>
              <a:srgbClr val="FF8C00"/>
            </a:solidFill>
            <a:prstDash val="solid"/>
          </a:ln>
        </p:spPr>
        <p:txBody>
          <a:bodyPr/>
          <a:lstStyle/>
          <a:p>
            <a:endParaRPr lang="es-ES"/>
          </a:p>
        </p:txBody>
      </p:sp>
      <p:sp>
        <p:nvSpPr>
          <p:cNvPr id="75" name="Text 73"/>
          <p:cNvSpPr/>
          <p:nvPr/>
        </p:nvSpPr>
        <p:spPr>
          <a:xfrm>
            <a:off x="640080" y="1496873"/>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Alertas</a:t>
            </a:r>
            <a:endParaRPr lang="en-US" sz="380" dirty="0"/>
          </a:p>
        </p:txBody>
      </p:sp>
      <p:sp>
        <p:nvSpPr>
          <p:cNvPr id="76" name="Shape 74"/>
          <p:cNvSpPr/>
          <p:nvPr/>
        </p:nvSpPr>
        <p:spPr>
          <a:xfrm>
            <a:off x="640080" y="1751533"/>
            <a:ext cx="475488" cy="250088"/>
          </a:xfrm>
          <a:prstGeom prst="rect">
            <a:avLst/>
          </a:prstGeom>
          <a:solidFill>
            <a:srgbClr val="FFD580"/>
          </a:solidFill>
          <a:ln w="7620">
            <a:solidFill>
              <a:srgbClr val="FF8C00"/>
            </a:solidFill>
            <a:prstDash val="solid"/>
          </a:ln>
        </p:spPr>
        <p:txBody>
          <a:bodyPr/>
          <a:lstStyle/>
          <a:p>
            <a:endParaRPr lang="es-ES"/>
          </a:p>
        </p:txBody>
      </p:sp>
      <p:sp>
        <p:nvSpPr>
          <p:cNvPr id="77" name="Text 75"/>
          <p:cNvSpPr/>
          <p:nvPr/>
        </p:nvSpPr>
        <p:spPr>
          <a:xfrm>
            <a:off x="640080" y="1751533"/>
            <a:ext cx="475488" cy="250088"/>
          </a:xfrm>
          <a:prstGeom prst="rect">
            <a:avLst/>
          </a:prstGeom>
          <a:noFill/>
          <a:ln/>
        </p:spPr>
        <p:txBody>
          <a:bodyPr wrap="square" lIns="6350" tIns="6350" rIns="6350" bIns="6350" rtlCol="0" anchor="ctr"/>
          <a:lstStyle/>
          <a:p>
            <a:pPr marL="0" indent="0" algn="ctr">
              <a:buNone/>
            </a:pPr>
            <a:r>
              <a:rPr lang="en-US" sz="380" b="1" dirty="0">
                <a:solidFill>
                  <a:srgbClr val="3D1D00"/>
                </a:solidFill>
              </a:rPr>
              <a:t>Capacidad</a:t>
            </a:r>
            <a:endParaRPr lang="en-US" sz="380" dirty="0"/>
          </a:p>
        </p:txBody>
      </p:sp>
      <p:sp>
        <p:nvSpPr>
          <p:cNvPr id="78" name="Shape 76"/>
          <p:cNvSpPr/>
          <p:nvPr/>
        </p:nvSpPr>
        <p:spPr>
          <a:xfrm>
            <a:off x="640080" y="2006194"/>
            <a:ext cx="475488" cy="109728"/>
          </a:xfrm>
          <a:prstGeom prst="rect">
            <a:avLst/>
          </a:prstGeom>
          <a:solidFill>
            <a:srgbClr val="BE82FF"/>
          </a:solidFill>
          <a:ln w="6350">
            <a:solidFill>
              <a:srgbClr val="A100FF"/>
            </a:solidFill>
            <a:prstDash val="solid"/>
          </a:ln>
        </p:spPr>
        <p:txBody>
          <a:bodyPr/>
          <a:lstStyle/>
          <a:p>
            <a:endParaRPr lang="es-ES"/>
          </a:p>
        </p:txBody>
      </p:sp>
      <p:sp>
        <p:nvSpPr>
          <p:cNvPr id="79" name="Text 77"/>
          <p:cNvSpPr/>
          <p:nvPr/>
        </p:nvSpPr>
        <p:spPr>
          <a:xfrm>
            <a:off x="640080" y="2006194"/>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Logging</a:t>
            </a:r>
            <a:endParaRPr lang="en-US" sz="400" dirty="0"/>
          </a:p>
        </p:txBody>
      </p:sp>
      <p:sp>
        <p:nvSpPr>
          <p:cNvPr id="80" name="Shape 78"/>
          <p:cNvSpPr/>
          <p:nvPr/>
        </p:nvSpPr>
        <p:spPr>
          <a:xfrm>
            <a:off x="640080" y="2125066"/>
            <a:ext cx="475488" cy="250088"/>
          </a:xfrm>
          <a:prstGeom prst="rect">
            <a:avLst/>
          </a:prstGeom>
          <a:solidFill>
            <a:srgbClr val="FFFFFF"/>
          </a:solidFill>
          <a:ln w="3810">
            <a:solidFill>
              <a:srgbClr val="BE82FF"/>
            </a:solidFill>
            <a:prstDash val="solid"/>
          </a:ln>
        </p:spPr>
        <p:txBody>
          <a:bodyPr/>
          <a:lstStyle/>
          <a:p>
            <a:endParaRPr lang="es-ES"/>
          </a:p>
        </p:txBody>
      </p:sp>
      <p:sp>
        <p:nvSpPr>
          <p:cNvPr id="81" name="Text 79"/>
          <p:cNvSpPr/>
          <p:nvPr/>
        </p:nvSpPr>
        <p:spPr>
          <a:xfrm>
            <a:off x="640080" y="212506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Agreg.Logs</a:t>
            </a:r>
            <a:endParaRPr lang="en-US" sz="380" dirty="0"/>
          </a:p>
        </p:txBody>
      </p:sp>
      <p:sp>
        <p:nvSpPr>
          <p:cNvPr id="82" name="Shape 80"/>
          <p:cNvSpPr/>
          <p:nvPr/>
        </p:nvSpPr>
        <p:spPr>
          <a:xfrm>
            <a:off x="640080" y="2379726"/>
            <a:ext cx="475488" cy="250088"/>
          </a:xfrm>
          <a:prstGeom prst="rect">
            <a:avLst/>
          </a:prstGeom>
          <a:solidFill>
            <a:srgbClr val="FFFFFF"/>
          </a:solidFill>
          <a:ln w="3810">
            <a:solidFill>
              <a:srgbClr val="BE82FF"/>
            </a:solidFill>
            <a:prstDash val="solid"/>
          </a:ln>
        </p:spPr>
        <p:txBody>
          <a:bodyPr/>
          <a:lstStyle/>
          <a:p>
            <a:endParaRPr lang="es-ES"/>
          </a:p>
        </p:txBody>
      </p:sp>
      <p:sp>
        <p:nvSpPr>
          <p:cNvPr id="83" name="Text 81"/>
          <p:cNvSpPr/>
          <p:nvPr/>
        </p:nvSpPr>
        <p:spPr>
          <a:xfrm>
            <a:off x="640080" y="237972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Reg.Operativo</a:t>
            </a:r>
            <a:endParaRPr lang="en-US" sz="380" dirty="0"/>
          </a:p>
        </p:txBody>
      </p:sp>
      <p:sp>
        <p:nvSpPr>
          <p:cNvPr id="84" name="Shape 82"/>
          <p:cNvSpPr/>
          <p:nvPr/>
        </p:nvSpPr>
        <p:spPr>
          <a:xfrm>
            <a:off x="640080" y="2634386"/>
            <a:ext cx="475488" cy="250088"/>
          </a:xfrm>
          <a:prstGeom prst="rect">
            <a:avLst/>
          </a:prstGeom>
          <a:solidFill>
            <a:srgbClr val="FFFFFF"/>
          </a:solidFill>
          <a:ln w="3810">
            <a:solidFill>
              <a:srgbClr val="BE82FF"/>
            </a:solidFill>
            <a:prstDash val="solid"/>
          </a:ln>
        </p:spPr>
        <p:txBody>
          <a:bodyPr/>
          <a:lstStyle/>
          <a:p>
            <a:endParaRPr lang="es-ES"/>
          </a:p>
        </p:txBody>
      </p:sp>
      <p:sp>
        <p:nvSpPr>
          <p:cNvPr id="85" name="Text 83"/>
          <p:cNvSpPr/>
          <p:nvPr/>
        </p:nvSpPr>
        <p:spPr>
          <a:xfrm>
            <a:off x="640080" y="2634386"/>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a:t>
            </a:r>
            <a:endParaRPr lang="en-US" sz="380" dirty="0"/>
          </a:p>
        </p:txBody>
      </p:sp>
      <p:sp>
        <p:nvSpPr>
          <p:cNvPr id="86" name="Shape 84"/>
          <p:cNvSpPr/>
          <p:nvPr/>
        </p:nvSpPr>
        <p:spPr>
          <a:xfrm>
            <a:off x="640080" y="2889047"/>
            <a:ext cx="475488" cy="250088"/>
          </a:xfrm>
          <a:prstGeom prst="rect">
            <a:avLst/>
          </a:prstGeom>
          <a:solidFill>
            <a:srgbClr val="FFFFFF"/>
          </a:solidFill>
          <a:ln w="3810">
            <a:solidFill>
              <a:srgbClr val="BE82FF"/>
            </a:solidFill>
            <a:prstDash val="solid"/>
          </a:ln>
        </p:spPr>
        <p:txBody>
          <a:bodyPr/>
          <a:lstStyle/>
          <a:p>
            <a:endParaRPr lang="es-ES"/>
          </a:p>
        </p:txBody>
      </p:sp>
      <p:sp>
        <p:nvSpPr>
          <p:cNvPr id="87" name="Text 85"/>
          <p:cNvSpPr/>
          <p:nvPr/>
        </p:nvSpPr>
        <p:spPr>
          <a:xfrm>
            <a:off x="640080" y="2889047"/>
            <a:ext cx="475488" cy="250088"/>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a:t>
            </a:r>
            <a:endParaRPr lang="en-US" sz="380" dirty="0"/>
          </a:p>
        </p:txBody>
      </p:sp>
      <p:sp>
        <p:nvSpPr>
          <p:cNvPr id="88" name="Shape 86"/>
          <p:cNvSpPr/>
          <p:nvPr/>
        </p:nvSpPr>
        <p:spPr>
          <a:xfrm>
            <a:off x="640080" y="3143707"/>
            <a:ext cx="475488" cy="109728"/>
          </a:xfrm>
          <a:prstGeom prst="rect">
            <a:avLst/>
          </a:prstGeom>
          <a:solidFill>
            <a:srgbClr val="BE82FF"/>
          </a:solidFill>
          <a:ln w="6350">
            <a:solidFill>
              <a:srgbClr val="A100FF"/>
            </a:solidFill>
            <a:prstDash val="solid"/>
          </a:ln>
        </p:spPr>
        <p:txBody>
          <a:bodyPr/>
          <a:lstStyle/>
          <a:p>
            <a:endParaRPr lang="es-ES"/>
          </a:p>
        </p:txBody>
      </p:sp>
      <p:sp>
        <p:nvSpPr>
          <p:cNvPr id="89" name="Text 87"/>
          <p:cNvSpPr/>
          <p:nvPr/>
        </p:nvSpPr>
        <p:spPr>
          <a:xfrm>
            <a:off x="640080" y="3143707"/>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Trazado</a:t>
            </a:r>
            <a:endParaRPr lang="en-US" sz="400" dirty="0"/>
          </a:p>
        </p:txBody>
      </p:sp>
      <p:sp>
        <p:nvSpPr>
          <p:cNvPr id="90" name="Shape 88"/>
          <p:cNvSpPr/>
          <p:nvPr/>
        </p:nvSpPr>
        <p:spPr>
          <a:xfrm>
            <a:off x="640080" y="3262579"/>
            <a:ext cx="475488" cy="504749"/>
          </a:xfrm>
          <a:prstGeom prst="rect">
            <a:avLst/>
          </a:prstGeom>
          <a:solidFill>
            <a:srgbClr val="FFFFFF"/>
          </a:solidFill>
          <a:ln w="3810">
            <a:solidFill>
              <a:srgbClr val="BE82FF"/>
            </a:solidFill>
            <a:prstDash val="solid"/>
          </a:ln>
        </p:spPr>
        <p:txBody>
          <a:bodyPr/>
          <a:lstStyle/>
          <a:p>
            <a:endParaRPr lang="es-ES"/>
          </a:p>
        </p:txBody>
      </p:sp>
      <p:sp>
        <p:nvSpPr>
          <p:cNvPr id="91" name="Text 89"/>
          <p:cNvSpPr/>
          <p:nvPr/>
        </p:nvSpPr>
        <p:spPr>
          <a:xfrm>
            <a:off x="640080" y="3262579"/>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Distrib.</a:t>
            </a:r>
            <a:endParaRPr lang="en-US" sz="380" dirty="0"/>
          </a:p>
        </p:txBody>
      </p:sp>
      <p:sp>
        <p:nvSpPr>
          <p:cNvPr id="92" name="Shape 90"/>
          <p:cNvSpPr/>
          <p:nvPr/>
        </p:nvSpPr>
        <p:spPr>
          <a:xfrm>
            <a:off x="640080" y="3771900"/>
            <a:ext cx="475488" cy="504749"/>
          </a:xfrm>
          <a:prstGeom prst="rect">
            <a:avLst/>
          </a:prstGeom>
          <a:solidFill>
            <a:srgbClr val="FFFFFF"/>
          </a:solidFill>
          <a:ln w="3810">
            <a:solidFill>
              <a:srgbClr val="BE82FF"/>
            </a:solidFill>
            <a:prstDash val="solid"/>
          </a:ln>
        </p:spPr>
        <p:txBody>
          <a:bodyPr/>
          <a:lstStyle/>
          <a:p>
            <a:endParaRPr lang="es-ES"/>
          </a:p>
        </p:txBody>
      </p:sp>
      <p:sp>
        <p:nvSpPr>
          <p:cNvPr id="93" name="Text 91"/>
          <p:cNvSpPr/>
          <p:nvPr/>
        </p:nvSpPr>
        <p:spPr>
          <a:xfrm>
            <a:off x="640080" y="3771900"/>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Trazado E2E</a:t>
            </a:r>
            <a:endParaRPr lang="en-US" sz="380" dirty="0"/>
          </a:p>
        </p:txBody>
      </p:sp>
      <p:sp>
        <p:nvSpPr>
          <p:cNvPr id="94" name="Shape 92"/>
          <p:cNvSpPr/>
          <p:nvPr/>
        </p:nvSpPr>
        <p:spPr>
          <a:xfrm>
            <a:off x="640080" y="4281221"/>
            <a:ext cx="475488" cy="109728"/>
          </a:xfrm>
          <a:prstGeom prst="rect">
            <a:avLst/>
          </a:prstGeom>
          <a:solidFill>
            <a:srgbClr val="BE82FF"/>
          </a:solidFill>
          <a:ln w="6350">
            <a:solidFill>
              <a:srgbClr val="A100FF"/>
            </a:solidFill>
            <a:prstDash val="solid"/>
          </a:ln>
        </p:spPr>
        <p:txBody>
          <a:bodyPr/>
          <a:lstStyle/>
          <a:p>
            <a:endParaRPr lang="es-ES"/>
          </a:p>
        </p:txBody>
      </p:sp>
      <p:sp>
        <p:nvSpPr>
          <p:cNvPr id="95" name="Text 93"/>
          <p:cNvSpPr/>
          <p:nvPr/>
        </p:nvSpPr>
        <p:spPr>
          <a:xfrm>
            <a:off x="640080" y="4281221"/>
            <a:ext cx="475488"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Métr.&amp;Analít.</a:t>
            </a:r>
            <a:endParaRPr lang="en-US" sz="400" dirty="0"/>
          </a:p>
        </p:txBody>
      </p:sp>
      <p:sp>
        <p:nvSpPr>
          <p:cNvPr id="96" name="Shape 94"/>
          <p:cNvSpPr/>
          <p:nvPr/>
        </p:nvSpPr>
        <p:spPr>
          <a:xfrm>
            <a:off x="640080" y="4400093"/>
            <a:ext cx="475488" cy="504749"/>
          </a:xfrm>
          <a:prstGeom prst="rect">
            <a:avLst/>
          </a:prstGeom>
          <a:solidFill>
            <a:srgbClr val="FFFFFF"/>
          </a:solidFill>
          <a:ln w="3810">
            <a:solidFill>
              <a:srgbClr val="BE82FF"/>
            </a:solidFill>
            <a:prstDash val="solid"/>
          </a:ln>
        </p:spPr>
        <p:txBody>
          <a:bodyPr/>
          <a:lstStyle/>
          <a:p>
            <a:endParaRPr lang="es-ES"/>
          </a:p>
        </p:txBody>
      </p:sp>
      <p:sp>
        <p:nvSpPr>
          <p:cNvPr id="97" name="Text 95"/>
          <p:cNvSpPr/>
          <p:nvPr/>
        </p:nvSpPr>
        <p:spPr>
          <a:xfrm>
            <a:off x="640080" y="4400093"/>
            <a:ext cx="47548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Métricas y Analítica</a:t>
            </a:r>
            <a:endParaRPr lang="en-US" sz="380" dirty="0"/>
          </a:p>
        </p:txBody>
      </p:sp>
      <p:sp>
        <p:nvSpPr>
          <p:cNvPr id="98" name="Shape 96"/>
          <p:cNvSpPr/>
          <p:nvPr/>
        </p:nvSpPr>
        <p:spPr>
          <a:xfrm>
            <a:off x="640080" y="4909414"/>
            <a:ext cx="475488" cy="504749"/>
          </a:xfrm>
          <a:prstGeom prst="rect">
            <a:avLst/>
          </a:prstGeom>
          <a:solidFill>
            <a:srgbClr val="FFD580"/>
          </a:solidFill>
          <a:ln w="7620">
            <a:solidFill>
              <a:srgbClr val="FF8C00"/>
            </a:solidFill>
            <a:prstDash val="solid"/>
          </a:ln>
        </p:spPr>
        <p:txBody>
          <a:bodyPr/>
          <a:lstStyle/>
          <a:p>
            <a:endParaRPr lang="es-ES"/>
          </a:p>
        </p:txBody>
      </p:sp>
      <p:sp>
        <p:nvSpPr>
          <p:cNvPr id="99" name="Text 97"/>
          <p:cNvSpPr/>
          <p:nvPr/>
        </p:nvSpPr>
        <p:spPr>
          <a:xfrm>
            <a:off x="640080" y="4909414"/>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Reportes</a:t>
            </a:r>
            <a:endParaRPr lang="en-US" sz="380" dirty="0"/>
          </a:p>
        </p:txBody>
      </p:sp>
      <p:sp>
        <p:nvSpPr>
          <p:cNvPr id="100" name="Shape 98"/>
          <p:cNvSpPr/>
          <p:nvPr/>
        </p:nvSpPr>
        <p:spPr>
          <a:xfrm>
            <a:off x="640080" y="5418734"/>
            <a:ext cx="475488" cy="109728"/>
          </a:xfrm>
          <a:prstGeom prst="rect">
            <a:avLst/>
          </a:prstGeom>
          <a:solidFill>
            <a:srgbClr val="FF8C00"/>
          </a:solidFill>
          <a:ln w="9525">
            <a:solidFill>
              <a:srgbClr val="E05000"/>
            </a:solidFill>
            <a:prstDash val="solid"/>
          </a:ln>
        </p:spPr>
        <p:txBody>
          <a:bodyPr/>
          <a:lstStyle/>
          <a:p>
            <a:endParaRPr lang="es-ES"/>
          </a:p>
        </p:txBody>
      </p:sp>
      <p:sp>
        <p:nvSpPr>
          <p:cNvPr id="101" name="Text 99"/>
          <p:cNvSpPr/>
          <p:nvPr/>
        </p:nvSpPr>
        <p:spPr>
          <a:xfrm>
            <a:off x="640080" y="5418734"/>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02" name="Shape 100"/>
          <p:cNvSpPr/>
          <p:nvPr/>
        </p:nvSpPr>
        <p:spPr>
          <a:xfrm>
            <a:off x="640080" y="5537606"/>
            <a:ext cx="475488" cy="504749"/>
          </a:xfrm>
          <a:prstGeom prst="rect">
            <a:avLst/>
          </a:prstGeom>
          <a:solidFill>
            <a:srgbClr val="FFD580"/>
          </a:solidFill>
          <a:ln w="7620">
            <a:solidFill>
              <a:srgbClr val="FF8C00"/>
            </a:solidFill>
            <a:prstDash val="solid"/>
          </a:ln>
        </p:spPr>
        <p:txBody>
          <a:bodyPr/>
          <a:lstStyle/>
          <a:p>
            <a:endParaRPr lang="es-ES"/>
          </a:p>
        </p:txBody>
      </p:sp>
      <p:sp>
        <p:nvSpPr>
          <p:cNvPr id="103" name="Text 101"/>
          <p:cNvSpPr/>
          <p:nvPr/>
        </p:nvSpPr>
        <p:spPr>
          <a:xfrm>
            <a:off x="640080" y="5537606"/>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Paneles Técnicos</a:t>
            </a:r>
            <a:endParaRPr lang="en-US" sz="380" dirty="0"/>
          </a:p>
        </p:txBody>
      </p:sp>
      <p:sp>
        <p:nvSpPr>
          <p:cNvPr id="104" name="Shape 102"/>
          <p:cNvSpPr/>
          <p:nvPr/>
        </p:nvSpPr>
        <p:spPr>
          <a:xfrm>
            <a:off x="640080" y="6046927"/>
            <a:ext cx="475488" cy="504749"/>
          </a:xfrm>
          <a:prstGeom prst="rect">
            <a:avLst/>
          </a:prstGeom>
          <a:solidFill>
            <a:srgbClr val="FFD580"/>
          </a:solidFill>
          <a:ln w="7620">
            <a:solidFill>
              <a:srgbClr val="FF8C00"/>
            </a:solidFill>
            <a:prstDash val="solid"/>
          </a:ln>
        </p:spPr>
        <p:txBody>
          <a:bodyPr/>
          <a:lstStyle/>
          <a:p>
            <a:endParaRPr lang="es-ES"/>
          </a:p>
        </p:txBody>
      </p:sp>
      <p:sp>
        <p:nvSpPr>
          <p:cNvPr id="105" name="Text 103"/>
          <p:cNvSpPr/>
          <p:nvPr/>
        </p:nvSpPr>
        <p:spPr>
          <a:xfrm>
            <a:off x="640080" y="6046927"/>
            <a:ext cx="475488" cy="504749"/>
          </a:xfrm>
          <a:prstGeom prst="rect">
            <a:avLst/>
          </a:prstGeom>
          <a:noFill/>
          <a:ln/>
        </p:spPr>
        <p:txBody>
          <a:bodyPr wrap="square" lIns="6350" tIns="6350" rIns="6350" bIns="6350" rtlCol="0" anchor="ctr"/>
          <a:lstStyle/>
          <a:p>
            <a:pPr marL="0" indent="0" algn="ctr">
              <a:buNone/>
            </a:pPr>
            <a:r>
              <a:rPr lang="en-US" sz="380" b="1" dirty="0">
                <a:solidFill>
                  <a:srgbClr val="3D1D00"/>
                </a:solidFill>
              </a:rPr>
              <a:t>Paneles Empresar.</a:t>
            </a:r>
            <a:endParaRPr lang="en-US" sz="380" dirty="0"/>
          </a:p>
        </p:txBody>
      </p:sp>
      <p:sp>
        <p:nvSpPr>
          <p:cNvPr id="106" name="Shape 104"/>
          <p:cNvSpPr/>
          <p:nvPr/>
        </p:nvSpPr>
        <p:spPr>
          <a:xfrm>
            <a:off x="11027664" y="685800"/>
            <a:ext cx="1051560" cy="5916168"/>
          </a:xfrm>
          <a:prstGeom prst="rect">
            <a:avLst/>
          </a:prstGeom>
          <a:solidFill>
            <a:srgbClr val="EDE5FF"/>
          </a:solidFill>
          <a:ln w="12700">
            <a:solidFill>
              <a:srgbClr val="A100FF"/>
            </a:solidFill>
            <a:prstDash val="solid"/>
          </a:ln>
        </p:spPr>
        <p:txBody>
          <a:bodyPr/>
          <a:lstStyle/>
          <a:p>
            <a:endParaRPr lang="es-ES"/>
          </a:p>
        </p:txBody>
      </p:sp>
      <p:sp>
        <p:nvSpPr>
          <p:cNvPr id="107" name="Shape 105"/>
          <p:cNvSpPr/>
          <p:nvPr/>
        </p:nvSpPr>
        <p:spPr>
          <a:xfrm>
            <a:off x="1103680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08" name="Text 106"/>
          <p:cNvSpPr/>
          <p:nvPr/>
        </p:nvSpPr>
        <p:spPr>
          <a:xfrm>
            <a:off x="1103680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9" name="Shape 107"/>
          <p:cNvSpPr/>
          <p:nvPr/>
        </p:nvSpPr>
        <p:spPr>
          <a:xfrm>
            <a:off x="11192256" y="685800"/>
            <a:ext cx="877824" cy="164592"/>
          </a:xfrm>
          <a:prstGeom prst="rect">
            <a:avLst/>
          </a:prstGeom>
          <a:solidFill>
            <a:srgbClr val="A100FF"/>
          </a:solidFill>
          <a:ln w="12700">
            <a:solidFill>
              <a:srgbClr val="A100FF"/>
            </a:solidFill>
            <a:prstDash val="solid"/>
          </a:ln>
        </p:spPr>
        <p:txBody>
          <a:bodyPr/>
          <a:lstStyle/>
          <a:p>
            <a:endParaRPr lang="es-ES"/>
          </a:p>
        </p:txBody>
      </p:sp>
      <p:sp>
        <p:nvSpPr>
          <p:cNvPr id="110" name="Text 108"/>
          <p:cNvSpPr/>
          <p:nvPr/>
        </p:nvSpPr>
        <p:spPr>
          <a:xfrm>
            <a:off x="11210544" y="685800"/>
            <a:ext cx="841248" cy="164592"/>
          </a:xfrm>
          <a:prstGeom prst="rect">
            <a:avLst/>
          </a:prstGeom>
          <a:noFill/>
          <a:ln/>
        </p:spPr>
        <p:txBody>
          <a:bodyPr wrap="square" lIns="0" tIns="0" rIns="0" bIns="0" rtlCol="0" anchor="ctr"/>
          <a:lstStyle/>
          <a:p>
            <a:pPr marL="0" indent="0" algn="ctr">
              <a:buNone/>
            </a:pPr>
            <a:r>
              <a:rPr lang="en-US" sz="500" b="1" dirty="0">
                <a:solidFill>
                  <a:srgbClr val="FFFFFF"/>
                </a:solidFill>
              </a:rPr>
              <a:t>Infraestructura (Pila Tecnológica)</a:t>
            </a:r>
            <a:endParaRPr lang="en-US" sz="500" dirty="0"/>
          </a:p>
        </p:txBody>
      </p:sp>
      <p:sp>
        <p:nvSpPr>
          <p:cNvPr id="111" name="Shape 109"/>
          <p:cNvSpPr/>
          <p:nvPr/>
        </p:nvSpPr>
        <p:spPr>
          <a:xfrm>
            <a:off x="11036808" y="868680"/>
            <a:ext cx="1033272" cy="109728"/>
          </a:xfrm>
          <a:prstGeom prst="rect">
            <a:avLst/>
          </a:prstGeom>
          <a:solidFill>
            <a:srgbClr val="BE82FF"/>
          </a:solidFill>
          <a:ln w="6350">
            <a:solidFill>
              <a:srgbClr val="A100FF"/>
            </a:solidFill>
            <a:prstDash val="solid"/>
          </a:ln>
        </p:spPr>
        <p:txBody>
          <a:bodyPr/>
          <a:lstStyle/>
          <a:p>
            <a:endParaRPr lang="es-ES"/>
          </a:p>
        </p:txBody>
      </p:sp>
      <p:sp>
        <p:nvSpPr>
          <p:cNvPr id="112" name="Text 110"/>
          <p:cNvSpPr/>
          <p:nvPr/>
        </p:nvSpPr>
        <p:spPr>
          <a:xfrm>
            <a:off x="11036808" y="868680"/>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Microservicios</a:t>
            </a:r>
            <a:endParaRPr lang="en-US" sz="400" dirty="0"/>
          </a:p>
        </p:txBody>
      </p:sp>
      <p:sp>
        <p:nvSpPr>
          <p:cNvPr id="113" name="Shape 111"/>
          <p:cNvSpPr/>
          <p:nvPr/>
        </p:nvSpPr>
        <p:spPr>
          <a:xfrm>
            <a:off x="11036808"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14" name="Text 112"/>
          <p:cNvSpPr/>
          <p:nvPr/>
        </p:nvSpPr>
        <p:spPr>
          <a:xfrm>
            <a:off x="11036808"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Librerías Base</a:t>
            </a:r>
            <a:endParaRPr lang="en-US" sz="380" dirty="0"/>
          </a:p>
        </p:txBody>
      </p:sp>
      <p:sp>
        <p:nvSpPr>
          <p:cNvPr id="115" name="Shape 113"/>
          <p:cNvSpPr/>
          <p:nvPr/>
        </p:nvSpPr>
        <p:spPr>
          <a:xfrm>
            <a:off x="11036808"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16" name="Text 114"/>
          <p:cNvSpPr/>
          <p:nvPr/>
        </p:nvSpPr>
        <p:spPr>
          <a:xfrm>
            <a:off x="11036808"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Lenguajes/Runtimes</a:t>
            </a:r>
            <a:endParaRPr lang="en-US" sz="380" dirty="0"/>
          </a:p>
        </p:txBody>
      </p:sp>
      <p:sp>
        <p:nvSpPr>
          <p:cNvPr id="117" name="Shape 115"/>
          <p:cNvSpPr/>
          <p:nvPr/>
        </p:nvSpPr>
        <p:spPr>
          <a:xfrm>
            <a:off x="11036808" y="1666646"/>
            <a:ext cx="498348" cy="334975"/>
          </a:xfrm>
          <a:prstGeom prst="rect">
            <a:avLst/>
          </a:prstGeom>
          <a:solidFill>
            <a:srgbClr val="FFFFFF"/>
          </a:solidFill>
          <a:ln w="3810">
            <a:solidFill>
              <a:srgbClr val="BE82FF"/>
            </a:solidFill>
            <a:prstDash val="solid"/>
          </a:ln>
        </p:spPr>
        <p:txBody>
          <a:bodyPr/>
          <a:lstStyle/>
          <a:p>
            <a:endParaRPr lang="es-ES"/>
          </a:p>
        </p:txBody>
      </p:sp>
      <p:sp>
        <p:nvSpPr>
          <p:cNvPr id="118" name="Text 116"/>
          <p:cNvSpPr/>
          <p:nvPr/>
        </p:nvSpPr>
        <p:spPr>
          <a:xfrm>
            <a:off x="11036808" y="1666646"/>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Kernel</a:t>
            </a:r>
            <a:endParaRPr lang="en-US" sz="380" dirty="0"/>
          </a:p>
        </p:txBody>
      </p:sp>
      <p:sp>
        <p:nvSpPr>
          <p:cNvPr id="119" name="Shape 117"/>
          <p:cNvSpPr/>
          <p:nvPr/>
        </p:nvSpPr>
        <p:spPr>
          <a:xfrm>
            <a:off x="11553444" y="987552"/>
            <a:ext cx="498348" cy="334975"/>
          </a:xfrm>
          <a:prstGeom prst="rect">
            <a:avLst/>
          </a:prstGeom>
          <a:solidFill>
            <a:srgbClr val="FFFFFF"/>
          </a:solidFill>
          <a:ln w="3810">
            <a:solidFill>
              <a:srgbClr val="BE82FF"/>
            </a:solidFill>
            <a:prstDash val="solid"/>
          </a:ln>
        </p:spPr>
        <p:txBody>
          <a:bodyPr/>
          <a:lstStyle/>
          <a:p>
            <a:endParaRPr lang="es-ES"/>
          </a:p>
        </p:txBody>
      </p:sp>
      <p:sp>
        <p:nvSpPr>
          <p:cNvPr id="120" name="Text 118"/>
          <p:cNvSpPr/>
          <p:nvPr/>
        </p:nvSpPr>
        <p:spPr>
          <a:xfrm>
            <a:off x="11553444" y="987552"/>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Discovery</a:t>
            </a:r>
            <a:endParaRPr lang="en-US" sz="380" dirty="0"/>
          </a:p>
        </p:txBody>
      </p:sp>
      <p:sp>
        <p:nvSpPr>
          <p:cNvPr id="121" name="Shape 119"/>
          <p:cNvSpPr/>
          <p:nvPr/>
        </p:nvSpPr>
        <p:spPr>
          <a:xfrm>
            <a:off x="11553444" y="1327099"/>
            <a:ext cx="498348" cy="334975"/>
          </a:xfrm>
          <a:prstGeom prst="rect">
            <a:avLst/>
          </a:prstGeom>
          <a:solidFill>
            <a:srgbClr val="FFFFFF"/>
          </a:solidFill>
          <a:ln w="3810">
            <a:solidFill>
              <a:srgbClr val="BE82FF"/>
            </a:solidFill>
            <a:prstDash val="solid"/>
          </a:ln>
        </p:spPr>
        <p:txBody>
          <a:bodyPr/>
          <a:lstStyle/>
          <a:p>
            <a:endParaRPr lang="es-ES"/>
          </a:p>
        </p:txBody>
      </p:sp>
      <p:sp>
        <p:nvSpPr>
          <p:cNvPr id="122" name="Text 120"/>
          <p:cNvSpPr/>
          <p:nvPr/>
        </p:nvSpPr>
        <p:spPr>
          <a:xfrm>
            <a:off x="11553444" y="1327099"/>
            <a:ext cx="498348" cy="33497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Service Mesh</a:t>
            </a:r>
            <a:endParaRPr lang="en-US" sz="380" dirty="0"/>
          </a:p>
        </p:txBody>
      </p:sp>
      <p:sp>
        <p:nvSpPr>
          <p:cNvPr id="123" name="Shape 121"/>
          <p:cNvSpPr/>
          <p:nvPr/>
        </p:nvSpPr>
        <p:spPr>
          <a:xfrm>
            <a:off x="11036808" y="2006194"/>
            <a:ext cx="1033272" cy="109728"/>
          </a:xfrm>
          <a:prstGeom prst="rect">
            <a:avLst/>
          </a:prstGeom>
          <a:solidFill>
            <a:srgbClr val="BE82FF"/>
          </a:solidFill>
          <a:ln w="6350">
            <a:solidFill>
              <a:srgbClr val="A100FF"/>
            </a:solidFill>
            <a:prstDash val="solid"/>
          </a:ln>
        </p:spPr>
        <p:txBody>
          <a:bodyPr/>
          <a:lstStyle/>
          <a:p>
            <a:endParaRPr lang="es-ES"/>
          </a:p>
        </p:txBody>
      </p:sp>
      <p:sp>
        <p:nvSpPr>
          <p:cNvPr id="124" name="Text 122"/>
          <p:cNvSpPr/>
          <p:nvPr/>
        </p:nvSpPr>
        <p:spPr>
          <a:xfrm>
            <a:off x="11036808" y="200619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Plataforma Contenedores</a:t>
            </a:r>
            <a:endParaRPr lang="en-US" sz="400" dirty="0"/>
          </a:p>
        </p:txBody>
      </p:sp>
      <p:sp>
        <p:nvSpPr>
          <p:cNvPr id="125" name="Shape 123"/>
          <p:cNvSpPr/>
          <p:nvPr/>
        </p:nvSpPr>
        <p:spPr>
          <a:xfrm>
            <a:off x="11036808"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26" name="Text 124"/>
          <p:cNvSpPr/>
          <p:nvPr/>
        </p:nvSpPr>
        <p:spPr>
          <a:xfrm>
            <a:off x="11036808"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Orquestación Contenedores</a:t>
            </a:r>
            <a:endParaRPr lang="en-US" sz="380" dirty="0"/>
          </a:p>
        </p:txBody>
      </p:sp>
      <p:sp>
        <p:nvSpPr>
          <p:cNvPr id="127" name="Shape 125"/>
          <p:cNvSpPr/>
          <p:nvPr/>
        </p:nvSpPr>
        <p:spPr>
          <a:xfrm>
            <a:off x="11036808" y="2634386"/>
            <a:ext cx="498348" cy="504749"/>
          </a:xfrm>
          <a:prstGeom prst="rect">
            <a:avLst/>
          </a:prstGeom>
          <a:solidFill>
            <a:srgbClr val="FFFFFF"/>
          </a:solidFill>
          <a:ln w="3810">
            <a:solidFill>
              <a:srgbClr val="BE82FF"/>
            </a:solidFill>
            <a:prstDash val="solid"/>
          </a:ln>
        </p:spPr>
        <p:txBody>
          <a:bodyPr/>
          <a:lstStyle/>
          <a:p>
            <a:endParaRPr lang="es-ES"/>
          </a:p>
        </p:txBody>
      </p:sp>
      <p:sp>
        <p:nvSpPr>
          <p:cNvPr id="128" name="Text 126"/>
          <p:cNvSpPr/>
          <p:nvPr/>
        </p:nvSpPr>
        <p:spPr>
          <a:xfrm>
            <a:off x="11036808" y="263438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Runtime Serverless</a:t>
            </a:r>
            <a:endParaRPr lang="en-US" sz="380" dirty="0"/>
          </a:p>
        </p:txBody>
      </p:sp>
      <p:sp>
        <p:nvSpPr>
          <p:cNvPr id="129" name="Shape 127"/>
          <p:cNvSpPr/>
          <p:nvPr/>
        </p:nvSpPr>
        <p:spPr>
          <a:xfrm>
            <a:off x="11553444" y="2125066"/>
            <a:ext cx="498348" cy="504749"/>
          </a:xfrm>
          <a:prstGeom prst="rect">
            <a:avLst/>
          </a:prstGeom>
          <a:solidFill>
            <a:srgbClr val="FFFFFF"/>
          </a:solidFill>
          <a:ln w="3810">
            <a:solidFill>
              <a:srgbClr val="BE82FF"/>
            </a:solidFill>
            <a:prstDash val="solid"/>
          </a:ln>
        </p:spPr>
        <p:txBody>
          <a:bodyPr/>
          <a:lstStyle/>
          <a:p>
            <a:endParaRPr lang="es-ES"/>
          </a:p>
        </p:txBody>
      </p:sp>
      <p:sp>
        <p:nvSpPr>
          <p:cNvPr id="130" name="Text 128"/>
          <p:cNvSpPr/>
          <p:nvPr/>
        </p:nvSpPr>
        <p:spPr>
          <a:xfrm>
            <a:off x="11553444" y="212506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Imágenes y Artefactos</a:t>
            </a:r>
            <a:endParaRPr lang="en-US" sz="380" dirty="0"/>
          </a:p>
        </p:txBody>
      </p:sp>
      <p:sp>
        <p:nvSpPr>
          <p:cNvPr id="131" name="Shape 129"/>
          <p:cNvSpPr/>
          <p:nvPr/>
        </p:nvSpPr>
        <p:spPr>
          <a:xfrm>
            <a:off x="11036808" y="3143707"/>
            <a:ext cx="1033272" cy="109728"/>
          </a:xfrm>
          <a:prstGeom prst="rect">
            <a:avLst/>
          </a:prstGeom>
          <a:solidFill>
            <a:srgbClr val="BE82FF"/>
          </a:solidFill>
          <a:ln w="6350">
            <a:solidFill>
              <a:srgbClr val="A100FF"/>
            </a:solidFill>
            <a:prstDash val="solid"/>
          </a:ln>
        </p:spPr>
        <p:txBody>
          <a:bodyPr/>
          <a:lstStyle/>
          <a:p>
            <a:endParaRPr lang="es-ES"/>
          </a:p>
        </p:txBody>
      </p:sp>
      <p:sp>
        <p:nvSpPr>
          <p:cNvPr id="132" name="Text 130"/>
          <p:cNvSpPr/>
          <p:nvPr/>
        </p:nvSpPr>
        <p:spPr>
          <a:xfrm>
            <a:off x="11036808" y="3143707"/>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Config.Plataforma</a:t>
            </a:r>
            <a:endParaRPr lang="en-US" sz="400" dirty="0"/>
          </a:p>
        </p:txBody>
      </p:sp>
      <p:sp>
        <p:nvSpPr>
          <p:cNvPr id="133" name="Shape 131"/>
          <p:cNvSpPr/>
          <p:nvPr/>
        </p:nvSpPr>
        <p:spPr>
          <a:xfrm>
            <a:off x="11036808"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4" name="Text 132"/>
          <p:cNvSpPr/>
          <p:nvPr/>
        </p:nvSpPr>
        <p:spPr>
          <a:xfrm>
            <a:off x="11036808"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Aprovisionam.Infraestr.</a:t>
            </a:r>
            <a:endParaRPr lang="en-US" sz="380" dirty="0"/>
          </a:p>
        </p:txBody>
      </p:sp>
      <p:sp>
        <p:nvSpPr>
          <p:cNvPr id="135" name="Shape 133"/>
          <p:cNvSpPr/>
          <p:nvPr/>
        </p:nvSpPr>
        <p:spPr>
          <a:xfrm>
            <a:off x="11036808" y="3771900"/>
            <a:ext cx="498348" cy="504749"/>
          </a:xfrm>
          <a:prstGeom prst="rect">
            <a:avLst/>
          </a:prstGeom>
          <a:solidFill>
            <a:srgbClr val="FFFFFF"/>
          </a:solidFill>
          <a:ln w="3810">
            <a:solidFill>
              <a:srgbClr val="BE82FF"/>
            </a:solidFill>
            <a:prstDash val="solid"/>
          </a:ln>
        </p:spPr>
        <p:txBody>
          <a:bodyPr/>
          <a:lstStyle/>
          <a:p>
            <a:endParaRPr lang="es-ES"/>
          </a:p>
        </p:txBody>
      </p:sp>
      <p:sp>
        <p:nvSpPr>
          <p:cNvPr id="136" name="Text 134"/>
          <p:cNvSpPr/>
          <p:nvPr/>
        </p:nvSpPr>
        <p:spPr>
          <a:xfrm>
            <a:off x="11036808" y="3771900"/>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Configuración</a:t>
            </a:r>
            <a:endParaRPr lang="en-US" sz="380" dirty="0"/>
          </a:p>
        </p:txBody>
      </p:sp>
      <p:sp>
        <p:nvSpPr>
          <p:cNvPr id="137" name="Shape 135"/>
          <p:cNvSpPr/>
          <p:nvPr/>
        </p:nvSpPr>
        <p:spPr>
          <a:xfrm>
            <a:off x="11553444" y="3262579"/>
            <a:ext cx="498348" cy="504749"/>
          </a:xfrm>
          <a:prstGeom prst="rect">
            <a:avLst/>
          </a:prstGeom>
          <a:solidFill>
            <a:srgbClr val="FFFFFF"/>
          </a:solidFill>
          <a:ln w="3810">
            <a:solidFill>
              <a:srgbClr val="BE82FF"/>
            </a:solidFill>
            <a:prstDash val="solid"/>
          </a:ln>
        </p:spPr>
        <p:txBody>
          <a:bodyPr/>
          <a:lstStyle/>
          <a:p>
            <a:endParaRPr lang="es-ES"/>
          </a:p>
        </p:txBody>
      </p:sp>
      <p:sp>
        <p:nvSpPr>
          <p:cNvPr id="138" name="Text 136"/>
          <p:cNvSpPr/>
          <p:nvPr/>
        </p:nvSpPr>
        <p:spPr>
          <a:xfrm>
            <a:off x="11553444" y="3262579"/>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Entornos</a:t>
            </a:r>
            <a:endParaRPr lang="en-US" sz="380" dirty="0"/>
          </a:p>
        </p:txBody>
      </p:sp>
      <p:sp>
        <p:nvSpPr>
          <p:cNvPr id="139" name="Shape 137"/>
          <p:cNvSpPr/>
          <p:nvPr/>
        </p:nvSpPr>
        <p:spPr>
          <a:xfrm>
            <a:off x="11036808" y="4281221"/>
            <a:ext cx="1033272" cy="109728"/>
          </a:xfrm>
          <a:prstGeom prst="rect">
            <a:avLst/>
          </a:prstGeom>
          <a:solidFill>
            <a:srgbClr val="BE82FF"/>
          </a:solidFill>
          <a:ln w="6350">
            <a:solidFill>
              <a:srgbClr val="A100FF"/>
            </a:solidFill>
            <a:prstDash val="solid"/>
          </a:ln>
        </p:spPr>
        <p:txBody>
          <a:bodyPr/>
          <a:lstStyle/>
          <a:p>
            <a:endParaRPr lang="es-ES"/>
          </a:p>
        </p:txBody>
      </p:sp>
      <p:sp>
        <p:nvSpPr>
          <p:cNvPr id="140" name="Text 138"/>
          <p:cNvSpPr/>
          <p:nvPr/>
        </p:nvSpPr>
        <p:spPr>
          <a:xfrm>
            <a:off x="11036808" y="4281221"/>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Despliegue &amp; Releases</a:t>
            </a:r>
            <a:endParaRPr lang="en-US" sz="400" dirty="0"/>
          </a:p>
        </p:txBody>
      </p:sp>
      <p:sp>
        <p:nvSpPr>
          <p:cNvPr id="141" name="Shape 139"/>
          <p:cNvSpPr/>
          <p:nvPr/>
        </p:nvSpPr>
        <p:spPr>
          <a:xfrm>
            <a:off x="11036808"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2" name="Text 140"/>
          <p:cNvSpPr/>
          <p:nvPr/>
        </p:nvSpPr>
        <p:spPr>
          <a:xfrm>
            <a:off x="11036808"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Estrategias Despliegue</a:t>
            </a:r>
            <a:endParaRPr lang="en-US" sz="380" dirty="0"/>
          </a:p>
        </p:txBody>
      </p:sp>
      <p:sp>
        <p:nvSpPr>
          <p:cNvPr id="143" name="Shape 141"/>
          <p:cNvSpPr/>
          <p:nvPr/>
        </p:nvSpPr>
        <p:spPr>
          <a:xfrm>
            <a:off x="11553444" y="4400093"/>
            <a:ext cx="498348" cy="1014070"/>
          </a:xfrm>
          <a:prstGeom prst="rect">
            <a:avLst/>
          </a:prstGeom>
          <a:solidFill>
            <a:srgbClr val="FFFFFF"/>
          </a:solidFill>
          <a:ln w="3810">
            <a:solidFill>
              <a:srgbClr val="BE82FF"/>
            </a:solidFill>
            <a:prstDash val="solid"/>
          </a:ln>
        </p:spPr>
        <p:txBody>
          <a:bodyPr/>
          <a:lstStyle/>
          <a:p>
            <a:endParaRPr lang="es-ES"/>
          </a:p>
        </p:txBody>
      </p:sp>
      <p:sp>
        <p:nvSpPr>
          <p:cNvPr id="144" name="Text 142"/>
          <p:cNvSpPr/>
          <p:nvPr/>
        </p:nvSpPr>
        <p:spPr>
          <a:xfrm>
            <a:off x="11553444" y="4400093"/>
            <a:ext cx="498348" cy="1014070"/>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Automatizadas</a:t>
            </a:r>
            <a:endParaRPr lang="en-US" sz="380" dirty="0"/>
          </a:p>
        </p:txBody>
      </p:sp>
      <p:sp>
        <p:nvSpPr>
          <p:cNvPr id="145" name="Shape 143"/>
          <p:cNvSpPr/>
          <p:nvPr/>
        </p:nvSpPr>
        <p:spPr>
          <a:xfrm>
            <a:off x="11036808" y="5418734"/>
            <a:ext cx="1033272" cy="109728"/>
          </a:xfrm>
          <a:prstGeom prst="rect">
            <a:avLst/>
          </a:prstGeom>
          <a:solidFill>
            <a:srgbClr val="BE82FF"/>
          </a:solidFill>
          <a:ln w="6350">
            <a:solidFill>
              <a:srgbClr val="A100FF"/>
            </a:solidFill>
            <a:prstDash val="solid"/>
          </a:ln>
        </p:spPr>
        <p:txBody>
          <a:bodyPr/>
          <a:lstStyle/>
          <a:p>
            <a:endParaRPr lang="es-ES"/>
          </a:p>
        </p:txBody>
      </p:sp>
      <p:sp>
        <p:nvSpPr>
          <p:cNvPr id="146" name="Text 144"/>
          <p:cNvSpPr/>
          <p:nvPr/>
        </p:nvSpPr>
        <p:spPr>
          <a:xfrm>
            <a:off x="11036808" y="5418734"/>
            <a:ext cx="1033272"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Resiliencia Infraestr.</a:t>
            </a:r>
            <a:endParaRPr lang="en-US" sz="400" dirty="0"/>
          </a:p>
        </p:txBody>
      </p:sp>
      <p:sp>
        <p:nvSpPr>
          <p:cNvPr id="147" name="Shape 145"/>
          <p:cNvSpPr/>
          <p:nvPr/>
        </p:nvSpPr>
        <p:spPr>
          <a:xfrm>
            <a:off x="11036808"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48" name="Text 146"/>
          <p:cNvSpPr/>
          <p:nvPr/>
        </p:nvSpPr>
        <p:spPr>
          <a:xfrm>
            <a:off x="11036808"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Alta Disponibilidad</a:t>
            </a:r>
            <a:endParaRPr lang="en-US" sz="380" dirty="0"/>
          </a:p>
        </p:txBody>
      </p:sp>
      <p:sp>
        <p:nvSpPr>
          <p:cNvPr id="149" name="Shape 147"/>
          <p:cNvSpPr/>
          <p:nvPr/>
        </p:nvSpPr>
        <p:spPr>
          <a:xfrm>
            <a:off x="11036808" y="6046927"/>
            <a:ext cx="498348" cy="504749"/>
          </a:xfrm>
          <a:prstGeom prst="rect">
            <a:avLst/>
          </a:prstGeom>
          <a:solidFill>
            <a:srgbClr val="FFFFFF"/>
          </a:solidFill>
          <a:ln w="3810">
            <a:solidFill>
              <a:srgbClr val="BE82FF"/>
            </a:solidFill>
            <a:prstDash val="solid"/>
          </a:ln>
        </p:spPr>
        <p:txBody>
          <a:bodyPr/>
          <a:lstStyle/>
          <a:p>
            <a:endParaRPr lang="es-ES"/>
          </a:p>
        </p:txBody>
      </p:sp>
      <p:sp>
        <p:nvSpPr>
          <p:cNvPr id="150" name="Text 148"/>
          <p:cNvSpPr/>
          <p:nvPr/>
        </p:nvSpPr>
        <p:spPr>
          <a:xfrm>
            <a:off x="11036808" y="6046927"/>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Pruebas Resiliencia</a:t>
            </a:r>
            <a:endParaRPr lang="en-US" sz="380" dirty="0"/>
          </a:p>
        </p:txBody>
      </p:sp>
      <p:sp>
        <p:nvSpPr>
          <p:cNvPr id="151" name="Shape 149"/>
          <p:cNvSpPr/>
          <p:nvPr/>
        </p:nvSpPr>
        <p:spPr>
          <a:xfrm>
            <a:off x="11553444" y="5537606"/>
            <a:ext cx="498348" cy="504749"/>
          </a:xfrm>
          <a:prstGeom prst="rect">
            <a:avLst/>
          </a:prstGeom>
          <a:solidFill>
            <a:srgbClr val="FFFFFF"/>
          </a:solidFill>
          <a:ln w="3810">
            <a:solidFill>
              <a:srgbClr val="BE82FF"/>
            </a:solidFill>
            <a:prstDash val="solid"/>
          </a:ln>
        </p:spPr>
        <p:txBody>
          <a:bodyPr/>
          <a:lstStyle/>
          <a:p>
            <a:endParaRPr lang="es-ES"/>
          </a:p>
        </p:txBody>
      </p:sp>
      <p:sp>
        <p:nvSpPr>
          <p:cNvPr id="152" name="Text 150"/>
          <p:cNvSpPr/>
          <p:nvPr/>
        </p:nvSpPr>
        <p:spPr>
          <a:xfrm>
            <a:off x="11553444" y="5537606"/>
            <a:ext cx="498348" cy="504749"/>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Recuperación</a:t>
            </a:r>
            <a:endParaRPr lang="en-US" sz="380" dirty="0"/>
          </a:p>
        </p:txBody>
      </p:sp>
      <p:sp>
        <p:nvSpPr>
          <p:cNvPr id="153" name="Shape 151"/>
          <p:cNvSpPr/>
          <p:nvPr/>
        </p:nvSpPr>
        <p:spPr>
          <a:xfrm>
            <a:off x="1152144" y="685800"/>
            <a:ext cx="5121006" cy="603504"/>
          </a:xfrm>
          <a:prstGeom prst="rect">
            <a:avLst/>
          </a:prstGeom>
          <a:solidFill>
            <a:srgbClr val="EDE5FF"/>
          </a:solidFill>
          <a:ln w="12700">
            <a:solidFill>
              <a:srgbClr val="A100FF"/>
            </a:solidFill>
            <a:prstDash val="solid"/>
          </a:ln>
        </p:spPr>
        <p:txBody>
          <a:bodyPr/>
          <a:lstStyle/>
          <a:p>
            <a:endParaRPr lang="es-ES"/>
          </a:p>
        </p:txBody>
      </p:sp>
      <p:sp>
        <p:nvSpPr>
          <p:cNvPr id="154" name="Shape 152"/>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55" name="Text 153"/>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56" name="Shape 154"/>
          <p:cNvSpPr/>
          <p:nvPr/>
        </p:nvSpPr>
        <p:spPr>
          <a:xfrm>
            <a:off x="1325880" y="685800"/>
            <a:ext cx="4947270" cy="155448"/>
          </a:xfrm>
          <a:prstGeom prst="rect">
            <a:avLst/>
          </a:prstGeom>
          <a:solidFill>
            <a:srgbClr val="A100FF"/>
          </a:solidFill>
          <a:ln w="12700">
            <a:solidFill>
              <a:srgbClr val="A100FF"/>
            </a:solidFill>
            <a:prstDash val="solid"/>
          </a:ln>
        </p:spPr>
        <p:txBody>
          <a:bodyPr/>
          <a:lstStyle/>
          <a:p>
            <a:endParaRPr lang="es-ES"/>
          </a:p>
        </p:txBody>
      </p:sp>
      <p:sp>
        <p:nvSpPr>
          <p:cNvPr id="157" name="Text 155"/>
          <p:cNvSpPr/>
          <p:nvPr/>
        </p:nvSpPr>
        <p:spPr>
          <a:xfrm>
            <a:off x="1344168" y="685800"/>
            <a:ext cx="4910694" cy="155448"/>
          </a:xfrm>
          <a:prstGeom prst="rect">
            <a:avLst/>
          </a:prstGeom>
          <a:noFill/>
          <a:ln/>
        </p:spPr>
        <p:txBody>
          <a:bodyPr wrap="square" lIns="0" tIns="0" rIns="0" bIns="0" rtlCol="0" anchor="ctr"/>
          <a:lstStyle/>
          <a:p>
            <a:pPr marL="0" indent="0" algn="ctr">
              <a:buNone/>
            </a:pPr>
            <a:r>
              <a:rPr lang="en-US" sz="500" b="1" dirty="0">
                <a:solidFill>
                  <a:srgbClr val="FFFFFF"/>
                </a:solidFill>
              </a:rPr>
              <a:t>Servicios de Gateway</a:t>
            </a:r>
            <a:endParaRPr lang="en-US" sz="500" dirty="0"/>
          </a:p>
        </p:txBody>
      </p:sp>
      <p:sp>
        <p:nvSpPr>
          <p:cNvPr id="158" name="Text 156"/>
          <p:cNvSpPr/>
          <p:nvPr/>
        </p:nvSpPr>
        <p:spPr>
          <a:xfrm>
            <a:off x="1170432" y="859536"/>
            <a:ext cx="182880" cy="205740"/>
          </a:xfrm>
          <a:prstGeom prst="rect">
            <a:avLst/>
          </a:prstGeom>
          <a:noFill/>
          <a:ln/>
        </p:spPr>
        <p:txBody>
          <a:bodyPr wrap="square" rtlCol="0" anchor="ctr"/>
          <a:lstStyle/>
          <a:p>
            <a:pPr marL="0" indent="0" algn="ctr">
              <a:buNone/>
            </a:pPr>
            <a:r>
              <a:rPr lang="en-US" sz="380" b="1" dirty="0">
                <a:solidFill>
                  <a:srgbClr val="7500C0"/>
                </a:solidFill>
              </a:rPr>
              <a:t>Outbound</a:t>
            </a:r>
            <a:endParaRPr lang="en-US" sz="380" dirty="0"/>
          </a:p>
        </p:txBody>
      </p:sp>
      <p:sp>
        <p:nvSpPr>
          <p:cNvPr id="159" name="Shape 157"/>
          <p:cNvSpPr/>
          <p:nvPr/>
        </p:nvSpPr>
        <p:spPr>
          <a:xfrm>
            <a:off x="1371600"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0" name="Text 158"/>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API Gateway Outbound</a:t>
            </a:r>
            <a:endParaRPr lang="en-US" sz="380" dirty="0"/>
          </a:p>
        </p:txBody>
      </p:sp>
      <p:sp>
        <p:nvSpPr>
          <p:cNvPr id="161" name="Shape 159"/>
          <p:cNvSpPr/>
          <p:nvPr/>
        </p:nvSpPr>
        <p:spPr>
          <a:xfrm>
            <a:off x="2592415"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2" name="Text 160"/>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File Gateway Outbound</a:t>
            </a:r>
            <a:endParaRPr lang="en-US" sz="380" dirty="0"/>
          </a:p>
        </p:txBody>
      </p:sp>
      <p:sp>
        <p:nvSpPr>
          <p:cNvPr id="163" name="Shape 161"/>
          <p:cNvSpPr/>
          <p:nvPr/>
        </p:nvSpPr>
        <p:spPr>
          <a:xfrm>
            <a:off x="3813231"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4" name="Text 162"/>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EventHub Gateway Outbound</a:t>
            </a:r>
            <a:endParaRPr lang="en-US" sz="380" dirty="0"/>
          </a:p>
        </p:txBody>
      </p:sp>
      <p:sp>
        <p:nvSpPr>
          <p:cNvPr id="165" name="Shape 163"/>
          <p:cNvSpPr/>
          <p:nvPr/>
        </p:nvSpPr>
        <p:spPr>
          <a:xfrm>
            <a:off x="5034046" y="868680"/>
            <a:ext cx="1211671" cy="187452"/>
          </a:xfrm>
          <a:prstGeom prst="rect">
            <a:avLst/>
          </a:prstGeom>
          <a:solidFill>
            <a:srgbClr val="FFFFFF"/>
          </a:solidFill>
          <a:ln w="3810">
            <a:solidFill>
              <a:srgbClr val="BE82FF"/>
            </a:solidFill>
            <a:prstDash val="solid"/>
          </a:ln>
        </p:spPr>
        <p:txBody>
          <a:bodyPr/>
          <a:lstStyle/>
          <a:p>
            <a:endParaRPr lang="es-ES"/>
          </a:p>
        </p:txBody>
      </p:sp>
      <p:sp>
        <p:nvSpPr>
          <p:cNvPr id="166" name="Text 164"/>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000000"/>
                </a:solidFill>
              </a:rPr>
              <a:t>Conmutación (Switching)</a:t>
            </a:r>
            <a:endParaRPr lang="en-US" sz="380" dirty="0"/>
          </a:p>
        </p:txBody>
      </p:sp>
      <p:sp>
        <p:nvSpPr>
          <p:cNvPr id="167" name="Text 165"/>
          <p:cNvSpPr/>
          <p:nvPr/>
        </p:nvSpPr>
        <p:spPr>
          <a:xfrm>
            <a:off x="1170432" y="1083564"/>
            <a:ext cx="182880" cy="205740"/>
          </a:xfrm>
          <a:prstGeom prst="rect">
            <a:avLst/>
          </a:prstGeom>
          <a:noFill/>
          <a:ln/>
        </p:spPr>
        <p:txBody>
          <a:bodyPr wrap="square" rtlCol="0" anchor="ctr"/>
          <a:lstStyle/>
          <a:p>
            <a:pPr marL="0" indent="0" algn="ctr">
              <a:buNone/>
            </a:pPr>
            <a:r>
              <a:rPr lang="en-US" sz="380" b="1" dirty="0">
                <a:solidFill>
                  <a:srgbClr val="FF8C00"/>
                </a:solidFill>
              </a:rPr>
              <a:t>Inbound</a:t>
            </a:r>
            <a:endParaRPr lang="en-US" sz="380" dirty="0"/>
          </a:p>
        </p:txBody>
      </p:sp>
      <p:sp>
        <p:nvSpPr>
          <p:cNvPr id="168" name="Shape 166"/>
          <p:cNvSpPr/>
          <p:nvPr/>
        </p:nvSpPr>
        <p:spPr>
          <a:xfrm>
            <a:off x="1362456" y="1083564"/>
            <a:ext cx="4892406" cy="205740"/>
          </a:xfrm>
          <a:prstGeom prst="rect">
            <a:avLst/>
          </a:prstGeom>
          <a:solidFill>
            <a:srgbClr val="FFF0D9"/>
          </a:solidFill>
          <a:ln w="7620">
            <a:solidFill>
              <a:srgbClr val="FF8C00"/>
            </a:solidFill>
            <a:prstDash val="solid"/>
          </a:ln>
        </p:spPr>
        <p:txBody>
          <a:bodyPr/>
          <a:lstStyle/>
          <a:p>
            <a:endParaRPr lang="es-ES"/>
          </a:p>
        </p:txBody>
      </p:sp>
      <p:sp>
        <p:nvSpPr>
          <p:cNvPr id="169" name="Shape 167"/>
          <p:cNvSpPr/>
          <p:nvPr/>
        </p:nvSpPr>
        <p:spPr>
          <a:xfrm>
            <a:off x="1371600"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0" name="Text 168"/>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API Gateway Inbound</a:t>
            </a:r>
            <a:endParaRPr lang="en-US" sz="380" dirty="0"/>
          </a:p>
        </p:txBody>
      </p:sp>
      <p:sp>
        <p:nvSpPr>
          <p:cNvPr id="171" name="Shape 169"/>
          <p:cNvSpPr/>
          <p:nvPr/>
        </p:nvSpPr>
        <p:spPr>
          <a:xfrm>
            <a:off x="2592415"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2" name="Text 170"/>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File Gateway Inbound</a:t>
            </a:r>
            <a:endParaRPr lang="en-US" sz="380" dirty="0"/>
          </a:p>
        </p:txBody>
      </p:sp>
      <p:sp>
        <p:nvSpPr>
          <p:cNvPr id="173" name="Shape 171"/>
          <p:cNvSpPr/>
          <p:nvPr/>
        </p:nvSpPr>
        <p:spPr>
          <a:xfrm>
            <a:off x="3813231"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4" name="Text 172"/>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EventHub Gateway Inbound</a:t>
            </a:r>
            <a:endParaRPr lang="en-US" sz="380" dirty="0"/>
          </a:p>
        </p:txBody>
      </p:sp>
      <p:sp>
        <p:nvSpPr>
          <p:cNvPr id="175" name="Shape 173"/>
          <p:cNvSpPr/>
          <p:nvPr/>
        </p:nvSpPr>
        <p:spPr>
          <a:xfrm>
            <a:off x="5034046" y="1092708"/>
            <a:ext cx="1211671" cy="187452"/>
          </a:xfrm>
          <a:prstGeom prst="rect">
            <a:avLst/>
          </a:prstGeom>
          <a:solidFill>
            <a:srgbClr val="FFD580"/>
          </a:solidFill>
          <a:ln w="7620">
            <a:solidFill>
              <a:srgbClr val="FF8C00"/>
            </a:solidFill>
            <a:prstDash val="solid"/>
          </a:ln>
        </p:spPr>
        <p:txBody>
          <a:bodyPr/>
          <a:lstStyle/>
          <a:p>
            <a:endParaRPr lang="es-ES"/>
          </a:p>
        </p:txBody>
      </p:sp>
      <p:sp>
        <p:nvSpPr>
          <p:cNvPr id="176" name="Text 174"/>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b="1" dirty="0">
                <a:solidFill>
                  <a:srgbClr val="3D1D00"/>
                </a:solidFill>
              </a:rPr>
              <a:t>STS / Open Banking / Filter Edge</a:t>
            </a:r>
            <a:endParaRPr lang="en-US" sz="380" dirty="0"/>
          </a:p>
        </p:txBody>
      </p:sp>
      <p:sp>
        <p:nvSpPr>
          <p:cNvPr id="177" name="Shape 175"/>
          <p:cNvSpPr/>
          <p:nvPr/>
        </p:nvSpPr>
        <p:spPr>
          <a:xfrm>
            <a:off x="1170432" y="1179576"/>
            <a:ext cx="201168" cy="100584"/>
          </a:xfrm>
          <a:prstGeom prst="roundRect">
            <a:avLst>
              <a:gd name="adj" fmla="val 27273"/>
            </a:avLst>
          </a:prstGeom>
          <a:solidFill>
            <a:srgbClr val="FF8C00"/>
          </a:solidFill>
          <a:ln w="12700">
            <a:solidFill>
              <a:srgbClr val="FF8C00"/>
            </a:solidFill>
            <a:prstDash val="solid"/>
          </a:ln>
        </p:spPr>
        <p:txBody>
          <a:bodyPr/>
          <a:lstStyle/>
          <a:p>
            <a:endParaRPr lang="es-ES"/>
          </a:p>
        </p:txBody>
      </p:sp>
      <p:sp>
        <p:nvSpPr>
          <p:cNvPr id="178" name="Text 176"/>
          <p:cNvSpPr/>
          <p:nvPr/>
        </p:nvSpPr>
        <p:spPr>
          <a:xfrm>
            <a:off x="1170432" y="1179576"/>
            <a:ext cx="201168"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79" name="Shape 177"/>
          <p:cNvSpPr/>
          <p:nvPr/>
        </p:nvSpPr>
        <p:spPr>
          <a:xfrm>
            <a:off x="6300582" y="685800"/>
            <a:ext cx="4699650" cy="603504"/>
          </a:xfrm>
          <a:prstGeom prst="rect">
            <a:avLst/>
          </a:prstGeom>
          <a:solidFill>
            <a:srgbClr val="EDE5FF"/>
          </a:solidFill>
          <a:ln w="12700">
            <a:solidFill>
              <a:srgbClr val="A100FF"/>
            </a:solidFill>
            <a:prstDash val="solid"/>
          </a:ln>
        </p:spPr>
        <p:txBody>
          <a:bodyPr/>
          <a:lstStyle/>
          <a:p>
            <a:endParaRPr lang="es-ES"/>
          </a:p>
        </p:txBody>
      </p:sp>
      <p:sp>
        <p:nvSpPr>
          <p:cNvPr id="180" name="Shape 178"/>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81" name="Text 179"/>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82" name="Shape 180"/>
          <p:cNvSpPr/>
          <p:nvPr/>
        </p:nvSpPr>
        <p:spPr>
          <a:xfrm>
            <a:off x="6474318" y="685800"/>
            <a:ext cx="4525914" cy="155448"/>
          </a:xfrm>
          <a:prstGeom prst="rect">
            <a:avLst/>
          </a:prstGeom>
          <a:solidFill>
            <a:srgbClr val="A100FF"/>
          </a:solidFill>
          <a:ln w="12700">
            <a:solidFill>
              <a:srgbClr val="A100FF"/>
            </a:solidFill>
            <a:prstDash val="solid"/>
          </a:ln>
        </p:spPr>
        <p:txBody>
          <a:bodyPr/>
          <a:lstStyle/>
          <a:p>
            <a:endParaRPr lang="es-ES"/>
          </a:p>
        </p:txBody>
      </p:sp>
      <p:sp>
        <p:nvSpPr>
          <p:cNvPr id="183" name="Text 181"/>
          <p:cNvSpPr/>
          <p:nvPr/>
        </p:nvSpPr>
        <p:spPr>
          <a:xfrm>
            <a:off x="6492606" y="685800"/>
            <a:ext cx="4489338" cy="155448"/>
          </a:xfrm>
          <a:prstGeom prst="rect">
            <a:avLst/>
          </a:prstGeom>
          <a:noFill/>
          <a:ln/>
        </p:spPr>
        <p:txBody>
          <a:bodyPr wrap="square" lIns="0" tIns="0" rIns="0" bIns="0" rtlCol="0" anchor="ctr"/>
          <a:lstStyle/>
          <a:p>
            <a:pPr marL="0" indent="0" algn="ctr">
              <a:buNone/>
            </a:pPr>
            <a:r>
              <a:rPr lang="en-US" sz="500" b="1" dirty="0">
                <a:solidFill>
                  <a:srgbClr val="FFFFFF"/>
                </a:solidFill>
              </a:rPr>
              <a:t>API Management</a:t>
            </a:r>
            <a:endParaRPr lang="en-US" sz="500" dirty="0"/>
          </a:p>
        </p:txBody>
      </p:sp>
      <p:sp>
        <p:nvSpPr>
          <p:cNvPr id="184" name="Shape 182"/>
          <p:cNvSpPr/>
          <p:nvPr/>
        </p:nvSpPr>
        <p:spPr>
          <a:xfrm>
            <a:off x="630972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85" name="Text 183"/>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Gateway &amp; Mediación Runtime</a:t>
            </a:r>
            <a:endParaRPr lang="en-US" sz="400" dirty="0"/>
          </a:p>
        </p:txBody>
      </p:sp>
      <p:sp>
        <p:nvSpPr>
          <p:cNvPr id="186" name="Shape 184"/>
          <p:cNvSpPr/>
          <p:nvPr/>
        </p:nvSpPr>
        <p:spPr>
          <a:xfrm>
            <a:off x="6309726" y="969264"/>
            <a:ext cx="1152053" cy="68580"/>
          </a:xfrm>
          <a:prstGeom prst="rect">
            <a:avLst/>
          </a:prstGeom>
          <a:solidFill>
            <a:srgbClr val="FFFFFF"/>
          </a:solidFill>
          <a:ln w="3810">
            <a:solidFill>
              <a:srgbClr val="BE82FF"/>
            </a:solidFill>
            <a:prstDash val="solid"/>
          </a:ln>
        </p:spPr>
        <p:txBody>
          <a:bodyPr/>
          <a:lstStyle/>
          <a:p>
            <a:endParaRPr lang="es-ES"/>
          </a:p>
        </p:txBody>
      </p:sp>
      <p:sp>
        <p:nvSpPr>
          <p:cNvPr id="187" name="Text 185"/>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a:t>
            </a:r>
            <a:endParaRPr lang="en-US" sz="380" dirty="0"/>
          </a:p>
        </p:txBody>
      </p:sp>
      <p:sp>
        <p:nvSpPr>
          <p:cNvPr id="188" name="Shape 186"/>
          <p:cNvSpPr/>
          <p:nvPr/>
        </p:nvSpPr>
        <p:spPr>
          <a:xfrm>
            <a:off x="6309726" y="1031443"/>
            <a:ext cx="1152053" cy="68580"/>
          </a:xfrm>
          <a:prstGeom prst="rect">
            <a:avLst/>
          </a:prstGeom>
          <a:solidFill>
            <a:srgbClr val="FFFFFF"/>
          </a:solidFill>
          <a:ln w="3810">
            <a:solidFill>
              <a:srgbClr val="BE82FF"/>
            </a:solidFill>
            <a:prstDash val="solid"/>
          </a:ln>
        </p:spPr>
        <p:txBody>
          <a:bodyPr/>
          <a:lstStyle/>
          <a:p>
            <a:endParaRPr lang="es-ES"/>
          </a:p>
        </p:txBody>
      </p:sp>
      <p:sp>
        <p:nvSpPr>
          <p:cNvPr id="189" name="Text 187"/>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Mediación/Transf.</a:t>
            </a:r>
            <a:endParaRPr lang="en-US" sz="380" dirty="0"/>
          </a:p>
        </p:txBody>
      </p:sp>
      <p:sp>
        <p:nvSpPr>
          <p:cNvPr id="190" name="Shape 188"/>
          <p:cNvSpPr/>
          <p:nvPr/>
        </p:nvSpPr>
        <p:spPr>
          <a:xfrm>
            <a:off x="6309726" y="1093622"/>
            <a:ext cx="1152053" cy="68580"/>
          </a:xfrm>
          <a:prstGeom prst="rect">
            <a:avLst/>
          </a:prstGeom>
          <a:solidFill>
            <a:srgbClr val="FFFFFF"/>
          </a:solidFill>
          <a:ln w="3810">
            <a:solidFill>
              <a:srgbClr val="BE82FF"/>
            </a:solidFill>
            <a:prstDash val="solid"/>
          </a:ln>
        </p:spPr>
        <p:txBody>
          <a:bodyPr/>
          <a:lstStyle/>
          <a:p>
            <a:endParaRPr lang="es-ES"/>
          </a:p>
        </p:txBody>
      </p:sp>
      <p:sp>
        <p:nvSpPr>
          <p:cNvPr id="191" name="Text 189"/>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Tráfico API</a:t>
            </a:r>
            <a:endParaRPr lang="en-US" sz="380" dirty="0"/>
          </a:p>
        </p:txBody>
      </p:sp>
      <p:sp>
        <p:nvSpPr>
          <p:cNvPr id="192" name="Shape 190"/>
          <p:cNvSpPr/>
          <p:nvPr/>
        </p:nvSpPr>
        <p:spPr>
          <a:xfrm>
            <a:off x="6309726" y="1155802"/>
            <a:ext cx="1152053" cy="68580"/>
          </a:xfrm>
          <a:prstGeom prst="rect">
            <a:avLst/>
          </a:prstGeom>
          <a:solidFill>
            <a:srgbClr val="FFFFFF"/>
          </a:solidFill>
          <a:ln w="3810">
            <a:solidFill>
              <a:srgbClr val="BE82FF"/>
            </a:solidFill>
            <a:prstDash val="solid"/>
          </a:ln>
        </p:spPr>
        <p:txBody>
          <a:bodyPr/>
          <a:lstStyle/>
          <a:p>
            <a:endParaRPr lang="es-ES"/>
          </a:p>
        </p:txBody>
      </p:sp>
      <p:sp>
        <p:nvSpPr>
          <p:cNvPr id="193" name="Text 191"/>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Validación Mensajes</a:t>
            </a:r>
            <a:endParaRPr lang="en-US" sz="380" dirty="0"/>
          </a:p>
        </p:txBody>
      </p:sp>
      <p:sp>
        <p:nvSpPr>
          <p:cNvPr id="194" name="Shape 192"/>
          <p:cNvSpPr/>
          <p:nvPr/>
        </p:nvSpPr>
        <p:spPr>
          <a:xfrm>
            <a:off x="6309726" y="1217981"/>
            <a:ext cx="1152053" cy="68580"/>
          </a:xfrm>
          <a:prstGeom prst="rect">
            <a:avLst/>
          </a:prstGeom>
          <a:solidFill>
            <a:srgbClr val="FFFFFF"/>
          </a:solidFill>
          <a:ln w="3810">
            <a:solidFill>
              <a:srgbClr val="BE82FF"/>
            </a:solidFill>
            <a:prstDash val="solid"/>
          </a:ln>
        </p:spPr>
        <p:txBody>
          <a:bodyPr/>
          <a:lstStyle/>
          <a:p>
            <a:endParaRPr lang="es-ES"/>
          </a:p>
        </p:txBody>
      </p:sp>
      <p:sp>
        <p:nvSpPr>
          <p:cNvPr id="195" name="Text 193"/>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dirty="0">
                <a:solidFill>
                  <a:srgbClr val="000000"/>
                </a:solidFill>
              </a:rPr>
              <a:t>Errores y Fallos</a:t>
            </a:r>
            <a:endParaRPr lang="en-US" sz="380" dirty="0"/>
          </a:p>
        </p:txBody>
      </p:sp>
      <p:sp>
        <p:nvSpPr>
          <p:cNvPr id="196" name="Shape 194"/>
          <p:cNvSpPr/>
          <p:nvPr/>
        </p:nvSpPr>
        <p:spPr>
          <a:xfrm>
            <a:off x="7480066"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197" name="Text 195"/>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Ciclo de Vida API</a:t>
            </a:r>
            <a:endParaRPr lang="en-US" sz="400" dirty="0"/>
          </a:p>
        </p:txBody>
      </p:sp>
      <p:sp>
        <p:nvSpPr>
          <p:cNvPr id="198" name="Shape 196"/>
          <p:cNvSpPr/>
          <p:nvPr/>
        </p:nvSpPr>
        <p:spPr>
          <a:xfrm>
            <a:off x="7480066" y="969264"/>
            <a:ext cx="1152053" cy="73152"/>
          </a:xfrm>
          <a:prstGeom prst="rect">
            <a:avLst/>
          </a:prstGeom>
          <a:solidFill>
            <a:srgbClr val="FFFFFF"/>
          </a:solidFill>
          <a:ln w="3810">
            <a:solidFill>
              <a:srgbClr val="BE82FF"/>
            </a:solidFill>
            <a:prstDash val="solid"/>
          </a:ln>
        </p:spPr>
        <p:txBody>
          <a:bodyPr/>
          <a:lstStyle/>
          <a:p>
            <a:endParaRPr lang="es-ES"/>
          </a:p>
        </p:txBody>
      </p:sp>
      <p:sp>
        <p:nvSpPr>
          <p:cNvPr id="199" name="Text 197"/>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Diseño y Contrato</a:t>
            </a:r>
            <a:endParaRPr lang="en-US" sz="380" dirty="0"/>
          </a:p>
        </p:txBody>
      </p:sp>
      <p:sp>
        <p:nvSpPr>
          <p:cNvPr id="200" name="Shape 198"/>
          <p:cNvSpPr/>
          <p:nvPr/>
        </p:nvSpPr>
        <p:spPr>
          <a:xfrm>
            <a:off x="7480066" y="1046988"/>
            <a:ext cx="1152053" cy="73152"/>
          </a:xfrm>
          <a:prstGeom prst="rect">
            <a:avLst/>
          </a:prstGeom>
          <a:solidFill>
            <a:srgbClr val="FFFFFF"/>
          </a:solidFill>
          <a:ln w="3810">
            <a:solidFill>
              <a:srgbClr val="BE82FF"/>
            </a:solidFill>
            <a:prstDash val="solid"/>
          </a:ln>
        </p:spPr>
        <p:txBody>
          <a:bodyPr/>
          <a:lstStyle/>
          <a:p>
            <a:endParaRPr lang="es-ES"/>
          </a:p>
        </p:txBody>
      </p:sp>
      <p:sp>
        <p:nvSpPr>
          <p:cNvPr id="201" name="Text 199"/>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a:t>
            </a:r>
            <a:endParaRPr lang="en-US" sz="380" dirty="0"/>
          </a:p>
        </p:txBody>
      </p:sp>
      <p:sp>
        <p:nvSpPr>
          <p:cNvPr id="202" name="Shape 200"/>
          <p:cNvSpPr/>
          <p:nvPr/>
        </p:nvSpPr>
        <p:spPr>
          <a:xfrm>
            <a:off x="7480066" y="1124712"/>
            <a:ext cx="1152053" cy="73152"/>
          </a:xfrm>
          <a:prstGeom prst="rect">
            <a:avLst/>
          </a:prstGeom>
          <a:solidFill>
            <a:srgbClr val="FFFFFF"/>
          </a:solidFill>
          <a:ln w="3810">
            <a:solidFill>
              <a:srgbClr val="BE82FF"/>
            </a:solidFill>
            <a:prstDash val="solid"/>
          </a:ln>
        </p:spPr>
        <p:txBody>
          <a:bodyPr/>
          <a:lstStyle/>
          <a:p>
            <a:endParaRPr lang="es-ES"/>
          </a:p>
        </p:txBody>
      </p:sp>
      <p:sp>
        <p:nvSpPr>
          <p:cNvPr id="203" name="Text 201"/>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Publicación</a:t>
            </a:r>
            <a:endParaRPr lang="en-US" sz="380" dirty="0"/>
          </a:p>
        </p:txBody>
      </p:sp>
      <p:sp>
        <p:nvSpPr>
          <p:cNvPr id="204" name="Shape 202"/>
          <p:cNvSpPr/>
          <p:nvPr/>
        </p:nvSpPr>
        <p:spPr>
          <a:xfrm>
            <a:off x="7480066" y="1202436"/>
            <a:ext cx="1152053" cy="73152"/>
          </a:xfrm>
          <a:prstGeom prst="rect">
            <a:avLst/>
          </a:prstGeom>
          <a:solidFill>
            <a:srgbClr val="FFFFFF"/>
          </a:solidFill>
          <a:ln w="3810">
            <a:solidFill>
              <a:srgbClr val="BE82FF"/>
            </a:solidFill>
            <a:prstDash val="solid"/>
          </a:ln>
        </p:spPr>
        <p:txBody>
          <a:bodyPr/>
          <a:lstStyle/>
          <a:p>
            <a:endParaRPr lang="es-ES"/>
          </a:p>
        </p:txBody>
      </p:sp>
      <p:sp>
        <p:nvSpPr>
          <p:cNvPr id="205" name="Text 203"/>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000000"/>
                </a:solidFill>
              </a:rPr>
              <a:t>Deprecación</a:t>
            </a:r>
            <a:endParaRPr lang="en-US" sz="380" dirty="0"/>
          </a:p>
        </p:txBody>
      </p:sp>
      <p:sp>
        <p:nvSpPr>
          <p:cNvPr id="206" name="Shape 204"/>
          <p:cNvSpPr/>
          <p:nvPr/>
        </p:nvSpPr>
        <p:spPr>
          <a:xfrm>
            <a:off x="865040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07" name="Text 205"/>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API Manager</a:t>
            </a:r>
            <a:endParaRPr lang="en-US" sz="400" dirty="0"/>
          </a:p>
        </p:txBody>
      </p:sp>
      <p:sp>
        <p:nvSpPr>
          <p:cNvPr id="208" name="Shape 206"/>
          <p:cNvSpPr/>
          <p:nvPr/>
        </p:nvSpPr>
        <p:spPr>
          <a:xfrm>
            <a:off x="865040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09" name="Text 207"/>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Admin. Políticas</a:t>
            </a:r>
            <a:endParaRPr lang="en-US" sz="380" dirty="0"/>
          </a:p>
        </p:txBody>
      </p:sp>
      <p:sp>
        <p:nvSpPr>
          <p:cNvPr id="210" name="Shape 208"/>
          <p:cNvSpPr/>
          <p:nvPr/>
        </p:nvSpPr>
        <p:spPr>
          <a:xfrm>
            <a:off x="865040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1" name="Text 209"/>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Analítica/Monitoriz.</a:t>
            </a:r>
            <a:endParaRPr lang="en-US" sz="380" dirty="0"/>
          </a:p>
        </p:txBody>
      </p:sp>
      <p:sp>
        <p:nvSpPr>
          <p:cNvPr id="212" name="Shape 210"/>
          <p:cNvSpPr/>
          <p:nvPr/>
        </p:nvSpPr>
        <p:spPr>
          <a:xfrm>
            <a:off x="865040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13" name="Text 211"/>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Despliegue</a:t>
            </a:r>
            <a:endParaRPr lang="en-US" sz="380" dirty="0"/>
          </a:p>
        </p:txBody>
      </p:sp>
      <p:sp>
        <p:nvSpPr>
          <p:cNvPr id="214" name="Shape 212"/>
          <p:cNvSpPr/>
          <p:nvPr/>
        </p:nvSpPr>
        <p:spPr>
          <a:xfrm>
            <a:off x="9820747" y="850392"/>
            <a:ext cx="1152053" cy="109728"/>
          </a:xfrm>
          <a:prstGeom prst="rect">
            <a:avLst/>
          </a:prstGeom>
          <a:solidFill>
            <a:srgbClr val="BE82FF"/>
          </a:solidFill>
          <a:ln w="6350">
            <a:solidFill>
              <a:srgbClr val="A100FF"/>
            </a:solidFill>
            <a:prstDash val="solid"/>
          </a:ln>
        </p:spPr>
        <p:txBody>
          <a:bodyPr/>
          <a:lstStyle/>
          <a:p>
            <a:endParaRPr lang="es-ES"/>
          </a:p>
        </p:txBody>
      </p:sp>
      <p:sp>
        <p:nvSpPr>
          <p:cNvPr id="215" name="Text 213"/>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000000"/>
                </a:solidFill>
              </a:rPr>
              <a:t>Portal Desarrolladores</a:t>
            </a:r>
            <a:endParaRPr lang="en-US" sz="400" dirty="0"/>
          </a:p>
        </p:txBody>
      </p:sp>
      <p:sp>
        <p:nvSpPr>
          <p:cNvPr id="216" name="Shape 214"/>
          <p:cNvSpPr/>
          <p:nvPr/>
        </p:nvSpPr>
        <p:spPr>
          <a:xfrm>
            <a:off x="9820747" y="969264"/>
            <a:ext cx="1152053" cy="99060"/>
          </a:xfrm>
          <a:prstGeom prst="rect">
            <a:avLst/>
          </a:prstGeom>
          <a:solidFill>
            <a:srgbClr val="FFFFFF"/>
          </a:solidFill>
          <a:ln w="3810">
            <a:solidFill>
              <a:srgbClr val="BE82FF"/>
            </a:solidFill>
            <a:prstDash val="solid"/>
          </a:ln>
        </p:spPr>
        <p:txBody>
          <a:bodyPr/>
          <a:lstStyle/>
          <a:p>
            <a:endParaRPr lang="es-ES"/>
          </a:p>
        </p:txBody>
      </p:sp>
      <p:sp>
        <p:nvSpPr>
          <p:cNvPr id="217" name="Text 215"/>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Docs</a:t>
            </a:r>
            <a:endParaRPr lang="en-US" sz="380" dirty="0"/>
          </a:p>
        </p:txBody>
      </p:sp>
      <p:sp>
        <p:nvSpPr>
          <p:cNvPr id="218" name="Shape 216"/>
          <p:cNvSpPr/>
          <p:nvPr/>
        </p:nvSpPr>
        <p:spPr>
          <a:xfrm>
            <a:off x="9820747" y="1072896"/>
            <a:ext cx="1152053" cy="99060"/>
          </a:xfrm>
          <a:prstGeom prst="rect">
            <a:avLst/>
          </a:prstGeom>
          <a:solidFill>
            <a:srgbClr val="FFFFFF"/>
          </a:solidFill>
          <a:ln w="3810">
            <a:solidFill>
              <a:srgbClr val="BE82FF"/>
            </a:solidFill>
            <a:prstDash val="solid"/>
          </a:ln>
        </p:spPr>
        <p:txBody>
          <a:bodyPr/>
          <a:lstStyle/>
          <a:p>
            <a:endParaRPr lang="es-ES"/>
          </a:p>
        </p:txBody>
      </p:sp>
      <p:sp>
        <p:nvSpPr>
          <p:cNvPr id="219" name="Text 217"/>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Registro/Autoservicio</a:t>
            </a:r>
            <a:endParaRPr lang="en-US" sz="380" dirty="0"/>
          </a:p>
        </p:txBody>
      </p:sp>
      <p:sp>
        <p:nvSpPr>
          <p:cNvPr id="220" name="Shape 218"/>
          <p:cNvSpPr/>
          <p:nvPr/>
        </p:nvSpPr>
        <p:spPr>
          <a:xfrm>
            <a:off x="9820747" y="1176528"/>
            <a:ext cx="1152053" cy="99060"/>
          </a:xfrm>
          <a:prstGeom prst="rect">
            <a:avLst/>
          </a:prstGeom>
          <a:solidFill>
            <a:srgbClr val="FFFFFF"/>
          </a:solidFill>
          <a:ln w="3810">
            <a:solidFill>
              <a:srgbClr val="BE82FF"/>
            </a:solidFill>
            <a:prstDash val="solid"/>
          </a:ln>
        </p:spPr>
        <p:txBody>
          <a:bodyPr/>
          <a:lstStyle/>
          <a:p>
            <a:endParaRPr lang="es-ES"/>
          </a:p>
        </p:txBody>
      </p:sp>
      <p:sp>
        <p:nvSpPr>
          <p:cNvPr id="221" name="Text 219"/>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000000"/>
                </a:solidFill>
              </a:rPr>
              <a:t>Colaboración</a:t>
            </a:r>
            <a:endParaRPr lang="en-US" sz="380" dirty="0"/>
          </a:p>
        </p:txBody>
      </p:sp>
      <p:sp>
        <p:nvSpPr>
          <p:cNvPr id="222" name="Shape 220"/>
          <p:cNvSpPr/>
          <p:nvPr/>
        </p:nvSpPr>
        <p:spPr>
          <a:xfrm>
            <a:off x="1152144" y="1316736"/>
            <a:ext cx="9848088" cy="633222"/>
          </a:xfrm>
          <a:prstGeom prst="rect">
            <a:avLst/>
          </a:prstGeom>
          <a:solidFill>
            <a:srgbClr val="F0F8FF"/>
          </a:solidFill>
          <a:ln w="7620">
            <a:solidFill>
              <a:srgbClr val="7500C0"/>
            </a:solidFill>
            <a:prstDash val="solid"/>
          </a:ln>
        </p:spPr>
        <p:txBody>
          <a:bodyPr/>
          <a:lstStyle/>
          <a:p>
            <a:endParaRPr lang="es-ES"/>
          </a:p>
        </p:txBody>
      </p:sp>
      <p:sp>
        <p:nvSpPr>
          <p:cNvPr id="223" name="Shape 221"/>
          <p:cNvSpPr/>
          <p:nvPr/>
        </p:nvSpPr>
        <p:spPr>
          <a:xfrm>
            <a:off x="1152144" y="1316736"/>
            <a:ext cx="9848088" cy="118872"/>
          </a:xfrm>
          <a:prstGeom prst="rect">
            <a:avLst/>
          </a:prstGeom>
          <a:solidFill>
            <a:srgbClr val="7500C0"/>
          </a:solidFill>
          <a:ln w="12700">
            <a:solidFill>
              <a:srgbClr val="7500C0"/>
            </a:solidFill>
            <a:prstDash val="solid"/>
          </a:ln>
        </p:spPr>
        <p:txBody>
          <a:bodyPr/>
          <a:lstStyle/>
          <a:p>
            <a:endParaRPr lang="es-ES"/>
          </a:p>
        </p:txBody>
      </p:sp>
      <p:sp>
        <p:nvSpPr>
          <p:cNvPr id="224" name="Text 222"/>
          <p:cNvSpPr/>
          <p:nvPr/>
        </p:nvSpPr>
        <p:spPr>
          <a:xfrm>
            <a:off x="1188720" y="1316736"/>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Servicio</a:t>
            </a:r>
            <a:endParaRPr lang="en-US" sz="550" dirty="0"/>
          </a:p>
        </p:txBody>
      </p:sp>
      <p:sp>
        <p:nvSpPr>
          <p:cNvPr id="225" name="Shape 223"/>
          <p:cNvSpPr/>
          <p:nvPr/>
        </p:nvSpPr>
        <p:spPr>
          <a:xfrm>
            <a:off x="1170432"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26" name="Text 224"/>
          <p:cNvSpPr/>
          <p:nvPr/>
        </p:nvSpPr>
        <p:spPr>
          <a:xfrm>
            <a:off x="1170432"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Orquestador de Servicios</a:t>
            </a:r>
            <a:endParaRPr lang="en-US" sz="400" dirty="0"/>
          </a:p>
        </p:txBody>
      </p:sp>
      <p:sp>
        <p:nvSpPr>
          <p:cNvPr id="227" name="Shape 225"/>
          <p:cNvSpPr/>
          <p:nvPr/>
        </p:nvSpPr>
        <p:spPr>
          <a:xfrm>
            <a:off x="1170432"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28" name="Text 226"/>
          <p:cNvSpPr/>
          <p:nvPr/>
        </p:nvSpPr>
        <p:spPr>
          <a:xfrm>
            <a:off x="1170432"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Composición y Secuenciación</a:t>
            </a:r>
            <a:endParaRPr lang="en-US" sz="380" dirty="0"/>
          </a:p>
        </p:txBody>
      </p:sp>
      <p:sp>
        <p:nvSpPr>
          <p:cNvPr id="229" name="Shape 227"/>
          <p:cNvSpPr/>
          <p:nvPr/>
        </p:nvSpPr>
        <p:spPr>
          <a:xfrm>
            <a:off x="1170432"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30" name="Text 228"/>
          <p:cNvSpPr/>
          <p:nvPr/>
        </p:nvSpPr>
        <p:spPr>
          <a:xfrm>
            <a:off x="1170432"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Ejecución Paralela/Condicional</a:t>
            </a:r>
            <a:endParaRPr lang="en-US" sz="380" dirty="0"/>
          </a:p>
        </p:txBody>
      </p:sp>
      <p:sp>
        <p:nvSpPr>
          <p:cNvPr id="231" name="Shape 229"/>
          <p:cNvSpPr/>
          <p:nvPr/>
        </p:nvSpPr>
        <p:spPr>
          <a:xfrm>
            <a:off x="1170432" y="1747647"/>
            <a:ext cx="2434590" cy="92011"/>
          </a:xfrm>
          <a:prstGeom prst="rect">
            <a:avLst/>
          </a:prstGeom>
          <a:solidFill>
            <a:srgbClr val="FFFFFF"/>
          </a:solidFill>
          <a:ln w="3810">
            <a:solidFill>
              <a:srgbClr val="BE82FF"/>
            </a:solidFill>
            <a:prstDash val="solid"/>
          </a:ln>
        </p:spPr>
        <p:txBody>
          <a:bodyPr/>
          <a:lstStyle/>
          <a:p>
            <a:endParaRPr lang="es-ES"/>
          </a:p>
        </p:txBody>
      </p:sp>
      <p:sp>
        <p:nvSpPr>
          <p:cNvPr id="232" name="Text 230"/>
          <p:cNvSpPr/>
          <p:nvPr/>
        </p:nvSpPr>
        <p:spPr>
          <a:xfrm>
            <a:off x="1170432" y="1747647"/>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Gestión de Invocaciones</a:t>
            </a:r>
            <a:endParaRPr lang="en-US" sz="380" dirty="0"/>
          </a:p>
        </p:txBody>
      </p:sp>
      <p:sp>
        <p:nvSpPr>
          <p:cNvPr id="233" name="Shape 231"/>
          <p:cNvSpPr/>
          <p:nvPr/>
        </p:nvSpPr>
        <p:spPr>
          <a:xfrm>
            <a:off x="1170432"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34" name="Text 232"/>
          <p:cNvSpPr/>
          <p:nvPr/>
        </p:nvSpPr>
        <p:spPr>
          <a:xfrm>
            <a:off x="1170432"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Orquestación</a:t>
            </a:r>
            <a:endParaRPr lang="en-US" sz="380" dirty="0"/>
          </a:p>
        </p:txBody>
      </p:sp>
      <p:sp>
        <p:nvSpPr>
          <p:cNvPr id="235" name="Shape 233"/>
          <p:cNvSpPr/>
          <p:nvPr/>
        </p:nvSpPr>
        <p:spPr>
          <a:xfrm>
            <a:off x="3623310"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36" name="Text 234"/>
          <p:cNvSpPr/>
          <p:nvPr/>
        </p:nvSpPr>
        <p:spPr>
          <a:xfrm>
            <a:off x="3623310"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Marco Integración y Mediación</a:t>
            </a:r>
            <a:endParaRPr lang="en-US" sz="400" dirty="0"/>
          </a:p>
        </p:txBody>
      </p:sp>
      <p:sp>
        <p:nvSpPr>
          <p:cNvPr id="237" name="Shape 235"/>
          <p:cNvSpPr/>
          <p:nvPr/>
        </p:nvSpPr>
        <p:spPr>
          <a:xfrm>
            <a:off x="3623310" y="1554480"/>
            <a:ext cx="2434590" cy="124206"/>
          </a:xfrm>
          <a:prstGeom prst="rect">
            <a:avLst/>
          </a:prstGeom>
          <a:solidFill>
            <a:srgbClr val="FFFFFF"/>
          </a:solidFill>
          <a:ln w="3810">
            <a:solidFill>
              <a:srgbClr val="BE82FF"/>
            </a:solidFill>
            <a:prstDash val="solid"/>
          </a:ln>
        </p:spPr>
        <p:txBody>
          <a:bodyPr/>
          <a:lstStyle/>
          <a:p>
            <a:endParaRPr lang="es-ES"/>
          </a:p>
        </p:txBody>
      </p:sp>
      <p:sp>
        <p:nvSpPr>
          <p:cNvPr id="238" name="Text 236"/>
          <p:cNvSpPr/>
          <p:nvPr/>
        </p:nvSpPr>
        <p:spPr>
          <a:xfrm>
            <a:off x="3623310" y="155448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Transformación y Mapeo de Mensajes</a:t>
            </a:r>
            <a:endParaRPr lang="en-US" sz="380" dirty="0"/>
          </a:p>
        </p:txBody>
      </p:sp>
      <p:sp>
        <p:nvSpPr>
          <p:cNvPr id="239" name="Shape 237"/>
          <p:cNvSpPr/>
          <p:nvPr/>
        </p:nvSpPr>
        <p:spPr>
          <a:xfrm>
            <a:off x="3623310" y="1683258"/>
            <a:ext cx="2434590" cy="124206"/>
          </a:xfrm>
          <a:prstGeom prst="rect">
            <a:avLst/>
          </a:prstGeom>
          <a:solidFill>
            <a:srgbClr val="FFD580"/>
          </a:solidFill>
          <a:ln w="7620">
            <a:solidFill>
              <a:srgbClr val="FF8C00"/>
            </a:solidFill>
            <a:prstDash val="solid"/>
          </a:ln>
        </p:spPr>
        <p:txBody>
          <a:bodyPr/>
          <a:lstStyle/>
          <a:p>
            <a:endParaRPr lang="es-ES"/>
          </a:p>
        </p:txBody>
      </p:sp>
      <p:sp>
        <p:nvSpPr>
          <p:cNvPr id="240" name="Text 238"/>
          <p:cNvSpPr/>
          <p:nvPr/>
        </p:nvSpPr>
        <p:spPr>
          <a:xfrm>
            <a:off x="3623310" y="1683258"/>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Protocol Bridging</a:t>
            </a:r>
            <a:endParaRPr lang="en-US" sz="380" dirty="0"/>
          </a:p>
        </p:txBody>
      </p:sp>
      <p:sp>
        <p:nvSpPr>
          <p:cNvPr id="241" name="Shape 239"/>
          <p:cNvSpPr/>
          <p:nvPr/>
        </p:nvSpPr>
        <p:spPr>
          <a:xfrm>
            <a:off x="3623310" y="1812036"/>
            <a:ext cx="2434590" cy="124206"/>
          </a:xfrm>
          <a:prstGeom prst="rect">
            <a:avLst/>
          </a:prstGeom>
          <a:solidFill>
            <a:srgbClr val="FFFFFF"/>
          </a:solidFill>
          <a:ln w="3810">
            <a:solidFill>
              <a:srgbClr val="BE82FF"/>
            </a:solidFill>
            <a:prstDash val="solid"/>
          </a:ln>
        </p:spPr>
        <p:txBody>
          <a:bodyPr/>
          <a:lstStyle/>
          <a:p>
            <a:endParaRPr lang="es-ES"/>
          </a:p>
        </p:txBody>
      </p:sp>
      <p:sp>
        <p:nvSpPr>
          <p:cNvPr id="242" name="Text 240"/>
          <p:cNvSpPr/>
          <p:nvPr/>
        </p:nvSpPr>
        <p:spPr>
          <a:xfrm>
            <a:off x="3623310" y="181203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Mapeo Dinámico y Gov. Esquemas</a:t>
            </a:r>
            <a:endParaRPr lang="en-US" sz="380" dirty="0"/>
          </a:p>
        </p:txBody>
      </p:sp>
      <p:sp>
        <p:nvSpPr>
          <p:cNvPr id="243" name="Shape 241"/>
          <p:cNvSpPr/>
          <p:nvPr/>
        </p:nvSpPr>
        <p:spPr>
          <a:xfrm>
            <a:off x="6076188"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44" name="Text 242"/>
          <p:cNvSpPr/>
          <p:nvPr/>
        </p:nvSpPr>
        <p:spPr>
          <a:xfrm>
            <a:off x="6076188"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Contexto</a:t>
            </a:r>
            <a:endParaRPr lang="en-US" sz="400" dirty="0"/>
          </a:p>
        </p:txBody>
      </p:sp>
      <p:sp>
        <p:nvSpPr>
          <p:cNvPr id="245" name="Shape 243"/>
          <p:cNvSpPr/>
          <p:nvPr/>
        </p:nvSpPr>
        <p:spPr>
          <a:xfrm>
            <a:off x="6076188" y="1554480"/>
            <a:ext cx="2434590" cy="188595"/>
          </a:xfrm>
          <a:prstGeom prst="rect">
            <a:avLst/>
          </a:prstGeom>
          <a:solidFill>
            <a:srgbClr val="FFFFFF"/>
          </a:solidFill>
          <a:ln w="3810">
            <a:solidFill>
              <a:srgbClr val="BE82FF"/>
            </a:solidFill>
            <a:prstDash val="solid"/>
          </a:ln>
        </p:spPr>
        <p:txBody>
          <a:bodyPr/>
          <a:lstStyle/>
          <a:p>
            <a:endParaRPr lang="es-ES"/>
          </a:p>
        </p:txBody>
      </p:sp>
      <p:sp>
        <p:nvSpPr>
          <p:cNvPr id="246" name="Text 244"/>
          <p:cNvSpPr/>
          <p:nvPr/>
        </p:nvSpPr>
        <p:spPr>
          <a:xfrm>
            <a:off x="6076188" y="1554480"/>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Contexto de Solicitud</a:t>
            </a:r>
            <a:endParaRPr lang="en-US" sz="380" dirty="0"/>
          </a:p>
        </p:txBody>
      </p:sp>
      <p:sp>
        <p:nvSpPr>
          <p:cNvPr id="247" name="Shape 245"/>
          <p:cNvSpPr/>
          <p:nvPr/>
        </p:nvSpPr>
        <p:spPr>
          <a:xfrm>
            <a:off x="6076188" y="1747647"/>
            <a:ext cx="2434590" cy="188595"/>
          </a:xfrm>
          <a:prstGeom prst="rect">
            <a:avLst/>
          </a:prstGeom>
          <a:solidFill>
            <a:srgbClr val="FFFFFF"/>
          </a:solidFill>
          <a:ln w="3810">
            <a:solidFill>
              <a:srgbClr val="BE82FF"/>
            </a:solidFill>
            <a:prstDash val="solid"/>
          </a:ln>
        </p:spPr>
        <p:txBody>
          <a:bodyPr/>
          <a:lstStyle/>
          <a:p>
            <a:endParaRPr lang="es-ES"/>
          </a:p>
        </p:txBody>
      </p:sp>
      <p:sp>
        <p:nvSpPr>
          <p:cNvPr id="248" name="Text 246"/>
          <p:cNvSpPr/>
          <p:nvPr/>
        </p:nvSpPr>
        <p:spPr>
          <a:xfrm>
            <a:off x="6076188" y="1747647"/>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Registro de Servicios y Reglas</a:t>
            </a:r>
            <a:endParaRPr lang="en-US" sz="380" dirty="0"/>
          </a:p>
        </p:txBody>
      </p:sp>
      <p:sp>
        <p:nvSpPr>
          <p:cNvPr id="249" name="Shape 247"/>
          <p:cNvSpPr/>
          <p:nvPr/>
        </p:nvSpPr>
        <p:spPr>
          <a:xfrm>
            <a:off x="8529066" y="1444752"/>
            <a:ext cx="2434590" cy="100584"/>
          </a:xfrm>
          <a:prstGeom prst="rect">
            <a:avLst/>
          </a:prstGeom>
          <a:solidFill>
            <a:srgbClr val="BE82FF"/>
          </a:solidFill>
          <a:ln w="6350">
            <a:solidFill>
              <a:srgbClr val="7500C0"/>
            </a:solidFill>
            <a:prstDash val="solid"/>
          </a:ln>
        </p:spPr>
        <p:txBody>
          <a:bodyPr/>
          <a:lstStyle/>
          <a:p>
            <a:endParaRPr lang="es-ES"/>
          </a:p>
        </p:txBody>
      </p:sp>
      <p:sp>
        <p:nvSpPr>
          <p:cNvPr id="250" name="Text 248"/>
          <p:cNvSpPr/>
          <p:nvPr/>
        </p:nvSpPr>
        <p:spPr>
          <a:xfrm>
            <a:off x="8529066" y="1444752"/>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Adaptadores Heredados</a:t>
            </a:r>
            <a:endParaRPr lang="en-US" sz="400" dirty="0"/>
          </a:p>
        </p:txBody>
      </p:sp>
      <p:sp>
        <p:nvSpPr>
          <p:cNvPr id="251" name="Shape 249"/>
          <p:cNvSpPr/>
          <p:nvPr/>
        </p:nvSpPr>
        <p:spPr>
          <a:xfrm>
            <a:off x="8529066" y="1554480"/>
            <a:ext cx="2434590" cy="92011"/>
          </a:xfrm>
          <a:prstGeom prst="rect">
            <a:avLst/>
          </a:prstGeom>
          <a:solidFill>
            <a:srgbClr val="FFFFFF"/>
          </a:solidFill>
          <a:ln w="3810">
            <a:solidFill>
              <a:srgbClr val="BE82FF"/>
            </a:solidFill>
            <a:prstDash val="solid"/>
          </a:ln>
        </p:spPr>
        <p:txBody>
          <a:bodyPr/>
          <a:lstStyle/>
          <a:p>
            <a:endParaRPr lang="es-ES"/>
          </a:p>
        </p:txBody>
      </p:sp>
      <p:sp>
        <p:nvSpPr>
          <p:cNvPr id="252" name="Text 250"/>
          <p:cNvSpPr/>
          <p:nvPr/>
        </p:nvSpPr>
        <p:spPr>
          <a:xfrm>
            <a:off x="8529066" y="1554480"/>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Wrappers y Exposición de Legado</a:t>
            </a:r>
            <a:endParaRPr lang="en-US" sz="380" dirty="0"/>
          </a:p>
        </p:txBody>
      </p:sp>
      <p:sp>
        <p:nvSpPr>
          <p:cNvPr id="253" name="Shape 251"/>
          <p:cNvSpPr/>
          <p:nvPr/>
        </p:nvSpPr>
        <p:spPr>
          <a:xfrm>
            <a:off x="8529066" y="1651064"/>
            <a:ext cx="2434590" cy="92011"/>
          </a:xfrm>
          <a:prstGeom prst="rect">
            <a:avLst/>
          </a:prstGeom>
          <a:solidFill>
            <a:srgbClr val="FFFFFF"/>
          </a:solidFill>
          <a:ln w="3810">
            <a:solidFill>
              <a:srgbClr val="BE82FF"/>
            </a:solidFill>
            <a:prstDash val="solid"/>
          </a:ln>
        </p:spPr>
        <p:txBody>
          <a:bodyPr/>
          <a:lstStyle/>
          <a:p>
            <a:endParaRPr lang="es-ES"/>
          </a:p>
        </p:txBody>
      </p:sp>
      <p:sp>
        <p:nvSpPr>
          <p:cNvPr id="254" name="Text 252"/>
          <p:cNvSpPr/>
          <p:nvPr/>
        </p:nvSpPr>
        <p:spPr>
          <a:xfrm>
            <a:off x="8529066" y="1651064"/>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Adaptadores de Plataforma</a:t>
            </a:r>
            <a:endParaRPr lang="en-US" sz="380" dirty="0"/>
          </a:p>
        </p:txBody>
      </p:sp>
      <p:sp>
        <p:nvSpPr>
          <p:cNvPr id="255" name="Shape 253"/>
          <p:cNvSpPr/>
          <p:nvPr/>
        </p:nvSpPr>
        <p:spPr>
          <a:xfrm>
            <a:off x="8529066" y="1747647"/>
            <a:ext cx="2434590" cy="92011"/>
          </a:xfrm>
          <a:prstGeom prst="rect">
            <a:avLst/>
          </a:prstGeom>
          <a:solidFill>
            <a:srgbClr val="FFD580"/>
          </a:solidFill>
          <a:ln w="7620">
            <a:solidFill>
              <a:srgbClr val="FF8C00"/>
            </a:solidFill>
            <a:prstDash val="solid"/>
          </a:ln>
        </p:spPr>
        <p:txBody>
          <a:bodyPr/>
          <a:lstStyle/>
          <a:p>
            <a:endParaRPr lang="es-ES"/>
          </a:p>
        </p:txBody>
      </p:sp>
      <p:sp>
        <p:nvSpPr>
          <p:cNvPr id="256" name="Text 254"/>
          <p:cNvSpPr/>
          <p:nvPr/>
        </p:nvSpPr>
        <p:spPr>
          <a:xfrm>
            <a:off x="8529066" y="1747647"/>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Batch &amp; Sincroniz. Datos Legado</a:t>
            </a:r>
            <a:endParaRPr lang="en-US" sz="380" dirty="0"/>
          </a:p>
        </p:txBody>
      </p:sp>
      <p:sp>
        <p:nvSpPr>
          <p:cNvPr id="257" name="Shape 255"/>
          <p:cNvSpPr/>
          <p:nvPr/>
        </p:nvSpPr>
        <p:spPr>
          <a:xfrm>
            <a:off x="8529066" y="1844231"/>
            <a:ext cx="2434590" cy="92011"/>
          </a:xfrm>
          <a:prstGeom prst="rect">
            <a:avLst/>
          </a:prstGeom>
          <a:solidFill>
            <a:srgbClr val="FFFFFF"/>
          </a:solidFill>
          <a:ln w="3810">
            <a:solidFill>
              <a:srgbClr val="BE82FF"/>
            </a:solidFill>
            <a:prstDash val="solid"/>
          </a:ln>
        </p:spPr>
        <p:txBody>
          <a:bodyPr/>
          <a:lstStyle/>
          <a:p>
            <a:endParaRPr lang="es-ES"/>
          </a:p>
        </p:txBody>
      </p:sp>
      <p:sp>
        <p:nvSpPr>
          <p:cNvPr id="258" name="Text 256"/>
          <p:cNvSpPr/>
          <p:nvPr/>
        </p:nvSpPr>
        <p:spPr>
          <a:xfrm>
            <a:off x="8529066" y="1844231"/>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Ciclo de Vida Adaptadores</a:t>
            </a:r>
            <a:endParaRPr lang="en-US" sz="380" dirty="0"/>
          </a:p>
        </p:txBody>
      </p:sp>
      <p:sp>
        <p:nvSpPr>
          <p:cNvPr id="259" name="Shape 257"/>
          <p:cNvSpPr/>
          <p:nvPr/>
        </p:nvSpPr>
        <p:spPr>
          <a:xfrm>
            <a:off x="1152144" y="1977390"/>
            <a:ext cx="9848088" cy="633222"/>
          </a:xfrm>
          <a:prstGeom prst="rect">
            <a:avLst/>
          </a:prstGeom>
          <a:solidFill>
            <a:srgbClr val="F0F8FF"/>
          </a:solidFill>
          <a:ln w="7620">
            <a:solidFill>
              <a:srgbClr val="7500C0"/>
            </a:solidFill>
            <a:prstDash val="solid"/>
          </a:ln>
        </p:spPr>
        <p:txBody>
          <a:bodyPr/>
          <a:lstStyle/>
          <a:p>
            <a:endParaRPr lang="es-ES"/>
          </a:p>
        </p:txBody>
      </p:sp>
      <p:sp>
        <p:nvSpPr>
          <p:cNvPr id="260" name="Shape 258"/>
          <p:cNvSpPr/>
          <p:nvPr/>
        </p:nvSpPr>
        <p:spPr>
          <a:xfrm>
            <a:off x="1152144" y="1977390"/>
            <a:ext cx="9848088" cy="118872"/>
          </a:xfrm>
          <a:prstGeom prst="rect">
            <a:avLst/>
          </a:prstGeom>
          <a:solidFill>
            <a:srgbClr val="7500C0"/>
          </a:solidFill>
          <a:ln w="12700">
            <a:solidFill>
              <a:srgbClr val="7500C0"/>
            </a:solidFill>
            <a:prstDash val="solid"/>
          </a:ln>
        </p:spPr>
        <p:txBody>
          <a:bodyPr/>
          <a:lstStyle/>
          <a:p>
            <a:endParaRPr lang="es-ES"/>
          </a:p>
        </p:txBody>
      </p:sp>
      <p:sp>
        <p:nvSpPr>
          <p:cNvPr id="261" name="Text 259"/>
          <p:cNvSpPr/>
          <p:nvPr/>
        </p:nvSpPr>
        <p:spPr>
          <a:xfrm>
            <a:off x="1188720" y="1977390"/>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Orquestación de Procesos</a:t>
            </a:r>
            <a:endParaRPr lang="en-US" sz="550" dirty="0"/>
          </a:p>
        </p:txBody>
      </p:sp>
      <p:sp>
        <p:nvSpPr>
          <p:cNvPr id="262" name="Shape 260"/>
          <p:cNvSpPr/>
          <p:nvPr/>
        </p:nvSpPr>
        <p:spPr>
          <a:xfrm>
            <a:off x="1170432"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63" name="Text 261"/>
          <p:cNvSpPr/>
          <p:nvPr/>
        </p:nvSpPr>
        <p:spPr>
          <a:xfrm>
            <a:off x="1170432"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de Workflow</a:t>
            </a:r>
            <a:endParaRPr lang="en-US" sz="400" dirty="0"/>
          </a:p>
        </p:txBody>
      </p:sp>
      <p:sp>
        <p:nvSpPr>
          <p:cNvPr id="264" name="Shape 262"/>
          <p:cNvSpPr/>
          <p:nvPr/>
        </p:nvSpPr>
        <p:spPr>
          <a:xfrm>
            <a:off x="1170432"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65" name="Text 263"/>
          <p:cNvSpPr/>
          <p:nvPr/>
        </p:nvSpPr>
        <p:spPr>
          <a:xfrm>
            <a:off x="1170432"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Definición y Versionado Workflow</a:t>
            </a:r>
            <a:endParaRPr lang="en-US" sz="380" dirty="0"/>
          </a:p>
        </p:txBody>
      </p:sp>
      <p:sp>
        <p:nvSpPr>
          <p:cNvPr id="266" name="Shape 264"/>
          <p:cNvSpPr/>
          <p:nvPr/>
        </p:nvSpPr>
        <p:spPr>
          <a:xfrm>
            <a:off x="1170432" y="2343912"/>
            <a:ext cx="2434590" cy="124206"/>
          </a:xfrm>
          <a:prstGeom prst="rect">
            <a:avLst/>
          </a:prstGeom>
          <a:solidFill>
            <a:srgbClr val="FFD580"/>
          </a:solidFill>
          <a:ln w="7620">
            <a:solidFill>
              <a:srgbClr val="FF8C00"/>
            </a:solidFill>
            <a:prstDash val="solid"/>
          </a:ln>
        </p:spPr>
        <p:txBody>
          <a:bodyPr/>
          <a:lstStyle/>
          <a:p>
            <a:endParaRPr lang="es-ES"/>
          </a:p>
        </p:txBody>
      </p:sp>
      <p:sp>
        <p:nvSpPr>
          <p:cNvPr id="267" name="Text 265"/>
          <p:cNvSpPr/>
          <p:nvPr/>
        </p:nvSpPr>
        <p:spPr>
          <a:xfrm>
            <a:off x="1170432" y="2343912"/>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Ejecución y Coordinación Pasos</a:t>
            </a:r>
            <a:endParaRPr lang="en-US" sz="380" dirty="0"/>
          </a:p>
        </p:txBody>
      </p:sp>
      <p:sp>
        <p:nvSpPr>
          <p:cNvPr id="268" name="Shape 266"/>
          <p:cNvSpPr/>
          <p:nvPr/>
        </p:nvSpPr>
        <p:spPr>
          <a:xfrm>
            <a:off x="1170432"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69" name="Text 267"/>
          <p:cNvSpPr/>
          <p:nvPr/>
        </p:nvSpPr>
        <p:spPr>
          <a:xfrm>
            <a:off x="1170432"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Reglas de Negocio</a:t>
            </a:r>
            <a:endParaRPr lang="en-US" sz="380" dirty="0"/>
          </a:p>
        </p:txBody>
      </p:sp>
      <p:sp>
        <p:nvSpPr>
          <p:cNvPr id="270" name="Shape 268"/>
          <p:cNvSpPr/>
          <p:nvPr/>
        </p:nvSpPr>
        <p:spPr>
          <a:xfrm>
            <a:off x="3623310"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1" name="Text 269"/>
          <p:cNvSpPr/>
          <p:nvPr/>
        </p:nvSpPr>
        <p:spPr>
          <a:xfrm>
            <a:off x="3623310"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Tareas Humanas</a:t>
            </a:r>
            <a:endParaRPr lang="en-US" sz="400" dirty="0"/>
          </a:p>
        </p:txBody>
      </p:sp>
      <p:sp>
        <p:nvSpPr>
          <p:cNvPr id="272" name="Shape 270"/>
          <p:cNvSpPr/>
          <p:nvPr/>
        </p:nvSpPr>
        <p:spPr>
          <a:xfrm>
            <a:off x="3623310"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73" name="Text 271"/>
          <p:cNvSpPr/>
          <p:nvPr/>
        </p:nvSpPr>
        <p:spPr>
          <a:xfrm>
            <a:off x="3623310"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Asignación y Listas de Trabajo</a:t>
            </a:r>
            <a:endParaRPr lang="en-US" sz="380" dirty="0"/>
          </a:p>
        </p:txBody>
      </p:sp>
      <p:sp>
        <p:nvSpPr>
          <p:cNvPr id="274" name="Shape 272"/>
          <p:cNvSpPr/>
          <p:nvPr/>
        </p:nvSpPr>
        <p:spPr>
          <a:xfrm>
            <a:off x="3623310"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75" name="Text 273"/>
          <p:cNvSpPr/>
          <p:nvPr/>
        </p:nvSpPr>
        <p:spPr>
          <a:xfrm>
            <a:off x="3623310"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Interceptación y Reanudación</a:t>
            </a:r>
            <a:endParaRPr lang="en-US" sz="380" dirty="0"/>
          </a:p>
        </p:txBody>
      </p:sp>
      <p:sp>
        <p:nvSpPr>
          <p:cNvPr id="276" name="Shape 274"/>
          <p:cNvSpPr/>
          <p:nvPr/>
        </p:nvSpPr>
        <p:spPr>
          <a:xfrm>
            <a:off x="6076188"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77" name="Text 275"/>
          <p:cNvSpPr/>
          <p:nvPr/>
        </p:nvSpPr>
        <p:spPr>
          <a:xfrm>
            <a:off x="6076188"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Estado y Excepciones Proceso</a:t>
            </a:r>
            <a:endParaRPr lang="en-US" sz="400" dirty="0"/>
          </a:p>
        </p:txBody>
      </p:sp>
      <p:sp>
        <p:nvSpPr>
          <p:cNvPr id="278" name="Shape 276"/>
          <p:cNvSpPr/>
          <p:nvPr/>
        </p:nvSpPr>
        <p:spPr>
          <a:xfrm>
            <a:off x="6076188" y="2215134"/>
            <a:ext cx="2434590" cy="124206"/>
          </a:xfrm>
          <a:prstGeom prst="rect">
            <a:avLst/>
          </a:prstGeom>
          <a:solidFill>
            <a:srgbClr val="FFFFFF"/>
          </a:solidFill>
          <a:ln w="3810">
            <a:solidFill>
              <a:srgbClr val="BE82FF"/>
            </a:solidFill>
            <a:prstDash val="solid"/>
          </a:ln>
        </p:spPr>
        <p:txBody>
          <a:bodyPr/>
          <a:lstStyle/>
          <a:p>
            <a:endParaRPr lang="es-ES"/>
          </a:p>
        </p:txBody>
      </p:sp>
      <p:sp>
        <p:nvSpPr>
          <p:cNvPr id="279" name="Text 277"/>
          <p:cNvSpPr/>
          <p:nvPr/>
        </p:nvSpPr>
        <p:spPr>
          <a:xfrm>
            <a:off x="6076188" y="221513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Persistencia Estado Proceso</a:t>
            </a:r>
            <a:endParaRPr lang="en-US" sz="380" dirty="0"/>
          </a:p>
        </p:txBody>
      </p:sp>
      <p:sp>
        <p:nvSpPr>
          <p:cNvPr id="280" name="Shape 278"/>
          <p:cNvSpPr/>
          <p:nvPr/>
        </p:nvSpPr>
        <p:spPr>
          <a:xfrm>
            <a:off x="6076188" y="2343912"/>
            <a:ext cx="2434590" cy="124206"/>
          </a:xfrm>
          <a:prstGeom prst="rect">
            <a:avLst/>
          </a:prstGeom>
          <a:solidFill>
            <a:srgbClr val="FFFFFF"/>
          </a:solidFill>
          <a:ln w="3810">
            <a:solidFill>
              <a:srgbClr val="BE82FF"/>
            </a:solidFill>
            <a:prstDash val="solid"/>
          </a:ln>
        </p:spPr>
        <p:txBody>
          <a:bodyPr/>
          <a:lstStyle/>
          <a:p>
            <a:endParaRPr lang="es-ES"/>
          </a:p>
        </p:txBody>
      </p:sp>
      <p:sp>
        <p:nvSpPr>
          <p:cNvPr id="281" name="Text 279"/>
          <p:cNvSpPr/>
          <p:nvPr/>
        </p:nvSpPr>
        <p:spPr>
          <a:xfrm>
            <a:off x="6076188" y="234391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Escalación y Timeouts</a:t>
            </a:r>
            <a:endParaRPr lang="en-US" sz="380" dirty="0"/>
          </a:p>
        </p:txBody>
      </p:sp>
      <p:sp>
        <p:nvSpPr>
          <p:cNvPr id="282" name="Shape 280"/>
          <p:cNvSpPr/>
          <p:nvPr/>
        </p:nvSpPr>
        <p:spPr>
          <a:xfrm>
            <a:off x="6076188" y="2472690"/>
            <a:ext cx="2434590" cy="124206"/>
          </a:xfrm>
          <a:prstGeom prst="rect">
            <a:avLst/>
          </a:prstGeom>
          <a:solidFill>
            <a:srgbClr val="FFFFFF"/>
          </a:solidFill>
          <a:ln w="3810">
            <a:solidFill>
              <a:srgbClr val="BE82FF"/>
            </a:solidFill>
            <a:prstDash val="solid"/>
          </a:ln>
        </p:spPr>
        <p:txBody>
          <a:bodyPr/>
          <a:lstStyle/>
          <a:p>
            <a:endParaRPr lang="es-ES"/>
          </a:p>
        </p:txBody>
      </p:sp>
      <p:sp>
        <p:nvSpPr>
          <p:cNvPr id="283" name="Text 281"/>
          <p:cNvSpPr/>
          <p:nvPr/>
        </p:nvSpPr>
        <p:spPr>
          <a:xfrm>
            <a:off x="6076188" y="2472690"/>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Manejo de Excepciones</a:t>
            </a:r>
            <a:endParaRPr lang="en-US" sz="380" dirty="0"/>
          </a:p>
        </p:txBody>
      </p:sp>
      <p:sp>
        <p:nvSpPr>
          <p:cNvPr id="284" name="Shape 282"/>
          <p:cNvSpPr/>
          <p:nvPr/>
        </p:nvSpPr>
        <p:spPr>
          <a:xfrm>
            <a:off x="8529066" y="2105406"/>
            <a:ext cx="2434590" cy="100584"/>
          </a:xfrm>
          <a:prstGeom prst="rect">
            <a:avLst/>
          </a:prstGeom>
          <a:solidFill>
            <a:srgbClr val="BE82FF"/>
          </a:solidFill>
          <a:ln w="6350">
            <a:solidFill>
              <a:srgbClr val="7500C0"/>
            </a:solidFill>
            <a:prstDash val="solid"/>
          </a:ln>
        </p:spPr>
        <p:txBody>
          <a:bodyPr/>
          <a:lstStyle/>
          <a:p>
            <a:endParaRPr lang="es-ES"/>
          </a:p>
        </p:txBody>
      </p:sp>
      <p:sp>
        <p:nvSpPr>
          <p:cNvPr id="285" name="Text 283"/>
          <p:cNvSpPr/>
          <p:nvPr/>
        </p:nvSpPr>
        <p:spPr>
          <a:xfrm>
            <a:off x="8529066" y="210540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 y Admin. Procesos</a:t>
            </a:r>
            <a:endParaRPr lang="en-US" sz="400" dirty="0"/>
          </a:p>
        </p:txBody>
      </p:sp>
      <p:sp>
        <p:nvSpPr>
          <p:cNvPr id="286" name="Shape 284"/>
          <p:cNvSpPr/>
          <p:nvPr/>
        </p:nvSpPr>
        <p:spPr>
          <a:xfrm>
            <a:off x="8529066" y="2215134"/>
            <a:ext cx="2434590" cy="188595"/>
          </a:xfrm>
          <a:prstGeom prst="rect">
            <a:avLst/>
          </a:prstGeom>
          <a:solidFill>
            <a:srgbClr val="FFFFFF"/>
          </a:solidFill>
          <a:ln w="3810">
            <a:solidFill>
              <a:srgbClr val="BE82FF"/>
            </a:solidFill>
            <a:prstDash val="solid"/>
          </a:ln>
        </p:spPr>
        <p:txBody>
          <a:bodyPr/>
          <a:lstStyle/>
          <a:p>
            <a:endParaRPr lang="es-ES"/>
          </a:p>
        </p:txBody>
      </p:sp>
      <p:sp>
        <p:nvSpPr>
          <p:cNvPr id="287" name="Text 285"/>
          <p:cNvSpPr/>
          <p:nvPr/>
        </p:nvSpPr>
        <p:spPr>
          <a:xfrm>
            <a:off x="8529066" y="221513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Instancias y Consola</a:t>
            </a:r>
            <a:endParaRPr lang="en-US" sz="380" dirty="0"/>
          </a:p>
        </p:txBody>
      </p:sp>
      <p:sp>
        <p:nvSpPr>
          <p:cNvPr id="288" name="Shape 286"/>
          <p:cNvSpPr/>
          <p:nvPr/>
        </p:nvSpPr>
        <p:spPr>
          <a:xfrm>
            <a:off x="8529066" y="2408301"/>
            <a:ext cx="2434590" cy="188595"/>
          </a:xfrm>
          <a:prstGeom prst="rect">
            <a:avLst/>
          </a:prstGeom>
          <a:solidFill>
            <a:srgbClr val="FFFFFF"/>
          </a:solidFill>
          <a:ln w="3810">
            <a:solidFill>
              <a:srgbClr val="BE82FF"/>
            </a:solidFill>
            <a:prstDash val="solid"/>
          </a:ln>
        </p:spPr>
        <p:txBody>
          <a:bodyPr/>
          <a:lstStyle/>
          <a:p>
            <a:endParaRPr lang="es-ES"/>
          </a:p>
        </p:txBody>
      </p:sp>
      <p:sp>
        <p:nvSpPr>
          <p:cNvPr id="289" name="Text 287"/>
          <p:cNvSpPr/>
          <p:nvPr/>
        </p:nvSpPr>
        <p:spPr>
          <a:xfrm>
            <a:off x="8529066" y="240830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Reportes de Rendimiento</a:t>
            </a:r>
            <a:endParaRPr lang="en-US" sz="380" dirty="0"/>
          </a:p>
        </p:txBody>
      </p:sp>
      <p:sp>
        <p:nvSpPr>
          <p:cNvPr id="290" name="Shape 288"/>
          <p:cNvSpPr/>
          <p:nvPr/>
        </p:nvSpPr>
        <p:spPr>
          <a:xfrm>
            <a:off x="1152144" y="2638044"/>
            <a:ext cx="9848088" cy="633222"/>
          </a:xfrm>
          <a:prstGeom prst="rect">
            <a:avLst/>
          </a:prstGeom>
          <a:solidFill>
            <a:srgbClr val="F0F8FF"/>
          </a:solidFill>
          <a:ln w="7620">
            <a:solidFill>
              <a:srgbClr val="7500C0"/>
            </a:solidFill>
            <a:prstDash val="solid"/>
          </a:ln>
        </p:spPr>
        <p:txBody>
          <a:bodyPr/>
          <a:lstStyle/>
          <a:p>
            <a:endParaRPr lang="es-ES"/>
          </a:p>
        </p:txBody>
      </p:sp>
      <p:sp>
        <p:nvSpPr>
          <p:cNvPr id="291" name="Shape 289"/>
          <p:cNvSpPr/>
          <p:nvPr/>
        </p:nvSpPr>
        <p:spPr>
          <a:xfrm>
            <a:off x="1152144" y="2638044"/>
            <a:ext cx="9848088" cy="118872"/>
          </a:xfrm>
          <a:prstGeom prst="rect">
            <a:avLst/>
          </a:prstGeom>
          <a:solidFill>
            <a:srgbClr val="7500C0"/>
          </a:solidFill>
          <a:ln w="12700">
            <a:solidFill>
              <a:srgbClr val="7500C0"/>
            </a:solidFill>
            <a:prstDash val="solid"/>
          </a:ln>
        </p:spPr>
        <p:txBody>
          <a:bodyPr/>
          <a:lstStyle/>
          <a:p>
            <a:endParaRPr lang="es-ES"/>
          </a:p>
        </p:txBody>
      </p:sp>
      <p:sp>
        <p:nvSpPr>
          <p:cNvPr id="292" name="Text 290"/>
          <p:cNvSpPr/>
          <p:nvPr/>
        </p:nvSpPr>
        <p:spPr>
          <a:xfrm>
            <a:off x="1188720" y="2638044"/>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Transacciones Distribuidas</a:t>
            </a:r>
            <a:endParaRPr lang="en-US" sz="550" dirty="0"/>
          </a:p>
        </p:txBody>
      </p:sp>
      <p:sp>
        <p:nvSpPr>
          <p:cNvPr id="293" name="Shape 291"/>
          <p:cNvSpPr/>
          <p:nvPr/>
        </p:nvSpPr>
        <p:spPr>
          <a:xfrm>
            <a:off x="1170432"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294" name="Text 292"/>
          <p:cNvSpPr/>
          <p:nvPr/>
        </p:nvSpPr>
        <p:spPr>
          <a:xfrm>
            <a:off x="1170432"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de Transacciones</a:t>
            </a:r>
            <a:endParaRPr lang="en-US" sz="400" dirty="0"/>
          </a:p>
        </p:txBody>
      </p:sp>
      <p:sp>
        <p:nvSpPr>
          <p:cNvPr id="295" name="Shape 293"/>
          <p:cNvSpPr/>
          <p:nvPr/>
        </p:nvSpPr>
        <p:spPr>
          <a:xfrm>
            <a:off x="1170432"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296" name="Text 294"/>
          <p:cNvSpPr/>
          <p:nvPr/>
        </p:nvSpPr>
        <p:spPr>
          <a:xfrm>
            <a:off x="1170432"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Coordinación Transaccional</a:t>
            </a:r>
            <a:endParaRPr lang="en-US" sz="380" dirty="0"/>
          </a:p>
        </p:txBody>
      </p:sp>
      <p:sp>
        <p:nvSpPr>
          <p:cNvPr id="297" name="Shape 295"/>
          <p:cNvSpPr/>
          <p:nvPr/>
        </p:nvSpPr>
        <p:spPr>
          <a:xfrm>
            <a:off x="1170432"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298" name="Text 296"/>
          <p:cNvSpPr/>
          <p:nvPr/>
        </p:nvSpPr>
        <p:spPr>
          <a:xfrm>
            <a:off x="1170432"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Compensación y Reversión</a:t>
            </a:r>
            <a:endParaRPr lang="en-US" sz="380" dirty="0"/>
          </a:p>
        </p:txBody>
      </p:sp>
      <p:sp>
        <p:nvSpPr>
          <p:cNvPr id="299" name="Shape 297"/>
          <p:cNvSpPr/>
          <p:nvPr/>
        </p:nvSpPr>
        <p:spPr>
          <a:xfrm>
            <a:off x="1170432"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00" name="Text 298"/>
          <p:cNvSpPr/>
          <p:nvPr/>
        </p:nvSpPr>
        <p:spPr>
          <a:xfrm>
            <a:off x="1170432"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Estado e Historial Transacc.</a:t>
            </a:r>
            <a:endParaRPr lang="en-US" sz="380" dirty="0"/>
          </a:p>
        </p:txBody>
      </p:sp>
      <p:sp>
        <p:nvSpPr>
          <p:cNvPr id="301" name="Shape 299"/>
          <p:cNvSpPr/>
          <p:nvPr/>
        </p:nvSpPr>
        <p:spPr>
          <a:xfrm>
            <a:off x="1170432"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02" name="Text 300"/>
          <p:cNvSpPr/>
          <p:nvPr/>
        </p:nvSpPr>
        <p:spPr>
          <a:xfrm>
            <a:off x="1170432"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Intercambio Fiable de Mensajes</a:t>
            </a:r>
            <a:endParaRPr lang="en-US" sz="380" dirty="0"/>
          </a:p>
        </p:txBody>
      </p:sp>
      <p:sp>
        <p:nvSpPr>
          <p:cNvPr id="303" name="Shape 301"/>
          <p:cNvSpPr/>
          <p:nvPr/>
        </p:nvSpPr>
        <p:spPr>
          <a:xfrm>
            <a:off x="3623310"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04" name="Text 302"/>
          <p:cNvSpPr/>
          <p:nvPr/>
        </p:nvSpPr>
        <p:spPr>
          <a:xfrm>
            <a:off x="3623310"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y Control Transacc.</a:t>
            </a:r>
            <a:endParaRPr lang="en-US" sz="400" dirty="0"/>
          </a:p>
        </p:txBody>
      </p:sp>
      <p:sp>
        <p:nvSpPr>
          <p:cNvPr id="305" name="Shape 303"/>
          <p:cNvSpPr/>
          <p:nvPr/>
        </p:nvSpPr>
        <p:spPr>
          <a:xfrm>
            <a:off x="3623310"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06" name="Text 304"/>
          <p:cNvSpPr/>
          <p:nvPr/>
        </p:nvSpPr>
        <p:spPr>
          <a:xfrm>
            <a:off x="3623310"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Transaccional</a:t>
            </a:r>
            <a:endParaRPr lang="en-US" sz="380" dirty="0"/>
          </a:p>
        </p:txBody>
      </p:sp>
      <p:sp>
        <p:nvSpPr>
          <p:cNvPr id="307" name="Shape 305"/>
          <p:cNvSpPr/>
          <p:nvPr/>
        </p:nvSpPr>
        <p:spPr>
          <a:xfrm>
            <a:off x="3623310"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08" name="Text 306"/>
          <p:cNvSpPr/>
          <p:nvPr/>
        </p:nvSpPr>
        <p:spPr>
          <a:xfrm>
            <a:off x="3623310"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Reintento, Cancelac. y Reversión</a:t>
            </a:r>
            <a:endParaRPr lang="en-US" sz="380" dirty="0"/>
          </a:p>
        </p:txBody>
      </p:sp>
      <p:sp>
        <p:nvSpPr>
          <p:cNvPr id="309" name="Shape 307"/>
          <p:cNvSpPr/>
          <p:nvPr/>
        </p:nvSpPr>
        <p:spPr>
          <a:xfrm>
            <a:off x="3623310"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10" name="Text 308"/>
          <p:cNvSpPr/>
          <p:nvPr/>
        </p:nvSpPr>
        <p:spPr>
          <a:xfrm>
            <a:off x="3623310"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y Reconciliación</a:t>
            </a:r>
            <a:endParaRPr lang="en-US" sz="380" dirty="0"/>
          </a:p>
        </p:txBody>
      </p:sp>
      <p:sp>
        <p:nvSpPr>
          <p:cNvPr id="311" name="Shape 309"/>
          <p:cNvSpPr/>
          <p:nvPr/>
        </p:nvSpPr>
        <p:spPr>
          <a:xfrm>
            <a:off x="3623310"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12" name="Text 310"/>
          <p:cNvSpPr/>
          <p:nvPr/>
        </p:nvSpPr>
        <p:spPr>
          <a:xfrm>
            <a:off x="3623310"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Monitoriz. Eventos Transacc.</a:t>
            </a:r>
            <a:endParaRPr lang="en-US" sz="380" dirty="0"/>
          </a:p>
        </p:txBody>
      </p:sp>
      <p:sp>
        <p:nvSpPr>
          <p:cNvPr id="313" name="Shape 311"/>
          <p:cNvSpPr/>
          <p:nvPr/>
        </p:nvSpPr>
        <p:spPr>
          <a:xfrm>
            <a:off x="6076188"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14" name="Text 312"/>
          <p:cNvSpPr/>
          <p:nvPr/>
        </p:nvSpPr>
        <p:spPr>
          <a:xfrm>
            <a:off x="6076188"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Store &amp; Forward</a:t>
            </a:r>
            <a:endParaRPr lang="en-US" sz="400" dirty="0"/>
          </a:p>
        </p:txBody>
      </p:sp>
      <p:sp>
        <p:nvSpPr>
          <p:cNvPr id="315" name="Shape 313"/>
          <p:cNvSpPr/>
          <p:nvPr/>
        </p:nvSpPr>
        <p:spPr>
          <a:xfrm>
            <a:off x="6076188" y="2875788"/>
            <a:ext cx="2434590" cy="92011"/>
          </a:xfrm>
          <a:prstGeom prst="rect">
            <a:avLst/>
          </a:prstGeom>
          <a:solidFill>
            <a:srgbClr val="FFFFFF"/>
          </a:solidFill>
          <a:ln w="3810">
            <a:solidFill>
              <a:srgbClr val="BE82FF"/>
            </a:solidFill>
            <a:prstDash val="solid"/>
          </a:ln>
        </p:spPr>
        <p:txBody>
          <a:bodyPr/>
          <a:lstStyle/>
          <a:p>
            <a:endParaRPr lang="es-ES"/>
          </a:p>
        </p:txBody>
      </p:sp>
      <p:sp>
        <p:nvSpPr>
          <p:cNvPr id="316" name="Text 314"/>
          <p:cNvSpPr/>
          <p:nvPr/>
        </p:nvSpPr>
        <p:spPr>
          <a:xfrm>
            <a:off x="6076188" y="2875788"/>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Manager y Registro</a:t>
            </a:r>
            <a:endParaRPr lang="en-US" sz="380" dirty="0"/>
          </a:p>
        </p:txBody>
      </p:sp>
      <p:sp>
        <p:nvSpPr>
          <p:cNvPr id="317" name="Shape 315"/>
          <p:cNvSpPr/>
          <p:nvPr/>
        </p:nvSpPr>
        <p:spPr>
          <a:xfrm>
            <a:off x="6076188" y="2972372"/>
            <a:ext cx="2434590" cy="92011"/>
          </a:xfrm>
          <a:prstGeom prst="rect">
            <a:avLst/>
          </a:prstGeom>
          <a:solidFill>
            <a:srgbClr val="FFFFFF"/>
          </a:solidFill>
          <a:ln w="3810">
            <a:solidFill>
              <a:srgbClr val="BE82FF"/>
            </a:solidFill>
            <a:prstDash val="solid"/>
          </a:ln>
        </p:spPr>
        <p:txBody>
          <a:bodyPr/>
          <a:lstStyle/>
          <a:p>
            <a:endParaRPr lang="es-ES"/>
          </a:p>
        </p:txBody>
      </p:sp>
      <p:sp>
        <p:nvSpPr>
          <p:cNvPr id="318" name="Text 316"/>
          <p:cNvSpPr/>
          <p:nvPr/>
        </p:nvSpPr>
        <p:spPr>
          <a:xfrm>
            <a:off x="6076188" y="2972372"/>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Processor y Reintentos</a:t>
            </a:r>
            <a:endParaRPr lang="en-US" sz="380" dirty="0"/>
          </a:p>
        </p:txBody>
      </p:sp>
      <p:sp>
        <p:nvSpPr>
          <p:cNvPr id="319" name="Shape 317"/>
          <p:cNvSpPr/>
          <p:nvPr/>
        </p:nvSpPr>
        <p:spPr>
          <a:xfrm>
            <a:off x="6076188" y="3068955"/>
            <a:ext cx="2434590" cy="92011"/>
          </a:xfrm>
          <a:prstGeom prst="rect">
            <a:avLst/>
          </a:prstGeom>
          <a:solidFill>
            <a:srgbClr val="FFFFFF"/>
          </a:solidFill>
          <a:ln w="3810">
            <a:solidFill>
              <a:srgbClr val="BE82FF"/>
            </a:solidFill>
            <a:prstDash val="solid"/>
          </a:ln>
        </p:spPr>
        <p:txBody>
          <a:bodyPr/>
          <a:lstStyle/>
          <a:p>
            <a:endParaRPr lang="es-ES"/>
          </a:p>
        </p:txBody>
      </p:sp>
      <p:sp>
        <p:nvSpPr>
          <p:cNvPr id="320" name="Text 318"/>
          <p:cNvSpPr/>
          <p:nvPr/>
        </p:nvSpPr>
        <p:spPr>
          <a:xfrm>
            <a:off x="6076188" y="3068955"/>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Request Router y Reenvío</a:t>
            </a:r>
            <a:endParaRPr lang="en-US" sz="380" dirty="0"/>
          </a:p>
        </p:txBody>
      </p:sp>
      <p:sp>
        <p:nvSpPr>
          <p:cNvPr id="321" name="Shape 319"/>
          <p:cNvSpPr/>
          <p:nvPr/>
        </p:nvSpPr>
        <p:spPr>
          <a:xfrm>
            <a:off x="6076188" y="3165539"/>
            <a:ext cx="2434590" cy="92011"/>
          </a:xfrm>
          <a:prstGeom prst="rect">
            <a:avLst/>
          </a:prstGeom>
          <a:solidFill>
            <a:srgbClr val="FFFFFF"/>
          </a:solidFill>
          <a:ln w="3810">
            <a:solidFill>
              <a:srgbClr val="BE82FF"/>
            </a:solidFill>
            <a:prstDash val="solid"/>
          </a:ln>
        </p:spPr>
        <p:txBody>
          <a:bodyPr/>
          <a:lstStyle/>
          <a:p>
            <a:endParaRPr lang="es-ES"/>
          </a:p>
        </p:txBody>
      </p:sp>
      <p:sp>
        <p:nvSpPr>
          <p:cNvPr id="322" name="Text 320"/>
          <p:cNvSpPr/>
          <p:nvPr/>
        </p:nvSpPr>
        <p:spPr>
          <a:xfrm>
            <a:off x="6076188" y="3165539"/>
            <a:ext cx="2434590" cy="92011"/>
          </a:xfrm>
          <a:prstGeom prst="rect">
            <a:avLst/>
          </a:prstGeom>
          <a:noFill/>
          <a:ln/>
        </p:spPr>
        <p:txBody>
          <a:bodyPr wrap="square" lIns="6350" tIns="6350" rIns="6350" bIns="6350" rtlCol="0" anchor="ctr"/>
          <a:lstStyle/>
          <a:p>
            <a:pPr marL="0" indent="0" algn="ctr">
              <a:buNone/>
            </a:pPr>
            <a:r>
              <a:rPr lang="en-US" sz="380" dirty="0">
                <a:solidFill>
                  <a:srgbClr val="000000"/>
                </a:solidFill>
              </a:rPr>
              <a:t>Consola Store &amp; Forward</a:t>
            </a:r>
            <a:endParaRPr lang="en-US" sz="380" dirty="0"/>
          </a:p>
        </p:txBody>
      </p:sp>
      <p:sp>
        <p:nvSpPr>
          <p:cNvPr id="323" name="Shape 321"/>
          <p:cNvSpPr/>
          <p:nvPr/>
        </p:nvSpPr>
        <p:spPr>
          <a:xfrm>
            <a:off x="8529066" y="2766060"/>
            <a:ext cx="2434590" cy="100584"/>
          </a:xfrm>
          <a:prstGeom prst="rect">
            <a:avLst/>
          </a:prstGeom>
          <a:solidFill>
            <a:srgbClr val="BE82FF"/>
          </a:solidFill>
          <a:ln w="6350">
            <a:solidFill>
              <a:srgbClr val="7500C0"/>
            </a:solidFill>
            <a:prstDash val="solid"/>
          </a:ln>
        </p:spPr>
        <p:txBody>
          <a:bodyPr/>
          <a:lstStyle/>
          <a:p>
            <a:endParaRPr lang="es-ES"/>
          </a:p>
        </p:txBody>
      </p:sp>
      <p:sp>
        <p:nvSpPr>
          <p:cNvPr id="324" name="Text 322"/>
          <p:cNvSpPr/>
          <p:nvPr/>
        </p:nvSpPr>
        <p:spPr>
          <a:xfrm>
            <a:off x="8529066" y="2766060"/>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Admin. Servicios Transaccionales</a:t>
            </a:r>
            <a:endParaRPr lang="en-US" sz="400" dirty="0"/>
          </a:p>
        </p:txBody>
      </p:sp>
      <p:sp>
        <p:nvSpPr>
          <p:cNvPr id="325" name="Shape 323"/>
          <p:cNvSpPr/>
          <p:nvPr/>
        </p:nvSpPr>
        <p:spPr>
          <a:xfrm>
            <a:off x="8529066" y="2875788"/>
            <a:ext cx="2434590" cy="188595"/>
          </a:xfrm>
          <a:prstGeom prst="rect">
            <a:avLst/>
          </a:prstGeom>
          <a:solidFill>
            <a:srgbClr val="FFFFFF"/>
          </a:solidFill>
          <a:ln w="3810">
            <a:solidFill>
              <a:srgbClr val="BE82FF"/>
            </a:solidFill>
            <a:prstDash val="solid"/>
          </a:ln>
        </p:spPr>
        <p:txBody>
          <a:bodyPr/>
          <a:lstStyle/>
          <a:p>
            <a:endParaRPr lang="es-ES"/>
          </a:p>
        </p:txBody>
      </p:sp>
      <p:sp>
        <p:nvSpPr>
          <p:cNvPr id="326" name="Text 324"/>
          <p:cNvSpPr/>
          <p:nvPr/>
        </p:nvSpPr>
        <p:spPr>
          <a:xfrm>
            <a:off x="8529066" y="2875788"/>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Comportamiento Servicios</a:t>
            </a:r>
            <a:endParaRPr lang="en-US" sz="380" dirty="0"/>
          </a:p>
        </p:txBody>
      </p:sp>
      <p:sp>
        <p:nvSpPr>
          <p:cNvPr id="327" name="Shape 325"/>
          <p:cNvSpPr/>
          <p:nvPr/>
        </p:nvSpPr>
        <p:spPr>
          <a:xfrm>
            <a:off x="8529066" y="3068955"/>
            <a:ext cx="2434590" cy="188595"/>
          </a:xfrm>
          <a:prstGeom prst="rect">
            <a:avLst/>
          </a:prstGeom>
          <a:solidFill>
            <a:srgbClr val="FFFFFF"/>
          </a:solidFill>
          <a:ln w="3810">
            <a:solidFill>
              <a:srgbClr val="BE82FF"/>
            </a:solidFill>
            <a:prstDash val="solid"/>
          </a:ln>
        </p:spPr>
        <p:txBody>
          <a:bodyPr/>
          <a:lstStyle/>
          <a:p>
            <a:endParaRPr lang="es-ES"/>
          </a:p>
        </p:txBody>
      </p:sp>
      <p:sp>
        <p:nvSpPr>
          <p:cNvPr id="328" name="Text 326"/>
          <p:cNvSpPr/>
          <p:nvPr/>
        </p:nvSpPr>
        <p:spPr>
          <a:xfrm>
            <a:off x="8529066" y="3068955"/>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Anulaciones y Controles</a:t>
            </a:r>
            <a:endParaRPr lang="en-US" sz="380" dirty="0"/>
          </a:p>
        </p:txBody>
      </p:sp>
      <p:sp>
        <p:nvSpPr>
          <p:cNvPr id="329" name="Shape 327"/>
          <p:cNvSpPr/>
          <p:nvPr/>
        </p:nvSpPr>
        <p:spPr>
          <a:xfrm>
            <a:off x="1152144" y="3298698"/>
            <a:ext cx="9848088" cy="633222"/>
          </a:xfrm>
          <a:prstGeom prst="rect">
            <a:avLst/>
          </a:prstGeom>
          <a:solidFill>
            <a:srgbClr val="F0F8FF"/>
          </a:solidFill>
          <a:ln w="7620">
            <a:solidFill>
              <a:srgbClr val="7500C0"/>
            </a:solidFill>
            <a:prstDash val="solid"/>
          </a:ln>
        </p:spPr>
        <p:txBody>
          <a:bodyPr/>
          <a:lstStyle/>
          <a:p>
            <a:endParaRPr lang="es-ES"/>
          </a:p>
        </p:txBody>
      </p:sp>
      <p:sp>
        <p:nvSpPr>
          <p:cNvPr id="330" name="Shape 328"/>
          <p:cNvSpPr/>
          <p:nvPr/>
        </p:nvSpPr>
        <p:spPr>
          <a:xfrm>
            <a:off x="1152144" y="3298698"/>
            <a:ext cx="9848088" cy="118872"/>
          </a:xfrm>
          <a:prstGeom prst="rect">
            <a:avLst/>
          </a:prstGeom>
          <a:solidFill>
            <a:srgbClr val="7500C0"/>
          </a:solidFill>
          <a:ln w="12700">
            <a:solidFill>
              <a:srgbClr val="7500C0"/>
            </a:solidFill>
            <a:prstDash val="solid"/>
          </a:ln>
        </p:spPr>
        <p:txBody>
          <a:bodyPr/>
          <a:lstStyle/>
          <a:p>
            <a:endParaRPr lang="es-ES"/>
          </a:p>
        </p:txBody>
      </p:sp>
      <p:sp>
        <p:nvSpPr>
          <p:cNvPr id="331" name="Text 329"/>
          <p:cNvSpPr/>
          <p:nvPr/>
        </p:nvSpPr>
        <p:spPr>
          <a:xfrm>
            <a:off x="1188720" y="3298698"/>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Procesamiento de Eventos &amp; Componentes Reactivos</a:t>
            </a:r>
            <a:endParaRPr lang="en-US" sz="550" dirty="0"/>
          </a:p>
        </p:txBody>
      </p:sp>
      <p:sp>
        <p:nvSpPr>
          <p:cNvPr id="332" name="Shape 330"/>
          <p:cNvSpPr/>
          <p:nvPr/>
        </p:nvSpPr>
        <p:spPr>
          <a:xfrm>
            <a:off x="117043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33" name="Text 331"/>
          <p:cNvSpPr/>
          <p:nvPr/>
        </p:nvSpPr>
        <p:spPr>
          <a:xfrm>
            <a:off x="117043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Mensajería de Eventos</a:t>
            </a:r>
            <a:endParaRPr lang="en-US" sz="400" dirty="0"/>
          </a:p>
        </p:txBody>
      </p:sp>
      <p:sp>
        <p:nvSpPr>
          <p:cNvPr id="334" name="Shape 332"/>
          <p:cNvSpPr/>
          <p:nvPr/>
        </p:nvSpPr>
        <p:spPr>
          <a:xfrm>
            <a:off x="1170432"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35" name="Text 333"/>
          <p:cNvSpPr/>
          <p:nvPr/>
        </p:nvSpPr>
        <p:spPr>
          <a:xfrm>
            <a:off x="1170432"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Pub/Sub Messaging</a:t>
            </a:r>
            <a:endParaRPr lang="en-US" sz="380" dirty="0"/>
          </a:p>
        </p:txBody>
      </p:sp>
      <p:sp>
        <p:nvSpPr>
          <p:cNvPr id="336" name="Shape 334"/>
          <p:cNvSpPr/>
          <p:nvPr/>
        </p:nvSpPr>
        <p:spPr>
          <a:xfrm>
            <a:off x="1170432"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37" name="Text 335"/>
          <p:cNvSpPr/>
          <p:nvPr/>
        </p:nvSpPr>
        <p:spPr>
          <a:xfrm>
            <a:off x="1170432"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Admin. Tópicos y Suscripciones</a:t>
            </a:r>
            <a:endParaRPr lang="en-US" sz="380" dirty="0"/>
          </a:p>
        </p:txBody>
      </p:sp>
      <p:sp>
        <p:nvSpPr>
          <p:cNvPr id="338" name="Shape 336"/>
          <p:cNvSpPr/>
          <p:nvPr/>
        </p:nvSpPr>
        <p:spPr>
          <a:xfrm>
            <a:off x="1170432"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39" name="Text 337"/>
          <p:cNvSpPr/>
          <p:nvPr/>
        </p:nvSpPr>
        <p:spPr>
          <a:xfrm>
            <a:off x="1170432"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Mensajería Multi-protocolo</a:t>
            </a:r>
            <a:endParaRPr lang="en-US" sz="380" dirty="0"/>
          </a:p>
        </p:txBody>
      </p:sp>
      <p:sp>
        <p:nvSpPr>
          <p:cNvPr id="340" name="Shape 338"/>
          <p:cNvSpPr/>
          <p:nvPr/>
        </p:nvSpPr>
        <p:spPr>
          <a:xfrm>
            <a:off x="2805684"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1" name="Text 339"/>
          <p:cNvSpPr/>
          <p:nvPr/>
        </p:nvSpPr>
        <p:spPr>
          <a:xfrm>
            <a:off x="2805684"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Streaming de Eventos</a:t>
            </a:r>
            <a:endParaRPr lang="en-US" sz="400" dirty="0"/>
          </a:p>
        </p:txBody>
      </p:sp>
      <p:sp>
        <p:nvSpPr>
          <p:cNvPr id="342" name="Shape 340"/>
          <p:cNvSpPr/>
          <p:nvPr/>
        </p:nvSpPr>
        <p:spPr>
          <a:xfrm>
            <a:off x="2805684"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43" name="Text 341"/>
          <p:cNvSpPr/>
          <p:nvPr/>
        </p:nvSpPr>
        <p:spPr>
          <a:xfrm>
            <a:off x="2805684"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Ingesta y Distribución Streams</a:t>
            </a:r>
            <a:endParaRPr lang="en-US" sz="380" dirty="0"/>
          </a:p>
        </p:txBody>
      </p:sp>
      <p:sp>
        <p:nvSpPr>
          <p:cNvPr id="344" name="Shape 342"/>
          <p:cNvSpPr/>
          <p:nvPr/>
        </p:nvSpPr>
        <p:spPr>
          <a:xfrm>
            <a:off x="2805684"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45" name="Text 343"/>
          <p:cNvSpPr/>
          <p:nvPr/>
        </p:nvSpPr>
        <p:spPr>
          <a:xfrm>
            <a:off x="2805684"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Retención y Replay</a:t>
            </a:r>
            <a:endParaRPr lang="en-US" sz="380" dirty="0"/>
          </a:p>
        </p:txBody>
      </p:sp>
      <p:sp>
        <p:nvSpPr>
          <p:cNvPr id="346" name="Shape 344"/>
          <p:cNvSpPr/>
          <p:nvPr/>
        </p:nvSpPr>
        <p:spPr>
          <a:xfrm>
            <a:off x="2805684"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47" name="Text 345"/>
          <p:cNvSpPr/>
          <p:nvPr/>
        </p:nvSpPr>
        <p:spPr>
          <a:xfrm>
            <a:off x="2805684"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CEP (Eventos Complejos)</a:t>
            </a:r>
            <a:endParaRPr lang="en-US" sz="380" dirty="0"/>
          </a:p>
        </p:txBody>
      </p:sp>
      <p:sp>
        <p:nvSpPr>
          <p:cNvPr id="348" name="Shape 346"/>
          <p:cNvSpPr/>
          <p:nvPr/>
        </p:nvSpPr>
        <p:spPr>
          <a:xfrm>
            <a:off x="4440936"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49" name="Text 347"/>
          <p:cNvSpPr/>
          <p:nvPr/>
        </p:nvSpPr>
        <p:spPr>
          <a:xfrm>
            <a:off x="4440936"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Entrega Garantizada</a:t>
            </a:r>
            <a:endParaRPr lang="en-US" sz="400" dirty="0"/>
          </a:p>
        </p:txBody>
      </p:sp>
      <p:sp>
        <p:nvSpPr>
          <p:cNvPr id="350" name="Shape 348"/>
          <p:cNvSpPr/>
          <p:nvPr/>
        </p:nvSpPr>
        <p:spPr>
          <a:xfrm>
            <a:off x="4440936"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1" name="Text 349"/>
          <p:cNvSpPr/>
          <p:nvPr/>
        </p:nvSpPr>
        <p:spPr>
          <a:xfrm>
            <a:off x="4440936"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Semántica e Idempotencia</a:t>
            </a:r>
            <a:endParaRPr lang="en-US" sz="380" dirty="0"/>
          </a:p>
        </p:txBody>
      </p:sp>
      <p:sp>
        <p:nvSpPr>
          <p:cNvPr id="352" name="Shape 350"/>
          <p:cNvSpPr/>
          <p:nvPr/>
        </p:nvSpPr>
        <p:spPr>
          <a:xfrm>
            <a:off x="4440936"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53" name="Text 351"/>
          <p:cNvSpPr/>
          <p:nvPr/>
        </p:nvSpPr>
        <p:spPr>
          <a:xfrm>
            <a:off x="4440936"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Dead Letter y Error Topics</a:t>
            </a:r>
            <a:endParaRPr lang="en-US" sz="380" dirty="0"/>
          </a:p>
        </p:txBody>
      </p:sp>
      <p:sp>
        <p:nvSpPr>
          <p:cNvPr id="354" name="Shape 352"/>
          <p:cNvSpPr/>
          <p:nvPr/>
        </p:nvSpPr>
        <p:spPr>
          <a:xfrm>
            <a:off x="4440936"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55" name="Text 353"/>
          <p:cNvSpPr/>
          <p:nvPr/>
        </p:nvSpPr>
        <p:spPr>
          <a:xfrm>
            <a:off x="4440936"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Reporte Garantía Entrega</a:t>
            </a:r>
            <a:endParaRPr lang="en-US" sz="380" dirty="0"/>
          </a:p>
        </p:txBody>
      </p:sp>
      <p:sp>
        <p:nvSpPr>
          <p:cNvPr id="356" name="Shape 354"/>
          <p:cNvSpPr/>
          <p:nvPr/>
        </p:nvSpPr>
        <p:spPr>
          <a:xfrm>
            <a:off x="6076188"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57" name="Text 355"/>
          <p:cNvSpPr/>
          <p:nvPr/>
        </p:nvSpPr>
        <p:spPr>
          <a:xfrm>
            <a:off x="6076188"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Reg. Eventos y Gobernanza</a:t>
            </a:r>
            <a:endParaRPr lang="en-US" sz="400" dirty="0"/>
          </a:p>
        </p:txBody>
      </p:sp>
      <p:sp>
        <p:nvSpPr>
          <p:cNvPr id="358" name="Shape 356"/>
          <p:cNvSpPr/>
          <p:nvPr/>
        </p:nvSpPr>
        <p:spPr>
          <a:xfrm>
            <a:off x="6076188" y="3536442"/>
            <a:ext cx="1616964" cy="124206"/>
          </a:xfrm>
          <a:prstGeom prst="rect">
            <a:avLst/>
          </a:prstGeom>
          <a:solidFill>
            <a:srgbClr val="FFFFFF"/>
          </a:solidFill>
          <a:ln w="3810">
            <a:solidFill>
              <a:srgbClr val="BE82FF"/>
            </a:solidFill>
            <a:prstDash val="solid"/>
          </a:ln>
        </p:spPr>
        <p:txBody>
          <a:bodyPr/>
          <a:lstStyle/>
          <a:p>
            <a:endParaRPr lang="es-ES"/>
          </a:p>
        </p:txBody>
      </p:sp>
      <p:sp>
        <p:nvSpPr>
          <p:cNvPr id="359" name="Text 357"/>
          <p:cNvSpPr/>
          <p:nvPr/>
        </p:nvSpPr>
        <p:spPr>
          <a:xfrm>
            <a:off x="6076188" y="3536442"/>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Definiciones y Esquemas Canónicos</a:t>
            </a:r>
            <a:endParaRPr lang="en-US" sz="380" dirty="0"/>
          </a:p>
        </p:txBody>
      </p:sp>
      <p:sp>
        <p:nvSpPr>
          <p:cNvPr id="360" name="Shape 358"/>
          <p:cNvSpPr/>
          <p:nvPr/>
        </p:nvSpPr>
        <p:spPr>
          <a:xfrm>
            <a:off x="6076188" y="3665220"/>
            <a:ext cx="1616964" cy="124206"/>
          </a:xfrm>
          <a:prstGeom prst="rect">
            <a:avLst/>
          </a:prstGeom>
          <a:solidFill>
            <a:srgbClr val="FFFFFF"/>
          </a:solidFill>
          <a:ln w="3810">
            <a:solidFill>
              <a:srgbClr val="BE82FF"/>
            </a:solidFill>
            <a:prstDash val="solid"/>
          </a:ln>
        </p:spPr>
        <p:txBody>
          <a:bodyPr/>
          <a:lstStyle/>
          <a:p>
            <a:endParaRPr lang="es-ES"/>
          </a:p>
        </p:txBody>
      </p:sp>
      <p:sp>
        <p:nvSpPr>
          <p:cNvPr id="361" name="Text 359"/>
          <p:cNvSpPr/>
          <p:nvPr/>
        </p:nvSpPr>
        <p:spPr>
          <a:xfrm>
            <a:off x="6076188" y="3665220"/>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Versionado Esquemas</a:t>
            </a:r>
            <a:endParaRPr lang="en-US" sz="380" dirty="0"/>
          </a:p>
        </p:txBody>
      </p:sp>
      <p:sp>
        <p:nvSpPr>
          <p:cNvPr id="362" name="Shape 360"/>
          <p:cNvSpPr/>
          <p:nvPr/>
        </p:nvSpPr>
        <p:spPr>
          <a:xfrm>
            <a:off x="6076188" y="3793998"/>
            <a:ext cx="1616964" cy="124206"/>
          </a:xfrm>
          <a:prstGeom prst="rect">
            <a:avLst/>
          </a:prstGeom>
          <a:solidFill>
            <a:srgbClr val="FFFFFF"/>
          </a:solidFill>
          <a:ln w="3810">
            <a:solidFill>
              <a:srgbClr val="BE82FF"/>
            </a:solidFill>
            <a:prstDash val="solid"/>
          </a:ln>
        </p:spPr>
        <p:txBody>
          <a:bodyPr/>
          <a:lstStyle/>
          <a:p>
            <a:endParaRPr lang="es-ES"/>
          </a:p>
        </p:txBody>
      </p:sp>
      <p:sp>
        <p:nvSpPr>
          <p:cNvPr id="363" name="Text 361"/>
          <p:cNvSpPr/>
          <p:nvPr/>
        </p:nvSpPr>
        <p:spPr>
          <a:xfrm>
            <a:off x="6076188" y="379399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Catálogo y Reg. Consumidores</a:t>
            </a:r>
            <a:endParaRPr lang="en-US" sz="380" dirty="0"/>
          </a:p>
        </p:txBody>
      </p:sp>
      <p:sp>
        <p:nvSpPr>
          <p:cNvPr id="364" name="Shape 362"/>
          <p:cNvSpPr/>
          <p:nvPr/>
        </p:nvSpPr>
        <p:spPr>
          <a:xfrm>
            <a:off x="7711440"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65" name="Text 363"/>
          <p:cNvSpPr/>
          <p:nvPr/>
        </p:nvSpPr>
        <p:spPr>
          <a:xfrm>
            <a:off x="7711440"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Event Mesh y Enrutamiento</a:t>
            </a:r>
            <a:endParaRPr lang="en-US" sz="400" dirty="0"/>
          </a:p>
        </p:txBody>
      </p:sp>
      <p:sp>
        <p:nvSpPr>
          <p:cNvPr id="366" name="Shape 364"/>
          <p:cNvSpPr/>
          <p:nvPr/>
        </p:nvSpPr>
        <p:spPr>
          <a:xfrm>
            <a:off x="7711440"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67" name="Text 365"/>
          <p:cNvSpPr/>
          <p:nvPr/>
        </p:nvSpPr>
        <p:spPr>
          <a:xfrm>
            <a:off x="7711440"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Enrutamiento y Clustering</a:t>
            </a:r>
            <a:endParaRPr lang="en-US" sz="380" dirty="0"/>
          </a:p>
        </p:txBody>
      </p:sp>
      <p:sp>
        <p:nvSpPr>
          <p:cNvPr id="368" name="Shape 366"/>
          <p:cNvSpPr/>
          <p:nvPr/>
        </p:nvSpPr>
        <p:spPr>
          <a:xfrm>
            <a:off x="7711440"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69" name="Text 367"/>
          <p:cNvSpPr/>
          <p:nvPr/>
        </p:nvSpPr>
        <p:spPr>
          <a:xfrm>
            <a:off x="7711440"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Distribución Cross-Dominio</a:t>
            </a:r>
            <a:endParaRPr lang="en-US" sz="380" dirty="0"/>
          </a:p>
        </p:txBody>
      </p:sp>
      <p:sp>
        <p:nvSpPr>
          <p:cNvPr id="370" name="Shape 368"/>
          <p:cNvSpPr/>
          <p:nvPr/>
        </p:nvSpPr>
        <p:spPr>
          <a:xfrm>
            <a:off x="9346692" y="3426714"/>
            <a:ext cx="1616964" cy="100584"/>
          </a:xfrm>
          <a:prstGeom prst="rect">
            <a:avLst/>
          </a:prstGeom>
          <a:solidFill>
            <a:srgbClr val="BE82FF"/>
          </a:solidFill>
          <a:ln w="6350">
            <a:solidFill>
              <a:srgbClr val="7500C0"/>
            </a:solidFill>
            <a:prstDash val="solid"/>
          </a:ln>
        </p:spPr>
        <p:txBody>
          <a:bodyPr/>
          <a:lstStyle/>
          <a:p>
            <a:endParaRPr lang="es-ES"/>
          </a:p>
        </p:txBody>
      </p:sp>
      <p:sp>
        <p:nvSpPr>
          <p:cNvPr id="371" name="Text 369"/>
          <p:cNvSpPr/>
          <p:nvPr/>
        </p:nvSpPr>
        <p:spPr>
          <a:xfrm>
            <a:off x="9346692" y="3426714"/>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Monitorización de Eventos</a:t>
            </a:r>
            <a:endParaRPr lang="en-US" sz="400" dirty="0"/>
          </a:p>
        </p:txBody>
      </p:sp>
      <p:sp>
        <p:nvSpPr>
          <p:cNvPr id="372" name="Shape 370"/>
          <p:cNvSpPr/>
          <p:nvPr/>
        </p:nvSpPr>
        <p:spPr>
          <a:xfrm>
            <a:off x="9346692" y="3536442"/>
            <a:ext cx="1616964" cy="188595"/>
          </a:xfrm>
          <a:prstGeom prst="rect">
            <a:avLst/>
          </a:prstGeom>
          <a:solidFill>
            <a:srgbClr val="FFFFFF"/>
          </a:solidFill>
          <a:ln w="3810">
            <a:solidFill>
              <a:srgbClr val="BE82FF"/>
            </a:solidFill>
            <a:prstDash val="solid"/>
          </a:ln>
        </p:spPr>
        <p:txBody>
          <a:bodyPr/>
          <a:lstStyle/>
          <a:p>
            <a:endParaRPr lang="es-ES"/>
          </a:p>
        </p:txBody>
      </p:sp>
      <p:sp>
        <p:nvSpPr>
          <p:cNvPr id="373" name="Text 371"/>
          <p:cNvSpPr/>
          <p:nvPr/>
        </p:nvSpPr>
        <p:spPr>
          <a:xfrm>
            <a:off x="9346692" y="3536442"/>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Flujo y Lag Consumidores</a:t>
            </a:r>
            <a:endParaRPr lang="en-US" sz="380" dirty="0"/>
          </a:p>
        </p:txBody>
      </p:sp>
      <p:sp>
        <p:nvSpPr>
          <p:cNvPr id="374" name="Shape 372"/>
          <p:cNvSpPr/>
          <p:nvPr/>
        </p:nvSpPr>
        <p:spPr>
          <a:xfrm>
            <a:off x="9346692" y="3729609"/>
            <a:ext cx="1616964" cy="188595"/>
          </a:xfrm>
          <a:prstGeom prst="rect">
            <a:avLst/>
          </a:prstGeom>
          <a:solidFill>
            <a:srgbClr val="FFFFFF"/>
          </a:solidFill>
          <a:ln w="3810">
            <a:solidFill>
              <a:srgbClr val="BE82FF"/>
            </a:solidFill>
            <a:prstDash val="solid"/>
          </a:ln>
        </p:spPr>
        <p:txBody>
          <a:bodyPr/>
          <a:lstStyle/>
          <a:p>
            <a:endParaRPr lang="es-ES"/>
          </a:p>
        </p:txBody>
      </p:sp>
      <p:sp>
        <p:nvSpPr>
          <p:cNvPr id="375" name="Text 373"/>
          <p:cNvSpPr/>
          <p:nvPr/>
        </p:nvSpPr>
        <p:spPr>
          <a:xfrm>
            <a:off x="9346692" y="3729609"/>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Auditoría y Trazabilidad Eventos</a:t>
            </a:r>
            <a:endParaRPr lang="en-US" sz="380" dirty="0"/>
          </a:p>
        </p:txBody>
      </p:sp>
      <p:sp>
        <p:nvSpPr>
          <p:cNvPr id="376" name="Shape 374"/>
          <p:cNvSpPr/>
          <p:nvPr/>
        </p:nvSpPr>
        <p:spPr>
          <a:xfrm>
            <a:off x="1152144" y="3959352"/>
            <a:ext cx="9848088" cy="633222"/>
          </a:xfrm>
          <a:prstGeom prst="rect">
            <a:avLst/>
          </a:prstGeom>
          <a:solidFill>
            <a:srgbClr val="F0F8FF"/>
          </a:solidFill>
          <a:ln w="7620">
            <a:solidFill>
              <a:srgbClr val="7500C0"/>
            </a:solidFill>
            <a:prstDash val="solid"/>
          </a:ln>
        </p:spPr>
        <p:txBody>
          <a:bodyPr/>
          <a:lstStyle/>
          <a:p>
            <a:endParaRPr lang="es-ES"/>
          </a:p>
        </p:txBody>
      </p:sp>
      <p:sp>
        <p:nvSpPr>
          <p:cNvPr id="377" name="Shape 375"/>
          <p:cNvSpPr/>
          <p:nvPr/>
        </p:nvSpPr>
        <p:spPr>
          <a:xfrm>
            <a:off x="1152144" y="3959352"/>
            <a:ext cx="9848088" cy="118872"/>
          </a:xfrm>
          <a:prstGeom prst="rect">
            <a:avLst/>
          </a:prstGeom>
          <a:solidFill>
            <a:srgbClr val="7500C0"/>
          </a:solidFill>
          <a:ln w="12700">
            <a:solidFill>
              <a:srgbClr val="7500C0"/>
            </a:solidFill>
            <a:prstDash val="solid"/>
          </a:ln>
        </p:spPr>
        <p:txBody>
          <a:bodyPr/>
          <a:lstStyle/>
          <a:p>
            <a:endParaRPr lang="es-ES"/>
          </a:p>
        </p:txBody>
      </p:sp>
      <p:sp>
        <p:nvSpPr>
          <p:cNvPr id="378" name="Text 376"/>
          <p:cNvSpPr/>
          <p:nvPr/>
        </p:nvSpPr>
        <p:spPr>
          <a:xfrm>
            <a:off x="1188720" y="3959352"/>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Omnicanal &amp; Componentes de Caché</a:t>
            </a:r>
            <a:endParaRPr lang="en-US" sz="550" dirty="0"/>
          </a:p>
        </p:txBody>
      </p:sp>
      <p:sp>
        <p:nvSpPr>
          <p:cNvPr id="379" name="Shape 377"/>
          <p:cNvSpPr/>
          <p:nvPr/>
        </p:nvSpPr>
        <p:spPr>
          <a:xfrm>
            <a:off x="1170432"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0" name="Text 378"/>
          <p:cNvSpPr/>
          <p:nvPr/>
        </p:nvSpPr>
        <p:spPr>
          <a:xfrm>
            <a:off x="1170432"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Datos Omnicanal</a:t>
            </a:r>
            <a:endParaRPr lang="en-US" sz="400" dirty="0"/>
          </a:p>
        </p:txBody>
      </p:sp>
      <p:sp>
        <p:nvSpPr>
          <p:cNvPr id="381" name="Shape 379"/>
          <p:cNvSpPr/>
          <p:nvPr/>
        </p:nvSpPr>
        <p:spPr>
          <a:xfrm>
            <a:off x="1170432"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82" name="Text 380"/>
          <p:cNvSpPr/>
          <p:nvPr/>
        </p:nvSpPr>
        <p:spPr>
          <a:xfrm>
            <a:off x="1170432"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Almacén Datos Omnicanal</a:t>
            </a:r>
            <a:endParaRPr lang="en-US" sz="380" dirty="0"/>
          </a:p>
        </p:txBody>
      </p:sp>
      <p:sp>
        <p:nvSpPr>
          <p:cNvPr id="383" name="Shape 381"/>
          <p:cNvSpPr/>
          <p:nvPr/>
        </p:nvSpPr>
        <p:spPr>
          <a:xfrm>
            <a:off x="1170432"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84" name="Text 382"/>
          <p:cNvSpPr/>
          <p:nvPr/>
        </p:nvSpPr>
        <p:spPr>
          <a:xfrm>
            <a:off x="1170432"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Acceso Datos Omnicanal</a:t>
            </a:r>
            <a:endParaRPr lang="en-US" sz="380" dirty="0"/>
          </a:p>
        </p:txBody>
      </p:sp>
      <p:sp>
        <p:nvSpPr>
          <p:cNvPr id="385" name="Shape 383"/>
          <p:cNvSpPr/>
          <p:nvPr/>
        </p:nvSpPr>
        <p:spPr>
          <a:xfrm>
            <a:off x="1170432"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86" name="Text 384"/>
          <p:cNvSpPr/>
          <p:nvPr/>
        </p:nvSpPr>
        <p:spPr>
          <a:xfrm>
            <a:off x="1170432"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Reanudación de Journey</a:t>
            </a:r>
            <a:endParaRPr lang="en-US" sz="380" dirty="0"/>
          </a:p>
        </p:txBody>
      </p:sp>
      <p:sp>
        <p:nvSpPr>
          <p:cNvPr id="387" name="Shape 385"/>
          <p:cNvSpPr/>
          <p:nvPr/>
        </p:nvSpPr>
        <p:spPr>
          <a:xfrm>
            <a:off x="3623310"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88" name="Text 386"/>
          <p:cNvSpPr/>
          <p:nvPr/>
        </p:nvSpPr>
        <p:spPr>
          <a:xfrm>
            <a:off x="3623310"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Componentes de Caché</a:t>
            </a:r>
            <a:endParaRPr lang="en-US" sz="400" dirty="0"/>
          </a:p>
        </p:txBody>
      </p:sp>
      <p:sp>
        <p:nvSpPr>
          <p:cNvPr id="389" name="Shape 387"/>
          <p:cNvSpPr/>
          <p:nvPr/>
        </p:nvSpPr>
        <p:spPr>
          <a:xfrm>
            <a:off x="3623310"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390" name="Text 388"/>
          <p:cNvSpPr/>
          <p:nvPr/>
        </p:nvSpPr>
        <p:spPr>
          <a:xfrm>
            <a:off x="3623310"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Distribuida/En Memoria</a:t>
            </a:r>
            <a:endParaRPr lang="en-US" sz="380" dirty="0"/>
          </a:p>
        </p:txBody>
      </p:sp>
      <p:sp>
        <p:nvSpPr>
          <p:cNvPr id="391" name="Shape 389"/>
          <p:cNvSpPr/>
          <p:nvPr/>
        </p:nvSpPr>
        <p:spPr>
          <a:xfrm>
            <a:off x="3623310"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392" name="Text 390"/>
          <p:cNvSpPr/>
          <p:nvPr/>
        </p:nvSpPr>
        <p:spPr>
          <a:xfrm>
            <a:off x="3623310"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Invalidación y Refresco de Caché</a:t>
            </a:r>
            <a:endParaRPr lang="en-US" sz="380" dirty="0"/>
          </a:p>
        </p:txBody>
      </p:sp>
      <p:sp>
        <p:nvSpPr>
          <p:cNvPr id="393" name="Shape 391"/>
          <p:cNvSpPr/>
          <p:nvPr/>
        </p:nvSpPr>
        <p:spPr>
          <a:xfrm>
            <a:off x="3623310"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394" name="Text 392"/>
          <p:cNvSpPr/>
          <p:nvPr/>
        </p:nvSpPr>
        <p:spPr>
          <a:xfrm>
            <a:off x="3623310"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Aceleración Contenido Estático</a:t>
            </a:r>
            <a:endParaRPr lang="en-US" sz="380" dirty="0"/>
          </a:p>
        </p:txBody>
      </p:sp>
      <p:sp>
        <p:nvSpPr>
          <p:cNvPr id="395" name="Shape 393"/>
          <p:cNvSpPr/>
          <p:nvPr/>
        </p:nvSpPr>
        <p:spPr>
          <a:xfrm>
            <a:off x="6076188"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396" name="Text 394"/>
          <p:cNvSpPr/>
          <p:nvPr/>
        </p:nvSpPr>
        <p:spPr>
          <a:xfrm>
            <a:off x="6076188"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Sesiones y Replicación</a:t>
            </a:r>
            <a:endParaRPr lang="en-US" sz="400" dirty="0"/>
          </a:p>
        </p:txBody>
      </p:sp>
      <p:sp>
        <p:nvSpPr>
          <p:cNvPr id="397" name="Shape 395"/>
          <p:cNvSpPr/>
          <p:nvPr/>
        </p:nvSpPr>
        <p:spPr>
          <a:xfrm>
            <a:off x="6076188" y="4197096"/>
            <a:ext cx="2434590" cy="188595"/>
          </a:xfrm>
          <a:prstGeom prst="rect">
            <a:avLst/>
          </a:prstGeom>
          <a:solidFill>
            <a:srgbClr val="FFFFFF"/>
          </a:solidFill>
          <a:ln w="3810">
            <a:solidFill>
              <a:srgbClr val="BE82FF"/>
            </a:solidFill>
            <a:prstDash val="solid"/>
          </a:ln>
        </p:spPr>
        <p:txBody>
          <a:bodyPr/>
          <a:lstStyle/>
          <a:p>
            <a:endParaRPr lang="es-ES"/>
          </a:p>
        </p:txBody>
      </p:sp>
      <p:sp>
        <p:nvSpPr>
          <p:cNvPr id="398" name="Text 396"/>
          <p:cNvSpPr/>
          <p:nvPr/>
        </p:nvSpPr>
        <p:spPr>
          <a:xfrm>
            <a:off x="6076188" y="4197096"/>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de Sesión</a:t>
            </a:r>
            <a:endParaRPr lang="en-US" sz="380" dirty="0"/>
          </a:p>
        </p:txBody>
      </p:sp>
      <p:sp>
        <p:nvSpPr>
          <p:cNvPr id="399" name="Shape 397"/>
          <p:cNvSpPr/>
          <p:nvPr/>
        </p:nvSpPr>
        <p:spPr>
          <a:xfrm>
            <a:off x="6076188" y="4390263"/>
            <a:ext cx="2434590" cy="188595"/>
          </a:xfrm>
          <a:prstGeom prst="rect">
            <a:avLst/>
          </a:prstGeom>
          <a:solidFill>
            <a:srgbClr val="FFFFFF"/>
          </a:solidFill>
          <a:ln w="3810">
            <a:solidFill>
              <a:srgbClr val="BE82FF"/>
            </a:solidFill>
            <a:prstDash val="solid"/>
          </a:ln>
        </p:spPr>
        <p:txBody>
          <a:bodyPr/>
          <a:lstStyle/>
          <a:p>
            <a:endParaRPr lang="es-ES"/>
          </a:p>
        </p:txBody>
      </p:sp>
      <p:sp>
        <p:nvSpPr>
          <p:cNvPr id="400" name="Text 398"/>
          <p:cNvSpPr/>
          <p:nvPr/>
        </p:nvSpPr>
        <p:spPr>
          <a:xfrm>
            <a:off x="6076188" y="4390263"/>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Replicación Sesión Inter-Dominio</a:t>
            </a:r>
            <a:endParaRPr lang="en-US" sz="380" dirty="0"/>
          </a:p>
        </p:txBody>
      </p:sp>
      <p:sp>
        <p:nvSpPr>
          <p:cNvPr id="401" name="Shape 399"/>
          <p:cNvSpPr/>
          <p:nvPr/>
        </p:nvSpPr>
        <p:spPr>
          <a:xfrm>
            <a:off x="8529066" y="4087368"/>
            <a:ext cx="2434590" cy="100584"/>
          </a:xfrm>
          <a:prstGeom prst="rect">
            <a:avLst/>
          </a:prstGeom>
          <a:solidFill>
            <a:srgbClr val="BE82FF"/>
          </a:solidFill>
          <a:ln w="6350">
            <a:solidFill>
              <a:srgbClr val="7500C0"/>
            </a:solidFill>
            <a:prstDash val="solid"/>
          </a:ln>
        </p:spPr>
        <p:txBody>
          <a:bodyPr/>
          <a:lstStyle/>
          <a:p>
            <a:endParaRPr lang="es-ES"/>
          </a:p>
        </p:txBody>
      </p:sp>
      <p:sp>
        <p:nvSpPr>
          <p:cNvPr id="402" name="Text 400"/>
          <p:cNvSpPr/>
          <p:nvPr/>
        </p:nvSpPr>
        <p:spPr>
          <a:xfrm>
            <a:off x="8529066" y="4087368"/>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Caché Transacc. y Lectura</a:t>
            </a:r>
            <a:endParaRPr lang="en-US" sz="400" dirty="0"/>
          </a:p>
        </p:txBody>
      </p:sp>
      <p:sp>
        <p:nvSpPr>
          <p:cNvPr id="403" name="Shape 401"/>
          <p:cNvSpPr/>
          <p:nvPr/>
        </p:nvSpPr>
        <p:spPr>
          <a:xfrm>
            <a:off x="8529066" y="4197096"/>
            <a:ext cx="2434590" cy="124206"/>
          </a:xfrm>
          <a:prstGeom prst="rect">
            <a:avLst/>
          </a:prstGeom>
          <a:solidFill>
            <a:srgbClr val="FFFFFF"/>
          </a:solidFill>
          <a:ln w="3810">
            <a:solidFill>
              <a:srgbClr val="BE82FF"/>
            </a:solidFill>
            <a:prstDash val="solid"/>
          </a:ln>
        </p:spPr>
        <p:txBody>
          <a:bodyPr/>
          <a:lstStyle/>
          <a:p>
            <a:endParaRPr lang="es-ES"/>
          </a:p>
        </p:txBody>
      </p:sp>
      <p:sp>
        <p:nvSpPr>
          <p:cNvPr id="404" name="Text 402"/>
          <p:cNvSpPr/>
          <p:nvPr/>
        </p:nvSpPr>
        <p:spPr>
          <a:xfrm>
            <a:off x="8529066" y="4197096"/>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Caché Transacciones en Vuelo</a:t>
            </a:r>
            <a:endParaRPr lang="en-US" sz="380" dirty="0"/>
          </a:p>
        </p:txBody>
      </p:sp>
      <p:sp>
        <p:nvSpPr>
          <p:cNvPr id="405" name="Shape 403"/>
          <p:cNvSpPr/>
          <p:nvPr/>
        </p:nvSpPr>
        <p:spPr>
          <a:xfrm>
            <a:off x="8529066" y="4325874"/>
            <a:ext cx="2434590" cy="124206"/>
          </a:xfrm>
          <a:prstGeom prst="rect">
            <a:avLst/>
          </a:prstGeom>
          <a:solidFill>
            <a:srgbClr val="FFFFFF"/>
          </a:solidFill>
          <a:ln w="3810">
            <a:solidFill>
              <a:srgbClr val="BE82FF"/>
            </a:solidFill>
            <a:prstDash val="solid"/>
          </a:ln>
        </p:spPr>
        <p:txBody>
          <a:bodyPr/>
          <a:lstStyle/>
          <a:p>
            <a:endParaRPr lang="es-ES"/>
          </a:p>
        </p:txBody>
      </p:sp>
      <p:sp>
        <p:nvSpPr>
          <p:cNvPr id="406" name="Text 404"/>
          <p:cNvSpPr/>
          <p:nvPr/>
        </p:nvSpPr>
        <p:spPr>
          <a:xfrm>
            <a:off x="8529066" y="4325874"/>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Lectura de Baja Latencia</a:t>
            </a:r>
            <a:endParaRPr lang="en-US" sz="380" dirty="0"/>
          </a:p>
        </p:txBody>
      </p:sp>
      <p:sp>
        <p:nvSpPr>
          <p:cNvPr id="407" name="Shape 405"/>
          <p:cNvSpPr/>
          <p:nvPr/>
        </p:nvSpPr>
        <p:spPr>
          <a:xfrm>
            <a:off x="8529066" y="4454652"/>
            <a:ext cx="2434590" cy="124206"/>
          </a:xfrm>
          <a:prstGeom prst="rect">
            <a:avLst/>
          </a:prstGeom>
          <a:solidFill>
            <a:srgbClr val="FFFFFF"/>
          </a:solidFill>
          <a:ln w="3810">
            <a:solidFill>
              <a:srgbClr val="BE82FF"/>
            </a:solidFill>
            <a:prstDash val="solid"/>
          </a:ln>
        </p:spPr>
        <p:txBody>
          <a:bodyPr/>
          <a:lstStyle/>
          <a:p>
            <a:endParaRPr lang="es-ES"/>
          </a:p>
        </p:txBody>
      </p:sp>
      <p:sp>
        <p:nvSpPr>
          <p:cNvPr id="408" name="Text 406"/>
          <p:cNvSpPr/>
          <p:nvPr/>
        </p:nvSpPr>
        <p:spPr>
          <a:xfrm>
            <a:off x="8529066" y="4454652"/>
            <a:ext cx="2434590"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Consistencia de Lectura</a:t>
            </a:r>
            <a:endParaRPr lang="en-US" sz="380" dirty="0"/>
          </a:p>
        </p:txBody>
      </p:sp>
      <p:sp>
        <p:nvSpPr>
          <p:cNvPr id="409" name="Shape 407"/>
          <p:cNvSpPr/>
          <p:nvPr/>
        </p:nvSpPr>
        <p:spPr>
          <a:xfrm>
            <a:off x="1152144" y="4620006"/>
            <a:ext cx="9848088" cy="633222"/>
          </a:xfrm>
          <a:prstGeom prst="rect">
            <a:avLst/>
          </a:prstGeom>
          <a:solidFill>
            <a:srgbClr val="FFF4E0"/>
          </a:solidFill>
          <a:ln w="12700">
            <a:solidFill>
              <a:srgbClr val="FF8C00"/>
            </a:solidFill>
            <a:prstDash val="solid"/>
          </a:ln>
        </p:spPr>
        <p:txBody>
          <a:bodyPr/>
          <a:lstStyle/>
          <a:p>
            <a:endParaRPr lang="es-ES"/>
          </a:p>
        </p:txBody>
      </p:sp>
      <p:sp>
        <p:nvSpPr>
          <p:cNvPr id="410" name="Shape 408"/>
          <p:cNvSpPr/>
          <p:nvPr/>
        </p:nvSpPr>
        <p:spPr>
          <a:xfrm>
            <a:off x="1152144" y="4620006"/>
            <a:ext cx="9848088" cy="118872"/>
          </a:xfrm>
          <a:prstGeom prst="rect">
            <a:avLst/>
          </a:prstGeom>
          <a:solidFill>
            <a:srgbClr val="FF6600"/>
          </a:solidFill>
          <a:ln w="12700">
            <a:solidFill>
              <a:srgbClr val="FF6600"/>
            </a:solidFill>
            <a:prstDash val="solid"/>
          </a:ln>
        </p:spPr>
        <p:txBody>
          <a:bodyPr/>
          <a:lstStyle/>
          <a:p>
            <a:endParaRPr lang="es-ES"/>
          </a:p>
        </p:txBody>
      </p:sp>
      <p:sp>
        <p:nvSpPr>
          <p:cNvPr id="411" name="Text 409"/>
          <p:cNvSpPr/>
          <p:nvPr/>
        </p:nvSpPr>
        <p:spPr>
          <a:xfrm>
            <a:off x="1188720" y="4620006"/>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Entrega de Datos</a:t>
            </a:r>
            <a:endParaRPr lang="en-US" sz="550" dirty="0"/>
          </a:p>
        </p:txBody>
      </p:sp>
      <p:sp>
        <p:nvSpPr>
          <p:cNvPr id="412" name="Shape 410"/>
          <p:cNvSpPr/>
          <p:nvPr/>
        </p:nvSpPr>
        <p:spPr>
          <a:xfrm>
            <a:off x="10771632" y="4629150"/>
            <a:ext cx="201168" cy="100584"/>
          </a:xfrm>
          <a:prstGeom prst="roundRect">
            <a:avLst>
              <a:gd name="adj" fmla="val 27273"/>
            </a:avLst>
          </a:prstGeom>
          <a:solidFill>
            <a:srgbClr val="FF8C00"/>
          </a:solidFill>
          <a:ln w="12700">
            <a:solidFill>
              <a:srgbClr val="FF8C00"/>
            </a:solidFill>
            <a:prstDash val="solid"/>
          </a:ln>
        </p:spPr>
        <p:txBody>
          <a:bodyPr/>
          <a:lstStyle/>
          <a:p>
            <a:endParaRPr lang="es-ES"/>
          </a:p>
        </p:txBody>
      </p:sp>
      <p:sp>
        <p:nvSpPr>
          <p:cNvPr id="413" name="Text 411"/>
          <p:cNvSpPr/>
          <p:nvPr/>
        </p:nvSpPr>
        <p:spPr>
          <a:xfrm>
            <a:off x="10771632" y="4629150"/>
            <a:ext cx="201168"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14" name="Shape 412"/>
          <p:cNvSpPr/>
          <p:nvPr/>
        </p:nvSpPr>
        <p:spPr>
          <a:xfrm>
            <a:off x="1170432"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15" name="Text 413"/>
          <p:cNvSpPr/>
          <p:nvPr/>
        </p:nvSpPr>
        <p:spPr>
          <a:xfrm>
            <a:off x="1170432"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16" name="Shape 414"/>
          <p:cNvSpPr/>
          <p:nvPr/>
        </p:nvSpPr>
        <p:spPr>
          <a:xfrm>
            <a:off x="1170432" y="4857750"/>
            <a:ext cx="2434590" cy="64008"/>
          </a:xfrm>
          <a:prstGeom prst="rect">
            <a:avLst/>
          </a:prstGeom>
          <a:solidFill>
            <a:srgbClr val="FFD580"/>
          </a:solidFill>
          <a:ln w="7620">
            <a:solidFill>
              <a:srgbClr val="FF8C00"/>
            </a:solidFill>
            <a:prstDash val="solid"/>
          </a:ln>
        </p:spPr>
        <p:txBody>
          <a:bodyPr/>
          <a:lstStyle/>
          <a:p>
            <a:endParaRPr lang="es-ES"/>
          </a:p>
        </p:txBody>
      </p:sp>
      <p:sp>
        <p:nvSpPr>
          <p:cNvPr id="417" name="Text 415"/>
          <p:cNvSpPr/>
          <p:nvPr/>
        </p:nvSpPr>
        <p:spPr>
          <a:xfrm>
            <a:off x="1170432" y="4857750"/>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Catálogo e Inventario</a:t>
            </a:r>
            <a:endParaRPr lang="en-US" sz="380" dirty="0"/>
          </a:p>
        </p:txBody>
      </p:sp>
      <p:sp>
        <p:nvSpPr>
          <p:cNvPr id="418" name="Shape 416"/>
          <p:cNvSpPr/>
          <p:nvPr/>
        </p:nvSpPr>
        <p:spPr>
          <a:xfrm>
            <a:off x="1170432" y="4922139"/>
            <a:ext cx="2434590" cy="64008"/>
          </a:xfrm>
          <a:prstGeom prst="rect">
            <a:avLst/>
          </a:prstGeom>
          <a:solidFill>
            <a:srgbClr val="FFD580"/>
          </a:solidFill>
          <a:ln w="7620">
            <a:solidFill>
              <a:srgbClr val="FF8C00"/>
            </a:solidFill>
            <a:prstDash val="solid"/>
          </a:ln>
        </p:spPr>
        <p:txBody>
          <a:bodyPr/>
          <a:lstStyle/>
          <a:p>
            <a:endParaRPr lang="es-ES"/>
          </a:p>
        </p:txBody>
      </p:sp>
      <p:sp>
        <p:nvSpPr>
          <p:cNvPr id="419" name="Text 417"/>
          <p:cNvSpPr/>
          <p:nvPr/>
        </p:nvSpPr>
        <p:spPr>
          <a:xfrm>
            <a:off x="1170432" y="4922139"/>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Gestión Metadatos</a:t>
            </a:r>
            <a:endParaRPr lang="en-US" sz="380" dirty="0"/>
          </a:p>
        </p:txBody>
      </p:sp>
      <p:sp>
        <p:nvSpPr>
          <p:cNvPr id="420" name="Shape 418"/>
          <p:cNvSpPr/>
          <p:nvPr/>
        </p:nvSpPr>
        <p:spPr>
          <a:xfrm>
            <a:off x="1170432" y="4986528"/>
            <a:ext cx="2434590" cy="64008"/>
          </a:xfrm>
          <a:prstGeom prst="rect">
            <a:avLst/>
          </a:prstGeom>
          <a:solidFill>
            <a:srgbClr val="FFD580"/>
          </a:solidFill>
          <a:ln w="7620">
            <a:solidFill>
              <a:srgbClr val="FF8C00"/>
            </a:solidFill>
            <a:prstDash val="solid"/>
          </a:ln>
        </p:spPr>
        <p:txBody>
          <a:bodyPr/>
          <a:lstStyle/>
          <a:p>
            <a:endParaRPr lang="es-ES"/>
          </a:p>
        </p:txBody>
      </p:sp>
      <p:sp>
        <p:nvSpPr>
          <p:cNvPr id="421" name="Text 419"/>
          <p:cNvSpPr/>
          <p:nvPr/>
        </p:nvSpPr>
        <p:spPr>
          <a:xfrm>
            <a:off x="1170432" y="4986528"/>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Linaje de Datos</a:t>
            </a:r>
            <a:endParaRPr lang="en-US" sz="380" dirty="0"/>
          </a:p>
        </p:txBody>
      </p:sp>
      <p:sp>
        <p:nvSpPr>
          <p:cNvPr id="422" name="Shape 420"/>
          <p:cNvSpPr/>
          <p:nvPr/>
        </p:nvSpPr>
        <p:spPr>
          <a:xfrm>
            <a:off x="1170432" y="5050917"/>
            <a:ext cx="2434590" cy="64008"/>
          </a:xfrm>
          <a:prstGeom prst="rect">
            <a:avLst/>
          </a:prstGeom>
          <a:solidFill>
            <a:srgbClr val="FFD580"/>
          </a:solidFill>
          <a:ln w="7620">
            <a:solidFill>
              <a:srgbClr val="FF8C00"/>
            </a:solidFill>
            <a:prstDash val="solid"/>
          </a:ln>
        </p:spPr>
        <p:txBody>
          <a:bodyPr/>
          <a:lstStyle/>
          <a:p>
            <a:endParaRPr lang="es-ES"/>
          </a:p>
        </p:txBody>
      </p:sp>
      <p:sp>
        <p:nvSpPr>
          <p:cNvPr id="423" name="Text 421"/>
          <p:cNvSpPr/>
          <p:nvPr/>
        </p:nvSpPr>
        <p:spPr>
          <a:xfrm>
            <a:off x="1170432" y="5050917"/>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Grafo Conocimiento/Enriq.</a:t>
            </a:r>
            <a:endParaRPr lang="en-US" sz="380" dirty="0"/>
          </a:p>
        </p:txBody>
      </p:sp>
      <p:sp>
        <p:nvSpPr>
          <p:cNvPr id="424" name="Shape 422"/>
          <p:cNvSpPr/>
          <p:nvPr/>
        </p:nvSpPr>
        <p:spPr>
          <a:xfrm>
            <a:off x="1170432" y="5115306"/>
            <a:ext cx="2434590" cy="64008"/>
          </a:xfrm>
          <a:prstGeom prst="rect">
            <a:avLst/>
          </a:prstGeom>
          <a:solidFill>
            <a:srgbClr val="FFD580"/>
          </a:solidFill>
          <a:ln w="7620">
            <a:solidFill>
              <a:srgbClr val="FF8C00"/>
            </a:solidFill>
            <a:prstDash val="solid"/>
          </a:ln>
        </p:spPr>
        <p:txBody>
          <a:bodyPr/>
          <a:lstStyle/>
          <a:p>
            <a:endParaRPr lang="es-ES"/>
          </a:p>
        </p:txBody>
      </p:sp>
      <p:sp>
        <p:nvSpPr>
          <p:cNvPr id="425" name="Text 423"/>
          <p:cNvSpPr/>
          <p:nvPr/>
        </p:nvSpPr>
        <p:spPr>
          <a:xfrm>
            <a:off x="1170432" y="5115306"/>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Perfilado y Calidad</a:t>
            </a:r>
            <a:endParaRPr lang="en-US" sz="380" dirty="0"/>
          </a:p>
        </p:txBody>
      </p:sp>
      <p:sp>
        <p:nvSpPr>
          <p:cNvPr id="426" name="Shape 424"/>
          <p:cNvSpPr/>
          <p:nvPr/>
        </p:nvSpPr>
        <p:spPr>
          <a:xfrm>
            <a:off x="1170432" y="5179695"/>
            <a:ext cx="2434590" cy="64008"/>
          </a:xfrm>
          <a:prstGeom prst="rect">
            <a:avLst/>
          </a:prstGeom>
          <a:solidFill>
            <a:srgbClr val="FFD580"/>
          </a:solidFill>
          <a:ln w="7620">
            <a:solidFill>
              <a:srgbClr val="FF8C00"/>
            </a:solidFill>
            <a:prstDash val="solid"/>
          </a:ln>
        </p:spPr>
        <p:txBody>
          <a:bodyPr/>
          <a:lstStyle/>
          <a:p>
            <a:endParaRPr lang="es-ES"/>
          </a:p>
        </p:txBody>
      </p:sp>
      <p:sp>
        <p:nvSpPr>
          <p:cNvPr id="427" name="Text 425"/>
          <p:cNvSpPr/>
          <p:nvPr/>
        </p:nvSpPr>
        <p:spPr>
          <a:xfrm>
            <a:off x="1170432" y="5179695"/>
            <a:ext cx="2434590" cy="64008"/>
          </a:xfrm>
          <a:prstGeom prst="rect">
            <a:avLst/>
          </a:prstGeom>
          <a:noFill/>
          <a:ln/>
        </p:spPr>
        <p:txBody>
          <a:bodyPr wrap="square" lIns="6350" tIns="6350" rIns="6350" bIns="6350" rtlCol="0" anchor="ctr"/>
          <a:lstStyle/>
          <a:p>
            <a:pPr marL="0" indent="0" algn="ctr">
              <a:buNone/>
            </a:pPr>
            <a:r>
              <a:rPr lang="en-US" sz="380" b="1" dirty="0">
                <a:solidFill>
                  <a:srgbClr val="3D1D00"/>
                </a:solidFill>
              </a:rPr>
              <a:t>Gobernanza, Acceso y Privacidad</a:t>
            </a:r>
            <a:endParaRPr lang="en-US" sz="380" dirty="0"/>
          </a:p>
        </p:txBody>
      </p:sp>
      <p:sp>
        <p:nvSpPr>
          <p:cNvPr id="428" name="Shape 426"/>
          <p:cNvSpPr/>
          <p:nvPr/>
        </p:nvSpPr>
        <p:spPr>
          <a:xfrm>
            <a:off x="3623310"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29" name="Text 427"/>
          <p:cNvSpPr/>
          <p:nvPr/>
        </p:nvSpPr>
        <p:spPr>
          <a:xfrm>
            <a:off x="3623310"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30" name="Shape 428"/>
          <p:cNvSpPr/>
          <p:nvPr/>
        </p:nvSpPr>
        <p:spPr>
          <a:xfrm>
            <a:off x="3623310" y="4857750"/>
            <a:ext cx="2434590" cy="72695"/>
          </a:xfrm>
          <a:prstGeom prst="rect">
            <a:avLst/>
          </a:prstGeom>
          <a:solidFill>
            <a:srgbClr val="FFD580"/>
          </a:solidFill>
          <a:ln w="7620">
            <a:solidFill>
              <a:srgbClr val="FF8C00"/>
            </a:solidFill>
            <a:prstDash val="solid"/>
          </a:ln>
        </p:spPr>
        <p:txBody>
          <a:bodyPr/>
          <a:lstStyle/>
          <a:p>
            <a:endParaRPr lang="es-ES"/>
          </a:p>
        </p:txBody>
      </p:sp>
      <p:sp>
        <p:nvSpPr>
          <p:cNvPr id="431" name="Text 429"/>
          <p:cNvSpPr/>
          <p:nvPr/>
        </p:nvSpPr>
        <p:spPr>
          <a:xfrm>
            <a:off x="3623310" y="4857750"/>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Integración Datos por Lotes</a:t>
            </a:r>
            <a:endParaRPr lang="en-US" sz="380" dirty="0"/>
          </a:p>
        </p:txBody>
      </p:sp>
      <p:sp>
        <p:nvSpPr>
          <p:cNvPr id="432" name="Shape 430"/>
          <p:cNvSpPr/>
          <p:nvPr/>
        </p:nvSpPr>
        <p:spPr>
          <a:xfrm>
            <a:off x="3623310" y="4935017"/>
            <a:ext cx="2434590" cy="72695"/>
          </a:xfrm>
          <a:prstGeom prst="rect">
            <a:avLst/>
          </a:prstGeom>
          <a:solidFill>
            <a:srgbClr val="FFD580"/>
          </a:solidFill>
          <a:ln w="7620">
            <a:solidFill>
              <a:srgbClr val="FF8C00"/>
            </a:solidFill>
            <a:prstDash val="solid"/>
          </a:ln>
        </p:spPr>
        <p:txBody>
          <a:bodyPr/>
          <a:lstStyle/>
          <a:p>
            <a:endParaRPr lang="es-ES"/>
          </a:p>
        </p:txBody>
      </p:sp>
      <p:sp>
        <p:nvSpPr>
          <p:cNvPr id="433" name="Text 431"/>
          <p:cNvSpPr/>
          <p:nvPr/>
        </p:nvSpPr>
        <p:spPr>
          <a:xfrm>
            <a:off x="3623310" y="4935017"/>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Integración Datos en Stream</a:t>
            </a:r>
            <a:endParaRPr lang="en-US" sz="380" dirty="0"/>
          </a:p>
        </p:txBody>
      </p:sp>
      <p:sp>
        <p:nvSpPr>
          <p:cNvPr id="434" name="Shape 432"/>
          <p:cNvSpPr/>
          <p:nvPr/>
        </p:nvSpPr>
        <p:spPr>
          <a:xfrm>
            <a:off x="3623310" y="5012284"/>
            <a:ext cx="2434590" cy="72695"/>
          </a:xfrm>
          <a:prstGeom prst="rect">
            <a:avLst/>
          </a:prstGeom>
          <a:solidFill>
            <a:srgbClr val="FFD580"/>
          </a:solidFill>
          <a:ln w="7620">
            <a:solidFill>
              <a:srgbClr val="FF8C00"/>
            </a:solidFill>
            <a:prstDash val="solid"/>
          </a:ln>
        </p:spPr>
        <p:txBody>
          <a:bodyPr/>
          <a:lstStyle/>
          <a:p>
            <a:endParaRPr lang="es-ES"/>
          </a:p>
        </p:txBody>
      </p:sp>
      <p:sp>
        <p:nvSpPr>
          <p:cNvPr id="435" name="Text 433"/>
          <p:cNvSpPr/>
          <p:nvPr/>
        </p:nvSpPr>
        <p:spPr>
          <a:xfrm>
            <a:off x="3623310" y="5012284"/>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Replicación de Datos</a:t>
            </a:r>
            <a:endParaRPr lang="en-US" sz="380" dirty="0"/>
          </a:p>
        </p:txBody>
      </p:sp>
      <p:sp>
        <p:nvSpPr>
          <p:cNvPr id="436" name="Shape 434"/>
          <p:cNvSpPr/>
          <p:nvPr/>
        </p:nvSpPr>
        <p:spPr>
          <a:xfrm>
            <a:off x="3623310" y="5089550"/>
            <a:ext cx="2434590" cy="72695"/>
          </a:xfrm>
          <a:prstGeom prst="rect">
            <a:avLst/>
          </a:prstGeom>
          <a:solidFill>
            <a:srgbClr val="FFD580"/>
          </a:solidFill>
          <a:ln w="7620">
            <a:solidFill>
              <a:srgbClr val="FF8C00"/>
            </a:solidFill>
            <a:prstDash val="solid"/>
          </a:ln>
        </p:spPr>
        <p:txBody>
          <a:bodyPr/>
          <a:lstStyle/>
          <a:p>
            <a:endParaRPr lang="es-ES"/>
          </a:p>
        </p:txBody>
      </p:sp>
      <p:sp>
        <p:nvSpPr>
          <p:cNvPr id="437" name="Text 435"/>
          <p:cNvSpPr/>
          <p:nvPr/>
        </p:nvSpPr>
        <p:spPr>
          <a:xfrm>
            <a:off x="3623310" y="5089550"/>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Virtualización de Datos</a:t>
            </a:r>
            <a:endParaRPr lang="en-US" sz="380" dirty="0"/>
          </a:p>
        </p:txBody>
      </p:sp>
      <p:sp>
        <p:nvSpPr>
          <p:cNvPr id="438" name="Shape 436"/>
          <p:cNvSpPr/>
          <p:nvPr/>
        </p:nvSpPr>
        <p:spPr>
          <a:xfrm>
            <a:off x="3623310" y="5166817"/>
            <a:ext cx="2434590" cy="72695"/>
          </a:xfrm>
          <a:prstGeom prst="rect">
            <a:avLst/>
          </a:prstGeom>
          <a:solidFill>
            <a:srgbClr val="FFD580"/>
          </a:solidFill>
          <a:ln w="7620">
            <a:solidFill>
              <a:srgbClr val="FF8C00"/>
            </a:solidFill>
            <a:prstDash val="solid"/>
          </a:ln>
        </p:spPr>
        <p:txBody>
          <a:bodyPr/>
          <a:lstStyle/>
          <a:p>
            <a:endParaRPr lang="es-ES"/>
          </a:p>
        </p:txBody>
      </p:sp>
      <p:sp>
        <p:nvSpPr>
          <p:cNvPr id="439" name="Text 437"/>
          <p:cNvSpPr/>
          <p:nvPr/>
        </p:nvSpPr>
        <p:spPr>
          <a:xfrm>
            <a:off x="3623310" y="5166817"/>
            <a:ext cx="2434590" cy="72695"/>
          </a:xfrm>
          <a:prstGeom prst="rect">
            <a:avLst/>
          </a:prstGeom>
          <a:noFill/>
          <a:ln/>
        </p:spPr>
        <p:txBody>
          <a:bodyPr wrap="square" lIns="6350" tIns="6350" rIns="6350" bIns="6350" rtlCol="0" anchor="ctr"/>
          <a:lstStyle/>
          <a:p>
            <a:pPr marL="0" indent="0" algn="ctr">
              <a:buNone/>
            </a:pPr>
            <a:r>
              <a:rPr lang="en-US" sz="380" b="1" dirty="0">
                <a:solidFill>
                  <a:srgbClr val="3D1D00"/>
                </a:solidFill>
              </a:rPr>
              <a:t>Orquestación y Monitoriz. Pipelines</a:t>
            </a:r>
            <a:endParaRPr lang="en-US" sz="380" dirty="0"/>
          </a:p>
        </p:txBody>
      </p:sp>
      <p:sp>
        <p:nvSpPr>
          <p:cNvPr id="440" name="Shape 438"/>
          <p:cNvSpPr/>
          <p:nvPr/>
        </p:nvSpPr>
        <p:spPr>
          <a:xfrm>
            <a:off x="6076188"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41" name="Text 439"/>
          <p:cNvSpPr/>
          <p:nvPr/>
        </p:nvSpPr>
        <p:spPr>
          <a:xfrm>
            <a:off x="6076188"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42" name="Shape 440"/>
          <p:cNvSpPr/>
          <p:nvPr/>
        </p:nvSpPr>
        <p:spPr>
          <a:xfrm>
            <a:off x="6076188" y="4857750"/>
            <a:ext cx="2434590" cy="92011"/>
          </a:xfrm>
          <a:prstGeom prst="rect">
            <a:avLst/>
          </a:prstGeom>
          <a:solidFill>
            <a:srgbClr val="FFD580"/>
          </a:solidFill>
          <a:ln w="7620">
            <a:solidFill>
              <a:srgbClr val="FF8C00"/>
            </a:solidFill>
            <a:prstDash val="solid"/>
          </a:ln>
        </p:spPr>
        <p:txBody>
          <a:bodyPr/>
          <a:lstStyle/>
          <a:p>
            <a:endParaRPr lang="es-ES"/>
          </a:p>
        </p:txBody>
      </p:sp>
      <p:sp>
        <p:nvSpPr>
          <p:cNvPr id="443" name="Text 441"/>
          <p:cNvSpPr/>
          <p:nvPr/>
        </p:nvSpPr>
        <p:spPr>
          <a:xfrm>
            <a:off x="6076188" y="4857750"/>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Modelo Canónico/Unificado</a:t>
            </a:r>
            <a:endParaRPr lang="en-US" sz="380" dirty="0"/>
          </a:p>
        </p:txBody>
      </p:sp>
      <p:sp>
        <p:nvSpPr>
          <p:cNvPr id="444" name="Shape 442"/>
          <p:cNvSpPr/>
          <p:nvPr/>
        </p:nvSpPr>
        <p:spPr>
          <a:xfrm>
            <a:off x="6076188" y="4954334"/>
            <a:ext cx="2434590" cy="92011"/>
          </a:xfrm>
          <a:prstGeom prst="rect">
            <a:avLst/>
          </a:prstGeom>
          <a:solidFill>
            <a:srgbClr val="FFD580"/>
          </a:solidFill>
          <a:ln w="7620">
            <a:solidFill>
              <a:srgbClr val="FF8C00"/>
            </a:solidFill>
            <a:prstDash val="solid"/>
          </a:ln>
        </p:spPr>
        <p:txBody>
          <a:bodyPr/>
          <a:lstStyle/>
          <a:p>
            <a:endParaRPr lang="es-ES"/>
          </a:p>
        </p:txBody>
      </p:sp>
      <p:sp>
        <p:nvSpPr>
          <p:cNvPr id="445" name="Text 443"/>
          <p:cNvSpPr/>
          <p:nvPr/>
        </p:nvSpPr>
        <p:spPr>
          <a:xfrm>
            <a:off x="6076188" y="4954334"/>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Consolid. Cross-Core Tiempo Real</a:t>
            </a:r>
            <a:endParaRPr lang="en-US" sz="380" dirty="0"/>
          </a:p>
        </p:txBody>
      </p:sp>
      <p:sp>
        <p:nvSpPr>
          <p:cNvPr id="446" name="Shape 444"/>
          <p:cNvSpPr/>
          <p:nvPr/>
        </p:nvSpPr>
        <p:spPr>
          <a:xfrm>
            <a:off x="6076188" y="5050917"/>
            <a:ext cx="2434590" cy="92011"/>
          </a:xfrm>
          <a:prstGeom prst="rect">
            <a:avLst/>
          </a:prstGeom>
          <a:solidFill>
            <a:srgbClr val="FFD580"/>
          </a:solidFill>
          <a:ln w="7620">
            <a:solidFill>
              <a:srgbClr val="FF8C00"/>
            </a:solidFill>
            <a:prstDash val="solid"/>
          </a:ln>
        </p:spPr>
        <p:txBody>
          <a:bodyPr/>
          <a:lstStyle/>
          <a:p>
            <a:endParaRPr lang="es-ES"/>
          </a:p>
        </p:txBody>
      </p:sp>
      <p:sp>
        <p:nvSpPr>
          <p:cNvPr id="447" name="Text 445"/>
          <p:cNvSpPr/>
          <p:nvPr/>
        </p:nvSpPr>
        <p:spPr>
          <a:xfrm>
            <a:off x="6076188" y="5050917"/>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Motor Entrega Multi-Velocidad</a:t>
            </a:r>
            <a:endParaRPr lang="en-US" sz="380" dirty="0"/>
          </a:p>
        </p:txBody>
      </p:sp>
      <p:sp>
        <p:nvSpPr>
          <p:cNvPr id="448" name="Shape 446"/>
          <p:cNvSpPr/>
          <p:nvPr/>
        </p:nvSpPr>
        <p:spPr>
          <a:xfrm>
            <a:off x="6076188" y="5147501"/>
            <a:ext cx="2434590" cy="92011"/>
          </a:xfrm>
          <a:prstGeom prst="rect">
            <a:avLst/>
          </a:prstGeom>
          <a:solidFill>
            <a:srgbClr val="FFD580"/>
          </a:solidFill>
          <a:ln w="7620">
            <a:solidFill>
              <a:srgbClr val="FF8C00"/>
            </a:solidFill>
            <a:prstDash val="solid"/>
          </a:ln>
        </p:spPr>
        <p:txBody>
          <a:bodyPr/>
          <a:lstStyle/>
          <a:p>
            <a:endParaRPr lang="es-ES"/>
          </a:p>
        </p:txBody>
      </p:sp>
      <p:sp>
        <p:nvSpPr>
          <p:cNvPr id="449" name="Text 447"/>
          <p:cNvSpPr/>
          <p:nvPr/>
        </p:nvSpPr>
        <p:spPr>
          <a:xfrm>
            <a:off x="6076188" y="5147501"/>
            <a:ext cx="2434590" cy="92011"/>
          </a:xfrm>
          <a:prstGeom prst="rect">
            <a:avLst/>
          </a:prstGeom>
          <a:noFill/>
          <a:ln/>
        </p:spPr>
        <p:txBody>
          <a:bodyPr wrap="square" lIns="6350" tIns="6350" rIns="6350" bIns="6350" rtlCol="0" anchor="ctr"/>
          <a:lstStyle/>
          <a:p>
            <a:pPr marL="0" indent="0" algn="ctr">
              <a:buNone/>
            </a:pPr>
            <a:r>
              <a:rPr lang="en-US" sz="380" b="1" dirty="0">
                <a:solidFill>
                  <a:srgbClr val="3D1D00"/>
                </a:solidFill>
              </a:rPr>
              <a:t>ODS Serving y Control Acceso</a:t>
            </a:r>
            <a:endParaRPr lang="en-US" sz="380" dirty="0"/>
          </a:p>
        </p:txBody>
      </p:sp>
      <p:sp>
        <p:nvSpPr>
          <p:cNvPr id="450" name="Shape 448"/>
          <p:cNvSpPr/>
          <p:nvPr/>
        </p:nvSpPr>
        <p:spPr>
          <a:xfrm>
            <a:off x="8529066" y="4748022"/>
            <a:ext cx="2434590" cy="100584"/>
          </a:xfrm>
          <a:prstGeom prst="rect">
            <a:avLst/>
          </a:prstGeom>
          <a:solidFill>
            <a:srgbClr val="FF8C00"/>
          </a:solidFill>
          <a:ln w="9525">
            <a:solidFill>
              <a:srgbClr val="E05000"/>
            </a:solidFill>
            <a:prstDash val="solid"/>
          </a:ln>
        </p:spPr>
        <p:txBody>
          <a:bodyPr/>
          <a:lstStyle/>
          <a:p>
            <a:endParaRPr lang="es-ES"/>
          </a:p>
        </p:txBody>
      </p:sp>
      <p:sp>
        <p:nvSpPr>
          <p:cNvPr id="451" name="Text 449"/>
          <p:cNvSpPr/>
          <p:nvPr/>
        </p:nvSpPr>
        <p:spPr>
          <a:xfrm>
            <a:off x="8529066" y="4748022"/>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52" name="Shape 450"/>
          <p:cNvSpPr/>
          <p:nvPr/>
        </p:nvSpPr>
        <p:spPr>
          <a:xfrm>
            <a:off x="8529066" y="4857750"/>
            <a:ext cx="2434590" cy="124206"/>
          </a:xfrm>
          <a:prstGeom prst="rect">
            <a:avLst/>
          </a:prstGeom>
          <a:solidFill>
            <a:srgbClr val="FFD580"/>
          </a:solidFill>
          <a:ln w="7620">
            <a:solidFill>
              <a:srgbClr val="FF8C00"/>
            </a:solidFill>
            <a:prstDash val="solid"/>
          </a:ln>
        </p:spPr>
        <p:txBody>
          <a:bodyPr/>
          <a:lstStyle/>
          <a:p>
            <a:endParaRPr lang="es-ES"/>
          </a:p>
        </p:txBody>
      </p:sp>
      <p:sp>
        <p:nvSpPr>
          <p:cNvPr id="453" name="Text 451"/>
          <p:cNvSpPr/>
          <p:nvPr/>
        </p:nvSpPr>
        <p:spPr>
          <a:xfrm>
            <a:off x="8529066" y="4857750"/>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APIs de Datos</a:t>
            </a:r>
            <a:endParaRPr lang="en-US" sz="380" dirty="0"/>
          </a:p>
        </p:txBody>
      </p:sp>
      <p:sp>
        <p:nvSpPr>
          <p:cNvPr id="454" name="Shape 452"/>
          <p:cNvSpPr/>
          <p:nvPr/>
        </p:nvSpPr>
        <p:spPr>
          <a:xfrm>
            <a:off x="8529066" y="4986528"/>
            <a:ext cx="2434590" cy="124206"/>
          </a:xfrm>
          <a:prstGeom prst="rect">
            <a:avLst/>
          </a:prstGeom>
          <a:solidFill>
            <a:srgbClr val="FFD580"/>
          </a:solidFill>
          <a:ln w="7620">
            <a:solidFill>
              <a:srgbClr val="FF8C00"/>
            </a:solidFill>
            <a:prstDash val="solid"/>
          </a:ln>
        </p:spPr>
        <p:txBody>
          <a:bodyPr/>
          <a:lstStyle/>
          <a:p>
            <a:endParaRPr lang="es-ES"/>
          </a:p>
        </p:txBody>
      </p:sp>
      <p:sp>
        <p:nvSpPr>
          <p:cNvPr id="455" name="Text 453"/>
          <p:cNvSpPr/>
          <p:nvPr/>
        </p:nvSpPr>
        <p:spPr>
          <a:xfrm>
            <a:off x="8529066" y="4986528"/>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Feeds Analítica y Reportes</a:t>
            </a:r>
            <a:endParaRPr lang="en-US" sz="380" dirty="0"/>
          </a:p>
        </p:txBody>
      </p:sp>
      <p:sp>
        <p:nvSpPr>
          <p:cNvPr id="456" name="Shape 454"/>
          <p:cNvSpPr/>
          <p:nvPr/>
        </p:nvSpPr>
        <p:spPr>
          <a:xfrm>
            <a:off x="8529066" y="5115306"/>
            <a:ext cx="2434590" cy="124206"/>
          </a:xfrm>
          <a:prstGeom prst="rect">
            <a:avLst/>
          </a:prstGeom>
          <a:solidFill>
            <a:srgbClr val="FFD580"/>
          </a:solidFill>
          <a:ln w="7620">
            <a:solidFill>
              <a:srgbClr val="FF8C00"/>
            </a:solidFill>
            <a:prstDash val="solid"/>
          </a:ln>
        </p:spPr>
        <p:txBody>
          <a:bodyPr/>
          <a:lstStyle/>
          <a:p>
            <a:endParaRPr lang="es-ES"/>
          </a:p>
        </p:txBody>
      </p:sp>
      <p:sp>
        <p:nvSpPr>
          <p:cNvPr id="457" name="Text 455"/>
          <p:cNvSpPr/>
          <p:nvPr/>
        </p:nvSpPr>
        <p:spPr>
          <a:xfrm>
            <a:off x="8529066" y="5115306"/>
            <a:ext cx="2434590" cy="124206"/>
          </a:xfrm>
          <a:prstGeom prst="rect">
            <a:avLst/>
          </a:prstGeom>
          <a:noFill/>
          <a:ln/>
        </p:spPr>
        <p:txBody>
          <a:bodyPr wrap="square" lIns="6350" tIns="6350" rIns="6350" bIns="6350" rtlCol="0" anchor="ctr"/>
          <a:lstStyle/>
          <a:p>
            <a:pPr marL="0" indent="0" algn="ctr">
              <a:buNone/>
            </a:pPr>
            <a:r>
              <a:rPr lang="en-US" sz="380" b="1" dirty="0">
                <a:solidFill>
                  <a:srgbClr val="3D1D00"/>
                </a:solidFill>
              </a:rPr>
              <a:t>Aprovision. Datos Sandbox</a:t>
            </a:r>
            <a:endParaRPr lang="en-US" sz="380" dirty="0"/>
          </a:p>
        </p:txBody>
      </p:sp>
      <p:sp>
        <p:nvSpPr>
          <p:cNvPr id="458" name="Shape 456"/>
          <p:cNvSpPr/>
          <p:nvPr/>
        </p:nvSpPr>
        <p:spPr>
          <a:xfrm>
            <a:off x="1152144" y="5280660"/>
            <a:ext cx="9848088" cy="633222"/>
          </a:xfrm>
          <a:prstGeom prst="rect">
            <a:avLst/>
          </a:prstGeom>
          <a:solidFill>
            <a:srgbClr val="F0F8FF"/>
          </a:solidFill>
          <a:ln w="7620">
            <a:solidFill>
              <a:srgbClr val="7500C0"/>
            </a:solidFill>
            <a:prstDash val="solid"/>
          </a:ln>
        </p:spPr>
        <p:txBody>
          <a:bodyPr/>
          <a:lstStyle/>
          <a:p>
            <a:endParaRPr lang="es-ES"/>
          </a:p>
        </p:txBody>
      </p:sp>
      <p:sp>
        <p:nvSpPr>
          <p:cNvPr id="459" name="Shape 457"/>
          <p:cNvSpPr/>
          <p:nvPr/>
        </p:nvSpPr>
        <p:spPr>
          <a:xfrm>
            <a:off x="1152144" y="5280660"/>
            <a:ext cx="9848088" cy="118872"/>
          </a:xfrm>
          <a:prstGeom prst="rect">
            <a:avLst/>
          </a:prstGeom>
          <a:solidFill>
            <a:srgbClr val="7500C0"/>
          </a:solidFill>
          <a:ln w="12700">
            <a:solidFill>
              <a:srgbClr val="7500C0"/>
            </a:solidFill>
            <a:prstDash val="solid"/>
          </a:ln>
        </p:spPr>
        <p:txBody>
          <a:bodyPr/>
          <a:lstStyle/>
          <a:p>
            <a:endParaRPr lang="es-ES"/>
          </a:p>
        </p:txBody>
      </p:sp>
      <p:sp>
        <p:nvSpPr>
          <p:cNvPr id="460" name="Text 458"/>
          <p:cNvSpPr/>
          <p:nvPr/>
        </p:nvSpPr>
        <p:spPr>
          <a:xfrm>
            <a:off x="1188720" y="5280660"/>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Operaciones</a:t>
            </a:r>
            <a:endParaRPr lang="en-US" sz="550" dirty="0"/>
          </a:p>
        </p:txBody>
      </p:sp>
      <p:sp>
        <p:nvSpPr>
          <p:cNvPr id="461" name="Shape 459"/>
          <p:cNvSpPr/>
          <p:nvPr/>
        </p:nvSpPr>
        <p:spPr>
          <a:xfrm>
            <a:off x="1170432"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2" name="Text 460"/>
          <p:cNvSpPr/>
          <p:nvPr/>
        </p:nvSpPr>
        <p:spPr>
          <a:xfrm>
            <a:off x="1170432"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Operaciones de Folio</a:t>
            </a:r>
            <a:endParaRPr lang="en-US" sz="400" dirty="0"/>
          </a:p>
        </p:txBody>
      </p:sp>
      <p:sp>
        <p:nvSpPr>
          <p:cNvPr id="463" name="Shape 461"/>
          <p:cNvSpPr/>
          <p:nvPr/>
        </p:nvSpPr>
        <p:spPr>
          <a:xfrm>
            <a:off x="1170432"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64" name="Text 462"/>
          <p:cNvSpPr/>
          <p:nvPr/>
        </p:nvSpPr>
        <p:spPr>
          <a:xfrm>
            <a:off x="1170432"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Agrupación Referencias Negocio</a:t>
            </a:r>
            <a:endParaRPr lang="en-US" sz="380" dirty="0"/>
          </a:p>
        </p:txBody>
      </p:sp>
      <p:sp>
        <p:nvSpPr>
          <p:cNvPr id="465" name="Shape 463"/>
          <p:cNvSpPr/>
          <p:nvPr/>
        </p:nvSpPr>
        <p:spPr>
          <a:xfrm>
            <a:off x="1170432"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66" name="Text 464"/>
          <p:cNvSpPr/>
          <p:nvPr/>
        </p:nvSpPr>
        <p:spPr>
          <a:xfrm>
            <a:off x="1170432"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Consulta e Informes de Folio</a:t>
            </a:r>
            <a:endParaRPr lang="en-US" sz="380" dirty="0"/>
          </a:p>
        </p:txBody>
      </p:sp>
      <p:sp>
        <p:nvSpPr>
          <p:cNvPr id="467" name="Shape 465"/>
          <p:cNvSpPr/>
          <p:nvPr/>
        </p:nvSpPr>
        <p:spPr>
          <a:xfrm>
            <a:off x="3623310"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68" name="Text 466"/>
          <p:cNvSpPr/>
          <p:nvPr/>
        </p:nvSpPr>
        <p:spPr>
          <a:xfrm>
            <a:off x="3623310"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Gestión Feature Flags</a:t>
            </a:r>
            <a:endParaRPr lang="en-US" sz="400" dirty="0"/>
          </a:p>
        </p:txBody>
      </p:sp>
      <p:sp>
        <p:nvSpPr>
          <p:cNvPr id="469" name="Shape 467"/>
          <p:cNvSpPr/>
          <p:nvPr/>
        </p:nvSpPr>
        <p:spPr>
          <a:xfrm>
            <a:off x="3623310"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0" name="Text 468"/>
          <p:cNvSpPr/>
          <p:nvPr/>
        </p:nvSpPr>
        <p:spPr>
          <a:xfrm>
            <a:off x="3623310"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Config. Feature Toggles</a:t>
            </a:r>
            <a:endParaRPr lang="en-US" sz="380" dirty="0"/>
          </a:p>
        </p:txBody>
      </p:sp>
      <p:sp>
        <p:nvSpPr>
          <p:cNvPr id="471" name="Shape 469"/>
          <p:cNvSpPr/>
          <p:nvPr/>
        </p:nvSpPr>
        <p:spPr>
          <a:xfrm>
            <a:off x="3623310"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2" name="Text 470"/>
          <p:cNvSpPr/>
          <p:nvPr/>
        </p:nvSpPr>
        <p:spPr>
          <a:xfrm>
            <a:off x="3623310"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Exposición Progresiva y Rollback</a:t>
            </a:r>
            <a:endParaRPr lang="en-US" sz="380" dirty="0"/>
          </a:p>
        </p:txBody>
      </p:sp>
      <p:sp>
        <p:nvSpPr>
          <p:cNvPr id="473" name="Shape 471"/>
          <p:cNvSpPr/>
          <p:nvPr/>
        </p:nvSpPr>
        <p:spPr>
          <a:xfrm>
            <a:off x="6076188"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74" name="Text 472"/>
          <p:cNvSpPr/>
          <p:nvPr/>
        </p:nvSpPr>
        <p:spPr>
          <a:xfrm>
            <a:off x="6076188"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UUID Distrib. y Correlación</a:t>
            </a:r>
            <a:endParaRPr lang="en-US" sz="400" dirty="0"/>
          </a:p>
        </p:txBody>
      </p:sp>
      <p:sp>
        <p:nvSpPr>
          <p:cNvPr id="475" name="Shape 473"/>
          <p:cNvSpPr/>
          <p:nvPr/>
        </p:nvSpPr>
        <p:spPr>
          <a:xfrm>
            <a:off x="6076188"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76" name="Text 474"/>
          <p:cNvSpPr/>
          <p:nvPr/>
        </p:nvSpPr>
        <p:spPr>
          <a:xfrm>
            <a:off x="6076188"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Generación IDs Únicos</a:t>
            </a:r>
            <a:endParaRPr lang="en-US" sz="380" dirty="0"/>
          </a:p>
        </p:txBody>
      </p:sp>
      <p:sp>
        <p:nvSpPr>
          <p:cNvPr id="477" name="Shape 475"/>
          <p:cNvSpPr/>
          <p:nvPr/>
        </p:nvSpPr>
        <p:spPr>
          <a:xfrm>
            <a:off x="6076188"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78" name="Text 476"/>
          <p:cNvSpPr/>
          <p:nvPr/>
        </p:nvSpPr>
        <p:spPr>
          <a:xfrm>
            <a:off x="6076188"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Propagación IDs Correlación</a:t>
            </a:r>
            <a:endParaRPr lang="en-US" sz="380" dirty="0"/>
          </a:p>
        </p:txBody>
      </p:sp>
      <p:sp>
        <p:nvSpPr>
          <p:cNvPr id="479" name="Shape 477"/>
          <p:cNvSpPr/>
          <p:nvPr/>
        </p:nvSpPr>
        <p:spPr>
          <a:xfrm>
            <a:off x="8529066" y="5408676"/>
            <a:ext cx="2434590" cy="100584"/>
          </a:xfrm>
          <a:prstGeom prst="rect">
            <a:avLst/>
          </a:prstGeom>
          <a:solidFill>
            <a:srgbClr val="BE82FF"/>
          </a:solidFill>
          <a:ln w="6350">
            <a:solidFill>
              <a:srgbClr val="7500C0"/>
            </a:solidFill>
            <a:prstDash val="solid"/>
          </a:ln>
        </p:spPr>
        <p:txBody>
          <a:bodyPr/>
          <a:lstStyle/>
          <a:p>
            <a:endParaRPr lang="es-ES"/>
          </a:p>
        </p:txBody>
      </p:sp>
      <p:sp>
        <p:nvSpPr>
          <p:cNvPr id="480" name="Text 478"/>
          <p:cNvSpPr/>
          <p:nvPr/>
        </p:nvSpPr>
        <p:spPr>
          <a:xfrm>
            <a:off x="8529066" y="5408676"/>
            <a:ext cx="2434590"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Consolas Admin. Plataforma</a:t>
            </a:r>
            <a:endParaRPr lang="en-US" sz="400" dirty="0"/>
          </a:p>
        </p:txBody>
      </p:sp>
      <p:sp>
        <p:nvSpPr>
          <p:cNvPr id="481" name="Shape 479"/>
          <p:cNvSpPr/>
          <p:nvPr/>
        </p:nvSpPr>
        <p:spPr>
          <a:xfrm>
            <a:off x="8529066" y="5518404"/>
            <a:ext cx="2434590" cy="188595"/>
          </a:xfrm>
          <a:prstGeom prst="rect">
            <a:avLst/>
          </a:prstGeom>
          <a:solidFill>
            <a:srgbClr val="FFFFFF"/>
          </a:solidFill>
          <a:ln w="3810">
            <a:solidFill>
              <a:srgbClr val="BE82FF"/>
            </a:solidFill>
            <a:prstDash val="solid"/>
          </a:ln>
        </p:spPr>
        <p:txBody>
          <a:bodyPr/>
          <a:lstStyle/>
          <a:p>
            <a:endParaRPr lang="es-ES"/>
          </a:p>
        </p:txBody>
      </p:sp>
      <p:sp>
        <p:nvSpPr>
          <p:cNvPr id="482" name="Text 480"/>
          <p:cNvSpPr/>
          <p:nvPr/>
        </p:nvSpPr>
        <p:spPr>
          <a:xfrm>
            <a:off x="8529066" y="5518404"/>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Registro de Servicios</a:t>
            </a:r>
            <a:endParaRPr lang="en-US" sz="380" dirty="0"/>
          </a:p>
        </p:txBody>
      </p:sp>
      <p:sp>
        <p:nvSpPr>
          <p:cNvPr id="483" name="Shape 481"/>
          <p:cNvSpPr/>
          <p:nvPr/>
        </p:nvSpPr>
        <p:spPr>
          <a:xfrm>
            <a:off x="8529066" y="5711571"/>
            <a:ext cx="2434590" cy="188595"/>
          </a:xfrm>
          <a:prstGeom prst="rect">
            <a:avLst/>
          </a:prstGeom>
          <a:solidFill>
            <a:srgbClr val="FFFFFF"/>
          </a:solidFill>
          <a:ln w="3810">
            <a:solidFill>
              <a:srgbClr val="BE82FF"/>
            </a:solidFill>
            <a:prstDash val="solid"/>
          </a:ln>
        </p:spPr>
        <p:txBody>
          <a:bodyPr/>
          <a:lstStyle/>
          <a:p>
            <a:endParaRPr lang="es-ES"/>
          </a:p>
        </p:txBody>
      </p:sp>
      <p:sp>
        <p:nvSpPr>
          <p:cNvPr id="484" name="Text 482"/>
          <p:cNvSpPr/>
          <p:nvPr/>
        </p:nvSpPr>
        <p:spPr>
          <a:xfrm>
            <a:off x="8529066" y="5711571"/>
            <a:ext cx="2434590"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Admin. Configuración Runtime</a:t>
            </a:r>
            <a:endParaRPr lang="en-US" sz="380" dirty="0"/>
          </a:p>
        </p:txBody>
      </p:sp>
      <p:sp>
        <p:nvSpPr>
          <p:cNvPr id="485" name="Shape 483"/>
          <p:cNvSpPr/>
          <p:nvPr/>
        </p:nvSpPr>
        <p:spPr>
          <a:xfrm>
            <a:off x="1152144" y="5941314"/>
            <a:ext cx="9848088" cy="633222"/>
          </a:xfrm>
          <a:prstGeom prst="rect">
            <a:avLst/>
          </a:prstGeom>
          <a:solidFill>
            <a:srgbClr val="F0F8FF"/>
          </a:solidFill>
          <a:ln w="7620">
            <a:solidFill>
              <a:srgbClr val="7500C0"/>
            </a:solidFill>
            <a:prstDash val="solid"/>
          </a:ln>
        </p:spPr>
        <p:txBody>
          <a:bodyPr/>
          <a:lstStyle/>
          <a:p>
            <a:endParaRPr lang="es-ES"/>
          </a:p>
        </p:txBody>
      </p:sp>
      <p:sp>
        <p:nvSpPr>
          <p:cNvPr id="486" name="Shape 484"/>
          <p:cNvSpPr/>
          <p:nvPr/>
        </p:nvSpPr>
        <p:spPr>
          <a:xfrm>
            <a:off x="1152144" y="5941314"/>
            <a:ext cx="9848088" cy="118872"/>
          </a:xfrm>
          <a:prstGeom prst="rect">
            <a:avLst/>
          </a:prstGeom>
          <a:solidFill>
            <a:srgbClr val="7500C0"/>
          </a:solidFill>
          <a:ln w="12700">
            <a:solidFill>
              <a:srgbClr val="7500C0"/>
            </a:solidFill>
            <a:prstDash val="solid"/>
          </a:ln>
        </p:spPr>
        <p:txBody>
          <a:bodyPr/>
          <a:lstStyle/>
          <a:p>
            <a:endParaRPr lang="es-ES"/>
          </a:p>
        </p:txBody>
      </p:sp>
      <p:sp>
        <p:nvSpPr>
          <p:cNvPr id="487" name="Text 485"/>
          <p:cNvSpPr/>
          <p:nvPr/>
        </p:nvSpPr>
        <p:spPr>
          <a:xfrm>
            <a:off x="1188720" y="5941314"/>
            <a:ext cx="9610344" cy="118872"/>
          </a:xfrm>
          <a:prstGeom prst="rect">
            <a:avLst/>
          </a:prstGeom>
          <a:noFill/>
          <a:ln/>
        </p:spPr>
        <p:txBody>
          <a:bodyPr wrap="square" lIns="0" tIns="0" rIns="0" bIns="0" rtlCol="0" anchor="ctr"/>
          <a:lstStyle/>
          <a:p>
            <a:pPr marL="0" indent="0" algn="l">
              <a:buNone/>
            </a:pPr>
            <a:r>
              <a:rPr lang="en-US" sz="550" b="1" dirty="0">
                <a:solidFill>
                  <a:srgbClr val="FFFFFF"/>
                </a:solidFill>
              </a:rPr>
              <a:t>Servicios Empresariales Comunes</a:t>
            </a:r>
            <a:endParaRPr lang="en-US" sz="550" dirty="0"/>
          </a:p>
        </p:txBody>
      </p:sp>
      <p:sp>
        <p:nvSpPr>
          <p:cNvPr id="488" name="Shape 486"/>
          <p:cNvSpPr/>
          <p:nvPr/>
        </p:nvSpPr>
        <p:spPr>
          <a:xfrm>
            <a:off x="117043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89" name="Text 487"/>
          <p:cNvSpPr/>
          <p:nvPr/>
        </p:nvSpPr>
        <p:spPr>
          <a:xfrm>
            <a:off x="117043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Servicios Cliente y Parte</a:t>
            </a:r>
            <a:endParaRPr lang="en-US" sz="400" dirty="0"/>
          </a:p>
        </p:txBody>
      </p:sp>
      <p:sp>
        <p:nvSpPr>
          <p:cNvPr id="490" name="Shape 488"/>
          <p:cNvSpPr/>
          <p:nvPr/>
        </p:nvSpPr>
        <p:spPr>
          <a:xfrm>
            <a:off x="1170432" y="6179058"/>
            <a:ext cx="1616964" cy="188595"/>
          </a:xfrm>
          <a:prstGeom prst="rect">
            <a:avLst/>
          </a:prstGeom>
          <a:solidFill>
            <a:srgbClr val="FFD580"/>
          </a:solidFill>
          <a:ln w="7620">
            <a:solidFill>
              <a:srgbClr val="FF8C00"/>
            </a:solidFill>
            <a:prstDash val="solid"/>
          </a:ln>
        </p:spPr>
        <p:txBody>
          <a:bodyPr/>
          <a:lstStyle/>
          <a:p>
            <a:endParaRPr lang="es-ES"/>
          </a:p>
        </p:txBody>
      </p:sp>
      <p:sp>
        <p:nvSpPr>
          <p:cNvPr id="491" name="Text 489"/>
          <p:cNvSpPr/>
          <p:nvPr/>
        </p:nvSpPr>
        <p:spPr>
          <a:xfrm>
            <a:off x="1170432" y="6179058"/>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Servicios Datos de Cliente</a:t>
            </a:r>
            <a:endParaRPr lang="en-US" sz="380" dirty="0"/>
          </a:p>
        </p:txBody>
      </p:sp>
      <p:sp>
        <p:nvSpPr>
          <p:cNvPr id="492" name="Shape 490"/>
          <p:cNvSpPr/>
          <p:nvPr/>
        </p:nvSpPr>
        <p:spPr>
          <a:xfrm>
            <a:off x="1170432"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3" name="Text 491"/>
          <p:cNvSpPr/>
          <p:nvPr/>
        </p:nvSpPr>
        <p:spPr>
          <a:xfrm>
            <a:off x="1170432"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Relaciones entre Partes</a:t>
            </a:r>
            <a:endParaRPr lang="en-US" sz="380" dirty="0"/>
          </a:p>
        </p:txBody>
      </p:sp>
      <p:sp>
        <p:nvSpPr>
          <p:cNvPr id="494" name="Shape 492"/>
          <p:cNvSpPr/>
          <p:nvPr/>
        </p:nvSpPr>
        <p:spPr>
          <a:xfrm>
            <a:off x="2805684"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495" name="Text 493"/>
          <p:cNvSpPr/>
          <p:nvPr/>
        </p:nvSpPr>
        <p:spPr>
          <a:xfrm>
            <a:off x="2805684"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Producto y Precios</a:t>
            </a:r>
            <a:endParaRPr lang="en-US" sz="400" dirty="0"/>
          </a:p>
        </p:txBody>
      </p:sp>
      <p:sp>
        <p:nvSpPr>
          <p:cNvPr id="496" name="Shape 494"/>
          <p:cNvSpPr/>
          <p:nvPr/>
        </p:nvSpPr>
        <p:spPr>
          <a:xfrm>
            <a:off x="2805684"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497" name="Text 495"/>
          <p:cNvSpPr/>
          <p:nvPr/>
        </p:nvSpPr>
        <p:spPr>
          <a:xfrm>
            <a:off x="2805684"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Catálogo de Productos</a:t>
            </a:r>
            <a:endParaRPr lang="en-US" sz="380" dirty="0"/>
          </a:p>
        </p:txBody>
      </p:sp>
      <p:sp>
        <p:nvSpPr>
          <p:cNvPr id="498" name="Shape 496"/>
          <p:cNvSpPr/>
          <p:nvPr/>
        </p:nvSpPr>
        <p:spPr>
          <a:xfrm>
            <a:off x="2805684" y="6372225"/>
            <a:ext cx="1616964" cy="188595"/>
          </a:xfrm>
          <a:prstGeom prst="rect">
            <a:avLst/>
          </a:prstGeom>
          <a:solidFill>
            <a:srgbClr val="FFFFFF"/>
          </a:solidFill>
          <a:ln w="3810">
            <a:solidFill>
              <a:srgbClr val="BE82FF"/>
            </a:solidFill>
            <a:prstDash val="solid"/>
          </a:ln>
        </p:spPr>
        <p:txBody>
          <a:bodyPr/>
          <a:lstStyle/>
          <a:p>
            <a:endParaRPr lang="es-ES"/>
          </a:p>
        </p:txBody>
      </p:sp>
      <p:sp>
        <p:nvSpPr>
          <p:cNvPr id="499" name="Text 497"/>
          <p:cNvSpPr/>
          <p:nvPr/>
        </p:nvSpPr>
        <p:spPr>
          <a:xfrm>
            <a:off x="2805684" y="6372225"/>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Tarifas y Precios</a:t>
            </a:r>
            <a:endParaRPr lang="en-US" sz="380" dirty="0"/>
          </a:p>
        </p:txBody>
      </p:sp>
      <p:sp>
        <p:nvSpPr>
          <p:cNvPr id="500" name="Shape 498"/>
          <p:cNvSpPr/>
          <p:nvPr/>
        </p:nvSpPr>
        <p:spPr>
          <a:xfrm>
            <a:off x="4440936"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1" name="Text 499"/>
          <p:cNvSpPr/>
          <p:nvPr/>
        </p:nvSpPr>
        <p:spPr>
          <a:xfrm>
            <a:off x="4440936"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Límites y Riesgo</a:t>
            </a:r>
            <a:endParaRPr lang="en-US" sz="400" dirty="0"/>
          </a:p>
        </p:txBody>
      </p:sp>
      <p:sp>
        <p:nvSpPr>
          <p:cNvPr id="502" name="Shape 500"/>
          <p:cNvSpPr/>
          <p:nvPr/>
        </p:nvSpPr>
        <p:spPr>
          <a:xfrm>
            <a:off x="4440936"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03" name="Text 501"/>
          <p:cNvSpPr/>
          <p:nvPr/>
        </p:nvSpPr>
        <p:spPr>
          <a:xfrm>
            <a:off x="4440936"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Gestión de Límites</a:t>
            </a:r>
            <a:endParaRPr lang="en-US" sz="380" dirty="0"/>
          </a:p>
        </p:txBody>
      </p:sp>
      <p:sp>
        <p:nvSpPr>
          <p:cNvPr id="504" name="Shape 502"/>
          <p:cNvSpPr/>
          <p:nvPr/>
        </p:nvSpPr>
        <p:spPr>
          <a:xfrm>
            <a:off x="4440936"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05" name="Text 503"/>
          <p:cNvSpPr/>
          <p:nvPr/>
        </p:nvSpPr>
        <p:spPr>
          <a:xfrm>
            <a:off x="4440936"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Servicios Scoring de Riesgo</a:t>
            </a:r>
            <a:endParaRPr lang="en-US" sz="380" dirty="0"/>
          </a:p>
        </p:txBody>
      </p:sp>
      <p:sp>
        <p:nvSpPr>
          <p:cNvPr id="506" name="Shape 504"/>
          <p:cNvSpPr/>
          <p:nvPr/>
        </p:nvSpPr>
        <p:spPr>
          <a:xfrm>
            <a:off x="6076188"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07" name="Text 505"/>
          <p:cNvSpPr/>
          <p:nvPr/>
        </p:nvSpPr>
        <p:spPr>
          <a:xfrm>
            <a:off x="6076188"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Financiero y Contable</a:t>
            </a:r>
            <a:endParaRPr lang="en-US" sz="400" dirty="0"/>
          </a:p>
        </p:txBody>
      </p:sp>
      <p:sp>
        <p:nvSpPr>
          <p:cNvPr id="508" name="Shape 506"/>
          <p:cNvSpPr/>
          <p:nvPr/>
        </p:nvSpPr>
        <p:spPr>
          <a:xfrm>
            <a:off x="6076188" y="6179058"/>
            <a:ext cx="1616964" cy="124206"/>
          </a:xfrm>
          <a:prstGeom prst="rect">
            <a:avLst/>
          </a:prstGeom>
          <a:solidFill>
            <a:srgbClr val="FFFFFF"/>
          </a:solidFill>
          <a:ln w="3810">
            <a:solidFill>
              <a:srgbClr val="BE82FF"/>
            </a:solidFill>
            <a:prstDash val="solid"/>
          </a:ln>
        </p:spPr>
        <p:txBody>
          <a:bodyPr/>
          <a:lstStyle/>
          <a:p>
            <a:endParaRPr lang="es-ES"/>
          </a:p>
        </p:txBody>
      </p:sp>
      <p:sp>
        <p:nvSpPr>
          <p:cNvPr id="509" name="Text 507"/>
          <p:cNvSpPr/>
          <p:nvPr/>
        </p:nvSpPr>
        <p:spPr>
          <a:xfrm>
            <a:off x="6076188" y="6179058"/>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Contabilidad y Registro Contable</a:t>
            </a:r>
            <a:endParaRPr lang="en-US" sz="380" dirty="0"/>
          </a:p>
        </p:txBody>
      </p:sp>
      <p:sp>
        <p:nvSpPr>
          <p:cNvPr id="510" name="Shape 508"/>
          <p:cNvSpPr/>
          <p:nvPr/>
        </p:nvSpPr>
        <p:spPr>
          <a:xfrm>
            <a:off x="6076188" y="6307836"/>
            <a:ext cx="1616964" cy="124206"/>
          </a:xfrm>
          <a:prstGeom prst="rect">
            <a:avLst/>
          </a:prstGeom>
          <a:solidFill>
            <a:srgbClr val="FFFFFF"/>
          </a:solidFill>
          <a:ln w="3810">
            <a:solidFill>
              <a:srgbClr val="BE82FF"/>
            </a:solidFill>
            <a:prstDash val="solid"/>
          </a:ln>
        </p:spPr>
        <p:txBody>
          <a:bodyPr/>
          <a:lstStyle/>
          <a:p>
            <a:endParaRPr lang="es-ES"/>
          </a:p>
        </p:txBody>
      </p:sp>
      <p:sp>
        <p:nvSpPr>
          <p:cNvPr id="511" name="Text 509"/>
          <p:cNvSpPr/>
          <p:nvPr/>
        </p:nvSpPr>
        <p:spPr>
          <a:xfrm>
            <a:off x="6076188" y="6307836"/>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Conversión de Divisas</a:t>
            </a:r>
            <a:endParaRPr lang="en-US" sz="380" dirty="0"/>
          </a:p>
        </p:txBody>
      </p:sp>
      <p:sp>
        <p:nvSpPr>
          <p:cNvPr id="512" name="Shape 510"/>
          <p:cNvSpPr/>
          <p:nvPr/>
        </p:nvSpPr>
        <p:spPr>
          <a:xfrm>
            <a:off x="6076188" y="6436614"/>
            <a:ext cx="1616964" cy="124206"/>
          </a:xfrm>
          <a:prstGeom prst="rect">
            <a:avLst/>
          </a:prstGeom>
          <a:solidFill>
            <a:srgbClr val="FFFFFF"/>
          </a:solidFill>
          <a:ln w="3810">
            <a:solidFill>
              <a:srgbClr val="BE82FF"/>
            </a:solidFill>
            <a:prstDash val="solid"/>
          </a:ln>
        </p:spPr>
        <p:txBody>
          <a:bodyPr/>
          <a:lstStyle/>
          <a:p>
            <a:endParaRPr lang="es-ES"/>
          </a:p>
        </p:txBody>
      </p:sp>
      <p:sp>
        <p:nvSpPr>
          <p:cNvPr id="513" name="Text 511"/>
          <p:cNvSpPr/>
          <p:nvPr/>
        </p:nvSpPr>
        <p:spPr>
          <a:xfrm>
            <a:off x="6076188" y="6436614"/>
            <a:ext cx="1616964" cy="124206"/>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Pagos</a:t>
            </a:r>
            <a:endParaRPr lang="en-US" sz="380" dirty="0"/>
          </a:p>
        </p:txBody>
      </p:sp>
      <p:sp>
        <p:nvSpPr>
          <p:cNvPr id="514" name="Shape 512"/>
          <p:cNvSpPr/>
          <p:nvPr/>
        </p:nvSpPr>
        <p:spPr>
          <a:xfrm>
            <a:off x="7711440" y="6069330"/>
            <a:ext cx="1616964" cy="100584"/>
          </a:xfrm>
          <a:prstGeom prst="rect">
            <a:avLst/>
          </a:prstGeom>
          <a:solidFill>
            <a:srgbClr val="FF8C00"/>
          </a:solidFill>
          <a:ln w="9525">
            <a:solidFill>
              <a:srgbClr val="E05000"/>
            </a:solidFill>
            <a:prstDash val="solid"/>
          </a:ln>
        </p:spPr>
        <p:txBody>
          <a:bodyPr/>
          <a:lstStyle/>
          <a:p>
            <a:endParaRPr lang="es-ES"/>
          </a:p>
        </p:txBody>
      </p:sp>
      <p:sp>
        <p:nvSpPr>
          <p:cNvPr id="515" name="Text 513"/>
          <p:cNvSpPr/>
          <p:nvPr/>
        </p:nvSpPr>
        <p:spPr>
          <a:xfrm>
            <a:off x="7711440"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16" name="Shape 514"/>
          <p:cNvSpPr/>
          <p:nvPr/>
        </p:nvSpPr>
        <p:spPr>
          <a:xfrm>
            <a:off x="7711440" y="6179058"/>
            <a:ext cx="1616964" cy="188595"/>
          </a:xfrm>
          <a:prstGeom prst="rect">
            <a:avLst/>
          </a:prstGeom>
          <a:solidFill>
            <a:srgbClr val="FFD580"/>
          </a:solidFill>
          <a:ln w="7620">
            <a:solidFill>
              <a:srgbClr val="FF8C00"/>
            </a:solidFill>
            <a:prstDash val="solid"/>
          </a:ln>
        </p:spPr>
        <p:txBody>
          <a:bodyPr/>
          <a:lstStyle/>
          <a:p>
            <a:endParaRPr lang="es-ES"/>
          </a:p>
        </p:txBody>
      </p:sp>
      <p:sp>
        <p:nvSpPr>
          <p:cNvPr id="517" name="Text 515"/>
          <p:cNvSpPr/>
          <p:nvPr/>
        </p:nvSpPr>
        <p:spPr>
          <a:xfrm>
            <a:off x="7711440" y="6179058"/>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Generación y Composición Docs.</a:t>
            </a:r>
            <a:endParaRPr lang="en-US" sz="380" dirty="0"/>
          </a:p>
        </p:txBody>
      </p:sp>
      <p:sp>
        <p:nvSpPr>
          <p:cNvPr id="518" name="Shape 516"/>
          <p:cNvSpPr/>
          <p:nvPr/>
        </p:nvSpPr>
        <p:spPr>
          <a:xfrm>
            <a:off x="7711440"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19" name="Text 517"/>
          <p:cNvSpPr/>
          <p:nvPr/>
        </p:nvSpPr>
        <p:spPr>
          <a:xfrm>
            <a:off x="7711440"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Captura, Almacen. y Recuperación</a:t>
            </a:r>
            <a:endParaRPr lang="en-US" sz="380" dirty="0"/>
          </a:p>
        </p:txBody>
      </p:sp>
      <p:sp>
        <p:nvSpPr>
          <p:cNvPr id="520" name="Shape 518"/>
          <p:cNvSpPr/>
          <p:nvPr/>
        </p:nvSpPr>
        <p:spPr>
          <a:xfrm>
            <a:off x="9346692" y="6069330"/>
            <a:ext cx="1616964" cy="100584"/>
          </a:xfrm>
          <a:prstGeom prst="rect">
            <a:avLst/>
          </a:prstGeom>
          <a:solidFill>
            <a:srgbClr val="BE82FF"/>
          </a:solidFill>
          <a:ln w="6350">
            <a:solidFill>
              <a:srgbClr val="7500C0"/>
            </a:solidFill>
            <a:prstDash val="solid"/>
          </a:ln>
        </p:spPr>
        <p:txBody>
          <a:bodyPr/>
          <a:lstStyle/>
          <a:p>
            <a:endParaRPr lang="es-ES"/>
          </a:p>
        </p:txBody>
      </p:sp>
      <p:sp>
        <p:nvSpPr>
          <p:cNvPr id="521" name="Text 519"/>
          <p:cNvSpPr/>
          <p:nvPr/>
        </p:nvSpPr>
        <p:spPr>
          <a:xfrm>
            <a:off x="9346692" y="6069330"/>
            <a:ext cx="1616964" cy="100584"/>
          </a:xfrm>
          <a:prstGeom prst="rect">
            <a:avLst/>
          </a:prstGeom>
          <a:noFill/>
          <a:ln/>
        </p:spPr>
        <p:txBody>
          <a:bodyPr wrap="square" lIns="6350" tIns="6350" rIns="6350" bIns="6350" rtlCol="0" anchor="ctr"/>
          <a:lstStyle/>
          <a:p>
            <a:pPr marL="0" indent="0" algn="ctr">
              <a:buNone/>
            </a:pPr>
            <a:r>
              <a:rPr lang="en-US" sz="400" b="1" dirty="0">
                <a:solidFill>
                  <a:srgbClr val="000000"/>
                </a:solidFill>
              </a:rPr>
              <a:t>Control y Confianza</a:t>
            </a:r>
            <a:endParaRPr lang="en-US" sz="400" dirty="0"/>
          </a:p>
        </p:txBody>
      </p:sp>
      <p:sp>
        <p:nvSpPr>
          <p:cNvPr id="522" name="Shape 520"/>
          <p:cNvSpPr/>
          <p:nvPr/>
        </p:nvSpPr>
        <p:spPr>
          <a:xfrm>
            <a:off x="9346692" y="6179058"/>
            <a:ext cx="1616964" cy="188595"/>
          </a:xfrm>
          <a:prstGeom prst="rect">
            <a:avLst/>
          </a:prstGeom>
          <a:solidFill>
            <a:srgbClr val="FFFFFF"/>
          </a:solidFill>
          <a:ln w="3810">
            <a:solidFill>
              <a:srgbClr val="BE82FF"/>
            </a:solidFill>
            <a:prstDash val="solid"/>
          </a:ln>
        </p:spPr>
        <p:txBody>
          <a:bodyPr/>
          <a:lstStyle/>
          <a:p>
            <a:endParaRPr lang="es-ES"/>
          </a:p>
        </p:txBody>
      </p:sp>
      <p:sp>
        <p:nvSpPr>
          <p:cNvPr id="523" name="Text 521"/>
          <p:cNvSpPr/>
          <p:nvPr/>
        </p:nvSpPr>
        <p:spPr>
          <a:xfrm>
            <a:off x="9346692" y="6179058"/>
            <a:ext cx="1616964" cy="188595"/>
          </a:xfrm>
          <a:prstGeom prst="rect">
            <a:avLst/>
          </a:prstGeom>
          <a:noFill/>
          <a:ln/>
        </p:spPr>
        <p:txBody>
          <a:bodyPr wrap="square" lIns="6350" tIns="6350" rIns="6350" bIns="6350" rtlCol="0" anchor="ctr"/>
          <a:lstStyle/>
          <a:p>
            <a:pPr marL="0" indent="0" algn="ctr">
              <a:buNone/>
            </a:pPr>
            <a:r>
              <a:rPr lang="en-US" sz="380" dirty="0">
                <a:solidFill>
                  <a:srgbClr val="000000"/>
                </a:solidFill>
              </a:rPr>
              <a:t>Servicios de Aprobaciones</a:t>
            </a:r>
            <a:endParaRPr lang="en-US" sz="380" dirty="0"/>
          </a:p>
        </p:txBody>
      </p:sp>
      <p:sp>
        <p:nvSpPr>
          <p:cNvPr id="524" name="Shape 522"/>
          <p:cNvSpPr/>
          <p:nvPr/>
        </p:nvSpPr>
        <p:spPr>
          <a:xfrm>
            <a:off x="9346692" y="6372225"/>
            <a:ext cx="1616964" cy="188595"/>
          </a:xfrm>
          <a:prstGeom prst="rect">
            <a:avLst/>
          </a:prstGeom>
          <a:solidFill>
            <a:srgbClr val="FFD580"/>
          </a:solidFill>
          <a:ln w="7620">
            <a:solidFill>
              <a:srgbClr val="FF8C00"/>
            </a:solidFill>
            <a:prstDash val="solid"/>
          </a:ln>
        </p:spPr>
        <p:txBody>
          <a:bodyPr/>
          <a:lstStyle/>
          <a:p>
            <a:endParaRPr lang="es-ES"/>
          </a:p>
        </p:txBody>
      </p:sp>
      <p:sp>
        <p:nvSpPr>
          <p:cNvPr id="525" name="Text 523"/>
          <p:cNvSpPr/>
          <p:nvPr/>
        </p:nvSpPr>
        <p:spPr>
          <a:xfrm>
            <a:off x="9346692" y="6372225"/>
            <a:ext cx="1616964" cy="188595"/>
          </a:xfrm>
          <a:prstGeom prst="rect">
            <a:avLst/>
          </a:prstGeom>
          <a:noFill/>
          <a:ln/>
        </p:spPr>
        <p:txBody>
          <a:bodyPr wrap="square" lIns="6350" tIns="6350" rIns="6350" bIns="6350" rtlCol="0" anchor="ctr"/>
          <a:lstStyle/>
          <a:p>
            <a:pPr marL="0" indent="0" algn="ctr">
              <a:buNone/>
            </a:pPr>
            <a:r>
              <a:rPr lang="en-US" sz="380" b="1" dirty="0">
                <a:solidFill>
                  <a:srgbClr val="3D1D00"/>
                </a:solidFill>
              </a:rPr>
              <a:t>Firma y Verificación</a:t>
            </a:r>
            <a:endParaRPr lang="en-US" sz="380" dirty="0"/>
          </a:p>
        </p:txBody>
      </p:sp>
      <p:sp>
        <p:nvSpPr>
          <p:cNvPr id="526" name="Shape 524"/>
          <p:cNvSpPr/>
          <p:nvPr/>
        </p:nvSpPr>
        <p:spPr>
          <a:xfrm>
            <a:off x="137160" y="6638544"/>
            <a:ext cx="594360" cy="128016"/>
          </a:xfrm>
          <a:prstGeom prst="rect">
            <a:avLst/>
          </a:prstGeom>
          <a:solidFill>
            <a:srgbClr val="BE82FF"/>
          </a:solidFill>
          <a:ln w="6350">
            <a:solidFill>
              <a:srgbClr val="A100FF"/>
            </a:solidFill>
            <a:prstDash val="solid"/>
          </a:ln>
        </p:spPr>
        <p:txBody>
          <a:bodyPr/>
          <a:lstStyle/>
          <a:p>
            <a:endParaRPr lang="es-ES"/>
          </a:p>
        </p:txBody>
      </p:sp>
      <p:sp>
        <p:nvSpPr>
          <p:cNvPr id="527" name="Text 525"/>
          <p:cNvSpPr/>
          <p:nvPr/>
        </p:nvSpPr>
        <p:spPr>
          <a:xfrm>
            <a:off x="137160" y="6638544"/>
            <a:ext cx="594360" cy="128016"/>
          </a:xfrm>
          <a:prstGeom prst="rect">
            <a:avLst/>
          </a:prstGeom>
          <a:noFill/>
          <a:ln/>
        </p:spPr>
        <p:txBody>
          <a:bodyPr wrap="square" rtlCol="0" anchor="ctr"/>
          <a:lstStyle/>
          <a:p>
            <a:pPr marL="0" indent="0" algn="ctr">
              <a:buNone/>
            </a:pPr>
            <a:r>
              <a:rPr lang="en-US" sz="400" dirty="0">
                <a:solidFill>
                  <a:srgbClr val="000000"/>
                </a:solidFill>
              </a:rPr>
              <a:t>Capacidad (L2)</a:t>
            </a:r>
            <a:endParaRPr lang="en-US" sz="400" dirty="0"/>
          </a:p>
        </p:txBody>
      </p:sp>
      <p:sp>
        <p:nvSpPr>
          <p:cNvPr id="528" name="Shape 526"/>
          <p:cNvSpPr/>
          <p:nvPr/>
        </p:nvSpPr>
        <p:spPr>
          <a:xfrm>
            <a:off x="804672" y="6638544"/>
            <a:ext cx="640080" cy="128016"/>
          </a:xfrm>
          <a:prstGeom prst="rect">
            <a:avLst/>
          </a:prstGeom>
          <a:solidFill>
            <a:srgbClr val="F0F8FF"/>
          </a:solidFill>
          <a:ln w="6350">
            <a:solidFill>
              <a:srgbClr val="7500C0"/>
            </a:solidFill>
            <a:prstDash val="solid"/>
          </a:ln>
        </p:spPr>
        <p:txBody>
          <a:bodyPr/>
          <a:lstStyle/>
          <a:p>
            <a:endParaRPr lang="es-ES"/>
          </a:p>
        </p:txBody>
      </p:sp>
      <p:sp>
        <p:nvSpPr>
          <p:cNvPr id="529" name="Text 527"/>
          <p:cNvSpPr/>
          <p:nvPr/>
        </p:nvSpPr>
        <p:spPr>
          <a:xfrm>
            <a:off x="804672" y="6638544"/>
            <a:ext cx="640080" cy="128016"/>
          </a:xfrm>
          <a:prstGeom prst="rect">
            <a:avLst/>
          </a:prstGeom>
          <a:noFill/>
          <a:ln/>
        </p:spPr>
        <p:txBody>
          <a:bodyPr wrap="square" rtlCol="0" anchor="ctr"/>
          <a:lstStyle/>
          <a:p>
            <a:pPr marL="0" indent="0" algn="ctr">
              <a:buNone/>
            </a:pPr>
            <a:r>
              <a:rPr lang="en-US" sz="400" dirty="0">
                <a:solidFill>
                  <a:srgbClr val="000000"/>
                </a:solidFill>
              </a:rPr>
              <a:t>Dominio</a:t>
            </a:r>
            <a:endParaRPr lang="en-US" sz="400" dirty="0"/>
          </a:p>
        </p:txBody>
      </p:sp>
      <p:sp>
        <p:nvSpPr>
          <p:cNvPr id="530" name="Shape 528"/>
          <p:cNvSpPr/>
          <p:nvPr/>
        </p:nvSpPr>
        <p:spPr>
          <a:xfrm>
            <a:off x="1527048" y="6647688"/>
            <a:ext cx="146304" cy="146304"/>
          </a:xfrm>
          <a:prstGeom prst="ellipse">
            <a:avLst/>
          </a:prstGeom>
          <a:solidFill>
            <a:srgbClr val="C00000"/>
          </a:solidFill>
          <a:ln w="12700">
            <a:solidFill>
              <a:srgbClr val="C00000"/>
            </a:solidFill>
            <a:prstDash val="solid"/>
          </a:ln>
        </p:spPr>
        <p:txBody>
          <a:bodyPr/>
          <a:lstStyle/>
          <a:p>
            <a:endParaRPr lang="es-ES"/>
          </a:p>
        </p:txBody>
      </p:sp>
      <p:sp>
        <p:nvSpPr>
          <p:cNvPr id="531" name="Text 529"/>
          <p:cNvSpPr/>
          <p:nvPr/>
        </p:nvSpPr>
        <p:spPr>
          <a:xfrm>
            <a:off x="1527048" y="66476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32" name="Text 530"/>
          <p:cNvSpPr/>
          <p:nvPr/>
        </p:nvSpPr>
        <p:spPr>
          <a:xfrm>
            <a:off x="1700784" y="6638544"/>
            <a:ext cx="1097280" cy="128016"/>
          </a:xfrm>
          <a:prstGeom prst="rect">
            <a:avLst/>
          </a:prstGeom>
          <a:noFill/>
          <a:ln/>
        </p:spPr>
        <p:txBody>
          <a:bodyPr wrap="square" rtlCol="0" anchor="ctr"/>
          <a:lstStyle/>
          <a:p>
            <a:pPr marL="0" indent="0">
              <a:buNone/>
            </a:pPr>
            <a:r>
              <a:rPr lang="en-US" sz="400" dirty="0">
                <a:solidFill>
                  <a:srgbClr val="000000"/>
                </a:solidFill>
              </a:rPr>
              <a:t>Kernel / Plataforma</a:t>
            </a:r>
            <a:endParaRPr lang="en-US" sz="400" dirty="0"/>
          </a:p>
        </p:txBody>
      </p:sp>
      <p:sp>
        <p:nvSpPr>
          <p:cNvPr id="533" name="Shape 531"/>
          <p:cNvSpPr/>
          <p:nvPr/>
        </p:nvSpPr>
        <p:spPr>
          <a:xfrm>
            <a:off x="2880360" y="6638544"/>
            <a:ext cx="640080" cy="128016"/>
          </a:xfrm>
          <a:prstGeom prst="rect">
            <a:avLst/>
          </a:prstGeom>
          <a:solidFill>
            <a:srgbClr val="FFD580"/>
          </a:solidFill>
          <a:ln w="7620">
            <a:solidFill>
              <a:srgbClr val="FF8C00"/>
            </a:solidFill>
            <a:prstDash val="solid"/>
          </a:ln>
        </p:spPr>
        <p:txBody>
          <a:bodyPr/>
          <a:lstStyle/>
          <a:p>
            <a:endParaRPr lang="es-ES"/>
          </a:p>
        </p:txBody>
      </p:sp>
      <p:sp>
        <p:nvSpPr>
          <p:cNvPr id="534" name="Text 532"/>
          <p:cNvSpPr/>
          <p:nvPr/>
        </p:nvSpPr>
        <p:spPr>
          <a:xfrm>
            <a:off x="2880360" y="6638544"/>
            <a:ext cx="640080" cy="128016"/>
          </a:xfrm>
          <a:prstGeom prst="rect">
            <a:avLst/>
          </a:prstGeom>
          <a:noFill/>
          <a:ln/>
        </p:spPr>
        <p:txBody>
          <a:bodyPr wrap="square" rtlCol="0" anchor="ctr"/>
          <a:lstStyle/>
          <a:p>
            <a:pPr marL="0" indent="0" algn="ctr">
              <a:buNone/>
            </a:pPr>
            <a:r>
              <a:rPr lang="en-US" sz="400" b="1" dirty="0">
                <a:solidFill>
                  <a:srgbClr val="3D1D00"/>
                </a:solidFill>
              </a:rPr>
              <a:t>En scope R4 (L2)</a:t>
            </a:r>
            <a:endParaRPr lang="en-US" sz="400" dirty="0"/>
          </a:p>
        </p:txBody>
      </p:sp>
      <p:sp>
        <p:nvSpPr>
          <p:cNvPr id="535" name="Shape 533"/>
          <p:cNvSpPr/>
          <p:nvPr/>
        </p:nvSpPr>
        <p:spPr>
          <a:xfrm>
            <a:off x="3593592" y="6638544"/>
            <a:ext cx="640080" cy="128016"/>
          </a:xfrm>
          <a:prstGeom prst="rect">
            <a:avLst/>
          </a:prstGeom>
          <a:solidFill>
            <a:srgbClr val="FF8C00"/>
          </a:solidFill>
          <a:ln w="7620">
            <a:solidFill>
              <a:srgbClr val="E05000"/>
            </a:solidFill>
            <a:prstDash val="solid"/>
          </a:ln>
        </p:spPr>
        <p:txBody>
          <a:bodyPr/>
          <a:lstStyle/>
          <a:p>
            <a:endParaRPr lang="es-ES"/>
          </a:p>
        </p:txBody>
      </p:sp>
      <p:sp>
        <p:nvSpPr>
          <p:cNvPr id="536" name="Text 534"/>
          <p:cNvSpPr/>
          <p:nvPr/>
        </p:nvSpPr>
        <p:spPr>
          <a:xfrm>
            <a:off x="3593592" y="6638544"/>
            <a:ext cx="640080" cy="128016"/>
          </a:xfrm>
          <a:prstGeom prst="rect">
            <a:avLst/>
          </a:prstGeom>
          <a:noFill/>
          <a:ln/>
        </p:spPr>
        <p:txBody>
          <a:bodyPr wrap="square" rtlCol="0" anchor="ctr"/>
          <a:lstStyle/>
          <a:p>
            <a:pPr marL="0" indent="0" algn="ctr">
              <a:buNone/>
            </a:pPr>
            <a:r>
              <a:rPr lang="en-US" sz="400" b="1" dirty="0">
                <a:solidFill>
                  <a:srgbClr val="FFFFFF"/>
                </a:solidFill>
              </a:rPr>
              <a:t>En scope R4 (L1)</a:t>
            </a:r>
            <a:endParaRPr lang="en-US" sz="400" dirty="0"/>
          </a:p>
        </p:txBody>
      </p:sp>
      <p:sp>
        <p:nvSpPr>
          <p:cNvPr id="537" name="Shape 535"/>
          <p:cNvSpPr/>
          <p:nvPr/>
        </p:nvSpPr>
        <p:spPr>
          <a:xfrm>
            <a:off x="4306824" y="6638544"/>
            <a:ext cx="640080" cy="128016"/>
          </a:xfrm>
          <a:prstGeom prst="rect">
            <a:avLst/>
          </a:prstGeom>
          <a:solidFill>
            <a:srgbClr val="FFF4E0"/>
          </a:solidFill>
          <a:ln w="12700">
            <a:solidFill>
              <a:srgbClr val="FF8C00"/>
            </a:solidFill>
            <a:prstDash val="solid"/>
          </a:ln>
        </p:spPr>
        <p:txBody>
          <a:bodyPr/>
          <a:lstStyle/>
          <a:p>
            <a:endParaRPr lang="es-ES"/>
          </a:p>
        </p:txBody>
      </p:sp>
      <p:sp>
        <p:nvSpPr>
          <p:cNvPr id="538" name="Text 536"/>
          <p:cNvSpPr/>
          <p:nvPr/>
        </p:nvSpPr>
        <p:spPr>
          <a:xfrm>
            <a:off x="4306824" y="6638544"/>
            <a:ext cx="640080" cy="128016"/>
          </a:xfrm>
          <a:prstGeom prst="rect">
            <a:avLst/>
          </a:prstGeom>
          <a:noFill/>
          <a:ln/>
        </p:spPr>
        <p:txBody>
          <a:bodyPr wrap="square" rtlCol="0" anchor="ctr"/>
          <a:lstStyle/>
          <a:p>
            <a:pPr marL="0" indent="0" algn="ctr">
              <a:buNone/>
            </a:pPr>
            <a:r>
              <a:rPr lang="en-US" sz="400" b="1" dirty="0">
                <a:solidFill>
                  <a:srgbClr val="3D1D00"/>
                </a:solidFill>
              </a:rPr>
              <a:t>Dominio en scope R4</a:t>
            </a:r>
            <a:endParaRPr lang="en-US" sz="400" dirty="0"/>
          </a:p>
        </p:txBody>
      </p:sp>
      <p:sp>
        <p:nvSpPr>
          <p:cNvPr id="539" name="Text 537"/>
          <p:cNvSpPr/>
          <p:nvPr/>
        </p:nvSpPr>
        <p:spPr>
          <a:xfrm>
            <a:off x="8988552" y="6638544"/>
            <a:ext cx="3063240" cy="128016"/>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42" name="Rectangle 541">
            <a:extLst>
              <a:ext uri="{FF2B5EF4-FFF2-40B4-BE49-F238E27FC236}">
                <a16:creationId xmlns:a16="http://schemas.microsoft.com/office/drawing/2014/main" id="{B38BA994-F120-F6D6-D23D-61114751F30B}"/>
              </a:ext>
            </a:extLst>
          </p:cNvPr>
          <p:cNvSpPr/>
          <p:nvPr/>
        </p:nvSpPr>
        <p:spPr>
          <a:xfrm>
            <a:off x="-264747" y="62850"/>
            <a:ext cx="11642931" cy="923330"/>
          </a:xfrm>
          <a:prstGeom prst="rect">
            <a:avLst/>
          </a:prstGeom>
          <a:noFill/>
        </p:spPr>
        <p:txBody>
          <a:bodyPr wrap="none" lIns="91440" tIns="45720" rIns="91440" bIns="45720">
            <a:spAutoFit/>
          </a:bodyPr>
          <a:lstStyle/>
          <a:p>
            <a:pPr algn="ctr"/>
            <a:r>
              <a:rPr lang="en-US" sz="54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Aplicaciones+capacidades</a:t>
            </a:r>
            <a:r>
              <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VS</a:t>
            </a:r>
            <a:r>
              <a:rPr lang="en-US" sz="5400" b="1" dirty="0">
                <a:ln w="9525">
                  <a:solidFill>
                    <a:schemeClr val="bg1"/>
                  </a:solidFill>
                  <a:prstDash val="solid"/>
                </a:ln>
                <a:effectLst>
                  <a:outerShdw blurRad="12700" dist="38100" dir="2700000" algn="tl" rotWithShape="0">
                    <a:schemeClr val="bg1">
                      <a:lumMod val="50000"/>
                    </a:schemeClr>
                  </a:outerShdw>
                </a:effectLst>
              </a:rPr>
              <a:t> R4</a:t>
            </a:r>
            <a:endParaRPr lang="en-US" sz="54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274320" y="18288"/>
            <a:ext cx="1164031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28016" y="137160"/>
            <a:ext cx="5120640" cy="521208"/>
          </a:xfrm>
          <a:prstGeom prst="rect">
            <a:avLst/>
          </a:prstGeom>
          <a:noFill/>
          <a:ln/>
        </p:spPr>
        <p:txBody>
          <a:bodyPr wrap="square" rtlCol="0" anchor="ctr"/>
          <a:lstStyle/>
          <a:p>
            <a:pPr marL="0" indent="0">
              <a:buNone/>
            </a:pPr>
            <a:r>
              <a:rPr lang="en-US" sz="2100" b="1" dirty="0">
                <a:solidFill>
                  <a:srgbClr val="A100FF"/>
                </a:solidFill>
              </a:rPr>
              <a:t>Arquitectura de Interoperabilidad</a:t>
            </a:r>
            <a:endParaRPr lang="en-US" sz="2100" dirty="0"/>
          </a:p>
        </p:txBody>
      </p:sp>
      <p:sp>
        <p:nvSpPr>
          <p:cNvPr id="5" name="Text 3"/>
          <p:cNvSpPr/>
          <p:nvPr/>
        </p:nvSpPr>
        <p:spPr>
          <a:xfrm>
            <a:off x="5248656" y="137160"/>
            <a:ext cx="6821424" cy="521208"/>
          </a:xfrm>
          <a:prstGeom prst="rect">
            <a:avLst/>
          </a:prstGeom>
          <a:noFill/>
          <a:ln/>
        </p:spPr>
        <p:txBody>
          <a:bodyPr wrap="square" rtlCol="0" anchor="ctr"/>
          <a:lstStyle/>
          <a:p>
            <a:pPr marL="0" indent="0">
              <a:buNone/>
            </a:pPr>
            <a:r>
              <a:rPr lang="en-US" sz="1900" dirty="0">
                <a:solidFill>
                  <a:srgbClr val="000000"/>
                </a:solidFill>
              </a:rPr>
              <a:t> | Mapa de capacidades Nivel 1 — Impacto R4</a:t>
            </a:r>
            <a:endParaRPr lang="en-US" sz="1900" dirty="0"/>
          </a:p>
        </p:txBody>
      </p:sp>
      <p:sp>
        <p:nvSpPr>
          <p:cNvPr id="6" name="Shape 4"/>
          <p:cNvSpPr/>
          <p:nvPr/>
        </p:nvSpPr>
        <p:spPr>
          <a:xfrm>
            <a:off x="91440" y="694944"/>
            <a:ext cx="658368" cy="5916168"/>
          </a:xfrm>
          <a:prstGeom prst="rect">
            <a:avLst/>
          </a:prstGeom>
          <a:solidFill>
            <a:srgbClr val="FFE5C0"/>
          </a:solidFill>
          <a:ln w="19050">
            <a:solidFill>
              <a:srgbClr val="FF6B00"/>
            </a:solidFill>
            <a:prstDash val="solid"/>
          </a:ln>
        </p:spPr>
        <p:txBody>
          <a:bodyPr/>
          <a:lstStyle/>
          <a:p>
            <a:endParaRPr lang="es-ES"/>
          </a:p>
        </p:txBody>
      </p:sp>
      <p:sp>
        <p:nvSpPr>
          <p:cNvPr id="7" name="Shape 5"/>
          <p:cNvSpPr/>
          <p:nvPr/>
        </p:nvSpPr>
        <p:spPr>
          <a:xfrm>
            <a:off x="91440" y="694944"/>
            <a:ext cx="658368" cy="201168"/>
          </a:xfrm>
          <a:prstGeom prst="rect">
            <a:avLst/>
          </a:prstGeom>
          <a:solidFill>
            <a:srgbClr val="A100FF"/>
          </a:solidFill>
          <a:ln w="12700">
            <a:solidFill>
              <a:srgbClr val="A100FF"/>
            </a:solidFill>
            <a:prstDash val="solid"/>
          </a:ln>
        </p:spPr>
        <p:txBody>
          <a:bodyPr/>
          <a:lstStyle/>
          <a:p>
            <a:endParaRPr lang="es-ES"/>
          </a:p>
        </p:txBody>
      </p:sp>
      <p:sp>
        <p:nvSpPr>
          <p:cNvPr id="8" name="Text 6"/>
          <p:cNvSpPr/>
          <p:nvPr/>
        </p:nvSpPr>
        <p:spPr>
          <a:xfrm>
            <a:off x="292608" y="694944"/>
            <a:ext cx="438912" cy="201168"/>
          </a:xfrm>
          <a:prstGeom prst="rect">
            <a:avLst/>
          </a:prstGeom>
          <a:noFill/>
          <a:ln/>
        </p:spPr>
        <p:txBody>
          <a:bodyPr wrap="square" rtlCol="0" anchor="ctr"/>
          <a:lstStyle/>
          <a:p>
            <a:pPr marL="0" indent="0" algn="ctr">
              <a:buNone/>
            </a:pPr>
            <a:r>
              <a:rPr lang="en-US" sz="750" b="1" dirty="0">
                <a:solidFill>
                  <a:srgbClr val="FFFFFF"/>
                </a:solidFill>
              </a:rPr>
              <a:t>Seguridad</a:t>
            </a:r>
            <a:endParaRPr lang="en-US" sz="750" dirty="0"/>
          </a:p>
        </p:txBody>
      </p:sp>
      <p:sp>
        <p:nvSpPr>
          <p:cNvPr id="9" name="Shape 7"/>
          <p:cNvSpPr/>
          <p:nvPr/>
        </p:nvSpPr>
        <p:spPr>
          <a:xfrm>
            <a:off x="109728"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10" name="Text 8"/>
          <p:cNvSpPr/>
          <p:nvPr/>
        </p:nvSpPr>
        <p:spPr>
          <a:xfrm>
            <a:off x="109728"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11" name="Shape 9"/>
          <p:cNvSpPr/>
          <p:nvPr/>
        </p:nvSpPr>
        <p:spPr>
          <a:xfrm>
            <a:off x="457200"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2" name="Text 10"/>
          <p:cNvSpPr/>
          <p:nvPr/>
        </p:nvSpPr>
        <p:spPr>
          <a:xfrm>
            <a:off x="457200"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3" name="Text 11"/>
          <p:cNvSpPr/>
          <p:nvPr/>
        </p:nvSpPr>
        <p:spPr>
          <a:xfrm>
            <a:off x="118872" y="914400"/>
            <a:ext cx="603504" cy="299827"/>
          </a:xfrm>
          <a:prstGeom prst="rect">
            <a:avLst/>
          </a:prstGeom>
          <a:noFill/>
          <a:ln/>
        </p:spPr>
        <p:txBody>
          <a:bodyPr wrap="square" rtlCol="0" anchor="ctr"/>
          <a:lstStyle/>
          <a:p>
            <a:pPr marL="0" indent="0" algn="l">
              <a:buNone/>
            </a:pPr>
            <a:r>
              <a:rPr lang="en-US" sz="650" b="1" i="1" dirty="0">
                <a:solidFill>
                  <a:srgbClr val="FF6B00"/>
                </a:solidFill>
              </a:rPr>
              <a:t>IAM</a:t>
            </a:r>
            <a:endParaRPr lang="en-US" sz="650" dirty="0"/>
          </a:p>
        </p:txBody>
      </p:sp>
      <p:sp>
        <p:nvSpPr>
          <p:cNvPr id="14" name="Shape 12"/>
          <p:cNvSpPr/>
          <p:nvPr/>
        </p:nvSpPr>
        <p:spPr>
          <a:xfrm>
            <a:off x="118872" y="1214227"/>
            <a:ext cx="603504" cy="290683"/>
          </a:xfrm>
          <a:prstGeom prst="rect">
            <a:avLst/>
          </a:prstGeom>
          <a:solidFill>
            <a:srgbClr val="FFE5C0"/>
          </a:solidFill>
          <a:ln w="15240">
            <a:solidFill>
              <a:srgbClr val="FF6B00"/>
            </a:solidFill>
            <a:prstDash val="solid"/>
          </a:ln>
        </p:spPr>
        <p:txBody>
          <a:bodyPr/>
          <a:lstStyle/>
          <a:p>
            <a:endParaRPr lang="es-ES"/>
          </a:p>
        </p:txBody>
      </p:sp>
      <p:sp>
        <p:nvSpPr>
          <p:cNvPr id="15" name="Text 13"/>
          <p:cNvSpPr/>
          <p:nvPr/>
        </p:nvSpPr>
        <p:spPr>
          <a:xfrm>
            <a:off x="118872" y="1214227"/>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de Identidad y Acceso</a:t>
            </a:r>
            <a:endParaRPr lang="en-US" sz="550" dirty="0"/>
          </a:p>
        </p:txBody>
      </p:sp>
      <p:sp>
        <p:nvSpPr>
          <p:cNvPr id="16" name="Shape 14"/>
          <p:cNvSpPr/>
          <p:nvPr/>
        </p:nvSpPr>
        <p:spPr>
          <a:xfrm>
            <a:off x="118872" y="1514054"/>
            <a:ext cx="603504" cy="290683"/>
          </a:xfrm>
          <a:prstGeom prst="rect">
            <a:avLst/>
          </a:prstGeom>
          <a:solidFill>
            <a:srgbClr val="FFE5C0"/>
          </a:solidFill>
          <a:ln w="15240">
            <a:solidFill>
              <a:srgbClr val="FF6B00"/>
            </a:solidFill>
            <a:prstDash val="solid"/>
          </a:ln>
        </p:spPr>
        <p:txBody>
          <a:bodyPr/>
          <a:lstStyle/>
          <a:p>
            <a:endParaRPr lang="es-ES"/>
          </a:p>
        </p:txBody>
      </p:sp>
      <p:sp>
        <p:nvSpPr>
          <p:cNvPr id="17" name="Text 15"/>
          <p:cNvSpPr/>
          <p:nvPr/>
        </p:nvSpPr>
        <p:spPr>
          <a:xfrm>
            <a:off x="118872" y="1514054"/>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Token de acceso / SSO</a:t>
            </a:r>
            <a:endParaRPr lang="en-US" sz="550" dirty="0"/>
          </a:p>
        </p:txBody>
      </p:sp>
      <p:sp>
        <p:nvSpPr>
          <p:cNvPr id="18" name="Shape 16"/>
          <p:cNvSpPr/>
          <p:nvPr/>
        </p:nvSpPr>
        <p:spPr>
          <a:xfrm>
            <a:off x="118872" y="1813881"/>
            <a:ext cx="603504" cy="290683"/>
          </a:xfrm>
          <a:prstGeom prst="rect">
            <a:avLst/>
          </a:prstGeom>
          <a:solidFill>
            <a:srgbClr val="FFE5C0"/>
          </a:solidFill>
          <a:ln w="15240">
            <a:solidFill>
              <a:srgbClr val="FF6B00"/>
            </a:solidFill>
            <a:prstDash val="solid"/>
          </a:ln>
        </p:spPr>
        <p:txBody>
          <a:bodyPr/>
          <a:lstStyle/>
          <a:p>
            <a:endParaRPr lang="es-ES"/>
          </a:p>
        </p:txBody>
      </p:sp>
      <p:sp>
        <p:nvSpPr>
          <p:cNvPr id="19" name="Text 17"/>
          <p:cNvSpPr/>
          <p:nvPr/>
        </p:nvSpPr>
        <p:spPr>
          <a:xfrm>
            <a:off x="118872" y="1813881"/>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autenticación</a:t>
            </a:r>
            <a:endParaRPr lang="en-US" sz="550" dirty="0"/>
          </a:p>
        </p:txBody>
      </p:sp>
      <p:sp>
        <p:nvSpPr>
          <p:cNvPr id="20" name="Shape 18"/>
          <p:cNvSpPr/>
          <p:nvPr/>
        </p:nvSpPr>
        <p:spPr>
          <a:xfrm>
            <a:off x="118872" y="2113708"/>
            <a:ext cx="603504" cy="290683"/>
          </a:xfrm>
          <a:prstGeom prst="rect">
            <a:avLst/>
          </a:prstGeom>
          <a:solidFill>
            <a:srgbClr val="FFE5C0"/>
          </a:solidFill>
          <a:ln w="15240">
            <a:solidFill>
              <a:srgbClr val="FF6B00"/>
            </a:solidFill>
            <a:prstDash val="solid"/>
          </a:ln>
        </p:spPr>
        <p:txBody>
          <a:bodyPr/>
          <a:lstStyle/>
          <a:p>
            <a:endParaRPr lang="es-ES"/>
          </a:p>
        </p:txBody>
      </p:sp>
      <p:sp>
        <p:nvSpPr>
          <p:cNvPr id="21" name="Text 19"/>
          <p:cNvSpPr/>
          <p:nvPr/>
        </p:nvSpPr>
        <p:spPr>
          <a:xfrm>
            <a:off x="118872" y="2113708"/>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Sesión</a:t>
            </a:r>
            <a:endParaRPr lang="en-US" sz="550" dirty="0"/>
          </a:p>
        </p:txBody>
      </p:sp>
      <p:sp>
        <p:nvSpPr>
          <p:cNvPr id="22" name="Shape 20"/>
          <p:cNvSpPr/>
          <p:nvPr/>
        </p:nvSpPr>
        <p:spPr>
          <a:xfrm>
            <a:off x="118872" y="2413535"/>
            <a:ext cx="603504" cy="290683"/>
          </a:xfrm>
          <a:prstGeom prst="rect">
            <a:avLst/>
          </a:prstGeom>
          <a:solidFill>
            <a:srgbClr val="FFE5C0"/>
          </a:solidFill>
          <a:ln w="15240">
            <a:solidFill>
              <a:srgbClr val="FF6B00"/>
            </a:solidFill>
            <a:prstDash val="solid"/>
          </a:ln>
        </p:spPr>
        <p:txBody>
          <a:bodyPr/>
          <a:lstStyle/>
          <a:p>
            <a:endParaRPr lang="es-ES"/>
          </a:p>
        </p:txBody>
      </p:sp>
      <p:sp>
        <p:nvSpPr>
          <p:cNvPr id="23" name="Text 21"/>
          <p:cNvSpPr/>
          <p:nvPr/>
        </p:nvSpPr>
        <p:spPr>
          <a:xfrm>
            <a:off x="118872" y="2413535"/>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Servicios de Autorización</a:t>
            </a:r>
            <a:endParaRPr lang="en-US" sz="550" dirty="0"/>
          </a:p>
        </p:txBody>
      </p:sp>
      <p:sp>
        <p:nvSpPr>
          <p:cNvPr id="24" name="Text 22"/>
          <p:cNvSpPr/>
          <p:nvPr/>
        </p:nvSpPr>
        <p:spPr>
          <a:xfrm>
            <a:off x="118872" y="2713362"/>
            <a:ext cx="603504" cy="299827"/>
          </a:xfrm>
          <a:prstGeom prst="rect">
            <a:avLst/>
          </a:prstGeom>
          <a:noFill/>
          <a:ln/>
        </p:spPr>
        <p:txBody>
          <a:bodyPr wrap="square" rtlCol="0" anchor="ctr"/>
          <a:lstStyle/>
          <a:p>
            <a:pPr marL="0" indent="0" algn="l">
              <a:buNone/>
            </a:pPr>
            <a:r>
              <a:rPr lang="en-US" sz="650" b="1" i="1" dirty="0">
                <a:solidFill>
                  <a:srgbClr val="FF6B00"/>
                </a:solidFill>
              </a:rPr>
              <a:t>Servicios criptográficos</a:t>
            </a:r>
            <a:endParaRPr lang="en-US" sz="650" dirty="0"/>
          </a:p>
        </p:txBody>
      </p:sp>
      <p:sp>
        <p:nvSpPr>
          <p:cNvPr id="25" name="Shape 23"/>
          <p:cNvSpPr/>
          <p:nvPr/>
        </p:nvSpPr>
        <p:spPr>
          <a:xfrm>
            <a:off x="118872" y="3013189"/>
            <a:ext cx="603504" cy="290683"/>
          </a:xfrm>
          <a:prstGeom prst="rect">
            <a:avLst/>
          </a:prstGeom>
          <a:solidFill>
            <a:srgbClr val="FFE5C0"/>
          </a:solidFill>
          <a:ln w="15240">
            <a:solidFill>
              <a:srgbClr val="FF6B00"/>
            </a:solidFill>
            <a:prstDash val="solid"/>
          </a:ln>
        </p:spPr>
        <p:txBody>
          <a:bodyPr/>
          <a:lstStyle/>
          <a:p>
            <a:endParaRPr lang="es-ES"/>
          </a:p>
        </p:txBody>
      </p:sp>
      <p:sp>
        <p:nvSpPr>
          <p:cNvPr id="26" name="Text 24"/>
          <p:cNvSpPr/>
          <p:nvPr/>
        </p:nvSpPr>
        <p:spPr>
          <a:xfrm>
            <a:off x="118872" y="3013189"/>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Operaciones de firma</a:t>
            </a:r>
            <a:endParaRPr lang="en-US" sz="550" dirty="0"/>
          </a:p>
        </p:txBody>
      </p:sp>
      <p:sp>
        <p:nvSpPr>
          <p:cNvPr id="27" name="Shape 25"/>
          <p:cNvSpPr/>
          <p:nvPr/>
        </p:nvSpPr>
        <p:spPr>
          <a:xfrm>
            <a:off x="118872" y="3313016"/>
            <a:ext cx="603504" cy="290683"/>
          </a:xfrm>
          <a:prstGeom prst="rect">
            <a:avLst/>
          </a:prstGeom>
          <a:solidFill>
            <a:srgbClr val="FFE5C0"/>
          </a:solidFill>
          <a:ln w="15240">
            <a:solidFill>
              <a:srgbClr val="FF6B00"/>
            </a:solidFill>
            <a:prstDash val="solid"/>
          </a:ln>
        </p:spPr>
        <p:txBody>
          <a:bodyPr/>
          <a:lstStyle/>
          <a:p>
            <a:endParaRPr lang="es-ES"/>
          </a:p>
        </p:txBody>
      </p:sp>
      <p:sp>
        <p:nvSpPr>
          <p:cNvPr id="28" name="Text 26"/>
          <p:cNvSpPr/>
          <p:nvPr/>
        </p:nvSpPr>
        <p:spPr>
          <a:xfrm>
            <a:off x="118872" y="3313016"/>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Operaciones de Cifrado</a:t>
            </a:r>
            <a:endParaRPr lang="en-US" sz="550" dirty="0"/>
          </a:p>
        </p:txBody>
      </p:sp>
      <p:sp>
        <p:nvSpPr>
          <p:cNvPr id="29" name="Shape 27"/>
          <p:cNvSpPr/>
          <p:nvPr/>
        </p:nvSpPr>
        <p:spPr>
          <a:xfrm>
            <a:off x="118872" y="3612843"/>
            <a:ext cx="603504" cy="290683"/>
          </a:xfrm>
          <a:prstGeom prst="rect">
            <a:avLst/>
          </a:prstGeom>
          <a:solidFill>
            <a:srgbClr val="FFE5C0"/>
          </a:solidFill>
          <a:ln w="15240">
            <a:solidFill>
              <a:srgbClr val="FF6B00"/>
            </a:solidFill>
            <a:prstDash val="solid"/>
          </a:ln>
        </p:spPr>
        <p:txBody>
          <a:bodyPr/>
          <a:lstStyle/>
          <a:p>
            <a:endParaRPr lang="es-ES"/>
          </a:p>
        </p:txBody>
      </p:sp>
      <p:sp>
        <p:nvSpPr>
          <p:cNvPr id="30" name="Text 28"/>
          <p:cNvSpPr/>
          <p:nvPr/>
        </p:nvSpPr>
        <p:spPr>
          <a:xfrm>
            <a:off x="118872" y="3612843"/>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Cifrado E2E</a:t>
            </a:r>
            <a:endParaRPr lang="en-US" sz="550" dirty="0"/>
          </a:p>
        </p:txBody>
      </p:sp>
      <p:sp>
        <p:nvSpPr>
          <p:cNvPr id="31" name="Text 29"/>
          <p:cNvSpPr/>
          <p:nvPr/>
        </p:nvSpPr>
        <p:spPr>
          <a:xfrm>
            <a:off x="118872" y="3912669"/>
            <a:ext cx="603504" cy="299827"/>
          </a:xfrm>
          <a:prstGeom prst="rect">
            <a:avLst/>
          </a:prstGeom>
          <a:noFill/>
          <a:ln/>
        </p:spPr>
        <p:txBody>
          <a:bodyPr wrap="square" rtlCol="0" anchor="ctr"/>
          <a:lstStyle/>
          <a:p>
            <a:pPr marL="0" indent="0" algn="l">
              <a:buNone/>
            </a:pPr>
            <a:r>
              <a:rPr lang="en-US" sz="650" b="1" i="1" dirty="0">
                <a:solidFill>
                  <a:srgbClr val="FF6B00"/>
                </a:solidFill>
              </a:rPr>
              <a:t>Certificado &amp; Gestión de Secretos</a:t>
            </a:r>
            <a:endParaRPr lang="en-US" sz="650" dirty="0"/>
          </a:p>
        </p:txBody>
      </p:sp>
      <p:sp>
        <p:nvSpPr>
          <p:cNvPr id="32" name="Shape 30"/>
          <p:cNvSpPr/>
          <p:nvPr/>
        </p:nvSpPr>
        <p:spPr>
          <a:xfrm>
            <a:off x="118872" y="4212496"/>
            <a:ext cx="603504" cy="290683"/>
          </a:xfrm>
          <a:prstGeom prst="rect">
            <a:avLst/>
          </a:prstGeom>
          <a:solidFill>
            <a:srgbClr val="FFE5C0"/>
          </a:solidFill>
          <a:ln w="15240">
            <a:solidFill>
              <a:srgbClr val="FF6B00"/>
            </a:solidFill>
            <a:prstDash val="solid"/>
          </a:ln>
        </p:spPr>
        <p:txBody>
          <a:bodyPr/>
          <a:lstStyle/>
          <a:p>
            <a:endParaRPr lang="es-ES"/>
          </a:p>
        </p:txBody>
      </p:sp>
      <p:sp>
        <p:nvSpPr>
          <p:cNvPr id="33" name="Text 31"/>
          <p:cNvSpPr/>
          <p:nvPr/>
        </p:nvSpPr>
        <p:spPr>
          <a:xfrm>
            <a:off x="118872" y="4212496"/>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de Certificados</a:t>
            </a:r>
            <a:endParaRPr lang="en-US" sz="550" dirty="0"/>
          </a:p>
        </p:txBody>
      </p:sp>
      <p:sp>
        <p:nvSpPr>
          <p:cNvPr id="34" name="Shape 32"/>
          <p:cNvSpPr/>
          <p:nvPr/>
        </p:nvSpPr>
        <p:spPr>
          <a:xfrm>
            <a:off x="118872" y="4512323"/>
            <a:ext cx="603504" cy="290683"/>
          </a:xfrm>
          <a:prstGeom prst="rect">
            <a:avLst/>
          </a:prstGeom>
          <a:solidFill>
            <a:srgbClr val="FFE5C0"/>
          </a:solidFill>
          <a:ln w="15240">
            <a:solidFill>
              <a:srgbClr val="FF6B00"/>
            </a:solidFill>
            <a:prstDash val="solid"/>
          </a:ln>
        </p:spPr>
        <p:txBody>
          <a:bodyPr/>
          <a:lstStyle/>
          <a:p>
            <a:endParaRPr lang="es-ES"/>
          </a:p>
        </p:txBody>
      </p:sp>
      <p:sp>
        <p:nvSpPr>
          <p:cNvPr id="35" name="Text 33"/>
          <p:cNvSpPr/>
          <p:nvPr/>
        </p:nvSpPr>
        <p:spPr>
          <a:xfrm>
            <a:off x="118872" y="4512323"/>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Gestión Secreta</a:t>
            </a:r>
            <a:endParaRPr lang="en-US" sz="550" dirty="0"/>
          </a:p>
        </p:txBody>
      </p:sp>
      <p:sp>
        <p:nvSpPr>
          <p:cNvPr id="36" name="Shape 34"/>
          <p:cNvSpPr/>
          <p:nvPr/>
        </p:nvSpPr>
        <p:spPr>
          <a:xfrm>
            <a:off x="118872" y="4812150"/>
            <a:ext cx="603504" cy="290683"/>
          </a:xfrm>
          <a:prstGeom prst="rect">
            <a:avLst/>
          </a:prstGeom>
          <a:solidFill>
            <a:srgbClr val="FFE5C0"/>
          </a:solidFill>
          <a:ln w="15240">
            <a:solidFill>
              <a:srgbClr val="FF6B00"/>
            </a:solidFill>
            <a:prstDash val="solid"/>
          </a:ln>
        </p:spPr>
        <p:txBody>
          <a:bodyPr/>
          <a:lstStyle/>
          <a:p>
            <a:endParaRPr lang="es-ES"/>
          </a:p>
        </p:txBody>
      </p:sp>
      <p:sp>
        <p:nvSpPr>
          <p:cNvPr id="37" name="Text 35"/>
          <p:cNvSpPr/>
          <p:nvPr/>
        </p:nvSpPr>
        <p:spPr>
          <a:xfrm>
            <a:off x="118872" y="4812150"/>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HSM</a:t>
            </a:r>
            <a:endParaRPr lang="en-US" sz="550" dirty="0"/>
          </a:p>
        </p:txBody>
      </p:sp>
      <p:sp>
        <p:nvSpPr>
          <p:cNvPr id="38" name="Text 36"/>
          <p:cNvSpPr/>
          <p:nvPr/>
        </p:nvSpPr>
        <p:spPr>
          <a:xfrm>
            <a:off x="118872" y="5111977"/>
            <a:ext cx="603504" cy="299827"/>
          </a:xfrm>
          <a:prstGeom prst="rect">
            <a:avLst/>
          </a:prstGeom>
          <a:noFill/>
          <a:ln/>
        </p:spPr>
        <p:txBody>
          <a:bodyPr wrap="square" rtlCol="0" anchor="ctr"/>
          <a:lstStyle/>
          <a:p>
            <a:pPr marL="0" indent="0" algn="l">
              <a:buNone/>
            </a:pPr>
            <a:r>
              <a:rPr lang="en-US" sz="650" b="1" i="1" dirty="0">
                <a:solidFill>
                  <a:srgbClr val="FF6B00"/>
                </a:solidFill>
              </a:rPr>
              <a:t>Protección contra amenazas</a:t>
            </a:r>
            <a:endParaRPr lang="en-US" sz="650" dirty="0"/>
          </a:p>
        </p:txBody>
      </p:sp>
      <p:sp>
        <p:nvSpPr>
          <p:cNvPr id="39" name="Shape 37"/>
          <p:cNvSpPr/>
          <p:nvPr/>
        </p:nvSpPr>
        <p:spPr>
          <a:xfrm>
            <a:off x="118872" y="5411804"/>
            <a:ext cx="603504" cy="290683"/>
          </a:xfrm>
          <a:prstGeom prst="rect">
            <a:avLst/>
          </a:prstGeom>
          <a:solidFill>
            <a:srgbClr val="FFE5C0"/>
          </a:solidFill>
          <a:ln w="15240">
            <a:solidFill>
              <a:srgbClr val="FF6B00"/>
            </a:solidFill>
            <a:prstDash val="solid"/>
          </a:ln>
        </p:spPr>
        <p:txBody>
          <a:bodyPr/>
          <a:lstStyle/>
          <a:p>
            <a:endParaRPr lang="es-ES"/>
          </a:p>
        </p:txBody>
      </p:sp>
      <p:sp>
        <p:nvSpPr>
          <p:cNvPr id="40" name="Text 38"/>
          <p:cNvSpPr/>
          <p:nvPr/>
        </p:nvSpPr>
        <p:spPr>
          <a:xfrm>
            <a:off x="118872" y="5411804"/>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Protección amenazas (1.4)</a:t>
            </a:r>
            <a:endParaRPr lang="en-US" sz="550" dirty="0"/>
          </a:p>
        </p:txBody>
      </p:sp>
      <p:sp>
        <p:nvSpPr>
          <p:cNvPr id="41" name="Shape 39"/>
          <p:cNvSpPr/>
          <p:nvPr/>
        </p:nvSpPr>
        <p:spPr>
          <a:xfrm>
            <a:off x="118872" y="5711631"/>
            <a:ext cx="603504" cy="290683"/>
          </a:xfrm>
          <a:prstGeom prst="rect">
            <a:avLst/>
          </a:prstGeom>
          <a:solidFill>
            <a:srgbClr val="FFE5C0"/>
          </a:solidFill>
          <a:ln w="15240">
            <a:solidFill>
              <a:srgbClr val="FF6B00"/>
            </a:solidFill>
            <a:prstDash val="solid"/>
          </a:ln>
        </p:spPr>
        <p:txBody>
          <a:bodyPr/>
          <a:lstStyle/>
          <a:p>
            <a:endParaRPr lang="es-ES"/>
          </a:p>
        </p:txBody>
      </p:sp>
      <p:sp>
        <p:nvSpPr>
          <p:cNvPr id="42" name="Text 40"/>
          <p:cNvSpPr/>
          <p:nvPr/>
        </p:nvSpPr>
        <p:spPr>
          <a:xfrm>
            <a:off x="118872" y="5711631"/>
            <a:ext cx="603504" cy="290683"/>
          </a:xfrm>
          <a:prstGeom prst="rect">
            <a:avLst/>
          </a:prstGeom>
          <a:noFill/>
          <a:ln/>
        </p:spPr>
        <p:txBody>
          <a:bodyPr wrap="square" lIns="19050" tIns="19050" rIns="19050" bIns="19050" rtlCol="0" anchor="ctr"/>
          <a:lstStyle/>
          <a:p>
            <a:pPr marL="0" indent="0" algn="ctr">
              <a:buNone/>
            </a:pPr>
            <a:r>
              <a:rPr lang="en-US" sz="550" b="1" dirty="0">
                <a:solidFill>
                  <a:srgbClr val="6B2400"/>
                </a:solidFill>
              </a:rPr>
              <a:t>Observabilidad Seguridad (1.6)</a:t>
            </a:r>
            <a:endParaRPr lang="en-US" sz="550" dirty="0"/>
          </a:p>
        </p:txBody>
      </p:sp>
      <p:sp>
        <p:nvSpPr>
          <p:cNvPr id="43" name="Text 41"/>
          <p:cNvSpPr/>
          <p:nvPr/>
        </p:nvSpPr>
        <p:spPr>
          <a:xfrm>
            <a:off x="118872" y="6011458"/>
            <a:ext cx="603504" cy="299827"/>
          </a:xfrm>
          <a:prstGeom prst="rect">
            <a:avLst/>
          </a:prstGeom>
          <a:noFill/>
          <a:ln/>
        </p:spPr>
        <p:txBody>
          <a:bodyPr wrap="square" rtlCol="0" anchor="ctr"/>
          <a:lstStyle/>
          <a:p>
            <a:pPr marL="0" indent="0" algn="l">
              <a:buNone/>
            </a:pPr>
            <a:r>
              <a:rPr lang="en-US" sz="650" i="1" dirty="0">
                <a:solidFill>
                  <a:srgbClr val="595959"/>
                </a:solidFill>
              </a:rPr>
              <a:t>VTM</a:t>
            </a:r>
            <a:endParaRPr lang="en-US" sz="650" dirty="0"/>
          </a:p>
        </p:txBody>
      </p:sp>
      <p:sp>
        <p:nvSpPr>
          <p:cNvPr id="44" name="Shape 42"/>
          <p:cNvSpPr/>
          <p:nvPr/>
        </p:nvSpPr>
        <p:spPr>
          <a:xfrm>
            <a:off x="118872" y="6311285"/>
            <a:ext cx="603504" cy="290683"/>
          </a:xfrm>
          <a:prstGeom prst="rect">
            <a:avLst/>
          </a:prstGeom>
          <a:solidFill>
            <a:srgbClr val="F0F0F0"/>
          </a:solidFill>
          <a:ln w="5080">
            <a:solidFill>
              <a:srgbClr val="CCCCCC"/>
            </a:solidFill>
            <a:prstDash val="solid"/>
          </a:ln>
        </p:spPr>
        <p:txBody>
          <a:bodyPr/>
          <a:lstStyle/>
          <a:p>
            <a:endParaRPr lang="es-ES"/>
          </a:p>
        </p:txBody>
      </p:sp>
      <p:sp>
        <p:nvSpPr>
          <p:cNvPr id="45" name="Text 43"/>
          <p:cNvSpPr/>
          <p:nvPr/>
        </p:nvSpPr>
        <p:spPr>
          <a:xfrm>
            <a:off x="118872" y="6311285"/>
            <a:ext cx="603504" cy="290683"/>
          </a:xfrm>
          <a:prstGeom prst="rect">
            <a:avLst/>
          </a:prstGeom>
          <a:noFill/>
          <a:ln/>
        </p:spPr>
        <p:txBody>
          <a:bodyPr wrap="square" lIns="19050" tIns="19050" rIns="19050" bIns="19050" rtlCol="0" anchor="ctr"/>
          <a:lstStyle/>
          <a:p>
            <a:pPr marL="0" indent="0" algn="ctr">
              <a:buNone/>
            </a:pPr>
            <a:r>
              <a:rPr lang="en-US" sz="550" dirty="0">
                <a:solidFill>
                  <a:srgbClr val="888888"/>
                </a:solidFill>
              </a:rPr>
              <a:t>Gestión de Vulnerabilidades y Amenazas (VTM)</a:t>
            </a:r>
            <a:endParaRPr lang="en-US" sz="550" dirty="0"/>
          </a:p>
        </p:txBody>
      </p:sp>
      <p:sp>
        <p:nvSpPr>
          <p:cNvPr id="46" name="Shape 44"/>
          <p:cNvSpPr/>
          <p:nvPr/>
        </p:nvSpPr>
        <p:spPr>
          <a:xfrm>
            <a:off x="777240" y="694944"/>
            <a:ext cx="658368" cy="5916168"/>
          </a:xfrm>
          <a:prstGeom prst="rect">
            <a:avLst/>
          </a:prstGeom>
          <a:solidFill>
            <a:srgbClr val="FFF3DC"/>
          </a:solidFill>
          <a:ln w="19050">
            <a:solidFill>
              <a:srgbClr val="E89300"/>
            </a:solidFill>
            <a:prstDash val="solid"/>
          </a:ln>
        </p:spPr>
        <p:txBody>
          <a:bodyPr/>
          <a:lstStyle/>
          <a:p>
            <a:endParaRPr lang="es-ES"/>
          </a:p>
        </p:txBody>
      </p:sp>
      <p:sp>
        <p:nvSpPr>
          <p:cNvPr id="47" name="Shape 45"/>
          <p:cNvSpPr/>
          <p:nvPr/>
        </p:nvSpPr>
        <p:spPr>
          <a:xfrm>
            <a:off x="777240" y="694944"/>
            <a:ext cx="658368" cy="201168"/>
          </a:xfrm>
          <a:prstGeom prst="rect">
            <a:avLst/>
          </a:prstGeom>
          <a:solidFill>
            <a:srgbClr val="A100FF"/>
          </a:solidFill>
          <a:ln w="12700">
            <a:solidFill>
              <a:srgbClr val="A100FF"/>
            </a:solidFill>
            <a:prstDash val="solid"/>
          </a:ln>
        </p:spPr>
        <p:txBody>
          <a:bodyPr/>
          <a:lstStyle/>
          <a:p>
            <a:endParaRPr lang="es-ES"/>
          </a:p>
        </p:txBody>
      </p:sp>
      <p:sp>
        <p:nvSpPr>
          <p:cNvPr id="48" name="Text 46"/>
          <p:cNvSpPr/>
          <p:nvPr/>
        </p:nvSpPr>
        <p:spPr>
          <a:xfrm>
            <a:off x="978408" y="694944"/>
            <a:ext cx="438912" cy="201168"/>
          </a:xfrm>
          <a:prstGeom prst="rect">
            <a:avLst/>
          </a:prstGeom>
          <a:noFill/>
          <a:ln/>
        </p:spPr>
        <p:txBody>
          <a:bodyPr wrap="square" rtlCol="0" anchor="ctr"/>
          <a:lstStyle/>
          <a:p>
            <a:pPr marL="0" indent="0" algn="ctr">
              <a:buNone/>
            </a:pPr>
            <a:r>
              <a:rPr lang="en-US" sz="750" b="1" dirty="0">
                <a:solidFill>
                  <a:srgbClr val="FFFFFF"/>
                </a:solidFill>
              </a:rPr>
              <a:t>Observabilidad</a:t>
            </a:r>
            <a:endParaRPr lang="en-US" sz="750" dirty="0"/>
          </a:p>
        </p:txBody>
      </p:sp>
      <p:sp>
        <p:nvSpPr>
          <p:cNvPr id="49" name="Shape 47"/>
          <p:cNvSpPr/>
          <p:nvPr/>
        </p:nvSpPr>
        <p:spPr>
          <a:xfrm>
            <a:off x="795528"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50" name="Text 48"/>
          <p:cNvSpPr/>
          <p:nvPr/>
        </p:nvSpPr>
        <p:spPr>
          <a:xfrm>
            <a:off x="795528"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51" name="Shape 49"/>
          <p:cNvSpPr/>
          <p:nvPr/>
        </p:nvSpPr>
        <p:spPr>
          <a:xfrm>
            <a:off x="1143000"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52" name="Text 50"/>
          <p:cNvSpPr/>
          <p:nvPr/>
        </p:nvSpPr>
        <p:spPr>
          <a:xfrm>
            <a:off x="1143000"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53" name="Shape 51"/>
          <p:cNvSpPr/>
          <p:nvPr/>
        </p:nvSpPr>
        <p:spPr>
          <a:xfrm>
            <a:off x="804672" y="914400"/>
            <a:ext cx="603504" cy="2830068"/>
          </a:xfrm>
          <a:prstGeom prst="rect">
            <a:avLst/>
          </a:prstGeom>
          <a:solidFill>
            <a:srgbClr val="FFE5C0"/>
          </a:solidFill>
          <a:ln w="10160">
            <a:solidFill>
              <a:srgbClr val="FF6B00"/>
            </a:solidFill>
            <a:prstDash val="solid"/>
          </a:ln>
        </p:spPr>
        <p:txBody>
          <a:bodyPr/>
          <a:lstStyle/>
          <a:p>
            <a:endParaRPr lang="es-ES"/>
          </a:p>
        </p:txBody>
      </p:sp>
      <p:sp>
        <p:nvSpPr>
          <p:cNvPr id="54" name="Text 52"/>
          <p:cNvSpPr/>
          <p:nvPr/>
        </p:nvSpPr>
        <p:spPr>
          <a:xfrm>
            <a:off x="813816" y="923544"/>
            <a:ext cx="585216" cy="109728"/>
          </a:xfrm>
          <a:prstGeom prst="rect">
            <a:avLst/>
          </a:prstGeom>
          <a:noFill/>
          <a:ln/>
        </p:spPr>
        <p:txBody>
          <a:bodyPr wrap="square" rtlCol="0" anchor="ctr"/>
          <a:lstStyle/>
          <a:p>
            <a:pPr marL="0" indent="0" algn="l">
              <a:buNone/>
            </a:pPr>
            <a:r>
              <a:rPr lang="en-US" sz="650" b="1" i="1" dirty="0">
                <a:solidFill>
                  <a:srgbClr val="FF6B00"/>
                </a:solidFill>
              </a:rPr>
              <a:t>Monitorización (2.1)</a:t>
            </a:r>
            <a:endParaRPr lang="en-US" sz="650" dirty="0"/>
          </a:p>
        </p:txBody>
      </p:sp>
      <p:sp>
        <p:nvSpPr>
          <p:cNvPr id="55" name="Shape 53"/>
          <p:cNvSpPr/>
          <p:nvPr/>
        </p:nvSpPr>
        <p:spPr>
          <a:xfrm>
            <a:off x="813816" y="1042416"/>
            <a:ext cx="585216" cy="442722"/>
          </a:xfrm>
          <a:prstGeom prst="rect">
            <a:avLst/>
          </a:prstGeom>
          <a:solidFill>
            <a:srgbClr val="FFE5C0"/>
          </a:solidFill>
          <a:ln w="15240">
            <a:solidFill>
              <a:srgbClr val="FF6B00"/>
            </a:solidFill>
            <a:prstDash val="solid"/>
          </a:ln>
        </p:spPr>
        <p:txBody>
          <a:bodyPr/>
          <a:lstStyle/>
          <a:p>
            <a:endParaRPr lang="es-ES"/>
          </a:p>
        </p:txBody>
      </p:sp>
      <p:sp>
        <p:nvSpPr>
          <p:cNvPr id="56" name="Text 54"/>
          <p:cNvSpPr/>
          <p:nvPr/>
        </p:nvSpPr>
        <p:spPr>
          <a:xfrm>
            <a:off x="813816" y="1042416"/>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Servicios de Registro Operativo</a:t>
            </a:r>
            <a:endParaRPr lang="en-US" sz="520" dirty="0"/>
          </a:p>
        </p:txBody>
      </p:sp>
      <p:sp>
        <p:nvSpPr>
          <p:cNvPr id="57" name="Shape 55"/>
          <p:cNvSpPr/>
          <p:nvPr/>
        </p:nvSpPr>
        <p:spPr>
          <a:xfrm>
            <a:off x="813816" y="1494282"/>
            <a:ext cx="585216" cy="442722"/>
          </a:xfrm>
          <a:prstGeom prst="rect">
            <a:avLst/>
          </a:prstGeom>
          <a:solidFill>
            <a:srgbClr val="FFE5C0"/>
          </a:solidFill>
          <a:ln w="15240">
            <a:solidFill>
              <a:srgbClr val="FF6B00"/>
            </a:solidFill>
            <a:prstDash val="solid"/>
          </a:ln>
        </p:spPr>
        <p:txBody>
          <a:bodyPr/>
          <a:lstStyle/>
          <a:p>
            <a:endParaRPr lang="es-ES"/>
          </a:p>
        </p:txBody>
      </p:sp>
      <p:sp>
        <p:nvSpPr>
          <p:cNvPr id="58" name="Text 56"/>
          <p:cNvSpPr/>
          <p:nvPr/>
        </p:nvSpPr>
        <p:spPr>
          <a:xfrm>
            <a:off x="813816" y="1494282"/>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Monitorización del estado</a:t>
            </a:r>
            <a:endParaRPr lang="en-US" sz="520" dirty="0"/>
          </a:p>
        </p:txBody>
      </p:sp>
      <p:sp>
        <p:nvSpPr>
          <p:cNvPr id="59" name="Shape 57"/>
          <p:cNvSpPr/>
          <p:nvPr/>
        </p:nvSpPr>
        <p:spPr>
          <a:xfrm>
            <a:off x="813816" y="1946148"/>
            <a:ext cx="585216" cy="442722"/>
          </a:xfrm>
          <a:prstGeom prst="rect">
            <a:avLst/>
          </a:prstGeom>
          <a:solidFill>
            <a:srgbClr val="FFE5C0"/>
          </a:solidFill>
          <a:ln w="15240">
            <a:solidFill>
              <a:srgbClr val="FF6B00"/>
            </a:solidFill>
            <a:prstDash val="solid"/>
          </a:ln>
        </p:spPr>
        <p:txBody>
          <a:bodyPr/>
          <a:lstStyle/>
          <a:p>
            <a:endParaRPr lang="es-ES"/>
          </a:p>
        </p:txBody>
      </p:sp>
      <p:sp>
        <p:nvSpPr>
          <p:cNvPr id="60" name="Text 58"/>
          <p:cNvSpPr/>
          <p:nvPr/>
        </p:nvSpPr>
        <p:spPr>
          <a:xfrm>
            <a:off x="813816" y="1946148"/>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Paneles de control empresariales (2.5.2)</a:t>
            </a:r>
            <a:endParaRPr lang="en-US" sz="520" dirty="0"/>
          </a:p>
        </p:txBody>
      </p:sp>
      <p:sp>
        <p:nvSpPr>
          <p:cNvPr id="61" name="Shape 59"/>
          <p:cNvSpPr/>
          <p:nvPr/>
        </p:nvSpPr>
        <p:spPr>
          <a:xfrm>
            <a:off x="813816" y="2398014"/>
            <a:ext cx="585216" cy="442722"/>
          </a:xfrm>
          <a:prstGeom prst="rect">
            <a:avLst/>
          </a:prstGeom>
          <a:solidFill>
            <a:srgbClr val="FFE5C0"/>
          </a:solidFill>
          <a:ln w="15240">
            <a:solidFill>
              <a:srgbClr val="FF6B00"/>
            </a:solidFill>
            <a:prstDash val="solid"/>
          </a:ln>
        </p:spPr>
        <p:txBody>
          <a:bodyPr/>
          <a:lstStyle/>
          <a:p>
            <a:endParaRPr lang="es-ES"/>
          </a:p>
        </p:txBody>
      </p:sp>
      <p:sp>
        <p:nvSpPr>
          <p:cNvPr id="62" name="Text 60"/>
          <p:cNvSpPr/>
          <p:nvPr/>
        </p:nvSpPr>
        <p:spPr>
          <a:xfrm>
            <a:off x="813816" y="2398014"/>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Alertas</a:t>
            </a:r>
            <a:endParaRPr lang="en-US" sz="520" dirty="0"/>
          </a:p>
        </p:txBody>
      </p:sp>
      <p:sp>
        <p:nvSpPr>
          <p:cNvPr id="63" name="Shape 61"/>
          <p:cNvSpPr/>
          <p:nvPr/>
        </p:nvSpPr>
        <p:spPr>
          <a:xfrm>
            <a:off x="813816" y="2849880"/>
            <a:ext cx="585216" cy="442722"/>
          </a:xfrm>
          <a:prstGeom prst="rect">
            <a:avLst/>
          </a:prstGeom>
          <a:solidFill>
            <a:srgbClr val="FFE5C0"/>
          </a:solidFill>
          <a:ln w="15240">
            <a:solidFill>
              <a:srgbClr val="FF6B00"/>
            </a:solidFill>
            <a:prstDash val="solid"/>
          </a:ln>
        </p:spPr>
        <p:txBody>
          <a:bodyPr/>
          <a:lstStyle/>
          <a:p>
            <a:endParaRPr lang="es-ES"/>
          </a:p>
        </p:txBody>
      </p:sp>
      <p:sp>
        <p:nvSpPr>
          <p:cNvPr id="64" name="Text 62"/>
          <p:cNvSpPr/>
          <p:nvPr/>
        </p:nvSpPr>
        <p:spPr>
          <a:xfrm>
            <a:off x="813816" y="2849880"/>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Trazado E2E (2.3)</a:t>
            </a:r>
            <a:endParaRPr lang="en-US" sz="520" dirty="0"/>
          </a:p>
        </p:txBody>
      </p:sp>
      <p:sp>
        <p:nvSpPr>
          <p:cNvPr id="65" name="Shape 63"/>
          <p:cNvSpPr/>
          <p:nvPr/>
        </p:nvSpPr>
        <p:spPr>
          <a:xfrm>
            <a:off x="813816" y="3301746"/>
            <a:ext cx="585216" cy="442722"/>
          </a:xfrm>
          <a:prstGeom prst="rect">
            <a:avLst/>
          </a:prstGeom>
          <a:solidFill>
            <a:srgbClr val="FFE5C0"/>
          </a:solidFill>
          <a:ln w="15240">
            <a:solidFill>
              <a:srgbClr val="FF6B00"/>
            </a:solidFill>
            <a:prstDash val="solid"/>
          </a:ln>
        </p:spPr>
        <p:txBody>
          <a:bodyPr/>
          <a:lstStyle/>
          <a:p>
            <a:endParaRPr lang="es-ES"/>
          </a:p>
        </p:txBody>
      </p:sp>
      <p:sp>
        <p:nvSpPr>
          <p:cNvPr id="66" name="Text 64"/>
          <p:cNvSpPr/>
          <p:nvPr/>
        </p:nvSpPr>
        <p:spPr>
          <a:xfrm>
            <a:off x="813816" y="3301746"/>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Registro de auditoría (2.2.3)</a:t>
            </a:r>
            <a:endParaRPr lang="en-US" sz="520" dirty="0"/>
          </a:p>
        </p:txBody>
      </p:sp>
      <p:sp>
        <p:nvSpPr>
          <p:cNvPr id="67" name="Shape 65"/>
          <p:cNvSpPr/>
          <p:nvPr/>
        </p:nvSpPr>
        <p:spPr>
          <a:xfrm>
            <a:off x="804672" y="3762756"/>
            <a:ext cx="603504" cy="2830068"/>
          </a:xfrm>
          <a:prstGeom prst="rect">
            <a:avLst/>
          </a:prstGeom>
          <a:solidFill>
            <a:srgbClr val="FFF3DC"/>
          </a:solidFill>
          <a:ln w="7620">
            <a:solidFill>
              <a:srgbClr val="E89300"/>
            </a:solidFill>
            <a:prstDash val="solid"/>
          </a:ln>
        </p:spPr>
        <p:txBody>
          <a:bodyPr/>
          <a:lstStyle/>
          <a:p>
            <a:endParaRPr lang="es-ES"/>
          </a:p>
        </p:txBody>
      </p:sp>
      <p:sp>
        <p:nvSpPr>
          <p:cNvPr id="68" name="Text 66"/>
          <p:cNvSpPr/>
          <p:nvPr/>
        </p:nvSpPr>
        <p:spPr>
          <a:xfrm>
            <a:off x="813816" y="3771900"/>
            <a:ext cx="585216" cy="109728"/>
          </a:xfrm>
          <a:prstGeom prst="rect">
            <a:avLst/>
          </a:prstGeom>
          <a:noFill/>
          <a:ln/>
        </p:spPr>
        <p:txBody>
          <a:bodyPr wrap="square" rtlCol="0" anchor="ctr"/>
          <a:lstStyle/>
          <a:p>
            <a:pPr marL="0" indent="0" algn="l">
              <a:buNone/>
            </a:pPr>
            <a:r>
              <a:rPr lang="en-US" sz="650" b="1" i="1" dirty="0">
                <a:solidFill>
                  <a:srgbClr val="E89300"/>
                </a:solidFill>
              </a:rPr>
              <a:t>Otras capacidades</a:t>
            </a:r>
            <a:endParaRPr lang="en-US" sz="650" dirty="0"/>
          </a:p>
        </p:txBody>
      </p:sp>
      <p:sp>
        <p:nvSpPr>
          <p:cNvPr id="69" name="Shape 67"/>
          <p:cNvSpPr/>
          <p:nvPr/>
        </p:nvSpPr>
        <p:spPr>
          <a:xfrm>
            <a:off x="813816" y="3890772"/>
            <a:ext cx="585216" cy="442722"/>
          </a:xfrm>
          <a:prstGeom prst="rect">
            <a:avLst/>
          </a:prstGeom>
          <a:solidFill>
            <a:srgbClr val="F0F0F0"/>
          </a:solidFill>
          <a:ln w="5080">
            <a:solidFill>
              <a:srgbClr val="CCCCCC"/>
            </a:solidFill>
            <a:prstDash val="solid"/>
          </a:ln>
        </p:spPr>
        <p:txBody>
          <a:bodyPr/>
          <a:lstStyle/>
          <a:p>
            <a:endParaRPr lang="es-ES"/>
          </a:p>
        </p:txBody>
      </p:sp>
      <p:sp>
        <p:nvSpPr>
          <p:cNvPr id="70" name="Text 68"/>
          <p:cNvSpPr/>
          <p:nvPr/>
        </p:nvSpPr>
        <p:spPr>
          <a:xfrm>
            <a:off x="813816" y="3890772"/>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Métricas y Analítica</a:t>
            </a:r>
            <a:endParaRPr lang="en-US" sz="520" dirty="0"/>
          </a:p>
        </p:txBody>
      </p:sp>
      <p:sp>
        <p:nvSpPr>
          <p:cNvPr id="71" name="Shape 69"/>
          <p:cNvSpPr/>
          <p:nvPr/>
        </p:nvSpPr>
        <p:spPr>
          <a:xfrm>
            <a:off x="813816" y="4342638"/>
            <a:ext cx="585216" cy="442722"/>
          </a:xfrm>
          <a:prstGeom prst="rect">
            <a:avLst/>
          </a:prstGeom>
          <a:solidFill>
            <a:srgbClr val="F0F0F0"/>
          </a:solidFill>
          <a:ln w="5080">
            <a:solidFill>
              <a:srgbClr val="CCCCCC"/>
            </a:solidFill>
            <a:prstDash val="solid"/>
          </a:ln>
        </p:spPr>
        <p:txBody>
          <a:bodyPr/>
          <a:lstStyle/>
          <a:p>
            <a:endParaRPr lang="es-ES"/>
          </a:p>
        </p:txBody>
      </p:sp>
      <p:sp>
        <p:nvSpPr>
          <p:cNvPr id="72" name="Text 70"/>
          <p:cNvSpPr/>
          <p:nvPr/>
        </p:nvSpPr>
        <p:spPr>
          <a:xfrm>
            <a:off x="813816" y="4342638"/>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Reportes</a:t>
            </a:r>
            <a:endParaRPr lang="en-US" sz="520" dirty="0"/>
          </a:p>
        </p:txBody>
      </p:sp>
      <p:sp>
        <p:nvSpPr>
          <p:cNvPr id="73" name="Shape 71"/>
          <p:cNvSpPr/>
          <p:nvPr/>
        </p:nvSpPr>
        <p:spPr>
          <a:xfrm>
            <a:off x="813816" y="4794504"/>
            <a:ext cx="585216" cy="442722"/>
          </a:xfrm>
          <a:prstGeom prst="rect">
            <a:avLst/>
          </a:prstGeom>
          <a:solidFill>
            <a:srgbClr val="F0F0F0"/>
          </a:solidFill>
          <a:ln w="5080">
            <a:solidFill>
              <a:srgbClr val="CCCCCC"/>
            </a:solidFill>
            <a:prstDash val="solid"/>
          </a:ln>
        </p:spPr>
        <p:txBody>
          <a:bodyPr/>
          <a:lstStyle/>
          <a:p>
            <a:endParaRPr lang="es-ES"/>
          </a:p>
        </p:txBody>
      </p:sp>
      <p:sp>
        <p:nvSpPr>
          <p:cNvPr id="74" name="Text 72"/>
          <p:cNvSpPr/>
          <p:nvPr/>
        </p:nvSpPr>
        <p:spPr>
          <a:xfrm>
            <a:off x="813816" y="4794504"/>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Paneles técnicos</a:t>
            </a:r>
            <a:endParaRPr lang="en-US" sz="520" dirty="0"/>
          </a:p>
        </p:txBody>
      </p:sp>
      <p:sp>
        <p:nvSpPr>
          <p:cNvPr id="75" name="Shape 73"/>
          <p:cNvSpPr/>
          <p:nvPr/>
        </p:nvSpPr>
        <p:spPr>
          <a:xfrm>
            <a:off x="813816" y="5246370"/>
            <a:ext cx="585216" cy="442722"/>
          </a:xfrm>
          <a:prstGeom prst="rect">
            <a:avLst/>
          </a:prstGeom>
          <a:solidFill>
            <a:srgbClr val="FFE5C0"/>
          </a:solidFill>
          <a:ln w="15240">
            <a:solidFill>
              <a:srgbClr val="FF6B00"/>
            </a:solidFill>
            <a:prstDash val="solid"/>
          </a:ln>
        </p:spPr>
        <p:txBody>
          <a:bodyPr/>
          <a:lstStyle/>
          <a:p>
            <a:endParaRPr lang="es-ES"/>
          </a:p>
        </p:txBody>
      </p:sp>
      <p:sp>
        <p:nvSpPr>
          <p:cNvPr id="76" name="Text 74"/>
          <p:cNvSpPr/>
          <p:nvPr/>
        </p:nvSpPr>
        <p:spPr>
          <a:xfrm>
            <a:off x="813816" y="5246370"/>
            <a:ext cx="585216" cy="44272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API Monitorización (5.3.2) ✓</a:t>
            </a:r>
            <a:endParaRPr lang="en-US" sz="520" dirty="0"/>
          </a:p>
        </p:txBody>
      </p:sp>
      <p:sp>
        <p:nvSpPr>
          <p:cNvPr id="77" name="Shape 75"/>
          <p:cNvSpPr/>
          <p:nvPr/>
        </p:nvSpPr>
        <p:spPr>
          <a:xfrm>
            <a:off x="813816" y="5698236"/>
            <a:ext cx="585216" cy="442722"/>
          </a:xfrm>
          <a:prstGeom prst="rect">
            <a:avLst/>
          </a:prstGeom>
          <a:solidFill>
            <a:srgbClr val="F0F0F0"/>
          </a:solidFill>
          <a:ln w="5080">
            <a:solidFill>
              <a:srgbClr val="CCCCCC"/>
            </a:solidFill>
            <a:prstDash val="solid"/>
          </a:ln>
        </p:spPr>
        <p:txBody>
          <a:bodyPr/>
          <a:lstStyle/>
          <a:p>
            <a:endParaRPr lang="es-ES"/>
          </a:p>
        </p:txBody>
      </p:sp>
      <p:sp>
        <p:nvSpPr>
          <p:cNvPr id="78" name="Text 76"/>
          <p:cNvSpPr/>
          <p:nvPr/>
        </p:nvSpPr>
        <p:spPr>
          <a:xfrm>
            <a:off x="813816" y="5698236"/>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Log Aggregation</a:t>
            </a:r>
            <a:endParaRPr lang="en-US" sz="520" dirty="0"/>
          </a:p>
        </p:txBody>
      </p:sp>
      <p:sp>
        <p:nvSpPr>
          <p:cNvPr id="79" name="Shape 77"/>
          <p:cNvSpPr/>
          <p:nvPr/>
        </p:nvSpPr>
        <p:spPr>
          <a:xfrm>
            <a:off x="813816" y="6150102"/>
            <a:ext cx="585216" cy="442722"/>
          </a:xfrm>
          <a:prstGeom prst="rect">
            <a:avLst/>
          </a:prstGeom>
          <a:solidFill>
            <a:srgbClr val="F0F0F0"/>
          </a:solidFill>
          <a:ln w="5080">
            <a:solidFill>
              <a:srgbClr val="CCCCCC"/>
            </a:solidFill>
            <a:prstDash val="solid"/>
          </a:ln>
        </p:spPr>
        <p:txBody>
          <a:bodyPr/>
          <a:lstStyle/>
          <a:p>
            <a:endParaRPr lang="es-ES"/>
          </a:p>
        </p:txBody>
      </p:sp>
      <p:sp>
        <p:nvSpPr>
          <p:cNvPr id="80" name="Text 78"/>
          <p:cNvSpPr/>
          <p:nvPr/>
        </p:nvSpPr>
        <p:spPr>
          <a:xfrm>
            <a:off x="813816" y="6150102"/>
            <a:ext cx="585216" cy="442722"/>
          </a:xfrm>
          <a:prstGeom prst="rect">
            <a:avLst/>
          </a:prstGeom>
          <a:noFill/>
          <a:ln/>
        </p:spPr>
        <p:txBody>
          <a:bodyPr wrap="square" lIns="19050" tIns="19050" rIns="19050" bIns="19050" rtlCol="0" anchor="ctr"/>
          <a:lstStyle/>
          <a:p>
            <a:pPr marL="0" indent="0" algn="ctr">
              <a:buNone/>
            </a:pPr>
            <a:r>
              <a:rPr lang="en-US" sz="520" dirty="0">
                <a:solidFill>
                  <a:srgbClr val="888888"/>
                </a:solidFill>
              </a:rPr>
              <a:t>Capacidad</a:t>
            </a:r>
            <a:endParaRPr lang="en-US" sz="520" dirty="0"/>
          </a:p>
        </p:txBody>
      </p:sp>
      <p:sp>
        <p:nvSpPr>
          <p:cNvPr id="81" name="Shape 79"/>
          <p:cNvSpPr/>
          <p:nvPr/>
        </p:nvSpPr>
        <p:spPr>
          <a:xfrm>
            <a:off x="1481328" y="694944"/>
            <a:ext cx="8842248" cy="603504"/>
          </a:xfrm>
          <a:prstGeom prst="rect">
            <a:avLst/>
          </a:prstGeom>
          <a:solidFill>
            <a:srgbClr val="FFF3DC"/>
          </a:solidFill>
          <a:ln w="19050">
            <a:solidFill>
              <a:srgbClr val="E89300"/>
            </a:solidFill>
            <a:prstDash val="solid"/>
          </a:ln>
        </p:spPr>
        <p:txBody>
          <a:bodyPr/>
          <a:lstStyle/>
          <a:p>
            <a:endParaRPr lang="es-ES"/>
          </a:p>
        </p:txBody>
      </p:sp>
      <p:sp>
        <p:nvSpPr>
          <p:cNvPr id="82" name="Shape 80"/>
          <p:cNvSpPr/>
          <p:nvPr/>
        </p:nvSpPr>
        <p:spPr>
          <a:xfrm>
            <a:off x="1481328" y="694944"/>
            <a:ext cx="8842248" cy="173736"/>
          </a:xfrm>
          <a:prstGeom prst="rect">
            <a:avLst/>
          </a:prstGeom>
          <a:solidFill>
            <a:srgbClr val="E89300"/>
          </a:solidFill>
          <a:ln w="12700">
            <a:solidFill>
              <a:srgbClr val="E89300"/>
            </a:solidFill>
            <a:prstDash val="solid"/>
          </a:ln>
        </p:spPr>
        <p:txBody>
          <a:bodyPr/>
          <a:lstStyle/>
          <a:p>
            <a:endParaRPr lang="es-ES"/>
          </a:p>
        </p:txBody>
      </p:sp>
      <p:sp>
        <p:nvSpPr>
          <p:cNvPr id="83" name="Text 81"/>
          <p:cNvSpPr/>
          <p:nvPr/>
        </p:nvSpPr>
        <p:spPr>
          <a:xfrm>
            <a:off x="1527048" y="694944"/>
            <a:ext cx="8522208" cy="173736"/>
          </a:xfrm>
          <a:prstGeom prst="rect">
            <a:avLst/>
          </a:prstGeom>
          <a:noFill/>
          <a:ln/>
        </p:spPr>
        <p:txBody>
          <a:bodyPr wrap="square" rtlCol="0" anchor="ctr"/>
          <a:lstStyle/>
          <a:p>
            <a:pPr marL="0" indent="0" algn="ctr">
              <a:buNone/>
            </a:pPr>
            <a:r>
              <a:rPr lang="en-US" sz="800" b="1" dirty="0">
                <a:solidFill>
                  <a:srgbClr val="FFFFFF"/>
                </a:solidFill>
              </a:rPr>
              <a:t>Servicios de Gateway</a:t>
            </a:r>
            <a:endParaRPr lang="en-US" sz="800" dirty="0"/>
          </a:p>
        </p:txBody>
      </p:sp>
      <p:sp>
        <p:nvSpPr>
          <p:cNvPr id="84" name="Shape 82"/>
          <p:cNvSpPr/>
          <p:nvPr/>
        </p:nvSpPr>
        <p:spPr>
          <a:xfrm>
            <a:off x="10021824" y="717804"/>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85" name="Text 83"/>
          <p:cNvSpPr/>
          <p:nvPr/>
        </p:nvSpPr>
        <p:spPr>
          <a:xfrm>
            <a:off x="10021824" y="717804"/>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86" name="Shape 84"/>
          <p:cNvSpPr/>
          <p:nvPr/>
        </p:nvSpPr>
        <p:spPr>
          <a:xfrm>
            <a:off x="1499616" y="713232"/>
            <a:ext cx="155448" cy="155448"/>
          </a:xfrm>
          <a:prstGeom prst="ellipse">
            <a:avLst/>
          </a:prstGeom>
          <a:solidFill>
            <a:srgbClr val="C00000"/>
          </a:solidFill>
          <a:ln w="12700">
            <a:solidFill>
              <a:srgbClr val="C00000"/>
            </a:solidFill>
            <a:prstDash val="solid"/>
          </a:ln>
        </p:spPr>
        <p:txBody>
          <a:bodyPr/>
          <a:lstStyle/>
          <a:p>
            <a:endParaRPr lang="es-ES"/>
          </a:p>
        </p:txBody>
      </p:sp>
      <p:sp>
        <p:nvSpPr>
          <p:cNvPr id="87" name="Text 85"/>
          <p:cNvSpPr/>
          <p:nvPr/>
        </p:nvSpPr>
        <p:spPr>
          <a:xfrm>
            <a:off x="1499616" y="713232"/>
            <a:ext cx="155448" cy="155448"/>
          </a:xfrm>
          <a:prstGeom prst="rect">
            <a:avLst/>
          </a:prstGeom>
          <a:noFill/>
          <a:ln/>
        </p:spPr>
        <p:txBody>
          <a:bodyPr wrap="square" lIns="0" tIns="0" rIns="0" bIns="0" rtlCol="0" anchor="ctr"/>
          <a:lstStyle/>
          <a:p>
            <a:pPr marL="0" indent="0" algn="ctr">
              <a:buNone/>
            </a:pPr>
            <a:r>
              <a:rPr lang="en-US" sz="646" b="1" dirty="0">
                <a:solidFill>
                  <a:srgbClr val="FFFFFF"/>
                </a:solidFill>
              </a:rPr>
              <a:t>K</a:t>
            </a:r>
            <a:endParaRPr lang="en-US" sz="646" dirty="0"/>
          </a:p>
        </p:txBody>
      </p:sp>
      <p:sp>
        <p:nvSpPr>
          <p:cNvPr id="88" name="Text 86"/>
          <p:cNvSpPr/>
          <p:nvPr/>
        </p:nvSpPr>
        <p:spPr>
          <a:xfrm>
            <a:off x="1508760" y="886968"/>
            <a:ext cx="365760" cy="196596"/>
          </a:xfrm>
          <a:prstGeom prst="rect">
            <a:avLst/>
          </a:prstGeom>
          <a:noFill/>
          <a:ln/>
        </p:spPr>
        <p:txBody>
          <a:bodyPr wrap="square" rtlCol="0" anchor="ctr"/>
          <a:lstStyle/>
          <a:p>
            <a:pPr marL="0" indent="0" algn="l">
              <a:buNone/>
            </a:pPr>
            <a:r>
              <a:rPr lang="en-US" sz="650" i="1" dirty="0">
                <a:solidFill>
                  <a:srgbClr val="595959"/>
                </a:solidFill>
              </a:rPr>
              <a:t>Outbound</a:t>
            </a:r>
            <a:endParaRPr lang="en-US" sz="650" dirty="0"/>
          </a:p>
        </p:txBody>
      </p:sp>
      <p:sp>
        <p:nvSpPr>
          <p:cNvPr id="89" name="Shape 87"/>
          <p:cNvSpPr/>
          <p:nvPr/>
        </p:nvSpPr>
        <p:spPr>
          <a:xfrm>
            <a:off x="1883664"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0" name="Text 88"/>
          <p:cNvSpPr/>
          <p:nvPr/>
        </p:nvSpPr>
        <p:spPr>
          <a:xfrm>
            <a:off x="1883664"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Conmutación</a:t>
            </a:r>
            <a:endParaRPr lang="en-US" sz="580" dirty="0"/>
          </a:p>
        </p:txBody>
      </p:sp>
      <p:sp>
        <p:nvSpPr>
          <p:cNvPr id="91" name="Shape 89"/>
          <p:cNvSpPr/>
          <p:nvPr/>
        </p:nvSpPr>
        <p:spPr>
          <a:xfrm>
            <a:off x="3567989"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2" name="Text 90"/>
          <p:cNvSpPr/>
          <p:nvPr/>
        </p:nvSpPr>
        <p:spPr>
          <a:xfrm>
            <a:off x="3567989"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API Gateway</a:t>
            </a:r>
            <a:endParaRPr lang="en-US" sz="580" dirty="0"/>
          </a:p>
        </p:txBody>
      </p:sp>
      <p:sp>
        <p:nvSpPr>
          <p:cNvPr id="93" name="Shape 91"/>
          <p:cNvSpPr/>
          <p:nvPr/>
        </p:nvSpPr>
        <p:spPr>
          <a:xfrm>
            <a:off x="5252314" y="896112"/>
            <a:ext cx="1666037" cy="178308"/>
          </a:xfrm>
          <a:prstGeom prst="rect">
            <a:avLst/>
          </a:prstGeom>
          <a:solidFill>
            <a:srgbClr val="FFE5C0"/>
          </a:solidFill>
          <a:ln w="15240">
            <a:solidFill>
              <a:srgbClr val="FF6B00"/>
            </a:solidFill>
            <a:prstDash val="solid"/>
          </a:ln>
        </p:spPr>
        <p:txBody>
          <a:bodyPr/>
          <a:lstStyle/>
          <a:p>
            <a:endParaRPr lang="es-ES"/>
          </a:p>
        </p:txBody>
      </p:sp>
      <p:sp>
        <p:nvSpPr>
          <p:cNvPr id="94" name="Text 92"/>
          <p:cNvSpPr/>
          <p:nvPr/>
        </p:nvSpPr>
        <p:spPr>
          <a:xfrm>
            <a:off x="5252314" y="896112"/>
            <a:ext cx="1666037" cy="1783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File Gateway ✓ (4.2.2)</a:t>
            </a:r>
            <a:endParaRPr lang="en-US" sz="580" dirty="0"/>
          </a:p>
        </p:txBody>
      </p:sp>
      <p:sp>
        <p:nvSpPr>
          <p:cNvPr id="95" name="Shape 93"/>
          <p:cNvSpPr/>
          <p:nvPr/>
        </p:nvSpPr>
        <p:spPr>
          <a:xfrm>
            <a:off x="6936638"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6" name="Text 94"/>
          <p:cNvSpPr/>
          <p:nvPr/>
        </p:nvSpPr>
        <p:spPr>
          <a:xfrm>
            <a:off x="6936638"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EventHub Gateway</a:t>
            </a:r>
            <a:endParaRPr lang="en-US" sz="580" dirty="0"/>
          </a:p>
        </p:txBody>
      </p:sp>
      <p:sp>
        <p:nvSpPr>
          <p:cNvPr id="97" name="Shape 95"/>
          <p:cNvSpPr/>
          <p:nvPr/>
        </p:nvSpPr>
        <p:spPr>
          <a:xfrm>
            <a:off x="8620963" y="896112"/>
            <a:ext cx="1666037" cy="178308"/>
          </a:xfrm>
          <a:prstGeom prst="rect">
            <a:avLst/>
          </a:prstGeom>
          <a:solidFill>
            <a:srgbClr val="F0F0F0"/>
          </a:solidFill>
          <a:ln w="5080">
            <a:solidFill>
              <a:srgbClr val="CCCCCC"/>
            </a:solidFill>
            <a:prstDash val="solid"/>
          </a:ln>
        </p:spPr>
        <p:txBody>
          <a:bodyPr/>
          <a:lstStyle/>
          <a:p>
            <a:endParaRPr lang="es-ES"/>
          </a:p>
        </p:txBody>
      </p:sp>
      <p:sp>
        <p:nvSpPr>
          <p:cNvPr id="98" name="Text 96"/>
          <p:cNvSpPr/>
          <p:nvPr/>
        </p:nvSpPr>
        <p:spPr>
          <a:xfrm>
            <a:off x="8620963" y="896112"/>
            <a:ext cx="1666037" cy="178308"/>
          </a:xfrm>
          <a:prstGeom prst="rect">
            <a:avLst/>
          </a:prstGeom>
          <a:noFill/>
          <a:ln/>
        </p:spPr>
        <p:txBody>
          <a:bodyPr wrap="square" lIns="19050" tIns="19050" rIns="19050" bIns="19050" rtlCol="0" anchor="ctr"/>
          <a:lstStyle/>
          <a:p>
            <a:pPr marL="0" indent="0" algn="ctr">
              <a:buNone/>
            </a:pPr>
            <a:r>
              <a:rPr lang="en-US" sz="580" dirty="0">
                <a:solidFill>
                  <a:srgbClr val="888888"/>
                </a:solidFill>
              </a:rPr>
              <a:t>Sandbox</a:t>
            </a:r>
            <a:endParaRPr lang="en-US" sz="580" dirty="0"/>
          </a:p>
        </p:txBody>
      </p:sp>
      <p:sp>
        <p:nvSpPr>
          <p:cNvPr id="99" name="Text 97"/>
          <p:cNvSpPr/>
          <p:nvPr/>
        </p:nvSpPr>
        <p:spPr>
          <a:xfrm>
            <a:off x="1508760" y="1101852"/>
            <a:ext cx="365760" cy="196596"/>
          </a:xfrm>
          <a:prstGeom prst="rect">
            <a:avLst/>
          </a:prstGeom>
          <a:noFill/>
          <a:ln/>
        </p:spPr>
        <p:txBody>
          <a:bodyPr wrap="square" rtlCol="0" anchor="ctr"/>
          <a:lstStyle/>
          <a:p>
            <a:pPr marL="0" indent="0" algn="l">
              <a:buNone/>
            </a:pPr>
            <a:r>
              <a:rPr lang="en-US" sz="650" i="1" dirty="0">
                <a:solidFill>
                  <a:srgbClr val="595959"/>
                </a:solidFill>
              </a:rPr>
              <a:t>Inbound</a:t>
            </a:r>
            <a:endParaRPr lang="en-US" sz="650" dirty="0"/>
          </a:p>
        </p:txBody>
      </p:sp>
      <p:sp>
        <p:nvSpPr>
          <p:cNvPr id="100" name="Shape 98"/>
          <p:cNvSpPr/>
          <p:nvPr/>
        </p:nvSpPr>
        <p:spPr>
          <a:xfrm>
            <a:off x="1883664"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1" name="Text 99"/>
          <p:cNvSpPr/>
          <p:nvPr/>
        </p:nvSpPr>
        <p:spPr>
          <a:xfrm>
            <a:off x="1883664"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Serv.Token Seg.(STS)</a:t>
            </a:r>
            <a:endParaRPr lang="en-US" sz="550" dirty="0"/>
          </a:p>
        </p:txBody>
      </p:sp>
      <p:sp>
        <p:nvSpPr>
          <p:cNvPr id="102" name="Shape 100"/>
          <p:cNvSpPr/>
          <p:nvPr/>
        </p:nvSpPr>
        <p:spPr>
          <a:xfrm>
            <a:off x="3989070"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3" name="Text 101"/>
          <p:cNvSpPr/>
          <p:nvPr/>
        </p:nvSpPr>
        <p:spPr>
          <a:xfrm>
            <a:off x="3989070"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API Gateway</a:t>
            </a:r>
            <a:endParaRPr lang="en-US" sz="550" dirty="0"/>
          </a:p>
        </p:txBody>
      </p:sp>
      <p:sp>
        <p:nvSpPr>
          <p:cNvPr id="104" name="Shape 102"/>
          <p:cNvSpPr/>
          <p:nvPr/>
        </p:nvSpPr>
        <p:spPr>
          <a:xfrm>
            <a:off x="6094476"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5" name="Text 103"/>
          <p:cNvSpPr/>
          <p:nvPr/>
        </p:nvSpPr>
        <p:spPr>
          <a:xfrm>
            <a:off x="6094476"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File Gateway</a:t>
            </a:r>
            <a:endParaRPr lang="en-US" sz="550" dirty="0"/>
          </a:p>
        </p:txBody>
      </p:sp>
      <p:sp>
        <p:nvSpPr>
          <p:cNvPr id="106" name="Shape 104"/>
          <p:cNvSpPr/>
          <p:nvPr/>
        </p:nvSpPr>
        <p:spPr>
          <a:xfrm>
            <a:off x="8199882" y="1110996"/>
            <a:ext cx="2087118" cy="178308"/>
          </a:xfrm>
          <a:prstGeom prst="rect">
            <a:avLst/>
          </a:prstGeom>
          <a:solidFill>
            <a:srgbClr val="F0F0F0"/>
          </a:solidFill>
          <a:ln w="5080">
            <a:solidFill>
              <a:srgbClr val="CCCCCC"/>
            </a:solidFill>
            <a:prstDash val="solid"/>
          </a:ln>
        </p:spPr>
        <p:txBody>
          <a:bodyPr/>
          <a:lstStyle/>
          <a:p>
            <a:endParaRPr lang="es-ES"/>
          </a:p>
        </p:txBody>
      </p:sp>
      <p:sp>
        <p:nvSpPr>
          <p:cNvPr id="107" name="Text 105"/>
          <p:cNvSpPr/>
          <p:nvPr/>
        </p:nvSpPr>
        <p:spPr>
          <a:xfrm>
            <a:off x="8199882" y="1110996"/>
            <a:ext cx="2087118" cy="178308"/>
          </a:xfrm>
          <a:prstGeom prst="rect">
            <a:avLst/>
          </a:prstGeom>
          <a:noFill/>
          <a:ln/>
        </p:spPr>
        <p:txBody>
          <a:bodyPr wrap="square" lIns="19050" tIns="19050" rIns="19050" bIns="19050" rtlCol="0" anchor="ctr"/>
          <a:lstStyle/>
          <a:p>
            <a:pPr marL="0" indent="0" algn="ctr">
              <a:buNone/>
            </a:pPr>
            <a:r>
              <a:rPr lang="en-US" sz="550" dirty="0">
                <a:solidFill>
                  <a:srgbClr val="888888"/>
                </a:solidFill>
              </a:rPr>
              <a:t>EventHub Gateway</a:t>
            </a:r>
            <a:endParaRPr lang="en-US" sz="550" dirty="0"/>
          </a:p>
        </p:txBody>
      </p:sp>
      <p:sp>
        <p:nvSpPr>
          <p:cNvPr id="108" name="Shape 106"/>
          <p:cNvSpPr/>
          <p:nvPr/>
        </p:nvSpPr>
        <p:spPr>
          <a:xfrm>
            <a:off x="1883664" y="1316736"/>
            <a:ext cx="2087118" cy="137617"/>
          </a:xfrm>
          <a:prstGeom prst="rect">
            <a:avLst/>
          </a:prstGeom>
          <a:solidFill>
            <a:srgbClr val="F0F0F0"/>
          </a:solidFill>
          <a:ln w="5080">
            <a:solidFill>
              <a:srgbClr val="CCCCCC"/>
            </a:solidFill>
            <a:prstDash val="solid"/>
          </a:ln>
        </p:spPr>
        <p:txBody>
          <a:bodyPr/>
          <a:lstStyle/>
          <a:p>
            <a:endParaRPr lang="es-ES"/>
          </a:p>
        </p:txBody>
      </p:sp>
      <p:sp>
        <p:nvSpPr>
          <p:cNvPr id="109" name="Text 107"/>
          <p:cNvSpPr/>
          <p:nvPr/>
        </p:nvSpPr>
        <p:spPr>
          <a:xfrm>
            <a:off x="1883664" y="1316736"/>
            <a:ext cx="2087118" cy="137617"/>
          </a:xfrm>
          <a:prstGeom prst="rect">
            <a:avLst/>
          </a:prstGeom>
          <a:noFill/>
          <a:ln/>
        </p:spPr>
        <p:txBody>
          <a:bodyPr wrap="square" lIns="19050" tIns="19050" rIns="19050" bIns="19050" rtlCol="0" anchor="ctr"/>
          <a:lstStyle/>
          <a:p>
            <a:pPr marL="0" indent="0" algn="ctr">
              <a:buNone/>
            </a:pPr>
            <a:r>
              <a:rPr lang="en-US" sz="520" dirty="0">
                <a:solidFill>
                  <a:srgbClr val="888888"/>
                </a:solidFill>
              </a:rPr>
              <a:t>Open Banking Edge</a:t>
            </a:r>
            <a:endParaRPr lang="en-US" sz="520" dirty="0"/>
          </a:p>
        </p:txBody>
      </p:sp>
      <p:sp>
        <p:nvSpPr>
          <p:cNvPr id="110" name="Shape 108"/>
          <p:cNvSpPr/>
          <p:nvPr/>
        </p:nvSpPr>
        <p:spPr>
          <a:xfrm>
            <a:off x="3989070" y="1316736"/>
            <a:ext cx="2087118" cy="137617"/>
          </a:xfrm>
          <a:prstGeom prst="rect">
            <a:avLst/>
          </a:prstGeom>
          <a:solidFill>
            <a:srgbClr val="F0F0F0"/>
          </a:solidFill>
          <a:ln w="5080">
            <a:solidFill>
              <a:srgbClr val="CCCCCC"/>
            </a:solidFill>
            <a:prstDash val="solid"/>
          </a:ln>
        </p:spPr>
        <p:txBody>
          <a:bodyPr/>
          <a:lstStyle/>
          <a:p>
            <a:endParaRPr lang="es-ES"/>
          </a:p>
        </p:txBody>
      </p:sp>
      <p:sp>
        <p:nvSpPr>
          <p:cNvPr id="111" name="Text 109"/>
          <p:cNvSpPr/>
          <p:nvPr/>
        </p:nvSpPr>
        <p:spPr>
          <a:xfrm>
            <a:off x="3989070" y="1316736"/>
            <a:ext cx="2087118" cy="137617"/>
          </a:xfrm>
          <a:prstGeom prst="rect">
            <a:avLst/>
          </a:prstGeom>
          <a:noFill/>
          <a:ln/>
        </p:spPr>
        <p:txBody>
          <a:bodyPr wrap="square" lIns="19050" tIns="19050" rIns="19050" bIns="19050" rtlCol="0" anchor="ctr"/>
          <a:lstStyle/>
          <a:p>
            <a:pPr marL="0" indent="0" algn="ctr">
              <a:buNone/>
            </a:pPr>
            <a:r>
              <a:rPr lang="en-US" sz="520" dirty="0">
                <a:solidFill>
                  <a:srgbClr val="888888"/>
                </a:solidFill>
              </a:rPr>
              <a:t>Filter Edge</a:t>
            </a:r>
            <a:endParaRPr lang="en-US" sz="520" dirty="0"/>
          </a:p>
        </p:txBody>
      </p:sp>
      <p:sp>
        <p:nvSpPr>
          <p:cNvPr id="112" name="Shape 110"/>
          <p:cNvSpPr/>
          <p:nvPr/>
        </p:nvSpPr>
        <p:spPr>
          <a:xfrm>
            <a:off x="6094476" y="1316736"/>
            <a:ext cx="4192524" cy="137617"/>
          </a:xfrm>
          <a:prstGeom prst="rect">
            <a:avLst/>
          </a:prstGeom>
          <a:solidFill>
            <a:srgbClr val="FFE5C0"/>
          </a:solidFill>
          <a:ln w="15240">
            <a:solidFill>
              <a:srgbClr val="FF6B00"/>
            </a:solidFill>
            <a:prstDash val="solid"/>
          </a:ln>
        </p:spPr>
        <p:txBody>
          <a:bodyPr/>
          <a:lstStyle/>
          <a:p>
            <a:endParaRPr lang="es-ES"/>
          </a:p>
        </p:txBody>
      </p:sp>
      <p:sp>
        <p:nvSpPr>
          <p:cNvPr id="113" name="Text 111"/>
          <p:cNvSpPr/>
          <p:nvPr/>
        </p:nvSpPr>
        <p:spPr>
          <a:xfrm>
            <a:off x="6094476" y="1316736"/>
            <a:ext cx="4192524" cy="137617"/>
          </a:xfrm>
          <a:prstGeom prst="rect">
            <a:avLst/>
          </a:prstGeom>
          <a:noFill/>
          <a:ln/>
        </p:spPr>
        <p:txBody>
          <a:bodyPr wrap="square" lIns="19050" tIns="19050" rIns="19050" bIns="19050" rtlCol="0" anchor="ctr"/>
          <a:lstStyle/>
          <a:p>
            <a:pPr marL="0" indent="0" algn="ctr">
              <a:buNone/>
            </a:pPr>
            <a:r>
              <a:rPr lang="en-US" sz="500" b="1" dirty="0">
                <a:solidFill>
                  <a:srgbClr val="6B2400"/>
                </a:solidFill>
              </a:rPr>
              <a:t>Perimeter Zoning &amp; Connectivity (4.4) ✓</a:t>
            </a:r>
            <a:endParaRPr lang="en-US" sz="500" dirty="0"/>
          </a:p>
        </p:txBody>
      </p:sp>
      <p:sp>
        <p:nvSpPr>
          <p:cNvPr id="114" name="Shape 112"/>
          <p:cNvSpPr/>
          <p:nvPr/>
        </p:nvSpPr>
        <p:spPr>
          <a:xfrm>
            <a:off x="1481328" y="1316736"/>
            <a:ext cx="8842248" cy="365760"/>
          </a:xfrm>
          <a:prstGeom prst="rect">
            <a:avLst/>
          </a:prstGeom>
          <a:solidFill>
            <a:srgbClr val="FFE5C0"/>
          </a:solidFill>
          <a:ln w="19050">
            <a:solidFill>
              <a:srgbClr val="FF6B00"/>
            </a:solidFill>
            <a:prstDash val="solid"/>
          </a:ln>
        </p:spPr>
        <p:txBody>
          <a:bodyPr/>
          <a:lstStyle/>
          <a:p>
            <a:endParaRPr lang="es-ES"/>
          </a:p>
        </p:txBody>
      </p:sp>
      <p:sp>
        <p:nvSpPr>
          <p:cNvPr id="115" name="Shape 113"/>
          <p:cNvSpPr/>
          <p:nvPr/>
        </p:nvSpPr>
        <p:spPr>
          <a:xfrm>
            <a:off x="1481328" y="1316736"/>
            <a:ext cx="8842248" cy="173736"/>
          </a:xfrm>
          <a:prstGeom prst="rect">
            <a:avLst/>
          </a:prstGeom>
          <a:solidFill>
            <a:srgbClr val="FF6B00"/>
          </a:solidFill>
          <a:ln w="12700">
            <a:solidFill>
              <a:srgbClr val="FF6B00"/>
            </a:solidFill>
            <a:prstDash val="solid"/>
          </a:ln>
        </p:spPr>
        <p:txBody>
          <a:bodyPr/>
          <a:lstStyle/>
          <a:p>
            <a:endParaRPr lang="es-ES"/>
          </a:p>
        </p:txBody>
      </p:sp>
      <p:sp>
        <p:nvSpPr>
          <p:cNvPr id="116" name="Text 114"/>
          <p:cNvSpPr/>
          <p:nvPr/>
        </p:nvSpPr>
        <p:spPr>
          <a:xfrm>
            <a:off x="1527048" y="1316736"/>
            <a:ext cx="8522208" cy="173736"/>
          </a:xfrm>
          <a:prstGeom prst="rect">
            <a:avLst/>
          </a:prstGeom>
          <a:noFill/>
          <a:ln/>
        </p:spPr>
        <p:txBody>
          <a:bodyPr wrap="square" rtlCol="0" anchor="ctr"/>
          <a:lstStyle/>
          <a:p>
            <a:pPr marL="0" indent="0" algn="ctr">
              <a:buNone/>
            </a:pPr>
            <a:r>
              <a:rPr lang="en-US" sz="800" b="1" dirty="0">
                <a:solidFill>
                  <a:srgbClr val="FFFFFF"/>
                </a:solidFill>
              </a:rPr>
              <a:t>API Management</a:t>
            </a:r>
            <a:endParaRPr lang="en-US" sz="800" dirty="0"/>
          </a:p>
        </p:txBody>
      </p:sp>
      <p:sp>
        <p:nvSpPr>
          <p:cNvPr id="117" name="Shape 115"/>
          <p:cNvSpPr/>
          <p:nvPr/>
        </p:nvSpPr>
        <p:spPr>
          <a:xfrm>
            <a:off x="10021824" y="133959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18" name="Text 116"/>
          <p:cNvSpPr/>
          <p:nvPr/>
        </p:nvSpPr>
        <p:spPr>
          <a:xfrm>
            <a:off x="10021824" y="133959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19" name="Shape 117"/>
          <p:cNvSpPr/>
          <p:nvPr/>
        </p:nvSpPr>
        <p:spPr>
          <a:xfrm>
            <a:off x="1499616" y="1325880"/>
            <a:ext cx="155448" cy="155448"/>
          </a:xfrm>
          <a:prstGeom prst="ellipse">
            <a:avLst/>
          </a:prstGeom>
          <a:solidFill>
            <a:srgbClr val="C00000"/>
          </a:solidFill>
          <a:ln w="12700">
            <a:solidFill>
              <a:srgbClr val="C00000"/>
            </a:solidFill>
            <a:prstDash val="solid"/>
          </a:ln>
        </p:spPr>
        <p:txBody>
          <a:bodyPr/>
          <a:lstStyle/>
          <a:p>
            <a:endParaRPr lang="es-ES"/>
          </a:p>
        </p:txBody>
      </p:sp>
      <p:sp>
        <p:nvSpPr>
          <p:cNvPr id="120" name="Text 118"/>
          <p:cNvSpPr/>
          <p:nvPr/>
        </p:nvSpPr>
        <p:spPr>
          <a:xfrm>
            <a:off x="1499616" y="1325880"/>
            <a:ext cx="155448" cy="155448"/>
          </a:xfrm>
          <a:prstGeom prst="rect">
            <a:avLst/>
          </a:prstGeom>
          <a:noFill/>
          <a:ln/>
        </p:spPr>
        <p:txBody>
          <a:bodyPr wrap="square" lIns="0" tIns="0" rIns="0" bIns="0" rtlCol="0" anchor="ctr"/>
          <a:lstStyle/>
          <a:p>
            <a:pPr marL="0" indent="0" algn="ctr">
              <a:buNone/>
            </a:pPr>
            <a:r>
              <a:rPr lang="en-US" sz="646" b="1" dirty="0">
                <a:solidFill>
                  <a:srgbClr val="FFFFFF"/>
                </a:solidFill>
              </a:rPr>
              <a:t>K</a:t>
            </a:r>
            <a:endParaRPr lang="en-US" sz="646" dirty="0"/>
          </a:p>
        </p:txBody>
      </p:sp>
      <p:sp>
        <p:nvSpPr>
          <p:cNvPr id="121" name="Shape 119"/>
          <p:cNvSpPr/>
          <p:nvPr/>
        </p:nvSpPr>
        <p:spPr>
          <a:xfrm>
            <a:off x="1499616"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2" name="Text 120"/>
          <p:cNvSpPr/>
          <p:nvPr/>
        </p:nvSpPr>
        <p:spPr>
          <a:xfrm>
            <a:off x="1499616"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Enrutamiento (5.1.1)</a:t>
            </a:r>
            <a:endParaRPr lang="en-US" sz="580" dirty="0"/>
          </a:p>
        </p:txBody>
      </p:sp>
      <p:sp>
        <p:nvSpPr>
          <p:cNvPr id="123" name="Shape 121"/>
          <p:cNvSpPr/>
          <p:nvPr/>
        </p:nvSpPr>
        <p:spPr>
          <a:xfrm>
            <a:off x="2964180"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4" name="Text 122"/>
          <p:cNvSpPr/>
          <p:nvPr/>
        </p:nvSpPr>
        <p:spPr>
          <a:xfrm>
            <a:off x="2964180"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Versionado de API (5.2.2)</a:t>
            </a:r>
            <a:endParaRPr lang="en-US" sz="580" dirty="0"/>
          </a:p>
        </p:txBody>
      </p:sp>
      <p:sp>
        <p:nvSpPr>
          <p:cNvPr id="125" name="Shape 123"/>
          <p:cNvSpPr/>
          <p:nvPr/>
        </p:nvSpPr>
        <p:spPr>
          <a:xfrm>
            <a:off x="4428744"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6" name="Text 124"/>
          <p:cNvSpPr/>
          <p:nvPr/>
        </p:nvSpPr>
        <p:spPr>
          <a:xfrm>
            <a:off x="4428744"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Manejo de errores (5.1.5)</a:t>
            </a:r>
            <a:endParaRPr lang="en-US" sz="580" dirty="0"/>
          </a:p>
        </p:txBody>
      </p:sp>
      <p:sp>
        <p:nvSpPr>
          <p:cNvPr id="127" name="Shape 125"/>
          <p:cNvSpPr/>
          <p:nvPr/>
        </p:nvSpPr>
        <p:spPr>
          <a:xfrm>
            <a:off x="5893308"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28" name="Text 126"/>
          <p:cNvSpPr/>
          <p:nvPr/>
        </p:nvSpPr>
        <p:spPr>
          <a:xfrm>
            <a:off x="5893308"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Diseño &amp; Contrato (5.2.1)</a:t>
            </a:r>
            <a:endParaRPr lang="en-US" sz="580" dirty="0"/>
          </a:p>
        </p:txBody>
      </p:sp>
      <p:sp>
        <p:nvSpPr>
          <p:cNvPr id="129" name="Shape 127"/>
          <p:cNvSpPr/>
          <p:nvPr/>
        </p:nvSpPr>
        <p:spPr>
          <a:xfrm>
            <a:off x="7357872" y="1499616"/>
            <a:ext cx="1446276" cy="155448"/>
          </a:xfrm>
          <a:prstGeom prst="rect">
            <a:avLst/>
          </a:prstGeom>
          <a:solidFill>
            <a:srgbClr val="FFE5C0"/>
          </a:solidFill>
          <a:ln w="15240">
            <a:solidFill>
              <a:srgbClr val="FF6B00"/>
            </a:solidFill>
            <a:prstDash val="solid"/>
          </a:ln>
        </p:spPr>
        <p:txBody>
          <a:bodyPr/>
          <a:lstStyle/>
          <a:p>
            <a:endParaRPr lang="es-ES"/>
          </a:p>
        </p:txBody>
      </p:sp>
      <p:sp>
        <p:nvSpPr>
          <p:cNvPr id="130" name="Text 128"/>
          <p:cNvSpPr/>
          <p:nvPr/>
        </p:nvSpPr>
        <p:spPr>
          <a:xfrm>
            <a:off x="7357872" y="1499616"/>
            <a:ext cx="1446276" cy="15544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API Manager (5.3.2)</a:t>
            </a:r>
            <a:endParaRPr lang="en-US" sz="580" dirty="0"/>
          </a:p>
        </p:txBody>
      </p:sp>
      <p:sp>
        <p:nvSpPr>
          <p:cNvPr id="131" name="Shape 129"/>
          <p:cNvSpPr/>
          <p:nvPr/>
        </p:nvSpPr>
        <p:spPr>
          <a:xfrm>
            <a:off x="8822436" y="1499616"/>
            <a:ext cx="1446276" cy="155448"/>
          </a:xfrm>
          <a:prstGeom prst="rect">
            <a:avLst/>
          </a:prstGeom>
          <a:solidFill>
            <a:srgbClr val="F0F0F0"/>
          </a:solidFill>
          <a:ln w="5080">
            <a:solidFill>
              <a:srgbClr val="CCCCCC"/>
            </a:solidFill>
            <a:prstDash val="solid"/>
          </a:ln>
        </p:spPr>
        <p:txBody>
          <a:bodyPr/>
          <a:lstStyle/>
          <a:p>
            <a:endParaRPr lang="es-ES"/>
          </a:p>
        </p:txBody>
      </p:sp>
      <p:sp>
        <p:nvSpPr>
          <p:cNvPr id="132" name="Text 130"/>
          <p:cNvSpPr/>
          <p:nvPr/>
        </p:nvSpPr>
        <p:spPr>
          <a:xfrm>
            <a:off x="8822436" y="1499616"/>
            <a:ext cx="1446276" cy="155448"/>
          </a:xfrm>
          <a:prstGeom prst="rect">
            <a:avLst/>
          </a:prstGeom>
          <a:noFill/>
          <a:ln/>
        </p:spPr>
        <p:txBody>
          <a:bodyPr wrap="square" lIns="19050" tIns="19050" rIns="19050" bIns="19050" rtlCol="0" anchor="ctr"/>
          <a:lstStyle/>
          <a:p>
            <a:pPr marL="0" indent="0" algn="ctr">
              <a:buNone/>
            </a:pPr>
            <a:r>
              <a:rPr lang="en-US" sz="580" dirty="0">
                <a:solidFill>
                  <a:srgbClr val="888888"/>
                </a:solidFill>
              </a:rPr>
              <a:t>Portal para desarrolladores</a:t>
            </a:r>
            <a:endParaRPr lang="en-US" sz="580" dirty="0"/>
          </a:p>
        </p:txBody>
      </p:sp>
      <p:sp>
        <p:nvSpPr>
          <p:cNvPr id="133" name="Shape 131"/>
          <p:cNvSpPr/>
          <p:nvPr/>
        </p:nvSpPr>
        <p:spPr>
          <a:xfrm>
            <a:off x="1481328" y="1709928"/>
            <a:ext cx="8842248" cy="1197864"/>
          </a:xfrm>
          <a:prstGeom prst="rect">
            <a:avLst/>
          </a:prstGeom>
          <a:solidFill>
            <a:srgbClr val="FFF3DC"/>
          </a:solidFill>
          <a:ln w="19050">
            <a:solidFill>
              <a:srgbClr val="E89300"/>
            </a:solidFill>
            <a:prstDash val="solid"/>
          </a:ln>
        </p:spPr>
        <p:txBody>
          <a:bodyPr/>
          <a:lstStyle/>
          <a:p>
            <a:endParaRPr lang="es-ES"/>
          </a:p>
        </p:txBody>
      </p:sp>
      <p:sp>
        <p:nvSpPr>
          <p:cNvPr id="134" name="Shape 132"/>
          <p:cNvSpPr/>
          <p:nvPr/>
        </p:nvSpPr>
        <p:spPr>
          <a:xfrm>
            <a:off x="1481328" y="1709928"/>
            <a:ext cx="8842248" cy="173736"/>
          </a:xfrm>
          <a:prstGeom prst="rect">
            <a:avLst/>
          </a:prstGeom>
          <a:solidFill>
            <a:srgbClr val="E89300"/>
          </a:solidFill>
          <a:ln w="12700">
            <a:solidFill>
              <a:srgbClr val="E89300"/>
            </a:solidFill>
            <a:prstDash val="solid"/>
          </a:ln>
        </p:spPr>
        <p:txBody>
          <a:bodyPr/>
          <a:lstStyle/>
          <a:p>
            <a:endParaRPr lang="es-ES"/>
          </a:p>
        </p:txBody>
      </p:sp>
      <p:sp>
        <p:nvSpPr>
          <p:cNvPr id="135" name="Text 133"/>
          <p:cNvSpPr/>
          <p:nvPr/>
        </p:nvSpPr>
        <p:spPr>
          <a:xfrm>
            <a:off x="1527048" y="1709928"/>
            <a:ext cx="8522208" cy="173736"/>
          </a:xfrm>
          <a:prstGeom prst="rect">
            <a:avLst/>
          </a:prstGeom>
          <a:noFill/>
          <a:ln/>
        </p:spPr>
        <p:txBody>
          <a:bodyPr wrap="square" rtlCol="0" anchor="ctr"/>
          <a:lstStyle/>
          <a:p>
            <a:pPr marL="0" indent="0" algn="ctr">
              <a:buNone/>
            </a:pPr>
            <a:r>
              <a:rPr lang="en-US" sz="800" b="1" dirty="0">
                <a:solidFill>
                  <a:srgbClr val="FFFFFF"/>
                </a:solidFill>
              </a:rPr>
              <a:t>Omnicanal y componentes de caché</a:t>
            </a:r>
            <a:endParaRPr lang="en-US" sz="800" dirty="0"/>
          </a:p>
        </p:txBody>
      </p:sp>
      <p:sp>
        <p:nvSpPr>
          <p:cNvPr id="136" name="Shape 134"/>
          <p:cNvSpPr/>
          <p:nvPr/>
        </p:nvSpPr>
        <p:spPr>
          <a:xfrm>
            <a:off x="10021824" y="1732788"/>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37" name="Text 135"/>
          <p:cNvSpPr/>
          <p:nvPr/>
        </p:nvSpPr>
        <p:spPr>
          <a:xfrm>
            <a:off x="10021824" y="1732788"/>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38" name="Shape 136"/>
          <p:cNvSpPr/>
          <p:nvPr/>
        </p:nvSpPr>
        <p:spPr>
          <a:xfrm>
            <a:off x="1499616"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39" name="Text 137"/>
          <p:cNvSpPr/>
          <p:nvPr/>
        </p:nvSpPr>
        <p:spPr>
          <a:xfrm>
            <a:off x="1499616"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Gestión de Datos Omnicanal (6.1)</a:t>
            </a:r>
            <a:endParaRPr lang="en-US" sz="580" dirty="0"/>
          </a:p>
        </p:txBody>
      </p:sp>
      <p:sp>
        <p:nvSpPr>
          <p:cNvPr id="140" name="Shape 138"/>
          <p:cNvSpPr/>
          <p:nvPr/>
        </p:nvSpPr>
        <p:spPr>
          <a:xfrm>
            <a:off x="2598039"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1" name="Text 139"/>
          <p:cNvSpPr/>
          <p:nvPr/>
        </p:nvSpPr>
        <p:spPr>
          <a:xfrm>
            <a:off x="2598039"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Orquestación de procesos (9.x) ✓</a:t>
            </a:r>
            <a:endParaRPr lang="en-US" sz="580" dirty="0"/>
          </a:p>
        </p:txBody>
      </p:sp>
      <p:sp>
        <p:nvSpPr>
          <p:cNvPr id="142" name="Shape 140"/>
          <p:cNvSpPr/>
          <p:nvPr/>
        </p:nvSpPr>
        <p:spPr>
          <a:xfrm>
            <a:off x="3696462"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3" name="Text 141"/>
          <p:cNvSpPr/>
          <p:nvPr/>
        </p:nvSpPr>
        <p:spPr>
          <a:xfrm>
            <a:off x="3696462"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Aprobaciones (10.6.1) ✓</a:t>
            </a:r>
            <a:endParaRPr lang="en-US" sz="580" dirty="0"/>
          </a:p>
        </p:txBody>
      </p:sp>
      <p:sp>
        <p:nvSpPr>
          <p:cNvPr id="144" name="Shape 142"/>
          <p:cNvSpPr/>
          <p:nvPr/>
        </p:nvSpPr>
        <p:spPr>
          <a:xfrm>
            <a:off x="4794885" y="1892808"/>
            <a:ext cx="1080135" cy="978408"/>
          </a:xfrm>
          <a:prstGeom prst="rect">
            <a:avLst/>
          </a:prstGeom>
          <a:solidFill>
            <a:srgbClr val="F0F0F0"/>
          </a:solidFill>
          <a:ln w="5080">
            <a:solidFill>
              <a:srgbClr val="CCCCCC"/>
            </a:solidFill>
            <a:prstDash val="solid"/>
          </a:ln>
        </p:spPr>
        <p:txBody>
          <a:bodyPr/>
          <a:lstStyle/>
          <a:p>
            <a:endParaRPr lang="es-ES"/>
          </a:p>
        </p:txBody>
      </p:sp>
      <p:sp>
        <p:nvSpPr>
          <p:cNvPr id="145" name="Text 143"/>
          <p:cNvSpPr/>
          <p:nvPr/>
        </p:nvSpPr>
        <p:spPr>
          <a:xfrm>
            <a:off x="4794885" y="1892808"/>
            <a:ext cx="1080135" cy="9784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Caché Distribuida/Memoria</a:t>
            </a:r>
            <a:endParaRPr lang="en-US" sz="580" dirty="0"/>
          </a:p>
        </p:txBody>
      </p:sp>
      <p:sp>
        <p:nvSpPr>
          <p:cNvPr id="146" name="Shape 144"/>
          <p:cNvSpPr/>
          <p:nvPr/>
        </p:nvSpPr>
        <p:spPr>
          <a:xfrm>
            <a:off x="5893308"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7" name="Text 145"/>
          <p:cNvSpPr/>
          <p:nvPr/>
        </p:nvSpPr>
        <p:spPr>
          <a:xfrm>
            <a:off x="5893308"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Caché Invalidación (6.2.2) ✓</a:t>
            </a:r>
            <a:endParaRPr lang="en-US" sz="580" dirty="0"/>
          </a:p>
        </p:txBody>
      </p:sp>
      <p:sp>
        <p:nvSpPr>
          <p:cNvPr id="148" name="Shape 146"/>
          <p:cNvSpPr/>
          <p:nvPr/>
        </p:nvSpPr>
        <p:spPr>
          <a:xfrm>
            <a:off x="6991731" y="1892808"/>
            <a:ext cx="1080135" cy="978408"/>
          </a:xfrm>
          <a:prstGeom prst="rect">
            <a:avLst/>
          </a:prstGeom>
          <a:solidFill>
            <a:srgbClr val="FFE5C0"/>
          </a:solidFill>
          <a:ln w="15240">
            <a:solidFill>
              <a:srgbClr val="FF6B00"/>
            </a:solidFill>
            <a:prstDash val="solid"/>
          </a:ln>
        </p:spPr>
        <p:txBody>
          <a:bodyPr/>
          <a:lstStyle/>
          <a:p>
            <a:endParaRPr lang="es-ES"/>
          </a:p>
        </p:txBody>
      </p:sp>
      <p:sp>
        <p:nvSpPr>
          <p:cNvPr id="149" name="Text 147"/>
          <p:cNvSpPr/>
          <p:nvPr/>
        </p:nvSpPr>
        <p:spPr>
          <a:xfrm>
            <a:off x="6991731"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Sesión &amp; Replicación (6.3) ✓</a:t>
            </a:r>
            <a:endParaRPr lang="en-US" sz="580" dirty="0"/>
          </a:p>
        </p:txBody>
      </p:sp>
      <p:sp>
        <p:nvSpPr>
          <p:cNvPr id="150" name="Shape 148"/>
          <p:cNvSpPr/>
          <p:nvPr/>
        </p:nvSpPr>
        <p:spPr>
          <a:xfrm>
            <a:off x="8090154" y="1892808"/>
            <a:ext cx="1080135" cy="978408"/>
          </a:xfrm>
          <a:prstGeom prst="rect">
            <a:avLst/>
          </a:prstGeom>
          <a:solidFill>
            <a:srgbClr val="FFF3DC"/>
          </a:solidFill>
          <a:ln w="12700">
            <a:solidFill>
              <a:srgbClr val="E89300"/>
            </a:solidFill>
            <a:prstDash val="solid"/>
          </a:ln>
        </p:spPr>
        <p:txBody>
          <a:bodyPr/>
          <a:lstStyle/>
          <a:p>
            <a:endParaRPr lang="es-ES"/>
          </a:p>
        </p:txBody>
      </p:sp>
      <p:sp>
        <p:nvSpPr>
          <p:cNvPr id="151" name="Text 149"/>
          <p:cNvSpPr/>
          <p:nvPr/>
        </p:nvSpPr>
        <p:spPr>
          <a:xfrm>
            <a:off x="8090154" y="1892808"/>
            <a:ext cx="1080135"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Caché Transacciones (6.4.2/3) ✓</a:t>
            </a:r>
            <a:endParaRPr lang="en-US" sz="580" dirty="0"/>
          </a:p>
        </p:txBody>
      </p:sp>
      <p:sp>
        <p:nvSpPr>
          <p:cNvPr id="152" name="Shape 150"/>
          <p:cNvSpPr/>
          <p:nvPr/>
        </p:nvSpPr>
        <p:spPr>
          <a:xfrm>
            <a:off x="9188577" y="1892808"/>
            <a:ext cx="1080135" cy="978408"/>
          </a:xfrm>
          <a:prstGeom prst="rect">
            <a:avLst/>
          </a:prstGeom>
          <a:solidFill>
            <a:srgbClr val="F0F0F0"/>
          </a:solidFill>
          <a:ln w="5080">
            <a:solidFill>
              <a:srgbClr val="CCCCCC"/>
            </a:solidFill>
            <a:prstDash val="solid"/>
          </a:ln>
        </p:spPr>
        <p:txBody>
          <a:bodyPr/>
          <a:lstStyle/>
          <a:p>
            <a:endParaRPr lang="es-ES"/>
          </a:p>
        </p:txBody>
      </p:sp>
      <p:sp>
        <p:nvSpPr>
          <p:cNvPr id="153" name="Text 151"/>
          <p:cNvSpPr/>
          <p:nvPr/>
        </p:nvSpPr>
        <p:spPr>
          <a:xfrm>
            <a:off x="9188577" y="1892808"/>
            <a:ext cx="1080135" cy="978408"/>
          </a:xfrm>
          <a:prstGeom prst="rect">
            <a:avLst/>
          </a:prstGeom>
          <a:noFill/>
          <a:ln/>
        </p:spPr>
        <p:txBody>
          <a:bodyPr wrap="square" lIns="19050" tIns="19050" rIns="19050" bIns="19050" rtlCol="0" anchor="ctr"/>
          <a:lstStyle/>
          <a:p>
            <a:pPr marL="0" indent="0" algn="ctr">
              <a:buNone/>
            </a:pPr>
            <a:r>
              <a:rPr lang="en-US" sz="580" dirty="0">
                <a:solidFill>
                  <a:srgbClr val="888888"/>
                </a:solidFill>
              </a:rPr>
              <a:t>Contenido Estático</a:t>
            </a:r>
            <a:endParaRPr lang="en-US" sz="580" dirty="0"/>
          </a:p>
        </p:txBody>
      </p:sp>
      <p:sp>
        <p:nvSpPr>
          <p:cNvPr id="154" name="Shape 152"/>
          <p:cNvSpPr/>
          <p:nvPr/>
        </p:nvSpPr>
        <p:spPr>
          <a:xfrm>
            <a:off x="1481328" y="2935224"/>
            <a:ext cx="8842248" cy="1197864"/>
          </a:xfrm>
          <a:prstGeom prst="rect">
            <a:avLst/>
          </a:prstGeom>
          <a:solidFill>
            <a:srgbClr val="FFE5C0"/>
          </a:solidFill>
          <a:ln w="19050">
            <a:solidFill>
              <a:srgbClr val="FF6B00"/>
            </a:solidFill>
            <a:prstDash val="solid"/>
          </a:ln>
        </p:spPr>
        <p:txBody>
          <a:bodyPr/>
          <a:lstStyle/>
          <a:p>
            <a:endParaRPr lang="es-ES"/>
          </a:p>
        </p:txBody>
      </p:sp>
      <p:sp>
        <p:nvSpPr>
          <p:cNvPr id="155" name="Shape 153"/>
          <p:cNvSpPr/>
          <p:nvPr/>
        </p:nvSpPr>
        <p:spPr>
          <a:xfrm>
            <a:off x="1481328" y="2935224"/>
            <a:ext cx="8842248" cy="173736"/>
          </a:xfrm>
          <a:prstGeom prst="rect">
            <a:avLst/>
          </a:prstGeom>
          <a:solidFill>
            <a:srgbClr val="FF6B00"/>
          </a:solidFill>
          <a:ln w="12700">
            <a:solidFill>
              <a:srgbClr val="FF6B00"/>
            </a:solidFill>
            <a:prstDash val="solid"/>
          </a:ln>
        </p:spPr>
        <p:txBody>
          <a:bodyPr/>
          <a:lstStyle/>
          <a:p>
            <a:endParaRPr lang="es-ES"/>
          </a:p>
        </p:txBody>
      </p:sp>
      <p:sp>
        <p:nvSpPr>
          <p:cNvPr id="156" name="Text 154"/>
          <p:cNvSpPr/>
          <p:nvPr/>
        </p:nvSpPr>
        <p:spPr>
          <a:xfrm>
            <a:off x="1527048" y="2935224"/>
            <a:ext cx="8522208" cy="173736"/>
          </a:xfrm>
          <a:prstGeom prst="rect">
            <a:avLst/>
          </a:prstGeom>
          <a:noFill/>
          <a:ln/>
        </p:spPr>
        <p:txBody>
          <a:bodyPr wrap="square" rtlCol="0" anchor="ctr"/>
          <a:lstStyle/>
          <a:p>
            <a:pPr marL="0" indent="0" algn="ctr">
              <a:buNone/>
            </a:pPr>
            <a:r>
              <a:rPr lang="en-US" sz="800" b="1" dirty="0">
                <a:solidFill>
                  <a:srgbClr val="FFFFFF"/>
                </a:solidFill>
              </a:rPr>
              <a:t>Transacciones distribuidas</a:t>
            </a:r>
            <a:endParaRPr lang="en-US" sz="800" dirty="0"/>
          </a:p>
        </p:txBody>
      </p:sp>
      <p:sp>
        <p:nvSpPr>
          <p:cNvPr id="157" name="Shape 155"/>
          <p:cNvSpPr/>
          <p:nvPr/>
        </p:nvSpPr>
        <p:spPr>
          <a:xfrm>
            <a:off x="10021824" y="2958084"/>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58" name="Text 156"/>
          <p:cNvSpPr/>
          <p:nvPr/>
        </p:nvSpPr>
        <p:spPr>
          <a:xfrm>
            <a:off x="10021824" y="2958084"/>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59" name="Shape 157"/>
          <p:cNvSpPr/>
          <p:nvPr/>
        </p:nvSpPr>
        <p:spPr>
          <a:xfrm>
            <a:off x="1499616" y="3118104"/>
            <a:ext cx="3951580" cy="987552"/>
          </a:xfrm>
          <a:prstGeom prst="rect">
            <a:avLst/>
          </a:prstGeom>
          <a:solidFill>
            <a:srgbClr val="FFE5C0"/>
          </a:solidFill>
          <a:ln w="12700">
            <a:solidFill>
              <a:srgbClr val="FF6B00"/>
            </a:solidFill>
            <a:prstDash val="solid"/>
          </a:ln>
        </p:spPr>
        <p:txBody>
          <a:bodyPr/>
          <a:lstStyle/>
          <a:p>
            <a:endParaRPr lang="es-ES"/>
          </a:p>
        </p:txBody>
      </p:sp>
      <p:sp>
        <p:nvSpPr>
          <p:cNvPr id="160" name="Text 158"/>
          <p:cNvSpPr/>
          <p:nvPr/>
        </p:nvSpPr>
        <p:spPr>
          <a:xfrm>
            <a:off x="1517904" y="3127248"/>
            <a:ext cx="3915004" cy="118872"/>
          </a:xfrm>
          <a:prstGeom prst="rect">
            <a:avLst/>
          </a:prstGeom>
          <a:noFill/>
          <a:ln/>
        </p:spPr>
        <p:txBody>
          <a:bodyPr wrap="square" rtlCol="0" anchor="ctr"/>
          <a:lstStyle/>
          <a:p>
            <a:pPr marL="0" indent="0" algn="l">
              <a:buNone/>
            </a:pPr>
            <a:r>
              <a:rPr lang="en-US" sz="650" b="1" i="1" dirty="0">
                <a:solidFill>
                  <a:srgbClr val="FF6B00"/>
                </a:solidFill>
              </a:rPr>
              <a:t>Orquestación de Servicio (8.x)</a:t>
            </a:r>
            <a:endParaRPr lang="en-US" sz="650" dirty="0"/>
          </a:p>
        </p:txBody>
      </p:sp>
      <p:sp>
        <p:nvSpPr>
          <p:cNvPr id="161" name="Shape 159"/>
          <p:cNvSpPr/>
          <p:nvPr/>
        </p:nvSpPr>
        <p:spPr>
          <a:xfrm>
            <a:off x="1517904" y="3255264"/>
            <a:ext cx="3915004" cy="277368"/>
          </a:xfrm>
          <a:prstGeom prst="rect">
            <a:avLst/>
          </a:prstGeom>
          <a:solidFill>
            <a:srgbClr val="FFE5C0"/>
          </a:solidFill>
          <a:ln w="15240">
            <a:solidFill>
              <a:srgbClr val="FF6B00"/>
            </a:solidFill>
            <a:prstDash val="solid"/>
          </a:ln>
        </p:spPr>
        <p:txBody>
          <a:bodyPr/>
          <a:lstStyle/>
          <a:p>
            <a:endParaRPr lang="es-ES"/>
          </a:p>
        </p:txBody>
      </p:sp>
      <p:sp>
        <p:nvSpPr>
          <p:cNvPr id="162" name="Text 160"/>
          <p:cNvSpPr/>
          <p:nvPr/>
        </p:nvSpPr>
        <p:spPr>
          <a:xfrm>
            <a:off x="1517904" y="3255264"/>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Orquestador de Servicios (8.1)</a:t>
            </a:r>
            <a:endParaRPr lang="en-US" sz="600" dirty="0"/>
          </a:p>
        </p:txBody>
      </p:sp>
      <p:sp>
        <p:nvSpPr>
          <p:cNvPr id="163" name="Shape 161"/>
          <p:cNvSpPr/>
          <p:nvPr/>
        </p:nvSpPr>
        <p:spPr>
          <a:xfrm>
            <a:off x="1517904" y="3541776"/>
            <a:ext cx="3915004" cy="277368"/>
          </a:xfrm>
          <a:prstGeom prst="rect">
            <a:avLst/>
          </a:prstGeom>
          <a:solidFill>
            <a:srgbClr val="FFE5C0"/>
          </a:solidFill>
          <a:ln w="15240">
            <a:solidFill>
              <a:srgbClr val="FF6B00"/>
            </a:solidFill>
            <a:prstDash val="solid"/>
          </a:ln>
        </p:spPr>
        <p:txBody>
          <a:bodyPr/>
          <a:lstStyle/>
          <a:p>
            <a:endParaRPr lang="es-ES"/>
          </a:p>
        </p:txBody>
      </p:sp>
      <p:sp>
        <p:nvSpPr>
          <p:cNvPr id="164" name="Text 162"/>
          <p:cNvSpPr/>
          <p:nvPr/>
        </p:nvSpPr>
        <p:spPr>
          <a:xfrm>
            <a:off x="1517904" y="3541776"/>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Adaptadores heredados (8.4)</a:t>
            </a:r>
            <a:endParaRPr lang="en-US" sz="600" dirty="0"/>
          </a:p>
        </p:txBody>
      </p:sp>
      <p:sp>
        <p:nvSpPr>
          <p:cNvPr id="165" name="Shape 163"/>
          <p:cNvSpPr/>
          <p:nvPr/>
        </p:nvSpPr>
        <p:spPr>
          <a:xfrm>
            <a:off x="1517904" y="3828288"/>
            <a:ext cx="3915004" cy="277368"/>
          </a:xfrm>
          <a:prstGeom prst="rect">
            <a:avLst/>
          </a:prstGeom>
          <a:solidFill>
            <a:srgbClr val="FFE5C0"/>
          </a:solidFill>
          <a:ln w="15240">
            <a:solidFill>
              <a:srgbClr val="FF6B00"/>
            </a:solidFill>
            <a:prstDash val="solid"/>
          </a:ln>
        </p:spPr>
        <p:txBody>
          <a:bodyPr/>
          <a:lstStyle/>
          <a:p>
            <a:endParaRPr lang="es-ES"/>
          </a:p>
        </p:txBody>
      </p:sp>
      <p:sp>
        <p:nvSpPr>
          <p:cNvPr id="166" name="Text 164"/>
          <p:cNvSpPr/>
          <p:nvPr/>
        </p:nvSpPr>
        <p:spPr>
          <a:xfrm>
            <a:off x="1517904" y="3828288"/>
            <a:ext cx="3915004"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Almacenar y reenviar (7.3)</a:t>
            </a:r>
            <a:endParaRPr lang="en-US" sz="600" dirty="0"/>
          </a:p>
        </p:txBody>
      </p:sp>
      <p:sp>
        <p:nvSpPr>
          <p:cNvPr id="167" name="Shape 165"/>
          <p:cNvSpPr/>
          <p:nvPr/>
        </p:nvSpPr>
        <p:spPr>
          <a:xfrm>
            <a:off x="5469484" y="3118104"/>
            <a:ext cx="4835804" cy="987552"/>
          </a:xfrm>
          <a:prstGeom prst="rect">
            <a:avLst/>
          </a:prstGeom>
          <a:solidFill>
            <a:srgbClr val="FFE5C0"/>
          </a:solidFill>
          <a:ln w="12700">
            <a:solidFill>
              <a:srgbClr val="FF6B00"/>
            </a:solidFill>
            <a:prstDash val="solid"/>
          </a:ln>
        </p:spPr>
        <p:txBody>
          <a:bodyPr/>
          <a:lstStyle/>
          <a:p>
            <a:endParaRPr lang="es-ES"/>
          </a:p>
        </p:txBody>
      </p:sp>
      <p:sp>
        <p:nvSpPr>
          <p:cNvPr id="168" name="Text 166"/>
          <p:cNvSpPr/>
          <p:nvPr/>
        </p:nvSpPr>
        <p:spPr>
          <a:xfrm>
            <a:off x="5487772" y="3127248"/>
            <a:ext cx="4799228" cy="118872"/>
          </a:xfrm>
          <a:prstGeom prst="rect">
            <a:avLst/>
          </a:prstGeom>
          <a:noFill/>
          <a:ln/>
        </p:spPr>
        <p:txBody>
          <a:bodyPr wrap="square" rtlCol="0" anchor="ctr"/>
          <a:lstStyle/>
          <a:p>
            <a:pPr marL="0" indent="0" algn="l">
              <a:buNone/>
            </a:pPr>
            <a:r>
              <a:rPr lang="en-US" sz="650" b="1" i="1" dirty="0">
                <a:solidFill>
                  <a:srgbClr val="FF6B00"/>
                </a:solidFill>
              </a:rPr>
              <a:t>Gestión de transacciones (7.x)</a:t>
            </a:r>
            <a:endParaRPr lang="en-US" sz="650" dirty="0"/>
          </a:p>
        </p:txBody>
      </p:sp>
      <p:sp>
        <p:nvSpPr>
          <p:cNvPr id="169" name="Shape 167"/>
          <p:cNvSpPr/>
          <p:nvPr/>
        </p:nvSpPr>
        <p:spPr>
          <a:xfrm>
            <a:off x="5487772" y="3255264"/>
            <a:ext cx="4799228" cy="277368"/>
          </a:xfrm>
          <a:prstGeom prst="rect">
            <a:avLst/>
          </a:prstGeom>
          <a:solidFill>
            <a:srgbClr val="FFE5C0"/>
          </a:solidFill>
          <a:ln w="15240">
            <a:solidFill>
              <a:srgbClr val="FF6B00"/>
            </a:solidFill>
            <a:prstDash val="solid"/>
          </a:ln>
        </p:spPr>
        <p:txBody>
          <a:bodyPr/>
          <a:lstStyle/>
          <a:p>
            <a:endParaRPr lang="es-ES"/>
          </a:p>
        </p:txBody>
      </p:sp>
      <p:sp>
        <p:nvSpPr>
          <p:cNvPr id="170" name="Text 168"/>
          <p:cNvSpPr/>
          <p:nvPr/>
        </p:nvSpPr>
        <p:spPr>
          <a:xfrm>
            <a:off x="5487772" y="3255264"/>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Gestión Transaction (7.1)</a:t>
            </a:r>
            <a:endParaRPr lang="en-US" sz="600" dirty="0"/>
          </a:p>
        </p:txBody>
      </p:sp>
      <p:sp>
        <p:nvSpPr>
          <p:cNvPr id="171" name="Shape 169"/>
          <p:cNvSpPr/>
          <p:nvPr/>
        </p:nvSpPr>
        <p:spPr>
          <a:xfrm>
            <a:off x="5487772" y="3541776"/>
            <a:ext cx="4799228" cy="277368"/>
          </a:xfrm>
          <a:prstGeom prst="rect">
            <a:avLst/>
          </a:prstGeom>
          <a:solidFill>
            <a:srgbClr val="FFE5C0"/>
          </a:solidFill>
          <a:ln w="15240">
            <a:solidFill>
              <a:srgbClr val="FF6B00"/>
            </a:solidFill>
            <a:prstDash val="solid"/>
          </a:ln>
        </p:spPr>
        <p:txBody>
          <a:bodyPr/>
          <a:lstStyle/>
          <a:p>
            <a:endParaRPr lang="es-ES"/>
          </a:p>
        </p:txBody>
      </p:sp>
      <p:sp>
        <p:nvSpPr>
          <p:cNvPr id="172" name="Text 170"/>
          <p:cNvSpPr/>
          <p:nvPr/>
        </p:nvSpPr>
        <p:spPr>
          <a:xfrm>
            <a:off x="5487772" y="3541776"/>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Operaciones y Control (7.2)</a:t>
            </a:r>
            <a:endParaRPr lang="en-US" sz="600" dirty="0"/>
          </a:p>
        </p:txBody>
      </p:sp>
      <p:sp>
        <p:nvSpPr>
          <p:cNvPr id="173" name="Shape 171"/>
          <p:cNvSpPr/>
          <p:nvPr/>
        </p:nvSpPr>
        <p:spPr>
          <a:xfrm>
            <a:off x="5487772" y="3828288"/>
            <a:ext cx="4799228" cy="277368"/>
          </a:xfrm>
          <a:prstGeom prst="rect">
            <a:avLst/>
          </a:prstGeom>
          <a:solidFill>
            <a:srgbClr val="FFE5C0"/>
          </a:solidFill>
          <a:ln w="15240">
            <a:solidFill>
              <a:srgbClr val="FF6B00"/>
            </a:solidFill>
            <a:prstDash val="solid"/>
          </a:ln>
        </p:spPr>
        <p:txBody>
          <a:bodyPr/>
          <a:lstStyle/>
          <a:p>
            <a:endParaRPr lang="es-ES"/>
          </a:p>
        </p:txBody>
      </p:sp>
      <p:sp>
        <p:nvSpPr>
          <p:cNvPr id="174" name="Text 172"/>
          <p:cNvSpPr/>
          <p:nvPr/>
        </p:nvSpPr>
        <p:spPr>
          <a:xfrm>
            <a:off x="5487772" y="3828288"/>
            <a:ext cx="4799228" cy="277368"/>
          </a:xfrm>
          <a:prstGeom prst="rect">
            <a:avLst/>
          </a:prstGeom>
          <a:noFill/>
          <a:ln/>
        </p:spPr>
        <p:txBody>
          <a:bodyPr wrap="square" lIns="19050" tIns="19050" rIns="19050" bIns="19050" rtlCol="0" anchor="ctr"/>
          <a:lstStyle/>
          <a:p>
            <a:pPr marL="0" indent="0" algn="ctr">
              <a:buNone/>
            </a:pPr>
            <a:r>
              <a:rPr lang="en-US" sz="600" b="1" dirty="0">
                <a:solidFill>
                  <a:srgbClr val="6B2400"/>
                </a:solidFill>
              </a:rPr>
              <a:t>Admin.Servicios (7.4)</a:t>
            </a:r>
            <a:endParaRPr lang="en-US" sz="600" dirty="0"/>
          </a:p>
        </p:txBody>
      </p:sp>
      <p:sp>
        <p:nvSpPr>
          <p:cNvPr id="175" name="Shape 173"/>
          <p:cNvSpPr/>
          <p:nvPr/>
        </p:nvSpPr>
        <p:spPr>
          <a:xfrm>
            <a:off x="1481328" y="4160520"/>
            <a:ext cx="8842248" cy="1197864"/>
          </a:xfrm>
          <a:prstGeom prst="rect">
            <a:avLst/>
          </a:prstGeom>
          <a:solidFill>
            <a:srgbClr val="FFE5C0"/>
          </a:solidFill>
          <a:ln w="19050">
            <a:solidFill>
              <a:srgbClr val="FF6B00"/>
            </a:solidFill>
            <a:prstDash val="solid"/>
          </a:ln>
        </p:spPr>
        <p:txBody>
          <a:bodyPr/>
          <a:lstStyle/>
          <a:p>
            <a:endParaRPr lang="es-ES"/>
          </a:p>
        </p:txBody>
      </p:sp>
      <p:sp>
        <p:nvSpPr>
          <p:cNvPr id="176" name="Shape 174"/>
          <p:cNvSpPr/>
          <p:nvPr/>
        </p:nvSpPr>
        <p:spPr>
          <a:xfrm>
            <a:off x="1481328" y="4160520"/>
            <a:ext cx="8842248" cy="173736"/>
          </a:xfrm>
          <a:prstGeom prst="rect">
            <a:avLst/>
          </a:prstGeom>
          <a:solidFill>
            <a:srgbClr val="FF6B00"/>
          </a:solidFill>
          <a:ln w="12700">
            <a:solidFill>
              <a:srgbClr val="FF6B00"/>
            </a:solidFill>
            <a:prstDash val="solid"/>
          </a:ln>
        </p:spPr>
        <p:txBody>
          <a:bodyPr/>
          <a:lstStyle/>
          <a:p>
            <a:endParaRPr lang="es-ES"/>
          </a:p>
        </p:txBody>
      </p:sp>
      <p:sp>
        <p:nvSpPr>
          <p:cNvPr id="177" name="Text 175"/>
          <p:cNvSpPr/>
          <p:nvPr/>
        </p:nvSpPr>
        <p:spPr>
          <a:xfrm>
            <a:off x="1527048" y="4160520"/>
            <a:ext cx="8522208" cy="173736"/>
          </a:xfrm>
          <a:prstGeom prst="rect">
            <a:avLst/>
          </a:prstGeom>
          <a:noFill/>
          <a:ln/>
        </p:spPr>
        <p:txBody>
          <a:bodyPr wrap="square" rtlCol="0" anchor="ctr"/>
          <a:lstStyle/>
          <a:p>
            <a:pPr marL="0" indent="0" algn="ctr">
              <a:buNone/>
            </a:pPr>
            <a:r>
              <a:rPr lang="en-US" sz="800" b="1" dirty="0">
                <a:solidFill>
                  <a:srgbClr val="FFFFFF"/>
                </a:solidFill>
              </a:rPr>
              <a:t>Servicios Empresariales Comunes</a:t>
            </a:r>
            <a:endParaRPr lang="en-US" sz="800" dirty="0"/>
          </a:p>
        </p:txBody>
      </p:sp>
      <p:sp>
        <p:nvSpPr>
          <p:cNvPr id="178" name="Shape 176"/>
          <p:cNvSpPr/>
          <p:nvPr/>
        </p:nvSpPr>
        <p:spPr>
          <a:xfrm>
            <a:off x="10021824" y="418338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79" name="Text 177"/>
          <p:cNvSpPr/>
          <p:nvPr/>
        </p:nvSpPr>
        <p:spPr>
          <a:xfrm>
            <a:off x="10021824" y="418338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80" name="Shape 178"/>
          <p:cNvSpPr/>
          <p:nvPr/>
        </p:nvSpPr>
        <p:spPr>
          <a:xfrm>
            <a:off x="1499616"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1" name="Text 179"/>
          <p:cNvSpPr/>
          <p:nvPr/>
        </p:nvSpPr>
        <p:spPr>
          <a:xfrm>
            <a:off x="1499616"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Servicios Cliente y Parte (10.1)</a:t>
            </a:r>
            <a:endParaRPr lang="en-US" sz="580" dirty="0"/>
          </a:p>
        </p:txBody>
      </p:sp>
      <p:sp>
        <p:nvSpPr>
          <p:cNvPr id="182" name="Shape 180"/>
          <p:cNvSpPr/>
          <p:nvPr/>
        </p:nvSpPr>
        <p:spPr>
          <a:xfrm>
            <a:off x="2964180"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3" name="Text 181"/>
          <p:cNvSpPr/>
          <p:nvPr/>
        </p:nvSpPr>
        <p:spPr>
          <a:xfrm>
            <a:off x="2964180"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Producto y Precios (10.2)</a:t>
            </a:r>
            <a:endParaRPr lang="en-US" sz="580" dirty="0"/>
          </a:p>
        </p:txBody>
      </p:sp>
      <p:sp>
        <p:nvSpPr>
          <p:cNvPr id="184" name="Shape 182"/>
          <p:cNvSpPr/>
          <p:nvPr/>
        </p:nvSpPr>
        <p:spPr>
          <a:xfrm>
            <a:off x="4428744"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5" name="Text 183"/>
          <p:cNvSpPr/>
          <p:nvPr/>
        </p:nvSpPr>
        <p:spPr>
          <a:xfrm>
            <a:off x="4428744"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Límites y Riesgo (10.3)</a:t>
            </a:r>
            <a:endParaRPr lang="en-US" sz="580" dirty="0"/>
          </a:p>
        </p:txBody>
      </p:sp>
      <p:sp>
        <p:nvSpPr>
          <p:cNvPr id="186" name="Shape 184"/>
          <p:cNvSpPr/>
          <p:nvPr/>
        </p:nvSpPr>
        <p:spPr>
          <a:xfrm>
            <a:off x="5893308"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7" name="Text 185"/>
          <p:cNvSpPr/>
          <p:nvPr/>
        </p:nvSpPr>
        <p:spPr>
          <a:xfrm>
            <a:off x="5893308"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Financiero y Contable (10.4)</a:t>
            </a:r>
            <a:endParaRPr lang="en-US" sz="580" dirty="0"/>
          </a:p>
        </p:txBody>
      </p:sp>
      <p:sp>
        <p:nvSpPr>
          <p:cNvPr id="188" name="Shape 186"/>
          <p:cNvSpPr/>
          <p:nvPr/>
        </p:nvSpPr>
        <p:spPr>
          <a:xfrm>
            <a:off x="7357872"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89" name="Text 187"/>
          <p:cNvSpPr/>
          <p:nvPr/>
        </p:nvSpPr>
        <p:spPr>
          <a:xfrm>
            <a:off x="7357872"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Documentos y Contenidos (10.5)</a:t>
            </a:r>
            <a:endParaRPr lang="en-US" sz="580" dirty="0"/>
          </a:p>
        </p:txBody>
      </p:sp>
      <p:sp>
        <p:nvSpPr>
          <p:cNvPr id="190" name="Shape 188"/>
          <p:cNvSpPr/>
          <p:nvPr/>
        </p:nvSpPr>
        <p:spPr>
          <a:xfrm>
            <a:off x="8822436" y="4343400"/>
            <a:ext cx="1446276" cy="978408"/>
          </a:xfrm>
          <a:prstGeom prst="rect">
            <a:avLst/>
          </a:prstGeom>
          <a:solidFill>
            <a:srgbClr val="FFE5C0"/>
          </a:solidFill>
          <a:ln w="15240">
            <a:solidFill>
              <a:srgbClr val="FF6B00"/>
            </a:solidFill>
            <a:prstDash val="solid"/>
          </a:ln>
        </p:spPr>
        <p:txBody>
          <a:bodyPr/>
          <a:lstStyle/>
          <a:p>
            <a:endParaRPr lang="es-ES"/>
          </a:p>
        </p:txBody>
      </p:sp>
      <p:sp>
        <p:nvSpPr>
          <p:cNvPr id="191" name="Text 189"/>
          <p:cNvSpPr/>
          <p:nvPr/>
        </p:nvSpPr>
        <p:spPr>
          <a:xfrm>
            <a:off x="8822436" y="4343400"/>
            <a:ext cx="1446276" cy="978408"/>
          </a:xfrm>
          <a:prstGeom prst="rect">
            <a:avLst/>
          </a:prstGeom>
          <a:noFill/>
          <a:ln/>
        </p:spPr>
        <p:txBody>
          <a:bodyPr wrap="square" lIns="19050" tIns="19050" rIns="19050" bIns="19050" rtlCol="0" anchor="ctr"/>
          <a:lstStyle/>
          <a:p>
            <a:pPr marL="0" indent="0" algn="ctr">
              <a:buNone/>
            </a:pPr>
            <a:r>
              <a:rPr lang="en-US" sz="580" b="1" dirty="0">
                <a:solidFill>
                  <a:srgbClr val="6B2400"/>
                </a:solidFill>
              </a:rPr>
              <a:t>Control y Confianza (10.6)</a:t>
            </a:r>
            <a:endParaRPr lang="en-US" sz="580" dirty="0"/>
          </a:p>
        </p:txBody>
      </p:sp>
      <p:sp>
        <p:nvSpPr>
          <p:cNvPr id="192" name="Shape 190"/>
          <p:cNvSpPr/>
          <p:nvPr/>
        </p:nvSpPr>
        <p:spPr>
          <a:xfrm>
            <a:off x="1481328" y="5385816"/>
            <a:ext cx="8842248" cy="1207008"/>
          </a:xfrm>
          <a:prstGeom prst="rect">
            <a:avLst/>
          </a:prstGeom>
          <a:solidFill>
            <a:srgbClr val="FFE5C0"/>
          </a:solidFill>
          <a:ln w="19050">
            <a:solidFill>
              <a:srgbClr val="FF6B00"/>
            </a:solidFill>
            <a:prstDash val="solid"/>
          </a:ln>
        </p:spPr>
        <p:txBody>
          <a:bodyPr/>
          <a:lstStyle/>
          <a:p>
            <a:endParaRPr lang="es-ES"/>
          </a:p>
        </p:txBody>
      </p:sp>
      <p:sp>
        <p:nvSpPr>
          <p:cNvPr id="193" name="Shape 191"/>
          <p:cNvSpPr/>
          <p:nvPr/>
        </p:nvSpPr>
        <p:spPr>
          <a:xfrm>
            <a:off x="1481328" y="5385816"/>
            <a:ext cx="8842248" cy="173736"/>
          </a:xfrm>
          <a:prstGeom prst="rect">
            <a:avLst/>
          </a:prstGeom>
          <a:solidFill>
            <a:srgbClr val="FF6B00"/>
          </a:solidFill>
          <a:ln w="12700">
            <a:solidFill>
              <a:srgbClr val="FF6B00"/>
            </a:solidFill>
            <a:prstDash val="solid"/>
          </a:ln>
        </p:spPr>
        <p:txBody>
          <a:bodyPr/>
          <a:lstStyle/>
          <a:p>
            <a:endParaRPr lang="es-ES"/>
          </a:p>
        </p:txBody>
      </p:sp>
      <p:sp>
        <p:nvSpPr>
          <p:cNvPr id="194" name="Text 192"/>
          <p:cNvSpPr/>
          <p:nvPr/>
        </p:nvSpPr>
        <p:spPr>
          <a:xfrm>
            <a:off x="1527048" y="5385816"/>
            <a:ext cx="8522208" cy="173736"/>
          </a:xfrm>
          <a:prstGeom prst="rect">
            <a:avLst/>
          </a:prstGeom>
          <a:noFill/>
          <a:ln/>
        </p:spPr>
        <p:txBody>
          <a:bodyPr wrap="square" rtlCol="0" anchor="ctr"/>
          <a:lstStyle/>
          <a:p>
            <a:pPr marL="0" indent="0" algn="ctr">
              <a:buNone/>
            </a:pPr>
            <a:r>
              <a:rPr lang="en-US" sz="800" b="1" dirty="0">
                <a:solidFill>
                  <a:srgbClr val="FFFFFF"/>
                </a:solidFill>
              </a:rPr>
              <a:t>Entrega de datos</a:t>
            </a:r>
            <a:endParaRPr lang="en-US" sz="800" dirty="0"/>
          </a:p>
        </p:txBody>
      </p:sp>
      <p:sp>
        <p:nvSpPr>
          <p:cNvPr id="195" name="Shape 193"/>
          <p:cNvSpPr/>
          <p:nvPr/>
        </p:nvSpPr>
        <p:spPr>
          <a:xfrm>
            <a:off x="10021824" y="540867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196" name="Text 194"/>
          <p:cNvSpPr/>
          <p:nvPr/>
        </p:nvSpPr>
        <p:spPr>
          <a:xfrm>
            <a:off x="10021824" y="540867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197" name="Shape 195"/>
          <p:cNvSpPr/>
          <p:nvPr/>
        </p:nvSpPr>
        <p:spPr>
          <a:xfrm>
            <a:off x="1499616" y="5568696"/>
            <a:ext cx="3006364" cy="996696"/>
          </a:xfrm>
          <a:prstGeom prst="rect">
            <a:avLst/>
          </a:prstGeom>
          <a:solidFill>
            <a:srgbClr val="FFE5C0"/>
          </a:solidFill>
          <a:ln w="8890">
            <a:solidFill>
              <a:srgbClr val="FF6B00"/>
            </a:solidFill>
            <a:prstDash val="solid"/>
          </a:ln>
        </p:spPr>
        <p:txBody>
          <a:bodyPr/>
          <a:lstStyle/>
          <a:p>
            <a:endParaRPr lang="es-ES"/>
          </a:p>
        </p:txBody>
      </p:sp>
      <p:sp>
        <p:nvSpPr>
          <p:cNvPr id="198" name="Text 196"/>
          <p:cNvSpPr/>
          <p:nvPr/>
        </p:nvSpPr>
        <p:spPr>
          <a:xfrm>
            <a:off x="1517904" y="5577840"/>
            <a:ext cx="2969788" cy="118872"/>
          </a:xfrm>
          <a:prstGeom prst="rect">
            <a:avLst/>
          </a:prstGeom>
          <a:noFill/>
          <a:ln/>
        </p:spPr>
        <p:txBody>
          <a:bodyPr wrap="square" rtlCol="0" anchor="ctr"/>
          <a:lstStyle/>
          <a:p>
            <a:pPr marL="0" indent="0" algn="l">
              <a:buNone/>
            </a:pPr>
            <a:r>
              <a:rPr lang="en-US" sz="650" b="1" i="1" dirty="0">
                <a:solidFill>
                  <a:srgbClr val="FF6B00"/>
                </a:solidFill>
              </a:rPr>
              <a:t>Catálogo de datos y modelado (11.1)</a:t>
            </a:r>
            <a:endParaRPr lang="en-US" sz="650" dirty="0"/>
          </a:p>
        </p:txBody>
      </p:sp>
      <p:sp>
        <p:nvSpPr>
          <p:cNvPr id="199" name="Shape 197"/>
          <p:cNvSpPr/>
          <p:nvPr/>
        </p:nvSpPr>
        <p:spPr>
          <a:xfrm>
            <a:off x="1508760" y="5705856"/>
            <a:ext cx="1466606" cy="416052"/>
          </a:xfrm>
          <a:prstGeom prst="rect">
            <a:avLst/>
          </a:prstGeom>
          <a:solidFill>
            <a:srgbClr val="FFE5C0"/>
          </a:solidFill>
          <a:ln w="15240">
            <a:solidFill>
              <a:srgbClr val="FF6B00"/>
            </a:solidFill>
            <a:prstDash val="solid"/>
          </a:ln>
        </p:spPr>
        <p:txBody>
          <a:bodyPr/>
          <a:lstStyle/>
          <a:p>
            <a:endParaRPr lang="es-ES"/>
          </a:p>
        </p:txBody>
      </p:sp>
      <p:sp>
        <p:nvSpPr>
          <p:cNvPr id="200" name="Text 198"/>
          <p:cNvSpPr/>
          <p:nvPr/>
        </p:nvSpPr>
        <p:spPr>
          <a:xfrm>
            <a:off x="1508760" y="5705856"/>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Catálogo e Inventario</a:t>
            </a:r>
            <a:endParaRPr lang="en-US" sz="520" dirty="0"/>
          </a:p>
        </p:txBody>
      </p:sp>
      <p:sp>
        <p:nvSpPr>
          <p:cNvPr id="201" name="Shape 199"/>
          <p:cNvSpPr/>
          <p:nvPr/>
        </p:nvSpPr>
        <p:spPr>
          <a:xfrm>
            <a:off x="2984510" y="5705856"/>
            <a:ext cx="1466606" cy="416052"/>
          </a:xfrm>
          <a:prstGeom prst="rect">
            <a:avLst/>
          </a:prstGeom>
          <a:solidFill>
            <a:srgbClr val="FFE5C0"/>
          </a:solidFill>
          <a:ln w="15240">
            <a:solidFill>
              <a:srgbClr val="FF6B00"/>
            </a:solidFill>
            <a:prstDash val="solid"/>
          </a:ln>
        </p:spPr>
        <p:txBody>
          <a:bodyPr/>
          <a:lstStyle/>
          <a:p>
            <a:endParaRPr lang="es-ES"/>
          </a:p>
        </p:txBody>
      </p:sp>
      <p:sp>
        <p:nvSpPr>
          <p:cNvPr id="202" name="Text 200"/>
          <p:cNvSpPr/>
          <p:nvPr/>
        </p:nvSpPr>
        <p:spPr>
          <a:xfrm>
            <a:off x="2984510" y="5705856"/>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Gestión Metadatos</a:t>
            </a:r>
            <a:endParaRPr lang="en-US" sz="520" dirty="0"/>
          </a:p>
        </p:txBody>
      </p:sp>
      <p:sp>
        <p:nvSpPr>
          <p:cNvPr id="203" name="Shape 201"/>
          <p:cNvSpPr/>
          <p:nvPr/>
        </p:nvSpPr>
        <p:spPr>
          <a:xfrm>
            <a:off x="1508760" y="6131052"/>
            <a:ext cx="1466606" cy="416052"/>
          </a:xfrm>
          <a:prstGeom prst="rect">
            <a:avLst/>
          </a:prstGeom>
          <a:solidFill>
            <a:srgbClr val="FFE5C0"/>
          </a:solidFill>
          <a:ln w="15240">
            <a:solidFill>
              <a:srgbClr val="FF6B00"/>
            </a:solidFill>
            <a:prstDash val="solid"/>
          </a:ln>
        </p:spPr>
        <p:txBody>
          <a:bodyPr/>
          <a:lstStyle/>
          <a:p>
            <a:endParaRPr lang="es-ES"/>
          </a:p>
        </p:txBody>
      </p:sp>
      <p:sp>
        <p:nvSpPr>
          <p:cNvPr id="204" name="Text 202"/>
          <p:cNvSpPr/>
          <p:nvPr/>
        </p:nvSpPr>
        <p:spPr>
          <a:xfrm>
            <a:off x="1508760" y="6131052"/>
            <a:ext cx="1466606"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Linaje de Datos</a:t>
            </a:r>
            <a:endParaRPr lang="en-US" sz="520" dirty="0"/>
          </a:p>
        </p:txBody>
      </p:sp>
      <p:sp>
        <p:nvSpPr>
          <p:cNvPr id="205" name="Shape 203"/>
          <p:cNvSpPr/>
          <p:nvPr/>
        </p:nvSpPr>
        <p:spPr>
          <a:xfrm>
            <a:off x="2984510" y="6131052"/>
            <a:ext cx="1466606" cy="416052"/>
          </a:xfrm>
          <a:prstGeom prst="rect">
            <a:avLst/>
          </a:prstGeom>
          <a:solidFill>
            <a:srgbClr val="F0F0F0"/>
          </a:solidFill>
          <a:ln w="5080">
            <a:solidFill>
              <a:srgbClr val="CCCCCC"/>
            </a:solidFill>
            <a:prstDash val="solid"/>
          </a:ln>
        </p:spPr>
        <p:txBody>
          <a:bodyPr/>
          <a:lstStyle/>
          <a:p>
            <a:endParaRPr lang="es-ES"/>
          </a:p>
        </p:txBody>
      </p:sp>
      <p:sp>
        <p:nvSpPr>
          <p:cNvPr id="206" name="Text 204"/>
          <p:cNvSpPr/>
          <p:nvPr/>
        </p:nvSpPr>
        <p:spPr>
          <a:xfrm>
            <a:off x="2984510" y="6131052"/>
            <a:ext cx="1466606" cy="416052"/>
          </a:xfrm>
          <a:prstGeom prst="rect">
            <a:avLst/>
          </a:prstGeom>
          <a:noFill/>
          <a:ln/>
        </p:spPr>
        <p:txBody>
          <a:bodyPr wrap="square" lIns="19050" tIns="19050" rIns="19050" bIns="19050" rtlCol="0" anchor="ctr"/>
          <a:lstStyle/>
          <a:p>
            <a:pPr marL="0" indent="0" algn="ctr">
              <a:buNone/>
            </a:pPr>
            <a:r>
              <a:rPr lang="en-US" sz="520" dirty="0">
                <a:solidFill>
                  <a:srgbClr val="888888"/>
                </a:solidFill>
              </a:rPr>
              <a:t>Grafo &amp; Enriquecimiento</a:t>
            </a:r>
            <a:endParaRPr lang="en-US" sz="520" dirty="0"/>
          </a:p>
        </p:txBody>
      </p:sp>
      <p:sp>
        <p:nvSpPr>
          <p:cNvPr id="207" name="Shape 205"/>
          <p:cNvSpPr/>
          <p:nvPr/>
        </p:nvSpPr>
        <p:spPr>
          <a:xfrm>
            <a:off x="4524268" y="5568696"/>
            <a:ext cx="3360054" cy="996696"/>
          </a:xfrm>
          <a:prstGeom prst="rect">
            <a:avLst/>
          </a:prstGeom>
          <a:solidFill>
            <a:srgbClr val="FFE5C0"/>
          </a:solidFill>
          <a:ln w="8890">
            <a:solidFill>
              <a:srgbClr val="FF6B00"/>
            </a:solidFill>
            <a:prstDash val="solid"/>
          </a:ln>
        </p:spPr>
        <p:txBody>
          <a:bodyPr/>
          <a:lstStyle/>
          <a:p>
            <a:endParaRPr lang="es-ES"/>
          </a:p>
        </p:txBody>
      </p:sp>
      <p:sp>
        <p:nvSpPr>
          <p:cNvPr id="208" name="Text 206"/>
          <p:cNvSpPr/>
          <p:nvPr/>
        </p:nvSpPr>
        <p:spPr>
          <a:xfrm>
            <a:off x="4542556" y="5577840"/>
            <a:ext cx="3323478" cy="118872"/>
          </a:xfrm>
          <a:prstGeom prst="rect">
            <a:avLst/>
          </a:prstGeom>
          <a:noFill/>
          <a:ln/>
        </p:spPr>
        <p:txBody>
          <a:bodyPr wrap="square" rtlCol="0" anchor="ctr"/>
          <a:lstStyle/>
          <a:p>
            <a:pPr marL="0" indent="0" algn="l">
              <a:buNone/>
            </a:pPr>
            <a:r>
              <a:rPr lang="en-US" sz="650" b="1" i="1" dirty="0">
                <a:solidFill>
                  <a:srgbClr val="FF6B00"/>
                </a:solidFill>
              </a:rPr>
              <a:t>Canalizaciones y Entrega de Datos (11.2)</a:t>
            </a:r>
            <a:endParaRPr lang="en-US" sz="650" dirty="0"/>
          </a:p>
        </p:txBody>
      </p:sp>
      <p:sp>
        <p:nvSpPr>
          <p:cNvPr id="209" name="Shape 207"/>
          <p:cNvSpPr/>
          <p:nvPr/>
        </p:nvSpPr>
        <p:spPr>
          <a:xfrm>
            <a:off x="4542556" y="5705856"/>
            <a:ext cx="1643451" cy="416052"/>
          </a:xfrm>
          <a:prstGeom prst="rect">
            <a:avLst/>
          </a:prstGeom>
          <a:solidFill>
            <a:srgbClr val="FFE5C0"/>
          </a:solidFill>
          <a:ln w="15240">
            <a:solidFill>
              <a:srgbClr val="FF6B00"/>
            </a:solidFill>
            <a:prstDash val="solid"/>
          </a:ln>
        </p:spPr>
        <p:txBody>
          <a:bodyPr/>
          <a:lstStyle/>
          <a:p>
            <a:endParaRPr lang="es-ES"/>
          </a:p>
        </p:txBody>
      </p:sp>
      <p:sp>
        <p:nvSpPr>
          <p:cNvPr id="210" name="Text 208"/>
          <p:cNvSpPr/>
          <p:nvPr/>
        </p:nvSpPr>
        <p:spPr>
          <a:xfrm>
            <a:off x="4542556" y="5705856"/>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Integración Flujo Datos (11.2.2)</a:t>
            </a:r>
            <a:endParaRPr lang="en-US" sz="520" dirty="0"/>
          </a:p>
        </p:txBody>
      </p:sp>
      <p:sp>
        <p:nvSpPr>
          <p:cNvPr id="211" name="Shape 209"/>
          <p:cNvSpPr/>
          <p:nvPr/>
        </p:nvSpPr>
        <p:spPr>
          <a:xfrm>
            <a:off x="6195151" y="5705856"/>
            <a:ext cx="1643451" cy="416052"/>
          </a:xfrm>
          <a:prstGeom prst="rect">
            <a:avLst/>
          </a:prstGeom>
          <a:solidFill>
            <a:srgbClr val="FFE5C0"/>
          </a:solidFill>
          <a:ln w="15240">
            <a:solidFill>
              <a:srgbClr val="FF6B00"/>
            </a:solidFill>
            <a:prstDash val="solid"/>
          </a:ln>
        </p:spPr>
        <p:txBody>
          <a:bodyPr/>
          <a:lstStyle/>
          <a:p>
            <a:endParaRPr lang="es-ES"/>
          </a:p>
        </p:txBody>
      </p:sp>
      <p:sp>
        <p:nvSpPr>
          <p:cNvPr id="212" name="Text 210"/>
          <p:cNvSpPr/>
          <p:nvPr/>
        </p:nvSpPr>
        <p:spPr>
          <a:xfrm>
            <a:off x="6195151" y="5705856"/>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Integración por Lotes (11.2.1)</a:t>
            </a:r>
            <a:endParaRPr lang="en-US" sz="520" dirty="0"/>
          </a:p>
        </p:txBody>
      </p:sp>
      <p:sp>
        <p:nvSpPr>
          <p:cNvPr id="213" name="Shape 211"/>
          <p:cNvSpPr/>
          <p:nvPr/>
        </p:nvSpPr>
        <p:spPr>
          <a:xfrm>
            <a:off x="4542556" y="6131052"/>
            <a:ext cx="1643451" cy="416052"/>
          </a:xfrm>
          <a:prstGeom prst="rect">
            <a:avLst/>
          </a:prstGeom>
          <a:solidFill>
            <a:srgbClr val="FFE5C0"/>
          </a:solidFill>
          <a:ln w="15240">
            <a:solidFill>
              <a:srgbClr val="FF6B00"/>
            </a:solidFill>
            <a:prstDash val="solid"/>
          </a:ln>
        </p:spPr>
        <p:txBody>
          <a:bodyPr/>
          <a:lstStyle/>
          <a:p>
            <a:endParaRPr lang="es-ES"/>
          </a:p>
        </p:txBody>
      </p:sp>
      <p:sp>
        <p:nvSpPr>
          <p:cNvPr id="214" name="Text 212"/>
          <p:cNvSpPr/>
          <p:nvPr/>
        </p:nvSpPr>
        <p:spPr>
          <a:xfrm>
            <a:off x="4542556" y="6131052"/>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Replicación de datos (11.2.3)</a:t>
            </a:r>
            <a:endParaRPr lang="en-US" sz="520" dirty="0"/>
          </a:p>
        </p:txBody>
      </p:sp>
      <p:sp>
        <p:nvSpPr>
          <p:cNvPr id="215" name="Shape 213"/>
          <p:cNvSpPr/>
          <p:nvPr/>
        </p:nvSpPr>
        <p:spPr>
          <a:xfrm>
            <a:off x="6195151" y="6131052"/>
            <a:ext cx="1643451" cy="416052"/>
          </a:xfrm>
          <a:prstGeom prst="rect">
            <a:avLst/>
          </a:prstGeom>
          <a:solidFill>
            <a:srgbClr val="FFF3DC"/>
          </a:solidFill>
          <a:ln w="12700">
            <a:solidFill>
              <a:srgbClr val="E89300"/>
            </a:solidFill>
            <a:prstDash val="solid"/>
          </a:ln>
        </p:spPr>
        <p:txBody>
          <a:bodyPr/>
          <a:lstStyle/>
          <a:p>
            <a:endParaRPr lang="es-ES"/>
          </a:p>
        </p:txBody>
      </p:sp>
      <p:sp>
        <p:nvSpPr>
          <p:cNvPr id="216" name="Text 214"/>
          <p:cNvSpPr/>
          <p:nvPr/>
        </p:nvSpPr>
        <p:spPr>
          <a:xfrm>
            <a:off x="6195151" y="6131052"/>
            <a:ext cx="1643451" cy="416052"/>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Virtualización de datos</a:t>
            </a:r>
            <a:endParaRPr lang="en-US" sz="520" dirty="0"/>
          </a:p>
        </p:txBody>
      </p:sp>
      <p:sp>
        <p:nvSpPr>
          <p:cNvPr id="217" name="Shape 215"/>
          <p:cNvSpPr/>
          <p:nvPr/>
        </p:nvSpPr>
        <p:spPr>
          <a:xfrm>
            <a:off x="7902611" y="5568696"/>
            <a:ext cx="2402677" cy="996696"/>
          </a:xfrm>
          <a:prstGeom prst="rect">
            <a:avLst/>
          </a:prstGeom>
          <a:solidFill>
            <a:srgbClr val="FFE5C0"/>
          </a:solidFill>
          <a:ln w="8890">
            <a:solidFill>
              <a:srgbClr val="FF6B00"/>
            </a:solidFill>
            <a:prstDash val="solid"/>
          </a:ln>
        </p:spPr>
        <p:txBody>
          <a:bodyPr/>
          <a:lstStyle/>
          <a:p>
            <a:endParaRPr lang="es-ES"/>
          </a:p>
        </p:txBody>
      </p:sp>
      <p:sp>
        <p:nvSpPr>
          <p:cNvPr id="218" name="Text 216"/>
          <p:cNvSpPr/>
          <p:nvPr/>
        </p:nvSpPr>
        <p:spPr>
          <a:xfrm>
            <a:off x="7920899" y="5577840"/>
            <a:ext cx="2366101" cy="118872"/>
          </a:xfrm>
          <a:prstGeom prst="rect">
            <a:avLst/>
          </a:prstGeom>
          <a:noFill/>
          <a:ln/>
        </p:spPr>
        <p:txBody>
          <a:bodyPr wrap="square" rtlCol="0" anchor="ctr"/>
          <a:lstStyle/>
          <a:p>
            <a:pPr marL="0" indent="0" algn="l">
              <a:buNone/>
            </a:pPr>
            <a:r>
              <a:rPr lang="en-US" sz="650" b="1" i="1" dirty="0">
                <a:solidFill>
                  <a:srgbClr val="FF6B00"/>
                </a:solidFill>
              </a:rPr>
              <a:t>ODS &amp; APIs de Datos (11.3+11.4)</a:t>
            </a:r>
            <a:endParaRPr lang="en-US" sz="650" dirty="0"/>
          </a:p>
        </p:txBody>
      </p:sp>
      <p:sp>
        <p:nvSpPr>
          <p:cNvPr id="219" name="Shape 217"/>
          <p:cNvSpPr/>
          <p:nvPr/>
        </p:nvSpPr>
        <p:spPr>
          <a:xfrm>
            <a:off x="7920899" y="5705856"/>
            <a:ext cx="2366101" cy="274320"/>
          </a:xfrm>
          <a:prstGeom prst="rect">
            <a:avLst/>
          </a:prstGeom>
          <a:solidFill>
            <a:srgbClr val="FFE5C0"/>
          </a:solidFill>
          <a:ln w="15240">
            <a:solidFill>
              <a:srgbClr val="FF6B00"/>
            </a:solidFill>
            <a:prstDash val="solid"/>
          </a:ln>
        </p:spPr>
        <p:txBody>
          <a:bodyPr/>
          <a:lstStyle/>
          <a:p>
            <a:endParaRPr lang="es-ES"/>
          </a:p>
        </p:txBody>
      </p:sp>
      <p:sp>
        <p:nvSpPr>
          <p:cNvPr id="220" name="Text 218"/>
          <p:cNvSpPr/>
          <p:nvPr/>
        </p:nvSpPr>
        <p:spPr>
          <a:xfrm>
            <a:off x="7920899" y="5705856"/>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Modelo Unificado/Canónico (11.3.1)</a:t>
            </a:r>
            <a:endParaRPr lang="en-US" sz="520" dirty="0"/>
          </a:p>
        </p:txBody>
      </p:sp>
      <p:sp>
        <p:nvSpPr>
          <p:cNvPr id="221" name="Shape 219"/>
          <p:cNvSpPr/>
          <p:nvPr/>
        </p:nvSpPr>
        <p:spPr>
          <a:xfrm>
            <a:off x="7920899" y="5989320"/>
            <a:ext cx="2366101" cy="274320"/>
          </a:xfrm>
          <a:prstGeom prst="rect">
            <a:avLst/>
          </a:prstGeom>
          <a:solidFill>
            <a:srgbClr val="FFE5C0"/>
          </a:solidFill>
          <a:ln w="15240">
            <a:solidFill>
              <a:srgbClr val="FF6B00"/>
            </a:solidFill>
            <a:prstDash val="solid"/>
          </a:ln>
        </p:spPr>
        <p:txBody>
          <a:bodyPr/>
          <a:lstStyle/>
          <a:p>
            <a:endParaRPr lang="es-ES"/>
          </a:p>
        </p:txBody>
      </p:sp>
      <p:sp>
        <p:nvSpPr>
          <p:cNvPr id="222" name="Text 220"/>
          <p:cNvSpPr/>
          <p:nvPr/>
        </p:nvSpPr>
        <p:spPr>
          <a:xfrm>
            <a:off x="7920899" y="5989320"/>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Consolid. Cross-Core (11.3.2)</a:t>
            </a:r>
            <a:endParaRPr lang="en-US" sz="520" dirty="0"/>
          </a:p>
        </p:txBody>
      </p:sp>
      <p:sp>
        <p:nvSpPr>
          <p:cNvPr id="223" name="Shape 221"/>
          <p:cNvSpPr/>
          <p:nvPr/>
        </p:nvSpPr>
        <p:spPr>
          <a:xfrm>
            <a:off x="7920899" y="6272784"/>
            <a:ext cx="2366101" cy="274320"/>
          </a:xfrm>
          <a:prstGeom prst="rect">
            <a:avLst/>
          </a:prstGeom>
          <a:solidFill>
            <a:srgbClr val="FFE5C0"/>
          </a:solidFill>
          <a:ln w="15240">
            <a:solidFill>
              <a:srgbClr val="FF6B00"/>
            </a:solidFill>
            <a:prstDash val="solid"/>
          </a:ln>
        </p:spPr>
        <p:txBody>
          <a:bodyPr/>
          <a:lstStyle/>
          <a:p>
            <a:endParaRPr lang="es-ES"/>
          </a:p>
        </p:txBody>
      </p:sp>
      <p:sp>
        <p:nvSpPr>
          <p:cNvPr id="224" name="Text 222"/>
          <p:cNvSpPr/>
          <p:nvPr/>
        </p:nvSpPr>
        <p:spPr>
          <a:xfrm>
            <a:off x="7920899" y="6272784"/>
            <a:ext cx="2366101" cy="274320"/>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APIs de Datos (11.4.1) &amp; Feeds (11.4.2)</a:t>
            </a:r>
            <a:endParaRPr lang="en-US" sz="520" dirty="0"/>
          </a:p>
        </p:txBody>
      </p:sp>
      <p:sp>
        <p:nvSpPr>
          <p:cNvPr id="225" name="Shape 223"/>
          <p:cNvSpPr/>
          <p:nvPr/>
        </p:nvSpPr>
        <p:spPr>
          <a:xfrm>
            <a:off x="10351008" y="694944"/>
            <a:ext cx="786384" cy="5916168"/>
          </a:xfrm>
          <a:prstGeom prst="rect">
            <a:avLst/>
          </a:prstGeom>
          <a:solidFill>
            <a:srgbClr val="FFF3DC"/>
          </a:solidFill>
          <a:ln w="15240">
            <a:solidFill>
              <a:srgbClr val="156082"/>
            </a:solidFill>
            <a:prstDash val="solid"/>
          </a:ln>
        </p:spPr>
        <p:txBody>
          <a:bodyPr/>
          <a:lstStyle/>
          <a:p>
            <a:endParaRPr lang="es-ES"/>
          </a:p>
        </p:txBody>
      </p:sp>
      <p:sp>
        <p:nvSpPr>
          <p:cNvPr id="226" name="Shape 224"/>
          <p:cNvSpPr/>
          <p:nvPr/>
        </p:nvSpPr>
        <p:spPr>
          <a:xfrm>
            <a:off x="10351008" y="694944"/>
            <a:ext cx="786384" cy="347472"/>
          </a:xfrm>
          <a:prstGeom prst="rect">
            <a:avLst/>
          </a:prstGeom>
          <a:solidFill>
            <a:srgbClr val="156082"/>
          </a:solidFill>
          <a:ln w="12700">
            <a:solidFill>
              <a:srgbClr val="156082"/>
            </a:solidFill>
            <a:prstDash val="solid"/>
          </a:ln>
        </p:spPr>
        <p:txBody>
          <a:bodyPr/>
          <a:lstStyle/>
          <a:p>
            <a:endParaRPr lang="es-ES"/>
          </a:p>
        </p:txBody>
      </p:sp>
      <p:sp>
        <p:nvSpPr>
          <p:cNvPr id="227" name="Text 225"/>
          <p:cNvSpPr/>
          <p:nvPr/>
        </p:nvSpPr>
        <p:spPr>
          <a:xfrm>
            <a:off x="10378440" y="694944"/>
            <a:ext cx="466344" cy="347472"/>
          </a:xfrm>
          <a:prstGeom prst="rect">
            <a:avLst/>
          </a:prstGeom>
          <a:noFill/>
          <a:ln/>
        </p:spPr>
        <p:txBody>
          <a:bodyPr wrap="square" rtlCol="0" anchor="ctr"/>
          <a:lstStyle/>
          <a:p>
            <a:pPr marL="0" indent="0" algn="ctr">
              <a:buNone/>
            </a:pPr>
            <a:r>
              <a:rPr lang="en-US" sz="700" b="1" dirty="0">
                <a:solidFill>
                  <a:srgbClr val="FFFFFF"/>
                </a:solidFill>
              </a:rPr>
              <a:t>Procesamiento de eventos</a:t>
            </a:r>
            <a:endParaRPr lang="en-US" sz="700" dirty="0"/>
          </a:p>
          <a:p>
            <a:pPr marL="0" indent="0" algn="ctr">
              <a:buNone/>
            </a:pPr>
            <a:r>
              <a:rPr lang="en-US" sz="700" b="1" dirty="0">
                <a:solidFill>
                  <a:srgbClr val="FFFFFF"/>
                </a:solidFill>
              </a:rPr>
              <a:t>&amp; Componentes Reactivos</a:t>
            </a:r>
            <a:endParaRPr lang="en-US" sz="700" dirty="0"/>
          </a:p>
        </p:txBody>
      </p:sp>
      <p:sp>
        <p:nvSpPr>
          <p:cNvPr id="228" name="Shape 226"/>
          <p:cNvSpPr/>
          <p:nvPr/>
        </p:nvSpPr>
        <p:spPr>
          <a:xfrm>
            <a:off x="10835640" y="722376"/>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229" name="Text 227"/>
          <p:cNvSpPr/>
          <p:nvPr/>
        </p:nvSpPr>
        <p:spPr>
          <a:xfrm>
            <a:off x="10835640" y="722376"/>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230" name="Shape 228"/>
          <p:cNvSpPr/>
          <p:nvPr/>
        </p:nvSpPr>
        <p:spPr>
          <a:xfrm>
            <a:off x="10378440" y="1060704"/>
            <a:ext cx="731520" cy="360883"/>
          </a:xfrm>
          <a:prstGeom prst="rect">
            <a:avLst/>
          </a:prstGeom>
          <a:solidFill>
            <a:srgbClr val="FFE5C0"/>
          </a:solidFill>
          <a:ln w="15240">
            <a:solidFill>
              <a:srgbClr val="FF6B00"/>
            </a:solidFill>
            <a:prstDash val="solid"/>
          </a:ln>
        </p:spPr>
        <p:txBody>
          <a:bodyPr/>
          <a:lstStyle/>
          <a:p>
            <a:endParaRPr lang="es-ES"/>
          </a:p>
        </p:txBody>
      </p:sp>
      <p:sp>
        <p:nvSpPr>
          <p:cNvPr id="231" name="Text 229"/>
          <p:cNvSpPr/>
          <p:nvPr/>
        </p:nvSpPr>
        <p:spPr>
          <a:xfrm>
            <a:off x="10378440" y="1060704"/>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Mensajería de eventos (12.1)</a:t>
            </a:r>
            <a:endParaRPr lang="en-US" sz="520" dirty="0"/>
          </a:p>
        </p:txBody>
      </p:sp>
      <p:sp>
        <p:nvSpPr>
          <p:cNvPr id="232" name="Shape 230"/>
          <p:cNvSpPr/>
          <p:nvPr/>
        </p:nvSpPr>
        <p:spPr>
          <a:xfrm>
            <a:off x="10378440" y="1430731"/>
            <a:ext cx="731520" cy="360883"/>
          </a:xfrm>
          <a:prstGeom prst="rect">
            <a:avLst/>
          </a:prstGeom>
          <a:solidFill>
            <a:srgbClr val="FFE5C0"/>
          </a:solidFill>
          <a:ln w="15240">
            <a:solidFill>
              <a:srgbClr val="FF6B00"/>
            </a:solidFill>
            <a:prstDash val="solid"/>
          </a:ln>
        </p:spPr>
        <p:txBody>
          <a:bodyPr/>
          <a:lstStyle/>
          <a:p>
            <a:endParaRPr lang="es-ES"/>
          </a:p>
        </p:txBody>
      </p:sp>
      <p:sp>
        <p:nvSpPr>
          <p:cNvPr id="233" name="Text 231"/>
          <p:cNvSpPr/>
          <p:nvPr/>
        </p:nvSpPr>
        <p:spPr>
          <a:xfrm>
            <a:off x="10378440" y="1430731"/>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Pub/Sub Messaging (12.1.1)</a:t>
            </a:r>
            <a:endParaRPr lang="en-US" sz="520" dirty="0"/>
          </a:p>
        </p:txBody>
      </p:sp>
      <p:sp>
        <p:nvSpPr>
          <p:cNvPr id="234" name="Shape 232"/>
          <p:cNvSpPr/>
          <p:nvPr/>
        </p:nvSpPr>
        <p:spPr>
          <a:xfrm>
            <a:off x="10378440" y="1800758"/>
            <a:ext cx="731520" cy="360883"/>
          </a:xfrm>
          <a:prstGeom prst="rect">
            <a:avLst/>
          </a:prstGeom>
          <a:solidFill>
            <a:srgbClr val="FFE5C0"/>
          </a:solidFill>
          <a:ln w="15240">
            <a:solidFill>
              <a:srgbClr val="FF6B00"/>
            </a:solidFill>
            <a:prstDash val="solid"/>
          </a:ln>
        </p:spPr>
        <p:txBody>
          <a:bodyPr/>
          <a:lstStyle/>
          <a:p>
            <a:endParaRPr lang="es-ES"/>
          </a:p>
        </p:txBody>
      </p:sp>
      <p:sp>
        <p:nvSpPr>
          <p:cNvPr id="235" name="Text 233"/>
          <p:cNvSpPr/>
          <p:nvPr/>
        </p:nvSpPr>
        <p:spPr>
          <a:xfrm>
            <a:off x="10378440" y="1800758"/>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Admin.Tópicos (12.1.2)</a:t>
            </a:r>
            <a:endParaRPr lang="en-US" sz="520" dirty="0"/>
          </a:p>
        </p:txBody>
      </p:sp>
      <p:sp>
        <p:nvSpPr>
          <p:cNvPr id="236" name="Shape 234"/>
          <p:cNvSpPr/>
          <p:nvPr/>
        </p:nvSpPr>
        <p:spPr>
          <a:xfrm>
            <a:off x="10378440" y="2170786"/>
            <a:ext cx="731520" cy="360883"/>
          </a:xfrm>
          <a:prstGeom prst="rect">
            <a:avLst/>
          </a:prstGeom>
          <a:solidFill>
            <a:srgbClr val="FFE5C0"/>
          </a:solidFill>
          <a:ln w="15240">
            <a:solidFill>
              <a:srgbClr val="FF6B00"/>
            </a:solidFill>
            <a:prstDash val="solid"/>
          </a:ln>
        </p:spPr>
        <p:txBody>
          <a:bodyPr/>
          <a:lstStyle/>
          <a:p>
            <a:endParaRPr lang="es-ES"/>
          </a:p>
        </p:txBody>
      </p:sp>
      <p:sp>
        <p:nvSpPr>
          <p:cNvPr id="237" name="Text 235"/>
          <p:cNvSpPr/>
          <p:nvPr/>
        </p:nvSpPr>
        <p:spPr>
          <a:xfrm>
            <a:off x="10378440" y="2170786"/>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Retransmisión de eventos (12.2)</a:t>
            </a:r>
            <a:endParaRPr lang="en-US" sz="520" dirty="0"/>
          </a:p>
        </p:txBody>
      </p:sp>
      <p:sp>
        <p:nvSpPr>
          <p:cNvPr id="238" name="Shape 236"/>
          <p:cNvSpPr/>
          <p:nvPr/>
        </p:nvSpPr>
        <p:spPr>
          <a:xfrm>
            <a:off x="10378440" y="2540813"/>
            <a:ext cx="731520" cy="360883"/>
          </a:xfrm>
          <a:prstGeom prst="rect">
            <a:avLst/>
          </a:prstGeom>
          <a:solidFill>
            <a:srgbClr val="FFF3DC"/>
          </a:solidFill>
          <a:ln w="12700">
            <a:solidFill>
              <a:srgbClr val="E89300"/>
            </a:solidFill>
            <a:prstDash val="solid"/>
          </a:ln>
        </p:spPr>
        <p:txBody>
          <a:bodyPr/>
          <a:lstStyle/>
          <a:p>
            <a:endParaRPr lang="es-ES"/>
          </a:p>
        </p:txBody>
      </p:sp>
      <p:sp>
        <p:nvSpPr>
          <p:cNvPr id="239" name="Text 237"/>
          <p:cNvSpPr/>
          <p:nvPr/>
        </p:nvSpPr>
        <p:spPr>
          <a:xfrm>
            <a:off x="10378440" y="2540813"/>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Mensajería Multiprotocolo</a:t>
            </a:r>
            <a:endParaRPr lang="en-US" sz="520" dirty="0"/>
          </a:p>
        </p:txBody>
      </p:sp>
      <p:sp>
        <p:nvSpPr>
          <p:cNvPr id="240" name="Shape 238"/>
          <p:cNvSpPr/>
          <p:nvPr/>
        </p:nvSpPr>
        <p:spPr>
          <a:xfrm>
            <a:off x="10378440" y="2910840"/>
            <a:ext cx="731520" cy="360883"/>
          </a:xfrm>
          <a:prstGeom prst="rect">
            <a:avLst/>
          </a:prstGeom>
          <a:solidFill>
            <a:srgbClr val="FFE5C0"/>
          </a:solidFill>
          <a:ln w="15240">
            <a:solidFill>
              <a:srgbClr val="FF6B00"/>
            </a:solidFill>
            <a:prstDash val="solid"/>
          </a:ln>
        </p:spPr>
        <p:txBody>
          <a:bodyPr/>
          <a:lstStyle/>
          <a:p>
            <a:endParaRPr lang="es-ES"/>
          </a:p>
        </p:txBody>
      </p:sp>
      <p:sp>
        <p:nvSpPr>
          <p:cNvPr id="241" name="Text 239"/>
          <p:cNvSpPr/>
          <p:nvPr/>
        </p:nvSpPr>
        <p:spPr>
          <a:xfrm>
            <a:off x="10378440" y="2910840"/>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Entrega Garantizada (12.3)</a:t>
            </a:r>
            <a:endParaRPr lang="en-US" sz="520" dirty="0"/>
          </a:p>
        </p:txBody>
      </p:sp>
      <p:sp>
        <p:nvSpPr>
          <p:cNvPr id="242" name="Shape 240"/>
          <p:cNvSpPr/>
          <p:nvPr/>
        </p:nvSpPr>
        <p:spPr>
          <a:xfrm>
            <a:off x="10378440" y="3280867"/>
            <a:ext cx="731520" cy="360883"/>
          </a:xfrm>
          <a:prstGeom prst="rect">
            <a:avLst/>
          </a:prstGeom>
          <a:solidFill>
            <a:srgbClr val="FFE5C0"/>
          </a:solidFill>
          <a:ln w="15240">
            <a:solidFill>
              <a:srgbClr val="FF6B00"/>
            </a:solidFill>
            <a:prstDash val="solid"/>
          </a:ln>
        </p:spPr>
        <p:txBody>
          <a:bodyPr/>
          <a:lstStyle/>
          <a:p>
            <a:endParaRPr lang="es-ES"/>
          </a:p>
        </p:txBody>
      </p:sp>
      <p:sp>
        <p:nvSpPr>
          <p:cNvPr id="243" name="Text 241"/>
          <p:cNvSpPr/>
          <p:nvPr/>
        </p:nvSpPr>
        <p:spPr>
          <a:xfrm>
            <a:off x="10378440" y="3280867"/>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Sem.e Idempotencia (12.3.1)</a:t>
            </a:r>
            <a:endParaRPr lang="en-US" sz="520" dirty="0"/>
          </a:p>
        </p:txBody>
      </p:sp>
      <p:sp>
        <p:nvSpPr>
          <p:cNvPr id="244" name="Shape 242"/>
          <p:cNvSpPr/>
          <p:nvPr/>
        </p:nvSpPr>
        <p:spPr>
          <a:xfrm>
            <a:off x="10378440" y="3650894"/>
            <a:ext cx="731520" cy="360883"/>
          </a:xfrm>
          <a:prstGeom prst="rect">
            <a:avLst/>
          </a:prstGeom>
          <a:solidFill>
            <a:srgbClr val="FFE5C0"/>
          </a:solidFill>
          <a:ln w="15240">
            <a:solidFill>
              <a:srgbClr val="FF6B00"/>
            </a:solidFill>
            <a:prstDash val="solid"/>
          </a:ln>
        </p:spPr>
        <p:txBody>
          <a:bodyPr/>
          <a:lstStyle/>
          <a:p>
            <a:endParaRPr lang="es-ES"/>
          </a:p>
        </p:txBody>
      </p:sp>
      <p:sp>
        <p:nvSpPr>
          <p:cNvPr id="245" name="Text 243"/>
          <p:cNvSpPr/>
          <p:nvPr/>
        </p:nvSpPr>
        <p:spPr>
          <a:xfrm>
            <a:off x="10378440" y="3650894"/>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Dead Letter (12.3.2)</a:t>
            </a:r>
            <a:endParaRPr lang="en-US" sz="520" dirty="0"/>
          </a:p>
        </p:txBody>
      </p:sp>
      <p:sp>
        <p:nvSpPr>
          <p:cNvPr id="246" name="Shape 244"/>
          <p:cNvSpPr/>
          <p:nvPr/>
        </p:nvSpPr>
        <p:spPr>
          <a:xfrm>
            <a:off x="10378440" y="4020922"/>
            <a:ext cx="731520" cy="360883"/>
          </a:xfrm>
          <a:prstGeom prst="rect">
            <a:avLst/>
          </a:prstGeom>
          <a:solidFill>
            <a:srgbClr val="FFE5C0"/>
          </a:solidFill>
          <a:ln w="15240">
            <a:solidFill>
              <a:srgbClr val="FF6B00"/>
            </a:solidFill>
            <a:prstDash val="solid"/>
          </a:ln>
        </p:spPr>
        <p:txBody>
          <a:bodyPr/>
          <a:lstStyle/>
          <a:p>
            <a:endParaRPr lang="es-ES"/>
          </a:p>
        </p:txBody>
      </p:sp>
      <p:sp>
        <p:nvSpPr>
          <p:cNvPr id="247" name="Text 245"/>
          <p:cNvSpPr/>
          <p:nvPr/>
        </p:nvSpPr>
        <p:spPr>
          <a:xfrm>
            <a:off x="10378440" y="4020922"/>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Reg. Eventos &amp; Gobernanza (12.4)</a:t>
            </a:r>
            <a:endParaRPr lang="en-US" sz="520" dirty="0"/>
          </a:p>
        </p:txBody>
      </p:sp>
      <p:sp>
        <p:nvSpPr>
          <p:cNvPr id="248" name="Shape 246"/>
          <p:cNvSpPr/>
          <p:nvPr/>
        </p:nvSpPr>
        <p:spPr>
          <a:xfrm>
            <a:off x="10378440" y="4390949"/>
            <a:ext cx="731520" cy="360883"/>
          </a:xfrm>
          <a:prstGeom prst="rect">
            <a:avLst/>
          </a:prstGeom>
          <a:solidFill>
            <a:srgbClr val="FFE5C0"/>
          </a:solidFill>
          <a:ln w="15240">
            <a:solidFill>
              <a:srgbClr val="FF6B00"/>
            </a:solidFill>
            <a:prstDash val="solid"/>
          </a:ln>
        </p:spPr>
        <p:txBody>
          <a:bodyPr/>
          <a:lstStyle/>
          <a:p>
            <a:endParaRPr lang="es-ES"/>
          </a:p>
        </p:txBody>
      </p:sp>
      <p:sp>
        <p:nvSpPr>
          <p:cNvPr id="249" name="Text 247"/>
          <p:cNvSpPr/>
          <p:nvPr/>
        </p:nvSpPr>
        <p:spPr>
          <a:xfrm>
            <a:off x="10378440" y="4390949"/>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Definic. y Esquemas (12.4.1)</a:t>
            </a:r>
            <a:endParaRPr lang="en-US" sz="520" dirty="0"/>
          </a:p>
        </p:txBody>
      </p:sp>
      <p:sp>
        <p:nvSpPr>
          <p:cNvPr id="250" name="Shape 248"/>
          <p:cNvSpPr/>
          <p:nvPr/>
        </p:nvSpPr>
        <p:spPr>
          <a:xfrm>
            <a:off x="10378440" y="4760976"/>
            <a:ext cx="731520" cy="360883"/>
          </a:xfrm>
          <a:prstGeom prst="rect">
            <a:avLst/>
          </a:prstGeom>
          <a:solidFill>
            <a:srgbClr val="FFE5C0"/>
          </a:solidFill>
          <a:ln w="15240">
            <a:solidFill>
              <a:srgbClr val="FF6B00"/>
            </a:solidFill>
            <a:prstDash val="solid"/>
          </a:ln>
        </p:spPr>
        <p:txBody>
          <a:bodyPr/>
          <a:lstStyle/>
          <a:p>
            <a:endParaRPr lang="es-ES"/>
          </a:p>
        </p:txBody>
      </p:sp>
      <p:sp>
        <p:nvSpPr>
          <p:cNvPr id="251" name="Text 249"/>
          <p:cNvSpPr/>
          <p:nvPr/>
        </p:nvSpPr>
        <p:spPr>
          <a:xfrm>
            <a:off x="10378440" y="4760976"/>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Versionado Esquemas (12.4.2)</a:t>
            </a:r>
            <a:endParaRPr lang="en-US" sz="520" dirty="0"/>
          </a:p>
        </p:txBody>
      </p:sp>
      <p:sp>
        <p:nvSpPr>
          <p:cNvPr id="252" name="Shape 250"/>
          <p:cNvSpPr/>
          <p:nvPr/>
        </p:nvSpPr>
        <p:spPr>
          <a:xfrm>
            <a:off x="10378440" y="5131003"/>
            <a:ext cx="731520" cy="360883"/>
          </a:xfrm>
          <a:prstGeom prst="rect">
            <a:avLst/>
          </a:prstGeom>
          <a:solidFill>
            <a:srgbClr val="FFE5C0"/>
          </a:solidFill>
          <a:ln w="15240">
            <a:solidFill>
              <a:srgbClr val="FF6B00"/>
            </a:solidFill>
            <a:prstDash val="solid"/>
          </a:ln>
        </p:spPr>
        <p:txBody>
          <a:bodyPr/>
          <a:lstStyle/>
          <a:p>
            <a:endParaRPr lang="es-ES"/>
          </a:p>
        </p:txBody>
      </p:sp>
      <p:sp>
        <p:nvSpPr>
          <p:cNvPr id="253" name="Text 251"/>
          <p:cNvSpPr/>
          <p:nvPr/>
        </p:nvSpPr>
        <p:spPr>
          <a:xfrm>
            <a:off x="10378440" y="5131003"/>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Catálogo Consumidores (12.4.3)</a:t>
            </a:r>
            <a:endParaRPr lang="en-US" sz="520" dirty="0"/>
          </a:p>
        </p:txBody>
      </p:sp>
      <p:sp>
        <p:nvSpPr>
          <p:cNvPr id="254" name="Shape 252"/>
          <p:cNvSpPr/>
          <p:nvPr/>
        </p:nvSpPr>
        <p:spPr>
          <a:xfrm>
            <a:off x="10378440" y="5501030"/>
            <a:ext cx="731520" cy="360883"/>
          </a:xfrm>
          <a:prstGeom prst="rect">
            <a:avLst/>
          </a:prstGeom>
          <a:solidFill>
            <a:srgbClr val="FFE5C0"/>
          </a:solidFill>
          <a:ln w="15240">
            <a:solidFill>
              <a:srgbClr val="FF6B00"/>
            </a:solidFill>
            <a:prstDash val="solid"/>
          </a:ln>
        </p:spPr>
        <p:txBody>
          <a:bodyPr/>
          <a:lstStyle/>
          <a:p>
            <a:endParaRPr lang="es-ES"/>
          </a:p>
        </p:txBody>
      </p:sp>
      <p:sp>
        <p:nvSpPr>
          <p:cNvPr id="255" name="Text 253"/>
          <p:cNvSpPr/>
          <p:nvPr/>
        </p:nvSpPr>
        <p:spPr>
          <a:xfrm>
            <a:off x="10378440" y="5501030"/>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Monitorización Eventos (12.6)</a:t>
            </a:r>
            <a:endParaRPr lang="en-US" sz="520" dirty="0"/>
          </a:p>
        </p:txBody>
      </p:sp>
      <p:sp>
        <p:nvSpPr>
          <p:cNvPr id="256" name="Shape 254"/>
          <p:cNvSpPr/>
          <p:nvPr/>
        </p:nvSpPr>
        <p:spPr>
          <a:xfrm>
            <a:off x="10378440" y="5871058"/>
            <a:ext cx="731520" cy="360883"/>
          </a:xfrm>
          <a:prstGeom prst="rect">
            <a:avLst/>
          </a:prstGeom>
          <a:solidFill>
            <a:srgbClr val="FFE5C0"/>
          </a:solidFill>
          <a:ln w="15240">
            <a:solidFill>
              <a:srgbClr val="FF6B00"/>
            </a:solidFill>
            <a:prstDash val="solid"/>
          </a:ln>
        </p:spPr>
        <p:txBody>
          <a:bodyPr/>
          <a:lstStyle/>
          <a:p>
            <a:endParaRPr lang="es-ES"/>
          </a:p>
        </p:txBody>
      </p:sp>
      <p:sp>
        <p:nvSpPr>
          <p:cNvPr id="257" name="Text 255"/>
          <p:cNvSpPr/>
          <p:nvPr/>
        </p:nvSpPr>
        <p:spPr>
          <a:xfrm>
            <a:off x="10378440" y="5871058"/>
            <a:ext cx="731520" cy="360883"/>
          </a:xfrm>
          <a:prstGeom prst="rect">
            <a:avLst/>
          </a:prstGeom>
          <a:noFill/>
          <a:ln/>
        </p:spPr>
        <p:txBody>
          <a:bodyPr wrap="square" lIns="19050" tIns="19050" rIns="19050" bIns="19050" rtlCol="0" anchor="ctr"/>
          <a:lstStyle/>
          <a:p>
            <a:pPr marL="0" indent="0" algn="ctr">
              <a:buNone/>
            </a:pPr>
            <a:r>
              <a:rPr lang="en-US" sz="520" b="1" dirty="0">
                <a:solidFill>
                  <a:srgbClr val="6B2400"/>
                </a:solidFill>
              </a:rPr>
              <a:t>Auditoría &amp; Trazabilidad (12.6.2)</a:t>
            </a:r>
            <a:endParaRPr lang="en-US" sz="520" dirty="0"/>
          </a:p>
        </p:txBody>
      </p:sp>
      <p:sp>
        <p:nvSpPr>
          <p:cNvPr id="258" name="Shape 256"/>
          <p:cNvSpPr/>
          <p:nvPr/>
        </p:nvSpPr>
        <p:spPr>
          <a:xfrm>
            <a:off x="10378440" y="6241085"/>
            <a:ext cx="731520" cy="360883"/>
          </a:xfrm>
          <a:prstGeom prst="rect">
            <a:avLst/>
          </a:prstGeom>
          <a:solidFill>
            <a:srgbClr val="F0F0F0"/>
          </a:solidFill>
          <a:ln w="5080">
            <a:solidFill>
              <a:srgbClr val="CCCCCC"/>
            </a:solidFill>
            <a:prstDash val="solid"/>
          </a:ln>
        </p:spPr>
        <p:txBody>
          <a:bodyPr/>
          <a:lstStyle/>
          <a:p>
            <a:endParaRPr lang="es-ES"/>
          </a:p>
        </p:txBody>
      </p:sp>
      <p:sp>
        <p:nvSpPr>
          <p:cNvPr id="259" name="Text 257"/>
          <p:cNvSpPr/>
          <p:nvPr/>
        </p:nvSpPr>
        <p:spPr>
          <a:xfrm>
            <a:off x="10378440" y="6241085"/>
            <a:ext cx="731520" cy="360883"/>
          </a:xfrm>
          <a:prstGeom prst="rect">
            <a:avLst/>
          </a:prstGeom>
          <a:noFill/>
          <a:ln/>
        </p:spPr>
        <p:txBody>
          <a:bodyPr wrap="square" lIns="19050" tIns="19050" rIns="19050" bIns="19050" rtlCol="0" anchor="ctr"/>
          <a:lstStyle/>
          <a:p>
            <a:pPr marL="0" indent="0" algn="ctr">
              <a:buNone/>
            </a:pPr>
            <a:r>
              <a:rPr lang="en-US" sz="520" dirty="0">
                <a:solidFill>
                  <a:srgbClr val="888888"/>
                </a:solidFill>
              </a:rPr>
              <a:t>Event Mesh &amp; Routing (12.5)</a:t>
            </a:r>
            <a:endParaRPr lang="en-US" sz="520" dirty="0"/>
          </a:p>
        </p:txBody>
      </p:sp>
      <p:sp>
        <p:nvSpPr>
          <p:cNvPr id="260" name="Shape 258"/>
          <p:cNvSpPr/>
          <p:nvPr/>
        </p:nvSpPr>
        <p:spPr>
          <a:xfrm>
            <a:off x="11164824" y="694944"/>
            <a:ext cx="932688" cy="5916168"/>
          </a:xfrm>
          <a:prstGeom prst="rect">
            <a:avLst/>
          </a:prstGeom>
          <a:solidFill>
            <a:srgbClr val="FFF3DC"/>
          </a:solidFill>
          <a:ln w="15240">
            <a:solidFill>
              <a:srgbClr val="A100FF"/>
            </a:solidFill>
            <a:prstDash val="solid"/>
          </a:ln>
        </p:spPr>
        <p:txBody>
          <a:bodyPr/>
          <a:lstStyle/>
          <a:p>
            <a:endParaRPr lang="es-ES"/>
          </a:p>
        </p:txBody>
      </p:sp>
      <p:sp>
        <p:nvSpPr>
          <p:cNvPr id="261" name="Shape 259"/>
          <p:cNvSpPr/>
          <p:nvPr/>
        </p:nvSpPr>
        <p:spPr>
          <a:xfrm>
            <a:off x="11164824" y="694944"/>
            <a:ext cx="932688" cy="201168"/>
          </a:xfrm>
          <a:prstGeom prst="rect">
            <a:avLst/>
          </a:prstGeom>
          <a:solidFill>
            <a:srgbClr val="A100FF"/>
          </a:solidFill>
          <a:ln w="12700">
            <a:solidFill>
              <a:srgbClr val="A100FF"/>
            </a:solidFill>
            <a:prstDash val="solid"/>
          </a:ln>
        </p:spPr>
        <p:txBody>
          <a:bodyPr/>
          <a:lstStyle/>
          <a:p>
            <a:endParaRPr lang="es-ES"/>
          </a:p>
        </p:txBody>
      </p:sp>
      <p:sp>
        <p:nvSpPr>
          <p:cNvPr id="262" name="Text 260"/>
          <p:cNvSpPr/>
          <p:nvPr/>
        </p:nvSpPr>
        <p:spPr>
          <a:xfrm>
            <a:off x="11365992" y="694944"/>
            <a:ext cx="713232" cy="201168"/>
          </a:xfrm>
          <a:prstGeom prst="rect">
            <a:avLst/>
          </a:prstGeom>
          <a:noFill/>
          <a:ln/>
        </p:spPr>
        <p:txBody>
          <a:bodyPr wrap="square" rtlCol="0" anchor="ctr"/>
          <a:lstStyle/>
          <a:p>
            <a:pPr marL="0" indent="0" algn="ctr">
              <a:buNone/>
            </a:pPr>
            <a:r>
              <a:rPr lang="en-US" sz="750" b="1" dirty="0">
                <a:solidFill>
                  <a:srgbClr val="FFFFFF"/>
                </a:solidFill>
              </a:rPr>
              <a:t>Infraestructura</a:t>
            </a:r>
            <a:endParaRPr lang="en-US" sz="750" dirty="0"/>
          </a:p>
        </p:txBody>
      </p:sp>
      <p:sp>
        <p:nvSpPr>
          <p:cNvPr id="263" name="Shape 261"/>
          <p:cNvSpPr/>
          <p:nvPr/>
        </p:nvSpPr>
        <p:spPr>
          <a:xfrm>
            <a:off x="11183112" y="713232"/>
            <a:ext cx="164592" cy="164592"/>
          </a:xfrm>
          <a:prstGeom prst="ellipse">
            <a:avLst/>
          </a:prstGeom>
          <a:solidFill>
            <a:srgbClr val="C00000"/>
          </a:solidFill>
          <a:ln w="12700">
            <a:solidFill>
              <a:srgbClr val="C00000"/>
            </a:solidFill>
            <a:prstDash val="solid"/>
          </a:ln>
        </p:spPr>
        <p:txBody>
          <a:bodyPr/>
          <a:lstStyle/>
          <a:p>
            <a:endParaRPr lang="es-ES"/>
          </a:p>
        </p:txBody>
      </p:sp>
      <p:sp>
        <p:nvSpPr>
          <p:cNvPr id="264" name="Text 262"/>
          <p:cNvSpPr/>
          <p:nvPr/>
        </p:nvSpPr>
        <p:spPr>
          <a:xfrm>
            <a:off x="11183112" y="713232"/>
            <a:ext cx="164592" cy="164592"/>
          </a:xfrm>
          <a:prstGeom prst="rect">
            <a:avLst/>
          </a:prstGeom>
          <a:noFill/>
          <a:ln/>
        </p:spPr>
        <p:txBody>
          <a:bodyPr wrap="square" lIns="0" tIns="0" rIns="0" bIns="0" rtlCol="0" anchor="ctr"/>
          <a:lstStyle/>
          <a:p>
            <a:pPr marL="0" indent="0" algn="ctr">
              <a:buNone/>
            </a:pPr>
            <a:r>
              <a:rPr lang="en-US" sz="684" b="1" dirty="0">
                <a:solidFill>
                  <a:srgbClr val="FFFFFF"/>
                </a:solidFill>
              </a:rPr>
              <a:t>K</a:t>
            </a:r>
            <a:endParaRPr lang="en-US" sz="684" dirty="0"/>
          </a:p>
        </p:txBody>
      </p:sp>
      <p:sp>
        <p:nvSpPr>
          <p:cNvPr id="265" name="Shape 263"/>
          <p:cNvSpPr/>
          <p:nvPr/>
        </p:nvSpPr>
        <p:spPr>
          <a:xfrm>
            <a:off x="11804904" y="7315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266" name="Text 264"/>
          <p:cNvSpPr/>
          <p:nvPr/>
        </p:nvSpPr>
        <p:spPr>
          <a:xfrm>
            <a:off x="11804904" y="7315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267" name="Text 265"/>
          <p:cNvSpPr/>
          <p:nvPr/>
        </p:nvSpPr>
        <p:spPr>
          <a:xfrm>
            <a:off x="11192256" y="914400"/>
            <a:ext cx="877824" cy="438209"/>
          </a:xfrm>
          <a:prstGeom prst="rect">
            <a:avLst/>
          </a:prstGeom>
          <a:noFill/>
          <a:ln/>
        </p:spPr>
        <p:txBody>
          <a:bodyPr wrap="square" rtlCol="0" anchor="ctr"/>
          <a:lstStyle/>
          <a:p>
            <a:pPr marL="0" indent="0" algn="l">
              <a:buNone/>
            </a:pPr>
            <a:r>
              <a:rPr lang="en-US" sz="650" b="1" i="1" dirty="0">
                <a:solidFill>
                  <a:srgbClr val="FF6B00"/>
                </a:solidFill>
              </a:rPr>
              <a:t>Resiliencia</a:t>
            </a:r>
            <a:endParaRPr lang="en-US" sz="650" dirty="0"/>
          </a:p>
        </p:txBody>
      </p:sp>
      <p:sp>
        <p:nvSpPr>
          <p:cNvPr id="268" name="Shape 266"/>
          <p:cNvSpPr/>
          <p:nvPr/>
        </p:nvSpPr>
        <p:spPr>
          <a:xfrm>
            <a:off x="11192256" y="1352609"/>
            <a:ext cx="877824" cy="429065"/>
          </a:xfrm>
          <a:prstGeom prst="rect">
            <a:avLst/>
          </a:prstGeom>
          <a:solidFill>
            <a:srgbClr val="FFE5C0"/>
          </a:solidFill>
          <a:ln w="15240">
            <a:solidFill>
              <a:srgbClr val="FF6B00"/>
            </a:solidFill>
            <a:prstDash val="solid"/>
          </a:ln>
        </p:spPr>
        <p:txBody>
          <a:bodyPr/>
          <a:lstStyle/>
          <a:p>
            <a:endParaRPr lang="es-ES"/>
          </a:p>
        </p:txBody>
      </p:sp>
      <p:sp>
        <p:nvSpPr>
          <p:cNvPr id="269" name="Text 267"/>
          <p:cNvSpPr/>
          <p:nvPr/>
        </p:nvSpPr>
        <p:spPr>
          <a:xfrm>
            <a:off x="11192256" y="1352609"/>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Resiliencia de la infraestructura (13.5)</a:t>
            </a:r>
            <a:endParaRPr lang="en-US" sz="530" dirty="0"/>
          </a:p>
        </p:txBody>
      </p:sp>
      <p:sp>
        <p:nvSpPr>
          <p:cNvPr id="270" name="Text 268"/>
          <p:cNvSpPr/>
          <p:nvPr/>
        </p:nvSpPr>
        <p:spPr>
          <a:xfrm>
            <a:off x="11192256" y="1790817"/>
            <a:ext cx="877824" cy="438209"/>
          </a:xfrm>
          <a:prstGeom prst="rect">
            <a:avLst/>
          </a:prstGeom>
          <a:noFill/>
          <a:ln/>
        </p:spPr>
        <p:txBody>
          <a:bodyPr wrap="square" rtlCol="0" anchor="ctr"/>
          <a:lstStyle/>
          <a:p>
            <a:pPr marL="0" indent="0" algn="l">
              <a:buNone/>
            </a:pPr>
            <a:r>
              <a:rPr lang="en-US" sz="650" i="1" dirty="0">
                <a:solidFill>
                  <a:srgbClr val="595959"/>
                </a:solidFill>
              </a:rPr>
              <a:t>Pila tecnológica</a:t>
            </a:r>
            <a:endParaRPr lang="en-US" sz="650" dirty="0"/>
          </a:p>
        </p:txBody>
      </p:sp>
      <p:sp>
        <p:nvSpPr>
          <p:cNvPr id="271" name="Shape 269"/>
          <p:cNvSpPr/>
          <p:nvPr/>
        </p:nvSpPr>
        <p:spPr>
          <a:xfrm>
            <a:off x="11192256" y="2229026"/>
            <a:ext cx="877824" cy="429065"/>
          </a:xfrm>
          <a:prstGeom prst="rect">
            <a:avLst/>
          </a:prstGeom>
          <a:solidFill>
            <a:srgbClr val="F0F0F0"/>
          </a:solidFill>
          <a:ln w="5080">
            <a:solidFill>
              <a:srgbClr val="CCCCCC"/>
            </a:solidFill>
            <a:prstDash val="solid"/>
          </a:ln>
        </p:spPr>
        <p:txBody>
          <a:bodyPr/>
          <a:lstStyle/>
          <a:p>
            <a:endParaRPr lang="es-ES"/>
          </a:p>
        </p:txBody>
      </p:sp>
      <p:sp>
        <p:nvSpPr>
          <p:cNvPr id="272" name="Text 270"/>
          <p:cNvSpPr/>
          <p:nvPr/>
        </p:nvSpPr>
        <p:spPr>
          <a:xfrm>
            <a:off x="11192256" y="2229026"/>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Caché</a:t>
            </a:r>
            <a:endParaRPr lang="en-US" sz="530" dirty="0"/>
          </a:p>
        </p:txBody>
      </p:sp>
      <p:sp>
        <p:nvSpPr>
          <p:cNvPr id="273" name="Text 271"/>
          <p:cNvSpPr/>
          <p:nvPr/>
        </p:nvSpPr>
        <p:spPr>
          <a:xfrm>
            <a:off x="11192256" y="2667234"/>
            <a:ext cx="877824" cy="438209"/>
          </a:xfrm>
          <a:prstGeom prst="rect">
            <a:avLst/>
          </a:prstGeom>
          <a:noFill/>
          <a:ln/>
        </p:spPr>
        <p:txBody>
          <a:bodyPr wrap="square" rtlCol="0" anchor="ctr"/>
          <a:lstStyle/>
          <a:p>
            <a:pPr marL="0" indent="0" algn="l">
              <a:buNone/>
            </a:pPr>
            <a:r>
              <a:rPr lang="en-US" sz="650" i="1" dirty="0">
                <a:solidFill>
                  <a:srgbClr val="595959"/>
                </a:solidFill>
              </a:rPr>
              <a:t>Marco Microservicios (NO en R4)</a:t>
            </a:r>
            <a:endParaRPr lang="en-US" sz="650" dirty="0"/>
          </a:p>
        </p:txBody>
      </p:sp>
      <p:sp>
        <p:nvSpPr>
          <p:cNvPr id="274" name="Shape 272"/>
          <p:cNvSpPr/>
          <p:nvPr/>
        </p:nvSpPr>
        <p:spPr>
          <a:xfrm>
            <a:off x="11192256" y="3105443"/>
            <a:ext cx="877824" cy="429065"/>
          </a:xfrm>
          <a:prstGeom prst="rect">
            <a:avLst/>
          </a:prstGeom>
          <a:solidFill>
            <a:srgbClr val="F0F0F0"/>
          </a:solidFill>
          <a:ln w="5080">
            <a:solidFill>
              <a:srgbClr val="CCCCCC"/>
            </a:solidFill>
            <a:prstDash val="solid"/>
          </a:ln>
        </p:spPr>
        <p:txBody>
          <a:bodyPr/>
          <a:lstStyle/>
          <a:p>
            <a:endParaRPr lang="es-ES"/>
          </a:p>
        </p:txBody>
      </p:sp>
      <p:sp>
        <p:nvSpPr>
          <p:cNvPr id="275" name="Text 273"/>
          <p:cNvSpPr/>
          <p:nvPr/>
        </p:nvSpPr>
        <p:spPr>
          <a:xfrm>
            <a:off x="11192256" y="3105443"/>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Lenguaje/Runtimes (13.1)</a:t>
            </a:r>
            <a:endParaRPr lang="en-US" sz="530" dirty="0"/>
          </a:p>
        </p:txBody>
      </p:sp>
      <p:sp>
        <p:nvSpPr>
          <p:cNvPr id="276" name="Shape 274"/>
          <p:cNvSpPr/>
          <p:nvPr/>
        </p:nvSpPr>
        <p:spPr>
          <a:xfrm>
            <a:off x="11192256" y="3543652"/>
            <a:ext cx="877824" cy="429065"/>
          </a:xfrm>
          <a:prstGeom prst="rect">
            <a:avLst/>
          </a:prstGeom>
          <a:solidFill>
            <a:srgbClr val="F0F0F0"/>
          </a:solidFill>
          <a:ln w="5080">
            <a:solidFill>
              <a:srgbClr val="CCCCCC"/>
            </a:solidFill>
            <a:prstDash val="solid"/>
          </a:ln>
        </p:spPr>
        <p:txBody>
          <a:bodyPr/>
          <a:lstStyle/>
          <a:p>
            <a:endParaRPr lang="es-ES"/>
          </a:p>
        </p:txBody>
      </p:sp>
      <p:sp>
        <p:nvSpPr>
          <p:cNvPr id="277" name="Text 275"/>
          <p:cNvSpPr/>
          <p:nvPr/>
        </p:nvSpPr>
        <p:spPr>
          <a:xfrm>
            <a:off x="11192256" y="3543652"/>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Transmisión imágenes</a:t>
            </a:r>
            <a:endParaRPr lang="en-US" sz="530" dirty="0"/>
          </a:p>
        </p:txBody>
      </p:sp>
      <p:sp>
        <p:nvSpPr>
          <p:cNvPr id="278" name="Shape 276"/>
          <p:cNvSpPr/>
          <p:nvPr/>
        </p:nvSpPr>
        <p:spPr>
          <a:xfrm>
            <a:off x="11192256" y="3981860"/>
            <a:ext cx="877824" cy="429065"/>
          </a:xfrm>
          <a:prstGeom prst="rect">
            <a:avLst/>
          </a:prstGeom>
          <a:solidFill>
            <a:srgbClr val="F0F0F0"/>
          </a:solidFill>
          <a:ln w="5080">
            <a:solidFill>
              <a:srgbClr val="CCCCCC"/>
            </a:solidFill>
            <a:prstDash val="solid"/>
          </a:ln>
        </p:spPr>
        <p:txBody>
          <a:bodyPr/>
          <a:lstStyle/>
          <a:p>
            <a:endParaRPr lang="es-ES"/>
          </a:p>
        </p:txBody>
      </p:sp>
      <p:sp>
        <p:nvSpPr>
          <p:cNvPr id="279" name="Text 277"/>
          <p:cNvSpPr/>
          <p:nvPr/>
        </p:nvSpPr>
        <p:spPr>
          <a:xfrm>
            <a:off x="11192256" y="3981860"/>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Librerías base (13.1)</a:t>
            </a:r>
            <a:endParaRPr lang="en-US" sz="530" dirty="0"/>
          </a:p>
        </p:txBody>
      </p:sp>
      <p:sp>
        <p:nvSpPr>
          <p:cNvPr id="280" name="Shape 278"/>
          <p:cNvSpPr/>
          <p:nvPr/>
        </p:nvSpPr>
        <p:spPr>
          <a:xfrm>
            <a:off x="11192256" y="4420069"/>
            <a:ext cx="877824" cy="429065"/>
          </a:xfrm>
          <a:prstGeom prst="rect">
            <a:avLst/>
          </a:prstGeom>
          <a:solidFill>
            <a:srgbClr val="F0F0F0"/>
          </a:solidFill>
          <a:ln w="5080">
            <a:solidFill>
              <a:srgbClr val="CCCCCC"/>
            </a:solidFill>
            <a:prstDash val="solid"/>
          </a:ln>
        </p:spPr>
        <p:txBody>
          <a:bodyPr/>
          <a:lstStyle/>
          <a:p>
            <a:endParaRPr lang="es-ES"/>
          </a:p>
        </p:txBody>
      </p:sp>
      <p:sp>
        <p:nvSpPr>
          <p:cNvPr id="281" name="Text 279"/>
          <p:cNvSpPr/>
          <p:nvPr/>
        </p:nvSpPr>
        <p:spPr>
          <a:xfrm>
            <a:off x="11192256" y="4420069"/>
            <a:ext cx="877824" cy="429065"/>
          </a:xfrm>
          <a:prstGeom prst="rect">
            <a:avLst/>
          </a:prstGeom>
          <a:noFill/>
          <a:ln/>
        </p:spPr>
        <p:txBody>
          <a:bodyPr wrap="square" lIns="19050" tIns="19050" rIns="19050" bIns="19050" rtlCol="0" anchor="ctr"/>
          <a:lstStyle/>
          <a:p>
            <a:pPr marL="0" indent="0" algn="ctr">
              <a:buNone/>
            </a:pPr>
            <a:r>
              <a:rPr lang="en-US" sz="530" dirty="0">
                <a:solidFill>
                  <a:srgbClr val="888888"/>
                </a:solidFill>
              </a:rPr>
              <a:t>Service Mesh</a:t>
            </a:r>
            <a:endParaRPr lang="en-US" sz="530" dirty="0"/>
          </a:p>
        </p:txBody>
      </p:sp>
      <p:sp>
        <p:nvSpPr>
          <p:cNvPr id="282" name="Text 280"/>
          <p:cNvSpPr/>
          <p:nvPr/>
        </p:nvSpPr>
        <p:spPr>
          <a:xfrm>
            <a:off x="11192256" y="4858278"/>
            <a:ext cx="877824" cy="438209"/>
          </a:xfrm>
          <a:prstGeom prst="rect">
            <a:avLst/>
          </a:prstGeom>
          <a:noFill/>
          <a:ln/>
        </p:spPr>
        <p:txBody>
          <a:bodyPr wrap="square" rtlCol="0" anchor="ctr"/>
          <a:lstStyle/>
          <a:p>
            <a:pPr marL="0" indent="0" algn="l">
              <a:buNone/>
            </a:pPr>
            <a:r>
              <a:rPr lang="en-US" sz="650" b="1" i="1" dirty="0">
                <a:solidFill>
                  <a:srgbClr val="FF6B00"/>
                </a:solidFill>
              </a:rPr>
              <a:t>Config. Plataforma &amp; Despliegue</a:t>
            </a:r>
            <a:endParaRPr lang="en-US" sz="650" dirty="0"/>
          </a:p>
        </p:txBody>
      </p:sp>
      <p:sp>
        <p:nvSpPr>
          <p:cNvPr id="283" name="Shape 281"/>
          <p:cNvSpPr/>
          <p:nvPr/>
        </p:nvSpPr>
        <p:spPr>
          <a:xfrm>
            <a:off x="11192256" y="5296486"/>
            <a:ext cx="877824" cy="429065"/>
          </a:xfrm>
          <a:prstGeom prst="rect">
            <a:avLst/>
          </a:prstGeom>
          <a:solidFill>
            <a:srgbClr val="FFE5C0"/>
          </a:solidFill>
          <a:ln w="15240">
            <a:solidFill>
              <a:srgbClr val="FF6B00"/>
            </a:solidFill>
            <a:prstDash val="solid"/>
          </a:ln>
        </p:spPr>
        <p:txBody>
          <a:bodyPr/>
          <a:lstStyle/>
          <a:p>
            <a:endParaRPr lang="es-ES"/>
          </a:p>
        </p:txBody>
      </p:sp>
      <p:sp>
        <p:nvSpPr>
          <p:cNvPr id="284" name="Text 282"/>
          <p:cNvSpPr/>
          <p:nvPr/>
        </p:nvSpPr>
        <p:spPr>
          <a:xfrm>
            <a:off x="11192256" y="5296486"/>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Automatización Config. (13.3)</a:t>
            </a:r>
            <a:endParaRPr lang="en-US" sz="530" dirty="0"/>
          </a:p>
        </p:txBody>
      </p:sp>
      <p:sp>
        <p:nvSpPr>
          <p:cNvPr id="285" name="Shape 283"/>
          <p:cNvSpPr/>
          <p:nvPr/>
        </p:nvSpPr>
        <p:spPr>
          <a:xfrm>
            <a:off x="11192256" y="5734695"/>
            <a:ext cx="877824" cy="429065"/>
          </a:xfrm>
          <a:prstGeom prst="rect">
            <a:avLst/>
          </a:prstGeom>
          <a:solidFill>
            <a:srgbClr val="FFE5C0"/>
          </a:solidFill>
          <a:ln w="15240">
            <a:solidFill>
              <a:srgbClr val="FF6B00"/>
            </a:solidFill>
            <a:prstDash val="solid"/>
          </a:ln>
        </p:spPr>
        <p:txBody>
          <a:bodyPr/>
          <a:lstStyle/>
          <a:p>
            <a:endParaRPr lang="es-ES"/>
          </a:p>
        </p:txBody>
      </p:sp>
      <p:sp>
        <p:nvSpPr>
          <p:cNvPr id="286" name="Text 284"/>
          <p:cNvSpPr/>
          <p:nvPr/>
        </p:nvSpPr>
        <p:spPr>
          <a:xfrm>
            <a:off x="11192256" y="5734695"/>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Estrategias despliegue (13.4)</a:t>
            </a:r>
            <a:endParaRPr lang="en-US" sz="530" dirty="0"/>
          </a:p>
        </p:txBody>
      </p:sp>
      <p:sp>
        <p:nvSpPr>
          <p:cNvPr id="287" name="Shape 285"/>
          <p:cNvSpPr/>
          <p:nvPr/>
        </p:nvSpPr>
        <p:spPr>
          <a:xfrm>
            <a:off x="11192256" y="6172903"/>
            <a:ext cx="877824" cy="429065"/>
          </a:xfrm>
          <a:prstGeom prst="rect">
            <a:avLst/>
          </a:prstGeom>
          <a:solidFill>
            <a:srgbClr val="FFE5C0"/>
          </a:solidFill>
          <a:ln w="15240">
            <a:solidFill>
              <a:srgbClr val="FF6B00"/>
            </a:solidFill>
            <a:prstDash val="solid"/>
          </a:ln>
        </p:spPr>
        <p:txBody>
          <a:bodyPr/>
          <a:lstStyle/>
          <a:p>
            <a:endParaRPr lang="es-ES"/>
          </a:p>
        </p:txBody>
      </p:sp>
      <p:sp>
        <p:nvSpPr>
          <p:cNvPr id="288" name="Text 286"/>
          <p:cNvSpPr/>
          <p:nvPr/>
        </p:nvSpPr>
        <p:spPr>
          <a:xfrm>
            <a:off x="11192256" y="6172903"/>
            <a:ext cx="877824" cy="429065"/>
          </a:xfrm>
          <a:prstGeom prst="rect">
            <a:avLst/>
          </a:prstGeom>
          <a:noFill/>
          <a:ln/>
        </p:spPr>
        <p:txBody>
          <a:bodyPr wrap="square" lIns="19050" tIns="19050" rIns="19050" bIns="19050" rtlCol="0" anchor="ctr"/>
          <a:lstStyle/>
          <a:p>
            <a:pPr marL="0" indent="0" algn="ctr">
              <a:buNone/>
            </a:pPr>
            <a:r>
              <a:rPr lang="en-US" sz="530" b="1" dirty="0">
                <a:solidFill>
                  <a:srgbClr val="6B2400"/>
                </a:solidFill>
              </a:rPr>
              <a:t>Pruebas automatizadas (13.4)</a:t>
            </a:r>
            <a:endParaRPr lang="en-US" sz="530" dirty="0"/>
          </a:p>
        </p:txBody>
      </p:sp>
      <p:sp>
        <p:nvSpPr>
          <p:cNvPr id="289" name="Shape 287"/>
          <p:cNvSpPr/>
          <p:nvPr/>
        </p:nvSpPr>
        <p:spPr>
          <a:xfrm>
            <a:off x="128016" y="6665976"/>
            <a:ext cx="713232" cy="137160"/>
          </a:xfrm>
          <a:prstGeom prst="rect">
            <a:avLst/>
          </a:prstGeom>
          <a:solidFill>
            <a:srgbClr val="FFE5C0"/>
          </a:solidFill>
          <a:ln w="10160">
            <a:solidFill>
              <a:srgbClr val="FF6B00"/>
            </a:solidFill>
            <a:prstDash val="solid"/>
          </a:ln>
        </p:spPr>
        <p:txBody>
          <a:bodyPr/>
          <a:lstStyle/>
          <a:p>
            <a:endParaRPr lang="es-ES"/>
          </a:p>
        </p:txBody>
      </p:sp>
      <p:sp>
        <p:nvSpPr>
          <p:cNvPr id="290" name="Text 288"/>
          <p:cNvSpPr/>
          <p:nvPr/>
        </p:nvSpPr>
        <p:spPr>
          <a:xfrm>
            <a:off x="128016" y="6665976"/>
            <a:ext cx="713232" cy="137160"/>
          </a:xfrm>
          <a:prstGeom prst="rect">
            <a:avLst/>
          </a:prstGeom>
          <a:noFill/>
          <a:ln/>
        </p:spPr>
        <p:txBody>
          <a:bodyPr wrap="square" rtlCol="0" anchor="ctr"/>
          <a:lstStyle/>
          <a:p>
            <a:pPr marL="0" indent="0" algn="ctr">
              <a:buNone/>
            </a:pPr>
            <a:r>
              <a:rPr lang="en-US" sz="500" b="1" dirty="0">
                <a:solidFill>
                  <a:srgbClr val="6B2400"/>
                </a:solidFill>
              </a:rPr>
              <a:t>En scope R4 (completo)</a:t>
            </a:r>
            <a:endParaRPr lang="en-US" sz="500" dirty="0"/>
          </a:p>
        </p:txBody>
      </p:sp>
      <p:sp>
        <p:nvSpPr>
          <p:cNvPr id="291" name="Shape 289"/>
          <p:cNvSpPr/>
          <p:nvPr/>
        </p:nvSpPr>
        <p:spPr>
          <a:xfrm>
            <a:off x="914400" y="6665976"/>
            <a:ext cx="731520" cy="137160"/>
          </a:xfrm>
          <a:prstGeom prst="rect">
            <a:avLst/>
          </a:prstGeom>
          <a:solidFill>
            <a:srgbClr val="FFF3DC"/>
          </a:solidFill>
          <a:ln w="10160">
            <a:solidFill>
              <a:srgbClr val="E89300"/>
            </a:solidFill>
            <a:prstDash val="solid"/>
          </a:ln>
        </p:spPr>
        <p:txBody>
          <a:bodyPr/>
          <a:lstStyle/>
          <a:p>
            <a:endParaRPr lang="es-ES"/>
          </a:p>
        </p:txBody>
      </p:sp>
      <p:sp>
        <p:nvSpPr>
          <p:cNvPr id="292" name="Text 290"/>
          <p:cNvSpPr/>
          <p:nvPr/>
        </p:nvSpPr>
        <p:spPr>
          <a:xfrm>
            <a:off x="914400" y="6665976"/>
            <a:ext cx="731520" cy="137160"/>
          </a:xfrm>
          <a:prstGeom prst="rect">
            <a:avLst/>
          </a:prstGeom>
          <a:noFill/>
          <a:ln/>
        </p:spPr>
        <p:txBody>
          <a:bodyPr wrap="square" rtlCol="0" anchor="ctr"/>
          <a:lstStyle/>
          <a:p>
            <a:pPr marL="0" indent="0" algn="ctr">
              <a:buNone/>
            </a:pPr>
            <a:r>
              <a:rPr lang="en-US" sz="500" b="1" dirty="0">
                <a:solidFill>
                  <a:srgbClr val="6B2400"/>
                </a:solidFill>
              </a:rPr>
              <a:t>En scope R4 (parcial)</a:t>
            </a:r>
            <a:endParaRPr lang="en-US" sz="500" dirty="0"/>
          </a:p>
        </p:txBody>
      </p:sp>
      <p:sp>
        <p:nvSpPr>
          <p:cNvPr id="293" name="Shape 291"/>
          <p:cNvSpPr/>
          <p:nvPr/>
        </p:nvSpPr>
        <p:spPr>
          <a:xfrm>
            <a:off x="1719072" y="6665976"/>
            <a:ext cx="640080" cy="137160"/>
          </a:xfrm>
          <a:prstGeom prst="rect">
            <a:avLst/>
          </a:prstGeom>
          <a:solidFill>
            <a:srgbClr val="F0F0F0"/>
          </a:solidFill>
          <a:ln w="10160">
            <a:solidFill>
              <a:srgbClr val="CCCCCC"/>
            </a:solidFill>
            <a:prstDash val="solid"/>
          </a:ln>
        </p:spPr>
        <p:txBody>
          <a:bodyPr/>
          <a:lstStyle/>
          <a:p>
            <a:endParaRPr lang="es-ES"/>
          </a:p>
        </p:txBody>
      </p:sp>
      <p:sp>
        <p:nvSpPr>
          <p:cNvPr id="294" name="Text 292"/>
          <p:cNvSpPr/>
          <p:nvPr/>
        </p:nvSpPr>
        <p:spPr>
          <a:xfrm>
            <a:off x="1719072" y="6665976"/>
            <a:ext cx="640080" cy="137160"/>
          </a:xfrm>
          <a:prstGeom prst="rect">
            <a:avLst/>
          </a:prstGeom>
          <a:noFill/>
          <a:ln/>
        </p:spPr>
        <p:txBody>
          <a:bodyPr wrap="square" rtlCol="0" anchor="ctr"/>
          <a:lstStyle/>
          <a:p>
            <a:pPr marL="0" indent="0" algn="ctr">
              <a:buNone/>
            </a:pPr>
            <a:r>
              <a:rPr lang="en-US" sz="500" b="1" dirty="0">
                <a:solidFill>
                  <a:srgbClr val="888888"/>
                </a:solidFill>
              </a:rPr>
              <a:t>Fuera de scope R4</a:t>
            </a:r>
            <a:endParaRPr lang="en-US" sz="500" dirty="0"/>
          </a:p>
        </p:txBody>
      </p:sp>
      <p:sp>
        <p:nvSpPr>
          <p:cNvPr id="295" name="Shape 293"/>
          <p:cNvSpPr/>
          <p:nvPr/>
        </p:nvSpPr>
        <p:spPr>
          <a:xfrm>
            <a:off x="2432304" y="6665976"/>
            <a:ext cx="548640" cy="137160"/>
          </a:xfrm>
          <a:prstGeom prst="rect">
            <a:avLst/>
          </a:prstGeom>
          <a:solidFill>
            <a:srgbClr val="FFFFFF"/>
          </a:solidFill>
          <a:ln w="10160">
            <a:solidFill>
              <a:srgbClr val="BE82FF"/>
            </a:solidFill>
            <a:prstDash val="solid"/>
          </a:ln>
        </p:spPr>
        <p:txBody>
          <a:bodyPr/>
          <a:lstStyle/>
          <a:p>
            <a:endParaRPr lang="es-ES"/>
          </a:p>
        </p:txBody>
      </p:sp>
      <p:sp>
        <p:nvSpPr>
          <p:cNvPr id="296" name="Text 294"/>
          <p:cNvSpPr/>
          <p:nvPr/>
        </p:nvSpPr>
        <p:spPr>
          <a:xfrm>
            <a:off x="2432304" y="6665976"/>
            <a:ext cx="548640" cy="137160"/>
          </a:xfrm>
          <a:prstGeom prst="rect">
            <a:avLst/>
          </a:prstGeom>
          <a:noFill/>
          <a:ln/>
        </p:spPr>
        <p:txBody>
          <a:bodyPr wrap="square" rtlCol="0" anchor="ctr"/>
          <a:lstStyle/>
          <a:p>
            <a:pPr marL="0" indent="0" algn="ctr">
              <a:buNone/>
            </a:pPr>
            <a:r>
              <a:rPr lang="en-US" sz="500" dirty="0">
                <a:solidFill>
                  <a:srgbClr val="000000"/>
                </a:solidFill>
              </a:rPr>
              <a:t>Capacidad</a:t>
            </a:r>
            <a:endParaRPr lang="en-US" sz="500" dirty="0"/>
          </a:p>
        </p:txBody>
      </p:sp>
      <p:sp>
        <p:nvSpPr>
          <p:cNvPr id="297" name="Shape 295"/>
          <p:cNvSpPr/>
          <p:nvPr/>
        </p:nvSpPr>
        <p:spPr>
          <a:xfrm>
            <a:off x="3054096" y="6675120"/>
            <a:ext cx="137160" cy="137160"/>
          </a:xfrm>
          <a:prstGeom prst="ellipse">
            <a:avLst/>
          </a:prstGeom>
          <a:solidFill>
            <a:srgbClr val="C00000"/>
          </a:solidFill>
          <a:ln w="12700">
            <a:solidFill>
              <a:srgbClr val="C00000"/>
            </a:solidFill>
            <a:prstDash val="solid"/>
          </a:ln>
        </p:spPr>
        <p:txBody>
          <a:bodyPr/>
          <a:lstStyle/>
          <a:p>
            <a:endParaRPr lang="es-ES"/>
          </a:p>
        </p:txBody>
      </p:sp>
      <p:sp>
        <p:nvSpPr>
          <p:cNvPr id="298" name="Text 296"/>
          <p:cNvSpPr/>
          <p:nvPr/>
        </p:nvSpPr>
        <p:spPr>
          <a:xfrm>
            <a:off x="3054096" y="6675120"/>
            <a:ext cx="137160" cy="137160"/>
          </a:xfrm>
          <a:prstGeom prst="rect">
            <a:avLst/>
          </a:prstGeom>
          <a:noFill/>
          <a:ln/>
        </p:spPr>
        <p:txBody>
          <a:bodyPr wrap="square" lIns="0" tIns="0" rIns="0" bIns="0" rtlCol="0" anchor="ctr"/>
          <a:lstStyle/>
          <a:p>
            <a:pPr marL="0" indent="0" algn="ctr">
              <a:buNone/>
            </a:pPr>
            <a:r>
              <a:rPr lang="en-US" sz="570" b="1" dirty="0">
                <a:solidFill>
                  <a:srgbClr val="FFFFFF"/>
                </a:solidFill>
              </a:rPr>
              <a:t>K</a:t>
            </a:r>
            <a:endParaRPr lang="en-US" sz="570" dirty="0"/>
          </a:p>
        </p:txBody>
      </p:sp>
      <p:sp>
        <p:nvSpPr>
          <p:cNvPr id="299" name="Text 297"/>
          <p:cNvSpPr/>
          <p:nvPr/>
        </p:nvSpPr>
        <p:spPr>
          <a:xfrm>
            <a:off x="3218688" y="6665976"/>
            <a:ext cx="1097280" cy="137160"/>
          </a:xfrm>
          <a:prstGeom prst="rect">
            <a:avLst/>
          </a:prstGeom>
          <a:noFill/>
          <a:ln/>
        </p:spPr>
        <p:txBody>
          <a:bodyPr wrap="square" rtlCol="0" anchor="ctr"/>
          <a:lstStyle/>
          <a:p>
            <a:pPr marL="0" indent="0">
              <a:buNone/>
            </a:pPr>
            <a:r>
              <a:rPr lang="en-US" sz="500" dirty="0">
                <a:solidFill>
                  <a:srgbClr val="000000"/>
                </a:solidFill>
              </a:rPr>
              <a:t>Kernel / Plataforma</a:t>
            </a:r>
            <a:endParaRPr lang="en-US" sz="500" dirty="0"/>
          </a:p>
        </p:txBody>
      </p:sp>
      <p:sp>
        <p:nvSpPr>
          <p:cNvPr id="300" name="Shape 298"/>
          <p:cNvSpPr/>
          <p:nvPr/>
        </p:nvSpPr>
        <p:spPr>
          <a:xfrm>
            <a:off x="4343400" y="6675120"/>
            <a:ext cx="274320" cy="128016"/>
          </a:xfrm>
          <a:prstGeom prst="roundRect">
            <a:avLst>
              <a:gd name="adj" fmla="val 21429"/>
            </a:avLst>
          </a:prstGeom>
          <a:solidFill>
            <a:srgbClr val="FF6B00"/>
          </a:solidFill>
          <a:ln w="12700">
            <a:solidFill>
              <a:srgbClr val="FF6B00"/>
            </a:solidFill>
            <a:prstDash val="solid"/>
          </a:ln>
        </p:spPr>
        <p:txBody>
          <a:bodyPr/>
          <a:lstStyle/>
          <a:p>
            <a:endParaRPr lang="es-ES"/>
          </a:p>
        </p:txBody>
      </p:sp>
      <p:sp>
        <p:nvSpPr>
          <p:cNvPr id="301" name="Text 299"/>
          <p:cNvSpPr/>
          <p:nvPr/>
        </p:nvSpPr>
        <p:spPr>
          <a:xfrm>
            <a:off x="4343400" y="6675120"/>
            <a:ext cx="274320" cy="128016"/>
          </a:xfrm>
          <a:prstGeom prst="rect">
            <a:avLst/>
          </a:prstGeom>
          <a:noFill/>
          <a:ln/>
        </p:spPr>
        <p:txBody>
          <a:bodyPr wrap="square" lIns="0" tIns="0" rIns="0" bIns="0" rtlCol="0" anchor="ctr"/>
          <a:lstStyle/>
          <a:p>
            <a:pPr marL="0" indent="0" algn="ctr">
              <a:buNone/>
            </a:pPr>
            <a:r>
              <a:rPr lang="en-US" sz="550" b="1" dirty="0">
                <a:solidFill>
                  <a:srgbClr val="FFFFFF"/>
                </a:solidFill>
              </a:rPr>
              <a:t>R4 ✓</a:t>
            </a:r>
            <a:endParaRPr lang="en-US" sz="550" dirty="0"/>
          </a:p>
        </p:txBody>
      </p:sp>
      <p:sp>
        <p:nvSpPr>
          <p:cNvPr id="302" name="Text 300"/>
          <p:cNvSpPr/>
          <p:nvPr/>
        </p:nvSpPr>
        <p:spPr>
          <a:xfrm>
            <a:off x="4645152" y="6665976"/>
            <a:ext cx="914400" cy="137160"/>
          </a:xfrm>
          <a:prstGeom prst="rect">
            <a:avLst/>
          </a:prstGeom>
          <a:noFill/>
          <a:ln/>
        </p:spPr>
        <p:txBody>
          <a:bodyPr wrap="square" rtlCol="0" anchor="ctr"/>
          <a:lstStyle/>
          <a:p>
            <a:pPr marL="0" indent="0">
              <a:buNone/>
            </a:pPr>
            <a:r>
              <a:rPr lang="en-US" sz="500" dirty="0">
                <a:solidFill>
                  <a:srgbClr val="000000"/>
                </a:solidFill>
              </a:rPr>
              <a:t>= en scope R4</a:t>
            </a:r>
            <a:endParaRPr lang="en-US" sz="500" dirty="0"/>
          </a:p>
        </p:txBody>
      </p:sp>
      <p:sp>
        <p:nvSpPr>
          <p:cNvPr id="303" name="Text 301"/>
          <p:cNvSpPr/>
          <p:nvPr/>
        </p:nvSpPr>
        <p:spPr>
          <a:xfrm>
            <a:off x="8988552" y="6665976"/>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305" name="Rectangle 304">
            <a:extLst>
              <a:ext uri="{FF2B5EF4-FFF2-40B4-BE49-F238E27FC236}">
                <a16:creationId xmlns:a16="http://schemas.microsoft.com/office/drawing/2014/main" id="{AE275541-ED70-4681-4DAA-39299E2C1348}"/>
              </a:ext>
            </a:extLst>
          </p:cNvPr>
          <p:cNvSpPr/>
          <p:nvPr/>
        </p:nvSpPr>
        <p:spPr>
          <a:xfrm>
            <a:off x="1666119" y="394538"/>
            <a:ext cx="7755648" cy="584775"/>
          </a:xfrm>
          <a:prstGeom prst="rect">
            <a:avLst/>
          </a:prstGeom>
          <a:noFill/>
        </p:spPr>
        <p:txBody>
          <a:bodyPr wrap="none" lIns="91440" tIns="45720" rIns="91440" bIns="45720">
            <a:spAutoFit/>
          </a:bodyPr>
          <a:lstStyle/>
          <a:p>
            <a:pPr algn="ct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Ejercicio</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sobre</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marco</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a:t>
            </a: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inicial</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(slide18)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w="12700">
            <a:solidFill>
              <a:srgbClr val="FFFFFF"/>
            </a:solidFill>
            <a:prstDash val="solid"/>
          </a:ln>
        </p:spPr>
        <p:txBody>
          <a:bodyPr/>
          <a:lstStyle/>
          <a:p>
            <a:endParaRPr lang="es-ES"/>
          </a:p>
        </p:txBody>
      </p:sp>
      <p:sp>
        <p:nvSpPr>
          <p:cNvPr id="3" name="Text 1"/>
          <p:cNvSpPr/>
          <p:nvPr/>
        </p:nvSpPr>
        <p:spPr>
          <a:xfrm>
            <a:off x="182880" y="18288"/>
            <a:ext cx="11823192" cy="128016"/>
          </a:xfrm>
          <a:prstGeom prst="rect">
            <a:avLst/>
          </a:prstGeom>
          <a:noFill/>
          <a:ln/>
        </p:spPr>
        <p:txBody>
          <a:bodyPr wrap="square" rtlCol="0" anchor="ctr"/>
          <a:lstStyle/>
          <a:p>
            <a:pPr marL="0" indent="0" algn="ctr">
              <a:buNone/>
            </a:pPr>
            <a:r>
              <a:rPr lang="en-US" sz="550" dirty="0">
                <a:solidFill>
                  <a:srgbClr val="595959"/>
                </a:solidFill>
              </a:rPr>
              <a:t>*** Confidencial - Solo para uso interno de la empresa ***</a:t>
            </a:r>
            <a:endParaRPr lang="en-US" sz="550" dirty="0"/>
          </a:p>
        </p:txBody>
      </p:sp>
      <p:sp>
        <p:nvSpPr>
          <p:cNvPr id="4" name="Text 2"/>
          <p:cNvSpPr/>
          <p:nvPr/>
        </p:nvSpPr>
        <p:spPr>
          <a:xfrm>
            <a:off x="137160" y="137160"/>
            <a:ext cx="4937760" cy="512064"/>
          </a:xfrm>
          <a:prstGeom prst="rect">
            <a:avLst/>
          </a:prstGeom>
          <a:noFill/>
          <a:ln/>
        </p:spPr>
        <p:txBody>
          <a:bodyPr wrap="square" rtlCol="0" anchor="ctr"/>
          <a:lstStyle/>
          <a:p>
            <a:pPr marL="0" indent="0">
              <a:buNone/>
            </a:pPr>
            <a:r>
              <a:rPr lang="en-US" sz="2000" b="1" dirty="0">
                <a:solidFill>
                  <a:srgbClr val="A100FF"/>
                </a:solidFill>
              </a:rPr>
              <a:t>Arquitectura de Interoperabilidad</a:t>
            </a:r>
            <a:endParaRPr lang="en-US" sz="2000" dirty="0"/>
          </a:p>
        </p:txBody>
      </p:sp>
      <p:sp>
        <p:nvSpPr>
          <p:cNvPr id="5" name="Text 3"/>
          <p:cNvSpPr/>
          <p:nvPr/>
        </p:nvSpPr>
        <p:spPr>
          <a:xfrm>
            <a:off x="5074920" y="137160"/>
            <a:ext cx="6858000" cy="512064"/>
          </a:xfrm>
          <a:prstGeom prst="rect">
            <a:avLst/>
          </a:prstGeom>
          <a:noFill/>
          <a:ln/>
        </p:spPr>
        <p:txBody>
          <a:bodyPr wrap="square" rtlCol="0" anchor="ctr"/>
          <a:lstStyle/>
          <a:p>
            <a:pPr marL="0" indent="0">
              <a:buNone/>
            </a:pPr>
            <a:r>
              <a:rPr lang="en-US" sz="1800" dirty="0">
                <a:solidFill>
                  <a:srgbClr val="000000"/>
                </a:solidFill>
              </a:rPr>
              <a:t> | Mapa de capacidades Nivel 2 — Impacto R4</a:t>
            </a:r>
            <a:endParaRPr lang="en-US" sz="1800" dirty="0"/>
          </a:p>
        </p:txBody>
      </p:sp>
      <p:sp>
        <p:nvSpPr>
          <p:cNvPr id="6" name="Shape 4"/>
          <p:cNvSpPr/>
          <p:nvPr/>
        </p:nvSpPr>
        <p:spPr>
          <a:xfrm>
            <a:off x="109728" y="685800"/>
            <a:ext cx="493776" cy="5925312"/>
          </a:xfrm>
          <a:prstGeom prst="rect">
            <a:avLst/>
          </a:prstGeom>
          <a:solidFill>
            <a:srgbClr val="FFE5C0"/>
          </a:solidFill>
          <a:ln w="19050">
            <a:solidFill>
              <a:srgbClr val="FF6B00"/>
            </a:solidFill>
            <a:prstDash val="solid"/>
          </a:ln>
        </p:spPr>
        <p:txBody>
          <a:bodyPr/>
          <a:lstStyle/>
          <a:p>
            <a:endParaRPr lang="es-ES"/>
          </a:p>
        </p:txBody>
      </p:sp>
      <p:sp>
        <p:nvSpPr>
          <p:cNvPr id="7" name="Shape 5"/>
          <p:cNvSpPr/>
          <p:nvPr/>
        </p:nvSpPr>
        <p:spPr>
          <a:xfrm>
            <a:off x="109728"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8" name="Shape 6"/>
          <p:cNvSpPr/>
          <p:nvPr/>
        </p:nvSpPr>
        <p:spPr>
          <a:xfrm>
            <a:off x="118872"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9" name="Text 7"/>
          <p:cNvSpPr/>
          <p:nvPr/>
        </p:nvSpPr>
        <p:spPr>
          <a:xfrm>
            <a:off x="118872"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0" name="Text 8"/>
          <p:cNvSpPr/>
          <p:nvPr/>
        </p:nvSpPr>
        <p:spPr>
          <a:xfrm>
            <a:off x="283464" y="685800"/>
            <a:ext cx="301752" cy="182880"/>
          </a:xfrm>
          <a:prstGeom prst="rect">
            <a:avLst/>
          </a:prstGeom>
          <a:noFill/>
          <a:ln/>
        </p:spPr>
        <p:txBody>
          <a:bodyPr wrap="square" rtlCol="0" anchor="ctr"/>
          <a:lstStyle/>
          <a:p>
            <a:pPr marL="0" indent="0" algn="ctr">
              <a:buNone/>
            </a:pPr>
            <a:r>
              <a:rPr lang="en-US" sz="500" b="1" dirty="0">
                <a:solidFill>
                  <a:srgbClr val="FFFFFF"/>
                </a:solidFill>
              </a:rPr>
              <a:t>Seguridad</a:t>
            </a:r>
            <a:endParaRPr lang="en-US" sz="500" dirty="0"/>
          </a:p>
        </p:txBody>
      </p:sp>
      <p:sp>
        <p:nvSpPr>
          <p:cNvPr id="11" name="Shape 9"/>
          <p:cNvSpPr/>
          <p:nvPr/>
        </p:nvSpPr>
        <p:spPr>
          <a:xfrm>
            <a:off x="356616"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2" name="Text 10"/>
          <p:cNvSpPr/>
          <p:nvPr/>
        </p:nvSpPr>
        <p:spPr>
          <a:xfrm>
            <a:off x="356616"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3" name="Shape 11"/>
          <p:cNvSpPr/>
          <p:nvPr/>
        </p:nvSpPr>
        <p:spPr>
          <a:xfrm>
            <a:off x="118872" y="886968"/>
            <a:ext cx="475488" cy="109728"/>
          </a:xfrm>
          <a:prstGeom prst="rect">
            <a:avLst/>
          </a:prstGeom>
          <a:solidFill>
            <a:srgbClr val="FF6B00"/>
          </a:solidFill>
          <a:ln w="12700">
            <a:solidFill>
              <a:srgbClr val="FF6B00"/>
            </a:solidFill>
            <a:prstDash val="solid"/>
          </a:ln>
        </p:spPr>
        <p:txBody>
          <a:bodyPr/>
          <a:lstStyle/>
          <a:p>
            <a:endParaRPr lang="es-ES"/>
          </a:p>
        </p:txBody>
      </p:sp>
      <p:sp>
        <p:nvSpPr>
          <p:cNvPr id="14" name="Text 12"/>
          <p:cNvSpPr/>
          <p:nvPr/>
        </p:nvSpPr>
        <p:spPr>
          <a:xfrm>
            <a:off x="118872"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IAM</a:t>
            </a:r>
            <a:endParaRPr lang="en-US" sz="400" dirty="0"/>
          </a:p>
        </p:txBody>
      </p:sp>
      <p:sp>
        <p:nvSpPr>
          <p:cNvPr id="15" name="Shape 13"/>
          <p:cNvSpPr/>
          <p:nvPr/>
        </p:nvSpPr>
        <p:spPr>
          <a:xfrm>
            <a:off x="118872" y="1005840"/>
            <a:ext cx="475488" cy="160630"/>
          </a:xfrm>
          <a:prstGeom prst="rect">
            <a:avLst/>
          </a:prstGeom>
          <a:solidFill>
            <a:srgbClr val="FFE5C0"/>
          </a:solidFill>
          <a:ln w="12700">
            <a:solidFill>
              <a:srgbClr val="FF6B00"/>
            </a:solidFill>
            <a:prstDash val="solid"/>
          </a:ln>
        </p:spPr>
        <p:txBody>
          <a:bodyPr/>
          <a:lstStyle/>
          <a:p>
            <a:endParaRPr lang="es-ES"/>
          </a:p>
        </p:txBody>
      </p:sp>
      <p:sp>
        <p:nvSpPr>
          <p:cNvPr id="16" name="Text 14"/>
          <p:cNvSpPr/>
          <p:nvPr/>
        </p:nvSpPr>
        <p:spPr>
          <a:xfrm>
            <a:off x="118872" y="1005840"/>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Autenticación</a:t>
            </a:r>
            <a:endParaRPr lang="en-US" sz="380" dirty="0"/>
          </a:p>
        </p:txBody>
      </p:sp>
      <p:sp>
        <p:nvSpPr>
          <p:cNvPr id="17" name="Shape 15"/>
          <p:cNvSpPr/>
          <p:nvPr/>
        </p:nvSpPr>
        <p:spPr>
          <a:xfrm>
            <a:off x="118872" y="1171042"/>
            <a:ext cx="475488" cy="160630"/>
          </a:xfrm>
          <a:prstGeom prst="rect">
            <a:avLst/>
          </a:prstGeom>
          <a:solidFill>
            <a:srgbClr val="FFE5C0"/>
          </a:solidFill>
          <a:ln w="12700">
            <a:solidFill>
              <a:srgbClr val="FF6B00"/>
            </a:solidFill>
            <a:prstDash val="solid"/>
          </a:ln>
        </p:spPr>
        <p:txBody>
          <a:bodyPr/>
          <a:lstStyle/>
          <a:p>
            <a:endParaRPr lang="es-ES"/>
          </a:p>
        </p:txBody>
      </p:sp>
      <p:sp>
        <p:nvSpPr>
          <p:cNvPr id="18" name="Text 16"/>
          <p:cNvSpPr/>
          <p:nvPr/>
        </p:nvSpPr>
        <p:spPr>
          <a:xfrm>
            <a:off x="118872" y="1171042"/>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Autorización</a:t>
            </a:r>
            <a:endParaRPr lang="en-US" sz="380" dirty="0"/>
          </a:p>
        </p:txBody>
      </p:sp>
      <p:sp>
        <p:nvSpPr>
          <p:cNvPr id="19" name="Shape 17"/>
          <p:cNvSpPr/>
          <p:nvPr/>
        </p:nvSpPr>
        <p:spPr>
          <a:xfrm>
            <a:off x="118872" y="1336243"/>
            <a:ext cx="475488" cy="160630"/>
          </a:xfrm>
          <a:prstGeom prst="rect">
            <a:avLst/>
          </a:prstGeom>
          <a:solidFill>
            <a:srgbClr val="FFE5C0"/>
          </a:solidFill>
          <a:ln w="12700">
            <a:solidFill>
              <a:srgbClr val="FF6B00"/>
            </a:solidFill>
            <a:prstDash val="solid"/>
          </a:ln>
        </p:spPr>
        <p:txBody>
          <a:bodyPr/>
          <a:lstStyle/>
          <a:p>
            <a:endParaRPr lang="es-ES"/>
          </a:p>
        </p:txBody>
      </p:sp>
      <p:sp>
        <p:nvSpPr>
          <p:cNvPr id="20" name="Text 18"/>
          <p:cNvSpPr/>
          <p:nvPr/>
        </p:nvSpPr>
        <p:spPr>
          <a:xfrm>
            <a:off x="118872" y="1336243"/>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Token/SSO</a:t>
            </a:r>
            <a:endParaRPr lang="en-US" sz="380" dirty="0"/>
          </a:p>
        </p:txBody>
      </p:sp>
      <p:sp>
        <p:nvSpPr>
          <p:cNvPr id="21" name="Shape 19"/>
          <p:cNvSpPr/>
          <p:nvPr/>
        </p:nvSpPr>
        <p:spPr>
          <a:xfrm>
            <a:off x="118872" y="1501445"/>
            <a:ext cx="475488" cy="160630"/>
          </a:xfrm>
          <a:prstGeom prst="rect">
            <a:avLst/>
          </a:prstGeom>
          <a:solidFill>
            <a:srgbClr val="FFE5C0"/>
          </a:solidFill>
          <a:ln w="12700">
            <a:solidFill>
              <a:srgbClr val="FF6B00"/>
            </a:solidFill>
            <a:prstDash val="solid"/>
          </a:ln>
        </p:spPr>
        <p:txBody>
          <a:bodyPr/>
          <a:lstStyle/>
          <a:p>
            <a:endParaRPr lang="es-ES"/>
          </a:p>
        </p:txBody>
      </p:sp>
      <p:sp>
        <p:nvSpPr>
          <p:cNvPr id="22" name="Text 20"/>
          <p:cNvSpPr/>
          <p:nvPr/>
        </p:nvSpPr>
        <p:spPr>
          <a:xfrm>
            <a:off x="118872" y="1501445"/>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Sesión</a:t>
            </a:r>
            <a:endParaRPr lang="en-US" sz="380" dirty="0"/>
          </a:p>
        </p:txBody>
      </p:sp>
      <p:sp>
        <p:nvSpPr>
          <p:cNvPr id="23" name="Shape 21"/>
          <p:cNvSpPr/>
          <p:nvPr/>
        </p:nvSpPr>
        <p:spPr>
          <a:xfrm>
            <a:off x="118872" y="1666646"/>
            <a:ext cx="475488" cy="160630"/>
          </a:xfrm>
          <a:prstGeom prst="rect">
            <a:avLst/>
          </a:prstGeom>
          <a:solidFill>
            <a:srgbClr val="FFE5C0"/>
          </a:solidFill>
          <a:ln w="12700">
            <a:solidFill>
              <a:srgbClr val="FF6B00"/>
            </a:solidFill>
            <a:prstDash val="solid"/>
          </a:ln>
        </p:spPr>
        <p:txBody>
          <a:bodyPr/>
          <a:lstStyle/>
          <a:p>
            <a:endParaRPr lang="es-ES"/>
          </a:p>
        </p:txBody>
      </p:sp>
      <p:sp>
        <p:nvSpPr>
          <p:cNvPr id="24" name="Text 22"/>
          <p:cNvSpPr/>
          <p:nvPr/>
        </p:nvSpPr>
        <p:spPr>
          <a:xfrm>
            <a:off x="118872" y="1666646"/>
            <a:ext cx="475488" cy="160630"/>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Admin.Usuarios</a:t>
            </a:r>
            <a:endParaRPr lang="en-US" sz="380" dirty="0"/>
          </a:p>
        </p:txBody>
      </p:sp>
      <p:sp>
        <p:nvSpPr>
          <p:cNvPr id="25" name="Shape 23"/>
          <p:cNvSpPr/>
          <p:nvPr/>
        </p:nvSpPr>
        <p:spPr>
          <a:xfrm>
            <a:off x="118872" y="1831848"/>
            <a:ext cx="475488" cy="109728"/>
          </a:xfrm>
          <a:prstGeom prst="rect">
            <a:avLst/>
          </a:prstGeom>
          <a:solidFill>
            <a:srgbClr val="FF6B00"/>
          </a:solidFill>
          <a:ln w="12700">
            <a:solidFill>
              <a:srgbClr val="FF6B00"/>
            </a:solidFill>
            <a:prstDash val="solid"/>
          </a:ln>
        </p:spPr>
        <p:txBody>
          <a:bodyPr/>
          <a:lstStyle/>
          <a:p>
            <a:endParaRPr lang="es-ES"/>
          </a:p>
        </p:txBody>
      </p:sp>
      <p:sp>
        <p:nvSpPr>
          <p:cNvPr id="26" name="Text 24"/>
          <p:cNvSpPr/>
          <p:nvPr/>
        </p:nvSpPr>
        <p:spPr>
          <a:xfrm>
            <a:off x="118872" y="183184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Criptografía</a:t>
            </a:r>
            <a:endParaRPr lang="en-US" sz="400" dirty="0"/>
          </a:p>
        </p:txBody>
      </p:sp>
      <p:sp>
        <p:nvSpPr>
          <p:cNvPr id="27" name="Shape 25"/>
          <p:cNvSpPr/>
          <p:nvPr/>
        </p:nvSpPr>
        <p:spPr>
          <a:xfrm>
            <a:off x="118872" y="1950720"/>
            <a:ext cx="475488" cy="201930"/>
          </a:xfrm>
          <a:prstGeom prst="rect">
            <a:avLst/>
          </a:prstGeom>
          <a:solidFill>
            <a:srgbClr val="FFE5C0"/>
          </a:solidFill>
          <a:ln w="12700">
            <a:solidFill>
              <a:srgbClr val="FF6B00"/>
            </a:solidFill>
            <a:prstDash val="solid"/>
          </a:ln>
        </p:spPr>
        <p:txBody>
          <a:bodyPr/>
          <a:lstStyle/>
          <a:p>
            <a:endParaRPr lang="es-ES"/>
          </a:p>
        </p:txBody>
      </p:sp>
      <p:sp>
        <p:nvSpPr>
          <p:cNvPr id="28" name="Text 26"/>
          <p:cNvSpPr/>
          <p:nvPr/>
        </p:nvSpPr>
        <p:spPr>
          <a:xfrm>
            <a:off x="118872" y="1950720"/>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Firma Digital</a:t>
            </a:r>
            <a:endParaRPr lang="en-US" sz="380" dirty="0"/>
          </a:p>
        </p:txBody>
      </p:sp>
      <p:sp>
        <p:nvSpPr>
          <p:cNvPr id="29" name="Shape 27"/>
          <p:cNvSpPr/>
          <p:nvPr/>
        </p:nvSpPr>
        <p:spPr>
          <a:xfrm>
            <a:off x="118872" y="2157222"/>
            <a:ext cx="475488" cy="201930"/>
          </a:xfrm>
          <a:prstGeom prst="rect">
            <a:avLst/>
          </a:prstGeom>
          <a:solidFill>
            <a:srgbClr val="FFE5C0"/>
          </a:solidFill>
          <a:ln w="12700">
            <a:solidFill>
              <a:srgbClr val="FF6B00"/>
            </a:solidFill>
            <a:prstDash val="solid"/>
          </a:ln>
        </p:spPr>
        <p:txBody>
          <a:bodyPr/>
          <a:lstStyle/>
          <a:p>
            <a:endParaRPr lang="es-ES"/>
          </a:p>
        </p:txBody>
      </p:sp>
      <p:sp>
        <p:nvSpPr>
          <p:cNvPr id="30" name="Text 28"/>
          <p:cNvSpPr/>
          <p:nvPr/>
        </p:nvSpPr>
        <p:spPr>
          <a:xfrm>
            <a:off x="118872" y="2157222"/>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Cifrado</a:t>
            </a:r>
            <a:endParaRPr lang="en-US" sz="380" dirty="0"/>
          </a:p>
        </p:txBody>
      </p:sp>
      <p:sp>
        <p:nvSpPr>
          <p:cNvPr id="31" name="Shape 29"/>
          <p:cNvSpPr/>
          <p:nvPr/>
        </p:nvSpPr>
        <p:spPr>
          <a:xfrm>
            <a:off x="118872" y="2363724"/>
            <a:ext cx="475488" cy="201930"/>
          </a:xfrm>
          <a:prstGeom prst="rect">
            <a:avLst/>
          </a:prstGeom>
          <a:solidFill>
            <a:srgbClr val="FFE5C0"/>
          </a:solidFill>
          <a:ln w="12700">
            <a:solidFill>
              <a:srgbClr val="FF6B00"/>
            </a:solidFill>
            <a:prstDash val="solid"/>
          </a:ln>
        </p:spPr>
        <p:txBody>
          <a:bodyPr/>
          <a:lstStyle/>
          <a:p>
            <a:endParaRPr lang="es-ES"/>
          </a:p>
        </p:txBody>
      </p:sp>
      <p:sp>
        <p:nvSpPr>
          <p:cNvPr id="32" name="Text 30"/>
          <p:cNvSpPr/>
          <p:nvPr/>
        </p:nvSpPr>
        <p:spPr>
          <a:xfrm>
            <a:off x="118872" y="2363724"/>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Cifrado E2E</a:t>
            </a:r>
            <a:endParaRPr lang="en-US" sz="380" dirty="0"/>
          </a:p>
        </p:txBody>
      </p:sp>
      <p:sp>
        <p:nvSpPr>
          <p:cNvPr id="33" name="Shape 31"/>
          <p:cNvSpPr/>
          <p:nvPr/>
        </p:nvSpPr>
        <p:spPr>
          <a:xfrm>
            <a:off x="118872" y="2570226"/>
            <a:ext cx="475488" cy="201930"/>
          </a:xfrm>
          <a:prstGeom prst="rect">
            <a:avLst/>
          </a:prstGeom>
          <a:solidFill>
            <a:srgbClr val="FFE5C0"/>
          </a:solidFill>
          <a:ln w="12700">
            <a:solidFill>
              <a:srgbClr val="FF6B00"/>
            </a:solidFill>
            <a:prstDash val="solid"/>
          </a:ln>
        </p:spPr>
        <p:txBody>
          <a:bodyPr/>
          <a:lstStyle/>
          <a:p>
            <a:endParaRPr lang="es-ES"/>
          </a:p>
        </p:txBody>
      </p:sp>
      <p:sp>
        <p:nvSpPr>
          <p:cNvPr id="34" name="Text 32"/>
          <p:cNvSpPr/>
          <p:nvPr/>
        </p:nvSpPr>
        <p:spPr>
          <a:xfrm>
            <a:off x="118872" y="2570226"/>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HSM/Claves</a:t>
            </a:r>
            <a:endParaRPr lang="en-US" sz="380" dirty="0"/>
          </a:p>
        </p:txBody>
      </p:sp>
      <p:sp>
        <p:nvSpPr>
          <p:cNvPr id="35" name="Shape 33"/>
          <p:cNvSpPr/>
          <p:nvPr/>
        </p:nvSpPr>
        <p:spPr>
          <a:xfrm>
            <a:off x="118872" y="2776728"/>
            <a:ext cx="475488" cy="109728"/>
          </a:xfrm>
          <a:prstGeom prst="rect">
            <a:avLst/>
          </a:prstGeom>
          <a:solidFill>
            <a:srgbClr val="FF6B00"/>
          </a:solidFill>
          <a:ln w="12700">
            <a:solidFill>
              <a:srgbClr val="FF6B00"/>
            </a:solidFill>
            <a:prstDash val="solid"/>
          </a:ln>
        </p:spPr>
        <p:txBody>
          <a:bodyPr/>
          <a:lstStyle/>
          <a:p>
            <a:endParaRPr lang="es-ES"/>
          </a:p>
        </p:txBody>
      </p:sp>
      <p:sp>
        <p:nvSpPr>
          <p:cNvPr id="36" name="Text 34"/>
          <p:cNvSpPr/>
          <p:nvPr/>
        </p:nvSpPr>
        <p:spPr>
          <a:xfrm>
            <a:off x="118872" y="277672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Cert.&amp;Secretos</a:t>
            </a:r>
            <a:endParaRPr lang="en-US" sz="400" dirty="0"/>
          </a:p>
        </p:txBody>
      </p:sp>
      <p:sp>
        <p:nvSpPr>
          <p:cNvPr id="37" name="Shape 35"/>
          <p:cNvSpPr/>
          <p:nvPr/>
        </p:nvSpPr>
        <p:spPr>
          <a:xfrm>
            <a:off x="118872" y="2895600"/>
            <a:ext cx="475488" cy="408432"/>
          </a:xfrm>
          <a:prstGeom prst="rect">
            <a:avLst/>
          </a:prstGeom>
          <a:solidFill>
            <a:srgbClr val="FFE5C0"/>
          </a:solidFill>
          <a:ln w="12700">
            <a:solidFill>
              <a:srgbClr val="FF6B00"/>
            </a:solidFill>
            <a:prstDash val="solid"/>
          </a:ln>
        </p:spPr>
        <p:txBody>
          <a:bodyPr/>
          <a:lstStyle/>
          <a:p>
            <a:endParaRPr lang="es-ES"/>
          </a:p>
        </p:txBody>
      </p:sp>
      <p:sp>
        <p:nvSpPr>
          <p:cNvPr id="38" name="Text 36"/>
          <p:cNvSpPr/>
          <p:nvPr/>
        </p:nvSpPr>
        <p:spPr>
          <a:xfrm>
            <a:off x="118872" y="2895600"/>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Certificados</a:t>
            </a:r>
            <a:endParaRPr lang="en-US" sz="380" dirty="0"/>
          </a:p>
        </p:txBody>
      </p:sp>
      <p:sp>
        <p:nvSpPr>
          <p:cNvPr id="39" name="Shape 37"/>
          <p:cNvSpPr/>
          <p:nvPr/>
        </p:nvSpPr>
        <p:spPr>
          <a:xfrm>
            <a:off x="118872" y="3308604"/>
            <a:ext cx="475488" cy="408432"/>
          </a:xfrm>
          <a:prstGeom prst="rect">
            <a:avLst/>
          </a:prstGeom>
          <a:solidFill>
            <a:srgbClr val="FFE5C0"/>
          </a:solidFill>
          <a:ln w="12700">
            <a:solidFill>
              <a:srgbClr val="FF6B00"/>
            </a:solidFill>
            <a:prstDash val="solid"/>
          </a:ln>
        </p:spPr>
        <p:txBody>
          <a:bodyPr/>
          <a:lstStyle/>
          <a:p>
            <a:endParaRPr lang="es-ES"/>
          </a:p>
        </p:txBody>
      </p:sp>
      <p:sp>
        <p:nvSpPr>
          <p:cNvPr id="40" name="Text 38"/>
          <p:cNvSpPr/>
          <p:nvPr/>
        </p:nvSpPr>
        <p:spPr>
          <a:xfrm>
            <a:off x="118872" y="3308604"/>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Secreta</a:t>
            </a:r>
            <a:endParaRPr lang="en-US" sz="380" dirty="0"/>
          </a:p>
        </p:txBody>
      </p:sp>
      <p:sp>
        <p:nvSpPr>
          <p:cNvPr id="41" name="Shape 39"/>
          <p:cNvSpPr/>
          <p:nvPr/>
        </p:nvSpPr>
        <p:spPr>
          <a:xfrm>
            <a:off x="118872" y="3721608"/>
            <a:ext cx="475488" cy="109728"/>
          </a:xfrm>
          <a:prstGeom prst="rect">
            <a:avLst/>
          </a:prstGeom>
          <a:solidFill>
            <a:srgbClr val="FF6B00"/>
          </a:solidFill>
          <a:ln w="12700">
            <a:solidFill>
              <a:srgbClr val="FF6B00"/>
            </a:solidFill>
            <a:prstDash val="solid"/>
          </a:ln>
        </p:spPr>
        <p:txBody>
          <a:bodyPr/>
          <a:lstStyle/>
          <a:p>
            <a:endParaRPr lang="es-ES"/>
          </a:p>
        </p:txBody>
      </p:sp>
      <p:sp>
        <p:nvSpPr>
          <p:cNvPr id="42" name="Text 40"/>
          <p:cNvSpPr/>
          <p:nvPr/>
        </p:nvSpPr>
        <p:spPr>
          <a:xfrm>
            <a:off x="118872" y="372160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Prot.Amenazas</a:t>
            </a:r>
            <a:endParaRPr lang="en-US" sz="400" dirty="0"/>
          </a:p>
        </p:txBody>
      </p:sp>
      <p:sp>
        <p:nvSpPr>
          <p:cNvPr id="43" name="Shape 41"/>
          <p:cNvSpPr/>
          <p:nvPr/>
        </p:nvSpPr>
        <p:spPr>
          <a:xfrm>
            <a:off x="118872" y="3840480"/>
            <a:ext cx="475488" cy="201930"/>
          </a:xfrm>
          <a:prstGeom prst="rect">
            <a:avLst/>
          </a:prstGeom>
          <a:solidFill>
            <a:srgbClr val="FFE5C0"/>
          </a:solidFill>
          <a:ln w="12700">
            <a:solidFill>
              <a:srgbClr val="FF6B00"/>
            </a:solidFill>
            <a:prstDash val="solid"/>
          </a:ln>
        </p:spPr>
        <p:txBody>
          <a:bodyPr/>
          <a:lstStyle/>
          <a:p>
            <a:endParaRPr lang="es-ES"/>
          </a:p>
        </p:txBody>
      </p:sp>
      <p:sp>
        <p:nvSpPr>
          <p:cNvPr id="44" name="Text 42"/>
          <p:cNvSpPr/>
          <p:nvPr/>
        </p:nvSpPr>
        <p:spPr>
          <a:xfrm>
            <a:off x="118872" y="3840480"/>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Seg. API</a:t>
            </a:r>
            <a:endParaRPr lang="en-US" sz="380" dirty="0"/>
          </a:p>
        </p:txBody>
      </p:sp>
      <p:sp>
        <p:nvSpPr>
          <p:cNvPr id="45" name="Shape 43"/>
          <p:cNvSpPr/>
          <p:nvPr/>
        </p:nvSpPr>
        <p:spPr>
          <a:xfrm>
            <a:off x="118872" y="4046982"/>
            <a:ext cx="475488" cy="201930"/>
          </a:xfrm>
          <a:prstGeom prst="rect">
            <a:avLst/>
          </a:prstGeom>
          <a:solidFill>
            <a:srgbClr val="FFE5C0"/>
          </a:solidFill>
          <a:ln w="12700">
            <a:solidFill>
              <a:srgbClr val="FF6B00"/>
            </a:solidFill>
            <a:prstDash val="solid"/>
          </a:ln>
        </p:spPr>
        <p:txBody>
          <a:bodyPr/>
          <a:lstStyle/>
          <a:p>
            <a:endParaRPr lang="es-ES"/>
          </a:p>
        </p:txBody>
      </p:sp>
      <p:sp>
        <p:nvSpPr>
          <p:cNvPr id="46" name="Text 44"/>
          <p:cNvSpPr/>
          <p:nvPr/>
        </p:nvSpPr>
        <p:spPr>
          <a:xfrm>
            <a:off x="118872" y="4046982"/>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Prot.Perimetral</a:t>
            </a:r>
            <a:endParaRPr lang="en-US" sz="380" dirty="0"/>
          </a:p>
        </p:txBody>
      </p:sp>
      <p:sp>
        <p:nvSpPr>
          <p:cNvPr id="47" name="Shape 45"/>
          <p:cNvSpPr/>
          <p:nvPr/>
        </p:nvSpPr>
        <p:spPr>
          <a:xfrm>
            <a:off x="118872" y="4253484"/>
            <a:ext cx="475488" cy="201930"/>
          </a:xfrm>
          <a:prstGeom prst="rect">
            <a:avLst/>
          </a:prstGeom>
          <a:solidFill>
            <a:srgbClr val="FFE5C0"/>
          </a:solidFill>
          <a:ln w="12700">
            <a:solidFill>
              <a:srgbClr val="FF6B00"/>
            </a:solidFill>
            <a:prstDash val="solid"/>
          </a:ln>
        </p:spPr>
        <p:txBody>
          <a:bodyPr/>
          <a:lstStyle/>
          <a:p>
            <a:endParaRPr lang="es-ES"/>
          </a:p>
        </p:txBody>
      </p:sp>
      <p:sp>
        <p:nvSpPr>
          <p:cNvPr id="48" name="Text 46"/>
          <p:cNvSpPr/>
          <p:nvPr/>
        </p:nvSpPr>
        <p:spPr>
          <a:xfrm>
            <a:off x="118872" y="4253484"/>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Cuotas/Payloads</a:t>
            </a:r>
            <a:endParaRPr lang="en-US" sz="380" dirty="0"/>
          </a:p>
        </p:txBody>
      </p:sp>
      <p:sp>
        <p:nvSpPr>
          <p:cNvPr id="49" name="Shape 47"/>
          <p:cNvSpPr/>
          <p:nvPr/>
        </p:nvSpPr>
        <p:spPr>
          <a:xfrm>
            <a:off x="118872" y="4459986"/>
            <a:ext cx="475488" cy="201930"/>
          </a:xfrm>
          <a:prstGeom prst="rect">
            <a:avLst/>
          </a:prstGeom>
          <a:solidFill>
            <a:srgbClr val="FFE5C0"/>
          </a:solidFill>
          <a:ln w="12700">
            <a:solidFill>
              <a:srgbClr val="FF6B00"/>
            </a:solidFill>
            <a:prstDash val="solid"/>
          </a:ln>
        </p:spPr>
        <p:txBody>
          <a:bodyPr/>
          <a:lstStyle/>
          <a:p>
            <a:endParaRPr lang="es-ES"/>
          </a:p>
        </p:txBody>
      </p:sp>
      <p:sp>
        <p:nvSpPr>
          <p:cNvPr id="50" name="Text 48"/>
          <p:cNvSpPr/>
          <p:nvPr/>
        </p:nvSpPr>
        <p:spPr>
          <a:xfrm>
            <a:off x="118872" y="4459986"/>
            <a:ext cx="475488" cy="201930"/>
          </a:xfrm>
          <a:prstGeom prst="rect">
            <a:avLst/>
          </a:prstGeom>
          <a:noFill/>
          <a:ln/>
        </p:spPr>
        <p:txBody>
          <a:bodyPr wrap="square" lIns="6350" tIns="6350" rIns="6350" bIns="6350" rtlCol="0" anchor="ctr"/>
          <a:lstStyle/>
          <a:p>
            <a:pPr marL="0" indent="0" algn="ctr">
              <a:buNone/>
            </a:pPr>
            <a:r>
              <a:rPr lang="en-US" sz="380" b="1" dirty="0">
                <a:solidFill>
                  <a:srgbClr val="5C1E00"/>
                </a:solidFill>
              </a:rPr>
              <a:t>Seg.Contenedores</a:t>
            </a:r>
            <a:endParaRPr lang="en-US" sz="380" dirty="0"/>
          </a:p>
        </p:txBody>
      </p:sp>
      <p:sp>
        <p:nvSpPr>
          <p:cNvPr id="51" name="Shape 49"/>
          <p:cNvSpPr/>
          <p:nvPr/>
        </p:nvSpPr>
        <p:spPr>
          <a:xfrm>
            <a:off x="118872" y="4666488"/>
            <a:ext cx="475488" cy="109728"/>
          </a:xfrm>
          <a:prstGeom prst="rect">
            <a:avLst/>
          </a:prstGeom>
          <a:solidFill>
            <a:srgbClr val="C8C8C8"/>
          </a:solidFill>
          <a:ln w="12700">
            <a:solidFill>
              <a:srgbClr val="C8C8C8"/>
            </a:solidFill>
            <a:prstDash val="solid"/>
          </a:ln>
        </p:spPr>
        <p:txBody>
          <a:bodyPr/>
          <a:lstStyle/>
          <a:p>
            <a:endParaRPr lang="es-ES"/>
          </a:p>
        </p:txBody>
      </p:sp>
      <p:sp>
        <p:nvSpPr>
          <p:cNvPr id="52" name="Text 50"/>
          <p:cNvSpPr/>
          <p:nvPr/>
        </p:nvSpPr>
        <p:spPr>
          <a:xfrm>
            <a:off x="118872" y="466648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VTM</a:t>
            </a:r>
            <a:endParaRPr lang="en-US" sz="400" dirty="0"/>
          </a:p>
        </p:txBody>
      </p:sp>
      <p:sp>
        <p:nvSpPr>
          <p:cNvPr id="53" name="Shape 51"/>
          <p:cNvSpPr/>
          <p:nvPr/>
        </p:nvSpPr>
        <p:spPr>
          <a:xfrm>
            <a:off x="118872" y="4785360"/>
            <a:ext cx="475488" cy="270764"/>
          </a:xfrm>
          <a:prstGeom prst="rect">
            <a:avLst/>
          </a:prstGeom>
          <a:solidFill>
            <a:srgbClr val="F0F0F0"/>
          </a:solidFill>
          <a:ln w="3810">
            <a:solidFill>
              <a:srgbClr val="C8C8C8"/>
            </a:solidFill>
            <a:prstDash val="solid"/>
          </a:ln>
        </p:spPr>
        <p:txBody>
          <a:bodyPr/>
          <a:lstStyle/>
          <a:p>
            <a:endParaRPr lang="es-ES"/>
          </a:p>
        </p:txBody>
      </p:sp>
      <p:sp>
        <p:nvSpPr>
          <p:cNvPr id="54" name="Text 52"/>
          <p:cNvSpPr/>
          <p:nvPr/>
        </p:nvSpPr>
        <p:spPr>
          <a:xfrm>
            <a:off x="118872" y="4785360"/>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Escaneo Vuln.</a:t>
            </a:r>
            <a:endParaRPr lang="en-US" sz="380" dirty="0"/>
          </a:p>
        </p:txBody>
      </p:sp>
      <p:sp>
        <p:nvSpPr>
          <p:cNvPr id="55" name="Shape 53"/>
          <p:cNvSpPr/>
          <p:nvPr/>
        </p:nvSpPr>
        <p:spPr>
          <a:xfrm>
            <a:off x="118872" y="5060696"/>
            <a:ext cx="475488" cy="270764"/>
          </a:xfrm>
          <a:prstGeom prst="rect">
            <a:avLst/>
          </a:prstGeom>
          <a:solidFill>
            <a:srgbClr val="F0F0F0"/>
          </a:solidFill>
          <a:ln w="3810">
            <a:solidFill>
              <a:srgbClr val="C8C8C8"/>
            </a:solidFill>
            <a:prstDash val="solid"/>
          </a:ln>
        </p:spPr>
        <p:txBody>
          <a:bodyPr/>
          <a:lstStyle/>
          <a:p>
            <a:endParaRPr lang="es-ES"/>
          </a:p>
        </p:txBody>
      </p:sp>
      <p:sp>
        <p:nvSpPr>
          <p:cNvPr id="56" name="Text 54"/>
          <p:cNvSpPr/>
          <p:nvPr/>
        </p:nvSpPr>
        <p:spPr>
          <a:xfrm>
            <a:off x="118872" y="5060696"/>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Pen Testing</a:t>
            </a:r>
            <a:endParaRPr lang="en-US" sz="380" dirty="0"/>
          </a:p>
        </p:txBody>
      </p:sp>
      <p:sp>
        <p:nvSpPr>
          <p:cNvPr id="57" name="Shape 55"/>
          <p:cNvSpPr/>
          <p:nvPr/>
        </p:nvSpPr>
        <p:spPr>
          <a:xfrm>
            <a:off x="118872" y="5336032"/>
            <a:ext cx="475488" cy="270764"/>
          </a:xfrm>
          <a:prstGeom prst="rect">
            <a:avLst/>
          </a:prstGeom>
          <a:solidFill>
            <a:srgbClr val="F0F0F0"/>
          </a:solidFill>
          <a:ln w="3810">
            <a:solidFill>
              <a:srgbClr val="C8C8C8"/>
            </a:solidFill>
            <a:prstDash val="solid"/>
          </a:ln>
        </p:spPr>
        <p:txBody>
          <a:bodyPr/>
          <a:lstStyle/>
          <a:p>
            <a:endParaRPr lang="es-ES"/>
          </a:p>
        </p:txBody>
      </p:sp>
      <p:sp>
        <p:nvSpPr>
          <p:cNvPr id="58" name="Text 56"/>
          <p:cNvSpPr/>
          <p:nvPr/>
        </p:nvSpPr>
        <p:spPr>
          <a:xfrm>
            <a:off x="118872" y="5336032"/>
            <a:ext cx="475488" cy="270764"/>
          </a:xfrm>
          <a:prstGeom prst="rect">
            <a:avLst/>
          </a:prstGeom>
          <a:noFill/>
          <a:ln/>
        </p:spPr>
        <p:txBody>
          <a:bodyPr wrap="square" lIns="6350" tIns="6350" rIns="6350" bIns="6350" rtlCol="0" anchor="ctr"/>
          <a:lstStyle/>
          <a:p>
            <a:pPr marL="0" indent="0" algn="ctr">
              <a:buNone/>
            </a:pPr>
            <a:r>
              <a:rPr lang="en-US" sz="380" dirty="0">
                <a:solidFill>
                  <a:srgbClr val="909090"/>
                </a:solidFill>
              </a:rPr>
              <a:t>Políticas Seg.Base</a:t>
            </a:r>
            <a:endParaRPr lang="en-US" sz="380" dirty="0"/>
          </a:p>
        </p:txBody>
      </p:sp>
      <p:sp>
        <p:nvSpPr>
          <p:cNvPr id="59" name="Shape 57"/>
          <p:cNvSpPr/>
          <p:nvPr/>
        </p:nvSpPr>
        <p:spPr>
          <a:xfrm>
            <a:off x="118872" y="5611368"/>
            <a:ext cx="475488" cy="109728"/>
          </a:xfrm>
          <a:prstGeom prst="rect">
            <a:avLst/>
          </a:prstGeom>
          <a:solidFill>
            <a:srgbClr val="FF6B00"/>
          </a:solidFill>
          <a:ln w="12700">
            <a:solidFill>
              <a:srgbClr val="FF6B00"/>
            </a:solidFill>
            <a:prstDash val="solid"/>
          </a:ln>
        </p:spPr>
        <p:txBody>
          <a:bodyPr/>
          <a:lstStyle/>
          <a:p>
            <a:endParaRPr lang="es-ES"/>
          </a:p>
        </p:txBody>
      </p:sp>
      <p:sp>
        <p:nvSpPr>
          <p:cNvPr id="60" name="Text 58"/>
          <p:cNvSpPr/>
          <p:nvPr/>
        </p:nvSpPr>
        <p:spPr>
          <a:xfrm>
            <a:off x="118872" y="56113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Observab.Seg.</a:t>
            </a:r>
            <a:endParaRPr lang="en-US" sz="400" dirty="0"/>
          </a:p>
        </p:txBody>
      </p:sp>
      <p:sp>
        <p:nvSpPr>
          <p:cNvPr id="61" name="Shape 59"/>
          <p:cNvSpPr/>
          <p:nvPr/>
        </p:nvSpPr>
        <p:spPr>
          <a:xfrm>
            <a:off x="118872" y="5730240"/>
            <a:ext cx="475488" cy="408432"/>
          </a:xfrm>
          <a:prstGeom prst="rect">
            <a:avLst/>
          </a:prstGeom>
          <a:solidFill>
            <a:srgbClr val="FFE5C0"/>
          </a:solidFill>
          <a:ln w="12700">
            <a:solidFill>
              <a:srgbClr val="FF6B00"/>
            </a:solidFill>
            <a:prstDash val="solid"/>
          </a:ln>
        </p:spPr>
        <p:txBody>
          <a:bodyPr/>
          <a:lstStyle/>
          <a:p>
            <a:endParaRPr lang="es-ES"/>
          </a:p>
        </p:txBody>
      </p:sp>
      <p:sp>
        <p:nvSpPr>
          <p:cNvPr id="62" name="Text 60"/>
          <p:cNvSpPr/>
          <p:nvPr/>
        </p:nvSpPr>
        <p:spPr>
          <a:xfrm>
            <a:off x="118872" y="5730240"/>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Alertas Seg.</a:t>
            </a:r>
            <a:endParaRPr lang="en-US" sz="380" dirty="0"/>
          </a:p>
        </p:txBody>
      </p:sp>
      <p:sp>
        <p:nvSpPr>
          <p:cNvPr id="63" name="Shape 61"/>
          <p:cNvSpPr/>
          <p:nvPr/>
        </p:nvSpPr>
        <p:spPr>
          <a:xfrm>
            <a:off x="118872" y="6143244"/>
            <a:ext cx="475488" cy="408432"/>
          </a:xfrm>
          <a:prstGeom prst="rect">
            <a:avLst/>
          </a:prstGeom>
          <a:solidFill>
            <a:srgbClr val="FFE5C0"/>
          </a:solidFill>
          <a:ln w="12700">
            <a:solidFill>
              <a:srgbClr val="FF6B00"/>
            </a:solidFill>
            <a:prstDash val="solid"/>
          </a:ln>
        </p:spPr>
        <p:txBody>
          <a:bodyPr/>
          <a:lstStyle/>
          <a:p>
            <a:endParaRPr lang="es-ES"/>
          </a:p>
        </p:txBody>
      </p:sp>
      <p:sp>
        <p:nvSpPr>
          <p:cNvPr id="64" name="Text 62"/>
          <p:cNvSpPr/>
          <p:nvPr/>
        </p:nvSpPr>
        <p:spPr>
          <a:xfrm>
            <a:off x="118872" y="6143244"/>
            <a:ext cx="475488" cy="408432"/>
          </a:xfrm>
          <a:prstGeom prst="rect">
            <a:avLst/>
          </a:prstGeom>
          <a:noFill/>
          <a:ln/>
        </p:spPr>
        <p:txBody>
          <a:bodyPr wrap="square" lIns="6350" tIns="6350" rIns="6350" bIns="6350" rtlCol="0" anchor="ctr"/>
          <a:lstStyle/>
          <a:p>
            <a:pPr marL="0" indent="0" algn="ctr">
              <a:buNone/>
            </a:pPr>
            <a:r>
              <a:rPr lang="en-US" sz="380" b="1" dirty="0">
                <a:solidFill>
                  <a:srgbClr val="5C1E00"/>
                </a:solidFill>
              </a:rPr>
              <a:t>Resp.Incidentes</a:t>
            </a:r>
            <a:endParaRPr lang="en-US" sz="380" dirty="0"/>
          </a:p>
        </p:txBody>
      </p:sp>
      <p:sp>
        <p:nvSpPr>
          <p:cNvPr id="65" name="Shape 63"/>
          <p:cNvSpPr/>
          <p:nvPr/>
        </p:nvSpPr>
        <p:spPr>
          <a:xfrm>
            <a:off x="630936" y="685800"/>
            <a:ext cx="493776" cy="5925312"/>
          </a:xfrm>
          <a:prstGeom prst="rect">
            <a:avLst/>
          </a:prstGeom>
          <a:solidFill>
            <a:srgbClr val="FFF4E0"/>
          </a:solidFill>
          <a:ln w="19050">
            <a:solidFill>
              <a:srgbClr val="E08800"/>
            </a:solidFill>
            <a:prstDash val="solid"/>
          </a:ln>
        </p:spPr>
        <p:txBody>
          <a:bodyPr/>
          <a:lstStyle/>
          <a:p>
            <a:endParaRPr lang="es-ES"/>
          </a:p>
        </p:txBody>
      </p:sp>
      <p:sp>
        <p:nvSpPr>
          <p:cNvPr id="66" name="Shape 64"/>
          <p:cNvSpPr/>
          <p:nvPr/>
        </p:nvSpPr>
        <p:spPr>
          <a:xfrm>
            <a:off x="630936" y="685800"/>
            <a:ext cx="493776" cy="182880"/>
          </a:xfrm>
          <a:prstGeom prst="rect">
            <a:avLst/>
          </a:prstGeom>
          <a:solidFill>
            <a:srgbClr val="A100FF"/>
          </a:solidFill>
          <a:ln w="12700">
            <a:solidFill>
              <a:srgbClr val="A100FF"/>
            </a:solidFill>
            <a:prstDash val="solid"/>
          </a:ln>
        </p:spPr>
        <p:txBody>
          <a:bodyPr/>
          <a:lstStyle/>
          <a:p>
            <a:endParaRPr lang="es-ES"/>
          </a:p>
        </p:txBody>
      </p:sp>
      <p:sp>
        <p:nvSpPr>
          <p:cNvPr id="67" name="Shape 65"/>
          <p:cNvSpPr/>
          <p:nvPr/>
        </p:nvSpPr>
        <p:spPr>
          <a:xfrm>
            <a:off x="640080"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68" name="Text 66"/>
          <p:cNvSpPr/>
          <p:nvPr/>
        </p:nvSpPr>
        <p:spPr>
          <a:xfrm>
            <a:off x="640080"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69" name="Text 67"/>
          <p:cNvSpPr/>
          <p:nvPr/>
        </p:nvSpPr>
        <p:spPr>
          <a:xfrm>
            <a:off x="804672" y="685800"/>
            <a:ext cx="301752" cy="182880"/>
          </a:xfrm>
          <a:prstGeom prst="rect">
            <a:avLst/>
          </a:prstGeom>
          <a:noFill/>
          <a:ln/>
        </p:spPr>
        <p:txBody>
          <a:bodyPr wrap="square" rtlCol="0" anchor="ctr"/>
          <a:lstStyle/>
          <a:p>
            <a:pPr marL="0" indent="0" algn="ctr">
              <a:buNone/>
            </a:pPr>
            <a:r>
              <a:rPr lang="en-US" sz="500" b="1" dirty="0">
                <a:solidFill>
                  <a:srgbClr val="FFFFFF"/>
                </a:solidFill>
              </a:rPr>
              <a:t>Observ.</a:t>
            </a:r>
            <a:endParaRPr lang="en-US" sz="500" dirty="0"/>
          </a:p>
        </p:txBody>
      </p:sp>
      <p:sp>
        <p:nvSpPr>
          <p:cNvPr id="70" name="Shape 68"/>
          <p:cNvSpPr/>
          <p:nvPr/>
        </p:nvSpPr>
        <p:spPr>
          <a:xfrm>
            <a:off x="877824"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71" name="Text 69"/>
          <p:cNvSpPr/>
          <p:nvPr/>
        </p:nvSpPr>
        <p:spPr>
          <a:xfrm>
            <a:off x="877824"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72" name="Shape 70"/>
          <p:cNvSpPr/>
          <p:nvPr/>
        </p:nvSpPr>
        <p:spPr>
          <a:xfrm>
            <a:off x="640080" y="886968"/>
            <a:ext cx="475488" cy="109728"/>
          </a:xfrm>
          <a:prstGeom prst="rect">
            <a:avLst/>
          </a:prstGeom>
          <a:solidFill>
            <a:srgbClr val="FF6B00"/>
          </a:solidFill>
          <a:ln w="12700">
            <a:solidFill>
              <a:srgbClr val="FF6B00"/>
            </a:solidFill>
            <a:prstDash val="solid"/>
          </a:ln>
        </p:spPr>
        <p:txBody>
          <a:bodyPr/>
          <a:lstStyle/>
          <a:p>
            <a:endParaRPr lang="es-ES"/>
          </a:p>
        </p:txBody>
      </p:sp>
      <p:sp>
        <p:nvSpPr>
          <p:cNvPr id="73" name="Text 71"/>
          <p:cNvSpPr/>
          <p:nvPr/>
        </p:nvSpPr>
        <p:spPr>
          <a:xfrm>
            <a:off x="640080" y="88696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t>
            </a:r>
            <a:endParaRPr lang="en-US" sz="400" dirty="0"/>
          </a:p>
        </p:txBody>
      </p:sp>
      <p:sp>
        <p:nvSpPr>
          <p:cNvPr id="74" name="Shape 72"/>
          <p:cNvSpPr/>
          <p:nvPr/>
        </p:nvSpPr>
        <p:spPr>
          <a:xfrm>
            <a:off x="640080" y="1005840"/>
            <a:ext cx="475488" cy="249631"/>
          </a:xfrm>
          <a:prstGeom prst="rect">
            <a:avLst/>
          </a:prstGeom>
          <a:solidFill>
            <a:srgbClr val="FFE5C0"/>
          </a:solidFill>
          <a:ln w="12700">
            <a:solidFill>
              <a:srgbClr val="FF6B00"/>
            </a:solidFill>
            <a:prstDash val="solid"/>
          </a:ln>
        </p:spPr>
        <p:txBody>
          <a:bodyPr/>
          <a:lstStyle/>
          <a:p>
            <a:endParaRPr lang="es-ES"/>
          </a:p>
        </p:txBody>
      </p:sp>
      <p:sp>
        <p:nvSpPr>
          <p:cNvPr id="75" name="Text 73"/>
          <p:cNvSpPr/>
          <p:nvPr/>
        </p:nvSpPr>
        <p:spPr>
          <a:xfrm>
            <a:off x="640080" y="1005840"/>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Salud</a:t>
            </a:r>
            <a:endParaRPr lang="en-US" sz="380" dirty="0"/>
          </a:p>
        </p:txBody>
      </p:sp>
      <p:sp>
        <p:nvSpPr>
          <p:cNvPr id="76" name="Shape 74"/>
          <p:cNvSpPr/>
          <p:nvPr/>
        </p:nvSpPr>
        <p:spPr>
          <a:xfrm>
            <a:off x="640080" y="1260043"/>
            <a:ext cx="475488" cy="249631"/>
          </a:xfrm>
          <a:prstGeom prst="rect">
            <a:avLst/>
          </a:prstGeom>
          <a:solidFill>
            <a:srgbClr val="FFE5C0"/>
          </a:solidFill>
          <a:ln w="12700">
            <a:solidFill>
              <a:srgbClr val="FF6B00"/>
            </a:solidFill>
            <a:prstDash val="solid"/>
          </a:ln>
        </p:spPr>
        <p:txBody>
          <a:bodyPr/>
          <a:lstStyle/>
          <a:p>
            <a:endParaRPr lang="es-ES"/>
          </a:p>
        </p:txBody>
      </p:sp>
      <p:sp>
        <p:nvSpPr>
          <p:cNvPr id="77" name="Text 75"/>
          <p:cNvSpPr/>
          <p:nvPr/>
        </p:nvSpPr>
        <p:spPr>
          <a:xfrm>
            <a:off x="640080" y="1260043"/>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APIs/Disponib.</a:t>
            </a:r>
            <a:endParaRPr lang="en-US" sz="380" dirty="0"/>
          </a:p>
        </p:txBody>
      </p:sp>
      <p:sp>
        <p:nvSpPr>
          <p:cNvPr id="78" name="Shape 76"/>
          <p:cNvSpPr/>
          <p:nvPr/>
        </p:nvSpPr>
        <p:spPr>
          <a:xfrm>
            <a:off x="640080" y="1514246"/>
            <a:ext cx="475488" cy="249631"/>
          </a:xfrm>
          <a:prstGeom prst="rect">
            <a:avLst/>
          </a:prstGeom>
          <a:solidFill>
            <a:srgbClr val="FFE5C0"/>
          </a:solidFill>
          <a:ln w="12700">
            <a:solidFill>
              <a:srgbClr val="FF6B00"/>
            </a:solidFill>
            <a:prstDash val="solid"/>
          </a:ln>
        </p:spPr>
        <p:txBody>
          <a:bodyPr/>
          <a:lstStyle/>
          <a:p>
            <a:endParaRPr lang="es-ES"/>
          </a:p>
        </p:txBody>
      </p:sp>
      <p:sp>
        <p:nvSpPr>
          <p:cNvPr id="79" name="Text 77"/>
          <p:cNvSpPr/>
          <p:nvPr/>
        </p:nvSpPr>
        <p:spPr>
          <a:xfrm>
            <a:off x="640080" y="1514246"/>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Alertas</a:t>
            </a:r>
            <a:endParaRPr lang="en-US" sz="380" dirty="0"/>
          </a:p>
        </p:txBody>
      </p:sp>
      <p:sp>
        <p:nvSpPr>
          <p:cNvPr id="80" name="Shape 78"/>
          <p:cNvSpPr/>
          <p:nvPr/>
        </p:nvSpPr>
        <p:spPr>
          <a:xfrm>
            <a:off x="640080" y="1768450"/>
            <a:ext cx="475488" cy="249631"/>
          </a:xfrm>
          <a:prstGeom prst="rect">
            <a:avLst/>
          </a:prstGeom>
          <a:solidFill>
            <a:srgbClr val="FFE5C0"/>
          </a:solidFill>
          <a:ln w="12700">
            <a:solidFill>
              <a:srgbClr val="FF6B00"/>
            </a:solidFill>
            <a:prstDash val="solid"/>
          </a:ln>
        </p:spPr>
        <p:txBody>
          <a:bodyPr/>
          <a:lstStyle/>
          <a:p>
            <a:endParaRPr lang="es-ES"/>
          </a:p>
        </p:txBody>
      </p:sp>
      <p:sp>
        <p:nvSpPr>
          <p:cNvPr id="81" name="Text 79"/>
          <p:cNvSpPr/>
          <p:nvPr/>
        </p:nvSpPr>
        <p:spPr>
          <a:xfrm>
            <a:off x="640080" y="1768450"/>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Capacidad</a:t>
            </a:r>
            <a:endParaRPr lang="en-US" sz="380" dirty="0"/>
          </a:p>
        </p:txBody>
      </p:sp>
      <p:sp>
        <p:nvSpPr>
          <p:cNvPr id="82" name="Shape 80"/>
          <p:cNvSpPr/>
          <p:nvPr/>
        </p:nvSpPr>
        <p:spPr>
          <a:xfrm>
            <a:off x="640080" y="2022653"/>
            <a:ext cx="475488" cy="109728"/>
          </a:xfrm>
          <a:prstGeom prst="rect">
            <a:avLst/>
          </a:prstGeom>
          <a:solidFill>
            <a:srgbClr val="E08800"/>
          </a:solidFill>
          <a:ln w="12700">
            <a:solidFill>
              <a:srgbClr val="E08800"/>
            </a:solidFill>
            <a:prstDash val="solid"/>
          </a:ln>
        </p:spPr>
        <p:txBody>
          <a:bodyPr/>
          <a:lstStyle/>
          <a:p>
            <a:endParaRPr lang="es-ES"/>
          </a:p>
        </p:txBody>
      </p:sp>
      <p:sp>
        <p:nvSpPr>
          <p:cNvPr id="83" name="Text 81"/>
          <p:cNvSpPr/>
          <p:nvPr/>
        </p:nvSpPr>
        <p:spPr>
          <a:xfrm>
            <a:off x="640080" y="2022653"/>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Logging</a:t>
            </a:r>
            <a:endParaRPr lang="en-US" sz="400" dirty="0"/>
          </a:p>
        </p:txBody>
      </p:sp>
      <p:sp>
        <p:nvSpPr>
          <p:cNvPr id="84" name="Shape 82"/>
          <p:cNvSpPr/>
          <p:nvPr/>
        </p:nvSpPr>
        <p:spPr>
          <a:xfrm>
            <a:off x="640080" y="2141525"/>
            <a:ext cx="475488" cy="249631"/>
          </a:xfrm>
          <a:prstGeom prst="rect">
            <a:avLst/>
          </a:prstGeom>
          <a:solidFill>
            <a:srgbClr val="F0F0F0"/>
          </a:solidFill>
          <a:ln w="3810">
            <a:solidFill>
              <a:srgbClr val="C8C8C8"/>
            </a:solidFill>
            <a:prstDash val="solid"/>
          </a:ln>
        </p:spPr>
        <p:txBody>
          <a:bodyPr/>
          <a:lstStyle/>
          <a:p>
            <a:endParaRPr lang="es-ES"/>
          </a:p>
        </p:txBody>
      </p:sp>
      <p:sp>
        <p:nvSpPr>
          <p:cNvPr id="85" name="Text 83"/>
          <p:cNvSpPr/>
          <p:nvPr/>
        </p:nvSpPr>
        <p:spPr>
          <a:xfrm>
            <a:off x="640080" y="2141525"/>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Agreg.Logs</a:t>
            </a:r>
            <a:endParaRPr lang="en-US" sz="380" dirty="0"/>
          </a:p>
        </p:txBody>
      </p:sp>
      <p:sp>
        <p:nvSpPr>
          <p:cNvPr id="86" name="Shape 84"/>
          <p:cNvSpPr/>
          <p:nvPr/>
        </p:nvSpPr>
        <p:spPr>
          <a:xfrm>
            <a:off x="640080" y="2395728"/>
            <a:ext cx="475488" cy="249631"/>
          </a:xfrm>
          <a:prstGeom prst="rect">
            <a:avLst/>
          </a:prstGeom>
          <a:solidFill>
            <a:srgbClr val="F0F0F0"/>
          </a:solidFill>
          <a:ln w="3810">
            <a:solidFill>
              <a:srgbClr val="C8C8C8"/>
            </a:solidFill>
            <a:prstDash val="solid"/>
          </a:ln>
        </p:spPr>
        <p:txBody>
          <a:bodyPr/>
          <a:lstStyle/>
          <a:p>
            <a:endParaRPr lang="es-ES"/>
          </a:p>
        </p:txBody>
      </p:sp>
      <p:sp>
        <p:nvSpPr>
          <p:cNvPr id="87" name="Text 85"/>
          <p:cNvSpPr/>
          <p:nvPr/>
        </p:nvSpPr>
        <p:spPr>
          <a:xfrm>
            <a:off x="640080" y="2395728"/>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Reg.Operativo</a:t>
            </a:r>
            <a:endParaRPr lang="en-US" sz="380" dirty="0"/>
          </a:p>
        </p:txBody>
      </p:sp>
      <p:sp>
        <p:nvSpPr>
          <p:cNvPr id="88" name="Shape 86"/>
          <p:cNvSpPr/>
          <p:nvPr/>
        </p:nvSpPr>
        <p:spPr>
          <a:xfrm>
            <a:off x="640080" y="2649931"/>
            <a:ext cx="475488" cy="249631"/>
          </a:xfrm>
          <a:prstGeom prst="rect">
            <a:avLst/>
          </a:prstGeom>
          <a:solidFill>
            <a:srgbClr val="FFE5C0"/>
          </a:solidFill>
          <a:ln w="12700">
            <a:solidFill>
              <a:srgbClr val="FF6B00"/>
            </a:solidFill>
            <a:prstDash val="solid"/>
          </a:ln>
        </p:spPr>
        <p:txBody>
          <a:bodyPr/>
          <a:lstStyle/>
          <a:p>
            <a:endParaRPr lang="es-ES"/>
          </a:p>
        </p:txBody>
      </p:sp>
      <p:sp>
        <p:nvSpPr>
          <p:cNvPr id="89" name="Text 87"/>
          <p:cNvSpPr/>
          <p:nvPr/>
        </p:nvSpPr>
        <p:spPr>
          <a:xfrm>
            <a:off x="640080" y="2649931"/>
            <a:ext cx="475488" cy="249631"/>
          </a:xfrm>
          <a:prstGeom prst="rect">
            <a:avLst/>
          </a:prstGeom>
          <a:noFill/>
          <a:ln/>
        </p:spPr>
        <p:txBody>
          <a:bodyPr wrap="square" lIns="6350" tIns="6350" rIns="6350" bIns="6350" rtlCol="0" anchor="ctr"/>
          <a:lstStyle/>
          <a:p>
            <a:pPr marL="0" indent="0" algn="ctr">
              <a:buNone/>
            </a:pPr>
            <a:r>
              <a:rPr lang="en-US" sz="380" b="1" dirty="0">
                <a:solidFill>
                  <a:srgbClr val="5C1E00"/>
                </a:solidFill>
              </a:rPr>
              <a:t>Auditoría</a:t>
            </a:r>
            <a:endParaRPr lang="en-US" sz="380" dirty="0"/>
          </a:p>
        </p:txBody>
      </p:sp>
      <p:sp>
        <p:nvSpPr>
          <p:cNvPr id="90" name="Shape 88"/>
          <p:cNvSpPr/>
          <p:nvPr/>
        </p:nvSpPr>
        <p:spPr>
          <a:xfrm>
            <a:off x="640080" y="2904134"/>
            <a:ext cx="475488" cy="249631"/>
          </a:xfrm>
          <a:prstGeom prst="rect">
            <a:avLst/>
          </a:prstGeom>
          <a:solidFill>
            <a:srgbClr val="F0F0F0"/>
          </a:solidFill>
          <a:ln w="3810">
            <a:solidFill>
              <a:srgbClr val="C8C8C8"/>
            </a:solidFill>
            <a:prstDash val="solid"/>
          </a:ln>
        </p:spPr>
        <p:txBody>
          <a:bodyPr/>
          <a:lstStyle/>
          <a:p>
            <a:endParaRPr lang="es-ES"/>
          </a:p>
        </p:txBody>
      </p:sp>
      <p:sp>
        <p:nvSpPr>
          <p:cNvPr id="91" name="Text 89"/>
          <p:cNvSpPr/>
          <p:nvPr/>
        </p:nvSpPr>
        <p:spPr>
          <a:xfrm>
            <a:off x="640080" y="2904134"/>
            <a:ext cx="475488" cy="249631"/>
          </a:xfrm>
          <a:prstGeom prst="rect">
            <a:avLst/>
          </a:prstGeom>
          <a:noFill/>
          <a:ln/>
        </p:spPr>
        <p:txBody>
          <a:bodyPr wrap="square" lIns="6350" tIns="6350" rIns="6350" bIns="6350" rtlCol="0" anchor="ctr"/>
          <a:lstStyle/>
          <a:p>
            <a:pPr marL="0" indent="0" algn="ctr">
              <a:buNone/>
            </a:pPr>
            <a:r>
              <a:rPr lang="en-US" sz="380" dirty="0">
                <a:solidFill>
                  <a:srgbClr val="909090"/>
                </a:solidFill>
              </a:rPr>
              <a:t>Retención</a:t>
            </a:r>
            <a:endParaRPr lang="en-US" sz="380" dirty="0"/>
          </a:p>
        </p:txBody>
      </p:sp>
      <p:sp>
        <p:nvSpPr>
          <p:cNvPr id="92" name="Shape 90"/>
          <p:cNvSpPr/>
          <p:nvPr/>
        </p:nvSpPr>
        <p:spPr>
          <a:xfrm>
            <a:off x="640080" y="3158338"/>
            <a:ext cx="475488" cy="109728"/>
          </a:xfrm>
          <a:prstGeom prst="rect">
            <a:avLst/>
          </a:prstGeom>
          <a:solidFill>
            <a:srgbClr val="FF6B00"/>
          </a:solidFill>
          <a:ln w="12700">
            <a:solidFill>
              <a:srgbClr val="FF6B00"/>
            </a:solidFill>
            <a:prstDash val="solid"/>
          </a:ln>
        </p:spPr>
        <p:txBody>
          <a:bodyPr/>
          <a:lstStyle/>
          <a:p>
            <a:endParaRPr lang="es-ES"/>
          </a:p>
        </p:txBody>
      </p:sp>
      <p:sp>
        <p:nvSpPr>
          <p:cNvPr id="93" name="Text 91"/>
          <p:cNvSpPr/>
          <p:nvPr/>
        </p:nvSpPr>
        <p:spPr>
          <a:xfrm>
            <a:off x="640080" y="3158338"/>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Trazado</a:t>
            </a:r>
            <a:endParaRPr lang="en-US" sz="400" dirty="0"/>
          </a:p>
        </p:txBody>
      </p:sp>
      <p:sp>
        <p:nvSpPr>
          <p:cNvPr id="94" name="Shape 92"/>
          <p:cNvSpPr/>
          <p:nvPr/>
        </p:nvSpPr>
        <p:spPr>
          <a:xfrm>
            <a:off x="640080" y="3277210"/>
            <a:ext cx="475488" cy="503834"/>
          </a:xfrm>
          <a:prstGeom prst="rect">
            <a:avLst/>
          </a:prstGeom>
          <a:solidFill>
            <a:srgbClr val="FFE5C0"/>
          </a:solidFill>
          <a:ln w="12700">
            <a:solidFill>
              <a:srgbClr val="FF6B00"/>
            </a:solidFill>
            <a:prstDash val="solid"/>
          </a:ln>
        </p:spPr>
        <p:txBody>
          <a:bodyPr/>
          <a:lstStyle/>
          <a:p>
            <a:endParaRPr lang="es-ES"/>
          </a:p>
        </p:txBody>
      </p:sp>
      <p:sp>
        <p:nvSpPr>
          <p:cNvPr id="95" name="Text 93"/>
          <p:cNvSpPr/>
          <p:nvPr/>
        </p:nvSpPr>
        <p:spPr>
          <a:xfrm>
            <a:off x="640080" y="3277210"/>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Trazado Distribuido</a:t>
            </a:r>
            <a:endParaRPr lang="en-US" sz="380" dirty="0"/>
          </a:p>
        </p:txBody>
      </p:sp>
      <p:sp>
        <p:nvSpPr>
          <p:cNvPr id="96" name="Shape 94"/>
          <p:cNvSpPr/>
          <p:nvPr/>
        </p:nvSpPr>
        <p:spPr>
          <a:xfrm>
            <a:off x="640080" y="3785616"/>
            <a:ext cx="475488" cy="503834"/>
          </a:xfrm>
          <a:prstGeom prst="rect">
            <a:avLst/>
          </a:prstGeom>
          <a:solidFill>
            <a:srgbClr val="FFE5C0"/>
          </a:solidFill>
          <a:ln w="12700">
            <a:solidFill>
              <a:srgbClr val="FF6B00"/>
            </a:solidFill>
            <a:prstDash val="solid"/>
          </a:ln>
        </p:spPr>
        <p:txBody>
          <a:bodyPr/>
          <a:lstStyle/>
          <a:p>
            <a:endParaRPr lang="es-ES"/>
          </a:p>
        </p:txBody>
      </p:sp>
      <p:sp>
        <p:nvSpPr>
          <p:cNvPr id="97" name="Text 95"/>
          <p:cNvSpPr/>
          <p:nvPr/>
        </p:nvSpPr>
        <p:spPr>
          <a:xfrm>
            <a:off x="640080" y="3785616"/>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Trazado E2E</a:t>
            </a:r>
            <a:endParaRPr lang="en-US" sz="380" dirty="0"/>
          </a:p>
        </p:txBody>
      </p:sp>
      <p:sp>
        <p:nvSpPr>
          <p:cNvPr id="98" name="Shape 96"/>
          <p:cNvSpPr/>
          <p:nvPr/>
        </p:nvSpPr>
        <p:spPr>
          <a:xfrm>
            <a:off x="640080" y="4294022"/>
            <a:ext cx="475488" cy="109728"/>
          </a:xfrm>
          <a:prstGeom prst="rect">
            <a:avLst/>
          </a:prstGeom>
          <a:solidFill>
            <a:srgbClr val="C8C8C8"/>
          </a:solidFill>
          <a:ln w="12700">
            <a:solidFill>
              <a:srgbClr val="C8C8C8"/>
            </a:solidFill>
            <a:prstDash val="solid"/>
          </a:ln>
        </p:spPr>
        <p:txBody>
          <a:bodyPr/>
          <a:lstStyle/>
          <a:p>
            <a:endParaRPr lang="es-ES"/>
          </a:p>
        </p:txBody>
      </p:sp>
      <p:sp>
        <p:nvSpPr>
          <p:cNvPr id="99" name="Text 97"/>
          <p:cNvSpPr/>
          <p:nvPr/>
        </p:nvSpPr>
        <p:spPr>
          <a:xfrm>
            <a:off x="640080" y="4294022"/>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Métr.&amp;Analít.</a:t>
            </a:r>
            <a:endParaRPr lang="en-US" sz="400" dirty="0"/>
          </a:p>
        </p:txBody>
      </p:sp>
      <p:sp>
        <p:nvSpPr>
          <p:cNvPr id="100" name="Shape 98"/>
          <p:cNvSpPr/>
          <p:nvPr/>
        </p:nvSpPr>
        <p:spPr>
          <a:xfrm>
            <a:off x="640080" y="4412894"/>
            <a:ext cx="475488" cy="503834"/>
          </a:xfrm>
          <a:prstGeom prst="rect">
            <a:avLst/>
          </a:prstGeom>
          <a:solidFill>
            <a:srgbClr val="F0F0F0"/>
          </a:solidFill>
          <a:ln w="3810">
            <a:solidFill>
              <a:srgbClr val="C8C8C8"/>
            </a:solidFill>
            <a:prstDash val="solid"/>
          </a:ln>
        </p:spPr>
        <p:txBody>
          <a:bodyPr/>
          <a:lstStyle/>
          <a:p>
            <a:endParaRPr lang="es-ES"/>
          </a:p>
        </p:txBody>
      </p:sp>
      <p:sp>
        <p:nvSpPr>
          <p:cNvPr id="101" name="Text 99"/>
          <p:cNvSpPr/>
          <p:nvPr/>
        </p:nvSpPr>
        <p:spPr>
          <a:xfrm>
            <a:off x="640080" y="4412894"/>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Métricas y Analítica</a:t>
            </a:r>
            <a:endParaRPr lang="en-US" sz="380" dirty="0"/>
          </a:p>
        </p:txBody>
      </p:sp>
      <p:sp>
        <p:nvSpPr>
          <p:cNvPr id="102" name="Shape 100"/>
          <p:cNvSpPr/>
          <p:nvPr/>
        </p:nvSpPr>
        <p:spPr>
          <a:xfrm>
            <a:off x="640080" y="4921301"/>
            <a:ext cx="475488" cy="503834"/>
          </a:xfrm>
          <a:prstGeom prst="rect">
            <a:avLst/>
          </a:prstGeom>
          <a:solidFill>
            <a:srgbClr val="F0F0F0"/>
          </a:solidFill>
          <a:ln w="3810">
            <a:solidFill>
              <a:srgbClr val="C8C8C8"/>
            </a:solidFill>
            <a:prstDash val="solid"/>
          </a:ln>
        </p:spPr>
        <p:txBody>
          <a:bodyPr/>
          <a:lstStyle/>
          <a:p>
            <a:endParaRPr lang="es-ES"/>
          </a:p>
        </p:txBody>
      </p:sp>
      <p:sp>
        <p:nvSpPr>
          <p:cNvPr id="103" name="Text 101"/>
          <p:cNvSpPr/>
          <p:nvPr/>
        </p:nvSpPr>
        <p:spPr>
          <a:xfrm>
            <a:off x="640080" y="4921301"/>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Reportes</a:t>
            </a:r>
            <a:endParaRPr lang="en-US" sz="380" dirty="0"/>
          </a:p>
        </p:txBody>
      </p:sp>
      <p:sp>
        <p:nvSpPr>
          <p:cNvPr id="104" name="Shape 102"/>
          <p:cNvSpPr/>
          <p:nvPr/>
        </p:nvSpPr>
        <p:spPr>
          <a:xfrm>
            <a:off x="640080" y="5429707"/>
            <a:ext cx="475488" cy="109728"/>
          </a:xfrm>
          <a:prstGeom prst="rect">
            <a:avLst/>
          </a:prstGeom>
          <a:solidFill>
            <a:srgbClr val="E08800"/>
          </a:solidFill>
          <a:ln w="12700">
            <a:solidFill>
              <a:srgbClr val="E08800"/>
            </a:solidFill>
            <a:prstDash val="solid"/>
          </a:ln>
        </p:spPr>
        <p:txBody>
          <a:bodyPr/>
          <a:lstStyle/>
          <a:p>
            <a:endParaRPr lang="es-ES"/>
          </a:p>
        </p:txBody>
      </p:sp>
      <p:sp>
        <p:nvSpPr>
          <p:cNvPr id="105" name="Text 103"/>
          <p:cNvSpPr/>
          <p:nvPr/>
        </p:nvSpPr>
        <p:spPr>
          <a:xfrm>
            <a:off x="640080" y="5429707"/>
            <a:ext cx="475488"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Paneles</a:t>
            </a:r>
            <a:endParaRPr lang="en-US" sz="400" dirty="0"/>
          </a:p>
        </p:txBody>
      </p:sp>
      <p:sp>
        <p:nvSpPr>
          <p:cNvPr id="106" name="Shape 104"/>
          <p:cNvSpPr/>
          <p:nvPr/>
        </p:nvSpPr>
        <p:spPr>
          <a:xfrm>
            <a:off x="640080" y="5548579"/>
            <a:ext cx="475488" cy="503834"/>
          </a:xfrm>
          <a:prstGeom prst="rect">
            <a:avLst/>
          </a:prstGeom>
          <a:solidFill>
            <a:srgbClr val="F0F0F0"/>
          </a:solidFill>
          <a:ln w="3810">
            <a:solidFill>
              <a:srgbClr val="C8C8C8"/>
            </a:solidFill>
            <a:prstDash val="solid"/>
          </a:ln>
        </p:spPr>
        <p:txBody>
          <a:bodyPr/>
          <a:lstStyle/>
          <a:p>
            <a:endParaRPr lang="es-ES"/>
          </a:p>
        </p:txBody>
      </p:sp>
      <p:sp>
        <p:nvSpPr>
          <p:cNvPr id="107" name="Text 105"/>
          <p:cNvSpPr/>
          <p:nvPr/>
        </p:nvSpPr>
        <p:spPr>
          <a:xfrm>
            <a:off x="640080" y="5548579"/>
            <a:ext cx="47548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Paneles Técnicos</a:t>
            </a:r>
            <a:endParaRPr lang="en-US" sz="380" dirty="0"/>
          </a:p>
        </p:txBody>
      </p:sp>
      <p:sp>
        <p:nvSpPr>
          <p:cNvPr id="108" name="Shape 106"/>
          <p:cNvSpPr/>
          <p:nvPr/>
        </p:nvSpPr>
        <p:spPr>
          <a:xfrm>
            <a:off x="640080" y="6056986"/>
            <a:ext cx="475488" cy="503834"/>
          </a:xfrm>
          <a:prstGeom prst="rect">
            <a:avLst/>
          </a:prstGeom>
          <a:solidFill>
            <a:srgbClr val="FFE5C0"/>
          </a:solidFill>
          <a:ln w="12700">
            <a:solidFill>
              <a:srgbClr val="FF6B00"/>
            </a:solidFill>
            <a:prstDash val="solid"/>
          </a:ln>
        </p:spPr>
        <p:txBody>
          <a:bodyPr/>
          <a:lstStyle/>
          <a:p>
            <a:endParaRPr lang="es-ES"/>
          </a:p>
        </p:txBody>
      </p:sp>
      <p:sp>
        <p:nvSpPr>
          <p:cNvPr id="109" name="Text 107"/>
          <p:cNvSpPr/>
          <p:nvPr/>
        </p:nvSpPr>
        <p:spPr>
          <a:xfrm>
            <a:off x="640080" y="6056986"/>
            <a:ext cx="47548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Paneles Empresar.</a:t>
            </a:r>
            <a:endParaRPr lang="en-US" sz="380" dirty="0"/>
          </a:p>
        </p:txBody>
      </p:sp>
      <p:sp>
        <p:nvSpPr>
          <p:cNvPr id="110" name="Shape 108"/>
          <p:cNvSpPr/>
          <p:nvPr/>
        </p:nvSpPr>
        <p:spPr>
          <a:xfrm>
            <a:off x="11027664" y="685800"/>
            <a:ext cx="1051560" cy="5925312"/>
          </a:xfrm>
          <a:prstGeom prst="rect">
            <a:avLst/>
          </a:prstGeom>
          <a:solidFill>
            <a:srgbClr val="FFF4E0"/>
          </a:solidFill>
          <a:ln w="19050">
            <a:solidFill>
              <a:srgbClr val="E08800"/>
            </a:solidFill>
            <a:prstDash val="solid"/>
          </a:ln>
        </p:spPr>
        <p:txBody>
          <a:bodyPr/>
          <a:lstStyle/>
          <a:p>
            <a:endParaRPr lang="es-ES"/>
          </a:p>
        </p:txBody>
      </p:sp>
      <p:sp>
        <p:nvSpPr>
          <p:cNvPr id="111" name="Shape 109"/>
          <p:cNvSpPr/>
          <p:nvPr/>
        </p:nvSpPr>
        <p:spPr>
          <a:xfrm>
            <a:off x="11027664" y="685800"/>
            <a:ext cx="1051560" cy="182880"/>
          </a:xfrm>
          <a:prstGeom prst="rect">
            <a:avLst/>
          </a:prstGeom>
          <a:solidFill>
            <a:srgbClr val="A100FF"/>
          </a:solidFill>
          <a:ln w="12700">
            <a:solidFill>
              <a:srgbClr val="A100FF"/>
            </a:solidFill>
            <a:prstDash val="solid"/>
          </a:ln>
        </p:spPr>
        <p:txBody>
          <a:bodyPr/>
          <a:lstStyle/>
          <a:p>
            <a:endParaRPr lang="es-ES"/>
          </a:p>
        </p:txBody>
      </p:sp>
      <p:sp>
        <p:nvSpPr>
          <p:cNvPr id="112" name="Shape 110"/>
          <p:cNvSpPr/>
          <p:nvPr/>
        </p:nvSpPr>
        <p:spPr>
          <a:xfrm>
            <a:off x="11036808" y="704088"/>
            <a:ext cx="146304" cy="146304"/>
          </a:xfrm>
          <a:prstGeom prst="ellipse">
            <a:avLst/>
          </a:prstGeom>
          <a:solidFill>
            <a:srgbClr val="C00000"/>
          </a:solidFill>
          <a:ln w="12700">
            <a:solidFill>
              <a:srgbClr val="C00000"/>
            </a:solidFill>
            <a:prstDash val="solid"/>
          </a:ln>
        </p:spPr>
        <p:txBody>
          <a:bodyPr/>
          <a:lstStyle/>
          <a:p>
            <a:endParaRPr lang="es-ES"/>
          </a:p>
        </p:txBody>
      </p:sp>
      <p:sp>
        <p:nvSpPr>
          <p:cNvPr id="113" name="Text 111"/>
          <p:cNvSpPr/>
          <p:nvPr/>
        </p:nvSpPr>
        <p:spPr>
          <a:xfrm>
            <a:off x="11036808" y="704088"/>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14" name="Text 112"/>
          <p:cNvSpPr/>
          <p:nvPr/>
        </p:nvSpPr>
        <p:spPr>
          <a:xfrm>
            <a:off x="11201400" y="685800"/>
            <a:ext cx="859536" cy="182880"/>
          </a:xfrm>
          <a:prstGeom prst="rect">
            <a:avLst/>
          </a:prstGeom>
          <a:noFill/>
          <a:ln/>
        </p:spPr>
        <p:txBody>
          <a:bodyPr wrap="square" rtlCol="0" anchor="ctr"/>
          <a:lstStyle/>
          <a:p>
            <a:pPr marL="0" indent="0" algn="ctr">
              <a:buNone/>
            </a:pPr>
            <a:r>
              <a:rPr lang="en-US" sz="500" b="1" dirty="0">
                <a:solidFill>
                  <a:srgbClr val="FFFFFF"/>
                </a:solidFill>
              </a:rPr>
              <a:t>Infraestructura (Pila Tecnológica)</a:t>
            </a:r>
            <a:endParaRPr lang="en-US" sz="500" dirty="0"/>
          </a:p>
        </p:txBody>
      </p:sp>
      <p:sp>
        <p:nvSpPr>
          <p:cNvPr id="115" name="Shape 113"/>
          <p:cNvSpPr/>
          <p:nvPr/>
        </p:nvSpPr>
        <p:spPr>
          <a:xfrm>
            <a:off x="11832336" y="726948"/>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16" name="Text 114"/>
          <p:cNvSpPr/>
          <p:nvPr/>
        </p:nvSpPr>
        <p:spPr>
          <a:xfrm>
            <a:off x="11832336" y="726948"/>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17" name="Shape 115"/>
          <p:cNvSpPr/>
          <p:nvPr/>
        </p:nvSpPr>
        <p:spPr>
          <a:xfrm>
            <a:off x="11036808" y="886968"/>
            <a:ext cx="1033272" cy="109728"/>
          </a:xfrm>
          <a:prstGeom prst="rect">
            <a:avLst/>
          </a:prstGeom>
          <a:solidFill>
            <a:srgbClr val="C8C8C8"/>
          </a:solidFill>
          <a:ln w="12700">
            <a:solidFill>
              <a:srgbClr val="C8C8C8"/>
            </a:solidFill>
            <a:prstDash val="solid"/>
          </a:ln>
        </p:spPr>
        <p:txBody>
          <a:bodyPr/>
          <a:lstStyle/>
          <a:p>
            <a:endParaRPr lang="es-ES"/>
          </a:p>
        </p:txBody>
      </p:sp>
      <p:sp>
        <p:nvSpPr>
          <p:cNvPr id="118" name="Text 116"/>
          <p:cNvSpPr/>
          <p:nvPr/>
        </p:nvSpPr>
        <p:spPr>
          <a:xfrm>
            <a:off x="11036808" y="886968"/>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Microservicios</a:t>
            </a:r>
            <a:endParaRPr lang="en-US" sz="400" dirty="0"/>
          </a:p>
        </p:txBody>
      </p:sp>
      <p:sp>
        <p:nvSpPr>
          <p:cNvPr id="119" name="Shape 117"/>
          <p:cNvSpPr/>
          <p:nvPr/>
        </p:nvSpPr>
        <p:spPr>
          <a:xfrm>
            <a:off x="11036808" y="1005840"/>
            <a:ext cx="498348" cy="334366"/>
          </a:xfrm>
          <a:prstGeom prst="rect">
            <a:avLst/>
          </a:prstGeom>
          <a:solidFill>
            <a:srgbClr val="F0F0F0"/>
          </a:solidFill>
          <a:ln w="3810">
            <a:solidFill>
              <a:srgbClr val="C8C8C8"/>
            </a:solidFill>
            <a:prstDash val="solid"/>
          </a:ln>
        </p:spPr>
        <p:txBody>
          <a:bodyPr/>
          <a:lstStyle/>
          <a:p>
            <a:endParaRPr lang="es-ES"/>
          </a:p>
        </p:txBody>
      </p:sp>
      <p:sp>
        <p:nvSpPr>
          <p:cNvPr id="120" name="Text 118"/>
          <p:cNvSpPr/>
          <p:nvPr/>
        </p:nvSpPr>
        <p:spPr>
          <a:xfrm>
            <a:off x="11036808"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Librerías Base</a:t>
            </a:r>
            <a:endParaRPr lang="en-US" sz="380" dirty="0"/>
          </a:p>
        </p:txBody>
      </p:sp>
      <p:sp>
        <p:nvSpPr>
          <p:cNvPr id="121" name="Shape 119"/>
          <p:cNvSpPr/>
          <p:nvPr/>
        </p:nvSpPr>
        <p:spPr>
          <a:xfrm>
            <a:off x="11036808" y="1344778"/>
            <a:ext cx="498348" cy="334366"/>
          </a:xfrm>
          <a:prstGeom prst="rect">
            <a:avLst/>
          </a:prstGeom>
          <a:solidFill>
            <a:srgbClr val="F0F0F0"/>
          </a:solidFill>
          <a:ln w="3810">
            <a:solidFill>
              <a:srgbClr val="C8C8C8"/>
            </a:solidFill>
            <a:prstDash val="solid"/>
          </a:ln>
        </p:spPr>
        <p:txBody>
          <a:bodyPr/>
          <a:lstStyle/>
          <a:p>
            <a:endParaRPr lang="es-ES"/>
          </a:p>
        </p:txBody>
      </p:sp>
      <p:sp>
        <p:nvSpPr>
          <p:cNvPr id="122" name="Text 120"/>
          <p:cNvSpPr/>
          <p:nvPr/>
        </p:nvSpPr>
        <p:spPr>
          <a:xfrm>
            <a:off x="11036808"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Lenguajes/Runtimes</a:t>
            </a:r>
            <a:endParaRPr lang="en-US" sz="380" dirty="0"/>
          </a:p>
        </p:txBody>
      </p:sp>
      <p:sp>
        <p:nvSpPr>
          <p:cNvPr id="123" name="Shape 121"/>
          <p:cNvSpPr/>
          <p:nvPr/>
        </p:nvSpPr>
        <p:spPr>
          <a:xfrm>
            <a:off x="11036808" y="1683715"/>
            <a:ext cx="498348" cy="334366"/>
          </a:xfrm>
          <a:prstGeom prst="rect">
            <a:avLst/>
          </a:prstGeom>
          <a:solidFill>
            <a:srgbClr val="F0F0F0"/>
          </a:solidFill>
          <a:ln w="3810">
            <a:solidFill>
              <a:srgbClr val="C8C8C8"/>
            </a:solidFill>
            <a:prstDash val="solid"/>
          </a:ln>
        </p:spPr>
        <p:txBody>
          <a:bodyPr/>
          <a:lstStyle/>
          <a:p>
            <a:endParaRPr lang="es-ES"/>
          </a:p>
        </p:txBody>
      </p:sp>
      <p:sp>
        <p:nvSpPr>
          <p:cNvPr id="124" name="Text 122"/>
          <p:cNvSpPr/>
          <p:nvPr/>
        </p:nvSpPr>
        <p:spPr>
          <a:xfrm>
            <a:off x="11036808" y="1683715"/>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Servicios Kernel</a:t>
            </a:r>
            <a:endParaRPr lang="en-US" sz="380" dirty="0"/>
          </a:p>
        </p:txBody>
      </p:sp>
      <p:sp>
        <p:nvSpPr>
          <p:cNvPr id="125" name="Shape 123"/>
          <p:cNvSpPr/>
          <p:nvPr/>
        </p:nvSpPr>
        <p:spPr>
          <a:xfrm>
            <a:off x="11553444" y="1005840"/>
            <a:ext cx="498348" cy="334366"/>
          </a:xfrm>
          <a:prstGeom prst="rect">
            <a:avLst/>
          </a:prstGeom>
          <a:solidFill>
            <a:srgbClr val="F0F0F0"/>
          </a:solidFill>
          <a:ln w="3810">
            <a:solidFill>
              <a:srgbClr val="C8C8C8"/>
            </a:solidFill>
            <a:prstDash val="solid"/>
          </a:ln>
        </p:spPr>
        <p:txBody>
          <a:bodyPr/>
          <a:lstStyle/>
          <a:p>
            <a:endParaRPr lang="es-ES"/>
          </a:p>
        </p:txBody>
      </p:sp>
      <p:sp>
        <p:nvSpPr>
          <p:cNvPr id="126" name="Text 124"/>
          <p:cNvSpPr/>
          <p:nvPr/>
        </p:nvSpPr>
        <p:spPr>
          <a:xfrm>
            <a:off x="11553444" y="1005840"/>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Service Discovery</a:t>
            </a:r>
            <a:endParaRPr lang="en-US" sz="380" dirty="0"/>
          </a:p>
        </p:txBody>
      </p:sp>
      <p:sp>
        <p:nvSpPr>
          <p:cNvPr id="127" name="Shape 125"/>
          <p:cNvSpPr/>
          <p:nvPr/>
        </p:nvSpPr>
        <p:spPr>
          <a:xfrm>
            <a:off x="11553444" y="1344778"/>
            <a:ext cx="498348" cy="334366"/>
          </a:xfrm>
          <a:prstGeom prst="rect">
            <a:avLst/>
          </a:prstGeom>
          <a:solidFill>
            <a:srgbClr val="F0F0F0"/>
          </a:solidFill>
          <a:ln w="3810">
            <a:solidFill>
              <a:srgbClr val="C8C8C8"/>
            </a:solidFill>
            <a:prstDash val="solid"/>
          </a:ln>
        </p:spPr>
        <p:txBody>
          <a:bodyPr/>
          <a:lstStyle/>
          <a:p>
            <a:endParaRPr lang="es-ES"/>
          </a:p>
        </p:txBody>
      </p:sp>
      <p:sp>
        <p:nvSpPr>
          <p:cNvPr id="128" name="Text 126"/>
          <p:cNvSpPr/>
          <p:nvPr/>
        </p:nvSpPr>
        <p:spPr>
          <a:xfrm>
            <a:off x="11553444" y="1344778"/>
            <a:ext cx="498348" cy="334366"/>
          </a:xfrm>
          <a:prstGeom prst="rect">
            <a:avLst/>
          </a:prstGeom>
          <a:noFill/>
          <a:ln/>
        </p:spPr>
        <p:txBody>
          <a:bodyPr wrap="square" lIns="6350" tIns="6350" rIns="6350" bIns="6350" rtlCol="0" anchor="ctr"/>
          <a:lstStyle/>
          <a:p>
            <a:pPr marL="0" indent="0" algn="ctr">
              <a:buNone/>
            </a:pPr>
            <a:r>
              <a:rPr lang="en-US" sz="380" dirty="0">
                <a:solidFill>
                  <a:srgbClr val="909090"/>
                </a:solidFill>
              </a:rPr>
              <a:t>Service Mesh</a:t>
            </a:r>
            <a:endParaRPr lang="en-US" sz="380" dirty="0"/>
          </a:p>
        </p:txBody>
      </p:sp>
      <p:sp>
        <p:nvSpPr>
          <p:cNvPr id="129" name="Shape 127"/>
          <p:cNvSpPr/>
          <p:nvPr/>
        </p:nvSpPr>
        <p:spPr>
          <a:xfrm>
            <a:off x="11036808" y="2022653"/>
            <a:ext cx="1033272" cy="109728"/>
          </a:xfrm>
          <a:prstGeom prst="rect">
            <a:avLst/>
          </a:prstGeom>
          <a:solidFill>
            <a:srgbClr val="C8C8C8"/>
          </a:solidFill>
          <a:ln w="12700">
            <a:solidFill>
              <a:srgbClr val="C8C8C8"/>
            </a:solidFill>
            <a:prstDash val="solid"/>
          </a:ln>
        </p:spPr>
        <p:txBody>
          <a:bodyPr/>
          <a:lstStyle/>
          <a:p>
            <a:endParaRPr lang="es-ES"/>
          </a:p>
        </p:txBody>
      </p:sp>
      <p:sp>
        <p:nvSpPr>
          <p:cNvPr id="130" name="Text 128"/>
          <p:cNvSpPr/>
          <p:nvPr/>
        </p:nvSpPr>
        <p:spPr>
          <a:xfrm>
            <a:off x="11036808" y="2022653"/>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Plataforma Contenedores</a:t>
            </a:r>
            <a:endParaRPr lang="en-US" sz="400" dirty="0"/>
          </a:p>
        </p:txBody>
      </p:sp>
      <p:sp>
        <p:nvSpPr>
          <p:cNvPr id="131" name="Shape 129"/>
          <p:cNvSpPr/>
          <p:nvPr/>
        </p:nvSpPr>
        <p:spPr>
          <a:xfrm>
            <a:off x="11036808" y="2141525"/>
            <a:ext cx="498348" cy="503834"/>
          </a:xfrm>
          <a:prstGeom prst="rect">
            <a:avLst/>
          </a:prstGeom>
          <a:solidFill>
            <a:srgbClr val="F0F0F0"/>
          </a:solidFill>
          <a:ln w="3810">
            <a:solidFill>
              <a:srgbClr val="C8C8C8"/>
            </a:solidFill>
            <a:prstDash val="solid"/>
          </a:ln>
        </p:spPr>
        <p:txBody>
          <a:bodyPr/>
          <a:lstStyle/>
          <a:p>
            <a:endParaRPr lang="es-ES"/>
          </a:p>
        </p:txBody>
      </p:sp>
      <p:sp>
        <p:nvSpPr>
          <p:cNvPr id="132" name="Text 130"/>
          <p:cNvSpPr/>
          <p:nvPr/>
        </p:nvSpPr>
        <p:spPr>
          <a:xfrm>
            <a:off x="11036808"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Orquestación Contenedores</a:t>
            </a:r>
            <a:endParaRPr lang="en-US" sz="380" dirty="0"/>
          </a:p>
        </p:txBody>
      </p:sp>
      <p:sp>
        <p:nvSpPr>
          <p:cNvPr id="133" name="Shape 131"/>
          <p:cNvSpPr/>
          <p:nvPr/>
        </p:nvSpPr>
        <p:spPr>
          <a:xfrm>
            <a:off x="11036808" y="2649931"/>
            <a:ext cx="498348" cy="503834"/>
          </a:xfrm>
          <a:prstGeom prst="rect">
            <a:avLst/>
          </a:prstGeom>
          <a:solidFill>
            <a:srgbClr val="F0F0F0"/>
          </a:solidFill>
          <a:ln w="3810">
            <a:solidFill>
              <a:srgbClr val="C8C8C8"/>
            </a:solidFill>
            <a:prstDash val="solid"/>
          </a:ln>
        </p:spPr>
        <p:txBody>
          <a:bodyPr/>
          <a:lstStyle/>
          <a:p>
            <a:endParaRPr lang="es-ES"/>
          </a:p>
        </p:txBody>
      </p:sp>
      <p:sp>
        <p:nvSpPr>
          <p:cNvPr id="134" name="Text 132"/>
          <p:cNvSpPr/>
          <p:nvPr/>
        </p:nvSpPr>
        <p:spPr>
          <a:xfrm>
            <a:off x="11036808" y="2649931"/>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Runtime Serverless</a:t>
            </a:r>
            <a:endParaRPr lang="en-US" sz="380" dirty="0"/>
          </a:p>
        </p:txBody>
      </p:sp>
      <p:sp>
        <p:nvSpPr>
          <p:cNvPr id="135" name="Shape 133"/>
          <p:cNvSpPr/>
          <p:nvPr/>
        </p:nvSpPr>
        <p:spPr>
          <a:xfrm>
            <a:off x="11553444" y="2141525"/>
            <a:ext cx="498348" cy="503834"/>
          </a:xfrm>
          <a:prstGeom prst="rect">
            <a:avLst/>
          </a:prstGeom>
          <a:solidFill>
            <a:srgbClr val="F0F0F0"/>
          </a:solidFill>
          <a:ln w="3810">
            <a:solidFill>
              <a:srgbClr val="C8C8C8"/>
            </a:solidFill>
            <a:prstDash val="solid"/>
          </a:ln>
        </p:spPr>
        <p:txBody>
          <a:bodyPr/>
          <a:lstStyle/>
          <a:p>
            <a:endParaRPr lang="es-ES"/>
          </a:p>
        </p:txBody>
      </p:sp>
      <p:sp>
        <p:nvSpPr>
          <p:cNvPr id="136" name="Text 134"/>
          <p:cNvSpPr/>
          <p:nvPr/>
        </p:nvSpPr>
        <p:spPr>
          <a:xfrm>
            <a:off x="11553444" y="2141525"/>
            <a:ext cx="498348" cy="503834"/>
          </a:xfrm>
          <a:prstGeom prst="rect">
            <a:avLst/>
          </a:prstGeom>
          <a:noFill/>
          <a:ln/>
        </p:spPr>
        <p:txBody>
          <a:bodyPr wrap="square" lIns="6350" tIns="6350" rIns="6350" bIns="6350" rtlCol="0" anchor="ctr"/>
          <a:lstStyle/>
          <a:p>
            <a:pPr marL="0" indent="0" algn="ctr">
              <a:buNone/>
            </a:pPr>
            <a:r>
              <a:rPr lang="en-US" sz="380" dirty="0">
                <a:solidFill>
                  <a:srgbClr val="909090"/>
                </a:solidFill>
              </a:rPr>
              <a:t>Imágenes y Artefactos</a:t>
            </a:r>
            <a:endParaRPr lang="en-US" sz="380" dirty="0"/>
          </a:p>
        </p:txBody>
      </p:sp>
      <p:sp>
        <p:nvSpPr>
          <p:cNvPr id="137" name="Shape 135"/>
          <p:cNvSpPr/>
          <p:nvPr/>
        </p:nvSpPr>
        <p:spPr>
          <a:xfrm>
            <a:off x="11036808" y="3158338"/>
            <a:ext cx="1033272" cy="109728"/>
          </a:xfrm>
          <a:prstGeom prst="rect">
            <a:avLst/>
          </a:prstGeom>
          <a:solidFill>
            <a:srgbClr val="FF6B00"/>
          </a:solidFill>
          <a:ln w="12700">
            <a:solidFill>
              <a:srgbClr val="FF6B00"/>
            </a:solidFill>
            <a:prstDash val="solid"/>
          </a:ln>
        </p:spPr>
        <p:txBody>
          <a:bodyPr/>
          <a:lstStyle/>
          <a:p>
            <a:endParaRPr lang="es-ES"/>
          </a:p>
        </p:txBody>
      </p:sp>
      <p:sp>
        <p:nvSpPr>
          <p:cNvPr id="138" name="Text 136"/>
          <p:cNvSpPr/>
          <p:nvPr/>
        </p:nvSpPr>
        <p:spPr>
          <a:xfrm>
            <a:off x="11036808" y="3158338"/>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Config.Plataforma</a:t>
            </a:r>
            <a:endParaRPr lang="en-US" sz="400" dirty="0"/>
          </a:p>
        </p:txBody>
      </p:sp>
      <p:sp>
        <p:nvSpPr>
          <p:cNvPr id="139" name="Shape 137"/>
          <p:cNvSpPr/>
          <p:nvPr/>
        </p:nvSpPr>
        <p:spPr>
          <a:xfrm>
            <a:off x="11036808" y="3277210"/>
            <a:ext cx="498348" cy="503834"/>
          </a:xfrm>
          <a:prstGeom prst="rect">
            <a:avLst/>
          </a:prstGeom>
          <a:solidFill>
            <a:srgbClr val="FFE5C0"/>
          </a:solidFill>
          <a:ln w="12700">
            <a:solidFill>
              <a:srgbClr val="FF6B00"/>
            </a:solidFill>
            <a:prstDash val="solid"/>
          </a:ln>
        </p:spPr>
        <p:txBody>
          <a:bodyPr/>
          <a:lstStyle/>
          <a:p>
            <a:endParaRPr lang="es-ES"/>
          </a:p>
        </p:txBody>
      </p:sp>
      <p:sp>
        <p:nvSpPr>
          <p:cNvPr id="140" name="Text 138"/>
          <p:cNvSpPr/>
          <p:nvPr/>
        </p:nvSpPr>
        <p:spPr>
          <a:xfrm>
            <a:off x="11036808" y="3277210"/>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Aprovisionam.Infraestr.</a:t>
            </a:r>
            <a:endParaRPr lang="en-US" sz="380" dirty="0"/>
          </a:p>
        </p:txBody>
      </p:sp>
      <p:sp>
        <p:nvSpPr>
          <p:cNvPr id="141" name="Shape 139"/>
          <p:cNvSpPr/>
          <p:nvPr/>
        </p:nvSpPr>
        <p:spPr>
          <a:xfrm>
            <a:off x="11036808" y="3785616"/>
            <a:ext cx="498348" cy="503834"/>
          </a:xfrm>
          <a:prstGeom prst="rect">
            <a:avLst/>
          </a:prstGeom>
          <a:solidFill>
            <a:srgbClr val="FFE5C0"/>
          </a:solidFill>
          <a:ln w="12700">
            <a:solidFill>
              <a:srgbClr val="FF6B00"/>
            </a:solidFill>
            <a:prstDash val="solid"/>
          </a:ln>
        </p:spPr>
        <p:txBody>
          <a:bodyPr/>
          <a:lstStyle/>
          <a:p>
            <a:endParaRPr lang="es-ES"/>
          </a:p>
        </p:txBody>
      </p:sp>
      <p:sp>
        <p:nvSpPr>
          <p:cNvPr id="142" name="Text 140"/>
          <p:cNvSpPr/>
          <p:nvPr/>
        </p:nvSpPr>
        <p:spPr>
          <a:xfrm>
            <a:off x="11036808" y="3785616"/>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Configuración</a:t>
            </a:r>
            <a:endParaRPr lang="en-US" sz="380" dirty="0"/>
          </a:p>
        </p:txBody>
      </p:sp>
      <p:sp>
        <p:nvSpPr>
          <p:cNvPr id="143" name="Shape 141"/>
          <p:cNvSpPr/>
          <p:nvPr/>
        </p:nvSpPr>
        <p:spPr>
          <a:xfrm>
            <a:off x="11553444" y="3277210"/>
            <a:ext cx="498348" cy="503834"/>
          </a:xfrm>
          <a:prstGeom prst="rect">
            <a:avLst/>
          </a:prstGeom>
          <a:solidFill>
            <a:srgbClr val="FFE5C0"/>
          </a:solidFill>
          <a:ln w="12700">
            <a:solidFill>
              <a:srgbClr val="FF6B00"/>
            </a:solidFill>
            <a:prstDash val="solid"/>
          </a:ln>
        </p:spPr>
        <p:txBody>
          <a:bodyPr/>
          <a:lstStyle/>
          <a:p>
            <a:endParaRPr lang="es-ES"/>
          </a:p>
        </p:txBody>
      </p:sp>
      <p:sp>
        <p:nvSpPr>
          <p:cNvPr id="144" name="Text 142"/>
          <p:cNvSpPr/>
          <p:nvPr/>
        </p:nvSpPr>
        <p:spPr>
          <a:xfrm>
            <a:off x="11553444" y="3277210"/>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Entornos</a:t>
            </a:r>
            <a:endParaRPr lang="en-US" sz="380" dirty="0"/>
          </a:p>
        </p:txBody>
      </p:sp>
      <p:sp>
        <p:nvSpPr>
          <p:cNvPr id="145" name="Shape 143"/>
          <p:cNvSpPr/>
          <p:nvPr/>
        </p:nvSpPr>
        <p:spPr>
          <a:xfrm>
            <a:off x="11036808" y="4294022"/>
            <a:ext cx="1033272" cy="109728"/>
          </a:xfrm>
          <a:prstGeom prst="rect">
            <a:avLst/>
          </a:prstGeom>
          <a:solidFill>
            <a:srgbClr val="FF6B00"/>
          </a:solidFill>
          <a:ln w="12700">
            <a:solidFill>
              <a:srgbClr val="FF6B00"/>
            </a:solidFill>
            <a:prstDash val="solid"/>
          </a:ln>
        </p:spPr>
        <p:txBody>
          <a:bodyPr/>
          <a:lstStyle/>
          <a:p>
            <a:endParaRPr lang="es-ES"/>
          </a:p>
        </p:txBody>
      </p:sp>
      <p:sp>
        <p:nvSpPr>
          <p:cNvPr id="146" name="Text 144"/>
          <p:cNvSpPr/>
          <p:nvPr/>
        </p:nvSpPr>
        <p:spPr>
          <a:xfrm>
            <a:off x="11036808" y="4294022"/>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Despliegue &amp; Releases</a:t>
            </a:r>
            <a:endParaRPr lang="en-US" sz="400" dirty="0"/>
          </a:p>
        </p:txBody>
      </p:sp>
      <p:sp>
        <p:nvSpPr>
          <p:cNvPr id="147" name="Shape 145"/>
          <p:cNvSpPr/>
          <p:nvPr/>
        </p:nvSpPr>
        <p:spPr>
          <a:xfrm>
            <a:off x="11036808" y="4412894"/>
            <a:ext cx="498348" cy="1012241"/>
          </a:xfrm>
          <a:prstGeom prst="rect">
            <a:avLst/>
          </a:prstGeom>
          <a:solidFill>
            <a:srgbClr val="FFE5C0"/>
          </a:solidFill>
          <a:ln w="12700">
            <a:solidFill>
              <a:srgbClr val="FF6B00"/>
            </a:solidFill>
            <a:prstDash val="solid"/>
          </a:ln>
        </p:spPr>
        <p:txBody>
          <a:bodyPr/>
          <a:lstStyle/>
          <a:p>
            <a:endParaRPr lang="es-ES"/>
          </a:p>
        </p:txBody>
      </p:sp>
      <p:sp>
        <p:nvSpPr>
          <p:cNvPr id="148" name="Text 146"/>
          <p:cNvSpPr/>
          <p:nvPr/>
        </p:nvSpPr>
        <p:spPr>
          <a:xfrm>
            <a:off x="11036808" y="4412894"/>
            <a:ext cx="498348" cy="1012241"/>
          </a:xfrm>
          <a:prstGeom prst="rect">
            <a:avLst/>
          </a:prstGeom>
          <a:noFill/>
          <a:ln/>
        </p:spPr>
        <p:txBody>
          <a:bodyPr wrap="square" lIns="6350" tIns="6350" rIns="6350" bIns="6350" rtlCol="0" anchor="ctr"/>
          <a:lstStyle/>
          <a:p>
            <a:pPr marL="0" indent="0" algn="ctr">
              <a:buNone/>
            </a:pPr>
            <a:r>
              <a:rPr lang="en-US" sz="380" b="1" dirty="0">
                <a:solidFill>
                  <a:srgbClr val="5C1E00"/>
                </a:solidFill>
              </a:rPr>
              <a:t>Estrategias Despliegue</a:t>
            </a:r>
            <a:endParaRPr lang="en-US" sz="380" dirty="0"/>
          </a:p>
        </p:txBody>
      </p:sp>
      <p:sp>
        <p:nvSpPr>
          <p:cNvPr id="149" name="Shape 147"/>
          <p:cNvSpPr/>
          <p:nvPr/>
        </p:nvSpPr>
        <p:spPr>
          <a:xfrm>
            <a:off x="11553444" y="4412894"/>
            <a:ext cx="498348" cy="1012241"/>
          </a:xfrm>
          <a:prstGeom prst="rect">
            <a:avLst/>
          </a:prstGeom>
          <a:solidFill>
            <a:srgbClr val="FFE5C0"/>
          </a:solidFill>
          <a:ln w="12700">
            <a:solidFill>
              <a:srgbClr val="FF6B00"/>
            </a:solidFill>
            <a:prstDash val="solid"/>
          </a:ln>
        </p:spPr>
        <p:txBody>
          <a:bodyPr/>
          <a:lstStyle/>
          <a:p>
            <a:endParaRPr lang="es-ES"/>
          </a:p>
        </p:txBody>
      </p:sp>
      <p:sp>
        <p:nvSpPr>
          <p:cNvPr id="150" name="Text 148"/>
          <p:cNvSpPr/>
          <p:nvPr/>
        </p:nvSpPr>
        <p:spPr>
          <a:xfrm>
            <a:off x="11553444" y="4412894"/>
            <a:ext cx="498348" cy="1012241"/>
          </a:xfrm>
          <a:prstGeom prst="rect">
            <a:avLst/>
          </a:prstGeom>
          <a:noFill/>
          <a:ln/>
        </p:spPr>
        <p:txBody>
          <a:bodyPr wrap="square" lIns="6350" tIns="6350" rIns="6350" bIns="6350" rtlCol="0" anchor="ctr"/>
          <a:lstStyle/>
          <a:p>
            <a:pPr marL="0" indent="0" algn="ctr">
              <a:buNone/>
            </a:pPr>
            <a:r>
              <a:rPr lang="en-US" sz="380" b="1" dirty="0">
                <a:solidFill>
                  <a:srgbClr val="5C1E00"/>
                </a:solidFill>
              </a:rPr>
              <a:t>Pruebas Automatizadas</a:t>
            </a:r>
            <a:endParaRPr lang="en-US" sz="380" dirty="0"/>
          </a:p>
        </p:txBody>
      </p:sp>
      <p:sp>
        <p:nvSpPr>
          <p:cNvPr id="151" name="Shape 149"/>
          <p:cNvSpPr/>
          <p:nvPr/>
        </p:nvSpPr>
        <p:spPr>
          <a:xfrm>
            <a:off x="11036808" y="5429707"/>
            <a:ext cx="1033272" cy="109728"/>
          </a:xfrm>
          <a:prstGeom prst="rect">
            <a:avLst/>
          </a:prstGeom>
          <a:solidFill>
            <a:srgbClr val="FF6B00"/>
          </a:solidFill>
          <a:ln w="12700">
            <a:solidFill>
              <a:srgbClr val="FF6B00"/>
            </a:solidFill>
            <a:prstDash val="solid"/>
          </a:ln>
        </p:spPr>
        <p:txBody>
          <a:bodyPr/>
          <a:lstStyle/>
          <a:p>
            <a:endParaRPr lang="es-ES"/>
          </a:p>
        </p:txBody>
      </p:sp>
      <p:sp>
        <p:nvSpPr>
          <p:cNvPr id="152" name="Text 150"/>
          <p:cNvSpPr/>
          <p:nvPr/>
        </p:nvSpPr>
        <p:spPr>
          <a:xfrm>
            <a:off x="11036808" y="5429707"/>
            <a:ext cx="1033272"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Resiliencia Infraestr.</a:t>
            </a:r>
            <a:endParaRPr lang="en-US" sz="400" dirty="0"/>
          </a:p>
        </p:txBody>
      </p:sp>
      <p:sp>
        <p:nvSpPr>
          <p:cNvPr id="153" name="Shape 151"/>
          <p:cNvSpPr/>
          <p:nvPr/>
        </p:nvSpPr>
        <p:spPr>
          <a:xfrm>
            <a:off x="11036808" y="5548579"/>
            <a:ext cx="498348" cy="503834"/>
          </a:xfrm>
          <a:prstGeom prst="rect">
            <a:avLst/>
          </a:prstGeom>
          <a:solidFill>
            <a:srgbClr val="FFE5C0"/>
          </a:solidFill>
          <a:ln w="12700">
            <a:solidFill>
              <a:srgbClr val="FF6B00"/>
            </a:solidFill>
            <a:prstDash val="solid"/>
          </a:ln>
        </p:spPr>
        <p:txBody>
          <a:bodyPr/>
          <a:lstStyle/>
          <a:p>
            <a:endParaRPr lang="es-ES"/>
          </a:p>
        </p:txBody>
      </p:sp>
      <p:sp>
        <p:nvSpPr>
          <p:cNvPr id="154" name="Text 152"/>
          <p:cNvSpPr/>
          <p:nvPr/>
        </p:nvSpPr>
        <p:spPr>
          <a:xfrm>
            <a:off x="11036808" y="5548579"/>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Alta Disponibilidad</a:t>
            </a:r>
            <a:endParaRPr lang="en-US" sz="380" dirty="0"/>
          </a:p>
        </p:txBody>
      </p:sp>
      <p:sp>
        <p:nvSpPr>
          <p:cNvPr id="155" name="Shape 153"/>
          <p:cNvSpPr/>
          <p:nvPr/>
        </p:nvSpPr>
        <p:spPr>
          <a:xfrm>
            <a:off x="11036808" y="6056986"/>
            <a:ext cx="498348" cy="503834"/>
          </a:xfrm>
          <a:prstGeom prst="rect">
            <a:avLst/>
          </a:prstGeom>
          <a:solidFill>
            <a:srgbClr val="FFE5C0"/>
          </a:solidFill>
          <a:ln w="12700">
            <a:solidFill>
              <a:srgbClr val="FF6B00"/>
            </a:solidFill>
            <a:prstDash val="solid"/>
          </a:ln>
        </p:spPr>
        <p:txBody>
          <a:bodyPr/>
          <a:lstStyle/>
          <a:p>
            <a:endParaRPr lang="es-ES"/>
          </a:p>
        </p:txBody>
      </p:sp>
      <p:sp>
        <p:nvSpPr>
          <p:cNvPr id="156" name="Text 154"/>
          <p:cNvSpPr/>
          <p:nvPr/>
        </p:nvSpPr>
        <p:spPr>
          <a:xfrm>
            <a:off x="11036808" y="6056986"/>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Pruebas Resiliencia</a:t>
            </a:r>
            <a:endParaRPr lang="en-US" sz="380" dirty="0"/>
          </a:p>
        </p:txBody>
      </p:sp>
      <p:sp>
        <p:nvSpPr>
          <p:cNvPr id="157" name="Shape 155"/>
          <p:cNvSpPr/>
          <p:nvPr/>
        </p:nvSpPr>
        <p:spPr>
          <a:xfrm>
            <a:off x="11553444" y="5548579"/>
            <a:ext cx="498348" cy="503834"/>
          </a:xfrm>
          <a:prstGeom prst="rect">
            <a:avLst/>
          </a:prstGeom>
          <a:solidFill>
            <a:srgbClr val="FFE5C0"/>
          </a:solidFill>
          <a:ln w="12700">
            <a:solidFill>
              <a:srgbClr val="FF6B00"/>
            </a:solidFill>
            <a:prstDash val="solid"/>
          </a:ln>
        </p:spPr>
        <p:txBody>
          <a:bodyPr/>
          <a:lstStyle/>
          <a:p>
            <a:endParaRPr lang="es-ES"/>
          </a:p>
        </p:txBody>
      </p:sp>
      <p:sp>
        <p:nvSpPr>
          <p:cNvPr id="158" name="Text 156"/>
          <p:cNvSpPr/>
          <p:nvPr/>
        </p:nvSpPr>
        <p:spPr>
          <a:xfrm>
            <a:off x="11553444" y="5548579"/>
            <a:ext cx="498348" cy="50383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Recuperación</a:t>
            </a:r>
            <a:endParaRPr lang="en-US" sz="380" dirty="0"/>
          </a:p>
        </p:txBody>
      </p:sp>
      <p:sp>
        <p:nvSpPr>
          <p:cNvPr id="159" name="Shape 157"/>
          <p:cNvSpPr/>
          <p:nvPr/>
        </p:nvSpPr>
        <p:spPr>
          <a:xfrm>
            <a:off x="1152144" y="685800"/>
            <a:ext cx="5121006" cy="603504"/>
          </a:xfrm>
          <a:prstGeom prst="rect">
            <a:avLst/>
          </a:prstGeom>
          <a:solidFill>
            <a:srgbClr val="FFF4E0"/>
          </a:solidFill>
          <a:ln w="12700">
            <a:solidFill>
              <a:srgbClr val="E08800"/>
            </a:solidFill>
            <a:prstDash val="solid"/>
          </a:ln>
        </p:spPr>
        <p:txBody>
          <a:bodyPr/>
          <a:lstStyle/>
          <a:p>
            <a:endParaRPr lang="es-ES"/>
          </a:p>
        </p:txBody>
      </p:sp>
      <p:sp>
        <p:nvSpPr>
          <p:cNvPr id="160" name="Shape 158"/>
          <p:cNvSpPr/>
          <p:nvPr/>
        </p:nvSpPr>
        <p:spPr>
          <a:xfrm>
            <a:off x="1152144" y="685800"/>
            <a:ext cx="5121006" cy="155448"/>
          </a:xfrm>
          <a:prstGeom prst="rect">
            <a:avLst/>
          </a:prstGeom>
          <a:solidFill>
            <a:srgbClr val="A100FF"/>
          </a:solidFill>
          <a:ln w="12700">
            <a:solidFill>
              <a:srgbClr val="A100FF"/>
            </a:solidFill>
            <a:prstDash val="solid"/>
          </a:ln>
        </p:spPr>
        <p:txBody>
          <a:bodyPr/>
          <a:lstStyle/>
          <a:p>
            <a:endParaRPr lang="es-ES"/>
          </a:p>
        </p:txBody>
      </p:sp>
      <p:sp>
        <p:nvSpPr>
          <p:cNvPr id="161" name="Shape 159"/>
          <p:cNvSpPr/>
          <p:nvPr/>
        </p:nvSpPr>
        <p:spPr>
          <a:xfrm>
            <a:off x="1161288"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62" name="Text 160"/>
          <p:cNvSpPr/>
          <p:nvPr/>
        </p:nvSpPr>
        <p:spPr>
          <a:xfrm>
            <a:off x="1161288"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63" name="Text 161"/>
          <p:cNvSpPr/>
          <p:nvPr/>
        </p:nvSpPr>
        <p:spPr>
          <a:xfrm>
            <a:off x="1325880" y="685800"/>
            <a:ext cx="4700382" cy="155448"/>
          </a:xfrm>
          <a:prstGeom prst="rect">
            <a:avLst/>
          </a:prstGeom>
          <a:noFill/>
          <a:ln/>
        </p:spPr>
        <p:txBody>
          <a:bodyPr wrap="square" rtlCol="0" anchor="ctr"/>
          <a:lstStyle/>
          <a:p>
            <a:pPr marL="0" indent="0" algn="ctr">
              <a:buNone/>
            </a:pPr>
            <a:r>
              <a:rPr lang="en-US" sz="500" b="1" dirty="0">
                <a:solidFill>
                  <a:srgbClr val="FFFFFF"/>
                </a:solidFill>
              </a:rPr>
              <a:t>Servicios de Gateway</a:t>
            </a:r>
            <a:endParaRPr lang="en-US" sz="500" dirty="0"/>
          </a:p>
        </p:txBody>
      </p:sp>
      <p:sp>
        <p:nvSpPr>
          <p:cNvPr id="164" name="Shape 162"/>
          <p:cNvSpPr/>
          <p:nvPr/>
        </p:nvSpPr>
        <p:spPr>
          <a:xfrm>
            <a:off x="6026262" y="71323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65" name="Text 163"/>
          <p:cNvSpPr/>
          <p:nvPr/>
        </p:nvSpPr>
        <p:spPr>
          <a:xfrm>
            <a:off x="6026262" y="71323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66" name="Text 164"/>
          <p:cNvSpPr/>
          <p:nvPr/>
        </p:nvSpPr>
        <p:spPr>
          <a:xfrm>
            <a:off x="1170432" y="859536"/>
            <a:ext cx="182880" cy="205740"/>
          </a:xfrm>
          <a:prstGeom prst="rect">
            <a:avLst/>
          </a:prstGeom>
          <a:noFill/>
          <a:ln/>
        </p:spPr>
        <p:txBody>
          <a:bodyPr wrap="square" rtlCol="0" anchor="ctr"/>
          <a:lstStyle/>
          <a:p>
            <a:pPr marL="0" indent="0" algn="ctr">
              <a:buNone/>
            </a:pPr>
            <a:r>
              <a:rPr lang="en-US" sz="380" dirty="0">
                <a:solidFill>
                  <a:srgbClr val="595959"/>
                </a:solidFill>
              </a:rPr>
              <a:t>Outbound</a:t>
            </a:r>
            <a:endParaRPr lang="en-US" sz="380" dirty="0"/>
          </a:p>
        </p:txBody>
      </p:sp>
      <p:sp>
        <p:nvSpPr>
          <p:cNvPr id="167" name="Shape 165"/>
          <p:cNvSpPr/>
          <p:nvPr/>
        </p:nvSpPr>
        <p:spPr>
          <a:xfrm>
            <a:off x="1371600"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68" name="Text 166"/>
          <p:cNvSpPr/>
          <p:nvPr/>
        </p:nvSpPr>
        <p:spPr>
          <a:xfrm>
            <a:off x="1371600"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API Gateway Outbound</a:t>
            </a:r>
            <a:endParaRPr lang="en-US" sz="380" dirty="0"/>
          </a:p>
        </p:txBody>
      </p:sp>
      <p:sp>
        <p:nvSpPr>
          <p:cNvPr id="169" name="Shape 167"/>
          <p:cNvSpPr/>
          <p:nvPr/>
        </p:nvSpPr>
        <p:spPr>
          <a:xfrm>
            <a:off x="2592415" y="868680"/>
            <a:ext cx="1211671" cy="187452"/>
          </a:xfrm>
          <a:prstGeom prst="rect">
            <a:avLst/>
          </a:prstGeom>
          <a:solidFill>
            <a:srgbClr val="FFE5C0"/>
          </a:solidFill>
          <a:ln w="12700">
            <a:solidFill>
              <a:srgbClr val="FF6B00"/>
            </a:solidFill>
            <a:prstDash val="solid"/>
          </a:ln>
        </p:spPr>
        <p:txBody>
          <a:bodyPr/>
          <a:lstStyle/>
          <a:p>
            <a:endParaRPr lang="es-ES"/>
          </a:p>
        </p:txBody>
      </p:sp>
      <p:sp>
        <p:nvSpPr>
          <p:cNvPr id="170" name="Text 168"/>
          <p:cNvSpPr/>
          <p:nvPr/>
        </p:nvSpPr>
        <p:spPr>
          <a:xfrm>
            <a:off x="2592415" y="868680"/>
            <a:ext cx="1211671" cy="187452"/>
          </a:xfrm>
          <a:prstGeom prst="rect">
            <a:avLst/>
          </a:prstGeom>
          <a:noFill/>
          <a:ln/>
        </p:spPr>
        <p:txBody>
          <a:bodyPr wrap="square" lIns="6350" tIns="6350" rIns="6350" bIns="6350" rtlCol="0" anchor="ctr"/>
          <a:lstStyle/>
          <a:p>
            <a:pPr marL="0" indent="0" algn="ctr">
              <a:buNone/>
            </a:pPr>
            <a:r>
              <a:rPr lang="en-US" sz="380" b="1" dirty="0">
                <a:solidFill>
                  <a:srgbClr val="5C1E00"/>
                </a:solidFill>
              </a:rPr>
              <a:t>File Gateway Outbound</a:t>
            </a:r>
            <a:endParaRPr lang="en-US" sz="380" dirty="0"/>
          </a:p>
        </p:txBody>
      </p:sp>
      <p:sp>
        <p:nvSpPr>
          <p:cNvPr id="171" name="Shape 169"/>
          <p:cNvSpPr/>
          <p:nvPr/>
        </p:nvSpPr>
        <p:spPr>
          <a:xfrm>
            <a:off x="3813231"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72" name="Text 170"/>
          <p:cNvSpPr/>
          <p:nvPr/>
        </p:nvSpPr>
        <p:spPr>
          <a:xfrm>
            <a:off x="3813231"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EventHub Gateway Outbound</a:t>
            </a:r>
            <a:endParaRPr lang="en-US" sz="380" dirty="0"/>
          </a:p>
        </p:txBody>
      </p:sp>
      <p:sp>
        <p:nvSpPr>
          <p:cNvPr id="173" name="Shape 171"/>
          <p:cNvSpPr/>
          <p:nvPr/>
        </p:nvSpPr>
        <p:spPr>
          <a:xfrm>
            <a:off x="5034046" y="868680"/>
            <a:ext cx="1211671" cy="187452"/>
          </a:xfrm>
          <a:prstGeom prst="rect">
            <a:avLst/>
          </a:prstGeom>
          <a:solidFill>
            <a:srgbClr val="F0F0F0"/>
          </a:solidFill>
          <a:ln w="3810">
            <a:solidFill>
              <a:srgbClr val="C8C8C8"/>
            </a:solidFill>
            <a:prstDash val="solid"/>
          </a:ln>
        </p:spPr>
        <p:txBody>
          <a:bodyPr/>
          <a:lstStyle/>
          <a:p>
            <a:endParaRPr lang="es-ES"/>
          </a:p>
        </p:txBody>
      </p:sp>
      <p:sp>
        <p:nvSpPr>
          <p:cNvPr id="174" name="Text 172"/>
          <p:cNvSpPr/>
          <p:nvPr/>
        </p:nvSpPr>
        <p:spPr>
          <a:xfrm>
            <a:off x="5034046" y="868680"/>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Conmutación (Switching)</a:t>
            </a:r>
            <a:endParaRPr lang="en-US" sz="380" dirty="0"/>
          </a:p>
        </p:txBody>
      </p:sp>
      <p:sp>
        <p:nvSpPr>
          <p:cNvPr id="175" name="Text 173"/>
          <p:cNvSpPr/>
          <p:nvPr/>
        </p:nvSpPr>
        <p:spPr>
          <a:xfrm>
            <a:off x="1170432" y="1083564"/>
            <a:ext cx="182880" cy="205740"/>
          </a:xfrm>
          <a:prstGeom prst="rect">
            <a:avLst/>
          </a:prstGeom>
          <a:noFill/>
          <a:ln/>
        </p:spPr>
        <p:txBody>
          <a:bodyPr wrap="square" rtlCol="0" anchor="ctr"/>
          <a:lstStyle/>
          <a:p>
            <a:pPr marL="0" indent="0" algn="ctr">
              <a:buNone/>
            </a:pPr>
            <a:r>
              <a:rPr lang="en-US" sz="380" dirty="0">
                <a:solidFill>
                  <a:srgbClr val="595959"/>
                </a:solidFill>
              </a:rPr>
              <a:t>Inbound</a:t>
            </a:r>
            <a:endParaRPr lang="en-US" sz="380" dirty="0"/>
          </a:p>
        </p:txBody>
      </p:sp>
      <p:sp>
        <p:nvSpPr>
          <p:cNvPr id="176" name="Shape 174"/>
          <p:cNvSpPr/>
          <p:nvPr/>
        </p:nvSpPr>
        <p:spPr>
          <a:xfrm>
            <a:off x="1371600"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77" name="Text 175"/>
          <p:cNvSpPr/>
          <p:nvPr/>
        </p:nvSpPr>
        <p:spPr>
          <a:xfrm>
            <a:off x="1371600"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API Gateway Inbound</a:t>
            </a:r>
            <a:endParaRPr lang="en-US" sz="380" dirty="0"/>
          </a:p>
        </p:txBody>
      </p:sp>
      <p:sp>
        <p:nvSpPr>
          <p:cNvPr id="178" name="Shape 176"/>
          <p:cNvSpPr/>
          <p:nvPr/>
        </p:nvSpPr>
        <p:spPr>
          <a:xfrm>
            <a:off x="2592415"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79" name="Text 177"/>
          <p:cNvSpPr/>
          <p:nvPr/>
        </p:nvSpPr>
        <p:spPr>
          <a:xfrm>
            <a:off x="2592415"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File Gateway Inbound</a:t>
            </a:r>
            <a:endParaRPr lang="en-US" sz="380" dirty="0"/>
          </a:p>
        </p:txBody>
      </p:sp>
      <p:sp>
        <p:nvSpPr>
          <p:cNvPr id="180" name="Shape 178"/>
          <p:cNvSpPr/>
          <p:nvPr/>
        </p:nvSpPr>
        <p:spPr>
          <a:xfrm>
            <a:off x="3813231"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81" name="Text 179"/>
          <p:cNvSpPr/>
          <p:nvPr/>
        </p:nvSpPr>
        <p:spPr>
          <a:xfrm>
            <a:off x="3813231"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EventHub Gateway Inbound</a:t>
            </a:r>
            <a:endParaRPr lang="en-US" sz="380" dirty="0"/>
          </a:p>
        </p:txBody>
      </p:sp>
      <p:sp>
        <p:nvSpPr>
          <p:cNvPr id="182" name="Shape 180"/>
          <p:cNvSpPr/>
          <p:nvPr/>
        </p:nvSpPr>
        <p:spPr>
          <a:xfrm>
            <a:off x="5034046" y="1092708"/>
            <a:ext cx="1211671" cy="187452"/>
          </a:xfrm>
          <a:prstGeom prst="rect">
            <a:avLst/>
          </a:prstGeom>
          <a:solidFill>
            <a:srgbClr val="F0F0F0"/>
          </a:solidFill>
          <a:ln w="3810">
            <a:solidFill>
              <a:srgbClr val="C8C8C8"/>
            </a:solidFill>
            <a:prstDash val="solid"/>
          </a:ln>
        </p:spPr>
        <p:txBody>
          <a:bodyPr/>
          <a:lstStyle/>
          <a:p>
            <a:endParaRPr lang="es-ES"/>
          </a:p>
        </p:txBody>
      </p:sp>
      <p:sp>
        <p:nvSpPr>
          <p:cNvPr id="183" name="Text 181"/>
          <p:cNvSpPr/>
          <p:nvPr/>
        </p:nvSpPr>
        <p:spPr>
          <a:xfrm>
            <a:off x="5034046" y="1092708"/>
            <a:ext cx="1211671" cy="187452"/>
          </a:xfrm>
          <a:prstGeom prst="rect">
            <a:avLst/>
          </a:prstGeom>
          <a:noFill/>
          <a:ln/>
        </p:spPr>
        <p:txBody>
          <a:bodyPr wrap="square" lIns="6350" tIns="6350" rIns="6350" bIns="6350" rtlCol="0" anchor="ctr"/>
          <a:lstStyle/>
          <a:p>
            <a:pPr marL="0" indent="0" algn="ctr">
              <a:buNone/>
            </a:pPr>
            <a:r>
              <a:rPr lang="en-US" sz="380" dirty="0">
                <a:solidFill>
                  <a:srgbClr val="909090"/>
                </a:solidFill>
              </a:rPr>
              <a:t>STS / Open Banking / Filter Edge</a:t>
            </a:r>
            <a:endParaRPr lang="en-US" sz="380" dirty="0"/>
          </a:p>
        </p:txBody>
      </p:sp>
      <p:sp>
        <p:nvSpPr>
          <p:cNvPr id="184" name="Shape 182"/>
          <p:cNvSpPr/>
          <p:nvPr/>
        </p:nvSpPr>
        <p:spPr>
          <a:xfrm>
            <a:off x="6300582" y="685800"/>
            <a:ext cx="4699650" cy="603504"/>
          </a:xfrm>
          <a:prstGeom prst="rect">
            <a:avLst/>
          </a:prstGeom>
          <a:solidFill>
            <a:srgbClr val="FFF4E0"/>
          </a:solidFill>
          <a:ln w="12700">
            <a:solidFill>
              <a:srgbClr val="E08800"/>
            </a:solidFill>
            <a:prstDash val="solid"/>
          </a:ln>
        </p:spPr>
        <p:txBody>
          <a:bodyPr/>
          <a:lstStyle/>
          <a:p>
            <a:endParaRPr lang="es-ES"/>
          </a:p>
        </p:txBody>
      </p:sp>
      <p:sp>
        <p:nvSpPr>
          <p:cNvPr id="185" name="Shape 183"/>
          <p:cNvSpPr/>
          <p:nvPr/>
        </p:nvSpPr>
        <p:spPr>
          <a:xfrm>
            <a:off x="6300582" y="685800"/>
            <a:ext cx="4699650" cy="155448"/>
          </a:xfrm>
          <a:prstGeom prst="rect">
            <a:avLst/>
          </a:prstGeom>
          <a:solidFill>
            <a:srgbClr val="A100FF"/>
          </a:solidFill>
          <a:ln w="12700">
            <a:solidFill>
              <a:srgbClr val="A100FF"/>
            </a:solidFill>
            <a:prstDash val="solid"/>
          </a:ln>
        </p:spPr>
        <p:txBody>
          <a:bodyPr/>
          <a:lstStyle/>
          <a:p>
            <a:endParaRPr lang="es-ES"/>
          </a:p>
        </p:txBody>
      </p:sp>
      <p:sp>
        <p:nvSpPr>
          <p:cNvPr id="186" name="Shape 184"/>
          <p:cNvSpPr/>
          <p:nvPr/>
        </p:nvSpPr>
        <p:spPr>
          <a:xfrm>
            <a:off x="6309726" y="694944"/>
            <a:ext cx="146304" cy="146304"/>
          </a:xfrm>
          <a:prstGeom prst="ellipse">
            <a:avLst/>
          </a:prstGeom>
          <a:solidFill>
            <a:srgbClr val="C00000"/>
          </a:solidFill>
          <a:ln w="12700">
            <a:solidFill>
              <a:srgbClr val="C00000"/>
            </a:solidFill>
            <a:prstDash val="solid"/>
          </a:ln>
        </p:spPr>
        <p:txBody>
          <a:bodyPr/>
          <a:lstStyle/>
          <a:p>
            <a:endParaRPr lang="es-ES"/>
          </a:p>
        </p:txBody>
      </p:sp>
      <p:sp>
        <p:nvSpPr>
          <p:cNvPr id="187" name="Text 185"/>
          <p:cNvSpPr/>
          <p:nvPr/>
        </p:nvSpPr>
        <p:spPr>
          <a:xfrm>
            <a:off x="6309726" y="694944"/>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188" name="Text 186"/>
          <p:cNvSpPr/>
          <p:nvPr/>
        </p:nvSpPr>
        <p:spPr>
          <a:xfrm>
            <a:off x="6474318" y="685800"/>
            <a:ext cx="4279026" cy="155448"/>
          </a:xfrm>
          <a:prstGeom prst="rect">
            <a:avLst/>
          </a:prstGeom>
          <a:noFill/>
          <a:ln/>
        </p:spPr>
        <p:txBody>
          <a:bodyPr wrap="square" rtlCol="0" anchor="ctr"/>
          <a:lstStyle/>
          <a:p>
            <a:pPr marL="0" indent="0" algn="ctr">
              <a:buNone/>
            </a:pPr>
            <a:r>
              <a:rPr lang="en-US" sz="500" b="1" dirty="0">
                <a:solidFill>
                  <a:srgbClr val="FFFFFF"/>
                </a:solidFill>
              </a:rPr>
              <a:t>API Management</a:t>
            </a:r>
            <a:endParaRPr lang="en-US" sz="500" dirty="0"/>
          </a:p>
        </p:txBody>
      </p:sp>
      <p:sp>
        <p:nvSpPr>
          <p:cNvPr id="189" name="Shape 187"/>
          <p:cNvSpPr/>
          <p:nvPr/>
        </p:nvSpPr>
        <p:spPr>
          <a:xfrm>
            <a:off x="10753344" y="71323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190" name="Text 188"/>
          <p:cNvSpPr/>
          <p:nvPr/>
        </p:nvSpPr>
        <p:spPr>
          <a:xfrm>
            <a:off x="10753344" y="71323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191" name="Shape 189"/>
          <p:cNvSpPr/>
          <p:nvPr/>
        </p:nvSpPr>
        <p:spPr>
          <a:xfrm>
            <a:off x="6309726" y="850392"/>
            <a:ext cx="1152053" cy="109728"/>
          </a:xfrm>
          <a:prstGeom prst="rect">
            <a:avLst/>
          </a:prstGeom>
          <a:solidFill>
            <a:srgbClr val="FF6B00"/>
          </a:solidFill>
          <a:ln w="12700">
            <a:solidFill>
              <a:srgbClr val="FF6B00"/>
            </a:solidFill>
            <a:prstDash val="solid"/>
          </a:ln>
        </p:spPr>
        <p:txBody>
          <a:bodyPr/>
          <a:lstStyle/>
          <a:p>
            <a:endParaRPr lang="es-ES"/>
          </a:p>
        </p:txBody>
      </p:sp>
      <p:sp>
        <p:nvSpPr>
          <p:cNvPr id="192" name="Text 190"/>
          <p:cNvSpPr/>
          <p:nvPr/>
        </p:nvSpPr>
        <p:spPr>
          <a:xfrm>
            <a:off x="630972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Gateway &amp; Mediación Runtime</a:t>
            </a:r>
            <a:endParaRPr lang="en-US" sz="400" dirty="0"/>
          </a:p>
        </p:txBody>
      </p:sp>
      <p:sp>
        <p:nvSpPr>
          <p:cNvPr id="193" name="Shape 191"/>
          <p:cNvSpPr/>
          <p:nvPr/>
        </p:nvSpPr>
        <p:spPr>
          <a:xfrm>
            <a:off x="6309726" y="969264"/>
            <a:ext cx="1152053" cy="68580"/>
          </a:xfrm>
          <a:prstGeom prst="rect">
            <a:avLst/>
          </a:prstGeom>
          <a:solidFill>
            <a:srgbClr val="FFE5C0"/>
          </a:solidFill>
          <a:ln w="12700">
            <a:solidFill>
              <a:srgbClr val="FF6B00"/>
            </a:solidFill>
            <a:prstDash val="solid"/>
          </a:ln>
        </p:spPr>
        <p:txBody>
          <a:bodyPr/>
          <a:lstStyle/>
          <a:p>
            <a:endParaRPr lang="es-ES"/>
          </a:p>
        </p:txBody>
      </p:sp>
      <p:sp>
        <p:nvSpPr>
          <p:cNvPr id="194" name="Text 192"/>
          <p:cNvSpPr/>
          <p:nvPr/>
        </p:nvSpPr>
        <p:spPr>
          <a:xfrm>
            <a:off x="6309726" y="969264"/>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Enrutamiento</a:t>
            </a:r>
            <a:endParaRPr lang="en-US" sz="380" dirty="0"/>
          </a:p>
        </p:txBody>
      </p:sp>
      <p:sp>
        <p:nvSpPr>
          <p:cNvPr id="195" name="Shape 193"/>
          <p:cNvSpPr/>
          <p:nvPr/>
        </p:nvSpPr>
        <p:spPr>
          <a:xfrm>
            <a:off x="6309726" y="1031443"/>
            <a:ext cx="1152053" cy="68580"/>
          </a:xfrm>
          <a:prstGeom prst="rect">
            <a:avLst/>
          </a:prstGeom>
          <a:solidFill>
            <a:srgbClr val="FFE5C0"/>
          </a:solidFill>
          <a:ln w="12700">
            <a:solidFill>
              <a:srgbClr val="FF6B00"/>
            </a:solidFill>
            <a:prstDash val="solid"/>
          </a:ln>
        </p:spPr>
        <p:txBody>
          <a:bodyPr/>
          <a:lstStyle/>
          <a:p>
            <a:endParaRPr lang="es-ES"/>
          </a:p>
        </p:txBody>
      </p:sp>
      <p:sp>
        <p:nvSpPr>
          <p:cNvPr id="196" name="Text 194"/>
          <p:cNvSpPr/>
          <p:nvPr/>
        </p:nvSpPr>
        <p:spPr>
          <a:xfrm>
            <a:off x="6309726" y="1031443"/>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Mediación/Transf.</a:t>
            </a:r>
            <a:endParaRPr lang="en-US" sz="380" dirty="0"/>
          </a:p>
        </p:txBody>
      </p:sp>
      <p:sp>
        <p:nvSpPr>
          <p:cNvPr id="197" name="Shape 195"/>
          <p:cNvSpPr/>
          <p:nvPr/>
        </p:nvSpPr>
        <p:spPr>
          <a:xfrm>
            <a:off x="6309726" y="1093622"/>
            <a:ext cx="1152053" cy="68580"/>
          </a:xfrm>
          <a:prstGeom prst="rect">
            <a:avLst/>
          </a:prstGeom>
          <a:solidFill>
            <a:srgbClr val="FFE5C0"/>
          </a:solidFill>
          <a:ln w="12700">
            <a:solidFill>
              <a:srgbClr val="FF6B00"/>
            </a:solidFill>
            <a:prstDash val="solid"/>
          </a:ln>
        </p:spPr>
        <p:txBody>
          <a:bodyPr/>
          <a:lstStyle/>
          <a:p>
            <a:endParaRPr lang="es-ES"/>
          </a:p>
        </p:txBody>
      </p:sp>
      <p:sp>
        <p:nvSpPr>
          <p:cNvPr id="198" name="Text 196"/>
          <p:cNvSpPr/>
          <p:nvPr/>
        </p:nvSpPr>
        <p:spPr>
          <a:xfrm>
            <a:off x="6309726" y="1093622"/>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Tráfico API</a:t>
            </a:r>
            <a:endParaRPr lang="en-US" sz="380" dirty="0"/>
          </a:p>
        </p:txBody>
      </p:sp>
      <p:sp>
        <p:nvSpPr>
          <p:cNvPr id="199" name="Shape 197"/>
          <p:cNvSpPr/>
          <p:nvPr/>
        </p:nvSpPr>
        <p:spPr>
          <a:xfrm>
            <a:off x="6309726" y="1155802"/>
            <a:ext cx="1152053" cy="68580"/>
          </a:xfrm>
          <a:prstGeom prst="rect">
            <a:avLst/>
          </a:prstGeom>
          <a:solidFill>
            <a:srgbClr val="FFE5C0"/>
          </a:solidFill>
          <a:ln w="12700">
            <a:solidFill>
              <a:srgbClr val="FF6B00"/>
            </a:solidFill>
            <a:prstDash val="solid"/>
          </a:ln>
        </p:spPr>
        <p:txBody>
          <a:bodyPr/>
          <a:lstStyle/>
          <a:p>
            <a:endParaRPr lang="es-ES"/>
          </a:p>
        </p:txBody>
      </p:sp>
      <p:sp>
        <p:nvSpPr>
          <p:cNvPr id="200" name="Text 198"/>
          <p:cNvSpPr/>
          <p:nvPr/>
        </p:nvSpPr>
        <p:spPr>
          <a:xfrm>
            <a:off x="6309726" y="1155802"/>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Validación Mensajes</a:t>
            </a:r>
            <a:endParaRPr lang="en-US" sz="380" dirty="0"/>
          </a:p>
        </p:txBody>
      </p:sp>
      <p:sp>
        <p:nvSpPr>
          <p:cNvPr id="201" name="Shape 199"/>
          <p:cNvSpPr/>
          <p:nvPr/>
        </p:nvSpPr>
        <p:spPr>
          <a:xfrm>
            <a:off x="6309726" y="1217981"/>
            <a:ext cx="1152053" cy="68580"/>
          </a:xfrm>
          <a:prstGeom prst="rect">
            <a:avLst/>
          </a:prstGeom>
          <a:solidFill>
            <a:srgbClr val="FFE5C0"/>
          </a:solidFill>
          <a:ln w="12700">
            <a:solidFill>
              <a:srgbClr val="FF6B00"/>
            </a:solidFill>
            <a:prstDash val="solid"/>
          </a:ln>
        </p:spPr>
        <p:txBody>
          <a:bodyPr/>
          <a:lstStyle/>
          <a:p>
            <a:endParaRPr lang="es-ES"/>
          </a:p>
        </p:txBody>
      </p:sp>
      <p:sp>
        <p:nvSpPr>
          <p:cNvPr id="202" name="Text 200"/>
          <p:cNvSpPr/>
          <p:nvPr/>
        </p:nvSpPr>
        <p:spPr>
          <a:xfrm>
            <a:off x="6309726" y="1217981"/>
            <a:ext cx="1152053" cy="68580"/>
          </a:xfrm>
          <a:prstGeom prst="rect">
            <a:avLst/>
          </a:prstGeom>
          <a:noFill/>
          <a:ln/>
        </p:spPr>
        <p:txBody>
          <a:bodyPr wrap="square" lIns="6350" tIns="6350" rIns="6350" bIns="6350" rtlCol="0" anchor="ctr"/>
          <a:lstStyle/>
          <a:p>
            <a:pPr marL="0" indent="0" algn="ctr">
              <a:buNone/>
            </a:pPr>
            <a:r>
              <a:rPr lang="en-US" sz="380" b="1" dirty="0">
                <a:solidFill>
                  <a:srgbClr val="5C1E00"/>
                </a:solidFill>
              </a:rPr>
              <a:t>Errores y Fallos</a:t>
            </a:r>
            <a:endParaRPr lang="en-US" sz="380" dirty="0"/>
          </a:p>
        </p:txBody>
      </p:sp>
      <p:sp>
        <p:nvSpPr>
          <p:cNvPr id="203" name="Shape 201"/>
          <p:cNvSpPr/>
          <p:nvPr/>
        </p:nvSpPr>
        <p:spPr>
          <a:xfrm>
            <a:off x="7480066" y="850392"/>
            <a:ext cx="1152053" cy="109728"/>
          </a:xfrm>
          <a:prstGeom prst="rect">
            <a:avLst/>
          </a:prstGeom>
          <a:solidFill>
            <a:srgbClr val="E08800"/>
          </a:solidFill>
          <a:ln w="12700">
            <a:solidFill>
              <a:srgbClr val="E08800"/>
            </a:solidFill>
            <a:prstDash val="solid"/>
          </a:ln>
        </p:spPr>
        <p:txBody>
          <a:bodyPr/>
          <a:lstStyle/>
          <a:p>
            <a:endParaRPr lang="es-ES"/>
          </a:p>
        </p:txBody>
      </p:sp>
      <p:sp>
        <p:nvSpPr>
          <p:cNvPr id="204" name="Text 202"/>
          <p:cNvSpPr/>
          <p:nvPr/>
        </p:nvSpPr>
        <p:spPr>
          <a:xfrm>
            <a:off x="7480066"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Ciclo de Vida API</a:t>
            </a:r>
            <a:endParaRPr lang="en-US" sz="400" dirty="0"/>
          </a:p>
        </p:txBody>
      </p:sp>
      <p:sp>
        <p:nvSpPr>
          <p:cNvPr id="205" name="Shape 203"/>
          <p:cNvSpPr/>
          <p:nvPr/>
        </p:nvSpPr>
        <p:spPr>
          <a:xfrm>
            <a:off x="7480066" y="969264"/>
            <a:ext cx="1152053" cy="73152"/>
          </a:xfrm>
          <a:prstGeom prst="rect">
            <a:avLst/>
          </a:prstGeom>
          <a:solidFill>
            <a:srgbClr val="FFE5C0"/>
          </a:solidFill>
          <a:ln w="12700">
            <a:solidFill>
              <a:srgbClr val="FF6B00"/>
            </a:solidFill>
            <a:prstDash val="solid"/>
          </a:ln>
        </p:spPr>
        <p:txBody>
          <a:bodyPr/>
          <a:lstStyle/>
          <a:p>
            <a:endParaRPr lang="es-ES"/>
          </a:p>
        </p:txBody>
      </p:sp>
      <p:sp>
        <p:nvSpPr>
          <p:cNvPr id="206" name="Text 204"/>
          <p:cNvSpPr/>
          <p:nvPr/>
        </p:nvSpPr>
        <p:spPr>
          <a:xfrm>
            <a:off x="7480066" y="969264"/>
            <a:ext cx="1152053" cy="73152"/>
          </a:xfrm>
          <a:prstGeom prst="rect">
            <a:avLst/>
          </a:prstGeom>
          <a:noFill/>
          <a:ln/>
        </p:spPr>
        <p:txBody>
          <a:bodyPr wrap="square" lIns="6350" tIns="6350" rIns="6350" bIns="6350" rtlCol="0" anchor="ctr"/>
          <a:lstStyle/>
          <a:p>
            <a:pPr marL="0" indent="0" algn="ctr">
              <a:buNone/>
            </a:pPr>
            <a:r>
              <a:rPr lang="en-US" sz="380" b="1" dirty="0">
                <a:solidFill>
                  <a:srgbClr val="5C1E00"/>
                </a:solidFill>
              </a:rPr>
              <a:t>Diseño y Contrato</a:t>
            </a:r>
            <a:endParaRPr lang="en-US" sz="380" dirty="0"/>
          </a:p>
        </p:txBody>
      </p:sp>
      <p:sp>
        <p:nvSpPr>
          <p:cNvPr id="207" name="Shape 205"/>
          <p:cNvSpPr/>
          <p:nvPr/>
        </p:nvSpPr>
        <p:spPr>
          <a:xfrm>
            <a:off x="7480066" y="1046988"/>
            <a:ext cx="1152053" cy="73152"/>
          </a:xfrm>
          <a:prstGeom prst="rect">
            <a:avLst/>
          </a:prstGeom>
          <a:solidFill>
            <a:srgbClr val="FFE5C0"/>
          </a:solidFill>
          <a:ln w="12700">
            <a:solidFill>
              <a:srgbClr val="FF6B00"/>
            </a:solidFill>
            <a:prstDash val="solid"/>
          </a:ln>
        </p:spPr>
        <p:txBody>
          <a:bodyPr/>
          <a:lstStyle/>
          <a:p>
            <a:endParaRPr lang="es-ES"/>
          </a:p>
        </p:txBody>
      </p:sp>
      <p:sp>
        <p:nvSpPr>
          <p:cNvPr id="208" name="Text 206"/>
          <p:cNvSpPr/>
          <p:nvPr/>
        </p:nvSpPr>
        <p:spPr>
          <a:xfrm>
            <a:off x="7480066" y="1046988"/>
            <a:ext cx="1152053" cy="73152"/>
          </a:xfrm>
          <a:prstGeom prst="rect">
            <a:avLst/>
          </a:prstGeom>
          <a:noFill/>
          <a:ln/>
        </p:spPr>
        <p:txBody>
          <a:bodyPr wrap="square" lIns="6350" tIns="6350" rIns="6350" bIns="6350" rtlCol="0" anchor="ctr"/>
          <a:lstStyle/>
          <a:p>
            <a:pPr marL="0" indent="0" algn="ctr">
              <a:buNone/>
            </a:pPr>
            <a:r>
              <a:rPr lang="en-US" sz="380" b="1" dirty="0">
                <a:solidFill>
                  <a:srgbClr val="5C1E00"/>
                </a:solidFill>
              </a:rPr>
              <a:t>Versionado</a:t>
            </a:r>
            <a:endParaRPr lang="en-US" sz="380" dirty="0"/>
          </a:p>
        </p:txBody>
      </p:sp>
      <p:sp>
        <p:nvSpPr>
          <p:cNvPr id="209" name="Shape 207"/>
          <p:cNvSpPr/>
          <p:nvPr/>
        </p:nvSpPr>
        <p:spPr>
          <a:xfrm>
            <a:off x="7480066" y="1124712"/>
            <a:ext cx="1152053" cy="73152"/>
          </a:xfrm>
          <a:prstGeom prst="rect">
            <a:avLst/>
          </a:prstGeom>
          <a:solidFill>
            <a:srgbClr val="F0F0F0"/>
          </a:solidFill>
          <a:ln w="3810">
            <a:solidFill>
              <a:srgbClr val="C8C8C8"/>
            </a:solidFill>
            <a:prstDash val="solid"/>
          </a:ln>
        </p:spPr>
        <p:txBody>
          <a:bodyPr/>
          <a:lstStyle/>
          <a:p>
            <a:endParaRPr lang="es-ES"/>
          </a:p>
        </p:txBody>
      </p:sp>
      <p:sp>
        <p:nvSpPr>
          <p:cNvPr id="210" name="Text 208"/>
          <p:cNvSpPr/>
          <p:nvPr/>
        </p:nvSpPr>
        <p:spPr>
          <a:xfrm>
            <a:off x="7480066" y="1124712"/>
            <a:ext cx="1152053" cy="73152"/>
          </a:xfrm>
          <a:prstGeom prst="rect">
            <a:avLst/>
          </a:prstGeom>
          <a:noFill/>
          <a:ln/>
        </p:spPr>
        <p:txBody>
          <a:bodyPr wrap="square" lIns="6350" tIns="6350" rIns="6350" bIns="6350" rtlCol="0" anchor="ctr"/>
          <a:lstStyle/>
          <a:p>
            <a:pPr marL="0" indent="0" algn="ctr">
              <a:buNone/>
            </a:pPr>
            <a:r>
              <a:rPr lang="en-US" sz="380" dirty="0">
                <a:solidFill>
                  <a:srgbClr val="909090"/>
                </a:solidFill>
              </a:rPr>
              <a:t>Publicación</a:t>
            </a:r>
            <a:endParaRPr lang="en-US" sz="380" dirty="0"/>
          </a:p>
        </p:txBody>
      </p:sp>
      <p:sp>
        <p:nvSpPr>
          <p:cNvPr id="211" name="Shape 209"/>
          <p:cNvSpPr/>
          <p:nvPr/>
        </p:nvSpPr>
        <p:spPr>
          <a:xfrm>
            <a:off x="7480066" y="1202436"/>
            <a:ext cx="1152053" cy="73152"/>
          </a:xfrm>
          <a:prstGeom prst="rect">
            <a:avLst/>
          </a:prstGeom>
          <a:solidFill>
            <a:srgbClr val="F0F0F0"/>
          </a:solidFill>
          <a:ln w="3810">
            <a:solidFill>
              <a:srgbClr val="C8C8C8"/>
            </a:solidFill>
            <a:prstDash val="solid"/>
          </a:ln>
        </p:spPr>
        <p:txBody>
          <a:bodyPr/>
          <a:lstStyle/>
          <a:p>
            <a:endParaRPr lang="es-ES"/>
          </a:p>
        </p:txBody>
      </p:sp>
      <p:sp>
        <p:nvSpPr>
          <p:cNvPr id="212" name="Text 210"/>
          <p:cNvSpPr/>
          <p:nvPr/>
        </p:nvSpPr>
        <p:spPr>
          <a:xfrm>
            <a:off x="7480066" y="1202436"/>
            <a:ext cx="1152053" cy="73152"/>
          </a:xfrm>
          <a:prstGeom prst="rect">
            <a:avLst/>
          </a:prstGeom>
          <a:noFill/>
          <a:ln/>
        </p:spPr>
        <p:txBody>
          <a:bodyPr wrap="square" lIns="6350" tIns="6350" rIns="6350" bIns="6350" rtlCol="0" anchor="ctr"/>
          <a:lstStyle/>
          <a:p>
            <a:pPr marL="0" indent="0" algn="ctr">
              <a:buNone/>
            </a:pPr>
            <a:r>
              <a:rPr lang="en-US" sz="380" dirty="0">
                <a:solidFill>
                  <a:srgbClr val="909090"/>
                </a:solidFill>
              </a:rPr>
              <a:t>Deprecación</a:t>
            </a:r>
            <a:endParaRPr lang="en-US" sz="380" dirty="0"/>
          </a:p>
        </p:txBody>
      </p:sp>
      <p:sp>
        <p:nvSpPr>
          <p:cNvPr id="213" name="Shape 211"/>
          <p:cNvSpPr/>
          <p:nvPr/>
        </p:nvSpPr>
        <p:spPr>
          <a:xfrm>
            <a:off x="8650407" y="850392"/>
            <a:ext cx="1152053" cy="109728"/>
          </a:xfrm>
          <a:prstGeom prst="rect">
            <a:avLst/>
          </a:prstGeom>
          <a:solidFill>
            <a:srgbClr val="E08800"/>
          </a:solidFill>
          <a:ln w="12700">
            <a:solidFill>
              <a:srgbClr val="E08800"/>
            </a:solidFill>
            <a:prstDash val="solid"/>
          </a:ln>
        </p:spPr>
        <p:txBody>
          <a:bodyPr/>
          <a:lstStyle/>
          <a:p>
            <a:endParaRPr lang="es-ES"/>
          </a:p>
        </p:txBody>
      </p:sp>
      <p:sp>
        <p:nvSpPr>
          <p:cNvPr id="214" name="Text 212"/>
          <p:cNvSpPr/>
          <p:nvPr/>
        </p:nvSpPr>
        <p:spPr>
          <a:xfrm>
            <a:off x="865040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API Manager</a:t>
            </a:r>
            <a:endParaRPr lang="en-US" sz="400" dirty="0"/>
          </a:p>
        </p:txBody>
      </p:sp>
      <p:sp>
        <p:nvSpPr>
          <p:cNvPr id="215" name="Shape 213"/>
          <p:cNvSpPr/>
          <p:nvPr/>
        </p:nvSpPr>
        <p:spPr>
          <a:xfrm>
            <a:off x="8650407" y="969264"/>
            <a:ext cx="1152053" cy="99060"/>
          </a:xfrm>
          <a:prstGeom prst="rect">
            <a:avLst/>
          </a:prstGeom>
          <a:solidFill>
            <a:srgbClr val="F0F0F0"/>
          </a:solidFill>
          <a:ln w="3810">
            <a:solidFill>
              <a:srgbClr val="C8C8C8"/>
            </a:solidFill>
            <a:prstDash val="solid"/>
          </a:ln>
        </p:spPr>
        <p:txBody>
          <a:bodyPr/>
          <a:lstStyle/>
          <a:p>
            <a:endParaRPr lang="es-ES"/>
          </a:p>
        </p:txBody>
      </p:sp>
      <p:sp>
        <p:nvSpPr>
          <p:cNvPr id="216" name="Text 214"/>
          <p:cNvSpPr/>
          <p:nvPr/>
        </p:nvSpPr>
        <p:spPr>
          <a:xfrm>
            <a:off x="865040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Admin. Políticas</a:t>
            </a:r>
            <a:endParaRPr lang="en-US" sz="380" dirty="0"/>
          </a:p>
        </p:txBody>
      </p:sp>
      <p:sp>
        <p:nvSpPr>
          <p:cNvPr id="217" name="Shape 215"/>
          <p:cNvSpPr/>
          <p:nvPr/>
        </p:nvSpPr>
        <p:spPr>
          <a:xfrm>
            <a:off x="8650407" y="1072896"/>
            <a:ext cx="1152053" cy="99060"/>
          </a:xfrm>
          <a:prstGeom prst="rect">
            <a:avLst/>
          </a:prstGeom>
          <a:solidFill>
            <a:srgbClr val="FFE5C0"/>
          </a:solidFill>
          <a:ln w="12700">
            <a:solidFill>
              <a:srgbClr val="FF6B00"/>
            </a:solidFill>
            <a:prstDash val="solid"/>
          </a:ln>
        </p:spPr>
        <p:txBody>
          <a:bodyPr/>
          <a:lstStyle/>
          <a:p>
            <a:endParaRPr lang="es-ES"/>
          </a:p>
        </p:txBody>
      </p:sp>
      <p:sp>
        <p:nvSpPr>
          <p:cNvPr id="218" name="Text 216"/>
          <p:cNvSpPr/>
          <p:nvPr/>
        </p:nvSpPr>
        <p:spPr>
          <a:xfrm>
            <a:off x="8650407" y="1072896"/>
            <a:ext cx="1152053" cy="99060"/>
          </a:xfrm>
          <a:prstGeom prst="rect">
            <a:avLst/>
          </a:prstGeom>
          <a:noFill/>
          <a:ln/>
        </p:spPr>
        <p:txBody>
          <a:bodyPr wrap="square" lIns="6350" tIns="6350" rIns="6350" bIns="6350" rtlCol="0" anchor="ctr"/>
          <a:lstStyle/>
          <a:p>
            <a:pPr marL="0" indent="0" algn="ctr">
              <a:buNone/>
            </a:pPr>
            <a:r>
              <a:rPr lang="en-US" sz="380" b="1" dirty="0">
                <a:solidFill>
                  <a:srgbClr val="5C1E00"/>
                </a:solidFill>
              </a:rPr>
              <a:t>Analítica/Monitoriz.</a:t>
            </a:r>
            <a:endParaRPr lang="en-US" sz="380" dirty="0"/>
          </a:p>
        </p:txBody>
      </p:sp>
      <p:sp>
        <p:nvSpPr>
          <p:cNvPr id="219" name="Shape 217"/>
          <p:cNvSpPr/>
          <p:nvPr/>
        </p:nvSpPr>
        <p:spPr>
          <a:xfrm>
            <a:off x="8650407" y="1176528"/>
            <a:ext cx="1152053" cy="99060"/>
          </a:xfrm>
          <a:prstGeom prst="rect">
            <a:avLst/>
          </a:prstGeom>
          <a:solidFill>
            <a:srgbClr val="F0F0F0"/>
          </a:solidFill>
          <a:ln w="3810">
            <a:solidFill>
              <a:srgbClr val="C8C8C8"/>
            </a:solidFill>
            <a:prstDash val="solid"/>
          </a:ln>
        </p:spPr>
        <p:txBody>
          <a:bodyPr/>
          <a:lstStyle/>
          <a:p>
            <a:endParaRPr lang="es-ES"/>
          </a:p>
        </p:txBody>
      </p:sp>
      <p:sp>
        <p:nvSpPr>
          <p:cNvPr id="220" name="Text 218"/>
          <p:cNvSpPr/>
          <p:nvPr/>
        </p:nvSpPr>
        <p:spPr>
          <a:xfrm>
            <a:off x="865040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Despliegue</a:t>
            </a:r>
            <a:endParaRPr lang="en-US" sz="380" dirty="0"/>
          </a:p>
        </p:txBody>
      </p:sp>
      <p:sp>
        <p:nvSpPr>
          <p:cNvPr id="221" name="Shape 219"/>
          <p:cNvSpPr/>
          <p:nvPr/>
        </p:nvSpPr>
        <p:spPr>
          <a:xfrm>
            <a:off x="9820747" y="850392"/>
            <a:ext cx="1152053" cy="109728"/>
          </a:xfrm>
          <a:prstGeom prst="rect">
            <a:avLst/>
          </a:prstGeom>
          <a:solidFill>
            <a:srgbClr val="C8C8C8"/>
          </a:solidFill>
          <a:ln w="12700">
            <a:solidFill>
              <a:srgbClr val="C8C8C8"/>
            </a:solidFill>
            <a:prstDash val="solid"/>
          </a:ln>
        </p:spPr>
        <p:txBody>
          <a:bodyPr/>
          <a:lstStyle/>
          <a:p>
            <a:endParaRPr lang="es-ES"/>
          </a:p>
        </p:txBody>
      </p:sp>
      <p:sp>
        <p:nvSpPr>
          <p:cNvPr id="222" name="Text 220"/>
          <p:cNvSpPr/>
          <p:nvPr/>
        </p:nvSpPr>
        <p:spPr>
          <a:xfrm>
            <a:off x="9820747" y="850392"/>
            <a:ext cx="1152053" cy="109728"/>
          </a:xfrm>
          <a:prstGeom prst="rect">
            <a:avLst/>
          </a:prstGeom>
          <a:noFill/>
          <a:ln/>
        </p:spPr>
        <p:txBody>
          <a:bodyPr wrap="square" lIns="6350" tIns="6350" rIns="6350" bIns="6350" rtlCol="0" anchor="ctr"/>
          <a:lstStyle/>
          <a:p>
            <a:pPr marL="0" indent="0" algn="ctr">
              <a:buNone/>
            </a:pPr>
            <a:r>
              <a:rPr lang="en-US" sz="400" b="1" dirty="0">
                <a:solidFill>
                  <a:srgbClr val="FFFFFF"/>
                </a:solidFill>
              </a:rPr>
              <a:t>Portal Desarrolladores</a:t>
            </a:r>
            <a:endParaRPr lang="en-US" sz="400" dirty="0"/>
          </a:p>
        </p:txBody>
      </p:sp>
      <p:sp>
        <p:nvSpPr>
          <p:cNvPr id="223" name="Shape 221"/>
          <p:cNvSpPr/>
          <p:nvPr/>
        </p:nvSpPr>
        <p:spPr>
          <a:xfrm>
            <a:off x="9820747" y="969264"/>
            <a:ext cx="1152053" cy="99060"/>
          </a:xfrm>
          <a:prstGeom prst="rect">
            <a:avLst/>
          </a:prstGeom>
          <a:solidFill>
            <a:srgbClr val="F0F0F0"/>
          </a:solidFill>
          <a:ln w="3810">
            <a:solidFill>
              <a:srgbClr val="C8C8C8"/>
            </a:solidFill>
            <a:prstDash val="solid"/>
          </a:ln>
        </p:spPr>
        <p:txBody>
          <a:bodyPr/>
          <a:lstStyle/>
          <a:p>
            <a:endParaRPr lang="es-ES"/>
          </a:p>
        </p:txBody>
      </p:sp>
      <p:sp>
        <p:nvSpPr>
          <p:cNvPr id="224" name="Text 222"/>
          <p:cNvSpPr/>
          <p:nvPr/>
        </p:nvSpPr>
        <p:spPr>
          <a:xfrm>
            <a:off x="9820747" y="969264"/>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Catálogo y Docs</a:t>
            </a:r>
            <a:endParaRPr lang="en-US" sz="380" dirty="0"/>
          </a:p>
        </p:txBody>
      </p:sp>
      <p:sp>
        <p:nvSpPr>
          <p:cNvPr id="225" name="Shape 223"/>
          <p:cNvSpPr/>
          <p:nvPr/>
        </p:nvSpPr>
        <p:spPr>
          <a:xfrm>
            <a:off x="9820747" y="1072896"/>
            <a:ext cx="1152053" cy="99060"/>
          </a:xfrm>
          <a:prstGeom prst="rect">
            <a:avLst/>
          </a:prstGeom>
          <a:solidFill>
            <a:srgbClr val="F0F0F0"/>
          </a:solidFill>
          <a:ln w="3810">
            <a:solidFill>
              <a:srgbClr val="C8C8C8"/>
            </a:solidFill>
            <a:prstDash val="solid"/>
          </a:ln>
        </p:spPr>
        <p:txBody>
          <a:bodyPr/>
          <a:lstStyle/>
          <a:p>
            <a:endParaRPr lang="es-ES"/>
          </a:p>
        </p:txBody>
      </p:sp>
      <p:sp>
        <p:nvSpPr>
          <p:cNvPr id="226" name="Text 224"/>
          <p:cNvSpPr/>
          <p:nvPr/>
        </p:nvSpPr>
        <p:spPr>
          <a:xfrm>
            <a:off x="9820747" y="1072896"/>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Registro/Autoservicio</a:t>
            </a:r>
            <a:endParaRPr lang="en-US" sz="380" dirty="0"/>
          </a:p>
        </p:txBody>
      </p:sp>
      <p:sp>
        <p:nvSpPr>
          <p:cNvPr id="227" name="Shape 225"/>
          <p:cNvSpPr/>
          <p:nvPr/>
        </p:nvSpPr>
        <p:spPr>
          <a:xfrm>
            <a:off x="9820747" y="1176528"/>
            <a:ext cx="1152053" cy="99060"/>
          </a:xfrm>
          <a:prstGeom prst="rect">
            <a:avLst/>
          </a:prstGeom>
          <a:solidFill>
            <a:srgbClr val="F0F0F0"/>
          </a:solidFill>
          <a:ln w="3810">
            <a:solidFill>
              <a:srgbClr val="C8C8C8"/>
            </a:solidFill>
            <a:prstDash val="solid"/>
          </a:ln>
        </p:spPr>
        <p:txBody>
          <a:bodyPr/>
          <a:lstStyle/>
          <a:p>
            <a:endParaRPr lang="es-ES"/>
          </a:p>
        </p:txBody>
      </p:sp>
      <p:sp>
        <p:nvSpPr>
          <p:cNvPr id="228" name="Text 226"/>
          <p:cNvSpPr/>
          <p:nvPr/>
        </p:nvSpPr>
        <p:spPr>
          <a:xfrm>
            <a:off x="9820747" y="1176528"/>
            <a:ext cx="1152053" cy="99060"/>
          </a:xfrm>
          <a:prstGeom prst="rect">
            <a:avLst/>
          </a:prstGeom>
          <a:noFill/>
          <a:ln/>
        </p:spPr>
        <p:txBody>
          <a:bodyPr wrap="square" lIns="6350" tIns="6350" rIns="6350" bIns="6350" rtlCol="0" anchor="ctr"/>
          <a:lstStyle/>
          <a:p>
            <a:pPr marL="0" indent="0" algn="ctr">
              <a:buNone/>
            </a:pPr>
            <a:r>
              <a:rPr lang="en-US" sz="380" dirty="0">
                <a:solidFill>
                  <a:srgbClr val="909090"/>
                </a:solidFill>
              </a:rPr>
              <a:t>Colaboración</a:t>
            </a:r>
            <a:endParaRPr lang="en-US" sz="380" dirty="0"/>
          </a:p>
        </p:txBody>
      </p:sp>
      <p:sp>
        <p:nvSpPr>
          <p:cNvPr id="229" name="Shape 227"/>
          <p:cNvSpPr/>
          <p:nvPr/>
        </p:nvSpPr>
        <p:spPr>
          <a:xfrm>
            <a:off x="1152144" y="1316736"/>
            <a:ext cx="9848088" cy="634365"/>
          </a:xfrm>
          <a:prstGeom prst="rect">
            <a:avLst/>
          </a:prstGeom>
          <a:solidFill>
            <a:srgbClr val="FFE5C0"/>
          </a:solidFill>
          <a:ln w="19050">
            <a:solidFill>
              <a:srgbClr val="FF6B00"/>
            </a:solidFill>
            <a:prstDash val="solid"/>
          </a:ln>
        </p:spPr>
        <p:txBody>
          <a:bodyPr/>
          <a:lstStyle/>
          <a:p>
            <a:endParaRPr lang="es-ES"/>
          </a:p>
        </p:txBody>
      </p:sp>
      <p:sp>
        <p:nvSpPr>
          <p:cNvPr id="230" name="Shape 228"/>
          <p:cNvSpPr/>
          <p:nvPr/>
        </p:nvSpPr>
        <p:spPr>
          <a:xfrm>
            <a:off x="1152144" y="1316736"/>
            <a:ext cx="9848088" cy="128016"/>
          </a:xfrm>
          <a:prstGeom prst="rect">
            <a:avLst/>
          </a:prstGeom>
          <a:solidFill>
            <a:srgbClr val="FF6B00"/>
          </a:solidFill>
          <a:ln w="12700">
            <a:solidFill>
              <a:srgbClr val="FF6B00"/>
            </a:solidFill>
            <a:prstDash val="solid"/>
          </a:ln>
        </p:spPr>
        <p:txBody>
          <a:bodyPr/>
          <a:lstStyle/>
          <a:p>
            <a:endParaRPr lang="es-ES"/>
          </a:p>
        </p:txBody>
      </p:sp>
      <p:sp>
        <p:nvSpPr>
          <p:cNvPr id="231" name="Text 229"/>
          <p:cNvSpPr/>
          <p:nvPr/>
        </p:nvSpPr>
        <p:spPr>
          <a:xfrm>
            <a:off x="1188720" y="1316736"/>
            <a:ext cx="9555480" cy="128016"/>
          </a:xfrm>
          <a:prstGeom prst="rect">
            <a:avLst/>
          </a:prstGeom>
          <a:noFill/>
          <a:ln/>
        </p:spPr>
        <p:txBody>
          <a:bodyPr wrap="square" rtlCol="0" anchor="ctr"/>
          <a:lstStyle/>
          <a:p>
            <a:pPr marL="0" indent="0" algn="l">
              <a:buNone/>
            </a:pPr>
            <a:r>
              <a:rPr lang="en-US" sz="550" b="1" dirty="0">
                <a:solidFill>
                  <a:srgbClr val="FFFFFF"/>
                </a:solidFill>
              </a:rPr>
              <a:t>Orquestación de Servicio</a:t>
            </a:r>
            <a:endParaRPr lang="en-US" sz="550" dirty="0"/>
          </a:p>
        </p:txBody>
      </p:sp>
      <p:sp>
        <p:nvSpPr>
          <p:cNvPr id="232" name="Shape 230"/>
          <p:cNvSpPr/>
          <p:nvPr/>
        </p:nvSpPr>
        <p:spPr>
          <a:xfrm>
            <a:off x="10753344" y="1330452"/>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233" name="Text 231"/>
          <p:cNvSpPr/>
          <p:nvPr/>
        </p:nvSpPr>
        <p:spPr>
          <a:xfrm>
            <a:off x="10753344" y="1330452"/>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234" name="Shape 232"/>
          <p:cNvSpPr/>
          <p:nvPr/>
        </p:nvSpPr>
        <p:spPr>
          <a:xfrm>
            <a:off x="1170432"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35" name="Text 233"/>
          <p:cNvSpPr/>
          <p:nvPr/>
        </p:nvSpPr>
        <p:spPr>
          <a:xfrm>
            <a:off x="1170432"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Orquestador de Servicios</a:t>
            </a:r>
            <a:endParaRPr lang="en-US" sz="400" dirty="0"/>
          </a:p>
        </p:txBody>
      </p:sp>
      <p:sp>
        <p:nvSpPr>
          <p:cNvPr id="236" name="Shape 234"/>
          <p:cNvSpPr/>
          <p:nvPr/>
        </p:nvSpPr>
        <p:spPr>
          <a:xfrm>
            <a:off x="1170432" y="1563624"/>
            <a:ext cx="2434590" cy="90011"/>
          </a:xfrm>
          <a:prstGeom prst="rect">
            <a:avLst/>
          </a:prstGeom>
          <a:solidFill>
            <a:srgbClr val="FFE5C0"/>
          </a:solidFill>
          <a:ln w="12700">
            <a:solidFill>
              <a:srgbClr val="FF6B00"/>
            </a:solidFill>
            <a:prstDash val="solid"/>
          </a:ln>
        </p:spPr>
        <p:txBody>
          <a:bodyPr/>
          <a:lstStyle/>
          <a:p>
            <a:endParaRPr lang="es-ES"/>
          </a:p>
        </p:txBody>
      </p:sp>
      <p:sp>
        <p:nvSpPr>
          <p:cNvPr id="237" name="Text 235"/>
          <p:cNvSpPr/>
          <p:nvPr/>
        </p:nvSpPr>
        <p:spPr>
          <a:xfrm>
            <a:off x="1170432" y="156362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Composición y Secuenciación</a:t>
            </a:r>
            <a:endParaRPr lang="en-US" sz="380" dirty="0"/>
          </a:p>
        </p:txBody>
      </p:sp>
      <p:sp>
        <p:nvSpPr>
          <p:cNvPr id="238" name="Shape 236"/>
          <p:cNvSpPr/>
          <p:nvPr/>
        </p:nvSpPr>
        <p:spPr>
          <a:xfrm>
            <a:off x="1170432" y="1658207"/>
            <a:ext cx="2434590" cy="90011"/>
          </a:xfrm>
          <a:prstGeom prst="rect">
            <a:avLst/>
          </a:prstGeom>
          <a:solidFill>
            <a:srgbClr val="FFE5C0"/>
          </a:solidFill>
          <a:ln w="12700">
            <a:solidFill>
              <a:srgbClr val="FF6B00"/>
            </a:solidFill>
            <a:prstDash val="solid"/>
          </a:ln>
        </p:spPr>
        <p:txBody>
          <a:bodyPr/>
          <a:lstStyle/>
          <a:p>
            <a:endParaRPr lang="es-ES"/>
          </a:p>
        </p:txBody>
      </p:sp>
      <p:sp>
        <p:nvSpPr>
          <p:cNvPr id="239" name="Text 237"/>
          <p:cNvSpPr/>
          <p:nvPr/>
        </p:nvSpPr>
        <p:spPr>
          <a:xfrm>
            <a:off x="1170432" y="1658207"/>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Ejecución Paralela/Condicional</a:t>
            </a:r>
            <a:endParaRPr lang="en-US" sz="380" dirty="0"/>
          </a:p>
        </p:txBody>
      </p:sp>
      <p:sp>
        <p:nvSpPr>
          <p:cNvPr id="240" name="Shape 238"/>
          <p:cNvSpPr/>
          <p:nvPr/>
        </p:nvSpPr>
        <p:spPr>
          <a:xfrm>
            <a:off x="1170432" y="1752791"/>
            <a:ext cx="2434590" cy="90011"/>
          </a:xfrm>
          <a:prstGeom prst="rect">
            <a:avLst/>
          </a:prstGeom>
          <a:solidFill>
            <a:srgbClr val="FFE5C0"/>
          </a:solidFill>
          <a:ln w="12700">
            <a:solidFill>
              <a:srgbClr val="FF6B00"/>
            </a:solidFill>
            <a:prstDash val="solid"/>
          </a:ln>
        </p:spPr>
        <p:txBody>
          <a:bodyPr/>
          <a:lstStyle/>
          <a:p>
            <a:endParaRPr lang="es-ES"/>
          </a:p>
        </p:txBody>
      </p:sp>
      <p:sp>
        <p:nvSpPr>
          <p:cNvPr id="241" name="Text 239"/>
          <p:cNvSpPr/>
          <p:nvPr/>
        </p:nvSpPr>
        <p:spPr>
          <a:xfrm>
            <a:off x="1170432"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de Invocaciones</a:t>
            </a:r>
            <a:endParaRPr lang="en-US" sz="380" dirty="0"/>
          </a:p>
        </p:txBody>
      </p:sp>
      <p:sp>
        <p:nvSpPr>
          <p:cNvPr id="242" name="Shape 240"/>
          <p:cNvSpPr/>
          <p:nvPr/>
        </p:nvSpPr>
        <p:spPr>
          <a:xfrm>
            <a:off x="1170432" y="1847374"/>
            <a:ext cx="2434590" cy="90011"/>
          </a:xfrm>
          <a:prstGeom prst="rect">
            <a:avLst/>
          </a:prstGeom>
          <a:solidFill>
            <a:srgbClr val="FFE5C0"/>
          </a:solidFill>
          <a:ln w="12700">
            <a:solidFill>
              <a:srgbClr val="FF6B00"/>
            </a:solidFill>
            <a:prstDash val="solid"/>
          </a:ln>
        </p:spPr>
        <p:txBody>
          <a:bodyPr/>
          <a:lstStyle/>
          <a:p>
            <a:endParaRPr lang="es-ES"/>
          </a:p>
        </p:txBody>
      </p:sp>
      <p:sp>
        <p:nvSpPr>
          <p:cNvPr id="243" name="Text 241"/>
          <p:cNvSpPr/>
          <p:nvPr/>
        </p:nvSpPr>
        <p:spPr>
          <a:xfrm>
            <a:off x="1170432" y="184737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Orquestación</a:t>
            </a:r>
            <a:endParaRPr lang="en-US" sz="380" dirty="0"/>
          </a:p>
        </p:txBody>
      </p:sp>
      <p:sp>
        <p:nvSpPr>
          <p:cNvPr id="244" name="Shape 242"/>
          <p:cNvSpPr/>
          <p:nvPr/>
        </p:nvSpPr>
        <p:spPr>
          <a:xfrm>
            <a:off x="3623310"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45" name="Text 243"/>
          <p:cNvSpPr/>
          <p:nvPr/>
        </p:nvSpPr>
        <p:spPr>
          <a:xfrm>
            <a:off x="3623310"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Marco Integración y Mediación</a:t>
            </a:r>
            <a:endParaRPr lang="en-US" sz="400" dirty="0"/>
          </a:p>
        </p:txBody>
      </p:sp>
      <p:sp>
        <p:nvSpPr>
          <p:cNvPr id="246" name="Shape 244"/>
          <p:cNvSpPr/>
          <p:nvPr/>
        </p:nvSpPr>
        <p:spPr>
          <a:xfrm>
            <a:off x="3623310" y="1563624"/>
            <a:ext cx="2434590" cy="121539"/>
          </a:xfrm>
          <a:prstGeom prst="rect">
            <a:avLst/>
          </a:prstGeom>
          <a:solidFill>
            <a:srgbClr val="FFE5C0"/>
          </a:solidFill>
          <a:ln w="12700">
            <a:solidFill>
              <a:srgbClr val="FF6B00"/>
            </a:solidFill>
            <a:prstDash val="solid"/>
          </a:ln>
        </p:spPr>
        <p:txBody>
          <a:bodyPr/>
          <a:lstStyle/>
          <a:p>
            <a:endParaRPr lang="es-ES"/>
          </a:p>
        </p:txBody>
      </p:sp>
      <p:sp>
        <p:nvSpPr>
          <p:cNvPr id="247" name="Text 245"/>
          <p:cNvSpPr/>
          <p:nvPr/>
        </p:nvSpPr>
        <p:spPr>
          <a:xfrm>
            <a:off x="3623310" y="156362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Transformación y Mapeo de Mensajes</a:t>
            </a:r>
            <a:endParaRPr lang="en-US" sz="380" dirty="0"/>
          </a:p>
        </p:txBody>
      </p:sp>
      <p:sp>
        <p:nvSpPr>
          <p:cNvPr id="248" name="Shape 246"/>
          <p:cNvSpPr/>
          <p:nvPr/>
        </p:nvSpPr>
        <p:spPr>
          <a:xfrm>
            <a:off x="3623310" y="1689735"/>
            <a:ext cx="2434590" cy="121539"/>
          </a:xfrm>
          <a:prstGeom prst="rect">
            <a:avLst/>
          </a:prstGeom>
          <a:solidFill>
            <a:srgbClr val="FFE5C0"/>
          </a:solidFill>
          <a:ln w="12700">
            <a:solidFill>
              <a:srgbClr val="FF6B00"/>
            </a:solidFill>
            <a:prstDash val="solid"/>
          </a:ln>
        </p:spPr>
        <p:txBody>
          <a:bodyPr/>
          <a:lstStyle/>
          <a:p>
            <a:endParaRPr lang="es-ES"/>
          </a:p>
        </p:txBody>
      </p:sp>
      <p:sp>
        <p:nvSpPr>
          <p:cNvPr id="249" name="Text 247"/>
          <p:cNvSpPr/>
          <p:nvPr/>
        </p:nvSpPr>
        <p:spPr>
          <a:xfrm>
            <a:off x="3623310" y="1689735"/>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Protocol Bridging</a:t>
            </a:r>
            <a:endParaRPr lang="en-US" sz="380" dirty="0"/>
          </a:p>
        </p:txBody>
      </p:sp>
      <p:sp>
        <p:nvSpPr>
          <p:cNvPr id="250" name="Shape 248"/>
          <p:cNvSpPr/>
          <p:nvPr/>
        </p:nvSpPr>
        <p:spPr>
          <a:xfrm>
            <a:off x="3623310" y="1815846"/>
            <a:ext cx="2434590" cy="121539"/>
          </a:xfrm>
          <a:prstGeom prst="rect">
            <a:avLst/>
          </a:prstGeom>
          <a:solidFill>
            <a:srgbClr val="FFE5C0"/>
          </a:solidFill>
          <a:ln w="12700">
            <a:solidFill>
              <a:srgbClr val="FF6B00"/>
            </a:solidFill>
            <a:prstDash val="solid"/>
          </a:ln>
        </p:spPr>
        <p:txBody>
          <a:bodyPr/>
          <a:lstStyle/>
          <a:p>
            <a:endParaRPr lang="es-ES"/>
          </a:p>
        </p:txBody>
      </p:sp>
      <p:sp>
        <p:nvSpPr>
          <p:cNvPr id="251" name="Text 249"/>
          <p:cNvSpPr/>
          <p:nvPr/>
        </p:nvSpPr>
        <p:spPr>
          <a:xfrm>
            <a:off x="3623310" y="1815846"/>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Mapeo Dinámico y Gov. Esquemas</a:t>
            </a:r>
            <a:endParaRPr lang="en-US" sz="380" dirty="0"/>
          </a:p>
        </p:txBody>
      </p:sp>
      <p:sp>
        <p:nvSpPr>
          <p:cNvPr id="252" name="Shape 250"/>
          <p:cNvSpPr/>
          <p:nvPr/>
        </p:nvSpPr>
        <p:spPr>
          <a:xfrm>
            <a:off x="6076188"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53" name="Text 251"/>
          <p:cNvSpPr/>
          <p:nvPr/>
        </p:nvSpPr>
        <p:spPr>
          <a:xfrm>
            <a:off x="6076188"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de Contexto</a:t>
            </a:r>
            <a:endParaRPr lang="en-US" sz="400" dirty="0"/>
          </a:p>
        </p:txBody>
      </p:sp>
      <p:sp>
        <p:nvSpPr>
          <p:cNvPr id="254" name="Shape 252"/>
          <p:cNvSpPr/>
          <p:nvPr/>
        </p:nvSpPr>
        <p:spPr>
          <a:xfrm>
            <a:off x="6076188" y="1563624"/>
            <a:ext cx="2434590" cy="184594"/>
          </a:xfrm>
          <a:prstGeom prst="rect">
            <a:avLst/>
          </a:prstGeom>
          <a:solidFill>
            <a:srgbClr val="FFE5C0"/>
          </a:solidFill>
          <a:ln w="12700">
            <a:solidFill>
              <a:srgbClr val="FF6B00"/>
            </a:solidFill>
            <a:prstDash val="solid"/>
          </a:ln>
        </p:spPr>
        <p:txBody>
          <a:bodyPr/>
          <a:lstStyle/>
          <a:p>
            <a:endParaRPr lang="es-ES"/>
          </a:p>
        </p:txBody>
      </p:sp>
      <p:sp>
        <p:nvSpPr>
          <p:cNvPr id="255" name="Text 253"/>
          <p:cNvSpPr/>
          <p:nvPr/>
        </p:nvSpPr>
        <p:spPr>
          <a:xfrm>
            <a:off x="6076188" y="1563624"/>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Propagación Contexto de Solicitud</a:t>
            </a:r>
            <a:endParaRPr lang="en-US" sz="380" dirty="0"/>
          </a:p>
        </p:txBody>
      </p:sp>
      <p:sp>
        <p:nvSpPr>
          <p:cNvPr id="256" name="Shape 254"/>
          <p:cNvSpPr/>
          <p:nvPr/>
        </p:nvSpPr>
        <p:spPr>
          <a:xfrm>
            <a:off x="6076188" y="1752791"/>
            <a:ext cx="2434590" cy="184594"/>
          </a:xfrm>
          <a:prstGeom prst="rect">
            <a:avLst/>
          </a:prstGeom>
          <a:solidFill>
            <a:srgbClr val="FFE5C0"/>
          </a:solidFill>
          <a:ln w="12700">
            <a:solidFill>
              <a:srgbClr val="FF6B00"/>
            </a:solidFill>
            <a:prstDash val="solid"/>
          </a:ln>
        </p:spPr>
        <p:txBody>
          <a:bodyPr/>
          <a:lstStyle/>
          <a:p>
            <a:endParaRPr lang="es-ES"/>
          </a:p>
        </p:txBody>
      </p:sp>
      <p:sp>
        <p:nvSpPr>
          <p:cNvPr id="257" name="Text 255"/>
          <p:cNvSpPr/>
          <p:nvPr/>
        </p:nvSpPr>
        <p:spPr>
          <a:xfrm>
            <a:off x="6076188" y="175279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Registro de Servicios y Reglas</a:t>
            </a:r>
            <a:endParaRPr lang="en-US" sz="380" dirty="0"/>
          </a:p>
        </p:txBody>
      </p:sp>
      <p:sp>
        <p:nvSpPr>
          <p:cNvPr id="258" name="Shape 256"/>
          <p:cNvSpPr/>
          <p:nvPr/>
        </p:nvSpPr>
        <p:spPr>
          <a:xfrm>
            <a:off x="8529066" y="1453896"/>
            <a:ext cx="2434590" cy="100584"/>
          </a:xfrm>
          <a:prstGeom prst="rect">
            <a:avLst/>
          </a:prstGeom>
          <a:solidFill>
            <a:srgbClr val="FF6B00"/>
          </a:solidFill>
          <a:ln w="12700">
            <a:solidFill>
              <a:srgbClr val="FF6B00"/>
            </a:solidFill>
            <a:prstDash val="solid"/>
          </a:ln>
        </p:spPr>
        <p:txBody>
          <a:bodyPr/>
          <a:lstStyle/>
          <a:p>
            <a:endParaRPr lang="es-ES"/>
          </a:p>
        </p:txBody>
      </p:sp>
      <p:sp>
        <p:nvSpPr>
          <p:cNvPr id="259" name="Text 257"/>
          <p:cNvSpPr/>
          <p:nvPr/>
        </p:nvSpPr>
        <p:spPr>
          <a:xfrm>
            <a:off x="8529066" y="1453896"/>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Adaptadores Heredados</a:t>
            </a:r>
            <a:endParaRPr lang="en-US" sz="400" dirty="0"/>
          </a:p>
        </p:txBody>
      </p:sp>
      <p:sp>
        <p:nvSpPr>
          <p:cNvPr id="260" name="Shape 258"/>
          <p:cNvSpPr/>
          <p:nvPr/>
        </p:nvSpPr>
        <p:spPr>
          <a:xfrm>
            <a:off x="8529066" y="1563624"/>
            <a:ext cx="2434590" cy="90011"/>
          </a:xfrm>
          <a:prstGeom prst="rect">
            <a:avLst/>
          </a:prstGeom>
          <a:solidFill>
            <a:srgbClr val="FFE5C0"/>
          </a:solidFill>
          <a:ln w="12700">
            <a:solidFill>
              <a:srgbClr val="FF6B00"/>
            </a:solidFill>
            <a:prstDash val="solid"/>
          </a:ln>
        </p:spPr>
        <p:txBody>
          <a:bodyPr/>
          <a:lstStyle/>
          <a:p>
            <a:endParaRPr lang="es-ES"/>
          </a:p>
        </p:txBody>
      </p:sp>
      <p:sp>
        <p:nvSpPr>
          <p:cNvPr id="261" name="Text 259"/>
          <p:cNvSpPr/>
          <p:nvPr/>
        </p:nvSpPr>
        <p:spPr>
          <a:xfrm>
            <a:off x="8529066" y="156362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Wrappers y Exposición de Legado</a:t>
            </a:r>
            <a:endParaRPr lang="en-US" sz="380" dirty="0"/>
          </a:p>
        </p:txBody>
      </p:sp>
      <p:sp>
        <p:nvSpPr>
          <p:cNvPr id="262" name="Shape 260"/>
          <p:cNvSpPr/>
          <p:nvPr/>
        </p:nvSpPr>
        <p:spPr>
          <a:xfrm>
            <a:off x="8529066" y="1658207"/>
            <a:ext cx="2434590" cy="90011"/>
          </a:xfrm>
          <a:prstGeom prst="rect">
            <a:avLst/>
          </a:prstGeom>
          <a:solidFill>
            <a:srgbClr val="FFE5C0"/>
          </a:solidFill>
          <a:ln w="12700">
            <a:solidFill>
              <a:srgbClr val="FF6B00"/>
            </a:solidFill>
            <a:prstDash val="solid"/>
          </a:ln>
        </p:spPr>
        <p:txBody>
          <a:bodyPr/>
          <a:lstStyle/>
          <a:p>
            <a:endParaRPr lang="es-ES"/>
          </a:p>
        </p:txBody>
      </p:sp>
      <p:sp>
        <p:nvSpPr>
          <p:cNvPr id="263" name="Text 261"/>
          <p:cNvSpPr/>
          <p:nvPr/>
        </p:nvSpPr>
        <p:spPr>
          <a:xfrm>
            <a:off x="8529066" y="1658207"/>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Adaptadores de Plataforma</a:t>
            </a:r>
            <a:endParaRPr lang="en-US" sz="380" dirty="0"/>
          </a:p>
        </p:txBody>
      </p:sp>
      <p:sp>
        <p:nvSpPr>
          <p:cNvPr id="264" name="Shape 262"/>
          <p:cNvSpPr/>
          <p:nvPr/>
        </p:nvSpPr>
        <p:spPr>
          <a:xfrm>
            <a:off x="8529066" y="1752791"/>
            <a:ext cx="2434590" cy="90011"/>
          </a:xfrm>
          <a:prstGeom prst="rect">
            <a:avLst/>
          </a:prstGeom>
          <a:solidFill>
            <a:srgbClr val="FFE5C0"/>
          </a:solidFill>
          <a:ln w="12700">
            <a:solidFill>
              <a:srgbClr val="FF6B00"/>
            </a:solidFill>
            <a:prstDash val="solid"/>
          </a:ln>
        </p:spPr>
        <p:txBody>
          <a:bodyPr/>
          <a:lstStyle/>
          <a:p>
            <a:endParaRPr lang="es-ES"/>
          </a:p>
        </p:txBody>
      </p:sp>
      <p:sp>
        <p:nvSpPr>
          <p:cNvPr id="265" name="Text 263"/>
          <p:cNvSpPr/>
          <p:nvPr/>
        </p:nvSpPr>
        <p:spPr>
          <a:xfrm>
            <a:off x="8529066" y="175279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Batch &amp; Sincroniz. Datos Legado</a:t>
            </a:r>
            <a:endParaRPr lang="en-US" sz="380" dirty="0"/>
          </a:p>
        </p:txBody>
      </p:sp>
      <p:sp>
        <p:nvSpPr>
          <p:cNvPr id="266" name="Shape 264"/>
          <p:cNvSpPr/>
          <p:nvPr/>
        </p:nvSpPr>
        <p:spPr>
          <a:xfrm>
            <a:off x="8529066" y="1847374"/>
            <a:ext cx="2434590" cy="90011"/>
          </a:xfrm>
          <a:prstGeom prst="rect">
            <a:avLst/>
          </a:prstGeom>
          <a:solidFill>
            <a:srgbClr val="FFE5C0"/>
          </a:solidFill>
          <a:ln w="12700">
            <a:solidFill>
              <a:srgbClr val="FF6B00"/>
            </a:solidFill>
            <a:prstDash val="solid"/>
          </a:ln>
        </p:spPr>
        <p:txBody>
          <a:bodyPr/>
          <a:lstStyle/>
          <a:p>
            <a:endParaRPr lang="es-ES"/>
          </a:p>
        </p:txBody>
      </p:sp>
      <p:sp>
        <p:nvSpPr>
          <p:cNvPr id="267" name="Text 265"/>
          <p:cNvSpPr/>
          <p:nvPr/>
        </p:nvSpPr>
        <p:spPr>
          <a:xfrm>
            <a:off x="8529066" y="1847374"/>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Ciclo de Vida Adaptadores</a:t>
            </a:r>
            <a:endParaRPr lang="en-US" sz="380" dirty="0"/>
          </a:p>
        </p:txBody>
      </p:sp>
      <p:sp>
        <p:nvSpPr>
          <p:cNvPr id="268" name="Shape 266"/>
          <p:cNvSpPr/>
          <p:nvPr/>
        </p:nvSpPr>
        <p:spPr>
          <a:xfrm>
            <a:off x="1152144" y="1978533"/>
            <a:ext cx="9848088" cy="634365"/>
          </a:xfrm>
          <a:prstGeom prst="rect">
            <a:avLst/>
          </a:prstGeom>
          <a:solidFill>
            <a:srgbClr val="FFE5C0"/>
          </a:solidFill>
          <a:ln w="19050">
            <a:solidFill>
              <a:srgbClr val="FF6B00"/>
            </a:solidFill>
            <a:prstDash val="solid"/>
          </a:ln>
        </p:spPr>
        <p:txBody>
          <a:bodyPr/>
          <a:lstStyle/>
          <a:p>
            <a:endParaRPr lang="es-ES"/>
          </a:p>
        </p:txBody>
      </p:sp>
      <p:sp>
        <p:nvSpPr>
          <p:cNvPr id="269" name="Shape 267"/>
          <p:cNvSpPr/>
          <p:nvPr/>
        </p:nvSpPr>
        <p:spPr>
          <a:xfrm>
            <a:off x="1152144" y="1978533"/>
            <a:ext cx="9848088" cy="128016"/>
          </a:xfrm>
          <a:prstGeom prst="rect">
            <a:avLst/>
          </a:prstGeom>
          <a:solidFill>
            <a:srgbClr val="FF6B00"/>
          </a:solidFill>
          <a:ln w="12700">
            <a:solidFill>
              <a:srgbClr val="FF6B00"/>
            </a:solidFill>
            <a:prstDash val="solid"/>
          </a:ln>
        </p:spPr>
        <p:txBody>
          <a:bodyPr/>
          <a:lstStyle/>
          <a:p>
            <a:endParaRPr lang="es-ES"/>
          </a:p>
        </p:txBody>
      </p:sp>
      <p:sp>
        <p:nvSpPr>
          <p:cNvPr id="270" name="Text 268"/>
          <p:cNvSpPr/>
          <p:nvPr/>
        </p:nvSpPr>
        <p:spPr>
          <a:xfrm>
            <a:off x="1188720" y="1978533"/>
            <a:ext cx="9555480" cy="128016"/>
          </a:xfrm>
          <a:prstGeom prst="rect">
            <a:avLst/>
          </a:prstGeom>
          <a:noFill/>
          <a:ln/>
        </p:spPr>
        <p:txBody>
          <a:bodyPr wrap="square" rtlCol="0" anchor="ctr"/>
          <a:lstStyle/>
          <a:p>
            <a:pPr marL="0" indent="0" algn="l">
              <a:buNone/>
            </a:pPr>
            <a:r>
              <a:rPr lang="en-US" sz="550" b="1" dirty="0">
                <a:solidFill>
                  <a:srgbClr val="FFFFFF"/>
                </a:solidFill>
              </a:rPr>
              <a:t>Orquestación de Procesos</a:t>
            </a:r>
            <a:endParaRPr lang="en-US" sz="550" dirty="0"/>
          </a:p>
        </p:txBody>
      </p:sp>
      <p:sp>
        <p:nvSpPr>
          <p:cNvPr id="271" name="Shape 269"/>
          <p:cNvSpPr/>
          <p:nvPr/>
        </p:nvSpPr>
        <p:spPr>
          <a:xfrm>
            <a:off x="10753344" y="1992249"/>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272" name="Text 270"/>
          <p:cNvSpPr/>
          <p:nvPr/>
        </p:nvSpPr>
        <p:spPr>
          <a:xfrm>
            <a:off x="10753344" y="1992249"/>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273" name="Shape 271"/>
          <p:cNvSpPr/>
          <p:nvPr/>
        </p:nvSpPr>
        <p:spPr>
          <a:xfrm>
            <a:off x="1170432"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74" name="Text 272"/>
          <p:cNvSpPr/>
          <p:nvPr/>
        </p:nvSpPr>
        <p:spPr>
          <a:xfrm>
            <a:off x="1170432"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de Workflow</a:t>
            </a:r>
            <a:endParaRPr lang="en-US" sz="400" dirty="0"/>
          </a:p>
        </p:txBody>
      </p:sp>
      <p:sp>
        <p:nvSpPr>
          <p:cNvPr id="275" name="Shape 273"/>
          <p:cNvSpPr/>
          <p:nvPr/>
        </p:nvSpPr>
        <p:spPr>
          <a:xfrm>
            <a:off x="1170432" y="2225421"/>
            <a:ext cx="2434590" cy="121539"/>
          </a:xfrm>
          <a:prstGeom prst="rect">
            <a:avLst/>
          </a:prstGeom>
          <a:solidFill>
            <a:srgbClr val="FFE5C0"/>
          </a:solidFill>
          <a:ln w="12700">
            <a:solidFill>
              <a:srgbClr val="FF6B00"/>
            </a:solidFill>
            <a:prstDash val="solid"/>
          </a:ln>
        </p:spPr>
        <p:txBody>
          <a:bodyPr/>
          <a:lstStyle/>
          <a:p>
            <a:endParaRPr lang="es-ES"/>
          </a:p>
        </p:txBody>
      </p:sp>
      <p:sp>
        <p:nvSpPr>
          <p:cNvPr id="276" name="Text 274"/>
          <p:cNvSpPr/>
          <p:nvPr/>
        </p:nvSpPr>
        <p:spPr>
          <a:xfrm>
            <a:off x="1170432" y="2225421"/>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Definición y Versionado Workflow</a:t>
            </a:r>
            <a:endParaRPr lang="en-US" sz="380" dirty="0"/>
          </a:p>
        </p:txBody>
      </p:sp>
      <p:sp>
        <p:nvSpPr>
          <p:cNvPr id="277" name="Shape 275"/>
          <p:cNvSpPr/>
          <p:nvPr/>
        </p:nvSpPr>
        <p:spPr>
          <a:xfrm>
            <a:off x="1170432" y="2351532"/>
            <a:ext cx="2434590" cy="121539"/>
          </a:xfrm>
          <a:prstGeom prst="rect">
            <a:avLst/>
          </a:prstGeom>
          <a:solidFill>
            <a:srgbClr val="FFE5C0"/>
          </a:solidFill>
          <a:ln w="12700">
            <a:solidFill>
              <a:srgbClr val="FF6B00"/>
            </a:solidFill>
            <a:prstDash val="solid"/>
          </a:ln>
        </p:spPr>
        <p:txBody>
          <a:bodyPr/>
          <a:lstStyle/>
          <a:p>
            <a:endParaRPr lang="es-ES"/>
          </a:p>
        </p:txBody>
      </p:sp>
      <p:sp>
        <p:nvSpPr>
          <p:cNvPr id="278" name="Text 276"/>
          <p:cNvSpPr/>
          <p:nvPr/>
        </p:nvSpPr>
        <p:spPr>
          <a:xfrm>
            <a:off x="1170432"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Ejecución y Coordinación Pasos</a:t>
            </a:r>
            <a:endParaRPr lang="en-US" sz="380" dirty="0"/>
          </a:p>
        </p:txBody>
      </p:sp>
      <p:sp>
        <p:nvSpPr>
          <p:cNvPr id="279" name="Shape 277"/>
          <p:cNvSpPr/>
          <p:nvPr/>
        </p:nvSpPr>
        <p:spPr>
          <a:xfrm>
            <a:off x="1170432" y="2477643"/>
            <a:ext cx="2434590" cy="121539"/>
          </a:xfrm>
          <a:prstGeom prst="rect">
            <a:avLst/>
          </a:prstGeom>
          <a:solidFill>
            <a:srgbClr val="FFE5C0"/>
          </a:solidFill>
          <a:ln w="12700">
            <a:solidFill>
              <a:srgbClr val="FF6B00"/>
            </a:solidFill>
            <a:prstDash val="solid"/>
          </a:ln>
        </p:spPr>
        <p:txBody>
          <a:bodyPr/>
          <a:lstStyle/>
          <a:p>
            <a:endParaRPr lang="es-ES"/>
          </a:p>
        </p:txBody>
      </p:sp>
      <p:sp>
        <p:nvSpPr>
          <p:cNvPr id="280" name="Text 278"/>
          <p:cNvSpPr/>
          <p:nvPr/>
        </p:nvSpPr>
        <p:spPr>
          <a:xfrm>
            <a:off x="1170432" y="247764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Reglas de Negocio</a:t>
            </a:r>
            <a:endParaRPr lang="en-US" sz="380" dirty="0"/>
          </a:p>
        </p:txBody>
      </p:sp>
      <p:sp>
        <p:nvSpPr>
          <p:cNvPr id="281" name="Shape 279"/>
          <p:cNvSpPr/>
          <p:nvPr/>
        </p:nvSpPr>
        <p:spPr>
          <a:xfrm>
            <a:off x="3623310"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82" name="Text 280"/>
          <p:cNvSpPr/>
          <p:nvPr/>
        </p:nvSpPr>
        <p:spPr>
          <a:xfrm>
            <a:off x="3623310"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Tareas Humanas</a:t>
            </a:r>
            <a:endParaRPr lang="en-US" sz="400" dirty="0"/>
          </a:p>
        </p:txBody>
      </p:sp>
      <p:sp>
        <p:nvSpPr>
          <p:cNvPr id="283" name="Shape 281"/>
          <p:cNvSpPr/>
          <p:nvPr/>
        </p:nvSpPr>
        <p:spPr>
          <a:xfrm>
            <a:off x="3623310" y="2225421"/>
            <a:ext cx="2434590" cy="184594"/>
          </a:xfrm>
          <a:prstGeom prst="rect">
            <a:avLst/>
          </a:prstGeom>
          <a:solidFill>
            <a:srgbClr val="FFE5C0"/>
          </a:solidFill>
          <a:ln w="12700">
            <a:solidFill>
              <a:srgbClr val="FF6B00"/>
            </a:solidFill>
            <a:prstDash val="solid"/>
          </a:ln>
        </p:spPr>
        <p:txBody>
          <a:bodyPr/>
          <a:lstStyle/>
          <a:p>
            <a:endParaRPr lang="es-ES"/>
          </a:p>
        </p:txBody>
      </p:sp>
      <p:sp>
        <p:nvSpPr>
          <p:cNvPr id="284" name="Text 282"/>
          <p:cNvSpPr/>
          <p:nvPr/>
        </p:nvSpPr>
        <p:spPr>
          <a:xfrm>
            <a:off x="3623310" y="222542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Asignación y Listas de Trabajo</a:t>
            </a:r>
            <a:endParaRPr lang="en-US" sz="380" dirty="0"/>
          </a:p>
        </p:txBody>
      </p:sp>
      <p:sp>
        <p:nvSpPr>
          <p:cNvPr id="285" name="Shape 283"/>
          <p:cNvSpPr/>
          <p:nvPr/>
        </p:nvSpPr>
        <p:spPr>
          <a:xfrm>
            <a:off x="3623310" y="2414588"/>
            <a:ext cx="2434590" cy="184594"/>
          </a:xfrm>
          <a:prstGeom prst="rect">
            <a:avLst/>
          </a:prstGeom>
          <a:solidFill>
            <a:srgbClr val="FFE5C0"/>
          </a:solidFill>
          <a:ln w="12700">
            <a:solidFill>
              <a:srgbClr val="FF6B00"/>
            </a:solidFill>
            <a:prstDash val="solid"/>
          </a:ln>
        </p:spPr>
        <p:txBody>
          <a:bodyPr/>
          <a:lstStyle/>
          <a:p>
            <a:endParaRPr lang="es-ES"/>
          </a:p>
        </p:txBody>
      </p:sp>
      <p:sp>
        <p:nvSpPr>
          <p:cNvPr id="286" name="Text 284"/>
          <p:cNvSpPr/>
          <p:nvPr/>
        </p:nvSpPr>
        <p:spPr>
          <a:xfrm>
            <a:off x="3623310" y="241458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Interceptación y Reanudación</a:t>
            </a:r>
            <a:endParaRPr lang="en-US" sz="380" dirty="0"/>
          </a:p>
        </p:txBody>
      </p:sp>
      <p:sp>
        <p:nvSpPr>
          <p:cNvPr id="287" name="Shape 285"/>
          <p:cNvSpPr/>
          <p:nvPr/>
        </p:nvSpPr>
        <p:spPr>
          <a:xfrm>
            <a:off x="6076188"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88" name="Text 286"/>
          <p:cNvSpPr/>
          <p:nvPr/>
        </p:nvSpPr>
        <p:spPr>
          <a:xfrm>
            <a:off x="6076188"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Estado y Excepciones Proceso</a:t>
            </a:r>
            <a:endParaRPr lang="en-US" sz="400" dirty="0"/>
          </a:p>
        </p:txBody>
      </p:sp>
      <p:sp>
        <p:nvSpPr>
          <p:cNvPr id="289" name="Shape 287"/>
          <p:cNvSpPr/>
          <p:nvPr/>
        </p:nvSpPr>
        <p:spPr>
          <a:xfrm>
            <a:off x="6076188" y="2225421"/>
            <a:ext cx="2434590" cy="121539"/>
          </a:xfrm>
          <a:prstGeom prst="rect">
            <a:avLst/>
          </a:prstGeom>
          <a:solidFill>
            <a:srgbClr val="FFE5C0"/>
          </a:solidFill>
          <a:ln w="12700">
            <a:solidFill>
              <a:srgbClr val="FF6B00"/>
            </a:solidFill>
            <a:prstDash val="solid"/>
          </a:ln>
        </p:spPr>
        <p:txBody>
          <a:bodyPr/>
          <a:lstStyle/>
          <a:p>
            <a:endParaRPr lang="es-ES"/>
          </a:p>
        </p:txBody>
      </p:sp>
      <p:sp>
        <p:nvSpPr>
          <p:cNvPr id="290" name="Text 288"/>
          <p:cNvSpPr/>
          <p:nvPr/>
        </p:nvSpPr>
        <p:spPr>
          <a:xfrm>
            <a:off x="6076188" y="2225421"/>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Persistencia Estado Proceso</a:t>
            </a:r>
            <a:endParaRPr lang="en-US" sz="380" dirty="0"/>
          </a:p>
        </p:txBody>
      </p:sp>
      <p:sp>
        <p:nvSpPr>
          <p:cNvPr id="291" name="Shape 289"/>
          <p:cNvSpPr/>
          <p:nvPr/>
        </p:nvSpPr>
        <p:spPr>
          <a:xfrm>
            <a:off x="6076188" y="2351532"/>
            <a:ext cx="2434590" cy="121539"/>
          </a:xfrm>
          <a:prstGeom prst="rect">
            <a:avLst/>
          </a:prstGeom>
          <a:solidFill>
            <a:srgbClr val="FFE5C0"/>
          </a:solidFill>
          <a:ln w="12700">
            <a:solidFill>
              <a:srgbClr val="FF6B00"/>
            </a:solidFill>
            <a:prstDash val="solid"/>
          </a:ln>
        </p:spPr>
        <p:txBody>
          <a:bodyPr/>
          <a:lstStyle/>
          <a:p>
            <a:endParaRPr lang="es-ES"/>
          </a:p>
        </p:txBody>
      </p:sp>
      <p:sp>
        <p:nvSpPr>
          <p:cNvPr id="292" name="Text 290"/>
          <p:cNvSpPr/>
          <p:nvPr/>
        </p:nvSpPr>
        <p:spPr>
          <a:xfrm>
            <a:off x="6076188" y="235153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Escalación y Timeouts</a:t>
            </a:r>
            <a:endParaRPr lang="en-US" sz="380" dirty="0"/>
          </a:p>
        </p:txBody>
      </p:sp>
      <p:sp>
        <p:nvSpPr>
          <p:cNvPr id="293" name="Shape 291"/>
          <p:cNvSpPr/>
          <p:nvPr/>
        </p:nvSpPr>
        <p:spPr>
          <a:xfrm>
            <a:off x="6076188" y="2477643"/>
            <a:ext cx="2434590" cy="121539"/>
          </a:xfrm>
          <a:prstGeom prst="rect">
            <a:avLst/>
          </a:prstGeom>
          <a:solidFill>
            <a:srgbClr val="FFE5C0"/>
          </a:solidFill>
          <a:ln w="12700">
            <a:solidFill>
              <a:srgbClr val="FF6B00"/>
            </a:solidFill>
            <a:prstDash val="solid"/>
          </a:ln>
        </p:spPr>
        <p:txBody>
          <a:bodyPr/>
          <a:lstStyle/>
          <a:p>
            <a:endParaRPr lang="es-ES"/>
          </a:p>
        </p:txBody>
      </p:sp>
      <p:sp>
        <p:nvSpPr>
          <p:cNvPr id="294" name="Text 292"/>
          <p:cNvSpPr/>
          <p:nvPr/>
        </p:nvSpPr>
        <p:spPr>
          <a:xfrm>
            <a:off x="6076188" y="247764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Manejo de Excepciones</a:t>
            </a:r>
            <a:endParaRPr lang="en-US" sz="380" dirty="0"/>
          </a:p>
        </p:txBody>
      </p:sp>
      <p:sp>
        <p:nvSpPr>
          <p:cNvPr id="295" name="Shape 293"/>
          <p:cNvSpPr/>
          <p:nvPr/>
        </p:nvSpPr>
        <p:spPr>
          <a:xfrm>
            <a:off x="8529066" y="2115693"/>
            <a:ext cx="2434590" cy="100584"/>
          </a:xfrm>
          <a:prstGeom prst="rect">
            <a:avLst/>
          </a:prstGeom>
          <a:solidFill>
            <a:srgbClr val="FF6B00"/>
          </a:solidFill>
          <a:ln w="12700">
            <a:solidFill>
              <a:srgbClr val="FF6B00"/>
            </a:solidFill>
            <a:prstDash val="solid"/>
          </a:ln>
        </p:spPr>
        <p:txBody>
          <a:bodyPr/>
          <a:lstStyle/>
          <a:p>
            <a:endParaRPr lang="es-ES"/>
          </a:p>
        </p:txBody>
      </p:sp>
      <p:sp>
        <p:nvSpPr>
          <p:cNvPr id="296" name="Text 294"/>
          <p:cNvSpPr/>
          <p:nvPr/>
        </p:nvSpPr>
        <p:spPr>
          <a:xfrm>
            <a:off x="8529066" y="2115693"/>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 y Admin. Procesos</a:t>
            </a:r>
            <a:endParaRPr lang="en-US" sz="400" dirty="0"/>
          </a:p>
        </p:txBody>
      </p:sp>
      <p:sp>
        <p:nvSpPr>
          <p:cNvPr id="297" name="Shape 295"/>
          <p:cNvSpPr/>
          <p:nvPr/>
        </p:nvSpPr>
        <p:spPr>
          <a:xfrm>
            <a:off x="8529066" y="2225421"/>
            <a:ext cx="2434590" cy="184594"/>
          </a:xfrm>
          <a:prstGeom prst="rect">
            <a:avLst/>
          </a:prstGeom>
          <a:solidFill>
            <a:srgbClr val="FFE5C0"/>
          </a:solidFill>
          <a:ln w="12700">
            <a:solidFill>
              <a:srgbClr val="FF6B00"/>
            </a:solidFill>
            <a:prstDash val="solid"/>
          </a:ln>
        </p:spPr>
        <p:txBody>
          <a:bodyPr/>
          <a:lstStyle/>
          <a:p>
            <a:endParaRPr lang="es-ES"/>
          </a:p>
        </p:txBody>
      </p:sp>
      <p:sp>
        <p:nvSpPr>
          <p:cNvPr id="298" name="Text 296"/>
          <p:cNvSpPr/>
          <p:nvPr/>
        </p:nvSpPr>
        <p:spPr>
          <a:xfrm>
            <a:off x="8529066" y="2225421"/>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Instancias y Consola</a:t>
            </a:r>
            <a:endParaRPr lang="en-US" sz="380" dirty="0"/>
          </a:p>
        </p:txBody>
      </p:sp>
      <p:sp>
        <p:nvSpPr>
          <p:cNvPr id="299" name="Shape 297"/>
          <p:cNvSpPr/>
          <p:nvPr/>
        </p:nvSpPr>
        <p:spPr>
          <a:xfrm>
            <a:off x="8529066" y="2414588"/>
            <a:ext cx="2434590" cy="184594"/>
          </a:xfrm>
          <a:prstGeom prst="rect">
            <a:avLst/>
          </a:prstGeom>
          <a:solidFill>
            <a:srgbClr val="FFE5C0"/>
          </a:solidFill>
          <a:ln w="12700">
            <a:solidFill>
              <a:srgbClr val="FF6B00"/>
            </a:solidFill>
            <a:prstDash val="solid"/>
          </a:ln>
        </p:spPr>
        <p:txBody>
          <a:bodyPr/>
          <a:lstStyle/>
          <a:p>
            <a:endParaRPr lang="es-ES"/>
          </a:p>
        </p:txBody>
      </p:sp>
      <p:sp>
        <p:nvSpPr>
          <p:cNvPr id="300" name="Text 298"/>
          <p:cNvSpPr/>
          <p:nvPr/>
        </p:nvSpPr>
        <p:spPr>
          <a:xfrm>
            <a:off x="8529066" y="241458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Reportes de Rendimiento</a:t>
            </a:r>
            <a:endParaRPr lang="en-US" sz="380" dirty="0"/>
          </a:p>
        </p:txBody>
      </p:sp>
      <p:sp>
        <p:nvSpPr>
          <p:cNvPr id="301" name="Shape 299"/>
          <p:cNvSpPr/>
          <p:nvPr/>
        </p:nvSpPr>
        <p:spPr>
          <a:xfrm>
            <a:off x="1152144" y="2640330"/>
            <a:ext cx="9848088" cy="634365"/>
          </a:xfrm>
          <a:prstGeom prst="rect">
            <a:avLst/>
          </a:prstGeom>
          <a:solidFill>
            <a:srgbClr val="FFE5C0"/>
          </a:solidFill>
          <a:ln w="19050">
            <a:solidFill>
              <a:srgbClr val="FF6B00"/>
            </a:solidFill>
            <a:prstDash val="solid"/>
          </a:ln>
        </p:spPr>
        <p:txBody>
          <a:bodyPr/>
          <a:lstStyle/>
          <a:p>
            <a:endParaRPr lang="es-ES"/>
          </a:p>
        </p:txBody>
      </p:sp>
      <p:sp>
        <p:nvSpPr>
          <p:cNvPr id="302" name="Shape 300"/>
          <p:cNvSpPr/>
          <p:nvPr/>
        </p:nvSpPr>
        <p:spPr>
          <a:xfrm>
            <a:off x="1152144" y="2640330"/>
            <a:ext cx="9848088" cy="128016"/>
          </a:xfrm>
          <a:prstGeom prst="rect">
            <a:avLst/>
          </a:prstGeom>
          <a:solidFill>
            <a:srgbClr val="FF6B00"/>
          </a:solidFill>
          <a:ln w="12700">
            <a:solidFill>
              <a:srgbClr val="FF6B00"/>
            </a:solidFill>
            <a:prstDash val="solid"/>
          </a:ln>
        </p:spPr>
        <p:txBody>
          <a:bodyPr/>
          <a:lstStyle/>
          <a:p>
            <a:endParaRPr lang="es-ES"/>
          </a:p>
        </p:txBody>
      </p:sp>
      <p:sp>
        <p:nvSpPr>
          <p:cNvPr id="303" name="Text 301"/>
          <p:cNvSpPr/>
          <p:nvPr/>
        </p:nvSpPr>
        <p:spPr>
          <a:xfrm>
            <a:off x="1188720" y="2640330"/>
            <a:ext cx="9555480" cy="128016"/>
          </a:xfrm>
          <a:prstGeom prst="rect">
            <a:avLst/>
          </a:prstGeom>
          <a:noFill/>
          <a:ln/>
        </p:spPr>
        <p:txBody>
          <a:bodyPr wrap="square" rtlCol="0" anchor="ctr"/>
          <a:lstStyle/>
          <a:p>
            <a:pPr marL="0" indent="0" algn="l">
              <a:buNone/>
            </a:pPr>
            <a:r>
              <a:rPr lang="en-US" sz="550" b="1" dirty="0">
                <a:solidFill>
                  <a:srgbClr val="FFFFFF"/>
                </a:solidFill>
              </a:rPr>
              <a:t>Transacciones Distribuidas</a:t>
            </a:r>
            <a:endParaRPr lang="en-US" sz="550" dirty="0"/>
          </a:p>
        </p:txBody>
      </p:sp>
      <p:sp>
        <p:nvSpPr>
          <p:cNvPr id="304" name="Shape 302"/>
          <p:cNvSpPr/>
          <p:nvPr/>
        </p:nvSpPr>
        <p:spPr>
          <a:xfrm>
            <a:off x="10753344" y="2654046"/>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05" name="Text 303"/>
          <p:cNvSpPr/>
          <p:nvPr/>
        </p:nvSpPr>
        <p:spPr>
          <a:xfrm>
            <a:off x="10753344" y="2654046"/>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06" name="Shape 304"/>
          <p:cNvSpPr/>
          <p:nvPr/>
        </p:nvSpPr>
        <p:spPr>
          <a:xfrm>
            <a:off x="1170432"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07" name="Text 305"/>
          <p:cNvSpPr/>
          <p:nvPr/>
        </p:nvSpPr>
        <p:spPr>
          <a:xfrm>
            <a:off x="1170432"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de Transacciones</a:t>
            </a:r>
            <a:endParaRPr lang="en-US" sz="400" dirty="0"/>
          </a:p>
        </p:txBody>
      </p:sp>
      <p:sp>
        <p:nvSpPr>
          <p:cNvPr id="308" name="Shape 306"/>
          <p:cNvSpPr/>
          <p:nvPr/>
        </p:nvSpPr>
        <p:spPr>
          <a:xfrm>
            <a:off x="1170432"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09" name="Text 307"/>
          <p:cNvSpPr/>
          <p:nvPr/>
        </p:nvSpPr>
        <p:spPr>
          <a:xfrm>
            <a:off x="1170432"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Coordinación Transaccional</a:t>
            </a:r>
            <a:endParaRPr lang="en-US" sz="380" dirty="0"/>
          </a:p>
        </p:txBody>
      </p:sp>
      <p:sp>
        <p:nvSpPr>
          <p:cNvPr id="310" name="Shape 308"/>
          <p:cNvSpPr/>
          <p:nvPr/>
        </p:nvSpPr>
        <p:spPr>
          <a:xfrm>
            <a:off x="1170432"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11" name="Text 309"/>
          <p:cNvSpPr/>
          <p:nvPr/>
        </p:nvSpPr>
        <p:spPr>
          <a:xfrm>
            <a:off x="1170432"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Compensación y Reversión</a:t>
            </a:r>
            <a:endParaRPr lang="en-US" sz="380" dirty="0"/>
          </a:p>
        </p:txBody>
      </p:sp>
      <p:sp>
        <p:nvSpPr>
          <p:cNvPr id="312" name="Shape 310"/>
          <p:cNvSpPr/>
          <p:nvPr/>
        </p:nvSpPr>
        <p:spPr>
          <a:xfrm>
            <a:off x="1170432"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13" name="Text 311"/>
          <p:cNvSpPr/>
          <p:nvPr/>
        </p:nvSpPr>
        <p:spPr>
          <a:xfrm>
            <a:off x="1170432"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Estado e Historial Transacc.</a:t>
            </a:r>
            <a:endParaRPr lang="en-US" sz="380" dirty="0"/>
          </a:p>
        </p:txBody>
      </p:sp>
      <p:sp>
        <p:nvSpPr>
          <p:cNvPr id="314" name="Shape 312"/>
          <p:cNvSpPr/>
          <p:nvPr/>
        </p:nvSpPr>
        <p:spPr>
          <a:xfrm>
            <a:off x="1170432"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15" name="Text 313"/>
          <p:cNvSpPr/>
          <p:nvPr/>
        </p:nvSpPr>
        <p:spPr>
          <a:xfrm>
            <a:off x="1170432"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Intercambio Fiable de Mensajes</a:t>
            </a:r>
            <a:endParaRPr lang="en-US" sz="380" dirty="0"/>
          </a:p>
        </p:txBody>
      </p:sp>
      <p:sp>
        <p:nvSpPr>
          <p:cNvPr id="316" name="Shape 314"/>
          <p:cNvSpPr/>
          <p:nvPr/>
        </p:nvSpPr>
        <p:spPr>
          <a:xfrm>
            <a:off x="3623310"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17" name="Text 315"/>
          <p:cNvSpPr/>
          <p:nvPr/>
        </p:nvSpPr>
        <p:spPr>
          <a:xfrm>
            <a:off x="3623310"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Operaciones y Control Transacc.</a:t>
            </a:r>
            <a:endParaRPr lang="en-US" sz="400" dirty="0"/>
          </a:p>
        </p:txBody>
      </p:sp>
      <p:sp>
        <p:nvSpPr>
          <p:cNvPr id="318" name="Shape 316"/>
          <p:cNvSpPr/>
          <p:nvPr/>
        </p:nvSpPr>
        <p:spPr>
          <a:xfrm>
            <a:off x="3623310"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19" name="Text 317"/>
          <p:cNvSpPr/>
          <p:nvPr/>
        </p:nvSpPr>
        <p:spPr>
          <a:xfrm>
            <a:off x="3623310"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Consola Transaccional</a:t>
            </a:r>
            <a:endParaRPr lang="en-US" sz="380" dirty="0"/>
          </a:p>
        </p:txBody>
      </p:sp>
      <p:sp>
        <p:nvSpPr>
          <p:cNvPr id="320" name="Shape 318"/>
          <p:cNvSpPr/>
          <p:nvPr/>
        </p:nvSpPr>
        <p:spPr>
          <a:xfrm>
            <a:off x="3623310"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21" name="Text 319"/>
          <p:cNvSpPr/>
          <p:nvPr/>
        </p:nvSpPr>
        <p:spPr>
          <a:xfrm>
            <a:off x="3623310"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Reintento, Cancelac. y Reversión</a:t>
            </a:r>
            <a:endParaRPr lang="en-US" sz="380" dirty="0"/>
          </a:p>
        </p:txBody>
      </p:sp>
      <p:sp>
        <p:nvSpPr>
          <p:cNvPr id="322" name="Shape 320"/>
          <p:cNvSpPr/>
          <p:nvPr/>
        </p:nvSpPr>
        <p:spPr>
          <a:xfrm>
            <a:off x="3623310"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23" name="Text 321"/>
          <p:cNvSpPr/>
          <p:nvPr/>
        </p:nvSpPr>
        <p:spPr>
          <a:xfrm>
            <a:off x="3623310"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 y Reconciliación</a:t>
            </a:r>
            <a:endParaRPr lang="en-US" sz="380" dirty="0"/>
          </a:p>
        </p:txBody>
      </p:sp>
      <p:sp>
        <p:nvSpPr>
          <p:cNvPr id="324" name="Shape 322"/>
          <p:cNvSpPr/>
          <p:nvPr/>
        </p:nvSpPr>
        <p:spPr>
          <a:xfrm>
            <a:off x="3623310"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25" name="Text 323"/>
          <p:cNvSpPr/>
          <p:nvPr/>
        </p:nvSpPr>
        <p:spPr>
          <a:xfrm>
            <a:off x="3623310"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Monitoriz. Eventos Transacc.</a:t>
            </a:r>
            <a:endParaRPr lang="en-US" sz="380" dirty="0"/>
          </a:p>
        </p:txBody>
      </p:sp>
      <p:sp>
        <p:nvSpPr>
          <p:cNvPr id="326" name="Shape 324"/>
          <p:cNvSpPr/>
          <p:nvPr/>
        </p:nvSpPr>
        <p:spPr>
          <a:xfrm>
            <a:off x="6076188"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27" name="Text 325"/>
          <p:cNvSpPr/>
          <p:nvPr/>
        </p:nvSpPr>
        <p:spPr>
          <a:xfrm>
            <a:off x="6076188"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Store &amp; Forward</a:t>
            </a:r>
            <a:endParaRPr lang="en-US" sz="400" dirty="0"/>
          </a:p>
        </p:txBody>
      </p:sp>
      <p:sp>
        <p:nvSpPr>
          <p:cNvPr id="328" name="Shape 326"/>
          <p:cNvSpPr/>
          <p:nvPr/>
        </p:nvSpPr>
        <p:spPr>
          <a:xfrm>
            <a:off x="6076188" y="2887218"/>
            <a:ext cx="2434590" cy="90011"/>
          </a:xfrm>
          <a:prstGeom prst="rect">
            <a:avLst/>
          </a:prstGeom>
          <a:solidFill>
            <a:srgbClr val="FFE5C0"/>
          </a:solidFill>
          <a:ln w="12700">
            <a:solidFill>
              <a:srgbClr val="FF6B00"/>
            </a:solidFill>
            <a:prstDash val="solid"/>
          </a:ln>
        </p:spPr>
        <p:txBody>
          <a:bodyPr/>
          <a:lstStyle/>
          <a:p>
            <a:endParaRPr lang="es-ES"/>
          </a:p>
        </p:txBody>
      </p:sp>
      <p:sp>
        <p:nvSpPr>
          <p:cNvPr id="329" name="Text 327"/>
          <p:cNvSpPr/>
          <p:nvPr/>
        </p:nvSpPr>
        <p:spPr>
          <a:xfrm>
            <a:off x="6076188" y="288721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Manager y Registro</a:t>
            </a:r>
            <a:endParaRPr lang="en-US" sz="380" dirty="0"/>
          </a:p>
        </p:txBody>
      </p:sp>
      <p:sp>
        <p:nvSpPr>
          <p:cNvPr id="330" name="Shape 328"/>
          <p:cNvSpPr/>
          <p:nvPr/>
        </p:nvSpPr>
        <p:spPr>
          <a:xfrm>
            <a:off x="6076188" y="2981801"/>
            <a:ext cx="2434590" cy="90011"/>
          </a:xfrm>
          <a:prstGeom prst="rect">
            <a:avLst/>
          </a:prstGeom>
          <a:solidFill>
            <a:srgbClr val="FFE5C0"/>
          </a:solidFill>
          <a:ln w="12700">
            <a:solidFill>
              <a:srgbClr val="FF6B00"/>
            </a:solidFill>
            <a:prstDash val="solid"/>
          </a:ln>
        </p:spPr>
        <p:txBody>
          <a:bodyPr/>
          <a:lstStyle/>
          <a:p>
            <a:endParaRPr lang="es-ES"/>
          </a:p>
        </p:txBody>
      </p:sp>
      <p:sp>
        <p:nvSpPr>
          <p:cNvPr id="331" name="Text 329"/>
          <p:cNvSpPr/>
          <p:nvPr/>
        </p:nvSpPr>
        <p:spPr>
          <a:xfrm>
            <a:off x="6076188" y="2981801"/>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Processor y Reintentos</a:t>
            </a:r>
            <a:endParaRPr lang="en-US" sz="380" dirty="0"/>
          </a:p>
        </p:txBody>
      </p:sp>
      <p:sp>
        <p:nvSpPr>
          <p:cNvPr id="332" name="Shape 330"/>
          <p:cNvSpPr/>
          <p:nvPr/>
        </p:nvSpPr>
        <p:spPr>
          <a:xfrm>
            <a:off x="6076188" y="3076385"/>
            <a:ext cx="2434590" cy="90011"/>
          </a:xfrm>
          <a:prstGeom prst="rect">
            <a:avLst/>
          </a:prstGeom>
          <a:solidFill>
            <a:srgbClr val="FFE5C0"/>
          </a:solidFill>
          <a:ln w="12700">
            <a:solidFill>
              <a:srgbClr val="FF6B00"/>
            </a:solidFill>
            <a:prstDash val="solid"/>
          </a:ln>
        </p:spPr>
        <p:txBody>
          <a:bodyPr/>
          <a:lstStyle/>
          <a:p>
            <a:endParaRPr lang="es-ES"/>
          </a:p>
        </p:txBody>
      </p:sp>
      <p:sp>
        <p:nvSpPr>
          <p:cNvPr id="333" name="Text 331"/>
          <p:cNvSpPr/>
          <p:nvPr/>
        </p:nvSpPr>
        <p:spPr>
          <a:xfrm>
            <a:off x="6076188" y="3076385"/>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Request Router y Reenvío</a:t>
            </a:r>
            <a:endParaRPr lang="en-US" sz="380" dirty="0"/>
          </a:p>
        </p:txBody>
      </p:sp>
      <p:sp>
        <p:nvSpPr>
          <p:cNvPr id="334" name="Shape 332"/>
          <p:cNvSpPr/>
          <p:nvPr/>
        </p:nvSpPr>
        <p:spPr>
          <a:xfrm>
            <a:off x="6076188" y="3170968"/>
            <a:ext cx="2434590" cy="90011"/>
          </a:xfrm>
          <a:prstGeom prst="rect">
            <a:avLst/>
          </a:prstGeom>
          <a:solidFill>
            <a:srgbClr val="FFE5C0"/>
          </a:solidFill>
          <a:ln w="12700">
            <a:solidFill>
              <a:srgbClr val="FF6B00"/>
            </a:solidFill>
            <a:prstDash val="solid"/>
          </a:ln>
        </p:spPr>
        <p:txBody>
          <a:bodyPr/>
          <a:lstStyle/>
          <a:p>
            <a:endParaRPr lang="es-ES"/>
          </a:p>
        </p:txBody>
      </p:sp>
      <p:sp>
        <p:nvSpPr>
          <p:cNvPr id="335" name="Text 333"/>
          <p:cNvSpPr/>
          <p:nvPr/>
        </p:nvSpPr>
        <p:spPr>
          <a:xfrm>
            <a:off x="6076188" y="3170968"/>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Consola Store &amp; Forward</a:t>
            </a:r>
            <a:endParaRPr lang="en-US" sz="380" dirty="0"/>
          </a:p>
        </p:txBody>
      </p:sp>
      <p:sp>
        <p:nvSpPr>
          <p:cNvPr id="336" name="Shape 334"/>
          <p:cNvSpPr/>
          <p:nvPr/>
        </p:nvSpPr>
        <p:spPr>
          <a:xfrm>
            <a:off x="8529066" y="2777490"/>
            <a:ext cx="2434590" cy="100584"/>
          </a:xfrm>
          <a:prstGeom prst="rect">
            <a:avLst/>
          </a:prstGeom>
          <a:solidFill>
            <a:srgbClr val="FF6B00"/>
          </a:solidFill>
          <a:ln w="12700">
            <a:solidFill>
              <a:srgbClr val="FF6B00"/>
            </a:solidFill>
            <a:prstDash val="solid"/>
          </a:ln>
        </p:spPr>
        <p:txBody>
          <a:bodyPr/>
          <a:lstStyle/>
          <a:p>
            <a:endParaRPr lang="es-ES"/>
          </a:p>
        </p:txBody>
      </p:sp>
      <p:sp>
        <p:nvSpPr>
          <p:cNvPr id="337" name="Text 335"/>
          <p:cNvSpPr/>
          <p:nvPr/>
        </p:nvSpPr>
        <p:spPr>
          <a:xfrm>
            <a:off x="8529066" y="2777490"/>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Admin. Servicios Transaccionales</a:t>
            </a:r>
            <a:endParaRPr lang="en-US" sz="400" dirty="0"/>
          </a:p>
        </p:txBody>
      </p:sp>
      <p:sp>
        <p:nvSpPr>
          <p:cNvPr id="338" name="Shape 336"/>
          <p:cNvSpPr/>
          <p:nvPr/>
        </p:nvSpPr>
        <p:spPr>
          <a:xfrm>
            <a:off x="8529066" y="2887218"/>
            <a:ext cx="2434590" cy="184594"/>
          </a:xfrm>
          <a:prstGeom prst="rect">
            <a:avLst/>
          </a:prstGeom>
          <a:solidFill>
            <a:srgbClr val="FFE5C0"/>
          </a:solidFill>
          <a:ln w="12700">
            <a:solidFill>
              <a:srgbClr val="FF6B00"/>
            </a:solidFill>
            <a:prstDash val="solid"/>
          </a:ln>
        </p:spPr>
        <p:txBody>
          <a:bodyPr/>
          <a:lstStyle/>
          <a:p>
            <a:endParaRPr lang="es-ES"/>
          </a:p>
        </p:txBody>
      </p:sp>
      <p:sp>
        <p:nvSpPr>
          <p:cNvPr id="339" name="Text 337"/>
          <p:cNvSpPr/>
          <p:nvPr/>
        </p:nvSpPr>
        <p:spPr>
          <a:xfrm>
            <a:off x="8529066" y="2887218"/>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Comportamiento Servicios</a:t>
            </a:r>
            <a:endParaRPr lang="en-US" sz="380" dirty="0"/>
          </a:p>
        </p:txBody>
      </p:sp>
      <p:sp>
        <p:nvSpPr>
          <p:cNvPr id="340" name="Shape 338"/>
          <p:cNvSpPr/>
          <p:nvPr/>
        </p:nvSpPr>
        <p:spPr>
          <a:xfrm>
            <a:off x="8529066" y="3076385"/>
            <a:ext cx="2434590" cy="184594"/>
          </a:xfrm>
          <a:prstGeom prst="rect">
            <a:avLst/>
          </a:prstGeom>
          <a:solidFill>
            <a:srgbClr val="FFE5C0"/>
          </a:solidFill>
          <a:ln w="12700">
            <a:solidFill>
              <a:srgbClr val="FF6B00"/>
            </a:solidFill>
            <a:prstDash val="solid"/>
          </a:ln>
        </p:spPr>
        <p:txBody>
          <a:bodyPr/>
          <a:lstStyle/>
          <a:p>
            <a:endParaRPr lang="es-ES"/>
          </a:p>
        </p:txBody>
      </p:sp>
      <p:sp>
        <p:nvSpPr>
          <p:cNvPr id="341" name="Text 339"/>
          <p:cNvSpPr/>
          <p:nvPr/>
        </p:nvSpPr>
        <p:spPr>
          <a:xfrm>
            <a:off x="8529066" y="3076385"/>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Anulaciones y Controles</a:t>
            </a:r>
            <a:endParaRPr lang="en-US" sz="380" dirty="0"/>
          </a:p>
        </p:txBody>
      </p:sp>
      <p:sp>
        <p:nvSpPr>
          <p:cNvPr id="342" name="Shape 340"/>
          <p:cNvSpPr/>
          <p:nvPr/>
        </p:nvSpPr>
        <p:spPr>
          <a:xfrm>
            <a:off x="1152144" y="3302127"/>
            <a:ext cx="9848088" cy="634365"/>
          </a:xfrm>
          <a:prstGeom prst="rect">
            <a:avLst/>
          </a:prstGeom>
          <a:solidFill>
            <a:srgbClr val="FFF4E0"/>
          </a:solidFill>
          <a:ln w="19050">
            <a:solidFill>
              <a:srgbClr val="E08800"/>
            </a:solidFill>
            <a:prstDash val="solid"/>
          </a:ln>
        </p:spPr>
        <p:txBody>
          <a:bodyPr/>
          <a:lstStyle/>
          <a:p>
            <a:endParaRPr lang="es-ES"/>
          </a:p>
        </p:txBody>
      </p:sp>
      <p:sp>
        <p:nvSpPr>
          <p:cNvPr id="343" name="Shape 341"/>
          <p:cNvSpPr/>
          <p:nvPr/>
        </p:nvSpPr>
        <p:spPr>
          <a:xfrm>
            <a:off x="1152144" y="3302127"/>
            <a:ext cx="9848088" cy="128016"/>
          </a:xfrm>
          <a:prstGeom prst="rect">
            <a:avLst/>
          </a:prstGeom>
          <a:solidFill>
            <a:srgbClr val="E08800"/>
          </a:solidFill>
          <a:ln w="12700">
            <a:solidFill>
              <a:srgbClr val="E08800"/>
            </a:solidFill>
            <a:prstDash val="solid"/>
          </a:ln>
        </p:spPr>
        <p:txBody>
          <a:bodyPr/>
          <a:lstStyle/>
          <a:p>
            <a:endParaRPr lang="es-ES"/>
          </a:p>
        </p:txBody>
      </p:sp>
      <p:sp>
        <p:nvSpPr>
          <p:cNvPr id="344" name="Text 342"/>
          <p:cNvSpPr/>
          <p:nvPr/>
        </p:nvSpPr>
        <p:spPr>
          <a:xfrm>
            <a:off x="1188720" y="3302127"/>
            <a:ext cx="9555480" cy="128016"/>
          </a:xfrm>
          <a:prstGeom prst="rect">
            <a:avLst/>
          </a:prstGeom>
          <a:noFill/>
          <a:ln/>
        </p:spPr>
        <p:txBody>
          <a:bodyPr wrap="square" rtlCol="0" anchor="ctr"/>
          <a:lstStyle/>
          <a:p>
            <a:pPr marL="0" indent="0" algn="l">
              <a:buNone/>
            </a:pPr>
            <a:r>
              <a:rPr lang="en-US" sz="550" b="1" dirty="0">
                <a:solidFill>
                  <a:srgbClr val="FFFFFF"/>
                </a:solidFill>
              </a:rPr>
              <a:t>Procesamiento de Eventos &amp; Componentes Reactivos</a:t>
            </a:r>
            <a:endParaRPr lang="en-US" sz="550" dirty="0"/>
          </a:p>
        </p:txBody>
      </p:sp>
      <p:sp>
        <p:nvSpPr>
          <p:cNvPr id="345" name="Shape 343"/>
          <p:cNvSpPr/>
          <p:nvPr/>
        </p:nvSpPr>
        <p:spPr>
          <a:xfrm>
            <a:off x="10753344" y="3315843"/>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46" name="Text 344"/>
          <p:cNvSpPr/>
          <p:nvPr/>
        </p:nvSpPr>
        <p:spPr>
          <a:xfrm>
            <a:off x="10753344" y="3315843"/>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47" name="Shape 345"/>
          <p:cNvSpPr/>
          <p:nvPr/>
        </p:nvSpPr>
        <p:spPr>
          <a:xfrm>
            <a:off x="1170432"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48" name="Text 346"/>
          <p:cNvSpPr/>
          <p:nvPr/>
        </p:nvSpPr>
        <p:spPr>
          <a:xfrm>
            <a:off x="117043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Mensajería de Eventos</a:t>
            </a:r>
            <a:endParaRPr lang="en-US" sz="400" dirty="0"/>
          </a:p>
        </p:txBody>
      </p:sp>
      <p:sp>
        <p:nvSpPr>
          <p:cNvPr id="349" name="Shape 347"/>
          <p:cNvSpPr/>
          <p:nvPr/>
        </p:nvSpPr>
        <p:spPr>
          <a:xfrm>
            <a:off x="1170432"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50" name="Text 348"/>
          <p:cNvSpPr/>
          <p:nvPr/>
        </p:nvSpPr>
        <p:spPr>
          <a:xfrm>
            <a:off x="1170432"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Pub/Sub Messaging</a:t>
            </a:r>
            <a:endParaRPr lang="en-US" sz="380" dirty="0"/>
          </a:p>
        </p:txBody>
      </p:sp>
      <p:sp>
        <p:nvSpPr>
          <p:cNvPr id="351" name="Shape 349"/>
          <p:cNvSpPr/>
          <p:nvPr/>
        </p:nvSpPr>
        <p:spPr>
          <a:xfrm>
            <a:off x="1170432"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52" name="Text 350"/>
          <p:cNvSpPr/>
          <p:nvPr/>
        </p:nvSpPr>
        <p:spPr>
          <a:xfrm>
            <a:off x="1170432"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Tópicos y Suscripciones</a:t>
            </a:r>
            <a:endParaRPr lang="en-US" sz="380" dirty="0"/>
          </a:p>
        </p:txBody>
      </p:sp>
      <p:sp>
        <p:nvSpPr>
          <p:cNvPr id="353" name="Shape 351"/>
          <p:cNvSpPr/>
          <p:nvPr/>
        </p:nvSpPr>
        <p:spPr>
          <a:xfrm>
            <a:off x="1170432"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54" name="Text 352"/>
          <p:cNvSpPr/>
          <p:nvPr/>
        </p:nvSpPr>
        <p:spPr>
          <a:xfrm>
            <a:off x="1170432"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Mensajería Multi-protocolo</a:t>
            </a:r>
            <a:endParaRPr lang="en-US" sz="380" dirty="0"/>
          </a:p>
        </p:txBody>
      </p:sp>
      <p:sp>
        <p:nvSpPr>
          <p:cNvPr id="355" name="Shape 353"/>
          <p:cNvSpPr/>
          <p:nvPr/>
        </p:nvSpPr>
        <p:spPr>
          <a:xfrm>
            <a:off x="2805684"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56" name="Text 354"/>
          <p:cNvSpPr/>
          <p:nvPr/>
        </p:nvSpPr>
        <p:spPr>
          <a:xfrm>
            <a:off x="2805684"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Streaming de Eventos</a:t>
            </a:r>
            <a:endParaRPr lang="en-US" sz="400" dirty="0"/>
          </a:p>
        </p:txBody>
      </p:sp>
      <p:sp>
        <p:nvSpPr>
          <p:cNvPr id="357" name="Shape 355"/>
          <p:cNvSpPr/>
          <p:nvPr/>
        </p:nvSpPr>
        <p:spPr>
          <a:xfrm>
            <a:off x="2805684"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58" name="Text 356"/>
          <p:cNvSpPr/>
          <p:nvPr/>
        </p:nvSpPr>
        <p:spPr>
          <a:xfrm>
            <a:off x="2805684"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Ingesta y Distribución Streams</a:t>
            </a:r>
            <a:endParaRPr lang="en-US" sz="380" dirty="0"/>
          </a:p>
        </p:txBody>
      </p:sp>
      <p:sp>
        <p:nvSpPr>
          <p:cNvPr id="359" name="Shape 357"/>
          <p:cNvSpPr/>
          <p:nvPr/>
        </p:nvSpPr>
        <p:spPr>
          <a:xfrm>
            <a:off x="2805684"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60" name="Text 358"/>
          <p:cNvSpPr/>
          <p:nvPr/>
        </p:nvSpPr>
        <p:spPr>
          <a:xfrm>
            <a:off x="2805684"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Retención y Replay</a:t>
            </a:r>
            <a:endParaRPr lang="en-US" sz="380" dirty="0"/>
          </a:p>
        </p:txBody>
      </p:sp>
      <p:sp>
        <p:nvSpPr>
          <p:cNvPr id="361" name="Shape 359"/>
          <p:cNvSpPr/>
          <p:nvPr/>
        </p:nvSpPr>
        <p:spPr>
          <a:xfrm>
            <a:off x="2805684"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62" name="Text 360"/>
          <p:cNvSpPr/>
          <p:nvPr/>
        </p:nvSpPr>
        <p:spPr>
          <a:xfrm>
            <a:off x="2805684"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CEP (Eventos Complejos)</a:t>
            </a:r>
            <a:endParaRPr lang="en-US" sz="380" dirty="0"/>
          </a:p>
        </p:txBody>
      </p:sp>
      <p:sp>
        <p:nvSpPr>
          <p:cNvPr id="363" name="Shape 361"/>
          <p:cNvSpPr/>
          <p:nvPr/>
        </p:nvSpPr>
        <p:spPr>
          <a:xfrm>
            <a:off x="4440936"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64" name="Text 362"/>
          <p:cNvSpPr/>
          <p:nvPr/>
        </p:nvSpPr>
        <p:spPr>
          <a:xfrm>
            <a:off x="4440936"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Entrega Garantizada</a:t>
            </a:r>
            <a:endParaRPr lang="en-US" sz="400" dirty="0"/>
          </a:p>
        </p:txBody>
      </p:sp>
      <p:sp>
        <p:nvSpPr>
          <p:cNvPr id="365" name="Shape 363"/>
          <p:cNvSpPr/>
          <p:nvPr/>
        </p:nvSpPr>
        <p:spPr>
          <a:xfrm>
            <a:off x="4440936"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66" name="Text 364"/>
          <p:cNvSpPr/>
          <p:nvPr/>
        </p:nvSpPr>
        <p:spPr>
          <a:xfrm>
            <a:off x="4440936"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Semántica e Idempotencia</a:t>
            </a:r>
            <a:endParaRPr lang="en-US" sz="380" dirty="0"/>
          </a:p>
        </p:txBody>
      </p:sp>
      <p:sp>
        <p:nvSpPr>
          <p:cNvPr id="367" name="Shape 365"/>
          <p:cNvSpPr/>
          <p:nvPr/>
        </p:nvSpPr>
        <p:spPr>
          <a:xfrm>
            <a:off x="4440936"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68" name="Text 366"/>
          <p:cNvSpPr/>
          <p:nvPr/>
        </p:nvSpPr>
        <p:spPr>
          <a:xfrm>
            <a:off x="4440936"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Dead Letter y Error Topics</a:t>
            </a:r>
            <a:endParaRPr lang="en-US" sz="380" dirty="0"/>
          </a:p>
        </p:txBody>
      </p:sp>
      <p:sp>
        <p:nvSpPr>
          <p:cNvPr id="369" name="Shape 367"/>
          <p:cNvSpPr/>
          <p:nvPr/>
        </p:nvSpPr>
        <p:spPr>
          <a:xfrm>
            <a:off x="4440936"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70" name="Text 368"/>
          <p:cNvSpPr/>
          <p:nvPr/>
        </p:nvSpPr>
        <p:spPr>
          <a:xfrm>
            <a:off x="4440936"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Reporte Garantía Entrega</a:t>
            </a:r>
            <a:endParaRPr lang="en-US" sz="380" dirty="0"/>
          </a:p>
        </p:txBody>
      </p:sp>
      <p:sp>
        <p:nvSpPr>
          <p:cNvPr id="371" name="Shape 369"/>
          <p:cNvSpPr/>
          <p:nvPr/>
        </p:nvSpPr>
        <p:spPr>
          <a:xfrm>
            <a:off x="6076188"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72" name="Text 370"/>
          <p:cNvSpPr/>
          <p:nvPr/>
        </p:nvSpPr>
        <p:spPr>
          <a:xfrm>
            <a:off x="6076188"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Reg. Eventos y Gobernanza</a:t>
            </a:r>
            <a:endParaRPr lang="en-US" sz="400" dirty="0"/>
          </a:p>
        </p:txBody>
      </p:sp>
      <p:sp>
        <p:nvSpPr>
          <p:cNvPr id="373" name="Shape 371"/>
          <p:cNvSpPr/>
          <p:nvPr/>
        </p:nvSpPr>
        <p:spPr>
          <a:xfrm>
            <a:off x="6076188" y="3549015"/>
            <a:ext cx="1616964" cy="121539"/>
          </a:xfrm>
          <a:prstGeom prst="rect">
            <a:avLst/>
          </a:prstGeom>
          <a:solidFill>
            <a:srgbClr val="FFE5C0"/>
          </a:solidFill>
          <a:ln w="12700">
            <a:solidFill>
              <a:srgbClr val="FF6B00"/>
            </a:solidFill>
            <a:prstDash val="solid"/>
          </a:ln>
        </p:spPr>
        <p:txBody>
          <a:bodyPr/>
          <a:lstStyle/>
          <a:p>
            <a:endParaRPr lang="es-ES"/>
          </a:p>
        </p:txBody>
      </p:sp>
      <p:sp>
        <p:nvSpPr>
          <p:cNvPr id="374" name="Text 372"/>
          <p:cNvSpPr/>
          <p:nvPr/>
        </p:nvSpPr>
        <p:spPr>
          <a:xfrm>
            <a:off x="6076188" y="354901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Definiciones y Esquemas Canónicos</a:t>
            </a:r>
            <a:endParaRPr lang="en-US" sz="380" dirty="0"/>
          </a:p>
        </p:txBody>
      </p:sp>
      <p:sp>
        <p:nvSpPr>
          <p:cNvPr id="375" name="Shape 373"/>
          <p:cNvSpPr/>
          <p:nvPr/>
        </p:nvSpPr>
        <p:spPr>
          <a:xfrm>
            <a:off x="6076188" y="3675126"/>
            <a:ext cx="1616964" cy="121539"/>
          </a:xfrm>
          <a:prstGeom prst="rect">
            <a:avLst/>
          </a:prstGeom>
          <a:solidFill>
            <a:srgbClr val="FFE5C0"/>
          </a:solidFill>
          <a:ln w="12700">
            <a:solidFill>
              <a:srgbClr val="FF6B00"/>
            </a:solidFill>
            <a:prstDash val="solid"/>
          </a:ln>
        </p:spPr>
        <p:txBody>
          <a:bodyPr/>
          <a:lstStyle/>
          <a:p>
            <a:endParaRPr lang="es-ES"/>
          </a:p>
        </p:txBody>
      </p:sp>
      <p:sp>
        <p:nvSpPr>
          <p:cNvPr id="376" name="Text 374"/>
          <p:cNvSpPr/>
          <p:nvPr/>
        </p:nvSpPr>
        <p:spPr>
          <a:xfrm>
            <a:off x="6076188" y="3675126"/>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Versionado Esquemas</a:t>
            </a:r>
            <a:endParaRPr lang="en-US" sz="380" dirty="0"/>
          </a:p>
        </p:txBody>
      </p:sp>
      <p:sp>
        <p:nvSpPr>
          <p:cNvPr id="377" name="Shape 375"/>
          <p:cNvSpPr/>
          <p:nvPr/>
        </p:nvSpPr>
        <p:spPr>
          <a:xfrm>
            <a:off x="6076188" y="3801237"/>
            <a:ext cx="1616964" cy="121539"/>
          </a:xfrm>
          <a:prstGeom prst="rect">
            <a:avLst/>
          </a:prstGeom>
          <a:solidFill>
            <a:srgbClr val="FFE5C0"/>
          </a:solidFill>
          <a:ln w="12700">
            <a:solidFill>
              <a:srgbClr val="FF6B00"/>
            </a:solidFill>
            <a:prstDash val="solid"/>
          </a:ln>
        </p:spPr>
        <p:txBody>
          <a:bodyPr/>
          <a:lstStyle/>
          <a:p>
            <a:endParaRPr lang="es-ES"/>
          </a:p>
        </p:txBody>
      </p:sp>
      <p:sp>
        <p:nvSpPr>
          <p:cNvPr id="378" name="Text 376"/>
          <p:cNvSpPr/>
          <p:nvPr/>
        </p:nvSpPr>
        <p:spPr>
          <a:xfrm>
            <a:off x="6076188" y="3801237"/>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Catálogo y Reg. Consumidores</a:t>
            </a:r>
            <a:endParaRPr lang="en-US" sz="380" dirty="0"/>
          </a:p>
        </p:txBody>
      </p:sp>
      <p:sp>
        <p:nvSpPr>
          <p:cNvPr id="379" name="Shape 377"/>
          <p:cNvSpPr/>
          <p:nvPr/>
        </p:nvSpPr>
        <p:spPr>
          <a:xfrm>
            <a:off x="7711440" y="3439287"/>
            <a:ext cx="1616964" cy="100584"/>
          </a:xfrm>
          <a:prstGeom prst="rect">
            <a:avLst/>
          </a:prstGeom>
          <a:solidFill>
            <a:srgbClr val="C8C8C8"/>
          </a:solidFill>
          <a:ln w="12700">
            <a:solidFill>
              <a:srgbClr val="C8C8C8"/>
            </a:solidFill>
            <a:prstDash val="solid"/>
          </a:ln>
        </p:spPr>
        <p:txBody>
          <a:bodyPr/>
          <a:lstStyle/>
          <a:p>
            <a:endParaRPr lang="es-ES"/>
          </a:p>
        </p:txBody>
      </p:sp>
      <p:sp>
        <p:nvSpPr>
          <p:cNvPr id="380" name="Text 378"/>
          <p:cNvSpPr/>
          <p:nvPr/>
        </p:nvSpPr>
        <p:spPr>
          <a:xfrm>
            <a:off x="7711440"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Event Mesh y Enrutamiento</a:t>
            </a:r>
            <a:endParaRPr lang="en-US" sz="400" dirty="0"/>
          </a:p>
        </p:txBody>
      </p:sp>
      <p:sp>
        <p:nvSpPr>
          <p:cNvPr id="381" name="Shape 379"/>
          <p:cNvSpPr/>
          <p:nvPr/>
        </p:nvSpPr>
        <p:spPr>
          <a:xfrm>
            <a:off x="7711440" y="3549015"/>
            <a:ext cx="1616964" cy="184594"/>
          </a:xfrm>
          <a:prstGeom prst="rect">
            <a:avLst/>
          </a:prstGeom>
          <a:solidFill>
            <a:srgbClr val="F0F0F0"/>
          </a:solidFill>
          <a:ln w="3810">
            <a:solidFill>
              <a:srgbClr val="C8C8C8"/>
            </a:solidFill>
            <a:prstDash val="solid"/>
          </a:ln>
        </p:spPr>
        <p:txBody>
          <a:bodyPr/>
          <a:lstStyle/>
          <a:p>
            <a:endParaRPr lang="es-ES"/>
          </a:p>
        </p:txBody>
      </p:sp>
      <p:sp>
        <p:nvSpPr>
          <p:cNvPr id="382" name="Text 380"/>
          <p:cNvSpPr/>
          <p:nvPr/>
        </p:nvSpPr>
        <p:spPr>
          <a:xfrm>
            <a:off x="7711440" y="3549015"/>
            <a:ext cx="1616964" cy="184594"/>
          </a:xfrm>
          <a:prstGeom prst="rect">
            <a:avLst/>
          </a:prstGeom>
          <a:noFill/>
          <a:ln/>
        </p:spPr>
        <p:txBody>
          <a:bodyPr wrap="square" lIns="6350" tIns="6350" rIns="6350" bIns="6350" rtlCol="0" anchor="ctr"/>
          <a:lstStyle/>
          <a:p>
            <a:pPr marL="0" indent="0" algn="ctr">
              <a:buNone/>
            </a:pPr>
            <a:r>
              <a:rPr lang="en-US" sz="380" dirty="0">
                <a:solidFill>
                  <a:srgbClr val="909090"/>
                </a:solidFill>
              </a:rPr>
              <a:t>Enrutamiento y Clustering</a:t>
            </a:r>
            <a:endParaRPr lang="en-US" sz="380" dirty="0"/>
          </a:p>
        </p:txBody>
      </p:sp>
      <p:sp>
        <p:nvSpPr>
          <p:cNvPr id="383" name="Shape 381"/>
          <p:cNvSpPr/>
          <p:nvPr/>
        </p:nvSpPr>
        <p:spPr>
          <a:xfrm>
            <a:off x="7711440" y="3738182"/>
            <a:ext cx="1616964" cy="184594"/>
          </a:xfrm>
          <a:prstGeom prst="rect">
            <a:avLst/>
          </a:prstGeom>
          <a:solidFill>
            <a:srgbClr val="F0F0F0"/>
          </a:solidFill>
          <a:ln w="3810">
            <a:solidFill>
              <a:srgbClr val="C8C8C8"/>
            </a:solidFill>
            <a:prstDash val="solid"/>
          </a:ln>
        </p:spPr>
        <p:txBody>
          <a:bodyPr/>
          <a:lstStyle/>
          <a:p>
            <a:endParaRPr lang="es-ES"/>
          </a:p>
        </p:txBody>
      </p:sp>
      <p:sp>
        <p:nvSpPr>
          <p:cNvPr id="384" name="Text 382"/>
          <p:cNvSpPr/>
          <p:nvPr/>
        </p:nvSpPr>
        <p:spPr>
          <a:xfrm>
            <a:off x="7711440" y="3738182"/>
            <a:ext cx="1616964" cy="184594"/>
          </a:xfrm>
          <a:prstGeom prst="rect">
            <a:avLst/>
          </a:prstGeom>
          <a:noFill/>
          <a:ln/>
        </p:spPr>
        <p:txBody>
          <a:bodyPr wrap="square" lIns="6350" tIns="6350" rIns="6350" bIns="6350" rtlCol="0" anchor="ctr"/>
          <a:lstStyle/>
          <a:p>
            <a:pPr marL="0" indent="0" algn="ctr">
              <a:buNone/>
            </a:pPr>
            <a:r>
              <a:rPr lang="en-US" sz="380" dirty="0">
                <a:solidFill>
                  <a:srgbClr val="909090"/>
                </a:solidFill>
              </a:rPr>
              <a:t>Distribución Cross-Dominio</a:t>
            </a:r>
            <a:endParaRPr lang="en-US" sz="380" dirty="0"/>
          </a:p>
        </p:txBody>
      </p:sp>
      <p:sp>
        <p:nvSpPr>
          <p:cNvPr id="385" name="Shape 383"/>
          <p:cNvSpPr/>
          <p:nvPr/>
        </p:nvSpPr>
        <p:spPr>
          <a:xfrm>
            <a:off x="9346692" y="3439287"/>
            <a:ext cx="1616964" cy="100584"/>
          </a:xfrm>
          <a:prstGeom prst="rect">
            <a:avLst/>
          </a:prstGeom>
          <a:solidFill>
            <a:srgbClr val="FF6B00"/>
          </a:solidFill>
          <a:ln w="12700">
            <a:solidFill>
              <a:srgbClr val="FF6B00"/>
            </a:solidFill>
            <a:prstDash val="solid"/>
          </a:ln>
        </p:spPr>
        <p:txBody>
          <a:bodyPr/>
          <a:lstStyle/>
          <a:p>
            <a:endParaRPr lang="es-ES"/>
          </a:p>
        </p:txBody>
      </p:sp>
      <p:sp>
        <p:nvSpPr>
          <p:cNvPr id="386" name="Text 384"/>
          <p:cNvSpPr/>
          <p:nvPr/>
        </p:nvSpPr>
        <p:spPr>
          <a:xfrm>
            <a:off x="9346692" y="3439287"/>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Monitorización de Eventos</a:t>
            </a:r>
            <a:endParaRPr lang="en-US" sz="400" dirty="0"/>
          </a:p>
        </p:txBody>
      </p:sp>
      <p:sp>
        <p:nvSpPr>
          <p:cNvPr id="387" name="Shape 385"/>
          <p:cNvSpPr/>
          <p:nvPr/>
        </p:nvSpPr>
        <p:spPr>
          <a:xfrm>
            <a:off x="9346692" y="3549015"/>
            <a:ext cx="1616964" cy="184594"/>
          </a:xfrm>
          <a:prstGeom prst="rect">
            <a:avLst/>
          </a:prstGeom>
          <a:solidFill>
            <a:srgbClr val="FFE5C0"/>
          </a:solidFill>
          <a:ln w="12700">
            <a:solidFill>
              <a:srgbClr val="FF6B00"/>
            </a:solidFill>
            <a:prstDash val="solid"/>
          </a:ln>
        </p:spPr>
        <p:txBody>
          <a:bodyPr/>
          <a:lstStyle/>
          <a:p>
            <a:endParaRPr lang="es-ES"/>
          </a:p>
        </p:txBody>
      </p:sp>
      <p:sp>
        <p:nvSpPr>
          <p:cNvPr id="388" name="Text 386"/>
          <p:cNvSpPr/>
          <p:nvPr/>
        </p:nvSpPr>
        <p:spPr>
          <a:xfrm>
            <a:off x="9346692" y="3549015"/>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Flujo y Lag Consumidores</a:t>
            </a:r>
            <a:endParaRPr lang="en-US" sz="380" dirty="0"/>
          </a:p>
        </p:txBody>
      </p:sp>
      <p:sp>
        <p:nvSpPr>
          <p:cNvPr id="389" name="Shape 387"/>
          <p:cNvSpPr/>
          <p:nvPr/>
        </p:nvSpPr>
        <p:spPr>
          <a:xfrm>
            <a:off x="9346692" y="3738182"/>
            <a:ext cx="1616964" cy="184594"/>
          </a:xfrm>
          <a:prstGeom prst="rect">
            <a:avLst/>
          </a:prstGeom>
          <a:solidFill>
            <a:srgbClr val="FFE5C0"/>
          </a:solidFill>
          <a:ln w="12700">
            <a:solidFill>
              <a:srgbClr val="FF6B00"/>
            </a:solidFill>
            <a:prstDash val="solid"/>
          </a:ln>
        </p:spPr>
        <p:txBody>
          <a:bodyPr/>
          <a:lstStyle/>
          <a:p>
            <a:endParaRPr lang="es-ES"/>
          </a:p>
        </p:txBody>
      </p:sp>
      <p:sp>
        <p:nvSpPr>
          <p:cNvPr id="390" name="Text 388"/>
          <p:cNvSpPr/>
          <p:nvPr/>
        </p:nvSpPr>
        <p:spPr>
          <a:xfrm>
            <a:off x="9346692" y="3738182"/>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Auditoría y Trazabilidad Eventos</a:t>
            </a:r>
            <a:endParaRPr lang="en-US" sz="380" dirty="0"/>
          </a:p>
        </p:txBody>
      </p:sp>
      <p:sp>
        <p:nvSpPr>
          <p:cNvPr id="391" name="Shape 389"/>
          <p:cNvSpPr/>
          <p:nvPr/>
        </p:nvSpPr>
        <p:spPr>
          <a:xfrm>
            <a:off x="1152144" y="3963924"/>
            <a:ext cx="9848088" cy="634365"/>
          </a:xfrm>
          <a:prstGeom prst="rect">
            <a:avLst/>
          </a:prstGeom>
          <a:solidFill>
            <a:srgbClr val="FFF4E0"/>
          </a:solidFill>
          <a:ln w="19050">
            <a:solidFill>
              <a:srgbClr val="E08800"/>
            </a:solidFill>
            <a:prstDash val="solid"/>
          </a:ln>
        </p:spPr>
        <p:txBody>
          <a:bodyPr/>
          <a:lstStyle/>
          <a:p>
            <a:endParaRPr lang="es-ES"/>
          </a:p>
        </p:txBody>
      </p:sp>
      <p:sp>
        <p:nvSpPr>
          <p:cNvPr id="392" name="Shape 390"/>
          <p:cNvSpPr/>
          <p:nvPr/>
        </p:nvSpPr>
        <p:spPr>
          <a:xfrm>
            <a:off x="1152144" y="3963924"/>
            <a:ext cx="9848088" cy="128016"/>
          </a:xfrm>
          <a:prstGeom prst="rect">
            <a:avLst/>
          </a:prstGeom>
          <a:solidFill>
            <a:srgbClr val="E08800"/>
          </a:solidFill>
          <a:ln w="12700">
            <a:solidFill>
              <a:srgbClr val="E08800"/>
            </a:solidFill>
            <a:prstDash val="solid"/>
          </a:ln>
        </p:spPr>
        <p:txBody>
          <a:bodyPr/>
          <a:lstStyle/>
          <a:p>
            <a:endParaRPr lang="es-ES"/>
          </a:p>
        </p:txBody>
      </p:sp>
      <p:sp>
        <p:nvSpPr>
          <p:cNvPr id="393" name="Text 391"/>
          <p:cNvSpPr/>
          <p:nvPr/>
        </p:nvSpPr>
        <p:spPr>
          <a:xfrm>
            <a:off x="1188720" y="3963924"/>
            <a:ext cx="9555480" cy="128016"/>
          </a:xfrm>
          <a:prstGeom prst="rect">
            <a:avLst/>
          </a:prstGeom>
          <a:noFill/>
          <a:ln/>
        </p:spPr>
        <p:txBody>
          <a:bodyPr wrap="square" rtlCol="0" anchor="ctr"/>
          <a:lstStyle/>
          <a:p>
            <a:pPr marL="0" indent="0" algn="l">
              <a:buNone/>
            </a:pPr>
            <a:r>
              <a:rPr lang="en-US" sz="550" b="1" dirty="0">
                <a:solidFill>
                  <a:srgbClr val="FFFFFF"/>
                </a:solidFill>
              </a:rPr>
              <a:t>Omnicanal &amp; Componentes de Caché</a:t>
            </a:r>
            <a:endParaRPr lang="en-US" sz="550" dirty="0"/>
          </a:p>
        </p:txBody>
      </p:sp>
      <p:sp>
        <p:nvSpPr>
          <p:cNvPr id="394" name="Shape 392"/>
          <p:cNvSpPr/>
          <p:nvPr/>
        </p:nvSpPr>
        <p:spPr>
          <a:xfrm>
            <a:off x="10753344" y="3977640"/>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395" name="Text 393"/>
          <p:cNvSpPr/>
          <p:nvPr/>
        </p:nvSpPr>
        <p:spPr>
          <a:xfrm>
            <a:off x="10753344" y="3977640"/>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396" name="Shape 394"/>
          <p:cNvSpPr/>
          <p:nvPr/>
        </p:nvSpPr>
        <p:spPr>
          <a:xfrm>
            <a:off x="1170432" y="4101084"/>
            <a:ext cx="2434590" cy="100584"/>
          </a:xfrm>
          <a:prstGeom prst="rect">
            <a:avLst/>
          </a:prstGeom>
          <a:solidFill>
            <a:srgbClr val="FF6B00"/>
          </a:solidFill>
          <a:ln w="12700">
            <a:solidFill>
              <a:srgbClr val="FF6B00"/>
            </a:solidFill>
            <a:prstDash val="solid"/>
          </a:ln>
        </p:spPr>
        <p:txBody>
          <a:bodyPr/>
          <a:lstStyle/>
          <a:p>
            <a:endParaRPr lang="es-ES"/>
          </a:p>
        </p:txBody>
      </p:sp>
      <p:sp>
        <p:nvSpPr>
          <p:cNvPr id="397" name="Text 395"/>
          <p:cNvSpPr/>
          <p:nvPr/>
        </p:nvSpPr>
        <p:spPr>
          <a:xfrm>
            <a:off x="1170432"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Datos Omnicanal</a:t>
            </a:r>
            <a:endParaRPr lang="en-US" sz="400" dirty="0"/>
          </a:p>
        </p:txBody>
      </p:sp>
      <p:sp>
        <p:nvSpPr>
          <p:cNvPr id="398" name="Shape 396"/>
          <p:cNvSpPr/>
          <p:nvPr/>
        </p:nvSpPr>
        <p:spPr>
          <a:xfrm>
            <a:off x="1170432" y="4210812"/>
            <a:ext cx="2434590" cy="121539"/>
          </a:xfrm>
          <a:prstGeom prst="rect">
            <a:avLst/>
          </a:prstGeom>
          <a:solidFill>
            <a:srgbClr val="FFE5C0"/>
          </a:solidFill>
          <a:ln w="12700">
            <a:solidFill>
              <a:srgbClr val="FF6B00"/>
            </a:solidFill>
            <a:prstDash val="solid"/>
          </a:ln>
        </p:spPr>
        <p:txBody>
          <a:bodyPr/>
          <a:lstStyle/>
          <a:p>
            <a:endParaRPr lang="es-ES"/>
          </a:p>
        </p:txBody>
      </p:sp>
      <p:sp>
        <p:nvSpPr>
          <p:cNvPr id="399" name="Text 397"/>
          <p:cNvSpPr/>
          <p:nvPr/>
        </p:nvSpPr>
        <p:spPr>
          <a:xfrm>
            <a:off x="1170432" y="4210812"/>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Almacén Datos Omnicanal</a:t>
            </a:r>
            <a:endParaRPr lang="en-US" sz="380" dirty="0"/>
          </a:p>
        </p:txBody>
      </p:sp>
      <p:sp>
        <p:nvSpPr>
          <p:cNvPr id="400" name="Shape 398"/>
          <p:cNvSpPr/>
          <p:nvPr/>
        </p:nvSpPr>
        <p:spPr>
          <a:xfrm>
            <a:off x="1170432"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01" name="Text 399"/>
          <p:cNvSpPr/>
          <p:nvPr/>
        </p:nvSpPr>
        <p:spPr>
          <a:xfrm>
            <a:off x="1170432"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Acceso Datos Omnicanal</a:t>
            </a:r>
            <a:endParaRPr lang="en-US" sz="380" dirty="0"/>
          </a:p>
        </p:txBody>
      </p:sp>
      <p:sp>
        <p:nvSpPr>
          <p:cNvPr id="402" name="Shape 400"/>
          <p:cNvSpPr/>
          <p:nvPr/>
        </p:nvSpPr>
        <p:spPr>
          <a:xfrm>
            <a:off x="1170432" y="4463034"/>
            <a:ext cx="2434590" cy="121539"/>
          </a:xfrm>
          <a:prstGeom prst="rect">
            <a:avLst/>
          </a:prstGeom>
          <a:solidFill>
            <a:srgbClr val="FFE5C0"/>
          </a:solidFill>
          <a:ln w="12700">
            <a:solidFill>
              <a:srgbClr val="FF6B00"/>
            </a:solidFill>
            <a:prstDash val="solid"/>
          </a:ln>
        </p:spPr>
        <p:txBody>
          <a:bodyPr/>
          <a:lstStyle/>
          <a:p>
            <a:endParaRPr lang="es-ES"/>
          </a:p>
        </p:txBody>
      </p:sp>
      <p:sp>
        <p:nvSpPr>
          <p:cNvPr id="403" name="Text 401"/>
          <p:cNvSpPr/>
          <p:nvPr/>
        </p:nvSpPr>
        <p:spPr>
          <a:xfrm>
            <a:off x="1170432" y="446303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Reanudación de Journey</a:t>
            </a:r>
            <a:endParaRPr lang="en-US" sz="380" dirty="0"/>
          </a:p>
        </p:txBody>
      </p:sp>
      <p:sp>
        <p:nvSpPr>
          <p:cNvPr id="404" name="Shape 402"/>
          <p:cNvSpPr/>
          <p:nvPr/>
        </p:nvSpPr>
        <p:spPr>
          <a:xfrm>
            <a:off x="3623310" y="4101084"/>
            <a:ext cx="2434590" cy="100584"/>
          </a:xfrm>
          <a:prstGeom prst="rect">
            <a:avLst/>
          </a:prstGeom>
          <a:solidFill>
            <a:srgbClr val="E08800"/>
          </a:solidFill>
          <a:ln w="12700">
            <a:solidFill>
              <a:srgbClr val="E08800"/>
            </a:solidFill>
            <a:prstDash val="solid"/>
          </a:ln>
        </p:spPr>
        <p:txBody>
          <a:bodyPr/>
          <a:lstStyle/>
          <a:p>
            <a:endParaRPr lang="es-ES"/>
          </a:p>
        </p:txBody>
      </p:sp>
      <p:sp>
        <p:nvSpPr>
          <p:cNvPr id="405" name="Text 403"/>
          <p:cNvSpPr/>
          <p:nvPr/>
        </p:nvSpPr>
        <p:spPr>
          <a:xfrm>
            <a:off x="3623310"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Componentes de Caché</a:t>
            </a:r>
            <a:endParaRPr lang="en-US" sz="400" dirty="0"/>
          </a:p>
        </p:txBody>
      </p:sp>
      <p:sp>
        <p:nvSpPr>
          <p:cNvPr id="406" name="Shape 404"/>
          <p:cNvSpPr/>
          <p:nvPr/>
        </p:nvSpPr>
        <p:spPr>
          <a:xfrm>
            <a:off x="3623310" y="4210812"/>
            <a:ext cx="2434590" cy="121539"/>
          </a:xfrm>
          <a:prstGeom prst="rect">
            <a:avLst/>
          </a:prstGeom>
          <a:solidFill>
            <a:srgbClr val="F0F0F0"/>
          </a:solidFill>
          <a:ln w="3810">
            <a:solidFill>
              <a:srgbClr val="C8C8C8"/>
            </a:solidFill>
            <a:prstDash val="solid"/>
          </a:ln>
        </p:spPr>
        <p:txBody>
          <a:bodyPr/>
          <a:lstStyle/>
          <a:p>
            <a:endParaRPr lang="es-ES"/>
          </a:p>
        </p:txBody>
      </p:sp>
      <p:sp>
        <p:nvSpPr>
          <p:cNvPr id="407" name="Text 405"/>
          <p:cNvSpPr/>
          <p:nvPr/>
        </p:nvSpPr>
        <p:spPr>
          <a:xfrm>
            <a:off x="3623310"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Caché Distribuida/En Memoria</a:t>
            </a:r>
            <a:endParaRPr lang="en-US" sz="380" dirty="0"/>
          </a:p>
        </p:txBody>
      </p:sp>
      <p:sp>
        <p:nvSpPr>
          <p:cNvPr id="408" name="Shape 406"/>
          <p:cNvSpPr/>
          <p:nvPr/>
        </p:nvSpPr>
        <p:spPr>
          <a:xfrm>
            <a:off x="3623310"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09" name="Text 407"/>
          <p:cNvSpPr/>
          <p:nvPr/>
        </p:nvSpPr>
        <p:spPr>
          <a:xfrm>
            <a:off x="3623310"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Invalidación y Refresco de Caché</a:t>
            </a:r>
            <a:endParaRPr lang="en-US" sz="380" dirty="0"/>
          </a:p>
        </p:txBody>
      </p:sp>
      <p:sp>
        <p:nvSpPr>
          <p:cNvPr id="410" name="Shape 408"/>
          <p:cNvSpPr/>
          <p:nvPr/>
        </p:nvSpPr>
        <p:spPr>
          <a:xfrm>
            <a:off x="3623310" y="4463034"/>
            <a:ext cx="2434590" cy="121539"/>
          </a:xfrm>
          <a:prstGeom prst="rect">
            <a:avLst/>
          </a:prstGeom>
          <a:solidFill>
            <a:srgbClr val="F0F0F0"/>
          </a:solidFill>
          <a:ln w="3810">
            <a:solidFill>
              <a:srgbClr val="C8C8C8"/>
            </a:solidFill>
            <a:prstDash val="solid"/>
          </a:ln>
        </p:spPr>
        <p:txBody>
          <a:bodyPr/>
          <a:lstStyle/>
          <a:p>
            <a:endParaRPr lang="es-ES"/>
          </a:p>
        </p:txBody>
      </p:sp>
      <p:sp>
        <p:nvSpPr>
          <p:cNvPr id="411" name="Text 409"/>
          <p:cNvSpPr/>
          <p:nvPr/>
        </p:nvSpPr>
        <p:spPr>
          <a:xfrm>
            <a:off x="3623310" y="4463034"/>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Aceleración Contenido Estático</a:t>
            </a:r>
            <a:endParaRPr lang="en-US" sz="380" dirty="0"/>
          </a:p>
        </p:txBody>
      </p:sp>
      <p:sp>
        <p:nvSpPr>
          <p:cNvPr id="412" name="Shape 410"/>
          <p:cNvSpPr/>
          <p:nvPr/>
        </p:nvSpPr>
        <p:spPr>
          <a:xfrm>
            <a:off x="6076188" y="4101084"/>
            <a:ext cx="2434590" cy="100584"/>
          </a:xfrm>
          <a:prstGeom prst="rect">
            <a:avLst/>
          </a:prstGeom>
          <a:solidFill>
            <a:srgbClr val="FF6B00"/>
          </a:solidFill>
          <a:ln w="12700">
            <a:solidFill>
              <a:srgbClr val="FF6B00"/>
            </a:solidFill>
            <a:prstDash val="solid"/>
          </a:ln>
        </p:spPr>
        <p:txBody>
          <a:bodyPr/>
          <a:lstStyle/>
          <a:p>
            <a:endParaRPr lang="es-ES"/>
          </a:p>
        </p:txBody>
      </p:sp>
      <p:sp>
        <p:nvSpPr>
          <p:cNvPr id="413" name="Text 411"/>
          <p:cNvSpPr/>
          <p:nvPr/>
        </p:nvSpPr>
        <p:spPr>
          <a:xfrm>
            <a:off x="6076188"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Sesiones y Replicación</a:t>
            </a:r>
            <a:endParaRPr lang="en-US" sz="400" dirty="0"/>
          </a:p>
        </p:txBody>
      </p:sp>
      <p:sp>
        <p:nvSpPr>
          <p:cNvPr id="414" name="Shape 412"/>
          <p:cNvSpPr/>
          <p:nvPr/>
        </p:nvSpPr>
        <p:spPr>
          <a:xfrm>
            <a:off x="6076188" y="4210812"/>
            <a:ext cx="2434590" cy="184594"/>
          </a:xfrm>
          <a:prstGeom prst="rect">
            <a:avLst/>
          </a:prstGeom>
          <a:solidFill>
            <a:srgbClr val="FFE5C0"/>
          </a:solidFill>
          <a:ln w="12700">
            <a:solidFill>
              <a:srgbClr val="FF6B00"/>
            </a:solidFill>
            <a:prstDash val="solid"/>
          </a:ln>
        </p:spPr>
        <p:txBody>
          <a:bodyPr/>
          <a:lstStyle/>
          <a:p>
            <a:endParaRPr lang="es-ES"/>
          </a:p>
        </p:txBody>
      </p:sp>
      <p:sp>
        <p:nvSpPr>
          <p:cNvPr id="415" name="Text 413"/>
          <p:cNvSpPr/>
          <p:nvPr/>
        </p:nvSpPr>
        <p:spPr>
          <a:xfrm>
            <a:off x="6076188" y="4210812"/>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Caché de Sesión</a:t>
            </a:r>
            <a:endParaRPr lang="en-US" sz="380" dirty="0"/>
          </a:p>
        </p:txBody>
      </p:sp>
      <p:sp>
        <p:nvSpPr>
          <p:cNvPr id="416" name="Shape 414"/>
          <p:cNvSpPr/>
          <p:nvPr/>
        </p:nvSpPr>
        <p:spPr>
          <a:xfrm>
            <a:off x="6076188" y="4399979"/>
            <a:ext cx="2434590" cy="184594"/>
          </a:xfrm>
          <a:prstGeom prst="rect">
            <a:avLst/>
          </a:prstGeom>
          <a:solidFill>
            <a:srgbClr val="FFE5C0"/>
          </a:solidFill>
          <a:ln w="12700">
            <a:solidFill>
              <a:srgbClr val="FF6B00"/>
            </a:solidFill>
            <a:prstDash val="solid"/>
          </a:ln>
        </p:spPr>
        <p:txBody>
          <a:bodyPr/>
          <a:lstStyle/>
          <a:p>
            <a:endParaRPr lang="es-ES"/>
          </a:p>
        </p:txBody>
      </p:sp>
      <p:sp>
        <p:nvSpPr>
          <p:cNvPr id="417" name="Text 415"/>
          <p:cNvSpPr/>
          <p:nvPr/>
        </p:nvSpPr>
        <p:spPr>
          <a:xfrm>
            <a:off x="6076188" y="4399979"/>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Replicación Sesión Inter-Dominio</a:t>
            </a:r>
            <a:endParaRPr lang="en-US" sz="380" dirty="0"/>
          </a:p>
        </p:txBody>
      </p:sp>
      <p:sp>
        <p:nvSpPr>
          <p:cNvPr id="418" name="Shape 416"/>
          <p:cNvSpPr/>
          <p:nvPr/>
        </p:nvSpPr>
        <p:spPr>
          <a:xfrm>
            <a:off x="8529066" y="4101084"/>
            <a:ext cx="2434590" cy="100584"/>
          </a:xfrm>
          <a:prstGeom prst="rect">
            <a:avLst/>
          </a:prstGeom>
          <a:solidFill>
            <a:srgbClr val="E08800"/>
          </a:solidFill>
          <a:ln w="12700">
            <a:solidFill>
              <a:srgbClr val="E08800"/>
            </a:solidFill>
            <a:prstDash val="solid"/>
          </a:ln>
        </p:spPr>
        <p:txBody>
          <a:bodyPr/>
          <a:lstStyle/>
          <a:p>
            <a:endParaRPr lang="es-ES"/>
          </a:p>
        </p:txBody>
      </p:sp>
      <p:sp>
        <p:nvSpPr>
          <p:cNvPr id="419" name="Text 417"/>
          <p:cNvSpPr/>
          <p:nvPr/>
        </p:nvSpPr>
        <p:spPr>
          <a:xfrm>
            <a:off x="8529066" y="4101084"/>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Caché Transacc. y Lectura</a:t>
            </a:r>
            <a:endParaRPr lang="en-US" sz="400" dirty="0"/>
          </a:p>
        </p:txBody>
      </p:sp>
      <p:sp>
        <p:nvSpPr>
          <p:cNvPr id="420" name="Shape 418"/>
          <p:cNvSpPr/>
          <p:nvPr/>
        </p:nvSpPr>
        <p:spPr>
          <a:xfrm>
            <a:off x="8529066" y="4210812"/>
            <a:ext cx="2434590" cy="121539"/>
          </a:xfrm>
          <a:prstGeom prst="rect">
            <a:avLst/>
          </a:prstGeom>
          <a:solidFill>
            <a:srgbClr val="F0F0F0"/>
          </a:solidFill>
          <a:ln w="3810">
            <a:solidFill>
              <a:srgbClr val="C8C8C8"/>
            </a:solidFill>
            <a:prstDash val="solid"/>
          </a:ln>
        </p:spPr>
        <p:txBody>
          <a:bodyPr/>
          <a:lstStyle/>
          <a:p>
            <a:endParaRPr lang="es-ES"/>
          </a:p>
        </p:txBody>
      </p:sp>
      <p:sp>
        <p:nvSpPr>
          <p:cNvPr id="421" name="Text 419"/>
          <p:cNvSpPr/>
          <p:nvPr/>
        </p:nvSpPr>
        <p:spPr>
          <a:xfrm>
            <a:off x="8529066" y="4210812"/>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Caché Transacciones en Vuelo</a:t>
            </a:r>
            <a:endParaRPr lang="en-US" sz="380" dirty="0"/>
          </a:p>
        </p:txBody>
      </p:sp>
      <p:sp>
        <p:nvSpPr>
          <p:cNvPr id="422" name="Shape 420"/>
          <p:cNvSpPr/>
          <p:nvPr/>
        </p:nvSpPr>
        <p:spPr>
          <a:xfrm>
            <a:off x="8529066" y="4336923"/>
            <a:ext cx="2434590" cy="121539"/>
          </a:xfrm>
          <a:prstGeom prst="rect">
            <a:avLst/>
          </a:prstGeom>
          <a:solidFill>
            <a:srgbClr val="FFE5C0"/>
          </a:solidFill>
          <a:ln w="12700">
            <a:solidFill>
              <a:srgbClr val="FF6B00"/>
            </a:solidFill>
            <a:prstDash val="solid"/>
          </a:ln>
        </p:spPr>
        <p:txBody>
          <a:bodyPr/>
          <a:lstStyle/>
          <a:p>
            <a:endParaRPr lang="es-ES"/>
          </a:p>
        </p:txBody>
      </p:sp>
      <p:sp>
        <p:nvSpPr>
          <p:cNvPr id="423" name="Text 421"/>
          <p:cNvSpPr/>
          <p:nvPr/>
        </p:nvSpPr>
        <p:spPr>
          <a:xfrm>
            <a:off x="8529066" y="4336923"/>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Lectura de Baja Latencia</a:t>
            </a:r>
            <a:endParaRPr lang="en-US" sz="380" dirty="0"/>
          </a:p>
        </p:txBody>
      </p:sp>
      <p:sp>
        <p:nvSpPr>
          <p:cNvPr id="424" name="Shape 422"/>
          <p:cNvSpPr/>
          <p:nvPr/>
        </p:nvSpPr>
        <p:spPr>
          <a:xfrm>
            <a:off x="8529066" y="4463034"/>
            <a:ext cx="2434590" cy="121539"/>
          </a:xfrm>
          <a:prstGeom prst="rect">
            <a:avLst/>
          </a:prstGeom>
          <a:solidFill>
            <a:srgbClr val="FFE5C0"/>
          </a:solidFill>
          <a:ln w="12700">
            <a:solidFill>
              <a:srgbClr val="FF6B00"/>
            </a:solidFill>
            <a:prstDash val="solid"/>
          </a:ln>
        </p:spPr>
        <p:txBody>
          <a:bodyPr/>
          <a:lstStyle/>
          <a:p>
            <a:endParaRPr lang="es-ES"/>
          </a:p>
        </p:txBody>
      </p:sp>
      <p:sp>
        <p:nvSpPr>
          <p:cNvPr id="425" name="Text 423"/>
          <p:cNvSpPr/>
          <p:nvPr/>
        </p:nvSpPr>
        <p:spPr>
          <a:xfrm>
            <a:off x="8529066" y="4463034"/>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Consistencia de Lectura</a:t>
            </a:r>
            <a:endParaRPr lang="en-US" sz="380" dirty="0"/>
          </a:p>
        </p:txBody>
      </p:sp>
      <p:sp>
        <p:nvSpPr>
          <p:cNvPr id="426" name="Shape 424"/>
          <p:cNvSpPr/>
          <p:nvPr/>
        </p:nvSpPr>
        <p:spPr>
          <a:xfrm>
            <a:off x="1152144" y="4625721"/>
            <a:ext cx="9848088" cy="634365"/>
          </a:xfrm>
          <a:prstGeom prst="rect">
            <a:avLst/>
          </a:prstGeom>
          <a:solidFill>
            <a:srgbClr val="FFF4E0"/>
          </a:solidFill>
          <a:ln w="19050">
            <a:solidFill>
              <a:srgbClr val="E08800"/>
            </a:solidFill>
            <a:prstDash val="solid"/>
          </a:ln>
        </p:spPr>
        <p:txBody>
          <a:bodyPr/>
          <a:lstStyle/>
          <a:p>
            <a:endParaRPr lang="es-ES"/>
          </a:p>
        </p:txBody>
      </p:sp>
      <p:sp>
        <p:nvSpPr>
          <p:cNvPr id="427" name="Shape 425"/>
          <p:cNvSpPr/>
          <p:nvPr/>
        </p:nvSpPr>
        <p:spPr>
          <a:xfrm>
            <a:off x="1152144" y="4625721"/>
            <a:ext cx="9848088" cy="128016"/>
          </a:xfrm>
          <a:prstGeom prst="rect">
            <a:avLst/>
          </a:prstGeom>
          <a:solidFill>
            <a:srgbClr val="E08800"/>
          </a:solidFill>
          <a:ln w="12700">
            <a:solidFill>
              <a:srgbClr val="E08800"/>
            </a:solidFill>
            <a:prstDash val="solid"/>
          </a:ln>
        </p:spPr>
        <p:txBody>
          <a:bodyPr/>
          <a:lstStyle/>
          <a:p>
            <a:endParaRPr lang="es-ES"/>
          </a:p>
        </p:txBody>
      </p:sp>
      <p:sp>
        <p:nvSpPr>
          <p:cNvPr id="428" name="Text 426"/>
          <p:cNvSpPr/>
          <p:nvPr/>
        </p:nvSpPr>
        <p:spPr>
          <a:xfrm>
            <a:off x="1188720" y="4625721"/>
            <a:ext cx="9555480" cy="128016"/>
          </a:xfrm>
          <a:prstGeom prst="rect">
            <a:avLst/>
          </a:prstGeom>
          <a:noFill/>
          <a:ln/>
        </p:spPr>
        <p:txBody>
          <a:bodyPr wrap="square" rtlCol="0" anchor="ctr"/>
          <a:lstStyle/>
          <a:p>
            <a:pPr marL="0" indent="0" algn="l">
              <a:buNone/>
            </a:pPr>
            <a:r>
              <a:rPr lang="en-US" sz="550" b="1" dirty="0">
                <a:solidFill>
                  <a:srgbClr val="FFFFFF"/>
                </a:solidFill>
              </a:rPr>
              <a:t>Entrega de Datos</a:t>
            </a:r>
            <a:endParaRPr lang="en-US" sz="550" dirty="0"/>
          </a:p>
        </p:txBody>
      </p:sp>
      <p:sp>
        <p:nvSpPr>
          <p:cNvPr id="429" name="Shape 427"/>
          <p:cNvSpPr/>
          <p:nvPr/>
        </p:nvSpPr>
        <p:spPr>
          <a:xfrm>
            <a:off x="10753344" y="4639437"/>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430" name="Text 428"/>
          <p:cNvSpPr/>
          <p:nvPr/>
        </p:nvSpPr>
        <p:spPr>
          <a:xfrm>
            <a:off x="10753344" y="4639437"/>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31" name="Shape 429"/>
          <p:cNvSpPr/>
          <p:nvPr/>
        </p:nvSpPr>
        <p:spPr>
          <a:xfrm>
            <a:off x="1170432"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32" name="Text 430"/>
          <p:cNvSpPr/>
          <p:nvPr/>
        </p:nvSpPr>
        <p:spPr>
          <a:xfrm>
            <a:off x="1170432"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Catálogo de Datos y Modelado</a:t>
            </a:r>
            <a:endParaRPr lang="en-US" sz="400" dirty="0"/>
          </a:p>
        </p:txBody>
      </p:sp>
      <p:sp>
        <p:nvSpPr>
          <p:cNvPr id="433" name="Shape 431"/>
          <p:cNvSpPr/>
          <p:nvPr/>
        </p:nvSpPr>
        <p:spPr>
          <a:xfrm>
            <a:off x="1170432" y="4872609"/>
            <a:ext cx="2434590" cy="64008"/>
          </a:xfrm>
          <a:prstGeom prst="rect">
            <a:avLst/>
          </a:prstGeom>
          <a:solidFill>
            <a:srgbClr val="FFE5C0"/>
          </a:solidFill>
          <a:ln w="12700">
            <a:solidFill>
              <a:srgbClr val="FF6B00"/>
            </a:solidFill>
            <a:prstDash val="solid"/>
          </a:ln>
        </p:spPr>
        <p:txBody>
          <a:bodyPr/>
          <a:lstStyle/>
          <a:p>
            <a:endParaRPr lang="es-ES"/>
          </a:p>
        </p:txBody>
      </p:sp>
      <p:sp>
        <p:nvSpPr>
          <p:cNvPr id="434" name="Text 432"/>
          <p:cNvSpPr/>
          <p:nvPr/>
        </p:nvSpPr>
        <p:spPr>
          <a:xfrm>
            <a:off x="1170432" y="4872609"/>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Catálogo e Inventario</a:t>
            </a:r>
            <a:endParaRPr lang="en-US" sz="380" dirty="0"/>
          </a:p>
        </p:txBody>
      </p:sp>
      <p:sp>
        <p:nvSpPr>
          <p:cNvPr id="435" name="Shape 433"/>
          <p:cNvSpPr/>
          <p:nvPr/>
        </p:nvSpPr>
        <p:spPr>
          <a:xfrm>
            <a:off x="1170432" y="4935665"/>
            <a:ext cx="2434590" cy="64008"/>
          </a:xfrm>
          <a:prstGeom prst="rect">
            <a:avLst/>
          </a:prstGeom>
          <a:solidFill>
            <a:srgbClr val="FFE5C0"/>
          </a:solidFill>
          <a:ln w="12700">
            <a:solidFill>
              <a:srgbClr val="FF6B00"/>
            </a:solidFill>
            <a:prstDash val="solid"/>
          </a:ln>
        </p:spPr>
        <p:txBody>
          <a:bodyPr/>
          <a:lstStyle/>
          <a:p>
            <a:endParaRPr lang="es-ES"/>
          </a:p>
        </p:txBody>
      </p:sp>
      <p:sp>
        <p:nvSpPr>
          <p:cNvPr id="436" name="Text 434"/>
          <p:cNvSpPr/>
          <p:nvPr/>
        </p:nvSpPr>
        <p:spPr>
          <a:xfrm>
            <a:off x="1170432" y="4935665"/>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Gestión Metadatos</a:t>
            </a:r>
            <a:endParaRPr lang="en-US" sz="380" dirty="0"/>
          </a:p>
        </p:txBody>
      </p:sp>
      <p:sp>
        <p:nvSpPr>
          <p:cNvPr id="437" name="Shape 435"/>
          <p:cNvSpPr/>
          <p:nvPr/>
        </p:nvSpPr>
        <p:spPr>
          <a:xfrm>
            <a:off x="1170432" y="4998720"/>
            <a:ext cx="2434590" cy="64008"/>
          </a:xfrm>
          <a:prstGeom prst="rect">
            <a:avLst/>
          </a:prstGeom>
          <a:solidFill>
            <a:srgbClr val="FFE5C0"/>
          </a:solidFill>
          <a:ln w="12700">
            <a:solidFill>
              <a:srgbClr val="FF6B00"/>
            </a:solidFill>
            <a:prstDash val="solid"/>
          </a:ln>
        </p:spPr>
        <p:txBody>
          <a:bodyPr/>
          <a:lstStyle/>
          <a:p>
            <a:endParaRPr lang="es-ES"/>
          </a:p>
        </p:txBody>
      </p:sp>
      <p:sp>
        <p:nvSpPr>
          <p:cNvPr id="438" name="Text 436"/>
          <p:cNvSpPr/>
          <p:nvPr/>
        </p:nvSpPr>
        <p:spPr>
          <a:xfrm>
            <a:off x="1170432" y="4998720"/>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Linaje de Datos</a:t>
            </a:r>
            <a:endParaRPr lang="en-US" sz="380" dirty="0"/>
          </a:p>
        </p:txBody>
      </p:sp>
      <p:sp>
        <p:nvSpPr>
          <p:cNvPr id="439" name="Shape 437"/>
          <p:cNvSpPr/>
          <p:nvPr/>
        </p:nvSpPr>
        <p:spPr>
          <a:xfrm>
            <a:off x="1170432" y="5061776"/>
            <a:ext cx="2434590" cy="64008"/>
          </a:xfrm>
          <a:prstGeom prst="rect">
            <a:avLst/>
          </a:prstGeom>
          <a:solidFill>
            <a:srgbClr val="F0F0F0"/>
          </a:solidFill>
          <a:ln w="3810">
            <a:solidFill>
              <a:srgbClr val="C8C8C8"/>
            </a:solidFill>
            <a:prstDash val="solid"/>
          </a:ln>
        </p:spPr>
        <p:txBody>
          <a:bodyPr/>
          <a:lstStyle/>
          <a:p>
            <a:endParaRPr lang="es-ES"/>
          </a:p>
        </p:txBody>
      </p:sp>
      <p:sp>
        <p:nvSpPr>
          <p:cNvPr id="440" name="Text 438"/>
          <p:cNvSpPr/>
          <p:nvPr/>
        </p:nvSpPr>
        <p:spPr>
          <a:xfrm>
            <a:off x="1170432" y="5061776"/>
            <a:ext cx="2434590" cy="64008"/>
          </a:xfrm>
          <a:prstGeom prst="rect">
            <a:avLst/>
          </a:prstGeom>
          <a:noFill/>
          <a:ln/>
        </p:spPr>
        <p:txBody>
          <a:bodyPr wrap="square" lIns="6350" tIns="6350" rIns="6350" bIns="6350" rtlCol="0" anchor="ctr"/>
          <a:lstStyle/>
          <a:p>
            <a:pPr marL="0" indent="0" algn="ctr">
              <a:buNone/>
            </a:pPr>
            <a:r>
              <a:rPr lang="en-US" sz="380" dirty="0">
                <a:solidFill>
                  <a:srgbClr val="909090"/>
                </a:solidFill>
              </a:rPr>
              <a:t>Grafo Conocimiento/Enriq.</a:t>
            </a:r>
            <a:endParaRPr lang="en-US" sz="380" dirty="0"/>
          </a:p>
        </p:txBody>
      </p:sp>
      <p:sp>
        <p:nvSpPr>
          <p:cNvPr id="441" name="Shape 439"/>
          <p:cNvSpPr/>
          <p:nvPr/>
        </p:nvSpPr>
        <p:spPr>
          <a:xfrm>
            <a:off x="1170432" y="5124831"/>
            <a:ext cx="2434590" cy="64008"/>
          </a:xfrm>
          <a:prstGeom prst="rect">
            <a:avLst/>
          </a:prstGeom>
          <a:solidFill>
            <a:srgbClr val="FFE5C0"/>
          </a:solidFill>
          <a:ln w="12700">
            <a:solidFill>
              <a:srgbClr val="FF6B00"/>
            </a:solidFill>
            <a:prstDash val="solid"/>
          </a:ln>
        </p:spPr>
        <p:txBody>
          <a:bodyPr/>
          <a:lstStyle/>
          <a:p>
            <a:endParaRPr lang="es-ES"/>
          </a:p>
        </p:txBody>
      </p:sp>
      <p:sp>
        <p:nvSpPr>
          <p:cNvPr id="442" name="Text 440"/>
          <p:cNvSpPr/>
          <p:nvPr/>
        </p:nvSpPr>
        <p:spPr>
          <a:xfrm>
            <a:off x="1170432" y="5124831"/>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Perfilado y Calidad</a:t>
            </a:r>
            <a:endParaRPr lang="en-US" sz="380" dirty="0"/>
          </a:p>
        </p:txBody>
      </p:sp>
      <p:sp>
        <p:nvSpPr>
          <p:cNvPr id="443" name="Shape 441"/>
          <p:cNvSpPr/>
          <p:nvPr/>
        </p:nvSpPr>
        <p:spPr>
          <a:xfrm>
            <a:off x="1170432" y="5187887"/>
            <a:ext cx="2434590" cy="64008"/>
          </a:xfrm>
          <a:prstGeom prst="rect">
            <a:avLst/>
          </a:prstGeom>
          <a:solidFill>
            <a:srgbClr val="FFE5C0"/>
          </a:solidFill>
          <a:ln w="12700">
            <a:solidFill>
              <a:srgbClr val="FF6B00"/>
            </a:solidFill>
            <a:prstDash val="solid"/>
          </a:ln>
        </p:spPr>
        <p:txBody>
          <a:bodyPr/>
          <a:lstStyle/>
          <a:p>
            <a:endParaRPr lang="es-ES"/>
          </a:p>
        </p:txBody>
      </p:sp>
      <p:sp>
        <p:nvSpPr>
          <p:cNvPr id="444" name="Text 442"/>
          <p:cNvSpPr/>
          <p:nvPr/>
        </p:nvSpPr>
        <p:spPr>
          <a:xfrm>
            <a:off x="1170432" y="5187887"/>
            <a:ext cx="2434590" cy="64008"/>
          </a:xfrm>
          <a:prstGeom prst="rect">
            <a:avLst/>
          </a:prstGeom>
          <a:noFill/>
          <a:ln/>
        </p:spPr>
        <p:txBody>
          <a:bodyPr wrap="square" lIns="6350" tIns="6350" rIns="6350" bIns="6350" rtlCol="0" anchor="ctr"/>
          <a:lstStyle/>
          <a:p>
            <a:pPr marL="0" indent="0" algn="ctr">
              <a:buNone/>
            </a:pPr>
            <a:r>
              <a:rPr lang="en-US" sz="380" b="1" dirty="0">
                <a:solidFill>
                  <a:srgbClr val="5C1E00"/>
                </a:solidFill>
              </a:rPr>
              <a:t>Gobernanza, Acceso y Privacidad</a:t>
            </a:r>
            <a:endParaRPr lang="en-US" sz="380" dirty="0"/>
          </a:p>
        </p:txBody>
      </p:sp>
      <p:sp>
        <p:nvSpPr>
          <p:cNvPr id="445" name="Shape 443"/>
          <p:cNvSpPr/>
          <p:nvPr/>
        </p:nvSpPr>
        <p:spPr>
          <a:xfrm>
            <a:off x="3623310"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46" name="Text 444"/>
          <p:cNvSpPr/>
          <p:nvPr/>
        </p:nvSpPr>
        <p:spPr>
          <a:xfrm>
            <a:off x="3623310"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Pipelines y Entrega de Datos</a:t>
            </a:r>
            <a:endParaRPr lang="en-US" sz="400" dirty="0"/>
          </a:p>
        </p:txBody>
      </p:sp>
      <p:sp>
        <p:nvSpPr>
          <p:cNvPr id="447" name="Shape 445"/>
          <p:cNvSpPr/>
          <p:nvPr/>
        </p:nvSpPr>
        <p:spPr>
          <a:xfrm>
            <a:off x="3623310" y="4872609"/>
            <a:ext cx="2434590" cy="71095"/>
          </a:xfrm>
          <a:prstGeom prst="rect">
            <a:avLst/>
          </a:prstGeom>
          <a:solidFill>
            <a:srgbClr val="FFE5C0"/>
          </a:solidFill>
          <a:ln w="12700">
            <a:solidFill>
              <a:srgbClr val="FF6B00"/>
            </a:solidFill>
            <a:prstDash val="solid"/>
          </a:ln>
        </p:spPr>
        <p:txBody>
          <a:bodyPr/>
          <a:lstStyle/>
          <a:p>
            <a:endParaRPr lang="es-ES"/>
          </a:p>
        </p:txBody>
      </p:sp>
      <p:sp>
        <p:nvSpPr>
          <p:cNvPr id="448" name="Text 446"/>
          <p:cNvSpPr/>
          <p:nvPr/>
        </p:nvSpPr>
        <p:spPr>
          <a:xfrm>
            <a:off x="3623310" y="4872609"/>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Integración Datos por Lotes</a:t>
            </a:r>
            <a:endParaRPr lang="en-US" sz="380" dirty="0"/>
          </a:p>
        </p:txBody>
      </p:sp>
      <p:sp>
        <p:nvSpPr>
          <p:cNvPr id="449" name="Shape 447"/>
          <p:cNvSpPr/>
          <p:nvPr/>
        </p:nvSpPr>
        <p:spPr>
          <a:xfrm>
            <a:off x="3623310" y="4948276"/>
            <a:ext cx="2434590" cy="71095"/>
          </a:xfrm>
          <a:prstGeom prst="rect">
            <a:avLst/>
          </a:prstGeom>
          <a:solidFill>
            <a:srgbClr val="FFE5C0"/>
          </a:solidFill>
          <a:ln w="12700">
            <a:solidFill>
              <a:srgbClr val="FF6B00"/>
            </a:solidFill>
            <a:prstDash val="solid"/>
          </a:ln>
        </p:spPr>
        <p:txBody>
          <a:bodyPr/>
          <a:lstStyle/>
          <a:p>
            <a:endParaRPr lang="es-ES"/>
          </a:p>
        </p:txBody>
      </p:sp>
      <p:sp>
        <p:nvSpPr>
          <p:cNvPr id="450" name="Text 448"/>
          <p:cNvSpPr/>
          <p:nvPr/>
        </p:nvSpPr>
        <p:spPr>
          <a:xfrm>
            <a:off x="3623310" y="4948276"/>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Integración Datos en Stream</a:t>
            </a:r>
            <a:endParaRPr lang="en-US" sz="380" dirty="0"/>
          </a:p>
        </p:txBody>
      </p:sp>
      <p:sp>
        <p:nvSpPr>
          <p:cNvPr id="451" name="Shape 449"/>
          <p:cNvSpPr/>
          <p:nvPr/>
        </p:nvSpPr>
        <p:spPr>
          <a:xfrm>
            <a:off x="3623310" y="5023942"/>
            <a:ext cx="2434590" cy="71095"/>
          </a:xfrm>
          <a:prstGeom prst="rect">
            <a:avLst/>
          </a:prstGeom>
          <a:solidFill>
            <a:srgbClr val="FFE5C0"/>
          </a:solidFill>
          <a:ln w="12700">
            <a:solidFill>
              <a:srgbClr val="FF6B00"/>
            </a:solidFill>
            <a:prstDash val="solid"/>
          </a:ln>
        </p:spPr>
        <p:txBody>
          <a:bodyPr/>
          <a:lstStyle/>
          <a:p>
            <a:endParaRPr lang="es-ES"/>
          </a:p>
        </p:txBody>
      </p:sp>
      <p:sp>
        <p:nvSpPr>
          <p:cNvPr id="452" name="Text 450"/>
          <p:cNvSpPr/>
          <p:nvPr/>
        </p:nvSpPr>
        <p:spPr>
          <a:xfrm>
            <a:off x="3623310" y="5023942"/>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Replicación de Datos</a:t>
            </a:r>
            <a:endParaRPr lang="en-US" sz="380" dirty="0"/>
          </a:p>
        </p:txBody>
      </p:sp>
      <p:sp>
        <p:nvSpPr>
          <p:cNvPr id="453" name="Shape 451"/>
          <p:cNvSpPr/>
          <p:nvPr/>
        </p:nvSpPr>
        <p:spPr>
          <a:xfrm>
            <a:off x="3623310" y="5099609"/>
            <a:ext cx="2434590" cy="71095"/>
          </a:xfrm>
          <a:prstGeom prst="rect">
            <a:avLst/>
          </a:prstGeom>
          <a:solidFill>
            <a:srgbClr val="F0F0F0"/>
          </a:solidFill>
          <a:ln w="3810">
            <a:solidFill>
              <a:srgbClr val="C8C8C8"/>
            </a:solidFill>
            <a:prstDash val="solid"/>
          </a:ln>
        </p:spPr>
        <p:txBody>
          <a:bodyPr/>
          <a:lstStyle/>
          <a:p>
            <a:endParaRPr lang="es-ES"/>
          </a:p>
        </p:txBody>
      </p:sp>
      <p:sp>
        <p:nvSpPr>
          <p:cNvPr id="454" name="Text 452"/>
          <p:cNvSpPr/>
          <p:nvPr/>
        </p:nvSpPr>
        <p:spPr>
          <a:xfrm>
            <a:off x="3623310" y="5099609"/>
            <a:ext cx="2434590" cy="71095"/>
          </a:xfrm>
          <a:prstGeom prst="rect">
            <a:avLst/>
          </a:prstGeom>
          <a:noFill/>
          <a:ln/>
        </p:spPr>
        <p:txBody>
          <a:bodyPr wrap="square" lIns="6350" tIns="6350" rIns="6350" bIns="6350" rtlCol="0" anchor="ctr"/>
          <a:lstStyle/>
          <a:p>
            <a:pPr marL="0" indent="0" algn="ctr">
              <a:buNone/>
            </a:pPr>
            <a:r>
              <a:rPr lang="en-US" sz="380" dirty="0">
                <a:solidFill>
                  <a:srgbClr val="909090"/>
                </a:solidFill>
              </a:rPr>
              <a:t>Virtualización de Datos</a:t>
            </a:r>
            <a:endParaRPr lang="en-US" sz="380" dirty="0"/>
          </a:p>
        </p:txBody>
      </p:sp>
      <p:sp>
        <p:nvSpPr>
          <p:cNvPr id="455" name="Shape 453"/>
          <p:cNvSpPr/>
          <p:nvPr/>
        </p:nvSpPr>
        <p:spPr>
          <a:xfrm>
            <a:off x="3623310" y="5175275"/>
            <a:ext cx="2434590" cy="71095"/>
          </a:xfrm>
          <a:prstGeom prst="rect">
            <a:avLst/>
          </a:prstGeom>
          <a:solidFill>
            <a:srgbClr val="FFE5C0"/>
          </a:solidFill>
          <a:ln w="12700">
            <a:solidFill>
              <a:srgbClr val="FF6B00"/>
            </a:solidFill>
            <a:prstDash val="solid"/>
          </a:ln>
        </p:spPr>
        <p:txBody>
          <a:bodyPr/>
          <a:lstStyle/>
          <a:p>
            <a:endParaRPr lang="es-ES"/>
          </a:p>
        </p:txBody>
      </p:sp>
      <p:sp>
        <p:nvSpPr>
          <p:cNvPr id="456" name="Text 454"/>
          <p:cNvSpPr/>
          <p:nvPr/>
        </p:nvSpPr>
        <p:spPr>
          <a:xfrm>
            <a:off x="3623310" y="5175275"/>
            <a:ext cx="2434590" cy="71095"/>
          </a:xfrm>
          <a:prstGeom prst="rect">
            <a:avLst/>
          </a:prstGeom>
          <a:noFill/>
          <a:ln/>
        </p:spPr>
        <p:txBody>
          <a:bodyPr wrap="square" lIns="6350" tIns="6350" rIns="6350" bIns="6350" rtlCol="0" anchor="ctr"/>
          <a:lstStyle/>
          <a:p>
            <a:pPr marL="0" indent="0" algn="ctr">
              <a:buNone/>
            </a:pPr>
            <a:r>
              <a:rPr lang="en-US" sz="380" b="1" dirty="0">
                <a:solidFill>
                  <a:srgbClr val="5C1E00"/>
                </a:solidFill>
              </a:rPr>
              <a:t>Orquestación y Monitoriz. Pipelines</a:t>
            </a:r>
            <a:endParaRPr lang="en-US" sz="380" dirty="0"/>
          </a:p>
        </p:txBody>
      </p:sp>
      <p:sp>
        <p:nvSpPr>
          <p:cNvPr id="457" name="Shape 455"/>
          <p:cNvSpPr/>
          <p:nvPr/>
        </p:nvSpPr>
        <p:spPr>
          <a:xfrm>
            <a:off x="6076188" y="4762881"/>
            <a:ext cx="2434590" cy="100584"/>
          </a:xfrm>
          <a:prstGeom prst="rect">
            <a:avLst/>
          </a:prstGeom>
          <a:solidFill>
            <a:srgbClr val="FF6B00"/>
          </a:solidFill>
          <a:ln w="12700">
            <a:solidFill>
              <a:srgbClr val="FF6B00"/>
            </a:solidFill>
            <a:prstDash val="solid"/>
          </a:ln>
        </p:spPr>
        <p:txBody>
          <a:bodyPr/>
          <a:lstStyle/>
          <a:p>
            <a:endParaRPr lang="es-ES"/>
          </a:p>
        </p:txBody>
      </p:sp>
      <p:sp>
        <p:nvSpPr>
          <p:cNvPr id="458" name="Text 456"/>
          <p:cNvSpPr/>
          <p:nvPr/>
        </p:nvSpPr>
        <p:spPr>
          <a:xfrm>
            <a:off x="6076188"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ODS y Modelo Datos Unificado</a:t>
            </a:r>
            <a:endParaRPr lang="en-US" sz="400" dirty="0"/>
          </a:p>
        </p:txBody>
      </p:sp>
      <p:sp>
        <p:nvSpPr>
          <p:cNvPr id="459" name="Shape 457"/>
          <p:cNvSpPr/>
          <p:nvPr/>
        </p:nvSpPr>
        <p:spPr>
          <a:xfrm>
            <a:off x="6076188" y="4872609"/>
            <a:ext cx="2434590" cy="90011"/>
          </a:xfrm>
          <a:prstGeom prst="rect">
            <a:avLst/>
          </a:prstGeom>
          <a:solidFill>
            <a:srgbClr val="FFE5C0"/>
          </a:solidFill>
          <a:ln w="12700">
            <a:solidFill>
              <a:srgbClr val="FF6B00"/>
            </a:solidFill>
            <a:prstDash val="solid"/>
          </a:ln>
        </p:spPr>
        <p:txBody>
          <a:bodyPr/>
          <a:lstStyle/>
          <a:p>
            <a:endParaRPr lang="es-ES"/>
          </a:p>
        </p:txBody>
      </p:sp>
      <p:sp>
        <p:nvSpPr>
          <p:cNvPr id="460" name="Text 458"/>
          <p:cNvSpPr/>
          <p:nvPr/>
        </p:nvSpPr>
        <p:spPr>
          <a:xfrm>
            <a:off x="6076188" y="4872609"/>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Modelo Canónico/Unificado</a:t>
            </a:r>
            <a:endParaRPr lang="en-US" sz="380" dirty="0"/>
          </a:p>
        </p:txBody>
      </p:sp>
      <p:sp>
        <p:nvSpPr>
          <p:cNvPr id="461" name="Shape 459"/>
          <p:cNvSpPr/>
          <p:nvPr/>
        </p:nvSpPr>
        <p:spPr>
          <a:xfrm>
            <a:off x="6076188" y="4967192"/>
            <a:ext cx="2434590" cy="90011"/>
          </a:xfrm>
          <a:prstGeom prst="rect">
            <a:avLst/>
          </a:prstGeom>
          <a:solidFill>
            <a:srgbClr val="FFE5C0"/>
          </a:solidFill>
          <a:ln w="12700">
            <a:solidFill>
              <a:srgbClr val="FF6B00"/>
            </a:solidFill>
            <a:prstDash val="solid"/>
          </a:ln>
        </p:spPr>
        <p:txBody>
          <a:bodyPr/>
          <a:lstStyle/>
          <a:p>
            <a:endParaRPr lang="es-ES"/>
          </a:p>
        </p:txBody>
      </p:sp>
      <p:sp>
        <p:nvSpPr>
          <p:cNvPr id="462" name="Text 460"/>
          <p:cNvSpPr/>
          <p:nvPr/>
        </p:nvSpPr>
        <p:spPr>
          <a:xfrm>
            <a:off x="6076188" y="4967192"/>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Consolid. Cross-Core Tiempo Real</a:t>
            </a:r>
            <a:endParaRPr lang="en-US" sz="380" dirty="0"/>
          </a:p>
        </p:txBody>
      </p:sp>
      <p:sp>
        <p:nvSpPr>
          <p:cNvPr id="463" name="Shape 461"/>
          <p:cNvSpPr/>
          <p:nvPr/>
        </p:nvSpPr>
        <p:spPr>
          <a:xfrm>
            <a:off x="6076188" y="5061776"/>
            <a:ext cx="2434590" cy="90011"/>
          </a:xfrm>
          <a:prstGeom prst="rect">
            <a:avLst/>
          </a:prstGeom>
          <a:solidFill>
            <a:srgbClr val="FFE5C0"/>
          </a:solidFill>
          <a:ln w="12700">
            <a:solidFill>
              <a:srgbClr val="FF6B00"/>
            </a:solidFill>
            <a:prstDash val="solid"/>
          </a:ln>
        </p:spPr>
        <p:txBody>
          <a:bodyPr/>
          <a:lstStyle/>
          <a:p>
            <a:endParaRPr lang="es-ES"/>
          </a:p>
        </p:txBody>
      </p:sp>
      <p:sp>
        <p:nvSpPr>
          <p:cNvPr id="464" name="Text 462"/>
          <p:cNvSpPr/>
          <p:nvPr/>
        </p:nvSpPr>
        <p:spPr>
          <a:xfrm>
            <a:off x="6076188" y="5061776"/>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Motor Entrega Multi-Velocidad</a:t>
            </a:r>
            <a:endParaRPr lang="en-US" sz="380" dirty="0"/>
          </a:p>
        </p:txBody>
      </p:sp>
      <p:sp>
        <p:nvSpPr>
          <p:cNvPr id="465" name="Shape 463"/>
          <p:cNvSpPr/>
          <p:nvPr/>
        </p:nvSpPr>
        <p:spPr>
          <a:xfrm>
            <a:off x="6076188" y="5156359"/>
            <a:ext cx="2434590" cy="90011"/>
          </a:xfrm>
          <a:prstGeom prst="rect">
            <a:avLst/>
          </a:prstGeom>
          <a:solidFill>
            <a:srgbClr val="FFE5C0"/>
          </a:solidFill>
          <a:ln w="12700">
            <a:solidFill>
              <a:srgbClr val="FF6B00"/>
            </a:solidFill>
            <a:prstDash val="solid"/>
          </a:ln>
        </p:spPr>
        <p:txBody>
          <a:bodyPr/>
          <a:lstStyle/>
          <a:p>
            <a:endParaRPr lang="es-ES"/>
          </a:p>
        </p:txBody>
      </p:sp>
      <p:sp>
        <p:nvSpPr>
          <p:cNvPr id="466" name="Text 464"/>
          <p:cNvSpPr/>
          <p:nvPr/>
        </p:nvSpPr>
        <p:spPr>
          <a:xfrm>
            <a:off x="6076188" y="5156359"/>
            <a:ext cx="2434590" cy="90011"/>
          </a:xfrm>
          <a:prstGeom prst="rect">
            <a:avLst/>
          </a:prstGeom>
          <a:noFill/>
          <a:ln/>
        </p:spPr>
        <p:txBody>
          <a:bodyPr wrap="square" lIns="6350" tIns="6350" rIns="6350" bIns="6350" rtlCol="0" anchor="ctr"/>
          <a:lstStyle/>
          <a:p>
            <a:pPr marL="0" indent="0" algn="ctr">
              <a:buNone/>
            </a:pPr>
            <a:r>
              <a:rPr lang="en-US" sz="380" b="1" dirty="0">
                <a:solidFill>
                  <a:srgbClr val="5C1E00"/>
                </a:solidFill>
              </a:rPr>
              <a:t>ODS Serving y Control Acceso</a:t>
            </a:r>
            <a:endParaRPr lang="en-US" sz="380" dirty="0"/>
          </a:p>
        </p:txBody>
      </p:sp>
      <p:sp>
        <p:nvSpPr>
          <p:cNvPr id="467" name="Shape 465"/>
          <p:cNvSpPr/>
          <p:nvPr/>
        </p:nvSpPr>
        <p:spPr>
          <a:xfrm>
            <a:off x="8529066" y="4762881"/>
            <a:ext cx="2434590" cy="100584"/>
          </a:xfrm>
          <a:prstGeom prst="rect">
            <a:avLst/>
          </a:prstGeom>
          <a:solidFill>
            <a:srgbClr val="E08800"/>
          </a:solidFill>
          <a:ln w="12700">
            <a:solidFill>
              <a:srgbClr val="E08800"/>
            </a:solidFill>
            <a:prstDash val="solid"/>
          </a:ln>
        </p:spPr>
        <p:txBody>
          <a:bodyPr/>
          <a:lstStyle/>
          <a:p>
            <a:endParaRPr lang="es-ES"/>
          </a:p>
        </p:txBody>
      </p:sp>
      <p:sp>
        <p:nvSpPr>
          <p:cNvPr id="468" name="Text 466"/>
          <p:cNvSpPr/>
          <p:nvPr/>
        </p:nvSpPr>
        <p:spPr>
          <a:xfrm>
            <a:off x="8529066" y="4762881"/>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Consumo de Datos</a:t>
            </a:r>
            <a:endParaRPr lang="en-US" sz="400" dirty="0"/>
          </a:p>
        </p:txBody>
      </p:sp>
      <p:sp>
        <p:nvSpPr>
          <p:cNvPr id="469" name="Shape 467"/>
          <p:cNvSpPr/>
          <p:nvPr/>
        </p:nvSpPr>
        <p:spPr>
          <a:xfrm>
            <a:off x="8529066" y="4872609"/>
            <a:ext cx="2434590" cy="121539"/>
          </a:xfrm>
          <a:prstGeom prst="rect">
            <a:avLst/>
          </a:prstGeom>
          <a:solidFill>
            <a:srgbClr val="FFE5C0"/>
          </a:solidFill>
          <a:ln w="12700">
            <a:solidFill>
              <a:srgbClr val="FF6B00"/>
            </a:solidFill>
            <a:prstDash val="solid"/>
          </a:ln>
        </p:spPr>
        <p:txBody>
          <a:bodyPr/>
          <a:lstStyle/>
          <a:p>
            <a:endParaRPr lang="es-ES"/>
          </a:p>
        </p:txBody>
      </p:sp>
      <p:sp>
        <p:nvSpPr>
          <p:cNvPr id="470" name="Text 468"/>
          <p:cNvSpPr/>
          <p:nvPr/>
        </p:nvSpPr>
        <p:spPr>
          <a:xfrm>
            <a:off x="8529066" y="4872609"/>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APIs de Datos</a:t>
            </a:r>
            <a:endParaRPr lang="en-US" sz="380" dirty="0"/>
          </a:p>
        </p:txBody>
      </p:sp>
      <p:sp>
        <p:nvSpPr>
          <p:cNvPr id="471" name="Shape 469"/>
          <p:cNvSpPr/>
          <p:nvPr/>
        </p:nvSpPr>
        <p:spPr>
          <a:xfrm>
            <a:off x="8529066" y="4998720"/>
            <a:ext cx="2434590" cy="121539"/>
          </a:xfrm>
          <a:prstGeom prst="rect">
            <a:avLst/>
          </a:prstGeom>
          <a:solidFill>
            <a:srgbClr val="FFE5C0"/>
          </a:solidFill>
          <a:ln w="12700">
            <a:solidFill>
              <a:srgbClr val="FF6B00"/>
            </a:solidFill>
            <a:prstDash val="solid"/>
          </a:ln>
        </p:spPr>
        <p:txBody>
          <a:bodyPr/>
          <a:lstStyle/>
          <a:p>
            <a:endParaRPr lang="es-ES"/>
          </a:p>
        </p:txBody>
      </p:sp>
      <p:sp>
        <p:nvSpPr>
          <p:cNvPr id="472" name="Text 470"/>
          <p:cNvSpPr/>
          <p:nvPr/>
        </p:nvSpPr>
        <p:spPr>
          <a:xfrm>
            <a:off x="8529066" y="4998720"/>
            <a:ext cx="2434590"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Feeds Analítica y Reportes</a:t>
            </a:r>
            <a:endParaRPr lang="en-US" sz="380" dirty="0"/>
          </a:p>
        </p:txBody>
      </p:sp>
      <p:sp>
        <p:nvSpPr>
          <p:cNvPr id="473" name="Shape 471"/>
          <p:cNvSpPr/>
          <p:nvPr/>
        </p:nvSpPr>
        <p:spPr>
          <a:xfrm>
            <a:off x="8529066" y="5124831"/>
            <a:ext cx="2434590" cy="121539"/>
          </a:xfrm>
          <a:prstGeom prst="rect">
            <a:avLst/>
          </a:prstGeom>
          <a:solidFill>
            <a:srgbClr val="F0F0F0"/>
          </a:solidFill>
          <a:ln w="3810">
            <a:solidFill>
              <a:srgbClr val="C8C8C8"/>
            </a:solidFill>
            <a:prstDash val="solid"/>
          </a:ln>
        </p:spPr>
        <p:txBody>
          <a:bodyPr/>
          <a:lstStyle/>
          <a:p>
            <a:endParaRPr lang="es-ES"/>
          </a:p>
        </p:txBody>
      </p:sp>
      <p:sp>
        <p:nvSpPr>
          <p:cNvPr id="474" name="Text 472"/>
          <p:cNvSpPr/>
          <p:nvPr/>
        </p:nvSpPr>
        <p:spPr>
          <a:xfrm>
            <a:off x="8529066" y="5124831"/>
            <a:ext cx="2434590" cy="121539"/>
          </a:xfrm>
          <a:prstGeom prst="rect">
            <a:avLst/>
          </a:prstGeom>
          <a:noFill/>
          <a:ln/>
        </p:spPr>
        <p:txBody>
          <a:bodyPr wrap="square" lIns="6350" tIns="6350" rIns="6350" bIns="6350" rtlCol="0" anchor="ctr"/>
          <a:lstStyle/>
          <a:p>
            <a:pPr marL="0" indent="0" algn="ctr">
              <a:buNone/>
            </a:pPr>
            <a:r>
              <a:rPr lang="en-US" sz="380" dirty="0">
                <a:solidFill>
                  <a:srgbClr val="909090"/>
                </a:solidFill>
              </a:rPr>
              <a:t>Aprovision. Datos Sandbox</a:t>
            </a:r>
            <a:endParaRPr lang="en-US" sz="380" dirty="0"/>
          </a:p>
        </p:txBody>
      </p:sp>
      <p:sp>
        <p:nvSpPr>
          <p:cNvPr id="475" name="Shape 473"/>
          <p:cNvSpPr/>
          <p:nvPr/>
        </p:nvSpPr>
        <p:spPr>
          <a:xfrm>
            <a:off x="1152144" y="5287518"/>
            <a:ext cx="9848088" cy="634365"/>
          </a:xfrm>
          <a:prstGeom prst="rect">
            <a:avLst/>
          </a:prstGeom>
          <a:solidFill>
            <a:srgbClr val="FFE5C0"/>
          </a:solidFill>
          <a:ln w="19050">
            <a:solidFill>
              <a:srgbClr val="FF6B00"/>
            </a:solidFill>
            <a:prstDash val="solid"/>
          </a:ln>
        </p:spPr>
        <p:txBody>
          <a:bodyPr/>
          <a:lstStyle/>
          <a:p>
            <a:endParaRPr lang="es-ES"/>
          </a:p>
        </p:txBody>
      </p:sp>
      <p:sp>
        <p:nvSpPr>
          <p:cNvPr id="476" name="Shape 474"/>
          <p:cNvSpPr/>
          <p:nvPr/>
        </p:nvSpPr>
        <p:spPr>
          <a:xfrm>
            <a:off x="1152144" y="5287518"/>
            <a:ext cx="9848088" cy="128016"/>
          </a:xfrm>
          <a:prstGeom prst="rect">
            <a:avLst/>
          </a:prstGeom>
          <a:solidFill>
            <a:srgbClr val="FF6B00"/>
          </a:solidFill>
          <a:ln w="12700">
            <a:solidFill>
              <a:srgbClr val="FF6B00"/>
            </a:solidFill>
            <a:prstDash val="solid"/>
          </a:ln>
        </p:spPr>
        <p:txBody>
          <a:bodyPr/>
          <a:lstStyle/>
          <a:p>
            <a:endParaRPr lang="es-ES"/>
          </a:p>
        </p:txBody>
      </p:sp>
      <p:sp>
        <p:nvSpPr>
          <p:cNvPr id="477" name="Text 475"/>
          <p:cNvSpPr/>
          <p:nvPr/>
        </p:nvSpPr>
        <p:spPr>
          <a:xfrm>
            <a:off x="1188720" y="5287518"/>
            <a:ext cx="9555480" cy="128016"/>
          </a:xfrm>
          <a:prstGeom prst="rect">
            <a:avLst/>
          </a:prstGeom>
          <a:noFill/>
          <a:ln/>
        </p:spPr>
        <p:txBody>
          <a:bodyPr wrap="square" rtlCol="0" anchor="ctr"/>
          <a:lstStyle/>
          <a:p>
            <a:pPr marL="0" indent="0" algn="l">
              <a:buNone/>
            </a:pPr>
            <a:r>
              <a:rPr lang="en-US" sz="550" b="1" dirty="0">
                <a:solidFill>
                  <a:srgbClr val="FFFFFF"/>
                </a:solidFill>
              </a:rPr>
              <a:t>Operaciones</a:t>
            </a:r>
            <a:endParaRPr lang="en-US" sz="550" dirty="0"/>
          </a:p>
        </p:txBody>
      </p:sp>
      <p:sp>
        <p:nvSpPr>
          <p:cNvPr id="478" name="Shape 476"/>
          <p:cNvSpPr/>
          <p:nvPr/>
        </p:nvSpPr>
        <p:spPr>
          <a:xfrm>
            <a:off x="10753344" y="5301234"/>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479" name="Text 477"/>
          <p:cNvSpPr/>
          <p:nvPr/>
        </p:nvSpPr>
        <p:spPr>
          <a:xfrm>
            <a:off x="10753344" y="5301234"/>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480" name="Shape 478"/>
          <p:cNvSpPr/>
          <p:nvPr/>
        </p:nvSpPr>
        <p:spPr>
          <a:xfrm>
            <a:off x="1170432"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81" name="Text 479"/>
          <p:cNvSpPr/>
          <p:nvPr/>
        </p:nvSpPr>
        <p:spPr>
          <a:xfrm>
            <a:off x="1170432"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Operaciones de Folio</a:t>
            </a:r>
            <a:endParaRPr lang="en-US" sz="400" dirty="0"/>
          </a:p>
        </p:txBody>
      </p:sp>
      <p:sp>
        <p:nvSpPr>
          <p:cNvPr id="482" name="Shape 480"/>
          <p:cNvSpPr/>
          <p:nvPr/>
        </p:nvSpPr>
        <p:spPr>
          <a:xfrm>
            <a:off x="1170432"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83" name="Text 481"/>
          <p:cNvSpPr/>
          <p:nvPr/>
        </p:nvSpPr>
        <p:spPr>
          <a:xfrm>
            <a:off x="1170432"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Agrupación Referencias Negocio</a:t>
            </a:r>
            <a:endParaRPr lang="en-US" sz="380" dirty="0"/>
          </a:p>
        </p:txBody>
      </p:sp>
      <p:sp>
        <p:nvSpPr>
          <p:cNvPr id="484" name="Shape 482"/>
          <p:cNvSpPr/>
          <p:nvPr/>
        </p:nvSpPr>
        <p:spPr>
          <a:xfrm>
            <a:off x="1170432"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85" name="Text 483"/>
          <p:cNvSpPr/>
          <p:nvPr/>
        </p:nvSpPr>
        <p:spPr>
          <a:xfrm>
            <a:off x="1170432"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Consulta e Informes de Folio</a:t>
            </a:r>
            <a:endParaRPr lang="en-US" sz="380" dirty="0"/>
          </a:p>
        </p:txBody>
      </p:sp>
      <p:sp>
        <p:nvSpPr>
          <p:cNvPr id="486" name="Shape 484"/>
          <p:cNvSpPr/>
          <p:nvPr/>
        </p:nvSpPr>
        <p:spPr>
          <a:xfrm>
            <a:off x="3623310"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87" name="Text 485"/>
          <p:cNvSpPr/>
          <p:nvPr/>
        </p:nvSpPr>
        <p:spPr>
          <a:xfrm>
            <a:off x="3623310"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Gestión Feature Flags</a:t>
            </a:r>
            <a:endParaRPr lang="en-US" sz="400" dirty="0"/>
          </a:p>
        </p:txBody>
      </p:sp>
      <p:sp>
        <p:nvSpPr>
          <p:cNvPr id="488" name="Shape 486"/>
          <p:cNvSpPr/>
          <p:nvPr/>
        </p:nvSpPr>
        <p:spPr>
          <a:xfrm>
            <a:off x="3623310"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89" name="Text 487"/>
          <p:cNvSpPr/>
          <p:nvPr/>
        </p:nvSpPr>
        <p:spPr>
          <a:xfrm>
            <a:off x="3623310"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Config. Feature Toggles</a:t>
            </a:r>
            <a:endParaRPr lang="en-US" sz="380" dirty="0"/>
          </a:p>
        </p:txBody>
      </p:sp>
      <p:sp>
        <p:nvSpPr>
          <p:cNvPr id="490" name="Shape 488"/>
          <p:cNvSpPr/>
          <p:nvPr/>
        </p:nvSpPr>
        <p:spPr>
          <a:xfrm>
            <a:off x="3623310"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91" name="Text 489"/>
          <p:cNvSpPr/>
          <p:nvPr/>
        </p:nvSpPr>
        <p:spPr>
          <a:xfrm>
            <a:off x="3623310"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Exposición Progresiva y Rollback</a:t>
            </a:r>
            <a:endParaRPr lang="en-US" sz="380" dirty="0"/>
          </a:p>
        </p:txBody>
      </p:sp>
      <p:sp>
        <p:nvSpPr>
          <p:cNvPr id="492" name="Shape 490"/>
          <p:cNvSpPr/>
          <p:nvPr/>
        </p:nvSpPr>
        <p:spPr>
          <a:xfrm>
            <a:off x="6076188"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93" name="Text 491"/>
          <p:cNvSpPr/>
          <p:nvPr/>
        </p:nvSpPr>
        <p:spPr>
          <a:xfrm>
            <a:off x="6076188"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UUID Distrib. y Correlación</a:t>
            </a:r>
            <a:endParaRPr lang="en-US" sz="400" dirty="0"/>
          </a:p>
        </p:txBody>
      </p:sp>
      <p:sp>
        <p:nvSpPr>
          <p:cNvPr id="494" name="Shape 492"/>
          <p:cNvSpPr/>
          <p:nvPr/>
        </p:nvSpPr>
        <p:spPr>
          <a:xfrm>
            <a:off x="6076188"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495" name="Text 493"/>
          <p:cNvSpPr/>
          <p:nvPr/>
        </p:nvSpPr>
        <p:spPr>
          <a:xfrm>
            <a:off x="6076188"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Generación IDs Únicos</a:t>
            </a:r>
            <a:endParaRPr lang="en-US" sz="380" dirty="0"/>
          </a:p>
        </p:txBody>
      </p:sp>
      <p:sp>
        <p:nvSpPr>
          <p:cNvPr id="496" name="Shape 494"/>
          <p:cNvSpPr/>
          <p:nvPr/>
        </p:nvSpPr>
        <p:spPr>
          <a:xfrm>
            <a:off x="6076188"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497" name="Text 495"/>
          <p:cNvSpPr/>
          <p:nvPr/>
        </p:nvSpPr>
        <p:spPr>
          <a:xfrm>
            <a:off x="6076188"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Propagación IDs Correlación</a:t>
            </a:r>
            <a:endParaRPr lang="en-US" sz="380" dirty="0"/>
          </a:p>
        </p:txBody>
      </p:sp>
      <p:sp>
        <p:nvSpPr>
          <p:cNvPr id="498" name="Shape 496"/>
          <p:cNvSpPr/>
          <p:nvPr/>
        </p:nvSpPr>
        <p:spPr>
          <a:xfrm>
            <a:off x="8529066" y="5424678"/>
            <a:ext cx="2434590" cy="100584"/>
          </a:xfrm>
          <a:prstGeom prst="rect">
            <a:avLst/>
          </a:prstGeom>
          <a:solidFill>
            <a:srgbClr val="FF6B00"/>
          </a:solidFill>
          <a:ln w="12700">
            <a:solidFill>
              <a:srgbClr val="FF6B00"/>
            </a:solidFill>
            <a:prstDash val="solid"/>
          </a:ln>
        </p:spPr>
        <p:txBody>
          <a:bodyPr/>
          <a:lstStyle/>
          <a:p>
            <a:endParaRPr lang="es-ES"/>
          </a:p>
        </p:txBody>
      </p:sp>
      <p:sp>
        <p:nvSpPr>
          <p:cNvPr id="499" name="Text 497"/>
          <p:cNvSpPr/>
          <p:nvPr/>
        </p:nvSpPr>
        <p:spPr>
          <a:xfrm>
            <a:off x="8529066" y="5424678"/>
            <a:ext cx="2434590"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Consolas Admin. Plataforma</a:t>
            </a:r>
            <a:endParaRPr lang="en-US" sz="400" dirty="0"/>
          </a:p>
        </p:txBody>
      </p:sp>
      <p:sp>
        <p:nvSpPr>
          <p:cNvPr id="500" name="Shape 498"/>
          <p:cNvSpPr/>
          <p:nvPr/>
        </p:nvSpPr>
        <p:spPr>
          <a:xfrm>
            <a:off x="8529066" y="5534406"/>
            <a:ext cx="2434590" cy="184594"/>
          </a:xfrm>
          <a:prstGeom prst="rect">
            <a:avLst/>
          </a:prstGeom>
          <a:solidFill>
            <a:srgbClr val="FFE5C0"/>
          </a:solidFill>
          <a:ln w="12700">
            <a:solidFill>
              <a:srgbClr val="FF6B00"/>
            </a:solidFill>
            <a:prstDash val="solid"/>
          </a:ln>
        </p:spPr>
        <p:txBody>
          <a:bodyPr/>
          <a:lstStyle/>
          <a:p>
            <a:endParaRPr lang="es-ES"/>
          </a:p>
        </p:txBody>
      </p:sp>
      <p:sp>
        <p:nvSpPr>
          <p:cNvPr id="501" name="Text 499"/>
          <p:cNvSpPr/>
          <p:nvPr/>
        </p:nvSpPr>
        <p:spPr>
          <a:xfrm>
            <a:off x="8529066" y="5534406"/>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Registro de Servicios</a:t>
            </a:r>
            <a:endParaRPr lang="en-US" sz="380" dirty="0"/>
          </a:p>
        </p:txBody>
      </p:sp>
      <p:sp>
        <p:nvSpPr>
          <p:cNvPr id="502" name="Shape 500"/>
          <p:cNvSpPr/>
          <p:nvPr/>
        </p:nvSpPr>
        <p:spPr>
          <a:xfrm>
            <a:off x="8529066" y="5723573"/>
            <a:ext cx="2434590" cy="184594"/>
          </a:xfrm>
          <a:prstGeom prst="rect">
            <a:avLst/>
          </a:prstGeom>
          <a:solidFill>
            <a:srgbClr val="FFE5C0"/>
          </a:solidFill>
          <a:ln w="12700">
            <a:solidFill>
              <a:srgbClr val="FF6B00"/>
            </a:solidFill>
            <a:prstDash val="solid"/>
          </a:ln>
        </p:spPr>
        <p:txBody>
          <a:bodyPr/>
          <a:lstStyle/>
          <a:p>
            <a:endParaRPr lang="es-ES"/>
          </a:p>
        </p:txBody>
      </p:sp>
      <p:sp>
        <p:nvSpPr>
          <p:cNvPr id="503" name="Text 501"/>
          <p:cNvSpPr/>
          <p:nvPr/>
        </p:nvSpPr>
        <p:spPr>
          <a:xfrm>
            <a:off x="8529066" y="5723573"/>
            <a:ext cx="2434590"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Admin. Configuración Runtime</a:t>
            </a:r>
            <a:endParaRPr lang="en-US" sz="380" dirty="0"/>
          </a:p>
        </p:txBody>
      </p:sp>
      <p:sp>
        <p:nvSpPr>
          <p:cNvPr id="504" name="Shape 502"/>
          <p:cNvSpPr/>
          <p:nvPr/>
        </p:nvSpPr>
        <p:spPr>
          <a:xfrm>
            <a:off x="1152144" y="5949315"/>
            <a:ext cx="9848088" cy="634365"/>
          </a:xfrm>
          <a:prstGeom prst="rect">
            <a:avLst/>
          </a:prstGeom>
          <a:solidFill>
            <a:srgbClr val="FFE5C0"/>
          </a:solidFill>
          <a:ln w="19050">
            <a:solidFill>
              <a:srgbClr val="FF6B00"/>
            </a:solidFill>
            <a:prstDash val="solid"/>
          </a:ln>
        </p:spPr>
        <p:txBody>
          <a:bodyPr/>
          <a:lstStyle/>
          <a:p>
            <a:endParaRPr lang="es-ES"/>
          </a:p>
        </p:txBody>
      </p:sp>
      <p:sp>
        <p:nvSpPr>
          <p:cNvPr id="505" name="Shape 503"/>
          <p:cNvSpPr/>
          <p:nvPr/>
        </p:nvSpPr>
        <p:spPr>
          <a:xfrm>
            <a:off x="1152144" y="5949315"/>
            <a:ext cx="9848088" cy="128016"/>
          </a:xfrm>
          <a:prstGeom prst="rect">
            <a:avLst/>
          </a:prstGeom>
          <a:solidFill>
            <a:srgbClr val="FF6B00"/>
          </a:solidFill>
          <a:ln w="12700">
            <a:solidFill>
              <a:srgbClr val="FF6B00"/>
            </a:solidFill>
            <a:prstDash val="solid"/>
          </a:ln>
        </p:spPr>
        <p:txBody>
          <a:bodyPr/>
          <a:lstStyle/>
          <a:p>
            <a:endParaRPr lang="es-ES"/>
          </a:p>
        </p:txBody>
      </p:sp>
      <p:sp>
        <p:nvSpPr>
          <p:cNvPr id="506" name="Text 504"/>
          <p:cNvSpPr/>
          <p:nvPr/>
        </p:nvSpPr>
        <p:spPr>
          <a:xfrm>
            <a:off x="1188720" y="5949315"/>
            <a:ext cx="9555480" cy="128016"/>
          </a:xfrm>
          <a:prstGeom prst="rect">
            <a:avLst/>
          </a:prstGeom>
          <a:noFill/>
          <a:ln/>
        </p:spPr>
        <p:txBody>
          <a:bodyPr wrap="square" rtlCol="0" anchor="ctr"/>
          <a:lstStyle/>
          <a:p>
            <a:pPr marL="0" indent="0" algn="l">
              <a:buNone/>
            </a:pPr>
            <a:r>
              <a:rPr lang="en-US" sz="550" b="1" dirty="0">
                <a:solidFill>
                  <a:srgbClr val="FFFFFF"/>
                </a:solidFill>
              </a:rPr>
              <a:t>Servicios Empresariales Comunes</a:t>
            </a:r>
            <a:endParaRPr lang="en-US" sz="550" dirty="0"/>
          </a:p>
        </p:txBody>
      </p:sp>
      <p:sp>
        <p:nvSpPr>
          <p:cNvPr id="507" name="Shape 505"/>
          <p:cNvSpPr/>
          <p:nvPr/>
        </p:nvSpPr>
        <p:spPr>
          <a:xfrm>
            <a:off x="10753344" y="5963031"/>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508" name="Text 506"/>
          <p:cNvSpPr/>
          <p:nvPr/>
        </p:nvSpPr>
        <p:spPr>
          <a:xfrm>
            <a:off x="10753344" y="5963031"/>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509" name="Shape 507"/>
          <p:cNvSpPr/>
          <p:nvPr/>
        </p:nvSpPr>
        <p:spPr>
          <a:xfrm>
            <a:off x="1170432"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10" name="Text 508"/>
          <p:cNvSpPr/>
          <p:nvPr/>
        </p:nvSpPr>
        <p:spPr>
          <a:xfrm>
            <a:off x="117043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Servicios Cliente y Parte</a:t>
            </a:r>
            <a:endParaRPr lang="en-US" sz="400" dirty="0"/>
          </a:p>
        </p:txBody>
      </p:sp>
      <p:sp>
        <p:nvSpPr>
          <p:cNvPr id="511" name="Shape 509"/>
          <p:cNvSpPr/>
          <p:nvPr/>
        </p:nvSpPr>
        <p:spPr>
          <a:xfrm>
            <a:off x="1170432"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12" name="Text 510"/>
          <p:cNvSpPr/>
          <p:nvPr/>
        </p:nvSpPr>
        <p:spPr>
          <a:xfrm>
            <a:off x="117043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Datos de Cliente</a:t>
            </a:r>
            <a:endParaRPr lang="en-US" sz="380" dirty="0"/>
          </a:p>
        </p:txBody>
      </p:sp>
      <p:sp>
        <p:nvSpPr>
          <p:cNvPr id="513" name="Shape 511"/>
          <p:cNvSpPr/>
          <p:nvPr/>
        </p:nvSpPr>
        <p:spPr>
          <a:xfrm>
            <a:off x="1170432"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14" name="Text 512"/>
          <p:cNvSpPr/>
          <p:nvPr/>
        </p:nvSpPr>
        <p:spPr>
          <a:xfrm>
            <a:off x="117043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Relaciones entre Partes</a:t>
            </a:r>
            <a:endParaRPr lang="en-US" sz="380" dirty="0"/>
          </a:p>
        </p:txBody>
      </p:sp>
      <p:sp>
        <p:nvSpPr>
          <p:cNvPr id="515" name="Shape 513"/>
          <p:cNvSpPr/>
          <p:nvPr/>
        </p:nvSpPr>
        <p:spPr>
          <a:xfrm>
            <a:off x="2805684"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16" name="Text 514"/>
          <p:cNvSpPr/>
          <p:nvPr/>
        </p:nvSpPr>
        <p:spPr>
          <a:xfrm>
            <a:off x="2805684"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Producto y Precios</a:t>
            </a:r>
            <a:endParaRPr lang="en-US" sz="400" dirty="0"/>
          </a:p>
        </p:txBody>
      </p:sp>
      <p:sp>
        <p:nvSpPr>
          <p:cNvPr id="517" name="Shape 515"/>
          <p:cNvSpPr/>
          <p:nvPr/>
        </p:nvSpPr>
        <p:spPr>
          <a:xfrm>
            <a:off x="2805684"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18" name="Text 516"/>
          <p:cNvSpPr/>
          <p:nvPr/>
        </p:nvSpPr>
        <p:spPr>
          <a:xfrm>
            <a:off x="2805684"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Catálogo de Productos</a:t>
            </a:r>
            <a:endParaRPr lang="en-US" sz="380" dirty="0"/>
          </a:p>
        </p:txBody>
      </p:sp>
      <p:sp>
        <p:nvSpPr>
          <p:cNvPr id="519" name="Shape 517"/>
          <p:cNvSpPr/>
          <p:nvPr/>
        </p:nvSpPr>
        <p:spPr>
          <a:xfrm>
            <a:off x="2805684"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20" name="Text 518"/>
          <p:cNvSpPr/>
          <p:nvPr/>
        </p:nvSpPr>
        <p:spPr>
          <a:xfrm>
            <a:off x="2805684"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Tarifas y Precios</a:t>
            </a:r>
            <a:endParaRPr lang="en-US" sz="380" dirty="0"/>
          </a:p>
        </p:txBody>
      </p:sp>
      <p:sp>
        <p:nvSpPr>
          <p:cNvPr id="521" name="Shape 519"/>
          <p:cNvSpPr/>
          <p:nvPr/>
        </p:nvSpPr>
        <p:spPr>
          <a:xfrm>
            <a:off x="4440936"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22" name="Text 520"/>
          <p:cNvSpPr/>
          <p:nvPr/>
        </p:nvSpPr>
        <p:spPr>
          <a:xfrm>
            <a:off x="4440936"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Límites y Riesgo</a:t>
            </a:r>
            <a:endParaRPr lang="en-US" sz="400" dirty="0"/>
          </a:p>
        </p:txBody>
      </p:sp>
      <p:sp>
        <p:nvSpPr>
          <p:cNvPr id="523" name="Shape 521"/>
          <p:cNvSpPr/>
          <p:nvPr/>
        </p:nvSpPr>
        <p:spPr>
          <a:xfrm>
            <a:off x="4440936"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24" name="Text 522"/>
          <p:cNvSpPr/>
          <p:nvPr/>
        </p:nvSpPr>
        <p:spPr>
          <a:xfrm>
            <a:off x="4440936"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Gestión de Límites</a:t>
            </a:r>
            <a:endParaRPr lang="en-US" sz="380" dirty="0"/>
          </a:p>
        </p:txBody>
      </p:sp>
      <p:sp>
        <p:nvSpPr>
          <p:cNvPr id="525" name="Shape 523"/>
          <p:cNvSpPr/>
          <p:nvPr/>
        </p:nvSpPr>
        <p:spPr>
          <a:xfrm>
            <a:off x="4440936"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26" name="Text 524"/>
          <p:cNvSpPr/>
          <p:nvPr/>
        </p:nvSpPr>
        <p:spPr>
          <a:xfrm>
            <a:off x="4440936"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Scoring de Riesgo</a:t>
            </a:r>
            <a:endParaRPr lang="en-US" sz="380" dirty="0"/>
          </a:p>
        </p:txBody>
      </p:sp>
      <p:sp>
        <p:nvSpPr>
          <p:cNvPr id="527" name="Shape 525"/>
          <p:cNvSpPr/>
          <p:nvPr/>
        </p:nvSpPr>
        <p:spPr>
          <a:xfrm>
            <a:off x="6076188"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28" name="Text 526"/>
          <p:cNvSpPr/>
          <p:nvPr/>
        </p:nvSpPr>
        <p:spPr>
          <a:xfrm>
            <a:off x="6076188"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Financiero y Contable</a:t>
            </a:r>
            <a:endParaRPr lang="en-US" sz="400" dirty="0"/>
          </a:p>
        </p:txBody>
      </p:sp>
      <p:sp>
        <p:nvSpPr>
          <p:cNvPr id="529" name="Shape 527"/>
          <p:cNvSpPr/>
          <p:nvPr/>
        </p:nvSpPr>
        <p:spPr>
          <a:xfrm>
            <a:off x="6076188" y="6196203"/>
            <a:ext cx="1616964" cy="121539"/>
          </a:xfrm>
          <a:prstGeom prst="rect">
            <a:avLst/>
          </a:prstGeom>
          <a:solidFill>
            <a:srgbClr val="FFE5C0"/>
          </a:solidFill>
          <a:ln w="12700">
            <a:solidFill>
              <a:srgbClr val="FF6B00"/>
            </a:solidFill>
            <a:prstDash val="solid"/>
          </a:ln>
        </p:spPr>
        <p:txBody>
          <a:bodyPr/>
          <a:lstStyle/>
          <a:p>
            <a:endParaRPr lang="es-ES"/>
          </a:p>
        </p:txBody>
      </p:sp>
      <p:sp>
        <p:nvSpPr>
          <p:cNvPr id="530" name="Text 528"/>
          <p:cNvSpPr/>
          <p:nvPr/>
        </p:nvSpPr>
        <p:spPr>
          <a:xfrm>
            <a:off x="6076188" y="6196203"/>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Contabilidad y Registro Contable</a:t>
            </a:r>
            <a:endParaRPr lang="en-US" sz="380" dirty="0"/>
          </a:p>
        </p:txBody>
      </p:sp>
      <p:sp>
        <p:nvSpPr>
          <p:cNvPr id="531" name="Shape 529"/>
          <p:cNvSpPr/>
          <p:nvPr/>
        </p:nvSpPr>
        <p:spPr>
          <a:xfrm>
            <a:off x="6076188" y="6322314"/>
            <a:ext cx="1616964" cy="121539"/>
          </a:xfrm>
          <a:prstGeom prst="rect">
            <a:avLst/>
          </a:prstGeom>
          <a:solidFill>
            <a:srgbClr val="FFE5C0"/>
          </a:solidFill>
          <a:ln w="12700">
            <a:solidFill>
              <a:srgbClr val="FF6B00"/>
            </a:solidFill>
            <a:prstDash val="solid"/>
          </a:ln>
        </p:spPr>
        <p:txBody>
          <a:bodyPr/>
          <a:lstStyle/>
          <a:p>
            <a:endParaRPr lang="es-ES"/>
          </a:p>
        </p:txBody>
      </p:sp>
      <p:sp>
        <p:nvSpPr>
          <p:cNvPr id="532" name="Text 530"/>
          <p:cNvSpPr/>
          <p:nvPr/>
        </p:nvSpPr>
        <p:spPr>
          <a:xfrm>
            <a:off x="6076188" y="6322314"/>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Conversión de Divisas</a:t>
            </a:r>
            <a:endParaRPr lang="en-US" sz="380" dirty="0"/>
          </a:p>
        </p:txBody>
      </p:sp>
      <p:sp>
        <p:nvSpPr>
          <p:cNvPr id="533" name="Shape 531"/>
          <p:cNvSpPr/>
          <p:nvPr/>
        </p:nvSpPr>
        <p:spPr>
          <a:xfrm>
            <a:off x="6076188" y="6448425"/>
            <a:ext cx="1616964" cy="121539"/>
          </a:xfrm>
          <a:prstGeom prst="rect">
            <a:avLst/>
          </a:prstGeom>
          <a:solidFill>
            <a:srgbClr val="FFE5C0"/>
          </a:solidFill>
          <a:ln w="12700">
            <a:solidFill>
              <a:srgbClr val="FF6B00"/>
            </a:solidFill>
            <a:prstDash val="solid"/>
          </a:ln>
        </p:spPr>
        <p:txBody>
          <a:bodyPr/>
          <a:lstStyle/>
          <a:p>
            <a:endParaRPr lang="es-ES"/>
          </a:p>
        </p:txBody>
      </p:sp>
      <p:sp>
        <p:nvSpPr>
          <p:cNvPr id="534" name="Text 532"/>
          <p:cNvSpPr/>
          <p:nvPr/>
        </p:nvSpPr>
        <p:spPr>
          <a:xfrm>
            <a:off x="6076188" y="6448425"/>
            <a:ext cx="1616964" cy="121539"/>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de Pagos</a:t>
            </a:r>
            <a:endParaRPr lang="en-US" sz="380" dirty="0"/>
          </a:p>
        </p:txBody>
      </p:sp>
      <p:sp>
        <p:nvSpPr>
          <p:cNvPr id="535" name="Shape 533"/>
          <p:cNvSpPr/>
          <p:nvPr/>
        </p:nvSpPr>
        <p:spPr>
          <a:xfrm>
            <a:off x="7711440"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36" name="Text 534"/>
          <p:cNvSpPr/>
          <p:nvPr/>
        </p:nvSpPr>
        <p:spPr>
          <a:xfrm>
            <a:off x="7711440"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Documentos y Contenidos</a:t>
            </a:r>
            <a:endParaRPr lang="en-US" sz="400" dirty="0"/>
          </a:p>
        </p:txBody>
      </p:sp>
      <p:sp>
        <p:nvSpPr>
          <p:cNvPr id="537" name="Shape 535"/>
          <p:cNvSpPr/>
          <p:nvPr/>
        </p:nvSpPr>
        <p:spPr>
          <a:xfrm>
            <a:off x="7711440"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38" name="Text 536"/>
          <p:cNvSpPr/>
          <p:nvPr/>
        </p:nvSpPr>
        <p:spPr>
          <a:xfrm>
            <a:off x="7711440"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Generación y Composición Docs.</a:t>
            </a:r>
            <a:endParaRPr lang="en-US" sz="380" dirty="0"/>
          </a:p>
        </p:txBody>
      </p:sp>
      <p:sp>
        <p:nvSpPr>
          <p:cNvPr id="539" name="Shape 537"/>
          <p:cNvSpPr/>
          <p:nvPr/>
        </p:nvSpPr>
        <p:spPr>
          <a:xfrm>
            <a:off x="7711440"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40" name="Text 538"/>
          <p:cNvSpPr/>
          <p:nvPr/>
        </p:nvSpPr>
        <p:spPr>
          <a:xfrm>
            <a:off x="7711440"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Captura, Almacen. y Recuperación</a:t>
            </a:r>
            <a:endParaRPr lang="en-US" sz="380" dirty="0"/>
          </a:p>
        </p:txBody>
      </p:sp>
      <p:sp>
        <p:nvSpPr>
          <p:cNvPr id="541" name="Shape 539"/>
          <p:cNvSpPr/>
          <p:nvPr/>
        </p:nvSpPr>
        <p:spPr>
          <a:xfrm>
            <a:off x="9346692" y="6086475"/>
            <a:ext cx="1616964" cy="100584"/>
          </a:xfrm>
          <a:prstGeom prst="rect">
            <a:avLst/>
          </a:prstGeom>
          <a:solidFill>
            <a:srgbClr val="FF6B00"/>
          </a:solidFill>
          <a:ln w="12700">
            <a:solidFill>
              <a:srgbClr val="FF6B00"/>
            </a:solidFill>
            <a:prstDash val="solid"/>
          </a:ln>
        </p:spPr>
        <p:txBody>
          <a:bodyPr/>
          <a:lstStyle/>
          <a:p>
            <a:endParaRPr lang="es-ES"/>
          </a:p>
        </p:txBody>
      </p:sp>
      <p:sp>
        <p:nvSpPr>
          <p:cNvPr id="542" name="Text 540"/>
          <p:cNvSpPr/>
          <p:nvPr/>
        </p:nvSpPr>
        <p:spPr>
          <a:xfrm>
            <a:off x="9346692" y="6086475"/>
            <a:ext cx="1616964" cy="100584"/>
          </a:xfrm>
          <a:prstGeom prst="rect">
            <a:avLst/>
          </a:prstGeom>
          <a:noFill/>
          <a:ln/>
        </p:spPr>
        <p:txBody>
          <a:bodyPr wrap="square" lIns="6350" tIns="6350" rIns="6350" bIns="6350" rtlCol="0" anchor="ctr"/>
          <a:lstStyle/>
          <a:p>
            <a:pPr marL="0" indent="0" algn="ctr">
              <a:buNone/>
            </a:pPr>
            <a:r>
              <a:rPr lang="en-US" sz="400" b="1" dirty="0">
                <a:solidFill>
                  <a:srgbClr val="FFFFFF"/>
                </a:solidFill>
              </a:rPr>
              <a:t>Control y Confianza</a:t>
            </a:r>
            <a:endParaRPr lang="en-US" sz="400" dirty="0"/>
          </a:p>
        </p:txBody>
      </p:sp>
      <p:sp>
        <p:nvSpPr>
          <p:cNvPr id="543" name="Shape 541"/>
          <p:cNvSpPr/>
          <p:nvPr/>
        </p:nvSpPr>
        <p:spPr>
          <a:xfrm>
            <a:off x="9346692" y="6196203"/>
            <a:ext cx="1616964" cy="184594"/>
          </a:xfrm>
          <a:prstGeom prst="rect">
            <a:avLst/>
          </a:prstGeom>
          <a:solidFill>
            <a:srgbClr val="FFE5C0"/>
          </a:solidFill>
          <a:ln w="12700">
            <a:solidFill>
              <a:srgbClr val="FF6B00"/>
            </a:solidFill>
            <a:prstDash val="solid"/>
          </a:ln>
        </p:spPr>
        <p:txBody>
          <a:bodyPr/>
          <a:lstStyle/>
          <a:p>
            <a:endParaRPr lang="es-ES"/>
          </a:p>
        </p:txBody>
      </p:sp>
      <p:sp>
        <p:nvSpPr>
          <p:cNvPr id="544" name="Text 542"/>
          <p:cNvSpPr/>
          <p:nvPr/>
        </p:nvSpPr>
        <p:spPr>
          <a:xfrm>
            <a:off x="9346692" y="6196203"/>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Servicios de Aprobaciones</a:t>
            </a:r>
            <a:endParaRPr lang="en-US" sz="380" dirty="0"/>
          </a:p>
        </p:txBody>
      </p:sp>
      <p:sp>
        <p:nvSpPr>
          <p:cNvPr id="545" name="Shape 543"/>
          <p:cNvSpPr/>
          <p:nvPr/>
        </p:nvSpPr>
        <p:spPr>
          <a:xfrm>
            <a:off x="9346692" y="6385370"/>
            <a:ext cx="1616964" cy="184594"/>
          </a:xfrm>
          <a:prstGeom prst="rect">
            <a:avLst/>
          </a:prstGeom>
          <a:solidFill>
            <a:srgbClr val="FFE5C0"/>
          </a:solidFill>
          <a:ln w="12700">
            <a:solidFill>
              <a:srgbClr val="FF6B00"/>
            </a:solidFill>
            <a:prstDash val="solid"/>
          </a:ln>
        </p:spPr>
        <p:txBody>
          <a:bodyPr/>
          <a:lstStyle/>
          <a:p>
            <a:endParaRPr lang="es-ES"/>
          </a:p>
        </p:txBody>
      </p:sp>
      <p:sp>
        <p:nvSpPr>
          <p:cNvPr id="546" name="Text 544"/>
          <p:cNvSpPr/>
          <p:nvPr/>
        </p:nvSpPr>
        <p:spPr>
          <a:xfrm>
            <a:off x="9346692" y="6385370"/>
            <a:ext cx="1616964" cy="184594"/>
          </a:xfrm>
          <a:prstGeom prst="rect">
            <a:avLst/>
          </a:prstGeom>
          <a:noFill/>
          <a:ln/>
        </p:spPr>
        <p:txBody>
          <a:bodyPr wrap="square" lIns="6350" tIns="6350" rIns="6350" bIns="6350" rtlCol="0" anchor="ctr"/>
          <a:lstStyle/>
          <a:p>
            <a:pPr marL="0" indent="0" algn="ctr">
              <a:buNone/>
            </a:pPr>
            <a:r>
              <a:rPr lang="en-US" sz="380" b="1" dirty="0">
                <a:solidFill>
                  <a:srgbClr val="5C1E00"/>
                </a:solidFill>
              </a:rPr>
              <a:t>Firma y Verificación</a:t>
            </a:r>
            <a:endParaRPr lang="en-US" sz="380" dirty="0"/>
          </a:p>
        </p:txBody>
      </p:sp>
      <p:sp>
        <p:nvSpPr>
          <p:cNvPr id="547" name="Shape 545"/>
          <p:cNvSpPr/>
          <p:nvPr/>
        </p:nvSpPr>
        <p:spPr>
          <a:xfrm>
            <a:off x="128016" y="6647688"/>
            <a:ext cx="658368" cy="137160"/>
          </a:xfrm>
          <a:prstGeom prst="rect">
            <a:avLst/>
          </a:prstGeom>
          <a:solidFill>
            <a:srgbClr val="FFE5C0"/>
          </a:solidFill>
          <a:ln w="15240">
            <a:solidFill>
              <a:srgbClr val="FF6B00"/>
            </a:solidFill>
            <a:prstDash val="solid"/>
          </a:ln>
        </p:spPr>
        <p:txBody>
          <a:bodyPr/>
          <a:lstStyle/>
          <a:p>
            <a:endParaRPr lang="es-ES"/>
          </a:p>
        </p:txBody>
      </p:sp>
      <p:sp>
        <p:nvSpPr>
          <p:cNvPr id="548" name="Text 546"/>
          <p:cNvSpPr/>
          <p:nvPr/>
        </p:nvSpPr>
        <p:spPr>
          <a:xfrm>
            <a:off x="128016" y="6647688"/>
            <a:ext cx="658368" cy="137160"/>
          </a:xfrm>
          <a:prstGeom prst="rect">
            <a:avLst/>
          </a:prstGeom>
          <a:noFill/>
          <a:ln/>
        </p:spPr>
        <p:txBody>
          <a:bodyPr wrap="square" rtlCol="0" anchor="ctr"/>
          <a:lstStyle/>
          <a:p>
            <a:pPr marL="0" indent="0" algn="ctr">
              <a:buNone/>
            </a:pPr>
            <a:r>
              <a:rPr lang="en-US" sz="450" b="1" dirty="0">
                <a:solidFill>
                  <a:srgbClr val="5C1E00"/>
                </a:solidFill>
              </a:rPr>
              <a:t>En scope R4 (completo)</a:t>
            </a:r>
            <a:endParaRPr lang="en-US" sz="450" dirty="0"/>
          </a:p>
        </p:txBody>
      </p:sp>
      <p:sp>
        <p:nvSpPr>
          <p:cNvPr id="549" name="Shape 547"/>
          <p:cNvSpPr/>
          <p:nvPr/>
        </p:nvSpPr>
        <p:spPr>
          <a:xfrm>
            <a:off x="859536" y="6647688"/>
            <a:ext cx="658368" cy="137160"/>
          </a:xfrm>
          <a:prstGeom prst="rect">
            <a:avLst/>
          </a:prstGeom>
          <a:solidFill>
            <a:srgbClr val="FFF4E0"/>
          </a:solidFill>
          <a:ln w="12700">
            <a:solidFill>
              <a:srgbClr val="E08800"/>
            </a:solidFill>
            <a:prstDash val="solid"/>
          </a:ln>
        </p:spPr>
        <p:txBody>
          <a:bodyPr/>
          <a:lstStyle/>
          <a:p>
            <a:endParaRPr lang="es-ES"/>
          </a:p>
        </p:txBody>
      </p:sp>
      <p:sp>
        <p:nvSpPr>
          <p:cNvPr id="550" name="Text 548"/>
          <p:cNvSpPr/>
          <p:nvPr/>
        </p:nvSpPr>
        <p:spPr>
          <a:xfrm>
            <a:off x="859536" y="6647688"/>
            <a:ext cx="658368" cy="137160"/>
          </a:xfrm>
          <a:prstGeom prst="rect">
            <a:avLst/>
          </a:prstGeom>
          <a:noFill/>
          <a:ln/>
        </p:spPr>
        <p:txBody>
          <a:bodyPr wrap="square" rtlCol="0" anchor="ctr"/>
          <a:lstStyle/>
          <a:p>
            <a:pPr marL="0" indent="0" algn="ctr">
              <a:buNone/>
            </a:pPr>
            <a:r>
              <a:rPr lang="en-US" sz="450" b="1" dirty="0">
                <a:solidFill>
                  <a:srgbClr val="5C1E00"/>
                </a:solidFill>
              </a:rPr>
              <a:t>En scope R4 (parcial)</a:t>
            </a:r>
            <a:endParaRPr lang="en-US" sz="450" dirty="0"/>
          </a:p>
        </p:txBody>
      </p:sp>
      <p:sp>
        <p:nvSpPr>
          <p:cNvPr id="551" name="Shape 549"/>
          <p:cNvSpPr/>
          <p:nvPr/>
        </p:nvSpPr>
        <p:spPr>
          <a:xfrm>
            <a:off x="1591056" y="6647688"/>
            <a:ext cx="658368" cy="137160"/>
          </a:xfrm>
          <a:prstGeom prst="rect">
            <a:avLst/>
          </a:prstGeom>
          <a:solidFill>
            <a:srgbClr val="F0F0F0"/>
          </a:solidFill>
          <a:ln w="6350">
            <a:solidFill>
              <a:srgbClr val="C8C8C8"/>
            </a:solidFill>
            <a:prstDash val="solid"/>
          </a:ln>
        </p:spPr>
        <p:txBody>
          <a:bodyPr/>
          <a:lstStyle/>
          <a:p>
            <a:endParaRPr lang="es-ES"/>
          </a:p>
        </p:txBody>
      </p:sp>
      <p:sp>
        <p:nvSpPr>
          <p:cNvPr id="552" name="Text 550"/>
          <p:cNvSpPr/>
          <p:nvPr/>
        </p:nvSpPr>
        <p:spPr>
          <a:xfrm>
            <a:off x="1591056" y="6647688"/>
            <a:ext cx="658368" cy="137160"/>
          </a:xfrm>
          <a:prstGeom prst="rect">
            <a:avLst/>
          </a:prstGeom>
          <a:noFill/>
          <a:ln/>
        </p:spPr>
        <p:txBody>
          <a:bodyPr wrap="square" rtlCol="0" anchor="ctr"/>
          <a:lstStyle/>
          <a:p>
            <a:pPr marL="0" indent="0" algn="ctr">
              <a:buNone/>
            </a:pPr>
            <a:r>
              <a:rPr lang="en-US" sz="450" dirty="0">
                <a:solidFill>
                  <a:srgbClr val="909090"/>
                </a:solidFill>
              </a:rPr>
              <a:t>Fuera de scope R4</a:t>
            </a:r>
            <a:endParaRPr lang="en-US" sz="450" dirty="0"/>
          </a:p>
        </p:txBody>
      </p:sp>
      <p:sp>
        <p:nvSpPr>
          <p:cNvPr id="553" name="Shape 551"/>
          <p:cNvSpPr/>
          <p:nvPr/>
        </p:nvSpPr>
        <p:spPr>
          <a:xfrm>
            <a:off x="2322576" y="6647688"/>
            <a:ext cx="502920" cy="137160"/>
          </a:xfrm>
          <a:prstGeom prst="rect">
            <a:avLst/>
          </a:prstGeom>
          <a:solidFill>
            <a:srgbClr val="FFFFFF"/>
          </a:solidFill>
          <a:ln w="3810">
            <a:solidFill>
              <a:srgbClr val="BE82FF"/>
            </a:solidFill>
            <a:prstDash val="solid"/>
          </a:ln>
        </p:spPr>
        <p:txBody>
          <a:bodyPr/>
          <a:lstStyle/>
          <a:p>
            <a:endParaRPr lang="es-ES"/>
          </a:p>
        </p:txBody>
      </p:sp>
      <p:sp>
        <p:nvSpPr>
          <p:cNvPr id="554" name="Text 552"/>
          <p:cNvSpPr/>
          <p:nvPr/>
        </p:nvSpPr>
        <p:spPr>
          <a:xfrm>
            <a:off x="2322576" y="6647688"/>
            <a:ext cx="502920" cy="137160"/>
          </a:xfrm>
          <a:prstGeom prst="rect">
            <a:avLst/>
          </a:prstGeom>
          <a:noFill/>
          <a:ln/>
        </p:spPr>
        <p:txBody>
          <a:bodyPr wrap="square" rtlCol="0" anchor="ctr"/>
          <a:lstStyle/>
          <a:p>
            <a:pPr marL="0" indent="0" algn="ctr">
              <a:buNone/>
            </a:pPr>
            <a:r>
              <a:rPr lang="en-US" sz="450" dirty="0">
                <a:solidFill>
                  <a:srgbClr val="000000"/>
                </a:solidFill>
              </a:rPr>
              <a:t>Capacidad</a:t>
            </a:r>
            <a:endParaRPr lang="en-US" sz="450" dirty="0"/>
          </a:p>
        </p:txBody>
      </p:sp>
      <p:sp>
        <p:nvSpPr>
          <p:cNvPr id="555" name="Shape 553"/>
          <p:cNvSpPr/>
          <p:nvPr/>
        </p:nvSpPr>
        <p:spPr>
          <a:xfrm>
            <a:off x="2898648" y="6656832"/>
            <a:ext cx="146304" cy="146304"/>
          </a:xfrm>
          <a:prstGeom prst="ellipse">
            <a:avLst/>
          </a:prstGeom>
          <a:solidFill>
            <a:srgbClr val="C00000"/>
          </a:solidFill>
          <a:ln w="12700">
            <a:solidFill>
              <a:srgbClr val="C00000"/>
            </a:solidFill>
            <a:prstDash val="solid"/>
          </a:ln>
        </p:spPr>
        <p:txBody>
          <a:bodyPr/>
          <a:lstStyle/>
          <a:p>
            <a:endParaRPr lang="es-ES"/>
          </a:p>
        </p:txBody>
      </p:sp>
      <p:sp>
        <p:nvSpPr>
          <p:cNvPr id="556" name="Text 554"/>
          <p:cNvSpPr/>
          <p:nvPr/>
        </p:nvSpPr>
        <p:spPr>
          <a:xfrm>
            <a:off x="2898648" y="6656832"/>
            <a:ext cx="146304" cy="146304"/>
          </a:xfrm>
          <a:prstGeom prst="rect">
            <a:avLst/>
          </a:prstGeom>
          <a:noFill/>
          <a:ln/>
        </p:spPr>
        <p:txBody>
          <a:bodyPr wrap="square" lIns="0" tIns="0" rIns="0" bIns="0" rtlCol="0" anchor="ctr"/>
          <a:lstStyle/>
          <a:p>
            <a:pPr marL="0" indent="0" algn="ctr">
              <a:buNone/>
            </a:pPr>
            <a:r>
              <a:rPr lang="en-US" sz="650" b="1" dirty="0">
                <a:solidFill>
                  <a:srgbClr val="FFFFFF"/>
                </a:solidFill>
              </a:rPr>
              <a:t>K</a:t>
            </a:r>
            <a:endParaRPr lang="en-US" sz="650" dirty="0"/>
          </a:p>
        </p:txBody>
      </p:sp>
      <p:sp>
        <p:nvSpPr>
          <p:cNvPr id="557" name="Text 555"/>
          <p:cNvSpPr/>
          <p:nvPr/>
        </p:nvSpPr>
        <p:spPr>
          <a:xfrm>
            <a:off x="3072384" y="6647688"/>
            <a:ext cx="1005840" cy="137160"/>
          </a:xfrm>
          <a:prstGeom prst="rect">
            <a:avLst/>
          </a:prstGeom>
          <a:noFill/>
          <a:ln/>
        </p:spPr>
        <p:txBody>
          <a:bodyPr wrap="square" rtlCol="0" anchor="ctr"/>
          <a:lstStyle/>
          <a:p>
            <a:pPr marL="0" indent="0">
              <a:buNone/>
            </a:pPr>
            <a:r>
              <a:rPr lang="en-US" sz="450" dirty="0">
                <a:solidFill>
                  <a:srgbClr val="000000"/>
                </a:solidFill>
              </a:rPr>
              <a:t>Kernel / Plataforma</a:t>
            </a:r>
            <a:endParaRPr lang="en-US" sz="450" dirty="0"/>
          </a:p>
        </p:txBody>
      </p:sp>
      <p:sp>
        <p:nvSpPr>
          <p:cNvPr id="558" name="Shape 556"/>
          <p:cNvSpPr/>
          <p:nvPr/>
        </p:nvSpPr>
        <p:spPr>
          <a:xfrm>
            <a:off x="4114800" y="6661404"/>
            <a:ext cx="228600" cy="100584"/>
          </a:xfrm>
          <a:prstGeom prst="roundRect">
            <a:avLst>
              <a:gd name="adj" fmla="val 27273"/>
            </a:avLst>
          </a:prstGeom>
          <a:solidFill>
            <a:srgbClr val="FF6B00"/>
          </a:solidFill>
          <a:ln w="12700">
            <a:solidFill>
              <a:srgbClr val="FF6B00"/>
            </a:solidFill>
            <a:prstDash val="solid"/>
          </a:ln>
        </p:spPr>
        <p:txBody>
          <a:bodyPr/>
          <a:lstStyle/>
          <a:p>
            <a:endParaRPr lang="es-ES"/>
          </a:p>
        </p:txBody>
      </p:sp>
      <p:sp>
        <p:nvSpPr>
          <p:cNvPr id="559" name="Text 557"/>
          <p:cNvSpPr/>
          <p:nvPr/>
        </p:nvSpPr>
        <p:spPr>
          <a:xfrm>
            <a:off x="4114800" y="6661404"/>
            <a:ext cx="228600" cy="100584"/>
          </a:xfrm>
          <a:prstGeom prst="rect">
            <a:avLst/>
          </a:prstGeom>
          <a:noFill/>
          <a:ln/>
        </p:spPr>
        <p:txBody>
          <a:bodyPr wrap="square" lIns="0" tIns="0" rIns="0" bIns="0" rtlCol="0" anchor="ctr"/>
          <a:lstStyle/>
          <a:p>
            <a:pPr marL="0" indent="0" algn="ctr">
              <a:buNone/>
            </a:pPr>
            <a:r>
              <a:rPr lang="en-US" sz="500" b="1" dirty="0">
                <a:solidFill>
                  <a:srgbClr val="FFFFFF"/>
                </a:solidFill>
              </a:rPr>
              <a:t>R4</a:t>
            </a:r>
            <a:endParaRPr lang="en-US" sz="500" dirty="0"/>
          </a:p>
        </p:txBody>
      </p:sp>
      <p:sp>
        <p:nvSpPr>
          <p:cNvPr id="560" name="Text 558"/>
          <p:cNvSpPr/>
          <p:nvPr/>
        </p:nvSpPr>
        <p:spPr>
          <a:xfrm>
            <a:off x="4370832" y="6647688"/>
            <a:ext cx="1463040" cy="137160"/>
          </a:xfrm>
          <a:prstGeom prst="rect">
            <a:avLst/>
          </a:prstGeom>
          <a:noFill/>
          <a:ln/>
        </p:spPr>
        <p:txBody>
          <a:bodyPr wrap="square" rtlCol="0" anchor="ctr"/>
          <a:lstStyle/>
          <a:p>
            <a:pPr marL="0" indent="0">
              <a:buNone/>
            </a:pPr>
            <a:r>
              <a:rPr lang="en-US" sz="450" dirty="0">
                <a:solidFill>
                  <a:srgbClr val="000000"/>
                </a:solidFill>
              </a:rPr>
              <a:t>= capacidad en scope R4</a:t>
            </a:r>
            <a:endParaRPr lang="en-US" sz="450" dirty="0"/>
          </a:p>
        </p:txBody>
      </p:sp>
      <p:sp>
        <p:nvSpPr>
          <p:cNvPr id="561" name="Text 559"/>
          <p:cNvSpPr/>
          <p:nvPr/>
        </p:nvSpPr>
        <p:spPr>
          <a:xfrm>
            <a:off x="8988552" y="6647688"/>
            <a:ext cx="3063240" cy="137160"/>
          </a:xfrm>
          <a:prstGeom prst="rect">
            <a:avLst/>
          </a:prstGeom>
          <a:noFill/>
          <a:ln/>
        </p:spPr>
        <p:txBody>
          <a:bodyPr wrap="square" rtlCol="0" anchor="ctr"/>
          <a:lstStyle/>
          <a:p>
            <a:pPr marL="0" indent="0" algn="r">
              <a:buNone/>
            </a:pPr>
            <a:r>
              <a:rPr lang="en-US" sz="450" dirty="0">
                <a:solidFill>
                  <a:srgbClr val="595959"/>
                </a:solidFill>
              </a:rPr>
              <a:t>Copyright © 2026 Accenture. Todos los derechos reservados.</a:t>
            </a:r>
            <a:endParaRPr lang="en-US" sz="450" dirty="0"/>
          </a:p>
        </p:txBody>
      </p:sp>
      <p:sp>
        <p:nvSpPr>
          <p:cNvPr id="563" name="Rectangle 562">
            <a:extLst>
              <a:ext uri="{FF2B5EF4-FFF2-40B4-BE49-F238E27FC236}">
                <a16:creationId xmlns:a16="http://schemas.microsoft.com/office/drawing/2014/main" id="{23DC34EB-B581-D7A2-50DF-4CB1DBD22AE3}"/>
              </a:ext>
            </a:extLst>
          </p:cNvPr>
          <p:cNvSpPr/>
          <p:nvPr/>
        </p:nvSpPr>
        <p:spPr>
          <a:xfrm>
            <a:off x="4237337" y="394538"/>
            <a:ext cx="2613216" cy="584775"/>
          </a:xfrm>
          <a:prstGeom prst="rect">
            <a:avLst/>
          </a:prstGeom>
          <a:noFill/>
        </p:spPr>
        <p:txBody>
          <a:bodyPr wrap="none" lIns="91440" tIns="45720" rIns="91440" bIns="45720">
            <a:spAutoFit/>
          </a:bodyPr>
          <a:lstStyle/>
          <a:p>
            <a:pPr algn="ctr"/>
            <a:r>
              <a:rPr lang="en-US" sz="3200" b="1" cap="none" spc="0" dirty="0" err="1">
                <a:ln w="9525">
                  <a:solidFill>
                    <a:schemeClr val="bg1"/>
                  </a:solidFill>
                  <a:prstDash val="solid"/>
                </a:ln>
                <a:solidFill>
                  <a:schemeClr val="tx1"/>
                </a:solidFill>
                <a:effectLst>
                  <a:outerShdw blurRad="12700" dist="38100" dir="2700000" algn="tl" rotWithShape="0">
                    <a:schemeClr val="bg1">
                      <a:lumMod val="50000"/>
                    </a:schemeClr>
                  </a:outerShdw>
                </a:effectLst>
              </a:rPr>
              <a:t>Todas</a:t>
            </a:r>
            <a:r>
              <a:rPr lang="en-US" sz="32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 vs R4</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978529041"/>
              </p:ext>
            </p:extLst>
          </p:nvPr>
        </p:nvGraphicFramePr>
        <p:xfrm>
          <a:off x="381000" y="1015000"/>
          <a:ext cx="11430000" cy="5054483"/>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1.1  </a:t>
                      </a:r>
                      <a:r>
                        <a:rPr lang="es" sz="800" b="1" i="0" dirty="0">
                          <a:solidFill>
                            <a:srgbClr val="7500C0"/>
                          </a:solidFill>
                          <a:latin typeface="Graphik"/>
                          <a:cs typeface="Graphik"/>
                        </a:rPr>
                        <a:t>Gestión de Identidad y Acceso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autenticación, autorización, token y sesión para clientes, empleados, socios e identidades de máquinas que consumen la capa de interoperabilidad.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la única respuesta autorizada sobre quién llama y qué puede hacer, por lo que la lógica de derechos se elimina de los servicios empresariales.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OAuth 2.0 vía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OKTA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Azure AD/Microsoft Entra 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del Token Party</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Identidad Incode/KYC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para soporte de credenciales</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  </a:t>
                      </a:r>
                      <a:r>
                        <a:rPr lang="es" sz="800" b="1" i="0">
                          <a:solidFill>
                            <a:srgbClr val="7500C0"/>
                          </a:solidFill>
                          <a:latin typeface="Graphik"/>
                          <a:cs typeface="Graphik"/>
                        </a:rPr>
                        <a:t>Servicios Criptográficos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Operaciones criptográficas compartidas —firma, cifrado, protección de carga útil de extremo a extremo— se entregaban como servicios llamables respaldados por módulos de seguridad de hardware y almacenes de claves gestionados.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los controles de mayor garantía en un solo componente certificado, de modo que la criptografía se consume en lugar de reimplementarse.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Cifrado AES-256</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TLS/SSL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claves HSM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Oracle TDE</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mTLS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Firma Incode/NOM-151 para contratos de incorporación</a:t>
                      </a:r>
                    </a:p>
                  </a:txBody>
                  <a:tcPr marL="82000" marR="82000" marT="38000" marB="38000" anchor="ctr">
                    <a:solidFill>
                      <a:srgbClr val="F6F2FB"/>
                    </a:solidFill>
                  </a:tcPr>
                </a:tc>
                <a:extLst>
                  <a:ext uri="{0D108BD9-81ED-4DB2-BD59-A6C34878D82A}">
                    <a16:rowId xmlns:a16="http://schemas.microsoft.com/office/drawing/2014/main" val="10002"/>
                  </a:ext>
                </a:extLst>
              </a:tr>
              <a:tr h="723650">
                <a:tc>
                  <a:txBody>
                    <a:bodyPr/>
                    <a:lstStyle/>
                    <a:p>
                      <a:pPr marL="0" indent="0" algn="l">
                        <a:lnSpc>
                          <a:spcPct val="104000"/>
                        </a:lnSpc>
                        <a:spcBef>
                          <a:spcPts val="30"/>
                        </a:spcBef>
                        <a:buNone/>
                      </a:pPr>
                      <a:r>
                        <a:rPr lang="es" sz="800" b="1" i="0">
                          <a:solidFill>
                            <a:srgbClr val="9B7BC7"/>
                          </a:solidFill>
                          <a:latin typeface="Graphik"/>
                          <a:cs typeface="Graphik"/>
                        </a:rPr>
                        <a:t>1.3  </a:t>
                      </a:r>
                      <a:r>
                        <a:rPr lang="es" sz="800" b="1" i="0">
                          <a:solidFill>
                            <a:srgbClr val="7500C0"/>
                          </a:solidFill>
                          <a:latin typeface="Graphik"/>
                          <a:cs typeface="Graphik"/>
                        </a:rPr>
                        <a:t>Gestión de Certificados y Secretos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Emisión, distribución, rotación, revocación y auditoría de certificados y secretos de aplicaciones consumidos por servicios, gateways y pipelines.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Automatiza la higiene operativa que suele fallar a gran escala; Los certificados caducados y los secretos harcodeados son algunas de las causas más frecuentes de interrupciones y hallazgos de auditorías en herencias distribuidas.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HashiCorp Vault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Gestor de Secretos de AWS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Secretos de Kubernetes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certificados SSL</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HSM para operaciones críticas de clave</a:t>
                      </a:r>
                    </a:p>
                  </a:txBody>
                  <a:tcPr marL="82000" marR="82000" marT="38000" marB="38000" anchor="ctr">
                    <a:solidFill>
                      <a:srgbClr val="FFFFFF"/>
                    </a:solidFill>
                  </a:tcPr>
                </a:tc>
                <a:extLst>
                  <a:ext uri="{0D108BD9-81ED-4DB2-BD59-A6C34878D82A}">
                    <a16:rowId xmlns:a16="http://schemas.microsoft.com/office/drawing/2014/main" val="10003"/>
                  </a:ext>
                </a:extLst>
              </a:tr>
              <a:tr h="975110">
                <a:tc>
                  <a:txBody>
                    <a:bodyPr/>
                    <a:lstStyle/>
                    <a:p>
                      <a:pPr marL="0" indent="0" algn="l">
                        <a:lnSpc>
                          <a:spcPct val="104000"/>
                        </a:lnSpc>
                        <a:spcBef>
                          <a:spcPts val="30"/>
                        </a:spcBef>
                        <a:buNone/>
                      </a:pPr>
                      <a:r>
                        <a:rPr lang="es" sz="800" b="1" i="0">
                          <a:solidFill>
                            <a:srgbClr val="9B7BC7"/>
                          </a:solidFill>
                          <a:latin typeface="Graphik"/>
                          <a:cs typeface="Graphik"/>
                        </a:rPr>
                        <a:t>1.4  </a:t>
                      </a:r>
                      <a:r>
                        <a:rPr lang="es" sz="800" b="1" i="0">
                          <a:solidFill>
                            <a:srgbClr val="7500C0"/>
                          </a:solidFill>
                          <a:latin typeface="Graphik"/>
                          <a:cs typeface="Graphik"/>
                        </a:rPr>
                        <a:t>Protección contra amenazas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Detección y mitigación de tráfico hostil y técnicas de ataque en tiempo de ejecución en el perímetro, en la capa API y dentro del contenedor y plataformas de streaming.</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Protege la superficie de ataque ensanchada que necesariamente crea el desacoplamiento, en las capas donde la exposición es mayor.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 Armor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OAuth/rate limit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Istio Service Mesh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HashiCorp Vault y controles de bastionado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1.5  </a:t>
                      </a:r>
                      <a:r>
                        <a:rPr lang="es" sz="800" b="1" i="0">
                          <a:solidFill>
                            <a:srgbClr val="7500C0"/>
                          </a:solidFill>
                          <a:latin typeface="Graphik"/>
                          <a:cs typeface="Graphik"/>
                        </a:rPr>
                        <a:t>Gestión de vulnerabilidades y amenazas (VTM)</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Identificación, priorización y remediación continua de vulnerabilidades en librerias, imágenes, plataformas e interfaces, incluyendo pruebas adversariales.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Aborda directamente el coste y el tiempo dedicado a gestionar vulnerabilidades en un gran conjunto de microservicios, el objetivo declarado detrás de curar librerias base y eliminar dependencias innecesarias.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Puertas de seguridad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SAST/DAST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SonarQube y OWASP ZAP referenciados para la seguridad de la pipeline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Validación de bastionado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Escaneos de vulnerabilidades</a:t>
                      </a:r>
                    </a:p>
                  </a:txBody>
                  <a:tcPr marL="82000" marR="82000" marT="38000" marB="38000" anchor="ctr">
                    <a:solidFill>
                      <a:srgbClr val="FFFFFF"/>
                    </a:solidFill>
                  </a:tcPr>
                </a:tc>
                <a:extLst>
                  <a:ext uri="{0D108BD9-81ED-4DB2-BD59-A6C34878D82A}">
                    <a16:rowId xmlns:a16="http://schemas.microsoft.com/office/drawing/2014/main" val="10005"/>
                  </a:ext>
                </a:extLst>
              </a:tr>
              <a:tr h="597920">
                <a:tc>
                  <a:txBody>
                    <a:bodyPr/>
                    <a:lstStyle/>
                    <a:p>
                      <a:pPr marL="0" indent="0" algn="l">
                        <a:lnSpc>
                          <a:spcPct val="104000"/>
                        </a:lnSpc>
                        <a:spcBef>
                          <a:spcPts val="30"/>
                        </a:spcBef>
                        <a:buNone/>
                      </a:pPr>
                      <a:r>
                        <a:rPr lang="es" sz="800" b="1" i="0">
                          <a:solidFill>
                            <a:srgbClr val="9B7BC7"/>
                          </a:solidFill>
                          <a:latin typeface="Graphik"/>
                          <a:cs typeface="Graphik"/>
                        </a:rPr>
                        <a:t>1.6  </a:t>
                      </a:r>
                      <a:r>
                        <a:rPr lang="es" sz="800" b="1" i="0">
                          <a:solidFill>
                            <a:srgbClr val="7500C0"/>
                          </a:solidFill>
                          <a:latin typeface="Graphik"/>
                          <a:cs typeface="Graphik"/>
                        </a:rPr>
                        <a:t>Observabilidad y respuesta de seguridad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Telemetría, correlación, alertas, paneles de control y respuesta automatizada específicos de seguridad se basan en la columna vertebral de observabilidad compartida.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Cierra la brecha más observada en los programas de interoperabilidad: la telemetría de seguridad existe en fragmentos y no existe capacidad de respuesta automatizada.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 para detección de amenazas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paneles de seguridad/operativos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CloudTrail/CloudWatch donde se utilizan los servicios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del incidente a través de Operaciones/Seguridad</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2" name="TextBox 1">
            <a:extLst>
              <a:ext uri="{FF2B5EF4-FFF2-40B4-BE49-F238E27FC236}">
                <a16:creationId xmlns:a16="http://schemas.microsoft.com/office/drawing/2014/main" id="{9427903C-2D22-8245-3F0F-C390C4FF4EA0}"/>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192A48E1-0CD4-BC41-CA5D-FCA62F53A37E}"/>
              </a:ext>
            </a:extLst>
          </p:cNvPr>
          <p:cNvSpPr txBox="1"/>
          <p:nvPr/>
        </p:nvSpPr>
        <p:spPr>
          <a:xfrm>
            <a:off x="5568950" y="2936875"/>
            <a:ext cx="914400" cy="914400"/>
          </a:xfrm>
          <a:prstGeom prst="rect">
            <a:avLst/>
          </a:prstGeom>
          <a:noFill/>
        </p:spPr>
        <p:txBody>
          <a:bodyPr wrap="square" lIns="0" tIns="0" rIns="0" bIns="0" rtlCol="0">
            <a:noAutofit/>
          </a:bodyPr>
          <a:lstStyle/>
          <a:p>
            <a:pPr algn="l" defTabSz="228600">
              <a:spcAft>
                <a:spcPts val="1200"/>
              </a:spcAft>
            </a:pPr>
            <a:endParaRPr lang="en-US" noProof="0"/>
          </a:p>
        </p:txBody>
      </p:sp>
      <p:grpSp>
        <p:nvGrpSpPr>
          <p:cNvPr id="8" name="Group 7">
            <a:extLst>
              <a:ext uri="{FF2B5EF4-FFF2-40B4-BE49-F238E27FC236}">
                <a16:creationId xmlns:a16="http://schemas.microsoft.com/office/drawing/2014/main" id="{C9322907-149E-AEE6-EEAB-4445FF66264A}"/>
              </a:ext>
            </a:extLst>
          </p:cNvPr>
          <p:cNvGrpSpPr/>
          <p:nvPr/>
        </p:nvGrpSpPr>
        <p:grpSpPr>
          <a:xfrm>
            <a:off x="717042" y="6191083"/>
            <a:ext cx="4001014" cy="631639"/>
            <a:chOff x="717042" y="6191083"/>
            <a:chExt cx="4001014" cy="631639"/>
          </a:xfrm>
        </p:grpSpPr>
        <p:sp>
          <p:nvSpPr>
            <p:cNvPr id="22" name="Rectangle 21">
              <a:extLst>
                <a:ext uri="{FF2B5EF4-FFF2-40B4-BE49-F238E27FC236}">
                  <a16:creationId xmlns:a16="http://schemas.microsoft.com/office/drawing/2014/main" id="{A2488ABE-AB11-AB05-27E9-BEAAD693DB9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dirty="0"/>
                <a:t>GAP</a:t>
              </a:r>
            </a:p>
          </p:txBody>
        </p:sp>
        <p:sp>
          <p:nvSpPr>
            <p:cNvPr id="25" name="Rectangle 24">
              <a:extLst>
                <a:ext uri="{FF2B5EF4-FFF2-40B4-BE49-F238E27FC236}">
                  <a16:creationId xmlns:a16="http://schemas.microsoft.com/office/drawing/2014/main" id="{AD786B3F-5692-417F-1E68-59C7FFD00491}"/>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27" name="Rectangle 26">
              <a:extLst>
                <a:ext uri="{FF2B5EF4-FFF2-40B4-BE49-F238E27FC236}">
                  <a16:creationId xmlns:a16="http://schemas.microsoft.com/office/drawing/2014/main" id="{235BB3AF-AF1B-1388-D053-9861F7ACD8EB}"/>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9" name="Oval 28">
              <a:extLst>
                <a:ext uri="{FF2B5EF4-FFF2-40B4-BE49-F238E27FC236}">
                  <a16:creationId xmlns:a16="http://schemas.microsoft.com/office/drawing/2014/main" id="{61E26A7D-4BBF-55E1-3AFA-75C91001880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31" name="Rectangle 30">
              <a:extLst>
                <a:ext uri="{FF2B5EF4-FFF2-40B4-BE49-F238E27FC236}">
                  <a16:creationId xmlns:a16="http://schemas.microsoft.com/office/drawing/2014/main" id="{73C81BF7-0834-B669-4067-755CC4F8F59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33" name="Rectangle 32">
              <a:extLst>
                <a:ext uri="{FF2B5EF4-FFF2-40B4-BE49-F238E27FC236}">
                  <a16:creationId xmlns:a16="http://schemas.microsoft.com/office/drawing/2014/main" id="{408BEE29-1CEE-69D0-0C96-29FA2EA02B3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35" name="Oval 34">
              <a:extLst>
                <a:ext uri="{FF2B5EF4-FFF2-40B4-BE49-F238E27FC236}">
                  <a16:creationId xmlns:a16="http://schemas.microsoft.com/office/drawing/2014/main" id="{8348E351-BF9C-7643-567A-1393F5FED93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37" name="Oval 36">
              <a:extLst>
                <a:ext uri="{FF2B5EF4-FFF2-40B4-BE49-F238E27FC236}">
                  <a16:creationId xmlns:a16="http://schemas.microsoft.com/office/drawing/2014/main" id="{0C5104FF-8303-CCA3-17BE-A2FE43B0383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
        <p:nvSpPr>
          <p:cNvPr id="7" name="TextBox 6">
            <a:extLst>
              <a:ext uri="{FF2B5EF4-FFF2-40B4-BE49-F238E27FC236}">
                <a16:creationId xmlns:a16="http://schemas.microsoft.com/office/drawing/2014/main" id="{84D99EB8-AA97-95E6-A9E5-8BA0EA2E644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11453989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58355667"/>
              </p:ext>
            </p:extLst>
          </p:nvPr>
        </p:nvGraphicFramePr>
        <p:xfrm>
          <a:off x="381000" y="1015000"/>
          <a:ext cx="11430000" cy="4421728"/>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2.1  </a:t>
                      </a:r>
                      <a:r>
                        <a:rPr lang="es" sz="800" b="1" i="0" dirty="0">
                          <a:solidFill>
                            <a:srgbClr val="7500C0"/>
                          </a:solidFill>
                          <a:latin typeface="Graphik"/>
                          <a:cs typeface="Graphik"/>
                        </a:rPr>
                        <a:t>Monitorización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Recogida y evaluación continua del estado y disponibilidad de componentes, interfaces y dependencias de la plataforma, con alertas basadas en umbrales y anomalías.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Detecta la degradación antes que los clientes, lo cual importa más en una urbanización compuesta donde una dependencia débil degrada muchos journeys.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 paneles de control y alertas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CloudWatch/CloudTrail para componentes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Revisiones de estado de plataformas en Apolo, Transact y SmartVista</a:t>
                      </a:r>
                    </a:p>
                  </a:txBody>
                  <a:tcPr marL="82000" marR="82000" marT="38000" marB="38000" anchor="ctr">
                    <a:solidFill>
                      <a:srgbClr val="FFFFFF"/>
                    </a:solidFill>
                  </a:tcPr>
                </a:tc>
                <a:extLst>
                  <a:ext uri="{0D108BD9-81ED-4DB2-BD59-A6C34878D82A}">
                    <a16:rowId xmlns:a16="http://schemas.microsoft.com/office/drawing/2014/main" val="10001"/>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2.2  </a:t>
                      </a:r>
                      <a:r>
                        <a:rPr lang="es" sz="800" b="1" i="0" dirty="0">
                          <a:solidFill>
                            <a:srgbClr val="7500C0"/>
                          </a:solidFill>
                          <a:latin typeface="Graphik"/>
                          <a:cs typeface="Graphik"/>
                        </a:rPr>
                        <a:t>Registro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Recogida estructurada, normalización, indexación, retención y rotación de registros técnicos, operativos y de auditoría de cada componente de la capa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el fundamento forense y de auditoría para un entorno distribuido donde ningún registro de aplicación único cuente toda la historia.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Registros/monitores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 SIEM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CloudTrail/CloudWatch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Registros de auditoría de </a:t>
                      </a:r>
                      <a:r>
                        <a:rPr lang="es-ES" sz="700" b="0" i="0" dirty="0" err="1">
                          <a:solidFill>
                            <a:srgbClr val="4B2E83"/>
                          </a:solidFill>
                          <a:latin typeface="Graphik"/>
                          <a:cs typeface="Graphik"/>
                        </a:rPr>
                        <a:t>APIgee</a:t>
                      </a:r>
                      <a:r>
                        <a:rPr lang="es" sz="700" b="0" i="0" dirty="0">
                          <a:solidFill>
                            <a:srgbClr val="4B2E83"/>
                          </a:solidFill>
                          <a:latin typeface="Graphik"/>
                          <a:cs typeface="Graphik"/>
                        </a:rPr>
                        <a:t>, Transact, SmartVista y flujos regulatorios/reporte.</a:t>
                      </a:r>
                    </a:p>
                  </a:txBody>
                  <a:tcPr marL="82000" marR="82000" marT="38000" marB="38000" anchor="ctr">
                    <a:solidFill>
                      <a:srgbClr val="F6F2FB"/>
                    </a:solidFill>
                  </a:tcPr>
                </a:tc>
                <a:extLst>
                  <a:ext uri="{0D108BD9-81ED-4DB2-BD59-A6C34878D82A}">
                    <a16:rowId xmlns:a16="http://schemas.microsoft.com/office/drawing/2014/main" val="10002"/>
                  </a:ext>
                </a:extLst>
              </a:tr>
              <a:tr h="698504">
                <a:tc>
                  <a:txBody>
                    <a:bodyPr/>
                    <a:lstStyle/>
                    <a:p>
                      <a:pPr marL="0" indent="0" algn="l">
                        <a:lnSpc>
                          <a:spcPct val="104000"/>
                        </a:lnSpc>
                        <a:spcBef>
                          <a:spcPts val="30"/>
                        </a:spcBef>
                        <a:buNone/>
                      </a:pPr>
                      <a:r>
                        <a:rPr lang="es" sz="800" b="1" i="0" dirty="0">
                          <a:solidFill>
                            <a:srgbClr val="9B7BC7"/>
                          </a:solidFill>
                          <a:latin typeface="Graphik"/>
                          <a:cs typeface="Graphik"/>
                        </a:rPr>
                        <a:t>2.3  </a:t>
                      </a:r>
                      <a:r>
                        <a:rPr lang="es" sz="800" b="1" i="0" dirty="0">
                          <a:solidFill>
                            <a:srgbClr val="7500C0"/>
                          </a:solidFill>
                          <a:latin typeface="Graphik"/>
                          <a:cs typeface="Graphik"/>
                        </a:rPr>
                        <a:t>Trazo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Propagación y reconstrucción del camino completo de ejecución de una solicitud a través de servicios, plataformas, protocolos y saltos asincrónicos, basándose en un identificador de correlación propagado de forma consistente.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capacidad de observabilidad más importante en una arquitectura interoperable: es lo que hace que una transacción distribuida sea explicable de principio a fin, tanto en la generación heredada como en la de próxima generación.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Trazado de APM/DataDog está planificado como observabilidad avanzada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Istio soporta telemetría a nivel de servicio. El servicio de identidad de correlación no se nombra explícitamente</a:t>
                      </a:r>
                    </a:p>
                  </a:txBody>
                  <a:tcPr marL="82000" marR="82000" marT="38000" marB="38000" anchor="ctr">
                    <a:solidFill>
                      <a:srgbClr val="FFFFFF"/>
                    </a:solidFill>
                  </a:tcPr>
                </a:tc>
                <a:extLst>
                  <a:ext uri="{0D108BD9-81ED-4DB2-BD59-A6C34878D82A}">
                    <a16:rowId xmlns:a16="http://schemas.microsoft.com/office/drawing/2014/main" val="10003"/>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2.4  </a:t>
                      </a:r>
                      <a:r>
                        <a:rPr lang="es" sz="800" b="1" i="0" dirty="0">
                          <a:solidFill>
                            <a:srgbClr val="7500C0"/>
                          </a:solidFill>
                          <a:latin typeface="Graphik"/>
                          <a:cs typeface="Graphik"/>
                        </a:rPr>
                        <a:t>Métricas, Analítica e Informes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Derivación, almacenamiento y análisis de métricas técnicas y empresariales a partir de la telemetría, incluyendo correlación automatizada y detección asistida por aprendizaje automático, así como informes periódicos.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telemetría en bruto en la información de gestión utilizada para demostrar el caso de negocio de interoperabilidad y dirigir la inversión de la plataforma.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KPIs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Analiticas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Google Analytics para el comportamiento digital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 Warehouse/DataStage para fuentes de informes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ejecutivos de PMO</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2.5  </a:t>
                      </a:r>
                      <a:r>
                        <a:rPr lang="es" sz="800" b="1" i="0" dirty="0">
                          <a:solidFill>
                            <a:srgbClr val="7500C0"/>
                          </a:solidFill>
                          <a:latin typeface="Graphik"/>
                          <a:cs typeface="Graphik"/>
                        </a:rPr>
                        <a:t>Paneles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Visualización orientada a roles de la plataforma y la telemetría empresarial para audiencias de ingeniería, operaciones, seguridad, empresarial y ejecutivos.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Convierte la observabilidad de una herramienta de ingeniería en un instrumento de gestión compartido, incluyendo la visión de riesgo de TI a nivel de negocio y servicio.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técnicos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PMO / ejecutivos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regulatorios y empresariales a través de Data Warehouse, Bajaware/Risklogic y reportes de proyectos</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5" name="TextBox 4">
            <a:extLst>
              <a:ext uri="{FF2B5EF4-FFF2-40B4-BE49-F238E27FC236}">
                <a16:creationId xmlns:a16="http://schemas.microsoft.com/office/drawing/2014/main" id="{B17CD03D-5F64-FB79-9DE4-CBE95DDB2F3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A025F74-5327-D355-60D1-1D7D93E384A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47B7A98F-DACF-C9C5-5909-1B95B2A1ABF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706078A5-5B09-4D1C-16D5-4D4A6D0675D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791652A7-6D06-4518-5829-DC06C0044A5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279DF6B-367B-54BB-B552-25E4C10650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C4167C7E-7AE3-9BAD-D0AE-5E5BB392CF7F}"/>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F08E7DF5-4B39-FA4C-A526-6E4104F31B9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7DDD4E3C-C967-5C5F-0835-E36F75E9F7C2}"/>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18F5DF1-BBF6-75EF-9E74-429C13BDC9EB}"/>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Operaciones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graphicFrame>
        <p:nvGraphicFramePr>
          <p:cNvPr id="100" name="DetailTable"/>
          <p:cNvGraphicFramePr>
            <a:graphicFrameLocks noGrp="1"/>
          </p:cNvGraphicFramePr>
          <p:nvPr>
            <p:extLst>
              <p:ext uri="{D42A27DB-BD31-4B8C-83A1-F6EECF244321}">
                <p14:modId xmlns:p14="http://schemas.microsoft.com/office/powerpoint/2010/main" val="1723867605"/>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3.1  </a:t>
                      </a:r>
                      <a:r>
                        <a:rPr lang="es" sz="800" b="1" i="0">
                          <a:solidFill>
                            <a:srgbClr val="7500C0"/>
                          </a:solidFill>
                          <a:latin typeface="Graphik"/>
                          <a:cs typeface="Graphik"/>
                        </a:rPr>
                        <a:t>Operaciones de Folio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Agrupación de las operaciones técnicas que conforman una única transacción empresarial bajo una única referencia empresarial, con la capacidad de recuperar, informar y actuar sobre ese grupo como una unidad.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Restaura la unidad de trabajo a nivel de negocio que un núcleo monolítico proporcionaba implícitamente, que es lo que mantiene la reversión, la investigación y la información significativas tras la descomposición.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servicio dedicado de folio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identificadores/informes relacionados están en los paneles PMO, registros operativos de Transact/SmartVista y informes de Data Warehouse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3.2  </a:t>
                      </a:r>
                      <a:r>
                        <a:rPr lang="es" sz="800" b="1" i="0" dirty="0">
                          <a:solidFill>
                            <a:srgbClr val="7500C0"/>
                          </a:solidFill>
                          <a:latin typeface="Graphik"/>
                          <a:cs typeface="Graphik"/>
                        </a:rPr>
                        <a:t>Gestión de feature flags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Configuración en tiempo de ejecución de la disponibilidad de funcionalidades, permitiendo activar, dirigirse o retirar comportamientos por consumidor, entidad, canal o compartición de tráfico sin necesidad de reimplementación.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palanca de control principal para el corte de riesgo reducido: convierte un evento migratorio en una transición gradual, observable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Los features flags se mencionan como una práctica de innovación en el canal, pero no se menciona ninguna herramienta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rollback de despliegue utiliza los pipelines/Helm y controles de rollback de plataforma de DevSecOps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3.3  </a:t>
                      </a:r>
                      <a:r>
                        <a:rPr lang="es" sz="800" b="1" i="0">
                          <a:solidFill>
                            <a:srgbClr val="7500C0"/>
                          </a:solidFill>
                          <a:latin typeface="Graphik"/>
                          <a:cs typeface="Graphik"/>
                        </a:rPr>
                        <a:t>UUID distribuido y servicios de correlación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identificadores únicos libres de colisiones entre componentes distribuidos y propagación consistente de identificadores de correlación a través de caminos síncronos y asíncronos.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La dependencia técnica única bajo la trazabilidad de extremo a extremo, auditoría distribuida y control de idempotencia; Sin ella, ninguna de esas capacidades podría funcionar.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UUID o servicio de correlación independiente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Probablemente gestionados por patrones </a:t>
                      </a:r>
                      <a:r>
                        <a:rPr lang="es-ES" sz="700" b="0" i="0" dirty="0" err="1">
                          <a:solidFill>
                            <a:srgbClr val="4B2E83"/>
                          </a:solidFill>
                          <a:latin typeface="+mn-lt"/>
                          <a:cs typeface="Graphik"/>
                        </a:rPr>
                        <a:t>APIgee</a:t>
                      </a:r>
                      <a:r>
                        <a:rPr lang="es" sz="700" b="0" i="0" dirty="0">
                          <a:solidFill>
                            <a:srgbClr val="4B2E83"/>
                          </a:solidFill>
                          <a:latin typeface="+mn-lt"/>
                          <a:cs typeface="Graphik"/>
                        </a:rPr>
                        <a:t>/MuleSoft/Istio/DataDog </a:t>
                      </a:r>
                      <a:r>
                        <a:rPr lang="es" sz="700" b="0" i="0" dirty="0">
                          <a:solidFill>
                            <a:srgbClr val="4B2E83"/>
                          </a:solidFill>
                          <a:latin typeface="Graphik"/>
                          <a:cs typeface="Graphik"/>
                        </a:rPr>
                        <a:t>e identificadores a nivel de aplicación</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3.4  </a:t>
                      </a:r>
                      <a:r>
                        <a:rPr lang="es" sz="800" b="1" i="0">
                          <a:solidFill>
                            <a:srgbClr val="7500C0"/>
                          </a:solidFill>
                          <a:latin typeface="Graphik"/>
                          <a:cs typeface="Graphik"/>
                        </a:rPr>
                        <a:t>Consolas de Administración de Plataforma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Interfaces administrativas para la capa de interoperabilidad: administración del registro de servicios, configuración en tiempo de ejecución y control operativo de componentes compartidos.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 los propietarios nombrados una forma gobernada de cambiar el comportamiento de la plataforma, que es lo que permite que la capa sea operada por una función de operaciones en lugar de por sus creadores.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Administración/políticas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Transact/Catálogo de productos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de control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configuración de Terraform/GitHub</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38" name="Kicker">
            <a:extLst>
              <a:ext uri="{FF2B5EF4-FFF2-40B4-BE49-F238E27FC236}">
                <a16:creationId xmlns:a16="http://schemas.microsoft.com/office/drawing/2014/main" id="{EACB9C03-A539-AD17-4039-F3ED76B64F79}"/>
              </a:ext>
            </a:extLst>
          </p:cNvP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5" name="TextBox 4">
            <a:extLst>
              <a:ext uri="{FF2B5EF4-FFF2-40B4-BE49-F238E27FC236}">
                <a16:creationId xmlns:a16="http://schemas.microsoft.com/office/drawing/2014/main" id="{850C3B31-5B7B-4271-7970-EB045B0403C6}"/>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2021F93C-7229-3C4D-F493-3542289C10EC}"/>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C2AC484C-337E-6F1E-486E-1F568222995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E94D1DA7-776D-6A55-E573-A01527F0FFF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D35C920C-67C9-A78E-E558-5117BED6DDE6}"/>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B2DAFF27-CD52-ED40-9EEA-181BB550E756}"/>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1A1E0787-5E7B-B610-8246-FAEE67CBC9FB}"/>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9104ABE-5160-D721-08C7-74BD334C2DE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5ED4DB83-E894-9AFD-952B-C5E71BAF2D3A}"/>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9EF2CC06-D35D-853D-4F67-CD14391363D5}"/>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4184119359"/>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4.1  </a:t>
                      </a:r>
                      <a:r>
                        <a:rPr lang="es" sz="800" b="1" i="0" dirty="0">
                          <a:solidFill>
                            <a:srgbClr val="7500C0"/>
                          </a:solidFill>
                          <a:latin typeface="Graphik"/>
                          <a:cs typeface="Graphik"/>
                        </a:rPr>
                        <a:t>Servicios de pasarela entrantes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entrada gestionados para tráfico que se origina fuera del límite de confianza del banco, a través de canales de API, archivos y eventos, incluyendo el intercambio de asertura de identidad en el edge.</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Da al banco una puerta principal gobernada por modalidad en lugar de una proliferación de conexiones bilaterales con controles inconsistentes.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FFFFF"/>
                    </a:solidFill>
                  </a:tcPr>
                </a:tc>
                <a:extLst>
                  <a:ext uri="{0D108BD9-81ED-4DB2-BD59-A6C34878D82A}">
                    <a16:rowId xmlns:a16="http://schemas.microsoft.com/office/drawing/2014/main" val="10001"/>
                  </a:ext>
                </a:extLst>
              </a:tr>
              <a:tr h="765560">
                <a:tc>
                  <a:txBody>
                    <a:bodyPr/>
                    <a:lstStyle/>
                    <a:p>
                      <a:pPr marL="0" indent="0" algn="l">
                        <a:lnSpc>
                          <a:spcPct val="104000"/>
                        </a:lnSpc>
                        <a:spcBef>
                          <a:spcPts val="30"/>
                        </a:spcBef>
                        <a:buNone/>
                      </a:pPr>
                      <a:r>
                        <a:rPr lang="es" sz="800" b="1" i="0" dirty="0">
                          <a:solidFill>
                            <a:srgbClr val="9B7BC7"/>
                          </a:solidFill>
                          <a:latin typeface="Graphik"/>
                          <a:cs typeface="Graphik"/>
                        </a:rPr>
                        <a:t>4.2  </a:t>
                      </a:r>
                      <a:r>
                        <a:rPr lang="es" sz="800" b="1" i="0" dirty="0">
                          <a:solidFill>
                            <a:srgbClr val="7500C0"/>
                          </a:solidFill>
                          <a:latin typeface="Graphik"/>
                          <a:cs typeface="Graphik"/>
                        </a:rPr>
                        <a:t>Servicios de pasarela saliente</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Puntos de salida gestionados para tráfico originado por bancos hacia contrapartes aguas abajo, a través de canales de API, archivos y eventos, incluyendo el cambio de transacciones a esquemas y procesadores.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 la conectividad y credenciales específicas de la contraparte del código de la aplicación, de modo que un proveedor puede ser reemplazado sin tocar los servicios empresariales.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Gateway API entrante/saliente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 de MuleSoft/WebMethods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API Gateway vía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EKS/Istio Service Edge</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4.3  </a:t>
                      </a:r>
                      <a:r>
                        <a:rPr lang="es" sz="800" b="1" i="0" dirty="0">
                          <a:solidFill>
                            <a:srgbClr val="7500C0"/>
                          </a:solidFill>
                          <a:latin typeface="Graphik"/>
                          <a:cs typeface="Graphik"/>
                        </a:rPr>
                        <a:t>Ecosistema y ventaja de Open Banking</a:t>
                      </a:r>
                    </a:p>
                  </a:txBody>
                  <a:tcPr marL="82000" marR="82000" marT="38000" marB="38000" anchor="ctr">
                    <a:solidFill>
                      <a:srgbClr val="EFE7F7"/>
                    </a:solidFill>
                  </a:tcPr>
                </a:tc>
                <a:tc>
                  <a:txBody>
                    <a:bodyPr/>
                    <a:lstStyle/>
                    <a:p>
                      <a:pPr marL="0" indent="0" algn="l">
                        <a:lnSpc>
                          <a:spcPct val="108000"/>
                        </a:lnSpc>
                        <a:spcBef>
                          <a:spcPts val="30"/>
                        </a:spcBef>
                        <a:buNone/>
                      </a:pPr>
                      <a:r>
                        <a:rPr lang="es-ES" sz="800" b="0" i="0" dirty="0">
                          <a:solidFill>
                            <a:srgbClr val="2B2B2B"/>
                          </a:solidFill>
                          <a:latin typeface="+mn-lt"/>
                          <a:cs typeface="Graphik"/>
                        </a:rPr>
                        <a:t>Perímetros especializados orientados al exterior para el tráfico regulado de Open </a:t>
                      </a:r>
                      <a:r>
                        <a:rPr lang="es-ES" sz="800" b="0" i="0" dirty="0" err="1">
                          <a:solidFill>
                            <a:srgbClr val="2B2B2B"/>
                          </a:solidFill>
                          <a:latin typeface="+mn-lt"/>
                          <a:cs typeface="Graphik"/>
                        </a:rPr>
                        <a:t>Banking</a:t>
                      </a:r>
                      <a:r>
                        <a:rPr lang="es-ES" sz="800" b="0" i="0" dirty="0">
                          <a:solidFill>
                            <a:srgbClr val="2B2B2B"/>
                          </a:solidFill>
                          <a:latin typeface="+mn-lt"/>
                          <a:cs typeface="Graphik"/>
                        </a:rPr>
                        <a:t>, la incorporación de socios y la experimentación controlada, incluyendo perímetros de filtrado y exposición en el mercado.</a:t>
                      </a:r>
                      <a:endParaRPr lang="es" sz="800" b="0" i="0" dirty="0">
                        <a:solidFill>
                          <a:srgbClr val="2B2B2B"/>
                        </a:solidFill>
                        <a:latin typeface="Graphik"/>
                        <a:cs typeface="Graphik"/>
                      </a:endParaRP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Donde la capa de interoperabilidad se convierte en un canal de negocio: convierte capacidades internas en productos consumibles y contratados para terceros.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específico de mercado o sandbox de socios de Open Banking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Las capacidades adyacentes utilizan </a:t>
                      </a: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 APIs BIAN y entornos sandbox/UAT</a:t>
                      </a:r>
                    </a:p>
                  </a:txBody>
                  <a:tcPr marL="82000" marR="82000" marT="38000" marB="38000" anchor="ctr">
                    <a:solidFill>
                      <a:srgbClr val="FFFFFF"/>
                    </a:solidFill>
                  </a:tcPr>
                </a:tc>
                <a:extLst>
                  <a:ext uri="{0D108BD9-81ED-4DB2-BD59-A6C34878D82A}">
                    <a16:rowId xmlns:a16="http://schemas.microsoft.com/office/drawing/2014/main" val="10003"/>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4.4  </a:t>
                      </a:r>
                      <a:r>
                        <a:rPr lang="es" sz="800" b="1" i="0">
                          <a:solidFill>
                            <a:srgbClr val="7500C0"/>
                          </a:solidFill>
                          <a:latin typeface="Graphik"/>
                          <a:cs typeface="Graphik"/>
                        </a:rPr>
                        <a:t>Zonificación perimetral y conectividad</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Segmentación de red, modelo de exposición DMZ, terminación de seguridad del transporte y gestión de conectividad que sustentan todas las modalidades de pasarela.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Establece la topología de confianza dentro de la cual operan todas las demás capacidades de pasarela; Sin él, el desacoplamiento aumenta la exposición en lugar de contenerla.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Imperva WAF </a:t>
                      </a:r>
                      <a:r>
                        <a:rPr lang="en-US" sz="700" b="0" i="0" dirty="0">
                          <a:solidFill>
                            <a:srgbClr val="4B2E83"/>
                          </a:solidFill>
                          <a:latin typeface="Graphik"/>
                          <a:cs typeface="Graphik"/>
                        </a:rPr>
                        <a:t>/ Cloud Armor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AWS Shield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Terminación TLS de Zscaler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VPN/Direct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Reglas de etración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Zonificación de redes AWS/GCP/local</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E5B2F6CA-8668-9E42-6752-81C8C18B5CF1}"/>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EAF775C-D7AA-5547-2536-1347A0AA1968}"/>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0FD7538E-A338-A51F-A4AF-334CCEDC4299}"/>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23031B46-6C30-2EE0-768E-BFD3EB22E12E}"/>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3D99192-2E75-E618-BD5B-6B5B2D9A6D7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BD5E5CC-A43B-C5C2-8481-9DA4B86E089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0A244A90-897E-822E-CDE2-240653A2537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BC32F37C-C032-F5B6-4F4E-D0F4EDFD9D59}"/>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4" name="Oval 13">
              <a:extLst>
                <a:ext uri="{FF2B5EF4-FFF2-40B4-BE49-F238E27FC236}">
                  <a16:creationId xmlns:a16="http://schemas.microsoft.com/office/drawing/2014/main" id="{2313C54C-428C-E6DA-1710-11E37F3A483C}"/>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5" name="Oval 14">
              <a:extLst>
                <a:ext uri="{FF2B5EF4-FFF2-40B4-BE49-F238E27FC236}">
                  <a16:creationId xmlns:a16="http://schemas.microsoft.com/office/drawing/2014/main" id="{822889DA-4B92-7D94-EB52-81BCC9FBEAAD}"/>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KERNEL &amp; PLATAFORMA |    4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3988262963"/>
              </p:ext>
            </p:extLst>
          </p:nvPr>
        </p:nvGraphicFramePr>
        <p:xfrm>
          <a:off x="381000" y="1015000"/>
          <a:ext cx="11430000" cy="436808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dirty="0">
                          <a:solidFill>
                            <a:srgbClr val="9B7BC7"/>
                          </a:solidFill>
                          <a:latin typeface="Graphik"/>
                          <a:cs typeface="Graphik"/>
                        </a:rPr>
                        <a:t>5.1  </a:t>
                      </a:r>
                      <a:r>
                        <a:rPr lang="es" sz="800" b="1" i="0" dirty="0">
                          <a:solidFill>
                            <a:srgbClr val="7500C0"/>
                          </a:solidFill>
                          <a:latin typeface="Graphik"/>
                          <a:cs typeface="Graphik"/>
                        </a:rPr>
                        <a:t>Gateway API y Mediación en Tiempo de Ejecución</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Plano de ejecución que termina, valida, media y enruta el tráfico API entre consumidores y proveedores, aplicando la política en el punto de invocación en lugar de dentro del código de la aplicación.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cumplir el contrato en tiempo de ejecución, así que el desacoplamiento está garantizado por la plataforma en lugar de por la disciplina del desarrollador.</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API Gateway/API Management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Integración/orquestación con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APIs alineadas con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Transacciones con APIs REST de OFS/IRIS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5.2  </a:t>
                      </a:r>
                      <a:r>
                        <a:rPr lang="es" sz="800" b="1" i="0">
                          <a:solidFill>
                            <a:srgbClr val="7500C0"/>
                          </a:solidFill>
                          <a:latin typeface="Graphik"/>
                          <a:cs typeface="Graphik"/>
                        </a:rPr>
                        <a:t>Gestión del ciclo de vida de la API</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Plano de control que gobierna una API desde el diseño y la definición del contrato hasta la publicación, la versión de versión, la notificación de cambios y la eventual retirada.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las interfaces en activos empresariales gestionados con una ruta de cambio controlada, que es la condición previa para su reutilización entre entidades y países.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Estándares API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Ciclo de vida/gobernanza de la API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Documentación de API estilo OpenAPI/Swagger para OfiWeb/Canales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El cambio de API está controlado por la gobernanza arquitectónica</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5.3  </a:t>
                      </a:r>
                      <a:r>
                        <a:rPr lang="es" sz="800" b="1" i="0" dirty="0">
                          <a:solidFill>
                            <a:srgbClr val="7500C0"/>
                          </a:solidFill>
                          <a:latin typeface="Graphik"/>
                          <a:cs typeface="Graphik"/>
                        </a:rPr>
                        <a:t>API Manager (Administración de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Administración, configuración de políticas, operación e instrumentación comercial de la propia plataforma de gestión de APIs, tanto en topologías on-site, cloud como híbridas.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Mantiene la política administrada de forma centralizada y aplicada de forma consistente, para que las reglas de seguridad y tráfico no se fragmenten por equipo de API.</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y políticas de la plataforma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DataDog/API</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de DevSecOps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alojado por GCP con proveedores AWS/locales</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5.4  </a:t>
                      </a:r>
                      <a:r>
                        <a:rPr lang="es" sz="800" b="1" i="0">
                          <a:solidFill>
                            <a:srgbClr val="7500C0"/>
                          </a:solidFill>
                          <a:latin typeface="Graphik"/>
                          <a:cs typeface="Graphik"/>
                        </a:rPr>
                        <a:t>Portal y catálogo para desarrolladores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Superficie de autoservicio donde desarrolladores internos y externos descubren, evalúan, se registran y se apoyan en interfaces publicadas.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reutilización solo ocurre si se pueden encontrar capacidades. El portal convierte un inventario técnico en un catálogo de productos consumibles.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Catálogo/gobernanza API para Apificación de Canales y OfiWeb</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r>
                        <a:rPr lang="es" sz="700" b="0" i="0" dirty="0">
                          <a:solidFill>
                            <a:srgbClr val="4B2E83"/>
                          </a:solidFill>
                          <a:latin typeface="Graphik"/>
                          <a:cs typeface="Graphik"/>
                        </a:rPr>
                        <a:t> como plano de gestión de API. No se evidencia explícitamente ninguna herramienta de portal para desarrolladores independiente</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895CE96-888A-40DC-CAA1-8A9547280CD4}"/>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D8FD90D-DB31-5C8C-A858-7752A5F03965}"/>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A6089CC3-AAE2-6201-82DC-BAAAEAA60422}"/>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1481E370-DFB4-33AC-BAA8-BB79102C4EB6}"/>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7E0D715-57E9-EC05-B9B4-FE53986E0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3F797AA5-C423-F48C-6505-4A7309B4F68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F4BDF558-8398-761A-E974-16832AE3B709}"/>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992C57D0-0B15-F8E8-5811-1B97BF1AC8C7}"/>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AEADAB12-66AB-0A3F-446E-3651164EFFE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04FB3089-2F79-D0B6-4BCF-EB1B3446934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 y componentes de caché</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97837904"/>
              </p:ext>
            </p:extLst>
          </p:nvPr>
        </p:nvGraphicFramePr>
        <p:xfrm>
          <a:off x="381000" y="1015000"/>
          <a:ext cx="11430000" cy="386516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6.1  </a:t>
                      </a:r>
                      <a:r>
                        <a:rPr lang="es" sz="800" b="1" i="0">
                          <a:solidFill>
                            <a:srgbClr val="7500C0"/>
                          </a:solidFill>
                          <a:latin typeface="Graphik"/>
                          <a:cs typeface="Graphik"/>
                        </a:rPr>
                        <a:t>Gestión de Datos Omnicanal</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Almacenamiento temporal y funcional de datos de interacción en curso, con servicios de acceso que permiten a cualquier canal leer y continuar un journey iniciado en otro lugar.</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el journey, más que el canal, en la unidad de diseño: la base práctica de una propuesta omnicanal genuina.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 Web/OFI, Sucursal, ATM, CAT y 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6.2  </a:t>
                      </a:r>
                      <a:r>
                        <a:rPr lang="es" sz="800" b="1" i="0">
                          <a:solidFill>
                            <a:srgbClr val="7500C0"/>
                          </a:solidFill>
                          <a:latin typeface="Graphik"/>
                          <a:cs typeface="Graphik"/>
                        </a:rPr>
                        <a:t>Componentes de caché</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Caché distribuida y en memoria de datos de referencia y de acceso frecuente, con control de invalidación y refresco, además de aceleración de la entrega de contenido estático.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Desacopla la capacidad de respuesta del canal de la capacidad de backend, lo que protege los sistemas heredados y mejora la experiencia del cliente al mismo tiempo.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App BanCoppel/Web/Sucursal/ATM/CAT/Cajero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Apolo/Modyo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de Canales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CloudFront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2"/>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6.3  </a:t>
                      </a:r>
                      <a:r>
                        <a:rPr lang="es" sz="800" b="1" i="0">
                          <a:solidFill>
                            <a:srgbClr val="7500C0"/>
                          </a:solidFill>
                          <a:latin typeface="Graphik"/>
                          <a:cs typeface="Graphik"/>
                        </a:rPr>
                        <a:t>Gestión y replicación de sesiones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Almacenamiento en caché y replicación del estado de la sesión entre instancias, zonas de disponibilidad y dominios para que las sesiones de canal sobrevivan a fallos y crucen límites de dominio.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continuidad de interacción autenticada, sin la cual el escalado elástico y el despliegue rolling serían visibles para los clientes como sesiones eliminadas.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 evidencian el soporte de Redis y las sesiones de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nombra ningún producto de replicación de sesiones empresariales separado</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6.4  </a:t>
                      </a:r>
                      <a:r>
                        <a:rPr lang="es" sz="800" b="1" i="0">
                          <a:solidFill>
                            <a:srgbClr val="7500C0"/>
                          </a:solidFill>
                          <a:latin typeface="Graphik"/>
                          <a:cs typeface="Graphik"/>
                        </a:rPr>
                        <a:t>Caché de transacciones y servicio de lectura con baja latencia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almacenamiento en caché de los datos de transacciones en vuelo y de las vistas de lectura frecuentemente solicitadas, servía a los canales de forma independiente del sistema de registro.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mecanismo práctico para descargar tráfico de lectura de núcleos restringidos —normalmente la palanca más rápida disponible en MIPS y tiempo de respuesta, sin necesidad de cambio de núcleo.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Redis en la pila de 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Modyo/AWS CloudFront para contenido estático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 para datos operativos. Herramienta de invalidación de caché no especificamente nombrada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F29D682-8D81-78DF-CF3B-69C5F2A115BE}"/>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8500B439-78A7-A237-F7CD-743BFC5CB26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C243356-DA74-5BDA-B481-199BEFD77014}"/>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8DA6390A-78A3-D017-BE0C-445C861EB88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A1ECF3BB-111E-DF7A-6087-D7952FDA74A7}"/>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6128E720-DFC1-EC31-9940-45DF93B9E4D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3DB09E4-DF3C-80CD-92C4-7534E828DDBE}"/>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87248145-19A1-DB9C-B1A7-000AC53E0CA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42DFA139-8638-A2F9-13AD-1622C7B0836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784CF03-FE16-0A24-70FC-9B6A6C268FFC}"/>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Trxs distribuidos – Gestión de Trxs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3306229359"/>
              </p:ext>
            </p:extLst>
          </p:nvPr>
        </p:nvGraphicFramePr>
        <p:xfrm>
          <a:off x="381000" y="1015000"/>
          <a:ext cx="11430000" cy="453572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7.1  </a:t>
                      </a:r>
                      <a:r>
                        <a:rPr lang="es" sz="800" b="1" i="0">
                          <a:solidFill>
                            <a:srgbClr val="7500C0"/>
                          </a:solidFill>
                          <a:latin typeface="Graphik"/>
                          <a:cs typeface="Graphik"/>
                        </a:rPr>
                        <a:t>Gestión de transacciones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Coordinación de operaciones empresariales con múltiples participantes, seguimiento del éxito o fracaso de cada paso y impulsando la reversión completa o compensatoria, con registro duradero del estado y la historia.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una transacción comercial que abarque sistemas legados, de nueva generación y de terceros se complete o se deshace por completo, con pruebas.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7.2  </a:t>
                      </a:r>
                      <a:r>
                        <a:rPr lang="es" sz="800" b="1" i="0">
                          <a:solidFill>
                            <a:srgbClr val="7500C0"/>
                          </a:solidFill>
                          <a:latin typeface="Graphik"/>
                          <a:cs typeface="Graphik"/>
                        </a:rPr>
                        <a:t>Operaciones y Control de Transacciones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Herramientas orientadas al operador para observar, intervenir e informar sobre transacciones complejas, incluyendo reintentos, cancelaciones y reversiones de acciones, así como la monitorización de eventos técnicos y operativos.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consistencia distribuida sea operativa por equipos nombrados; Sin él, la corrección depende de la escalada de ingeniería para cada anomalía.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Transacciones a tiempo completo/pagos/GL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BPC SmartVista/SVIP</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a:t>
                      </a:r>
                    </a:p>
                  </a:txBody>
                  <a:tcPr marL="82000" marR="82000" marT="38000" marB="38000" anchor="ctr">
                    <a:solidFill>
                      <a:srgbClr val="F6F2FB"/>
                    </a:solidFill>
                  </a:tcPr>
                </a:tc>
                <a:extLst>
                  <a:ext uri="{0D108BD9-81ED-4DB2-BD59-A6C34878D82A}">
                    <a16:rowId xmlns:a16="http://schemas.microsoft.com/office/drawing/2014/main" val="10002"/>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7.3  </a:t>
                      </a:r>
                      <a:r>
                        <a:rPr lang="es" sz="800" b="1" i="0" dirty="0">
                          <a:solidFill>
                            <a:srgbClr val="7500C0"/>
                          </a:solidFill>
                          <a:latin typeface="Graphik"/>
                          <a:cs typeface="Graphik"/>
                        </a:rPr>
                        <a:t>Store &amp; Forward</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y ejecución posterior controlada de peticiones que no pueden completarse ahora —porque un sistema alojador no está disponible, o porque el usuario programó la acción para una fecha futura— que incluye gestor de solicitudes, registro, procesador, router y consola.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Ofrece continuidad del servicio cuando parte del entorno está caída y, reutilizando el mismo mecanismo, soporta instrucciones con fecha futura como pagos programados. Es una razón principal por la que los clientes no experimentan directamente los límites de disponibilidad heredados.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MQ/Kinesis y Kafka/Confluent para un intercambio fiable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con reintento/respaldo a 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Batch/COB donde el procesamiento síncrono no es posible</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7.4  </a:t>
                      </a:r>
                      <a:r>
                        <a:rPr lang="es" sz="800" b="1" i="0">
                          <a:solidFill>
                            <a:srgbClr val="7500C0"/>
                          </a:solidFill>
                          <a:latin typeface="Graphik"/>
                          <a:cs typeface="Graphik"/>
                        </a:rPr>
                        <a:t>Administración de Servicios Transaccionales (Administración en línea)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Administración en tiempo de ejecución del comportamiento transaccional: qué servicios son atómicos, cuáles son elegibles para almacenar y reenviar, cuáles requieren aprobaciones y las sobreescrituras operativas disponibles para las funciones de control.</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Hace que las características transaccionales sean declarativas y gobernadas centralmente, para que el comportamiento pueda ajustarse operativamente sin cambiar el código durante las ventanas de migración.</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Productos/Marco AA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Controles de política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Anulaciones operativas a través de las consolas de administración de la plataforma</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FA1FE7A6-EAA7-5071-D661-18BA24CD055D}"/>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C9114470-0AF5-CA31-D4E9-3AC233CE83E2}"/>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57F855CC-91EB-D96B-E2B5-37A88046445D}"/>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FE1A2517-0F59-F22B-7BB1-90F55F72904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E12A6D1B-B8B9-D6A6-712A-309922DD68E9}"/>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16BF0559-6C07-F0C1-9121-3BB4FCAE0EC8}"/>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7D859657-F0F8-0FD6-B886-A029E5971E4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E95B7FA6-90CF-8AE5-8D86-3284A77011A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9AF73679-C6D1-A48F-8D1C-EEF5AA99C55F}"/>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E1294F1-EF24-1FC4-E13E-6F51D6BC3AFF}"/>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lvl="0">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lang="es" sz="2000" dirty="0">
                <a:solidFill>
                  <a:srgbClr val="000000"/>
                </a:solidFill>
              </a:rPr>
              <a:t>Trxs distribuidos </a:t>
            </a:r>
            <a:r>
              <a:rPr kumimoji="0" lang="es" sz="2000" b="1" i="0" u="none" strike="noStrike" kern="1200" cap="none" spc="0" normalizeH="0" baseline="0" noProof="0" dirty="0">
                <a:ln>
                  <a:noFill/>
                </a:ln>
                <a:solidFill>
                  <a:srgbClr val="000000"/>
                </a:solidFill>
                <a:effectLst/>
                <a:uLnTx/>
                <a:uFillTx/>
                <a:latin typeface="Graphik"/>
                <a:ea typeface="+mj-ea"/>
                <a:cs typeface="+mj-cs"/>
              </a:rPr>
              <a:t>- Orquestación de Servicios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7500C0"/>
                </a:solidFill>
                <a:latin typeface="Graphik"/>
                <a:cs typeface="Graphik"/>
              </a:rPr>
              <a:t>CAPACIDAD DE DOMINIO |    DOMINIO 6.0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2493200469"/>
              </p:ext>
            </p:extLst>
          </p:nvPr>
        </p:nvGraphicFramePr>
        <p:xfrm>
          <a:off x="381000" y="1015000"/>
          <a:ext cx="11430000" cy="445190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8.1  </a:t>
                      </a:r>
                      <a:r>
                        <a:rPr lang="es" sz="800" b="1" i="0" dirty="0">
                          <a:solidFill>
                            <a:srgbClr val="7500C0"/>
                          </a:solidFill>
                          <a:latin typeface="Graphik"/>
                          <a:cs typeface="Graphik"/>
                        </a:rPr>
                        <a:t>Orquestador de Servicio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motor que descompone un servicio complejo en un conjunto ordenado o paralelo de invocaciones de servicio de grano minucioso y gestiona su ejecución, resultados y excepciones.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Concentra la lógica de negocio entre sistemas en un solo lugar gobernado y visible en lugar de dispersarla entre canales y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Software AG WebMethods BPM/BRM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Gestión de invocaciones de </a:t>
                      </a: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Orquestación de flujo estilo máquina de estados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Diagnóstico de DataDog</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8.2  </a:t>
                      </a:r>
                      <a:r>
                        <a:rPr lang="es" sz="800" b="1" i="0" dirty="0">
                          <a:solidFill>
                            <a:srgbClr val="7500C0"/>
                          </a:solidFill>
                          <a:latin typeface="Graphik"/>
                          <a:cs typeface="Graphik"/>
                        </a:rPr>
                        <a:t>Marco de Integración y Mediación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transformación, mapeo y puente de protocolos que reconcilian diferentes contratos, formatos y mecanismos de comunicación entre plataformas participantes.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Absorbe la heterogeneidad, de modo que añadir un nuevo procesador o proveedor es un ejercicio de adaptación en lugar de un cambio en el estado consumidor.</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Graphik"/>
                          <a:cs typeface="Graphik"/>
                        </a:rPr>
                        <a:t>APIgee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Servicios BIAN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Temporales/Fig </a:t>
                      </a:r>
                      <a:r>
                        <a:rPr lang="es-ES" sz="700" b="0" i="0" dirty="0" err="1">
                          <a:solidFill>
                            <a:srgbClr val="4B2E83"/>
                          </a:solidFill>
                          <a:latin typeface="+mn-lt"/>
                          <a:cs typeface="Graphik"/>
                        </a:rPr>
                        <a:t>Strangler</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Transact</a:t>
                      </a:r>
                      <a:r>
                        <a:rPr lang="es-ES" sz="700" b="0" i="0" dirty="0">
                          <a:solidFill>
                            <a:srgbClr val="4B2E83"/>
                          </a:solidFill>
                          <a:latin typeface="+mn-lt"/>
                          <a:cs typeface="Graphik"/>
                        </a:rPr>
                        <a:t> OFS/IRIS </a:t>
                      </a:r>
                      <a:r>
                        <a:rPr lang="es-ES" sz="700" b="0" i="0" dirty="0" err="1">
                          <a:solidFill>
                            <a:srgbClr val="4B2E83"/>
                          </a:solidFill>
                          <a:latin typeface="+mn-lt"/>
                          <a:cs typeface="Graphik"/>
                        </a:rPr>
                        <a:t>APIs</a:t>
                      </a:r>
                      <a:endParaRPr lang="es-ES" sz="700" b="0" i="0" dirty="0">
                        <a:solidFill>
                          <a:srgbClr val="4B2E83"/>
                        </a:solidFill>
                        <a:latin typeface="+mn-lt"/>
                        <a:cs typeface="Graphik"/>
                      </a:endParaRP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dirty="0">
                          <a:solidFill>
                            <a:srgbClr val="9B7BC7"/>
                          </a:solidFill>
                          <a:latin typeface="Graphik"/>
                          <a:cs typeface="Graphik"/>
                        </a:rPr>
                        <a:t>8.3  </a:t>
                      </a:r>
                      <a:r>
                        <a:rPr lang="es" sz="800" b="1" i="0" dirty="0">
                          <a:solidFill>
                            <a:srgbClr val="7500C0"/>
                          </a:solidFill>
                          <a:latin typeface="Graphik"/>
                          <a:cs typeface="Graphik"/>
                        </a:rPr>
                        <a:t>Gestión del contexto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Captura, propagación y disponibilidad consistente del contexto de ejecución —identidad, canal, entidad, ubicación, correlación, derechos— en cada salto de un servicio compuesto.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Sin contexto propagado, la auditoría distribuida, la aplicación de derechos y el rastreo se rompen en el primer límite del sistema.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 / 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Catálogo de productos Transact y marco AA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Propagación del contexto </a:t>
                      </a:r>
                      <a:r>
                        <a:rPr lang="es-ES" sz="700" b="0" i="0" dirty="0" err="1">
                          <a:solidFill>
                            <a:srgbClr val="4B2E83"/>
                          </a:solidFill>
                          <a:latin typeface="Graphik"/>
                          <a:cs typeface="Graphik"/>
                        </a:rPr>
                        <a:t>APIgee</a:t>
                      </a:r>
                      <a:r>
                        <a:rPr lang="es" sz="700" b="0" i="0" dirty="0">
                          <a:solidFill>
                            <a:srgbClr val="4B2E83"/>
                          </a:solidFill>
                          <a:latin typeface="Graphik"/>
                          <a:cs typeface="Graphik"/>
                        </a:rPr>
                        <a:t>/MuleSoft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es un producto de registro separado en las fuentes</a:t>
                      </a:r>
                    </a:p>
                  </a:txBody>
                  <a:tcPr marL="82000" marR="82000" marT="38000" marB="38000" anchor="ctr">
                    <a:solidFill>
                      <a:srgbClr val="FFFFFF"/>
                    </a:solidFill>
                  </a:tcPr>
                </a:tc>
                <a:extLst>
                  <a:ext uri="{0D108BD9-81ED-4DB2-BD59-A6C34878D82A}">
                    <a16:rowId xmlns:a16="http://schemas.microsoft.com/office/drawing/2014/main" val="10003"/>
                  </a:ext>
                </a:extLst>
              </a:tr>
              <a:tr h="1151132">
                <a:tc>
                  <a:txBody>
                    <a:bodyPr/>
                    <a:lstStyle/>
                    <a:p>
                      <a:pPr marL="0" indent="0" algn="l">
                        <a:lnSpc>
                          <a:spcPct val="104000"/>
                        </a:lnSpc>
                        <a:spcBef>
                          <a:spcPts val="30"/>
                        </a:spcBef>
                        <a:buNone/>
                      </a:pPr>
                      <a:r>
                        <a:rPr lang="es" sz="800" b="1" i="0">
                          <a:solidFill>
                            <a:srgbClr val="9B7BC7"/>
                          </a:solidFill>
                          <a:latin typeface="Graphik"/>
                          <a:cs typeface="Graphik"/>
                        </a:rPr>
                        <a:t>8.4  </a:t>
                      </a:r>
                      <a:r>
                        <a:rPr lang="es" sz="800" b="1" i="0">
                          <a:solidFill>
                            <a:srgbClr val="7500C0"/>
                          </a:solidFill>
                          <a:latin typeface="Graphik"/>
                          <a:cs typeface="Graphik"/>
                        </a:rPr>
                        <a:t>Adaptadores heredados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Envoltorios de servicio y adaptadores específicos de plataforma que exponen funciones residentes legadas como APIs y eventos estándar, conectando desde la arquitectura de microservicios hasta mainframes y plataformas propietarias.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La capacidad de coexistencia de caballo de batalla: hace que la función heredada sea consumible por los journeys modernos sin modificar el código heredado, lo que permite que la modernización sea incremental y reversible.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temporales usando Strangler Fig/ByPass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Envoltorios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Apificación OfiWeb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Interfaces por lotes/COB y hoja de ruta para la desmantelación</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03B95B1C-165E-3253-9E95-605AB201EC7C}"/>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06BDF027-2575-FCAA-3592-014A3E40A29B}"/>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8B91CDB9-EF5B-C615-5763-AC21C4F13753}"/>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BC149C74-A4DA-7F57-E65C-16D2E1887F2D}"/>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5877CEC7-9BFF-B9AD-E1DA-F3DFE3A11972}"/>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84FEFE60-FF51-EE30-9848-C3FF9E3730B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A074D6BC-E5AB-06D6-C8DE-30482D5D6A8A}"/>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DABFF9EB-C92D-FF96-14B5-FF0B793F629B}"/>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EC405343-1E28-0489-227A-C675E8D5689E}"/>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B1A90C31-1403-F2DD-7777-92CDEF8EA35A}"/>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procesos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179626190"/>
              </p:ext>
            </p:extLst>
          </p:nvPr>
        </p:nvGraphicFramePr>
        <p:xfrm>
          <a:off x="381000" y="1015000"/>
          <a:ext cx="11430000" cy="42004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a:solidFill>
                            <a:srgbClr val="9B7BC7"/>
                          </a:solidFill>
                          <a:latin typeface="Graphik"/>
                          <a:cs typeface="Graphik"/>
                        </a:rPr>
                        <a:t>9.1  </a:t>
                      </a:r>
                      <a:r>
                        <a:rPr lang="es" sz="800" b="1" i="0">
                          <a:solidFill>
                            <a:srgbClr val="7500C0"/>
                          </a:solidFill>
                          <a:latin typeface="Graphik"/>
                          <a:cs typeface="Graphik"/>
                        </a:rPr>
                        <a:t>Servicios de flujo de trabajo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Definición, versión y ejecución de procesos empresariales de varios pasos que abarcan servicios, sistemas y participantes humanos.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Hace que la lógica de procesos sea explícita y modificable según la autoridad de diseño en lugar de implícita en el código entre varios sistemas.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WebMethods BPM</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Flujo de trabajo/máquina de estados Modyo Connect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Gestión de trabajo en Ingeniería de Flujos/Jira para la entrega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los flujos de proceso a través de Apolo, SmartVista y Transact</a:t>
                      </a:r>
                    </a:p>
                  </a:txBody>
                  <a:tcPr marL="82000" marR="82000" marT="38000" marB="38000" anchor="ctr">
                    <a:solidFill>
                      <a:srgbClr val="FFFFFF"/>
                    </a:solidFill>
                  </a:tcPr>
                </a:tc>
                <a:extLst>
                  <a:ext uri="{0D108BD9-81ED-4DB2-BD59-A6C34878D82A}">
                    <a16:rowId xmlns:a16="http://schemas.microsoft.com/office/drawing/2014/main" val="10001"/>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9.2  </a:t>
                      </a:r>
                      <a:r>
                        <a:rPr lang="es" sz="800" b="1" i="0" dirty="0">
                          <a:solidFill>
                            <a:srgbClr val="7500C0"/>
                          </a:solidFill>
                          <a:latin typeface="Graphik"/>
                          <a:cs typeface="Graphik"/>
                        </a:rPr>
                        <a:t>Gestión de tareas humanas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Creación, asignación, priorización y finalización de tareas humanas derivadas de procesos automatizados, incluyendo listas de trabajo y delegación.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Integra los pasos humanos que permanecen en los procesos bancarios regulados sin empujarlos de nuevo a las aplicaciones de canal.</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Teller Multi Core para tareas de ramificación asistidas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Flujos de trabajo OnBase/documentos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Colas de trabajo SIWEB/OFI y sucursales/centros de llamadas. No existe una sola herramienta de tarea BPM completamente evidenciada</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Graphik"/>
                          <a:cs typeface="Graphik"/>
                        </a:rPr>
                        <a:t>9.3  </a:t>
                      </a:r>
                      <a:r>
                        <a:rPr lang="es" sz="800" b="1" i="0">
                          <a:solidFill>
                            <a:srgbClr val="7500C0"/>
                          </a:solidFill>
                          <a:latin typeface="Graphik"/>
                          <a:cs typeface="Graphik"/>
                        </a:rPr>
                        <a:t>Gestión del Estado de Procesos y Excepciones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Persistencia duradera del estado de proceso de larga duración, junto con el tiempo de espera, la escalada, el reintento y la gestión de excepciones para instancias estancadas o fallidas.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procesos de larga duración fallan de forma diferente a las transacciones; La gestión explícita del estado y la escalada es lo que evita la pérdida silenciosa de clientes a bordo.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WebMethods BPM/BRM y Modyo Connect para el estado del proceso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Escalada PMO/RAID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Respaldo/contingencia con Interfaces Temporales y PISA</a:t>
                      </a:r>
                    </a:p>
                  </a:txBody>
                  <a:tcPr marL="82000" marR="82000" marT="38000" marB="38000" anchor="ctr">
                    <a:solidFill>
                      <a:srgbClr val="FFFFFF"/>
                    </a:solidFill>
                  </a:tcPr>
                </a:tc>
                <a:extLst>
                  <a:ext uri="{0D108BD9-81ED-4DB2-BD59-A6C34878D82A}">
                    <a16:rowId xmlns:a16="http://schemas.microsoft.com/office/drawing/2014/main" val="10003"/>
                  </a:ext>
                </a:extLst>
              </a:tr>
              <a:tr h="765560">
                <a:tc>
                  <a:txBody>
                    <a:bodyPr/>
                    <a:lstStyle/>
                    <a:p>
                      <a:pPr marL="0" indent="0" algn="l">
                        <a:lnSpc>
                          <a:spcPct val="104000"/>
                        </a:lnSpc>
                        <a:spcBef>
                          <a:spcPts val="30"/>
                        </a:spcBef>
                        <a:buNone/>
                      </a:pPr>
                      <a:r>
                        <a:rPr lang="es" sz="800" b="1" i="0">
                          <a:solidFill>
                            <a:srgbClr val="9B7BC7"/>
                          </a:solidFill>
                          <a:latin typeface="Graphik"/>
                          <a:cs typeface="Graphik"/>
                        </a:rPr>
                        <a:t>9.4  </a:t>
                      </a:r>
                      <a:r>
                        <a:rPr lang="es" sz="800" b="1" i="0">
                          <a:solidFill>
                            <a:srgbClr val="7500C0"/>
                          </a:solidFill>
                          <a:latin typeface="Graphik"/>
                          <a:cs typeface="Graphik"/>
                        </a:rPr>
                        <a:t>Supervisión y administración de procesos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Visibilidad operativa de instancias en vuelo y de procesos completados, con intervención administrativa e informes sobre tiempos de ciclo y cuellos de botella.</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el equivalente a nivel de proceso del trazado distribuido y la base de medición para la mejora del procesamiento directo.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DataDog para monitorización de procesos/plataformas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 Back Office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Administración de transacciones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Paneles PMO para el rendimiento de procesos</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79B461EB-09F9-A5D6-56C1-629626E3415B}"/>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502A4CCB-DCAB-CC6E-E8D0-8BF517AF697A}"/>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E38B5A23-DC8A-6D03-29EA-A4D9DE903FAE}"/>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D1405CEE-8BAC-087B-4024-F62B168AD33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3D91EB81-09DC-E20E-3A37-7E3E8A2EC355}"/>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5D84E9F8-07C2-6EA4-A30E-6AD028CE814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8160D8D6-5847-1B50-FEA2-330B4E3D1282}"/>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50022B38-A678-BFBE-7F7D-025AF73DAB5D}"/>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0C816D6-3573-2BA9-458B-BDA896919AED}"/>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899FBAEF-8290-CFC2-E9A4-377D0CB6EB5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Servicios Empresariales Comunes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869980797"/>
              </p:ext>
            </p:extLst>
          </p:nvPr>
        </p:nvGraphicFramePr>
        <p:xfrm>
          <a:off x="381000" y="1015000"/>
          <a:ext cx="11430000" cy="51548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723650">
                <a:tc>
                  <a:txBody>
                    <a:bodyPr/>
                    <a:lstStyle/>
                    <a:p>
                      <a:pPr marL="0" indent="0" algn="l">
                        <a:lnSpc>
                          <a:spcPct val="104000"/>
                        </a:lnSpc>
                        <a:spcBef>
                          <a:spcPts val="30"/>
                        </a:spcBef>
                        <a:buNone/>
                      </a:pPr>
                      <a:r>
                        <a:rPr lang="es" sz="800" b="1" i="0" dirty="0">
                          <a:solidFill>
                            <a:srgbClr val="9B7BC7"/>
                          </a:solidFill>
                          <a:latin typeface="Graphik"/>
                          <a:cs typeface="Graphik"/>
                        </a:rPr>
                        <a:t>10.1  </a:t>
                      </a:r>
                      <a:r>
                        <a:rPr lang="es" sz="800" b="1" i="0" dirty="0">
                          <a:solidFill>
                            <a:srgbClr val="7500C0"/>
                          </a:solidFill>
                          <a:latin typeface="Graphik"/>
                          <a:cs typeface="Graphik"/>
                        </a:rPr>
                        <a:t>Servicios al Cliente y las partes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que proporcionan datos maestros de clientes y partes, relaciones y atributos derivados a todos los dominios y canales de producto.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Ofrece la visión única del cliente que los núcleos aislados no pueden ofrecer, y que toda personalización y ambición de un banco de uno presupone.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Partido Temenos/CIF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 Customer Master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 KYC con INE/RENAPO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Incorporación de Apolo</a:t>
                      </a:r>
                    </a:p>
                  </a:txBody>
                  <a:tcPr marL="82000" marR="82000" marT="38000" marB="38000" anchor="ctr">
                    <a:solidFill>
                      <a:srgbClr val="FFFFFF"/>
                    </a:solidFill>
                  </a:tcPr>
                </a:tc>
                <a:extLst>
                  <a:ext uri="{0D108BD9-81ED-4DB2-BD59-A6C34878D82A}">
                    <a16:rowId xmlns:a16="http://schemas.microsoft.com/office/drawing/2014/main" val="10001"/>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10.2 </a:t>
                      </a:r>
                      <a:r>
                        <a:rPr lang="es" sz="800" b="1" i="0" dirty="0">
                          <a:solidFill>
                            <a:srgbClr val="7500C0"/>
                          </a:solidFill>
                          <a:latin typeface="Graphik"/>
                          <a:cs typeface="Graphik"/>
                        </a:rPr>
                        <a:t>Productos y Servicios de Precios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compartido de productos, términos, requisitos y servicios de cálculo de tarifas y precios utilizables por cualquier procesador o canal de productos.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Externalizar la definición del producto desde el núcleo es lo que permite lanzar nuevas propuestas sin un lanzamiento central, que es la principal fuente de ganancia en el tiempo de salida al mercado.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Temenos AA Framework y Catálogo de Productos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Motor de interés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Cargos</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Configuración del producto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BRM para reglas de precios/riesgo</a:t>
                      </a:r>
                    </a:p>
                  </a:txBody>
                  <a:tcPr marL="82000" marR="82000" marT="38000" marB="38000" anchor="ctr">
                    <a:solidFill>
                      <a:srgbClr val="F6F2FB"/>
                    </a:solidFill>
                  </a:tcPr>
                </a:tc>
                <a:extLst>
                  <a:ext uri="{0D108BD9-81ED-4DB2-BD59-A6C34878D82A}">
                    <a16:rowId xmlns:a16="http://schemas.microsoft.com/office/drawing/2014/main" val="10002"/>
                  </a:ext>
                </a:extLst>
              </a:tr>
              <a:tr h="975110">
                <a:tc>
                  <a:txBody>
                    <a:bodyPr/>
                    <a:lstStyle/>
                    <a:p>
                      <a:pPr marL="0" indent="0" algn="l">
                        <a:lnSpc>
                          <a:spcPct val="104000"/>
                        </a:lnSpc>
                        <a:spcBef>
                          <a:spcPts val="30"/>
                        </a:spcBef>
                        <a:buNone/>
                      </a:pPr>
                      <a:r>
                        <a:rPr lang="es" sz="800" b="1" i="0" dirty="0">
                          <a:solidFill>
                            <a:srgbClr val="9B7BC7"/>
                          </a:solidFill>
                          <a:latin typeface="+mn-lt"/>
                          <a:cs typeface="Graphik"/>
                        </a:rPr>
                        <a:t>10.3  </a:t>
                      </a:r>
                      <a:r>
                        <a:rPr lang="es" sz="800" b="1" i="0" dirty="0">
                          <a:solidFill>
                            <a:srgbClr val="7500C0"/>
                          </a:solidFill>
                          <a:latin typeface="Graphik"/>
                          <a:cs typeface="Graphik"/>
                        </a:rPr>
                        <a:t>Servicios de Límites y Riesgos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Definición de límite compartido, control de cuentas y seguimiento de consumo, y servicios de evaluación de riesgos y crédito que se pueden llamar desde cualquier journey.</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Coloca los controles de riesgo en la capa de interoperabilidad para que se apliquen de forma uniforme independientemente de qué núcleo o canal origina la transacción.</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Merit Crediticio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Límites de Transact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Integraciones Buró/SIC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Control de fraude/riesgo en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Colecciones PAST DUE</a:t>
                      </a:r>
                    </a:p>
                  </a:txBody>
                  <a:tcPr marL="82000" marR="82000" marT="38000" marB="38000" anchor="ctr">
                    <a:solidFill>
                      <a:srgbClr val="FFFFFF"/>
                    </a:solidFill>
                  </a:tcPr>
                </a:tc>
                <a:extLst>
                  <a:ext uri="{0D108BD9-81ED-4DB2-BD59-A6C34878D82A}">
                    <a16:rowId xmlns:a16="http://schemas.microsoft.com/office/drawing/2014/main" val="10003"/>
                  </a:ext>
                </a:extLst>
              </a:tr>
              <a:tr h="723650">
                <a:tc>
                  <a:txBody>
                    <a:bodyPr/>
                    <a:lstStyle/>
                    <a:p>
                      <a:pPr marL="0" indent="0" algn="l">
                        <a:lnSpc>
                          <a:spcPct val="104000"/>
                        </a:lnSpc>
                        <a:spcBef>
                          <a:spcPts val="30"/>
                        </a:spcBef>
                        <a:buNone/>
                      </a:pPr>
                      <a:r>
                        <a:rPr lang="es" sz="800" b="1" i="0" dirty="0">
                          <a:solidFill>
                            <a:srgbClr val="9B7BC7"/>
                          </a:solidFill>
                          <a:latin typeface="+mn-lt"/>
                          <a:cs typeface="Graphik"/>
                        </a:rPr>
                        <a:t>10.4  </a:t>
                      </a:r>
                      <a:r>
                        <a:rPr lang="es" sz="800" b="1" i="0" dirty="0">
                          <a:solidFill>
                            <a:srgbClr val="7500C0"/>
                          </a:solidFill>
                          <a:latin typeface="Graphik"/>
                          <a:cs typeface="Graphik"/>
                        </a:rPr>
                        <a:t>Servicios financieros y contables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Generación de eventos contables compartidos y publicación de libros mayores, conversión de divisas y servicios de ejecución de pagos utilizados entre dominios de producto.</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Preserva la integridad financiera y una verdad contable mientras el entorno de procesamiento se descompone y se reemplaza parcialmente.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Realizar transacciones de GL/Contabilidad y PRD. DES. CONTABILIDAD</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Transferencia de fondos/FT</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Hub de Pagos/SPEI</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Pagos SmartVista</a:t>
                      </a:r>
                    </a:p>
                    <a:p>
                      <a:pPr marL="150000" indent="-150000" algn="l">
                        <a:lnSpc>
                          <a:spcPct val="104000"/>
                        </a:lnSpc>
                        <a:spcBef>
                          <a:spcPts val="45"/>
                        </a:spcBef>
                        <a:buClr>
                          <a:srgbClr val="7500C0"/>
                        </a:buClr>
                        <a:buFont typeface="Arial"/>
                        <a:buChar char="▪"/>
                      </a:pPr>
                      <a:r>
                        <a:rPr lang="es" sz="700" b="0" i="0">
                          <a:solidFill>
                            <a:srgbClr val="4B2E83"/>
                          </a:solidFill>
                          <a:latin typeface="Graphik"/>
                          <a:cs typeface="Graphik"/>
                        </a:rPr>
                        <a:t>Libro mayor PISA durante la convivencia</a:t>
                      </a:r>
                    </a:p>
                  </a:txBody>
                  <a:tcPr marL="82000" marR="82000" marT="38000" marB="38000" anchor="ctr">
                    <a:solidFill>
                      <a:srgbClr val="F6F2FB"/>
                    </a:solidFill>
                  </a:tcPr>
                </a:tc>
                <a:extLst>
                  <a:ext uri="{0D108BD9-81ED-4DB2-BD59-A6C34878D82A}">
                    <a16:rowId xmlns:a16="http://schemas.microsoft.com/office/drawing/2014/main" val="10004"/>
                  </a:ext>
                </a:extLst>
              </a:tr>
              <a:tr h="597920">
                <a:tc>
                  <a:txBody>
                    <a:bodyPr/>
                    <a:lstStyle/>
                    <a:p>
                      <a:pPr marL="0" indent="0" algn="l">
                        <a:lnSpc>
                          <a:spcPct val="104000"/>
                        </a:lnSpc>
                        <a:spcBef>
                          <a:spcPts val="30"/>
                        </a:spcBef>
                        <a:buNone/>
                      </a:pPr>
                      <a:r>
                        <a:rPr lang="es" sz="800" b="1" i="0" dirty="0">
                          <a:solidFill>
                            <a:srgbClr val="9B7BC7"/>
                          </a:solidFill>
                          <a:latin typeface="+mn-lt"/>
                          <a:cs typeface="Graphik"/>
                        </a:rPr>
                        <a:t>10.5  </a:t>
                      </a:r>
                      <a:r>
                        <a:rPr lang="es" sz="800" b="1" i="0" dirty="0">
                          <a:solidFill>
                            <a:srgbClr val="7500C0"/>
                          </a:solidFill>
                          <a:latin typeface="Graphik"/>
                          <a:cs typeface="Graphik"/>
                        </a:rPr>
                        <a:t>Servicios de Documentos y Contenidos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compartidos de generación, captura, almacenamiento, recuperación y retención de documentos que apoyan la documentación del cliente y regulatoria en todos los productos.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gestión de documentos por producto, que es una de las funciones más duplicadas y menos diferenciatorias en un entorno bancario.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 de Hyland para archivos digitales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Modyo/Apolo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Pinpoint para WelcomeKit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Captura de documentos en Incode</a:t>
                      </a:r>
                    </a:p>
                  </a:txBody>
                  <a:tcPr marL="82000" marR="82000" marT="38000" marB="38000" anchor="ctr">
                    <a:solidFill>
                      <a:srgbClr val="FFFFFF"/>
                    </a:solidFill>
                  </a:tcPr>
                </a:tc>
                <a:extLst>
                  <a:ext uri="{0D108BD9-81ED-4DB2-BD59-A6C34878D82A}">
                    <a16:rowId xmlns:a16="http://schemas.microsoft.com/office/drawing/2014/main" val="10005"/>
                  </a:ext>
                </a:extLst>
              </a:tr>
              <a:tr h="1100840">
                <a:tc>
                  <a:txBody>
                    <a:bodyPr/>
                    <a:lstStyle/>
                    <a:p>
                      <a:pPr marL="0" indent="0" algn="l">
                        <a:lnSpc>
                          <a:spcPct val="104000"/>
                        </a:lnSpc>
                        <a:spcBef>
                          <a:spcPts val="30"/>
                        </a:spcBef>
                        <a:buNone/>
                      </a:pPr>
                      <a:r>
                        <a:rPr lang="es" sz="800" b="1" i="0">
                          <a:solidFill>
                            <a:srgbClr val="9B7BC7"/>
                          </a:solidFill>
                          <a:latin typeface="+mn-lt"/>
                          <a:cs typeface="Graphik"/>
                        </a:rPr>
                        <a:t>10.6  </a:t>
                      </a:r>
                      <a:r>
                        <a:rPr lang="es" sz="800" b="1" i="0">
                          <a:solidFill>
                            <a:srgbClr val="7500C0"/>
                          </a:solidFill>
                          <a:latin typeface="Graphik"/>
                          <a:cs typeface="Graphik"/>
                        </a:rPr>
                        <a:t>Control y Servicios de Confianza</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Servicios de control compartido aplicados a lo largo de los journeys empresariales: aprobaciones y jerarquías de autorizaciones, y firma y verificación respaldadas por HSM de instrucciones empresariales.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Convierte los controles obligatorios en un servicio reutilizable invocado por cualquier journey, de modo que la potencia del control no depende del producto o canal que los implemente.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Transact Party/CIF/AA/Catálogo de productos/GL/FT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Incode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Hub de Pagos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BRM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Risklogic</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7A16FD5-791F-329F-0C58-617978CEB219}"/>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8BEFC77D-DF89-2B5B-B2A2-A1817D2E3E56}"/>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7C39E3D0-651A-1975-A3BC-614800B9BCFB}"/>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E51C61B2-5986-2B72-D138-FC9B30F30ED9}"/>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CFD72043-DAA0-638E-905D-5731700CF1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610590B2-56A2-B10F-D3FB-F551C4D646E3}"/>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F0A2D9CD-C2DD-29E6-9380-EF6815BE4B3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6287D80F-4125-8FEA-1718-A7415280D208}"/>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22629DFD-4497-38C2-CF56-0736D85B365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67D1177D-12E2-050E-9E26-D38A2CCF56C1}"/>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4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1155887318"/>
              </p:ext>
            </p:extLst>
          </p:nvPr>
        </p:nvGraphicFramePr>
        <p:xfrm>
          <a:off x="381000" y="1015000"/>
          <a:ext cx="11430000" cy="5055404"/>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000256">
                <a:tc>
                  <a:txBody>
                    <a:bodyPr/>
                    <a:lstStyle/>
                    <a:p>
                      <a:pPr marL="0" indent="0" algn="l">
                        <a:lnSpc>
                          <a:spcPct val="104000"/>
                        </a:lnSpc>
                        <a:spcBef>
                          <a:spcPts val="30"/>
                        </a:spcBef>
                        <a:buNone/>
                      </a:pPr>
                      <a:r>
                        <a:rPr lang="es" sz="800" b="1" i="0" dirty="0">
                          <a:solidFill>
                            <a:srgbClr val="9B7BC7"/>
                          </a:solidFill>
                          <a:latin typeface="Graphik"/>
                          <a:cs typeface="Graphik"/>
                        </a:rPr>
                        <a:t>11.1  </a:t>
                      </a:r>
                      <a:r>
                        <a:rPr lang="es" sz="800" b="1" i="0" dirty="0">
                          <a:solidFill>
                            <a:srgbClr val="7500C0"/>
                          </a:solidFill>
                          <a:latin typeface="Graphik"/>
                          <a:cs typeface="Graphik"/>
                        </a:rPr>
                        <a:t>Catálogo de datos y modelado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Descubrimiento, descripción, gobernanza y gestión de calidad de los activos de datos: catálogo e inventario, metadatos (pasivos, en tiempo de ejecución y activos), linaje, enriquecimiento semántico, perfilado y control de acceso y privacidad.</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Los datos solo pueden compartirse de forma segura si están descritos y regulados; El catálogo es lo que hace que una capa de datos compartida sea utilizable por equipos que no crearon los datos.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Centro de Datos de Temenos (TDH)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Feeds Risklogic/Bajaware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datos/controles de privacidad</a:t>
                      </a:r>
                    </a:p>
                  </a:txBody>
                  <a:tcPr marL="82000" marR="82000" marT="38000" marB="38000" anchor="ctr">
                    <a:solidFill>
                      <a:srgbClr val="FFFFFF"/>
                    </a:solidFill>
                  </a:tcPr>
                </a:tc>
                <a:extLst>
                  <a:ext uri="{0D108BD9-81ED-4DB2-BD59-A6C34878D82A}">
                    <a16:rowId xmlns:a16="http://schemas.microsoft.com/office/drawing/2014/main" val="10001"/>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11.2  </a:t>
                      </a:r>
                      <a:r>
                        <a:rPr lang="es" sz="800" b="1" i="0" dirty="0">
                          <a:solidFill>
                            <a:srgbClr val="7500C0"/>
                          </a:solidFill>
                          <a:latin typeface="Graphik"/>
                          <a:cs typeface="Graphik"/>
                        </a:rPr>
                        <a:t>Canalizaciones y Entrega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Movimiento de datos entre fuentes, almacenes y consumidores con la latencia requerida: integración por lotes, integración de flujos, replicación y acceso virtualizado, desde sistemas heredados, archivos, lagos, almacenes en la nube y proveedores externos.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La tubería física del desacoplamiento de datos; Es lo que permite que los consumidores sean atendidos sin darles acceso a los sistemas de registro.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 ETL/ELT</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TDH</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Extracción de PISA/Informix</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Pipelines por lotes/COB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Monitorización de DataDog</a:t>
                      </a:r>
                    </a:p>
                  </a:txBody>
                  <a:tcPr marL="82000" marR="82000" marT="38000" marB="38000" anchor="ctr">
                    <a:solidFill>
                      <a:srgbClr val="F6F2FB"/>
                    </a:solidFill>
                  </a:tcPr>
                </a:tc>
                <a:extLst>
                  <a:ext uri="{0D108BD9-81ED-4DB2-BD59-A6C34878D82A}">
                    <a16:rowId xmlns:a16="http://schemas.microsoft.com/office/drawing/2014/main" val="10002"/>
                  </a:ext>
                </a:extLst>
              </a:tr>
              <a:tr h="1151132">
                <a:tc>
                  <a:txBody>
                    <a:bodyPr/>
                    <a:lstStyle/>
                    <a:p>
                      <a:pPr marL="0" indent="0" algn="l">
                        <a:lnSpc>
                          <a:spcPct val="104000"/>
                        </a:lnSpc>
                        <a:spcBef>
                          <a:spcPts val="30"/>
                        </a:spcBef>
                        <a:buNone/>
                      </a:pPr>
                      <a:r>
                        <a:rPr lang="es" sz="800" b="1" i="0" dirty="0">
                          <a:solidFill>
                            <a:srgbClr val="9B7BC7"/>
                          </a:solidFill>
                          <a:latin typeface="Graphik"/>
                          <a:cs typeface="Graphik"/>
                        </a:rPr>
                        <a:t>11.3  </a:t>
                      </a:r>
                      <a:r>
                        <a:rPr lang="es" sz="800" b="1" i="0" dirty="0">
                          <a:solidFill>
                            <a:srgbClr val="7500C0"/>
                          </a:solidFill>
                          <a:latin typeface="Graphik"/>
                          <a:cs typeface="Graphik"/>
                        </a:rPr>
                        <a:t>Almacenamiento de Datos Operativo y Modelo Unificado de Datos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Un modelo de datos operativos estandarizado que ofrece una visión en tiempo real y multifuente de las principales entidades empresariales, consolidado entre núcleos heredados y de próxima generación y que sirve para los consumidores como capa de datos del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Esto es el desacoplador en términos de datos. Mantener una visión estandarizada en tiempo real consolidada a partir de núcleos de primera categoría significa que los consumidores no están atados a un solo núcleo y ningún consumidor necesita acceso directo a mainframe, el mecanismo que más reduce los plazos y riesgos de modernización de núcleos.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Record/Party-CIF</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Datos maestros heredados de Informix/PISA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TDH</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YugabyteDB/Oracle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consolidación cross-core a través de APIs y DataStage</a:t>
                      </a:r>
                    </a:p>
                  </a:txBody>
                  <a:tcPr marL="82000" marR="82000" marT="38000" marB="38000" anchor="ctr">
                    <a:solidFill>
                      <a:srgbClr val="FFFFFF"/>
                    </a:solidFill>
                  </a:tcPr>
                </a:tc>
                <a:extLst>
                  <a:ext uri="{0D108BD9-81ED-4DB2-BD59-A6C34878D82A}">
                    <a16:rowId xmlns:a16="http://schemas.microsoft.com/office/drawing/2014/main" val="10003"/>
                  </a:ext>
                </a:extLst>
              </a:tr>
              <a:tr h="1452884">
                <a:tc>
                  <a:txBody>
                    <a:bodyPr/>
                    <a:lstStyle/>
                    <a:p>
                      <a:pPr marL="0" indent="0" algn="l">
                        <a:lnSpc>
                          <a:spcPct val="104000"/>
                        </a:lnSpc>
                        <a:spcBef>
                          <a:spcPts val="30"/>
                        </a:spcBef>
                        <a:buNone/>
                      </a:pPr>
                      <a:r>
                        <a:rPr lang="es" sz="800" b="1" i="0" dirty="0">
                          <a:solidFill>
                            <a:srgbClr val="9B7BC7"/>
                          </a:solidFill>
                          <a:latin typeface="Graphik"/>
                          <a:cs typeface="Graphik"/>
                        </a:rPr>
                        <a:t>11.4  </a:t>
                      </a:r>
                      <a:r>
                        <a:rPr lang="es" sz="800" b="1" i="0" dirty="0">
                          <a:solidFill>
                            <a:srgbClr val="7500C0"/>
                          </a:solidFill>
                          <a:latin typeface="Graphik"/>
                          <a:cs typeface="Graphik"/>
                        </a:rPr>
                        <a:t>Servicios de Consumo de Datos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La superficie de consumo sobre la capa de datos: APIs de datos, fuentes de análisis e informes, y provisión sandbox gobernada para trabajos exploratorios y de desarrollo de modelos.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Garantiza que la inversión en la entrega de datos se convierta en uso; Sin rutas de consumo gobernadas, los equipos vuelven al acceso directo al código fuente y recrean el acoplamiento que se eliminó.</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DataStage</a:t>
                      </a:r>
                    </a:p>
                    <a:p>
                      <a:pPr marL="150000" indent="-150000" algn="l">
                        <a:lnSpc>
                          <a:spcPct val="104000"/>
                        </a:lnSpc>
                        <a:spcBef>
                          <a:spcPts val="45"/>
                        </a:spcBef>
                        <a:buClr>
                          <a:srgbClr val="7500C0"/>
                        </a:buClr>
                        <a:buFont typeface="Arial"/>
                        <a:buChar char="▪"/>
                      </a:pPr>
                      <a:r>
                        <a:rPr lang="es-ES" sz="700" b="0" i="0" dirty="0">
                          <a:solidFill>
                            <a:srgbClr val="4B2E83"/>
                          </a:solidFill>
                          <a:latin typeface="+mn-lt"/>
                          <a:cs typeface="Graphik"/>
                        </a:rPr>
                        <a:t>Data </a:t>
                      </a:r>
                      <a:r>
                        <a:rPr lang="es-ES" sz="700" b="0" i="0" dirty="0" err="1">
                          <a:solidFill>
                            <a:srgbClr val="4B2E83"/>
                          </a:solidFill>
                          <a:latin typeface="+mn-lt"/>
                          <a:cs typeface="Graphik"/>
                        </a:rPr>
                        <a:t>Warehouse</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Data 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YugabyteDB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Informix/PISA</a:t>
                      </a:r>
                    </a:p>
                    <a:p>
                      <a:pPr marL="150000" indent="-150000" algn="l">
                        <a:lnSpc>
                          <a:spcPct val="104000"/>
                        </a:lnSpc>
                        <a:spcBef>
                          <a:spcPts val="45"/>
                        </a:spcBef>
                        <a:buClr>
                          <a:srgbClr val="7500C0"/>
                        </a:buClr>
                        <a:buFont typeface="Arial"/>
                        <a:buChar char="▪"/>
                      </a:pPr>
                      <a:r>
                        <a:rPr lang="es-ES" sz="700" b="0" i="0" dirty="0">
                          <a:solidFill>
                            <a:srgbClr val="4B2E83"/>
                          </a:solidFill>
                          <a:latin typeface="Graphik"/>
                          <a:cs typeface="Graphik"/>
                        </a:rPr>
                        <a:t>Oracle</a:t>
                      </a:r>
                      <a:endParaRPr lang="es" sz="700" b="0" i="0" dirty="0">
                        <a:solidFill>
                          <a:srgbClr val="4B2E83"/>
                        </a:solidFill>
                        <a:latin typeface="Graphik"/>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OnBase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Bajaware/Risklogic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Golden Record</a:t>
                      </a:r>
                    </a:p>
                  </a:txBody>
                  <a:tcPr marL="82000" marR="82000" marT="38000" marB="38000" anchor="ctr">
                    <a:solidFill>
                      <a:srgbClr val="F6F2FB"/>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6CBBA98-79C9-C5DA-C866-C87235A35BD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6" name="Group 5">
            <a:extLst>
              <a:ext uri="{FF2B5EF4-FFF2-40B4-BE49-F238E27FC236}">
                <a16:creationId xmlns:a16="http://schemas.microsoft.com/office/drawing/2014/main" id="{FE1E6109-AC62-8083-2F73-C21EE1569339}"/>
              </a:ext>
            </a:extLst>
          </p:cNvPr>
          <p:cNvGrpSpPr/>
          <p:nvPr/>
        </p:nvGrpSpPr>
        <p:grpSpPr>
          <a:xfrm>
            <a:off x="717042" y="6191083"/>
            <a:ext cx="4001014" cy="631639"/>
            <a:chOff x="717042" y="6191083"/>
            <a:chExt cx="4001014" cy="631639"/>
          </a:xfrm>
        </p:grpSpPr>
        <p:sp>
          <p:nvSpPr>
            <p:cNvPr id="7" name="Rectangle 6">
              <a:extLst>
                <a:ext uri="{FF2B5EF4-FFF2-40B4-BE49-F238E27FC236}">
                  <a16:creationId xmlns:a16="http://schemas.microsoft.com/office/drawing/2014/main" id="{764ADA37-BEF6-17A2-8FD7-009687C1A7E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8" name="Rectangle 7">
              <a:extLst>
                <a:ext uri="{FF2B5EF4-FFF2-40B4-BE49-F238E27FC236}">
                  <a16:creationId xmlns:a16="http://schemas.microsoft.com/office/drawing/2014/main" id="{5E712192-1943-1E7D-0B7D-CC7E769EB2B5}"/>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9" name="Rectangle 8">
              <a:extLst>
                <a:ext uri="{FF2B5EF4-FFF2-40B4-BE49-F238E27FC236}">
                  <a16:creationId xmlns:a16="http://schemas.microsoft.com/office/drawing/2014/main" id="{CE08221C-A07A-0297-7BD4-4B583DCB04F8}"/>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0" name="Oval 9">
              <a:extLst>
                <a:ext uri="{FF2B5EF4-FFF2-40B4-BE49-F238E27FC236}">
                  <a16:creationId xmlns:a16="http://schemas.microsoft.com/office/drawing/2014/main" id="{E7764C78-2511-D388-69FA-C0A0653CA88A}"/>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1" name="Rectangle 10">
              <a:extLst>
                <a:ext uri="{FF2B5EF4-FFF2-40B4-BE49-F238E27FC236}">
                  <a16:creationId xmlns:a16="http://schemas.microsoft.com/office/drawing/2014/main" id="{50D291EF-8A2F-5A1C-0FEC-93721668A914}"/>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12" name="Rectangle 11">
              <a:extLst>
                <a:ext uri="{FF2B5EF4-FFF2-40B4-BE49-F238E27FC236}">
                  <a16:creationId xmlns:a16="http://schemas.microsoft.com/office/drawing/2014/main" id="{CD0AABDF-0CB1-545E-D301-73DFB8CA1870}"/>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13" name="Oval 12">
              <a:extLst>
                <a:ext uri="{FF2B5EF4-FFF2-40B4-BE49-F238E27FC236}">
                  <a16:creationId xmlns:a16="http://schemas.microsoft.com/office/drawing/2014/main" id="{C4B2A0A0-7FA1-4014-0C96-F6E0EE929D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14" name="Oval 13">
              <a:extLst>
                <a:ext uri="{FF2B5EF4-FFF2-40B4-BE49-F238E27FC236}">
                  <a16:creationId xmlns:a16="http://schemas.microsoft.com/office/drawing/2014/main" id="{43747F9B-B148-0F06-6D80-8B95E98D9794}"/>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1800" b="1" i="0" u="none" strike="noStrike" kern="1200" cap="none" spc="0" normalizeH="0" baseline="0" noProof="0" dirty="0">
                <a:ln>
                  <a:noFill/>
                </a:ln>
                <a:solidFill>
                  <a:srgbClr val="000000"/>
                </a:solidFill>
                <a:effectLst/>
                <a:uLnTx/>
                <a:uFillTx/>
                <a:latin typeface="Graphik"/>
                <a:ea typeface="+mj-ea"/>
                <a:cs typeface="+mj-cs"/>
              </a:rPr>
              <a:t>Procesamiento de eventos y componentes reactivos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a:solidFill>
                  <a:srgbClr val="7500C0"/>
                </a:solidFill>
                <a:latin typeface="Graphik"/>
                <a:cs typeface="Graphik"/>
              </a:rPr>
              <a:t>CAPACIDAD DE DOMINIO |    6 SUBCAPACIDADES</a:t>
            </a:r>
          </a:p>
        </p:txBody>
      </p:sp>
      <p:graphicFrame>
        <p:nvGraphicFramePr>
          <p:cNvPr id="100" name="DetailTable"/>
          <p:cNvGraphicFramePr>
            <a:graphicFrameLocks noGrp="1"/>
          </p:cNvGraphicFramePr>
          <p:nvPr>
            <p:extLst>
              <p:ext uri="{D42A27DB-BD31-4B8C-83A1-F6EECF244321}">
                <p14:modId xmlns:p14="http://schemas.microsoft.com/office/powerpoint/2010/main" val="4271267861"/>
              </p:ext>
            </p:extLst>
          </p:nvPr>
        </p:nvGraphicFramePr>
        <p:xfrm>
          <a:off x="381000" y="1015000"/>
          <a:ext cx="11430000" cy="4943652"/>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849380">
                <a:tc>
                  <a:txBody>
                    <a:bodyPr/>
                    <a:lstStyle/>
                    <a:p>
                      <a:pPr marL="0" indent="0" algn="l">
                        <a:lnSpc>
                          <a:spcPct val="104000"/>
                        </a:lnSpc>
                        <a:spcBef>
                          <a:spcPts val="30"/>
                        </a:spcBef>
                        <a:buNone/>
                      </a:pPr>
                      <a:r>
                        <a:rPr lang="es" sz="800" b="1" i="0">
                          <a:solidFill>
                            <a:srgbClr val="9B7BC7"/>
                          </a:solidFill>
                          <a:latin typeface="Graphik"/>
                          <a:cs typeface="Graphik"/>
                        </a:rPr>
                        <a:t>12.1  </a:t>
                      </a:r>
                      <a:r>
                        <a:rPr lang="es" sz="800" b="1" i="0">
                          <a:solidFill>
                            <a:srgbClr val="7500C0"/>
                          </a:solidFill>
                          <a:latin typeface="Graphik"/>
                          <a:cs typeface="Graphik"/>
                        </a:rPr>
                        <a:t>Mensajería de eventos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Publicar y suscribirse a mensajes entre componentes, incluyendo la administración de temas y colas, y el puente entre las múltiples tecnologías de mensajería que normalmente existen en un banco.</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Sustituye el acoplamiento bilateral y síncrono por un canal asíncrono compartido, de modo que productores y consumidores puedan cambiar de forma independiente.</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Marco de Eventos Temenos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Procesador de eventos/Router de eventos/Limpieza de eventos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MuleSoft para la mensajería de integración</a:t>
                      </a:r>
                    </a:p>
                  </a:txBody>
                  <a:tcPr marL="82000" marR="82000" marT="38000" marB="38000" anchor="ctr">
                    <a:solidFill>
                      <a:srgbClr val="FFFFFF"/>
                    </a:solidFill>
                  </a:tcPr>
                </a:tc>
                <a:extLst>
                  <a:ext uri="{0D108BD9-81ED-4DB2-BD59-A6C34878D82A}">
                    <a16:rowId xmlns:a16="http://schemas.microsoft.com/office/drawing/2014/main" val="10001"/>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12.2  </a:t>
                      </a:r>
                      <a:r>
                        <a:rPr lang="es" sz="800" b="1" i="0">
                          <a:solidFill>
                            <a:srgbClr val="7500C0"/>
                          </a:solidFill>
                          <a:latin typeface="Graphik"/>
                          <a:cs typeface="Graphik"/>
                        </a:rPr>
                        <a:t>Retransmisión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Flujos de eventos de alto rendimiento, duraderos y reproducibles con retención, partición y procesamiento continuo de flujos, incluyendo procesamiento complejo de eventos a lo largo de múltiples flujos.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Proporciona la capacidad de movimiento de datos en tiempo real de la cual dependen la agregación de datos multinúcleo, la descarga de lecturas y el contexto en tiempo real del cliente.</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Temenos Events Framework con eventos como depósitoCreado/préstamo atrasado/nóminaCrédito</a:t>
                      </a:r>
                    </a:p>
                  </a:txBody>
                  <a:tcPr marL="82000" marR="82000" marT="38000" marB="38000" anchor="ctr">
                    <a:solidFill>
                      <a:srgbClr val="F6F2FB"/>
                    </a:solidFill>
                  </a:tcPr>
                </a:tc>
                <a:extLst>
                  <a:ext uri="{0D108BD9-81ED-4DB2-BD59-A6C34878D82A}">
                    <a16:rowId xmlns:a16="http://schemas.microsoft.com/office/drawing/2014/main" val="10002"/>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12.3  </a:t>
                      </a:r>
                      <a:r>
                        <a:rPr lang="es" sz="800" b="1" i="0">
                          <a:solidFill>
                            <a:srgbClr val="7500C0"/>
                          </a:solidFill>
                          <a:latin typeface="Graphik"/>
                          <a:cs typeface="Graphik"/>
                        </a:rPr>
                        <a:t>Entrega Garantizada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Mecanismos de garantía de entrega —acuse de reconocimiento, control de idempotencia, reentrega y gestión de cartas muertas— que hacen que la integración asincrónica sea segura para eventos financieros.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desacoplamiento asíncrono solo es aceptable en banca si la entrega es demostrable; Esta capacidad es lo que hace que los eventos sean útiles para la contabilidad y los flujos de pago.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Patrones Kafka/Confluent y Amazon MQ</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ningún producto de dead</a:t>
                      </a:r>
                      <a:r>
                        <a:rPr lang="en-US" sz="700" b="0" i="0" dirty="0">
                          <a:solidFill>
                            <a:srgbClr val="4B2E83"/>
                          </a:solidFill>
                          <a:latin typeface="Graphik"/>
                          <a:cs typeface="Graphik"/>
                        </a:rPr>
                        <a:t>-</a:t>
                      </a:r>
                      <a:r>
                        <a:rPr lang="es" sz="700" b="0" i="0" dirty="0">
                          <a:solidFill>
                            <a:srgbClr val="4B2E83"/>
                          </a:solidFill>
                          <a:latin typeface="Graphik"/>
                          <a:cs typeface="Graphik"/>
                        </a:rPr>
                        <a:t>letter/idempotencia con nombre</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La garantía de entrega debe estar cubierta por los controles de la plataforma de eventos</a:t>
                      </a:r>
                    </a:p>
                  </a:txBody>
                  <a:tcPr marL="82000" marR="82000" marT="38000" marB="38000" anchor="ctr">
                    <a:solidFill>
                      <a:srgbClr val="FFFFFF"/>
                    </a:solidFill>
                  </a:tcPr>
                </a:tc>
                <a:extLst>
                  <a:ext uri="{0D108BD9-81ED-4DB2-BD59-A6C34878D82A}">
                    <a16:rowId xmlns:a16="http://schemas.microsoft.com/office/drawing/2014/main" val="10003"/>
                  </a:ext>
                </a:extLst>
              </a:tr>
              <a:tr h="698504">
                <a:tc>
                  <a:txBody>
                    <a:bodyPr/>
                    <a:lstStyle/>
                    <a:p>
                      <a:pPr marL="0" indent="0" algn="l">
                        <a:lnSpc>
                          <a:spcPct val="104000"/>
                        </a:lnSpc>
                        <a:spcBef>
                          <a:spcPts val="30"/>
                        </a:spcBef>
                        <a:buNone/>
                      </a:pPr>
                      <a:r>
                        <a:rPr lang="es" sz="800" b="1" i="0" dirty="0">
                          <a:solidFill>
                            <a:srgbClr val="9B7BC7"/>
                          </a:solidFill>
                          <a:latin typeface="+mn-lt"/>
                          <a:cs typeface="Graphik"/>
                        </a:rPr>
                        <a:t>12.4  </a:t>
                      </a:r>
                      <a:r>
                        <a:rPr lang="es" sz="800" b="1" i="0" dirty="0">
                          <a:solidFill>
                            <a:srgbClr val="7500C0"/>
                          </a:solidFill>
                          <a:latin typeface="Graphik"/>
                          <a:cs typeface="Graphik"/>
                        </a:rPr>
                        <a:t>Registro de Eventos y Gobernanza de Contratos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Catálogo autorizado de definiciones de eventos y esquemas canónicos, con versionado, reglas de compatibilidad y registro de consumidores.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equivalente asíncrono de la gestión del ciclo de vida de las APIs; Sin ella, una columna vertebral de eventos se degrada en una malla no documentada de formatos de mensajes privados.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Gobernanza de BIAN/API/eventos</a:t>
                      </a:r>
                    </a:p>
                    <a:p>
                      <a:pPr marL="150000" indent="-150000" algn="l">
                        <a:lnSpc>
                          <a:spcPct val="104000"/>
                        </a:lnSpc>
                        <a:spcBef>
                          <a:spcPts val="45"/>
                        </a:spcBef>
                        <a:buClr>
                          <a:srgbClr val="7500C0"/>
                        </a:buClr>
                        <a:buFont typeface="Arial"/>
                        <a:buChar char="▪"/>
                      </a:pPr>
                      <a:r>
                        <a:rPr lang="es-ES" sz="700" b="0" i="0" dirty="0" err="1">
                          <a:solidFill>
                            <a:srgbClr val="4B2E83"/>
                          </a:solidFill>
                          <a:latin typeface="+mn-lt"/>
                          <a:cs typeface="Graphik"/>
                        </a:rPr>
                        <a:t>Confluent</a:t>
                      </a:r>
                      <a:r>
                        <a:rPr lang="es-ES" sz="700" b="0" i="0" dirty="0">
                          <a:solidFill>
                            <a:srgbClr val="4B2E83"/>
                          </a:solidFill>
                          <a:latin typeface="+mn-lt"/>
                          <a:cs typeface="Graphik"/>
                        </a:rPr>
                        <a:t>/Kafka </a:t>
                      </a:r>
                      <a:r>
                        <a:rPr lang="es-ES" sz="700" b="0" i="0" dirty="0" err="1">
                          <a:solidFill>
                            <a:srgbClr val="4B2E83"/>
                          </a:solidFill>
                          <a:latin typeface="+mn-lt"/>
                          <a:cs typeface="Graphik"/>
                        </a:rPr>
                        <a:t>stack</a:t>
                      </a:r>
                      <a:endParaRPr lang="es-ES" sz="700" b="0" i="0" dirty="0">
                        <a:solidFill>
                          <a:srgbClr val="4B2E83"/>
                        </a:solidFill>
                        <a:latin typeface="+mn-lt"/>
                        <a:cs typeface="Graphik"/>
                      </a:endParaRP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No se evidencia explícitamente ningún producto de registro o catálogo de esquemas separados</a:t>
                      </a:r>
                    </a:p>
                  </a:txBody>
                  <a:tcPr marL="82000" marR="82000" marT="38000" marB="38000" anchor="ctr">
                    <a:solidFill>
                      <a:srgbClr val="F6F2FB"/>
                    </a:solidFill>
                  </a:tcPr>
                </a:tc>
                <a:extLst>
                  <a:ext uri="{0D108BD9-81ED-4DB2-BD59-A6C34878D82A}">
                    <a16:rowId xmlns:a16="http://schemas.microsoft.com/office/drawing/2014/main" val="10004"/>
                  </a:ext>
                </a:extLst>
              </a:tr>
              <a:tr h="849380">
                <a:tc>
                  <a:txBody>
                    <a:bodyPr/>
                    <a:lstStyle/>
                    <a:p>
                      <a:pPr marL="0" indent="0" algn="l">
                        <a:lnSpc>
                          <a:spcPct val="104000"/>
                        </a:lnSpc>
                        <a:spcBef>
                          <a:spcPts val="30"/>
                        </a:spcBef>
                        <a:buNone/>
                      </a:pPr>
                      <a:r>
                        <a:rPr lang="es" sz="800" b="1" i="0">
                          <a:solidFill>
                            <a:srgbClr val="9B7BC7"/>
                          </a:solidFill>
                          <a:latin typeface="+mn-lt"/>
                          <a:cs typeface="Graphik"/>
                        </a:rPr>
                        <a:t>12.5  </a:t>
                      </a:r>
                      <a:r>
                        <a:rPr lang="es" sz="800" b="1" i="0">
                          <a:solidFill>
                            <a:srgbClr val="7500C0"/>
                          </a:solidFill>
                          <a:latin typeface="Graphik"/>
                          <a:cs typeface="Graphik"/>
                        </a:rPr>
                        <a:t>Malla de eventos y enrutamiento</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Enrutamiento en clústeres y basado en políticas de eventos entre dominios, entornos, regiones y entidades, presentando un único tejido lógico de eventos sobre infraestructura distribuida.</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a:solidFill>
                            <a:srgbClr val="444444"/>
                          </a:solidFill>
                          <a:latin typeface="Graphik"/>
                          <a:cs typeface="Graphik"/>
                        </a:rPr>
                        <a:t>El mecanismo mediante el cual un grupo multi-entidad y multipaís comparte información en tiempo real sin construir vínculos bilaterales entre cada par de plataformas.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Kafka/Confluent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Kinesis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Consideraciones multirregión/DR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Enrutamiento de eventos mediante Event Router y capa de integración</a:t>
                      </a:r>
                    </a:p>
                  </a:txBody>
                  <a:tcPr marL="82000" marR="82000" marT="38000" marB="38000" anchor="ctr">
                    <a:solidFill>
                      <a:srgbClr val="FFFFFF"/>
                    </a:solidFill>
                  </a:tcPr>
                </a:tc>
                <a:extLst>
                  <a:ext uri="{0D108BD9-81ED-4DB2-BD59-A6C34878D82A}">
                    <a16:rowId xmlns:a16="http://schemas.microsoft.com/office/drawing/2014/main" val="10005"/>
                  </a:ext>
                </a:extLst>
              </a:tr>
              <a:tr h="698504">
                <a:tc>
                  <a:txBody>
                    <a:bodyPr/>
                    <a:lstStyle/>
                    <a:p>
                      <a:pPr marL="0" indent="0" algn="l">
                        <a:lnSpc>
                          <a:spcPct val="104000"/>
                        </a:lnSpc>
                        <a:spcBef>
                          <a:spcPts val="30"/>
                        </a:spcBef>
                        <a:buNone/>
                      </a:pPr>
                      <a:r>
                        <a:rPr lang="es" sz="800" b="1" i="0">
                          <a:solidFill>
                            <a:srgbClr val="9B7BC7"/>
                          </a:solidFill>
                          <a:latin typeface="+mn-lt"/>
                          <a:cs typeface="Graphik"/>
                        </a:rPr>
                        <a:t>12.6  </a:t>
                      </a:r>
                      <a:r>
                        <a:rPr lang="es" sz="800" b="1" i="0">
                          <a:solidFill>
                            <a:srgbClr val="7500C0"/>
                          </a:solidFill>
                          <a:latin typeface="Graphik"/>
                          <a:cs typeface="Graphik"/>
                        </a:rPr>
                        <a:t>Monitorización de Eventos</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Monitorización operativa de la columna vertebral de eventos - rendimiento, retraso del consumidor, tasas de error, violaciones del esquema - y trazabilidad de eventos individuales para auditoría e investigación.</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Los flujos asíncronos fallan silenciosamente por naturaleza; La monitorización es lo que convierte a los usuarios de un punto ciego operativo a un canal gobernado.</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Objetivo de monitorización de flujo de eventos/retardo del consumidor de DataDog</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Exabeam/CloudTrail para auditoría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Telemetría de procesador/router de eventos</a:t>
                      </a:r>
                    </a:p>
                  </a:txBody>
                  <a:tcPr marL="82000" marR="82000" marT="38000" marB="38000" anchor="ctr">
                    <a:solidFill>
                      <a:srgbClr val="F6F2FB"/>
                    </a:solidFill>
                  </a:tcPr>
                </a:tc>
                <a:extLst>
                  <a:ext uri="{0D108BD9-81ED-4DB2-BD59-A6C34878D82A}">
                    <a16:rowId xmlns:a16="http://schemas.microsoft.com/office/drawing/2014/main" val="10006"/>
                  </a:ext>
                </a:extLst>
              </a:tr>
            </a:tbl>
          </a:graphicData>
        </a:graphic>
      </p:graphicFrame>
      <p:sp>
        <p:nvSpPr>
          <p:cNvPr id="10" name="TextBox 9">
            <a:extLst>
              <a:ext uri="{FF2B5EF4-FFF2-40B4-BE49-F238E27FC236}">
                <a16:creationId xmlns:a16="http://schemas.microsoft.com/office/drawing/2014/main" id="{571DEB08-D0CE-F8AE-EBDB-188B00455B0F}"/>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12" name="Group 11">
            <a:extLst>
              <a:ext uri="{FF2B5EF4-FFF2-40B4-BE49-F238E27FC236}">
                <a16:creationId xmlns:a16="http://schemas.microsoft.com/office/drawing/2014/main" id="{BE2FAA20-FABF-87CB-3DE2-EE2E1F0271C9}"/>
              </a:ext>
            </a:extLst>
          </p:cNvPr>
          <p:cNvGrpSpPr/>
          <p:nvPr/>
        </p:nvGrpSpPr>
        <p:grpSpPr>
          <a:xfrm>
            <a:off x="717042" y="6191083"/>
            <a:ext cx="4001014" cy="631639"/>
            <a:chOff x="717042" y="6191083"/>
            <a:chExt cx="4001014" cy="631639"/>
          </a:xfrm>
        </p:grpSpPr>
        <p:sp>
          <p:nvSpPr>
            <p:cNvPr id="14" name="Rectangle 13">
              <a:extLst>
                <a:ext uri="{FF2B5EF4-FFF2-40B4-BE49-F238E27FC236}">
                  <a16:creationId xmlns:a16="http://schemas.microsoft.com/office/drawing/2014/main" id="{5BE141AF-44FD-BDCD-B7BC-2A665358DDCC}"/>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6" name="Rectangle 15">
              <a:extLst>
                <a:ext uri="{FF2B5EF4-FFF2-40B4-BE49-F238E27FC236}">
                  <a16:creationId xmlns:a16="http://schemas.microsoft.com/office/drawing/2014/main" id="{D779C904-72C8-19D5-5DC9-5CDEB191CF92}"/>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8" name="Rectangle 17">
              <a:extLst>
                <a:ext uri="{FF2B5EF4-FFF2-40B4-BE49-F238E27FC236}">
                  <a16:creationId xmlns:a16="http://schemas.microsoft.com/office/drawing/2014/main" id="{51D0EBB9-4CBB-CE0B-117B-40127BAA5DFF}"/>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20" name="Oval 19">
              <a:extLst>
                <a:ext uri="{FF2B5EF4-FFF2-40B4-BE49-F238E27FC236}">
                  <a16:creationId xmlns:a16="http://schemas.microsoft.com/office/drawing/2014/main" id="{CCF4CDAD-A136-BC84-CFF3-A041AB0A2EC0}"/>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21" name="Rectangle 20">
              <a:extLst>
                <a:ext uri="{FF2B5EF4-FFF2-40B4-BE49-F238E27FC236}">
                  <a16:creationId xmlns:a16="http://schemas.microsoft.com/office/drawing/2014/main" id="{BC8857D8-48AA-3148-C15F-DB065FA3AB18}"/>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2" name="Rectangle 21">
              <a:extLst>
                <a:ext uri="{FF2B5EF4-FFF2-40B4-BE49-F238E27FC236}">
                  <a16:creationId xmlns:a16="http://schemas.microsoft.com/office/drawing/2014/main" id="{FDBB3BB2-22D5-FB4A-3165-E9DE22AB8A53}"/>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4" name="Oval 23">
              <a:extLst>
                <a:ext uri="{FF2B5EF4-FFF2-40B4-BE49-F238E27FC236}">
                  <a16:creationId xmlns:a16="http://schemas.microsoft.com/office/drawing/2014/main" id="{E8106FFC-2442-B460-917B-6EFBB4B9F5D9}"/>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5" name="Oval 24">
              <a:extLst>
                <a:ext uri="{FF2B5EF4-FFF2-40B4-BE49-F238E27FC236}">
                  <a16:creationId xmlns:a16="http://schemas.microsoft.com/office/drawing/2014/main" id="{FE2FCFD9-8294-B3E3-3064-D31C3B8E5AA3}"/>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19FDD-725F-8534-EA90-E2044594B0D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5CB0F6D9-5E92-5EB1-4799-BC6659D85A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3A721E09-FCBD-84FA-9776-B48A42155AF5}"/>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5844AA0A-B29E-375C-3DEA-15A60CE0BEC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 (Pila Tecnológica)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31" name="Kicker"/>
          <p:cNvSpPr txBox="1"/>
          <p:nvPr/>
        </p:nvSpPr>
        <p:spPr>
          <a:xfrm>
            <a:off x="381000" y="775000"/>
            <a:ext cx="10200000" cy="200000"/>
          </a:xfrm>
          <a:prstGeom prst="rect">
            <a:avLst/>
          </a:prstGeom>
        </p:spPr>
        <p:txBody>
          <a:bodyPr lIns="0" tIns="0" rIns="0" bIns="0"/>
          <a:lstStyle/>
          <a:p>
            <a:pPr marL="0" indent="0" algn="l">
              <a:lnSpc>
                <a:spcPct val="104000"/>
              </a:lnSpc>
              <a:spcBef>
                <a:spcPts val="30"/>
              </a:spcBef>
              <a:buNone/>
            </a:pPr>
            <a:r>
              <a:rPr lang="es" sz="1000" b="1" i="0" dirty="0">
                <a:solidFill>
                  <a:srgbClr val="C00000"/>
                </a:solidFill>
                <a:latin typeface="Graphik"/>
                <a:cs typeface="Graphik"/>
              </a:rPr>
              <a:t>NÚCLEO &amp; PLATAFORMA | 5 SUBCAPACIDADES</a:t>
            </a:r>
          </a:p>
        </p:txBody>
      </p:sp>
      <p:sp>
        <p:nvSpPr>
          <p:cNvPr id="130" name="KBadge"/>
          <p:cNvSpPr/>
          <p:nvPr/>
        </p:nvSpPr>
        <p:spPr>
          <a:xfrm>
            <a:off x="10980000" y="392000"/>
            <a:ext cx="300000" cy="300000"/>
          </a:xfrm>
          <a:prstGeom prst="ellipse">
            <a:avLst/>
          </a:prstGeom>
          <a:solidFill>
            <a:srgbClr val="C00000"/>
          </a:solidFill>
        </p:spPr>
        <p:txBody>
          <a:bodyPr anchor="ctr"/>
          <a:lstStyle/>
          <a:p>
            <a:pPr marL="0" indent="0" algn="ctr">
              <a:lnSpc>
                <a:spcPct val="104000"/>
              </a:lnSpc>
              <a:spcBef>
                <a:spcPts val="30"/>
              </a:spcBef>
              <a:buNone/>
            </a:pPr>
            <a:r>
              <a:rPr lang="es" sz="1400" b="1" i="0">
                <a:solidFill>
                  <a:srgbClr val="FFFFFF"/>
                </a:solidFill>
                <a:latin typeface="Graphik"/>
                <a:cs typeface="Graphik"/>
              </a:rPr>
              <a:t>K</a:t>
            </a:r>
          </a:p>
        </p:txBody>
      </p:sp>
      <p:graphicFrame>
        <p:nvGraphicFramePr>
          <p:cNvPr id="100" name="DetailTable"/>
          <p:cNvGraphicFramePr>
            <a:graphicFrameLocks noGrp="1"/>
          </p:cNvGraphicFramePr>
          <p:nvPr>
            <p:extLst>
              <p:ext uri="{D42A27DB-BD31-4B8C-83A1-F6EECF244321}">
                <p14:modId xmlns:p14="http://schemas.microsoft.com/office/powerpoint/2010/main" val="2910773373"/>
              </p:ext>
            </p:extLst>
          </p:nvPr>
        </p:nvGraphicFramePr>
        <p:xfrm>
          <a:off x="381000" y="1015000"/>
          <a:ext cx="11430000" cy="5133640"/>
        </p:xfrm>
        <a:graphic>
          <a:graphicData uri="http://schemas.openxmlformats.org/drawingml/2006/table">
            <a:tbl>
              <a:tblPr firstRow="1"/>
              <a:tblGrid>
                <a:gridCol w="1950000">
                  <a:extLst>
                    <a:ext uri="{9D8B030D-6E8A-4147-A177-3AD203B41FA5}">
                      <a16:colId xmlns:a16="http://schemas.microsoft.com/office/drawing/2014/main" val="20000"/>
                    </a:ext>
                  </a:extLst>
                </a:gridCol>
                <a:gridCol w="3450000">
                  <a:extLst>
                    <a:ext uri="{9D8B030D-6E8A-4147-A177-3AD203B41FA5}">
                      <a16:colId xmlns:a16="http://schemas.microsoft.com/office/drawing/2014/main" val="20001"/>
                    </a:ext>
                  </a:extLst>
                </a:gridCol>
                <a:gridCol w="3150000">
                  <a:extLst>
                    <a:ext uri="{9D8B030D-6E8A-4147-A177-3AD203B41FA5}">
                      <a16:colId xmlns:a16="http://schemas.microsoft.com/office/drawing/2014/main" val="20002"/>
                    </a:ext>
                  </a:extLst>
                </a:gridCol>
                <a:gridCol w="2880000">
                  <a:extLst>
                    <a:ext uri="{9D8B030D-6E8A-4147-A177-3AD203B41FA5}">
                      <a16:colId xmlns:a16="http://schemas.microsoft.com/office/drawing/2014/main" val="20003"/>
                    </a:ext>
                  </a:extLst>
                </a:gridCol>
              </a:tblGrid>
              <a:tr h="300000">
                <a:tc>
                  <a:txBody>
                    <a:bodyPr/>
                    <a:lstStyle/>
                    <a:p>
                      <a:pPr marL="0" indent="0" algn="l">
                        <a:lnSpc>
                          <a:spcPct val="104000"/>
                        </a:lnSpc>
                        <a:spcBef>
                          <a:spcPts val="30"/>
                        </a:spcBef>
                        <a:buNone/>
                      </a:pPr>
                      <a:r>
                        <a:rPr lang="es" sz="1000" b="1" i="0" dirty="0">
                          <a:solidFill>
                            <a:srgbClr val="FFFFFF"/>
                          </a:solidFill>
                          <a:latin typeface="Graphik"/>
                          <a:cs typeface="Graphik"/>
                        </a:rPr>
                        <a:t>Subcapacidad</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Descripción</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Propósito</a:t>
                      </a:r>
                    </a:p>
                  </a:txBody>
                  <a:tcPr marL="82000" marR="82000" marT="38000" marB="38000" anchor="ctr">
                    <a:solidFill>
                      <a:srgbClr val="7500C0"/>
                    </a:solidFill>
                  </a:tcPr>
                </a:tc>
                <a:tc>
                  <a:txBody>
                    <a:bodyPr/>
                    <a:lstStyle/>
                    <a:p>
                      <a:pPr marL="0" indent="0" algn="l">
                        <a:lnSpc>
                          <a:spcPct val="104000"/>
                        </a:lnSpc>
                        <a:spcBef>
                          <a:spcPts val="30"/>
                        </a:spcBef>
                        <a:buNone/>
                      </a:pPr>
                      <a:r>
                        <a:rPr lang="es" sz="1000" b="1" i="0">
                          <a:solidFill>
                            <a:srgbClr val="FFFFFF"/>
                          </a:solidFill>
                          <a:latin typeface="Graphik"/>
                          <a:cs typeface="Graphik"/>
                        </a:rPr>
                        <a:t>Soluciones en Coppel</a:t>
                      </a:r>
                    </a:p>
                  </a:txBody>
                  <a:tcPr marL="82000" marR="82000" marT="38000" marB="38000" anchor="ctr">
                    <a:solidFill>
                      <a:srgbClr val="7500C0"/>
                    </a:solidFill>
                  </a:tcPr>
                </a:tc>
                <a:extLst>
                  <a:ext uri="{0D108BD9-81ED-4DB2-BD59-A6C34878D82A}">
                    <a16:rowId xmlns:a16="http://schemas.microsoft.com/office/drawing/2014/main" val="10000"/>
                  </a:ext>
                </a:extLst>
              </a:tr>
              <a:tr h="1100840">
                <a:tc>
                  <a:txBody>
                    <a:bodyPr/>
                    <a:lstStyle/>
                    <a:p>
                      <a:pPr marL="0" indent="0" algn="l">
                        <a:lnSpc>
                          <a:spcPct val="104000"/>
                        </a:lnSpc>
                        <a:spcBef>
                          <a:spcPts val="30"/>
                        </a:spcBef>
                        <a:buNone/>
                      </a:pPr>
                      <a:r>
                        <a:rPr lang="es" sz="800" b="1" i="0" dirty="0">
                          <a:solidFill>
                            <a:srgbClr val="9B7BC7"/>
                          </a:solidFill>
                          <a:latin typeface="Graphik"/>
                          <a:cs typeface="Graphik"/>
                        </a:rPr>
                        <a:t>13.1  </a:t>
                      </a:r>
                      <a:r>
                        <a:rPr lang="es" sz="800" b="1" i="0" dirty="0">
                          <a:solidFill>
                            <a:srgbClr val="7500C0"/>
                          </a:solidFill>
                          <a:latin typeface="Graphik"/>
                          <a:cs typeface="Graphik"/>
                        </a:rPr>
                        <a:t>Marco de Microservicios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El marco de desarrollo y ejecución opinado que aloja servicios autosuficientes independientemente del dominio de negocio, incluyendo librerias base compartidas, entornos de ejecución aprobados por lenguajes, servicios del kernel, descubrimiento de servicios e integración de service mesh.</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marco es donde se heredan las preocupaciones transversales en lugar de reconstruirse; Su calidad establece el techo de productividad para cada equipo de dominio.</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Spring Boot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Microservicios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API/componentes de Temenos DES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ECS/ECS/Color</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Service Mesh Istio</a:t>
                      </a:r>
                    </a:p>
                  </a:txBody>
                  <a:tcPr marL="82000" marR="82000" marT="38000" marB="38000" anchor="ctr">
                    <a:solidFill>
                      <a:srgbClr val="FFFFFF"/>
                    </a:solidFill>
                  </a:tcPr>
                </a:tc>
                <a:extLst>
                  <a:ext uri="{0D108BD9-81ED-4DB2-BD59-A6C34878D82A}">
                    <a16:rowId xmlns:a16="http://schemas.microsoft.com/office/drawing/2014/main" val="10001"/>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13.2  </a:t>
                      </a:r>
                      <a:r>
                        <a:rPr lang="es" sz="800" b="1" i="0">
                          <a:solidFill>
                            <a:srgbClr val="7500C0"/>
                          </a:solidFill>
                          <a:latin typeface="Graphik"/>
                          <a:cs typeface="Graphik"/>
                        </a:rPr>
                        <a:t>Plataforma de contenedor y tiempo de ejecución</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dirty="0">
                          <a:solidFill>
                            <a:srgbClr val="2B2B2B"/>
                          </a:solidFill>
                          <a:latin typeface="Graphik"/>
                          <a:cs typeface="Graphik"/>
                        </a:rPr>
                        <a:t>Orquestación de contenedores, ejecución serverless y gestión de imágenes proporcionan el sustrato elástico de cómputo para componentes de interoperabilidad.</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a:solidFill>
                            <a:srgbClr val="444444"/>
                          </a:solidFill>
                          <a:latin typeface="Graphik"/>
                          <a:cs typeface="Graphik"/>
                        </a:rPr>
                        <a:t>Proporciona agilidad en el despliegue y escalabilidad impulsada por la demanda, y es el vehículo práctico para la portabilidad entre proveedores de nube y entornos híbridos.</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Amazon EKS/Kubernetes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ECS/Fargate para Modyo Connect</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OpenShift referenciado en el panel técnico</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Docker/registro de contenedores</a:t>
                      </a:r>
                    </a:p>
                  </a:txBody>
                  <a:tcPr marL="82000" marR="82000" marT="38000" marB="38000" anchor="ctr">
                    <a:solidFill>
                      <a:srgbClr val="F6F2FB"/>
                    </a:solidFill>
                  </a:tcPr>
                </a:tc>
                <a:extLst>
                  <a:ext uri="{0D108BD9-81ED-4DB2-BD59-A6C34878D82A}">
                    <a16:rowId xmlns:a16="http://schemas.microsoft.com/office/drawing/2014/main" val="10002"/>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13.3  </a:t>
                      </a:r>
                      <a:r>
                        <a:rPr lang="es" sz="800" b="1" i="0">
                          <a:solidFill>
                            <a:srgbClr val="7500C0"/>
                          </a:solidFill>
                          <a:latin typeface="Graphik"/>
                          <a:cs typeface="Graphik"/>
                        </a:rPr>
                        <a:t>Automatización de la configuración de la plataforma</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Provisión y configuración declarativa y automatizada de componentes y entornos de plataforma, incluyendo servicios centralizados de configuración de aplicaciones.</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Elimina la inconsistencia en el entorno que hace que las pruebas distribuidas sean poco fiables y las versiones impredecibles.</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Terraform + Packer + GitHub</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Módulos IaC</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Homologación de Ambientes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posibles patrones Ansible/CloudFormation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Vault/Secrets para la seguridad de configuración</a:t>
                      </a:r>
                    </a:p>
                  </a:txBody>
                  <a:tcPr marL="82000" marR="82000" marT="38000" marB="38000" anchor="ctr">
                    <a:solidFill>
                      <a:srgbClr val="FFFFFF"/>
                    </a:solidFill>
                  </a:tcPr>
                </a:tc>
                <a:extLst>
                  <a:ext uri="{0D108BD9-81ED-4DB2-BD59-A6C34878D82A}">
                    <a16:rowId xmlns:a16="http://schemas.microsoft.com/office/drawing/2014/main" val="10003"/>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13.4  </a:t>
                      </a:r>
                      <a:r>
                        <a:rPr lang="es" sz="800" b="1" i="0">
                          <a:solidFill>
                            <a:srgbClr val="7500C0"/>
                          </a:solidFill>
                          <a:latin typeface="Graphik"/>
                          <a:cs typeface="Graphik"/>
                        </a:rPr>
                        <a:t>Despliegue e ingeniería de lanzamiento</a:t>
                      </a:r>
                    </a:p>
                  </a:txBody>
                  <a:tcPr marL="82000" marR="82000" marT="38000" marB="38000" anchor="ctr">
                    <a:solidFill>
                      <a:srgbClr val="E9DEF4"/>
                    </a:solidFill>
                  </a:tcPr>
                </a:tc>
                <a:tc>
                  <a:txBody>
                    <a:bodyPr/>
                    <a:lstStyle/>
                    <a:p>
                      <a:pPr marL="0" indent="0" algn="l">
                        <a:lnSpc>
                          <a:spcPct val="108000"/>
                        </a:lnSpc>
                        <a:spcBef>
                          <a:spcPts val="30"/>
                        </a:spcBef>
                        <a:buNone/>
                      </a:pPr>
                      <a:r>
                        <a:rPr lang="es" sz="800" b="0" i="0">
                          <a:solidFill>
                            <a:srgbClr val="2B2B2B"/>
                          </a:solidFill>
                          <a:latin typeface="Graphik"/>
                          <a:cs typeface="Graphik"/>
                        </a:rPr>
                        <a:t>Mecánicas automatizadas de compilación, prueba y lanzamiento para componentes de interoperabilidad, incluyendo técnicas de despliegue controlado y pruebas de regresión automatizadas.</a:t>
                      </a:r>
                    </a:p>
                  </a:txBody>
                  <a:tcPr marL="82000" marR="82000" marT="38000" marB="38000" anchor="ctr">
                    <a:solidFill>
                      <a:srgbClr val="F6F2FB"/>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El control del despliegue es lo que hace posible en la práctica una modernización incremental y reversible, y no solo en la hoja de ruta.</a:t>
                      </a:r>
                    </a:p>
                  </a:txBody>
                  <a:tcPr marL="82000" marR="82000" marT="38000" marB="38000" anchor="ctr">
                    <a:solidFill>
                      <a:srgbClr val="F6F2FB"/>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Canalizaciones CI/CD de DevSecOps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GitLab CI o Jenkins bajo decisión</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Listas de Helm</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Pruebas automatizadas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Prácticas de despliegue blue-green/canary</a:t>
                      </a:r>
                    </a:p>
                  </a:txBody>
                  <a:tcPr marL="82000" marR="82000" marT="38000" marB="38000" anchor="ctr">
                    <a:solidFill>
                      <a:srgbClr val="F6F2FB"/>
                    </a:solidFill>
                  </a:tcPr>
                </a:tc>
                <a:extLst>
                  <a:ext uri="{0D108BD9-81ED-4DB2-BD59-A6C34878D82A}">
                    <a16:rowId xmlns:a16="http://schemas.microsoft.com/office/drawing/2014/main" val="10004"/>
                  </a:ext>
                </a:extLst>
              </a:tr>
              <a:tr h="933200">
                <a:tc>
                  <a:txBody>
                    <a:bodyPr/>
                    <a:lstStyle/>
                    <a:p>
                      <a:pPr marL="0" indent="0" algn="l">
                        <a:lnSpc>
                          <a:spcPct val="104000"/>
                        </a:lnSpc>
                        <a:spcBef>
                          <a:spcPts val="30"/>
                        </a:spcBef>
                        <a:buNone/>
                      </a:pPr>
                      <a:r>
                        <a:rPr lang="es" sz="800" b="1" i="0">
                          <a:solidFill>
                            <a:srgbClr val="9B7BC7"/>
                          </a:solidFill>
                          <a:latin typeface="+mn-lt"/>
                          <a:cs typeface="Graphik"/>
                        </a:rPr>
                        <a:t>13.5  </a:t>
                      </a:r>
                      <a:r>
                        <a:rPr lang="es" sz="800" b="1" i="0">
                          <a:solidFill>
                            <a:srgbClr val="7500C0"/>
                          </a:solidFill>
                          <a:latin typeface="Graphik"/>
                          <a:cs typeface="Graphik"/>
                        </a:rPr>
                        <a:t>Resiliencia de infraestructuras</a:t>
                      </a:r>
                    </a:p>
                  </a:txBody>
                  <a:tcPr marL="82000" marR="82000" marT="38000" marB="38000" anchor="ctr">
                    <a:solidFill>
                      <a:srgbClr val="EFE7F7"/>
                    </a:solidFill>
                  </a:tcPr>
                </a:tc>
                <a:tc>
                  <a:txBody>
                    <a:bodyPr/>
                    <a:lstStyle/>
                    <a:p>
                      <a:pPr marL="0" indent="0" algn="l">
                        <a:lnSpc>
                          <a:spcPct val="108000"/>
                        </a:lnSpc>
                        <a:spcBef>
                          <a:spcPts val="30"/>
                        </a:spcBef>
                        <a:buNone/>
                      </a:pPr>
                      <a:r>
                        <a:rPr lang="es" sz="800" b="0" i="0">
                          <a:solidFill>
                            <a:srgbClr val="2B2B2B"/>
                          </a:solidFill>
                          <a:latin typeface="Graphik"/>
                          <a:cs typeface="Graphik"/>
                        </a:rPr>
                        <a:t>Ingeniería y validación de la capacidad de la capa para resistir y recuperarse de fallos en componentes, incluyendo inyección deliberada de fallos, diseño de alta disponibilidad y servicios de recuperación.</a:t>
                      </a:r>
                    </a:p>
                  </a:txBody>
                  <a:tcPr marL="82000" marR="82000" marT="38000" marB="38000" anchor="ctr">
                    <a:solidFill>
                      <a:srgbClr val="FFFFFF"/>
                    </a:solidFill>
                  </a:tcPr>
                </a:tc>
                <a:tc>
                  <a:txBody>
                    <a:bodyPr/>
                    <a:lstStyle/>
                    <a:p>
                      <a:pPr marL="0" indent="0" algn="l">
                        <a:lnSpc>
                          <a:spcPct val="108000"/>
                        </a:lnSpc>
                        <a:spcBef>
                          <a:spcPts val="30"/>
                        </a:spcBef>
                        <a:buNone/>
                      </a:pPr>
                      <a:r>
                        <a:rPr lang="es" sz="800" b="0" i="0" dirty="0">
                          <a:solidFill>
                            <a:srgbClr val="444444"/>
                          </a:solidFill>
                          <a:latin typeface="Graphik"/>
                          <a:cs typeface="Graphik"/>
                        </a:rPr>
                        <a:t>En una arquitectura compuesta, la disponibilidad agregada es producto de muchas dependencias; Por tanto, la resiliencia debe ser diseñada y puesta a prueba, no asumida.</a:t>
                      </a:r>
                    </a:p>
                  </a:txBody>
                  <a:tcPr marL="82000" marR="82000" marT="38000" marB="38000" anchor="ctr">
                    <a:solidFill>
                      <a:srgbClr val="FFFFFF"/>
                    </a:solidFill>
                  </a:tcPr>
                </a:tc>
                <a:tc>
                  <a:txBody>
                    <a:bodyPr/>
                    <a:lstStyle/>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Arquitectura multi-AZ/DR de AWS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Producción and DR Producción environments</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Oracle Data Guard/R-SYNC para SmartVista</a:t>
                      </a:r>
                    </a:p>
                    <a:p>
                      <a:pPr marL="150000" indent="-150000" algn="l">
                        <a:lnSpc>
                          <a:spcPct val="104000"/>
                        </a:lnSpc>
                        <a:spcBef>
                          <a:spcPts val="45"/>
                        </a:spcBef>
                        <a:buClr>
                          <a:srgbClr val="7500C0"/>
                        </a:buClr>
                        <a:buFont typeface="Arial"/>
                        <a:buChar char="▪"/>
                      </a:pPr>
                      <a:r>
                        <a:rPr lang="es" sz="700" b="0" i="0" dirty="0">
                          <a:solidFill>
                            <a:srgbClr val="4B2E83"/>
                          </a:solidFill>
                          <a:latin typeface="Graphik"/>
                          <a:cs typeface="Graphik"/>
                        </a:rPr>
                        <a:t>Copia de seguridad/restauración y DR regional</a:t>
                      </a:r>
                    </a:p>
                  </a:txBody>
                  <a:tcPr marL="82000" marR="82000" marT="38000" marB="38000" anchor="ctr">
                    <a:solidFill>
                      <a:srgbClr val="FFFFFF"/>
                    </a:solidFill>
                  </a:tcPr>
                </a:tc>
                <a:extLst>
                  <a:ext uri="{0D108BD9-81ED-4DB2-BD59-A6C34878D82A}">
                    <a16:rowId xmlns:a16="http://schemas.microsoft.com/office/drawing/2014/main" val="10005"/>
                  </a:ext>
                </a:extLst>
              </a:tr>
            </a:tbl>
          </a:graphicData>
        </a:graphic>
      </p:graphicFrame>
      <p:sp>
        <p:nvSpPr>
          <p:cNvPr id="6" name="TextBox 5">
            <a:extLst>
              <a:ext uri="{FF2B5EF4-FFF2-40B4-BE49-F238E27FC236}">
                <a16:creationId xmlns:a16="http://schemas.microsoft.com/office/drawing/2014/main" id="{4833E7F3-CCAB-0E71-2E8A-215388A54883}"/>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grpSp>
        <p:nvGrpSpPr>
          <p:cNvPr id="8" name="Group 7">
            <a:extLst>
              <a:ext uri="{FF2B5EF4-FFF2-40B4-BE49-F238E27FC236}">
                <a16:creationId xmlns:a16="http://schemas.microsoft.com/office/drawing/2014/main" id="{56776154-BE46-8881-61C8-FB960D578C5C}"/>
              </a:ext>
            </a:extLst>
          </p:cNvPr>
          <p:cNvGrpSpPr/>
          <p:nvPr/>
        </p:nvGrpSpPr>
        <p:grpSpPr>
          <a:xfrm>
            <a:off x="717042" y="6191083"/>
            <a:ext cx="4001014" cy="631639"/>
            <a:chOff x="717042" y="6191083"/>
            <a:chExt cx="4001014" cy="631639"/>
          </a:xfrm>
        </p:grpSpPr>
        <p:sp>
          <p:nvSpPr>
            <p:cNvPr id="10" name="Rectangle 9">
              <a:extLst>
                <a:ext uri="{FF2B5EF4-FFF2-40B4-BE49-F238E27FC236}">
                  <a16:creationId xmlns:a16="http://schemas.microsoft.com/office/drawing/2014/main" id="{C4ED7EE4-5F56-041F-9810-BF3CCA02FDC7}"/>
                </a:ext>
              </a:extLst>
            </p:cNvPr>
            <p:cNvSpPr>
              <a:spLocks noChangeAspect="1"/>
            </p:cNvSpPr>
            <p:nvPr/>
          </p:nvSpPr>
          <p:spPr>
            <a:xfrm>
              <a:off x="1936749" y="6410745"/>
              <a:ext cx="774645" cy="20242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GAP</a:t>
              </a:r>
            </a:p>
          </p:txBody>
        </p:sp>
        <p:sp>
          <p:nvSpPr>
            <p:cNvPr id="12" name="Rectangle 11">
              <a:extLst>
                <a:ext uri="{FF2B5EF4-FFF2-40B4-BE49-F238E27FC236}">
                  <a16:creationId xmlns:a16="http://schemas.microsoft.com/office/drawing/2014/main" id="{5556F91D-9559-C7F1-AEFF-4EC7590FC644}"/>
                </a:ext>
              </a:extLst>
            </p:cNvPr>
            <p:cNvSpPr>
              <a:spLocks noChangeAspect="1"/>
            </p:cNvSpPr>
            <p:nvPr/>
          </p:nvSpPr>
          <p:spPr>
            <a:xfrm>
              <a:off x="1936749" y="6191083"/>
              <a:ext cx="774645" cy="202427"/>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Objetivo</a:t>
              </a:r>
            </a:p>
          </p:txBody>
        </p:sp>
        <p:sp>
          <p:nvSpPr>
            <p:cNvPr id="14" name="Rectangle 13">
              <a:extLst>
                <a:ext uri="{FF2B5EF4-FFF2-40B4-BE49-F238E27FC236}">
                  <a16:creationId xmlns:a16="http://schemas.microsoft.com/office/drawing/2014/main" id="{998DDC07-203F-CC60-07B5-4A2F7134993E}"/>
                </a:ext>
              </a:extLst>
            </p:cNvPr>
            <p:cNvSpPr>
              <a:spLocks noChangeAspect="1"/>
            </p:cNvSpPr>
            <p:nvPr/>
          </p:nvSpPr>
          <p:spPr>
            <a:xfrm>
              <a:off x="1936749" y="6620295"/>
              <a:ext cx="774645" cy="20242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Descartar</a:t>
              </a:r>
            </a:p>
          </p:txBody>
        </p:sp>
        <p:sp>
          <p:nvSpPr>
            <p:cNvPr id="16" name="Oval 15">
              <a:extLst>
                <a:ext uri="{FF2B5EF4-FFF2-40B4-BE49-F238E27FC236}">
                  <a16:creationId xmlns:a16="http://schemas.microsoft.com/office/drawing/2014/main" id="{AF727CD2-29C6-AB2F-D15B-E7CECCFB3779}"/>
                </a:ext>
              </a:extLst>
            </p:cNvPr>
            <p:cNvSpPr>
              <a:spLocks noChangeAspect="1"/>
            </p:cNvSpPr>
            <p:nvPr/>
          </p:nvSpPr>
          <p:spPr>
            <a:xfrm>
              <a:off x="4077214" y="6226238"/>
              <a:ext cx="640842" cy="184507"/>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Alto</a:t>
              </a:r>
            </a:p>
          </p:txBody>
        </p:sp>
        <p:sp>
          <p:nvSpPr>
            <p:cNvPr id="18" name="Rectangle 17">
              <a:extLst>
                <a:ext uri="{FF2B5EF4-FFF2-40B4-BE49-F238E27FC236}">
                  <a16:creationId xmlns:a16="http://schemas.microsoft.com/office/drawing/2014/main" id="{BD0117BF-D69F-BB2B-FF3C-BD056724D287}"/>
                </a:ext>
              </a:extLst>
            </p:cNvPr>
            <p:cNvSpPr>
              <a:spLocks noChangeAspect="1"/>
            </p:cNvSpPr>
            <p:nvPr/>
          </p:nvSpPr>
          <p:spPr>
            <a:xfrm>
              <a:off x="717042" y="628333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Evaluación de capacidades</a:t>
              </a:r>
            </a:p>
          </p:txBody>
        </p:sp>
        <p:sp>
          <p:nvSpPr>
            <p:cNvPr id="20" name="Rectangle 19">
              <a:extLst>
                <a:ext uri="{FF2B5EF4-FFF2-40B4-BE49-F238E27FC236}">
                  <a16:creationId xmlns:a16="http://schemas.microsoft.com/office/drawing/2014/main" id="{0DA7FBDB-1B96-8052-C986-8C45493B86BA}"/>
                </a:ext>
              </a:extLst>
            </p:cNvPr>
            <p:cNvSpPr>
              <a:spLocks noChangeAspect="1"/>
            </p:cNvSpPr>
            <p:nvPr/>
          </p:nvSpPr>
          <p:spPr>
            <a:xfrm>
              <a:off x="2816387" y="6282396"/>
              <a:ext cx="1022032" cy="455578"/>
            </a:xfrm>
            <a:prstGeom prst="rect">
              <a:avLst/>
            </a:prstGeom>
            <a:solidFill>
              <a:srgbClr val="7500C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900"/>
                <a:t>Prioridad</a:t>
              </a:r>
            </a:p>
          </p:txBody>
        </p:sp>
        <p:sp>
          <p:nvSpPr>
            <p:cNvPr id="21" name="Oval 20">
              <a:extLst>
                <a:ext uri="{FF2B5EF4-FFF2-40B4-BE49-F238E27FC236}">
                  <a16:creationId xmlns:a16="http://schemas.microsoft.com/office/drawing/2014/main" id="{10D6486E-F2B4-ADA4-0E56-85BFC5349141}"/>
                </a:ext>
              </a:extLst>
            </p:cNvPr>
            <p:cNvSpPr>
              <a:spLocks noChangeAspect="1"/>
            </p:cNvSpPr>
            <p:nvPr/>
          </p:nvSpPr>
          <p:spPr>
            <a:xfrm>
              <a:off x="4077214" y="6435788"/>
              <a:ext cx="640842" cy="184507"/>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Medio</a:t>
              </a:r>
            </a:p>
          </p:txBody>
        </p:sp>
        <p:sp>
          <p:nvSpPr>
            <p:cNvPr id="22" name="Oval 21">
              <a:extLst>
                <a:ext uri="{FF2B5EF4-FFF2-40B4-BE49-F238E27FC236}">
                  <a16:creationId xmlns:a16="http://schemas.microsoft.com/office/drawing/2014/main" id="{D970D487-09DA-887C-1484-C5C611214677}"/>
                </a:ext>
              </a:extLst>
            </p:cNvPr>
            <p:cNvSpPr>
              <a:spLocks noChangeAspect="1"/>
            </p:cNvSpPr>
            <p:nvPr/>
          </p:nvSpPr>
          <p:spPr>
            <a:xfrm>
              <a:off x="4077214" y="6633421"/>
              <a:ext cx="640842" cy="184507"/>
            </a:xfrm>
            <a:prstGeom prst="ellipse">
              <a:avLst/>
            </a:prstGeom>
            <a:solidFill>
              <a:srgbClr val="DCAF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r>
                <a:rPr lang="es" sz="700"/>
                <a:t>Bajo</a:t>
              </a:r>
            </a:p>
          </p:txBody>
        </p:sp>
      </p:grpSp>
    </p:spTree>
    <p:extLst>
      <p:ext uri="{BB962C8B-B14F-4D97-AF65-F5344CB8AC3E}">
        <p14:creationId xmlns:p14="http://schemas.microsoft.com/office/powerpoint/2010/main" val="11453989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58576-CA17-F5FB-E7B2-51008FEF6BE4}"/>
            </a:ext>
          </a:extLst>
        </p:cNvPr>
        <p:cNvGrpSpPr/>
        <p:nvPr/>
      </p:nvGrpSpPr>
      <p:grpSpPr>
        <a:xfrm>
          <a:off x="0" y="0"/>
          <a:ext cx="0" cy="0"/>
          <a:chOff x="0" y="0"/>
          <a:chExt cx="0" cy="0"/>
        </a:xfrm>
      </p:grpSpPr>
      <p:pic>
        <p:nvPicPr>
          <p:cNvPr id="16" name="Picture Placeholder 15">
            <a:extLst>
              <a:ext uri="{FF2B5EF4-FFF2-40B4-BE49-F238E27FC236}">
                <a16:creationId xmlns:a16="http://schemas.microsoft.com/office/drawing/2014/main" id="{C4BB1B15-E433-91C1-1928-D81BDC72B22E}"/>
              </a:ext>
            </a:extLst>
          </p:cNvPr>
          <p:cNvPicPr>
            <a:picLocks noGrp="1" noChangeAspect="1"/>
          </p:cNvPicPr>
          <p:nvPr>
            <p:ph type="pic" sz="quarter" idx="4294967295"/>
          </p:nvPr>
        </p:nvPicPr>
        <p:blipFill>
          <a:blip r:embed="rId2">
            <a:extLst>
              <a:ext uri="{28A0092B-C50C-407E-A947-70E740481C1C}">
                <a14:useLocalDpi xmlns:a14="http://schemas.microsoft.com/office/drawing/2010/main" val="0"/>
              </a:ext>
            </a:extLst>
          </a:blip>
          <a:srcRect l="20062" r="20062"/>
          <a:stretch/>
        </p:blipFill>
        <p:spPr>
          <a:xfrm>
            <a:off x="6096000" y="0"/>
            <a:ext cx="6096000" cy="6858000"/>
          </a:xfrm>
          <a:prstGeom prst="rect">
            <a:avLst/>
          </a:prstGeom>
        </p:spPr>
      </p:pic>
      <p:sp>
        <p:nvSpPr>
          <p:cNvPr id="17" name="TextBox 16">
            <a:extLst>
              <a:ext uri="{FF2B5EF4-FFF2-40B4-BE49-F238E27FC236}">
                <a16:creationId xmlns:a16="http://schemas.microsoft.com/office/drawing/2014/main" id="{9A4981C7-BB90-2DDB-A6CB-5B89E33ABB83}"/>
              </a:ext>
            </a:extLst>
          </p:cNvPr>
          <p:cNvSpPr txBox="1"/>
          <p:nvPr/>
        </p:nvSpPr>
        <p:spPr>
          <a:xfrm>
            <a:off x="7054753" y="6447723"/>
            <a:ext cx="4551903"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rPr>
              <a:t> Copyright © 2025 Accenture. Todos los derechos reservados.</a:t>
            </a:r>
          </a:p>
        </p:txBody>
      </p:sp>
      <p:sp>
        <p:nvSpPr>
          <p:cNvPr id="18" name="TextBox 17">
            <a:extLst>
              <a:ext uri="{FF2B5EF4-FFF2-40B4-BE49-F238E27FC236}">
                <a16:creationId xmlns:a16="http://schemas.microsoft.com/office/drawing/2014/main" id="{AB6C0FDB-BFCC-8051-01C9-3B2ACC0E455A}"/>
              </a:ext>
            </a:extLst>
          </p:cNvPr>
          <p:cNvSpPr txBox="1"/>
          <p:nvPr/>
        </p:nvSpPr>
        <p:spPr>
          <a:xfrm>
            <a:off x="11621120" y="6459129"/>
            <a:ext cx="505097" cy="20005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F90F471-3972-4120-B8B3-0237DE626C35}" type="slidenum">
              <a:rPr kumimoji="0" lang="en-US" sz="700" b="0" i="0" u="none" strike="noStrike" kern="1200" cap="none" spc="0" normalizeH="0" baseline="0" noProof="0" smtClean="0">
                <a:ln>
                  <a:noFill/>
                </a:ln>
                <a:solidFill>
                  <a:srgbClr val="000000"/>
                </a:solidFill>
                <a:effectLst/>
                <a:uLnTx/>
                <a:uFillTx/>
                <a:latin typeface="Graphik Light" panose="020B0403030202060203" pitchFamily="34" charset="0"/>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700" b="0" i="0" u="none" strike="noStrike" kern="1200" cap="none" spc="0" normalizeH="0" baseline="0" noProof="0">
              <a:ln>
                <a:noFill/>
              </a:ln>
              <a:solidFill>
                <a:srgbClr val="000000"/>
              </a:solidFill>
              <a:effectLst/>
              <a:uLnTx/>
              <a:uFillTx/>
              <a:latin typeface="Graphik Light" panose="020B0403030202060203" pitchFamily="34" charset="0"/>
              <a:ea typeface="+mn-ea"/>
              <a:cs typeface="+mn-cs"/>
            </a:endParaRPr>
          </a:p>
        </p:txBody>
      </p:sp>
      <p:sp>
        <p:nvSpPr>
          <p:cNvPr id="14" name="Text Placeholder 8">
            <a:extLst>
              <a:ext uri="{FF2B5EF4-FFF2-40B4-BE49-F238E27FC236}">
                <a16:creationId xmlns:a16="http://schemas.microsoft.com/office/drawing/2014/main" id="{244A03F5-8DFA-2C5F-41A8-021B2DC760C4}"/>
              </a:ext>
            </a:extLst>
          </p:cNvPr>
          <p:cNvSpPr txBox="1">
            <a:spLocks/>
          </p:cNvSpPr>
          <p:nvPr/>
        </p:nvSpPr>
        <p:spPr>
          <a:xfrm>
            <a:off x="381000" y="2199546"/>
            <a:ext cx="2641600" cy="772253"/>
          </a:xfrm>
          <a:prstGeom prst="rect">
            <a:avLst/>
          </a:prstGeom>
        </p:spPr>
        <p:txBody>
          <a:bodyPr vert="horz" lIns="0" tIns="0" rIns="0" bIns="0" rtlCol="0">
            <a:noAutofit/>
          </a:bodyPr>
          <a:lstStyle>
            <a:lvl1pPr marL="0" indent="0" algn="l" defTabSz="228600" rtl="0" eaLnBrk="1" latinLnBrk="0" hangingPunct="1">
              <a:lnSpc>
                <a:spcPct val="100000"/>
              </a:lnSpc>
              <a:spcBef>
                <a:spcPts val="0"/>
              </a:spcBef>
              <a:spcAft>
                <a:spcPts val="600"/>
              </a:spcAft>
              <a:buFont typeface="Arial" panose="020B0604020202020204" pitchFamily="34" charset="0"/>
              <a:buNone/>
              <a:defRPr lang="en-US" sz="7200" b="0" i="0" kern="1200" spc="-150" dirty="0">
                <a:solidFill>
                  <a:schemeClr val="accent2"/>
                </a:solidFill>
                <a:latin typeface="Graphik Light" panose="020B0403030202060203" pitchFamily="34" charset="0"/>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7200" b="0" i="0" u="none" strike="noStrike" kern="1200" cap="none" spc="-150" normalizeH="0" baseline="0" noProof="0">
                <a:ln>
                  <a:noFill/>
                </a:ln>
                <a:solidFill>
                  <a:srgbClr val="7500C0"/>
                </a:solidFill>
                <a:effectLst/>
                <a:uLnTx/>
                <a:uFillTx/>
                <a:latin typeface="Graphik Light" panose="020B0403030202060203" pitchFamily="34" charset="0"/>
                <a:ea typeface="+mn-ea"/>
                <a:cs typeface="+mn-cs"/>
              </a:rPr>
              <a:t>04. </a:t>
            </a:r>
          </a:p>
        </p:txBody>
      </p:sp>
      <p:sp>
        <p:nvSpPr>
          <p:cNvPr id="15" name="Title 7">
            <a:extLst>
              <a:ext uri="{FF2B5EF4-FFF2-40B4-BE49-F238E27FC236}">
                <a16:creationId xmlns:a16="http://schemas.microsoft.com/office/drawing/2014/main" id="{699E0A60-D73A-8B46-3A12-86D68D687008}"/>
              </a:ext>
            </a:extLst>
          </p:cNvPr>
          <p:cNvSpPr txBox="1">
            <a:spLocks/>
          </p:cNvSpPr>
          <p:nvPr/>
        </p:nvSpPr>
        <p:spPr>
          <a:xfrm>
            <a:off x="380999" y="3201006"/>
            <a:ext cx="5597013" cy="582441"/>
          </a:xfrm>
          <a:prstGeom prst="rect">
            <a:avLst/>
          </a:prstGeom>
        </p:spPr>
        <p:txBody>
          <a:bodyPr vert="horz" lIns="0" tIns="61200" rIns="0" bIns="0" rtlCol="0" anchor="t">
            <a:noAutofit/>
          </a:bodyPr>
          <a:lstStyle>
            <a:lvl1pPr algn="l" defTabSz="914400" rtl="0" eaLnBrk="1" latinLnBrk="0" hangingPunct="1">
              <a:lnSpc>
                <a:spcPct val="80000"/>
              </a:lnSpc>
              <a:spcBef>
                <a:spcPct val="0"/>
              </a:spcBef>
              <a:buNone/>
              <a:defRPr sz="3200" b="0" kern="1200">
                <a:solidFill>
                  <a:schemeClr val="bg1"/>
                </a:solidFill>
                <a:latin typeface="Graphik Medium" panose="020B0603030202060203" pitchFamily="34" charset="0"/>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rPr>
              <a:t>Patrones reutilizables de arquitectura de Interoperabilidad</a:t>
            </a:r>
            <a:endParaRPr kumimoji="0" lang="en-IN" sz="3200" b="0" i="0" u="none" strike="noStrike" kern="1200" cap="none" spc="0" normalizeH="0" baseline="0" noProof="0">
              <a:ln>
                <a:noFill/>
              </a:ln>
              <a:solidFill>
                <a:srgbClr val="000000"/>
              </a:solidFill>
              <a:effectLst/>
              <a:uLnTx/>
              <a:uFillTx/>
              <a:latin typeface="Graphik Medium" panose="020B0603030202060203" pitchFamily="34" charset="0"/>
              <a:ea typeface="+mj-ea"/>
              <a:cs typeface="+mj-cs"/>
            </a:endParaRPr>
          </a:p>
        </p:txBody>
      </p:sp>
    </p:spTree>
    <p:extLst>
      <p:ext uri="{BB962C8B-B14F-4D97-AF65-F5344CB8AC3E}">
        <p14:creationId xmlns:p14="http://schemas.microsoft.com/office/powerpoint/2010/main" val="35193440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DDCED-AB1B-9D86-4CA2-730F5996BCE2}"/>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A4FA93-8E07-27F3-0953-A3ADB3D9F6E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2026 Accenture. Todos los derechos reservados.</a:t>
            </a:r>
          </a:p>
        </p:txBody>
      </p:sp>
      <p:sp>
        <p:nvSpPr>
          <p:cNvPr id="4" name="Slide Number Placeholder 3">
            <a:extLst>
              <a:ext uri="{FF2B5EF4-FFF2-40B4-BE49-F238E27FC236}">
                <a16:creationId xmlns:a16="http://schemas.microsoft.com/office/drawing/2014/main" id="{81A4AF26-DEED-85BB-CAA1-115D12329038}"/>
              </a:ext>
            </a:extLst>
          </p:cNvPr>
          <p:cNvSpPr>
            <a:spLocks noGrp="1"/>
          </p:cNvSpPr>
          <p:nvPr>
            <p:ph type="sldNum" sz="quarter" idx="429496729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Graphik"/>
                <a:ea typeface="+mn-ea"/>
                <a:cs typeface="+mn-cs"/>
              </a:rPr>
              <a:t> </a:t>
            </a:r>
          </a:p>
        </p:txBody>
      </p:sp>
      <p:sp>
        <p:nvSpPr>
          <p:cNvPr id="23" name="Title 1">
            <a:extLst>
              <a:ext uri="{FF2B5EF4-FFF2-40B4-BE49-F238E27FC236}">
                <a16:creationId xmlns:a16="http://schemas.microsoft.com/office/drawing/2014/main" id="{76BDEA16-FF45-B2C5-B696-FDA88A4BE66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Arquitectura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Patrones reutilizables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2" name="Rectangle 1">
            <a:extLst>
              <a:ext uri="{FF2B5EF4-FFF2-40B4-BE49-F238E27FC236}">
                <a16:creationId xmlns:a16="http://schemas.microsoft.com/office/drawing/2014/main" id="{1E091038-E5B8-CD2E-3A5B-DC3D97B92BF3}"/>
              </a:ext>
            </a:extLst>
          </p:cNvPr>
          <p:cNvSpPr/>
          <p:nvPr/>
        </p:nvSpPr>
        <p:spPr>
          <a:xfrm>
            <a:off x="699575" y="944591"/>
            <a:ext cx="1080000" cy="522288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Seguridad</a:t>
            </a:r>
          </a:p>
        </p:txBody>
      </p:sp>
      <p:sp>
        <p:nvSpPr>
          <p:cNvPr id="5" name="Rectangle 4">
            <a:extLst>
              <a:ext uri="{FF2B5EF4-FFF2-40B4-BE49-F238E27FC236}">
                <a16:creationId xmlns:a16="http://schemas.microsoft.com/office/drawing/2014/main" id="{93E018F0-308D-9D3D-2E31-5806B3BDCF81}"/>
              </a:ext>
            </a:extLst>
          </p:cNvPr>
          <p:cNvSpPr/>
          <p:nvPr/>
        </p:nvSpPr>
        <p:spPr>
          <a:xfrm>
            <a:off x="762603" y="3758314"/>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Certificado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Secreta</a:t>
            </a:r>
          </a:p>
        </p:txBody>
      </p:sp>
      <p:sp>
        <p:nvSpPr>
          <p:cNvPr id="6" name="Rectangle 5">
            <a:extLst>
              <a:ext uri="{FF2B5EF4-FFF2-40B4-BE49-F238E27FC236}">
                <a16:creationId xmlns:a16="http://schemas.microsoft.com/office/drawing/2014/main" id="{4C45CA77-0A3B-56BF-AC4E-FD0DB3ABB509}"/>
              </a:ext>
            </a:extLst>
          </p:cNvPr>
          <p:cNvSpPr/>
          <p:nvPr/>
        </p:nvSpPr>
        <p:spPr>
          <a:xfrm>
            <a:off x="1907612" y="944590"/>
            <a:ext cx="1080000" cy="523076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7" name="Rectangle 6">
            <a:extLst>
              <a:ext uri="{FF2B5EF4-FFF2-40B4-BE49-F238E27FC236}">
                <a16:creationId xmlns:a16="http://schemas.microsoft.com/office/drawing/2014/main" id="{5A035E70-E1E6-BAA6-A474-4D3A2D3BEB9F}"/>
              </a:ext>
            </a:extLst>
          </p:cNvPr>
          <p:cNvSpPr/>
          <p:nvPr/>
        </p:nvSpPr>
        <p:spPr>
          <a:xfrm>
            <a:off x="1961612" y="1256079"/>
            <a:ext cx="972000" cy="349153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Monitorización</a:t>
            </a:r>
          </a:p>
        </p:txBody>
      </p:sp>
      <p:sp>
        <p:nvSpPr>
          <p:cNvPr id="8" name="Rectangle 7">
            <a:extLst>
              <a:ext uri="{FF2B5EF4-FFF2-40B4-BE49-F238E27FC236}">
                <a16:creationId xmlns:a16="http://schemas.microsoft.com/office/drawing/2014/main" id="{A0498357-AC84-71AF-CD4B-23378FF0CBA3}"/>
              </a:ext>
            </a:extLst>
          </p:cNvPr>
          <p:cNvSpPr/>
          <p:nvPr/>
        </p:nvSpPr>
        <p:spPr>
          <a:xfrm>
            <a:off x="10221552"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9" name="Rectangle 8">
            <a:extLst>
              <a:ext uri="{FF2B5EF4-FFF2-40B4-BE49-F238E27FC236}">
                <a16:creationId xmlns:a16="http://schemas.microsoft.com/office/drawing/2014/main" id="{FCD1C999-C5B1-DCC2-DD14-30CD372B4AA7}"/>
              </a:ext>
            </a:extLst>
          </p:cNvPr>
          <p:cNvSpPr/>
          <p:nvPr/>
        </p:nvSpPr>
        <p:spPr>
          <a:xfrm>
            <a:off x="10275552" y="1890884"/>
            <a:ext cx="972000" cy="55187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Stack tecnológico</a:t>
            </a:r>
          </a:p>
        </p:txBody>
      </p:sp>
      <p:sp>
        <p:nvSpPr>
          <p:cNvPr id="10" name="Rectangle 9">
            <a:extLst>
              <a:ext uri="{FF2B5EF4-FFF2-40B4-BE49-F238E27FC236}">
                <a16:creationId xmlns:a16="http://schemas.microsoft.com/office/drawing/2014/main" id="{2785AFFD-C0F9-F2E8-F732-77540F6773B9}"/>
              </a:ext>
            </a:extLst>
          </p:cNvPr>
          <p:cNvSpPr/>
          <p:nvPr/>
        </p:nvSpPr>
        <p:spPr>
          <a:xfrm>
            <a:off x="10275552" y="2640911"/>
            <a:ext cx="972000" cy="21067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Marco de Microservicios</a:t>
            </a:r>
          </a:p>
        </p:txBody>
      </p:sp>
      <p:sp>
        <p:nvSpPr>
          <p:cNvPr id="16" name="Rectangle 15">
            <a:extLst>
              <a:ext uri="{FF2B5EF4-FFF2-40B4-BE49-F238E27FC236}">
                <a16:creationId xmlns:a16="http://schemas.microsoft.com/office/drawing/2014/main" id="{78332E63-AD0A-F22D-5F73-CDE0CDAB4944}"/>
              </a:ext>
            </a:extLst>
          </p:cNvPr>
          <p:cNvSpPr/>
          <p:nvPr/>
        </p:nvSpPr>
        <p:spPr>
          <a:xfrm>
            <a:off x="1997612" y="143805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Registro de auditoría</a:t>
            </a:r>
          </a:p>
        </p:txBody>
      </p:sp>
      <p:sp>
        <p:nvSpPr>
          <p:cNvPr id="17" name="Rectangle 16">
            <a:extLst>
              <a:ext uri="{FF2B5EF4-FFF2-40B4-BE49-F238E27FC236}">
                <a16:creationId xmlns:a16="http://schemas.microsoft.com/office/drawing/2014/main" id="{FD59B9AB-C398-03B0-E485-2EB0E5A88AD5}"/>
              </a:ext>
            </a:extLst>
          </p:cNvPr>
          <p:cNvSpPr/>
          <p:nvPr/>
        </p:nvSpPr>
        <p:spPr>
          <a:xfrm>
            <a:off x="1997612" y="1705615"/>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19" name="Rectangle 18">
            <a:extLst>
              <a:ext uri="{FF2B5EF4-FFF2-40B4-BE49-F238E27FC236}">
                <a16:creationId xmlns:a16="http://schemas.microsoft.com/office/drawing/2014/main" id="{DF5B8F05-00A2-E7DA-F678-606351B0BAA6}"/>
              </a:ext>
            </a:extLst>
          </p:cNvPr>
          <p:cNvSpPr/>
          <p:nvPr/>
        </p:nvSpPr>
        <p:spPr>
          <a:xfrm>
            <a:off x="1997612" y="1977492"/>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Trazado distribuido</a:t>
            </a:r>
          </a:p>
        </p:txBody>
      </p:sp>
      <p:sp>
        <p:nvSpPr>
          <p:cNvPr id="20" name="Rectangle 19">
            <a:extLst>
              <a:ext uri="{FF2B5EF4-FFF2-40B4-BE49-F238E27FC236}">
                <a16:creationId xmlns:a16="http://schemas.microsoft.com/office/drawing/2014/main" id="{80BED310-211F-288E-DD2B-CFC550590C9A}"/>
              </a:ext>
            </a:extLst>
          </p:cNvPr>
          <p:cNvSpPr/>
          <p:nvPr/>
        </p:nvSpPr>
        <p:spPr>
          <a:xfrm>
            <a:off x="1997612" y="2245049"/>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API Health</a:t>
            </a:r>
          </a:p>
        </p:txBody>
      </p:sp>
      <p:sp>
        <p:nvSpPr>
          <p:cNvPr id="25" name="Rectangle 24">
            <a:extLst>
              <a:ext uri="{FF2B5EF4-FFF2-40B4-BE49-F238E27FC236}">
                <a16:creationId xmlns:a16="http://schemas.microsoft.com/office/drawing/2014/main" id="{46216C04-7CE1-98FC-4269-F5C8F5F088AF}"/>
              </a:ext>
            </a:extLst>
          </p:cNvPr>
          <p:cNvSpPr/>
          <p:nvPr/>
        </p:nvSpPr>
        <p:spPr>
          <a:xfrm>
            <a:off x="3169828" y="944591"/>
            <a:ext cx="5681779" cy="1077165"/>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27" name="Rectangle 26">
            <a:extLst>
              <a:ext uri="{FF2B5EF4-FFF2-40B4-BE49-F238E27FC236}">
                <a16:creationId xmlns:a16="http://schemas.microsoft.com/office/drawing/2014/main" id="{A07EE722-09A4-41FD-5920-0832AFA5F32E}"/>
              </a:ext>
            </a:extLst>
          </p:cNvPr>
          <p:cNvSpPr/>
          <p:nvPr/>
        </p:nvSpPr>
        <p:spPr>
          <a:xfrm>
            <a:off x="3287611" y="1163074"/>
            <a:ext cx="4354983"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32" name="Rectangle 31">
            <a:extLst>
              <a:ext uri="{FF2B5EF4-FFF2-40B4-BE49-F238E27FC236}">
                <a16:creationId xmlns:a16="http://schemas.microsoft.com/office/drawing/2014/main" id="{8A9BF4A7-1C11-5261-6DF9-092A520FB0AB}"/>
              </a:ext>
            </a:extLst>
          </p:cNvPr>
          <p:cNvSpPr/>
          <p:nvPr/>
        </p:nvSpPr>
        <p:spPr>
          <a:xfrm>
            <a:off x="3287611" y="1472016"/>
            <a:ext cx="4354983" cy="5110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39" name="Rectangle 38">
            <a:extLst>
              <a:ext uri="{FF2B5EF4-FFF2-40B4-BE49-F238E27FC236}">
                <a16:creationId xmlns:a16="http://schemas.microsoft.com/office/drawing/2014/main" id="{9AB22A37-98EB-29BB-B563-EB584DCF4EA4}"/>
              </a:ext>
            </a:extLst>
          </p:cNvPr>
          <p:cNvSpPr/>
          <p:nvPr/>
        </p:nvSpPr>
        <p:spPr>
          <a:xfrm>
            <a:off x="762603" y="2622478"/>
            <a:ext cx="972000" cy="107738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Servicios criptográficos</a:t>
            </a:r>
          </a:p>
        </p:txBody>
      </p:sp>
      <p:sp>
        <p:nvSpPr>
          <p:cNvPr id="43" name="Rectangle 42">
            <a:extLst>
              <a:ext uri="{FF2B5EF4-FFF2-40B4-BE49-F238E27FC236}">
                <a16:creationId xmlns:a16="http://schemas.microsoft.com/office/drawing/2014/main" id="{3BBFE8B1-406B-F636-AB56-6CEE0CA44029}"/>
              </a:ext>
            </a:extLst>
          </p:cNvPr>
          <p:cNvSpPr/>
          <p:nvPr/>
        </p:nvSpPr>
        <p:spPr>
          <a:xfrm>
            <a:off x="3161292" y="2773838"/>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Omnicanal y componentes de caché</a:t>
            </a:r>
          </a:p>
        </p:txBody>
      </p:sp>
      <p:sp>
        <p:nvSpPr>
          <p:cNvPr id="46" name="Rectangle 45">
            <a:extLst>
              <a:ext uri="{FF2B5EF4-FFF2-40B4-BE49-F238E27FC236}">
                <a16:creationId xmlns:a16="http://schemas.microsoft.com/office/drawing/2014/main" id="{F6C5BC97-17AD-F7D0-073A-347F0E6537C0}"/>
              </a:ext>
            </a:extLst>
          </p:cNvPr>
          <p:cNvSpPr/>
          <p:nvPr/>
        </p:nvSpPr>
        <p:spPr>
          <a:xfrm>
            <a:off x="3167494" y="5132461"/>
            <a:ext cx="5681779" cy="1042899"/>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Entrega de datos</a:t>
            </a:r>
          </a:p>
        </p:txBody>
      </p:sp>
      <p:sp>
        <p:nvSpPr>
          <p:cNvPr id="59" name="Rectangle 58">
            <a:extLst>
              <a:ext uri="{FF2B5EF4-FFF2-40B4-BE49-F238E27FC236}">
                <a16:creationId xmlns:a16="http://schemas.microsoft.com/office/drawing/2014/main" id="{D1EBE84D-CFF2-6552-6C6A-A71A104A1701}"/>
              </a:ext>
            </a:extLst>
          </p:cNvPr>
          <p:cNvSpPr/>
          <p:nvPr/>
        </p:nvSpPr>
        <p:spPr>
          <a:xfrm>
            <a:off x="3169828" y="3419879"/>
            <a:ext cx="5681779" cy="960502"/>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Transacciones distribuidas</a:t>
            </a:r>
          </a:p>
        </p:txBody>
      </p:sp>
      <p:sp>
        <p:nvSpPr>
          <p:cNvPr id="62" name="Rectangle 61">
            <a:extLst>
              <a:ext uri="{FF2B5EF4-FFF2-40B4-BE49-F238E27FC236}">
                <a16:creationId xmlns:a16="http://schemas.microsoft.com/office/drawing/2014/main" id="{6284E721-62CA-EE93-64D8-0025621B8262}"/>
              </a:ext>
            </a:extLst>
          </p:cNvPr>
          <p:cNvSpPr/>
          <p:nvPr/>
        </p:nvSpPr>
        <p:spPr>
          <a:xfrm>
            <a:off x="9005587" y="944591"/>
            <a:ext cx="1080000" cy="5230768"/>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Procesamiento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&amp; Componentes Reactivos</a:t>
            </a:r>
          </a:p>
        </p:txBody>
      </p:sp>
      <p:sp>
        <p:nvSpPr>
          <p:cNvPr id="63" name="Rectangle 62">
            <a:extLst>
              <a:ext uri="{FF2B5EF4-FFF2-40B4-BE49-F238E27FC236}">
                <a16:creationId xmlns:a16="http://schemas.microsoft.com/office/drawing/2014/main" id="{E83B41AD-78C5-1913-38CA-B73BE96B6A17}"/>
              </a:ext>
            </a:extLst>
          </p:cNvPr>
          <p:cNvSpPr/>
          <p:nvPr/>
        </p:nvSpPr>
        <p:spPr>
          <a:xfrm>
            <a:off x="9059587" y="1549601"/>
            <a:ext cx="972000" cy="267559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Mensajería de eventos</a:t>
            </a:r>
          </a:p>
        </p:txBody>
      </p:sp>
      <p:sp>
        <p:nvSpPr>
          <p:cNvPr id="65" name="Rectangle 64">
            <a:extLst>
              <a:ext uri="{FF2B5EF4-FFF2-40B4-BE49-F238E27FC236}">
                <a16:creationId xmlns:a16="http://schemas.microsoft.com/office/drawing/2014/main" id="{F90D43D5-A0A4-60BE-EF41-3D7A64F401D2}"/>
              </a:ext>
            </a:extLst>
          </p:cNvPr>
          <p:cNvSpPr/>
          <p:nvPr/>
        </p:nvSpPr>
        <p:spPr>
          <a:xfrm>
            <a:off x="9095587" y="1878941"/>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Entrega garantizada</a:t>
            </a:r>
          </a:p>
        </p:txBody>
      </p:sp>
      <p:sp>
        <p:nvSpPr>
          <p:cNvPr id="69" name="Rectangle 68">
            <a:extLst>
              <a:ext uri="{FF2B5EF4-FFF2-40B4-BE49-F238E27FC236}">
                <a16:creationId xmlns:a16="http://schemas.microsoft.com/office/drawing/2014/main" id="{2EBC223E-AD6B-C89C-915E-DD901E8AACB4}"/>
              </a:ext>
            </a:extLst>
          </p:cNvPr>
          <p:cNvSpPr/>
          <p:nvPr/>
        </p:nvSpPr>
        <p:spPr>
          <a:xfrm>
            <a:off x="9095587" y="2160667"/>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Búsqueda de eventos</a:t>
            </a:r>
          </a:p>
        </p:txBody>
      </p:sp>
      <p:sp>
        <p:nvSpPr>
          <p:cNvPr id="70" name="Rectangle 69">
            <a:extLst>
              <a:ext uri="{FF2B5EF4-FFF2-40B4-BE49-F238E27FC236}">
                <a16:creationId xmlns:a16="http://schemas.microsoft.com/office/drawing/2014/main" id="{0DBF85A7-BE95-C7CE-7C89-3FEA5C7C7E71}"/>
              </a:ext>
            </a:extLst>
          </p:cNvPr>
          <p:cNvSpPr/>
          <p:nvPr/>
        </p:nvSpPr>
        <p:spPr>
          <a:xfrm>
            <a:off x="9095587" y="2464703"/>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Malla de eventos</a:t>
            </a:r>
          </a:p>
        </p:txBody>
      </p:sp>
      <p:sp>
        <p:nvSpPr>
          <p:cNvPr id="72" name="Rectangle 71">
            <a:extLst>
              <a:ext uri="{FF2B5EF4-FFF2-40B4-BE49-F238E27FC236}">
                <a16:creationId xmlns:a16="http://schemas.microsoft.com/office/drawing/2014/main" id="{F8E5F039-2D83-DF9A-4C09-2670BFCE989B}"/>
              </a:ext>
            </a:extLst>
          </p:cNvPr>
          <p:cNvSpPr/>
          <p:nvPr/>
        </p:nvSpPr>
        <p:spPr>
          <a:xfrm>
            <a:off x="9059587" y="4268433"/>
            <a:ext cx="972000" cy="5480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Procesamiento de eventos</a:t>
            </a:r>
          </a:p>
        </p:txBody>
      </p:sp>
      <p:sp>
        <p:nvSpPr>
          <p:cNvPr id="73" name="Rectangle 72">
            <a:extLst>
              <a:ext uri="{FF2B5EF4-FFF2-40B4-BE49-F238E27FC236}">
                <a16:creationId xmlns:a16="http://schemas.microsoft.com/office/drawing/2014/main" id="{02AE4745-9339-4EC6-D1DD-2355232469E9}"/>
              </a:ext>
            </a:extLst>
          </p:cNvPr>
          <p:cNvSpPr/>
          <p:nvPr/>
        </p:nvSpPr>
        <p:spPr>
          <a:xfrm>
            <a:off x="9095587" y="4505478"/>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Lambda/Kappa</a:t>
            </a:r>
          </a:p>
        </p:txBody>
      </p:sp>
      <p:sp>
        <p:nvSpPr>
          <p:cNvPr id="78" name="Rectangle 77">
            <a:extLst>
              <a:ext uri="{FF2B5EF4-FFF2-40B4-BE49-F238E27FC236}">
                <a16:creationId xmlns:a16="http://schemas.microsoft.com/office/drawing/2014/main" id="{50D22445-CA63-F6F1-B8E4-5419717A2B26}"/>
              </a:ext>
            </a:extLst>
          </p:cNvPr>
          <p:cNvSpPr/>
          <p:nvPr/>
        </p:nvSpPr>
        <p:spPr>
          <a:xfrm>
            <a:off x="3166592" y="2127797"/>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grpSp>
        <p:nvGrpSpPr>
          <p:cNvPr id="38" name="Group 37">
            <a:extLst>
              <a:ext uri="{FF2B5EF4-FFF2-40B4-BE49-F238E27FC236}">
                <a16:creationId xmlns:a16="http://schemas.microsoft.com/office/drawing/2014/main" id="{09090157-113D-1A86-A027-7859FAF86626}"/>
              </a:ext>
            </a:extLst>
          </p:cNvPr>
          <p:cNvGrpSpPr/>
          <p:nvPr/>
        </p:nvGrpSpPr>
        <p:grpSpPr>
          <a:xfrm>
            <a:off x="4849966" y="6266772"/>
            <a:ext cx="2492068" cy="180000"/>
            <a:chOff x="4451196" y="6266772"/>
            <a:chExt cx="2492068" cy="180000"/>
          </a:xfrm>
        </p:grpSpPr>
        <p:sp>
          <p:nvSpPr>
            <p:cNvPr id="75" name="Rectangle 74">
              <a:extLst>
                <a:ext uri="{FF2B5EF4-FFF2-40B4-BE49-F238E27FC236}">
                  <a16:creationId xmlns:a16="http://schemas.microsoft.com/office/drawing/2014/main" id="{019E1254-B5EF-9CB5-B16B-9CC313C00C6A}"/>
                </a:ext>
              </a:extLst>
            </p:cNvPr>
            <p:cNvSpPr/>
            <p:nvPr/>
          </p:nvSpPr>
          <p:spPr>
            <a:xfrm>
              <a:off x="4451196" y="6266772"/>
              <a:ext cx="739471" cy="180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Patrón</a:t>
              </a:r>
            </a:p>
          </p:txBody>
        </p:sp>
        <p:grpSp>
          <p:nvGrpSpPr>
            <p:cNvPr id="85" name="Group 84">
              <a:extLst>
                <a:ext uri="{FF2B5EF4-FFF2-40B4-BE49-F238E27FC236}">
                  <a16:creationId xmlns:a16="http://schemas.microsoft.com/office/drawing/2014/main" id="{2688FF87-293B-2B01-B2BF-6EE347B1D390}"/>
                </a:ext>
              </a:extLst>
            </p:cNvPr>
            <p:cNvGrpSpPr/>
            <p:nvPr/>
          </p:nvGrpSpPr>
          <p:grpSpPr>
            <a:xfrm>
              <a:off x="5366382" y="6266772"/>
              <a:ext cx="1576882" cy="180000"/>
              <a:chOff x="9283672" y="6207566"/>
              <a:chExt cx="1576882" cy="180000"/>
            </a:xfrm>
          </p:grpSpPr>
          <p:sp>
            <p:nvSpPr>
              <p:cNvPr id="86" name="Oval 85">
                <a:extLst>
                  <a:ext uri="{FF2B5EF4-FFF2-40B4-BE49-F238E27FC236}">
                    <a16:creationId xmlns:a16="http://schemas.microsoft.com/office/drawing/2014/main" id="{0C1FAE68-6D5A-96E5-1D6C-34DD55B24113}"/>
                  </a:ext>
                </a:extLst>
              </p:cNvPr>
              <p:cNvSpPr/>
              <p:nvPr/>
            </p:nvSpPr>
            <p:spPr>
              <a:xfrm>
                <a:off x="9283672" y="6207566"/>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87" name="Rectangle 86">
                <a:extLst>
                  <a:ext uri="{FF2B5EF4-FFF2-40B4-BE49-F238E27FC236}">
                    <a16:creationId xmlns:a16="http://schemas.microsoft.com/office/drawing/2014/main" id="{39982093-17A5-97F8-B032-89A8D1F433F5}"/>
                  </a:ext>
                </a:extLst>
              </p:cNvPr>
              <p:cNvSpPr/>
              <p:nvPr/>
            </p:nvSpPr>
            <p:spPr>
              <a:xfrm>
                <a:off x="9526720" y="6230887"/>
                <a:ext cx="1333834" cy="1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Núcleo y componentes de plataforma</a:t>
                </a:r>
              </a:p>
            </p:txBody>
          </p:sp>
        </p:grpSp>
      </p:grpSp>
      <p:sp>
        <p:nvSpPr>
          <p:cNvPr id="88" name="Oval 87">
            <a:extLst>
              <a:ext uri="{FF2B5EF4-FFF2-40B4-BE49-F238E27FC236}">
                <a16:creationId xmlns:a16="http://schemas.microsoft.com/office/drawing/2014/main" id="{A80F7EE5-A1ED-EEE1-968D-868B15D2F7F2}"/>
              </a:ext>
            </a:extLst>
          </p:cNvPr>
          <p:cNvSpPr/>
          <p:nvPr/>
        </p:nvSpPr>
        <p:spPr>
          <a:xfrm>
            <a:off x="1557648"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89" name="Oval 88">
            <a:extLst>
              <a:ext uri="{FF2B5EF4-FFF2-40B4-BE49-F238E27FC236}">
                <a16:creationId xmlns:a16="http://schemas.microsoft.com/office/drawing/2014/main" id="{3D89EB0A-5D45-F69E-518A-31CBD34A1762}"/>
              </a:ext>
            </a:extLst>
          </p:cNvPr>
          <p:cNvSpPr/>
          <p:nvPr/>
        </p:nvSpPr>
        <p:spPr>
          <a:xfrm>
            <a:off x="2753612"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0" name="Oval 89">
            <a:extLst>
              <a:ext uri="{FF2B5EF4-FFF2-40B4-BE49-F238E27FC236}">
                <a16:creationId xmlns:a16="http://schemas.microsoft.com/office/drawing/2014/main" id="{D99BAEB2-32F9-60C1-912F-FEC2DBC72A53}"/>
              </a:ext>
            </a:extLst>
          </p:cNvPr>
          <p:cNvSpPr/>
          <p:nvPr/>
        </p:nvSpPr>
        <p:spPr>
          <a:xfrm>
            <a:off x="6577513"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1" name="Oval 90">
            <a:extLst>
              <a:ext uri="{FF2B5EF4-FFF2-40B4-BE49-F238E27FC236}">
                <a16:creationId xmlns:a16="http://schemas.microsoft.com/office/drawing/2014/main" id="{81C31AA7-C165-1CE4-E2EF-81AC991067EB}"/>
              </a:ext>
            </a:extLst>
          </p:cNvPr>
          <p:cNvSpPr/>
          <p:nvPr/>
        </p:nvSpPr>
        <p:spPr>
          <a:xfrm>
            <a:off x="11086789" y="978302"/>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2" name="Oval 91">
            <a:extLst>
              <a:ext uri="{FF2B5EF4-FFF2-40B4-BE49-F238E27FC236}">
                <a16:creationId xmlns:a16="http://schemas.microsoft.com/office/drawing/2014/main" id="{0B13CFE6-B5E5-D108-D1A5-6C4902BC66D8}"/>
              </a:ext>
            </a:extLst>
          </p:cNvPr>
          <p:cNvSpPr/>
          <p:nvPr/>
        </p:nvSpPr>
        <p:spPr>
          <a:xfrm>
            <a:off x="6547147" y="2135758"/>
            <a:ext cx="180000" cy="18000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K</a:t>
            </a:r>
          </a:p>
        </p:txBody>
      </p:sp>
      <p:sp>
        <p:nvSpPr>
          <p:cNvPr id="93" name="Rectangle 92">
            <a:extLst>
              <a:ext uri="{FF2B5EF4-FFF2-40B4-BE49-F238E27FC236}">
                <a16:creationId xmlns:a16="http://schemas.microsoft.com/office/drawing/2014/main" id="{3B681A4B-FDE3-2A47-138C-24F9E0A35E5F}"/>
              </a:ext>
            </a:extLst>
          </p:cNvPr>
          <p:cNvSpPr/>
          <p:nvPr/>
        </p:nvSpPr>
        <p:spPr>
          <a:xfrm>
            <a:off x="3218223"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Orquestación de Servicio</a:t>
            </a:r>
          </a:p>
        </p:txBody>
      </p:sp>
      <p:sp>
        <p:nvSpPr>
          <p:cNvPr id="94" name="Rectangle 93">
            <a:extLst>
              <a:ext uri="{FF2B5EF4-FFF2-40B4-BE49-F238E27FC236}">
                <a16:creationId xmlns:a16="http://schemas.microsoft.com/office/drawing/2014/main" id="{DF1C8B74-F31D-072F-C5B3-B9EF9999D099}"/>
              </a:ext>
            </a:extLst>
          </p:cNvPr>
          <p:cNvSpPr/>
          <p:nvPr/>
        </p:nvSpPr>
        <p:spPr>
          <a:xfrm>
            <a:off x="6083364" y="3614953"/>
            <a:ext cx="2700000" cy="7200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Gestión de transacciones</a:t>
            </a:r>
          </a:p>
        </p:txBody>
      </p:sp>
      <p:sp>
        <p:nvSpPr>
          <p:cNvPr id="97" name="Rectangle 96">
            <a:extLst>
              <a:ext uri="{FF2B5EF4-FFF2-40B4-BE49-F238E27FC236}">
                <a16:creationId xmlns:a16="http://schemas.microsoft.com/office/drawing/2014/main" id="{BF921FD6-D381-1254-3120-5879142606C9}"/>
              </a:ext>
            </a:extLst>
          </p:cNvPr>
          <p:cNvSpPr/>
          <p:nvPr/>
        </p:nvSpPr>
        <p:spPr>
          <a:xfrm>
            <a:off x="6477388"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(2PC)</a:t>
            </a:r>
          </a:p>
        </p:txBody>
      </p:sp>
      <p:sp>
        <p:nvSpPr>
          <p:cNvPr id="98" name="Rectangle 97">
            <a:extLst>
              <a:ext uri="{FF2B5EF4-FFF2-40B4-BE49-F238E27FC236}">
                <a16:creationId xmlns:a16="http://schemas.microsoft.com/office/drawing/2014/main" id="{7DB88990-76B6-49D9-3DC7-812B2DC3DADF}"/>
              </a:ext>
            </a:extLst>
          </p:cNvPr>
          <p:cNvSpPr/>
          <p:nvPr/>
        </p:nvSpPr>
        <p:spPr>
          <a:xfrm>
            <a:off x="7448215" y="3820276"/>
            <a:ext cx="900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Consistencia de transacciones (Saga)</a:t>
            </a:r>
          </a:p>
        </p:txBody>
      </p:sp>
      <p:sp>
        <p:nvSpPr>
          <p:cNvPr id="101" name="Rectangle 100">
            <a:extLst>
              <a:ext uri="{FF2B5EF4-FFF2-40B4-BE49-F238E27FC236}">
                <a16:creationId xmlns:a16="http://schemas.microsoft.com/office/drawing/2014/main" id="{FF20010D-D488-3081-003E-465AA0DD3BB1}"/>
              </a:ext>
            </a:extLst>
          </p:cNvPr>
          <p:cNvSpPr/>
          <p:nvPr/>
        </p:nvSpPr>
        <p:spPr>
          <a:xfrm>
            <a:off x="4602414" y="3820276"/>
            <a:ext cx="91311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Coreografía</a:t>
            </a:r>
          </a:p>
        </p:txBody>
      </p:sp>
      <p:sp>
        <p:nvSpPr>
          <p:cNvPr id="102" name="Rectangle 101">
            <a:extLst>
              <a:ext uri="{FF2B5EF4-FFF2-40B4-BE49-F238E27FC236}">
                <a16:creationId xmlns:a16="http://schemas.microsoft.com/office/drawing/2014/main" id="{6E1C7F14-E9DA-4CBA-5E39-78B6018A40D3}"/>
              </a:ext>
            </a:extLst>
          </p:cNvPr>
          <p:cNvSpPr/>
          <p:nvPr/>
        </p:nvSpPr>
        <p:spPr>
          <a:xfrm>
            <a:off x="1961612" y="4804005"/>
            <a:ext cx="972000" cy="102141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Operaciones</a:t>
            </a:r>
          </a:p>
        </p:txBody>
      </p:sp>
      <p:sp>
        <p:nvSpPr>
          <p:cNvPr id="106" name="Rectangle 105">
            <a:extLst>
              <a:ext uri="{FF2B5EF4-FFF2-40B4-BE49-F238E27FC236}">
                <a16:creationId xmlns:a16="http://schemas.microsoft.com/office/drawing/2014/main" id="{A29E1FA1-48D2-5BF0-AD11-84F56FD1B56A}"/>
              </a:ext>
            </a:extLst>
          </p:cNvPr>
          <p:cNvSpPr/>
          <p:nvPr/>
        </p:nvSpPr>
        <p:spPr>
          <a:xfrm>
            <a:off x="3160153" y="4486422"/>
            <a:ext cx="5681779" cy="54000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Servicios Empresariales Comunes</a:t>
            </a:r>
          </a:p>
        </p:txBody>
      </p:sp>
      <p:sp>
        <p:nvSpPr>
          <p:cNvPr id="110" name="Rectangle 109">
            <a:extLst>
              <a:ext uri="{FF2B5EF4-FFF2-40B4-BE49-F238E27FC236}">
                <a16:creationId xmlns:a16="http://schemas.microsoft.com/office/drawing/2014/main" id="{B1725488-EA53-C428-D8DC-D20EDE1C6F32}"/>
              </a:ext>
            </a:extLst>
          </p:cNvPr>
          <p:cNvSpPr/>
          <p:nvPr/>
        </p:nvSpPr>
        <p:spPr>
          <a:xfrm>
            <a:off x="3237925"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Catálogo de datos y modelado</a:t>
            </a:r>
          </a:p>
        </p:txBody>
      </p:sp>
      <p:sp>
        <p:nvSpPr>
          <p:cNvPr id="114" name="Rectangle 113">
            <a:extLst>
              <a:ext uri="{FF2B5EF4-FFF2-40B4-BE49-F238E27FC236}">
                <a16:creationId xmlns:a16="http://schemas.microsoft.com/office/drawing/2014/main" id="{59F9407A-4ADB-5C6C-4A1A-310D02A6A64E}"/>
              </a:ext>
            </a:extLst>
          </p:cNvPr>
          <p:cNvSpPr/>
          <p:nvPr/>
        </p:nvSpPr>
        <p:spPr>
          <a:xfrm>
            <a:off x="5116673"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Canalizaciones y Entrega de Datos</a:t>
            </a:r>
          </a:p>
        </p:txBody>
      </p:sp>
      <p:sp>
        <p:nvSpPr>
          <p:cNvPr id="118" name="Rectangle 117">
            <a:extLst>
              <a:ext uri="{FF2B5EF4-FFF2-40B4-BE49-F238E27FC236}">
                <a16:creationId xmlns:a16="http://schemas.microsoft.com/office/drawing/2014/main" id="{689B5594-7C39-8B8A-48B4-ADEA2BB5982B}"/>
              </a:ext>
            </a:extLst>
          </p:cNvPr>
          <p:cNvSpPr/>
          <p:nvPr/>
        </p:nvSpPr>
        <p:spPr>
          <a:xfrm>
            <a:off x="6995420" y="5358283"/>
            <a:ext cx="1800000" cy="73771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Patrones clave</a:t>
            </a:r>
          </a:p>
        </p:txBody>
      </p:sp>
      <p:sp>
        <p:nvSpPr>
          <p:cNvPr id="120" name="Rectangle 119">
            <a:extLst>
              <a:ext uri="{FF2B5EF4-FFF2-40B4-BE49-F238E27FC236}">
                <a16:creationId xmlns:a16="http://schemas.microsoft.com/office/drawing/2014/main" id="{C2016573-CF3E-FAB2-23C2-300FD9EEDA87}"/>
              </a:ext>
            </a:extLst>
          </p:cNvPr>
          <p:cNvSpPr/>
          <p:nvPr/>
        </p:nvSpPr>
        <p:spPr>
          <a:xfrm>
            <a:off x="7918501"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CQRS</a:t>
            </a:r>
          </a:p>
        </p:txBody>
      </p:sp>
      <p:sp>
        <p:nvSpPr>
          <p:cNvPr id="121" name="Rectangle 120">
            <a:extLst>
              <a:ext uri="{FF2B5EF4-FFF2-40B4-BE49-F238E27FC236}">
                <a16:creationId xmlns:a16="http://schemas.microsoft.com/office/drawing/2014/main" id="{F0E3A343-F3AC-CBB0-A0F3-FF664493ED19}"/>
              </a:ext>
            </a:extLst>
          </p:cNvPr>
          <p:cNvSpPr/>
          <p:nvPr/>
        </p:nvSpPr>
        <p:spPr>
          <a:xfrm>
            <a:off x="7046953" y="5841873"/>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22" name="Rectangle 121">
            <a:extLst>
              <a:ext uri="{FF2B5EF4-FFF2-40B4-BE49-F238E27FC236}">
                <a16:creationId xmlns:a16="http://schemas.microsoft.com/office/drawing/2014/main" id="{BDADF393-E4BF-1AC0-3745-3DBA409F5E03}"/>
              </a:ext>
            </a:extLst>
          </p:cNvPr>
          <p:cNvSpPr/>
          <p:nvPr/>
        </p:nvSpPr>
        <p:spPr>
          <a:xfrm>
            <a:off x="7047756" y="5584141"/>
            <a:ext cx="828000" cy="2160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Agregación de datos</a:t>
            </a:r>
          </a:p>
        </p:txBody>
      </p:sp>
      <p:sp>
        <p:nvSpPr>
          <p:cNvPr id="12" name="TextBox 11">
            <a:extLst>
              <a:ext uri="{FF2B5EF4-FFF2-40B4-BE49-F238E27FC236}">
                <a16:creationId xmlns:a16="http://schemas.microsoft.com/office/drawing/2014/main" id="{CE1984AB-3667-F7C1-9961-2D7352BFAAA5}"/>
              </a:ext>
            </a:extLst>
          </p:cNvPr>
          <p:cNvSpPr txBox="1"/>
          <p:nvPr>
            <p:extLst>
              <p:ext uri="{1162E1C5-73C7-4A58-AE30-91384D911F3F}">
                <p184:classification xmlns:p184="http://schemas.microsoft.com/office/powerpoint/2018/4/main" val="hdr"/>
              </p:ext>
            </p:extLst>
          </p:nvPr>
        </p:nvSpPr>
        <p:spPr>
          <a:xfrm>
            <a:off x="379000" y="78170"/>
            <a:ext cx="11432000" cy="154830"/>
          </a:xfrm>
          <a:prstGeom prst="rect">
            <a:avLst/>
          </a:prstGeom>
        </p:spPr>
        <p:txBody>
          <a:bodyPr horzOverflow="overflow"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Body)"/>
                <a:ea typeface="+mn-ea"/>
                <a:cs typeface="Calibri" panose="020F0502020204030204" pitchFamily="34" charset="0"/>
              </a:rPr>
              <a:t>*** Confidencial - Solo para uso interno de la empresa ***</a:t>
            </a:r>
          </a:p>
        </p:txBody>
      </p:sp>
    </p:spTree>
    <p:extLst>
      <p:ext uri="{BB962C8B-B14F-4D97-AF65-F5344CB8AC3E}">
        <p14:creationId xmlns:p14="http://schemas.microsoft.com/office/powerpoint/2010/main" val="3515875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5AFAF70-BA5A-5091-740D-56030A8292A0}"/>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7DBE9118-4105-1913-A2E8-81EB78A7C59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Orquestación de Servicio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1FF81C2F-2794-5067-4F48-1FD854FAECA9}"/>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Orquestación sin Estado</a:t>
            </a:r>
          </a:p>
        </p:txBody>
      </p:sp>
      <p:sp>
        <p:nvSpPr>
          <p:cNvPr id="6" name="Rectangle 5">
            <a:extLst>
              <a:ext uri="{FF2B5EF4-FFF2-40B4-BE49-F238E27FC236}">
                <a16:creationId xmlns:a16="http://schemas.microsoft.com/office/drawing/2014/main" id="{48846FD4-7940-5CDF-F7FA-5320FCE3D29F}"/>
              </a:ext>
            </a:extLst>
          </p:cNvPr>
          <p:cNvSpPr/>
          <p:nvPr/>
        </p:nvSpPr>
        <p:spPr>
          <a:xfrm>
            <a:off x="1968474"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7" name="Rectangle 6">
            <a:extLst>
              <a:ext uri="{FF2B5EF4-FFF2-40B4-BE49-F238E27FC236}">
                <a16:creationId xmlns:a16="http://schemas.microsoft.com/office/drawing/2014/main" id="{3FA457A2-5A34-715C-5CE9-2A0C278CCDA5}"/>
              </a:ext>
            </a:extLst>
          </p:cNvPr>
          <p:cNvSpPr/>
          <p:nvPr/>
        </p:nvSpPr>
        <p:spPr>
          <a:xfrm>
            <a:off x="538809" y="1520610"/>
            <a:ext cx="4462492" cy="314830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8" name="Rectangle 7">
            <a:extLst>
              <a:ext uri="{FF2B5EF4-FFF2-40B4-BE49-F238E27FC236}">
                <a16:creationId xmlns:a16="http://schemas.microsoft.com/office/drawing/2014/main" id="{3625D9DA-0110-90BA-74A0-3D4F66770DB4}"/>
              </a:ext>
            </a:extLst>
          </p:cNvPr>
          <p:cNvSpPr/>
          <p:nvPr/>
        </p:nvSpPr>
        <p:spPr>
          <a:xfrm>
            <a:off x="2456332" y="119342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9" name="Rectangle 8">
            <a:extLst>
              <a:ext uri="{FF2B5EF4-FFF2-40B4-BE49-F238E27FC236}">
                <a16:creationId xmlns:a16="http://schemas.microsoft.com/office/drawing/2014/main" id="{DDC35F10-80DD-6FC3-CB75-15B81F146263}"/>
              </a:ext>
            </a:extLst>
          </p:cNvPr>
          <p:cNvSpPr/>
          <p:nvPr/>
        </p:nvSpPr>
        <p:spPr>
          <a:xfrm>
            <a:off x="2679034" y="1738433"/>
            <a:ext cx="1679166" cy="930364"/>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 de 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sp>
        <p:nvSpPr>
          <p:cNvPr id="10" name="Rectangle 9">
            <a:extLst>
              <a:ext uri="{FF2B5EF4-FFF2-40B4-BE49-F238E27FC236}">
                <a16:creationId xmlns:a16="http://schemas.microsoft.com/office/drawing/2014/main" id="{AA39466E-2937-9DDE-4446-2B47B902749F}"/>
              </a:ext>
            </a:extLst>
          </p:cNvPr>
          <p:cNvSpPr/>
          <p:nvPr/>
        </p:nvSpPr>
        <p:spPr>
          <a:xfrm>
            <a:off x="207079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t>
            </a:r>
          </a:p>
        </p:txBody>
      </p:sp>
      <p:cxnSp>
        <p:nvCxnSpPr>
          <p:cNvPr id="11" name="Straight Arrow Connector 10">
            <a:extLst>
              <a:ext uri="{FF2B5EF4-FFF2-40B4-BE49-F238E27FC236}">
                <a16:creationId xmlns:a16="http://schemas.microsoft.com/office/drawing/2014/main" id="{F3311CBD-2A37-0660-0D70-E2FCF3FC4DAF}"/>
              </a:ext>
            </a:extLst>
          </p:cNvPr>
          <p:cNvCxnSpPr>
            <a:cxnSpLocks/>
          </p:cNvCxnSpPr>
          <p:nvPr/>
        </p:nvCxnSpPr>
        <p:spPr>
          <a:xfrm>
            <a:off x="3469624" y="1345505"/>
            <a:ext cx="1" cy="38122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DCD3487A-5B25-F00C-E7B8-3A24DCA5988F}"/>
              </a:ext>
            </a:extLst>
          </p:cNvPr>
          <p:cNvSpPr/>
          <p:nvPr/>
        </p:nvSpPr>
        <p:spPr>
          <a:xfrm>
            <a:off x="3111244"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2</a:t>
            </a:r>
          </a:p>
        </p:txBody>
      </p:sp>
      <p:sp>
        <p:nvSpPr>
          <p:cNvPr id="13" name="Rectangle 12">
            <a:extLst>
              <a:ext uri="{FF2B5EF4-FFF2-40B4-BE49-F238E27FC236}">
                <a16:creationId xmlns:a16="http://schemas.microsoft.com/office/drawing/2014/main" id="{2D92EE6E-F8C2-FB61-0646-BE036637A8EC}"/>
              </a:ext>
            </a:extLst>
          </p:cNvPr>
          <p:cNvSpPr/>
          <p:nvPr/>
        </p:nvSpPr>
        <p:spPr>
          <a:xfrm>
            <a:off x="4159471" y="35885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3</a:t>
            </a:r>
          </a:p>
        </p:txBody>
      </p:sp>
      <p:cxnSp>
        <p:nvCxnSpPr>
          <p:cNvPr id="14" name="Connector: Elbow 13">
            <a:extLst>
              <a:ext uri="{FF2B5EF4-FFF2-40B4-BE49-F238E27FC236}">
                <a16:creationId xmlns:a16="http://schemas.microsoft.com/office/drawing/2014/main" id="{55AC6E1E-2180-8AE5-B07A-E333B3566C33}"/>
              </a:ext>
            </a:extLst>
          </p:cNvPr>
          <p:cNvCxnSpPr>
            <a:cxnSpLocks/>
            <a:stCxn id="54" idx="2"/>
            <a:endCxn id="10" idx="0"/>
          </p:cNvCxnSpPr>
          <p:nvPr/>
        </p:nvCxnSpPr>
        <p:spPr>
          <a:xfrm rot="5400000">
            <a:off x="2359613" y="2456205"/>
            <a:ext cx="1211569" cy="10531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55D42C3-A385-F130-C6D0-D8AD81BD8D28}"/>
              </a:ext>
            </a:extLst>
          </p:cNvPr>
          <p:cNvSpPr/>
          <p:nvPr/>
        </p:nvSpPr>
        <p:spPr>
          <a:xfrm>
            <a:off x="2070794" y="392902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1a</a:t>
            </a:r>
          </a:p>
        </p:txBody>
      </p:sp>
      <p:sp>
        <p:nvSpPr>
          <p:cNvPr id="16" name="Rectangle 15">
            <a:extLst>
              <a:ext uri="{FF2B5EF4-FFF2-40B4-BE49-F238E27FC236}">
                <a16:creationId xmlns:a16="http://schemas.microsoft.com/office/drawing/2014/main" id="{6249A962-4D94-1078-1381-F7707628806C}"/>
              </a:ext>
            </a:extLst>
          </p:cNvPr>
          <p:cNvSpPr/>
          <p:nvPr/>
        </p:nvSpPr>
        <p:spPr>
          <a:xfrm>
            <a:off x="2070794" y="426714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1b</a:t>
            </a:r>
          </a:p>
        </p:txBody>
      </p:sp>
      <p:cxnSp>
        <p:nvCxnSpPr>
          <p:cNvPr id="17" name="Connector: Elbow 16">
            <a:extLst>
              <a:ext uri="{FF2B5EF4-FFF2-40B4-BE49-F238E27FC236}">
                <a16:creationId xmlns:a16="http://schemas.microsoft.com/office/drawing/2014/main" id="{0FB4E734-211A-AB42-D16A-47200E32A9AE}"/>
              </a:ext>
            </a:extLst>
          </p:cNvPr>
          <p:cNvCxnSpPr>
            <a:cxnSpLocks/>
            <a:stCxn id="10" idx="1"/>
            <a:endCxn id="42" idx="4"/>
          </p:cNvCxnSpPr>
          <p:nvPr/>
        </p:nvCxnSpPr>
        <p:spPr>
          <a:xfrm rot="10800000" flipV="1">
            <a:off x="837978" y="3732545"/>
            <a:ext cx="1232817" cy="23365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C3E90605-73E7-FB1C-0CB8-FED92405B0E4}"/>
              </a:ext>
            </a:extLst>
          </p:cNvPr>
          <p:cNvSpPr/>
          <p:nvPr/>
        </p:nvSpPr>
        <p:spPr>
          <a:xfrm>
            <a:off x="3010225"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19" name="Rectangle 18">
            <a:extLst>
              <a:ext uri="{FF2B5EF4-FFF2-40B4-BE49-F238E27FC236}">
                <a16:creationId xmlns:a16="http://schemas.microsoft.com/office/drawing/2014/main" id="{E92E3F7A-BB57-18EC-9E79-3869EF4A9C25}"/>
              </a:ext>
            </a:extLst>
          </p:cNvPr>
          <p:cNvSpPr/>
          <p:nvPr/>
        </p:nvSpPr>
        <p:spPr>
          <a:xfrm>
            <a:off x="3110449"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Backend 2</a:t>
            </a:r>
          </a:p>
        </p:txBody>
      </p:sp>
      <p:sp>
        <p:nvSpPr>
          <p:cNvPr id="20" name="Rectangle 19">
            <a:extLst>
              <a:ext uri="{FF2B5EF4-FFF2-40B4-BE49-F238E27FC236}">
                <a16:creationId xmlns:a16="http://schemas.microsoft.com/office/drawing/2014/main" id="{E10F9407-D7CC-A174-5B5E-CD9E7A4D84A1}"/>
              </a:ext>
            </a:extLst>
          </p:cNvPr>
          <p:cNvSpPr/>
          <p:nvPr/>
        </p:nvSpPr>
        <p:spPr>
          <a:xfrm>
            <a:off x="4056348" y="5231199"/>
            <a:ext cx="942808" cy="6000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p:txBody>
      </p:sp>
      <p:sp>
        <p:nvSpPr>
          <p:cNvPr id="21" name="Rectangle 20">
            <a:extLst>
              <a:ext uri="{FF2B5EF4-FFF2-40B4-BE49-F238E27FC236}">
                <a16:creationId xmlns:a16="http://schemas.microsoft.com/office/drawing/2014/main" id="{545EB06E-54DA-7999-7344-A7BAE14AD1E9}"/>
              </a:ext>
            </a:extLst>
          </p:cNvPr>
          <p:cNvSpPr/>
          <p:nvPr/>
        </p:nvSpPr>
        <p:spPr>
          <a:xfrm>
            <a:off x="4159545" y="5386842"/>
            <a:ext cx="74193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p:txBody>
      </p:sp>
      <p:cxnSp>
        <p:nvCxnSpPr>
          <p:cNvPr id="22" name="Connector: Elbow 21">
            <a:extLst>
              <a:ext uri="{FF2B5EF4-FFF2-40B4-BE49-F238E27FC236}">
                <a16:creationId xmlns:a16="http://schemas.microsoft.com/office/drawing/2014/main" id="{CCD3FE0F-DCA6-6C34-55DE-7186EA6CC7E4}"/>
              </a:ext>
            </a:extLst>
          </p:cNvPr>
          <p:cNvCxnSpPr>
            <a:cxnSpLocks/>
            <a:stCxn id="16" idx="2"/>
            <a:endCxn id="39" idx="1"/>
          </p:cNvCxnSpPr>
          <p:nvPr/>
        </p:nvCxnSpPr>
        <p:spPr>
          <a:xfrm rot="5400000">
            <a:off x="2033282" y="4954258"/>
            <a:ext cx="804673" cy="644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578ADBD3-B855-EFE2-6F8C-A85ACF3A93B3}"/>
              </a:ext>
            </a:extLst>
          </p:cNvPr>
          <p:cNvCxnSpPr>
            <a:cxnSpLocks/>
            <a:stCxn id="12" idx="2"/>
            <a:endCxn id="50" idx="0"/>
          </p:cNvCxnSpPr>
          <p:nvPr/>
        </p:nvCxnSpPr>
        <p:spPr>
          <a:xfrm rot="16200000" flipH="1">
            <a:off x="3260252" y="4095583"/>
            <a:ext cx="441529" cy="34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D3DCBAB5-AC43-3A49-A9F3-CBD70C8810F2}"/>
              </a:ext>
            </a:extLst>
          </p:cNvPr>
          <p:cNvSpPr/>
          <p:nvPr/>
        </p:nvSpPr>
        <p:spPr>
          <a:xfrm>
            <a:off x="4058493" y="4814528"/>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Legado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Adaptador</a:t>
            </a:r>
          </a:p>
        </p:txBody>
      </p:sp>
      <p:cxnSp>
        <p:nvCxnSpPr>
          <p:cNvPr id="25" name="Connector: Elbow 24">
            <a:extLst>
              <a:ext uri="{FF2B5EF4-FFF2-40B4-BE49-F238E27FC236}">
                <a16:creationId xmlns:a16="http://schemas.microsoft.com/office/drawing/2014/main" id="{9259E8E4-C9F4-1E6B-80DB-C7F065695363}"/>
              </a:ext>
            </a:extLst>
          </p:cNvPr>
          <p:cNvCxnSpPr>
            <a:cxnSpLocks/>
            <a:stCxn id="13" idx="2"/>
            <a:endCxn id="24" idx="0"/>
          </p:cNvCxnSpPr>
          <p:nvPr/>
        </p:nvCxnSpPr>
        <p:spPr>
          <a:xfrm rot="16200000" flipH="1">
            <a:off x="4059716" y="4344346"/>
            <a:ext cx="937983" cy="237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8138320B-13A4-DE9A-9881-641299121E1B}"/>
              </a:ext>
            </a:extLst>
          </p:cNvPr>
          <p:cNvCxnSpPr>
            <a:cxnSpLocks/>
            <a:stCxn id="42" idx="1"/>
            <a:endCxn id="9" idx="1"/>
          </p:cNvCxnSpPr>
          <p:nvPr/>
        </p:nvCxnSpPr>
        <p:spPr>
          <a:xfrm rot="5400000" flipH="1" flipV="1">
            <a:off x="1141650" y="1796480"/>
            <a:ext cx="1130248" cy="194451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7958C0D-5156-3805-A95C-54DC7EB7EAF0}"/>
              </a:ext>
            </a:extLst>
          </p:cNvPr>
          <p:cNvSpPr/>
          <p:nvPr/>
        </p:nvSpPr>
        <p:spPr>
          <a:xfrm>
            <a:off x="5996500" y="2768016"/>
            <a:ext cx="942808" cy="335266"/>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Herramientas de monitorización</a:t>
            </a:r>
          </a:p>
        </p:txBody>
      </p:sp>
      <p:cxnSp>
        <p:nvCxnSpPr>
          <p:cNvPr id="28" name="Connector: Elbow 27">
            <a:extLst>
              <a:ext uri="{FF2B5EF4-FFF2-40B4-BE49-F238E27FC236}">
                <a16:creationId xmlns:a16="http://schemas.microsoft.com/office/drawing/2014/main" id="{22B3A887-62FA-8682-5408-D2EB55A57FE0}"/>
              </a:ext>
            </a:extLst>
          </p:cNvPr>
          <p:cNvCxnSpPr>
            <a:cxnSpLocks/>
            <a:stCxn id="54" idx="3"/>
            <a:endCxn id="40" idx="2"/>
          </p:cNvCxnSpPr>
          <p:nvPr/>
        </p:nvCxnSpPr>
        <p:spPr>
          <a:xfrm>
            <a:off x="3918540" y="2249247"/>
            <a:ext cx="1539511" cy="683074"/>
          </a:xfrm>
          <a:prstGeom prst="bentConnector3">
            <a:avLst>
              <a:gd name="adj1" fmla="val 6102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3446A884-8DCB-4E49-6F6D-1E07A833B8F0}"/>
              </a:ext>
            </a:extLst>
          </p:cNvPr>
          <p:cNvCxnSpPr>
            <a:cxnSpLocks/>
            <a:stCxn id="9" idx="3"/>
            <a:endCxn id="40" idx="2"/>
          </p:cNvCxnSpPr>
          <p:nvPr/>
        </p:nvCxnSpPr>
        <p:spPr>
          <a:xfrm>
            <a:off x="4358200" y="2203615"/>
            <a:ext cx="1099851" cy="7287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3DEEFFEF-DE72-3188-6E1B-074D9C293377}"/>
              </a:ext>
            </a:extLst>
          </p:cNvPr>
          <p:cNvGrpSpPr/>
          <p:nvPr/>
        </p:nvGrpSpPr>
        <p:grpSpPr>
          <a:xfrm>
            <a:off x="4422032" y="1410695"/>
            <a:ext cx="844771" cy="284934"/>
            <a:chOff x="2436880" y="1158097"/>
            <a:chExt cx="1080000" cy="360000"/>
          </a:xfrm>
          <a:solidFill>
            <a:schemeClr val="bg1"/>
          </a:solidFill>
        </p:grpSpPr>
        <p:sp>
          <p:nvSpPr>
            <p:cNvPr id="31" name="Rectangle 30">
              <a:extLst>
                <a:ext uri="{FF2B5EF4-FFF2-40B4-BE49-F238E27FC236}">
                  <a16:creationId xmlns:a16="http://schemas.microsoft.com/office/drawing/2014/main" id="{EAD3589D-C1B3-E54F-F4E3-551003E34A25}"/>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2" name="Picture 31">
              <a:extLst>
                <a:ext uri="{FF2B5EF4-FFF2-40B4-BE49-F238E27FC236}">
                  <a16:creationId xmlns:a16="http://schemas.microsoft.com/office/drawing/2014/main" id="{8FEDBB6D-AC4F-FE34-719C-3E8DAF8C19FC}"/>
                </a:ext>
              </a:extLst>
            </p:cNvPr>
            <p:cNvPicPr>
              <a:picLocks noChangeAspect="1"/>
            </p:cNvPicPr>
            <p:nvPr/>
          </p:nvPicPr>
          <p:blipFill>
            <a:blip r:embed="rId2"/>
            <a:stretch>
              <a:fillRect/>
            </a:stretch>
          </p:blipFill>
          <p:spPr>
            <a:xfrm>
              <a:off x="2470229" y="1215368"/>
              <a:ext cx="1013303" cy="245459"/>
            </a:xfrm>
            <a:prstGeom prst="rect">
              <a:avLst/>
            </a:prstGeom>
            <a:grpFill/>
          </p:spPr>
        </p:pic>
      </p:grpSp>
      <p:cxnSp>
        <p:nvCxnSpPr>
          <p:cNvPr id="33" name="Connector: Elbow 32">
            <a:extLst>
              <a:ext uri="{FF2B5EF4-FFF2-40B4-BE49-F238E27FC236}">
                <a16:creationId xmlns:a16="http://schemas.microsoft.com/office/drawing/2014/main" id="{92F4E024-76E2-0965-C1DA-3FFC465FD0A4}"/>
              </a:ext>
            </a:extLst>
          </p:cNvPr>
          <p:cNvCxnSpPr>
            <a:cxnSpLocks/>
            <a:stCxn id="24" idx="3"/>
            <a:endCxn id="40" idx="2"/>
          </p:cNvCxnSpPr>
          <p:nvPr/>
        </p:nvCxnSpPr>
        <p:spPr>
          <a:xfrm flipV="1">
            <a:off x="5001301" y="2932321"/>
            <a:ext cx="456750" cy="2049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TextBox 144">
            <a:extLst>
              <a:ext uri="{FF2B5EF4-FFF2-40B4-BE49-F238E27FC236}">
                <a16:creationId xmlns:a16="http://schemas.microsoft.com/office/drawing/2014/main" id="{D584FF7F-D512-416F-92C1-8D5911A401AD}"/>
              </a:ext>
            </a:extLst>
          </p:cNvPr>
          <p:cNvSpPr txBox="1"/>
          <p:nvPr/>
        </p:nvSpPr>
        <p:spPr>
          <a:xfrm>
            <a:off x="7351070" y="1561320"/>
            <a:ext cx="3804073" cy="3588469"/>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complejos se descomponen en una secuencia de servicios de grano fino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Se orquestan e integran usando el mismo framework (por ejemplo, Mulesoft o Camel)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pasos en un servicio complejo pueden seguir una secuencia o ejecutarse en paralelo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Las interacciones entre servicios pueden ser síncronas (RPC) o asíncronas (basadas en eventos)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servicios de grano fino pueden estar en varias plataformas diferentes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Todos los componentes están conectados a las herramientas de monitorización, normalmente mediante eventos para registrar tanto datos técnicos como empresariales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NOTA: No se representa aquí el procesamiento de transacciones. Esto se considera un caso particular de Orquestación de Servicios que requiere atomicidad</a:t>
            </a:r>
          </a:p>
        </p:txBody>
      </p:sp>
      <p:cxnSp>
        <p:nvCxnSpPr>
          <p:cNvPr id="35" name="Connector: Elbow 34">
            <a:extLst>
              <a:ext uri="{FF2B5EF4-FFF2-40B4-BE49-F238E27FC236}">
                <a16:creationId xmlns:a16="http://schemas.microsoft.com/office/drawing/2014/main" id="{261F6E85-0B22-7E36-25F4-177D159ACBEF}"/>
              </a:ext>
            </a:extLst>
          </p:cNvPr>
          <p:cNvCxnSpPr>
            <a:cxnSpLocks/>
            <a:stCxn id="24" idx="2"/>
            <a:endCxn id="21" idx="0"/>
          </p:cNvCxnSpPr>
          <p:nvPr/>
        </p:nvCxnSpPr>
        <p:spPr>
          <a:xfrm rot="16200000" flipH="1">
            <a:off x="4411680" y="5268011"/>
            <a:ext cx="237048" cy="6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A345749D-FD05-A820-26EF-AACD13C243AD}"/>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37" name="Rectangle 36">
            <a:extLst>
              <a:ext uri="{FF2B5EF4-FFF2-40B4-BE49-F238E27FC236}">
                <a16:creationId xmlns:a16="http://schemas.microsoft.com/office/drawing/2014/main" id="{104D4088-4042-E977-4C00-83501301089E}"/>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38" name="Rectangle 37">
            <a:extLst>
              <a:ext uri="{FF2B5EF4-FFF2-40B4-BE49-F238E27FC236}">
                <a16:creationId xmlns:a16="http://schemas.microsoft.com/office/drawing/2014/main" id="{02483F42-8F64-F8F3-BDE9-E6418BF4787D}"/>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39" name="Flowchart: Magnetic Disk 38">
            <a:extLst>
              <a:ext uri="{FF2B5EF4-FFF2-40B4-BE49-F238E27FC236}">
                <a16:creationId xmlns:a16="http://schemas.microsoft.com/office/drawing/2014/main" id="{F6009356-F2CA-3268-3B9D-25D36F77119C}"/>
              </a:ext>
            </a:extLst>
          </p:cNvPr>
          <p:cNvSpPr/>
          <p:nvPr/>
        </p:nvSpPr>
        <p:spPr>
          <a:xfrm>
            <a:off x="2064347" y="5359818"/>
            <a:ext cx="736093" cy="307104"/>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1</a:t>
            </a:r>
          </a:p>
        </p:txBody>
      </p:sp>
      <p:sp>
        <p:nvSpPr>
          <p:cNvPr id="40" name="Can 172">
            <a:extLst>
              <a:ext uri="{FF2B5EF4-FFF2-40B4-BE49-F238E27FC236}">
                <a16:creationId xmlns:a16="http://schemas.microsoft.com/office/drawing/2014/main" id="{14063886-A605-9740-2CB1-3A12B4CC6B1E}"/>
              </a:ext>
            </a:extLst>
          </p:cNvPr>
          <p:cNvSpPr/>
          <p:nvPr/>
        </p:nvSpPr>
        <p:spPr bwMode="auto">
          <a:xfrm>
            <a:off x="5458051" y="212151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Autobús de eventos</a:t>
            </a:r>
          </a:p>
        </p:txBody>
      </p:sp>
      <p:cxnSp>
        <p:nvCxnSpPr>
          <p:cNvPr id="41" name="Connector: Elbow 40">
            <a:extLst>
              <a:ext uri="{FF2B5EF4-FFF2-40B4-BE49-F238E27FC236}">
                <a16:creationId xmlns:a16="http://schemas.microsoft.com/office/drawing/2014/main" id="{CBCBC3F8-CE93-8896-CF83-1D7D419D96E5}"/>
              </a:ext>
            </a:extLst>
          </p:cNvPr>
          <p:cNvCxnSpPr>
            <a:cxnSpLocks/>
            <a:stCxn id="40" idx="4"/>
            <a:endCxn id="27" idx="1"/>
          </p:cNvCxnSpPr>
          <p:nvPr/>
        </p:nvCxnSpPr>
        <p:spPr>
          <a:xfrm>
            <a:off x="5770712" y="2932321"/>
            <a:ext cx="225788" cy="3328"/>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2" name="Can 172">
            <a:extLst>
              <a:ext uri="{FF2B5EF4-FFF2-40B4-BE49-F238E27FC236}">
                <a16:creationId xmlns:a16="http://schemas.microsoft.com/office/drawing/2014/main" id="{5B8E8BC3-7B49-9112-566F-0C3CBB44D8E3}"/>
              </a:ext>
            </a:extLst>
          </p:cNvPr>
          <p:cNvSpPr/>
          <p:nvPr/>
        </p:nvSpPr>
        <p:spPr bwMode="auto">
          <a:xfrm>
            <a:off x="631052" y="3333863"/>
            <a:ext cx="206925" cy="1264667"/>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a:t>
            </a:r>
          </a:p>
        </p:txBody>
      </p:sp>
      <p:cxnSp>
        <p:nvCxnSpPr>
          <p:cNvPr id="43" name="Connector: Elbow 42">
            <a:extLst>
              <a:ext uri="{FF2B5EF4-FFF2-40B4-BE49-F238E27FC236}">
                <a16:creationId xmlns:a16="http://schemas.microsoft.com/office/drawing/2014/main" id="{CE0DA639-EEAB-89EB-0EE9-F4D7E3890A74}"/>
              </a:ext>
            </a:extLst>
          </p:cNvPr>
          <p:cNvCxnSpPr>
            <a:cxnSpLocks/>
            <a:endCxn id="15" idx="1"/>
          </p:cNvCxnSpPr>
          <p:nvPr/>
        </p:nvCxnSpPr>
        <p:spPr>
          <a:xfrm flipV="1">
            <a:off x="837977" y="4073028"/>
            <a:ext cx="1232817" cy="461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B516476-B8F2-1DB6-1EC9-D831738E285B}"/>
              </a:ext>
            </a:extLst>
          </p:cNvPr>
          <p:cNvCxnSpPr>
            <a:cxnSpLocks/>
            <a:endCxn id="16" idx="1"/>
          </p:cNvCxnSpPr>
          <p:nvPr/>
        </p:nvCxnSpPr>
        <p:spPr>
          <a:xfrm>
            <a:off x="871765" y="4267145"/>
            <a:ext cx="1199029" cy="14400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C61524D6-8741-CFCA-C2E0-3F0A77D983D2}"/>
              </a:ext>
            </a:extLst>
          </p:cNvPr>
          <p:cNvGrpSpPr/>
          <p:nvPr/>
        </p:nvGrpSpPr>
        <p:grpSpPr>
          <a:xfrm>
            <a:off x="2605321" y="2851697"/>
            <a:ext cx="648519" cy="196483"/>
            <a:chOff x="4509016" y="3576639"/>
            <a:chExt cx="1080000" cy="360000"/>
          </a:xfrm>
          <a:solidFill>
            <a:schemeClr val="bg1"/>
          </a:solidFill>
        </p:grpSpPr>
        <p:sp>
          <p:nvSpPr>
            <p:cNvPr id="46" name="Rectangle 45">
              <a:extLst>
                <a:ext uri="{FF2B5EF4-FFF2-40B4-BE49-F238E27FC236}">
                  <a16:creationId xmlns:a16="http://schemas.microsoft.com/office/drawing/2014/main" id="{2F648846-97D8-E60B-B610-3E0344116403}"/>
                </a:ext>
              </a:extLst>
            </p:cNvPr>
            <p:cNvSpPr/>
            <p:nvPr/>
          </p:nvSpPr>
          <p:spPr>
            <a:xfrm>
              <a:off x="4509016" y="3576639"/>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err="1">
                  <a:ln>
                    <a:noFill/>
                  </a:ln>
                  <a:solidFill>
                    <a:srgbClr val="000000"/>
                  </a:solidFill>
                  <a:effectLst/>
                  <a:uLnTx/>
                  <a:uFillTx/>
                  <a:latin typeface="Graphik"/>
                  <a:ea typeface="+mn-ea"/>
                  <a:cs typeface="+mn-cs"/>
                </a:rPr>
                <a:t>gRPC</a:t>
              </a: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47" name="Picture 46">
              <a:extLst>
                <a:ext uri="{FF2B5EF4-FFF2-40B4-BE49-F238E27FC236}">
                  <a16:creationId xmlns:a16="http://schemas.microsoft.com/office/drawing/2014/main" id="{89BC84AD-02F3-C3C3-DE36-3B18DAF7B7EA}"/>
                </a:ext>
              </a:extLst>
            </p:cNvPr>
            <p:cNvPicPr>
              <a:picLocks noChangeAspect="1"/>
            </p:cNvPicPr>
            <p:nvPr/>
          </p:nvPicPr>
          <p:blipFill>
            <a:blip r:embed="rId3"/>
            <a:stretch>
              <a:fillRect/>
            </a:stretch>
          </p:blipFill>
          <p:spPr>
            <a:xfrm>
              <a:off x="4746472" y="3602759"/>
              <a:ext cx="605088" cy="307760"/>
            </a:xfrm>
            <a:prstGeom prst="rect">
              <a:avLst/>
            </a:prstGeom>
            <a:grpFill/>
          </p:spPr>
        </p:pic>
      </p:grpSp>
      <p:cxnSp>
        <p:nvCxnSpPr>
          <p:cNvPr id="48" name="Connector: Elbow 47">
            <a:extLst>
              <a:ext uri="{FF2B5EF4-FFF2-40B4-BE49-F238E27FC236}">
                <a16:creationId xmlns:a16="http://schemas.microsoft.com/office/drawing/2014/main" id="{E0181BF7-D9D1-9C99-6806-EECCC19502A4}"/>
              </a:ext>
            </a:extLst>
          </p:cNvPr>
          <p:cNvCxnSpPr>
            <a:cxnSpLocks/>
            <a:stCxn id="54" idx="2"/>
            <a:endCxn id="12" idx="0"/>
          </p:cNvCxnSpPr>
          <p:nvPr/>
        </p:nvCxnSpPr>
        <p:spPr>
          <a:xfrm rot="5400000">
            <a:off x="2879838" y="2976430"/>
            <a:ext cx="1211569" cy="126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Connector: Elbow 48">
            <a:extLst>
              <a:ext uri="{FF2B5EF4-FFF2-40B4-BE49-F238E27FC236}">
                <a16:creationId xmlns:a16="http://schemas.microsoft.com/office/drawing/2014/main" id="{AD8E7908-D0B5-FE1C-4D01-B9529BCE37E3}"/>
              </a:ext>
            </a:extLst>
          </p:cNvPr>
          <p:cNvCxnSpPr>
            <a:cxnSpLocks/>
            <a:stCxn id="54" idx="2"/>
            <a:endCxn id="13" idx="0"/>
          </p:cNvCxnSpPr>
          <p:nvPr/>
        </p:nvCxnSpPr>
        <p:spPr>
          <a:xfrm rot="16200000" flipH="1">
            <a:off x="3403951" y="2464977"/>
            <a:ext cx="1211569" cy="103556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C9A54020-5EFF-7F69-D742-272319A70586}"/>
              </a:ext>
            </a:extLst>
          </p:cNvPr>
          <p:cNvSpPr/>
          <p:nvPr/>
        </p:nvSpPr>
        <p:spPr>
          <a:xfrm>
            <a:off x="2896111" y="4318074"/>
            <a:ext cx="117326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integración</a:t>
            </a:r>
          </a:p>
        </p:txBody>
      </p:sp>
      <p:grpSp>
        <p:nvGrpSpPr>
          <p:cNvPr id="51" name="Group 50">
            <a:extLst>
              <a:ext uri="{FF2B5EF4-FFF2-40B4-BE49-F238E27FC236}">
                <a16:creationId xmlns:a16="http://schemas.microsoft.com/office/drawing/2014/main" id="{FB951168-BC57-A4CF-F794-21EB99F64FF4}"/>
              </a:ext>
            </a:extLst>
          </p:cNvPr>
          <p:cNvGrpSpPr/>
          <p:nvPr/>
        </p:nvGrpSpPr>
        <p:grpSpPr>
          <a:xfrm>
            <a:off x="4040347" y="2558283"/>
            <a:ext cx="678368" cy="196483"/>
            <a:chOff x="2377230" y="1704273"/>
            <a:chExt cx="1080000" cy="360000"/>
          </a:xfrm>
          <a:solidFill>
            <a:schemeClr val="bg1"/>
          </a:solidFill>
        </p:grpSpPr>
        <p:sp>
          <p:nvSpPr>
            <p:cNvPr id="52" name="Rectangle 51">
              <a:extLst>
                <a:ext uri="{FF2B5EF4-FFF2-40B4-BE49-F238E27FC236}">
                  <a16:creationId xmlns:a16="http://schemas.microsoft.com/office/drawing/2014/main" id="{3AE7A82D-718B-381B-D4C8-E65825B73D3C}"/>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3" name="Picture 52">
              <a:extLst>
                <a:ext uri="{FF2B5EF4-FFF2-40B4-BE49-F238E27FC236}">
                  <a16:creationId xmlns:a16="http://schemas.microsoft.com/office/drawing/2014/main" id="{D27B72DF-E14F-69AF-1981-B7C87A79FEA6}"/>
                </a:ext>
              </a:extLst>
            </p:cNvPr>
            <p:cNvPicPr>
              <a:picLocks noChangeAspect="1"/>
            </p:cNvPicPr>
            <p:nvPr/>
          </p:nvPicPr>
          <p:blipFill>
            <a:blip r:embed="rId4"/>
            <a:stretch>
              <a:fillRect/>
            </a:stretch>
          </p:blipFill>
          <p:spPr>
            <a:xfrm>
              <a:off x="2431022" y="1725511"/>
              <a:ext cx="972417" cy="317524"/>
            </a:xfrm>
            <a:prstGeom prst="rect">
              <a:avLst/>
            </a:prstGeom>
            <a:grpFill/>
          </p:spPr>
        </p:pic>
      </p:grpSp>
      <p:sp>
        <p:nvSpPr>
          <p:cNvPr id="54" name="Rectangle 53">
            <a:extLst>
              <a:ext uri="{FF2B5EF4-FFF2-40B4-BE49-F238E27FC236}">
                <a16:creationId xmlns:a16="http://schemas.microsoft.com/office/drawing/2014/main" id="{9C1377CD-F356-83DD-D8BF-8D6F4D7DCAEE}"/>
              </a:ext>
            </a:extLst>
          </p:cNvPr>
          <p:cNvSpPr/>
          <p:nvPr/>
        </p:nvSpPr>
        <p:spPr>
          <a:xfrm>
            <a:off x="3065363" y="2121518"/>
            <a:ext cx="853177" cy="25545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Complejo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p:txBody>
      </p:sp>
      <p:cxnSp>
        <p:nvCxnSpPr>
          <p:cNvPr id="55" name="Connector: Elbow 54">
            <a:extLst>
              <a:ext uri="{FF2B5EF4-FFF2-40B4-BE49-F238E27FC236}">
                <a16:creationId xmlns:a16="http://schemas.microsoft.com/office/drawing/2014/main" id="{EEC63603-7A6D-321D-3C72-BEF78D5A9619}"/>
              </a:ext>
            </a:extLst>
          </p:cNvPr>
          <p:cNvCxnSpPr>
            <a:cxnSpLocks/>
            <a:stCxn id="50" idx="2"/>
            <a:endCxn id="18" idx="0"/>
          </p:cNvCxnSpPr>
          <p:nvPr/>
        </p:nvCxnSpPr>
        <p:spPr>
          <a:xfrm rot="5400000">
            <a:off x="3169624" y="4918080"/>
            <a:ext cx="625125" cy="111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6" name="Group 55">
            <a:extLst>
              <a:ext uri="{FF2B5EF4-FFF2-40B4-BE49-F238E27FC236}">
                <a16:creationId xmlns:a16="http://schemas.microsoft.com/office/drawing/2014/main" id="{A52CC138-5F8B-CBE3-DFA7-B37A6004F123}"/>
              </a:ext>
            </a:extLst>
          </p:cNvPr>
          <p:cNvGrpSpPr/>
          <p:nvPr/>
        </p:nvGrpSpPr>
        <p:grpSpPr>
          <a:xfrm>
            <a:off x="3614638" y="4181575"/>
            <a:ext cx="678368" cy="196483"/>
            <a:chOff x="2377230" y="1704273"/>
            <a:chExt cx="1080000" cy="360000"/>
          </a:xfrm>
          <a:solidFill>
            <a:schemeClr val="bg1"/>
          </a:solidFill>
        </p:grpSpPr>
        <p:sp>
          <p:nvSpPr>
            <p:cNvPr id="57" name="Rectangle 56">
              <a:extLst>
                <a:ext uri="{FF2B5EF4-FFF2-40B4-BE49-F238E27FC236}">
                  <a16:creationId xmlns:a16="http://schemas.microsoft.com/office/drawing/2014/main" id="{4DE06682-016D-7BEE-73C6-307A82E63D87}"/>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58" name="Picture 57">
              <a:extLst>
                <a:ext uri="{FF2B5EF4-FFF2-40B4-BE49-F238E27FC236}">
                  <a16:creationId xmlns:a16="http://schemas.microsoft.com/office/drawing/2014/main" id="{8597D97B-441E-1657-36FA-0BD67030C614}"/>
                </a:ext>
              </a:extLst>
            </p:cNvPr>
            <p:cNvPicPr>
              <a:picLocks noChangeAspect="1"/>
            </p:cNvPicPr>
            <p:nvPr/>
          </p:nvPicPr>
          <p:blipFill>
            <a:blip r:embed="rId4"/>
            <a:stretch>
              <a:fillRect/>
            </a:stretch>
          </p:blipFill>
          <p:spPr>
            <a:xfrm>
              <a:off x="2431022" y="1725511"/>
              <a:ext cx="972417" cy="317524"/>
            </a:xfrm>
            <a:prstGeom prst="rect">
              <a:avLst/>
            </a:prstGeom>
            <a:grpFill/>
          </p:spPr>
        </p:pic>
      </p:grpSp>
      <p:grpSp>
        <p:nvGrpSpPr>
          <p:cNvPr id="59" name="Group 58">
            <a:extLst>
              <a:ext uri="{FF2B5EF4-FFF2-40B4-BE49-F238E27FC236}">
                <a16:creationId xmlns:a16="http://schemas.microsoft.com/office/drawing/2014/main" id="{FB58D99A-7B06-1A20-90C0-5ABC12F94A41}"/>
              </a:ext>
            </a:extLst>
          </p:cNvPr>
          <p:cNvGrpSpPr/>
          <p:nvPr/>
        </p:nvGrpSpPr>
        <p:grpSpPr>
          <a:xfrm>
            <a:off x="5626141" y="2405851"/>
            <a:ext cx="612000" cy="180000"/>
            <a:chOff x="2461363" y="4801885"/>
            <a:chExt cx="1080000" cy="360000"/>
          </a:xfrm>
        </p:grpSpPr>
        <p:sp>
          <p:nvSpPr>
            <p:cNvPr id="60" name="Rectangle 59">
              <a:extLst>
                <a:ext uri="{FF2B5EF4-FFF2-40B4-BE49-F238E27FC236}">
                  <a16:creationId xmlns:a16="http://schemas.microsoft.com/office/drawing/2014/main" id="{2D54F31C-6D96-4621-B732-004099A4228F}"/>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E1832140-FE59-2B98-1E06-1A52E33FA27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2" name="Group 61">
            <a:extLst>
              <a:ext uri="{FF2B5EF4-FFF2-40B4-BE49-F238E27FC236}">
                <a16:creationId xmlns:a16="http://schemas.microsoft.com/office/drawing/2014/main" id="{6CC14A44-9BCB-A644-0E36-6CDEFEF04CE1}"/>
              </a:ext>
            </a:extLst>
          </p:cNvPr>
          <p:cNvGrpSpPr/>
          <p:nvPr/>
        </p:nvGrpSpPr>
        <p:grpSpPr>
          <a:xfrm>
            <a:off x="761563" y="3497401"/>
            <a:ext cx="612000" cy="180000"/>
            <a:chOff x="2461363" y="4801885"/>
            <a:chExt cx="1080000" cy="360000"/>
          </a:xfrm>
        </p:grpSpPr>
        <p:sp>
          <p:nvSpPr>
            <p:cNvPr id="63" name="Rectangle 62">
              <a:extLst>
                <a:ext uri="{FF2B5EF4-FFF2-40B4-BE49-F238E27FC236}">
                  <a16:creationId xmlns:a16="http://schemas.microsoft.com/office/drawing/2014/main" id="{E5624F02-E99A-740D-CB63-CD1F5A71A3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4" name="Picture 63">
              <a:extLst>
                <a:ext uri="{FF2B5EF4-FFF2-40B4-BE49-F238E27FC236}">
                  <a16:creationId xmlns:a16="http://schemas.microsoft.com/office/drawing/2014/main" id="{CF89E427-B5AA-D694-6602-48F60B4913AB}"/>
                </a:ext>
              </a:extLst>
            </p:cNvPr>
            <p:cNvPicPr>
              <a:picLocks noChangeAspect="1"/>
            </p:cNvPicPr>
            <p:nvPr/>
          </p:nvPicPr>
          <p:blipFill>
            <a:blip r:embed="rId5"/>
            <a:stretch>
              <a:fillRect/>
            </a:stretch>
          </p:blipFill>
          <p:spPr>
            <a:xfrm>
              <a:off x="2654651" y="4822215"/>
              <a:ext cx="693425" cy="319340"/>
            </a:xfrm>
            <a:prstGeom prst="rect">
              <a:avLst/>
            </a:prstGeom>
            <a:solidFill>
              <a:schemeClr val="bg1"/>
            </a:solidFill>
          </p:spPr>
        </p:pic>
      </p:grpSp>
      <p:grpSp>
        <p:nvGrpSpPr>
          <p:cNvPr id="65" name="Group 64">
            <a:extLst>
              <a:ext uri="{FF2B5EF4-FFF2-40B4-BE49-F238E27FC236}">
                <a16:creationId xmlns:a16="http://schemas.microsoft.com/office/drawing/2014/main" id="{1119A7F5-485E-3CF9-0209-B0439F581D7B}"/>
              </a:ext>
            </a:extLst>
          </p:cNvPr>
          <p:cNvGrpSpPr/>
          <p:nvPr/>
        </p:nvGrpSpPr>
        <p:grpSpPr>
          <a:xfrm>
            <a:off x="9589089" y="731780"/>
            <a:ext cx="1862854" cy="253275"/>
            <a:chOff x="9929190" y="421028"/>
            <a:chExt cx="1862854" cy="253275"/>
          </a:xfrm>
        </p:grpSpPr>
        <p:sp>
          <p:nvSpPr>
            <p:cNvPr id="66" name="TextBox 63">
              <a:extLst>
                <a:ext uri="{FF2B5EF4-FFF2-40B4-BE49-F238E27FC236}">
                  <a16:creationId xmlns:a16="http://schemas.microsoft.com/office/drawing/2014/main" id="{D4503B56-A5CB-7043-81BD-E9C2BC2A2065}"/>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7" name="Straight Connector 66">
              <a:extLst>
                <a:ext uri="{FF2B5EF4-FFF2-40B4-BE49-F238E27FC236}">
                  <a16:creationId xmlns:a16="http://schemas.microsoft.com/office/drawing/2014/main" id="{8BB77A2B-B821-1DDB-D08B-A008E80D7AA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31DF18-DA7A-450E-6DFB-529073B05FA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44">
            <a:extLst>
              <a:ext uri="{FF2B5EF4-FFF2-40B4-BE49-F238E27FC236}">
                <a16:creationId xmlns:a16="http://schemas.microsoft.com/office/drawing/2014/main" id="{901B9225-8144-D43B-202D-B8384783E1C5}"/>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Tree>
    <p:extLst>
      <p:ext uri="{BB962C8B-B14F-4D97-AF65-F5344CB8AC3E}">
        <p14:creationId xmlns:p14="http://schemas.microsoft.com/office/powerpoint/2010/main" val="4444694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9DF2D-F7ED-C2F8-4BFF-944077506D8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DD3A03-1980-FD6F-BAE1-537BA88FAF9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A29074-4A44-2899-3FF7-D993BCDEAC7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90CEDF88-44CF-7622-3B2F-147D365A341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6" name="Group 5">
            <a:extLst>
              <a:ext uri="{FF2B5EF4-FFF2-40B4-BE49-F238E27FC236}">
                <a16:creationId xmlns:a16="http://schemas.microsoft.com/office/drawing/2014/main" id="{264F1619-1F3D-39E7-608E-7A78608E3EA7}"/>
              </a:ext>
            </a:extLst>
          </p:cNvPr>
          <p:cNvGrpSpPr/>
          <p:nvPr/>
        </p:nvGrpSpPr>
        <p:grpSpPr>
          <a:xfrm>
            <a:off x="9589089" y="731780"/>
            <a:ext cx="1862854" cy="253275"/>
            <a:chOff x="9929190" y="421028"/>
            <a:chExt cx="1862854" cy="253275"/>
          </a:xfrm>
        </p:grpSpPr>
        <p:sp>
          <p:nvSpPr>
            <p:cNvPr id="7" name="TextBox 63">
              <a:extLst>
                <a:ext uri="{FF2B5EF4-FFF2-40B4-BE49-F238E27FC236}">
                  <a16:creationId xmlns:a16="http://schemas.microsoft.com/office/drawing/2014/main" id="{C8FA9878-51DF-5FE8-DA21-97C331F12030}"/>
                </a:ext>
              </a:extLst>
            </p:cNvPr>
            <p:cNvSpPr txBox="1"/>
            <p:nvPr/>
          </p:nvSpPr>
          <p:spPr>
            <a:xfrm>
              <a:off x="9936972" y="460821"/>
              <a:ext cx="1847290" cy="173690"/>
            </a:xfrm>
            <a:prstGeom prst="rect">
              <a:avLst/>
            </a:prstGeom>
            <a:noFill/>
          </p:spPr>
          <p:txBody>
            <a:bodyPr wrap="non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8" name="Straight Connector 7">
              <a:extLst>
                <a:ext uri="{FF2B5EF4-FFF2-40B4-BE49-F238E27FC236}">
                  <a16:creationId xmlns:a16="http://schemas.microsoft.com/office/drawing/2014/main" id="{6B5F0728-B75A-A6E5-B13A-F485A3DD7E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752A187-9808-53E7-5A01-B9B476F89CF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Rectangle 9">
            <a:extLst>
              <a:ext uri="{FF2B5EF4-FFF2-40B4-BE49-F238E27FC236}">
                <a16:creationId xmlns:a16="http://schemas.microsoft.com/office/drawing/2014/main" id="{BA4FF8D8-C715-AAA8-EB07-6067D62A7F64}"/>
              </a:ext>
            </a:extLst>
          </p:cNvPr>
          <p:cNvSpPr/>
          <p:nvPr/>
        </p:nvSpPr>
        <p:spPr>
          <a:xfrm>
            <a:off x="1599455" y="1306673"/>
            <a:ext cx="4848067" cy="22086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Marco</a:t>
            </a:r>
          </a:p>
        </p:txBody>
      </p:sp>
      <p:sp>
        <p:nvSpPr>
          <p:cNvPr id="11" name="Rectangle 10">
            <a:extLst>
              <a:ext uri="{FF2B5EF4-FFF2-40B4-BE49-F238E27FC236}">
                <a16:creationId xmlns:a16="http://schemas.microsoft.com/office/drawing/2014/main" id="{168A3E3E-A97E-0A23-211B-63B9E254A87B}"/>
              </a:ext>
            </a:extLst>
          </p:cNvPr>
          <p:cNvSpPr/>
          <p:nvPr/>
        </p:nvSpPr>
        <p:spPr>
          <a:xfrm>
            <a:off x="3297194" y="1388809"/>
            <a:ext cx="3032880" cy="80900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Orquestador</a:t>
            </a:r>
          </a:p>
        </p:txBody>
      </p:sp>
      <p:sp>
        <p:nvSpPr>
          <p:cNvPr id="12" name="Rectangle 11">
            <a:extLst>
              <a:ext uri="{FF2B5EF4-FFF2-40B4-BE49-F238E27FC236}">
                <a16:creationId xmlns:a16="http://schemas.microsoft.com/office/drawing/2014/main" id="{9F923F43-4DCF-E84B-8669-FB19BE87ED09}"/>
              </a:ext>
            </a:extLst>
          </p:cNvPr>
          <p:cNvSpPr/>
          <p:nvPr/>
        </p:nvSpPr>
        <p:spPr>
          <a:xfrm>
            <a:off x="3106294" y="5181939"/>
            <a:ext cx="1670782" cy="70043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Abierto</a:t>
            </a:r>
          </a:p>
        </p:txBody>
      </p:sp>
      <p:sp>
        <p:nvSpPr>
          <p:cNvPr id="13" name="Rectangle 12">
            <a:extLst>
              <a:ext uri="{FF2B5EF4-FFF2-40B4-BE49-F238E27FC236}">
                <a16:creationId xmlns:a16="http://schemas.microsoft.com/office/drawing/2014/main" id="{93B46D58-7C3F-EDD5-84F1-FFBAB5351101}"/>
              </a:ext>
            </a:extLst>
          </p:cNvPr>
          <p:cNvSpPr/>
          <p:nvPr/>
        </p:nvSpPr>
        <p:spPr>
          <a:xfrm>
            <a:off x="3752329" y="109091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4" name="Rectangle 13">
            <a:extLst>
              <a:ext uri="{FF2B5EF4-FFF2-40B4-BE49-F238E27FC236}">
                <a16:creationId xmlns:a16="http://schemas.microsoft.com/office/drawing/2014/main" id="{6A3DA94F-5451-97FB-65DC-A26C058F5A59}"/>
              </a:ext>
            </a:extLst>
          </p:cNvPr>
          <p:cNvSpPr/>
          <p:nvPr/>
        </p:nvSpPr>
        <p:spPr>
          <a:xfrm>
            <a:off x="3303305" y="2314252"/>
            <a:ext cx="3026769" cy="1135803"/>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Transacción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Entrenador</a:t>
            </a:r>
          </a:p>
        </p:txBody>
      </p:sp>
      <p:sp>
        <p:nvSpPr>
          <p:cNvPr id="15" name="Rectangle 14">
            <a:extLst>
              <a:ext uri="{FF2B5EF4-FFF2-40B4-BE49-F238E27FC236}">
                <a16:creationId xmlns:a16="http://schemas.microsoft.com/office/drawing/2014/main" id="{09E26E1B-9231-5CB5-C021-8E2C9054EA36}"/>
              </a:ext>
            </a:extLst>
          </p:cNvPr>
          <p:cNvSpPr/>
          <p:nvPr/>
        </p:nvSpPr>
        <p:spPr>
          <a:xfrm>
            <a:off x="3443945" y="284777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a:t>
            </a:r>
          </a:p>
        </p:txBody>
      </p:sp>
      <p:cxnSp>
        <p:nvCxnSpPr>
          <p:cNvPr id="16" name="Straight Arrow Connector 15">
            <a:extLst>
              <a:ext uri="{FF2B5EF4-FFF2-40B4-BE49-F238E27FC236}">
                <a16:creationId xmlns:a16="http://schemas.microsoft.com/office/drawing/2014/main" id="{DB74A573-6585-6E66-F22B-094F4623BB03}"/>
              </a:ext>
            </a:extLst>
          </p:cNvPr>
          <p:cNvCxnSpPr>
            <a:cxnSpLocks/>
            <a:stCxn id="13" idx="2"/>
            <a:endCxn id="63" idx="0"/>
          </p:cNvCxnSpPr>
          <p:nvPr/>
        </p:nvCxnSpPr>
        <p:spPr>
          <a:xfrm>
            <a:off x="4767190" y="1242995"/>
            <a:ext cx="1" cy="24481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44281B5-C0C9-8CA5-7D69-0812F473C8E3}"/>
              </a:ext>
            </a:extLst>
          </p:cNvPr>
          <p:cNvSpPr/>
          <p:nvPr/>
        </p:nvSpPr>
        <p:spPr>
          <a:xfrm>
            <a:off x="4407190" y="297062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18" name="Rectangle 17">
            <a:extLst>
              <a:ext uri="{FF2B5EF4-FFF2-40B4-BE49-F238E27FC236}">
                <a16:creationId xmlns:a16="http://schemas.microsoft.com/office/drawing/2014/main" id="{B837E002-CC26-1FE5-A2EC-09937BF249F1}"/>
              </a:ext>
            </a:extLst>
          </p:cNvPr>
          <p:cNvSpPr/>
          <p:nvPr/>
        </p:nvSpPr>
        <p:spPr>
          <a:xfrm>
            <a:off x="5491018" y="3131184"/>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sp>
        <p:nvSpPr>
          <p:cNvPr id="19" name="Rectangle 18">
            <a:extLst>
              <a:ext uri="{FF2B5EF4-FFF2-40B4-BE49-F238E27FC236}">
                <a16:creationId xmlns:a16="http://schemas.microsoft.com/office/drawing/2014/main" id="{BD1E51E2-D420-6F8F-78CA-81267AD1ACFD}"/>
              </a:ext>
            </a:extLst>
          </p:cNvPr>
          <p:cNvSpPr/>
          <p:nvPr/>
        </p:nvSpPr>
        <p:spPr>
          <a:xfrm>
            <a:off x="1714299" y="3079213"/>
            <a:ext cx="881535"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Coordinador Transaccional</a:t>
            </a:r>
          </a:p>
        </p:txBody>
      </p:sp>
      <p:cxnSp>
        <p:nvCxnSpPr>
          <p:cNvPr id="20" name="Connector: Elbow 19">
            <a:extLst>
              <a:ext uri="{FF2B5EF4-FFF2-40B4-BE49-F238E27FC236}">
                <a16:creationId xmlns:a16="http://schemas.microsoft.com/office/drawing/2014/main" id="{51C7A968-F6CA-3E6E-C377-915F0CA16674}"/>
              </a:ext>
            </a:extLst>
          </p:cNvPr>
          <p:cNvCxnSpPr>
            <a:cxnSpLocks/>
            <a:stCxn id="15" idx="1"/>
            <a:endCxn id="19" idx="3"/>
          </p:cNvCxnSpPr>
          <p:nvPr/>
        </p:nvCxnSpPr>
        <p:spPr>
          <a:xfrm rot="10800000" flipV="1">
            <a:off x="2595835" y="2937775"/>
            <a:ext cx="848111" cy="28543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11D6907B-F20D-D02C-3723-697F6C7EDBF0}"/>
              </a:ext>
            </a:extLst>
          </p:cNvPr>
          <p:cNvSpPr/>
          <p:nvPr/>
        </p:nvSpPr>
        <p:spPr>
          <a:xfrm>
            <a:off x="4423500" y="3561228"/>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Cloud</a:t>
            </a:r>
          </a:p>
        </p:txBody>
      </p:sp>
      <p:sp>
        <p:nvSpPr>
          <p:cNvPr id="22" name="Rectangle 21">
            <a:extLst>
              <a:ext uri="{FF2B5EF4-FFF2-40B4-BE49-F238E27FC236}">
                <a16:creationId xmlns:a16="http://schemas.microsoft.com/office/drawing/2014/main" id="{52B805A2-5A35-4F1A-20DC-E2B31F46E2BD}"/>
              </a:ext>
            </a:extLst>
          </p:cNvPr>
          <p:cNvSpPr/>
          <p:nvPr/>
        </p:nvSpPr>
        <p:spPr>
          <a:xfrm>
            <a:off x="4513500" y="3716872"/>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2b</a:t>
            </a:r>
          </a:p>
        </p:txBody>
      </p:sp>
      <p:sp>
        <p:nvSpPr>
          <p:cNvPr id="23" name="Rectangle 22">
            <a:extLst>
              <a:ext uri="{FF2B5EF4-FFF2-40B4-BE49-F238E27FC236}">
                <a16:creationId xmlns:a16="http://schemas.microsoft.com/office/drawing/2014/main" id="{933FF882-FFD4-03F8-F147-7B78A5DB2856}"/>
              </a:ext>
            </a:extLst>
          </p:cNvPr>
          <p:cNvSpPr/>
          <p:nvPr/>
        </p:nvSpPr>
        <p:spPr>
          <a:xfrm>
            <a:off x="5410445" y="4682105"/>
            <a:ext cx="900000" cy="72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Legado</a:t>
            </a:r>
          </a:p>
        </p:txBody>
      </p:sp>
      <p:sp>
        <p:nvSpPr>
          <p:cNvPr id="24" name="Rectangle 23">
            <a:extLst>
              <a:ext uri="{FF2B5EF4-FFF2-40B4-BE49-F238E27FC236}">
                <a16:creationId xmlns:a16="http://schemas.microsoft.com/office/drawing/2014/main" id="{A0803BAA-8661-3413-5EC7-89CF18B0D87D}"/>
              </a:ext>
            </a:extLst>
          </p:cNvPr>
          <p:cNvSpPr/>
          <p:nvPr/>
        </p:nvSpPr>
        <p:spPr>
          <a:xfrm>
            <a:off x="5500445" y="4788588"/>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2c</a:t>
            </a:r>
          </a:p>
        </p:txBody>
      </p:sp>
      <p:cxnSp>
        <p:nvCxnSpPr>
          <p:cNvPr id="25" name="Connector: Elbow 24">
            <a:extLst>
              <a:ext uri="{FF2B5EF4-FFF2-40B4-BE49-F238E27FC236}">
                <a16:creationId xmlns:a16="http://schemas.microsoft.com/office/drawing/2014/main" id="{AEC625FD-1525-6CED-6688-F467B0B1659C}"/>
              </a:ext>
            </a:extLst>
          </p:cNvPr>
          <p:cNvCxnSpPr>
            <a:cxnSpLocks/>
          </p:cNvCxnSpPr>
          <p:nvPr/>
        </p:nvCxnSpPr>
        <p:spPr>
          <a:xfrm rot="5400000">
            <a:off x="4625715" y="3404253"/>
            <a:ext cx="5072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1200CECF-F77A-ACCA-8DB3-E10A1CEEE25A}"/>
              </a:ext>
            </a:extLst>
          </p:cNvPr>
          <p:cNvSpPr/>
          <p:nvPr/>
        </p:nvSpPr>
        <p:spPr>
          <a:xfrm>
            <a:off x="5410445" y="4285098"/>
            <a:ext cx="90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Adaptador de Legado</a:t>
            </a:r>
          </a:p>
        </p:txBody>
      </p:sp>
      <p:cxnSp>
        <p:nvCxnSpPr>
          <p:cNvPr id="27" name="Connector: Elbow 26">
            <a:extLst>
              <a:ext uri="{FF2B5EF4-FFF2-40B4-BE49-F238E27FC236}">
                <a16:creationId xmlns:a16="http://schemas.microsoft.com/office/drawing/2014/main" id="{F28DC697-2D98-0B95-8187-0C5939B501FC}"/>
              </a:ext>
            </a:extLst>
          </p:cNvPr>
          <p:cNvCxnSpPr>
            <a:cxnSpLocks/>
            <a:stCxn id="18" idx="2"/>
            <a:endCxn id="26" idx="0"/>
          </p:cNvCxnSpPr>
          <p:nvPr/>
        </p:nvCxnSpPr>
        <p:spPr>
          <a:xfrm rot="16200000" flipH="1">
            <a:off x="5368774" y="3793427"/>
            <a:ext cx="973914"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C5A3E6CF-A497-66BA-B609-3E7B3E3D945B}"/>
              </a:ext>
            </a:extLst>
          </p:cNvPr>
          <p:cNvGrpSpPr/>
          <p:nvPr/>
        </p:nvGrpSpPr>
        <p:grpSpPr>
          <a:xfrm>
            <a:off x="1359494" y="1081942"/>
            <a:ext cx="844771" cy="284934"/>
            <a:chOff x="2436880" y="1158097"/>
            <a:chExt cx="1080000" cy="360000"/>
          </a:xfrm>
          <a:solidFill>
            <a:schemeClr val="bg1"/>
          </a:solidFill>
        </p:grpSpPr>
        <p:sp>
          <p:nvSpPr>
            <p:cNvPr id="29" name="Rectangle 28">
              <a:extLst>
                <a:ext uri="{FF2B5EF4-FFF2-40B4-BE49-F238E27FC236}">
                  <a16:creationId xmlns:a16="http://schemas.microsoft.com/office/drawing/2014/main" id="{7DA01D98-6C29-B671-CC62-4756347D6F89}"/>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30" name="Picture 29">
              <a:extLst>
                <a:ext uri="{FF2B5EF4-FFF2-40B4-BE49-F238E27FC236}">
                  <a16:creationId xmlns:a16="http://schemas.microsoft.com/office/drawing/2014/main" id="{FF221420-2622-6BE3-FD88-26A8C88EA157}"/>
                </a:ext>
              </a:extLst>
            </p:cNvPr>
            <p:cNvPicPr>
              <a:picLocks noChangeAspect="1"/>
            </p:cNvPicPr>
            <p:nvPr/>
          </p:nvPicPr>
          <p:blipFill>
            <a:blip r:embed="rId2"/>
            <a:stretch>
              <a:fillRect/>
            </a:stretch>
          </p:blipFill>
          <p:spPr>
            <a:xfrm>
              <a:off x="2470229" y="1215368"/>
              <a:ext cx="1013303" cy="245459"/>
            </a:xfrm>
            <a:prstGeom prst="rect">
              <a:avLst/>
            </a:prstGeom>
            <a:grpFill/>
          </p:spPr>
        </p:pic>
      </p:grpSp>
      <p:grpSp>
        <p:nvGrpSpPr>
          <p:cNvPr id="31" name="Group 30">
            <a:extLst>
              <a:ext uri="{FF2B5EF4-FFF2-40B4-BE49-F238E27FC236}">
                <a16:creationId xmlns:a16="http://schemas.microsoft.com/office/drawing/2014/main" id="{D96A7A5D-CDEF-BDA3-0D22-F9A1D9B24770}"/>
              </a:ext>
            </a:extLst>
          </p:cNvPr>
          <p:cNvGrpSpPr/>
          <p:nvPr/>
        </p:nvGrpSpPr>
        <p:grpSpPr>
          <a:xfrm>
            <a:off x="5676833" y="2288602"/>
            <a:ext cx="612000" cy="180000"/>
            <a:chOff x="2389786" y="2095523"/>
            <a:chExt cx="1080000" cy="360000"/>
          </a:xfrm>
          <a:solidFill>
            <a:schemeClr val="bg1"/>
          </a:solidFill>
        </p:grpSpPr>
        <p:sp>
          <p:nvSpPr>
            <p:cNvPr id="32" name="Rectangle 31">
              <a:extLst>
                <a:ext uri="{FF2B5EF4-FFF2-40B4-BE49-F238E27FC236}">
                  <a16:creationId xmlns:a16="http://schemas.microsoft.com/office/drawing/2014/main" id="{6D61E73D-9A5D-0051-8E28-C19E0067F832}"/>
                </a:ext>
              </a:extLst>
            </p:cNvPr>
            <p:cNvSpPr/>
            <p:nvPr/>
          </p:nvSpPr>
          <p:spPr>
            <a:xfrm>
              <a:off x="2389786" y="209552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Temporal</a:t>
              </a:r>
            </a:p>
          </p:txBody>
        </p:sp>
        <p:pic>
          <p:nvPicPr>
            <p:cNvPr id="33" name="Picture 32">
              <a:extLst>
                <a:ext uri="{FF2B5EF4-FFF2-40B4-BE49-F238E27FC236}">
                  <a16:creationId xmlns:a16="http://schemas.microsoft.com/office/drawing/2014/main" id="{3FCED9AA-0B41-ED53-5967-E5931CFAA412}"/>
                </a:ext>
              </a:extLst>
            </p:cNvPr>
            <p:cNvPicPr>
              <a:picLocks noChangeAspect="1"/>
            </p:cNvPicPr>
            <p:nvPr/>
          </p:nvPicPr>
          <p:blipFill>
            <a:blip r:embed="rId3"/>
            <a:stretch>
              <a:fillRect/>
            </a:stretch>
          </p:blipFill>
          <p:spPr>
            <a:xfrm>
              <a:off x="2450304" y="2118382"/>
              <a:ext cx="958965" cy="314283"/>
            </a:xfrm>
            <a:prstGeom prst="rect">
              <a:avLst/>
            </a:prstGeom>
            <a:grpFill/>
          </p:spPr>
        </p:pic>
      </p:grpSp>
      <p:sp>
        <p:nvSpPr>
          <p:cNvPr id="34" name="TextBox 144">
            <a:extLst>
              <a:ext uri="{FF2B5EF4-FFF2-40B4-BE49-F238E27FC236}">
                <a16:creationId xmlns:a16="http://schemas.microsoft.com/office/drawing/2014/main" id="{FC496128-C9FF-21CF-8030-2A71CEE706E0}"/>
              </a:ext>
            </a:extLst>
          </p:cNvPr>
          <p:cNvSpPr txBox="1"/>
          <p:nvPr/>
        </p:nvSpPr>
        <p:spPr>
          <a:xfrm>
            <a:off x="7496367" y="749107"/>
            <a:ext cx="4425968" cy="4780770"/>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5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gestión de transacciones se considera un caso especial de Orquestación de Servicios que requiere atomicidad entre los servicios participantes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 coordinador transaccional lleva un control del éxito o fracaso de los pasos individuales.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Luego decide completar un servicio complejo o revertir acciones individuales mediante reversiones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Una columna vertebral de mensajería sirve como mecanismo de comunicación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Asegura notificaciones de éxito/fracaso para cada paso individual (patrón de Bandeja de Salida Transaccional/Bandeja de entrada)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Acciones de reversión de lanzamiento cuando sea necesario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estado e historia de las transacciones atómicas se registra en una Base de Datos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Incluye eventos técnicos de monitorización (salud y datos relevantes de los componentes de la plataforma de la Gestión de Transacciones) y también eventos operativos de monitorización (eventos empresariales y otros) para facilitar la resolución manual o automática de problemas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La consola transaccional es la interfaz de usuario para monitorizar el estado de transacciones complejas, con la capacidad de reintentar, cancelar, revertir y generar informes.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El servicio 2a representa un acceso directo a una o más bases de datos (ya sean relacionales o JMS de soporte) que dependen de un o dos compromisos en una o dos fases y no requieren inversiones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950" b="0" i="0" u="none" strike="noStrike" kern="1200" cap="none" spc="0" normalizeH="0" baseline="0" noProof="0" dirty="0">
                <a:ln>
                  <a:noFill/>
                </a:ln>
                <a:solidFill>
                  <a:srgbClr val="000000"/>
                </a:solidFill>
                <a:effectLst/>
                <a:uLnTx/>
                <a:uFillTx/>
                <a:latin typeface="Graphik"/>
                <a:ea typeface="+mn-ea"/>
                <a:cs typeface="+mn-cs"/>
              </a:rPr>
              <a:t>NOTA: Temporal es solo un ejemplo de orquestador, que garantiza la entrega de mensajes a través de la infraestructura Kafka subyacente que sustenta los patrones Transactional Inbox y Outbox</a:t>
            </a:r>
          </a:p>
        </p:txBody>
      </p:sp>
      <p:cxnSp>
        <p:nvCxnSpPr>
          <p:cNvPr id="35" name="Connector: Elbow 34">
            <a:extLst>
              <a:ext uri="{FF2B5EF4-FFF2-40B4-BE49-F238E27FC236}">
                <a16:creationId xmlns:a16="http://schemas.microsoft.com/office/drawing/2014/main" id="{155D5066-B14C-8D99-2729-268EA4CACE8F}"/>
              </a:ext>
            </a:extLst>
          </p:cNvPr>
          <p:cNvCxnSpPr>
            <a:cxnSpLocks/>
          </p:cNvCxnSpPr>
          <p:nvPr/>
        </p:nvCxnSpPr>
        <p:spPr>
          <a:xfrm rot="5400000">
            <a:off x="5724868" y="4653011"/>
            <a:ext cx="271154"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E19F783-71F0-E9E7-FB55-54DCECE6E342}"/>
              </a:ext>
            </a:extLst>
          </p:cNvPr>
          <p:cNvCxnSpPr>
            <a:cxnSpLocks/>
            <a:stCxn id="65" idx="2"/>
            <a:endCxn id="15" idx="0"/>
          </p:cNvCxnSpPr>
          <p:nvPr/>
        </p:nvCxnSpPr>
        <p:spPr>
          <a:xfrm rot="5400000">
            <a:off x="4196539" y="2277125"/>
            <a:ext cx="178058" cy="96324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Flowchart: Magnetic Disk 36">
            <a:extLst>
              <a:ext uri="{FF2B5EF4-FFF2-40B4-BE49-F238E27FC236}">
                <a16:creationId xmlns:a16="http://schemas.microsoft.com/office/drawing/2014/main" id="{7465F324-2FCC-9BC0-699F-C72FFB771F43}"/>
              </a:ext>
            </a:extLst>
          </p:cNvPr>
          <p:cNvSpPr/>
          <p:nvPr/>
        </p:nvSpPr>
        <p:spPr>
          <a:xfrm>
            <a:off x="3209654"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A</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38" name="Connector: Elbow 37">
            <a:extLst>
              <a:ext uri="{FF2B5EF4-FFF2-40B4-BE49-F238E27FC236}">
                <a16:creationId xmlns:a16="http://schemas.microsoft.com/office/drawing/2014/main" id="{74F57F19-0E34-1DA3-D06A-99031A1AF64F}"/>
              </a:ext>
            </a:extLst>
          </p:cNvPr>
          <p:cNvCxnSpPr>
            <a:cxnSpLocks/>
            <a:stCxn id="15" idx="2"/>
            <a:endCxn id="37" idx="1"/>
          </p:cNvCxnSpPr>
          <p:nvPr/>
        </p:nvCxnSpPr>
        <p:spPr>
          <a:xfrm rot="5400000">
            <a:off x="2532524" y="4072953"/>
            <a:ext cx="2316598" cy="226244"/>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7EE94B0D-8FF4-FDBE-EC80-4F58BA72B824}"/>
              </a:ext>
            </a:extLst>
          </p:cNvPr>
          <p:cNvSpPr/>
          <p:nvPr/>
        </p:nvSpPr>
        <p:spPr>
          <a:xfrm>
            <a:off x="4513500" y="3933216"/>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2b</a:t>
            </a:r>
          </a:p>
        </p:txBody>
      </p:sp>
      <p:cxnSp>
        <p:nvCxnSpPr>
          <p:cNvPr id="40" name="Connector: Elbow 39">
            <a:extLst>
              <a:ext uri="{FF2B5EF4-FFF2-40B4-BE49-F238E27FC236}">
                <a16:creationId xmlns:a16="http://schemas.microsoft.com/office/drawing/2014/main" id="{9B0D942C-5147-CFCA-6596-6876B575E755}"/>
              </a:ext>
            </a:extLst>
          </p:cNvPr>
          <p:cNvCxnSpPr>
            <a:cxnSpLocks/>
            <a:stCxn id="19" idx="2"/>
            <a:endCxn id="45" idx="2"/>
          </p:cNvCxnSpPr>
          <p:nvPr/>
        </p:nvCxnSpPr>
        <p:spPr>
          <a:xfrm rot="16200000" flipH="1">
            <a:off x="1718500" y="3803780"/>
            <a:ext cx="1104638" cy="23150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FCC293D6-69B9-B27C-3254-32653222A6BB}"/>
              </a:ext>
            </a:extLst>
          </p:cNvPr>
          <p:cNvCxnSpPr>
            <a:cxnSpLocks/>
            <a:endCxn id="37" idx="2"/>
          </p:cNvCxnSpPr>
          <p:nvPr/>
        </p:nvCxnSpPr>
        <p:spPr>
          <a:xfrm rot="16200000" flipH="1">
            <a:off x="1455678" y="3781173"/>
            <a:ext cx="2155099" cy="13528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Rectangle 41">
            <a:extLst>
              <a:ext uri="{FF2B5EF4-FFF2-40B4-BE49-F238E27FC236}">
                <a16:creationId xmlns:a16="http://schemas.microsoft.com/office/drawing/2014/main" id="{3F5A4615-9768-6FCA-FF5B-1462DA761D1D}"/>
              </a:ext>
            </a:extLst>
          </p:cNvPr>
          <p:cNvSpPr/>
          <p:nvPr/>
        </p:nvSpPr>
        <p:spPr>
          <a:xfrm>
            <a:off x="5500445" y="499005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Reversión 2c</a:t>
            </a:r>
          </a:p>
        </p:txBody>
      </p:sp>
      <p:cxnSp>
        <p:nvCxnSpPr>
          <p:cNvPr id="43" name="Connector: Elbow 42">
            <a:extLst>
              <a:ext uri="{FF2B5EF4-FFF2-40B4-BE49-F238E27FC236}">
                <a16:creationId xmlns:a16="http://schemas.microsoft.com/office/drawing/2014/main" id="{AEDB8208-5E5C-458F-0ABC-7F9D5CEC9679}"/>
              </a:ext>
            </a:extLst>
          </p:cNvPr>
          <p:cNvCxnSpPr>
            <a:cxnSpLocks/>
            <a:stCxn id="17" idx="1"/>
            <a:endCxn id="19" idx="3"/>
          </p:cNvCxnSpPr>
          <p:nvPr/>
        </p:nvCxnSpPr>
        <p:spPr>
          <a:xfrm rot="10800000" flipV="1">
            <a:off x="2595834" y="3060625"/>
            <a:ext cx="1811356" cy="1625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E04C908A-FCAC-76A0-7C8F-A385034CE534}"/>
              </a:ext>
            </a:extLst>
          </p:cNvPr>
          <p:cNvCxnSpPr>
            <a:cxnSpLocks/>
            <a:stCxn id="18" idx="1"/>
            <a:endCxn id="19" idx="3"/>
          </p:cNvCxnSpPr>
          <p:nvPr/>
        </p:nvCxnSpPr>
        <p:spPr>
          <a:xfrm rot="10800000" flipV="1">
            <a:off x="2595834" y="3221183"/>
            <a:ext cx="2895184" cy="202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5" name="Can 172">
            <a:extLst>
              <a:ext uri="{FF2B5EF4-FFF2-40B4-BE49-F238E27FC236}">
                <a16:creationId xmlns:a16="http://schemas.microsoft.com/office/drawing/2014/main" id="{527606E0-65A6-E857-8FE9-7946FAF53CA3}"/>
              </a:ext>
            </a:extLst>
          </p:cNvPr>
          <p:cNvSpPr/>
          <p:nvPr/>
        </p:nvSpPr>
        <p:spPr bwMode="auto">
          <a:xfrm>
            <a:off x="2386571" y="3661048"/>
            <a:ext cx="312661" cy="162160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Autobús de Eventos de Temas de Compensación</a:t>
            </a:r>
          </a:p>
        </p:txBody>
      </p:sp>
      <p:cxnSp>
        <p:nvCxnSpPr>
          <p:cNvPr id="46" name="Connector: Elbow 45">
            <a:extLst>
              <a:ext uri="{FF2B5EF4-FFF2-40B4-BE49-F238E27FC236}">
                <a16:creationId xmlns:a16="http://schemas.microsoft.com/office/drawing/2014/main" id="{842DC014-41BF-E3F4-A81B-3C559BF3FD7D}"/>
              </a:ext>
            </a:extLst>
          </p:cNvPr>
          <p:cNvCxnSpPr>
            <a:cxnSpLocks/>
            <a:stCxn id="45" idx="4"/>
            <a:endCxn id="39" idx="1"/>
          </p:cNvCxnSpPr>
          <p:nvPr/>
        </p:nvCxnSpPr>
        <p:spPr>
          <a:xfrm flipV="1">
            <a:off x="2699232" y="4023216"/>
            <a:ext cx="1814268" cy="44863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D9053F12-25A4-9ECE-89BA-7D1DDA8AAEA1}"/>
              </a:ext>
            </a:extLst>
          </p:cNvPr>
          <p:cNvCxnSpPr>
            <a:cxnSpLocks/>
            <a:stCxn id="45" idx="4"/>
            <a:endCxn id="26" idx="1"/>
          </p:cNvCxnSpPr>
          <p:nvPr/>
        </p:nvCxnSpPr>
        <p:spPr>
          <a:xfrm flipV="1">
            <a:off x="2699232" y="4411098"/>
            <a:ext cx="2711213" cy="607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EA423794-B14A-AE90-81D5-E6067405451D}"/>
              </a:ext>
            </a:extLst>
          </p:cNvPr>
          <p:cNvGrpSpPr/>
          <p:nvPr/>
        </p:nvGrpSpPr>
        <p:grpSpPr>
          <a:xfrm>
            <a:off x="2611692" y="3806392"/>
            <a:ext cx="685502" cy="201848"/>
            <a:chOff x="6368576" y="4704022"/>
            <a:chExt cx="1080000" cy="360000"/>
          </a:xfrm>
          <a:solidFill>
            <a:schemeClr val="bg1"/>
          </a:solidFill>
        </p:grpSpPr>
        <p:sp>
          <p:nvSpPr>
            <p:cNvPr id="49" name="Rectangle 48">
              <a:extLst>
                <a:ext uri="{FF2B5EF4-FFF2-40B4-BE49-F238E27FC236}">
                  <a16:creationId xmlns:a16="http://schemas.microsoft.com/office/drawing/2014/main" id="{1D7C7F1C-1B57-90CE-EDF7-E8A77742FBB4}"/>
                </a:ext>
              </a:extLst>
            </p:cNvPr>
            <p:cNvSpPr/>
            <p:nvPr/>
          </p:nvSpPr>
          <p:spPr>
            <a:xfrm>
              <a:off x="6368576" y="4704022"/>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Apache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Kafka</a:t>
              </a:r>
            </a:p>
          </p:txBody>
        </p:sp>
        <p:pic>
          <p:nvPicPr>
            <p:cNvPr id="50" name="Picture 49">
              <a:extLst>
                <a:ext uri="{FF2B5EF4-FFF2-40B4-BE49-F238E27FC236}">
                  <a16:creationId xmlns:a16="http://schemas.microsoft.com/office/drawing/2014/main" id="{87E447E8-D19E-0456-001B-7356B0B019D7}"/>
                </a:ext>
              </a:extLst>
            </p:cNvPr>
            <p:cNvPicPr>
              <a:picLocks noChangeAspect="1"/>
            </p:cNvPicPr>
            <p:nvPr/>
          </p:nvPicPr>
          <p:blipFill>
            <a:blip r:embed="rId4"/>
            <a:stretch>
              <a:fillRect/>
            </a:stretch>
          </p:blipFill>
          <p:spPr>
            <a:xfrm>
              <a:off x="6561864" y="4724352"/>
              <a:ext cx="693425" cy="319340"/>
            </a:xfrm>
            <a:prstGeom prst="rect">
              <a:avLst/>
            </a:prstGeom>
            <a:grpFill/>
          </p:spPr>
        </p:pic>
      </p:grpSp>
      <p:cxnSp>
        <p:nvCxnSpPr>
          <p:cNvPr id="51" name="Connector: Elbow 50">
            <a:extLst>
              <a:ext uri="{FF2B5EF4-FFF2-40B4-BE49-F238E27FC236}">
                <a16:creationId xmlns:a16="http://schemas.microsoft.com/office/drawing/2014/main" id="{A82B1884-6027-1D30-087B-4B047910CAEF}"/>
              </a:ext>
            </a:extLst>
          </p:cNvPr>
          <p:cNvCxnSpPr>
            <a:cxnSpLocks/>
            <a:stCxn id="26" idx="3"/>
            <a:endCxn id="42" idx="3"/>
          </p:cNvCxnSpPr>
          <p:nvPr/>
        </p:nvCxnSpPr>
        <p:spPr>
          <a:xfrm flipH="1">
            <a:off x="6220445" y="4411098"/>
            <a:ext cx="90000" cy="668961"/>
          </a:xfrm>
          <a:prstGeom prst="bentConnector3">
            <a:avLst>
              <a:gd name="adj1" fmla="val -254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Rectangle 51">
            <a:extLst>
              <a:ext uri="{FF2B5EF4-FFF2-40B4-BE49-F238E27FC236}">
                <a16:creationId xmlns:a16="http://schemas.microsoft.com/office/drawing/2014/main" id="{DE85B9E4-F445-4744-1E69-1B76F22D01F8}"/>
              </a:ext>
            </a:extLst>
          </p:cNvPr>
          <p:cNvSpPr/>
          <p:nvPr/>
        </p:nvSpPr>
        <p:spPr>
          <a:xfrm>
            <a:off x="469361" y="3073468"/>
            <a:ext cx="91753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Transaccional</a:t>
            </a:r>
          </a:p>
        </p:txBody>
      </p:sp>
      <p:cxnSp>
        <p:nvCxnSpPr>
          <p:cNvPr id="53" name="Straight Arrow Connector 52">
            <a:extLst>
              <a:ext uri="{FF2B5EF4-FFF2-40B4-BE49-F238E27FC236}">
                <a16:creationId xmlns:a16="http://schemas.microsoft.com/office/drawing/2014/main" id="{6BB13D2F-1505-E1D0-900E-62A98BAEC106}"/>
              </a:ext>
            </a:extLst>
          </p:cNvPr>
          <p:cNvCxnSpPr>
            <a:cxnSpLocks/>
            <a:stCxn id="52" idx="3"/>
            <a:endCxn id="19" idx="1"/>
          </p:cNvCxnSpPr>
          <p:nvPr/>
        </p:nvCxnSpPr>
        <p:spPr>
          <a:xfrm>
            <a:off x="1386898" y="3217468"/>
            <a:ext cx="327401" cy="5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4F42EBCD-D56C-A041-2CA1-4502AFB97867}"/>
              </a:ext>
            </a:extLst>
          </p:cNvPr>
          <p:cNvSpPr/>
          <p:nvPr/>
        </p:nvSpPr>
        <p:spPr>
          <a:xfrm>
            <a:off x="287910" y="2758680"/>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
        <p:nvSpPr>
          <p:cNvPr id="59" name="Can 172">
            <a:extLst>
              <a:ext uri="{FF2B5EF4-FFF2-40B4-BE49-F238E27FC236}">
                <a16:creationId xmlns:a16="http://schemas.microsoft.com/office/drawing/2014/main" id="{D8A253A4-D073-4D31-4C59-8679515DD2FA}"/>
              </a:ext>
            </a:extLst>
          </p:cNvPr>
          <p:cNvSpPr/>
          <p:nvPr/>
        </p:nvSpPr>
        <p:spPr bwMode="auto">
          <a:xfrm>
            <a:off x="6870407" y="1915873"/>
            <a:ext cx="312661" cy="1940873"/>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Tema de Reporte de Transacciones Atómicas</a:t>
            </a:r>
          </a:p>
        </p:txBody>
      </p:sp>
      <p:cxnSp>
        <p:nvCxnSpPr>
          <p:cNvPr id="60" name="Straight Arrow Connector 59">
            <a:extLst>
              <a:ext uri="{FF2B5EF4-FFF2-40B4-BE49-F238E27FC236}">
                <a16:creationId xmlns:a16="http://schemas.microsoft.com/office/drawing/2014/main" id="{4B2775F8-9927-2F1D-E637-973ECFCE8D53}"/>
              </a:ext>
            </a:extLst>
          </p:cNvPr>
          <p:cNvCxnSpPr>
            <a:cxnSpLocks/>
            <a:stCxn id="14" idx="3"/>
            <a:endCxn id="59" idx="2"/>
          </p:cNvCxnSpPr>
          <p:nvPr/>
        </p:nvCxnSpPr>
        <p:spPr>
          <a:xfrm>
            <a:off x="6330074" y="2882154"/>
            <a:ext cx="540333" cy="415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1" name="Flowchart: Magnetic Disk 60">
            <a:extLst>
              <a:ext uri="{FF2B5EF4-FFF2-40B4-BE49-F238E27FC236}">
                <a16:creationId xmlns:a16="http://schemas.microsoft.com/office/drawing/2014/main" id="{0A753296-F12B-2583-526B-9A864D952210}"/>
              </a:ext>
            </a:extLst>
          </p:cNvPr>
          <p:cNvSpPr/>
          <p:nvPr/>
        </p:nvSpPr>
        <p:spPr>
          <a:xfrm>
            <a:off x="6661018" y="4043532"/>
            <a:ext cx="736093" cy="793098"/>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FFFFFF"/>
                </a:solidFill>
                <a:effectLst/>
                <a:uLnTx/>
                <a:uFillTx/>
                <a:latin typeface="Graphik"/>
                <a:ea typeface="+mn-ea"/>
                <a:cs typeface="+mn-cs"/>
              </a:rPr>
              <a:t>Base de Datos de Transacciones</a:t>
            </a:r>
            <a:endParaRPr kumimoji="0" lang="es-ES_tradnl" sz="800" b="0" i="0" u="none" strike="noStrike" kern="1200" cap="none" spc="0" normalizeH="0" baseline="0" noProof="0" dirty="0">
              <a:ln>
                <a:noFill/>
              </a:ln>
              <a:solidFill>
                <a:srgbClr val="FFFFFF"/>
              </a:solidFill>
              <a:effectLst/>
              <a:uLnTx/>
              <a:uFillTx/>
              <a:latin typeface="Graphik"/>
              <a:ea typeface="+mn-ea"/>
              <a:cs typeface="+mn-cs"/>
            </a:endParaRPr>
          </a:p>
        </p:txBody>
      </p:sp>
      <p:sp>
        <p:nvSpPr>
          <p:cNvPr id="62" name="Flowchart: Magnetic Disk 61">
            <a:extLst>
              <a:ext uri="{FF2B5EF4-FFF2-40B4-BE49-F238E27FC236}">
                <a16:creationId xmlns:a16="http://schemas.microsoft.com/office/drawing/2014/main" id="{788D73BB-AF84-D760-9DDF-8D0703D2C1AD}"/>
              </a:ext>
            </a:extLst>
          </p:cNvPr>
          <p:cNvSpPr/>
          <p:nvPr/>
        </p:nvSpPr>
        <p:spPr>
          <a:xfrm>
            <a:off x="3993365" y="5344374"/>
            <a:ext cx="736093" cy="3815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Base de Datos B</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63" name="Rectangle 62">
            <a:extLst>
              <a:ext uri="{FF2B5EF4-FFF2-40B4-BE49-F238E27FC236}">
                <a16:creationId xmlns:a16="http://schemas.microsoft.com/office/drawing/2014/main" id="{FE32FE45-1CC0-740E-676E-E02A2401F429}"/>
              </a:ext>
            </a:extLst>
          </p:cNvPr>
          <p:cNvSpPr/>
          <p:nvPr/>
        </p:nvSpPr>
        <p:spPr>
          <a:xfrm>
            <a:off x="4144616" y="1487814"/>
            <a:ext cx="1245149" cy="17302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complejo</a:t>
            </a:r>
          </a:p>
        </p:txBody>
      </p:sp>
      <p:sp>
        <p:nvSpPr>
          <p:cNvPr id="64" name="Rectangle 63">
            <a:extLst>
              <a:ext uri="{FF2B5EF4-FFF2-40B4-BE49-F238E27FC236}">
                <a16:creationId xmlns:a16="http://schemas.microsoft.com/office/drawing/2014/main" id="{565DEF1C-2E5E-C97F-6693-471383BCC16C}"/>
              </a:ext>
            </a:extLst>
          </p:cNvPr>
          <p:cNvSpPr/>
          <p:nvPr/>
        </p:nvSpPr>
        <p:spPr>
          <a:xfrm>
            <a:off x="3649557"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1</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(n</a:t>
            </a:r>
            <a:r>
              <a:rPr kumimoji="0" lang="es" sz="900" b="0" i="0" u="none" strike="noStrike" kern="1200" cap="none" spc="0" normalizeH="0" baseline="0" noProof="0" dirty="0">
                <a:ln>
                  <a:noFill/>
                </a:ln>
                <a:solidFill>
                  <a:srgbClr val="000000"/>
                </a:solidFill>
                <a:effectLst/>
                <a:uLnTx/>
                <a:uFillTx/>
                <a:latin typeface="Graphik"/>
                <a:ea typeface="+mn-ea"/>
                <a:cs typeface="+mn-cs"/>
              </a:rPr>
              <a:t>o atómico)</a:t>
            </a:r>
          </a:p>
        </p:txBody>
      </p:sp>
      <p:sp>
        <p:nvSpPr>
          <p:cNvPr id="65" name="Rectangle 64">
            <a:extLst>
              <a:ext uri="{FF2B5EF4-FFF2-40B4-BE49-F238E27FC236}">
                <a16:creationId xmlns:a16="http://schemas.microsoft.com/office/drawing/2014/main" id="{B7CE11F7-8ACD-13EF-C78E-9A942BBD4BAE}"/>
              </a:ext>
            </a:extLst>
          </p:cNvPr>
          <p:cNvSpPr/>
          <p:nvPr/>
        </p:nvSpPr>
        <p:spPr>
          <a:xfrm>
            <a:off x="4407190" y="2376566"/>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(atómico)</a:t>
            </a:r>
          </a:p>
        </p:txBody>
      </p:sp>
      <p:sp>
        <p:nvSpPr>
          <p:cNvPr id="66" name="Rectangle 65">
            <a:extLst>
              <a:ext uri="{FF2B5EF4-FFF2-40B4-BE49-F238E27FC236}">
                <a16:creationId xmlns:a16="http://schemas.microsoft.com/office/drawing/2014/main" id="{2CD27E89-075A-3BC9-8C6F-C17EEB97CC46}"/>
              </a:ext>
            </a:extLst>
          </p:cNvPr>
          <p:cNvSpPr/>
          <p:nvPr/>
        </p:nvSpPr>
        <p:spPr>
          <a:xfrm>
            <a:off x="5017612" y="1840842"/>
            <a:ext cx="720000" cy="293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 atómico)</a:t>
            </a:r>
          </a:p>
        </p:txBody>
      </p:sp>
      <p:cxnSp>
        <p:nvCxnSpPr>
          <p:cNvPr id="67" name="Connector: Elbow 66">
            <a:extLst>
              <a:ext uri="{FF2B5EF4-FFF2-40B4-BE49-F238E27FC236}">
                <a16:creationId xmlns:a16="http://schemas.microsoft.com/office/drawing/2014/main" id="{ADB91DCE-71C7-B686-296C-7ED9980782F5}"/>
              </a:ext>
            </a:extLst>
          </p:cNvPr>
          <p:cNvCxnSpPr>
            <a:cxnSpLocks/>
            <a:stCxn id="63" idx="2"/>
            <a:endCxn id="64" idx="0"/>
          </p:cNvCxnSpPr>
          <p:nvPr/>
        </p:nvCxnSpPr>
        <p:spPr>
          <a:xfrm rot="5400000">
            <a:off x="4298374" y="1372025"/>
            <a:ext cx="180000" cy="75763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Connector: Elbow 67">
            <a:extLst>
              <a:ext uri="{FF2B5EF4-FFF2-40B4-BE49-F238E27FC236}">
                <a16:creationId xmlns:a16="http://schemas.microsoft.com/office/drawing/2014/main" id="{7E6E6982-4C80-FB73-0FD0-118275D72E3E}"/>
              </a:ext>
            </a:extLst>
          </p:cNvPr>
          <p:cNvCxnSpPr>
            <a:cxnSpLocks/>
            <a:stCxn id="63" idx="2"/>
            <a:endCxn id="65" idx="0"/>
          </p:cNvCxnSpPr>
          <p:nvPr/>
        </p:nvCxnSpPr>
        <p:spPr>
          <a:xfrm rot="5400000">
            <a:off x="4409329" y="2018704"/>
            <a:ext cx="715724"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ECC2D0CC-3EAD-60BF-A4B8-06CFA4CB35E9}"/>
              </a:ext>
            </a:extLst>
          </p:cNvPr>
          <p:cNvCxnSpPr>
            <a:cxnSpLocks/>
            <a:stCxn id="63" idx="2"/>
            <a:endCxn id="66" idx="0"/>
          </p:cNvCxnSpPr>
          <p:nvPr/>
        </p:nvCxnSpPr>
        <p:spPr>
          <a:xfrm rot="16200000" flipH="1">
            <a:off x="4982401" y="1445631"/>
            <a:ext cx="180000" cy="61042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069B2CDD-5715-C139-7657-3E36EAEACD11}"/>
              </a:ext>
            </a:extLst>
          </p:cNvPr>
          <p:cNvGrpSpPr/>
          <p:nvPr/>
        </p:nvGrpSpPr>
        <p:grpSpPr>
          <a:xfrm>
            <a:off x="5646351" y="1415861"/>
            <a:ext cx="612000" cy="180000"/>
            <a:chOff x="2377230" y="1704273"/>
            <a:chExt cx="1080000" cy="360000"/>
          </a:xfrm>
          <a:solidFill>
            <a:schemeClr val="bg1"/>
          </a:solidFill>
        </p:grpSpPr>
        <p:sp>
          <p:nvSpPr>
            <p:cNvPr id="71" name="Rectangle 70">
              <a:extLst>
                <a:ext uri="{FF2B5EF4-FFF2-40B4-BE49-F238E27FC236}">
                  <a16:creationId xmlns:a16="http://schemas.microsoft.com/office/drawing/2014/main" id="{76FBFCAA-C08A-FA11-C1D5-54F3BB1FB80B}"/>
                </a:ext>
              </a:extLst>
            </p:cNvPr>
            <p:cNvSpPr/>
            <p:nvPr/>
          </p:nvSpPr>
          <p:spPr>
            <a:xfrm>
              <a:off x="2377230" y="1704273"/>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72" name="Picture 71">
              <a:extLst>
                <a:ext uri="{FF2B5EF4-FFF2-40B4-BE49-F238E27FC236}">
                  <a16:creationId xmlns:a16="http://schemas.microsoft.com/office/drawing/2014/main" id="{8FEA5E7E-AD79-46FC-7C73-8EF04BC8AECB}"/>
                </a:ext>
              </a:extLst>
            </p:cNvPr>
            <p:cNvPicPr>
              <a:picLocks noChangeAspect="1"/>
            </p:cNvPicPr>
            <p:nvPr/>
          </p:nvPicPr>
          <p:blipFill>
            <a:blip r:embed="rId5"/>
            <a:stretch>
              <a:fillRect/>
            </a:stretch>
          </p:blipFill>
          <p:spPr>
            <a:xfrm>
              <a:off x="2431022" y="1725511"/>
              <a:ext cx="972417" cy="317524"/>
            </a:xfrm>
            <a:prstGeom prst="rect">
              <a:avLst/>
            </a:prstGeom>
            <a:grpFill/>
          </p:spPr>
        </p:pic>
      </p:grpSp>
      <p:cxnSp>
        <p:nvCxnSpPr>
          <p:cNvPr id="73" name="Connector: Elbow 72">
            <a:extLst>
              <a:ext uri="{FF2B5EF4-FFF2-40B4-BE49-F238E27FC236}">
                <a16:creationId xmlns:a16="http://schemas.microsoft.com/office/drawing/2014/main" id="{2F698BD2-097B-F1B0-84C5-E0195EA0FF4D}"/>
              </a:ext>
            </a:extLst>
          </p:cNvPr>
          <p:cNvCxnSpPr>
            <a:cxnSpLocks/>
            <a:stCxn id="65" idx="2"/>
            <a:endCxn id="17" idx="0"/>
          </p:cNvCxnSpPr>
          <p:nvPr/>
        </p:nvCxnSpPr>
        <p:spPr>
          <a:xfrm rot="5400000">
            <a:off x="4616736" y="2820172"/>
            <a:ext cx="300908" cy="127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991BC0E-BA94-380B-56EA-C80BD156427C}"/>
              </a:ext>
            </a:extLst>
          </p:cNvPr>
          <p:cNvCxnSpPr>
            <a:cxnSpLocks/>
            <a:stCxn id="65" idx="2"/>
            <a:endCxn id="18" idx="0"/>
          </p:cNvCxnSpPr>
          <p:nvPr/>
        </p:nvCxnSpPr>
        <p:spPr>
          <a:xfrm rot="16200000" flipH="1">
            <a:off x="5078371" y="2358537"/>
            <a:ext cx="461466" cy="10838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Oval 74">
            <a:extLst>
              <a:ext uri="{FF2B5EF4-FFF2-40B4-BE49-F238E27FC236}">
                <a16:creationId xmlns:a16="http://schemas.microsoft.com/office/drawing/2014/main" id="{513207B2-2AA8-29EF-852C-C7084D047198}"/>
              </a:ext>
            </a:extLst>
          </p:cNvPr>
          <p:cNvSpPr/>
          <p:nvPr/>
        </p:nvSpPr>
        <p:spPr>
          <a:xfrm>
            <a:off x="2796792" y="3055472"/>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Éxito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Fracaso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76" name="Oval 75">
            <a:extLst>
              <a:ext uri="{FF2B5EF4-FFF2-40B4-BE49-F238E27FC236}">
                <a16:creationId xmlns:a16="http://schemas.microsoft.com/office/drawing/2014/main" id="{1E061E4C-DB8B-1980-75AE-67B505C0D921}"/>
              </a:ext>
            </a:extLst>
          </p:cNvPr>
          <p:cNvSpPr/>
          <p:nvPr/>
        </p:nvSpPr>
        <p:spPr>
          <a:xfrm>
            <a:off x="2204265" y="5402930"/>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Commit</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RollBack</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p:txBody>
      </p:sp>
      <p:sp>
        <p:nvSpPr>
          <p:cNvPr id="77" name="Oval 76">
            <a:extLst>
              <a:ext uri="{FF2B5EF4-FFF2-40B4-BE49-F238E27FC236}">
                <a16:creationId xmlns:a16="http://schemas.microsoft.com/office/drawing/2014/main" id="{8169CF97-A405-D338-DE41-710885277DEF}"/>
              </a:ext>
            </a:extLst>
          </p:cNvPr>
          <p:cNvSpPr/>
          <p:nvPr/>
        </p:nvSpPr>
        <p:spPr>
          <a:xfrm>
            <a:off x="2780366" y="4329619"/>
            <a:ext cx="538692" cy="288001"/>
          </a:xfrm>
          <a:prstGeom prst="ellipse">
            <a:avLst/>
          </a:prstGeom>
          <a:solidFill>
            <a:schemeClr val="bg1"/>
          </a:solidFill>
          <a:ln>
            <a:solidFill>
              <a:schemeClr val="tx1"/>
            </a:solidFill>
          </a:ln>
        </p:spPr>
        <p:txBody>
          <a:bodyPr wrap="none" lIns="0" tIns="0" rIns="0" bIns="0"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Revert</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78" name="Connector: Elbow 77">
            <a:extLst>
              <a:ext uri="{FF2B5EF4-FFF2-40B4-BE49-F238E27FC236}">
                <a16:creationId xmlns:a16="http://schemas.microsoft.com/office/drawing/2014/main" id="{C70F833B-32CE-C36F-37F3-2D4ADA317D97}"/>
              </a:ext>
            </a:extLst>
          </p:cNvPr>
          <p:cNvCxnSpPr>
            <a:cxnSpLocks/>
            <a:stCxn id="15" idx="2"/>
            <a:endCxn id="62" idx="1"/>
          </p:cNvCxnSpPr>
          <p:nvPr/>
        </p:nvCxnSpPr>
        <p:spPr>
          <a:xfrm rot="16200000" flipH="1">
            <a:off x="2924379" y="3907341"/>
            <a:ext cx="2316598" cy="557467"/>
          </a:xfrm>
          <a:prstGeom prst="bentConnector3">
            <a:avLst>
              <a:gd name="adj1" fmla="val 8784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9EB8B51E-B35E-C368-0573-748813F94480}"/>
              </a:ext>
            </a:extLst>
          </p:cNvPr>
          <p:cNvCxnSpPr>
            <a:cxnSpLocks/>
            <a:stCxn id="59" idx="3"/>
            <a:endCxn id="61" idx="1"/>
          </p:cNvCxnSpPr>
          <p:nvPr/>
        </p:nvCxnSpPr>
        <p:spPr>
          <a:xfrm>
            <a:off x="7026738" y="3856746"/>
            <a:ext cx="2327" cy="18678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7D658FA4-4317-1A1A-9C32-8A6690D70169}"/>
              </a:ext>
            </a:extLst>
          </p:cNvPr>
          <p:cNvCxnSpPr>
            <a:cxnSpLocks/>
            <a:stCxn id="52" idx="2"/>
            <a:endCxn id="81" idx="0"/>
          </p:cNvCxnSpPr>
          <p:nvPr/>
        </p:nvCxnSpPr>
        <p:spPr>
          <a:xfrm>
            <a:off x="928130" y="3361468"/>
            <a:ext cx="5670" cy="44492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176">
            <a:extLst>
              <a:ext uri="{FF2B5EF4-FFF2-40B4-BE49-F238E27FC236}">
                <a16:creationId xmlns:a16="http://schemas.microsoft.com/office/drawing/2014/main" id="{C65090D4-C856-4CB3-50B5-4368753426AC}"/>
              </a:ext>
            </a:extLst>
          </p:cNvPr>
          <p:cNvSpPr txBox="1"/>
          <p:nvPr/>
        </p:nvSpPr>
        <p:spPr>
          <a:xfrm>
            <a:off x="476600" y="3806392"/>
            <a:ext cx="914399" cy="301079"/>
          </a:xfrm>
          <a:prstGeom prst="rect">
            <a:avLst/>
          </a:prstGeom>
          <a:solidFill>
            <a:schemeClr val="bg1"/>
          </a:solidFill>
          <a:ln>
            <a:noFill/>
          </a:ln>
        </p:spPr>
        <p:txBody>
          <a:bodyPr wrap="none" lIns="0" tIns="0" rIns="0" bIns="0" rtlCol="0" anchor="ctr">
            <a:noAutofit/>
          </a:bodyPr>
          <a:lstStyle>
            <a:defPPr>
              <a:defRPr lang="en-US"/>
            </a:defPPr>
            <a:lvl1pPr marR="0" lvl="0" indent="0" algn="ctr" defTabSz="228600" fontAlgn="auto">
              <a:lnSpc>
                <a:spcPct val="100000"/>
              </a:lnSpc>
              <a:spcBef>
                <a:spcPts val="0"/>
              </a:spcBef>
              <a:spcAft>
                <a:spcPts val="0"/>
              </a:spcAft>
              <a:buClrTx/>
              <a:buSzTx/>
              <a:buFontTx/>
              <a:buNone/>
              <a:tabLst/>
              <a:defRPr kumimoji="0" sz="700" b="0" i="1" u="none" strike="noStrike" cap="none" spc="0" normalizeH="0" baseline="0">
                <a:ln>
                  <a:noFill/>
                </a:ln>
                <a:solidFill>
                  <a:srgbClr val="000000"/>
                </a:solidFill>
                <a:effectLst/>
                <a:uLnTx/>
                <a:uFillTx/>
                <a:latin typeface="Graphik"/>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 dirty="0"/>
              <a:t>A Base de datos </a:t>
            </a:r>
          </a:p>
          <a:p>
            <a:r>
              <a:rPr lang="es" dirty="0"/>
              <a:t>de Transacciones</a:t>
            </a:r>
            <a:endParaRPr lang="en-ES" dirty="0"/>
          </a:p>
        </p:txBody>
      </p:sp>
      <p:sp>
        <p:nvSpPr>
          <p:cNvPr id="82" name="TextBox 177">
            <a:extLst>
              <a:ext uri="{FF2B5EF4-FFF2-40B4-BE49-F238E27FC236}">
                <a16:creationId xmlns:a16="http://schemas.microsoft.com/office/drawing/2014/main" id="{F07E32EF-EFAE-C8E8-3C7A-F1AD6F2BC6DC}"/>
              </a:ext>
            </a:extLst>
          </p:cNvPr>
          <p:cNvSpPr txBox="1"/>
          <p:nvPr/>
        </p:nvSpPr>
        <p:spPr>
          <a:xfrm>
            <a:off x="6571865" y="5153584"/>
            <a:ext cx="900000" cy="376293"/>
          </a:xfrm>
          <a:prstGeom prst="rect">
            <a:avLst/>
          </a:prstGeom>
          <a:solidFill>
            <a:schemeClr val="bg1"/>
          </a:solidFill>
          <a:ln>
            <a:noFill/>
          </a:ln>
        </p:spPr>
        <p:txBody>
          <a:bodyPr wrap="none" lIns="0" tIns="0" rIns="0" bIns="0" rtlCol="0" anchor="ctr">
            <a:noAutofit/>
          </a:bodyPr>
          <a:lstStyle>
            <a:defPPr>
              <a:defRPr lang="en-US"/>
            </a:defPPr>
            <a:lvl1pPr marL="0" algn="ctr" defTabSz="228600" rtl="0" eaLnBrk="1" latinLnBrk="0" hangingPunct="1">
              <a:defRPr sz="700" i="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Desde la</a:t>
            </a:r>
            <a:endParaRPr kumimoji="0" lang="es-ES_tradnl" sz="700" b="0" i="1"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2286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000000"/>
                </a:solidFill>
                <a:effectLst/>
                <a:uLnTx/>
                <a:uFillTx/>
                <a:latin typeface="Graphik"/>
                <a:ea typeface="+mn-ea"/>
                <a:cs typeface="+mn-cs"/>
              </a:rPr>
              <a:t>Consola </a:t>
            </a:r>
            <a:r>
              <a:rPr kumimoji="0" lang="en-US" sz="700" b="0" i="1" u="none" strike="noStrike" kern="1200" cap="none" spc="0" normalizeH="0" baseline="0" noProof="0" dirty="0" err="1">
                <a:ln>
                  <a:noFill/>
                </a:ln>
                <a:solidFill>
                  <a:srgbClr val="000000"/>
                </a:solidFill>
                <a:effectLst/>
                <a:uLnTx/>
                <a:uFillTx/>
                <a:latin typeface="Graphik"/>
                <a:ea typeface="+mn-ea"/>
                <a:cs typeface="+mn-cs"/>
              </a:rPr>
              <a:t>Transaccional</a:t>
            </a:r>
            <a:endParaRPr kumimoji="0" lang="en-ES" sz="700" b="0" i="1" u="none" strike="noStrike" kern="1200" cap="none" spc="0" normalizeH="0" baseline="0" noProof="0" dirty="0">
              <a:ln>
                <a:noFill/>
              </a:ln>
              <a:solidFill>
                <a:srgbClr val="000000"/>
              </a:solidFill>
              <a:effectLst/>
              <a:uLnTx/>
              <a:uFillTx/>
              <a:latin typeface="Graphik"/>
              <a:ea typeface="+mn-ea"/>
              <a:cs typeface="+mn-cs"/>
            </a:endParaRPr>
          </a:p>
        </p:txBody>
      </p:sp>
      <p:cxnSp>
        <p:nvCxnSpPr>
          <p:cNvPr id="83" name="Straight Arrow Connector 82">
            <a:extLst>
              <a:ext uri="{FF2B5EF4-FFF2-40B4-BE49-F238E27FC236}">
                <a16:creationId xmlns:a16="http://schemas.microsoft.com/office/drawing/2014/main" id="{6CDAA440-E93D-566E-D946-F3B3ADFE9E3D}"/>
              </a:ext>
            </a:extLst>
          </p:cNvPr>
          <p:cNvCxnSpPr>
            <a:cxnSpLocks/>
            <a:stCxn id="82" idx="0"/>
            <a:endCxn id="61" idx="3"/>
          </p:cNvCxnSpPr>
          <p:nvPr/>
        </p:nvCxnSpPr>
        <p:spPr>
          <a:xfrm flipV="1">
            <a:off x="7021865" y="4836630"/>
            <a:ext cx="7200" cy="316954"/>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144">
            <a:extLst>
              <a:ext uri="{FF2B5EF4-FFF2-40B4-BE49-F238E27FC236}">
                <a16:creationId xmlns:a16="http://schemas.microsoft.com/office/drawing/2014/main" id="{12426334-B6E3-FAD8-7BF8-0E8BB08A00B9}"/>
              </a:ext>
            </a:extLst>
          </p:cNvPr>
          <p:cNvSpPr txBox="1"/>
          <p:nvPr/>
        </p:nvSpPr>
        <p:spPr>
          <a:xfrm>
            <a:off x="1616091" y="6216007"/>
            <a:ext cx="4462491" cy="246222"/>
          </a:xfrm>
          <a:prstGeom prst="rect">
            <a:avLst/>
          </a:prstGeom>
          <a:noFill/>
        </p:spPr>
        <p:txBody>
          <a:bodyPr wrap="square" lIns="0" tIns="0" rIns="0" bIns="0"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Los componentes de la pila son solo ejemplos. Otras opciones podrían ser aplicables</a:t>
            </a:r>
          </a:p>
        </p:txBody>
      </p:sp>
      <p:sp>
        <p:nvSpPr>
          <p:cNvPr id="84" name="Rectangle 83">
            <a:extLst>
              <a:ext uri="{FF2B5EF4-FFF2-40B4-BE49-F238E27FC236}">
                <a16:creationId xmlns:a16="http://schemas.microsoft.com/office/drawing/2014/main" id="{0B8802F2-C87F-7825-A8E0-0CD96948ADAA}"/>
              </a:ext>
            </a:extLst>
          </p:cNvPr>
          <p:cNvSpPr/>
          <p:nvPr/>
        </p:nvSpPr>
        <p:spPr>
          <a:xfrm>
            <a:off x="7860146" y="589945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87" name="Rectangle 86">
            <a:extLst>
              <a:ext uri="{FF2B5EF4-FFF2-40B4-BE49-F238E27FC236}">
                <a16:creationId xmlns:a16="http://schemas.microsoft.com/office/drawing/2014/main" id="{FD3DCF6E-C344-B5B8-CA43-5BC91318562A}"/>
              </a:ext>
            </a:extLst>
          </p:cNvPr>
          <p:cNvSpPr/>
          <p:nvPr/>
        </p:nvSpPr>
        <p:spPr>
          <a:xfrm>
            <a:off x="7860146" y="613361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89" name="Rectangle 88">
            <a:extLst>
              <a:ext uri="{FF2B5EF4-FFF2-40B4-BE49-F238E27FC236}">
                <a16:creationId xmlns:a16="http://schemas.microsoft.com/office/drawing/2014/main" id="{9367D807-8EAD-080D-B114-7BAE5ABCF42E}"/>
              </a:ext>
            </a:extLst>
          </p:cNvPr>
          <p:cNvSpPr/>
          <p:nvPr/>
        </p:nvSpPr>
        <p:spPr>
          <a:xfrm>
            <a:off x="7860145" y="635003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
        <p:nvSpPr>
          <p:cNvPr id="97" name="Rectangle 96">
            <a:extLst>
              <a:ext uri="{FF2B5EF4-FFF2-40B4-BE49-F238E27FC236}">
                <a16:creationId xmlns:a16="http://schemas.microsoft.com/office/drawing/2014/main" id="{EE4119F2-FD1D-4C5A-213D-7190B301ED1A}"/>
              </a:ext>
            </a:extLst>
          </p:cNvPr>
          <p:cNvSpPr/>
          <p:nvPr/>
        </p:nvSpPr>
        <p:spPr>
          <a:xfrm>
            <a:off x="1722663" y="2736012"/>
            <a:ext cx="658465" cy="32969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spTree>
    <p:extLst>
      <p:ext uri="{BB962C8B-B14F-4D97-AF65-F5344CB8AC3E}">
        <p14:creationId xmlns:p14="http://schemas.microsoft.com/office/powerpoint/2010/main" val="15109549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30DED-0894-96E2-449D-E76F8F7BEB1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3593CE0E-28E7-15B3-1407-451674B4740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A1F10A77-8294-DE64-10EC-B300A73765D7}"/>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CE62231C-85B5-3C4B-7886-5743BF2E714C}"/>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Patrón de Saga Orquestado</a:t>
            </a:r>
          </a:p>
        </p:txBody>
      </p:sp>
      <p:grpSp>
        <p:nvGrpSpPr>
          <p:cNvPr id="89" name="Group 88">
            <a:extLst>
              <a:ext uri="{FF2B5EF4-FFF2-40B4-BE49-F238E27FC236}">
                <a16:creationId xmlns:a16="http://schemas.microsoft.com/office/drawing/2014/main" id="{58FE84ED-482A-7BC7-8CD6-FB782C3D94AC}"/>
              </a:ext>
            </a:extLst>
          </p:cNvPr>
          <p:cNvGrpSpPr/>
          <p:nvPr/>
        </p:nvGrpSpPr>
        <p:grpSpPr>
          <a:xfrm>
            <a:off x="470693" y="4002525"/>
            <a:ext cx="2256649" cy="1008057"/>
            <a:chOff x="381001" y="3948617"/>
            <a:chExt cx="2256649" cy="1008057"/>
          </a:xfrm>
        </p:grpSpPr>
        <p:sp>
          <p:nvSpPr>
            <p:cNvPr id="90" name="Cylinder 89">
              <a:extLst>
                <a:ext uri="{FF2B5EF4-FFF2-40B4-BE49-F238E27FC236}">
                  <a16:creationId xmlns:a16="http://schemas.microsoft.com/office/drawing/2014/main" id="{4DC9732F-49B2-28C6-727C-1B1A39D90EF7}"/>
                </a:ext>
              </a:extLst>
            </p:cNvPr>
            <p:cNvSpPr/>
            <p:nvPr/>
          </p:nvSpPr>
          <p:spPr>
            <a:xfrm>
              <a:off x="381001" y="4479004"/>
              <a:ext cx="1341022"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p>
          </p:txBody>
        </p:sp>
        <p:sp>
          <p:nvSpPr>
            <p:cNvPr id="91" name="Rectangle 90">
              <a:extLst>
                <a:ext uri="{FF2B5EF4-FFF2-40B4-BE49-F238E27FC236}">
                  <a16:creationId xmlns:a16="http://schemas.microsoft.com/office/drawing/2014/main" id="{3ADE88C6-B4C6-5B2A-FC06-5AF815D304DB}"/>
                </a:ext>
              </a:extLst>
            </p:cNvPr>
            <p:cNvSpPr/>
            <p:nvPr/>
          </p:nvSpPr>
          <p:spPr>
            <a:xfrm>
              <a:off x="1773650" y="3948617"/>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92" name="Flowchart: Magnetic Disk 91">
              <a:extLst>
                <a:ext uri="{FF2B5EF4-FFF2-40B4-BE49-F238E27FC236}">
                  <a16:creationId xmlns:a16="http://schemas.microsoft.com/office/drawing/2014/main" id="{A5633A25-DD3B-1103-85C9-094FF45FC693}"/>
                </a:ext>
              </a:extLst>
            </p:cNvPr>
            <p:cNvSpPr/>
            <p:nvPr/>
          </p:nvSpPr>
          <p:spPr>
            <a:xfrm>
              <a:off x="1900290" y="4297571"/>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93" name="Rectangle 92">
              <a:extLst>
                <a:ext uri="{FF2B5EF4-FFF2-40B4-BE49-F238E27FC236}">
                  <a16:creationId xmlns:a16="http://schemas.microsoft.com/office/drawing/2014/main" id="{6C2445C1-B08E-7293-CBB6-616B4A6B20EF}"/>
                </a:ext>
              </a:extLst>
            </p:cNvPr>
            <p:cNvSpPr/>
            <p:nvPr/>
          </p:nvSpPr>
          <p:spPr>
            <a:xfrm>
              <a:off x="386442" y="3948617"/>
              <a:ext cx="1330140" cy="477671"/>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94" name="Cylinder 93">
              <a:extLst>
                <a:ext uri="{FF2B5EF4-FFF2-40B4-BE49-F238E27FC236}">
                  <a16:creationId xmlns:a16="http://schemas.microsoft.com/office/drawing/2014/main" id="{F657D3D2-DF1F-1247-EDE7-317D101ADF9E}"/>
                </a:ext>
              </a:extLst>
            </p:cNvPr>
            <p:cNvSpPr/>
            <p:nvPr/>
          </p:nvSpPr>
          <p:spPr>
            <a:xfrm>
              <a:off x="793052" y="4590360"/>
              <a:ext cx="572703"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95" name="Rectangle 94">
              <a:extLst>
                <a:ext uri="{FF2B5EF4-FFF2-40B4-BE49-F238E27FC236}">
                  <a16:creationId xmlns:a16="http://schemas.microsoft.com/office/drawing/2014/main" id="{98A5B844-59E1-EC22-B0F3-9F1D77813B02}"/>
                </a:ext>
              </a:extLst>
            </p:cNvPr>
            <p:cNvSpPr/>
            <p:nvPr/>
          </p:nvSpPr>
          <p:spPr>
            <a:xfrm>
              <a:off x="574757" y="3993614"/>
              <a:ext cx="953511" cy="3876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96" name="Oval 95">
              <a:extLst>
                <a:ext uri="{FF2B5EF4-FFF2-40B4-BE49-F238E27FC236}">
                  <a16:creationId xmlns:a16="http://schemas.microsoft.com/office/drawing/2014/main" id="{9B36AB16-0733-9052-3674-C7056FB9C7E6}"/>
                </a:ext>
              </a:extLst>
            </p:cNvPr>
            <p:cNvSpPr/>
            <p:nvPr/>
          </p:nvSpPr>
          <p:spPr bwMode="auto">
            <a:xfrm>
              <a:off x="793534" y="4151679"/>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97" name="Straight Arrow Connector 96">
              <a:extLst>
                <a:ext uri="{FF2B5EF4-FFF2-40B4-BE49-F238E27FC236}">
                  <a16:creationId xmlns:a16="http://schemas.microsoft.com/office/drawing/2014/main" id="{7B5F3A8B-BE94-21FB-A790-BBACDF316F0F}"/>
                </a:ext>
              </a:extLst>
            </p:cNvPr>
            <p:cNvCxnSpPr>
              <a:cxnSpLocks/>
            </p:cNvCxnSpPr>
            <p:nvPr/>
          </p:nvCxnSpPr>
          <p:spPr>
            <a:xfrm>
              <a:off x="1051512" y="4347590"/>
              <a:ext cx="0" cy="262829"/>
            </a:xfrm>
            <a:prstGeom prst="straightConnector1">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98" name="Text Placeholder 4">
            <a:extLst>
              <a:ext uri="{FF2B5EF4-FFF2-40B4-BE49-F238E27FC236}">
                <a16:creationId xmlns:a16="http://schemas.microsoft.com/office/drawing/2014/main" id="{0E1789D3-4A75-9A79-6BA8-ABF62BBF00C5}"/>
              </a:ext>
            </a:extLst>
          </p:cNvPr>
          <p:cNvSpPr txBox="1">
            <a:spLocks/>
          </p:cNvSpPr>
          <p:nvPr/>
        </p:nvSpPr>
        <p:spPr>
          <a:xfrm>
            <a:off x="189663"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Transacción 2PC dentro del mismo Servicio </a:t>
            </a:r>
            <a:br>
              <a:rPr kumimoji="0" lang="en-U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rPr>
              <a:t>(Negocio u Orquestación)</a:t>
            </a:r>
            <a:endParaRPr kumimoji="0" lang="es-ES" sz="1600" b="1" i="0" u="none" strike="noStrike" kern="1200" cap="all" spc="0" normalizeH="0" baseline="0" noProof="0">
              <a:ln>
                <a:noFill/>
              </a:ln>
              <a:solidFill>
                <a:srgbClr val="00D700"/>
              </a:solidFill>
              <a:effectLst/>
              <a:uLnTx/>
              <a:uFillTx/>
              <a:latin typeface="Graphik" panose="020B0503030202060203" pitchFamily="34" charset="77"/>
              <a:ea typeface="Roboto" panose="02000000000000000000" pitchFamily="2" charset="0"/>
              <a:cs typeface="Arial" panose="020B0604020202020204" pitchFamily="34" charset="0"/>
            </a:endParaRPr>
          </a:p>
        </p:txBody>
      </p:sp>
      <p:grpSp>
        <p:nvGrpSpPr>
          <p:cNvPr id="99" name="Group 98">
            <a:extLst>
              <a:ext uri="{FF2B5EF4-FFF2-40B4-BE49-F238E27FC236}">
                <a16:creationId xmlns:a16="http://schemas.microsoft.com/office/drawing/2014/main" id="{944FB187-2768-326E-0233-C7EAD4C01D7C}"/>
              </a:ext>
            </a:extLst>
          </p:cNvPr>
          <p:cNvGrpSpPr/>
          <p:nvPr/>
        </p:nvGrpSpPr>
        <p:grpSpPr>
          <a:xfrm>
            <a:off x="3221740" y="3996674"/>
            <a:ext cx="2638760" cy="1764771"/>
            <a:chOff x="3176138" y="3942766"/>
            <a:chExt cx="2638760" cy="1764771"/>
          </a:xfrm>
        </p:grpSpPr>
        <p:sp>
          <p:nvSpPr>
            <p:cNvPr id="100" name="Cylinder 99">
              <a:extLst>
                <a:ext uri="{FF2B5EF4-FFF2-40B4-BE49-F238E27FC236}">
                  <a16:creationId xmlns:a16="http://schemas.microsoft.com/office/drawing/2014/main" id="{6E41A6F4-265C-A7F4-00CC-908C84B5CEE8}"/>
                </a:ext>
              </a:extLst>
            </p:cNvPr>
            <p:cNvSpPr/>
            <p:nvPr/>
          </p:nvSpPr>
          <p:spPr>
            <a:xfrm>
              <a:off x="3176138" y="5229867"/>
              <a:ext cx="1723025"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1" name="Rectangle 100">
              <a:extLst>
                <a:ext uri="{FF2B5EF4-FFF2-40B4-BE49-F238E27FC236}">
                  <a16:creationId xmlns:a16="http://schemas.microsoft.com/office/drawing/2014/main" id="{0972B8D9-33F4-DE69-AA66-31495BDB5AF4}"/>
                </a:ext>
              </a:extLst>
            </p:cNvPr>
            <p:cNvSpPr/>
            <p:nvPr/>
          </p:nvSpPr>
          <p:spPr>
            <a:xfrm>
              <a:off x="495089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02" name="Flowchart: Magnetic Disk 101">
              <a:extLst>
                <a:ext uri="{FF2B5EF4-FFF2-40B4-BE49-F238E27FC236}">
                  <a16:creationId xmlns:a16="http://schemas.microsoft.com/office/drawing/2014/main" id="{61874D7A-9575-66ED-0B60-C26E4E60E610}"/>
                </a:ext>
              </a:extLst>
            </p:cNvPr>
            <p:cNvSpPr/>
            <p:nvPr/>
          </p:nvSpPr>
          <p:spPr>
            <a:xfrm>
              <a:off x="507753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03" name="Rectangle 102">
              <a:extLst>
                <a:ext uri="{FF2B5EF4-FFF2-40B4-BE49-F238E27FC236}">
                  <a16:creationId xmlns:a16="http://schemas.microsoft.com/office/drawing/2014/main" id="{47987052-1B34-A4FF-258F-F6BF5BAF4495}"/>
                </a:ext>
              </a:extLst>
            </p:cNvPr>
            <p:cNvSpPr/>
            <p:nvPr/>
          </p:nvSpPr>
          <p:spPr>
            <a:xfrm>
              <a:off x="3176139" y="3942766"/>
              <a:ext cx="1723025"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04" name="Cylinder 103">
              <a:extLst>
                <a:ext uri="{FF2B5EF4-FFF2-40B4-BE49-F238E27FC236}">
                  <a16:creationId xmlns:a16="http://schemas.microsoft.com/office/drawing/2014/main" id="{E18C9D23-C214-3DA2-E270-6555112A7E82}"/>
                </a:ext>
              </a:extLst>
            </p:cNvPr>
            <p:cNvSpPr/>
            <p:nvPr/>
          </p:nvSpPr>
          <p:spPr>
            <a:xfrm>
              <a:off x="3588191"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05" name="Rectangle 104">
              <a:extLst>
                <a:ext uri="{FF2B5EF4-FFF2-40B4-BE49-F238E27FC236}">
                  <a16:creationId xmlns:a16="http://schemas.microsoft.com/office/drawing/2014/main" id="{9A42CFC7-56BE-2A51-4AB9-9017D20CC49A}"/>
                </a:ext>
              </a:extLst>
            </p:cNvPr>
            <p:cNvSpPr/>
            <p:nvPr/>
          </p:nvSpPr>
          <p:spPr>
            <a:xfrm>
              <a:off x="3364455" y="3987762"/>
              <a:ext cx="1483911" cy="83832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grpSp>
          <p:nvGrpSpPr>
            <p:cNvPr id="106" name="Group 105">
              <a:extLst>
                <a:ext uri="{FF2B5EF4-FFF2-40B4-BE49-F238E27FC236}">
                  <a16:creationId xmlns:a16="http://schemas.microsoft.com/office/drawing/2014/main" id="{ECF6BB36-2F34-A258-7EC4-51FD9B441DCA}"/>
                </a:ext>
              </a:extLst>
            </p:cNvPr>
            <p:cNvGrpSpPr/>
            <p:nvPr/>
          </p:nvGrpSpPr>
          <p:grpSpPr>
            <a:xfrm>
              <a:off x="3401640" y="4160881"/>
              <a:ext cx="1416101" cy="710205"/>
              <a:chOff x="2651314" y="5072928"/>
              <a:chExt cx="1416101" cy="710205"/>
            </a:xfrm>
          </p:grpSpPr>
          <p:sp>
            <p:nvSpPr>
              <p:cNvPr id="110" name="Oval 109">
                <a:extLst>
                  <a:ext uri="{FF2B5EF4-FFF2-40B4-BE49-F238E27FC236}">
                    <a16:creationId xmlns:a16="http://schemas.microsoft.com/office/drawing/2014/main" id="{3A64684F-9F2E-B696-DA3A-9ED26897D939}"/>
                  </a:ext>
                </a:extLst>
              </p:cNvPr>
              <p:cNvSpPr/>
              <p:nvPr/>
            </p:nvSpPr>
            <p:spPr bwMode="auto">
              <a:xfrm>
                <a:off x="3041061" y="5072928"/>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1" name="Oval 110">
                <a:extLst>
                  <a:ext uri="{FF2B5EF4-FFF2-40B4-BE49-F238E27FC236}">
                    <a16:creationId xmlns:a16="http://schemas.microsoft.com/office/drawing/2014/main" id="{33550CB0-659F-F78D-800A-FA4A9CA1B568}"/>
                  </a:ext>
                </a:extLst>
              </p:cNvPr>
              <p:cNvSpPr/>
              <p:nvPr/>
            </p:nvSpPr>
            <p:spPr bwMode="auto">
              <a:xfrm>
                <a:off x="2651314" y="550457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12" name="Oval 111">
                <a:extLst>
                  <a:ext uri="{FF2B5EF4-FFF2-40B4-BE49-F238E27FC236}">
                    <a16:creationId xmlns:a16="http://schemas.microsoft.com/office/drawing/2014/main" id="{068845D3-206F-C53F-10ED-AB1FD203477F}"/>
                  </a:ext>
                </a:extLst>
              </p:cNvPr>
              <p:cNvSpPr/>
              <p:nvPr/>
            </p:nvSpPr>
            <p:spPr bwMode="auto">
              <a:xfrm>
                <a:off x="3551458" y="5477170"/>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13" name="Straight Arrow Connector 65">
                <a:extLst>
                  <a:ext uri="{FF2B5EF4-FFF2-40B4-BE49-F238E27FC236}">
                    <a16:creationId xmlns:a16="http://schemas.microsoft.com/office/drawing/2014/main" id="{2CC8163C-1C01-7737-A909-173F444DBBE0}"/>
                  </a:ext>
                </a:extLst>
              </p:cNvPr>
              <p:cNvCxnSpPr>
                <a:cxnSpLocks/>
                <a:stCxn id="110" idx="4"/>
                <a:endCxn id="112" idx="0"/>
              </p:cNvCxnSpPr>
              <p:nvPr/>
            </p:nvCxnSpPr>
            <p:spPr>
              <a:xfrm rot="16200000" flipH="1">
                <a:off x="3452440" y="5120172"/>
                <a:ext cx="203597" cy="51039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68">
                <a:extLst>
                  <a:ext uri="{FF2B5EF4-FFF2-40B4-BE49-F238E27FC236}">
                    <a16:creationId xmlns:a16="http://schemas.microsoft.com/office/drawing/2014/main" id="{1B3909C4-A838-2522-CB74-845D44A10503}"/>
                  </a:ext>
                </a:extLst>
              </p:cNvPr>
              <p:cNvCxnSpPr>
                <a:cxnSpLocks/>
                <a:stCxn id="110" idx="4"/>
                <a:endCxn id="111" idx="0"/>
              </p:cNvCxnSpPr>
              <p:nvPr/>
            </p:nvCxnSpPr>
            <p:spPr>
              <a:xfrm rot="5400000">
                <a:off x="2988666" y="5194201"/>
                <a:ext cx="231002" cy="38974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68">
                <a:extLst>
                  <a:ext uri="{FF2B5EF4-FFF2-40B4-BE49-F238E27FC236}">
                    <a16:creationId xmlns:a16="http://schemas.microsoft.com/office/drawing/2014/main" id="{F8DBF7E6-9028-924D-F580-63F50E4D0CA6}"/>
                  </a:ext>
                </a:extLst>
              </p:cNvPr>
              <p:cNvCxnSpPr>
                <a:cxnSpLocks/>
                <a:stCxn id="111" idx="6"/>
              </p:cNvCxnSpPr>
              <p:nvPr/>
            </p:nvCxnSpPr>
            <p:spPr>
              <a:xfrm>
                <a:off x="3167271" y="5604898"/>
                <a:ext cx="139305" cy="178235"/>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07" name="Straight Arrow Connector 68">
              <a:extLst>
                <a:ext uri="{FF2B5EF4-FFF2-40B4-BE49-F238E27FC236}">
                  <a16:creationId xmlns:a16="http://schemas.microsoft.com/office/drawing/2014/main" id="{1E7AC2E9-9E6B-3A43-BDA5-19157CB04F26}"/>
                </a:ext>
              </a:extLst>
            </p:cNvPr>
            <p:cNvCxnSpPr>
              <a:cxnSpLocks/>
              <a:stCxn id="111" idx="4"/>
              <a:endCxn id="104" idx="1"/>
            </p:cNvCxnSpPr>
            <p:nvPr/>
          </p:nvCxnSpPr>
          <p:spPr>
            <a:xfrm rot="16200000" flipH="1">
              <a:off x="3472759" y="4980032"/>
              <a:ext cx="560750" cy="18703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68">
              <a:extLst>
                <a:ext uri="{FF2B5EF4-FFF2-40B4-BE49-F238E27FC236}">
                  <a16:creationId xmlns:a16="http://schemas.microsoft.com/office/drawing/2014/main" id="{C76571E0-20F7-92CE-B823-4C7C76FD8A45}"/>
                </a:ext>
              </a:extLst>
            </p:cNvPr>
            <p:cNvCxnSpPr>
              <a:cxnSpLocks/>
              <a:stCxn id="112" idx="4"/>
              <a:endCxn id="104" idx="1"/>
            </p:cNvCxnSpPr>
            <p:nvPr/>
          </p:nvCxnSpPr>
          <p:spPr>
            <a:xfrm rot="5400000">
              <a:off x="3909130" y="4703289"/>
              <a:ext cx="588155" cy="713113"/>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09" name="Cylinder 108">
              <a:extLst>
                <a:ext uri="{FF2B5EF4-FFF2-40B4-BE49-F238E27FC236}">
                  <a16:creationId xmlns:a16="http://schemas.microsoft.com/office/drawing/2014/main" id="{B8FC7111-A725-F84B-3A30-1F756E6AA4E7}"/>
                </a:ext>
              </a:extLst>
            </p:cNvPr>
            <p:cNvSpPr/>
            <p:nvPr/>
          </p:nvSpPr>
          <p:spPr>
            <a:xfrm rot="16200000">
              <a:off x="4067029" y="4705927"/>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grpSp>
      <p:sp>
        <p:nvSpPr>
          <p:cNvPr id="116" name="Text Placeholder 4">
            <a:extLst>
              <a:ext uri="{FF2B5EF4-FFF2-40B4-BE49-F238E27FC236}">
                <a16:creationId xmlns:a16="http://schemas.microsoft.com/office/drawing/2014/main" id="{5A1CFAAF-C7B6-70FA-DE61-1A77B1F0A0FE}"/>
              </a:ext>
            </a:extLst>
          </p:cNvPr>
          <p:cNvSpPr txBox="1">
            <a:spLocks/>
          </p:cNvSpPr>
          <p:nvPr/>
        </p:nvSpPr>
        <p:spPr>
          <a:xfrm>
            <a:off x="3131766" y="1348742"/>
            <a:ext cx="2818709"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2PC Transaction dentro del mismo subdominio</a:t>
            </a:r>
          </a:p>
        </p:txBody>
      </p:sp>
      <p:grpSp>
        <p:nvGrpSpPr>
          <p:cNvPr id="117" name="Group 116">
            <a:extLst>
              <a:ext uri="{FF2B5EF4-FFF2-40B4-BE49-F238E27FC236}">
                <a16:creationId xmlns:a16="http://schemas.microsoft.com/office/drawing/2014/main" id="{6DE60CC1-0780-B05B-3AC7-95CFCB0B171E}"/>
              </a:ext>
            </a:extLst>
          </p:cNvPr>
          <p:cNvGrpSpPr/>
          <p:nvPr/>
        </p:nvGrpSpPr>
        <p:grpSpPr>
          <a:xfrm>
            <a:off x="6210556" y="3996674"/>
            <a:ext cx="2752662" cy="1764771"/>
            <a:chOff x="6254866" y="3942766"/>
            <a:chExt cx="2752662" cy="1764771"/>
          </a:xfrm>
        </p:grpSpPr>
        <p:sp>
          <p:nvSpPr>
            <p:cNvPr id="118" name="Cylinder 117">
              <a:extLst>
                <a:ext uri="{FF2B5EF4-FFF2-40B4-BE49-F238E27FC236}">
                  <a16:creationId xmlns:a16="http://schemas.microsoft.com/office/drawing/2014/main" id="{DD372847-925A-4E48-0C55-619FFA14A309}"/>
                </a:ext>
              </a:extLst>
            </p:cNvPr>
            <p:cNvSpPr/>
            <p:nvPr/>
          </p:nvSpPr>
          <p:spPr>
            <a:xfrm>
              <a:off x="6254866" y="5229867"/>
              <a:ext cx="1832886"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19" name="Rectangle 118">
              <a:extLst>
                <a:ext uri="{FF2B5EF4-FFF2-40B4-BE49-F238E27FC236}">
                  <a16:creationId xmlns:a16="http://schemas.microsoft.com/office/drawing/2014/main" id="{67C0D6D0-9364-25E3-2093-39FA8DEEAB90}"/>
                </a:ext>
              </a:extLst>
            </p:cNvPr>
            <p:cNvSpPr/>
            <p:nvPr/>
          </p:nvSpPr>
          <p:spPr>
            <a:xfrm>
              <a:off x="8143528" y="394276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20" name="Flowchart: Magnetic Disk 119">
              <a:extLst>
                <a:ext uri="{FF2B5EF4-FFF2-40B4-BE49-F238E27FC236}">
                  <a16:creationId xmlns:a16="http://schemas.microsoft.com/office/drawing/2014/main" id="{BA12934B-87F4-A449-3EF9-C764A3BB2AAC}"/>
                </a:ext>
              </a:extLst>
            </p:cNvPr>
            <p:cNvSpPr/>
            <p:nvPr/>
          </p:nvSpPr>
          <p:spPr>
            <a:xfrm>
              <a:off x="8270168" y="429172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21" name="Rectangle 120">
              <a:extLst>
                <a:ext uri="{FF2B5EF4-FFF2-40B4-BE49-F238E27FC236}">
                  <a16:creationId xmlns:a16="http://schemas.microsoft.com/office/drawing/2014/main" id="{D45D90BA-F059-4D78-335A-65E9C03ACDFC}"/>
                </a:ext>
              </a:extLst>
            </p:cNvPr>
            <p:cNvSpPr/>
            <p:nvPr/>
          </p:nvSpPr>
          <p:spPr>
            <a:xfrm>
              <a:off x="6254867" y="3942766"/>
              <a:ext cx="1832886"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22" name="Cylinder 121">
              <a:extLst>
                <a:ext uri="{FF2B5EF4-FFF2-40B4-BE49-F238E27FC236}">
                  <a16:creationId xmlns:a16="http://schemas.microsoft.com/office/drawing/2014/main" id="{5F68E968-28A9-42F4-38BA-9CA4B7C35C9E}"/>
                </a:ext>
              </a:extLst>
            </p:cNvPr>
            <p:cNvSpPr/>
            <p:nvPr/>
          </p:nvSpPr>
          <p:spPr>
            <a:xfrm>
              <a:off x="6666918" y="535392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23" name="Rectangle 122">
              <a:extLst>
                <a:ext uri="{FF2B5EF4-FFF2-40B4-BE49-F238E27FC236}">
                  <a16:creationId xmlns:a16="http://schemas.microsoft.com/office/drawing/2014/main" id="{2EFAAC40-A2FA-E956-5FB2-460B363B35DE}"/>
                </a:ext>
              </a:extLst>
            </p:cNvPr>
            <p:cNvSpPr/>
            <p:nvPr/>
          </p:nvSpPr>
          <p:spPr>
            <a:xfrm>
              <a:off x="6303486" y="3987762"/>
              <a:ext cx="945302" cy="888491"/>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24" name="Straight Arrow Connector 68">
              <a:extLst>
                <a:ext uri="{FF2B5EF4-FFF2-40B4-BE49-F238E27FC236}">
                  <a16:creationId xmlns:a16="http://schemas.microsoft.com/office/drawing/2014/main" id="{A7E76B13-BEF7-AFED-E8D5-297608EA2945}"/>
                </a:ext>
              </a:extLst>
            </p:cNvPr>
            <p:cNvCxnSpPr>
              <a:cxnSpLocks/>
              <a:stCxn id="127" idx="4"/>
              <a:endCxn id="122" idx="1"/>
            </p:cNvCxnSpPr>
            <p:nvPr/>
          </p:nvCxnSpPr>
          <p:spPr>
            <a:xfrm rot="16200000" flipH="1">
              <a:off x="6496989" y="4925534"/>
              <a:ext cx="568685" cy="288092"/>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2C630D50-8348-2297-557F-6F290172FDDF}"/>
                </a:ext>
              </a:extLst>
            </p:cNvPr>
            <p:cNvSpPr/>
            <p:nvPr/>
          </p:nvSpPr>
          <p:spPr>
            <a:xfrm>
              <a:off x="7316268" y="3988079"/>
              <a:ext cx="707416" cy="888174"/>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sp>
          <p:nvSpPr>
            <p:cNvPr id="126" name="Oval 125">
              <a:extLst>
                <a:ext uri="{FF2B5EF4-FFF2-40B4-BE49-F238E27FC236}">
                  <a16:creationId xmlns:a16="http://schemas.microsoft.com/office/drawing/2014/main" id="{0DE5C3F1-C963-0B07-3B0D-AC8F200FC232}"/>
                </a:ext>
              </a:extLst>
            </p:cNvPr>
            <p:cNvSpPr/>
            <p:nvPr/>
          </p:nvSpPr>
          <p:spPr bwMode="auto">
            <a:xfrm>
              <a:off x="6637285" y="416088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7" name="Oval 126">
              <a:extLst>
                <a:ext uri="{FF2B5EF4-FFF2-40B4-BE49-F238E27FC236}">
                  <a16:creationId xmlns:a16="http://schemas.microsoft.com/office/drawing/2014/main" id="{1FE21BFB-1730-C735-CD3E-6F405A8E077F}"/>
                </a:ext>
              </a:extLst>
            </p:cNvPr>
            <p:cNvSpPr/>
            <p:nvPr/>
          </p:nvSpPr>
          <p:spPr bwMode="auto">
            <a:xfrm>
              <a:off x="6379306" y="4584593"/>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28" name="Oval 127">
              <a:extLst>
                <a:ext uri="{FF2B5EF4-FFF2-40B4-BE49-F238E27FC236}">
                  <a16:creationId xmlns:a16="http://schemas.microsoft.com/office/drawing/2014/main" id="{8804E14A-745A-02A0-7794-B81E25097FC8}"/>
                </a:ext>
              </a:extLst>
            </p:cNvPr>
            <p:cNvSpPr/>
            <p:nvPr/>
          </p:nvSpPr>
          <p:spPr bwMode="auto">
            <a:xfrm>
              <a:off x="7399026" y="462544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cxnSp>
          <p:nvCxnSpPr>
            <p:cNvPr id="129" name="Straight Arrow Connector 65">
              <a:extLst>
                <a:ext uri="{FF2B5EF4-FFF2-40B4-BE49-F238E27FC236}">
                  <a16:creationId xmlns:a16="http://schemas.microsoft.com/office/drawing/2014/main" id="{AE6ACEEB-0637-C38A-1D09-10DFE028D812}"/>
                </a:ext>
              </a:extLst>
            </p:cNvPr>
            <p:cNvCxnSpPr>
              <a:cxnSpLocks/>
              <a:stCxn id="126" idx="4"/>
              <a:endCxn id="128" idx="0"/>
            </p:cNvCxnSpPr>
            <p:nvPr/>
          </p:nvCxnSpPr>
          <p:spPr>
            <a:xfrm rot="16200000" flipH="1">
              <a:off x="7144175" y="4112614"/>
              <a:ext cx="263919" cy="761741"/>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68">
              <a:extLst>
                <a:ext uri="{FF2B5EF4-FFF2-40B4-BE49-F238E27FC236}">
                  <a16:creationId xmlns:a16="http://schemas.microsoft.com/office/drawing/2014/main" id="{15BFFD7C-694E-8D63-56B4-0984D90876EF}"/>
                </a:ext>
              </a:extLst>
            </p:cNvPr>
            <p:cNvCxnSpPr>
              <a:cxnSpLocks/>
              <a:stCxn id="126" idx="4"/>
              <a:endCxn id="127" idx="0"/>
            </p:cNvCxnSpPr>
            <p:nvPr/>
          </p:nvCxnSpPr>
          <p:spPr>
            <a:xfrm rot="5400000">
              <a:off x="6654742" y="4344070"/>
              <a:ext cx="223067" cy="257979"/>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68">
              <a:extLst>
                <a:ext uri="{FF2B5EF4-FFF2-40B4-BE49-F238E27FC236}">
                  <a16:creationId xmlns:a16="http://schemas.microsoft.com/office/drawing/2014/main" id="{3F9769D8-6F80-F47A-8EB5-C0F2A74867F0}"/>
                </a:ext>
              </a:extLst>
            </p:cNvPr>
            <p:cNvCxnSpPr>
              <a:cxnSpLocks/>
              <a:stCxn id="128" idx="4"/>
              <a:endCxn id="132" idx="1"/>
            </p:cNvCxnSpPr>
            <p:nvPr/>
          </p:nvCxnSpPr>
          <p:spPr>
            <a:xfrm rot="5400000">
              <a:off x="7334546" y="5036635"/>
              <a:ext cx="533004" cy="11191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32" name="Cylinder 131">
              <a:extLst>
                <a:ext uri="{FF2B5EF4-FFF2-40B4-BE49-F238E27FC236}">
                  <a16:creationId xmlns:a16="http://schemas.microsoft.com/office/drawing/2014/main" id="{5CF8610C-FAF6-64C3-5FE3-2C2C390AB0D1}"/>
                </a:ext>
              </a:extLst>
            </p:cNvPr>
            <p:cNvSpPr/>
            <p:nvPr/>
          </p:nvSpPr>
          <p:spPr>
            <a:xfrm>
              <a:off x="7286632" y="5359094"/>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3" name="Cylinder 132">
              <a:extLst>
                <a:ext uri="{FF2B5EF4-FFF2-40B4-BE49-F238E27FC236}">
                  <a16:creationId xmlns:a16="http://schemas.microsoft.com/office/drawing/2014/main" id="{AACF8A35-FC1F-B14E-58F9-D73C686BDAA3}"/>
                </a:ext>
              </a:extLst>
            </p:cNvPr>
            <p:cNvSpPr/>
            <p:nvPr/>
          </p:nvSpPr>
          <p:spPr>
            <a:xfrm rot="16200000">
              <a:off x="7184058" y="4769442"/>
              <a:ext cx="150238" cy="490889"/>
            </a:xfrm>
            <a:prstGeom prst="can">
              <a:avLst/>
            </a:prstGeom>
            <a:solidFill>
              <a:srgbClr val="99CCFF"/>
            </a:solidFill>
            <a:ln w="6350">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 sz="1800" b="0" i="0" u="none" strike="noStrike" kern="1200" cap="none" spc="0" normalizeH="0" baseline="0" noProof="0">
                <a:ln>
                  <a:noFill/>
                </a:ln>
                <a:solidFill>
                  <a:srgbClr val="FFFFFF"/>
                </a:solidFill>
                <a:effectLst/>
                <a:uLnTx/>
                <a:uFillTx/>
                <a:latin typeface="Graphik"/>
                <a:ea typeface="+mn-ea"/>
                <a:cs typeface="+mn-cs"/>
              </a:endParaRPr>
            </a:p>
          </p:txBody>
        </p:sp>
        <p:cxnSp>
          <p:nvCxnSpPr>
            <p:cNvPr id="134" name="Straight Arrow Connector 68">
              <a:extLst>
                <a:ext uri="{FF2B5EF4-FFF2-40B4-BE49-F238E27FC236}">
                  <a16:creationId xmlns:a16="http://schemas.microsoft.com/office/drawing/2014/main" id="{2AAD50BF-F374-DFA6-9A1B-CDC93FA64355}"/>
                </a:ext>
              </a:extLst>
            </p:cNvPr>
            <p:cNvCxnSpPr>
              <a:cxnSpLocks/>
              <a:stCxn id="127" idx="6"/>
            </p:cNvCxnSpPr>
            <p:nvPr/>
          </p:nvCxnSpPr>
          <p:spPr>
            <a:xfrm>
              <a:off x="6895263" y="4684916"/>
              <a:ext cx="241934" cy="254851"/>
            </a:xfrm>
            <a:prstGeom prst="bentConnector2">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35" name="Text Placeholder 4">
            <a:extLst>
              <a:ext uri="{FF2B5EF4-FFF2-40B4-BE49-F238E27FC236}">
                <a16:creationId xmlns:a16="http://schemas.microsoft.com/office/drawing/2014/main" id="{81198886-CDEC-465A-5099-4D81F4FCBAE1}"/>
              </a:ext>
            </a:extLst>
          </p:cNvPr>
          <p:cNvSpPr txBox="1">
            <a:spLocks/>
          </p:cNvSpPr>
          <p:nvPr/>
        </p:nvSpPr>
        <p:spPr>
          <a:xfrm>
            <a:off x="6073869" y="1348742"/>
            <a:ext cx="3026037"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(ambos subdominios están en la plataforma contenedor)</a:t>
            </a:r>
          </a:p>
        </p:txBody>
      </p:sp>
      <p:grpSp>
        <p:nvGrpSpPr>
          <p:cNvPr id="136" name="Group 135">
            <a:extLst>
              <a:ext uri="{FF2B5EF4-FFF2-40B4-BE49-F238E27FC236}">
                <a16:creationId xmlns:a16="http://schemas.microsoft.com/office/drawing/2014/main" id="{DC2FB4AD-03ED-FF32-1A7E-5AD175C46AA7}"/>
              </a:ext>
            </a:extLst>
          </p:cNvPr>
          <p:cNvGrpSpPr/>
          <p:nvPr/>
        </p:nvGrpSpPr>
        <p:grpSpPr>
          <a:xfrm>
            <a:off x="9594962" y="3996674"/>
            <a:ext cx="2264983" cy="1764771"/>
            <a:chOff x="9516857" y="4468546"/>
            <a:chExt cx="2264983" cy="1764771"/>
          </a:xfrm>
        </p:grpSpPr>
        <p:sp>
          <p:nvSpPr>
            <p:cNvPr id="137" name="Cylinder 136">
              <a:extLst>
                <a:ext uri="{FF2B5EF4-FFF2-40B4-BE49-F238E27FC236}">
                  <a16:creationId xmlns:a16="http://schemas.microsoft.com/office/drawing/2014/main" id="{D164D099-CE31-2FFA-A392-2EAE10AFD9B8}"/>
                </a:ext>
              </a:extLst>
            </p:cNvPr>
            <p:cNvSpPr/>
            <p:nvPr/>
          </p:nvSpPr>
          <p:spPr>
            <a:xfrm>
              <a:off x="9516857" y="5755647"/>
              <a:ext cx="1354581" cy="477670"/>
            </a:xfrm>
            <a:prstGeom prst="can">
              <a:avLst>
                <a:gd name="adj" fmla="val 15538"/>
              </a:avLst>
            </a:prstGeom>
            <a:solidFill>
              <a:schemeClr val="bg1">
                <a:lumMod val="75000"/>
              </a:schemeClr>
            </a:solidFill>
            <a:ln w="3175">
              <a:solidFill>
                <a:schemeClr val="tx1">
                  <a:lumMod val="50000"/>
                  <a:lumOff val="50000"/>
                </a:schemeClr>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rPr>
                <a:t>Oracle</a:t>
              </a:r>
              <a:endParaRPr kumimoji="0" lang="es" sz="600" b="1" i="0" u="none" strike="noStrike" kern="1200" cap="none" spc="0" normalizeH="0" baseline="0" noProof="0" dirty="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38" name="Rectangle 137">
              <a:extLst>
                <a:ext uri="{FF2B5EF4-FFF2-40B4-BE49-F238E27FC236}">
                  <a16:creationId xmlns:a16="http://schemas.microsoft.com/office/drawing/2014/main" id="{501B8BBB-F89B-83B7-E515-93716EF9B32A}"/>
                </a:ext>
              </a:extLst>
            </p:cNvPr>
            <p:cNvSpPr/>
            <p:nvPr/>
          </p:nvSpPr>
          <p:spPr>
            <a:xfrm>
              <a:off x="10917840" y="4468546"/>
              <a:ext cx="864000" cy="1002206"/>
            </a:xfrm>
            <a:prstGeom prst="rect">
              <a:avLst/>
            </a:prstGeom>
            <a:solidFill>
              <a:schemeClr val="tx1">
                <a:lumMod val="50000"/>
                <a:lumOff val="50000"/>
              </a:schemeClr>
            </a:solidFill>
            <a:ln w="19050">
              <a:no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lIns="0" r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FFFFFF"/>
                  </a:solidFill>
                  <a:effectLst/>
                  <a:uLnTx/>
                  <a:uFillTx/>
                  <a:latin typeface="Graphik" panose="020B0503030202060203" pitchFamily="34" charset="77"/>
                  <a:ea typeface="+mn-ea"/>
                  <a:cs typeface="+mn-cs"/>
                </a:rPr>
                <a:t>Mainframe</a:t>
              </a:r>
            </a:p>
          </p:txBody>
        </p:sp>
        <p:sp>
          <p:nvSpPr>
            <p:cNvPr id="139" name="Flowchart: Magnetic Disk 138">
              <a:extLst>
                <a:ext uri="{FF2B5EF4-FFF2-40B4-BE49-F238E27FC236}">
                  <a16:creationId xmlns:a16="http://schemas.microsoft.com/office/drawing/2014/main" id="{AA82BE0E-23C7-2586-F429-89ACE7F6C832}"/>
                </a:ext>
              </a:extLst>
            </p:cNvPr>
            <p:cNvSpPr/>
            <p:nvPr/>
          </p:nvSpPr>
          <p:spPr>
            <a:xfrm>
              <a:off x="11044480" y="4817500"/>
              <a:ext cx="610720" cy="537424"/>
            </a:xfrm>
            <a:prstGeom prst="flowChartMagneticDisk">
              <a:avLst/>
            </a:prstGeom>
            <a:solidFill>
              <a:schemeClr val="bg1">
                <a:lumMod val="8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0526" tIns="45262" rIns="90526" bIns="45262"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E6E6DC">
                      <a:lumMod val="25000"/>
                    </a:srgbClr>
                  </a:solidFill>
                  <a:effectLst/>
                  <a:uLnTx/>
                  <a:uFillTx/>
                  <a:latin typeface="Arial" panose="020B0604020202020204" pitchFamily="34" charset="0"/>
                  <a:ea typeface="+mn-ea"/>
                  <a:cs typeface="Arial" panose="020B0604020202020204" pitchFamily="34" charset="0"/>
                </a:rPr>
                <a:t>DB2</a:t>
              </a:r>
            </a:p>
          </p:txBody>
        </p:sp>
        <p:sp>
          <p:nvSpPr>
            <p:cNvPr id="140" name="Rectangle 139">
              <a:extLst>
                <a:ext uri="{FF2B5EF4-FFF2-40B4-BE49-F238E27FC236}">
                  <a16:creationId xmlns:a16="http://schemas.microsoft.com/office/drawing/2014/main" id="{B7D6054D-E6F6-7628-7D9C-3F209E10ADED}"/>
                </a:ext>
              </a:extLst>
            </p:cNvPr>
            <p:cNvSpPr/>
            <p:nvPr/>
          </p:nvSpPr>
          <p:spPr>
            <a:xfrm>
              <a:off x="9516859" y="4468546"/>
              <a:ext cx="1354582" cy="1181684"/>
            </a:xfrm>
            <a:prstGeom prst="rect">
              <a:avLst/>
            </a:prstGeom>
            <a:solidFill>
              <a:srgbClr val="FFCC99"/>
            </a:solidFill>
            <a:ln w="9525">
              <a:solidFill>
                <a:schemeClr val="bg1">
                  <a:lumMod val="9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Ins="25200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s-ES" sz="800" b="1" i="0" u="none" strike="noStrike" kern="1200" cap="none" spc="0" normalizeH="0" baseline="0" noProof="0">
                <a:ln>
                  <a:noFill/>
                </a:ln>
                <a:solidFill>
                  <a:srgbClr val="000000">
                    <a:lumMod val="75000"/>
                    <a:lumOff val="25000"/>
                  </a:srgbClr>
                </a:solidFill>
                <a:effectLst/>
                <a:uLnTx/>
                <a:uFillTx/>
                <a:latin typeface="Arial" charset="0"/>
                <a:ea typeface="+mn-ea"/>
                <a:cs typeface="Arial" charset="0"/>
              </a:endParaRPr>
            </a:p>
          </p:txBody>
        </p:sp>
        <p:sp>
          <p:nvSpPr>
            <p:cNvPr id="141" name="Cylinder 140">
              <a:extLst>
                <a:ext uri="{FF2B5EF4-FFF2-40B4-BE49-F238E27FC236}">
                  <a16:creationId xmlns:a16="http://schemas.microsoft.com/office/drawing/2014/main" id="{3A71BFD9-4A4B-3B81-C438-3E109EBF8BEC}"/>
                </a:ext>
              </a:extLst>
            </p:cNvPr>
            <p:cNvSpPr/>
            <p:nvPr/>
          </p:nvSpPr>
          <p:spPr>
            <a:xfrm>
              <a:off x="9928910" y="5879703"/>
              <a:ext cx="516918" cy="329853"/>
            </a:xfrm>
            <a:prstGeom prst="can">
              <a:avLst/>
            </a:prstGeom>
            <a:solidFill>
              <a:schemeClr val="bg1">
                <a:lumMod val="95000"/>
              </a:schemeClr>
            </a:solidFill>
            <a:ln w="9525">
              <a:solidFill>
                <a:schemeClr val="tx1">
                  <a:lumMod val="50000"/>
                  <a:lumOff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rPr>
                <a:t>Esquema de la base de datos</a:t>
              </a:r>
              <a:endParaRPr kumimoji="0" lang="es-ES" sz="500" b="1" i="0" u="none" strike="noStrike" kern="1200" cap="none" spc="0" normalizeH="0" baseline="0" noProof="0">
                <a:ln>
                  <a:noFill/>
                </a:ln>
                <a:solidFill>
                  <a:srgbClr val="000000">
                    <a:lumMod val="50000"/>
                    <a:lumOff val="50000"/>
                  </a:srgbClr>
                </a:solidFill>
                <a:effectLst/>
                <a:uLnTx/>
                <a:uFillTx/>
                <a:latin typeface="Graphik" panose="020B0503030202060203" pitchFamily="34" charset="77"/>
                <a:ea typeface="+mn-ea"/>
                <a:cs typeface="+mn-cs"/>
              </a:endParaRPr>
            </a:p>
          </p:txBody>
        </p:sp>
        <p:sp>
          <p:nvSpPr>
            <p:cNvPr id="142" name="Rectangle 141">
              <a:extLst>
                <a:ext uri="{FF2B5EF4-FFF2-40B4-BE49-F238E27FC236}">
                  <a16:creationId xmlns:a16="http://schemas.microsoft.com/office/drawing/2014/main" id="{78C7CE78-75FA-82F7-E92F-D578F4FC52B1}"/>
                </a:ext>
              </a:extLst>
            </p:cNvPr>
            <p:cNvSpPr/>
            <p:nvPr/>
          </p:nvSpPr>
          <p:spPr>
            <a:xfrm>
              <a:off x="9565477" y="4513542"/>
              <a:ext cx="718953" cy="1028738"/>
            </a:xfrm>
            <a:prstGeom prst="rect">
              <a:avLst/>
            </a:prstGeom>
            <a:solidFill>
              <a:srgbClr val="E3DED1">
                <a:lumMod val="90000"/>
              </a:srgbClr>
            </a:solidFill>
            <a:ln w="12700" cap="flat" cmpd="sng" algn="ctr">
              <a:solidFill>
                <a:sysClr val="window" lastClr="FFFFFF">
                  <a:lumMod val="95000"/>
                </a:sysClr>
              </a:solidFill>
              <a:prstDash val="sysDot"/>
              <a:headEnd type="none" w="med" len="med"/>
              <a:tailEnd type="none" w="med" len="med"/>
            </a:ln>
            <a:effectLst/>
          </p:spPr>
          <p:txBody>
            <a:bodyPr t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1" i="0" u="none" strike="noStrike" kern="0" cap="none" spc="0" normalizeH="0" baseline="0" noProof="0" err="1">
                  <a:ln>
                    <a:noFill/>
                  </a:ln>
                  <a:solidFill>
                    <a:prstClr val="white"/>
                  </a:solidFill>
                  <a:effectLst/>
                  <a:uLnTx/>
                  <a:uFillTx/>
                  <a:latin typeface="Graphik" panose="020B0503030202060203" pitchFamily="34" charset="77"/>
                  <a:ea typeface="+mn-ea"/>
                  <a:cs typeface="+mn-cs"/>
                </a:rPr>
                <a:t>Subdominio</a:t>
              </a:r>
              <a:endParaRPr kumimoji="0" lang="es-ES" sz="700" b="1" i="0" u="none" strike="noStrike" kern="0" cap="none" spc="0" normalizeH="0" baseline="0" noProof="0">
                <a:ln>
                  <a:noFill/>
                </a:ln>
                <a:solidFill>
                  <a:prstClr val="white"/>
                </a:solidFill>
                <a:effectLst/>
                <a:uLnTx/>
                <a:uFillTx/>
                <a:latin typeface="Graphik" panose="020B0503030202060203" pitchFamily="34" charset="77"/>
                <a:ea typeface="+mn-ea"/>
                <a:cs typeface="+mn-cs"/>
              </a:endParaRPr>
            </a:p>
          </p:txBody>
        </p:sp>
        <p:cxnSp>
          <p:nvCxnSpPr>
            <p:cNvPr id="143" name="Straight Arrow Connector 68">
              <a:extLst>
                <a:ext uri="{FF2B5EF4-FFF2-40B4-BE49-F238E27FC236}">
                  <a16:creationId xmlns:a16="http://schemas.microsoft.com/office/drawing/2014/main" id="{5EAF1E0B-AF56-636E-4241-73BF7825CB44}"/>
                </a:ext>
              </a:extLst>
            </p:cNvPr>
            <p:cNvCxnSpPr>
              <a:cxnSpLocks/>
              <a:stCxn id="145" idx="4"/>
              <a:endCxn id="141" idx="1"/>
            </p:cNvCxnSpPr>
            <p:nvPr/>
          </p:nvCxnSpPr>
          <p:spPr>
            <a:xfrm rot="16200000" flipH="1">
              <a:off x="9824068" y="5516402"/>
              <a:ext cx="397234" cy="329367"/>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sp>
          <p:nvSpPr>
            <p:cNvPr id="144" name="Oval 143">
              <a:extLst>
                <a:ext uri="{FF2B5EF4-FFF2-40B4-BE49-F238E27FC236}">
                  <a16:creationId xmlns:a16="http://schemas.microsoft.com/office/drawing/2014/main" id="{F3DD2193-9E3E-1D5E-970D-809DFAA77EA9}"/>
                </a:ext>
              </a:extLst>
            </p:cNvPr>
            <p:cNvSpPr/>
            <p:nvPr/>
          </p:nvSpPr>
          <p:spPr bwMode="auto">
            <a:xfrm>
              <a:off x="9696077" y="4686661"/>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5" name="Oval 144">
              <a:extLst>
                <a:ext uri="{FF2B5EF4-FFF2-40B4-BE49-F238E27FC236}">
                  <a16:creationId xmlns:a16="http://schemas.microsoft.com/office/drawing/2014/main" id="{BD05A074-BF15-C840-7720-427C189CF431}"/>
                </a:ext>
              </a:extLst>
            </p:cNvPr>
            <p:cNvSpPr/>
            <p:nvPr/>
          </p:nvSpPr>
          <p:spPr bwMode="auto">
            <a:xfrm>
              <a:off x="9600023" y="5281824"/>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a:t>
              </a:r>
            </a:p>
          </p:txBody>
        </p:sp>
        <p:sp>
          <p:nvSpPr>
            <p:cNvPr id="146" name="Oval 145">
              <a:extLst>
                <a:ext uri="{FF2B5EF4-FFF2-40B4-BE49-F238E27FC236}">
                  <a16:creationId xmlns:a16="http://schemas.microsoft.com/office/drawing/2014/main" id="{6B7BEB38-918D-0EFE-7773-FE4FA6296DAC}"/>
                </a:ext>
              </a:extLst>
            </p:cNvPr>
            <p:cNvSpPr/>
            <p:nvPr/>
          </p:nvSpPr>
          <p:spPr bwMode="auto">
            <a:xfrm>
              <a:off x="10319957" y="5151225"/>
              <a:ext cx="515957" cy="200645"/>
            </a:xfrm>
            <a:prstGeom prst="ellipse">
              <a:avLst/>
            </a:prstGeom>
            <a:solidFill>
              <a:schemeClr val="accent2">
                <a:lumMod val="20000"/>
                <a:lumOff val="80000"/>
              </a:schemeClr>
            </a:solidFill>
            <a:ln w="6350">
              <a:solidFill>
                <a:schemeClr val="bg1"/>
              </a:solidFill>
              <a:prstDash val="solid"/>
              <a:miter lim="800000"/>
              <a:headEnd/>
              <a:tailEn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30000"/>
                </a:spcBef>
                <a:spcAft>
                  <a:spcPts val="0"/>
                </a:spcAft>
                <a:buClrTx/>
                <a:buSzTx/>
                <a:buFontTx/>
                <a:buNone/>
                <a:tabLst/>
                <a:defRPr/>
              </a:pPr>
              <a:r>
                <a:rPr kumimoji="0" lang="es" sz="600" b="1" i="0" u="none" strike="noStrike" kern="1200" cap="none" spc="0" normalizeH="0" baseline="0" noProof="0">
                  <a:ln>
                    <a:noFill/>
                  </a:ln>
                  <a:solidFill>
                    <a:srgbClr val="000000">
                      <a:lumMod val="65000"/>
                      <a:lumOff val="35000"/>
                    </a:srgbClr>
                  </a:solidFill>
                  <a:effectLst/>
                  <a:uLnTx/>
                  <a:uFillTx/>
                  <a:latin typeface="Graphik" panose="020B0503030202060203" pitchFamily="34" charset="0"/>
                  <a:ea typeface="+mn-ea"/>
                  <a:cs typeface="+mn-cs"/>
                </a:rPr>
                <a:t>Servicio ACL</a:t>
              </a:r>
            </a:p>
          </p:txBody>
        </p:sp>
        <p:cxnSp>
          <p:nvCxnSpPr>
            <p:cNvPr id="147" name="Straight Arrow Connector 65">
              <a:extLst>
                <a:ext uri="{FF2B5EF4-FFF2-40B4-BE49-F238E27FC236}">
                  <a16:creationId xmlns:a16="http://schemas.microsoft.com/office/drawing/2014/main" id="{DAF06B7B-CE68-D3DB-EB72-6A6EA7A15E12}"/>
                </a:ext>
              </a:extLst>
            </p:cNvPr>
            <p:cNvCxnSpPr>
              <a:cxnSpLocks/>
              <a:stCxn id="144" idx="4"/>
              <a:endCxn id="146" idx="0"/>
            </p:cNvCxnSpPr>
            <p:nvPr/>
          </p:nvCxnSpPr>
          <p:spPr>
            <a:xfrm rot="16200000" flipH="1">
              <a:off x="10134037" y="4707325"/>
              <a:ext cx="263919" cy="623880"/>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Straight Arrow Connector 68">
              <a:extLst>
                <a:ext uri="{FF2B5EF4-FFF2-40B4-BE49-F238E27FC236}">
                  <a16:creationId xmlns:a16="http://schemas.microsoft.com/office/drawing/2014/main" id="{64CB87FA-E2B1-4D9A-2B84-B69A1375EA0C}"/>
                </a:ext>
              </a:extLst>
            </p:cNvPr>
            <p:cNvCxnSpPr>
              <a:cxnSpLocks/>
              <a:stCxn id="144" idx="4"/>
              <a:endCxn id="145" idx="0"/>
            </p:cNvCxnSpPr>
            <p:nvPr/>
          </p:nvCxnSpPr>
          <p:spPr>
            <a:xfrm rot="5400000">
              <a:off x="9708770" y="5036538"/>
              <a:ext cx="394518" cy="96054"/>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68">
              <a:extLst>
                <a:ext uri="{FF2B5EF4-FFF2-40B4-BE49-F238E27FC236}">
                  <a16:creationId xmlns:a16="http://schemas.microsoft.com/office/drawing/2014/main" id="{F4D00545-2E36-404F-4663-16463BFE7F9F}"/>
                </a:ext>
              </a:extLst>
            </p:cNvPr>
            <p:cNvCxnSpPr>
              <a:cxnSpLocks/>
              <a:stCxn id="146" idx="6"/>
              <a:endCxn id="139" idx="2"/>
            </p:cNvCxnSpPr>
            <p:nvPr/>
          </p:nvCxnSpPr>
          <p:spPr>
            <a:xfrm flipV="1">
              <a:off x="10835914" y="5086212"/>
              <a:ext cx="208566" cy="165336"/>
            </a:xfrm>
            <a:prstGeom prst="bentConnector3">
              <a:avLst>
                <a:gd name="adj1" fmla="val 50000"/>
              </a:avLst>
            </a:prstGeom>
            <a:ln w="9525">
              <a:solidFill>
                <a:srgbClr val="00530A"/>
              </a:solidFill>
              <a:tailEnd type="triangle"/>
            </a:ln>
          </p:spPr>
          <p:style>
            <a:lnRef idx="1">
              <a:schemeClr val="accent1"/>
            </a:lnRef>
            <a:fillRef idx="0">
              <a:schemeClr val="accent1"/>
            </a:fillRef>
            <a:effectRef idx="0">
              <a:schemeClr val="accent1"/>
            </a:effectRef>
            <a:fontRef idx="minor">
              <a:schemeClr val="tx1"/>
            </a:fontRef>
          </p:style>
        </p:cxnSp>
      </p:grpSp>
      <p:sp>
        <p:nvSpPr>
          <p:cNvPr id="150" name="Text Placeholder 4">
            <a:extLst>
              <a:ext uri="{FF2B5EF4-FFF2-40B4-BE49-F238E27FC236}">
                <a16:creationId xmlns:a16="http://schemas.microsoft.com/office/drawing/2014/main" id="{8DB89AAD-8CA3-18FA-DB23-01DB89329883}"/>
              </a:ext>
            </a:extLst>
          </p:cNvPr>
          <p:cNvSpPr txBox="1">
            <a:spLocks/>
          </p:cNvSpPr>
          <p:nvPr/>
        </p:nvSpPr>
        <p:spPr>
          <a:xfrm>
            <a:off x="9223302" y="1348742"/>
            <a:ext cx="3008303" cy="797457"/>
          </a:xfrm>
          <a:prstGeom prst="rect">
            <a:avLst/>
          </a:prstGeom>
        </p:spPr>
        <p:txBody>
          <a:bodyPr vert="horz" lIns="0" tIns="0" rIns="0" bIns="0" rtlCol="0" anchor="ctr">
            <a:noAutofit/>
          </a:bodyPr>
          <a:lstStyle>
            <a:lvl1pPr marL="0" indent="0" algn="l" rtl="0" eaLnBrk="1" fontAlgn="base" hangingPunct="1">
              <a:lnSpc>
                <a:spcPct val="110000"/>
              </a:lnSpc>
              <a:spcBef>
                <a:spcPts val="1200"/>
              </a:spcBef>
              <a:spcAft>
                <a:spcPct val="0"/>
              </a:spcAft>
              <a:buFont typeface="Arial" pitchFamily="34" charset="0"/>
              <a:buNone/>
              <a:defRPr lang="en-US" sz="1600" b="1" i="0" kern="1200" cap="all" baseline="0" dirty="0">
                <a:solidFill>
                  <a:schemeClr val="accent1"/>
                </a:solidFill>
                <a:latin typeface="Graphik"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ts val="0"/>
              </a:spcBef>
              <a:spcAft>
                <a:spcPct val="0"/>
              </a:spcAft>
              <a:buClrTx/>
              <a:buSzTx/>
              <a:buFont typeface="Arial" pitchFamily="34" charset="0"/>
              <a:buNone/>
              <a:tabLst/>
              <a:defRPr/>
            </a:pP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Transacción de Consistencia Eventual entre subdominios </a:t>
            </a:r>
            <a:br>
              <a:rPr kumimoji="0" lang="en-U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br>
            <a:r>
              <a:rPr kumimoji="0" lang="es" sz="1200" b="1" i="0" u="none" strike="noStrike" kern="1200" cap="all" spc="0" normalizeH="0" baseline="0" noProof="0">
                <a:ln>
                  <a:noFill/>
                </a:ln>
                <a:solidFill>
                  <a:srgbClr val="7500C0"/>
                </a:solidFill>
                <a:effectLst/>
                <a:uLnTx/>
                <a:uFillTx/>
                <a:latin typeface="Graphik" panose="020B0503030202060203" pitchFamily="34" charset="77"/>
                <a:ea typeface="Roboto" panose="02000000000000000000" pitchFamily="2" charset="0"/>
                <a:cs typeface="Arial" panose="020B0604020202020204" pitchFamily="34" charset="0"/>
              </a:rPr>
              <a:t>(uno de los subdominios es Mainframe)</a:t>
            </a:r>
          </a:p>
        </p:txBody>
      </p:sp>
      <p:cxnSp>
        <p:nvCxnSpPr>
          <p:cNvPr id="151" name="Straight Connector 150">
            <a:extLst>
              <a:ext uri="{FF2B5EF4-FFF2-40B4-BE49-F238E27FC236}">
                <a16:creationId xmlns:a16="http://schemas.microsoft.com/office/drawing/2014/main" id="{CEDA3140-392B-9A32-4785-EDAB9B3D68FA}"/>
              </a:ext>
            </a:extLst>
          </p:cNvPr>
          <p:cNvCxnSpPr/>
          <p:nvPr/>
        </p:nvCxnSpPr>
        <p:spPr>
          <a:xfrm>
            <a:off x="3070069"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9179A009-71BB-8F9F-2752-D0B4CCE6323F}"/>
              </a:ext>
            </a:extLst>
          </p:cNvPr>
          <p:cNvCxnSpPr/>
          <p:nvPr/>
        </p:nvCxnSpPr>
        <p:spPr>
          <a:xfrm>
            <a:off x="6012172" y="1348742"/>
            <a:ext cx="0" cy="2639092"/>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C01F2B16-1708-6012-B43B-DCA129210866}"/>
              </a:ext>
            </a:extLst>
          </p:cNvPr>
          <p:cNvCxnSpPr/>
          <p:nvPr/>
        </p:nvCxnSpPr>
        <p:spPr>
          <a:xfrm>
            <a:off x="9161603" y="1348742"/>
            <a:ext cx="0" cy="2639092"/>
          </a:xfrm>
          <a:prstGeom prst="line">
            <a:avLst/>
          </a:prstGeom>
        </p:spPr>
        <p:style>
          <a:lnRef idx="1">
            <a:schemeClr val="accent1"/>
          </a:lnRef>
          <a:fillRef idx="0">
            <a:schemeClr val="accent1"/>
          </a:fillRef>
          <a:effectRef idx="0">
            <a:schemeClr val="accent1"/>
          </a:effectRef>
          <a:fontRef idx="minor">
            <a:schemeClr val="tx1"/>
          </a:fontRef>
        </p:style>
      </p:cxnSp>
      <p:sp>
        <p:nvSpPr>
          <p:cNvPr id="154" name="Text Placeholder 5">
            <a:extLst>
              <a:ext uri="{FF2B5EF4-FFF2-40B4-BE49-F238E27FC236}">
                <a16:creationId xmlns:a16="http://schemas.microsoft.com/office/drawing/2014/main" id="{A6CEF50B-F6D4-F665-4E76-1B6BC47DC8DE}"/>
              </a:ext>
            </a:extLst>
          </p:cNvPr>
          <p:cNvSpPr txBox="1">
            <a:spLocks/>
          </p:cNvSpPr>
          <p:nvPr/>
        </p:nvSpPr>
        <p:spPr>
          <a:xfrm>
            <a:off x="29481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bases de datos</a:t>
            </a:r>
          </a:p>
        </p:txBody>
      </p:sp>
      <p:sp>
        <p:nvSpPr>
          <p:cNvPr id="155" name="Text Placeholder 5">
            <a:extLst>
              <a:ext uri="{FF2B5EF4-FFF2-40B4-BE49-F238E27FC236}">
                <a16:creationId xmlns:a16="http://schemas.microsoft.com/office/drawing/2014/main" id="{147266C6-0438-A447-0D09-DD2B602F6A14}"/>
              </a:ext>
            </a:extLst>
          </p:cNvPr>
          <p:cNvSpPr txBox="1">
            <a:spLocks/>
          </p:cNvSpPr>
          <p:nvPr/>
        </p:nvSpPr>
        <p:spPr>
          <a:xfrm>
            <a:off x="3236916"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Protocolo JTA basado en gestión de transacciones. ActiveMQ debe usarse como intermediario de mensajes</a:t>
            </a:r>
          </a:p>
        </p:txBody>
      </p:sp>
      <p:sp>
        <p:nvSpPr>
          <p:cNvPr id="156" name="Text Placeholder 5">
            <a:extLst>
              <a:ext uri="{FF2B5EF4-FFF2-40B4-BE49-F238E27FC236}">
                <a16:creationId xmlns:a16="http://schemas.microsoft.com/office/drawing/2014/main" id="{CC0FA6E6-130C-649A-5C24-0089EA5F7E17}"/>
              </a:ext>
            </a:extLst>
          </p:cNvPr>
          <p:cNvSpPr txBox="1">
            <a:spLocks/>
          </p:cNvSpPr>
          <p:nvPr/>
        </p:nvSpPr>
        <p:spPr>
          <a:xfrm>
            <a:off x="6282683"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Gestión de transacciones basada en un mecanismo de consistencia eventual (patrón SAGA o similar)</a:t>
            </a:r>
          </a:p>
        </p:txBody>
      </p:sp>
      <p:sp>
        <p:nvSpPr>
          <p:cNvPr id="157" name="Text Placeholder 5">
            <a:extLst>
              <a:ext uri="{FF2B5EF4-FFF2-40B4-BE49-F238E27FC236}">
                <a16:creationId xmlns:a16="http://schemas.microsoft.com/office/drawing/2014/main" id="{ED2BA2C4-E8D4-4522-6392-AF77671D8DA8}"/>
              </a:ext>
            </a:extLst>
          </p:cNvPr>
          <p:cNvSpPr txBox="1">
            <a:spLocks/>
          </p:cNvSpPr>
          <p:nvPr/>
        </p:nvSpPr>
        <p:spPr>
          <a:xfrm>
            <a:off x="9423249" y="2348696"/>
            <a:ext cx="2608408" cy="1419362"/>
          </a:xfrm>
          <a:prstGeom prst="rect">
            <a:avLst/>
          </a:prstGeom>
        </p:spPr>
        <p:txBody>
          <a:bodyPr vert="horz" lIns="0" tIns="0" rIns="0" bIns="0" rtlCol="0">
            <a:noAutofit/>
          </a:bodyPr>
          <a:lstStyle>
            <a:lvl1pPr marL="0" indent="0" algn="l" rtl="0" eaLnBrk="1" fontAlgn="base" hangingPunct="1">
              <a:lnSpc>
                <a:spcPct val="110000"/>
              </a:lnSpc>
              <a:spcBef>
                <a:spcPts val="1200"/>
              </a:spcBef>
              <a:spcAft>
                <a:spcPct val="0"/>
              </a:spcAft>
              <a:buFont typeface="Arial" pitchFamily="34" charset="0"/>
              <a:buNone/>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1pPr>
            <a:lvl2pPr marL="216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2pPr>
            <a:lvl3pPr marL="432000" indent="-216000" algn="l" rtl="0" eaLnBrk="1" fontAlgn="base" hangingPunct="1">
              <a:lnSpc>
                <a:spcPct val="110000"/>
              </a:lnSpc>
              <a:spcBef>
                <a:spcPts val="800"/>
              </a:spcBef>
              <a:spcAft>
                <a:spcPct val="0"/>
              </a:spcAft>
              <a:buFont typeface="Arial" pitchFamily="34" charset="0"/>
              <a:buChar char="‒"/>
              <a:tabLst/>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3pPr>
            <a:lvl4pPr marL="612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4pPr>
            <a:lvl5pPr marL="864000" indent="-216000" algn="l" rtl="0" eaLnBrk="1" fontAlgn="base" hangingPunct="1">
              <a:lnSpc>
                <a:spcPct val="110000"/>
              </a:lnSpc>
              <a:spcBef>
                <a:spcPts val="800"/>
              </a:spcBef>
              <a:spcAft>
                <a:spcPct val="0"/>
              </a:spcAft>
              <a:buFont typeface="Arial" pitchFamily="34" charset="0"/>
              <a:buChar char="‒"/>
              <a:defRPr sz="1800" b="0" i="0" kern="1200">
                <a:solidFill>
                  <a:schemeClr val="tx1"/>
                </a:solidFill>
                <a:latin typeface="Graphik Regular" panose="020B0503030202060203" pitchFamily="34" charset="77"/>
                <a:ea typeface="Roboto" panose="02000000000000000000" pitchFamily="2" charset="0"/>
                <a:cs typeface="Arial" panose="020B0604020202020204" pitchFamily="34" charset="0"/>
              </a:defRPr>
            </a:lvl5pPr>
            <a:lvl6pPr marL="3351933"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376"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0819"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261" indent="-304723" algn="l" defTabSz="1218885"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marR="0" lvl="0" indent="0" algn="l" defTabSz="914400" rtl="0" eaLnBrk="1" fontAlgn="base" latinLnBrk="0" hangingPunct="1">
              <a:lnSpc>
                <a:spcPct val="110000"/>
              </a:lnSpc>
              <a:spcBef>
                <a:spcPts val="1200"/>
              </a:spcBef>
              <a:spcAft>
                <a:spcPct val="0"/>
              </a:spcAft>
              <a:buClrTx/>
              <a:buSzTx/>
              <a:buFont typeface="Arial" pitchFamily="34" charset="0"/>
              <a:buNone/>
              <a:tabLst/>
              <a:defRPr/>
            </a:pPr>
            <a:r>
              <a:rPr kumimoji="0" lang="es" sz="1400" b="0" i="0" u="none" strike="noStrike" kern="1200" cap="none" spc="0" normalizeH="0" baseline="0" noProof="0">
                <a:ln>
                  <a:noFill/>
                </a:ln>
                <a:solidFill>
                  <a:srgbClr val="000000"/>
                </a:solidFill>
                <a:effectLst/>
                <a:uLnTx/>
                <a:uFillTx/>
                <a:latin typeface="Graphik Regular" panose="020B0503030202060203" pitchFamily="34" charset="77"/>
                <a:ea typeface="Roboto" panose="02000000000000000000" pitchFamily="2" charset="0"/>
                <a:cs typeface="Arial" panose="020B0604020202020204" pitchFamily="34" charset="0"/>
              </a:rPr>
              <a:t>La gestión de transacciones se basa en un mecanismo de consistencia eventual (patrón SAGA)</a:t>
            </a:r>
          </a:p>
        </p:txBody>
      </p:sp>
    </p:spTree>
    <p:extLst>
      <p:ext uri="{BB962C8B-B14F-4D97-AF65-F5344CB8AC3E}">
        <p14:creationId xmlns:p14="http://schemas.microsoft.com/office/powerpoint/2010/main" val="37875926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28B99-E73E-3F93-0D88-E3F6481EEFA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4FF127-DC7F-0A03-0B0B-36A6DADD3A51}"/>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EDC77DA-95C1-0BCD-88EF-4F736857F3A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Escenarios de gestión de transacciones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83CEB13D-B90C-3635-61FC-D0E2E4081AB5}"/>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Actualización de información en una arquitectura distribuida – Árbol de decisión</a:t>
            </a:r>
          </a:p>
        </p:txBody>
      </p:sp>
      <p:sp>
        <p:nvSpPr>
          <p:cNvPr id="6" name="Rectangle 5">
            <a:extLst>
              <a:ext uri="{FF2B5EF4-FFF2-40B4-BE49-F238E27FC236}">
                <a16:creationId xmlns:a16="http://schemas.microsoft.com/office/drawing/2014/main" id="{5E55FF19-14DE-7711-88E2-490DA1269D2E}"/>
              </a:ext>
            </a:extLst>
          </p:cNvPr>
          <p:cNvSpPr/>
          <p:nvPr/>
        </p:nvSpPr>
        <p:spPr>
          <a:xfrm>
            <a:off x="282133" y="307639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Solicitud para actualizar la información</a:t>
            </a:r>
          </a:p>
        </p:txBody>
      </p:sp>
      <p:sp>
        <p:nvSpPr>
          <p:cNvPr id="7" name="Rectangle 6">
            <a:extLst>
              <a:ext uri="{FF2B5EF4-FFF2-40B4-BE49-F238E27FC236}">
                <a16:creationId xmlns:a16="http://schemas.microsoft.com/office/drawing/2014/main" id="{D78F6C0A-09FD-FA73-C3A8-125D2BEFC6A8}"/>
              </a:ext>
            </a:extLst>
          </p:cNvPr>
          <p:cNvSpPr/>
          <p:nvPr/>
        </p:nvSpPr>
        <p:spPr>
          <a:xfrm>
            <a:off x="2272477" y="165617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único (base de datos, cubo, JMS, ...)</a:t>
            </a:r>
          </a:p>
        </p:txBody>
      </p:sp>
      <p:sp>
        <p:nvSpPr>
          <p:cNvPr id="8" name="Rectangle 7">
            <a:extLst>
              <a:ext uri="{FF2B5EF4-FFF2-40B4-BE49-F238E27FC236}">
                <a16:creationId xmlns:a16="http://schemas.microsoft.com/office/drawing/2014/main" id="{B3D663E1-7C68-04DB-BCD9-2123ACB4A6ED}"/>
              </a:ext>
            </a:extLst>
          </p:cNvPr>
          <p:cNvSpPr/>
          <p:nvPr/>
        </p:nvSpPr>
        <p:spPr>
          <a:xfrm>
            <a:off x="2272477"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 múltiple (modelos de bases de datos, DB+JMS)</a:t>
            </a:r>
          </a:p>
        </p:txBody>
      </p:sp>
      <p:sp>
        <p:nvSpPr>
          <p:cNvPr id="9" name="Rectangle 8">
            <a:extLst>
              <a:ext uri="{FF2B5EF4-FFF2-40B4-BE49-F238E27FC236}">
                <a16:creationId xmlns:a16="http://schemas.microsoft.com/office/drawing/2014/main" id="{7FD306F0-751E-2EDA-C15A-1682973AF49E}"/>
              </a:ext>
            </a:extLst>
          </p:cNvPr>
          <p:cNvSpPr/>
          <p:nvPr/>
        </p:nvSpPr>
        <p:spPr>
          <a:xfrm>
            <a:off x="4262821" y="4168952"/>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Aplicación de rediseño</a:t>
            </a:r>
          </a:p>
        </p:txBody>
      </p:sp>
      <p:sp>
        <p:nvSpPr>
          <p:cNvPr id="10" name="Rectangle 9">
            <a:extLst>
              <a:ext uri="{FF2B5EF4-FFF2-40B4-BE49-F238E27FC236}">
                <a16:creationId xmlns:a16="http://schemas.microsoft.com/office/drawing/2014/main" id="{2B83B6CF-D783-3B6E-67DA-4D001A09A42A}"/>
              </a:ext>
            </a:extLst>
          </p:cNvPr>
          <p:cNvSpPr/>
          <p:nvPr/>
        </p:nvSpPr>
        <p:spPr>
          <a:xfrm>
            <a:off x="6253165" y="299638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Mismo subdominio</a:t>
            </a:r>
          </a:p>
        </p:txBody>
      </p:sp>
      <p:sp>
        <p:nvSpPr>
          <p:cNvPr id="11" name="Rectangle 10">
            <a:extLst>
              <a:ext uri="{FF2B5EF4-FFF2-40B4-BE49-F238E27FC236}">
                <a16:creationId xmlns:a16="http://schemas.microsoft.com/office/drawing/2014/main" id="{8FEE2C8D-C501-3E0E-595F-78015945010C}"/>
              </a:ext>
            </a:extLst>
          </p:cNvPr>
          <p:cNvSpPr/>
          <p:nvPr/>
        </p:nvSpPr>
        <p:spPr>
          <a:xfrm>
            <a:off x="6253165" y="520144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Subdominio diferente</a:t>
            </a:r>
          </a:p>
        </p:txBody>
      </p:sp>
      <p:sp>
        <p:nvSpPr>
          <p:cNvPr id="12" name="Rectangle 11">
            <a:extLst>
              <a:ext uri="{FF2B5EF4-FFF2-40B4-BE49-F238E27FC236}">
                <a16:creationId xmlns:a16="http://schemas.microsoft.com/office/drawing/2014/main" id="{7350B57B-4AF5-503A-6BB6-1A050B6992BB}"/>
              </a:ext>
            </a:extLst>
          </p:cNvPr>
          <p:cNvSpPr/>
          <p:nvPr/>
        </p:nvSpPr>
        <p:spPr>
          <a:xfrm>
            <a:off x="10233853" y="1584269"/>
            <a:ext cx="1829560" cy="735650"/>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Utiliza el protocolo de transacciones 2PC o la consistencia eventual</a:t>
            </a:r>
          </a:p>
        </p:txBody>
      </p:sp>
      <p:sp>
        <p:nvSpPr>
          <p:cNvPr id="13" name="Rectangle 12">
            <a:extLst>
              <a:ext uri="{FF2B5EF4-FFF2-40B4-BE49-F238E27FC236}">
                <a16:creationId xmlns:a16="http://schemas.microsoft.com/office/drawing/2014/main" id="{E26800F2-31BA-E648-1AD0-32EAA8AE6FC6}"/>
              </a:ext>
            </a:extLst>
          </p:cNvPr>
          <p:cNvSpPr/>
          <p:nvPr/>
        </p:nvSpPr>
        <p:spPr>
          <a:xfrm>
            <a:off x="10233853" y="3538841"/>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Consistencia eventual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(Patrón SAGA)</a:t>
            </a:r>
          </a:p>
        </p:txBody>
      </p:sp>
      <p:sp>
        <p:nvSpPr>
          <p:cNvPr id="14" name="Rectangle 13">
            <a:extLst>
              <a:ext uri="{FF2B5EF4-FFF2-40B4-BE49-F238E27FC236}">
                <a16:creationId xmlns:a16="http://schemas.microsoft.com/office/drawing/2014/main" id="{95D0FD39-D16D-144B-33F2-9B80872C9691}"/>
              </a:ext>
            </a:extLst>
          </p:cNvPr>
          <p:cNvSpPr/>
          <p:nvPr/>
        </p:nvSpPr>
        <p:spPr>
          <a:xfrm>
            <a:off x="8243509" y="2402021"/>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Recursos XA</a:t>
            </a:r>
          </a:p>
        </p:txBody>
      </p:sp>
      <p:sp>
        <p:nvSpPr>
          <p:cNvPr id="15" name="Rectangle 14">
            <a:extLst>
              <a:ext uri="{FF2B5EF4-FFF2-40B4-BE49-F238E27FC236}">
                <a16:creationId xmlns:a16="http://schemas.microsoft.com/office/drawing/2014/main" id="{5EF36879-A774-0DA0-A3B6-30864CF148FE}"/>
              </a:ext>
            </a:extLst>
          </p:cNvPr>
          <p:cNvSpPr/>
          <p:nvPr/>
        </p:nvSpPr>
        <p:spPr>
          <a:xfrm>
            <a:off x="8243509" y="3541210"/>
            <a:ext cx="155829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dirty="0">
                <a:ln>
                  <a:noFill/>
                </a:ln>
                <a:solidFill>
                  <a:srgbClr val="000000">
                    <a:lumMod val="85000"/>
                    <a:lumOff val="15000"/>
                  </a:srgbClr>
                </a:solidFill>
                <a:effectLst/>
                <a:uLnTx/>
                <a:uFillTx/>
                <a:latin typeface="Graphik" panose="020B0503030202060203" pitchFamily="34" charset="0"/>
                <a:ea typeface="+mn-ea"/>
                <a:cs typeface="+mn-cs"/>
              </a:rPr>
              <a:t>Sin recursos XA</a:t>
            </a:r>
          </a:p>
        </p:txBody>
      </p:sp>
      <p:cxnSp>
        <p:nvCxnSpPr>
          <p:cNvPr id="16" name="Straight Arrow Connector 6">
            <a:extLst>
              <a:ext uri="{FF2B5EF4-FFF2-40B4-BE49-F238E27FC236}">
                <a16:creationId xmlns:a16="http://schemas.microsoft.com/office/drawing/2014/main" id="{8E06FCC4-5821-A9A9-19D9-BB7E21079C00}"/>
              </a:ext>
            </a:extLst>
          </p:cNvPr>
          <p:cNvCxnSpPr>
            <a:stCxn id="6" idx="3"/>
            <a:endCxn id="7" idx="1"/>
          </p:cNvCxnSpPr>
          <p:nvPr/>
        </p:nvCxnSpPr>
        <p:spPr>
          <a:xfrm flipV="1">
            <a:off x="1840423" y="1946995"/>
            <a:ext cx="432054" cy="142021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7" name="Straight Arrow Connector 6">
            <a:extLst>
              <a:ext uri="{FF2B5EF4-FFF2-40B4-BE49-F238E27FC236}">
                <a16:creationId xmlns:a16="http://schemas.microsoft.com/office/drawing/2014/main" id="{572A4E2C-F06A-16FA-E177-7F2F448A1AEB}"/>
              </a:ext>
            </a:extLst>
          </p:cNvPr>
          <p:cNvCxnSpPr>
            <a:cxnSpLocks/>
            <a:stCxn id="6" idx="3"/>
            <a:endCxn id="8" idx="1"/>
          </p:cNvCxnSpPr>
          <p:nvPr/>
        </p:nvCxnSpPr>
        <p:spPr>
          <a:xfrm>
            <a:off x="1840423" y="3367214"/>
            <a:ext cx="432054" cy="109256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6">
            <a:extLst>
              <a:ext uri="{FF2B5EF4-FFF2-40B4-BE49-F238E27FC236}">
                <a16:creationId xmlns:a16="http://schemas.microsoft.com/office/drawing/2014/main" id="{E3A3FDF4-44F9-2DFD-B526-894196385D67}"/>
              </a:ext>
            </a:extLst>
          </p:cNvPr>
          <p:cNvCxnSpPr>
            <a:cxnSpLocks/>
            <a:stCxn id="7" idx="3"/>
            <a:endCxn id="12" idx="1"/>
          </p:cNvCxnSpPr>
          <p:nvPr/>
        </p:nvCxnSpPr>
        <p:spPr>
          <a:xfrm>
            <a:off x="3830767" y="1946995"/>
            <a:ext cx="6403086" cy="5099"/>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Arrow Connector 6">
            <a:extLst>
              <a:ext uri="{FF2B5EF4-FFF2-40B4-BE49-F238E27FC236}">
                <a16:creationId xmlns:a16="http://schemas.microsoft.com/office/drawing/2014/main" id="{17055990-BA07-CF4C-8794-F0C557F70F1F}"/>
              </a:ext>
            </a:extLst>
          </p:cNvPr>
          <p:cNvCxnSpPr>
            <a:cxnSpLocks/>
            <a:stCxn id="8" idx="3"/>
            <a:endCxn id="9" idx="1"/>
          </p:cNvCxnSpPr>
          <p:nvPr/>
        </p:nvCxnSpPr>
        <p:spPr>
          <a:xfrm>
            <a:off x="3830767" y="4459775"/>
            <a:ext cx="432054" cy="0"/>
          </a:xfrm>
          <a:prstGeom prst="straightConnector1">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6">
            <a:extLst>
              <a:ext uri="{FF2B5EF4-FFF2-40B4-BE49-F238E27FC236}">
                <a16:creationId xmlns:a16="http://schemas.microsoft.com/office/drawing/2014/main" id="{0CCF1667-3146-470D-8002-BBC346F7C5B2}"/>
              </a:ext>
            </a:extLst>
          </p:cNvPr>
          <p:cNvCxnSpPr>
            <a:cxnSpLocks/>
            <a:stCxn id="9" idx="3"/>
            <a:endCxn id="10" idx="1"/>
          </p:cNvCxnSpPr>
          <p:nvPr/>
        </p:nvCxnSpPr>
        <p:spPr>
          <a:xfrm flipV="1">
            <a:off x="5821111" y="3287204"/>
            <a:ext cx="432054" cy="1172571"/>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Straight Arrow Connector 6">
            <a:extLst>
              <a:ext uri="{FF2B5EF4-FFF2-40B4-BE49-F238E27FC236}">
                <a16:creationId xmlns:a16="http://schemas.microsoft.com/office/drawing/2014/main" id="{7A8F941D-A17E-EAB0-F616-40286C5C3E44}"/>
              </a:ext>
            </a:extLst>
          </p:cNvPr>
          <p:cNvCxnSpPr>
            <a:cxnSpLocks/>
            <a:stCxn id="9" idx="3"/>
            <a:endCxn id="11" idx="1"/>
          </p:cNvCxnSpPr>
          <p:nvPr/>
        </p:nvCxnSpPr>
        <p:spPr>
          <a:xfrm>
            <a:off x="5821111" y="4459775"/>
            <a:ext cx="432054" cy="1032488"/>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6">
            <a:extLst>
              <a:ext uri="{FF2B5EF4-FFF2-40B4-BE49-F238E27FC236}">
                <a16:creationId xmlns:a16="http://schemas.microsoft.com/office/drawing/2014/main" id="{E2391643-072F-F694-D88B-8B7AF8DBD893}"/>
              </a:ext>
            </a:extLst>
          </p:cNvPr>
          <p:cNvCxnSpPr>
            <a:cxnSpLocks/>
            <a:stCxn id="10" idx="3"/>
            <a:endCxn id="14" idx="1"/>
          </p:cNvCxnSpPr>
          <p:nvPr/>
        </p:nvCxnSpPr>
        <p:spPr>
          <a:xfrm flipV="1">
            <a:off x="7811455" y="2692844"/>
            <a:ext cx="432054" cy="59436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3" name="Straight Arrow Connector 6">
            <a:extLst>
              <a:ext uri="{FF2B5EF4-FFF2-40B4-BE49-F238E27FC236}">
                <a16:creationId xmlns:a16="http://schemas.microsoft.com/office/drawing/2014/main" id="{40C8FFBA-BB28-2E9A-6EBE-B5AEFCB8C596}"/>
              </a:ext>
            </a:extLst>
          </p:cNvPr>
          <p:cNvCxnSpPr>
            <a:cxnSpLocks/>
            <a:stCxn id="10" idx="3"/>
            <a:endCxn id="15" idx="1"/>
          </p:cNvCxnSpPr>
          <p:nvPr/>
        </p:nvCxnSpPr>
        <p:spPr>
          <a:xfrm>
            <a:off x="7811455" y="3287204"/>
            <a:ext cx="432054" cy="54482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6">
            <a:extLst>
              <a:ext uri="{FF2B5EF4-FFF2-40B4-BE49-F238E27FC236}">
                <a16:creationId xmlns:a16="http://schemas.microsoft.com/office/drawing/2014/main" id="{076AC894-1EF8-E869-2B84-8A70C091FE35}"/>
              </a:ext>
            </a:extLst>
          </p:cNvPr>
          <p:cNvCxnSpPr>
            <a:cxnSpLocks/>
            <a:stCxn id="14" idx="3"/>
            <a:endCxn id="12" idx="1"/>
          </p:cNvCxnSpPr>
          <p:nvPr/>
        </p:nvCxnSpPr>
        <p:spPr>
          <a:xfrm flipV="1">
            <a:off x="9801799" y="1952094"/>
            <a:ext cx="432054" cy="74075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Straight Arrow Connector 6">
            <a:extLst>
              <a:ext uri="{FF2B5EF4-FFF2-40B4-BE49-F238E27FC236}">
                <a16:creationId xmlns:a16="http://schemas.microsoft.com/office/drawing/2014/main" id="{655D36D4-295C-999C-9BEA-4DA256814FFC}"/>
              </a:ext>
            </a:extLst>
          </p:cNvPr>
          <p:cNvCxnSpPr>
            <a:cxnSpLocks/>
            <a:stCxn id="15" idx="3"/>
            <a:endCxn id="13" idx="1"/>
          </p:cNvCxnSpPr>
          <p:nvPr/>
        </p:nvCxnSpPr>
        <p:spPr>
          <a:xfrm flipV="1">
            <a:off x="9801799" y="3829664"/>
            <a:ext cx="432054" cy="2369"/>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6" name="Straight Arrow Connector 6">
            <a:extLst>
              <a:ext uri="{FF2B5EF4-FFF2-40B4-BE49-F238E27FC236}">
                <a16:creationId xmlns:a16="http://schemas.microsoft.com/office/drawing/2014/main" id="{4711C40F-BD14-22FF-8C7D-82886AFEE09C}"/>
              </a:ext>
            </a:extLst>
          </p:cNvPr>
          <p:cNvCxnSpPr>
            <a:cxnSpLocks/>
            <a:stCxn id="11" idx="3"/>
            <a:endCxn id="13" idx="1"/>
          </p:cNvCxnSpPr>
          <p:nvPr/>
        </p:nvCxnSpPr>
        <p:spPr>
          <a:xfrm flipV="1">
            <a:off x="7811455" y="3829664"/>
            <a:ext cx="2422398" cy="1662599"/>
          </a:xfrm>
          <a:prstGeom prst="bentConnector3">
            <a:avLst>
              <a:gd name="adj1" fmla="val 87748"/>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Straight Arrow Connector 6">
            <a:extLst>
              <a:ext uri="{FF2B5EF4-FFF2-40B4-BE49-F238E27FC236}">
                <a16:creationId xmlns:a16="http://schemas.microsoft.com/office/drawing/2014/main" id="{87AA9141-7A80-667E-E5BF-7CADA4738C90}"/>
              </a:ext>
            </a:extLst>
          </p:cNvPr>
          <p:cNvCxnSpPr>
            <a:cxnSpLocks/>
          </p:cNvCxnSpPr>
          <p:nvPr/>
        </p:nvCxnSpPr>
        <p:spPr>
          <a:xfrm flipH="1" flipV="1">
            <a:off x="2895793" y="2319919"/>
            <a:ext cx="1981200" cy="1772811"/>
          </a:xfrm>
          <a:prstGeom prst="straightConnector1">
            <a:avLst/>
          </a:prstGeom>
          <a:ln>
            <a:solidFill>
              <a:srgbClr val="0033CC"/>
            </a:solidFill>
            <a:prstDash val="dash"/>
            <a:tailEnd type="triangle" w="lg" len="lg"/>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3BB4BD7A-26F6-D448-0FCF-8996B41F2F85}"/>
              </a:ext>
            </a:extLst>
          </p:cNvPr>
          <p:cNvSpPr/>
          <p:nvPr/>
        </p:nvSpPr>
        <p:spPr>
          <a:xfrm>
            <a:off x="10233853" y="5421510"/>
            <a:ext cx="1829560" cy="581646"/>
          </a:xfrm>
          <a:prstGeom prst="rect">
            <a:avLst/>
          </a:prstGeom>
          <a:solidFill>
            <a:srgbClr val="E0E0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200" b="0" i="0" u="none" strike="noStrike" kern="1200" cap="none" spc="0" normalizeH="0" baseline="0" noProof="0">
                <a:ln>
                  <a:noFill/>
                </a:ln>
                <a:solidFill>
                  <a:srgbClr val="000000">
                    <a:lumMod val="85000"/>
                    <a:lumOff val="15000"/>
                  </a:srgbClr>
                </a:solidFill>
                <a:effectLst/>
                <a:uLnTx/>
                <a:uFillTx/>
                <a:latin typeface="Graphik" panose="020B0503030202060203" pitchFamily="34" charset="0"/>
                <a:ea typeface="+mn-ea"/>
                <a:cs typeface="+mn-cs"/>
              </a:rPr>
              <a:t>Notificación asincrónica con colas</a:t>
            </a:r>
          </a:p>
        </p:txBody>
      </p:sp>
      <p:cxnSp>
        <p:nvCxnSpPr>
          <p:cNvPr id="29" name="Straight Arrow Connector 6">
            <a:extLst>
              <a:ext uri="{FF2B5EF4-FFF2-40B4-BE49-F238E27FC236}">
                <a16:creationId xmlns:a16="http://schemas.microsoft.com/office/drawing/2014/main" id="{24FD711C-36A0-F38F-797D-C44E83FA2ED2}"/>
              </a:ext>
            </a:extLst>
          </p:cNvPr>
          <p:cNvCxnSpPr>
            <a:cxnSpLocks/>
            <a:stCxn id="11" idx="3"/>
            <a:endCxn id="28" idx="1"/>
          </p:cNvCxnSpPr>
          <p:nvPr/>
        </p:nvCxnSpPr>
        <p:spPr>
          <a:xfrm>
            <a:off x="7811455" y="5492263"/>
            <a:ext cx="2422398" cy="220070"/>
          </a:xfrm>
          <a:prstGeom prst="bentConnector3">
            <a:avLst>
              <a:gd name="adj1" fmla="val 50000"/>
            </a:avLst>
          </a:prstGeom>
          <a:ln>
            <a:solidFill>
              <a:srgbClr val="0033CC"/>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2A917BE7-BA20-9B38-3C3A-369218E7BDDB}"/>
              </a:ext>
            </a:extLst>
          </p:cNvPr>
          <p:cNvSpPr txBox="1"/>
          <p:nvPr/>
        </p:nvSpPr>
        <p:spPr>
          <a:xfrm>
            <a:off x="4353499" y="4826820"/>
            <a:ext cx="1467612" cy="81560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 Los mecanismos transaccionales distribuidos afectarán al rendimiento y la escalabilidad</a:t>
            </a:r>
          </a:p>
        </p:txBody>
      </p:sp>
      <p:sp>
        <p:nvSpPr>
          <p:cNvPr id="31" name="TextBox 30">
            <a:extLst>
              <a:ext uri="{FF2B5EF4-FFF2-40B4-BE49-F238E27FC236}">
                <a16:creationId xmlns:a16="http://schemas.microsoft.com/office/drawing/2014/main" id="{CAF6F0DC-5F99-75DF-E976-9B8C75D154AC}"/>
              </a:ext>
            </a:extLst>
          </p:cNvPr>
          <p:cNvSpPr txBox="1"/>
          <p:nvPr/>
        </p:nvSpPr>
        <p:spPr>
          <a:xfrm>
            <a:off x="4056317" y="1688173"/>
            <a:ext cx="4187192" cy="215444"/>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000000"/>
                </a:solidFill>
                <a:effectLst/>
                <a:uLnTx/>
                <a:uFillTx/>
                <a:latin typeface="Graphik"/>
                <a:ea typeface="+mn-ea"/>
                <a:cs typeface="+mn-cs"/>
              </a:rPr>
              <a:t>Enfoque recomendado</a:t>
            </a:r>
          </a:p>
        </p:txBody>
      </p:sp>
    </p:spTree>
    <p:extLst>
      <p:ext uri="{BB962C8B-B14F-4D97-AF65-F5344CB8AC3E}">
        <p14:creationId xmlns:p14="http://schemas.microsoft.com/office/powerpoint/2010/main" val="22403008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703DB-22FF-8015-D3E8-4172876A0F73}"/>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09746D6-B32D-5E0F-A3C4-11C239B40E0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584EB7F-710F-0F1E-3BEF-FFF58E7342E9}"/>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Adaptadores heredados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F694E460-1D46-F7CD-4816-D31C6C47E4E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Integración con plataformas heredadas (por ejemplo, Mainframe, Unisys, Tandem...)</a:t>
            </a:r>
          </a:p>
        </p:txBody>
      </p:sp>
      <p:sp>
        <p:nvSpPr>
          <p:cNvPr id="121" name="Rectangle 120">
            <a:extLst>
              <a:ext uri="{FF2B5EF4-FFF2-40B4-BE49-F238E27FC236}">
                <a16:creationId xmlns:a16="http://schemas.microsoft.com/office/drawing/2014/main" id="{C89525A7-825C-DE6C-7AF0-F7112E7D67E3}"/>
              </a:ext>
            </a:extLst>
          </p:cNvPr>
          <p:cNvSpPr/>
          <p:nvPr/>
        </p:nvSpPr>
        <p:spPr>
          <a:xfrm>
            <a:off x="2562571" y="1402897"/>
            <a:ext cx="3970265" cy="113482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br>
              <a:rPr kumimoji="0" lang="es" sz="900" b="0" i="0" u="none" strike="noStrike" kern="1200" cap="none" spc="0" normalizeH="0" baseline="0" noProof="0" dirty="0">
                <a:ln>
                  <a:noFill/>
                </a:ln>
                <a:solidFill>
                  <a:srgbClr val="000000"/>
                </a:solidFill>
                <a:effectLst/>
                <a:uLnTx/>
                <a:uFillTx/>
                <a:latin typeface="Graphik"/>
                <a:ea typeface="+mn-ea"/>
                <a:cs typeface="+mn-cs"/>
              </a:rPr>
            </a:b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122" name="Rectangle 121">
            <a:extLst>
              <a:ext uri="{FF2B5EF4-FFF2-40B4-BE49-F238E27FC236}">
                <a16:creationId xmlns:a16="http://schemas.microsoft.com/office/drawing/2014/main" id="{21F676D9-E43C-3C2D-02F7-0D5378AE1761}"/>
              </a:ext>
            </a:extLst>
          </p:cNvPr>
          <p:cNvSpPr/>
          <p:nvPr/>
        </p:nvSpPr>
        <p:spPr>
          <a:xfrm>
            <a:off x="3523415" y="1075709"/>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grpSp>
        <p:nvGrpSpPr>
          <p:cNvPr id="123" name="Group 122">
            <a:extLst>
              <a:ext uri="{FF2B5EF4-FFF2-40B4-BE49-F238E27FC236}">
                <a16:creationId xmlns:a16="http://schemas.microsoft.com/office/drawing/2014/main" id="{BDD943F3-3A83-4E75-0307-8E835AE5C1B8}"/>
              </a:ext>
            </a:extLst>
          </p:cNvPr>
          <p:cNvGrpSpPr/>
          <p:nvPr/>
        </p:nvGrpSpPr>
        <p:grpSpPr>
          <a:xfrm>
            <a:off x="6032115" y="1303163"/>
            <a:ext cx="612000" cy="180000"/>
            <a:chOff x="2436880" y="1158097"/>
            <a:chExt cx="1080000" cy="360000"/>
          </a:xfrm>
          <a:solidFill>
            <a:schemeClr val="bg1"/>
          </a:solidFill>
        </p:grpSpPr>
        <p:sp>
          <p:nvSpPr>
            <p:cNvPr id="124" name="Rectangle 123">
              <a:extLst>
                <a:ext uri="{FF2B5EF4-FFF2-40B4-BE49-F238E27FC236}">
                  <a16:creationId xmlns:a16="http://schemas.microsoft.com/office/drawing/2014/main" id="{4BE8A610-4D9A-1297-027F-BD98E067BFB1}"/>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25" name="Picture 124">
              <a:extLst>
                <a:ext uri="{FF2B5EF4-FFF2-40B4-BE49-F238E27FC236}">
                  <a16:creationId xmlns:a16="http://schemas.microsoft.com/office/drawing/2014/main" id="{C2BCC2CB-E8EE-87CD-4746-EC3BC57DCC7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6" name="TextBox 125">
            <a:extLst>
              <a:ext uri="{FF2B5EF4-FFF2-40B4-BE49-F238E27FC236}">
                <a16:creationId xmlns:a16="http://schemas.microsoft.com/office/drawing/2014/main" id="{203BC68B-99F6-16AF-D416-BC62A3A01B17}"/>
              </a:ext>
            </a:extLst>
          </p:cNvPr>
          <p:cNvSpPr txBox="1"/>
          <p:nvPr/>
        </p:nvSpPr>
        <p:spPr>
          <a:xfrm>
            <a:off x="7858568" y="1066370"/>
            <a:ext cx="4169965" cy="381042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Envoltorios de servicio en forma de microservicios para:</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Habilitar servicios basados en legados en forma de APIs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Facilitar la orquestación con otros servicios</a:t>
            </a:r>
          </a:p>
          <a:p>
            <a:pPr marL="742950" marR="0" lvl="1"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Acceso a la plataforma heredada donde reside el servicio real</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Los adaptadores conectan entre la arquitectura basada en microservicios y las plataformas heredadas</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Algunos de los elementos del marco de integración pueden estar presentes solo tácticamente (por ejemplo, Tibco)</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Idealmente, tanto los mecanismos de integración síncronos como asíncronos serían convenientes, por ejemplo, usando servicios REST para comunicación síncrona y MQ otros mecanismos de eventos basados en Change Data Capture + Kafka</a:t>
            </a: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000" b="0" i="1"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s" sz="1000" b="0" i="1" u="none" strike="noStrike" kern="1200" cap="none" spc="0" normalizeH="0" baseline="0" noProof="0">
                <a:ln>
                  <a:noFill/>
                </a:ln>
                <a:solidFill>
                  <a:srgbClr val="000000"/>
                </a:solidFill>
                <a:effectLst/>
                <a:uLnTx/>
                <a:uFillTx/>
                <a:latin typeface="Graphik"/>
                <a:ea typeface="+mn-ea"/>
                <a:cs typeface="+mn-cs"/>
              </a:rPr>
              <a:t>Nota: Los legados suelen requerir también componentes por lotes y mecanismos de sincronización de datos, que no se representan aquí</a:t>
            </a:r>
          </a:p>
        </p:txBody>
      </p:sp>
      <p:sp>
        <p:nvSpPr>
          <p:cNvPr id="127" name="Rectangle 126">
            <a:extLst>
              <a:ext uri="{FF2B5EF4-FFF2-40B4-BE49-F238E27FC236}">
                <a16:creationId xmlns:a16="http://schemas.microsoft.com/office/drawing/2014/main" id="{D78451F9-752E-7A42-F9A9-0C988E877F34}"/>
              </a:ext>
            </a:extLst>
          </p:cNvPr>
          <p:cNvSpPr/>
          <p:nvPr/>
        </p:nvSpPr>
        <p:spPr>
          <a:xfrm>
            <a:off x="3136144"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Envolvente</a:t>
            </a:r>
          </a:p>
        </p:txBody>
      </p:sp>
      <p:sp>
        <p:nvSpPr>
          <p:cNvPr id="128" name="Rectangle 127">
            <a:extLst>
              <a:ext uri="{FF2B5EF4-FFF2-40B4-BE49-F238E27FC236}">
                <a16:creationId xmlns:a16="http://schemas.microsoft.com/office/drawing/2014/main" id="{D90BB212-0F81-04DC-02E7-CE21B2C9435F}"/>
              </a:ext>
            </a:extLst>
          </p:cNvPr>
          <p:cNvSpPr/>
          <p:nvPr/>
        </p:nvSpPr>
        <p:spPr>
          <a:xfrm>
            <a:off x="4187703"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Envolvente</a:t>
            </a:r>
          </a:p>
        </p:txBody>
      </p:sp>
      <p:sp>
        <p:nvSpPr>
          <p:cNvPr id="129" name="Rectangle 128">
            <a:extLst>
              <a:ext uri="{FF2B5EF4-FFF2-40B4-BE49-F238E27FC236}">
                <a16:creationId xmlns:a16="http://schemas.microsoft.com/office/drawing/2014/main" id="{882DECAC-D637-03F8-B480-26FDAB3583AB}"/>
              </a:ext>
            </a:extLst>
          </p:cNvPr>
          <p:cNvSpPr/>
          <p:nvPr/>
        </p:nvSpPr>
        <p:spPr>
          <a:xfrm>
            <a:off x="5233068" y="1791639"/>
            <a:ext cx="720000"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Servicio</a:t>
            </a:r>
          </a:p>
          <a:p>
            <a:pPr lvl="0" algn="ctr">
              <a:defRPr/>
            </a:pPr>
            <a:r>
              <a:rPr lang="es" sz="900" dirty="0">
                <a:solidFill>
                  <a:srgbClr val="000000"/>
                </a:solidFill>
              </a:rPr>
              <a:t>Envolvente</a:t>
            </a:r>
          </a:p>
        </p:txBody>
      </p:sp>
      <p:cxnSp>
        <p:nvCxnSpPr>
          <p:cNvPr id="130" name="Connector: Elbow 129">
            <a:extLst>
              <a:ext uri="{FF2B5EF4-FFF2-40B4-BE49-F238E27FC236}">
                <a16:creationId xmlns:a16="http://schemas.microsoft.com/office/drawing/2014/main" id="{6362F1D9-2112-FEAB-421A-1C28A54A8658}"/>
              </a:ext>
            </a:extLst>
          </p:cNvPr>
          <p:cNvCxnSpPr>
            <a:cxnSpLocks/>
            <a:stCxn id="122" idx="2"/>
            <a:endCxn id="127" idx="0"/>
          </p:cNvCxnSpPr>
          <p:nvPr/>
        </p:nvCxnSpPr>
        <p:spPr>
          <a:xfrm rot="5400000">
            <a:off x="3735287" y="988649"/>
            <a:ext cx="563847" cy="104213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Connector: Elbow 130">
            <a:extLst>
              <a:ext uri="{FF2B5EF4-FFF2-40B4-BE49-F238E27FC236}">
                <a16:creationId xmlns:a16="http://schemas.microsoft.com/office/drawing/2014/main" id="{4518FD97-3D55-CFDA-71A8-5E58E48D5FAA}"/>
              </a:ext>
            </a:extLst>
          </p:cNvPr>
          <p:cNvCxnSpPr>
            <a:cxnSpLocks/>
            <a:stCxn id="122" idx="2"/>
            <a:endCxn id="128" idx="0"/>
          </p:cNvCxnSpPr>
          <p:nvPr/>
        </p:nvCxnSpPr>
        <p:spPr>
          <a:xfrm rot="16200000" flipH="1">
            <a:off x="4261066" y="1505001"/>
            <a:ext cx="563847" cy="942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Connector: Elbow 131">
            <a:extLst>
              <a:ext uri="{FF2B5EF4-FFF2-40B4-BE49-F238E27FC236}">
                <a16:creationId xmlns:a16="http://schemas.microsoft.com/office/drawing/2014/main" id="{BF9F02F8-AFA4-35C1-7435-880AA1A46A90}"/>
              </a:ext>
            </a:extLst>
          </p:cNvPr>
          <p:cNvCxnSpPr>
            <a:cxnSpLocks/>
            <a:stCxn id="122" idx="2"/>
            <a:endCxn id="129" idx="0"/>
          </p:cNvCxnSpPr>
          <p:nvPr/>
        </p:nvCxnSpPr>
        <p:spPr>
          <a:xfrm rot="16200000" flipH="1">
            <a:off x="4783749" y="982319"/>
            <a:ext cx="563847" cy="105479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Connector: Elbow 132">
            <a:extLst>
              <a:ext uri="{FF2B5EF4-FFF2-40B4-BE49-F238E27FC236}">
                <a16:creationId xmlns:a16="http://schemas.microsoft.com/office/drawing/2014/main" id="{3C856A6A-DCEE-C5D8-A411-A19D63C35B74}"/>
              </a:ext>
            </a:extLst>
          </p:cNvPr>
          <p:cNvCxnSpPr>
            <a:cxnSpLocks/>
            <a:stCxn id="158" idx="2"/>
            <a:endCxn id="156" idx="0"/>
          </p:cNvCxnSpPr>
          <p:nvPr/>
        </p:nvCxnSpPr>
        <p:spPr>
          <a:xfrm rot="16200000" flipH="1">
            <a:off x="3524806" y="2337626"/>
            <a:ext cx="988082" cy="105630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4" name="Rectangle 133">
            <a:extLst>
              <a:ext uri="{FF2B5EF4-FFF2-40B4-BE49-F238E27FC236}">
                <a16:creationId xmlns:a16="http://schemas.microsoft.com/office/drawing/2014/main" id="{23D2C322-7A65-2DD2-2B46-2E12E1438958}"/>
              </a:ext>
            </a:extLst>
          </p:cNvPr>
          <p:cNvSpPr/>
          <p:nvPr/>
        </p:nvSpPr>
        <p:spPr>
          <a:xfrm>
            <a:off x="2599648"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Mainframe</a:t>
            </a:r>
          </a:p>
        </p:txBody>
      </p:sp>
      <p:sp>
        <p:nvSpPr>
          <p:cNvPr id="135" name="Rectangle 134">
            <a:extLst>
              <a:ext uri="{FF2B5EF4-FFF2-40B4-BE49-F238E27FC236}">
                <a16:creationId xmlns:a16="http://schemas.microsoft.com/office/drawing/2014/main" id="{C62E02DD-B9E4-5C16-815D-922686AC2269}"/>
              </a:ext>
            </a:extLst>
          </p:cNvPr>
          <p:cNvSpPr/>
          <p:nvPr/>
        </p:nvSpPr>
        <p:spPr>
          <a:xfrm>
            <a:off x="5628559"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Unisys</a:t>
            </a:r>
          </a:p>
        </p:txBody>
      </p:sp>
      <p:sp>
        <p:nvSpPr>
          <p:cNvPr id="136" name="Rectangle 135">
            <a:extLst>
              <a:ext uri="{FF2B5EF4-FFF2-40B4-BE49-F238E27FC236}">
                <a16:creationId xmlns:a16="http://schemas.microsoft.com/office/drawing/2014/main" id="{924069BE-EFD7-04B6-3A4C-F3EF62E60DF0}"/>
              </a:ext>
            </a:extLst>
          </p:cNvPr>
          <p:cNvSpPr/>
          <p:nvPr/>
        </p:nvSpPr>
        <p:spPr>
          <a:xfrm>
            <a:off x="4067305" y="4949598"/>
            <a:ext cx="942808" cy="75382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Tandem</a:t>
            </a:r>
          </a:p>
        </p:txBody>
      </p:sp>
      <p:sp>
        <p:nvSpPr>
          <p:cNvPr id="137" name="Rectangle 136">
            <a:extLst>
              <a:ext uri="{FF2B5EF4-FFF2-40B4-BE49-F238E27FC236}">
                <a16:creationId xmlns:a16="http://schemas.microsoft.com/office/drawing/2014/main" id="{FA16AA94-6104-0447-74E4-DAC3D7FB3023}"/>
              </a:ext>
            </a:extLst>
          </p:cNvPr>
          <p:cNvSpPr/>
          <p:nvPr/>
        </p:nvSpPr>
        <p:spPr>
          <a:xfrm>
            <a:off x="5698659" y="5031732"/>
            <a:ext cx="794422"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Enrutamiento</a:t>
            </a:r>
          </a:p>
        </p:txBody>
      </p:sp>
      <p:sp>
        <p:nvSpPr>
          <p:cNvPr id="138" name="Rectangle 137">
            <a:extLst>
              <a:ext uri="{FF2B5EF4-FFF2-40B4-BE49-F238E27FC236}">
                <a16:creationId xmlns:a16="http://schemas.microsoft.com/office/drawing/2014/main" id="{0F4E7F52-6069-81D4-3ABF-1337F82C40DC}"/>
              </a:ext>
            </a:extLst>
          </p:cNvPr>
          <p:cNvSpPr/>
          <p:nvPr/>
        </p:nvSpPr>
        <p:spPr>
          <a:xfrm>
            <a:off x="2765052" y="5053277"/>
            <a:ext cx="612001" cy="180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CICS</a:t>
            </a:r>
          </a:p>
        </p:txBody>
      </p:sp>
      <p:cxnSp>
        <p:nvCxnSpPr>
          <p:cNvPr id="139" name="Connector: Elbow 138">
            <a:extLst>
              <a:ext uri="{FF2B5EF4-FFF2-40B4-BE49-F238E27FC236}">
                <a16:creationId xmlns:a16="http://schemas.microsoft.com/office/drawing/2014/main" id="{8500A0AA-0581-FA6D-D7CF-B7E9F2FB91C0}"/>
              </a:ext>
            </a:extLst>
          </p:cNvPr>
          <p:cNvCxnSpPr>
            <a:cxnSpLocks/>
          </p:cNvCxnSpPr>
          <p:nvPr/>
        </p:nvCxnSpPr>
        <p:spPr>
          <a:xfrm rot="5400000">
            <a:off x="3525516" y="3175418"/>
            <a:ext cx="567022" cy="147595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1" name="Rectangle 140">
            <a:extLst>
              <a:ext uri="{FF2B5EF4-FFF2-40B4-BE49-F238E27FC236}">
                <a16:creationId xmlns:a16="http://schemas.microsoft.com/office/drawing/2014/main" id="{C39DF34D-0151-7278-6FB1-EC47AE05FC62}"/>
              </a:ext>
            </a:extLst>
          </p:cNvPr>
          <p:cNvSpPr/>
          <p:nvPr/>
        </p:nvSpPr>
        <p:spPr>
          <a:xfrm>
            <a:off x="2765052"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2" name="Rectangle 141">
            <a:extLst>
              <a:ext uri="{FF2B5EF4-FFF2-40B4-BE49-F238E27FC236}">
                <a16:creationId xmlns:a16="http://schemas.microsoft.com/office/drawing/2014/main" id="{AA50A55C-1A82-6D64-E6DE-CA8EE8A1414A}"/>
              </a:ext>
            </a:extLst>
          </p:cNvPr>
          <p:cNvSpPr/>
          <p:nvPr/>
        </p:nvSpPr>
        <p:spPr>
          <a:xfrm>
            <a:off x="5793963" y="5308528"/>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sp>
        <p:nvSpPr>
          <p:cNvPr id="143" name="Rectangle 142">
            <a:extLst>
              <a:ext uri="{FF2B5EF4-FFF2-40B4-BE49-F238E27FC236}">
                <a16:creationId xmlns:a16="http://schemas.microsoft.com/office/drawing/2014/main" id="{3F58E5A2-8837-FE76-E42D-08A057BF2413}"/>
              </a:ext>
            </a:extLst>
          </p:cNvPr>
          <p:cNvSpPr/>
          <p:nvPr/>
        </p:nvSpPr>
        <p:spPr>
          <a:xfrm>
            <a:off x="4232709" y="5338024"/>
            <a:ext cx="612001"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a:t>
            </a:r>
          </a:p>
        </p:txBody>
      </p:sp>
      <p:cxnSp>
        <p:nvCxnSpPr>
          <p:cNvPr id="144" name="Connector: Elbow 143">
            <a:extLst>
              <a:ext uri="{FF2B5EF4-FFF2-40B4-BE49-F238E27FC236}">
                <a16:creationId xmlns:a16="http://schemas.microsoft.com/office/drawing/2014/main" id="{97124BDF-E980-D629-4D1F-70C6201D5A5D}"/>
              </a:ext>
            </a:extLst>
          </p:cNvPr>
          <p:cNvCxnSpPr>
            <a:cxnSpLocks/>
            <a:stCxn id="159" idx="2"/>
            <a:endCxn id="156" idx="0"/>
          </p:cNvCxnSpPr>
          <p:nvPr/>
        </p:nvCxnSpPr>
        <p:spPr>
          <a:xfrm rot="5400000">
            <a:off x="4048235" y="2860352"/>
            <a:ext cx="998237" cy="702"/>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B8CB785D-F317-0E1A-E1E4-4F707BBBD96D}"/>
              </a:ext>
            </a:extLst>
          </p:cNvPr>
          <p:cNvSpPr/>
          <p:nvPr/>
        </p:nvSpPr>
        <p:spPr>
          <a:xfrm>
            <a:off x="2720406" y="4204855"/>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IBM MF</a:t>
            </a:r>
          </a:p>
        </p:txBody>
      </p:sp>
      <p:sp>
        <p:nvSpPr>
          <p:cNvPr id="146" name="Rectangle 145">
            <a:extLst>
              <a:ext uri="{FF2B5EF4-FFF2-40B4-BE49-F238E27FC236}">
                <a16:creationId xmlns:a16="http://schemas.microsoft.com/office/drawing/2014/main" id="{D23677E0-EFA8-0657-C354-B9717CA27500}"/>
              </a:ext>
            </a:extLst>
          </p:cNvPr>
          <p:cNvSpPr/>
          <p:nvPr/>
        </p:nvSpPr>
        <p:spPr>
          <a:xfrm>
            <a:off x="5738414" y="4196327"/>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Adaptador Unisys</a:t>
            </a:r>
          </a:p>
        </p:txBody>
      </p:sp>
      <p:sp>
        <p:nvSpPr>
          <p:cNvPr id="147" name="Rectangle 146">
            <a:extLst>
              <a:ext uri="{FF2B5EF4-FFF2-40B4-BE49-F238E27FC236}">
                <a16:creationId xmlns:a16="http://schemas.microsoft.com/office/drawing/2014/main" id="{A5AFD4BB-1CE4-8E60-C9C9-DCB216A47B16}"/>
              </a:ext>
            </a:extLst>
          </p:cNvPr>
          <p:cNvSpPr/>
          <p:nvPr/>
        </p:nvSpPr>
        <p:spPr>
          <a:xfrm>
            <a:off x="4188063" y="4191916"/>
            <a:ext cx="701292" cy="2927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Adaptador Tándem</a:t>
            </a:r>
          </a:p>
        </p:txBody>
      </p:sp>
      <p:cxnSp>
        <p:nvCxnSpPr>
          <p:cNvPr id="149" name="Straight Arrow Connector 148">
            <a:extLst>
              <a:ext uri="{FF2B5EF4-FFF2-40B4-BE49-F238E27FC236}">
                <a16:creationId xmlns:a16="http://schemas.microsoft.com/office/drawing/2014/main" id="{8A6F0223-CA67-3576-A283-800D0D9FF5AF}"/>
              </a:ext>
            </a:extLst>
          </p:cNvPr>
          <p:cNvCxnSpPr>
            <a:stCxn id="147" idx="2"/>
            <a:endCxn id="136" idx="0"/>
          </p:cNvCxnSpPr>
          <p:nvPr/>
        </p:nvCxnSpPr>
        <p:spPr>
          <a:xfrm>
            <a:off x="4538709" y="4484638"/>
            <a:ext cx="0" cy="46496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F8ADD93C-C3A3-67A3-117B-976AEFD0E173}"/>
              </a:ext>
            </a:extLst>
          </p:cNvPr>
          <p:cNvCxnSpPr>
            <a:cxnSpLocks/>
            <a:stCxn id="145" idx="2"/>
            <a:endCxn id="134" idx="0"/>
          </p:cNvCxnSpPr>
          <p:nvPr/>
        </p:nvCxnSpPr>
        <p:spPr>
          <a:xfrm>
            <a:off x="3071052" y="4497577"/>
            <a:ext cx="0" cy="452021"/>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5" name="Rectangle 154">
            <a:extLst>
              <a:ext uri="{FF2B5EF4-FFF2-40B4-BE49-F238E27FC236}">
                <a16:creationId xmlns:a16="http://schemas.microsoft.com/office/drawing/2014/main" id="{177213BC-5909-7EDC-E316-3E75954E0013}"/>
              </a:ext>
            </a:extLst>
          </p:cNvPr>
          <p:cNvSpPr/>
          <p:nvPr/>
        </p:nvSpPr>
        <p:spPr>
          <a:xfrm>
            <a:off x="3089011" y="4471195"/>
            <a:ext cx="679467"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156" name="Rectangle 155">
            <a:extLst>
              <a:ext uri="{FF2B5EF4-FFF2-40B4-BE49-F238E27FC236}">
                <a16:creationId xmlns:a16="http://schemas.microsoft.com/office/drawing/2014/main" id="{1BB0F1E7-AB8C-F8F4-99FC-09F1951B5076}"/>
              </a:ext>
            </a:extLst>
          </p:cNvPr>
          <p:cNvSpPr/>
          <p:nvPr/>
        </p:nvSpPr>
        <p:spPr>
          <a:xfrm>
            <a:off x="3768483" y="3359822"/>
            <a:ext cx="1557037" cy="27801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Despachador de Servicio</a:t>
            </a:r>
          </a:p>
        </p:txBody>
      </p:sp>
      <p:sp>
        <p:nvSpPr>
          <p:cNvPr id="158" name="Rectangle 157">
            <a:extLst>
              <a:ext uri="{FF2B5EF4-FFF2-40B4-BE49-F238E27FC236}">
                <a16:creationId xmlns:a16="http://schemas.microsoft.com/office/drawing/2014/main" id="{0DAAAFDC-41B4-ADDC-3A51-7935A8A56732}"/>
              </a:ext>
            </a:extLst>
          </p:cNvPr>
          <p:cNvSpPr/>
          <p:nvPr/>
        </p:nvSpPr>
        <p:spPr>
          <a:xfrm>
            <a:off x="3189002"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59" name="Rectangle 158">
            <a:extLst>
              <a:ext uri="{FF2B5EF4-FFF2-40B4-BE49-F238E27FC236}">
                <a16:creationId xmlns:a16="http://schemas.microsoft.com/office/drawing/2014/main" id="{1C949067-ABE6-C69E-35AA-072F333770BF}"/>
              </a:ext>
            </a:extLst>
          </p:cNvPr>
          <p:cNvSpPr/>
          <p:nvPr/>
        </p:nvSpPr>
        <p:spPr>
          <a:xfrm>
            <a:off x="4246013" y="2065343"/>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sp>
        <p:nvSpPr>
          <p:cNvPr id="160" name="Rectangle 159">
            <a:extLst>
              <a:ext uri="{FF2B5EF4-FFF2-40B4-BE49-F238E27FC236}">
                <a16:creationId xmlns:a16="http://schemas.microsoft.com/office/drawing/2014/main" id="{7B7DC84B-7B62-A07C-E0F9-2EB8FEF7A96F}"/>
              </a:ext>
            </a:extLst>
          </p:cNvPr>
          <p:cNvSpPr/>
          <p:nvPr/>
        </p:nvSpPr>
        <p:spPr>
          <a:xfrm>
            <a:off x="5286706" y="2075498"/>
            <a:ext cx="603381" cy="29624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de dominio</a:t>
            </a:r>
          </a:p>
        </p:txBody>
      </p:sp>
      <p:cxnSp>
        <p:nvCxnSpPr>
          <p:cNvPr id="161" name="Connector: Elbow 160">
            <a:extLst>
              <a:ext uri="{FF2B5EF4-FFF2-40B4-BE49-F238E27FC236}">
                <a16:creationId xmlns:a16="http://schemas.microsoft.com/office/drawing/2014/main" id="{D87DB573-2E0F-D9FB-70FD-3294B625FFC8}"/>
              </a:ext>
            </a:extLst>
          </p:cNvPr>
          <p:cNvCxnSpPr>
            <a:cxnSpLocks/>
            <a:stCxn id="160" idx="2"/>
            <a:endCxn id="156" idx="0"/>
          </p:cNvCxnSpPr>
          <p:nvPr/>
        </p:nvCxnSpPr>
        <p:spPr>
          <a:xfrm rot="5400000">
            <a:off x="4573659" y="2345084"/>
            <a:ext cx="988082" cy="104139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5" name="Rectangle 164">
            <a:extLst>
              <a:ext uri="{FF2B5EF4-FFF2-40B4-BE49-F238E27FC236}">
                <a16:creationId xmlns:a16="http://schemas.microsoft.com/office/drawing/2014/main" id="{DEDA369A-5D57-45F2-8679-A5633295C712}"/>
              </a:ext>
            </a:extLst>
          </p:cNvPr>
          <p:cNvSpPr/>
          <p:nvPr/>
        </p:nvSpPr>
        <p:spPr>
          <a:xfrm>
            <a:off x="5018408" y="3598566"/>
            <a:ext cx="734753"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grpSp>
        <p:nvGrpSpPr>
          <p:cNvPr id="166" name="Group 165">
            <a:extLst>
              <a:ext uri="{FF2B5EF4-FFF2-40B4-BE49-F238E27FC236}">
                <a16:creationId xmlns:a16="http://schemas.microsoft.com/office/drawing/2014/main" id="{151989C5-0890-7416-53A9-F75EBFABD003}"/>
              </a:ext>
            </a:extLst>
          </p:cNvPr>
          <p:cNvGrpSpPr/>
          <p:nvPr/>
        </p:nvGrpSpPr>
        <p:grpSpPr>
          <a:xfrm>
            <a:off x="4756084" y="4447118"/>
            <a:ext cx="612000" cy="180000"/>
            <a:chOff x="8138043" y="3996066"/>
            <a:chExt cx="1080000" cy="360000"/>
          </a:xfrm>
          <a:solidFill>
            <a:schemeClr val="bg1"/>
          </a:solidFill>
        </p:grpSpPr>
        <p:sp>
          <p:nvSpPr>
            <p:cNvPr id="167" name="Rectangle 166">
              <a:extLst>
                <a:ext uri="{FF2B5EF4-FFF2-40B4-BE49-F238E27FC236}">
                  <a16:creationId xmlns:a16="http://schemas.microsoft.com/office/drawing/2014/main" id="{C867786C-5E09-4820-3D6E-0F1FF31DBB68}"/>
                </a:ext>
              </a:extLst>
            </p:cNvPr>
            <p:cNvSpPr/>
            <p:nvPr/>
          </p:nvSpPr>
          <p:spPr>
            <a:xfrm>
              <a:off x="8138043" y="3996066"/>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TIBCO</a:t>
              </a:r>
            </a:p>
          </p:txBody>
        </p:sp>
        <p:pic>
          <p:nvPicPr>
            <p:cNvPr id="168" name="Picture 167">
              <a:extLst>
                <a:ext uri="{FF2B5EF4-FFF2-40B4-BE49-F238E27FC236}">
                  <a16:creationId xmlns:a16="http://schemas.microsoft.com/office/drawing/2014/main" id="{FBCCAB09-186A-5A6D-22A7-41D1F951C7FC}"/>
                </a:ext>
              </a:extLst>
            </p:cNvPr>
            <p:cNvPicPr>
              <a:picLocks noChangeAspect="1"/>
            </p:cNvPicPr>
            <p:nvPr/>
          </p:nvPicPr>
          <p:blipFill>
            <a:blip r:embed="rId3"/>
            <a:stretch>
              <a:fillRect/>
            </a:stretch>
          </p:blipFill>
          <p:spPr>
            <a:xfrm>
              <a:off x="8148798" y="4038275"/>
              <a:ext cx="1058490" cy="275582"/>
            </a:xfrm>
            <a:prstGeom prst="rect">
              <a:avLst/>
            </a:prstGeom>
            <a:grpFill/>
          </p:spPr>
        </p:pic>
      </p:grpSp>
      <p:cxnSp>
        <p:nvCxnSpPr>
          <p:cNvPr id="170" name="Straight Arrow Connector 169">
            <a:extLst>
              <a:ext uri="{FF2B5EF4-FFF2-40B4-BE49-F238E27FC236}">
                <a16:creationId xmlns:a16="http://schemas.microsoft.com/office/drawing/2014/main" id="{B7FA88C0-BD7D-FD5C-1864-187F7DD6FA36}"/>
              </a:ext>
            </a:extLst>
          </p:cNvPr>
          <p:cNvCxnSpPr>
            <a:cxnSpLocks/>
            <a:stCxn id="146" idx="2"/>
            <a:endCxn id="135" idx="0"/>
          </p:cNvCxnSpPr>
          <p:nvPr/>
        </p:nvCxnSpPr>
        <p:spPr>
          <a:xfrm>
            <a:off x="6089060" y="4489049"/>
            <a:ext cx="10903" cy="46054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3" name="Group 172">
            <a:extLst>
              <a:ext uri="{FF2B5EF4-FFF2-40B4-BE49-F238E27FC236}">
                <a16:creationId xmlns:a16="http://schemas.microsoft.com/office/drawing/2014/main" id="{D7F66191-1ABD-5B3F-79C1-A0012F66CA51}"/>
              </a:ext>
            </a:extLst>
          </p:cNvPr>
          <p:cNvGrpSpPr/>
          <p:nvPr/>
        </p:nvGrpSpPr>
        <p:grpSpPr>
          <a:xfrm>
            <a:off x="9914018" y="286451"/>
            <a:ext cx="1862854" cy="253275"/>
            <a:chOff x="9929190" y="421028"/>
            <a:chExt cx="1862854" cy="253275"/>
          </a:xfrm>
        </p:grpSpPr>
        <p:sp>
          <p:nvSpPr>
            <p:cNvPr id="174" name="TextBox 173">
              <a:extLst>
                <a:ext uri="{FF2B5EF4-FFF2-40B4-BE49-F238E27FC236}">
                  <a16:creationId xmlns:a16="http://schemas.microsoft.com/office/drawing/2014/main" id="{0D3A2F15-8E60-F485-CF1E-C8C9E82BAB62}"/>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175" name="Straight Connector 174">
              <a:extLst>
                <a:ext uri="{FF2B5EF4-FFF2-40B4-BE49-F238E27FC236}">
                  <a16:creationId xmlns:a16="http://schemas.microsoft.com/office/drawing/2014/main" id="{31E258E4-30B3-9A71-1F8C-E12C2DAEB6E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0FEDB600-B230-199C-4152-A2D5F526B79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 name="Connector: Elbow 3">
            <a:extLst>
              <a:ext uri="{FF2B5EF4-FFF2-40B4-BE49-F238E27FC236}">
                <a16:creationId xmlns:a16="http://schemas.microsoft.com/office/drawing/2014/main" id="{15DB04E0-C64A-EF3C-E677-7C2DBD576C3B}"/>
              </a:ext>
            </a:extLst>
          </p:cNvPr>
          <p:cNvCxnSpPr>
            <a:cxnSpLocks/>
          </p:cNvCxnSpPr>
          <p:nvPr/>
        </p:nvCxnSpPr>
        <p:spPr>
          <a:xfrm rot="16200000" flipH="1">
            <a:off x="5038784" y="3146051"/>
            <a:ext cx="558494" cy="154205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or: Elbow 7">
            <a:extLst>
              <a:ext uri="{FF2B5EF4-FFF2-40B4-BE49-F238E27FC236}">
                <a16:creationId xmlns:a16="http://schemas.microsoft.com/office/drawing/2014/main" id="{6DE200B8-BDB5-C570-A9EE-73B2AD1257A4}"/>
              </a:ext>
            </a:extLst>
          </p:cNvPr>
          <p:cNvCxnSpPr>
            <a:cxnSpLocks/>
            <a:stCxn id="156" idx="2"/>
            <a:endCxn id="147" idx="0"/>
          </p:cNvCxnSpPr>
          <p:nvPr/>
        </p:nvCxnSpPr>
        <p:spPr>
          <a:xfrm rot="5400000">
            <a:off x="4265815" y="3910728"/>
            <a:ext cx="554083" cy="829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29B14F33-0A70-83CE-C80F-B3A1378007D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 name="Rectangle 6">
            <a:extLst>
              <a:ext uri="{FF2B5EF4-FFF2-40B4-BE49-F238E27FC236}">
                <a16:creationId xmlns:a16="http://schemas.microsoft.com/office/drawing/2014/main" id="{AC3E1DB3-60D5-EBFF-432F-C3C1E1935F60}"/>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0" name="Rectangle 9">
            <a:extLst>
              <a:ext uri="{FF2B5EF4-FFF2-40B4-BE49-F238E27FC236}">
                <a16:creationId xmlns:a16="http://schemas.microsoft.com/office/drawing/2014/main" id="{FA7EDB68-60C2-935E-2A00-BB0F8A39DDE1}"/>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8999204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927B5-8AC7-8331-ADC9-8D8E9D3CC285}"/>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21B4C531-859C-F4C4-5F02-170811504C7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AA8C6C2B-B54D-5A28-C133-387574D8A324}"/>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Mecanismo de almacenamiento y reenvío</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5CC1D32-3FEB-B3BD-77DD-078ADCDE2D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Mecanismo de almacenamiento y reenvío</a:t>
            </a:r>
          </a:p>
        </p:txBody>
      </p:sp>
      <p:grpSp>
        <p:nvGrpSpPr>
          <p:cNvPr id="4" name="Group 3">
            <a:extLst>
              <a:ext uri="{FF2B5EF4-FFF2-40B4-BE49-F238E27FC236}">
                <a16:creationId xmlns:a16="http://schemas.microsoft.com/office/drawing/2014/main" id="{F16D6817-85B3-3BC9-AE01-46E24E98C91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4894FAE-E7C7-EFD2-FA3E-0ACFB3ACC363}"/>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E339E996-1725-95C3-3647-4A1F7EEDE5E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0009E08-6796-5BF4-62E6-1DAA3CF0FAB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69F9DD58-18D6-276C-1D63-19F53C642F48}"/>
              </a:ext>
            </a:extLst>
          </p:cNvPr>
          <p:cNvSpPr/>
          <p:nvPr/>
        </p:nvSpPr>
        <p:spPr>
          <a:xfrm>
            <a:off x="504904" y="2182654"/>
            <a:ext cx="4981442" cy="211271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 name="Group 8">
            <a:extLst>
              <a:ext uri="{FF2B5EF4-FFF2-40B4-BE49-F238E27FC236}">
                <a16:creationId xmlns:a16="http://schemas.microsoft.com/office/drawing/2014/main" id="{F39A8FE5-15C8-BD50-400B-7A64280D085C}"/>
              </a:ext>
            </a:extLst>
          </p:cNvPr>
          <p:cNvGrpSpPr/>
          <p:nvPr/>
        </p:nvGrpSpPr>
        <p:grpSpPr>
          <a:xfrm>
            <a:off x="4907077" y="2072739"/>
            <a:ext cx="844771" cy="284934"/>
            <a:chOff x="2436880" y="1158097"/>
            <a:chExt cx="1080000" cy="360000"/>
          </a:xfrm>
          <a:solidFill>
            <a:schemeClr val="bg1"/>
          </a:solidFill>
        </p:grpSpPr>
        <p:sp>
          <p:nvSpPr>
            <p:cNvPr id="10" name="Rectangle 9">
              <a:extLst>
                <a:ext uri="{FF2B5EF4-FFF2-40B4-BE49-F238E27FC236}">
                  <a16:creationId xmlns:a16="http://schemas.microsoft.com/office/drawing/2014/main" id="{CFA46BD6-4020-A671-C3B9-B5EC88DFED2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1" name="Picture 10">
              <a:extLst>
                <a:ext uri="{FF2B5EF4-FFF2-40B4-BE49-F238E27FC236}">
                  <a16:creationId xmlns:a16="http://schemas.microsoft.com/office/drawing/2014/main" id="{3E6DEDA3-C44D-77AE-DBA2-296993B32D45}"/>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2" name="Rectangle 11">
            <a:extLst>
              <a:ext uri="{FF2B5EF4-FFF2-40B4-BE49-F238E27FC236}">
                <a16:creationId xmlns:a16="http://schemas.microsoft.com/office/drawing/2014/main" id="{6FF3F33F-A589-47CE-2BB9-4AD283DEB9C5}"/>
              </a:ext>
            </a:extLst>
          </p:cNvPr>
          <p:cNvSpPr/>
          <p:nvPr/>
        </p:nvSpPr>
        <p:spPr>
          <a:xfrm>
            <a:off x="1276396" y="2737399"/>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1</a:t>
            </a:r>
          </a:p>
        </p:txBody>
      </p:sp>
      <p:sp>
        <p:nvSpPr>
          <p:cNvPr id="13" name="Rectangle 12">
            <a:extLst>
              <a:ext uri="{FF2B5EF4-FFF2-40B4-BE49-F238E27FC236}">
                <a16:creationId xmlns:a16="http://schemas.microsoft.com/office/drawing/2014/main" id="{ECD0D046-1276-C112-B59C-C240EC0AAD93}"/>
              </a:ext>
            </a:extLst>
          </p:cNvPr>
          <p:cNvSpPr/>
          <p:nvPr/>
        </p:nvSpPr>
        <p:spPr>
          <a:xfrm>
            <a:off x="736939" y="345369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Gestor de Solicitudes</a:t>
            </a:r>
          </a:p>
        </p:txBody>
      </p:sp>
      <p:sp>
        <p:nvSpPr>
          <p:cNvPr id="14" name="Rectangle 13">
            <a:extLst>
              <a:ext uri="{FF2B5EF4-FFF2-40B4-BE49-F238E27FC236}">
                <a16:creationId xmlns:a16="http://schemas.microsoft.com/office/drawing/2014/main" id="{14D93689-A639-DCD9-DADE-14CB5D2B7292}"/>
              </a:ext>
            </a:extLst>
          </p:cNvPr>
          <p:cNvSpPr/>
          <p:nvPr/>
        </p:nvSpPr>
        <p:spPr>
          <a:xfrm>
            <a:off x="4048208"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Procesador de peticiones</a:t>
            </a:r>
          </a:p>
        </p:txBody>
      </p:sp>
      <p:sp>
        <p:nvSpPr>
          <p:cNvPr id="15" name="Rectangle 14">
            <a:extLst>
              <a:ext uri="{FF2B5EF4-FFF2-40B4-BE49-F238E27FC236}">
                <a16:creationId xmlns:a16="http://schemas.microsoft.com/office/drawing/2014/main" id="{ADB689F5-E465-9BE6-FB86-D6C48A1061B5}"/>
              </a:ext>
            </a:extLst>
          </p:cNvPr>
          <p:cNvSpPr/>
          <p:nvPr/>
        </p:nvSpPr>
        <p:spPr>
          <a:xfrm>
            <a:off x="2364005" y="3444627"/>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Enrutador de peticiones</a:t>
            </a:r>
          </a:p>
        </p:txBody>
      </p:sp>
      <p:sp>
        <p:nvSpPr>
          <p:cNvPr id="16" name="Rectangle 15">
            <a:extLst>
              <a:ext uri="{FF2B5EF4-FFF2-40B4-BE49-F238E27FC236}">
                <a16:creationId xmlns:a16="http://schemas.microsoft.com/office/drawing/2014/main" id="{480AFB43-EE28-499F-EA6F-C81D34C62460}"/>
              </a:ext>
            </a:extLst>
          </p:cNvPr>
          <p:cNvSpPr/>
          <p:nvPr/>
        </p:nvSpPr>
        <p:spPr>
          <a:xfrm>
            <a:off x="2275625" y="2731791"/>
            <a:ext cx="720000"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 2</a:t>
            </a:r>
          </a:p>
        </p:txBody>
      </p:sp>
      <p:sp>
        <p:nvSpPr>
          <p:cNvPr id="17" name="Rectangle 16">
            <a:extLst>
              <a:ext uri="{FF2B5EF4-FFF2-40B4-BE49-F238E27FC236}">
                <a16:creationId xmlns:a16="http://schemas.microsoft.com/office/drawing/2014/main" id="{945300D9-47BB-A782-0027-831B8EBB13CE}"/>
              </a:ext>
            </a:extLst>
          </p:cNvPr>
          <p:cNvSpPr/>
          <p:nvPr/>
        </p:nvSpPr>
        <p:spPr>
          <a:xfrm>
            <a:off x="3508830" y="1347029"/>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Consola S&amp;F</a:t>
            </a:r>
          </a:p>
        </p:txBody>
      </p:sp>
      <p:sp>
        <p:nvSpPr>
          <p:cNvPr id="18" name="Rectangle 17">
            <a:extLst>
              <a:ext uri="{FF2B5EF4-FFF2-40B4-BE49-F238E27FC236}">
                <a16:creationId xmlns:a16="http://schemas.microsoft.com/office/drawing/2014/main" id="{825AB9D1-3743-02A0-E973-4B464B44AF05}"/>
              </a:ext>
            </a:extLst>
          </p:cNvPr>
          <p:cNvSpPr/>
          <p:nvPr/>
        </p:nvSpPr>
        <p:spPr>
          <a:xfrm>
            <a:off x="6073344" y="3764981"/>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Programador</a:t>
            </a:r>
          </a:p>
        </p:txBody>
      </p:sp>
      <p:cxnSp>
        <p:nvCxnSpPr>
          <p:cNvPr id="19" name="Connector: Elbow 18">
            <a:extLst>
              <a:ext uri="{FF2B5EF4-FFF2-40B4-BE49-F238E27FC236}">
                <a16:creationId xmlns:a16="http://schemas.microsoft.com/office/drawing/2014/main" id="{ABF837F9-3B4B-E0C6-B6CE-8C715B9D740A}"/>
              </a:ext>
            </a:extLst>
          </p:cNvPr>
          <p:cNvCxnSpPr>
            <a:cxnSpLocks/>
            <a:stCxn id="12" idx="2"/>
            <a:endCxn id="13" idx="0"/>
          </p:cNvCxnSpPr>
          <p:nvPr/>
        </p:nvCxnSpPr>
        <p:spPr>
          <a:xfrm rot="5400000">
            <a:off x="1192808" y="3010103"/>
            <a:ext cx="536292" cy="350885"/>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7DF9B777-F313-9FE8-2F7A-C8E611151AD8}"/>
              </a:ext>
            </a:extLst>
          </p:cNvPr>
          <p:cNvCxnSpPr>
            <a:cxnSpLocks/>
            <a:stCxn id="16" idx="2"/>
            <a:endCxn id="13" idx="0"/>
          </p:cNvCxnSpPr>
          <p:nvPr/>
        </p:nvCxnSpPr>
        <p:spPr>
          <a:xfrm rot="5400000">
            <a:off x="1689618" y="2507684"/>
            <a:ext cx="541900" cy="135011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476F3DF-A3AD-7ACE-68B9-3274CCBEDE79}"/>
              </a:ext>
            </a:extLst>
          </p:cNvPr>
          <p:cNvSpPr txBox="1"/>
          <p:nvPr/>
        </p:nvSpPr>
        <p:spPr>
          <a:xfrm>
            <a:off x="709755" y="323416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 Fracaso</a:t>
            </a:r>
          </a:p>
        </p:txBody>
      </p:sp>
      <p:cxnSp>
        <p:nvCxnSpPr>
          <p:cNvPr id="22" name="Connector: Elbow 21">
            <a:extLst>
              <a:ext uri="{FF2B5EF4-FFF2-40B4-BE49-F238E27FC236}">
                <a16:creationId xmlns:a16="http://schemas.microsoft.com/office/drawing/2014/main" id="{1E87DC4B-F3B6-E75E-9C5B-CFEBD55FA1CF}"/>
              </a:ext>
            </a:extLst>
          </p:cNvPr>
          <p:cNvCxnSpPr>
            <a:cxnSpLocks/>
            <a:stCxn id="13" idx="2"/>
            <a:endCxn id="32" idx="1"/>
          </p:cNvCxnSpPr>
          <p:nvPr/>
        </p:nvCxnSpPr>
        <p:spPr>
          <a:xfrm rot="16200000" flipH="1">
            <a:off x="1231515" y="3759686"/>
            <a:ext cx="1182544" cy="10745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AF7ECCC-50DA-0744-D3A9-20B35D36D000}"/>
              </a:ext>
            </a:extLst>
          </p:cNvPr>
          <p:cNvSpPr txBox="1"/>
          <p:nvPr/>
        </p:nvSpPr>
        <p:spPr>
          <a:xfrm>
            <a:off x="1519566" y="4745215"/>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Tienda</a:t>
            </a:r>
          </a:p>
        </p:txBody>
      </p:sp>
      <p:sp>
        <p:nvSpPr>
          <p:cNvPr id="24" name="TextBox 23">
            <a:extLst>
              <a:ext uri="{FF2B5EF4-FFF2-40B4-BE49-F238E27FC236}">
                <a16:creationId xmlns:a16="http://schemas.microsoft.com/office/drawing/2014/main" id="{4C520F01-12E2-760D-518C-1C4BED2C099A}"/>
              </a:ext>
            </a:extLst>
          </p:cNvPr>
          <p:cNvSpPr txBox="1"/>
          <p:nvPr/>
        </p:nvSpPr>
        <p:spPr>
          <a:xfrm>
            <a:off x="5434001" y="3738898"/>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Disparador</a:t>
            </a:r>
          </a:p>
        </p:txBody>
      </p:sp>
      <p:sp>
        <p:nvSpPr>
          <p:cNvPr id="25" name="Rectangle 24">
            <a:extLst>
              <a:ext uri="{FF2B5EF4-FFF2-40B4-BE49-F238E27FC236}">
                <a16:creationId xmlns:a16="http://schemas.microsoft.com/office/drawing/2014/main" id="{E782871E-8314-5ACE-FE7C-17069A2D56CD}"/>
              </a:ext>
            </a:extLst>
          </p:cNvPr>
          <p:cNvSpPr/>
          <p:nvPr/>
        </p:nvSpPr>
        <p:spPr>
          <a:xfrm>
            <a:off x="3629597" y="2459802"/>
            <a:ext cx="1097144" cy="252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Gestion de S&amp;F</a:t>
            </a:r>
          </a:p>
        </p:txBody>
      </p:sp>
      <p:sp>
        <p:nvSpPr>
          <p:cNvPr id="26" name="Rectangle 25">
            <a:extLst>
              <a:ext uri="{FF2B5EF4-FFF2-40B4-BE49-F238E27FC236}">
                <a16:creationId xmlns:a16="http://schemas.microsoft.com/office/drawing/2014/main" id="{141A95DA-7ADE-DD44-FA45-EF5A3C952E72}"/>
              </a:ext>
            </a:extLst>
          </p:cNvPr>
          <p:cNvSpPr/>
          <p:nvPr/>
        </p:nvSpPr>
        <p:spPr>
          <a:xfrm>
            <a:off x="2275625" y="1825773"/>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27" name="Rectangle 26">
            <a:extLst>
              <a:ext uri="{FF2B5EF4-FFF2-40B4-BE49-F238E27FC236}">
                <a16:creationId xmlns:a16="http://schemas.microsoft.com/office/drawing/2014/main" id="{FA49F3E3-29EF-3D78-9BC2-D328AB352A3B}"/>
              </a:ext>
            </a:extLst>
          </p:cNvPr>
          <p:cNvSpPr/>
          <p:nvPr/>
        </p:nvSpPr>
        <p:spPr>
          <a:xfrm>
            <a:off x="1010539" y="1420932"/>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8" name="Connector: Elbow 27">
            <a:extLst>
              <a:ext uri="{FF2B5EF4-FFF2-40B4-BE49-F238E27FC236}">
                <a16:creationId xmlns:a16="http://schemas.microsoft.com/office/drawing/2014/main" id="{1F98250F-CC60-54B0-EBA9-7DA0AA8A82A7}"/>
              </a:ext>
            </a:extLst>
          </p:cNvPr>
          <p:cNvCxnSpPr>
            <a:cxnSpLocks/>
            <a:stCxn id="27" idx="2"/>
            <a:endCxn id="26" idx="0"/>
          </p:cNvCxnSpPr>
          <p:nvPr/>
        </p:nvCxnSpPr>
        <p:spPr>
          <a:xfrm rot="16200000" flipH="1">
            <a:off x="2531564" y="1066851"/>
            <a:ext cx="252758" cy="126508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FD17C52C-8C5A-D756-72D9-5440D767B5FE}"/>
              </a:ext>
            </a:extLst>
          </p:cNvPr>
          <p:cNvCxnSpPr>
            <a:cxnSpLocks/>
            <a:stCxn id="17" idx="2"/>
            <a:endCxn id="26" idx="0"/>
          </p:cNvCxnSpPr>
          <p:nvPr/>
        </p:nvCxnSpPr>
        <p:spPr>
          <a:xfrm rot="5400000">
            <a:off x="3560572" y="1328943"/>
            <a:ext cx="226744" cy="766916"/>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28F34228-5272-2AE6-1D11-1D634BB44E10}"/>
              </a:ext>
            </a:extLst>
          </p:cNvPr>
          <p:cNvCxnSpPr>
            <a:cxnSpLocks/>
            <a:stCxn id="26" idx="2"/>
            <a:endCxn id="25" idx="0"/>
          </p:cNvCxnSpPr>
          <p:nvPr/>
        </p:nvCxnSpPr>
        <p:spPr>
          <a:xfrm rot="16200000" flipH="1">
            <a:off x="3493354" y="1774987"/>
            <a:ext cx="481946" cy="887683"/>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370E2F0B-4108-7878-7B1A-E475F0D86B3C}"/>
              </a:ext>
            </a:extLst>
          </p:cNvPr>
          <p:cNvCxnSpPr>
            <a:cxnSpLocks/>
            <a:stCxn id="26" idx="2"/>
            <a:endCxn id="16" idx="0"/>
          </p:cNvCxnSpPr>
          <p:nvPr/>
        </p:nvCxnSpPr>
        <p:spPr>
          <a:xfrm rot="5400000">
            <a:off x="2586089" y="2027393"/>
            <a:ext cx="753935" cy="65486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59D98AD-A3B2-A3FC-5C75-BA83FE53815C}"/>
              </a:ext>
            </a:extLst>
          </p:cNvPr>
          <p:cNvSpPr/>
          <p:nvPr/>
        </p:nvSpPr>
        <p:spPr>
          <a:xfrm>
            <a:off x="2360064" y="4478411"/>
            <a:ext cx="94280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3" name="Flowchart: Magnetic Disk 32">
            <a:extLst>
              <a:ext uri="{FF2B5EF4-FFF2-40B4-BE49-F238E27FC236}">
                <a16:creationId xmlns:a16="http://schemas.microsoft.com/office/drawing/2014/main" id="{02952D79-FCD4-3945-2064-8BF1A2460B0C}"/>
              </a:ext>
            </a:extLst>
          </p:cNvPr>
          <p:cNvSpPr/>
          <p:nvPr/>
        </p:nvSpPr>
        <p:spPr>
          <a:xfrm>
            <a:off x="2447745" y="4595347"/>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Almacenar y Reenviar</a:t>
            </a:r>
          </a:p>
        </p:txBody>
      </p:sp>
      <p:sp>
        <p:nvSpPr>
          <p:cNvPr id="34" name="Rectangle 33">
            <a:extLst>
              <a:ext uri="{FF2B5EF4-FFF2-40B4-BE49-F238E27FC236}">
                <a16:creationId xmlns:a16="http://schemas.microsoft.com/office/drawing/2014/main" id="{0F5D160E-D0CB-5610-CA10-968B30767E7F}"/>
              </a:ext>
            </a:extLst>
          </p:cNvPr>
          <p:cNvSpPr/>
          <p:nvPr/>
        </p:nvSpPr>
        <p:spPr>
          <a:xfrm>
            <a:off x="3085347" y="4474397"/>
            <a:ext cx="7093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5" name="Connector: Elbow 34">
            <a:extLst>
              <a:ext uri="{FF2B5EF4-FFF2-40B4-BE49-F238E27FC236}">
                <a16:creationId xmlns:a16="http://schemas.microsoft.com/office/drawing/2014/main" id="{7A6CFF55-797E-AA1E-1D18-18182F53C408}"/>
              </a:ext>
            </a:extLst>
          </p:cNvPr>
          <p:cNvCxnSpPr>
            <a:cxnSpLocks/>
            <a:stCxn id="25" idx="2"/>
            <a:endCxn id="14" idx="0"/>
          </p:cNvCxnSpPr>
          <p:nvPr/>
        </p:nvCxnSpPr>
        <p:spPr>
          <a:xfrm rot="16200000" flipH="1">
            <a:off x="3860885" y="3029085"/>
            <a:ext cx="1053179" cy="41861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F25744A2-0119-B9A2-D4E7-45129C95F1C5}"/>
              </a:ext>
            </a:extLst>
          </p:cNvPr>
          <p:cNvCxnSpPr>
            <a:stCxn id="18" idx="1"/>
            <a:endCxn id="14" idx="3"/>
          </p:cNvCxnSpPr>
          <p:nvPr/>
        </p:nvCxnSpPr>
        <p:spPr>
          <a:xfrm flipH="1">
            <a:off x="5145352" y="3890981"/>
            <a:ext cx="927992"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52F438-4CB9-998E-8DA1-5DCB6C26EE28}"/>
              </a:ext>
            </a:extLst>
          </p:cNvPr>
          <p:cNvCxnSpPr>
            <a:cxnSpLocks/>
            <a:stCxn id="32" idx="3"/>
            <a:endCxn id="14" idx="2"/>
          </p:cNvCxnSpPr>
          <p:nvPr/>
        </p:nvCxnSpPr>
        <p:spPr>
          <a:xfrm flipV="1">
            <a:off x="3302872" y="4016981"/>
            <a:ext cx="1293908" cy="871254"/>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C07EE8D1-6EF9-8686-508A-2CB7ACA9A476}"/>
              </a:ext>
            </a:extLst>
          </p:cNvPr>
          <p:cNvCxnSpPr>
            <a:cxnSpLocks/>
            <a:stCxn id="14" idx="1"/>
            <a:endCxn id="15" idx="3"/>
          </p:cNvCxnSpPr>
          <p:nvPr/>
        </p:nvCxnSpPr>
        <p:spPr>
          <a:xfrm rot="10800000">
            <a:off x="3461150" y="3570627"/>
            <a:ext cx="587059" cy="32035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987FACCF-D827-7A82-21A6-CD4277D49FE4}"/>
              </a:ext>
            </a:extLst>
          </p:cNvPr>
          <p:cNvSpPr txBox="1"/>
          <p:nvPr/>
        </p:nvSpPr>
        <p:spPr>
          <a:xfrm>
            <a:off x="3522315" y="3386251"/>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Reintentar/Avanzar</a:t>
            </a:r>
          </a:p>
        </p:txBody>
      </p:sp>
      <p:cxnSp>
        <p:nvCxnSpPr>
          <p:cNvPr id="40" name="Connector: Elbow 39">
            <a:extLst>
              <a:ext uri="{FF2B5EF4-FFF2-40B4-BE49-F238E27FC236}">
                <a16:creationId xmlns:a16="http://schemas.microsoft.com/office/drawing/2014/main" id="{36168B67-19D6-8B1A-C420-9C88B8F26B39}"/>
              </a:ext>
            </a:extLst>
          </p:cNvPr>
          <p:cNvCxnSpPr>
            <a:cxnSpLocks/>
            <a:stCxn id="15" idx="1"/>
            <a:endCxn id="12" idx="3"/>
          </p:cNvCxnSpPr>
          <p:nvPr/>
        </p:nvCxnSpPr>
        <p:spPr>
          <a:xfrm rot="10800000">
            <a:off x="1996397" y="2827399"/>
            <a:ext cx="367609" cy="74322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85A34F8B-0A59-D3E8-B755-0848AE3FFFF5}"/>
              </a:ext>
            </a:extLst>
          </p:cNvPr>
          <p:cNvCxnSpPr>
            <a:cxnSpLocks/>
            <a:stCxn id="15" idx="0"/>
            <a:endCxn id="16" idx="3"/>
          </p:cNvCxnSpPr>
          <p:nvPr/>
        </p:nvCxnSpPr>
        <p:spPr>
          <a:xfrm rot="5400000" flipH="1" flipV="1">
            <a:off x="2642683" y="3091685"/>
            <a:ext cx="622836" cy="83048"/>
          </a:xfrm>
          <a:prstGeom prst="bentConnector4">
            <a:avLst>
              <a:gd name="adj1" fmla="val 42775"/>
              <a:gd name="adj2" fmla="val 37526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95A982A-F6A0-9ED0-D900-6D01CC87BD22}"/>
              </a:ext>
            </a:extLst>
          </p:cNvPr>
          <p:cNvSpPr txBox="1"/>
          <p:nvPr/>
        </p:nvSpPr>
        <p:spPr>
          <a:xfrm>
            <a:off x="7336370" y="865363"/>
            <a:ext cx="4527540" cy="42712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Puede haber dos tipos de servicios que aprovechen la capacidad de Almacenar y Reenviar</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marcados como S&amp;F habilitados que informan de algún tipo de fallo sujeto a reintento (por ejemplo, indisponibilidad en el backend)</a:t>
            </a:r>
          </a:p>
          <a:p>
            <a:pPr marL="742950" marR="0" lvl="1" indent="-285750" algn="l" defTabSz="228600" rtl="0" eaLnBrk="1" fontAlgn="auto" latinLnBrk="0" hangingPunct="1">
              <a:lnSpc>
                <a:spcPct val="100000"/>
              </a:lnSpc>
              <a:spcBef>
                <a:spcPts val="0"/>
              </a:spcBef>
              <a:spcAft>
                <a:spcPts val="600"/>
              </a:spcAft>
              <a:buClrTx/>
              <a:buSzTx/>
              <a:buFont typeface="+mj-lt"/>
              <a:buAutoNum type="alphaLcPeriod"/>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Servicios específicos solicitados directamente por los usuarios (clientes o empleados) según lo programado para el futuro.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Ambos tipos de servicios enviarán al gestor de solicitudes la transacción pendiente con todos los datos relevantes para su almacenamiento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Según las reglas especificadas para cada tipo de transacción, el Procesador de Solicitudes decidirá cuándo y cuántas veces volver a intentarlo.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Las reglas pueden incluir prioridades de programación de transacciones, ciclos, eventos de disponibilidad del sistema, entre otros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Después, el procesador iniciará el reintento y el Enrutador de Solicitudes reenviará cada transacción al servicio empresarial correspondiente.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Habrá una consola de búsqueda y búsqueda para monitorizar las transacciones que aún están pendientes de reintentar, así como para fines administrativos.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servicios almacenados para reintentos no deberían formar parte de una transacción atómica. Estos tienen sus propios mecanismos de reintentos como parte de la gestión de transacciones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34A440E1-5FB7-F596-F85A-F13FD5841E6C}"/>
              </a:ext>
            </a:extLst>
          </p:cNvPr>
          <p:cNvSpPr/>
          <p:nvPr/>
        </p:nvSpPr>
        <p:spPr>
          <a:xfrm>
            <a:off x="1487901" y="3259855"/>
            <a:ext cx="67518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BE6CF04D-4082-300D-A262-1B6841E6036C}"/>
              </a:ext>
            </a:extLst>
          </p:cNvPr>
          <p:cNvSpPr/>
          <p:nvPr/>
        </p:nvSpPr>
        <p:spPr>
          <a:xfrm>
            <a:off x="2165278" y="3716397"/>
            <a:ext cx="671205"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5" name="Rectangle 44">
            <a:extLst>
              <a:ext uri="{FF2B5EF4-FFF2-40B4-BE49-F238E27FC236}">
                <a16:creationId xmlns:a16="http://schemas.microsoft.com/office/drawing/2014/main" id="{1E618077-0885-4322-C21D-B6B2BB038CC5}"/>
              </a:ext>
            </a:extLst>
          </p:cNvPr>
          <p:cNvSpPr/>
          <p:nvPr/>
        </p:nvSpPr>
        <p:spPr>
          <a:xfrm>
            <a:off x="3846599" y="4031826"/>
            <a:ext cx="663139"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C8B3DD11-68A4-9179-EEE2-D2B034E7F039}"/>
              </a:ext>
            </a:extLst>
          </p:cNvPr>
          <p:cNvSpPr/>
          <p:nvPr/>
        </p:nvSpPr>
        <p:spPr>
          <a:xfrm>
            <a:off x="4425299" y="2680459"/>
            <a:ext cx="64055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7" name="Rectangle 46">
            <a:extLst>
              <a:ext uri="{FF2B5EF4-FFF2-40B4-BE49-F238E27FC236}">
                <a16:creationId xmlns:a16="http://schemas.microsoft.com/office/drawing/2014/main" id="{FBD3B936-AFA9-0FC3-862A-AD2AE25A4AF4}"/>
              </a:ext>
            </a:extLst>
          </p:cNvPr>
          <p:cNvSpPr/>
          <p:nvPr/>
        </p:nvSpPr>
        <p:spPr>
          <a:xfrm>
            <a:off x="4255510" y="1533629"/>
            <a:ext cx="677651" cy="255058"/>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 o de terceros </a:t>
            </a:r>
          </a:p>
        </p:txBody>
      </p:sp>
      <p:cxnSp>
        <p:nvCxnSpPr>
          <p:cNvPr id="51" name="Connector: Elbow 50">
            <a:extLst>
              <a:ext uri="{FF2B5EF4-FFF2-40B4-BE49-F238E27FC236}">
                <a16:creationId xmlns:a16="http://schemas.microsoft.com/office/drawing/2014/main" id="{271DC1A0-4979-2841-6EC7-7B961A67B211}"/>
              </a:ext>
            </a:extLst>
          </p:cNvPr>
          <p:cNvCxnSpPr>
            <a:cxnSpLocks/>
            <a:stCxn id="25" idx="1"/>
            <a:endCxn id="13" idx="1"/>
          </p:cNvCxnSpPr>
          <p:nvPr/>
        </p:nvCxnSpPr>
        <p:spPr>
          <a:xfrm rot="10800000" flipV="1">
            <a:off x="736939" y="2585801"/>
            <a:ext cx="2892658" cy="993889"/>
          </a:xfrm>
          <a:prstGeom prst="bentConnector3">
            <a:avLst>
              <a:gd name="adj1" fmla="val 103484"/>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CEE23531-64BD-5427-122B-E8A5CEE91793}"/>
              </a:ext>
            </a:extLst>
          </p:cNvPr>
          <p:cNvSpPr txBox="1"/>
          <p:nvPr/>
        </p:nvSpPr>
        <p:spPr>
          <a:xfrm>
            <a:off x="1725585" y="2466209"/>
            <a:ext cx="690645" cy="152083"/>
          </a:xfrm>
          <a:prstGeom prst="rect">
            <a:avLst/>
          </a:prstGeom>
          <a:noFill/>
        </p:spPr>
        <p:txBody>
          <a:bodyPr wrap="non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b. Servicio programado</a:t>
            </a:r>
          </a:p>
        </p:txBody>
      </p:sp>
      <p:sp>
        <p:nvSpPr>
          <p:cNvPr id="53" name="Rectangle 52">
            <a:extLst>
              <a:ext uri="{FF2B5EF4-FFF2-40B4-BE49-F238E27FC236}">
                <a16:creationId xmlns:a16="http://schemas.microsoft.com/office/drawing/2014/main" id="{06F4E22C-CF52-5147-576B-4D62FB93365A}"/>
              </a:ext>
            </a:extLst>
          </p:cNvPr>
          <p:cNvSpPr/>
          <p:nvPr/>
        </p:nvSpPr>
        <p:spPr>
          <a:xfrm>
            <a:off x="7860146" y="5903481"/>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5" name="Rectangle 54">
            <a:extLst>
              <a:ext uri="{FF2B5EF4-FFF2-40B4-BE49-F238E27FC236}">
                <a16:creationId xmlns:a16="http://schemas.microsoft.com/office/drawing/2014/main" id="{F98BDC49-AFC3-2AA1-7439-42B6D37D76B0}"/>
              </a:ext>
            </a:extLst>
          </p:cNvPr>
          <p:cNvSpPr/>
          <p:nvPr/>
        </p:nvSpPr>
        <p:spPr>
          <a:xfrm>
            <a:off x="7860146" y="6137633"/>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7" name="Rectangle 56">
            <a:extLst>
              <a:ext uri="{FF2B5EF4-FFF2-40B4-BE49-F238E27FC236}">
                <a16:creationId xmlns:a16="http://schemas.microsoft.com/office/drawing/2014/main" id="{A5EAA37E-B3F0-ED35-C1D5-81601DE6786E}"/>
              </a:ext>
            </a:extLst>
          </p:cNvPr>
          <p:cNvSpPr/>
          <p:nvPr/>
        </p:nvSpPr>
        <p:spPr>
          <a:xfrm>
            <a:off x="7860145" y="6354058"/>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35367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1994A-72EA-653A-76EB-C6D2C62B8CB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49E8D3-9975-3272-F482-873BF017A3BA}"/>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B1C6998D-F4F3-3C23-6C28-EE7AC8C2F9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Gestión de APIs</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992002CC-C23B-CC26-7AF0-1FF1ACCED51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rPr>
              <a:t>Componentes principales del servicio de almacenamiento y reenvío</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4FCA2A7A-6178-37E2-3DEC-312BCEAFCDD2}"/>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B588AFC3-A03F-B252-6784-4A728125E791}"/>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385CA6CF-B63A-BE3B-9268-17AF1106592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680D9CF-5E76-E54E-789E-119D925413E7}"/>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71E30FDB-174B-F36B-9F98-8F4B08DA7432}"/>
              </a:ext>
            </a:extLst>
          </p:cNvPr>
          <p:cNvSpPr/>
          <p:nvPr/>
        </p:nvSpPr>
        <p:spPr>
          <a:xfrm>
            <a:off x="9095473" y="1041910"/>
            <a:ext cx="2880000" cy="14865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44" name="Rectangle 43">
            <a:extLst>
              <a:ext uri="{FF2B5EF4-FFF2-40B4-BE49-F238E27FC236}">
                <a16:creationId xmlns:a16="http://schemas.microsoft.com/office/drawing/2014/main" id="{911D4BE6-5BE4-3519-F18B-8BC10CCFCE93}"/>
              </a:ext>
            </a:extLst>
          </p:cNvPr>
          <p:cNvSpPr/>
          <p:nvPr/>
        </p:nvSpPr>
        <p:spPr>
          <a:xfrm>
            <a:off x="9095473" y="1234617"/>
            <a:ext cx="2880000" cy="19270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E84E6BF8-DBFE-F8F1-DCC4-2767CEA5CE11}"/>
              </a:ext>
            </a:extLst>
          </p:cNvPr>
          <p:cNvSpPr/>
          <p:nvPr/>
        </p:nvSpPr>
        <p:spPr bwMode="blackWhite">
          <a:xfrm>
            <a:off x="515364" y="3071837"/>
            <a:ext cx="11021979" cy="1741063"/>
          </a:xfrm>
          <a:prstGeom prst="rect">
            <a:avLst/>
          </a:prstGeom>
          <a:solidFill>
            <a:schemeClr val="bg1">
              <a:lumMod val="95000"/>
            </a:schemeClr>
          </a:solidFill>
          <a:ln w="19050">
            <a:solidFill>
              <a:schemeClr val="accent2"/>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srgbClr val="000000"/>
              </a:solidFill>
              <a:effectLst/>
              <a:uLnTx/>
              <a:uFillTx/>
              <a:latin typeface="Graphik"/>
              <a:ea typeface="+mn-ea"/>
              <a:cs typeface="+mn-cs"/>
            </a:endParaRPr>
          </a:p>
        </p:txBody>
      </p:sp>
      <p:sp>
        <p:nvSpPr>
          <p:cNvPr id="46" name="TextBox 9">
            <a:extLst>
              <a:ext uri="{FF2B5EF4-FFF2-40B4-BE49-F238E27FC236}">
                <a16:creationId xmlns:a16="http://schemas.microsoft.com/office/drawing/2014/main" id="{C346D15E-A162-ABD0-1F22-55047E14153F}"/>
              </a:ext>
            </a:extLst>
          </p:cNvPr>
          <p:cNvSpPr txBox="1"/>
          <p:nvPr/>
        </p:nvSpPr>
        <p:spPr bwMode="gray">
          <a:xfrm>
            <a:off x="1593163" y="276318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7" name="TextBox 10">
            <a:extLst>
              <a:ext uri="{FF2B5EF4-FFF2-40B4-BE49-F238E27FC236}">
                <a16:creationId xmlns:a16="http://schemas.microsoft.com/office/drawing/2014/main" id="{B979CE20-8911-2A20-FFE0-6393F4CEFE73}"/>
              </a:ext>
            </a:extLst>
          </p:cNvPr>
          <p:cNvSpPr txBox="1"/>
          <p:nvPr/>
        </p:nvSpPr>
        <p:spPr bwMode="gray">
          <a:xfrm>
            <a:off x="2891227" y="2759415"/>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8" name="TextBox 11">
            <a:extLst>
              <a:ext uri="{FF2B5EF4-FFF2-40B4-BE49-F238E27FC236}">
                <a16:creationId xmlns:a16="http://schemas.microsoft.com/office/drawing/2014/main" id="{0BB2A138-CB84-C21A-FEAE-C08EDED70B15}"/>
              </a:ext>
            </a:extLst>
          </p:cNvPr>
          <p:cNvSpPr txBox="1"/>
          <p:nvPr/>
        </p:nvSpPr>
        <p:spPr bwMode="gray">
          <a:xfrm>
            <a:off x="4137200" y="2751247"/>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49" name="TextBox 12">
            <a:extLst>
              <a:ext uri="{FF2B5EF4-FFF2-40B4-BE49-F238E27FC236}">
                <a16:creationId xmlns:a16="http://schemas.microsoft.com/office/drawing/2014/main" id="{EA72D4F9-07B7-6860-320C-0AF34B52DACD}"/>
              </a:ext>
            </a:extLst>
          </p:cNvPr>
          <p:cNvSpPr txBox="1"/>
          <p:nvPr/>
        </p:nvSpPr>
        <p:spPr bwMode="gray">
          <a:xfrm>
            <a:off x="5426213" y="2746902"/>
            <a:ext cx="1192833" cy="262957"/>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integración</a:t>
            </a:r>
          </a:p>
        </p:txBody>
      </p:sp>
      <p:sp>
        <p:nvSpPr>
          <p:cNvPr id="50" name="Rectangle 49">
            <a:extLst>
              <a:ext uri="{FF2B5EF4-FFF2-40B4-BE49-F238E27FC236}">
                <a16:creationId xmlns:a16="http://schemas.microsoft.com/office/drawing/2014/main" id="{1EA92EA2-7016-2044-F48C-1D80D1F090C1}"/>
              </a:ext>
            </a:extLst>
          </p:cNvPr>
          <p:cNvSpPr/>
          <p:nvPr/>
        </p:nvSpPr>
        <p:spPr bwMode="ltGray">
          <a:xfrm>
            <a:off x="1524376" y="4846504"/>
            <a:ext cx="2499305"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Infraestructura del sistema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1" u="none" strike="noStrike" kern="1200" cap="none" spc="0" normalizeH="0" baseline="0" noProof="0">
                <a:ln>
                  <a:noFill/>
                </a:ln>
                <a:solidFill>
                  <a:srgbClr val="FFFFFF"/>
                </a:solidFill>
                <a:effectLst/>
                <a:uLnTx/>
                <a:uFillTx/>
                <a:latin typeface="Graphik"/>
                <a:ea typeface="+mn-ea"/>
                <a:cs typeface="+mn-cs"/>
              </a:rPr>
              <a:t>(Servidores, Almacenamiento, Redes y SO)</a:t>
            </a:r>
            <a:endParaRPr kumimoji="0" lang="en-US" sz="900" b="0" i="1" u="none" strike="noStrike" kern="1200" cap="none" spc="0" normalizeH="0" baseline="0" noProof="0">
              <a:ln>
                <a:noFill/>
              </a:ln>
              <a:solidFill>
                <a:srgbClr val="FFFFFF"/>
              </a:solidFill>
              <a:effectLst/>
              <a:uLnTx/>
              <a:uFillTx/>
              <a:latin typeface="Graphik"/>
              <a:ea typeface="+mn-ea"/>
              <a:cs typeface="+mn-cs"/>
            </a:endParaRPr>
          </a:p>
        </p:txBody>
      </p:sp>
      <p:sp>
        <p:nvSpPr>
          <p:cNvPr id="51" name="TextBox 14">
            <a:extLst>
              <a:ext uri="{FF2B5EF4-FFF2-40B4-BE49-F238E27FC236}">
                <a16:creationId xmlns:a16="http://schemas.microsoft.com/office/drawing/2014/main" id="{2F5C206A-9436-051E-718F-3644A9A3B1AC}"/>
              </a:ext>
            </a:extLst>
          </p:cNvPr>
          <p:cNvSpPr txBox="1"/>
          <p:nvPr/>
        </p:nvSpPr>
        <p:spPr bwMode="blackWhite">
          <a:xfrm>
            <a:off x="5367980" y="3876522"/>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s" sz="900" dirty="0">
                <a:solidFill>
                  <a:srgbClr val="FFFFFF"/>
                </a:solidFill>
              </a:rPr>
              <a:t>Plataforma de Gestión de API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Despliegue y </a:t>
            </a:r>
            <a:r>
              <a:rPr lang="es" sz="900" dirty="0">
                <a:solidFill>
                  <a:srgbClr val="FFFFFF"/>
                </a:solidFill>
                <a:latin typeface="Graphik"/>
              </a:rPr>
              <a:t>O</a:t>
            </a:r>
            <a:r>
              <a:rPr kumimoji="0" lang="es" sz="900" b="0" i="0" u="none" strike="noStrike" kern="1200" cap="none" spc="0" normalizeH="0" baseline="0" noProof="0" dirty="0">
                <a:ln>
                  <a:noFill/>
                </a:ln>
                <a:solidFill>
                  <a:srgbClr val="FFFFFF"/>
                </a:solidFill>
                <a:effectLst/>
                <a:uLnTx/>
                <a:uFillTx/>
                <a:latin typeface="Graphik"/>
                <a:ea typeface="+mn-ea"/>
                <a:cs typeface="+mn-cs"/>
              </a:rPr>
              <a:t>peraciones</a:t>
            </a:r>
            <a:endParaRPr kumimoji="0" lang="en-U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52" name="TextBox 15">
            <a:extLst>
              <a:ext uri="{FF2B5EF4-FFF2-40B4-BE49-F238E27FC236}">
                <a16:creationId xmlns:a16="http://schemas.microsoft.com/office/drawing/2014/main" id="{79261E06-6156-86F8-6BCC-98D54E91E287}"/>
              </a:ext>
            </a:extLst>
          </p:cNvPr>
          <p:cNvSpPr txBox="1"/>
          <p:nvPr/>
        </p:nvSpPr>
        <p:spPr bwMode="blackWhite">
          <a:xfrm>
            <a:off x="2899814" y="3892430"/>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Diseño de API y Portal de Desarrolladores</a:t>
            </a:r>
          </a:p>
        </p:txBody>
      </p:sp>
      <p:sp>
        <p:nvSpPr>
          <p:cNvPr id="53" name="TextBox 19">
            <a:extLst>
              <a:ext uri="{FF2B5EF4-FFF2-40B4-BE49-F238E27FC236}">
                <a16:creationId xmlns:a16="http://schemas.microsoft.com/office/drawing/2014/main" id="{AFA414CC-C3B0-4FB4-4708-80334A03D304}"/>
              </a:ext>
            </a:extLst>
          </p:cNvPr>
          <p:cNvSpPr txBox="1"/>
          <p:nvPr/>
        </p:nvSpPr>
        <p:spPr bwMode="blackWhite">
          <a:xfrm>
            <a:off x="4133896" y="3884473"/>
            <a:ext cx="1155442" cy="752624"/>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Gestión del Ciclo de Vida de las API</a:t>
            </a:r>
          </a:p>
        </p:txBody>
      </p:sp>
      <p:sp>
        <p:nvSpPr>
          <p:cNvPr id="54" name="TextBox 20">
            <a:extLst>
              <a:ext uri="{FF2B5EF4-FFF2-40B4-BE49-F238E27FC236}">
                <a16:creationId xmlns:a16="http://schemas.microsoft.com/office/drawing/2014/main" id="{F426F305-3561-970D-3160-9ABFEFD48DCE}"/>
              </a:ext>
            </a:extLst>
          </p:cNvPr>
          <p:cNvSpPr txBox="1"/>
          <p:nvPr/>
        </p:nvSpPr>
        <p:spPr bwMode="blackWhite">
          <a:xfrm>
            <a:off x="1665730" y="3893005"/>
            <a:ext cx="1155442" cy="752400"/>
          </a:xfrm>
          <a:prstGeom prst="rect">
            <a:avLst/>
          </a:prstGeom>
          <a:solidFill>
            <a:schemeClr val="accent3">
              <a:lumMod val="40000"/>
              <a:lumOff val="60000"/>
            </a:schemeClr>
          </a:solidFill>
          <a:ln w="12700">
            <a:solidFill>
              <a:schemeClr val="accent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Análisis y Monetización de API</a:t>
            </a:r>
          </a:p>
        </p:txBody>
      </p:sp>
      <p:sp>
        <p:nvSpPr>
          <p:cNvPr id="55" name="Rectangle 54">
            <a:extLst>
              <a:ext uri="{FF2B5EF4-FFF2-40B4-BE49-F238E27FC236}">
                <a16:creationId xmlns:a16="http://schemas.microsoft.com/office/drawing/2014/main" id="{DB439624-1487-DD41-E175-79824C11CD26}"/>
              </a:ext>
            </a:extLst>
          </p:cNvPr>
          <p:cNvSpPr/>
          <p:nvPr/>
        </p:nvSpPr>
        <p:spPr bwMode="ltGray">
          <a:xfrm>
            <a:off x="4139084" y="4846930"/>
            <a:ext cx="2500227" cy="325805"/>
          </a:xfrm>
          <a:prstGeom prst="rect">
            <a:avLst/>
          </a:prstGeom>
          <a:solidFill>
            <a:schemeClr val="tx1">
              <a:lumMod val="50000"/>
              <a:lumOff val="50000"/>
            </a:schemeClr>
          </a:solidFill>
          <a:ln w="12700">
            <a:solidFill>
              <a:schemeClr val="bg1"/>
            </a:solidFill>
          </a:ln>
        </p:spPr>
        <p:txBody>
          <a:bodyPr wrap="non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Servicios de Infraestructura del Sistema</a:t>
            </a:r>
            <a:br>
              <a:rPr kumimoji="0" lang="en-US" sz="900" b="0" i="0" u="none" strike="noStrike" kern="1200" cap="none" spc="0" normalizeH="0" baseline="0" noProof="0" dirty="0">
                <a:ln>
                  <a:noFill/>
                </a:ln>
                <a:solidFill>
                  <a:srgbClr val="FFFFFF"/>
                </a:solidFill>
                <a:effectLst/>
                <a:uLnTx/>
                <a:uFillTx/>
                <a:latin typeface="Graphik"/>
                <a:ea typeface="+mn-ea"/>
                <a:cs typeface="+mn-cs"/>
              </a:rPr>
            </a:br>
            <a:r>
              <a:rPr kumimoji="0" lang="es" sz="900" b="0" i="0" u="none" strike="noStrike" kern="1200" cap="none" spc="0" normalizeH="0" baseline="0" noProof="0" dirty="0">
                <a:ln>
                  <a:noFill/>
                </a:ln>
                <a:solidFill>
                  <a:srgbClr val="FFFFFF"/>
                </a:solidFill>
                <a:effectLst/>
                <a:uLnTx/>
                <a:uFillTx/>
                <a:latin typeface="Graphik"/>
                <a:ea typeface="+mn-ea"/>
                <a:cs typeface="+mn-cs"/>
              </a:rPr>
              <a:t> (</a:t>
            </a:r>
            <a:r>
              <a:rPr kumimoji="0" lang="es" sz="900" b="0" i="1" u="none" strike="noStrike" kern="1200" cap="none" spc="0" normalizeH="0" baseline="0" noProof="0" dirty="0">
                <a:ln>
                  <a:noFill/>
                </a:ln>
                <a:solidFill>
                  <a:srgbClr val="FFFFFF"/>
                </a:solidFill>
                <a:effectLst/>
                <a:uLnTx/>
                <a:uFillTx/>
                <a:latin typeface="Graphik"/>
                <a:ea typeface="+mn-ea"/>
                <a:cs typeface="+mn-cs"/>
              </a:rPr>
              <a:t>IaaS) </a:t>
            </a:r>
          </a:p>
        </p:txBody>
      </p:sp>
      <p:sp>
        <p:nvSpPr>
          <p:cNvPr id="56" name="Rectangle 55">
            <a:extLst>
              <a:ext uri="{FF2B5EF4-FFF2-40B4-BE49-F238E27FC236}">
                <a16:creationId xmlns:a16="http://schemas.microsoft.com/office/drawing/2014/main" id="{AD081FA2-F7E5-3ED0-CD86-7DAA5EB1B47F}"/>
              </a:ext>
            </a:extLst>
          </p:cNvPr>
          <p:cNvSpPr/>
          <p:nvPr/>
        </p:nvSpPr>
        <p:spPr bwMode="gray">
          <a:xfrm>
            <a:off x="995784" y="5303241"/>
            <a:ext cx="2645667" cy="505560"/>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Registro de actividad</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Auditoría de usuarios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Reportajes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Analítica</a:t>
            </a:r>
          </a:p>
        </p:txBody>
      </p:sp>
      <p:cxnSp>
        <p:nvCxnSpPr>
          <p:cNvPr id="57" name="Elbow Connector 40">
            <a:extLst>
              <a:ext uri="{FF2B5EF4-FFF2-40B4-BE49-F238E27FC236}">
                <a16:creationId xmlns:a16="http://schemas.microsoft.com/office/drawing/2014/main" id="{08DB0554-275B-24EE-18F3-35877FF68487}"/>
              </a:ext>
            </a:extLst>
          </p:cNvPr>
          <p:cNvCxnSpPr>
            <a:cxnSpLocks/>
            <a:stCxn id="56" idx="1"/>
            <a:endCxn id="54" idx="1"/>
          </p:cNvCxnSpPr>
          <p:nvPr/>
        </p:nvCxnSpPr>
        <p:spPr bwMode="gray">
          <a:xfrm rot="10800000" flipH="1">
            <a:off x="995784" y="4269205"/>
            <a:ext cx="669946" cy="1286816"/>
          </a:xfrm>
          <a:prstGeom prst="bentConnector3">
            <a:avLst>
              <a:gd name="adj1" fmla="val -34122"/>
            </a:avLst>
          </a:prstGeom>
          <a:solidFill>
            <a:srgbClr val="00529B"/>
          </a:solidFill>
          <a:ln w="12700" cap="flat" cmpd="sng" algn="ctr">
            <a:solidFill>
              <a:schemeClr val="tx1"/>
            </a:solidFill>
            <a:prstDash val="sysDash"/>
            <a:round/>
            <a:headEnd type="none" w="med" len="med"/>
            <a:tailEnd type="triangle" w="med" len="med"/>
          </a:ln>
          <a:effectLst/>
        </p:spPr>
      </p:cxnSp>
      <p:sp>
        <p:nvSpPr>
          <p:cNvPr id="58" name="Rectangle 57">
            <a:extLst>
              <a:ext uri="{FF2B5EF4-FFF2-40B4-BE49-F238E27FC236}">
                <a16:creationId xmlns:a16="http://schemas.microsoft.com/office/drawing/2014/main" id="{E4918D27-F3B2-4A70-DB64-23347449C5C9}"/>
              </a:ext>
            </a:extLst>
          </p:cNvPr>
          <p:cNvSpPr/>
          <p:nvPr/>
        </p:nvSpPr>
        <p:spPr bwMode="gray">
          <a:xfrm>
            <a:off x="6952791" y="5004114"/>
            <a:ext cx="1607331" cy="404447"/>
          </a:xfrm>
          <a:prstGeom prst="rect">
            <a:avLst/>
          </a:prstGeom>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Nube vs. On-Prem vs. Híbrido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Topología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Automatización de despliegue</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Apoyo Operativo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Mejoras de plataforma</a:t>
            </a:r>
          </a:p>
          <a:p>
            <a:pPr marL="64789" marR="0" lvl="2" indent="-64789" algn="l" defTabSz="914400" rtl="0" eaLnBrk="1" fontAlgn="auto" latinLnBrk="0" hangingPunct="1">
              <a:lnSpc>
                <a:spcPct val="100000"/>
              </a:lnSpc>
              <a:spcBef>
                <a:spcPts val="0"/>
              </a:spcBef>
              <a:spcAft>
                <a:spcPts val="0"/>
              </a:spcAft>
              <a:buClr>
                <a:srgbClr val="00529B"/>
              </a:buClr>
              <a:buSzTx/>
              <a:buFont typeface="Arial" pitchFamily="34" charset="0"/>
              <a:buChar char="•"/>
              <a:tabLst/>
              <a:defRPr/>
            </a:pPr>
            <a:endParaRPr kumimoji="0" lang="en-US" sz="800" b="0" i="0" u="none" strike="noStrike" kern="1200" cap="none" spc="0" normalizeH="0" baseline="0" noProof="0">
              <a:ln>
                <a:noFill/>
              </a:ln>
              <a:solidFill>
                <a:srgbClr val="000000"/>
              </a:solidFill>
              <a:effectLst/>
              <a:uLnTx/>
              <a:uFillTx/>
              <a:latin typeface="Graphik"/>
              <a:ea typeface="+mn-ea"/>
              <a:cs typeface="+mn-cs"/>
            </a:endParaRPr>
          </a:p>
        </p:txBody>
      </p:sp>
      <p:sp>
        <p:nvSpPr>
          <p:cNvPr id="59" name="Rectangle 58">
            <a:extLst>
              <a:ext uri="{FF2B5EF4-FFF2-40B4-BE49-F238E27FC236}">
                <a16:creationId xmlns:a16="http://schemas.microsoft.com/office/drawing/2014/main" id="{85DA86A8-812D-E2E1-2069-2EE98D1D1651}"/>
              </a:ext>
            </a:extLst>
          </p:cNvPr>
          <p:cNvSpPr/>
          <p:nvPr/>
        </p:nvSpPr>
        <p:spPr bwMode="gray">
          <a:xfrm>
            <a:off x="3675456" y="2056781"/>
            <a:ext cx="1163460" cy="277624"/>
          </a:xfrm>
          <a:prstGeom prst="rect">
            <a:avLst/>
          </a:prstGeom>
        </p:spPr>
        <p:txBody>
          <a:bodyPr wrap="none" lIns="0" tIns="0" rIns="0" bIns="31099">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 a medida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Preempaquetado</a:t>
            </a:r>
          </a:p>
        </p:txBody>
      </p:sp>
      <p:sp>
        <p:nvSpPr>
          <p:cNvPr id="60" name="Rectangle 59">
            <a:extLst>
              <a:ext uri="{FF2B5EF4-FFF2-40B4-BE49-F238E27FC236}">
                <a16:creationId xmlns:a16="http://schemas.microsoft.com/office/drawing/2014/main" id="{F12F603D-4676-A92F-A3D6-2EF7D1D005D0}"/>
              </a:ext>
            </a:extLst>
          </p:cNvPr>
          <p:cNvSpPr/>
          <p:nvPr/>
        </p:nvSpPr>
        <p:spPr bwMode="gray">
          <a:xfrm>
            <a:off x="5965482" y="1853707"/>
            <a:ext cx="1974618" cy="555248"/>
          </a:xfrm>
          <a:prstGeom prst="rect">
            <a:avLst/>
          </a:prstGeom>
        </p:spPr>
        <p:txBody>
          <a:bodyPr wrap="square" lIns="0" tIns="0" rIns="0" bIns="6219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Desarrollo y publicación de APIs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versiones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Notificación de cambio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Incidencias</a:t>
            </a:r>
          </a:p>
        </p:txBody>
      </p:sp>
      <p:sp>
        <p:nvSpPr>
          <p:cNvPr id="62" name="Rectangle 61">
            <a:extLst>
              <a:ext uri="{FF2B5EF4-FFF2-40B4-BE49-F238E27FC236}">
                <a16:creationId xmlns:a16="http://schemas.microsoft.com/office/drawing/2014/main" id="{D8F1B22C-E8E0-EBD9-41DC-F4CB642DCAD4}"/>
              </a:ext>
            </a:extLst>
          </p:cNvPr>
          <p:cNvSpPr/>
          <p:nvPr/>
        </p:nvSpPr>
        <p:spPr bwMode="gray">
          <a:xfrm>
            <a:off x="960319" y="1431533"/>
            <a:ext cx="3015010" cy="910009"/>
          </a:xfrm>
          <a:prstGeom prst="rect">
            <a:avLst/>
          </a:prstGeom>
        </p:spPr>
        <p:txBody>
          <a:bodyPr wrap="square" lIns="62198"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Portal para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Registro y Administración de Desarrolladores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Documentación de API y Descubrimiento de Metadatos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Colaboración y gestión comunitaria</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Autosoporte del Desarrollador</a:t>
            </a:r>
          </a:p>
        </p:txBody>
      </p:sp>
      <p:sp>
        <p:nvSpPr>
          <p:cNvPr id="63" name="TextBox 29">
            <a:extLst>
              <a:ext uri="{FF2B5EF4-FFF2-40B4-BE49-F238E27FC236}">
                <a16:creationId xmlns:a16="http://schemas.microsoft.com/office/drawing/2014/main" id="{A0F61D78-8EF7-6F7D-6D53-42D9909A18A5}"/>
              </a:ext>
            </a:extLst>
          </p:cNvPr>
          <p:cNvSpPr txBox="1"/>
          <p:nvPr/>
        </p:nvSpPr>
        <p:spPr bwMode="blackWhite">
          <a:xfrm>
            <a:off x="1665731" y="3176667"/>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Gateway-APIs abiertas</a:t>
            </a:r>
          </a:p>
        </p:txBody>
      </p:sp>
      <p:sp>
        <p:nvSpPr>
          <p:cNvPr id="64" name="TextBox 10">
            <a:extLst>
              <a:ext uri="{FF2B5EF4-FFF2-40B4-BE49-F238E27FC236}">
                <a16:creationId xmlns:a16="http://schemas.microsoft.com/office/drawing/2014/main" id="{94429417-C504-9F37-9B95-C204BE8B2918}"/>
              </a:ext>
            </a:extLst>
          </p:cNvPr>
          <p:cNvSpPr txBox="1"/>
          <p:nvPr/>
        </p:nvSpPr>
        <p:spPr bwMode="gray">
          <a:xfrm>
            <a:off x="9095473" y="849202"/>
            <a:ext cx="2880000" cy="180000"/>
          </a:xfrm>
          <a:prstGeom prst="rect">
            <a:avLst/>
          </a:prstGeom>
          <a:solidFill>
            <a:schemeClr val="accent2"/>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Desarrollado a medida</a:t>
            </a:r>
            <a:r>
              <a:rPr kumimoji="0" lang="es" sz="600" b="0" i="0" u="none" strike="noStrike" kern="1200" cap="none" spc="0" normalizeH="0" baseline="0" noProof="0">
                <a:ln>
                  <a:noFill/>
                </a:ln>
                <a:solidFill>
                  <a:srgbClr val="FFFFFF"/>
                </a:solidFill>
                <a:effectLst/>
                <a:uLnTx/>
                <a:uFillTx/>
                <a:latin typeface="Graphik"/>
                <a:ea typeface="+mn-ea"/>
                <a:cs typeface="+mn-cs"/>
              </a:rPr>
              <a:t> / </a:t>
            </a:r>
            <a:r>
              <a:rPr kumimoji="0" lang="es" sz="800" b="0" i="0" u="none" strike="noStrike" kern="1200" cap="none" spc="0" normalizeH="0" baseline="0" noProof="0">
                <a:ln>
                  <a:noFill/>
                </a:ln>
                <a:solidFill>
                  <a:srgbClr val="FFFFFF"/>
                </a:solidFill>
                <a:effectLst/>
                <a:uLnTx/>
                <a:uFillTx/>
                <a:latin typeface="Graphik"/>
                <a:ea typeface="+mn-ea"/>
                <a:cs typeface="+mn-cs"/>
              </a:rPr>
              <a:t>preempaquetado</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5" name="TextBox 10">
            <a:extLst>
              <a:ext uri="{FF2B5EF4-FFF2-40B4-BE49-F238E27FC236}">
                <a16:creationId xmlns:a16="http://schemas.microsoft.com/office/drawing/2014/main" id="{67959346-4B6C-1043-5574-09C4C7520339}"/>
              </a:ext>
            </a:extLst>
          </p:cNvPr>
          <p:cNvSpPr txBox="1"/>
          <p:nvPr/>
        </p:nvSpPr>
        <p:spPr bwMode="gray">
          <a:xfrm>
            <a:off x="9095473" y="1427325"/>
            <a:ext cx="2880000" cy="180000"/>
          </a:xfrm>
          <a:prstGeom prst="rect">
            <a:avLst/>
          </a:prstGeom>
          <a:solidFill>
            <a:schemeClr val="tx1">
              <a:lumMod val="50000"/>
              <a:lumOff val="5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Infraestructura</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sp>
        <p:nvSpPr>
          <p:cNvPr id="66" name="Rechteck 31">
            <a:extLst>
              <a:ext uri="{FF2B5EF4-FFF2-40B4-BE49-F238E27FC236}">
                <a16:creationId xmlns:a16="http://schemas.microsoft.com/office/drawing/2014/main" id="{A94BFD07-34EB-008B-E46F-5A83AA3756E2}"/>
              </a:ext>
            </a:extLst>
          </p:cNvPr>
          <p:cNvSpPr/>
          <p:nvPr/>
        </p:nvSpPr>
        <p:spPr>
          <a:xfrm>
            <a:off x="7706809" y="1765503"/>
            <a:ext cx="2061971" cy="107721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Seguridad API y Gestión del Tráfico.</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Mediación, Enrutamiento y Orquestación</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Caché</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Gestión de QoS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Gestión y seguimiento de políticas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Cuotas y límites de tarifas</a:t>
            </a:r>
          </a:p>
          <a:p>
            <a:pPr marL="64789" marR="0" lvl="2" indent="-64789" algn="l" defTabSz="914400" rtl="0" eaLnBrk="1" fontAlgn="auto" latinLnBrk="0" hangingPunct="1">
              <a:lnSpc>
                <a:spcPct val="100000"/>
              </a:lnSpc>
              <a:spcBef>
                <a:spcPts val="0"/>
              </a:spcBef>
              <a:spcAft>
                <a:spcPts val="0"/>
              </a:spcAft>
              <a:buClr>
                <a:srgbClr val="000000"/>
              </a:buClr>
              <a:buSzTx/>
              <a:buFont typeface="Arial" pitchFamily="34" charset="0"/>
              <a:buChar char="•"/>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Control de acceso</a:t>
            </a:r>
          </a:p>
        </p:txBody>
      </p:sp>
      <p:sp>
        <p:nvSpPr>
          <p:cNvPr id="69" name="TextBox 29">
            <a:extLst>
              <a:ext uri="{FF2B5EF4-FFF2-40B4-BE49-F238E27FC236}">
                <a16:creationId xmlns:a16="http://schemas.microsoft.com/office/drawing/2014/main" id="{71FC9D21-CDA4-375A-7D54-EE2778A18909}"/>
              </a:ext>
            </a:extLst>
          </p:cNvPr>
          <p:cNvSpPr txBox="1"/>
          <p:nvPr/>
        </p:nvSpPr>
        <p:spPr bwMode="blackWhite">
          <a:xfrm>
            <a:off x="1663600" y="3434232"/>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Gateway-Partner API</a:t>
            </a:r>
          </a:p>
        </p:txBody>
      </p:sp>
      <p:sp>
        <p:nvSpPr>
          <p:cNvPr id="70" name="TextBox 29">
            <a:extLst>
              <a:ext uri="{FF2B5EF4-FFF2-40B4-BE49-F238E27FC236}">
                <a16:creationId xmlns:a16="http://schemas.microsoft.com/office/drawing/2014/main" id="{E6C1FA95-B8F5-02F4-A230-EE7F108937AE}"/>
              </a:ext>
            </a:extLst>
          </p:cNvPr>
          <p:cNvSpPr txBox="1"/>
          <p:nvPr/>
        </p:nvSpPr>
        <p:spPr bwMode="blackWhite">
          <a:xfrm>
            <a:off x="1663600" y="3668764"/>
            <a:ext cx="4857690" cy="17600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 – APIs internas</a:t>
            </a:r>
          </a:p>
        </p:txBody>
      </p:sp>
      <p:sp>
        <p:nvSpPr>
          <p:cNvPr id="71" name="TextBox 15">
            <a:extLst>
              <a:ext uri="{FF2B5EF4-FFF2-40B4-BE49-F238E27FC236}">
                <a16:creationId xmlns:a16="http://schemas.microsoft.com/office/drawing/2014/main" id="{C8931C50-8916-86A6-23E1-92A650A6EFCD}"/>
              </a:ext>
            </a:extLst>
          </p:cNvPr>
          <p:cNvSpPr txBox="1"/>
          <p:nvPr/>
        </p:nvSpPr>
        <p:spPr bwMode="blackWhite">
          <a:xfrm>
            <a:off x="6661237" y="3197007"/>
            <a:ext cx="1092138"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Marketplace</a:t>
            </a:r>
          </a:p>
        </p:txBody>
      </p:sp>
      <p:sp>
        <p:nvSpPr>
          <p:cNvPr id="72" name="TextBox 15">
            <a:extLst>
              <a:ext uri="{FF2B5EF4-FFF2-40B4-BE49-F238E27FC236}">
                <a16:creationId xmlns:a16="http://schemas.microsoft.com/office/drawing/2014/main" id="{52D747CC-D279-6CBA-88AE-831F1288764E}"/>
              </a:ext>
            </a:extLst>
          </p:cNvPr>
          <p:cNvSpPr txBox="1"/>
          <p:nvPr/>
        </p:nvSpPr>
        <p:spPr bwMode="blackWhite">
          <a:xfrm>
            <a:off x="7910612" y="3192068"/>
            <a:ext cx="1155442" cy="752626"/>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API Sandbox</a:t>
            </a:r>
          </a:p>
        </p:txBody>
      </p:sp>
      <p:cxnSp>
        <p:nvCxnSpPr>
          <p:cNvPr id="73" name="Elbow Connector 33">
            <a:extLst>
              <a:ext uri="{FF2B5EF4-FFF2-40B4-BE49-F238E27FC236}">
                <a16:creationId xmlns:a16="http://schemas.microsoft.com/office/drawing/2014/main" id="{7DA5432F-9B87-4AFC-EE2F-168E217A45CE}"/>
              </a:ext>
            </a:extLst>
          </p:cNvPr>
          <p:cNvCxnSpPr>
            <a:cxnSpLocks/>
            <a:stCxn id="58" idx="1"/>
            <a:endCxn id="51" idx="3"/>
          </p:cNvCxnSpPr>
          <p:nvPr/>
        </p:nvCxnSpPr>
        <p:spPr bwMode="gray">
          <a:xfrm rot="10800000">
            <a:off x="6523423" y="4252722"/>
            <a:ext cx="429369" cy="953616"/>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74" name="TextBox 15">
            <a:extLst>
              <a:ext uri="{FF2B5EF4-FFF2-40B4-BE49-F238E27FC236}">
                <a16:creationId xmlns:a16="http://schemas.microsoft.com/office/drawing/2014/main" id="{D35E02FA-5334-8D14-463D-F120AA98CFDF}"/>
              </a:ext>
            </a:extLst>
          </p:cNvPr>
          <p:cNvSpPr txBox="1"/>
          <p:nvPr/>
        </p:nvSpPr>
        <p:spPr bwMode="blackWhite">
          <a:xfrm>
            <a:off x="9233352" y="3192068"/>
            <a:ext cx="2121059" cy="1607549"/>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75" name="Rectangle 74">
            <a:extLst>
              <a:ext uri="{FF2B5EF4-FFF2-40B4-BE49-F238E27FC236}">
                <a16:creationId xmlns:a16="http://schemas.microsoft.com/office/drawing/2014/main" id="{8AD44557-1AB0-F66A-F8A9-6C0E5AE45E22}"/>
              </a:ext>
            </a:extLst>
          </p:cNvPr>
          <p:cNvSpPr/>
          <p:nvPr/>
        </p:nvSpPr>
        <p:spPr>
          <a:xfrm>
            <a:off x="9244323" y="4572216"/>
            <a:ext cx="2105597" cy="15079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del tráfico</a:t>
            </a:r>
          </a:p>
        </p:txBody>
      </p:sp>
      <p:sp>
        <p:nvSpPr>
          <p:cNvPr id="76" name="Rectangle 75">
            <a:extLst>
              <a:ext uri="{FF2B5EF4-FFF2-40B4-BE49-F238E27FC236}">
                <a16:creationId xmlns:a16="http://schemas.microsoft.com/office/drawing/2014/main" id="{403EEB35-1C9F-61F2-E1F4-63D7A2967F39}"/>
              </a:ext>
            </a:extLst>
          </p:cNvPr>
          <p:cNvSpPr/>
          <p:nvPr/>
        </p:nvSpPr>
        <p:spPr>
          <a:xfrm>
            <a:off x="9228861" y="4347532"/>
            <a:ext cx="2121059"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Cifrado de datos</a:t>
            </a:r>
          </a:p>
        </p:txBody>
      </p:sp>
      <p:sp>
        <p:nvSpPr>
          <p:cNvPr id="77" name="Rectangle 76">
            <a:extLst>
              <a:ext uri="{FF2B5EF4-FFF2-40B4-BE49-F238E27FC236}">
                <a16:creationId xmlns:a16="http://schemas.microsoft.com/office/drawing/2014/main" id="{B1DA9A0E-E4FC-5AC9-8FC2-1A789BA257EA}"/>
              </a:ext>
            </a:extLst>
          </p:cNvPr>
          <p:cNvSpPr/>
          <p:nvPr/>
        </p:nvSpPr>
        <p:spPr>
          <a:xfrm>
            <a:off x="9244323" y="4116072"/>
            <a:ext cx="2105597" cy="14695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Validación de mensajes</a:t>
            </a:r>
          </a:p>
        </p:txBody>
      </p:sp>
      <p:sp>
        <p:nvSpPr>
          <p:cNvPr id="78" name="Rectangle 77">
            <a:extLst>
              <a:ext uri="{FF2B5EF4-FFF2-40B4-BE49-F238E27FC236}">
                <a16:creationId xmlns:a16="http://schemas.microsoft.com/office/drawing/2014/main" id="{80F7AEE4-DC96-0A64-B833-51CB647789F0}"/>
              </a:ext>
            </a:extLst>
          </p:cNvPr>
          <p:cNvSpPr/>
          <p:nvPr/>
        </p:nvSpPr>
        <p:spPr>
          <a:xfrm>
            <a:off x="9257281" y="3887906"/>
            <a:ext cx="2097130" cy="15501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basados en contenido</a:t>
            </a:r>
          </a:p>
        </p:txBody>
      </p:sp>
      <p:sp>
        <p:nvSpPr>
          <p:cNvPr id="79" name="Rectangle 78">
            <a:extLst>
              <a:ext uri="{FF2B5EF4-FFF2-40B4-BE49-F238E27FC236}">
                <a16:creationId xmlns:a16="http://schemas.microsoft.com/office/drawing/2014/main" id="{90F7C8F7-ACF2-64C8-0DCE-92293158EF9E}"/>
              </a:ext>
            </a:extLst>
          </p:cNvPr>
          <p:cNvSpPr/>
          <p:nvPr/>
        </p:nvSpPr>
        <p:spPr>
          <a:xfrm>
            <a:off x="9252790" y="3669123"/>
            <a:ext cx="2097130" cy="1491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Seguimiento de identidad</a:t>
            </a:r>
          </a:p>
        </p:txBody>
      </p:sp>
      <p:sp>
        <p:nvSpPr>
          <p:cNvPr id="80" name="Rectangle 79">
            <a:extLst>
              <a:ext uri="{FF2B5EF4-FFF2-40B4-BE49-F238E27FC236}">
                <a16:creationId xmlns:a16="http://schemas.microsoft.com/office/drawing/2014/main" id="{16F5AAFF-CF28-CB8D-E423-19475FB70775}"/>
              </a:ext>
            </a:extLst>
          </p:cNvPr>
          <p:cNvSpPr/>
          <p:nvPr/>
        </p:nvSpPr>
        <p:spPr>
          <a:xfrm>
            <a:off x="9240825" y="3462222"/>
            <a:ext cx="2097130" cy="18071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 y autorización</a:t>
            </a:r>
          </a:p>
        </p:txBody>
      </p:sp>
      <p:sp>
        <p:nvSpPr>
          <p:cNvPr id="81" name="TextBox 15">
            <a:extLst>
              <a:ext uri="{FF2B5EF4-FFF2-40B4-BE49-F238E27FC236}">
                <a16:creationId xmlns:a16="http://schemas.microsoft.com/office/drawing/2014/main" id="{BF74835B-A3E6-8971-66E8-F38A507DA6DC}"/>
              </a:ext>
            </a:extLst>
          </p:cNvPr>
          <p:cNvSpPr txBox="1"/>
          <p:nvPr/>
        </p:nvSpPr>
        <p:spPr bwMode="blackWhite">
          <a:xfrm>
            <a:off x="9254275" y="3200622"/>
            <a:ext cx="1155442" cy="222531"/>
          </a:xfrm>
          <a:prstGeom prst="rect">
            <a:avLst/>
          </a:prstGeom>
          <a:solidFill>
            <a:schemeClr val="accent3">
              <a:lumMod val="40000"/>
              <a:lumOff val="60000"/>
            </a:schemeClr>
          </a:solidFill>
          <a:ln>
            <a:solidFill>
              <a:schemeClr val="accent1"/>
            </a:solidFill>
          </a:ln>
        </p:spPr>
        <p:style>
          <a:lnRef idx="2">
            <a:schemeClr val="accent5">
              <a:shade val="15000"/>
            </a:schemeClr>
          </a:lnRef>
          <a:fillRef idx="1">
            <a:schemeClr val="accent5"/>
          </a:fillRef>
          <a:effectRef idx="0">
            <a:schemeClr val="accent5"/>
          </a:effectRef>
          <a:fontRef idx="minor">
            <a:schemeClr val="lt1"/>
          </a:fontRef>
        </p:style>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1000" b="0" i="0" u="none" strike="noStrike" kern="1200" cap="none" spc="0" normalizeH="0" baseline="0" noProof="0">
                <a:ln>
                  <a:noFill/>
                </a:ln>
                <a:solidFill>
                  <a:srgbClr val="FFFFFF"/>
                </a:solidFill>
                <a:effectLst/>
                <a:uLnTx/>
                <a:uFillTx/>
                <a:latin typeface="Graphik"/>
                <a:ea typeface="+mn-ea"/>
                <a:cs typeface="+mn-cs"/>
              </a:rPr>
              <a:t>Seguridad</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82" name="Rectangle 81">
            <a:extLst>
              <a:ext uri="{FF2B5EF4-FFF2-40B4-BE49-F238E27FC236}">
                <a16:creationId xmlns:a16="http://schemas.microsoft.com/office/drawing/2014/main" id="{048ABF54-24F8-868F-D391-347A3057D00F}"/>
              </a:ext>
            </a:extLst>
          </p:cNvPr>
          <p:cNvSpPr/>
          <p:nvPr/>
        </p:nvSpPr>
        <p:spPr>
          <a:xfrm>
            <a:off x="1587263" y="2501225"/>
            <a:ext cx="5031783" cy="179787"/>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highlight>
                <a:srgbClr val="F2F2F2"/>
              </a:highlight>
              <a:uLnTx/>
              <a:uFillTx/>
              <a:latin typeface="Graphik"/>
              <a:ea typeface="+mn-ea"/>
              <a:cs typeface="+mn-cs"/>
            </a:endParaRPr>
          </a:p>
        </p:txBody>
      </p:sp>
      <p:pic>
        <p:nvPicPr>
          <p:cNvPr id="83" name="Picture 82">
            <a:extLst>
              <a:ext uri="{FF2B5EF4-FFF2-40B4-BE49-F238E27FC236}">
                <a16:creationId xmlns:a16="http://schemas.microsoft.com/office/drawing/2014/main" id="{CB294DBC-EC25-720E-9B4D-FC1728A1681A}"/>
              </a:ext>
            </a:extLst>
          </p:cNvPr>
          <p:cNvPicPr>
            <a:picLocks noChangeAspect="1"/>
          </p:cNvPicPr>
          <p:nvPr/>
        </p:nvPicPr>
        <p:blipFill>
          <a:blip r:embed="rId2"/>
          <a:stretch>
            <a:fillRect/>
          </a:stretch>
        </p:blipFill>
        <p:spPr>
          <a:xfrm>
            <a:off x="4016369" y="2556747"/>
            <a:ext cx="282726" cy="93327"/>
          </a:xfrm>
          <a:prstGeom prst="rect">
            <a:avLst/>
          </a:prstGeom>
        </p:spPr>
      </p:pic>
      <p:cxnSp>
        <p:nvCxnSpPr>
          <p:cNvPr id="84" name="Elbow Connector 38">
            <a:extLst>
              <a:ext uri="{FF2B5EF4-FFF2-40B4-BE49-F238E27FC236}">
                <a16:creationId xmlns:a16="http://schemas.microsoft.com/office/drawing/2014/main" id="{89D4C1AD-2511-A42F-915E-4D9696201687}"/>
              </a:ext>
            </a:extLst>
          </p:cNvPr>
          <p:cNvCxnSpPr>
            <a:cxnSpLocks/>
          </p:cNvCxnSpPr>
          <p:nvPr/>
        </p:nvCxnSpPr>
        <p:spPr bwMode="gray">
          <a:xfrm rot="5400000">
            <a:off x="3621438" y="2160856"/>
            <a:ext cx="425010" cy="692598"/>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85" name="Elbow Connector 37">
            <a:extLst>
              <a:ext uri="{FF2B5EF4-FFF2-40B4-BE49-F238E27FC236}">
                <a16:creationId xmlns:a16="http://schemas.microsoft.com/office/drawing/2014/main" id="{9C765434-4575-756B-6E7A-6CB7BE8A3282}"/>
              </a:ext>
            </a:extLst>
          </p:cNvPr>
          <p:cNvCxnSpPr>
            <a:cxnSpLocks/>
          </p:cNvCxnSpPr>
          <p:nvPr/>
        </p:nvCxnSpPr>
        <p:spPr bwMode="gray">
          <a:xfrm rot="16200000" flipH="1">
            <a:off x="4248508" y="2234334"/>
            <a:ext cx="416842" cy="553375"/>
          </a:xfrm>
          <a:prstGeom prst="bentConnector3">
            <a:avLst>
              <a:gd name="adj1" fmla="val 50000"/>
            </a:avLst>
          </a:prstGeom>
          <a:solidFill>
            <a:srgbClr val="00529B"/>
          </a:solidFill>
          <a:ln w="12700" cap="flat" cmpd="sng" algn="ctr">
            <a:solidFill>
              <a:schemeClr val="tx1"/>
            </a:solidFill>
            <a:prstDash val="sysDash"/>
            <a:round/>
            <a:headEnd type="none" w="med" len="med"/>
            <a:tailEnd type="triangle" w="med" len="med"/>
          </a:ln>
          <a:effectLst/>
        </p:spPr>
      </p:cxnSp>
      <p:sp>
        <p:nvSpPr>
          <p:cNvPr id="86" name="TextBox 10">
            <a:extLst>
              <a:ext uri="{FF2B5EF4-FFF2-40B4-BE49-F238E27FC236}">
                <a16:creationId xmlns:a16="http://schemas.microsoft.com/office/drawing/2014/main" id="{3F55E502-7898-D764-0AF3-0B154F520263}"/>
              </a:ext>
            </a:extLst>
          </p:cNvPr>
          <p:cNvSpPr txBox="1"/>
          <p:nvPr/>
        </p:nvSpPr>
        <p:spPr bwMode="gray">
          <a:xfrm>
            <a:off x="9095473" y="1601827"/>
            <a:ext cx="2880000" cy="180000"/>
          </a:xfrm>
          <a:prstGeom prst="rect">
            <a:avLst/>
          </a:prstGeom>
          <a:solidFill>
            <a:schemeClr val="accent4">
              <a:lumMod val="40000"/>
              <a:lumOff val="60000"/>
            </a:schemeClr>
          </a:solidFill>
          <a:ln w="12700">
            <a:solidFill>
              <a:schemeClr val="bg1"/>
            </a:solidFill>
          </a:ln>
        </p:spPr>
        <p:txBody>
          <a:bodyPr wrap="square" lIns="62198" tIns="62198" rIns="62198" bIns="62198" rtlCol="0" anchor="ct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FFFFFF"/>
                </a:solidFill>
                <a:effectLst/>
                <a:uLnTx/>
                <a:uFillTx/>
                <a:latin typeface="Graphik"/>
                <a:ea typeface="+mn-ea"/>
                <a:cs typeface="+mn-cs"/>
              </a:rPr>
              <a:t>Solo referencias</a:t>
            </a:r>
            <a:endParaRPr kumimoji="0" lang="en-US" sz="600" b="0" i="0" u="none" strike="noStrike" kern="1200" cap="none" spc="0" normalizeH="0" baseline="0" noProof="0">
              <a:ln>
                <a:noFill/>
              </a:ln>
              <a:solidFill>
                <a:srgbClr val="FFFFFF"/>
              </a:solidFill>
              <a:effectLst/>
              <a:uLnTx/>
              <a:uFillTx/>
              <a:latin typeface="Graphik"/>
              <a:ea typeface="+mn-ea"/>
              <a:cs typeface="+mn-cs"/>
            </a:endParaRPr>
          </a:p>
        </p:txBody>
      </p:sp>
      <p:cxnSp>
        <p:nvCxnSpPr>
          <p:cNvPr id="68" name="Elbow Connector 31">
            <a:extLst>
              <a:ext uri="{FF2B5EF4-FFF2-40B4-BE49-F238E27FC236}">
                <a16:creationId xmlns:a16="http://schemas.microsoft.com/office/drawing/2014/main" id="{D5C3FDDA-DDA8-FBAE-EE9D-DC6BCDE5C811}"/>
              </a:ext>
            </a:extLst>
          </p:cNvPr>
          <p:cNvCxnSpPr>
            <a:cxnSpLocks/>
          </p:cNvCxnSpPr>
          <p:nvPr/>
        </p:nvCxnSpPr>
        <p:spPr bwMode="gray">
          <a:xfrm rot="10800000" flipH="1" flipV="1">
            <a:off x="960317" y="1601827"/>
            <a:ext cx="1939495" cy="2382205"/>
          </a:xfrm>
          <a:prstGeom prst="bentConnector3">
            <a:avLst>
              <a:gd name="adj1" fmla="val -13017"/>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1" name="Elbow Connector 33">
            <a:extLst>
              <a:ext uri="{FF2B5EF4-FFF2-40B4-BE49-F238E27FC236}">
                <a16:creationId xmlns:a16="http://schemas.microsoft.com/office/drawing/2014/main" id="{BF694216-BFA0-7E66-264D-7B107E8FA3BA}"/>
              </a:ext>
            </a:extLst>
          </p:cNvPr>
          <p:cNvCxnSpPr>
            <a:cxnSpLocks/>
            <a:stCxn id="60" idx="1"/>
          </p:cNvCxnSpPr>
          <p:nvPr/>
        </p:nvCxnSpPr>
        <p:spPr bwMode="gray">
          <a:xfrm rot="10800000" flipV="1">
            <a:off x="5367642" y="2131330"/>
            <a:ext cx="597841" cy="1577339"/>
          </a:xfrm>
          <a:prstGeom prst="bentConnector2">
            <a:avLst/>
          </a:prstGeom>
          <a:solidFill>
            <a:srgbClr val="00529B"/>
          </a:solidFill>
          <a:ln w="12700" cap="flat" cmpd="sng" algn="ctr">
            <a:solidFill>
              <a:schemeClr val="tx1"/>
            </a:solidFill>
            <a:prstDash val="sysDash"/>
            <a:round/>
            <a:headEnd type="none" w="med" len="med"/>
            <a:tailEnd type="triangle" w="med" len="med"/>
          </a:ln>
          <a:effectLst/>
        </p:spPr>
      </p:cxnSp>
      <p:cxnSp>
        <p:nvCxnSpPr>
          <p:cNvPr id="67" name="Elbow Connector 33">
            <a:extLst>
              <a:ext uri="{FF2B5EF4-FFF2-40B4-BE49-F238E27FC236}">
                <a16:creationId xmlns:a16="http://schemas.microsoft.com/office/drawing/2014/main" id="{6CB52AD2-E5F7-FD40-76E0-4D298F50A057}"/>
              </a:ext>
            </a:extLst>
          </p:cNvPr>
          <p:cNvCxnSpPr>
            <a:cxnSpLocks/>
            <a:endCxn id="69" idx="3"/>
          </p:cNvCxnSpPr>
          <p:nvPr/>
        </p:nvCxnSpPr>
        <p:spPr bwMode="gray">
          <a:xfrm rot="10800000" flipV="1">
            <a:off x="6521291" y="2626091"/>
            <a:ext cx="1185519" cy="896146"/>
          </a:xfrm>
          <a:prstGeom prst="bentConnector3">
            <a:avLst>
              <a:gd name="adj1" fmla="val 90242"/>
            </a:avLst>
          </a:prstGeom>
          <a:solidFill>
            <a:srgbClr val="00529B"/>
          </a:solidFill>
          <a:ln w="12700" cap="flat" cmpd="sng" algn="ctr">
            <a:solidFill>
              <a:schemeClr val="tx1"/>
            </a:solidFill>
            <a:prstDash val="sysDash"/>
            <a:round/>
            <a:headEnd type="none" w="med" len="med"/>
            <a:tailEnd type="triangle" w="med" len="med"/>
          </a:ln>
          <a:effectLst/>
        </p:spPr>
      </p:cxnSp>
    </p:spTree>
    <p:extLst>
      <p:ext uri="{BB962C8B-B14F-4D97-AF65-F5344CB8AC3E}">
        <p14:creationId xmlns:p14="http://schemas.microsoft.com/office/powerpoint/2010/main" val="13305983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4FBB9-49CE-C366-BA52-E980AE6DA89C}"/>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A6C8A94-F9B2-DDD4-7EDC-FCEE29D5334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3782DD83-79A7-0F7C-6F2B-23103D1FD27A}"/>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6CB2919E-AA40-A1D5-F144-1B2B5257EF74}"/>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Flujo de trabajo y datos omnicanal</a:t>
            </a:r>
          </a:p>
        </p:txBody>
      </p:sp>
      <p:grpSp>
        <p:nvGrpSpPr>
          <p:cNvPr id="4" name="Group 3">
            <a:extLst>
              <a:ext uri="{FF2B5EF4-FFF2-40B4-BE49-F238E27FC236}">
                <a16:creationId xmlns:a16="http://schemas.microsoft.com/office/drawing/2014/main" id="{DDFEC414-85EB-1279-63E2-CCE7CD87D611}"/>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5CFB5343-A9B7-7661-6880-4DDEB6CAE98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D5C366E-2DD6-663A-ECF7-15F7F84B6A5B}"/>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AAA68AE-B81D-AC04-C987-6073064B199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FE4CC9C4-D5FE-88DA-FBC6-560161E37CA6}"/>
              </a:ext>
            </a:extLst>
          </p:cNvPr>
          <p:cNvSpPr/>
          <p:nvPr/>
        </p:nvSpPr>
        <p:spPr>
          <a:xfrm>
            <a:off x="2788542" y="2119646"/>
            <a:ext cx="3499922" cy="217048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4E5E5A0B-0634-4DB3-B0B8-1DD1DC4EE169}"/>
              </a:ext>
            </a:extLst>
          </p:cNvPr>
          <p:cNvSpPr/>
          <p:nvPr/>
        </p:nvSpPr>
        <p:spPr>
          <a:xfrm>
            <a:off x="3315299" y="1799997"/>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69ACF1B1-B23E-6B67-CA73-B27F910ED51D}"/>
              </a:ext>
            </a:extLst>
          </p:cNvPr>
          <p:cNvSpPr/>
          <p:nvPr/>
        </p:nvSpPr>
        <p:spPr>
          <a:xfrm>
            <a:off x="1317688" y="2756777"/>
            <a:ext cx="114117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2E0E6BAA-E2F4-FD8A-EE66-A205E4C17A10}"/>
              </a:ext>
            </a:extLst>
          </p:cNvPr>
          <p:cNvSpPr/>
          <p:nvPr/>
        </p:nvSpPr>
        <p:spPr>
          <a:xfrm>
            <a:off x="2940912"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1DE08F2-5A67-A2EB-8DAD-B75FBF37402A}"/>
              </a:ext>
            </a:extLst>
          </p:cNvPr>
          <p:cNvGrpSpPr/>
          <p:nvPr/>
        </p:nvGrpSpPr>
        <p:grpSpPr>
          <a:xfrm>
            <a:off x="5701222" y="2036475"/>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DA49B3D5-ABA9-304D-944F-2E6DF0EC368D}"/>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1B754C81-233D-82EE-F27B-2649C4E9200B}"/>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5559341B-DC03-222D-BBE3-C433C513C84E}"/>
              </a:ext>
            </a:extLst>
          </p:cNvPr>
          <p:cNvSpPr txBox="1"/>
          <p:nvPr/>
        </p:nvSpPr>
        <p:spPr>
          <a:xfrm>
            <a:off x="7308545" y="1413770"/>
            <a:ext cx="4406619" cy="335286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El Omnichannel Data Caching Service permite almacenar y recuperar datos capturados en los canales mediante API</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Los datos están asociados a cada flujo de trabajo omnicanal específico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Pero las pantallas de captura no tienen que corresponder 1:1 con los pasos del flujo de trabajo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Mecanismos apropiados a considerar para:</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Confirma los cambios cuando se completan las actividades y los datos se envían a los sistemas centrales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Datos de limpieza ya enviados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100" b="0" i="1" u="none" strike="noStrike" kern="1200" cap="none" spc="0" normalizeH="0" baseline="0" noProof="0" dirty="0">
                <a:ln>
                  <a:noFill/>
                </a:ln>
                <a:solidFill>
                  <a:srgbClr val="000000"/>
                </a:solidFill>
                <a:effectLst/>
                <a:uLnTx/>
                <a:uFillTx/>
                <a:latin typeface="Graphik"/>
                <a:ea typeface="+mn-ea"/>
                <a:cs typeface="+mn-cs"/>
              </a:rPr>
              <a:t>Se asume que habrá una herramienta de terceros para orquestar procesos de larga duración. Por ahora, se prefieren productos de flujo de trabajo ligeros (por ejemplo, Camunda, Appian, Temporal) frente a las herramientas empresariales de BPM</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E75B3729-20DC-4D27-B5E9-1BEA4C9833AF}"/>
              </a:ext>
            </a:extLst>
          </p:cNvPr>
          <p:cNvCxnSpPr>
            <a:cxnSpLocks/>
            <a:stCxn id="10" idx="2"/>
            <a:endCxn id="24" idx="1"/>
          </p:cNvCxnSpPr>
          <p:nvPr/>
        </p:nvCxnSpPr>
        <p:spPr>
          <a:xfrm rot="16200000" flipH="1">
            <a:off x="2257831" y="2675219"/>
            <a:ext cx="326038"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C97470BB-020E-5F97-8D7F-DDB35B90D090}"/>
              </a:ext>
            </a:extLst>
          </p:cNvPr>
          <p:cNvCxnSpPr>
            <a:cxnSpLocks/>
            <a:stCxn id="9" idx="2"/>
            <a:endCxn id="11" idx="0"/>
          </p:cNvCxnSpPr>
          <p:nvPr/>
        </p:nvCxnSpPr>
        <p:spPr>
          <a:xfrm rot="5400000">
            <a:off x="3560875" y="1979555"/>
            <a:ext cx="796761" cy="74181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E44311E-B482-D751-F32B-F155ED1BB13F}"/>
              </a:ext>
            </a:extLst>
          </p:cNvPr>
          <p:cNvCxnSpPr>
            <a:cxnSpLocks/>
            <a:stCxn id="11" idx="1"/>
            <a:endCxn id="10" idx="3"/>
          </p:cNvCxnSpPr>
          <p:nvPr/>
        </p:nvCxnSpPr>
        <p:spPr>
          <a:xfrm flipH="1">
            <a:off x="2458859" y="2892841"/>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7A885F2-BE1A-F9F5-1DB4-18CE53A2DF0D}"/>
              </a:ext>
            </a:extLst>
          </p:cNvPr>
          <p:cNvSpPr/>
          <p:nvPr/>
        </p:nvSpPr>
        <p:spPr>
          <a:xfrm>
            <a:off x="4406346" y="2748841"/>
            <a:ext cx="1294876"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Servicio de Caché de Datos Omnicanal</a:t>
            </a:r>
          </a:p>
        </p:txBody>
      </p:sp>
      <p:cxnSp>
        <p:nvCxnSpPr>
          <p:cNvPr id="23" name="Connector: Elbow 22">
            <a:extLst>
              <a:ext uri="{FF2B5EF4-FFF2-40B4-BE49-F238E27FC236}">
                <a16:creationId xmlns:a16="http://schemas.microsoft.com/office/drawing/2014/main" id="{DBADBDCB-BC08-857B-5D1A-8FE213AD239B}"/>
              </a:ext>
            </a:extLst>
          </p:cNvPr>
          <p:cNvCxnSpPr>
            <a:cxnSpLocks/>
            <a:stCxn id="9" idx="2"/>
            <a:endCxn id="22" idx="0"/>
          </p:cNvCxnSpPr>
          <p:nvPr/>
        </p:nvCxnSpPr>
        <p:spPr>
          <a:xfrm rot="16200000" flipH="1">
            <a:off x="4293592" y="1988648"/>
            <a:ext cx="796761" cy="72362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458C254B-48AC-F610-9B39-E259B3215509}"/>
              </a:ext>
            </a:extLst>
          </p:cNvPr>
          <p:cNvSpPr/>
          <p:nvPr/>
        </p:nvSpPr>
        <p:spPr>
          <a:xfrm>
            <a:off x="2953427" y="3226815"/>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1 del flujo de trabajo</a:t>
            </a:r>
          </a:p>
        </p:txBody>
      </p:sp>
      <p:sp>
        <p:nvSpPr>
          <p:cNvPr id="25" name="Rectangle 24">
            <a:extLst>
              <a:ext uri="{FF2B5EF4-FFF2-40B4-BE49-F238E27FC236}">
                <a16:creationId xmlns:a16="http://schemas.microsoft.com/office/drawing/2014/main" id="{BF4E537D-77E4-DBF6-C40D-3331131C3E01}"/>
              </a:ext>
            </a:extLst>
          </p:cNvPr>
          <p:cNvSpPr/>
          <p:nvPr/>
        </p:nvSpPr>
        <p:spPr>
          <a:xfrm>
            <a:off x="2953427" y="3576396"/>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6" name="Connector: Elbow 25">
            <a:extLst>
              <a:ext uri="{FF2B5EF4-FFF2-40B4-BE49-F238E27FC236}">
                <a16:creationId xmlns:a16="http://schemas.microsoft.com/office/drawing/2014/main" id="{92156FCD-B4AB-0AB7-323A-9FA6B58361F6}"/>
              </a:ext>
            </a:extLst>
          </p:cNvPr>
          <p:cNvCxnSpPr>
            <a:cxnSpLocks/>
            <a:stCxn id="10" idx="2"/>
            <a:endCxn id="25" idx="1"/>
          </p:cNvCxnSpPr>
          <p:nvPr/>
        </p:nvCxnSpPr>
        <p:spPr>
          <a:xfrm rot="16200000" flipH="1">
            <a:off x="2083041" y="2850009"/>
            <a:ext cx="675619"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ED9F03B-CA86-D080-90EC-ACA90E9F614F}"/>
              </a:ext>
            </a:extLst>
          </p:cNvPr>
          <p:cNvSpPr/>
          <p:nvPr/>
        </p:nvSpPr>
        <p:spPr>
          <a:xfrm>
            <a:off x="2953427" y="3925977"/>
            <a:ext cx="98780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Paso 2 del flujo de trabajo</a:t>
            </a:r>
          </a:p>
        </p:txBody>
      </p:sp>
      <p:cxnSp>
        <p:nvCxnSpPr>
          <p:cNvPr id="28" name="Connector: Elbow 27">
            <a:extLst>
              <a:ext uri="{FF2B5EF4-FFF2-40B4-BE49-F238E27FC236}">
                <a16:creationId xmlns:a16="http://schemas.microsoft.com/office/drawing/2014/main" id="{84F4FECC-8DCB-B653-A5AE-262CB2ECC820}"/>
              </a:ext>
            </a:extLst>
          </p:cNvPr>
          <p:cNvCxnSpPr>
            <a:cxnSpLocks/>
            <a:stCxn id="10" idx="2"/>
            <a:endCxn id="27" idx="1"/>
          </p:cNvCxnSpPr>
          <p:nvPr/>
        </p:nvCxnSpPr>
        <p:spPr>
          <a:xfrm rot="16200000" flipH="1">
            <a:off x="1908250" y="3024800"/>
            <a:ext cx="1025200" cy="1065153"/>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62E71B0-9585-6F8A-8585-AFF7AFD032DA}"/>
              </a:ext>
            </a:extLst>
          </p:cNvPr>
          <p:cNvSpPr/>
          <p:nvPr/>
        </p:nvSpPr>
        <p:spPr>
          <a:xfrm>
            <a:off x="4440646" y="3793267"/>
            <a:ext cx="1226276" cy="420329"/>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Servicios de acceso a datos omnicanal</a:t>
            </a:r>
          </a:p>
        </p:txBody>
      </p:sp>
      <p:sp>
        <p:nvSpPr>
          <p:cNvPr id="30" name="Rectangle 29">
            <a:extLst>
              <a:ext uri="{FF2B5EF4-FFF2-40B4-BE49-F238E27FC236}">
                <a16:creationId xmlns:a16="http://schemas.microsoft.com/office/drawing/2014/main" id="{5F749E06-8C66-5D1C-3CA3-4A520C8C2727}"/>
              </a:ext>
            </a:extLst>
          </p:cNvPr>
          <p:cNvSpPr/>
          <p:nvPr/>
        </p:nvSpPr>
        <p:spPr>
          <a:xfrm>
            <a:off x="4548145" y="4488722"/>
            <a:ext cx="1016798" cy="8196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OSE/Cloud</a:t>
            </a:r>
          </a:p>
        </p:txBody>
      </p:sp>
      <p:sp>
        <p:nvSpPr>
          <p:cNvPr id="31" name="Flowchart: Magnetic Disk 30">
            <a:extLst>
              <a:ext uri="{FF2B5EF4-FFF2-40B4-BE49-F238E27FC236}">
                <a16:creationId xmlns:a16="http://schemas.microsoft.com/office/drawing/2014/main" id="{D134E423-418F-BB0C-21BE-2EF5864A0E60}"/>
              </a:ext>
            </a:extLst>
          </p:cNvPr>
          <p:cNvSpPr/>
          <p:nvPr/>
        </p:nvSpPr>
        <p:spPr>
          <a:xfrm>
            <a:off x="4582380" y="4617341"/>
            <a:ext cx="942808" cy="544157"/>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Almacenamiento de datos omnicanal</a:t>
            </a:r>
          </a:p>
        </p:txBody>
      </p:sp>
      <p:cxnSp>
        <p:nvCxnSpPr>
          <p:cNvPr id="32" name="Straight Arrow Connector 31">
            <a:extLst>
              <a:ext uri="{FF2B5EF4-FFF2-40B4-BE49-F238E27FC236}">
                <a16:creationId xmlns:a16="http://schemas.microsoft.com/office/drawing/2014/main" id="{5EFDC3DE-329F-926D-3A36-183CE206740A}"/>
              </a:ext>
            </a:extLst>
          </p:cNvPr>
          <p:cNvCxnSpPr>
            <a:cxnSpLocks/>
          </p:cNvCxnSpPr>
          <p:nvPr/>
        </p:nvCxnSpPr>
        <p:spPr>
          <a:xfrm>
            <a:off x="5047044" y="3036841"/>
            <a:ext cx="0" cy="75642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D91F7481-C59E-ACF8-C34C-CC34028AC0F0}"/>
              </a:ext>
            </a:extLst>
          </p:cNvPr>
          <p:cNvCxnSpPr>
            <a:cxnSpLocks/>
          </p:cNvCxnSpPr>
          <p:nvPr/>
        </p:nvCxnSpPr>
        <p:spPr>
          <a:xfrm>
            <a:off x="5050042" y="4213596"/>
            <a:ext cx="1" cy="40374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6DE6717F-5E19-A652-F099-286B0629AB18}"/>
              </a:ext>
            </a:extLst>
          </p:cNvPr>
          <p:cNvSpPr/>
          <p:nvPr/>
        </p:nvSpPr>
        <p:spPr>
          <a:xfrm>
            <a:off x="5571719" y="255805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5" name="Rectangle 34">
            <a:extLst>
              <a:ext uri="{FF2B5EF4-FFF2-40B4-BE49-F238E27FC236}">
                <a16:creationId xmlns:a16="http://schemas.microsoft.com/office/drawing/2014/main" id="{5E0317C0-5817-234A-5ABB-CB5BFC89E639}"/>
              </a:ext>
            </a:extLst>
          </p:cNvPr>
          <p:cNvSpPr/>
          <p:nvPr/>
        </p:nvSpPr>
        <p:spPr>
          <a:xfrm>
            <a:off x="5411021" y="4506017"/>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36" name="Rectangle 35">
            <a:extLst>
              <a:ext uri="{FF2B5EF4-FFF2-40B4-BE49-F238E27FC236}">
                <a16:creationId xmlns:a16="http://schemas.microsoft.com/office/drawing/2014/main" id="{41D63737-5E59-5AEA-886F-DD03FC5D133B}"/>
              </a:ext>
            </a:extLst>
          </p:cNvPr>
          <p:cNvSpPr/>
          <p:nvPr/>
        </p:nvSpPr>
        <p:spPr>
          <a:xfrm>
            <a:off x="3781284" y="2541131"/>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a:t>
            </a:r>
          </a:p>
        </p:txBody>
      </p:sp>
      <p:sp>
        <p:nvSpPr>
          <p:cNvPr id="37" name="Rectangle 36">
            <a:extLst>
              <a:ext uri="{FF2B5EF4-FFF2-40B4-BE49-F238E27FC236}">
                <a16:creationId xmlns:a16="http://schemas.microsoft.com/office/drawing/2014/main" id="{5B594EDE-955C-DC9F-DE9A-29613569A6A9}"/>
              </a:ext>
            </a:extLst>
          </p:cNvPr>
          <p:cNvSpPr/>
          <p:nvPr/>
        </p:nvSpPr>
        <p:spPr>
          <a:xfrm>
            <a:off x="3317726" y="14900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38" name="Straight Arrow Connector 37">
            <a:extLst>
              <a:ext uri="{FF2B5EF4-FFF2-40B4-BE49-F238E27FC236}">
                <a16:creationId xmlns:a16="http://schemas.microsoft.com/office/drawing/2014/main" id="{DFA9C8F4-B086-BA77-68DC-8E10AC2354E3}"/>
              </a:ext>
            </a:extLst>
          </p:cNvPr>
          <p:cNvCxnSpPr>
            <a:cxnSpLocks/>
            <a:stCxn id="37" idx="2"/>
            <a:endCxn id="9" idx="0"/>
          </p:cNvCxnSpPr>
          <p:nvPr/>
        </p:nvCxnSpPr>
        <p:spPr>
          <a:xfrm flipH="1">
            <a:off x="4330160" y="1642154"/>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BCCA4AD6-8A0F-B0D7-EA94-4809ED873951}"/>
              </a:ext>
            </a:extLst>
          </p:cNvPr>
          <p:cNvSpPr/>
          <p:nvPr/>
        </p:nvSpPr>
        <p:spPr>
          <a:xfrm>
            <a:off x="5370565" y="365194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0" name="Rectangle 39">
            <a:extLst>
              <a:ext uri="{FF2B5EF4-FFF2-40B4-BE49-F238E27FC236}">
                <a16:creationId xmlns:a16="http://schemas.microsoft.com/office/drawing/2014/main" id="{08B95971-22F0-C87B-9FC4-220DD165B59E}"/>
              </a:ext>
            </a:extLst>
          </p:cNvPr>
          <p:cNvSpPr/>
          <p:nvPr/>
        </p:nvSpPr>
        <p:spPr>
          <a:xfrm>
            <a:off x="956106" y="255406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41" name="Rectangle 40">
            <a:extLst>
              <a:ext uri="{FF2B5EF4-FFF2-40B4-BE49-F238E27FC236}">
                <a16:creationId xmlns:a16="http://schemas.microsoft.com/office/drawing/2014/main" id="{959A8820-9B10-4BB2-5690-4A0629F2ED43}"/>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3" name="Rectangle 42">
            <a:extLst>
              <a:ext uri="{FF2B5EF4-FFF2-40B4-BE49-F238E27FC236}">
                <a16:creationId xmlns:a16="http://schemas.microsoft.com/office/drawing/2014/main" id="{D4B5C774-0A5F-0E5F-B233-9B9D32BE2897}"/>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45" name="Rectangle 44">
            <a:extLst>
              <a:ext uri="{FF2B5EF4-FFF2-40B4-BE49-F238E27FC236}">
                <a16:creationId xmlns:a16="http://schemas.microsoft.com/office/drawing/2014/main" id="{50650E2E-78F7-9184-9FE3-6EA7800A62F7}"/>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161744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310E6-66B3-30ED-CE60-A003822B557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E63D46-E8F4-4CD7-98DA-321570B8C866}"/>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F311FD0B-ADDD-F7F2-C3C4-A50A057062F3}"/>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Omnicanal</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A8EB0F61-5CB0-B6A2-CAF4-25A929242AB8}"/>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Aprobaciones</a:t>
            </a:r>
          </a:p>
        </p:txBody>
      </p:sp>
      <p:grpSp>
        <p:nvGrpSpPr>
          <p:cNvPr id="4" name="Group 3">
            <a:extLst>
              <a:ext uri="{FF2B5EF4-FFF2-40B4-BE49-F238E27FC236}">
                <a16:creationId xmlns:a16="http://schemas.microsoft.com/office/drawing/2014/main" id="{6E5489CC-7058-D604-4BD6-24CDD4379F78}"/>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A0AF132-7301-D357-3EF7-B0040C88D63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26E8E0AE-6D36-2B76-4A32-825726E146F5}"/>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4933252-8AAF-84D9-C524-E6DE5EC1EABE}"/>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003ECD63-634F-8FA5-354E-FD6B562CAFFC}"/>
              </a:ext>
            </a:extLst>
          </p:cNvPr>
          <p:cNvSpPr/>
          <p:nvPr/>
        </p:nvSpPr>
        <p:spPr>
          <a:xfrm>
            <a:off x="2404738" y="1942755"/>
            <a:ext cx="4253422" cy="269673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Marco 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 </a:t>
            </a:r>
          </a:p>
        </p:txBody>
      </p:sp>
      <p:sp>
        <p:nvSpPr>
          <p:cNvPr id="9" name="Rectangle 8">
            <a:extLst>
              <a:ext uri="{FF2B5EF4-FFF2-40B4-BE49-F238E27FC236}">
                <a16:creationId xmlns:a16="http://schemas.microsoft.com/office/drawing/2014/main" id="{5AA89045-3599-A308-C8F5-B87A8DF536EB}"/>
              </a:ext>
            </a:extLst>
          </p:cNvPr>
          <p:cNvSpPr/>
          <p:nvPr/>
        </p:nvSpPr>
        <p:spPr>
          <a:xfrm>
            <a:off x="4243715" y="1615171"/>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0" name="Rectangle 9">
            <a:extLst>
              <a:ext uri="{FF2B5EF4-FFF2-40B4-BE49-F238E27FC236}">
                <a16:creationId xmlns:a16="http://schemas.microsoft.com/office/drawing/2014/main" id="{5E31C9DA-70E0-E2CE-12A4-DC6399E3CDE3}"/>
              </a:ext>
            </a:extLst>
          </p:cNvPr>
          <p:cNvSpPr/>
          <p:nvPr/>
        </p:nvSpPr>
        <p:spPr>
          <a:xfrm>
            <a:off x="866692" y="3191383"/>
            <a:ext cx="1203059"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Herramienta de flujo de trabajo</a:t>
            </a:r>
          </a:p>
        </p:txBody>
      </p:sp>
      <p:sp>
        <p:nvSpPr>
          <p:cNvPr id="11" name="Rectangle 10">
            <a:extLst>
              <a:ext uri="{FF2B5EF4-FFF2-40B4-BE49-F238E27FC236}">
                <a16:creationId xmlns:a16="http://schemas.microsoft.com/office/drawing/2014/main" id="{35CA32BB-EAB2-3208-8933-39AB45F4B79C}"/>
              </a:ext>
            </a:extLst>
          </p:cNvPr>
          <p:cNvSpPr/>
          <p:nvPr/>
        </p:nvSpPr>
        <p:spPr>
          <a:xfrm>
            <a:off x="2551804" y="3183447"/>
            <a:ext cx="1294876"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de flujo de trabajo</a:t>
            </a:r>
          </a:p>
        </p:txBody>
      </p:sp>
      <p:grpSp>
        <p:nvGrpSpPr>
          <p:cNvPr id="12" name="Group 11">
            <a:extLst>
              <a:ext uri="{FF2B5EF4-FFF2-40B4-BE49-F238E27FC236}">
                <a16:creationId xmlns:a16="http://schemas.microsoft.com/office/drawing/2014/main" id="{429EC116-BCB6-841E-A85A-0508D56264F1}"/>
              </a:ext>
            </a:extLst>
          </p:cNvPr>
          <p:cNvGrpSpPr/>
          <p:nvPr/>
        </p:nvGrpSpPr>
        <p:grpSpPr>
          <a:xfrm>
            <a:off x="6400553" y="1854422"/>
            <a:ext cx="612000" cy="180000"/>
            <a:chOff x="2436880" y="1158097"/>
            <a:chExt cx="1080000" cy="360000"/>
          </a:xfrm>
          <a:solidFill>
            <a:schemeClr val="bg1"/>
          </a:solidFill>
        </p:grpSpPr>
        <p:sp>
          <p:nvSpPr>
            <p:cNvPr id="13" name="Rectangle 12">
              <a:extLst>
                <a:ext uri="{FF2B5EF4-FFF2-40B4-BE49-F238E27FC236}">
                  <a16:creationId xmlns:a16="http://schemas.microsoft.com/office/drawing/2014/main" id="{FD100289-C23C-B20E-5AC4-D4A5164ABA6C}"/>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14" name="Picture 13">
              <a:extLst>
                <a:ext uri="{FF2B5EF4-FFF2-40B4-BE49-F238E27FC236}">
                  <a16:creationId xmlns:a16="http://schemas.microsoft.com/office/drawing/2014/main" id="{C748D03F-A5FA-5ECE-018F-6ECBA4B8195A}"/>
                </a:ext>
              </a:extLst>
            </p:cNvPr>
            <p:cNvPicPr>
              <a:picLocks noChangeAspect="1"/>
            </p:cNvPicPr>
            <p:nvPr/>
          </p:nvPicPr>
          <p:blipFill>
            <a:blip r:embed="rId2"/>
            <a:stretch>
              <a:fillRect/>
            </a:stretch>
          </p:blipFill>
          <p:spPr>
            <a:xfrm>
              <a:off x="2470229" y="1215368"/>
              <a:ext cx="1013303" cy="245459"/>
            </a:xfrm>
            <a:prstGeom prst="rect">
              <a:avLst/>
            </a:prstGeom>
            <a:grpFill/>
          </p:spPr>
        </p:pic>
      </p:grpSp>
      <p:sp>
        <p:nvSpPr>
          <p:cNvPr id="15" name="TextBox 14">
            <a:extLst>
              <a:ext uri="{FF2B5EF4-FFF2-40B4-BE49-F238E27FC236}">
                <a16:creationId xmlns:a16="http://schemas.microsoft.com/office/drawing/2014/main" id="{E6D1EB12-FAD6-1786-0252-DAD5228576AE}"/>
              </a:ext>
            </a:extLst>
          </p:cNvPr>
          <p:cNvSpPr txBox="1"/>
          <p:nvPr/>
        </p:nvSpPr>
        <p:spPr>
          <a:xfrm>
            <a:off x="7333618" y="1408519"/>
            <a:ext cx="4307760" cy="4107378"/>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Según los permisos asignados al solicitante del servicio, puede ser necesario un proceso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ese caso, se intercepta la ejecución del servicio y se activa un flujo de trabajo de aprobación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Ese flujo está controlado por la herramienta de flujo de trabajo y su lista de tareas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El servicio se añade a la base de datos de Aprobaciones Pendientes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configuración de servicios y reglas está en el registro de servicios, administrado a través de una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herramienta de flujo de trabajo ejecuta el flujo de aprobación según las reglas especificadas para ese servicio (tipo de servicio, rol,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En algún momento el flujo de trabajo terminará con aprobación, denegación, escalado, etc., y finalmente se completará</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a:ln>
                  <a:noFill/>
                </a:ln>
                <a:solidFill>
                  <a:srgbClr val="000000"/>
                </a:solidFill>
                <a:effectLst/>
                <a:uLnTx/>
                <a:uFillTx/>
                <a:latin typeface="Graphik"/>
                <a:ea typeface="+mn-ea"/>
                <a:cs typeface="+mn-cs"/>
              </a:rPr>
              <a:t>La lista de aprobaciones pendientes puede ser controlada por la Consola</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Graphik"/>
              <a:ea typeface="+mn-ea"/>
              <a:cs typeface="+mn-cs"/>
            </a:endParaRPr>
          </a:p>
        </p:txBody>
      </p:sp>
      <p:cxnSp>
        <p:nvCxnSpPr>
          <p:cNvPr id="19" name="Connector: Elbow 18">
            <a:extLst>
              <a:ext uri="{FF2B5EF4-FFF2-40B4-BE49-F238E27FC236}">
                <a16:creationId xmlns:a16="http://schemas.microsoft.com/office/drawing/2014/main" id="{34EC113C-7528-5974-7836-38EB762AF321}"/>
              </a:ext>
            </a:extLst>
          </p:cNvPr>
          <p:cNvCxnSpPr>
            <a:cxnSpLocks/>
            <a:stCxn id="10" idx="2"/>
            <a:endCxn id="22" idx="1"/>
          </p:cNvCxnSpPr>
          <p:nvPr/>
        </p:nvCxnSpPr>
        <p:spPr>
          <a:xfrm rot="16200000" flipH="1">
            <a:off x="1882972" y="3064633"/>
            <a:ext cx="303630" cy="113313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A96276-8BCA-4AB3-0219-64CEE924D951}"/>
              </a:ext>
            </a:extLst>
          </p:cNvPr>
          <p:cNvCxnSpPr>
            <a:cxnSpLocks/>
            <a:stCxn id="11" idx="1"/>
            <a:endCxn id="10" idx="3"/>
          </p:cNvCxnSpPr>
          <p:nvPr/>
        </p:nvCxnSpPr>
        <p:spPr>
          <a:xfrm flipH="1">
            <a:off x="2069751" y="3327447"/>
            <a:ext cx="482053" cy="793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B93DD96E-9FCF-A67B-F458-0814AF7FBC8C}"/>
              </a:ext>
            </a:extLst>
          </p:cNvPr>
          <p:cNvCxnSpPr>
            <a:cxnSpLocks/>
            <a:stCxn id="9" idx="2"/>
            <a:endCxn id="26" idx="0"/>
          </p:cNvCxnSpPr>
          <p:nvPr/>
        </p:nvCxnSpPr>
        <p:spPr>
          <a:xfrm rot="5400000">
            <a:off x="4926267" y="2097615"/>
            <a:ext cx="662670" cy="1949"/>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3F119E17-5EAA-7CB4-6E72-468BF8D2C1AA}"/>
              </a:ext>
            </a:extLst>
          </p:cNvPr>
          <p:cNvSpPr/>
          <p:nvPr/>
        </p:nvSpPr>
        <p:spPr>
          <a:xfrm>
            <a:off x="2601352" y="3639013"/>
            <a:ext cx="1524711"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Flujo de Trabajo de Aprobación</a:t>
            </a:r>
          </a:p>
        </p:txBody>
      </p:sp>
      <p:sp>
        <p:nvSpPr>
          <p:cNvPr id="23" name="Rectangle 22">
            <a:extLst>
              <a:ext uri="{FF2B5EF4-FFF2-40B4-BE49-F238E27FC236}">
                <a16:creationId xmlns:a16="http://schemas.microsoft.com/office/drawing/2014/main" id="{46ABFDCF-5C27-DC4D-A6B1-4F0D6BD46491}"/>
              </a:ext>
            </a:extLst>
          </p:cNvPr>
          <p:cNvSpPr/>
          <p:nvPr/>
        </p:nvSpPr>
        <p:spPr>
          <a:xfrm>
            <a:off x="4246142" y="1305245"/>
            <a:ext cx="2029722" cy="15208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cxnSp>
        <p:nvCxnSpPr>
          <p:cNvPr id="24" name="Straight Arrow Connector 23">
            <a:extLst>
              <a:ext uri="{FF2B5EF4-FFF2-40B4-BE49-F238E27FC236}">
                <a16:creationId xmlns:a16="http://schemas.microsoft.com/office/drawing/2014/main" id="{DF5B066D-0FD2-DC65-CCF5-53C25F5790A9}"/>
              </a:ext>
            </a:extLst>
          </p:cNvPr>
          <p:cNvCxnSpPr>
            <a:cxnSpLocks/>
            <a:stCxn id="23" idx="2"/>
            <a:endCxn id="9" idx="0"/>
          </p:cNvCxnSpPr>
          <p:nvPr/>
        </p:nvCxnSpPr>
        <p:spPr>
          <a:xfrm flipH="1">
            <a:off x="5258576" y="1457328"/>
            <a:ext cx="2427" cy="15784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150C370-7D3A-CA4E-9531-3973B065A79E}"/>
              </a:ext>
            </a:extLst>
          </p:cNvPr>
          <p:cNvSpPr/>
          <p:nvPr/>
        </p:nvSpPr>
        <p:spPr>
          <a:xfrm>
            <a:off x="566998" y="2980723"/>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3ª parte</a:t>
            </a:r>
          </a:p>
        </p:txBody>
      </p:sp>
      <p:sp>
        <p:nvSpPr>
          <p:cNvPr id="26" name="Rectangle 25">
            <a:extLst>
              <a:ext uri="{FF2B5EF4-FFF2-40B4-BE49-F238E27FC236}">
                <a16:creationId xmlns:a16="http://schemas.microsoft.com/office/drawing/2014/main" id="{5E82B8B4-2181-8B0D-D91C-6C94C7543BCB}"/>
              </a:ext>
            </a:extLst>
          </p:cNvPr>
          <p:cNvSpPr/>
          <p:nvPr/>
        </p:nvSpPr>
        <p:spPr>
          <a:xfrm>
            <a:off x="4517893" y="2429924"/>
            <a:ext cx="1477468"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 de aprobación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habilitado</a:t>
            </a:r>
          </a:p>
        </p:txBody>
      </p:sp>
      <p:cxnSp>
        <p:nvCxnSpPr>
          <p:cNvPr id="27" name="Straight Arrow Connector 26">
            <a:extLst>
              <a:ext uri="{FF2B5EF4-FFF2-40B4-BE49-F238E27FC236}">
                <a16:creationId xmlns:a16="http://schemas.microsoft.com/office/drawing/2014/main" id="{3C592C6B-F395-1F62-F9C9-8F0D8C277CE8}"/>
              </a:ext>
            </a:extLst>
          </p:cNvPr>
          <p:cNvCxnSpPr>
            <a:cxnSpLocks/>
            <a:stCxn id="26" idx="1"/>
            <a:endCxn id="28" idx="3"/>
          </p:cNvCxnSpPr>
          <p:nvPr/>
        </p:nvCxnSpPr>
        <p:spPr>
          <a:xfrm flipH="1" flipV="1">
            <a:off x="3862504" y="2568357"/>
            <a:ext cx="655389" cy="5567"/>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C4091A0-991E-151F-D66C-55DC85B64924}"/>
              </a:ext>
            </a:extLst>
          </p:cNvPr>
          <p:cNvSpPr/>
          <p:nvPr/>
        </p:nvSpPr>
        <p:spPr>
          <a:xfrm>
            <a:off x="2551804" y="2438867"/>
            <a:ext cx="131070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FFFFFF"/>
                </a:solidFill>
                <a:latin typeface="Graphik"/>
              </a:rPr>
              <a:t>Servicio de control de aprobaciones</a:t>
            </a:r>
            <a:endParaRPr kumimoji="0" lang="es" sz="900" b="0" i="0" u="none" strike="noStrike" kern="1200" cap="none" spc="0" normalizeH="0" baseline="0" noProof="0" dirty="0">
              <a:ln>
                <a:noFill/>
              </a:ln>
              <a:solidFill>
                <a:srgbClr val="FFFFFF"/>
              </a:solidFill>
              <a:effectLst/>
              <a:uLnTx/>
              <a:uFillTx/>
              <a:latin typeface="Graphik"/>
              <a:ea typeface="+mn-ea"/>
              <a:cs typeface="+mn-cs"/>
            </a:endParaRPr>
          </a:p>
        </p:txBody>
      </p:sp>
      <p:sp>
        <p:nvSpPr>
          <p:cNvPr id="29" name="Rectangle 28">
            <a:extLst>
              <a:ext uri="{FF2B5EF4-FFF2-40B4-BE49-F238E27FC236}">
                <a16:creationId xmlns:a16="http://schemas.microsoft.com/office/drawing/2014/main" id="{8ACCFB92-CC49-AF41-B1D5-3609AED5ACDF}"/>
              </a:ext>
            </a:extLst>
          </p:cNvPr>
          <p:cNvSpPr/>
          <p:nvPr/>
        </p:nvSpPr>
        <p:spPr>
          <a:xfrm>
            <a:off x="3525941" y="2234672"/>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cxnSp>
        <p:nvCxnSpPr>
          <p:cNvPr id="30" name="Straight Arrow Connector 29">
            <a:extLst>
              <a:ext uri="{FF2B5EF4-FFF2-40B4-BE49-F238E27FC236}">
                <a16:creationId xmlns:a16="http://schemas.microsoft.com/office/drawing/2014/main" id="{89F23DBB-9610-25A1-3F82-DBCF4C849211}"/>
              </a:ext>
            </a:extLst>
          </p:cNvPr>
          <p:cNvCxnSpPr>
            <a:cxnSpLocks/>
            <a:stCxn id="28" idx="2"/>
            <a:endCxn id="11" idx="0"/>
          </p:cNvCxnSpPr>
          <p:nvPr/>
        </p:nvCxnSpPr>
        <p:spPr>
          <a:xfrm flipH="1">
            <a:off x="3199242" y="2697847"/>
            <a:ext cx="7912" cy="48560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Flowchart: Magnetic Disk 30">
            <a:extLst>
              <a:ext uri="{FF2B5EF4-FFF2-40B4-BE49-F238E27FC236}">
                <a16:creationId xmlns:a16="http://schemas.microsoft.com/office/drawing/2014/main" id="{A1408686-7608-D416-5DE2-E7EC30B691A1}"/>
              </a:ext>
            </a:extLst>
          </p:cNvPr>
          <p:cNvSpPr/>
          <p:nvPr/>
        </p:nvSpPr>
        <p:spPr>
          <a:xfrm>
            <a:off x="2999359" y="4114448"/>
            <a:ext cx="73609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Servicio</a:t>
            </a:r>
          </a:p>
        </p:txBody>
      </p:sp>
      <p:cxnSp>
        <p:nvCxnSpPr>
          <p:cNvPr id="32" name="Connector: Elbow 31">
            <a:extLst>
              <a:ext uri="{FF2B5EF4-FFF2-40B4-BE49-F238E27FC236}">
                <a16:creationId xmlns:a16="http://schemas.microsoft.com/office/drawing/2014/main" id="{F361D2CB-A7EB-1E33-AA7B-BAA03C8D15ED}"/>
              </a:ext>
            </a:extLst>
          </p:cNvPr>
          <p:cNvCxnSpPr>
            <a:cxnSpLocks/>
            <a:stCxn id="31" idx="1"/>
            <a:endCxn id="22" idx="2"/>
          </p:cNvCxnSpPr>
          <p:nvPr/>
        </p:nvCxnSpPr>
        <p:spPr>
          <a:xfrm rot="16200000" flipV="1">
            <a:off x="3271840" y="4018882"/>
            <a:ext cx="187435" cy="36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1556FC2-F940-C858-E69D-FB145DEE7623}"/>
              </a:ext>
            </a:extLst>
          </p:cNvPr>
          <p:cNvSpPr/>
          <p:nvPr/>
        </p:nvSpPr>
        <p:spPr>
          <a:xfrm>
            <a:off x="3846680" y="4842687"/>
            <a:ext cx="1120180" cy="40014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Consola de Administración de Aprobaciones</a:t>
            </a:r>
          </a:p>
        </p:txBody>
      </p:sp>
      <p:sp>
        <p:nvSpPr>
          <p:cNvPr id="34" name="Oval 33">
            <a:extLst>
              <a:ext uri="{FF2B5EF4-FFF2-40B4-BE49-F238E27FC236}">
                <a16:creationId xmlns:a16="http://schemas.microsoft.com/office/drawing/2014/main" id="{062F0B5F-31ED-F332-0D9C-303F08436930}"/>
              </a:ext>
            </a:extLst>
          </p:cNvPr>
          <p:cNvSpPr/>
          <p:nvPr/>
        </p:nvSpPr>
        <p:spPr>
          <a:xfrm>
            <a:off x="2926191" y="275238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dirty="0">
                <a:ln>
                  <a:noFill/>
                </a:ln>
                <a:solidFill>
                  <a:srgbClr val="000000"/>
                </a:solidFill>
                <a:effectLst/>
                <a:uLnTx/>
                <a:uFillTx/>
                <a:latin typeface="Graphik"/>
                <a:ea typeface="+mn-ea"/>
                <a:cs typeface="+mn-cs"/>
              </a:rPr>
              <a:t>Petición de</a:t>
            </a:r>
            <a:br>
              <a:rPr kumimoji="0" lang="es" sz="700" b="0" i="1" u="none" strike="noStrike" kern="1200" cap="none" spc="0" normalizeH="0" baseline="0" noProof="0" dirty="0">
                <a:ln>
                  <a:noFill/>
                </a:ln>
                <a:solidFill>
                  <a:srgbClr val="000000"/>
                </a:solidFill>
                <a:effectLst/>
                <a:uLnTx/>
                <a:uFillTx/>
                <a:latin typeface="Graphik"/>
                <a:ea typeface="+mn-ea"/>
                <a:cs typeface="+mn-cs"/>
              </a:rPr>
            </a:br>
            <a:r>
              <a:rPr kumimoji="0" lang="es" sz="700" b="0" i="1" u="none" strike="noStrike" kern="1200" cap="none" spc="0" normalizeH="0" baseline="0" noProof="0" dirty="0">
                <a:ln>
                  <a:noFill/>
                </a:ln>
                <a:solidFill>
                  <a:srgbClr val="000000"/>
                </a:solidFill>
                <a:effectLst/>
                <a:uLnTx/>
                <a:uFillTx/>
                <a:latin typeface="Graphik"/>
                <a:ea typeface="+mn-ea"/>
                <a:cs typeface="+mn-cs"/>
              </a:rPr>
              <a:t>	Aprobación</a:t>
            </a:r>
          </a:p>
        </p:txBody>
      </p:sp>
      <p:sp>
        <p:nvSpPr>
          <p:cNvPr id="35" name="Flowchart: Magnetic Disk 34">
            <a:extLst>
              <a:ext uri="{FF2B5EF4-FFF2-40B4-BE49-F238E27FC236}">
                <a16:creationId xmlns:a16="http://schemas.microsoft.com/office/drawing/2014/main" id="{569C7A25-60B8-6F8A-1A2D-898117492587}"/>
              </a:ext>
            </a:extLst>
          </p:cNvPr>
          <p:cNvSpPr/>
          <p:nvPr/>
        </p:nvSpPr>
        <p:spPr>
          <a:xfrm>
            <a:off x="4416214" y="4114073"/>
            <a:ext cx="840413" cy="471419"/>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Aprobaciones pendientes</a:t>
            </a:r>
          </a:p>
        </p:txBody>
      </p:sp>
      <p:cxnSp>
        <p:nvCxnSpPr>
          <p:cNvPr id="36" name="Connector: Elbow 35">
            <a:extLst>
              <a:ext uri="{FF2B5EF4-FFF2-40B4-BE49-F238E27FC236}">
                <a16:creationId xmlns:a16="http://schemas.microsoft.com/office/drawing/2014/main" id="{8889C62E-B451-8075-1661-630D26D323C4}"/>
              </a:ext>
            </a:extLst>
          </p:cNvPr>
          <p:cNvCxnSpPr>
            <a:cxnSpLocks/>
            <a:endCxn id="35" idx="1"/>
          </p:cNvCxnSpPr>
          <p:nvPr/>
        </p:nvCxnSpPr>
        <p:spPr>
          <a:xfrm>
            <a:off x="4137345" y="3850652"/>
            <a:ext cx="699076" cy="26342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D8B69B84-F2A8-2DA7-3A51-65D4AB28970B}"/>
              </a:ext>
            </a:extLst>
          </p:cNvPr>
          <p:cNvCxnSpPr>
            <a:cxnSpLocks/>
            <a:stCxn id="33" idx="0"/>
            <a:endCxn id="31" idx="3"/>
          </p:cNvCxnSpPr>
          <p:nvPr/>
        </p:nvCxnSpPr>
        <p:spPr>
          <a:xfrm rot="16200000" flipV="1">
            <a:off x="3758678" y="4194595"/>
            <a:ext cx="256820" cy="1039364"/>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8D5C3002-6BC1-598B-D068-4EAC9B9C87A9}"/>
              </a:ext>
            </a:extLst>
          </p:cNvPr>
          <p:cNvCxnSpPr>
            <a:cxnSpLocks/>
            <a:stCxn id="33" idx="0"/>
            <a:endCxn id="35" idx="3"/>
          </p:cNvCxnSpPr>
          <p:nvPr/>
        </p:nvCxnSpPr>
        <p:spPr>
          <a:xfrm rot="5400000" flipH="1" flipV="1">
            <a:off x="4492998" y="4499265"/>
            <a:ext cx="257195" cy="42965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8F64D468-F9A6-4F93-C2A3-5F7E305A11DF}"/>
              </a:ext>
            </a:extLst>
          </p:cNvPr>
          <p:cNvCxnSpPr>
            <a:cxnSpLocks/>
            <a:stCxn id="41" idx="0"/>
            <a:endCxn id="26" idx="2"/>
          </p:cNvCxnSpPr>
          <p:nvPr/>
        </p:nvCxnSpPr>
        <p:spPr>
          <a:xfrm rot="5400000" flipH="1" flipV="1">
            <a:off x="4727059" y="2881094"/>
            <a:ext cx="692738" cy="36639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50362ED1-AD2A-A8B6-5A84-B115121E452D}"/>
              </a:ext>
            </a:extLst>
          </p:cNvPr>
          <p:cNvSpPr/>
          <p:nvPr/>
        </p:nvSpPr>
        <p:spPr>
          <a:xfrm>
            <a:off x="4973463" y="2945772"/>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Aprobado</a:t>
            </a:r>
          </a:p>
        </p:txBody>
      </p:sp>
      <p:sp>
        <p:nvSpPr>
          <p:cNvPr id="41" name="Rectangle 40">
            <a:extLst>
              <a:ext uri="{FF2B5EF4-FFF2-40B4-BE49-F238E27FC236}">
                <a16:creationId xmlns:a16="http://schemas.microsoft.com/office/drawing/2014/main" id="{1ADEAD6D-FBA5-D928-C27B-FF8AC0831A83}"/>
              </a:ext>
            </a:extLst>
          </p:cNvPr>
          <p:cNvSpPr/>
          <p:nvPr/>
        </p:nvSpPr>
        <p:spPr>
          <a:xfrm>
            <a:off x="4396274" y="3410662"/>
            <a:ext cx="987910" cy="25898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Servicio de reinicio</a:t>
            </a:r>
          </a:p>
        </p:txBody>
      </p:sp>
      <p:cxnSp>
        <p:nvCxnSpPr>
          <p:cNvPr id="42" name="Connector: Elbow 41">
            <a:extLst>
              <a:ext uri="{FF2B5EF4-FFF2-40B4-BE49-F238E27FC236}">
                <a16:creationId xmlns:a16="http://schemas.microsoft.com/office/drawing/2014/main" id="{6CC4E52A-C0FF-B51C-52D5-4B42659D5F58}"/>
              </a:ext>
            </a:extLst>
          </p:cNvPr>
          <p:cNvCxnSpPr>
            <a:cxnSpLocks/>
            <a:stCxn id="22" idx="3"/>
            <a:endCxn id="41" idx="2"/>
          </p:cNvCxnSpPr>
          <p:nvPr/>
        </p:nvCxnSpPr>
        <p:spPr>
          <a:xfrm flipV="1">
            <a:off x="4126063" y="3669642"/>
            <a:ext cx="764166" cy="113371"/>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ED4A44BB-D91F-CFAF-09AD-3ACA97CBDB09}"/>
              </a:ext>
            </a:extLst>
          </p:cNvPr>
          <p:cNvSpPr/>
          <p:nvPr/>
        </p:nvSpPr>
        <p:spPr>
          <a:xfrm>
            <a:off x="5212094" y="3623394"/>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4" name="Rectangle 43">
            <a:extLst>
              <a:ext uri="{FF2B5EF4-FFF2-40B4-BE49-F238E27FC236}">
                <a16:creationId xmlns:a16="http://schemas.microsoft.com/office/drawing/2014/main" id="{5BE15280-6367-3131-FE24-944AB4464BCD}"/>
              </a:ext>
            </a:extLst>
          </p:cNvPr>
          <p:cNvSpPr/>
          <p:nvPr/>
        </p:nvSpPr>
        <p:spPr>
          <a:xfrm>
            <a:off x="3579490" y="2892391"/>
            <a:ext cx="684752" cy="30665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Tercera parte por determinar</a:t>
            </a:r>
          </a:p>
        </p:txBody>
      </p:sp>
      <p:sp>
        <p:nvSpPr>
          <p:cNvPr id="45" name="Rectangle 44">
            <a:extLst>
              <a:ext uri="{FF2B5EF4-FFF2-40B4-BE49-F238E27FC236}">
                <a16:creationId xmlns:a16="http://schemas.microsoft.com/office/drawing/2014/main" id="{5E875308-79E7-36EA-01D6-C871E21EF968}"/>
              </a:ext>
            </a:extLst>
          </p:cNvPr>
          <p:cNvSpPr/>
          <p:nvPr/>
        </p:nvSpPr>
        <p:spPr>
          <a:xfrm>
            <a:off x="3621805" y="3441649"/>
            <a:ext cx="600122" cy="22251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lvl="0" algn="ctr">
              <a:defRPr/>
            </a:pPr>
            <a:r>
              <a:rPr lang="es" sz="700" dirty="0">
                <a:solidFill>
                  <a:srgbClr val="FFFFFF"/>
                </a:solidFill>
              </a:rPr>
              <a:t>Componente customizado</a:t>
            </a:r>
          </a:p>
        </p:txBody>
      </p:sp>
      <p:sp>
        <p:nvSpPr>
          <p:cNvPr id="46" name="Rectangle 45">
            <a:extLst>
              <a:ext uri="{FF2B5EF4-FFF2-40B4-BE49-F238E27FC236}">
                <a16:creationId xmlns:a16="http://schemas.microsoft.com/office/drawing/2014/main" id="{2421EF01-9813-31F2-0312-5AB9E4673719}"/>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48" name="Rectangle 47">
            <a:extLst>
              <a:ext uri="{FF2B5EF4-FFF2-40B4-BE49-F238E27FC236}">
                <a16:creationId xmlns:a16="http://schemas.microsoft.com/office/drawing/2014/main" id="{CC8FE61D-061E-FFAA-E407-E8F14DA5FE7C}"/>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50" name="Rectangle 49">
            <a:extLst>
              <a:ext uri="{FF2B5EF4-FFF2-40B4-BE49-F238E27FC236}">
                <a16:creationId xmlns:a16="http://schemas.microsoft.com/office/drawing/2014/main" id="{8B360A9E-73F7-8D03-4FCB-A9D1C659F789}"/>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0707001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9CDBB-F0E0-2F14-7C1B-CEADDBBCCF1E}"/>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C1E71D-CB98-EEDD-128F-D2B7567BB95C}"/>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D9BEAEB8-C642-85C2-6840-2E411FDC95FB}"/>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Observabilidad</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832531B3-69FA-C995-B096-1ADF736EB5E6}"/>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Monitorización | Detección | Respuesta</a:t>
            </a: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endParaRPr>
          </a:p>
        </p:txBody>
      </p:sp>
      <p:grpSp>
        <p:nvGrpSpPr>
          <p:cNvPr id="4" name="Group 3">
            <a:extLst>
              <a:ext uri="{FF2B5EF4-FFF2-40B4-BE49-F238E27FC236}">
                <a16:creationId xmlns:a16="http://schemas.microsoft.com/office/drawing/2014/main" id="{327A72FF-4358-A0E9-3130-F2F778548836}"/>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01607A77-3310-DF9C-5A85-9A3FF270B686}"/>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7350D4A3-929F-BFD9-61F8-086B908190E3}"/>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0611FC-07EB-A4DB-4069-64977B5BA586}"/>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185">
            <a:extLst>
              <a:ext uri="{FF2B5EF4-FFF2-40B4-BE49-F238E27FC236}">
                <a16:creationId xmlns:a16="http://schemas.microsoft.com/office/drawing/2014/main" id="{C4A2FE3E-EB67-C438-7E51-1BA400CA5359}"/>
              </a:ext>
            </a:extLst>
          </p:cNvPr>
          <p:cNvSpPr/>
          <p:nvPr/>
        </p:nvSpPr>
        <p:spPr>
          <a:xfrm>
            <a:off x="5099685" y="3192145"/>
            <a:ext cx="1293495" cy="95377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rPr>
              <a:t>Respuesta:</a:t>
            </a:r>
          </a:p>
        </p:txBody>
      </p:sp>
      <p:sp>
        <p:nvSpPr>
          <p:cNvPr id="9" name="Rectangle 8">
            <a:extLst>
              <a:ext uri="{FF2B5EF4-FFF2-40B4-BE49-F238E27FC236}">
                <a16:creationId xmlns:a16="http://schemas.microsoft.com/office/drawing/2014/main" id="{D66BAC23-EA94-981D-ADC6-672B1A6873C9}"/>
              </a:ext>
            </a:extLst>
          </p:cNvPr>
          <p:cNvSpPr/>
          <p:nvPr/>
        </p:nvSpPr>
        <p:spPr>
          <a:xfrm>
            <a:off x="295910" y="4319905"/>
            <a:ext cx="1085850" cy="1931035"/>
          </a:xfrm>
          <a:prstGeom prst="rect">
            <a:avLst/>
          </a:prstGeom>
          <a:solidFill>
            <a:schemeClr val="bg1"/>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Monitorización actual y fuentes de datos</a:t>
            </a:r>
          </a:p>
        </p:txBody>
      </p:sp>
      <p:sp>
        <p:nvSpPr>
          <p:cNvPr id="10" name="Rectangle 9">
            <a:extLst>
              <a:ext uri="{FF2B5EF4-FFF2-40B4-BE49-F238E27FC236}">
                <a16:creationId xmlns:a16="http://schemas.microsoft.com/office/drawing/2014/main" id="{B5DF789B-70C5-1F61-19A7-A2407D52BCEC}"/>
              </a:ext>
            </a:extLst>
          </p:cNvPr>
          <p:cNvSpPr/>
          <p:nvPr/>
        </p:nvSpPr>
        <p:spPr>
          <a:xfrm>
            <a:off x="1506721" y="4083131"/>
            <a:ext cx="2667254" cy="23520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Casos de uso implementados</a:t>
            </a:r>
          </a:p>
        </p:txBody>
      </p:sp>
      <p:sp>
        <p:nvSpPr>
          <p:cNvPr id="11" name="Rectangle 10">
            <a:extLst>
              <a:ext uri="{FF2B5EF4-FFF2-40B4-BE49-F238E27FC236}">
                <a16:creationId xmlns:a16="http://schemas.microsoft.com/office/drawing/2014/main" id="{5E23D521-BEA0-A51F-DF6B-38228E9D9E47}"/>
              </a:ext>
            </a:extLst>
          </p:cNvPr>
          <p:cNvSpPr/>
          <p:nvPr/>
        </p:nvSpPr>
        <p:spPr>
          <a:xfrm>
            <a:off x="6038907" y="4228552"/>
            <a:ext cx="1880704" cy="206565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Monitorización</a:t>
            </a:r>
          </a:p>
        </p:txBody>
      </p:sp>
      <p:cxnSp>
        <p:nvCxnSpPr>
          <p:cNvPr id="13" name="Connector: Elbow 12">
            <a:extLst>
              <a:ext uri="{FF2B5EF4-FFF2-40B4-BE49-F238E27FC236}">
                <a16:creationId xmlns:a16="http://schemas.microsoft.com/office/drawing/2014/main" id="{EC026195-1890-7D80-AA72-09B880E8CCE0}"/>
              </a:ext>
            </a:extLst>
          </p:cNvPr>
          <p:cNvCxnSpPr>
            <a:stCxn id="14" idx="3"/>
            <a:endCxn id="17" idx="1"/>
          </p:cNvCxnSpPr>
          <p:nvPr/>
        </p:nvCxnSpPr>
        <p:spPr>
          <a:xfrm flipV="1">
            <a:off x="4173855" y="1297305"/>
            <a:ext cx="367665" cy="1270"/>
          </a:xfrm>
          <a:prstGeom prst="bentConnector3">
            <a:avLst>
              <a:gd name="adj1" fmla="val 50086"/>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8F782012-DE3E-EC43-B2D3-76461E27153D}"/>
              </a:ext>
            </a:extLst>
          </p:cNvPr>
          <p:cNvSpPr/>
          <p:nvPr/>
        </p:nvSpPr>
        <p:spPr>
          <a:xfrm>
            <a:off x="3032880" y="115435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Agente de reenvío completo</a:t>
            </a:r>
          </a:p>
        </p:txBody>
      </p:sp>
      <p:sp>
        <p:nvSpPr>
          <p:cNvPr id="15" name="Can 172">
            <a:extLst>
              <a:ext uri="{FF2B5EF4-FFF2-40B4-BE49-F238E27FC236}">
                <a16:creationId xmlns:a16="http://schemas.microsoft.com/office/drawing/2014/main" id="{8C46FE5B-98C0-AF74-BAB8-1E7FF38442F4}"/>
              </a:ext>
            </a:extLst>
          </p:cNvPr>
          <p:cNvSpPr/>
          <p:nvPr/>
        </p:nvSpPr>
        <p:spPr bwMode="auto">
          <a:xfrm>
            <a:off x="3139040" y="2559685"/>
            <a:ext cx="830980" cy="1264920"/>
          </a:xfrm>
          <a:prstGeom prst="can">
            <a:avLst>
              <a:gd name="adj" fmla="val 59089"/>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Núcleo de Monitorización</a:t>
            </a:r>
          </a:p>
        </p:txBody>
      </p:sp>
      <p:pic>
        <p:nvPicPr>
          <p:cNvPr id="16" name="Picture 2" descr="Logo negro de Splunk PNG transparente - StickPNG">
            <a:extLst>
              <a:ext uri="{FF2B5EF4-FFF2-40B4-BE49-F238E27FC236}">
                <a16:creationId xmlns:a16="http://schemas.microsoft.com/office/drawing/2014/main" id="{7AD926DE-3578-407C-9A1F-ECC655FB1E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4008823" y="3214923"/>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B2DA282B-D366-FF73-47CB-DE1065FA8ACA}"/>
              </a:ext>
            </a:extLst>
          </p:cNvPr>
          <p:cNvSpPr/>
          <p:nvPr/>
        </p:nvSpPr>
        <p:spPr>
          <a:xfrm>
            <a:off x="4541356" y="1125612"/>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Componente customizado de análisis sintáctico</a:t>
            </a:r>
          </a:p>
        </p:txBody>
      </p:sp>
      <p:sp>
        <p:nvSpPr>
          <p:cNvPr id="18" name="Rectangle 17">
            <a:extLst>
              <a:ext uri="{FF2B5EF4-FFF2-40B4-BE49-F238E27FC236}">
                <a16:creationId xmlns:a16="http://schemas.microsoft.com/office/drawing/2014/main" id="{73305762-E02A-DE4D-BAE3-33E0AF9F59B1}"/>
              </a:ext>
            </a:extLst>
          </p:cNvPr>
          <p:cNvSpPr/>
          <p:nvPr/>
        </p:nvSpPr>
        <p:spPr>
          <a:xfrm>
            <a:off x="3032770" y="1749982"/>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Indexador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(Event HUB)</a:t>
            </a:r>
          </a:p>
        </p:txBody>
      </p:sp>
      <p:cxnSp>
        <p:nvCxnSpPr>
          <p:cNvPr id="19" name="Connector: Elbow 140">
            <a:extLst>
              <a:ext uri="{FF2B5EF4-FFF2-40B4-BE49-F238E27FC236}">
                <a16:creationId xmlns:a16="http://schemas.microsoft.com/office/drawing/2014/main" id="{4AC1A47E-BDE8-BB21-261A-04BF451571F9}"/>
              </a:ext>
            </a:extLst>
          </p:cNvPr>
          <p:cNvCxnSpPr>
            <a:cxnSpLocks/>
            <a:stCxn id="18" idx="3"/>
            <a:endCxn id="15" idx="4"/>
          </p:cNvCxnSpPr>
          <p:nvPr/>
        </p:nvCxnSpPr>
        <p:spPr>
          <a:xfrm flipH="1">
            <a:off x="3970020" y="1893982"/>
            <a:ext cx="203921" cy="1298163"/>
          </a:xfrm>
          <a:prstGeom prst="bentConnector3">
            <a:avLst>
              <a:gd name="adj1" fmla="val -11210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FEF5F2F-AFA4-9CAB-8AA4-C81CB958D288}"/>
              </a:ext>
            </a:extLst>
          </p:cNvPr>
          <p:cNvCxnSpPr>
            <a:stCxn id="17" idx="2"/>
            <a:endCxn id="18" idx="0"/>
          </p:cNvCxnSpPr>
          <p:nvPr/>
        </p:nvCxnSpPr>
        <p:spPr>
          <a:xfrm rot="5400000">
            <a:off x="4142740" y="929005"/>
            <a:ext cx="281940" cy="136017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Can 172">
            <a:extLst>
              <a:ext uri="{FF2B5EF4-FFF2-40B4-BE49-F238E27FC236}">
                <a16:creationId xmlns:a16="http://schemas.microsoft.com/office/drawing/2014/main" id="{F30B8306-D284-2AF3-9FD5-8EF731A353B4}"/>
              </a:ext>
            </a:extLst>
          </p:cNvPr>
          <p:cNvSpPr/>
          <p:nvPr/>
        </p:nvSpPr>
        <p:spPr bwMode="auto">
          <a:xfrm>
            <a:off x="1011295" y="1153813"/>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p>
        </p:txBody>
      </p:sp>
      <p:cxnSp>
        <p:nvCxnSpPr>
          <p:cNvPr id="22" name="Straight Arrow Connector 21">
            <a:extLst>
              <a:ext uri="{FF2B5EF4-FFF2-40B4-BE49-F238E27FC236}">
                <a16:creationId xmlns:a16="http://schemas.microsoft.com/office/drawing/2014/main" id="{91D0DB44-B305-7F4E-42BA-790D3441D04B}"/>
              </a:ext>
            </a:extLst>
          </p:cNvPr>
          <p:cNvCxnSpPr>
            <a:stCxn id="21" idx="4"/>
          </p:cNvCxnSpPr>
          <p:nvPr/>
        </p:nvCxnSpPr>
        <p:spPr>
          <a:xfrm>
            <a:off x="1323956" y="1964616"/>
            <a:ext cx="422386" cy="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00B4551-FC33-92AF-516B-EF2992542A76}"/>
              </a:ext>
            </a:extLst>
          </p:cNvPr>
          <p:cNvSpPr/>
          <p:nvPr/>
        </p:nvSpPr>
        <p:spPr>
          <a:xfrm>
            <a:off x="2405250" y="4381451"/>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E2E</a:t>
            </a:r>
          </a:p>
        </p:txBody>
      </p:sp>
      <p:sp>
        <p:nvSpPr>
          <p:cNvPr id="24" name="Rectangle 23">
            <a:extLst>
              <a:ext uri="{FF2B5EF4-FFF2-40B4-BE49-F238E27FC236}">
                <a16:creationId xmlns:a16="http://schemas.microsoft.com/office/drawing/2014/main" id="{6B0AB8B0-51CE-8A5B-C542-5B8821F3A8B0}"/>
              </a:ext>
            </a:extLst>
          </p:cNvPr>
          <p:cNvSpPr/>
          <p:nvPr/>
        </p:nvSpPr>
        <p:spPr>
          <a:xfrm>
            <a:off x="1583638" y="565948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Feature flag</a:t>
            </a:r>
          </a:p>
        </p:txBody>
      </p:sp>
      <p:sp>
        <p:nvSpPr>
          <p:cNvPr id="25" name="Rectangle 24">
            <a:extLst>
              <a:ext uri="{FF2B5EF4-FFF2-40B4-BE49-F238E27FC236}">
                <a16:creationId xmlns:a16="http://schemas.microsoft.com/office/drawing/2014/main" id="{3C98096D-4D50-758F-D07B-5EB438C654B6}"/>
              </a:ext>
            </a:extLst>
          </p:cNvPr>
          <p:cNvSpPr/>
          <p:nvPr/>
        </p:nvSpPr>
        <p:spPr>
          <a:xfrm>
            <a:off x="3272234" y="522348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Operaciones de Folio</a:t>
            </a:r>
          </a:p>
        </p:txBody>
      </p:sp>
      <p:sp>
        <p:nvSpPr>
          <p:cNvPr id="26" name="Rectangle 25">
            <a:extLst>
              <a:ext uri="{FF2B5EF4-FFF2-40B4-BE49-F238E27FC236}">
                <a16:creationId xmlns:a16="http://schemas.microsoft.com/office/drawing/2014/main" id="{C490F54B-0B26-12B9-1BE0-D01D27CE0219}"/>
              </a:ext>
            </a:extLst>
          </p:cNvPr>
          <p:cNvSpPr/>
          <p:nvPr/>
        </p:nvSpPr>
        <p:spPr>
          <a:xfrm>
            <a:off x="3272235" y="4763536"/>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UUID</a:t>
            </a:r>
          </a:p>
        </p:txBody>
      </p:sp>
      <p:sp>
        <p:nvSpPr>
          <p:cNvPr id="27" name="Rectangle 26">
            <a:extLst>
              <a:ext uri="{FF2B5EF4-FFF2-40B4-BE49-F238E27FC236}">
                <a16:creationId xmlns:a16="http://schemas.microsoft.com/office/drawing/2014/main" id="{E8CD3EFF-2F11-1810-2959-541482EC0EEC}"/>
              </a:ext>
            </a:extLst>
          </p:cNvPr>
          <p:cNvSpPr/>
          <p:nvPr/>
        </p:nvSpPr>
        <p:spPr>
          <a:xfrm>
            <a:off x="1571661" y="4385096"/>
            <a:ext cx="774654"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a:t>
            </a:r>
          </a:p>
        </p:txBody>
      </p:sp>
      <p:sp>
        <p:nvSpPr>
          <p:cNvPr id="28" name="Rectangle 27">
            <a:extLst>
              <a:ext uri="{FF2B5EF4-FFF2-40B4-BE49-F238E27FC236}">
                <a16:creationId xmlns:a16="http://schemas.microsoft.com/office/drawing/2014/main" id="{7BFB05C9-EFC1-FC8F-C6CF-60F95465B174}"/>
              </a:ext>
            </a:extLst>
          </p:cNvPr>
          <p:cNvSpPr/>
          <p:nvPr/>
        </p:nvSpPr>
        <p:spPr>
          <a:xfrm>
            <a:off x="1571659" y="4767576"/>
            <a:ext cx="7618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Agregación de logs</a:t>
            </a:r>
          </a:p>
        </p:txBody>
      </p:sp>
      <p:sp>
        <p:nvSpPr>
          <p:cNvPr id="29" name="Rectangle 28">
            <a:extLst>
              <a:ext uri="{FF2B5EF4-FFF2-40B4-BE49-F238E27FC236}">
                <a16:creationId xmlns:a16="http://schemas.microsoft.com/office/drawing/2014/main" id="{1FEF22B6-C98B-1375-D9DB-143477FFFBFF}"/>
              </a:ext>
            </a:extLst>
          </p:cNvPr>
          <p:cNvSpPr/>
          <p:nvPr/>
        </p:nvSpPr>
        <p:spPr>
          <a:xfrm>
            <a:off x="3276335" y="438145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Registro operativo</a:t>
            </a:r>
          </a:p>
        </p:txBody>
      </p:sp>
      <p:sp>
        <p:nvSpPr>
          <p:cNvPr id="30" name="Rectangle 29">
            <a:extLst>
              <a:ext uri="{FF2B5EF4-FFF2-40B4-BE49-F238E27FC236}">
                <a16:creationId xmlns:a16="http://schemas.microsoft.com/office/drawing/2014/main" id="{355798B7-C814-3C32-C0D6-F4DF79120069}"/>
              </a:ext>
            </a:extLst>
          </p:cNvPr>
          <p:cNvSpPr/>
          <p:nvPr/>
        </p:nvSpPr>
        <p:spPr>
          <a:xfrm>
            <a:off x="1583639" y="521612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Trazabilidad distribuida</a:t>
            </a:r>
          </a:p>
        </p:txBody>
      </p:sp>
      <p:sp>
        <p:nvSpPr>
          <p:cNvPr id="31" name="Rectangle 30">
            <a:extLst>
              <a:ext uri="{FF2B5EF4-FFF2-40B4-BE49-F238E27FC236}">
                <a16:creationId xmlns:a16="http://schemas.microsoft.com/office/drawing/2014/main" id="{60998D4B-CCA6-DEF3-DB28-701C4B202869}"/>
              </a:ext>
            </a:extLst>
          </p:cNvPr>
          <p:cNvSpPr/>
          <p:nvPr/>
        </p:nvSpPr>
        <p:spPr>
          <a:xfrm>
            <a:off x="2405249" y="4765688"/>
            <a:ext cx="783429"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Health</a:t>
            </a:r>
          </a:p>
        </p:txBody>
      </p:sp>
      <p:sp>
        <p:nvSpPr>
          <p:cNvPr id="32" name="Rectangle 31">
            <a:extLst>
              <a:ext uri="{FF2B5EF4-FFF2-40B4-BE49-F238E27FC236}">
                <a16:creationId xmlns:a16="http://schemas.microsoft.com/office/drawing/2014/main" id="{D4327D75-FF20-9E0A-8F40-75B1A0BBF8A8}"/>
              </a:ext>
            </a:extLst>
          </p:cNvPr>
          <p:cNvSpPr/>
          <p:nvPr/>
        </p:nvSpPr>
        <p:spPr>
          <a:xfrm>
            <a:off x="2405249" y="5216124"/>
            <a:ext cx="801611"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800" dirty="0">
                <a:solidFill>
                  <a:srgbClr val="000000"/>
                </a:solidFill>
              </a:rPr>
              <a:t>Monitorización del estado</a:t>
            </a:r>
          </a:p>
        </p:txBody>
      </p:sp>
      <p:sp>
        <p:nvSpPr>
          <p:cNvPr id="33" name="Rectangle 32">
            <a:extLst>
              <a:ext uri="{FF2B5EF4-FFF2-40B4-BE49-F238E27FC236}">
                <a16:creationId xmlns:a16="http://schemas.microsoft.com/office/drawing/2014/main" id="{7B38AAB8-E682-C9C2-0479-50E145102ECB}"/>
              </a:ext>
            </a:extLst>
          </p:cNvPr>
          <p:cNvSpPr/>
          <p:nvPr/>
        </p:nvSpPr>
        <p:spPr>
          <a:xfrm>
            <a:off x="6171399" y="4590143"/>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Alertas</a:t>
            </a:r>
          </a:p>
        </p:txBody>
      </p:sp>
      <p:sp>
        <p:nvSpPr>
          <p:cNvPr id="34" name="Rectangle 33">
            <a:extLst>
              <a:ext uri="{FF2B5EF4-FFF2-40B4-BE49-F238E27FC236}">
                <a16:creationId xmlns:a16="http://schemas.microsoft.com/office/drawing/2014/main" id="{56B1FC81-D729-7DCB-CA23-654E14CE1D26}"/>
              </a:ext>
            </a:extLst>
          </p:cNvPr>
          <p:cNvSpPr/>
          <p:nvPr/>
        </p:nvSpPr>
        <p:spPr>
          <a:xfrm>
            <a:off x="7045570" y="4590143"/>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Análitica de metricas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BB919534-13B1-3B95-4281-0E9291CB0642}"/>
              </a:ext>
            </a:extLst>
          </p:cNvPr>
          <p:cNvSpPr/>
          <p:nvPr/>
        </p:nvSpPr>
        <p:spPr>
          <a:xfrm>
            <a:off x="6171398" y="5026405"/>
            <a:ext cx="809846"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Informes</a:t>
            </a:r>
          </a:p>
        </p:txBody>
      </p:sp>
      <p:sp>
        <p:nvSpPr>
          <p:cNvPr id="36" name="TextBox 35">
            <a:extLst>
              <a:ext uri="{FF2B5EF4-FFF2-40B4-BE49-F238E27FC236}">
                <a16:creationId xmlns:a16="http://schemas.microsoft.com/office/drawing/2014/main" id="{375C51A6-D782-67F4-A281-2FA1312F6E9B}"/>
              </a:ext>
            </a:extLst>
          </p:cNvPr>
          <p:cNvSpPr txBox="1"/>
          <p:nvPr/>
        </p:nvSpPr>
        <p:spPr>
          <a:xfrm>
            <a:off x="9459310" y="2354317"/>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37" name="Rectangle 36">
            <a:extLst>
              <a:ext uri="{FF2B5EF4-FFF2-40B4-BE49-F238E27FC236}">
                <a16:creationId xmlns:a16="http://schemas.microsoft.com/office/drawing/2014/main" id="{891413EE-7A27-2479-45CE-6541F88DA2EC}"/>
              </a:ext>
            </a:extLst>
          </p:cNvPr>
          <p:cNvSpPr/>
          <p:nvPr/>
        </p:nvSpPr>
        <p:spPr>
          <a:xfrm>
            <a:off x="1781121" y="1125633"/>
            <a:ext cx="844771" cy="342045"/>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Colector (API, Syslog, Agent)</a:t>
            </a:r>
          </a:p>
        </p:txBody>
      </p:sp>
      <p:cxnSp>
        <p:nvCxnSpPr>
          <p:cNvPr id="38" name="Straight Arrow Connector 37">
            <a:extLst>
              <a:ext uri="{FF2B5EF4-FFF2-40B4-BE49-F238E27FC236}">
                <a16:creationId xmlns:a16="http://schemas.microsoft.com/office/drawing/2014/main" id="{F656C774-DFBD-0EAA-8AC1-0B22E2FA835B}"/>
              </a:ext>
            </a:extLst>
          </p:cNvPr>
          <p:cNvCxnSpPr>
            <a:cxnSpLocks/>
            <a:stCxn id="10" idx="3"/>
            <a:endCxn id="72" idx="2"/>
          </p:cNvCxnSpPr>
          <p:nvPr/>
        </p:nvCxnSpPr>
        <p:spPr>
          <a:xfrm>
            <a:off x="4173975" y="5259133"/>
            <a:ext cx="1120129" cy="116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5B46E7F5-82FB-42FC-8FD7-026DE763FFD3}"/>
              </a:ext>
            </a:extLst>
          </p:cNvPr>
          <p:cNvSpPr/>
          <p:nvPr/>
        </p:nvSpPr>
        <p:spPr>
          <a:xfrm>
            <a:off x="6187573" y="5438184"/>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empresariales</a:t>
            </a:r>
          </a:p>
        </p:txBody>
      </p:sp>
      <p:sp>
        <p:nvSpPr>
          <p:cNvPr id="40" name="Rectangle 39">
            <a:extLst>
              <a:ext uri="{FF2B5EF4-FFF2-40B4-BE49-F238E27FC236}">
                <a16:creationId xmlns:a16="http://schemas.microsoft.com/office/drawing/2014/main" id="{B5FD1899-D4D5-B44A-FAD9-1BEE2602C73C}"/>
              </a:ext>
            </a:extLst>
          </p:cNvPr>
          <p:cNvSpPr/>
          <p:nvPr/>
        </p:nvSpPr>
        <p:spPr>
          <a:xfrm>
            <a:off x="6187573" y="5861990"/>
            <a:ext cx="79367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Dashboards </a:t>
            </a:r>
            <a:r>
              <a:rPr lang="es" sz="900" dirty="0">
                <a:solidFill>
                  <a:srgbClr val="000000"/>
                </a:solidFill>
                <a:latin typeface="Graphik"/>
              </a:rPr>
              <a:t>Té</a:t>
            </a:r>
            <a:r>
              <a:rPr kumimoji="0" lang="es" sz="900" b="0" i="0" u="none" strike="noStrike" kern="1200" cap="none" spc="0" normalizeH="0" baseline="0" noProof="0" dirty="0">
                <a:ln>
                  <a:noFill/>
                </a:ln>
                <a:solidFill>
                  <a:srgbClr val="000000"/>
                </a:solidFill>
                <a:effectLst/>
                <a:uLnTx/>
                <a:uFillTx/>
                <a:latin typeface="Graphik"/>
                <a:ea typeface="+mn-ea"/>
                <a:cs typeface="+mn-cs"/>
              </a:rPr>
              <a:t>cnicos</a:t>
            </a:r>
          </a:p>
        </p:txBody>
      </p:sp>
      <p:sp>
        <p:nvSpPr>
          <p:cNvPr id="41" name="TextBox 40">
            <a:extLst>
              <a:ext uri="{FF2B5EF4-FFF2-40B4-BE49-F238E27FC236}">
                <a16:creationId xmlns:a16="http://schemas.microsoft.com/office/drawing/2014/main" id="{7B230B89-5260-DFBB-7685-9DE289149A14}"/>
              </a:ext>
            </a:extLst>
          </p:cNvPr>
          <p:cNvSpPr txBox="1"/>
          <p:nvPr/>
        </p:nvSpPr>
        <p:spPr>
          <a:xfrm>
            <a:off x="4300151" y="6250954"/>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cxnSp>
        <p:nvCxnSpPr>
          <p:cNvPr id="42" name="Straight Arrow Connector 41">
            <a:extLst>
              <a:ext uri="{FF2B5EF4-FFF2-40B4-BE49-F238E27FC236}">
                <a16:creationId xmlns:a16="http://schemas.microsoft.com/office/drawing/2014/main" id="{545E0F0C-31B1-B7D2-F84C-3A82AF7B00A2}"/>
              </a:ext>
            </a:extLst>
          </p:cNvPr>
          <p:cNvCxnSpPr/>
          <p:nvPr/>
        </p:nvCxnSpPr>
        <p:spPr>
          <a:xfrm>
            <a:off x="5721576" y="5250627"/>
            <a:ext cx="317500"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D0074FE2-440C-0D97-BD66-D18C23B13CB3}"/>
              </a:ext>
            </a:extLst>
          </p:cNvPr>
          <p:cNvSpPr/>
          <p:nvPr/>
        </p:nvSpPr>
        <p:spPr>
          <a:xfrm>
            <a:off x="1746265" y="1749775"/>
            <a:ext cx="917761" cy="457912"/>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 Enrutamiento de terceros (S2S, C2S, FIREWALL</a:t>
            </a:r>
          </a:p>
        </p:txBody>
      </p:sp>
      <p:sp>
        <p:nvSpPr>
          <p:cNvPr id="44" name="Rectangle 43">
            <a:extLst>
              <a:ext uri="{FF2B5EF4-FFF2-40B4-BE49-F238E27FC236}">
                <a16:creationId xmlns:a16="http://schemas.microsoft.com/office/drawing/2014/main" id="{05CD9692-9404-37CC-F6C4-129EC9662DFE}"/>
              </a:ext>
            </a:extLst>
          </p:cNvPr>
          <p:cNvSpPr/>
          <p:nvPr/>
        </p:nvSpPr>
        <p:spPr>
          <a:xfrm>
            <a:off x="240757" y="3380294"/>
            <a:ext cx="1141171" cy="28800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Busqueda de Cabecera</a:t>
            </a:r>
          </a:p>
        </p:txBody>
      </p:sp>
      <p:cxnSp>
        <p:nvCxnSpPr>
          <p:cNvPr id="45" name="Connector: Elbow 140">
            <a:extLst>
              <a:ext uri="{FF2B5EF4-FFF2-40B4-BE49-F238E27FC236}">
                <a16:creationId xmlns:a16="http://schemas.microsoft.com/office/drawing/2014/main" id="{41D2E064-0A4B-5B49-4EAC-7CB364932CA3}"/>
              </a:ext>
            </a:extLst>
          </p:cNvPr>
          <p:cNvCxnSpPr>
            <a:cxnSpLocks/>
            <a:stCxn id="15" idx="2"/>
            <a:endCxn id="44" idx="0"/>
          </p:cNvCxnSpPr>
          <p:nvPr/>
        </p:nvCxnSpPr>
        <p:spPr>
          <a:xfrm rot="10800000" flipV="1">
            <a:off x="811344" y="3192144"/>
            <a:ext cx="2327697" cy="188149"/>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140">
            <a:extLst>
              <a:ext uri="{FF2B5EF4-FFF2-40B4-BE49-F238E27FC236}">
                <a16:creationId xmlns:a16="http://schemas.microsoft.com/office/drawing/2014/main" id="{34FE29BA-B472-E2E1-6972-95028811D860}"/>
              </a:ext>
            </a:extLst>
          </p:cNvPr>
          <p:cNvCxnSpPr>
            <a:stCxn id="44" idx="2"/>
            <a:endCxn id="10" idx="0"/>
          </p:cNvCxnSpPr>
          <p:nvPr/>
        </p:nvCxnSpPr>
        <p:spPr>
          <a:xfrm rot="5400000" flipV="1">
            <a:off x="1618615" y="2861310"/>
            <a:ext cx="414655" cy="2028825"/>
          </a:xfrm>
          <a:prstGeom prst="bentConnector3">
            <a:avLst>
              <a:gd name="adj1" fmla="val 500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47" name="Picture 2" descr="Logo negro de Splunk PNG transparente - StickPNG">
            <a:extLst>
              <a:ext uri="{FF2B5EF4-FFF2-40B4-BE49-F238E27FC236}">
                <a16:creationId xmlns:a16="http://schemas.microsoft.com/office/drawing/2014/main" id="{B8D99B4B-379E-E007-1178-47676249F3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588" t="30330" r="10744" b="32049"/>
          <a:stretch>
            <a:fillRect/>
          </a:stretch>
        </p:blipFill>
        <p:spPr bwMode="auto">
          <a:xfrm>
            <a:off x="5200401" y="6124697"/>
            <a:ext cx="677803" cy="245921"/>
          </a:xfrm>
          <a:prstGeom prst="rect">
            <a:avLst/>
          </a:prstGeom>
          <a:noFill/>
          <a:extLst>
            <a:ext uri="{909E8E84-426E-40DD-AFC4-6F175D3DCCD1}">
              <a14:hiddenFill xmlns:a14="http://schemas.microsoft.com/office/drawing/2010/main">
                <a:solidFill>
                  <a:srgbClr val="FFFFFF"/>
                </a:solidFill>
              </a14:hiddenFill>
            </a:ext>
          </a:extLst>
        </p:spPr>
      </p:pic>
      <p:sp>
        <p:nvSpPr>
          <p:cNvPr id="48" name="Can 172">
            <a:extLst>
              <a:ext uri="{FF2B5EF4-FFF2-40B4-BE49-F238E27FC236}">
                <a16:creationId xmlns:a16="http://schemas.microsoft.com/office/drawing/2014/main" id="{9BAB9BA6-0BD9-8C49-1CA0-6DE8863E910F}"/>
              </a:ext>
            </a:extLst>
          </p:cNvPr>
          <p:cNvSpPr/>
          <p:nvPr/>
        </p:nvSpPr>
        <p:spPr bwMode="auto">
          <a:xfrm>
            <a:off x="399949" y="1154238"/>
            <a:ext cx="312661" cy="1621605"/>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Evento por diseño</a:t>
            </a:r>
          </a:p>
        </p:txBody>
      </p:sp>
      <p:sp>
        <p:nvSpPr>
          <p:cNvPr id="49" name="Rectangle 48">
            <a:extLst>
              <a:ext uri="{FF2B5EF4-FFF2-40B4-BE49-F238E27FC236}">
                <a16:creationId xmlns:a16="http://schemas.microsoft.com/office/drawing/2014/main" id="{DF5E55A6-8B72-0570-FA8F-159FE10714EB}"/>
              </a:ext>
            </a:extLst>
          </p:cNvPr>
          <p:cNvSpPr/>
          <p:nvPr/>
        </p:nvSpPr>
        <p:spPr>
          <a:xfrm>
            <a:off x="5099685" y="1842135"/>
            <a:ext cx="1557020" cy="126174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Almacenamiento de eventos (S3... Etcétera).</a:t>
            </a:r>
          </a:p>
        </p:txBody>
      </p:sp>
      <p:cxnSp>
        <p:nvCxnSpPr>
          <p:cNvPr id="50" name="Connector: Elbow 140">
            <a:extLst>
              <a:ext uri="{FF2B5EF4-FFF2-40B4-BE49-F238E27FC236}">
                <a16:creationId xmlns:a16="http://schemas.microsoft.com/office/drawing/2014/main" id="{799D634D-6563-A11D-DBAC-145A5212C435}"/>
              </a:ext>
            </a:extLst>
          </p:cNvPr>
          <p:cNvCxnSpPr>
            <a:cxnSpLocks/>
            <a:stCxn id="18" idx="3"/>
            <a:endCxn id="49" idx="0"/>
          </p:cNvCxnSpPr>
          <p:nvPr/>
        </p:nvCxnSpPr>
        <p:spPr>
          <a:xfrm flipV="1">
            <a:off x="4173941" y="1842135"/>
            <a:ext cx="1704254" cy="51847"/>
          </a:xfrm>
          <a:prstGeom prst="bentConnector4">
            <a:avLst>
              <a:gd name="adj1" fmla="val 48850"/>
              <a:gd name="adj2" fmla="val 39969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E426D0A3-7E8E-9675-4DF3-102003C39011}"/>
              </a:ext>
            </a:extLst>
          </p:cNvPr>
          <p:cNvSpPr/>
          <p:nvPr/>
        </p:nvSpPr>
        <p:spPr>
          <a:xfrm>
            <a:off x="5201920" y="2253175"/>
            <a:ext cx="1325880" cy="213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Cloud</a:t>
            </a:r>
          </a:p>
        </p:txBody>
      </p:sp>
      <p:sp>
        <p:nvSpPr>
          <p:cNvPr id="52" name="Rectangle 51">
            <a:extLst>
              <a:ext uri="{FF2B5EF4-FFF2-40B4-BE49-F238E27FC236}">
                <a16:creationId xmlns:a16="http://schemas.microsoft.com/office/drawing/2014/main" id="{7ADA3FBE-89BD-9882-806C-60ED06378CF7}"/>
              </a:ext>
            </a:extLst>
          </p:cNvPr>
          <p:cNvSpPr/>
          <p:nvPr/>
        </p:nvSpPr>
        <p:spPr>
          <a:xfrm>
            <a:off x="5201920" y="2525558"/>
            <a:ext cx="1325880" cy="22098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a:t>
            </a:r>
          </a:p>
        </p:txBody>
      </p:sp>
      <p:sp>
        <p:nvSpPr>
          <p:cNvPr id="53" name="Rectangle 52">
            <a:extLst>
              <a:ext uri="{FF2B5EF4-FFF2-40B4-BE49-F238E27FC236}">
                <a16:creationId xmlns:a16="http://schemas.microsoft.com/office/drawing/2014/main" id="{27F2620D-DBA0-B44A-16B5-5D03C60C72C7}"/>
              </a:ext>
            </a:extLst>
          </p:cNvPr>
          <p:cNvSpPr/>
          <p:nvPr/>
        </p:nvSpPr>
        <p:spPr>
          <a:xfrm>
            <a:off x="5201919" y="2807389"/>
            <a:ext cx="1325879" cy="2120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Rotación de </a:t>
            </a:r>
            <a:r>
              <a:rPr lang="es" sz="900" dirty="0">
                <a:solidFill>
                  <a:srgbClr val="000000"/>
                </a:solidFill>
                <a:latin typeface="Graphik"/>
              </a:rPr>
              <a:t>logs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4" name="Rectangle 53">
            <a:extLst>
              <a:ext uri="{FF2B5EF4-FFF2-40B4-BE49-F238E27FC236}">
                <a16:creationId xmlns:a16="http://schemas.microsoft.com/office/drawing/2014/main" id="{2C1AB51A-C928-C8DA-43F2-417D469A0B55}"/>
              </a:ext>
            </a:extLst>
          </p:cNvPr>
          <p:cNvSpPr/>
          <p:nvPr/>
        </p:nvSpPr>
        <p:spPr>
          <a:xfrm>
            <a:off x="8041005" y="4514215"/>
            <a:ext cx="1880704" cy="177990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Notificación</a:t>
            </a:r>
          </a:p>
        </p:txBody>
      </p:sp>
      <p:sp>
        <p:nvSpPr>
          <p:cNvPr id="55" name="Rectangle 54">
            <a:extLst>
              <a:ext uri="{FF2B5EF4-FFF2-40B4-BE49-F238E27FC236}">
                <a16:creationId xmlns:a16="http://schemas.microsoft.com/office/drawing/2014/main" id="{A434F84B-AC2B-75AC-FECE-0286024EC6E9}"/>
              </a:ext>
            </a:extLst>
          </p:cNvPr>
          <p:cNvSpPr/>
          <p:nvPr/>
        </p:nvSpPr>
        <p:spPr>
          <a:xfrm>
            <a:off x="8164447" y="4784241"/>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MAIL</a:t>
            </a:r>
          </a:p>
        </p:txBody>
      </p:sp>
      <p:sp>
        <p:nvSpPr>
          <p:cNvPr id="56" name="Rectangle 55">
            <a:extLst>
              <a:ext uri="{FF2B5EF4-FFF2-40B4-BE49-F238E27FC236}">
                <a16:creationId xmlns:a16="http://schemas.microsoft.com/office/drawing/2014/main" id="{43EF9A92-E0B3-767E-ED74-497C52EE29F3}"/>
              </a:ext>
            </a:extLst>
          </p:cNvPr>
          <p:cNvSpPr/>
          <p:nvPr/>
        </p:nvSpPr>
        <p:spPr>
          <a:xfrm>
            <a:off x="8164447" y="5155455"/>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RSS</a:t>
            </a:r>
          </a:p>
        </p:txBody>
      </p:sp>
      <p:sp>
        <p:nvSpPr>
          <p:cNvPr id="57" name="Rectangle 56">
            <a:extLst>
              <a:ext uri="{FF2B5EF4-FFF2-40B4-BE49-F238E27FC236}">
                <a16:creationId xmlns:a16="http://schemas.microsoft.com/office/drawing/2014/main" id="{6706E68C-F9EF-BEB5-9E1E-554798C46EEC}"/>
              </a:ext>
            </a:extLst>
          </p:cNvPr>
          <p:cNvSpPr/>
          <p:nvPr/>
        </p:nvSpPr>
        <p:spPr>
          <a:xfrm>
            <a:off x="8164447" y="5533152"/>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SMS</a:t>
            </a:r>
          </a:p>
        </p:txBody>
      </p:sp>
      <p:sp>
        <p:nvSpPr>
          <p:cNvPr id="58" name="Rectangle 57">
            <a:extLst>
              <a:ext uri="{FF2B5EF4-FFF2-40B4-BE49-F238E27FC236}">
                <a16:creationId xmlns:a16="http://schemas.microsoft.com/office/drawing/2014/main" id="{20F65E03-DD6A-F4BC-5CDA-72A0F1AB25C1}"/>
              </a:ext>
            </a:extLst>
          </p:cNvPr>
          <p:cNvSpPr/>
          <p:nvPr/>
        </p:nvSpPr>
        <p:spPr>
          <a:xfrm>
            <a:off x="8952578" y="5890411"/>
            <a:ext cx="831965"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Service Now</a:t>
            </a:r>
          </a:p>
        </p:txBody>
      </p:sp>
      <p:sp>
        <p:nvSpPr>
          <p:cNvPr id="59" name="Rectangle 58">
            <a:extLst>
              <a:ext uri="{FF2B5EF4-FFF2-40B4-BE49-F238E27FC236}">
                <a16:creationId xmlns:a16="http://schemas.microsoft.com/office/drawing/2014/main" id="{7B93860B-4111-9D3B-81A7-9F61BB982ACF}"/>
              </a:ext>
            </a:extLst>
          </p:cNvPr>
          <p:cNvSpPr/>
          <p:nvPr/>
        </p:nvSpPr>
        <p:spPr>
          <a:xfrm>
            <a:off x="1800225" y="2928620"/>
            <a:ext cx="1079500" cy="65849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a:t>
            </a:r>
          </a:p>
        </p:txBody>
      </p:sp>
      <p:sp>
        <p:nvSpPr>
          <p:cNvPr id="60" name="Rectangle 59">
            <a:extLst>
              <a:ext uri="{FF2B5EF4-FFF2-40B4-BE49-F238E27FC236}">
                <a16:creationId xmlns:a16="http://schemas.microsoft.com/office/drawing/2014/main" id="{96590DEA-C550-7945-B7EA-13DEBF0AEBAE}"/>
              </a:ext>
            </a:extLst>
          </p:cNvPr>
          <p:cNvSpPr/>
          <p:nvPr/>
        </p:nvSpPr>
        <p:spPr>
          <a:xfrm>
            <a:off x="1889760" y="3215005"/>
            <a:ext cx="849630" cy="26289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a:t>
            </a:r>
          </a:p>
        </p:txBody>
      </p:sp>
      <p:sp>
        <p:nvSpPr>
          <p:cNvPr id="61" name="Rectangle 60">
            <a:extLst>
              <a:ext uri="{FF2B5EF4-FFF2-40B4-BE49-F238E27FC236}">
                <a16:creationId xmlns:a16="http://schemas.microsoft.com/office/drawing/2014/main" id="{AA9F4D2F-E03F-4AFD-D467-CF0512D75A1E}"/>
              </a:ext>
            </a:extLst>
          </p:cNvPr>
          <p:cNvSpPr/>
          <p:nvPr/>
        </p:nvSpPr>
        <p:spPr>
          <a:xfrm>
            <a:off x="4216650" y="4688840"/>
            <a:ext cx="963520" cy="128333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Caso de uso automatizado:</a:t>
            </a:r>
            <a:br>
              <a:rPr kumimoji="0" lang="en-US" sz="900" b="0" i="0" u="none" strike="noStrike" kern="1200" cap="none" spc="0" normalizeH="0" baseline="0" noProof="0">
                <a:ln>
                  <a:noFill/>
                </a:ln>
                <a:solidFill>
                  <a:srgbClr val="000000"/>
                </a:solidFill>
                <a:effectLst/>
                <a:uLnTx/>
                <a:uFillTx/>
                <a:latin typeface="Graphik"/>
                <a:ea typeface="+mn-ea"/>
                <a:cs typeface="+mn-cs"/>
              </a:rPr>
            </a:b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ML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SOAR </a:t>
            </a:r>
            <a:br>
              <a:rPr kumimoji="0" lang="en-US" sz="900" b="0" i="0" u="none" strike="noStrike" kern="1200" cap="none" spc="0" normalizeH="0" baseline="0" noProof="0">
                <a:ln>
                  <a:noFill/>
                </a:ln>
                <a:solidFill>
                  <a:srgbClr val="000000"/>
                </a:solidFill>
                <a:effectLst/>
                <a:uLnTx/>
                <a:uFillTx/>
                <a:latin typeface="Graphik"/>
                <a:ea typeface="+mn-ea"/>
                <a:cs typeface="+mn-cs"/>
              </a:rPr>
            </a:br>
            <a:r>
              <a:rPr kumimoji="0" lang="es" altLang="en-US" sz="900" b="0" i="0" u="none" strike="noStrike" kern="1200" cap="none" spc="0" normalizeH="0" baseline="0" noProof="0">
                <a:ln>
                  <a:noFill/>
                </a:ln>
                <a:solidFill>
                  <a:srgbClr val="000000"/>
                </a:solidFill>
                <a:effectLst/>
                <a:uLnTx/>
                <a:uFillTx/>
                <a:latin typeface="Graphik"/>
                <a:ea typeface="+mn-ea"/>
                <a:cs typeface="+mn-cs"/>
              </a:rPr>
              <a:t>- IA</a:t>
            </a:r>
          </a:p>
        </p:txBody>
      </p:sp>
      <p:sp>
        <p:nvSpPr>
          <p:cNvPr id="62" name="Rectangle 61">
            <a:extLst>
              <a:ext uri="{FF2B5EF4-FFF2-40B4-BE49-F238E27FC236}">
                <a16:creationId xmlns:a16="http://schemas.microsoft.com/office/drawing/2014/main" id="{17B07E57-790B-1D70-D729-CA832A984C91}"/>
              </a:ext>
            </a:extLst>
          </p:cNvPr>
          <p:cNvSpPr/>
          <p:nvPr/>
        </p:nvSpPr>
        <p:spPr>
          <a:xfrm>
            <a:off x="7046574" y="5023058"/>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Correlación empresarial</a:t>
            </a:r>
          </a:p>
        </p:txBody>
      </p:sp>
      <p:sp>
        <p:nvSpPr>
          <p:cNvPr id="63" name="Rectangle 62">
            <a:extLst>
              <a:ext uri="{FF2B5EF4-FFF2-40B4-BE49-F238E27FC236}">
                <a16:creationId xmlns:a16="http://schemas.microsoft.com/office/drawing/2014/main" id="{62FA7060-719E-B4D4-088B-6E58106D0D15}"/>
              </a:ext>
            </a:extLst>
          </p:cNvPr>
          <p:cNvSpPr/>
          <p:nvPr/>
        </p:nvSpPr>
        <p:spPr>
          <a:xfrm>
            <a:off x="2396649" y="5635210"/>
            <a:ext cx="801612"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Incidente (Op. Sec, Buss).</a:t>
            </a:r>
          </a:p>
        </p:txBody>
      </p:sp>
      <p:sp>
        <p:nvSpPr>
          <p:cNvPr id="64" name="Rectangle 63">
            <a:extLst>
              <a:ext uri="{FF2B5EF4-FFF2-40B4-BE49-F238E27FC236}">
                <a16:creationId xmlns:a16="http://schemas.microsoft.com/office/drawing/2014/main" id="{6FD01F8D-B17E-9BF8-12AF-12B98469146F}"/>
              </a:ext>
            </a:extLst>
          </p:cNvPr>
          <p:cNvSpPr/>
          <p:nvPr/>
        </p:nvSpPr>
        <p:spPr>
          <a:xfrm>
            <a:off x="8164447" y="5887664"/>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Web Socket</a:t>
            </a:r>
          </a:p>
        </p:txBody>
      </p:sp>
      <p:cxnSp>
        <p:nvCxnSpPr>
          <p:cNvPr id="65" name="Connector: Elbow 140">
            <a:extLst>
              <a:ext uri="{FF2B5EF4-FFF2-40B4-BE49-F238E27FC236}">
                <a16:creationId xmlns:a16="http://schemas.microsoft.com/office/drawing/2014/main" id="{1BC71F56-AB6B-9E7F-6392-81EB824AE235}"/>
              </a:ext>
            </a:extLst>
          </p:cNvPr>
          <p:cNvCxnSpPr>
            <a:cxnSpLocks/>
            <a:stCxn id="11" idx="3"/>
            <a:endCxn id="54" idx="0"/>
          </p:cNvCxnSpPr>
          <p:nvPr/>
        </p:nvCxnSpPr>
        <p:spPr>
          <a:xfrm flipV="1">
            <a:off x="7919611" y="4514215"/>
            <a:ext cx="1061746" cy="747166"/>
          </a:xfrm>
          <a:prstGeom prst="bentConnector4">
            <a:avLst>
              <a:gd name="adj1" fmla="val 5717"/>
              <a:gd name="adj2" fmla="val 16882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6" name="Rectangle 65">
            <a:extLst>
              <a:ext uri="{FF2B5EF4-FFF2-40B4-BE49-F238E27FC236}">
                <a16:creationId xmlns:a16="http://schemas.microsoft.com/office/drawing/2014/main" id="{01D741BD-5463-61B7-E514-7DBEE7546B10}"/>
              </a:ext>
            </a:extLst>
          </p:cNvPr>
          <p:cNvSpPr/>
          <p:nvPr/>
        </p:nvSpPr>
        <p:spPr>
          <a:xfrm>
            <a:off x="5173439" y="3470578"/>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ITSM</a:t>
            </a:r>
          </a:p>
        </p:txBody>
      </p:sp>
      <p:sp>
        <p:nvSpPr>
          <p:cNvPr id="67" name="Rectangle 66">
            <a:extLst>
              <a:ext uri="{FF2B5EF4-FFF2-40B4-BE49-F238E27FC236}">
                <a16:creationId xmlns:a16="http://schemas.microsoft.com/office/drawing/2014/main" id="{80AB594C-0A35-CF11-E45F-3357FF496120}"/>
              </a:ext>
            </a:extLst>
          </p:cNvPr>
          <p:cNvSpPr/>
          <p:nvPr/>
        </p:nvSpPr>
        <p:spPr>
          <a:xfrm>
            <a:off x="3281886" y="562493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DevOps</a:t>
            </a:r>
          </a:p>
        </p:txBody>
      </p:sp>
      <p:sp>
        <p:nvSpPr>
          <p:cNvPr id="68" name="Rectangle 67">
            <a:extLst>
              <a:ext uri="{FF2B5EF4-FFF2-40B4-BE49-F238E27FC236}">
                <a16:creationId xmlns:a16="http://schemas.microsoft.com/office/drawing/2014/main" id="{E384B292-8ACD-4A66-2611-60DF4658F985}"/>
              </a:ext>
            </a:extLst>
          </p:cNvPr>
          <p:cNvSpPr/>
          <p:nvPr/>
        </p:nvSpPr>
        <p:spPr>
          <a:xfrm>
            <a:off x="5182730" y="3824502"/>
            <a:ext cx="1141171" cy="2880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FinOps</a:t>
            </a:r>
          </a:p>
        </p:txBody>
      </p:sp>
      <p:sp>
        <p:nvSpPr>
          <p:cNvPr id="69" name="Rectangle 68">
            <a:extLst>
              <a:ext uri="{FF2B5EF4-FFF2-40B4-BE49-F238E27FC236}">
                <a16:creationId xmlns:a16="http://schemas.microsoft.com/office/drawing/2014/main" id="{40D4A08D-720C-DAA0-C50A-BA01FB2F830D}"/>
              </a:ext>
            </a:extLst>
          </p:cNvPr>
          <p:cNvSpPr/>
          <p:nvPr/>
        </p:nvSpPr>
        <p:spPr>
          <a:xfrm>
            <a:off x="1583637" y="6082159"/>
            <a:ext cx="736093" cy="288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Seguridad en la nube</a:t>
            </a:r>
          </a:p>
        </p:txBody>
      </p:sp>
      <p:sp>
        <p:nvSpPr>
          <p:cNvPr id="70" name="TextBox 69">
            <a:extLst>
              <a:ext uri="{FF2B5EF4-FFF2-40B4-BE49-F238E27FC236}">
                <a16:creationId xmlns:a16="http://schemas.microsoft.com/office/drawing/2014/main" id="{BC8CF9A6-643E-30D0-469E-D212AFCC7DD0}"/>
              </a:ext>
            </a:extLst>
          </p:cNvPr>
          <p:cNvSpPr txBox="1"/>
          <p:nvPr/>
        </p:nvSpPr>
        <p:spPr>
          <a:xfrm>
            <a:off x="11413067" y="21251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1" name="TextBox 70">
            <a:extLst>
              <a:ext uri="{FF2B5EF4-FFF2-40B4-BE49-F238E27FC236}">
                <a16:creationId xmlns:a16="http://schemas.microsoft.com/office/drawing/2014/main" id="{F53F06E0-163B-EC7B-4BED-10162CFE16A9}"/>
              </a:ext>
            </a:extLst>
          </p:cNvPr>
          <p:cNvSpPr txBox="1"/>
          <p:nvPr/>
        </p:nvSpPr>
        <p:spPr>
          <a:xfrm>
            <a:off x="11379200" y="2429933"/>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2" name="Can 172">
            <a:extLst>
              <a:ext uri="{FF2B5EF4-FFF2-40B4-BE49-F238E27FC236}">
                <a16:creationId xmlns:a16="http://schemas.microsoft.com/office/drawing/2014/main" id="{AE1E49C2-0206-D95D-57F9-A496FA637130}"/>
              </a:ext>
            </a:extLst>
          </p:cNvPr>
          <p:cNvSpPr/>
          <p:nvPr/>
        </p:nvSpPr>
        <p:spPr bwMode="auto">
          <a:xfrm>
            <a:off x="5294104" y="4469130"/>
            <a:ext cx="481330" cy="1603375"/>
          </a:xfrm>
          <a:prstGeom prst="can">
            <a:avLst>
              <a:gd name="adj" fmla="val 74823"/>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Procesamiento de datos (tablas, correlación, etc.).</a:t>
            </a:r>
          </a:p>
        </p:txBody>
      </p:sp>
      <p:sp>
        <p:nvSpPr>
          <p:cNvPr id="76" name="TextBox 75">
            <a:extLst>
              <a:ext uri="{FF2B5EF4-FFF2-40B4-BE49-F238E27FC236}">
                <a16:creationId xmlns:a16="http://schemas.microsoft.com/office/drawing/2014/main" id="{4BC4EB07-3C0C-6342-33BD-29B05C572766}"/>
              </a:ext>
            </a:extLst>
          </p:cNvPr>
          <p:cNvSpPr txBox="1"/>
          <p:nvPr/>
        </p:nvSpPr>
        <p:spPr>
          <a:xfrm>
            <a:off x="10038945" y="349223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Graphik"/>
              <a:ea typeface="+mn-ea"/>
              <a:cs typeface="+mn-cs"/>
            </a:endParaRPr>
          </a:p>
        </p:txBody>
      </p:sp>
      <p:sp>
        <p:nvSpPr>
          <p:cNvPr id="77" name="Rectangle 76">
            <a:extLst>
              <a:ext uri="{FF2B5EF4-FFF2-40B4-BE49-F238E27FC236}">
                <a16:creationId xmlns:a16="http://schemas.microsoft.com/office/drawing/2014/main" id="{82030910-F5C7-9346-699F-08A5E793A66A}"/>
              </a:ext>
            </a:extLst>
          </p:cNvPr>
          <p:cNvSpPr/>
          <p:nvPr/>
        </p:nvSpPr>
        <p:spPr>
          <a:xfrm>
            <a:off x="400050" y="5784215"/>
            <a:ext cx="923925" cy="22923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OpenShift</a:t>
            </a:r>
          </a:p>
        </p:txBody>
      </p:sp>
      <p:cxnSp>
        <p:nvCxnSpPr>
          <p:cNvPr id="78" name="Connector: Elbow 140">
            <a:extLst>
              <a:ext uri="{FF2B5EF4-FFF2-40B4-BE49-F238E27FC236}">
                <a16:creationId xmlns:a16="http://schemas.microsoft.com/office/drawing/2014/main" id="{2EF6E7DC-6C2A-F7CC-825B-A8993B44D8C5}"/>
              </a:ext>
            </a:extLst>
          </p:cNvPr>
          <p:cNvCxnSpPr/>
          <p:nvPr/>
        </p:nvCxnSpPr>
        <p:spPr>
          <a:xfrm rot="10800000" flipH="1">
            <a:off x="400050" y="1069975"/>
            <a:ext cx="3307715" cy="4131310"/>
          </a:xfrm>
          <a:prstGeom prst="bentConnector4">
            <a:avLst>
              <a:gd name="adj1" fmla="val -7199"/>
              <a:gd name="adj2" fmla="val 102766"/>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9" name="Rectangle 78">
            <a:extLst>
              <a:ext uri="{FF2B5EF4-FFF2-40B4-BE49-F238E27FC236}">
                <a16:creationId xmlns:a16="http://schemas.microsoft.com/office/drawing/2014/main" id="{1B5FF9B4-5032-F540-04E4-ACBEFA7A2DF0}"/>
              </a:ext>
            </a:extLst>
          </p:cNvPr>
          <p:cNvSpPr/>
          <p:nvPr/>
        </p:nvSpPr>
        <p:spPr>
          <a:xfrm>
            <a:off x="400050" y="5413375"/>
            <a:ext cx="924560" cy="27813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Microservicios</a:t>
            </a:r>
          </a:p>
        </p:txBody>
      </p:sp>
      <p:sp>
        <p:nvSpPr>
          <p:cNvPr id="80" name="Rectangle 79">
            <a:extLst>
              <a:ext uri="{FF2B5EF4-FFF2-40B4-BE49-F238E27FC236}">
                <a16:creationId xmlns:a16="http://schemas.microsoft.com/office/drawing/2014/main" id="{5C1F9CCD-944D-9BF2-E670-186125B9688D}"/>
              </a:ext>
            </a:extLst>
          </p:cNvPr>
          <p:cNvSpPr/>
          <p:nvPr/>
        </p:nvSpPr>
        <p:spPr>
          <a:xfrm>
            <a:off x="400050" y="5127625"/>
            <a:ext cx="923925" cy="1917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Canales</a:t>
            </a:r>
          </a:p>
        </p:txBody>
      </p:sp>
      <p:cxnSp>
        <p:nvCxnSpPr>
          <p:cNvPr id="82" name="Straight Arrow Connector 59">
            <a:extLst>
              <a:ext uri="{FF2B5EF4-FFF2-40B4-BE49-F238E27FC236}">
                <a16:creationId xmlns:a16="http://schemas.microsoft.com/office/drawing/2014/main" id="{744FED20-BE05-CBDF-AFA0-5D89AE3906D6}"/>
              </a:ext>
            </a:extLst>
          </p:cNvPr>
          <p:cNvCxnSpPr/>
          <p:nvPr/>
        </p:nvCxnSpPr>
        <p:spPr>
          <a:xfrm>
            <a:off x="712451" y="1964616"/>
            <a:ext cx="268605" cy="698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59">
            <a:extLst>
              <a:ext uri="{FF2B5EF4-FFF2-40B4-BE49-F238E27FC236}">
                <a16:creationId xmlns:a16="http://schemas.microsoft.com/office/drawing/2014/main" id="{33F7ACE9-0157-D001-4767-18395F5D9BF5}"/>
              </a:ext>
            </a:extLst>
          </p:cNvPr>
          <p:cNvCxnSpPr>
            <a:stCxn id="43" idx="0"/>
            <a:endCxn id="37" idx="2"/>
          </p:cNvCxnSpPr>
          <p:nvPr/>
        </p:nvCxnSpPr>
        <p:spPr>
          <a:xfrm flipH="1" flipV="1">
            <a:off x="2203431" y="1468046"/>
            <a:ext cx="1905" cy="2819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59">
            <a:extLst>
              <a:ext uri="{FF2B5EF4-FFF2-40B4-BE49-F238E27FC236}">
                <a16:creationId xmlns:a16="http://schemas.microsoft.com/office/drawing/2014/main" id="{9D1DB1A9-444B-551F-AA6F-F6B8CDB71684}"/>
              </a:ext>
            </a:extLst>
          </p:cNvPr>
          <p:cNvCxnSpPr>
            <a:stCxn id="37" idx="3"/>
            <a:endCxn id="14" idx="1"/>
          </p:cNvCxnSpPr>
          <p:nvPr/>
        </p:nvCxnSpPr>
        <p:spPr>
          <a:xfrm>
            <a:off x="2625706" y="1297231"/>
            <a:ext cx="407035" cy="127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A84FE9D9-54F9-6D95-1B0D-0A8ADA4DFE10}"/>
              </a:ext>
            </a:extLst>
          </p:cNvPr>
          <p:cNvSpPr txBox="1"/>
          <p:nvPr/>
        </p:nvSpPr>
        <p:spPr>
          <a:xfrm>
            <a:off x="8258113" y="1629410"/>
            <a:ext cx="3510978" cy="284035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datos actual.</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hay problemas de rendimiento</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Debe diseñarse un plan de capacidad (Medir el EPS).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Actualmente, no existe observabilidad en seguridad, infraestructuras ni negocios.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analizar, diseñar e implementar los casos de uso necesarios para la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Aunque existen capacidades actuales, no cumplen con la arquitectura necesaria para la interoperabilidad.</a:t>
            </a:r>
          </a:p>
        </p:txBody>
      </p:sp>
      <p:cxnSp>
        <p:nvCxnSpPr>
          <p:cNvPr id="86" name="Connector: Elbow 140">
            <a:extLst>
              <a:ext uri="{FF2B5EF4-FFF2-40B4-BE49-F238E27FC236}">
                <a16:creationId xmlns:a16="http://schemas.microsoft.com/office/drawing/2014/main" id="{7D3DBDA7-E3B3-7C25-810F-32FB83A3FE4F}"/>
              </a:ext>
            </a:extLst>
          </p:cNvPr>
          <p:cNvCxnSpPr>
            <a:endCxn id="8" idx="3"/>
          </p:cNvCxnSpPr>
          <p:nvPr/>
        </p:nvCxnSpPr>
        <p:spPr>
          <a:xfrm rot="16200000">
            <a:off x="5936615" y="3771900"/>
            <a:ext cx="559435" cy="353060"/>
          </a:xfrm>
          <a:prstGeom prst="bentConnector4">
            <a:avLst>
              <a:gd name="adj1" fmla="val 7435"/>
              <a:gd name="adj2" fmla="val 177248"/>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060">
            <a:extLst>
              <a:ext uri="{FF2B5EF4-FFF2-40B4-BE49-F238E27FC236}">
                <a16:creationId xmlns:a16="http://schemas.microsoft.com/office/drawing/2014/main" id="{3E5C8407-228E-42BD-7819-13EFF1847B10}"/>
              </a:ext>
            </a:extLst>
          </p:cNvPr>
          <p:cNvSpPr/>
          <p:nvPr/>
        </p:nvSpPr>
        <p:spPr>
          <a:xfrm>
            <a:off x="8307142" y="1376182"/>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88" name="Rectangle 87">
            <a:extLst>
              <a:ext uri="{FF2B5EF4-FFF2-40B4-BE49-F238E27FC236}">
                <a16:creationId xmlns:a16="http://schemas.microsoft.com/office/drawing/2014/main" id="{2BB5A13F-10FE-1AAD-A535-0118CECD1402}"/>
              </a:ext>
            </a:extLst>
          </p:cNvPr>
          <p:cNvSpPr/>
          <p:nvPr/>
        </p:nvSpPr>
        <p:spPr>
          <a:xfrm>
            <a:off x="8307143" y="709177"/>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90" name="Rectangle 89">
            <a:extLst>
              <a:ext uri="{FF2B5EF4-FFF2-40B4-BE49-F238E27FC236}">
                <a16:creationId xmlns:a16="http://schemas.microsoft.com/office/drawing/2014/main" id="{37C50A26-EEE9-3A57-57DC-F6FE7E6DDE03}"/>
              </a:ext>
            </a:extLst>
          </p:cNvPr>
          <p:cNvSpPr/>
          <p:nvPr/>
        </p:nvSpPr>
        <p:spPr>
          <a:xfrm>
            <a:off x="8307143" y="943329"/>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92" name="Rectangle 91">
            <a:extLst>
              <a:ext uri="{FF2B5EF4-FFF2-40B4-BE49-F238E27FC236}">
                <a16:creationId xmlns:a16="http://schemas.microsoft.com/office/drawing/2014/main" id="{B29BC5E7-6A92-4E37-3D26-1EA06356F20F}"/>
              </a:ext>
            </a:extLst>
          </p:cNvPr>
          <p:cNvSpPr/>
          <p:nvPr/>
        </p:nvSpPr>
        <p:spPr>
          <a:xfrm>
            <a:off x="8307142" y="1159754"/>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14054661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F8B67-FA34-6902-B520-9E0311999606}"/>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C6EE023D-D10B-9849-6C2B-08E17C1A8EC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2CCCDEB8-AB19-8870-74FD-E37E3AC7B04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Servicios de Gateway</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C4E806CC-DEAA-6D35-D40F-072458FB10C2}"/>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Componentes principales</a:t>
            </a:r>
          </a:p>
        </p:txBody>
      </p:sp>
      <p:grpSp>
        <p:nvGrpSpPr>
          <p:cNvPr id="4" name="Group 3">
            <a:extLst>
              <a:ext uri="{FF2B5EF4-FFF2-40B4-BE49-F238E27FC236}">
                <a16:creationId xmlns:a16="http://schemas.microsoft.com/office/drawing/2014/main" id="{FF8BF94D-AF7E-F011-05DC-7300AB11124B}"/>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C60861A-E3B5-F0F8-F6A0-41773B10E05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DAFDD7A3-81E7-14C3-8C91-78ED46F4F8D2}"/>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A8A0611-ED87-AAB7-5D73-B5E676D41F13}"/>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EBA4F97A-4529-5B1F-C3ED-56C2A62AF8E0}"/>
              </a:ext>
            </a:extLst>
          </p:cNvPr>
          <p:cNvSpPr/>
          <p:nvPr/>
        </p:nvSpPr>
        <p:spPr>
          <a:xfrm>
            <a:off x="400050" y="2934970"/>
            <a:ext cx="5334635" cy="100838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Principales</a:t>
            </a:r>
          </a:p>
        </p:txBody>
      </p:sp>
      <p:sp>
        <p:nvSpPr>
          <p:cNvPr id="9" name="Rectangle 8">
            <a:extLst>
              <a:ext uri="{FF2B5EF4-FFF2-40B4-BE49-F238E27FC236}">
                <a16:creationId xmlns:a16="http://schemas.microsoft.com/office/drawing/2014/main" id="{84E46FC8-6374-8C53-4912-1D4EED129FE7}"/>
              </a:ext>
            </a:extLst>
          </p:cNvPr>
          <p:cNvSpPr/>
          <p:nvPr/>
        </p:nvSpPr>
        <p:spPr>
          <a:xfrm>
            <a:off x="400050" y="2268855"/>
            <a:ext cx="533400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Inbound</a:t>
            </a:r>
          </a:p>
        </p:txBody>
      </p:sp>
      <p:sp>
        <p:nvSpPr>
          <p:cNvPr id="10" name="Rectangle 9">
            <a:extLst>
              <a:ext uri="{FF2B5EF4-FFF2-40B4-BE49-F238E27FC236}">
                <a16:creationId xmlns:a16="http://schemas.microsoft.com/office/drawing/2014/main" id="{A7C25BCA-C6AE-8FB2-AE54-3F0B124D25FF}"/>
              </a:ext>
            </a:extLst>
          </p:cNvPr>
          <p:cNvSpPr/>
          <p:nvPr/>
        </p:nvSpPr>
        <p:spPr>
          <a:xfrm>
            <a:off x="1090898" y="2544052"/>
            <a:ext cx="1260000" cy="233072"/>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11" name="Rectangle 10">
            <a:extLst>
              <a:ext uri="{FF2B5EF4-FFF2-40B4-BE49-F238E27FC236}">
                <a16:creationId xmlns:a16="http://schemas.microsoft.com/office/drawing/2014/main" id="{CD0411E4-3BCB-186A-373F-F8DF78F723BE}"/>
              </a:ext>
            </a:extLst>
          </p:cNvPr>
          <p:cNvSpPr/>
          <p:nvPr/>
        </p:nvSpPr>
        <p:spPr>
          <a:xfrm>
            <a:off x="113623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digitales</a:t>
            </a:r>
          </a:p>
        </p:txBody>
      </p:sp>
      <p:sp>
        <p:nvSpPr>
          <p:cNvPr id="12" name="TextBox 11">
            <a:extLst>
              <a:ext uri="{FF2B5EF4-FFF2-40B4-BE49-F238E27FC236}">
                <a16:creationId xmlns:a16="http://schemas.microsoft.com/office/drawing/2014/main" id="{EF115ADE-F187-2288-C45C-617C1BC83641}"/>
              </a:ext>
            </a:extLst>
          </p:cNvPr>
          <p:cNvSpPr txBox="1"/>
          <p:nvPr/>
        </p:nvSpPr>
        <p:spPr>
          <a:xfrm>
            <a:off x="7860146" y="769620"/>
            <a:ext cx="4040390" cy="422211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Notas: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El banco se comunica con sistemas externos utilizando diferentes mecanismos</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Llamadas a API</a:t>
            </a:r>
          </a:p>
          <a:p>
            <a:pPr marL="742950" marR="0" lvl="1"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Eventos (en diferentes tecnologías (MQ y </a:t>
            </a:r>
            <a:r>
              <a:rPr kumimoji="0" lang="es-ES"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1000" b="0" i="0" u="none" strike="noStrike" kern="1200" cap="none" spc="0" normalizeH="0" baseline="0" noProof="0" dirty="0">
                <a:ln>
                  <a:noFill/>
                </a:ln>
                <a:solidFill>
                  <a:srgbClr val="000000"/>
                </a:solidFill>
                <a:effectLst/>
                <a:uLnTx/>
                <a:uFillTx/>
                <a:latin typeface="Graphik"/>
                <a:ea typeface="+mn-ea"/>
                <a:cs typeface="+mn-cs"/>
              </a:rPr>
              <a:t>).</a:t>
            </a:r>
            <a:endParaRPr kumimoji="0" lang="en-US" sz="10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sistemas pueden colocarse aguas arriba (generalmente canales) o aguas abajo (terceros, proveedores de pago, instituciones...)</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sz="1000" b="0" i="0" u="none" strike="noStrike" kern="1200" cap="none" spc="0" normalizeH="0" baseline="0" noProof="0" dirty="0">
                <a:ln>
                  <a:noFill/>
                </a:ln>
                <a:solidFill>
                  <a:srgbClr val="000000"/>
                </a:solidFill>
                <a:effectLst/>
                <a:uLnTx/>
                <a:uFillTx/>
                <a:latin typeface="Graphik"/>
                <a:ea typeface="+mn-ea"/>
                <a:cs typeface="+mn-cs"/>
              </a:rPr>
              <a:t>Los aspectos de seguridad son esenciales en la conectividad con el exterior (zonificación de red, cifrado de comunicaciones,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exponer (saliente) a través de una DMZ.</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Es necesario diseñar una Pasarela de Archivos (Salida), actualmente un SFTP.</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Aún no hay definición para Event Gateway (Saliente).</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File y Event Gateway (Inbound) a</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ú</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no tienen definici</a:t>
            </a:r>
            <a:r>
              <a:rPr kumimoji="0" lang="es" altLang="en-US" sz="1000" b="0" i="0" u="none" strike="noStrike" kern="1200" cap="none" spc="0" normalizeH="0" baseline="0" noProof="0" dirty="0">
                <a:ln>
                  <a:noFill/>
                </a:ln>
                <a:solidFill>
                  <a:srgbClr val="000000"/>
                </a:solidFill>
                <a:effectLst/>
                <a:uLnTx/>
                <a:uFillTx/>
                <a:latin typeface="Graphik"/>
                <a:ea typeface="+mn-ea"/>
                <a:cs typeface="+mn-cs"/>
              </a:rPr>
              <a:t>ó</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n, es necesario proponer. </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MarketPlace aún no tiene definición.</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ES" altLang="es-MX" sz="10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 es actualmente el principal proveedor de esta arquitectura.</a:t>
            </a:r>
          </a:p>
        </p:txBody>
      </p:sp>
      <p:sp>
        <p:nvSpPr>
          <p:cNvPr id="16" name="Rectangle 15">
            <a:extLst>
              <a:ext uri="{FF2B5EF4-FFF2-40B4-BE49-F238E27FC236}">
                <a16:creationId xmlns:a16="http://schemas.microsoft.com/office/drawing/2014/main" id="{03540869-FBAB-8763-4FB1-80EE0370CC96}"/>
              </a:ext>
            </a:extLst>
          </p:cNvPr>
          <p:cNvSpPr/>
          <p:nvPr/>
        </p:nvSpPr>
        <p:spPr>
          <a:xfrm>
            <a:off x="2476500" y="2528384"/>
            <a:ext cx="1524000"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archivos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(por determinar)</a:t>
            </a:r>
          </a:p>
        </p:txBody>
      </p:sp>
      <p:sp>
        <p:nvSpPr>
          <p:cNvPr id="17" name="Rectangle 16">
            <a:extLst>
              <a:ext uri="{FF2B5EF4-FFF2-40B4-BE49-F238E27FC236}">
                <a16:creationId xmlns:a16="http://schemas.microsoft.com/office/drawing/2014/main" id="{156CFED7-FCFC-BD9C-6C04-E1C4E92F385B}"/>
              </a:ext>
            </a:extLst>
          </p:cNvPr>
          <p:cNvSpPr/>
          <p:nvPr/>
        </p:nvSpPr>
        <p:spPr>
          <a:xfrm>
            <a:off x="4076700" y="2537075"/>
            <a:ext cx="1587500" cy="25692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 de Eventos (por determinar)</a:t>
            </a:r>
          </a:p>
        </p:txBody>
      </p:sp>
      <p:sp>
        <p:nvSpPr>
          <p:cNvPr id="18" name="Rectangle 17">
            <a:extLst>
              <a:ext uri="{FF2B5EF4-FFF2-40B4-BE49-F238E27FC236}">
                <a16:creationId xmlns:a16="http://schemas.microsoft.com/office/drawing/2014/main" id="{D3FB948E-AF63-37EC-DBC7-489A20FAC77D}"/>
              </a:ext>
            </a:extLst>
          </p:cNvPr>
          <p:cNvSpPr/>
          <p:nvPr/>
        </p:nvSpPr>
        <p:spPr>
          <a:xfrm>
            <a:off x="1023879" y="5222526"/>
            <a:ext cx="1197282" cy="43084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Banco Central</a:t>
            </a:r>
          </a:p>
        </p:txBody>
      </p:sp>
      <p:sp>
        <p:nvSpPr>
          <p:cNvPr id="19" name="Rectangle 18">
            <a:extLst>
              <a:ext uri="{FF2B5EF4-FFF2-40B4-BE49-F238E27FC236}">
                <a16:creationId xmlns:a16="http://schemas.microsoft.com/office/drawing/2014/main" id="{203784E0-33FE-5CD8-5255-30F4B3F0DFEF}"/>
              </a:ext>
            </a:extLst>
          </p:cNvPr>
          <p:cNvSpPr/>
          <p:nvPr/>
        </p:nvSpPr>
        <p:spPr>
          <a:xfrm>
            <a:off x="2336486" y="5214287"/>
            <a:ext cx="1197282" cy="43908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Procesadores de tarjetas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(Visa, Mastercard...)</a:t>
            </a:r>
          </a:p>
        </p:txBody>
      </p:sp>
      <p:sp>
        <p:nvSpPr>
          <p:cNvPr id="20" name="Rectangle 19">
            <a:extLst>
              <a:ext uri="{FF2B5EF4-FFF2-40B4-BE49-F238E27FC236}">
                <a16:creationId xmlns:a16="http://schemas.microsoft.com/office/drawing/2014/main" id="{25FB7245-CC4F-3537-3995-E5147BC73DF6}"/>
              </a:ext>
            </a:extLst>
          </p:cNvPr>
          <p:cNvSpPr/>
          <p:nvPr/>
        </p:nvSpPr>
        <p:spPr>
          <a:xfrm>
            <a:off x="3634965" y="5222527"/>
            <a:ext cx="1197282" cy="4308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Esquemas de pagos</a:t>
            </a:r>
          </a:p>
        </p:txBody>
      </p:sp>
      <p:sp>
        <p:nvSpPr>
          <p:cNvPr id="21" name="Rectangle 20">
            <a:extLst>
              <a:ext uri="{FF2B5EF4-FFF2-40B4-BE49-F238E27FC236}">
                <a16:creationId xmlns:a16="http://schemas.microsoft.com/office/drawing/2014/main" id="{70E5800D-7E2C-A6A9-AEE9-4168F98838CC}"/>
              </a:ext>
            </a:extLst>
          </p:cNvPr>
          <p:cNvSpPr/>
          <p:nvPr/>
        </p:nvSpPr>
        <p:spPr>
          <a:xfrm>
            <a:off x="271552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 corporativos</a:t>
            </a:r>
          </a:p>
        </p:txBody>
      </p:sp>
      <p:cxnSp>
        <p:nvCxnSpPr>
          <p:cNvPr id="22" name="Connector: Elbow 21">
            <a:extLst>
              <a:ext uri="{FF2B5EF4-FFF2-40B4-BE49-F238E27FC236}">
                <a16:creationId xmlns:a16="http://schemas.microsoft.com/office/drawing/2014/main" id="{03D48E8C-E13D-6B8C-F51F-A4960168A5CE}"/>
              </a:ext>
            </a:extLst>
          </p:cNvPr>
          <p:cNvCxnSpPr>
            <a:stCxn id="11" idx="2"/>
            <a:endCxn id="9" idx="0"/>
          </p:cNvCxnSpPr>
          <p:nvPr/>
        </p:nvCxnSpPr>
        <p:spPr>
          <a:xfrm rot="5400000" flipV="1">
            <a:off x="2280920" y="1482725"/>
            <a:ext cx="361315" cy="12109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Connector: Elbow 22">
            <a:extLst>
              <a:ext uri="{FF2B5EF4-FFF2-40B4-BE49-F238E27FC236}">
                <a16:creationId xmlns:a16="http://schemas.microsoft.com/office/drawing/2014/main" id="{B1C51259-F8DF-8585-5C91-F6C8C27B5B7B}"/>
              </a:ext>
            </a:extLst>
          </p:cNvPr>
          <p:cNvCxnSpPr>
            <a:stCxn id="21" idx="2"/>
            <a:endCxn id="9" idx="0"/>
          </p:cNvCxnSpPr>
          <p:nvPr/>
        </p:nvCxnSpPr>
        <p:spPr>
          <a:xfrm rot="5400000">
            <a:off x="3070543" y="1904048"/>
            <a:ext cx="361315" cy="368300"/>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F672A89-0DF4-8867-EF47-8268CB718016}"/>
              </a:ext>
            </a:extLst>
          </p:cNvPr>
          <p:cNvCxnSpPr>
            <a:cxnSpLocks/>
            <a:stCxn id="10" idx="0"/>
          </p:cNvCxnSpPr>
          <p:nvPr/>
        </p:nvCxnSpPr>
        <p:spPr>
          <a:xfrm flipV="1">
            <a:off x="1720898" y="2261916"/>
            <a:ext cx="6782" cy="28213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93E9877-352E-37FC-B08B-3E2B208886B4}"/>
              </a:ext>
            </a:extLst>
          </p:cNvPr>
          <p:cNvCxnSpPr>
            <a:cxnSpLocks/>
            <a:stCxn id="16" idx="0"/>
          </p:cNvCxnSpPr>
          <p:nvPr/>
        </p:nvCxnSpPr>
        <p:spPr>
          <a:xfrm flipV="1">
            <a:off x="3238500" y="2286133"/>
            <a:ext cx="2109" cy="242251"/>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DA0E2B36-AE5B-3778-4B88-EF74B5D7FA9C}"/>
              </a:ext>
            </a:extLst>
          </p:cNvPr>
          <p:cNvCxnSpPr>
            <a:cxnSpLocks/>
            <a:stCxn id="17" idx="0"/>
          </p:cNvCxnSpPr>
          <p:nvPr/>
        </p:nvCxnSpPr>
        <p:spPr>
          <a:xfrm flipH="1" flipV="1">
            <a:off x="4870172" y="2304506"/>
            <a:ext cx="278" cy="232569"/>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9F9DC19-A3E8-F933-B60C-554032148E96}"/>
              </a:ext>
            </a:extLst>
          </p:cNvPr>
          <p:cNvSpPr/>
          <p:nvPr/>
        </p:nvSpPr>
        <p:spPr>
          <a:xfrm>
            <a:off x="4901120" y="5222526"/>
            <a:ext cx="1197282" cy="430847"/>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Puntuación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crediticia</a:t>
            </a:r>
          </a:p>
        </p:txBody>
      </p:sp>
      <p:sp>
        <p:nvSpPr>
          <p:cNvPr id="28" name="Rectangle 27">
            <a:extLst>
              <a:ext uri="{FF2B5EF4-FFF2-40B4-BE49-F238E27FC236}">
                <a16:creationId xmlns:a16="http://schemas.microsoft.com/office/drawing/2014/main" id="{6964950C-25A4-86F5-A294-817AD176BBC2}"/>
              </a:ext>
            </a:extLst>
          </p:cNvPr>
          <p:cNvSpPr/>
          <p:nvPr/>
        </p:nvSpPr>
        <p:spPr>
          <a:xfrm>
            <a:off x="400050" y="4123055"/>
            <a:ext cx="5335270" cy="553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90000" tIns="90000" rIns="90000" bIns="90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Pasarela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29" name="Rectangle 28">
            <a:extLst>
              <a:ext uri="{FF2B5EF4-FFF2-40B4-BE49-F238E27FC236}">
                <a16:creationId xmlns:a16="http://schemas.microsoft.com/office/drawing/2014/main" id="{66324819-47E3-857B-3197-9F9C880F332E}"/>
              </a:ext>
            </a:extLst>
          </p:cNvPr>
          <p:cNvSpPr/>
          <p:nvPr/>
        </p:nvSpPr>
        <p:spPr>
          <a:xfrm>
            <a:off x="1226185" y="3592830"/>
            <a:ext cx="1111250" cy="22987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API Gateway</a:t>
            </a:r>
          </a:p>
        </p:txBody>
      </p:sp>
      <p:sp>
        <p:nvSpPr>
          <p:cNvPr id="30" name="Rectangle 29">
            <a:extLst>
              <a:ext uri="{FF2B5EF4-FFF2-40B4-BE49-F238E27FC236}">
                <a16:creationId xmlns:a16="http://schemas.microsoft.com/office/drawing/2014/main" id="{BA6B2FAD-3959-1DBA-3728-FA10FD59AC34}"/>
              </a:ext>
            </a:extLst>
          </p:cNvPr>
          <p:cNvSpPr/>
          <p:nvPr/>
        </p:nvSpPr>
        <p:spPr>
          <a:xfrm>
            <a:off x="2476500" y="4202430"/>
            <a:ext cx="1523365" cy="27843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Pasarela de Archivos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(SFTP)</a:t>
            </a:r>
          </a:p>
        </p:txBody>
      </p:sp>
      <p:cxnSp>
        <p:nvCxnSpPr>
          <p:cNvPr id="31" name="Straight Arrow Connector 30">
            <a:extLst>
              <a:ext uri="{FF2B5EF4-FFF2-40B4-BE49-F238E27FC236}">
                <a16:creationId xmlns:a16="http://schemas.microsoft.com/office/drawing/2014/main" id="{D1AB34B4-CD90-2CED-D4A8-81F33362AE90}"/>
              </a:ext>
            </a:extLst>
          </p:cNvPr>
          <p:cNvCxnSpPr/>
          <p:nvPr/>
        </p:nvCxnSpPr>
        <p:spPr>
          <a:xfrm>
            <a:off x="4680618" y="4677013"/>
            <a:ext cx="0" cy="285621"/>
          </a:xfrm>
          <a:prstGeom prst="straightConnector1">
            <a:avLst/>
          </a:prstGeom>
          <a:ln w="9525">
            <a:solidFill>
              <a:schemeClr val="tx1"/>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Arrow: Up-Down 31">
            <a:extLst>
              <a:ext uri="{FF2B5EF4-FFF2-40B4-BE49-F238E27FC236}">
                <a16:creationId xmlns:a16="http://schemas.microsoft.com/office/drawing/2014/main" id="{66DA3114-6123-73F4-FDA2-FC26FEE60F05}"/>
              </a:ext>
            </a:extLst>
          </p:cNvPr>
          <p:cNvSpPr/>
          <p:nvPr/>
        </p:nvSpPr>
        <p:spPr>
          <a:xfrm>
            <a:off x="3047970" y="3941240"/>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33" name="Connector: Elbow 32">
            <a:extLst>
              <a:ext uri="{FF2B5EF4-FFF2-40B4-BE49-F238E27FC236}">
                <a16:creationId xmlns:a16="http://schemas.microsoft.com/office/drawing/2014/main" id="{76907C47-3C7C-E5B1-390C-03442E5F37E4}"/>
              </a:ext>
            </a:extLst>
          </p:cNvPr>
          <p:cNvCxnSpPr>
            <a:cxnSpLocks/>
            <a:stCxn id="28" idx="2"/>
            <a:endCxn id="18" idx="0"/>
          </p:cNvCxnSpPr>
          <p:nvPr/>
        </p:nvCxnSpPr>
        <p:spPr>
          <a:xfrm rot="5400000">
            <a:off x="2072228" y="4227068"/>
            <a:ext cx="545751" cy="1445165"/>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FF6CAC54-4669-7314-2607-1174CE6DDB06}"/>
              </a:ext>
            </a:extLst>
          </p:cNvPr>
          <p:cNvCxnSpPr>
            <a:cxnSpLocks/>
            <a:stCxn id="28" idx="2"/>
            <a:endCxn id="19" idx="0"/>
          </p:cNvCxnSpPr>
          <p:nvPr/>
        </p:nvCxnSpPr>
        <p:spPr>
          <a:xfrm rot="5400000">
            <a:off x="2732650" y="4879252"/>
            <a:ext cx="537512" cy="132558"/>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FDBA73B-0438-4FCF-0CCB-9742B44101F0}"/>
              </a:ext>
            </a:extLst>
          </p:cNvPr>
          <p:cNvCxnSpPr>
            <a:cxnSpLocks/>
            <a:stCxn id="28" idx="2"/>
            <a:endCxn id="20" idx="0"/>
          </p:cNvCxnSpPr>
          <p:nvPr/>
        </p:nvCxnSpPr>
        <p:spPr>
          <a:xfrm rot="16200000" flipH="1">
            <a:off x="3377769" y="4366690"/>
            <a:ext cx="545752" cy="1165921"/>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10E1D8E6-6D42-5513-6AF6-248D39DDD2DA}"/>
              </a:ext>
            </a:extLst>
          </p:cNvPr>
          <p:cNvCxnSpPr>
            <a:cxnSpLocks/>
            <a:stCxn id="28" idx="2"/>
            <a:endCxn id="27" idx="0"/>
          </p:cNvCxnSpPr>
          <p:nvPr/>
        </p:nvCxnSpPr>
        <p:spPr>
          <a:xfrm rot="16200000" flipH="1">
            <a:off x="4010848" y="3733612"/>
            <a:ext cx="545751" cy="2432076"/>
          </a:xfrm>
          <a:prstGeom prst="bentConnector3">
            <a:avLst>
              <a:gd name="adj1" fmla="val 50000"/>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149C42B-B8FB-701F-F05D-39D58595FA4B}"/>
              </a:ext>
            </a:extLst>
          </p:cNvPr>
          <p:cNvSpPr/>
          <p:nvPr/>
        </p:nvSpPr>
        <p:spPr>
          <a:xfrm>
            <a:off x="1226185" y="3025140"/>
            <a:ext cx="1124585" cy="21844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Open Banking Edge</a:t>
            </a:r>
          </a:p>
        </p:txBody>
      </p:sp>
      <p:sp>
        <p:nvSpPr>
          <p:cNvPr id="38" name="Rectangle 37">
            <a:extLst>
              <a:ext uri="{FF2B5EF4-FFF2-40B4-BE49-F238E27FC236}">
                <a16:creationId xmlns:a16="http://schemas.microsoft.com/office/drawing/2014/main" id="{BA5B979B-F283-E865-CAB4-C6F94E357C1A}"/>
              </a:ext>
            </a:extLst>
          </p:cNvPr>
          <p:cNvSpPr/>
          <p:nvPr/>
        </p:nvSpPr>
        <p:spPr>
          <a:xfrm>
            <a:off x="4294819" y="1655664"/>
            <a:ext cx="1440000" cy="252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Socios</a:t>
            </a:r>
          </a:p>
        </p:txBody>
      </p:sp>
      <p:cxnSp>
        <p:nvCxnSpPr>
          <p:cNvPr id="39" name="Connector: Elbow 38">
            <a:extLst>
              <a:ext uri="{FF2B5EF4-FFF2-40B4-BE49-F238E27FC236}">
                <a16:creationId xmlns:a16="http://schemas.microsoft.com/office/drawing/2014/main" id="{981337D4-869F-B282-3110-EADA0ADB19FD}"/>
              </a:ext>
            </a:extLst>
          </p:cNvPr>
          <p:cNvCxnSpPr>
            <a:stCxn id="38" idx="2"/>
            <a:endCxn id="9" idx="0"/>
          </p:cNvCxnSpPr>
          <p:nvPr/>
        </p:nvCxnSpPr>
        <p:spPr>
          <a:xfrm rot="5400000">
            <a:off x="3860165" y="1114425"/>
            <a:ext cx="361315" cy="1947545"/>
          </a:xfrm>
          <a:prstGeom prst="bentConnector3">
            <a:avLst>
              <a:gd name="adj1" fmla="val 500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5F4A4B5-EE3E-D712-C936-A020104A901B}"/>
              </a:ext>
            </a:extLst>
          </p:cNvPr>
          <p:cNvCxnSpPr/>
          <p:nvPr/>
        </p:nvCxnSpPr>
        <p:spPr>
          <a:xfrm flipH="1" flipV="1">
            <a:off x="2409878" y="3029103"/>
            <a:ext cx="9525" cy="990600"/>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749A6CC3-F1DD-E395-826E-EAC228DCAE82}"/>
              </a:ext>
            </a:extLst>
          </p:cNvPr>
          <p:cNvCxnSpPr>
            <a:cxnSpLocks/>
            <a:endCxn id="30" idx="2"/>
          </p:cNvCxnSpPr>
          <p:nvPr/>
        </p:nvCxnSpPr>
        <p:spPr>
          <a:xfrm flipV="1">
            <a:off x="3237179" y="4480863"/>
            <a:ext cx="1004" cy="171306"/>
          </a:xfrm>
          <a:prstGeom prst="straightConnector1">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41169109-6951-D0E4-9922-9F5D1A564E32}"/>
              </a:ext>
            </a:extLst>
          </p:cNvPr>
          <p:cNvPicPr>
            <a:picLocks noChangeAspect="1"/>
          </p:cNvPicPr>
          <p:nvPr/>
        </p:nvPicPr>
        <p:blipFill>
          <a:blip r:embed="rId2"/>
          <a:stretch>
            <a:fillRect/>
          </a:stretch>
        </p:blipFill>
        <p:spPr>
          <a:xfrm>
            <a:off x="1858586" y="2379794"/>
            <a:ext cx="478306" cy="157281"/>
          </a:xfrm>
          <a:prstGeom prst="rect">
            <a:avLst/>
          </a:prstGeom>
        </p:spPr>
      </p:pic>
      <p:pic>
        <p:nvPicPr>
          <p:cNvPr id="45" name="Picture 44">
            <a:extLst>
              <a:ext uri="{FF2B5EF4-FFF2-40B4-BE49-F238E27FC236}">
                <a16:creationId xmlns:a16="http://schemas.microsoft.com/office/drawing/2014/main" id="{13A71E76-3B87-6ADA-FDD5-4CE0DCE3CDD1}"/>
              </a:ext>
            </a:extLst>
          </p:cNvPr>
          <p:cNvPicPr>
            <a:picLocks noChangeAspect="1"/>
          </p:cNvPicPr>
          <p:nvPr/>
        </p:nvPicPr>
        <p:blipFill>
          <a:blip r:embed="rId2"/>
          <a:stretch>
            <a:fillRect/>
          </a:stretch>
        </p:blipFill>
        <p:spPr>
          <a:xfrm>
            <a:off x="843418" y="3481512"/>
            <a:ext cx="330559" cy="123190"/>
          </a:xfrm>
          <a:prstGeom prst="rect">
            <a:avLst/>
          </a:prstGeom>
        </p:spPr>
      </p:pic>
      <p:sp>
        <p:nvSpPr>
          <p:cNvPr id="46" name="Rectangle 45">
            <a:extLst>
              <a:ext uri="{FF2B5EF4-FFF2-40B4-BE49-F238E27FC236}">
                <a16:creationId xmlns:a16="http://schemas.microsoft.com/office/drawing/2014/main" id="{439FCE98-9F3B-E564-B511-F0EDFEF12CFD}"/>
              </a:ext>
            </a:extLst>
          </p:cNvPr>
          <p:cNvSpPr/>
          <p:nvPr/>
        </p:nvSpPr>
        <p:spPr>
          <a:xfrm>
            <a:off x="424809" y="3708899"/>
            <a:ext cx="770635" cy="210550"/>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SSG</a:t>
            </a:r>
          </a:p>
        </p:txBody>
      </p:sp>
      <p:sp>
        <p:nvSpPr>
          <p:cNvPr id="47" name="Rectangle 46">
            <a:extLst>
              <a:ext uri="{FF2B5EF4-FFF2-40B4-BE49-F238E27FC236}">
                <a16:creationId xmlns:a16="http://schemas.microsoft.com/office/drawing/2014/main" id="{5C2AE379-9480-F8BD-05C7-ED09D3D310B2}"/>
              </a:ext>
            </a:extLst>
          </p:cNvPr>
          <p:cNvSpPr/>
          <p:nvPr/>
        </p:nvSpPr>
        <p:spPr>
          <a:xfrm>
            <a:off x="1226185" y="4203699"/>
            <a:ext cx="1124585" cy="277163"/>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AKAMAI</a:t>
            </a:r>
          </a:p>
        </p:txBody>
      </p:sp>
      <p:sp>
        <p:nvSpPr>
          <p:cNvPr id="48" name="Rectangle 47">
            <a:extLst>
              <a:ext uri="{FF2B5EF4-FFF2-40B4-BE49-F238E27FC236}">
                <a16:creationId xmlns:a16="http://schemas.microsoft.com/office/drawing/2014/main" id="{BFA075FB-F019-6E7C-3FEB-122B845236BC}"/>
              </a:ext>
            </a:extLst>
          </p:cNvPr>
          <p:cNvSpPr/>
          <p:nvPr/>
        </p:nvSpPr>
        <p:spPr>
          <a:xfrm>
            <a:off x="1226185" y="3331845"/>
            <a:ext cx="1122045" cy="17970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sym typeface="+mn-ea"/>
              </a:rPr>
              <a:t>Autorizador</a:t>
            </a:r>
          </a:p>
        </p:txBody>
      </p:sp>
      <p:sp>
        <p:nvSpPr>
          <p:cNvPr id="49" name="Rectangle 48">
            <a:extLst>
              <a:ext uri="{FF2B5EF4-FFF2-40B4-BE49-F238E27FC236}">
                <a16:creationId xmlns:a16="http://schemas.microsoft.com/office/drawing/2014/main" id="{298575CF-CD33-72A6-BFC7-88A798142465}"/>
              </a:ext>
            </a:extLst>
          </p:cNvPr>
          <p:cNvSpPr/>
          <p:nvPr/>
        </p:nvSpPr>
        <p:spPr>
          <a:xfrm>
            <a:off x="440703" y="3025063"/>
            <a:ext cx="739386" cy="218378"/>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Edge</a:t>
            </a:r>
          </a:p>
        </p:txBody>
      </p:sp>
      <p:sp>
        <p:nvSpPr>
          <p:cNvPr id="50" name="Rectangle 49">
            <a:extLst>
              <a:ext uri="{FF2B5EF4-FFF2-40B4-BE49-F238E27FC236}">
                <a16:creationId xmlns:a16="http://schemas.microsoft.com/office/drawing/2014/main" id="{551CC50B-DDF8-05CF-6738-9C6CE61D09F5}"/>
              </a:ext>
            </a:extLst>
          </p:cNvPr>
          <p:cNvSpPr/>
          <p:nvPr/>
        </p:nvSpPr>
        <p:spPr>
          <a:xfrm>
            <a:off x="4076700" y="4202430"/>
            <a:ext cx="1587500" cy="2818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Pasarelade Eventos (por determinar)</a:t>
            </a:r>
          </a:p>
        </p:txBody>
      </p:sp>
      <p:sp>
        <p:nvSpPr>
          <p:cNvPr id="51" name="Rectangle 50">
            <a:extLst>
              <a:ext uri="{FF2B5EF4-FFF2-40B4-BE49-F238E27FC236}">
                <a16:creationId xmlns:a16="http://schemas.microsoft.com/office/drawing/2014/main" id="{C46085AA-5C9C-B588-F752-97411E0C5F18}"/>
              </a:ext>
            </a:extLst>
          </p:cNvPr>
          <p:cNvSpPr/>
          <p:nvPr/>
        </p:nvSpPr>
        <p:spPr>
          <a:xfrm>
            <a:off x="5807710" y="2940685"/>
            <a:ext cx="1111885" cy="100076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SANDBOX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(para los socios)</a:t>
            </a:r>
          </a:p>
        </p:txBody>
      </p:sp>
      <p:sp>
        <p:nvSpPr>
          <p:cNvPr id="52" name="Rectangle 51">
            <a:extLst>
              <a:ext uri="{FF2B5EF4-FFF2-40B4-BE49-F238E27FC236}">
                <a16:creationId xmlns:a16="http://schemas.microsoft.com/office/drawing/2014/main" id="{90D8E8B4-E8FB-2160-7025-5E294AC0B4EC}"/>
              </a:ext>
            </a:extLst>
          </p:cNvPr>
          <p:cNvSpPr/>
          <p:nvPr/>
        </p:nvSpPr>
        <p:spPr>
          <a:xfrm>
            <a:off x="5807710" y="2528385"/>
            <a:ext cx="1111885" cy="265616"/>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sym typeface="+mn-ea"/>
              </a:rPr>
              <a:t>MarketPlace (por determinar)</a:t>
            </a:r>
          </a:p>
        </p:txBody>
      </p:sp>
      <p:sp>
        <p:nvSpPr>
          <p:cNvPr id="53" name="Rectangle 1060">
            <a:extLst>
              <a:ext uri="{FF2B5EF4-FFF2-40B4-BE49-F238E27FC236}">
                <a16:creationId xmlns:a16="http://schemas.microsoft.com/office/drawing/2014/main" id="{66B9A512-7147-A0E8-53FA-4D61B22CD130}"/>
              </a:ext>
            </a:extLst>
          </p:cNvPr>
          <p:cNvSpPr/>
          <p:nvPr/>
        </p:nvSpPr>
        <p:spPr>
          <a:xfrm>
            <a:off x="7860145" y="6252435"/>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cxnSp>
        <p:nvCxnSpPr>
          <p:cNvPr id="54" name="Connector: Elbow 140">
            <a:extLst>
              <a:ext uri="{FF2B5EF4-FFF2-40B4-BE49-F238E27FC236}">
                <a16:creationId xmlns:a16="http://schemas.microsoft.com/office/drawing/2014/main" id="{5D7C1A08-6A0B-31FF-E151-BCAC09DED52C}"/>
              </a:ext>
            </a:extLst>
          </p:cNvPr>
          <p:cNvCxnSpPr>
            <a:cxnSpLocks/>
            <a:stCxn id="47" idx="2"/>
          </p:cNvCxnSpPr>
          <p:nvPr/>
        </p:nvCxnSpPr>
        <p:spPr>
          <a:xfrm rot="16200000" flipH="1">
            <a:off x="2416803" y="3852537"/>
            <a:ext cx="195594" cy="1452244"/>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Arrow: Up-Down 54">
            <a:extLst>
              <a:ext uri="{FF2B5EF4-FFF2-40B4-BE49-F238E27FC236}">
                <a16:creationId xmlns:a16="http://schemas.microsoft.com/office/drawing/2014/main" id="{F170BDBF-0EFD-D088-B440-73DF60424698}"/>
              </a:ext>
            </a:extLst>
          </p:cNvPr>
          <p:cNvSpPr/>
          <p:nvPr/>
        </p:nvSpPr>
        <p:spPr>
          <a:xfrm>
            <a:off x="3006300" y="2823024"/>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56" name="Rectangle 32">
            <a:extLst>
              <a:ext uri="{FF2B5EF4-FFF2-40B4-BE49-F238E27FC236}">
                <a16:creationId xmlns:a16="http://schemas.microsoft.com/office/drawing/2014/main" id="{46CC6183-1267-AAA3-C1BB-2BC5AA8F1E2C}"/>
              </a:ext>
            </a:extLst>
          </p:cNvPr>
          <p:cNvSpPr/>
          <p:nvPr/>
        </p:nvSpPr>
        <p:spPr>
          <a:xfrm>
            <a:off x="1226185" y="3911600"/>
            <a:ext cx="1111885" cy="1974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FFFFFF"/>
                </a:solidFill>
                <a:effectLst/>
                <a:uLnTx/>
                <a:uFillTx/>
                <a:latin typeface="Graphik"/>
                <a:ea typeface="+mn-ea"/>
                <a:cs typeface="+mn-cs"/>
                <a:sym typeface="+mn-ea"/>
              </a:rPr>
              <a:t>DMZ</a:t>
            </a:r>
          </a:p>
        </p:txBody>
      </p:sp>
      <p:sp>
        <p:nvSpPr>
          <p:cNvPr id="57" name="Rectangle 56">
            <a:extLst>
              <a:ext uri="{FF2B5EF4-FFF2-40B4-BE49-F238E27FC236}">
                <a16:creationId xmlns:a16="http://schemas.microsoft.com/office/drawing/2014/main" id="{9725A485-2E14-8961-9D1A-8207BBC735A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59" name="Rectangle 58">
            <a:extLst>
              <a:ext uri="{FF2B5EF4-FFF2-40B4-BE49-F238E27FC236}">
                <a16:creationId xmlns:a16="http://schemas.microsoft.com/office/drawing/2014/main" id="{41D6ADCA-F326-7135-5A9E-2B6A8E9B5155}"/>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61" name="Rectangle 60">
            <a:extLst>
              <a:ext uri="{FF2B5EF4-FFF2-40B4-BE49-F238E27FC236}">
                <a16:creationId xmlns:a16="http://schemas.microsoft.com/office/drawing/2014/main" id="{CB8F1080-3A3C-EECC-D032-8AE5BEE214FF}"/>
              </a:ext>
            </a:extLst>
          </p:cNvPr>
          <p:cNvSpPr/>
          <p:nvPr/>
        </p:nvSpPr>
        <p:spPr>
          <a:xfrm>
            <a:off x="7860145" y="603600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25935437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D7636-D3AE-C7F1-5F77-65AFA539A066}"/>
            </a:ext>
          </a:extLst>
        </p:cNvPr>
        <p:cNvGrpSpPr/>
        <p:nvPr/>
      </p:nvGrpSpPr>
      <p:grpSpPr>
        <a:xfrm>
          <a:off x="0" y="0"/>
          <a:ext cx="0" cy="0"/>
          <a:chOff x="0" y="0"/>
          <a:chExt cx="0" cy="0"/>
        </a:xfrm>
      </p:grpSpPr>
      <p:sp>
        <p:nvSpPr>
          <p:cNvPr id="118" name="Title 1">
            <a:extLst>
              <a:ext uri="{FF2B5EF4-FFF2-40B4-BE49-F238E27FC236}">
                <a16:creationId xmlns:a16="http://schemas.microsoft.com/office/drawing/2014/main" id="{21F5739B-AC3D-1414-E7D0-4D980279C598}"/>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dirty="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dirty="0">
                <a:ln>
                  <a:noFill/>
                </a:ln>
                <a:solidFill>
                  <a:srgbClr val="000000"/>
                </a:solidFill>
                <a:effectLst/>
                <a:uLnTx/>
                <a:uFillTx/>
                <a:latin typeface="Graphik"/>
                <a:ea typeface="+mj-ea"/>
                <a:cs typeface="+mj-cs"/>
              </a:rPr>
              <a:t>| </a:t>
            </a:r>
            <a:r>
              <a:rPr kumimoji="0" lang="es" sz="2000" b="1" i="0" u="none" strike="noStrike" kern="1200" cap="none" spc="0" normalizeH="0" baseline="0" noProof="0" dirty="0">
                <a:ln>
                  <a:noFill/>
                </a:ln>
                <a:solidFill>
                  <a:srgbClr val="000000"/>
                </a:solidFill>
                <a:effectLst/>
                <a:uLnTx/>
                <a:uFillTx/>
                <a:latin typeface="Graphik"/>
                <a:ea typeface="+mj-ea"/>
                <a:cs typeface="+mj-cs"/>
              </a:rPr>
              <a:t>Seguridad</a:t>
            </a:r>
            <a:endParaRPr kumimoji="0" lang="es" sz="2400" b="1" i="0" u="none" strike="noStrike" kern="1200" cap="none" spc="0" normalizeH="0" baseline="0" noProof="0" dirty="0">
              <a:ln>
                <a:noFill/>
              </a:ln>
              <a:solidFill>
                <a:srgbClr val="000000"/>
              </a:solidFill>
              <a:effectLst/>
              <a:uLnTx/>
              <a:uFillTx/>
              <a:latin typeface="Graphik"/>
              <a:ea typeface="+mj-ea"/>
              <a:cs typeface="+mj-cs"/>
            </a:endParaRPr>
          </a:p>
        </p:txBody>
      </p:sp>
      <p:grpSp>
        <p:nvGrpSpPr>
          <p:cNvPr id="4" name="Group 3">
            <a:extLst>
              <a:ext uri="{FF2B5EF4-FFF2-40B4-BE49-F238E27FC236}">
                <a16:creationId xmlns:a16="http://schemas.microsoft.com/office/drawing/2014/main" id="{64307479-E53E-44D8-C537-6C0CD8CBCBB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5AC0E75-02CE-7512-E4D8-78541B660E1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17623EBF-0B75-A7E8-A39D-F854C81F910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3EAA96-47A1-F70B-C2AC-26BE9DCD648A}"/>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0" name="Rectangle 99">
            <a:extLst>
              <a:ext uri="{FF2B5EF4-FFF2-40B4-BE49-F238E27FC236}">
                <a16:creationId xmlns:a16="http://schemas.microsoft.com/office/drawing/2014/main" id="{00E7A019-5C0B-BD40-7217-068974E57EC5}"/>
              </a:ext>
            </a:extLst>
          </p:cNvPr>
          <p:cNvSpPr/>
          <p:nvPr/>
        </p:nvSpPr>
        <p:spPr>
          <a:xfrm>
            <a:off x="3847488" y="5513159"/>
            <a:ext cx="4795770" cy="1155991"/>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Rectangle 103">
            <a:extLst>
              <a:ext uri="{FF2B5EF4-FFF2-40B4-BE49-F238E27FC236}">
                <a16:creationId xmlns:a16="http://schemas.microsoft.com/office/drawing/2014/main" id="{A21890F0-D264-E20F-F4DC-E4627912EFE7}"/>
              </a:ext>
            </a:extLst>
          </p:cNvPr>
          <p:cNvSpPr/>
          <p:nvPr/>
        </p:nvSpPr>
        <p:spPr>
          <a:xfrm>
            <a:off x="3924601" y="1764313"/>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dirty="0">
                <a:ln>
                  <a:noFill/>
                </a:ln>
                <a:solidFill>
                  <a:srgbClr val="000000"/>
                </a:solidFill>
                <a:effectLst/>
                <a:uLnTx/>
                <a:uFillTx/>
                <a:latin typeface="Graphik"/>
                <a:ea typeface="+mn-ea"/>
                <a:cs typeface="+mn-cs"/>
              </a:rPr>
              <a:t>Outbound</a:t>
            </a:r>
          </a:p>
        </p:txBody>
      </p:sp>
      <p:sp>
        <p:nvSpPr>
          <p:cNvPr id="105" name="Rectangle 104">
            <a:extLst>
              <a:ext uri="{FF2B5EF4-FFF2-40B4-BE49-F238E27FC236}">
                <a16:creationId xmlns:a16="http://schemas.microsoft.com/office/drawing/2014/main" id="{2BF9DA2B-9A19-BBA9-9BC6-C4EC5AC361D1}"/>
              </a:ext>
            </a:extLst>
          </p:cNvPr>
          <p:cNvSpPr/>
          <p:nvPr/>
        </p:nvSpPr>
        <p:spPr>
          <a:xfrm>
            <a:off x="3932267" y="1458620"/>
            <a:ext cx="4623332" cy="2682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1" u="none" strike="noStrike" kern="1200" cap="none" spc="0" normalizeH="0" baseline="0" noProof="0">
                <a:ln>
                  <a:noFill/>
                </a:ln>
                <a:solidFill>
                  <a:srgbClr val="000000"/>
                </a:solidFill>
                <a:effectLst/>
                <a:uLnTx/>
                <a:uFillTx/>
                <a:latin typeface="Graphik"/>
                <a:ea typeface="+mn-ea"/>
                <a:cs typeface="+mn-cs"/>
              </a:rPr>
              <a:t>Inbound</a:t>
            </a:r>
          </a:p>
        </p:txBody>
      </p:sp>
      <p:sp>
        <p:nvSpPr>
          <p:cNvPr id="106" name="TextBox 105">
            <a:extLst>
              <a:ext uri="{FF2B5EF4-FFF2-40B4-BE49-F238E27FC236}">
                <a16:creationId xmlns:a16="http://schemas.microsoft.com/office/drawing/2014/main" id="{518D815F-F889-811B-EB63-3277CEE97798}"/>
              </a:ext>
            </a:extLst>
          </p:cNvPr>
          <p:cNvSpPr txBox="1"/>
          <p:nvPr/>
        </p:nvSpPr>
        <p:spPr>
          <a:xfrm>
            <a:off x="3929736" y="1016466"/>
            <a:ext cx="1966403" cy="19239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Servicios de Gateway</a:t>
            </a:r>
          </a:p>
        </p:txBody>
      </p:sp>
      <p:sp>
        <p:nvSpPr>
          <p:cNvPr id="107" name="Rectangle 106">
            <a:extLst>
              <a:ext uri="{FF2B5EF4-FFF2-40B4-BE49-F238E27FC236}">
                <a16:creationId xmlns:a16="http://schemas.microsoft.com/office/drawing/2014/main" id="{00A6270B-4F86-51E3-277B-EE70D07215B9}"/>
              </a:ext>
            </a:extLst>
          </p:cNvPr>
          <p:cNvSpPr/>
          <p:nvPr/>
        </p:nvSpPr>
        <p:spPr>
          <a:xfrm>
            <a:off x="3932266" y="2585323"/>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Perimetral  Security (FW) Reglas de Ruteo</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108" name="Rectangle 107">
            <a:extLst>
              <a:ext uri="{FF2B5EF4-FFF2-40B4-BE49-F238E27FC236}">
                <a16:creationId xmlns:a16="http://schemas.microsoft.com/office/drawing/2014/main" id="{36272C7F-5ADD-F870-8753-3D6FD231D985}"/>
              </a:ext>
            </a:extLst>
          </p:cNvPr>
          <p:cNvSpPr/>
          <p:nvPr/>
        </p:nvSpPr>
        <p:spPr>
          <a:xfrm>
            <a:off x="3932266" y="2077762"/>
            <a:ext cx="4623332"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DMZ </a:t>
            </a:r>
          </a:p>
        </p:txBody>
      </p:sp>
      <p:sp>
        <p:nvSpPr>
          <p:cNvPr id="109" name="Can 172">
            <a:extLst>
              <a:ext uri="{FF2B5EF4-FFF2-40B4-BE49-F238E27FC236}">
                <a16:creationId xmlns:a16="http://schemas.microsoft.com/office/drawing/2014/main" id="{D208E0A0-3175-3539-E61C-FA1146970091}"/>
              </a:ext>
            </a:extLst>
          </p:cNvPr>
          <p:cNvSpPr/>
          <p:nvPr/>
        </p:nvSpPr>
        <p:spPr bwMode="auto">
          <a:xfrm>
            <a:off x="2220595" y="2631665"/>
            <a:ext cx="354330" cy="145224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Observabilidad de seguridad</a:t>
            </a:r>
          </a:p>
        </p:txBody>
      </p:sp>
      <p:cxnSp>
        <p:nvCxnSpPr>
          <p:cNvPr id="110" name="Connector: Elbow 124">
            <a:extLst>
              <a:ext uri="{FF2B5EF4-FFF2-40B4-BE49-F238E27FC236}">
                <a16:creationId xmlns:a16="http://schemas.microsoft.com/office/drawing/2014/main" id="{ABE2A46E-6BB2-DCB5-572D-BE2657D8FA30}"/>
              </a:ext>
            </a:extLst>
          </p:cNvPr>
          <p:cNvCxnSpPr>
            <a:stCxn id="108" idx="1"/>
            <a:endCxn id="109" idx="4"/>
          </p:cNvCxnSpPr>
          <p:nvPr/>
        </p:nvCxnSpPr>
        <p:spPr>
          <a:xfrm rot="10800000" flipV="1">
            <a:off x="2574925" y="2222090"/>
            <a:ext cx="1357630" cy="1136015"/>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1" name="TextBox 110">
            <a:extLst>
              <a:ext uri="{FF2B5EF4-FFF2-40B4-BE49-F238E27FC236}">
                <a16:creationId xmlns:a16="http://schemas.microsoft.com/office/drawing/2014/main" id="{9BBF82CE-974F-8FDD-2AFB-4FD071BA0CA7}"/>
              </a:ext>
            </a:extLst>
          </p:cNvPr>
          <p:cNvSpPr txBox="1"/>
          <p:nvPr/>
        </p:nvSpPr>
        <p:spPr>
          <a:xfrm>
            <a:off x="3932266" y="3032794"/>
            <a:ext cx="1966403" cy="230832"/>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Gestión de APIs</a:t>
            </a:r>
          </a:p>
        </p:txBody>
      </p:sp>
      <p:sp>
        <p:nvSpPr>
          <p:cNvPr id="112" name="Rectangle 111">
            <a:extLst>
              <a:ext uri="{FF2B5EF4-FFF2-40B4-BE49-F238E27FC236}">
                <a16:creationId xmlns:a16="http://schemas.microsoft.com/office/drawing/2014/main" id="{2FCA7666-39F0-1494-38EF-37DA4A839138}"/>
              </a:ext>
            </a:extLst>
          </p:cNvPr>
          <p:cNvSpPr/>
          <p:nvPr/>
        </p:nvSpPr>
        <p:spPr>
          <a:xfrm>
            <a:off x="3933115" y="330563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Identidad y Acceso</a:t>
            </a:r>
          </a:p>
        </p:txBody>
      </p:sp>
      <p:sp>
        <p:nvSpPr>
          <p:cNvPr id="113" name="Rectangle 112">
            <a:extLst>
              <a:ext uri="{FF2B5EF4-FFF2-40B4-BE49-F238E27FC236}">
                <a16:creationId xmlns:a16="http://schemas.microsoft.com/office/drawing/2014/main" id="{9C6A4068-8E3D-DC80-5D2A-EF2B901B2778}"/>
              </a:ext>
            </a:extLst>
          </p:cNvPr>
          <p:cNvSpPr/>
          <p:nvPr/>
        </p:nvSpPr>
        <p:spPr>
          <a:xfrm>
            <a:off x="3932266"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usuarios</a:t>
            </a:r>
          </a:p>
        </p:txBody>
      </p:sp>
      <p:sp>
        <p:nvSpPr>
          <p:cNvPr id="114" name="Rectangle 113">
            <a:extLst>
              <a:ext uri="{FF2B5EF4-FFF2-40B4-BE49-F238E27FC236}">
                <a16:creationId xmlns:a16="http://schemas.microsoft.com/office/drawing/2014/main" id="{F6A48956-6EDF-65AC-8C11-AA2EA2361FD5}"/>
              </a:ext>
            </a:extLst>
          </p:cNvPr>
          <p:cNvSpPr/>
          <p:nvPr/>
        </p:nvSpPr>
        <p:spPr>
          <a:xfrm>
            <a:off x="5099440"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fichas</a:t>
            </a:r>
          </a:p>
        </p:txBody>
      </p:sp>
      <p:sp>
        <p:nvSpPr>
          <p:cNvPr id="115" name="Rectangle 114">
            <a:extLst>
              <a:ext uri="{FF2B5EF4-FFF2-40B4-BE49-F238E27FC236}">
                <a16:creationId xmlns:a16="http://schemas.microsoft.com/office/drawing/2014/main" id="{447AB55E-2FF0-1AC0-FF7F-05387DB6899B}"/>
              </a:ext>
            </a:extLst>
          </p:cNvPr>
          <p:cNvSpPr/>
          <p:nvPr/>
        </p:nvSpPr>
        <p:spPr>
          <a:xfrm>
            <a:off x="6275015" y="365864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de Certificados</a:t>
            </a:r>
          </a:p>
        </p:txBody>
      </p:sp>
      <p:sp>
        <p:nvSpPr>
          <p:cNvPr id="116" name="Rectangle 115">
            <a:extLst>
              <a:ext uri="{FF2B5EF4-FFF2-40B4-BE49-F238E27FC236}">
                <a16:creationId xmlns:a16="http://schemas.microsoft.com/office/drawing/2014/main" id="{4FE2F994-B06E-B23F-F338-7FBC9F1CA761}"/>
              </a:ext>
            </a:extLst>
          </p:cNvPr>
          <p:cNvSpPr/>
          <p:nvPr/>
        </p:nvSpPr>
        <p:spPr>
          <a:xfrm>
            <a:off x="7445408" y="3660860"/>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Gestión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políticas</a:t>
            </a:r>
          </a:p>
        </p:txBody>
      </p:sp>
      <p:cxnSp>
        <p:nvCxnSpPr>
          <p:cNvPr id="117" name="Straight Arrow Connector 116">
            <a:extLst>
              <a:ext uri="{FF2B5EF4-FFF2-40B4-BE49-F238E27FC236}">
                <a16:creationId xmlns:a16="http://schemas.microsoft.com/office/drawing/2014/main" id="{8CB6AE69-4E1D-7013-F8DC-A18FE1938C3C}"/>
              </a:ext>
            </a:extLst>
          </p:cNvPr>
          <p:cNvCxnSpPr>
            <a:cxnSpLocks/>
            <a:stCxn id="169" idx="1"/>
            <a:endCxn id="116" idx="3"/>
          </p:cNvCxnSpPr>
          <p:nvPr/>
        </p:nvCxnSpPr>
        <p:spPr>
          <a:xfrm flipH="1">
            <a:off x="8556449" y="3822949"/>
            <a:ext cx="895576" cy="289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09A2206A-083A-B245-7F5E-2111E112DD8F}"/>
              </a:ext>
            </a:extLst>
          </p:cNvPr>
          <p:cNvSpPr txBox="1"/>
          <p:nvPr/>
        </p:nvSpPr>
        <p:spPr>
          <a:xfrm>
            <a:off x="3287317" y="3520825"/>
            <a:ext cx="560170"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solidFill>
                <a:effectLst/>
                <a:uLnTx/>
                <a:uFillTx/>
                <a:latin typeface="Graphik"/>
                <a:ea typeface="+mn-ea"/>
                <a:cs typeface="+mn-cs"/>
              </a:rPr>
              <a:t>Desarrolladores</a:t>
            </a:r>
          </a:p>
        </p:txBody>
      </p:sp>
      <p:cxnSp>
        <p:nvCxnSpPr>
          <p:cNvPr id="121" name="Straight Arrow Connector 120">
            <a:extLst>
              <a:ext uri="{FF2B5EF4-FFF2-40B4-BE49-F238E27FC236}">
                <a16:creationId xmlns:a16="http://schemas.microsoft.com/office/drawing/2014/main" id="{AADC4529-E40E-21E6-DB32-9046A3266774}"/>
              </a:ext>
            </a:extLst>
          </p:cNvPr>
          <p:cNvCxnSpPr/>
          <p:nvPr/>
        </p:nvCxnSpPr>
        <p:spPr>
          <a:xfrm>
            <a:off x="3760892" y="3591916"/>
            <a:ext cx="17137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91383484-BD07-5185-4166-61F391E0D508}"/>
              </a:ext>
            </a:extLst>
          </p:cNvPr>
          <p:cNvSpPr/>
          <p:nvPr/>
        </p:nvSpPr>
        <p:spPr>
          <a:xfrm>
            <a:off x="3933604" y="4078545"/>
            <a:ext cx="4623333"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API</a:t>
            </a:r>
          </a:p>
        </p:txBody>
      </p:sp>
      <p:sp>
        <p:nvSpPr>
          <p:cNvPr id="123" name="Rectangle 122">
            <a:extLst>
              <a:ext uri="{FF2B5EF4-FFF2-40B4-BE49-F238E27FC236}">
                <a16:creationId xmlns:a16="http://schemas.microsoft.com/office/drawing/2014/main" id="{3315AF8A-F3D8-F38E-1769-C80230093113}"/>
              </a:ext>
            </a:extLst>
          </p:cNvPr>
          <p:cNvSpPr/>
          <p:nvPr/>
        </p:nvSpPr>
        <p:spPr>
          <a:xfrm>
            <a:off x="3932266" y="4432534"/>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Autenticación</a:t>
            </a:r>
          </a:p>
        </p:txBody>
      </p:sp>
      <p:sp>
        <p:nvSpPr>
          <p:cNvPr id="124" name="Rectangle 123">
            <a:extLst>
              <a:ext uri="{FF2B5EF4-FFF2-40B4-BE49-F238E27FC236}">
                <a16:creationId xmlns:a16="http://schemas.microsoft.com/office/drawing/2014/main" id="{8322BF55-3AD0-B8DE-4829-51D59A16A6DE}"/>
              </a:ext>
            </a:extLst>
          </p:cNvPr>
          <p:cNvSpPr/>
          <p:nvPr/>
        </p:nvSpPr>
        <p:spPr>
          <a:xfrm>
            <a:off x="5119251" y="4432533"/>
            <a:ext cx="1111041"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Autorización</a:t>
            </a:r>
          </a:p>
        </p:txBody>
      </p:sp>
      <p:sp>
        <p:nvSpPr>
          <p:cNvPr id="125" name="Rectangle 124">
            <a:extLst>
              <a:ext uri="{FF2B5EF4-FFF2-40B4-BE49-F238E27FC236}">
                <a16:creationId xmlns:a16="http://schemas.microsoft.com/office/drawing/2014/main" id="{6F0D59EE-393E-FC52-B786-04B2ED32067E}"/>
              </a:ext>
            </a:extLst>
          </p:cNvPr>
          <p:cNvSpPr/>
          <p:nvPr/>
        </p:nvSpPr>
        <p:spPr>
          <a:xfrm>
            <a:off x="6305476" y="4432532"/>
            <a:ext cx="107064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Ataques por inyección</a:t>
            </a:r>
          </a:p>
        </p:txBody>
      </p:sp>
      <p:sp>
        <p:nvSpPr>
          <p:cNvPr id="126" name="Rectangle 125">
            <a:extLst>
              <a:ext uri="{FF2B5EF4-FFF2-40B4-BE49-F238E27FC236}">
                <a16:creationId xmlns:a16="http://schemas.microsoft.com/office/drawing/2014/main" id="{9674111B-3931-D0C2-0869-9B736007C9B9}"/>
              </a:ext>
            </a:extLst>
          </p:cNvPr>
          <p:cNvSpPr/>
          <p:nvPr/>
        </p:nvSpPr>
        <p:spPr>
          <a:xfrm>
            <a:off x="7453037" y="4432531"/>
            <a:ext cx="1111041" cy="32995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de Políticas</a:t>
            </a:r>
          </a:p>
        </p:txBody>
      </p:sp>
      <p:sp>
        <p:nvSpPr>
          <p:cNvPr id="127" name="Rectangle 126">
            <a:extLst>
              <a:ext uri="{FF2B5EF4-FFF2-40B4-BE49-F238E27FC236}">
                <a16:creationId xmlns:a16="http://schemas.microsoft.com/office/drawing/2014/main" id="{20B938BA-8F52-7DEA-7AAE-67D75D23A915}"/>
              </a:ext>
            </a:extLst>
          </p:cNvPr>
          <p:cNvSpPr/>
          <p:nvPr/>
        </p:nvSpPr>
        <p:spPr>
          <a:xfrm>
            <a:off x="3932266" y="5161431"/>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Registro de auditoría </a:t>
            </a:r>
            <a:r>
              <a:rPr lang="es" sz="900" dirty="0">
                <a:solidFill>
                  <a:srgbClr val="000000"/>
                </a:solidFill>
                <a:latin typeface="Graphik"/>
              </a:rPr>
              <a:t>y</a:t>
            </a:r>
            <a:r>
              <a:rPr kumimoji="0" lang="es" sz="900" b="0" i="0" u="none" strike="noStrike" kern="1200" cap="none" spc="0" normalizeH="0" baseline="0" noProof="0" dirty="0">
                <a:ln>
                  <a:noFill/>
                </a:ln>
                <a:solidFill>
                  <a:srgbClr val="000000"/>
                </a:solidFill>
                <a:effectLst/>
                <a:uLnTx/>
                <a:uFillTx/>
                <a:latin typeface="Graphik"/>
                <a:ea typeface="+mn-ea"/>
                <a:cs typeface="+mn-cs"/>
              </a:rPr>
              <a:t> auditoría</a:t>
            </a:r>
          </a:p>
        </p:txBody>
      </p:sp>
      <p:cxnSp>
        <p:nvCxnSpPr>
          <p:cNvPr id="128" name="Connector: Elbow 124">
            <a:extLst>
              <a:ext uri="{FF2B5EF4-FFF2-40B4-BE49-F238E27FC236}">
                <a16:creationId xmlns:a16="http://schemas.microsoft.com/office/drawing/2014/main" id="{ADE24F68-1046-FD05-4E1B-8E556D231F05}"/>
              </a:ext>
            </a:extLst>
          </p:cNvPr>
          <p:cNvCxnSpPr>
            <a:stCxn id="127" idx="1"/>
            <a:endCxn id="158" idx="3"/>
          </p:cNvCxnSpPr>
          <p:nvPr/>
        </p:nvCxnSpPr>
        <p:spPr>
          <a:xfrm rot="10800000" flipV="1">
            <a:off x="3671102" y="5326409"/>
            <a:ext cx="261164" cy="49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Connector: Elbow 124">
            <a:extLst>
              <a:ext uri="{FF2B5EF4-FFF2-40B4-BE49-F238E27FC236}">
                <a16:creationId xmlns:a16="http://schemas.microsoft.com/office/drawing/2014/main" id="{C874352A-D2F2-6E1A-C3CA-367DF737FEAE}"/>
              </a:ext>
            </a:extLst>
          </p:cNvPr>
          <p:cNvCxnSpPr>
            <a:stCxn id="158" idx="1"/>
            <a:endCxn id="109" idx="4"/>
          </p:cNvCxnSpPr>
          <p:nvPr/>
        </p:nvCxnSpPr>
        <p:spPr>
          <a:xfrm rot="10800000">
            <a:off x="2574925" y="3358105"/>
            <a:ext cx="544195" cy="1973580"/>
          </a:xfrm>
          <a:prstGeom prst="bentConnector3">
            <a:avLst>
              <a:gd name="adj1" fmla="val 4994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EEEB7811-D3D0-9FC4-2E0B-AD98BD29199B}"/>
              </a:ext>
            </a:extLst>
          </p:cNvPr>
          <p:cNvCxnSpPr/>
          <p:nvPr/>
        </p:nvCxnSpPr>
        <p:spPr>
          <a:xfrm>
            <a:off x="8564078" y="4328827"/>
            <a:ext cx="25012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A4F09B6A-D871-DD48-FE76-71645B88044B}"/>
              </a:ext>
            </a:extLst>
          </p:cNvPr>
          <p:cNvCxnSpPr/>
          <p:nvPr/>
        </p:nvCxnSpPr>
        <p:spPr>
          <a:xfrm flipV="1">
            <a:off x="8559928" y="4471788"/>
            <a:ext cx="253932" cy="114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2" name="Rectangle: Rounded Corners 55">
            <a:extLst>
              <a:ext uri="{FF2B5EF4-FFF2-40B4-BE49-F238E27FC236}">
                <a16:creationId xmlns:a16="http://schemas.microsoft.com/office/drawing/2014/main" id="{5E208094-EA60-1E65-546A-CADB3BD61425}"/>
              </a:ext>
            </a:extLst>
          </p:cNvPr>
          <p:cNvSpPr/>
          <p:nvPr/>
        </p:nvSpPr>
        <p:spPr>
          <a:xfrm>
            <a:off x="3956810" y="4803024"/>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KEY store</a:t>
            </a:r>
          </a:p>
        </p:txBody>
      </p:sp>
      <p:sp>
        <p:nvSpPr>
          <p:cNvPr id="133" name="Can 172">
            <a:extLst>
              <a:ext uri="{FF2B5EF4-FFF2-40B4-BE49-F238E27FC236}">
                <a16:creationId xmlns:a16="http://schemas.microsoft.com/office/drawing/2014/main" id="{F8471EE6-C518-2092-6AE6-A540C52E7BEB}"/>
              </a:ext>
            </a:extLst>
          </p:cNvPr>
          <p:cNvSpPr/>
          <p:nvPr/>
        </p:nvSpPr>
        <p:spPr bwMode="auto">
          <a:xfrm>
            <a:off x="2192655" y="4261075"/>
            <a:ext cx="445770" cy="120904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Omni Channel</a:t>
            </a:r>
          </a:p>
        </p:txBody>
      </p:sp>
      <p:pic>
        <p:nvPicPr>
          <p:cNvPr id="134" name="Picture 133">
            <a:extLst>
              <a:ext uri="{FF2B5EF4-FFF2-40B4-BE49-F238E27FC236}">
                <a16:creationId xmlns:a16="http://schemas.microsoft.com/office/drawing/2014/main" id="{8B852413-8AD0-8EA3-BAF8-F01F3821EC94}"/>
              </a:ext>
            </a:extLst>
          </p:cNvPr>
          <p:cNvPicPr>
            <a:picLocks noChangeAspect="1"/>
          </p:cNvPicPr>
          <p:nvPr/>
        </p:nvPicPr>
        <p:blipFill>
          <a:blip r:embed="rId2">
            <a:duotone>
              <a:prstClr val="black"/>
              <a:schemeClr val="bg1">
                <a:tint val="45000"/>
                <a:satMod val="400000"/>
              </a:schemeClr>
            </a:duotone>
          </a:blip>
          <a:stretch>
            <a:fillRect/>
          </a:stretch>
        </p:blipFill>
        <p:spPr>
          <a:xfrm>
            <a:off x="4034869" y="4881312"/>
            <a:ext cx="138994" cy="138994"/>
          </a:xfrm>
          <a:prstGeom prst="rect">
            <a:avLst/>
          </a:prstGeom>
        </p:spPr>
      </p:pic>
      <p:sp>
        <p:nvSpPr>
          <p:cNvPr id="135" name="Rectangle: Rounded Corners 55">
            <a:extLst>
              <a:ext uri="{FF2B5EF4-FFF2-40B4-BE49-F238E27FC236}">
                <a16:creationId xmlns:a16="http://schemas.microsoft.com/office/drawing/2014/main" id="{D6B03170-D0D1-BE82-B976-9CFFD17AC9B6}"/>
              </a:ext>
            </a:extLst>
          </p:cNvPr>
          <p:cNvSpPr/>
          <p:nvPr/>
        </p:nvSpPr>
        <p:spPr>
          <a:xfrm>
            <a:off x="5214099" y="4806743"/>
            <a:ext cx="3199856"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Policy Store</a:t>
            </a:r>
          </a:p>
        </p:txBody>
      </p:sp>
      <p:pic>
        <p:nvPicPr>
          <p:cNvPr id="136" name="Picture 135">
            <a:extLst>
              <a:ext uri="{FF2B5EF4-FFF2-40B4-BE49-F238E27FC236}">
                <a16:creationId xmlns:a16="http://schemas.microsoft.com/office/drawing/2014/main" id="{962C4EE0-72D8-7A0D-F7F6-187F7ECE2D63}"/>
              </a:ext>
            </a:extLst>
          </p:cNvPr>
          <p:cNvPicPr>
            <a:picLocks noChangeAspect="1"/>
          </p:cNvPicPr>
          <p:nvPr/>
        </p:nvPicPr>
        <p:blipFill>
          <a:blip r:embed="rId3"/>
          <a:stretch>
            <a:fillRect/>
          </a:stretch>
        </p:blipFill>
        <p:spPr>
          <a:xfrm>
            <a:off x="6210481" y="4857532"/>
            <a:ext cx="200258" cy="200258"/>
          </a:xfrm>
          <a:prstGeom prst="rect">
            <a:avLst/>
          </a:prstGeom>
        </p:spPr>
      </p:pic>
      <p:cxnSp>
        <p:nvCxnSpPr>
          <p:cNvPr id="137" name="Connector: Elbow 124">
            <a:extLst>
              <a:ext uri="{FF2B5EF4-FFF2-40B4-BE49-F238E27FC236}">
                <a16:creationId xmlns:a16="http://schemas.microsoft.com/office/drawing/2014/main" id="{C8F2EA5F-76B3-5414-0D9E-811E9B3DB85F}"/>
              </a:ext>
            </a:extLst>
          </p:cNvPr>
          <p:cNvCxnSpPr>
            <a:stCxn id="124" idx="1"/>
            <a:endCxn id="135" idx="1"/>
          </p:cNvCxnSpPr>
          <p:nvPr/>
        </p:nvCxnSpPr>
        <p:spPr>
          <a:xfrm rot="10800000" flipH="1" flipV="1">
            <a:off x="5119251" y="4597512"/>
            <a:ext cx="94848" cy="354540"/>
          </a:xfrm>
          <a:prstGeom prst="bentConnector3">
            <a:avLst>
              <a:gd name="adj1" fmla="val -24101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8" name="Connector: Elbow 124">
            <a:extLst>
              <a:ext uri="{FF2B5EF4-FFF2-40B4-BE49-F238E27FC236}">
                <a16:creationId xmlns:a16="http://schemas.microsoft.com/office/drawing/2014/main" id="{897E5A7D-D90B-F491-9542-281BF3E84B3A}"/>
              </a:ext>
            </a:extLst>
          </p:cNvPr>
          <p:cNvCxnSpPr>
            <a:stCxn id="126" idx="3"/>
            <a:endCxn id="135" idx="3"/>
          </p:cNvCxnSpPr>
          <p:nvPr/>
        </p:nvCxnSpPr>
        <p:spPr>
          <a:xfrm flipH="1">
            <a:off x="8413955" y="4597510"/>
            <a:ext cx="150123" cy="354542"/>
          </a:xfrm>
          <a:prstGeom prst="bentConnector3">
            <a:avLst>
              <a:gd name="adj1" fmla="val -15227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9" name="Connector: Elbow 124">
            <a:extLst>
              <a:ext uri="{FF2B5EF4-FFF2-40B4-BE49-F238E27FC236}">
                <a16:creationId xmlns:a16="http://schemas.microsoft.com/office/drawing/2014/main" id="{2D11A522-704C-7638-43B3-63CC587703BB}"/>
              </a:ext>
            </a:extLst>
          </p:cNvPr>
          <p:cNvCxnSpPr>
            <a:stCxn id="107" idx="1"/>
            <a:endCxn id="109" idx="4"/>
          </p:cNvCxnSpPr>
          <p:nvPr/>
        </p:nvCxnSpPr>
        <p:spPr>
          <a:xfrm rot="10800000" flipV="1">
            <a:off x="2574925" y="2729455"/>
            <a:ext cx="1357630" cy="62865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Connector: Elbow 124">
            <a:extLst>
              <a:ext uri="{FF2B5EF4-FFF2-40B4-BE49-F238E27FC236}">
                <a16:creationId xmlns:a16="http://schemas.microsoft.com/office/drawing/2014/main" id="{E4F5A1F6-4185-218B-83A3-3E636D6A7A37}"/>
              </a:ext>
            </a:extLst>
          </p:cNvPr>
          <p:cNvCxnSpPr>
            <a:endCxn id="109" idx="4"/>
          </p:cNvCxnSpPr>
          <p:nvPr/>
        </p:nvCxnSpPr>
        <p:spPr>
          <a:xfrm rot="10800000">
            <a:off x="2574886" y="3357830"/>
            <a:ext cx="1358723" cy="8150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1" name="Can 172">
            <a:extLst>
              <a:ext uri="{FF2B5EF4-FFF2-40B4-BE49-F238E27FC236}">
                <a16:creationId xmlns:a16="http://schemas.microsoft.com/office/drawing/2014/main" id="{0CFBAB36-E49D-1B6D-4A4D-112323B2307F}"/>
              </a:ext>
            </a:extLst>
          </p:cNvPr>
          <p:cNvSpPr/>
          <p:nvPr/>
        </p:nvSpPr>
        <p:spPr bwMode="auto">
          <a:xfrm>
            <a:off x="10052050" y="2446245"/>
            <a:ext cx="612775" cy="1590040"/>
          </a:xfrm>
          <a:prstGeom prst="can">
            <a:avLst>
              <a:gd name="adj" fmla="val 59089"/>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Pentesting y Gestión de Vulnerabilidades (Capa aislada).</a:t>
            </a:r>
          </a:p>
        </p:txBody>
      </p:sp>
      <p:cxnSp>
        <p:nvCxnSpPr>
          <p:cNvPr id="142" name="Connector: Elbow 124">
            <a:extLst>
              <a:ext uri="{FF2B5EF4-FFF2-40B4-BE49-F238E27FC236}">
                <a16:creationId xmlns:a16="http://schemas.microsoft.com/office/drawing/2014/main" id="{E3195040-6745-CBB8-15E1-F7DC6FD8061E}"/>
              </a:ext>
            </a:extLst>
          </p:cNvPr>
          <p:cNvCxnSpPr>
            <a:stCxn id="141" idx="2"/>
            <a:endCxn id="108" idx="3"/>
          </p:cNvCxnSpPr>
          <p:nvPr/>
        </p:nvCxnSpPr>
        <p:spPr>
          <a:xfrm rot="10800000">
            <a:off x="8555990" y="2222090"/>
            <a:ext cx="1496060" cy="10191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3" name="Connector: Elbow 124">
            <a:extLst>
              <a:ext uri="{FF2B5EF4-FFF2-40B4-BE49-F238E27FC236}">
                <a16:creationId xmlns:a16="http://schemas.microsoft.com/office/drawing/2014/main" id="{53103ADE-94A1-526B-127F-5B12A1F914D4}"/>
              </a:ext>
            </a:extLst>
          </p:cNvPr>
          <p:cNvCxnSpPr>
            <a:stCxn id="141" idx="2"/>
            <a:endCxn id="107" idx="3"/>
          </p:cNvCxnSpPr>
          <p:nvPr/>
        </p:nvCxnSpPr>
        <p:spPr>
          <a:xfrm rot="10800000">
            <a:off x="8555990" y="2729455"/>
            <a:ext cx="1496060" cy="5118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24">
            <a:extLst>
              <a:ext uri="{FF2B5EF4-FFF2-40B4-BE49-F238E27FC236}">
                <a16:creationId xmlns:a16="http://schemas.microsoft.com/office/drawing/2014/main" id="{80F0AD68-0BF4-B408-8904-0B6FA8789486}"/>
              </a:ext>
            </a:extLst>
          </p:cNvPr>
          <p:cNvCxnSpPr>
            <a:stCxn id="141" idx="2"/>
            <a:endCxn id="112" idx="3"/>
          </p:cNvCxnSpPr>
          <p:nvPr/>
        </p:nvCxnSpPr>
        <p:spPr>
          <a:xfrm rot="10800000" flipV="1">
            <a:off x="8556625" y="3241265"/>
            <a:ext cx="1495425" cy="208280"/>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5" name="Connector: Elbow 124">
            <a:extLst>
              <a:ext uri="{FF2B5EF4-FFF2-40B4-BE49-F238E27FC236}">
                <a16:creationId xmlns:a16="http://schemas.microsoft.com/office/drawing/2014/main" id="{9C832759-CAF1-292E-35A0-2A0E643738AC}"/>
              </a:ext>
            </a:extLst>
          </p:cNvPr>
          <p:cNvCxnSpPr>
            <a:stCxn id="141" idx="2"/>
            <a:endCxn id="122" idx="3"/>
          </p:cNvCxnSpPr>
          <p:nvPr/>
        </p:nvCxnSpPr>
        <p:spPr>
          <a:xfrm rot="10800000" flipV="1">
            <a:off x="8557260" y="3241265"/>
            <a:ext cx="1494790" cy="981710"/>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6" name="Can 172">
            <a:extLst>
              <a:ext uri="{FF2B5EF4-FFF2-40B4-BE49-F238E27FC236}">
                <a16:creationId xmlns:a16="http://schemas.microsoft.com/office/drawing/2014/main" id="{65CB146C-4006-6808-19D4-27620C988209}"/>
              </a:ext>
            </a:extLst>
          </p:cNvPr>
          <p:cNvSpPr/>
          <p:nvPr/>
        </p:nvSpPr>
        <p:spPr bwMode="auto">
          <a:xfrm>
            <a:off x="947290" y="2739698"/>
            <a:ext cx="312661"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Capacidad de observabilidad</a:t>
            </a:r>
          </a:p>
        </p:txBody>
      </p:sp>
      <p:pic>
        <p:nvPicPr>
          <p:cNvPr id="147" name="Picture 146">
            <a:extLst>
              <a:ext uri="{FF2B5EF4-FFF2-40B4-BE49-F238E27FC236}">
                <a16:creationId xmlns:a16="http://schemas.microsoft.com/office/drawing/2014/main" id="{C3788967-604B-08E6-3F21-3F31F381A7A7}"/>
              </a:ext>
            </a:extLst>
          </p:cNvPr>
          <p:cNvPicPr>
            <a:picLocks noChangeAspect="1"/>
          </p:cNvPicPr>
          <p:nvPr/>
        </p:nvPicPr>
        <p:blipFill>
          <a:blip r:embed="rId4"/>
          <a:stretch>
            <a:fillRect/>
          </a:stretch>
        </p:blipFill>
        <p:spPr>
          <a:xfrm>
            <a:off x="8821001" y="4174502"/>
            <a:ext cx="384084" cy="384084"/>
          </a:xfrm>
          <a:prstGeom prst="rect">
            <a:avLst/>
          </a:prstGeom>
        </p:spPr>
      </p:pic>
      <p:sp>
        <p:nvSpPr>
          <p:cNvPr id="148" name="Rectangle 147">
            <a:extLst>
              <a:ext uri="{FF2B5EF4-FFF2-40B4-BE49-F238E27FC236}">
                <a16:creationId xmlns:a16="http://schemas.microsoft.com/office/drawing/2014/main" id="{13BFD2F4-6976-F8EB-CA6D-182C27BD3783}"/>
              </a:ext>
            </a:extLst>
          </p:cNvPr>
          <p:cNvSpPr/>
          <p:nvPr/>
        </p:nvSpPr>
        <p:spPr>
          <a:xfrm>
            <a:off x="3932266" y="5565274"/>
            <a:ext cx="4631812" cy="32995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t>
            </a:r>
            <a:r>
              <a:rPr kumimoji="0" lang="es" sz="900" b="0" i="0" u="none" strike="noStrike" kern="1200" cap="none" spc="0" normalizeH="0" baseline="0" noProof="0">
                <a:ln>
                  <a:noFill/>
                </a:ln>
                <a:solidFill>
                  <a:srgbClr val="00B050"/>
                </a:solidFill>
                <a:effectLst/>
                <a:uLnTx/>
                <a:uFillTx/>
                <a:latin typeface="Graphik"/>
                <a:ea typeface="+mn-ea"/>
                <a:cs typeface="+mn-cs"/>
              </a:rPr>
              <a:t>OWASP</a:t>
            </a: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9" name="Rectangle: Rounded Corners 55">
            <a:extLst>
              <a:ext uri="{FF2B5EF4-FFF2-40B4-BE49-F238E27FC236}">
                <a16:creationId xmlns:a16="http://schemas.microsoft.com/office/drawing/2014/main" id="{CB43E859-E2E7-1C98-DEB1-B4A62CFCAEF5}"/>
              </a:ext>
            </a:extLst>
          </p:cNvPr>
          <p:cNvSpPr/>
          <p:nvPr/>
        </p:nvSpPr>
        <p:spPr>
          <a:xfrm>
            <a:off x="3921110" y="5962256"/>
            <a:ext cx="5202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TLS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50" name="Rectangle: Rounded Corners 55">
            <a:extLst>
              <a:ext uri="{FF2B5EF4-FFF2-40B4-BE49-F238E27FC236}">
                <a16:creationId xmlns:a16="http://schemas.microsoft.com/office/drawing/2014/main" id="{50D9AA2F-A772-19A4-A19C-D83214685E38}"/>
              </a:ext>
            </a:extLst>
          </p:cNvPr>
          <p:cNvSpPr/>
          <p:nvPr/>
        </p:nvSpPr>
        <p:spPr>
          <a:xfrm>
            <a:off x="4493854" y="5968974"/>
            <a:ext cx="747662"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DDoS (Akamai)</a:t>
            </a:r>
          </a:p>
        </p:txBody>
      </p:sp>
      <p:sp>
        <p:nvSpPr>
          <p:cNvPr id="151" name="Rectangle: Rounded Corners 55">
            <a:extLst>
              <a:ext uri="{FF2B5EF4-FFF2-40B4-BE49-F238E27FC236}">
                <a16:creationId xmlns:a16="http://schemas.microsoft.com/office/drawing/2014/main" id="{042358A4-F700-EBD9-C82B-3C4F5F5F5D30}"/>
              </a:ext>
            </a:extLst>
          </p:cNvPr>
          <p:cNvSpPr/>
          <p:nvPr/>
        </p:nvSpPr>
        <p:spPr>
          <a:xfrm>
            <a:off x="6416490" y="5954871"/>
            <a:ext cx="1021723" cy="290618"/>
          </a:xfrm>
          <a:prstGeom prst="roundRect">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Cuota</a:t>
            </a:r>
          </a:p>
        </p:txBody>
      </p:sp>
      <p:sp>
        <p:nvSpPr>
          <p:cNvPr id="152" name="Rectangle: Rounded Corners 55">
            <a:extLst>
              <a:ext uri="{FF2B5EF4-FFF2-40B4-BE49-F238E27FC236}">
                <a16:creationId xmlns:a16="http://schemas.microsoft.com/office/drawing/2014/main" id="{BECFF9C0-4D69-F7D6-1FD4-6CBEFD90F8D9}"/>
              </a:ext>
            </a:extLst>
          </p:cNvPr>
          <p:cNvSpPr/>
          <p:nvPr/>
        </p:nvSpPr>
        <p:spPr>
          <a:xfrm>
            <a:off x="5283753" y="5965025"/>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de la carga útil</a:t>
            </a:r>
          </a:p>
        </p:txBody>
      </p:sp>
      <p:sp>
        <p:nvSpPr>
          <p:cNvPr id="153" name="Rectangle: Rounded Corners 55">
            <a:extLst>
              <a:ext uri="{FF2B5EF4-FFF2-40B4-BE49-F238E27FC236}">
                <a16:creationId xmlns:a16="http://schemas.microsoft.com/office/drawing/2014/main" id="{420604D4-C40E-9F40-7DC8-444EDB760D3D}"/>
              </a:ext>
            </a:extLst>
          </p:cNvPr>
          <p:cNvSpPr/>
          <p:nvPr/>
        </p:nvSpPr>
        <p:spPr>
          <a:xfrm>
            <a:off x="7543124" y="5958358"/>
            <a:ext cx="1021723" cy="290618"/>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BOTS</a:t>
            </a:r>
          </a:p>
        </p:txBody>
      </p:sp>
      <p:sp>
        <p:nvSpPr>
          <p:cNvPr id="154" name="Can 172">
            <a:extLst>
              <a:ext uri="{FF2B5EF4-FFF2-40B4-BE49-F238E27FC236}">
                <a16:creationId xmlns:a16="http://schemas.microsoft.com/office/drawing/2014/main" id="{CCC0AF4B-950A-58CA-CE9F-DF9E3A8B7641}"/>
              </a:ext>
            </a:extLst>
          </p:cNvPr>
          <p:cNvSpPr/>
          <p:nvPr/>
        </p:nvSpPr>
        <p:spPr bwMode="auto">
          <a:xfrm rot="5400000">
            <a:off x="7911921" y="5936303"/>
            <a:ext cx="312661" cy="1050255"/>
          </a:xfrm>
          <a:prstGeom prst="can">
            <a:avLst>
              <a:gd name="adj" fmla="val 59089"/>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WAF</a:t>
            </a:r>
          </a:p>
        </p:txBody>
      </p:sp>
      <p:sp>
        <p:nvSpPr>
          <p:cNvPr id="155" name="Rectangle 154">
            <a:extLst>
              <a:ext uri="{FF2B5EF4-FFF2-40B4-BE49-F238E27FC236}">
                <a16:creationId xmlns:a16="http://schemas.microsoft.com/office/drawing/2014/main" id="{EE43BF1C-CD1F-77D4-BE4E-B72C41DB7540}"/>
              </a:ext>
            </a:extLst>
          </p:cNvPr>
          <p:cNvSpPr/>
          <p:nvPr/>
        </p:nvSpPr>
        <p:spPr>
          <a:xfrm>
            <a:off x="3932266" y="2398769"/>
            <a:ext cx="4623332" cy="16054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 (AKAMAI)</a:t>
            </a:r>
          </a:p>
        </p:txBody>
      </p:sp>
      <p:cxnSp>
        <p:nvCxnSpPr>
          <p:cNvPr id="156" name="Connector: Elbow 124">
            <a:extLst>
              <a:ext uri="{FF2B5EF4-FFF2-40B4-BE49-F238E27FC236}">
                <a16:creationId xmlns:a16="http://schemas.microsoft.com/office/drawing/2014/main" id="{BD6D2DF4-9973-43CE-62B3-4583E7DD2D0E}"/>
              </a:ext>
            </a:extLst>
          </p:cNvPr>
          <p:cNvCxnSpPr>
            <a:stCxn id="155" idx="1"/>
            <a:endCxn id="109" idx="4"/>
          </p:cNvCxnSpPr>
          <p:nvPr/>
        </p:nvCxnSpPr>
        <p:spPr>
          <a:xfrm rot="10800000" flipV="1">
            <a:off x="2574925" y="2479265"/>
            <a:ext cx="1357630" cy="87884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7" name="Connector: Elbow 124">
            <a:extLst>
              <a:ext uri="{FF2B5EF4-FFF2-40B4-BE49-F238E27FC236}">
                <a16:creationId xmlns:a16="http://schemas.microsoft.com/office/drawing/2014/main" id="{CFAA8A99-C069-479F-CAB9-D42915DB1193}"/>
              </a:ext>
            </a:extLst>
          </p:cNvPr>
          <p:cNvCxnSpPr>
            <a:stCxn id="148" idx="1"/>
            <a:endCxn id="109" idx="4"/>
          </p:cNvCxnSpPr>
          <p:nvPr/>
        </p:nvCxnSpPr>
        <p:spPr>
          <a:xfrm rot="10800000">
            <a:off x="2574925" y="3358105"/>
            <a:ext cx="1357630" cy="237236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8" name="Rectangle 157">
            <a:extLst>
              <a:ext uri="{FF2B5EF4-FFF2-40B4-BE49-F238E27FC236}">
                <a16:creationId xmlns:a16="http://schemas.microsoft.com/office/drawing/2014/main" id="{E2FF96F1-090C-E9D2-117C-BF3D189FCFFB}"/>
              </a:ext>
            </a:extLst>
          </p:cNvPr>
          <p:cNvSpPr/>
          <p:nvPr/>
        </p:nvSpPr>
        <p:spPr>
          <a:xfrm>
            <a:off x="3119380" y="5188888"/>
            <a:ext cx="551722" cy="28485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FFFFFF"/>
                </a:solidFill>
                <a:effectLst/>
                <a:uLnTx/>
                <a:uFillTx/>
                <a:latin typeface="Graphik"/>
                <a:ea typeface="+mn-ea"/>
                <a:cs typeface="+mn-cs"/>
              </a:rPr>
              <a:t>Almacenamiento de Registros</a:t>
            </a:r>
          </a:p>
        </p:txBody>
      </p:sp>
      <p:cxnSp>
        <p:nvCxnSpPr>
          <p:cNvPr id="159" name="Connector: Elbow 124">
            <a:extLst>
              <a:ext uri="{FF2B5EF4-FFF2-40B4-BE49-F238E27FC236}">
                <a16:creationId xmlns:a16="http://schemas.microsoft.com/office/drawing/2014/main" id="{3D7AEA3B-0874-E3F3-8F95-854EC63AA316}"/>
              </a:ext>
            </a:extLst>
          </p:cNvPr>
          <p:cNvCxnSpPr>
            <a:stCxn id="154" idx="1"/>
            <a:endCxn id="155" idx="3"/>
          </p:cNvCxnSpPr>
          <p:nvPr/>
        </p:nvCxnSpPr>
        <p:spPr>
          <a:xfrm flipH="1" flipV="1">
            <a:off x="8555598" y="2479043"/>
            <a:ext cx="37781" cy="3982388"/>
          </a:xfrm>
          <a:prstGeom prst="bentConnector3">
            <a:avLst>
              <a:gd name="adj1" fmla="val -505066"/>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0" name="Connector: Elbow 124">
            <a:extLst>
              <a:ext uri="{FF2B5EF4-FFF2-40B4-BE49-F238E27FC236}">
                <a16:creationId xmlns:a16="http://schemas.microsoft.com/office/drawing/2014/main" id="{A0EDCAE4-2E44-E243-A6F2-E42AFE6BFFDA}"/>
              </a:ext>
            </a:extLst>
          </p:cNvPr>
          <p:cNvCxnSpPr>
            <a:stCxn id="154" idx="1"/>
            <a:endCxn id="148" idx="3"/>
          </p:cNvCxnSpPr>
          <p:nvPr/>
        </p:nvCxnSpPr>
        <p:spPr>
          <a:xfrm flipH="1" flipV="1">
            <a:off x="8564078" y="5730253"/>
            <a:ext cx="29301" cy="731178"/>
          </a:xfrm>
          <a:prstGeom prst="bentConnector3">
            <a:avLst>
              <a:gd name="adj1" fmla="val -1014542"/>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1" name="Can 172">
            <a:extLst>
              <a:ext uri="{FF2B5EF4-FFF2-40B4-BE49-F238E27FC236}">
                <a16:creationId xmlns:a16="http://schemas.microsoft.com/office/drawing/2014/main" id="{97B27A22-9DC4-82BE-06A2-FDE69A1BAA5F}"/>
              </a:ext>
            </a:extLst>
          </p:cNvPr>
          <p:cNvSpPr/>
          <p:nvPr/>
        </p:nvSpPr>
        <p:spPr bwMode="auto">
          <a:xfrm>
            <a:off x="1461135" y="2593565"/>
            <a:ext cx="457200" cy="1547495"/>
          </a:xfrm>
          <a:prstGeom prst="can">
            <a:avLst>
              <a:gd name="adj" fmla="val 59089"/>
            </a:avLst>
          </a:prstGeom>
          <a:solidFill>
            <a:srgbClr val="FF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Alertas de seguridad, métricas, paneles de control</a:t>
            </a:r>
          </a:p>
        </p:txBody>
      </p:sp>
      <p:cxnSp>
        <p:nvCxnSpPr>
          <p:cNvPr id="162" name="Straight Arrow Connector 161">
            <a:extLst>
              <a:ext uri="{FF2B5EF4-FFF2-40B4-BE49-F238E27FC236}">
                <a16:creationId xmlns:a16="http://schemas.microsoft.com/office/drawing/2014/main" id="{53AA437D-320A-4BA7-8577-59E6E7E01EDC}"/>
              </a:ext>
            </a:extLst>
          </p:cNvPr>
          <p:cNvCxnSpPr>
            <a:stCxn id="109" idx="2"/>
            <a:endCxn id="161" idx="4"/>
          </p:cNvCxnSpPr>
          <p:nvPr/>
        </p:nvCxnSpPr>
        <p:spPr>
          <a:xfrm flipH="1">
            <a:off x="1918054" y="3357830"/>
            <a:ext cx="302260"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Straight Arrow Connector 162">
            <a:extLst>
              <a:ext uri="{FF2B5EF4-FFF2-40B4-BE49-F238E27FC236}">
                <a16:creationId xmlns:a16="http://schemas.microsoft.com/office/drawing/2014/main" id="{0C1C35F7-0683-59EC-D3D1-BFBEC92EE6D9}"/>
              </a:ext>
            </a:extLst>
          </p:cNvPr>
          <p:cNvCxnSpPr>
            <a:stCxn id="161" idx="2"/>
            <a:endCxn id="146" idx="4"/>
          </p:cNvCxnSpPr>
          <p:nvPr/>
        </p:nvCxnSpPr>
        <p:spPr>
          <a:xfrm flipH="1" flipV="1">
            <a:off x="1259593" y="3357830"/>
            <a:ext cx="201295" cy="952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695CFEBF-E72F-2369-585A-B44B67009469}"/>
              </a:ext>
            </a:extLst>
          </p:cNvPr>
          <p:cNvSpPr txBox="1"/>
          <p:nvPr/>
        </p:nvSpPr>
        <p:spPr>
          <a:xfrm>
            <a:off x="9356090" y="4148680"/>
            <a:ext cx="2750185" cy="7054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Microservicios (Open Shift)</a:t>
            </a:r>
            <a:br>
              <a:rPr kumimoji="0" lang="en-US" sz="900" b="1" i="0" u="none" strike="noStrike" kern="1200" cap="none" spc="0" normalizeH="0" baseline="0" noProof="0">
                <a:ln>
                  <a:noFill/>
                </a:ln>
                <a:solidFill>
                  <a:srgbClr val="000000"/>
                </a:solidFill>
                <a:effectLst/>
                <a:uLnTx/>
                <a:uFillTx/>
                <a:latin typeface="Graphik"/>
                <a:ea typeface="+mn-ea"/>
                <a:cs typeface="+mn-cs"/>
              </a:rPr>
            </a:br>
            <a:r>
              <a:rPr kumimoji="0" lang="es" sz="900" b="1" i="0" u="none" strike="noStrike" kern="1200" cap="none" spc="0" normalizeH="0" baseline="0" noProof="0">
                <a:ln>
                  <a:noFill/>
                </a:ln>
                <a:solidFill>
                  <a:srgbClr val="000000"/>
                </a:solidFill>
                <a:effectLst/>
                <a:uLnTx/>
                <a:uFillTx/>
                <a:latin typeface="Graphik"/>
                <a:ea typeface="+mn-ea"/>
                <a:cs typeface="+mn-cs"/>
              </a:rPr>
              <a:t> Marco común de microservicios.</a:t>
            </a:r>
            <a:br>
              <a:rPr kumimoji="0" lang="en-US" sz="900" b="1" i="0" u="none" strike="noStrike" kern="1200" cap="none" spc="0" normalizeH="0" baseline="0" noProof="0">
                <a:ln>
                  <a:noFill/>
                </a:ln>
                <a:solidFill>
                  <a:srgbClr val="000000"/>
                </a:solidFill>
                <a:effectLst/>
                <a:uLnTx/>
                <a:uFillTx/>
                <a:latin typeface="Graphik"/>
                <a:ea typeface="+mn-ea"/>
                <a:cs typeface="+mn-cs"/>
              </a:rPr>
            </a:b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165" name="Rectangle 164">
            <a:extLst>
              <a:ext uri="{FF2B5EF4-FFF2-40B4-BE49-F238E27FC236}">
                <a16:creationId xmlns:a16="http://schemas.microsoft.com/office/drawing/2014/main" id="{22F5A1B7-16A3-9280-F448-19697EBA1041}"/>
              </a:ext>
            </a:extLst>
          </p:cNvPr>
          <p:cNvSpPr/>
          <p:nvPr/>
        </p:nvSpPr>
        <p:spPr>
          <a:xfrm>
            <a:off x="9342038" y="5224471"/>
            <a:ext cx="2820513" cy="1080629"/>
          </a:xfrm>
          <a:prstGeom prst="rect">
            <a:avLst/>
          </a:prstGeom>
          <a:solidFill>
            <a:schemeClr val="accent1">
              <a:alpha val="15932"/>
            </a:schemeClr>
          </a:solidFill>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400" b="0" i="0" u="none" strike="noStrike" kern="1200" cap="none" spc="0" normalizeH="0" baseline="0" noProof="0">
              <a:ln>
                <a:noFill/>
              </a:ln>
              <a:solidFill>
                <a:srgbClr val="000000"/>
              </a:solidFill>
              <a:effectLst/>
              <a:uLnTx/>
              <a:uFillTx/>
              <a:latin typeface="Graphik"/>
              <a:ea typeface="+mn-ea"/>
              <a:cs typeface="+mn-cs"/>
            </a:endParaRPr>
          </a:p>
        </p:txBody>
      </p:sp>
      <p:sp>
        <p:nvSpPr>
          <p:cNvPr id="166" name="Rectangle 165">
            <a:extLst>
              <a:ext uri="{FF2B5EF4-FFF2-40B4-BE49-F238E27FC236}">
                <a16:creationId xmlns:a16="http://schemas.microsoft.com/office/drawing/2014/main" id="{49A53C03-CD3A-8513-CC48-EA05433D86EC}"/>
              </a:ext>
            </a:extLst>
          </p:cNvPr>
          <p:cNvSpPr/>
          <p:nvPr/>
        </p:nvSpPr>
        <p:spPr>
          <a:xfrm>
            <a:off x="9439229" y="6409146"/>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Despliegues</a:t>
            </a:r>
          </a:p>
        </p:txBody>
      </p:sp>
      <p:sp>
        <p:nvSpPr>
          <p:cNvPr id="167" name="Rectangle 166">
            <a:extLst>
              <a:ext uri="{FF2B5EF4-FFF2-40B4-BE49-F238E27FC236}">
                <a16:creationId xmlns:a16="http://schemas.microsoft.com/office/drawing/2014/main" id="{29D1175F-A364-74E8-BE90-9D823DAE79CC}"/>
              </a:ext>
            </a:extLst>
          </p:cNvPr>
          <p:cNvSpPr/>
          <p:nvPr/>
        </p:nvSpPr>
        <p:spPr>
          <a:xfrm>
            <a:off x="9402270" y="5977414"/>
            <a:ext cx="2710995" cy="281287"/>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Protección contra amenazas</a:t>
            </a:r>
          </a:p>
        </p:txBody>
      </p:sp>
      <p:cxnSp>
        <p:nvCxnSpPr>
          <p:cNvPr id="168" name="Connector: Elbow 124">
            <a:extLst>
              <a:ext uri="{FF2B5EF4-FFF2-40B4-BE49-F238E27FC236}">
                <a16:creationId xmlns:a16="http://schemas.microsoft.com/office/drawing/2014/main" id="{785A3C43-C2F6-EE7F-7328-B4E3E986E812}"/>
              </a:ext>
            </a:extLst>
          </p:cNvPr>
          <p:cNvCxnSpPr>
            <a:stCxn id="141" idx="2"/>
            <a:endCxn id="166" idx="1"/>
          </p:cNvCxnSpPr>
          <p:nvPr/>
        </p:nvCxnSpPr>
        <p:spPr>
          <a:xfrm rot="10800000" flipV="1">
            <a:off x="9439275" y="3241265"/>
            <a:ext cx="612775" cy="3312160"/>
          </a:xfrm>
          <a:prstGeom prst="bentConnector3">
            <a:avLst>
              <a:gd name="adj1" fmla="val 13886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D35A5A25-DF68-A13C-E88D-9C9AC9C0FAAC}"/>
              </a:ext>
            </a:extLst>
          </p:cNvPr>
          <p:cNvSpPr txBox="1"/>
          <p:nvPr/>
        </p:nvSpPr>
        <p:spPr>
          <a:xfrm>
            <a:off x="9452025" y="3676755"/>
            <a:ext cx="683209" cy="292388"/>
          </a:xfrm>
          <a:prstGeom prst="rect">
            <a:avLst/>
          </a:prstGeom>
          <a:noFill/>
        </p:spPr>
        <p:txBody>
          <a:bodyPr wrap="square" lIns="0" tIns="0" rIns="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Arquitectos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 DevOps</a:t>
            </a:r>
          </a:p>
        </p:txBody>
      </p:sp>
      <p:sp>
        <p:nvSpPr>
          <p:cNvPr id="170" name="Can 172">
            <a:extLst>
              <a:ext uri="{FF2B5EF4-FFF2-40B4-BE49-F238E27FC236}">
                <a16:creationId xmlns:a16="http://schemas.microsoft.com/office/drawing/2014/main" id="{34A3D866-604B-AF20-BBD0-1294F56C14F7}"/>
              </a:ext>
            </a:extLst>
          </p:cNvPr>
          <p:cNvSpPr/>
          <p:nvPr/>
        </p:nvSpPr>
        <p:spPr bwMode="auto">
          <a:xfrm>
            <a:off x="11146942" y="2624535"/>
            <a:ext cx="492234" cy="123626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Ingeniería del Caos</a:t>
            </a:r>
          </a:p>
        </p:txBody>
      </p:sp>
      <p:cxnSp>
        <p:nvCxnSpPr>
          <p:cNvPr id="173" name="Straight Arrow Connector 172">
            <a:extLst>
              <a:ext uri="{FF2B5EF4-FFF2-40B4-BE49-F238E27FC236}">
                <a16:creationId xmlns:a16="http://schemas.microsoft.com/office/drawing/2014/main" id="{7068717B-995C-9BC5-92F7-252FBFD63EE0}"/>
              </a:ext>
            </a:extLst>
          </p:cNvPr>
          <p:cNvCxnSpPr>
            <a:stCxn id="141" idx="4"/>
            <a:endCxn id="170" idx="2"/>
          </p:cNvCxnSpPr>
          <p:nvPr/>
        </p:nvCxnSpPr>
        <p:spPr>
          <a:xfrm>
            <a:off x="10664660" y="3241533"/>
            <a:ext cx="481965" cy="1905"/>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4" name="Rectangle 173">
            <a:extLst>
              <a:ext uri="{FF2B5EF4-FFF2-40B4-BE49-F238E27FC236}">
                <a16:creationId xmlns:a16="http://schemas.microsoft.com/office/drawing/2014/main" id="{AC52D757-099E-F4DB-784D-8F1775EA7DD7}"/>
              </a:ext>
            </a:extLst>
          </p:cNvPr>
          <p:cNvSpPr/>
          <p:nvPr/>
        </p:nvSpPr>
        <p:spPr>
          <a:xfrm>
            <a:off x="9402271" y="5277762"/>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de contenedores</a:t>
            </a:r>
          </a:p>
        </p:txBody>
      </p:sp>
      <p:sp>
        <p:nvSpPr>
          <p:cNvPr id="175" name="Rectangle 174">
            <a:extLst>
              <a:ext uri="{FF2B5EF4-FFF2-40B4-BE49-F238E27FC236}">
                <a16:creationId xmlns:a16="http://schemas.microsoft.com/office/drawing/2014/main" id="{80633EAA-587D-0217-4746-73C55A0563F4}"/>
              </a:ext>
            </a:extLst>
          </p:cNvPr>
          <p:cNvSpPr/>
          <p:nvPr/>
        </p:nvSpPr>
        <p:spPr>
          <a:xfrm>
            <a:off x="9409412" y="5633090"/>
            <a:ext cx="2703854"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en streaming</a:t>
            </a:r>
          </a:p>
        </p:txBody>
      </p:sp>
      <p:cxnSp>
        <p:nvCxnSpPr>
          <p:cNvPr id="176" name="Connector: Elbow 124">
            <a:extLst>
              <a:ext uri="{FF2B5EF4-FFF2-40B4-BE49-F238E27FC236}">
                <a16:creationId xmlns:a16="http://schemas.microsoft.com/office/drawing/2014/main" id="{ABBC1743-05E5-16C1-B697-A210AD268FFB}"/>
              </a:ext>
            </a:extLst>
          </p:cNvPr>
          <p:cNvCxnSpPr>
            <a:stCxn id="154" idx="1"/>
            <a:endCxn id="167" idx="1"/>
          </p:cNvCxnSpPr>
          <p:nvPr/>
        </p:nvCxnSpPr>
        <p:spPr>
          <a:xfrm flipV="1">
            <a:off x="8593379" y="6118058"/>
            <a:ext cx="808891" cy="343373"/>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7" name="Rectangle 176">
            <a:extLst>
              <a:ext uri="{FF2B5EF4-FFF2-40B4-BE49-F238E27FC236}">
                <a16:creationId xmlns:a16="http://schemas.microsoft.com/office/drawing/2014/main" id="{89B60292-6474-51CA-AE54-8A0E675CDF08}"/>
              </a:ext>
            </a:extLst>
          </p:cNvPr>
          <p:cNvSpPr/>
          <p:nvPr/>
        </p:nvSpPr>
        <p:spPr>
          <a:xfrm>
            <a:off x="3934493" y="1251701"/>
            <a:ext cx="4623333" cy="17079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Seguridad Interna (FW + WAF)</a:t>
            </a:r>
          </a:p>
        </p:txBody>
      </p:sp>
      <p:cxnSp>
        <p:nvCxnSpPr>
          <p:cNvPr id="178" name="Connector: Elbow 124">
            <a:extLst>
              <a:ext uri="{FF2B5EF4-FFF2-40B4-BE49-F238E27FC236}">
                <a16:creationId xmlns:a16="http://schemas.microsoft.com/office/drawing/2014/main" id="{0C872D0B-617C-D440-481F-2D7E73CD19F1}"/>
              </a:ext>
            </a:extLst>
          </p:cNvPr>
          <p:cNvCxnSpPr>
            <a:stCxn id="177" idx="1"/>
            <a:endCxn id="109" idx="4"/>
          </p:cNvCxnSpPr>
          <p:nvPr/>
        </p:nvCxnSpPr>
        <p:spPr>
          <a:xfrm rot="10800000" flipV="1">
            <a:off x="2574925" y="1337535"/>
            <a:ext cx="1359535" cy="2020570"/>
          </a:xfrm>
          <a:prstGeom prst="bentConnector3">
            <a:avLst>
              <a:gd name="adj1" fmla="val 49977"/>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79" name="Can 172">
            <a:extLst>
              <a:ext uri="{FF2B5EF4-FFF2-40B4-BE49-F238E27FC236}">
                <a16:creationId xmlns:a16="http://schemas.microsoft.com/office/drawing/2014/main" id="{0B5497B0-000B-A2DD-FFEC-CC5FC69FEB61}"/>
              </a:ext>
            </a:extLst>
          </p:cNvPr>
          <p:cNvSpPr/>
          <p:nvPr/>
        </p:nvSpPr>
        <p:spPr bwMode="auto">
          <a:xfrm>
            <a:off x="1582664" y="5491388"/>
            <a:ext cx="373397" cy="733160"/>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HSM</a:t>
            </a:r>
          </a:p>
        </p:txBody>
      </p:sp>
      <p:cxnSp>
        <p:nvCxnSpPr>
          <p:cNvPr id="180" name="Connector: Elbow 124">
            <a:extLst>
              <a:ext uri="{FF2B5EF4-FFF2-40B4-BE49-F238E27FC236}">
                <a16:creationId xmlns:a16="http://schemas.microsoft.com/office/drawing/2014/main" id="{F21633D0-7A20-7992-2E5E-9C981C77980B}"/>
              </a:ext>
            </a:extLst>
          </p:cNvPr>
          <p:cNvCxnSpPr>
            <a:stCxn id="149" idx="1"/>
            <a:endCxn id="179" idx="4"/>
          </p:cNvCxnSpPr>
          <p:nvPr/>
        </p:nvCxnSpPr>
        <p:spPr>
          <a:xfrm rot="10800000">
            <a:off x="1956062" y="5857969"/>
            <a:ext cx="1965049" cy="249597"/>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1" name="Connector: Elbow 124">
            <a:extLst>
              <a:ext uri="{FF2B5EF4-FFF2-40B4-BE49-F238E27FC236}">
                <a16:creationId xmlns:a16="http://schemas.microsoft.com/office/drawing/2014/main" id="{DBA63C84-5714-74B2-2283-71520F72D6EB}"/>
              </a:ext>
            </a:extLst>
          </p:cNvPr>
          <p:cNvCxnSpPr>
            <a:stCxn id="123" idx="1"/>
            <a:endCxn id="179" idx="4"/>
          </p:cNvCxnSpPr>
          <p:nvPr/>
        </p:nvCxnSpPr>
        <p:spPr>
          <a:xfrm rot="10800000" flipV="1">
            <a:off x="1956062" y="4597512"/>
            <a:ext cx="1976205" cy="1260455"/>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2" name="Connector: Elbow 124">
            <a:extLst>
              <a:ext uri="{FF2B5EF4-FFF2-40B4-BE49-F238E27FC236}">
                <a16:creationId xmlns:a16="http://schemas.microsoft.com/office/drawing/2014/main" id="{5CC0B449-295E-982C-79EF-BD18D59360C9}"/>
              </a:ext>
            </a:extLst>
          </p:cNvPr>
          <p:cNvCxnSpPr>
            <a:stCxn id="133" idx="4"/>
            <a:endCxn id="122" idx="1"/>
          </p:cNvCxnSpPr>
          <p:nvPr/>
        </p:nvCxnSpPr>
        <p:spPr>
          <a:xfrm flipV="1">
            <a:off x="2638425" y="4222975"/>
            <a:ext cx="1295400" cy="6426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3" name="Connector: Elbow 124">
            <a:extLst>
              <a:ext uri="{FF2B5EF4-FFF2-40B4-BE49-F238E27FC236}">
                <a16:creationId xmlns:a16="http://schemas.microsoft.com/office/drawing/2014/main" id="{14729251-32CE-C362-8750-2DC315847E3D}"/>
              </a:ext>
            </a:extLst>
          </p:cNvPr>
          <p:cNvCxnSpPr>
            <a:stCxn id="112" idx="1"/>
            <a:endCxn id="179" idx="4"/>
          </p:cNvCxnSpPr>
          <p:nvPr/>
        </p:nvCxnSpPr>
        <p:spPr>
          <a:xfrm rot="10800000" flipV="1">
            <a:off x="1956061" y="3449634"/>
            <a:ext cx="1977054" cy="240833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4" name="Connector: Elbow 124">
            <a:extLst>
              <a:ext uri="{FF2B5EF4-FFF2-40B4-BE49-F238E27FC236}">
                <a16:creationId xmlns:a16="http://schemas.microsoft.com/office/drawing/2014/main" id="{50251EBE-21E3-80C9-37D1-556B41D03A35}"/>
              </a:ext>
            </a:extLst>
          </p:cNvPr>
          <p:cNvCxnSpPr>
            <a:stCxn id="104" idx="1"/>
            <a:endCxn id="179" idx="4"/>
          </p:cNvCxnSpPr>
          <p:nvPr/>
        </p:nvCxnSpPr>
        <p:spPr>
          <a:xfrm rot="10800000" flipV="1">
            <a:off x="1956061" y="1898454"/>
            <a:ext cx="1968540" cy="3959513"/>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85" name="Connector: Elbow 124">
            <a:extLst>
              <a:ext uri="{FF2B5EF4-FFF2-40B4-BE49-F238E27FC236}">
                <a16:creationId xmlns:a16="http://schemas.microsoft.com/office/drawing/2014/main" id="{89D6DD59-7971-1945-21F8-166B05053213}"/>
              </a:ext>
            </a:extLst>
          </p:cNvPr>
          <p:cNvCxnSpPr>
            <a:stCxn id="105" idx="1"/>
            <a:endCxn id="179" idx="4"/>
          </p:cNvCxnSpPr>
          <p:nvPr/>
        </p:nvCxnSpPr>
        <p:spPr>
          <a:xfrm rot="10800000" flipV="1">
            <a:off x="1956061" y="1592762"/>
            <a:ext cx="1976206" cy="4265206"/>
          </a:xfrm>
          <a:prstGeom prst="bentConnector3">
            <a:avLst>
              <a:gd name="adj1" fmla="val 50000"/>
            </a:avLst>
          </a:prstGeom>
          <a:ln w="9525">
            <a:solidFill>
              <a:srgbClr val="00B0F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86" name="Rectangle 185">
            <a:extLst>
              <a:ext uri="{FF2B5EF4-FFF2-40B4-BE49-F238E27FC236}">
                <a16:creationId xmlns:a16="http://schemas.microsoft.com/office/drawing/2014/main" id="{0DB640B5-8B4A-9146-EF3F-E74EE926C408}"/>
              </a:ext>
            </a:extLst>
          </p:cNvPr>
          <p:cNvSpPr/>
          <p:nvPr/>
        </p:nvSpPr>
        <p:spPr>
          <a:xfrm>
            <a:off x="3686012" y="1990938"/>
            <a:ext cx="1260000" cy="14641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API Gateway</a:t>
            </a:r>
          </a:p>
        </p:txBody>
      </p:sp>
      <p:sp>
        <p:nvSpPr>
          <p:cNvPr id="187" name="Arrow: Up-Down 75">
            <a:extLst>
              <a:ext uri="{FF2B5EF4-FFF2-40B4-BE49-F238E27FC236}">
                <a16:creationId xmlns:a16="http://schemas.microsoft.com/office/drawing/2014/main" id="{B9ABACB1-32C6-8D10-9D8A-356FDE50C75B}"/>
              </a:ext>
            </a:extLst>
          </p:cNvPr>
          <p:cNvSpPr/>
          <p:nvPr/>
        </p:nvSpPr>
        <p:spPr>
          <a:xfrm>
            <a:off x="7847395" y="1287565"/>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8" name="Arrow: Up-Down 75">
            <a:extLst>
              <a:ext uri="{FF2B5EF4-FFF2-40B4-BE49-F238E27FC236}">
                <a16:creationId xmlns:a16="http://schemas.microsoft.com/office/drawing/2014/main" id="{C56EF78A-8C2A-ADFE-BB59-F52A2700146A}"/>
              </a:ext>
            </a:extLst>
          </p:cNvPr>
          <p:cNvSpPr/>
          <p:nvPr/>
        </p:nvSpPr>
        <p:spPr>
          <a:xfrm>
            <a:off x="7847395" y="1921782"/>
            <a:ext cx="307065" cy="260998"/>
          </a:xfrm>
          <a:prstGeom prst="upDownArrow">
            <a:avLst>
              <a:gd name="adj1" fmla="val 43596"/>
              <a:gd name="adj2" fmla="val 30788"/>
            </a:avLst>
          </a:prstGeom>
          <a:ln w="952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Graphik"/>
              <a:ea typeface="+mn-ea"/>
              <a:cs typeface="+mn-cs"/>
            </a:endParaRPr>
          </a:p>
        </p:txBody>
      </p:sp>
      <p:sp>
        <p:nvSpPr>
          <p:cNvPr id="189" name="Rectangle 188">
            <a:extLst>
              <a:ext uri="{FF2B5EF4-FFF2-40B4-BE49-F238E27FC236}">
                <a16:creationId xmlns:a16="http://schemas.microsoft.com/office/drawing/2014/main" id="{2C9B4B7D-8D45-921C-B33F-B49569A10318}"/>
              </a:ext>
            </a:extLst>
          </p:cNvPr>
          <p:cNvSpPr/>
          <p:nvPr/>
        </p:nvSpPr>
        <p:spPr>
          <a:xfrm>
            <a:off x="2220747" y="5651204"/>
            <a:ext cx="575302" cy="447906"/>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700" b="0" i="0" u="none" strike="noStrike" kern="1200" cap="none" spc="0" normalizeH="0" baseline="0" noProof="0">
                <a:ln>
                  <a:noFill/>
                </a:ln>
                <a:solidFill>
                  <a:srgbClr val="000000"/>
                </a:solidFill>
                <a:effectLst/>
                <a:uLnTx/>
                <a:uFillTx/>
                <a:latin typeface="Graphik"/>
                <a:ea typeface="+mn-ea"/>
                <a:cs typeface="+mn-cs"/>
                <a:sym typeface="+mn-ea"/>
              </a:rPr>
              <a:t>Controlador Luna (infra)</a:t>
            </a:r>
          </a:p>
        </p:txBody>
      </p:sp>
      <p:cxnSp>
        <p:nvCxnSpPr>
          <p:cNvPr id="190" name="Connector: Elbow 124">
            <a:extLst>
              <a:ext uri="{FF2B5EF4-FFF2-40B4-BE49-F238E27FC236}">
                <a16:creationId xmlns:a16="http://schemas.microsoft.com/office/drawing/2014/main" id="{A9DCA53A-D604-9E77-2F2E-0CD451CDC2C1}"/>
              </a:ext>
            </a:extLst>
          </p:cNvPr>
          <p:cNvCxnSpPr>
            <a:stCxn id="179" idx="3"/>
            <a:endCxn id="164" idx="1"/>
          </p:cNvCxnSpPr>
          <p:nvPr/>
        </p:nvCxnSpPr>
        <p:spPr>
          <a:xfrm rot="5400000" flipH="1" flipV="1">
            <a:off x="4700905" y="1569945"/>
            <a:ext cx="1723390" cy="7586980"/>
          </a:xfrm>
          <a:prstGeom prst="bentConnector4">
            <a:avLst>
              <a:gd name="adj1" fmla="val -31503"/>
              <a:gd name="adj2" fmla="val 95672"/>
            </a:avLst>
          </a:prstGeom>
          <a:ln w="9525">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91" name="Rectangle 190">
            <a:extLst>
              <a:ext uri="{FF2B5EF4-FFF2-40B4-BE49-F238E27FC236}">
                <a16:creationId xmlns:a16="http://schemas.microsoft.com/office/drawing/2014/main" id="{2BE9E00D-EE07-7170-447C-EB0AC6510781}"/>
              </a:ext>
            </a:extLst>
          </p:cNvPr>
          <p:cNvSpPr/>
          <p:nvPr/>
        </p:nvSpPr>
        <p:spPr>
          <a:xfrm>
            <a:off x="9383490" y="4671268"/>
            <a:ext cx="2710995" cy="281287"/>
          </a:xfrm>
          <a:prstGeom prst="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Protección contra amenazas (Gateway)</a:t>
            </a:r>
          </a:p>
        </p:txBody>
      </p:sp>
      <p:sp>
        <p:nvSpPr>
          <p:cNvPr id="192" name="Rectangle: Rounded Corners 55">
            <a:extLst>
              <a:ext uri="{FF2B5EF4-FFF2-40B4-BE49-F238E27FC236}">
                <a16:creationId xmlns:a16="http://schemas.microsoft.com/office/drawing/2014/main" id="{76FCA79D-C9FA-E6D1-94EF-49068483A1A5}"/>
              </a:ext>
            </a:extLst>
          </p:cNvPr>
          <p:cNvSpPr/>
          <p:nvPr/>
        </p:nvSpPr>
        <p:spPr>
          <a:xfrm>
            <a:off x="3928219" y="6316121"/>
            <a:ext cx="966510" cy="290618"/>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Rate Limits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APIgee</a:t>
            </a:r>
            <a:r>
              <a:rPr kumimoji="0" lang="es" sz="900" b="0" i="0" u="none" strike="noStrike" kern="1200" cap="none" spc="0" normalizeH="0" baseline="0" noProof="0" dirty="0">
                <a:ln>
                  <a:noFill/>
                </a:ln>
                <a:solidFill>
                  <a:srgbClr val="000000"/>
                </a:solidFill>
                <a:effectLst/>
                <a:uLnTx/>
                <a:uFillTx/>
                <a:latin typeface="Graphik"/>
                <a:ea typeface="+mn-ea"/>
                <a:cs typeface="+mn-cs"/>
              </a:rPr>
              <a:t>)</a:t>
            </a:r>
          </a:p>
        </p:txBody>
      </p:sp>
      <p:sp>
        <p:nvSpPr>
          <p:cNvPr id="194" name="TextBox 164">
            <a:extLst>
              <a:ext uri="{FF2B5EF4-FFF2-40B4-BE49-F238E27FC236}">
                <a16:creationId xmlns:a16="http://schemas.microsoft.com/office/drawing/2014/main" id="{D2D72A87-6837-78AD-1F69-63D84C4F0E8D}"/>
              </a:ext>
            </a:extLst>
          </p:cNvPr>
          <p:cNvSpPr txBox="1"/>
          <p:nvPr/>
        </p:nvSpPr>
        <p:spPr>
          <a:xfrm>
            <a:off x="335953" y="1005737"/>
            <a:ext cx="2679700" cy="158686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800" b="1" i="0" u="none" strike="noStrike" kern="1200" cap="none" spc="0" normalizeH="0" baseline="0" noProof="0" dirty="0">
                <a:ln>
                  <a:noFill/>
                </a:ln>
                <a:solidFill>
                  <a:srgbClr val="000000"/>
                </a:solidFill>
                <a:effectLst/>
                <a:uLnTx/>
                <a:uFillTx/>
                <a:latin typeface="Graphik"/>
                <a:ea typeface="+mn-ea"/>
                <a:cs typeface="+mn-cs"/>
              </a:rPr>
              <a:t>Notas:</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Los componentes en rojo no existen y se consideran críticos</a:t>
            </a:r>
            <a:r>
              <a:rPr kumimoji="0" lang="es" altLang="es-MX" sz="1000" b="0" i="0" u="none" strike="noStrike" kern="1200" cap="none" spc="0" normalizeH="0" baseline="0" noProof="0" dirty="0">
                <a:ln>
                  <a:noFill/>
                </a:ln>
                <a:solidFill>
                  <a:srgbClr val="000000"/>
                </a:solidFill>
                <a:effectLst/>
                <a:uLnTx/>
                <a:uFillTx/>
                <a:latin typeface="Graphik"/>
                <a:ea typeface="+mn-ea"/>
                <a:cs typeface="+mn-cs"/>
              </a:rPr>
              <a:t>.</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Las líneas verdes representan el flujo de actual.</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En su mayor parte, los servicios de seguridad dependen de un microservicio.</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Sin observabilidad ni respuesta de ciberseguridad.</a:t>
            </a:r>
          </a:p>
          <a:p>
            <a:pPr marL="115888" marR="0" lvl="0" indent="-115888"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800" b="0" i="0" u="none" strike="noStrike" kern="1200" cap="none" spc="0" normalizeH="0" baseline="0" noProof="0" dirty="0">
                <a:ln>
                  <a:noFill/>
                </a:ln>
                <a:solidFill>
                  <a:srgbClr val="000000"/>
                </a:solidFill>
                <a:effectLst/>
                <a:uLnTx/>
                <a:uFillTx/>
                <a:latin typeface="Graphik"/>
                <a:ea typeface="+mn-ea"/>
                <a:cs typeface="+mn-cs"/>
              </a:rPr>
              <a:t>Es necesario evaluar la seguridad en las capas de interoperabilidad.</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800" b="0" i="0" u="none" strike="noStrike" kern="1200" cap="none" spc="0" normalizeH="0" baseline="0" noProof="0" dirty="0">
              <a:ln>
                <a:noFill/>
              </a:ln>
              <a:solidFill>
                <a:srgbClr val="000000"/>
              </a:solidFill>
              <a:effectLst/>
              <a:uLnTx/>
              <a:uFillTx/>
              <a:latin typeface="Graphik"/>
              <a:ea typeface="+mn-ea"/>
              <a:cs typeface="+mn-cs"/>
            </a:endParaRP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s-MX" altLang="en-US" sz="10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95" name="Rectangle 1060">
            <a:extLst>
              <a:ext uri="{FF2B5EF4-FFF2-40B4-BE49-F238E27FC236}">
                <a16:creationId xmlns:a16="http://schemas.microsoft.com/office/drawing/2014/main" id="{491C86F6-7F70-3A2A-79A5-86F988457801}"/>
              </a:ext>
            </a:extLst>
          </p:cNvPr>
          <p:cNvSpPr/>
          <p:nvPr/>
        </p:nvSpPr>
        <p:spPr>
          <a:xfrm>
            <a:off x="8676210" y="1757742"/>
            <a:ext cx="3437055" cy="174788"/>
          </a:xfrm>
          <a:prstGeom prst="rect">
            <a:avLst/>
          </a:prstGeom>
          <a:solidFill>
            <a:schemeClr val="tx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FFFFFF"/>
                </a:solidFill>
                <a:effectLst/>
                <a:uLnTx/>
                <a:uFillTx/>
                <a:latin typeface="Graphik"/>
                <a:ea typeface="+mn-ea"/>
                <a:cs typeface="+mn-cs"/>
              </a:rPr>
              <a:t>Dependencia de terceros</a:t>
            </a:r>
          </a:p>
        </p:txBody>
      </p:sp>
      <p:sp>
        <p:nvSpPr>
          <p:cNvPr id="3" name="Rectangle 1060">
            <a:extLst>
              <a:ext uri="{FF2B5EF4-FFF2-40B4-BE49-F238E27FC236}">
                <a16:creationId xmlns:a16="http://schemas.microsoft.com/office/drawing/2014/main" id="{C439D808-7584-8D6B-503B-ACC8E2929678}"/>
              </a:ext>
            </a:extLst>
          </p:cNvPr>
          <p:cNvSpPr/>
          <p:nvPr/>
        </p:nvSpPr>
        <p:spPr>
          <a:xfrm>
            <a:off x="8674178" y="1540683"/>
            <a:ext cx="3439086" cy="15395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9" name="Rectangle 8">
            <a:extLst>
              <a:ext uri="{FF2B5EF4-FFF2-40B4-BE49-F238E27FC236}">
                <a16:creationId xmlns:a16="http://schemas.microsoft.com/office/drawing/2014/main" id="{6F0F45C0-4B0F-4F6D-A085-6C84A99F922A}"/>
              </a:ext>
            </a:extLst>
          </p:cNvPr>
          <p:cNvSpPr/>
          <p:nvPr/>
        </p:nvSpPr>
        <p:spPr>
          <a:xfrm>
            <a:off x="8674179" y="873678"/>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1" name="Rectangle 10">
            <a:extLst>
              <a:ext uri="{FF2B5EF4-FFF2-40B4-BE49-F238E27FC236}">
                <a16:creationId xmlns:a16="http://schemas.microsoft.com/office/drawing/2014/main" id="{B44804BD-3D07-86FA-AA4A-3A7D6D1033B2}"/>
              </a:ext>
            </a:extLst>
          </p:cNvPr>
          <p:cNvSpPr/>
          <p:nvPr/>
        </p:nvSpPr>
        <p:spPr>
          <a:xfrm>
            <a:off x="8674179" y="1107830"/>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3" name="Rectangle 12">
            <a:extLst>
              <a:ext uri="{FF2B5EF4-FFF2-40B4-BE49-F238E27FC236}">
                <a16:creationId xmlns:a16="http://schemas.microsoft.com/office/drawing/2014/main" id="{6F402B03-03E9-4F47-FC6E-D1639837E8A6}"/>
              </a:ext>
            </a:extLst>
          </p:cNvPr>
          <p:cNvSpPr/>
          <p:nvPr/>
        </p:nvSpPr>
        <p:spPr>
          <a:xfrm>
            <a:off x="8674178" y="1324255"/>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41424409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1FF38-C5E2-C49F-11D2-CD09F5C9F0F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FB053FCC-2CD6-53D4-5ACE-98EBBF92EB17}"/>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8499636B-4A4D-9110-DBF0-7937AED2457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2BDE39EB-3FAE-1593-6CEC-584E9DD2BDE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Marco de Microservicios | Caché </a:t>
            </a:r>
          </a:p>
        </p:txBody>
      </p:sp>
      <p:grpSp>
        <p:nvGrpSpPr>
          <p:cNvPr id="4" name="Group 3">
            <a:extLst>
              <a:ext uri="{FF2B5EF4-FFF2-40B4-BE49-F238E27FC236}">
                <a16:creationId xmlns:a16="http://schemas.microsoft.com/office/drawing/2014/main" id="{E7631046-9982-4708-1CDB-6766FC8CF2EF}"/>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A5D2A919-02DB-60CD-D734-9AC255447A24}"/>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DC1DD97-6D75-D6C4-3C88-7E22E1761F3A}"/>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74C7F47-8235-D563-14DC-174F7DD523D9}"/>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E7122525-1D0C-BBB6-F553-762F2D62B3CA}"/>
              </a:ext>
            </a:extLst>
          </p:cNvPr>
          <p:cNvSpPr txBox="1"/>
          <p:nvPr/>
        </p:nvSpPr>
        <p:spPr>
          <a:xfrm>
            <a:off x="2701464" y="2105063"/>
            <a:ext cx="4982983" cy="2853844"/>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a:t>
            </a:r>
          </a:p>
        </p:txBody>
      </p:sp>
      <p:sp>
        <p:nvSpPr>
          <p:cNvPr id="9" name="Rectangle 8">
            <a:extLst>
              <a:ext uri="{FF2B5EF4-FFF2-40B4-BE49-F238E27FC236}">
                <a16:creationId xmlns:a16="http://schemas.microsoft.com/office/drawing/2014/main" id="{1E30F2F5-807E-076D-4914-39AFA0EDB981}"/>
              </a:ext>
            </a:extLst>
          </p:cNvPr>
          <p:cNvSpPr/>
          <p:nvPr/>
        </p:nvSpPr>
        <p:spPr>
          <a:xfrm>
            <a:off x="4058285" y="998200"/>
            <a:ext cx="3335606" cy="1855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FF672440-0AD7-B162-5487-D4F8E94CBAD9}"/>
              </a:ext>
            </a:extLst>
          </p:cNvPr>
          <p:cNvSpPr/>
          <p:nvPr/>
        </p:nvSpPr>
        <p:spPr>
          <a:xfrm>
            <a:off x="4058919" y="1232515"/>
            <a:ext cx="3334893" cy="18554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D09893B6-98E5-4242-625D-6E277E0D8D4A}"/>
              </a:ext>
            </a:extLst>
          </p:cNvPr>
          <p:cNvSpPr/>
          <p:nvPr/>
        </p:nvSpPr>
        <p:spPr>
          <a:xfrm>
            <a:off x="4058285" y="1449050"/>
            <a:ext cx="3335606" cy="18554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cxnSp>
        <p:nvCxnSpPr>
          <p:cNvPr id="12" name="Straight Arrow Connector 11">
            <a:extLst>
              <a:ext uri="{FF2B5EF4-FFF2-40B4-BE49-F238E27FC236}">
                <a16:creationId xmlns:a16="http://schemas.microsoft.com/office/drawing/2014/main" id="{4002B426-2E67-7B25-F2BD-C41EC5F423EA}"/>
              </a:ext>
            </a:extLst>
          </p:cNvPr>
          <p:cNvCxnSpPr>
            <a:stCxn id="8" idx="3"/>
            <a:endCxn id="13" idx="2"/>
          </p:cNvCxnSpPr>
          <p:nvPr/>
        </p:nvCxnSpPr>
        <p:spPr>
          <a:xfrm>
            <a:off x="7684447" y="3531985"/>
            <a:ext cx="661413" cy="860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n 172">
            <a:extLst>
              <a:ext uri="{FF2B5EF4-FFF2-40B4-BE49-F238E27FC236}">
                <a16:creationId xmlns:a16="http://schemas.microsoft.com/office/drawing/2014/main" id="{3782FEDB-3050-738C-126D-68FBC47080AD}"/>
              </a:ext>
            </a:extLst>
          </p:cNvPr>
          <p:cNvSpPr/>
          <p:nvPr/>
        </p:nvSpPr>
        <p:spPr bwMode="auto">
          <a:xfrm>
            <a:off x="8345860" y="2115115"/>
            <a:ext cx="332049" cy="285095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Servicio remoto</a:t>
            </a:r>
          </a:p>
        </p:txBody>
      </p:sp>
      <p:sp>
        <p:nvSpPr>
          <p:cNvPr id="14" name="Rectangle 13">
            <a:extLst>
              <a:ext uri="{FF2B5EF4-FFF2-40B4-BE49-F238E27FC236}">
                <a16:creationId xmlns:a16="http://schemas.microsoft.com/office/drawing/2014/main" id="{04D4C15A-6115-6D3D-A530-9686C8158B25}"/>
              </a:ext>
            </a:extLst>
          </p:cNvPr>
          <p:cNvSpPr/>
          <p:nvPr/>
        </p:nvSpPr>
        <p:spPr>
          <a:xfrm>
            <a:off x="3291926" y="2406207"/>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Marco de Microservicios</a:t>
            </a:r>
          </a:p>
        </p:txBody>
      </p:sp>
      <p:sp>
        <p:nvSpPr>
          <p:cNvPr id="15" name="Rectangle: Rounded Corners 55">
            <a:extLst>
              <a:ext uri="{FF2B5EF4-FFF2-40B4-BE49-F238E27FC236}">
                <a16:creationId xmlns:a16="http://schemas.microsoft.com/office/drawing/2014/main" id="{9E7508D1-5276-64B1-F7B7-B6436E4B42BC}"/>
              </a:ext>
            </a:extLst>
          </p:cNvPr>
          <p:cNvSpPr/>
          <p:nvPr/>
        </p:nvSpPr>
        <p:spPr>
          <a:xfrm>
            <a:off x="737066" y="2337297"/>
            <a:ext cx="1021723" cy="35154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6" name="Rectangle: Rounded Corners 55">
            <a:extLst>
              <a:ext uri="{FF2B5EF4-FFF2-40B4-BE49-F238E27FC236}">
                <a16:creationId xmlns:a16="http://schemas.microsoft.com/office/drawing/2014/main" id="{3E2BB48E-DC04-975B-CB88-D181A7158621}"/>
              </a:ext>
            </a:extLst>
          </p:cNvPr>
          <p:cNvSpPr/>
          <p:nvPr/>
        </p:nvSpPr>
        <p:spPr>
          <a:xfrm>
            <a:off x="945522" y="2857737"/>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Aplicación móvil</a:t>
            </a:r>
          </a:p>
        </p:txBody>
      </p:sp>
      <p:sp>
        <p:nvSpPr>
          <p:cNvPr id="17" name="Rectangle: Rounded Corners 55">
            <a:extLst>
              <a:ext uri="{FF2B5EF4-FFF2-40B4-BE49-F238E27FC236}">
                <a16:creationId xmlns:a16="http://schemas.microsoft.com/office/drawing/2014/main" id="{7F8A43D9-1B91-6C25-0ADF-5137982E38A2}"/>
              </a:ext>
            </a:extLst>
          </p:cNvPr>
          <p:cNvSpPr/>
          <p:nvPr/>
        </p:nvSpPr>
        <p:spPr>
          <a:xfrm>
            <a:off x="945521" y="5114216"/>
            <a:ext cx="678070"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Sitio web</a:t>
            </a:r>
          </a:p>
        </p:txBody>
      </p:sp>
      <p:sp>
        <p:nvSpPr>
          <p:cNvPr id="18" name="Can 172">
            <a:extLst>
              <a:ext uri="{FF2B5EF4-FFF2-40B4-BE49-F238E27FC236}">
                <a16:creationId xmlns:a16="http://schemas.microsoft.com/office/drawing/2014/main" id="{A65FE65F-88B5-F054-122A-BBC368E0A721}"/>
              </a:ext>
            </a:extLst>
          </p:cNvPr>
          <p:cNvSpPr/>
          <p:nvPr/>
        </p:nvSpPr>
        <p:spPr bwMode="auto">
          <a:xfrm>
            <a:off x="164997" y="2311288"/>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omnicanal</a:t>
            </a:r>
          </a:p>
        </p:txBody>
      </p:sp>
      <p:cxnSp>
        <p:nvCxnSpPr>
          <p:cNvPr id="19" name="Connector: Elbow 124">
            <a:extLst>
              <a:ext uri="{FF2B5EF4-FFF2-40B4-BE49-F238E27FC236}">
                <a16:creationId xmlns:a16="http://schemas.microsoft.com/office/drawing/2014/main" id="{8B80120B-B9C3-D2C1-F37E-91520B58E309}"/>
              </a:ext>
            </a:extLst>
          </p:cNvPr>
          <p:cNvCxnSpPr>
            <a:stCxn id="18" idx="4"/>
            <a:endCxn id="16" idx="1"/>
          </p:cNvCxnSpPr>
          <p:nvPr/>
        </p:nvCxnSpPr>
        <p:spPr>
          <a:xfrm flipV="1">
            <a:off x="456472" y="3003046"/>
            <a:ext cx="489050" cy="107899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24">
            <a:extLst>
              <a:ext uri="{FF2B5EF4-FFF2-40B4-BE49-F238E27FC236}">
                <a16:creationId xmlns:a16="http://schemas.microsoft.com/office/drawing/2014/main" id="{D6B61B1D-CF47-1F78-2BBE-9B6A4A5909CC}"/>
              </a:ext>
            </a:extLst>
          </p:cNvPr>
          <p:cNvCxnSpPr>
            <a:stCxn id="18" idx="4"/>
            <a:endCxn id="17" idx="1"/>
          </p:cNvCxnSpPr>
          <p:nvPr/>
        </p:nvCxnSpPr>
        <p:spPr>
          <a:xfrm>
            <a:off x="456472" y="4082038"/>
            <a:ext cx="489049" cy="1177487"/>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55">
            <a:extLst>
              <a:ext uri="{FF2B5EF4-FFF2-40B4-BE49-F238E27FC236}">
                <a16:creationId xmlns:a16="http://schemas.microsoft.com/office/drawing/2014/main" id="{6683EFBD-EA0F-7654-7AC2-2D5AF9DB7F44}"/>
              </a:ext>
            </a:extLst>
          </p:cNvPr>
          <p:cNvSpPr/>
          <p:nvPr/>
        </p:nvSpPr>
        <p:spPr>
          <a:xfrm>
            <a:off x="601868" y="2234245"/>
            <a:ext cx="1021723"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Cliente</a:t>
            </a:r>
          </a:p>
        </p:txBody>
      </p:sp>
      <p:sp>
        <p:nvSpPr>
          <p:cNvPr id="22" name="Can 172">
            <a:extLst>
              <a:ext uri="{FF2B5EF4-FFF2-40B4-BE49-F238E27FC236}">
                <a16:creationId xmlns:a16="http://schemas.microsoft.com/office/drawing/2014/main" id="{F08FFA86-AB6A-B08B-A64F-6E1C5D74830A}"/>
              </a:ext>
            </a:extLst>
          </p:cNvPr>
          <p:cNvSpPr/>
          <p:nvPr/>
        </p:nvSpPr>
        <p:spPr bwMode="auto">
          <a:xfrm>
            <a:off x="2173712" y="2375905"/>
            <a:ext cx="237829" cy="2789419"/>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cxnSp>
        <p:nvCxnSpPr>
          <p:cNvPr id="23" name="Straight Arrow Connector 22">
            <a:extLst>
              <a:ext uri="{FF2B5EF4-FFF2-40B4-BE49-F238E27FC236}">
                <a16:creationId xmlns:a16="http://schemas.microsoft.com/office/drawing/2014/main" id="{6BEF9797-62D5-81B5-A5DE-570A3F571788}"/>
              </a:ext>
            </a:extLst>
          </p:cNvPr>
          <p:cNvCxnSpPr>
            <a:endCxn id="22" idx="2"/>
          </p:cNvCxnSpPr>
          <p:nvPr/>
        </p:nvCxnSpPr>
        <p:spPr>
          <a:xfrm>
            <a:off x="1787955" y="3770614"/>
            <a:ext cx="385757" cy="1"/>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55">
            <a:extLst>
              <a:ext uri="{FF2B5EF4-FFF2-40B4-BE49-F238E27FC236}">
                <a16:creationId xmlns:a16="http://schemas.microsoft.com/office/drawing/2014/main" id="{F04F0403-BAEE-C626-EB5D-0A62BDAA2464}"/>
              </a:ext>
            </a:extLst>
          </p:cNvPr>
          <p:cNvSpPr/>
          <p:nvPr/>
        </p:nvSpPr>
        <p:spPr>
          <a:xfrm>
            <a:off x="3308985" y="2672060"/>
            <a:ext cx="1649095" cy="33083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Configuraciones automaticas de Plataforma</a:t>
            </a:r>
          </a:p>
        </p:txBody>
      </p:sp>
      <p:sp>
        <p:nvSpPr>
          <p:cNvPr id="25" name="Rectangle: Rounded Corners 55">
            <a:extLst>
              <a:ext uri="{FF2B5EF4-FFF2-40B4-BE49-F238E27FC236}">
                <a16:creationId xmlns:a16="http://schemas.microsoft.com/office/drawing/2014/main" id="{ADC87055-A852-F3CB-A56C-29121F945978}"/>
              </a:ext>
            </a:extLst>
          </p:cNvPr>
          <p:cNvSpPr/>
          <p:nvPr/>
        </p:nvSpPr>
        <p:spPr>
          <a:xfrm>
            <a:off x="3291926" y="3063408"/>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Tiempos de ejecución del lenguaje</a:t>
            </a:r>
          </a:p>
        </p:txBody>
      </p:sp>
      <p:sp>
        <p:nvSpPr>
          <p:cNvPr id="26" name="Rectangle: Rounded Corners 25">
            <a:extLst>
              <a:ext uri="{FF2B5EF4-FFF2-40B4-BE49-F238E27FC236}">
                <a16:creationId xmlns:a16="http://schemas.microsoft.com/office/drawing/2014/main" id="{1320838C-7519-B8CE-3ACF-CC814901AD6F}"/>
              </a:ext>
            </a:extLst>
          </p:cNvPr>
          <p:cNvSpPr/>
          <p:nvPr/>
        </p:nvSpPr>
        <p:spPr>
          <a:xfrm>
            <a:off x="3300585" y="3450610"/>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Pruebas automatizadas</a:t>
            </a:r>
          </a:p>
        </p:txBody>
      </p:sp>
      <p:sp>
        <p:nvSpPr>
          <p:cNvPr id="27" name="Rectangle: Rounded Corners 55">
            <a:extLst>
              <a:ext uri="{FF2B5EF4-FFF2-40B4-BE49-F238E27FC236}">
                <a16:creationId xmlns:a16="http://schemas.microsoft.com/office/drawing/2014/main" id="{50D901D0-2F4D-C501-1452-040923B7EB3C}"/>
              </a:ext>
            </a:extLst>
          </p:cNvPr>
          <p:cNvSpPr/>
          <p:nvPr/>
        </p:nvSpPr>
        <p:spPr>
          <a:xfrm>
            <a:off x="3280820" y="3882602"/>
            <a:ext cx="1666459"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Estrategias de despliegue</a:t>
            </a:r>
          </a:p>
        </p:txBody>
      </p:sp>
      <p:sp>
        <p:nvSpPr>
          <p:cNvPr id="28" name="Rectangle: Rounded Corners 55">
            <a:extLst>
              <a:ext uri="{FF2B5EF4-FFF2-40B4-BE49-F238E27FC236}">
                <a16:creationId xmlns:a16="http://schemas.microsoft.com/office/drawing/2014/main" id="{C7A520D8-08A3-9004-1BC2-19CA8B8E3822}"/>
              </a:ext>
            </a:extLst>
          </p:cNvPr>
          <p:cNvSpPr/>
          <p:nvPr/>
        </p:nvSpPr>
        <p:spPr>
          <a:xfrm>
            <a:off x="3280821" y="423603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Librerias base</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9" name="Can 172">
            <a:extLst>
              <a:ext uri="{FF2B5EF4-FFF2-40B4-BE49-F238E27FC236}">
                <a16:creationId xmlns:a16="http://schemas.microsoft.com/office/drawing/2014/main" id="{969753D1-1799-BF16-72B7-3F8FF5870AFC}"/>
              </a:ext>
            </a:extLst>
          </p:cNvPr>
          <p:cNvSpPr/>
          <p:nvPr/>
        </p:nvSpPr>
        <p:spPr bwMode="auto">
          <a:xfrm rot="5400000">
            <a:off x="3970544" y="4878457"/>
            <a:ext cx="233770" cy="1741911"/>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Gestión | Orquestación</a:t>
            </a:r>
          </a:p>
        </p:txBody>
      </p:sp>
      <p:sp>
        <p:nvSpPr>
          <p:cNvPr id="30" name="Can 172">
            <a:extLst>
              <a:ext uri="{FF2B5EF4-FFF2-40B4-BE49-F238E27FC236}">
                <a16:creationId xmlns:a16="http://schemas.microsoft.com/office/drawing/2014/main" id="{35F2F832-5B60-0296-0BE1-117473D703F5}"/>
              </a:ext>
            </a:extLst>
          </p:cNvPr>
          <p:cNvSpPr/>
          <p:nvPr/>
        </p:nvSpPr>
        <p:spPr bwMode="auto">
          <a:xfrm>
            <a:off x="2176231" y="5200368"/>
            <a:ext cx="237829" cy="83030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Contenido estático</a:t>
            </a:r>
          </a:p>
        </p:txBody>
      </p:sp>
      <p:sp>
        <p:nvSpPr>
          <p:cNvPr id="31" name="Can 172">
            <a:extLst>
              <a:ext uri="{FF2B5EF4-FFF2-40B4-BE49-F238E27FC236}">
                <a16:creationId xmlns:a16="http://schemas.microsoft.com/office/drawing/2014/main" id="{D6C793E8-1739-FE40-4B79-01043F7D29EA}"/>
              </a:ext>
            </a:extLst>
          </p:cNvPr>
          <p:cNvSpPr/>
          <p:nvPr/>
        </p:nvSpPr>
        <p:spPr bwMode="auto">
          <a:xfrm>
            <a:off x="1841663" y="5217725"/>
            <a:ext cx="237829" cy="648572"/>
          </a:xfrm>
          <a:prstGeom prst="can">
            <a:avLst>
              <a:gd name="adj" fmla="val 55717"/>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CDN</a:t>
            </a:r>
          </a:p>
        </p:txBody>
      </p:sp>
      <p:cxnSp>
        <p:nvCxnSpPr>
          <p:cNvPr id="32" name="Straight Arrow Connector 31">
            <a:extLst>
              <a:ext uri="{FF2B5EF4-FFF2-40B4-BE49-F238E27FC236}">
                <a16:creationId xmlns:a16="http://schemas.microsoft.com/office/drawing/2014/main" id="{56B6D6E8-833E-B604-63C4-8FC900391D11}"/>
              </a:ext>
            </a:extLst>
          </p:cNvPr>
          <p:cNvCxnSpPr>
            <a:stCxn id="31" idx="2"/>
          </p:cNvCxnSpPr>
          <p:nvPr/>
        </p:nvCxnSpPr>
        <p:spPr>
          <a:xfrm flipH="1">
            <a:off x="1525797" y="5542011"/>
            <a:ext cx="315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523E294-D420-1377-FC3A-5A1D8980DA71}"/>
              </a:ext>
            </a:extLst>
          </p:cNvPr>
          <p:cNvCxnSpPr>
            <a:endCxn id="31" idx="4"/>
          </p:cNvCxnSpPr>
          <p:nvPr/>
        </p:nvCxnSpPr>
        <p:spPr>
          <a:xfrm flipH="1">
            <a:off x="2079492" y="5542011"/>
            <a:ext cx="9775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124">
            <a:extLst>
              <a:ext uri="{FF2B5EF4-FFF2-40B4-BE49-F238E27FC236}">
                <a16:creationId xmlns:a16="http://schemas.microsoft.com/office/drawing/2014/main" id="{F964A386-BA85-9B7E-38FC-C8F383337FBA}"/>
              </a:ext>
            </a:extLst>
          </p:cNvPr>
          <p:cNvCxnSpPr>
            <a:stCxn id="22" idx="4"/>
            <a:endCxn id="24" idx="1"/>
          </p:cNvCxnSpPr>
          <p:nvPr/>
        </p:nvCxnSpPr>
        <p:spPr>
          <a:xfrm flipV="1">
            <a:off x="2411730" y="2837795"/>
            <a:ext cx="897255" cy="933450"/>
          </a:xfrm>
          <a:prstGeom prst="bentConnector3">
            <a:avLst>
              <a:gd name="adj1" fmla="val 50035"/>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124">
            <a:extLst>
              <a:ext uri="{FF2B5EF4-FFF2-40B4-BE49-F238E27FC236}">
                <a16:creationId xmlns:a16="http://schemas.microsoft.com/office/drawing/2014/main" id="{449A9A2D-AEC5-E4D6-1189-4441A05C88F7}"/>
              </a:ext>
            </a:extLst>
          </p:cNvPr>
          <p:cNvCxnSpPr>
            <a:stCxn id="22" idx="4"/>
            <a:endCxn id="28" idx="1"/>
          </p:cNvCxnSpPr>
          <p:nvPr/>
        </p:nvCxnSpPr>
        <p:spPr>
          <a:xfrm>
            <a:off x="2411541" y="3770615"/>
            <a:ext cx="869280" cy="58230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AAD1ABA0-5EE2-38D8-C13F-19957D274217}"/>
              </a:ext>
            </a:extLst>
          </p:cNvPr>
          <p:cNvCxnSpPr>
            <a:stCxn id="22" idx="4"/>
            <a:endCxn id="25" idx="1"/>
          </p:cNvCxnSpPr>
          <p:nvPr/>
        </p:nvCxnSpPr>
        <p:spPr>
          <a:xfrm flipV="1">
            <a:off x="2411541" y="3180293"/>
            <a:ext cx="880385" cy="59032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Connector: Elbow 124">
            <a:extLst>
              <a:ext uri="{FF2B5EF4-FFF2-40B4-BE49-F238E27FC236}">
                <a16:creationId xmlns:a16="http://schemas.microsoft.com/office/drawing/2014/main" id="{CE5235EE-01E0-6E38-028F-74BEB42AFAE3}"/>
              </a:ext>
            </a:extLst>
          </p:cNvPr>
          <p:cNvCxnSpPr>
            <a:stCxn id="22" idx="4"/>
            <a:endCxn id="26" idx="1"/>
          </p:cNvCxnSpPr>
          <p:nvPr/>
        </p:nvCxnSpPr>
        <p:spPr>
          <a:xfrm flipV="1">
            <a:off x="2411541" y="3567495"/>
            <a:ext cx="889044" cy="20312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124">
            <a:extLst>
              <a:ext uri="{FF2B5EF4-FFF2-40B4-BE49-F238E27FC236}">
                <a16:creationId xmlns:a16="http://schemas.microsoft.com/office/drawing/2014/main" id="{41F722CD-FDD6-DCF6-AFAC-3040AD3E9470}"/>
              </a:ext>
            </a:extLst>
          </p:cNvPr>
          <p:cNvCxnSpPr>
            <a:stCxn id="22" idx="4"/>
            <a:endCxn id="27" idx="1"/>
          </p:cNvCxnSpPr>
          <p:nvPr/>
        </p:nvCxnSpPr>
        <p:spPr>
          <a:xfrm>
            <a:off x="2411541" y="3770615"/>
            <a:ext cx="869279" cy="22887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9" name="Can 172">
            <a:extLst>
              <a:ext uri="{FF2B5EF4-FFF2-40B4-BE49-F238E27FC236}">
                <a16:creationId xmlns:a16="http://schemas.microsoft.com/office/drawing/2014/main" id="{709ED227-A4EB-5A18-9E9F-876C2F789719}"/>
              </a:ext>
            </a:extLst>
          </p:cNvPr>
          <p:cNvSpPr/>
          <p:nvPr/>
        </p:nvSpPr>
        <p:spPr bwMode="auto">
          <a:xfrm rot="5400000">
            <a:off x="6291312" y="4818771"/>
            <a:ext cx="233770" cy="1861283"/>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Descubrimiento del servicio</a:t>
            </a:r>
          </a:p>
        </p:txBody>
      </p:sp>
      <p:cxnSp>
        <p:nvCxnSpPr>
          <p:cNvPr id="40" name="Straight Arrow Connector 39">
            <a:extLst>
              <a:ext uri="{FF2B5EF4-FFF2-40B4-BE49-F238E27FC236}">
                <a16:creationId xmlns:a16="http://schemas.microsoft.com/office/drawing/2014/main" id="{FEABB27E-E1AC-B329-4EBC-E6425A51D94B}"/>
              </a:ext>
            </a:extLst>
          </p:cNvPr>
          <p:cNvCxnSpPr>
            <a:stCxn id="29" idx="2"/>
          </p:cNvCxnSpPr>
          <p:nvPr/>
        </p:nvCxnSpPr>
        <p:spPr>
          <a:xfrm flipV="1">
            <a:off x="4087429" y="4922029"/>
            <a:ext cx="0" cy="710499"/>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6CDBC02A-B791-D594-D318-D9ADF51E8B08}"/>
              </a:ext>
            </a:extLst>
          </p:cNvPr>
          <p:cNvCxnSpPr>
            <a:stCxn id="29" idx="1"/>
            <a:endCxn id="39" idx="3"/>
          </p:cNvCxnSpPr>
          <p:nvPr/>
        </p:nvCxnSpPr>
        <p:spPr>
          <a:xfrm>
            <a:off x="4958385" y="5749413"/>
            <a:ext cx="51917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ACEC501-CA80-2FA8-E437-0CBB4D627699}"/>
              </a:ext>
            </a:extLst>
          </p:cNvPr>
          <p:cNvCxnSpPr>
            <a:endCxn id="39" idx="2"/>
          </p:cNvCxnSpPr>
          <p:nvPr/>
        </p:nvCxnSpPr>
        <p:spPr>
          <a:xfrm>
            <a:off x="6408197" y="4945101"/>
            <a:ext cx="0" cy="68742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3" name="Picture 2" descr="Docker, logo, icono de logos - Descarga gratuita en Iconfinder">
            <a:extLst>
              <a:ext uri="{FF2B5EF4-FFF2-40B4-BE49-F238E27FC236}">
                <a16:creationId xmlns:a16="http://schemas.microsoft.com/office/drawing/2014/main" id="{64278174-5DFE-6294-ADCE-37AA392632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8760" y="1807090"/>
            <a:ext cx="448611" cy="44861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quot;kubernetes&quot; Icon - Descargar gratis – Iconduck">
            <a:extLst>
              <a:ext uri="{FF2B5EF4-FFF2-40B4-BE49-F238E27FC236}">
                <a16:creationId xmlns:a16="http://schemas.microsoft.com/office/drawing/2014/main" id="{FB0C3C83-C829-A51B-203C-2086F2C14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7371" y="1864210"/>
            <a:ext cx="354394" cy="345204"/>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1914EDE9-40A6-5759-D152-305DFC90D0D8}"/>
              </a:ext>
            </a:extLst>
          </p:cNvPr>
          <p:cNvSpPr txBox="1"/>
          <p:nvPr/>
        </p:nvSpPr>
        <p:spPr>
          <a:xfrm>
            <a:off x="11654589" y="2923286"/>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pic>
        <p:nvPicPr>
          <p:cNvPr id="46" name="Picture 6" descr="Contenedores AWS - La información más importante">
            <a:extLst>
              <a:ext uri="{FF2B5EF4-FFF2-40B4-BE49-F238E27FC236}">
                <a16:creationId xmlns:a16="http://schemas.microsoft.com/office/drawing/2014/main" id="{C0B11837-A484-AD98-3615-1380FF3DBB51}"/>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8349" t="28042" r="29333" b="28215"/>
          <a:stretch>
            <a:fillRect/>
          </a:stretch>
        </p:blipFill>
        <p:spPr bwMode="auto">
          <a:xfrm>
            <a:off x="3554250" y="1892594"/>
            <a:ext cx="269701" cy="278782"/>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DF85C789-C46F-3972-0F79-DFE2A8E357D2}"/>
              </a:ext>
            </a:extLst>
          </p:cNvPr>
          <p:cNvSpPr/>
          <p:nvPr/>
        </p:nvSpPr>
        <p:spPr>
          <a:xfrm>
            <a:off x="3141655" y="5940673"/>
            <a:ext cx="4102600" cy="180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de caché / Replicación de sesiones</a:t>
            </a:r>
          </a:p>
        </p:txBody>
      </p:sp>
      <p:cxnSp>
        <p:nvCxnSpPr>
          <p:cNvPr id="48" name="Connector: Elbow 124">
            <a:extLst>
              <a:ext uri="{FF2B5EF4-FFF2-40B4-BE49-F238E27FC236}">
                <a16:creationId xmlns:a16="http://schemas.microsoft.com/office/drawing/2014/main" id="{94EDC763-9CBC-4FBF-9EE1-D03D2D3AFB85}"/>
              </a:ext>
            </a:extLst>
          </p:cNvPr>
          <p:cNvCxnSpPr>
            <a:stCxn id="22" idx="4"/>
            <a:endCxn id="47" idx="1"/>
          </p:cNvCxnSpPr>
          <p:nvPr/>
        </p:nvCxnSpPr>
        <p:spPr>
          <a:xfrm>
            <a:off x="2411541" y="3770615"/>
            <a:ext cx="730114" cy="2260058"/>
          </a:xfrm>
          <a:prstGeom prst="bentConnector3">
            <a:avLst>
              <a:gd name="adj1" fmla="val 50000"/>
            </a:avLst>
          </a:prstGeom>
          <a:ln w="9525">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Rectangle: Rounded Corners 55">
            <a:extLst>
              <a:ext uri="{FF2B5EF4-FFF2-40B4-BE49-F238E27FC236}">
                <a16:creationId xmlns:a16="http://schemas.microsoft.com/office/drawing/2014/main" id="{E4EB3DCE-E6B6-31F9-5732-89BE06D99D8F}"/>
              </a:ext>
            </a:extLst>
          </p:cNvPr>
          <p:cNvSpPr/>
          <p:nvPr/>
        </p:nvSpPr>
        <p:spPr>
          <a:xfrm>
            <a:off x="5088100" y="2668497"/>
            <a:ext cx="2264298" cy="1846558"/>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sym typeface="+mn-ea"/>
              </a:rPr>
              <a:t>Kernel</a:t>
            </a:r>
          </a:p>
        </p:txBody>
      </p:sp>
      <p:sp>
        <p:nvSpPr>
          <p:cNvPr id="50" name="Rectangle: Rounded Corners 55">
            <a:extLst>
              <a:ext uri="{FF2B5EF4-FFF2-40B4-BE49-F238E27FC236}">
                <a16:creationId xmlns:a16="http://schemas.microsoft.com/office/drawing/2014/main" id="{D83B5F55-A11C-4B58-353B-4F67FAF04CB1}"/>
              </a:ext>
            </a:extLst>
          </p:cNvPr>
          <p:cNvSpPr/>
          <p:nvPr/>
        </p:nvSpPr>
        <p:spPr>
          <a:xfrm>
            <a:off x="5410218" y="2769364"/>
            <a:ext cx="1686224" cy="233770"/>
          </a:xfrm>
          <a:prstGeom prst="round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a:ln>
                  <a:noFill/>
                </a:ln>
                <a:solidFill>
                  <a:srgbClr val="000000"/>
                </a:solidFill>
                <a:effectLst/>
                <a:uLnTx/>
                <a:uFillTx/>
                <a:latin typeface="Graphik"/>
                <a:ea typeface="+mn-ea"/>
                <a:cs typeface="+mn-cs"/>
                <a:sym typeface="+mn-ea"/>
              </a:rPr>
              <a:t>Microservicios Java</a:t>
            </a:r>
          </a:p>
        </p:txBody>
      </p:sp>
      <p:sp>
        <p:nvSpPr>
          <p:cNvPr id="52" name="Rectangle 1060">
            <a:extLst>
              <a:ext uri="{FF2B5EF4-FFF2-40B4-BE49-F238E27FC236}">
                <a16:creationId xmlns:a16="http://schemas.microsoft.com/office/drawing/2014/main" id="{236D6EBC-F412-04FE-FBC5-F8B6AAF49DA5}"/>
              </a:ext>
            </a:extLst>
          </p:cNvPr>
          <p:cNvSpPr/>
          <p:nvPr/>
        </p:nvSpPr>
        <p:spPr>
          <a:xfrm>
            <a:off x="4058920" y="1671935"/>
            <a:ext cx="3335606" cy="162811"/>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53" name="Rectangle: Rounded Corners 55">
            <a:extLst>
              <a:ext uri="{FF2B5EF4-FFF2-40B4-BE49-F238E27FC236}">
                <a16:creationId xmlns:a16="http://schemas.microsoft.com/office/drawing/2014/main" id="{6555820E-7DC1-33A7-595B-9C57ABFE5C84}"/>
              </a:ext>
            </a:extLst>
          </p:cNvPr>
          <p:cNvSpPr/>
          <p:nvPr/>
        </p:nvSpPr>
        <p:spPr>
          <a:xfrm>
            <a:off x="5410218" y="3130044"/>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sym typeface="+mn-ea"/>
              </a:rPr>
              <a:t>Sin servidor</a:t>
            </a:r>
          </a:p>
        </p:txBody>
      </p:sp>
      <p:sp>
        <p:nvSpPr>
          <p:cNvPr id="54" name="Rectangle: Rounded Corners 55">
            <a:extLst>
              <a:ext uri="{FF2B5EF4-FFF2-40B4-BE49-F238E27FC236}">
                <a16:creationId xmlns:a16="http://schemas.microsoft.com/office/drawing/2014/main" id="{41AF3C86-1CED-0268-DFA5-EA808B70679E}"/>
              </a:ext>
            </a:extLst>
          </p:cNvPr>
          <p:cNvSpPr/>
          <p:nvPr/>
        </p:nvSpPr>
        <p:spPr>
          <a:xfrm>
            <a:off x="5410218" y="3882519"/>
            <a:ext cx="1686224" cy="233770"/>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0" tIns="0" rIns="0" bIns="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n-US" sz="900" b="0" i="0" u="none" strike="noStrike" kern="1200" cap="none" spc="0" normalizeH="0" baseline="0" noProof="0" dirty="0">
                <a:ln>
                  <a:noFill/>
                </a:ln>
                <a:solidFill>
                  <a:srgbClr val="000000"/>
                </a:solidFill>
                <a:effectLst/>
                <a:uLnTx/>
                <a:uFillTx/>
                <a:latin typeface="Graphik"/>
                <a:ea typeface="+mn-ea"/>
                <a:cs typeface="+mn-cs"/>
                <a:sym typeface="+mn-ea"/>
              </a:rPr>
              <a:t>Service Mesh</a:t>
            </a:r>
          </a:p>
        </p:txBody>
      </p:sp>
      <p:sp>
        <p:nvSpPr>
          <p:cNvPr id="55" name="TextBox 164">
            <a:extLst>
              <a:ext uri="{FF2B5EF4-FFF2-40B4-BE49-F238E27FC236}">
                <a16:creationId xmlns:a16="http://schemas.microsoft.com/office/drawing/2014/main" id="{9DBF3F80-A037-FB15-D3E7-50974142F921}"/>
              </a:ext>
            </a:extLst>
          </p:cNvPr>
          <p:cNvSpPr txBox="1"/>
          <p:nvPr/>
        </p:nvSpPr>
        <p:spPr>
          <a:xfrm>
            <a:off x="8740237" y="669619"/>
            <a:ext cx="3191818" cy="581850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1" i="0" u="none" strike="noStrike" kern="1200" cap="none" spc="0" normalizeH="0" baseline="0" noProof="0" dirty="0">
                <a:ln>
                  <a:noFill/>
                </a:ln>
                <a:solidFill>
                  <a:srgbClr val="000000"/>
                </a:solidFill>
                <a:effectLst/>
                <a:uLnTx/>
                <a:uFillTx/>
                <a:latin typeface="Graphik"/>
                <a:ea typeface="+mn-ea"/>
                <a:cs typeface="+mn-cs"/>
              </a:rPr>
              <a:t>Notas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Microservicios del Kernel:</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No hay inventario formal de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Incluye algunos servicios de seguridad.</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Uso del Spring Config Server para la configuración.</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Todos los microservicios se desarrollan en Java.</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está considerando Python para la capa de datos.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 propone una sesión para alinear ambos marcos (interno y externo), reconociendo que ambos son imperfectos e incompletos.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Objetivo: Reducir costes y tiempo en la gestión de vulnerabilidades en microservicios.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Complejidad en la gestión manual de alertas.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librerias innecesarias.</a:t>
            </a:r>
          </a:p>
          <a:p>
            <a:pPr marL="17145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 que regule las tecnologías permitidas.</a:t>
            </a: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Evaluación de Service Mesh para validar la validación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validar la validación de </a:t>
            </a:r>
            <a:r>
              <a:rPr lang="es" altLang="es-MX" sz="900" dirty="0">
                <a:solidFill>
                  <a:srgbClr val="000000"/>
                </a:solidFill>
              </a:rPr>
              <a:t>Service Mesh</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Simplificar los microservicios eliminando </a:t>
            </a:r>
            <a:r>
              <a:rPr lang="es" altLang="es-MX" sz="900" dirty="0">
                <a:solidFill>
                  <a:srgbClr val="000000"/>
                </a:solidFill>
                <a:latin typeface="Graphik"/>
              </a:rPr>
              <a:t>librerias</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 innecesarias.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Establecer estándares controlados por un equipo centralizado que regule las tecnologías permitidas.</a:t>
            </a:r>
          </a:p>
          <a:p>
            <a:pPr marL="171450" lvl="0" indent="-171450" defTabSz="228600">
              <a:spcAft>
                <a:spcPts val="600"/>
              </a:spcAft>
              <a:buFont typeface="Arial" panose="020B0604020202020204" pitchFamily="34" charset="0"/>
              <a:buChar char="•"/>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Seguridad específica de microservicios: Evaluación de </a:t>
            </a:r>
            <a:r>
              <a:rPr lang="es" altLang="es-MX" sz="900" dirty="0">
                <a:solidFill>
                  <a:srgbClr val="000000"/>
                </a:solidFill>
              </a:rPr>
              <a:t>Service Mesh </a:t>
            </a: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para la validación de llamadas a la plataforma (por ejemplo, validación de tokens).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cadena de entornos se solicita con su backend correspondiente.</a:t>
            </a:r>
          </a:p>
          <a:p>
            <a:pPr marR="0" lvl="0" algn="l" defTabSz="228600" rtl="0" eaLnBrk="1" fontAlgn="auto" latinLnBrk="0" hangingPunct="1">
              <a:lnSpc>
                <a:spcPct val="100000"/>
              </a:lnSpc>
              <a:spcBef>
                <a:spcPts val="0"/>
              </a:spcBef>
              <a:spcAft>
                <a:spcPts val="600"/>
              </a:spcAft>
              <a:buClrTx/>
              <a:buSzTx/>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Gestión de caché: </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Replicación de sesiones entre dominios, probablemente a través de Redis</a:t>
            </a:r>
          </a:p>
        </p:txBody>
      </p:sp>
      <p:grpSp>
        <p:nvGrpSpPr>
          <p:cNvPr id="56" name="Group 55">
            <a:extLst>
              <a:ext uri="{FF2B5EF4-FFF2-40B4-BE49-F238E27FC236}">
                <a16:creationId xmlns:a16="http://schemas.microsoft.com/office/drawing/2014/main" id="{D25339B3-C3E1-AFD9-4435-54BC8039CDCB}"/>
              </a:ext>
            </a:extLst>
          </p:cNvPr>
          <p:cNvGrpSpPr/>
          <p:nvPr/>
        </p:nvGrpSpPr>
        <p:grpSpPr>
          <a:xfrm>
            <a:off x="7096442" y="1977172"/>
            <a:ext cx="755110" cy="249134"/>
            <a:chOff x="2436880" y="1158097"/>
            <a:chExt cx="1080000" cy="360000"/>
          </a:xfrm>
          <a:solidFill>
            <a:schemeClr val="bg1"/>
          </a:solidFill>
        </p:grpSpPr>
        <p:sp>
          <p:nvSpPr>
            <p:cNvPr id="57" name="Rectangle 56">
              <a:extLst>
                <a:ext uri="{FF2B5EF4-FFF2-40B4-BE49-F238E27FC236}">
                  <a16:creationId xmlns:a16="http://schemas.microsoft.com/office/drawing/2014/main" id="{596C2DAD-88A2-8940-BA35-9D1E5EF576EB}"/>
                </a:ext>
              </a:extLst>
            </p:cNvPr>
            <p:cNvSpPr/>
            <p:nvPr/>
          </p:nvSpPr>
          <p:spPr>
            <a:xfrm>
              <a:off x="2436880" y="1158097"/>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OpenShift</a:t>
              </a:r>
            </a:p>
          </p:txBody>
        </p:sp>
        <p:pic>
          <p:nvPicPr>
            <p:cNvPr id="58" name="Picture 57">
              <a:extLst>
                <a:ext uri="{FF2B5EF4-FFF2-40B4-BE49-F238E27FC236}">
                  <a16:creationId xmlns:a16="http://schemas.microsoft.com/office/drawing/2014/main" id="{04074895-D698-AB95-FE52-26ED34121833}"/>
                </a:ext>
              </a:extLst>
            </p:cNvPr>
            <p:cNvPicPr>
              <a:picLocks noChangeAspect="1"/>
            </p:cNvPicPr>
            <p:nvPr/>
          </p:nvPicPr>
          <p:blipFill>
            <a:blip r:embed="rId6"/>
            <a:stretch>
              <a:fillRect/>
            </a:stretch>
          </p:blipFill>
          <p:spPr>
            <a:xfrm>
              <a:off x="2470229" y="1215368"/>
              <a:ext cx="1013303" cy="245459"/>
            </a:xfrm>
            <a:prstGeom prst="rect">
              <a:avLst/>
            </a:prstGeom>
            <a:grpFill/>
          </p:spPr>
        </p:pic>
      </p:grpSp>
      <p:grpSp>
        <p:nvGrpSpPr>
          <p:cNvPr id="59" name="Group 58">
            <a:extLst>
              <a:ext uri="{FF2B5EF4-FFF2-40B4-BE49-F238E27FC236}">
                <a16:creationId xmlns:a16="http://schemas.microsoft.com/office/drawing/2014/main" id="{31FAE22D-ACD1-96D3-10AC-78C3C900560C}"/>
              </a:ext>
            </a:extLst>
          </p:cNvPr>
          <p:cNvGrpSpPr/>
          <p:nvPr/>
        </p:nvGrpSpPr>
        <p:grpSpPr>
          <a:xfrm>
            <a:off x="7058105" y="5939535"/>
            <a:ext cx="755700" cy="211805"/>
            <a:chOff x="8249165" y="5550262"/>
            <a:chExt cx="1080000" cy="360000"/>
          </a:xfrm>
        </p:grpSpPr>
        <p:sp>
          <p:nvSpPr>
            <p:cNvPr id="60" name="Rectangle 59">
              <a:extLst>
                <a:ext uri="{FF2B5EF4-FFF2-40B4-BE49-F238E27FC236}">
                  <a16:creationId xmlns:a16="http://schemas.microsoft.com/office/drawing/2014/main" id="{92F49B55-2774-558D-1494-D6C66D52D044}"/>
                </a:ext>
              </a:extLst>
            </p:cNvPr>
            <p:cNvSpPr/>
            <p:nvPr/>
          </p:nvSpPr>
          <p:spPr>
            <a:xfrm>
              <a:off x="8249165" y="5550262"/>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61" name="Picture 60">
              <a:extLst>
                <a:ext uri="{FF2B5EF4-FFF2-40B4-BE49-F238E27FC236}">
                  <a16:creationId xmlns:a16="http://schemas.microsoft.com/office/drawing/2014/main" id="{7D0F61A6-26B9-0E6B-78FA-C04A0BF3756B}"/>
                </a:ext>
              </a:extLst>
            </p:cNvPr>
            <p:cNvPicPr>
              <a:picLocks noChangeAspect="1"/>
            </p:cNvPicPr>
            <p:nvPr/>
          </p:nvPicPr>
          <p:blipFill>
            <a:blip r:embed="rId7"/>
            <a:stretch>
              <a:fillRect/>
            </a:stretch>
          </p:blipFill>
          <p:spPr>
            <a:xfrm>
              <a:off x="8339165" y="5577002"/>
              <a:ext cx="900000" cy="306521"/>
            </a:xfrm>
            <a:prstGeom prst="rect">
              <a:avLst/>
            </a:prstGeom>
          </p:spPr>
        </p:pic>
      </p:grpSp>
    </p:spTree>
    <p:extLst>
      <p:ext uri="{BB962C8B-B14F-4D97-AF65-F5344CB8AC3E}">
        <p14:creationId xmlns:p14="http://schemas.microsoft.com/office/powerpoint/2010/main" val="378753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8DF4B-2253-FE73-971C-1BFE2D00581F}"/>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B116424-A229-D100-8334-D13B1B214F2F}"/>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54048166-4748-AF27-8EF7-1A61B13D712F}"/>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Infraestructura</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180343EF-A6D3-FF00-CA58-CE07501DABA3}"/>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Ingeniería del Caos (Resiliencia)</a:t>
            </a:r>
          </a:p>
        </p:txBody>
      </p:sp>
      <p:grpSp>
        <p:nvGrpSpPr>
          <p:cNvPr id="4" name="Group 3">
            <a:extLst>
              <a:ext uri="{FF2B5EF4-FFF2-40B4-BE49-F238E27FC236}">
                <a16:creationId xmlns:a16="http://schemas.microsoft.com/office/drawing/2014/main" id="{3BC83473-6373-0030-DE11-85C4E3059709}"/>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9092CE9D-9691-3D2D-B161-B656E2C3E979}"/>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F736D912-2771-6CFA-4BDB-315A1E7F72DF}"/>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33DF0C1-6B68-B954-4BB7-80D2B8A28882}"/>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TextBox 7">
            <a:extLst>
              <a:ext uri="{FF2B5EF4-FFF2-40B4-BE49-F238E27FC236}">
                <a16:creationId xmlns:a16="http://schemas.microsoft.com/office/drawing/2014/main" id="{8FF46798-F3F5-6962-1BB6-5E6579D9A3BD}"/>
              </a:ext>
            </a:extLst>
          </p:cNvPr>
          <p:cNvSpPr txBox="1"/>
          <p:nvPr/>
        </p:nvSpPr>
        <p:spPr>
          <a:xfrm>
            <a:off x="958850" y="2459379"/>
            <a:ext cx="5652135" cy="3441065"/>
          </a:xfrm>
          <a:prstGeom prst="rect">
            <a:avLst/>
          </a:prstGeom>
          <a:noFill/>
          <a:ln>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9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000000"/>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352604D8-63E0-73B0-5E8E-2E41C77829F7}"/>
              </a:ext>
            </a:extLst>
          </p:cNvPr>
          <p:cNvSpPr/>
          <p:nvPr/>
        </p:nvSpPr>
        <p:spPr>
          <a:xfrm>
            <a:off x="8969375" y="1202714"/>
            <a:ext cx="2790825" cy="22288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DCB3EA95-E42C-33B9-86F7-FC93F5F6B65C}"/>
              </a:ext>
            </a:extLst>
          </p:cNvPr>
          <p:cNvSpPr/>
          <p:nvPr/>
        </p:nvSpPr>
        <p:spPr>
          <a:xfrm>
            <a:off x="8969375" y="1456079"/>
            <a:ext cx="2790825" cy="222885"/>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de otras capacidades relacionadas</a:t>
            </a:r>
          </a:p>
        </p:txBody>
      </p:sp>
      <p:sp>
        <p:nvSpPr>
          <p:cNvPr id="11" name="Rectangle 10">
            <a:extLst>
              <a:ext uri="{FF2B5EF4-FFF2-40B4-BE49-F238E27FC236}">
                <a16:creationId xmlns:a16="http://schemas.microsoft.com/office/drawing/2014/main" id="{4CD48314-FC2E-1AEC-A804-C3505378C0CF}"/>
              </a:ext>
            </a:extLst>
          </p:cNvPr>
          <p:cNvSpPr/>
          <p:nvPr/>
        </p:nvSpPr>
        <p:spPr>
          <a:xfrm>
            <a:off x="8969375" y="1701189"/>
            <a:ext cx="2790825" cy="22288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Componentes funcionales relacionados con esta capacidad</a:t>
            </a:r>
          </a:p>
        </p:txBody>
      </p:sp>
      <p:sp>
        <p:nvSpPr>
          <p:cNvPr id="12" name="Rectangle 11">
            <a:extLst>
              <a:ext uri="{FF2B5EF4-FFF2-40B4-BE49-F238E27FC236}">
                <a16:creationId xmlns:a16="http://schemas.microsoft.com/office/drawing/2014/main" id="{B010A385-2A2C-02E7-FF54-E2D1AFAF7C9A}"/>
              </a:ext>
            </a:extLst>
          </p:cNvPr>
          <p:cNvSpPr/>
          <p:nvPr/>
        </p:nvSpPr>
        <p:spPr>
          <a:xfrm>
            <a:off x="1143635" y="2753384"/>
            <a:ext cx="4132580"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Chaos Monkey</a:t>
            </a:r>
          </a:p>
        </p:txBody>
      </p:sp>
      <p:sp>
        <p:nvSpPr>
          <p:cNvPr id="13" name="Rectangle: Rounded Corners 55">
            <a:extLst>
              <a:ext uri="{FF2B5EF4-FFF2-40B4-BE49-F238E27FC236}">
                <a16:creationId xmlns:a16="http://schemas.microsoft.com/office/drawing/2014/main" id="{7EB26394-8A71-5FF0-065A-6F56B1515255}"/>
              </a:ext>
            </a:extLst>
          </p:cNvPr>
          <p:cNvSpPr/>
          <p:nvPr/>
        </p:nvSpPr>
        <p:spPr>
          <a:xfrm>
            <a:off x="6850184" y="2898706"/>
            <a:ext cx="1581391" cy="2394691"/>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sp>
        <p:nvSpPr>
          <p:cNvPr id="14" name="Can 172">
            <a:extLst>
              <a:ext uri="{FF2B5EF4-FFF2-40B4-BE49-F238E27FC236}">
                <a16:creationId xmlns:a16="http://schemas.microsoft.com/office/drawing/2014/main" id="{BDF8D74C-C926-0D58-D8EB-F9BF4A56F8DA}"/>
              </a:ext>
            </a:extLst>
          </p:cNvPr>
          <p:cNvSpPr/>
          <p:nvPr/>
        </p:nvSpPr>
        <p:spPr bwMode="auto">
          <a:xfrm>
            <a:off x="346042" y="2409582"/>
            <a:ext cx="291475" cy="3541500"/>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Orquestación</a:t>
            </a:r>
          </a:p>
        </p:txBody>
      </p:sp>
      <p:sp>
        <p:nvSpPr>
          <p:cNvPr id="15" name="Rectangle: Rounded Corners 55">
            <a:extLst>
              <a:ext uri="{FF2B5EF4-FFF2-40B4-BE49-F238E27FC236}">
                <a16:creationId xmlns:a16="http://schemas.microsoft.com/office/drawing/2014/main" id="{5FB8204C-D04D-4E88-BB41-FF90F328F344}"/>
              </a:ext>
            </a:extLst>
          </p:cNvPr>
          <p:cNvSpPr/>
          <p:nvPr/>
        </p:nvSpPr>
        <p:spPr>
          <a:xfrm>
            <a:off x="6834505" y="2548279"/>
            <a:ext cx="1451610" cy="350520"/>
          </a:xfrm>
          <a:prstGeom prst="roundRect">
            <a:avLst/>
          </a:prstGeom>
          <a:solidFill>
            <a:srgbClr val="92D05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Infra to Test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sym typeface="+mn-ea"/>
              </a:rPr>
              <a:t>(QA - SIT - UAT)</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6" name="TextBox 15">
            <a:extLst>
              <a:ext uri="{FF2B5EF4-FFF2-40B4-BE49-F238E27FC236}">
                <a16:creationId xmlns:a16="http://schemas.microsoft.com/office/drawing/2014/main" id="{F5C293DC-0921-9D12-44B9-CF3B1955CA6C}"/>
              </a:ext>
            </a:extLst>
          </p:cNvPr>
          <p:cNvSpPr txBox="1"/>
          <p:nvPr/>
        </p:nvSpPr>
        <p:spPr>
          <a:xfrm>
            <a:off x="8159884" y="3254065"/>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s-ES_tradnl" sz="18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Rounded Corners 55">
            <a:extLst>
              <a:ext uri="{FF2B5EF4-FFF2-40B4-BE49-F238E27FC236}">
                <a16:creationId xmlns:a16="http://schemas.microsoft.com/office/drawing/2014/main" id="{56353938-A7BA-BA31-0239-697562BFA681}"/>
              </a:ext>
            </a:extLst>
          </p:cNvPr>
          <p:cNvSpPr/>
          <p:nvPr/>
        </p:nvSpPr>
        <p:spPr>
          <a:xfrm>
            <a:off x="7412597" y="303327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8" name="Rectangle: Rounded Corners 55">
            <a:extLst>
              <a:ext uri="{FF2B5EF4-FFF2-40B4-BE49-F238E27FC236}">
                <a16:creationId xmlns:a16="http://schemas.microsoft.com/office/drawing/2014/main" id="{C55BBDB0-C5C7-5202-7586-7B3DD8829CA2}"/>
              </a:ext>
            </a:extLst>
          </p:cNvPr>
          <p:cNvSpPr/>
          <p:nvPr/>
        </p:nvSpPr>
        <p:spPr>
          <a:xfrm>
            <a:off x="7412597" y="3454745"/>
            <a:ext cx="944638"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Microservicios</a:t>
            </a:r>
          </a:p>
        </p:txBody>
      </p:sp>
      <p:sp>
        <p:nvSpPr>
          <p:cNvPr id="19" name="Rectangle: Rounded Corners 55">
            <a:extLst>
              <a:ext uri="{FF2B5EF4-FFF2-40B4-BE49-F238E27FC236}">
                <a16:creationId xmlns:a16="http://schemas.microsoft.com/office/drawing/2014/main" id="{6019D8E9-0F18-D3B6-9622-76C426D04B06}"/>
              </a:ext>
            </a:extLst>
          </p:cNvPr>
          <p:cNvSpPr/>
          <p:nvPr/>
        </p:nvSpPr>
        <p:spPr>
          <a:xfrm>
            <a:off x="7412596" y="3876215"/>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a:t>
            </a:r>
          </a:p>
        </p:txBody>
      </p:sp>
      <p:sp>
        <p:nvSpPr>
          <p:cNvPr id="20" name="Rectangle: Rounded Corners 55">
            <a:extLst>
              <a:ext uri="{FF2B5EF4-FFF2-40B4-BE49-F238E27FC236}">
                <a16:creationId xmlns:a16="http://schemas.microsoft.com/office/drawing/2014/main" id="{7D408E33-8A68-4FAA-C7A1-023632F88642}"/>
              </a:ext>
            </a:extLst>
          </p:cNvPr>
          <p:cNvSpPr/>
          <p:nvPr/>
        </p:nvSpPr>
        <p:spPr>
          <a:xfrm>
            <a:off x="7425004" y="4301366"/>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Gestor de transacciones</a:t>
            </a:r>
          </a:p>
        </p:txBody>
      </p:sp>
      <p:sp>
        <p:nvSpPr>
          <p:cNvPr id="21" name="Rectangle: Rounded Corners 55">
            <a:extLst>
              <a:ext uri="{FF2B5EF4-FFF2-40B4-BE49-F238E27FC236}">
                <a16:creationId xmlns:a16="http://schemas.microsoft.com/office/drawing/2014/main" id="{0EDCC90C-A248-9924-D9B3-F624A172A368}"/>
              </a:ext>
            </a:extLst>
          </p:cNvPr>
          <p:cNvSpPr/>
          <p:nvPr/>
        </p:nvSpPr>
        <p:spPr>
          <a:xfrm>
            <a:off x="7425004" y="4726517"/>
            <a:ext cx="944639" cy="290618"/>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Cualquier Infra</a:t>
            </a:r>
          </a:p>
        </p:txBody>
      </p:sp>
      <p:sp>
        <p:nvSpPr>
          <p:cNvPr id="22" name="Rectangle 21">
            <a:extLst>
              <a:ext uri="{FF2B5EF4-FFF2-40B4-BE49-F238E27FC236}">
                <a16:creationId xmlns:a16="http://schemas.microsoft.com/office/drawing/2014/main" id="{73D6EE55-BB48-7156-FAEF-6BF6166DA216}"/>
              </a:ext>
            </a:extLst>
          </p:cNvPr>
          <p:cNvSpPr/>
          <p:nvPr/>
        </p:nvSpPr>
        <p:spPr>
          <a:xfrm>
            <a:off x="1143635" y="4820944"/>
            <a:ext cx="4133215" cy="29083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Conformidad  de Monkey </a:t>
            </a:r>
          </a:p>
        </p:txBody>
      </p:sp>
      <p:cxnSp>
        <p:nvCxnSpPr>
          <p:cNvPr id="23" name="Connector: Elbow 124">
            <a:extLst>
              <a:ext uri="{FF2B5EF4-FFF2-40B4-BE49-F238E27FC236}">
                <a16:creationId xmlns:a16="http://schemas.microsoft.com/office/drawing/2014/main" id="{514F2ABD-1B3C-C9C1-A6FA-55B584087C24}"/>
              </a:ext>
            </a:extLst>
          </p:cNvPr>
          <p:cNvCxnSpPr>
            <a:stCxn id="14" idx="4"/>
            <a:endCxn id="12" idx="1"/>
          </p:cNvCxnSpPr>
          <p:nvPr/>
        </p:nvCxnSpPr>
        <p:spPr>
          <a:xfrm flipV="1">
            <a:off x="637540" y="2898799"/>
            <a:ext cx="506095" cy="1282065"/>
          </a:xfrm>
          <a:prstGeom prst="bentConnector3">
            <a:avLst>
              <a:gd name="adj1" fmla="val 5006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124">
            <a:extLst>
              <a:ext uri="{FF2B5EF4-FFF2-40B4-BE49-F238E27FC236}">
                <a16:creationId xmlns:a16="http://schemas.microsoft.com/office/drawing/2014/main" id="{DA1C1240-E836-69AC-F3C6-65E48C774ADB}"/>
              </a:ext>
            </a:extLst>
          </p:cNvPr>
          <p:cNvCxnSpPr>
            <a:cxnSpLocks/>
            <a:stCxn id="12" idx="3"/>
            <a:endCxn id="13" idx="1"/>
          </p:cNvCxnSpPr>
          <p:nvPr/>
        </p:nvCxnSpPr>
        <p:spPr>
          <a:xfrm>
            <a:off x="5276215" y="2898799"/>
            <a:ext cx="1573969" cy="119725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55">
            <a:extLst>
              <a:ext uri="{FF2B5EF4-FFF2-40B4-BE49-F238E27FC236}">
                <a16:creationId xmlns:a16="http://schemas.microsoft.com/office/drawing/2014/main" id="{62C99CAB-AB54-6BEF-1B59-0C60EBC20018}"/>
              </a:ext>
            </a:extLst>
          </p:cNvPr>
          <p:cNvSpPr/>
          <p:nvPr/>
        </p:nvSpPr>
        <p:spPr>
          <a:xfrm>
            <a:off x="3704118" y="3249718"/>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Panel de Control de Monkey Chaos</a:t>
            </a:r>
          </a:p>
        </p:txBody>
      </p:sp>
      <p:sp>
        <p:nvSpPr>
          <p:cNvPr id="26" name="Rectangle: Rounded Corners 55">
            <a:extLst>
              <a:ext uri="{FF2B5EF4-FFF2-40B4-BE49-F238E27FC236}">
                <a16:creationId xmlns:a16="http://schemas.microsoft.com/office/drawing/2014/main" id="{9C849996-CBE1-F0E6-5F01-11418456D5DE}"/>
              </a:ext>
            </a:extLst>
          </p:cNvPr>
          <p:cNvSpPr/>
          <p:nvPr/>
        </p:nvSpPr>
        <p:spPr>
          <a:xfrm>
            <a:off x="1360971" y="3254010"/>
            <a:ext cx="1572126" cy="711447"/>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Sistema de Monitorización </a:t>
            </a:r>
            <a:r>
              <a:rPr lang="es" sz="900" dirty="0">
                <a:solidFill>
                  <a:srgbClr val="000000"/>
                </a:solidFill>
                <a:latin typeface="Graphik"/>
              </a:rPr>
              <a:t>en</a:t>
            </a:r>
            <a:r>
              <a:rPr kumimoji="0" lang="es" sz="900" b="0" i="0" u="none" strike="noStrike" kern="1200" cap="none" spc="0" normalizeH="0" baseline="0" noProof="0" dirty="0">
                <a:ln>
                  <a:noFill/>
                </a:ln>
                <a:solidFill>
                  <a:srgbClr val="000000"/>
                </a:solidFill>
                <a:effectLst/>
                <a:uLnTx/>
                <a:uFillTx/>
                <a:latin typeface="Graphik"/>
                <a:ea typeface="+mn-ea"/>
                <a:cs typeface="+mn-cs"/>
              </a:rPr>
              <a:t> Tiempo Real o Tiempo Casi Real</a:t>
            </a:r>
          </a:p>
        </p:txBody>
      </p:sp>
      <p:sp>
        <p:nvSpPr>
          <p:cNvPr id="27" name="Can 172">
            <a:extLst>
              <a:ext uri="{FF2B5EF4-FFF2-40B4-BE49-F238E27FC236}">
                <a16:creationId xmlns:a16="http://schemas.microsoft.com/office/drawing/2014/main" id="{33CE8A24-8ED8-ACD0-6A5C-DEEDC32F9FCE}"/>
              </a:ext>
            </a:extLst>
          </p:cNvPr>
          <p:cNvSpPr/>
          <p:nvPr/>
        </p:nvSpPr>
        <p:spPr bwMode="auto">
          <a:xfrm rot="5400000">
            <a:off x="3270393" y="2696408"/>
            <a:ext cx="361804" cy="3695414"/>
          </a:xfrm>
          <a:prstGeom prst="can">
            <a:avLst>
              <a:gd name="adj" fmla="val 59089"/>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Capacidad de observabilidad</a:t>
            </a:r>
          </a:p>
        </p:txBody>
      </p:sp>
      <p:sp>
        <p:nvSpPr>
          <p:cNvPr id="28" name="Rectangle: Rounded Corners 55">
            <a:extLst>
              <a:ext uri="{FF2B5EF4-FFF2-40B4-BE49-F238E27FC236}">
                <a16:creationId xmlns:a16="http://schemas.microsoft.com/office/drawing/2014/main" id="{E62F4813-3038-0AF0-ED28-5593A47A49EB}"/>
              </a:ext>
            </a:extLst>
          </p:cNvPr>
          <p:cNvSpPr/>
          <p:nvPr/>
        </p:nvSpPr>
        <p:spPr>
          <a:xfrm>
            <a:off x="1143635" y="5167654"/>
            <a:ext cx="4132580" cy="299085"/>
          </a:xfrm>
          <a:prstGeom prst="round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de Entrega Continua (Chaos Monkey) </a:t>
            </a:r>
          </a:p>
        </p:txBody>
      </p:sp>
      <p:cxnSp>
        <p:nvCxnSpPr>
          <p:cNvPr id="29" name="Connector: Elbow 124">
            <a:extLst>
              <a:ext uri="{FF2B5EF4-FFF2-40B4-BE49-F238E27FC236}">
                <a16:creationId xmlns:a16="http://schemas.microsoft.com/office/drawing/2014/main" id="{C9A2691B-7887-EA2D-D483-CE8C0BB16036}"/>
              </a:ext>
            </a:extLst>
          </p:cNvPr>
          <p:cNvCxnSpPr>
            <a:endCxn id="25" idx="3"/>
          </p:cNvCxnSpPr>
          <p:nvPr/>
        </p:nvCxnSpPr>
        <p:spPr>
          <a:xfrm rot="10800000">
            <a:off x="5275580" y="3604437"/>
            <a:ext cx="1510665" cy="587375"/>
          </a:xfrm>
          <a:prstGeom prst="bentConnector3">
            <a:avLst>
              <a:gd name="adj1" fmla="val 49979"/>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124">
            <a:extLst>
              <a:ext uri="{FF2B5EF4-FFF2-40B4-BE49-F238E27FC236}">
                <a16:creationId xmlns:a16="http://schemas.microsoft.com/office/drawing/2014/main" id="{27A969BA-D069-6B15-ED4E-660F69566662}"/>
              </a:ext>
            </a:extLst>
          </p:cNvPr>
          <p:cNvCxnSpPr>
            <a:cxnSpLocks/>
            <a:stCxn id="25" idx="1"/>
            <a:endCxn id="26" idx="3"/>
          </p:cNvCxnSpPr>
          <p:nvPr/>
        </p:nvCxnSpPr>
        <p:spPr>
          <a:xfrm rot="10800000" flipV="1">
            <a:off x="2933098" y="3605442"/>
            <a:ext cx="771021" cy="4292"/>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124">
            <a:extLst>
              <a:ext uri="{FF2B5EF4-FFF2-40B4-BE49-F238E27FC236}">
                <a16:creationId xmlns:a16="http://schemas.microsoft.com/office/drawing/2014/main" id="{ED9963E0-901F-2B8B-060F-77890D54B3D3}"/>
              </a:ext>
            </a:extLst>
          </p:cNvPr>
          <p:cNvCxnSpPr>
            <a:stCxn id="26" idx="1"/>
            <a:endCxn id="27" idx="2"/>
          </p:cNvCxnSpPr>
          <p:nvPr/>
        </p:nvCxnSpPr>
        <p:spPr>
          <a:xfrm rot="10800000" flipH="1" flipV="1">
            <a:off x="1360971" y="3609733"/>
            <a:ext cx="2090324" cy="753479"/>
          </a:xfrm>
          <a:prstGeom prst="bentConnector4">
            <a:avLst>
              <a:gd name="adj1" fmla="val -10936"/>
              <a:gd name="adj2" fmla="val 72574"/>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124">
            <a:extLst>
              <a:ext uri="{FF2B5EF4-FFF2-40B4-BE49-F238E27FC236}">
                <a16:creationId xmlns:a16="http://schemas.microsoft.com/office/drawing/2014/main" id="{9174A59C-334A-2358-8D5D-DF5495F5F3F3}"/>
              </a:ext>
            </a:extLst>
          </p:cNvPr>
          <p:cNvCxnSpPr>
            <a:stCxn id="25" idx="0"/>
          </p:cNvCxnSpPr>
          <p:nvPr/>
        </p:nvCxnSpPr>
        <p:spPr>
          <a:xfrm rot="16200000" flipH="1" flipV="1">
            <a:off x="2035810" y="1861362"/>
            <a:ext cx="1066165" cy="3841750"/>
          </a:xfrm>
          <a:prstGeom prst="bentConnector4">
            <a:avLst>
              <a:gd name="adj1" fmla="val -22365"/>
              <a:gd name="adj2" fmla="val 8971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3" name="Connector: Elbow 124">
            <a:extLst>
              <a:ext uri="{FF2B5EF4-FFF2-40B4-BE49-F238E27FC236}">
                <a16:creationId xmlns:a16="http://schemas.microsoft.com/office/drawing/2014/main" id="{0D450DAA-A722-DD5E-9F34-1DF99549FDC1}"/>
              </a:ext>
            </a:extLst>
          </p:cNvPr>
          <p:cNvCxnSpPr>
            <a:cxnSpLocks/>
            <a:endCxn id="22" idx="3"/>
          </p:cNvCxnSpPr>
          <p:nvPr/>
        </p:nvCxnSpPr>
        <p:spPr>
          <a:xfrm rot="16200000" flipH="1">
            <a:off x="4405953" y="4095461"/>
            <a:ext cx="965189" cy="776605"/>
          </a:xfrm>
          <a:prstGeom prst="bentConnector4">
            <a:avLst>
              <a:gd name="adj1" fmla="val 21983"/>
              <a:gd name="adj2" fmla="val 129436"/>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02E883A8-0DF5-B35E-8DFB-36A1B6A84E4E}"/>
              </a:ext>
            </a:extLst>
          </p:cNvPr>
          <p:cNvSpPr/>
          <p:nvPr/>
        </p:nvSpPr>
        <p:spPr>
          <a:xfrm>
            <a:off x="3714470" y="5466593"/>
            <a:ext cx="775298" cy="305829"/>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Servicio de Recuperación de tercera parte</a:t>
            </a:r>
          </a:p>
        </p:txBody>
      </p:sp>
      <p:cxnSp>
        <p:nvCxnSpPr>
          <p:cNvPr id="35" name="Connector: Elbow 124">
            <a:extLst>
              <a:ext uri="{FF2B5EF4-FFF2-40B4-BE49-F238E27FC236}">
                <a16:creationId xmlns:a16="http://schemas.microsoft.com/office/drawing/2014/main" id="{BE3A4241-9B79-2086-7407-4DFC1E13B75E}"/>
              </a:ext>
            </a:extLst>
          </p:cNvPr>
          <p:cNvCxnSpPr/>
          <p:nvPr/>
        </p:nvCxnSpPr>
        <p:spPr>
          <a:xfrm>
            <a:off x="627772" y="4928888"/>
            <a:ext cx="515820" cy="364509"/>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124">
            <a:extLst>
              <a:ext uri="{FF2B5EF4-FFF2-40B4-BE49-F238E27FC236}">
                <a16:creationId xmlns:a16="http://schemas.microsoft.com/office/drawing/2014/main" id="{2E47587D-B3A0-9946-D7FA-9A81AF1058B9}"/>
              </a:ext>
            </a:extLst>
          </p:cNvPr>
          <p:cNvCxnSpPr>
            <a:stCxn id="28" idx="3"/>
          </p:cNvCxnSpPr>
          <p:nvPr/>
        </p:nvCxnSpPr>
        <p:spPr>
          <a:xfrm flipV="1">
            <a:off x="5276215" y="4780939"/>
            <a:ext cx="1558290" cy="536575"/>
          </a:xfrm>
          <a:prstGeom prst="bentConnector3">
            <a:avLst>
              <a:gd name="adj1" fmla="val 50000"/>
            </a:avLst>
          </a:prstGeom>
          <a:ln w="952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7" name="Can 172">
            <a:extLst>
              <a:ext uri="{FF2B5EF4-FFF2-40B4-BE49-F238E27FC236}">
                <a16:creationId xmlns:a16="http://schemas.microsoft.com/office/drawing/2014/main" id="{A719FE01-23C9-C53C-5B4B-290D224376D4}"/>
              </a:ext>
            </a:extLst>
          </p:cNvPr>
          <p:cNvSpPr/>
          <p:nvPr/>
        </p:nvSpPr>
        <p:spPr bwMode="auto">
          <a:xfrm>
            <a:off x="6984656" y="3007386"/>
            <a:ext cx="312661" cy="2104175"/>
          </a:xfrm>
          <a:prstGeom prst="can">
            <a:avLst>
              <a:gd name="adj" fmla="val 59089"/>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Patrón Corta Circuitos</a:t>
            </a:r>
          </a:p>
        </p:txBody>
      </p:sp>
      <p:pic>
        <p:nvPicPr>
          <p:cNvPr id="38" name="Picture 2" descr="Hogar - Chaos Monkey">
            <a:extLst>
              <a:ext uri="{FF2B5EF4-FFF2-40B4-BE49-F238E27FC236}">
                <a16:creationId xmlns:a16="http://schemas.microsoft.com/office/drawing/2014/main" id="{E552F092-E88D-F260-611B-A5C0CD3DDD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852" y="2621233"/>
            <a:ext cx="503097" cy="507569"/>
          </a:xfrm>
          <a:prstGeom prst="rect">
            <a:avLst/>
          </a:prstGeom>
          <a:noFill/>
          <a:extLst>
            <a:ext uri="{909E8E84-426E-40DD-AFC4-6F175D3DCCD1}">
              <a14:hiddenFill xmlns:a14="http://schemas.microsoft.com/office/drawing/2010/main">
                <a:solidFill>
                  <a:srgbClr val="FFFFFF"/>
                </a:solidFill>
              </a14:hiddenFill>
            </a:ext>
          </a:extLst>
        </p:spPr>
      </p:pic>
      <p:sp>
        <p:nvSpPr>
          <p:cNvPr id="39" name="Rectangle 38">
            <a:extLst>
              <a:ext uri="{FF2B5EF4-FFF2-40B4-BE49-F238E27FC236}">
                <a16:creationId xmlns:a16="http://schemas.microsoft.com/office/drawing/2014/main" id="{5F82B0B2-68E7-902D-3FB3-5E688D375A8D}"/>
              </a:ext>
            </a:extLst>
          </p:cNvPr>
          <p:cNvSpPr/>
          <p:nvPr/>
        </p:nvSpPr>
        <p:spPr>
          <a:xfrm>
            <a:off x="2334260" y="5466104"/>
            <a:ext cx="701171" cy="30607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Problemas, no hay replicables</a:t>
            </a:r>
            <a:endParaRPr kumimoji="0" lang="en-US" sz="700" b="0" i="0" u="none" strike="noStrike" kern="1200" cap="none" spc="0" normalizeH="0" baseline="0" noProof="0" dirty="0">
              <a:ln>
                <a:noFill/>
              </a:ln>
              <a:solidFill>
                <a:srgbClr val="FFFFFF"/>
              </a:solidFill>
              <a:effectLst/>
              <a:uLnTx/>
              <a:uFillTx/>
              <a:latin typeface="Graphik"/>
              <a:ea typeface="+mn-ea"/>
              <a:cs typeface="+mn-cs"/>
            </a:endParaRPr>
          </a:p>
        </p:txBody>
      </p:sp>
      <p:sp>
        <p:nvSpPr>
          <p:cNvPr id="40" name="Rectangle 1060">
            <a:extLst>
              <a:ext uri="{FF2B5EF4-FFF2-40B4-BE49-F238E27FC236}">
                <a16:creationId xmlns:a16="http://schemas.microsoft.com/office/drawing/2014/main" id="{67D0BF8C-20DE-D081-04E8-19DB425387CB}"/>
              </a:ext>
            </a:extLst>
          </p:cNvPr>
          <p:cNvSpPr/>
          <p:nvPr/>
        </p:nvSpPr>
        <p:spPr>
          <a:xfrm>
            <a:off x="8969375" y="1944394"/>
            <a:ext cx="2790190" cy="226695"/>
          </a:xfrm>
          <a:prstGeom prst="rect">
            <a:avLst/>
          </a:prstGeom>
          <a:solidFill>
            <a:srgbClr val="92D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altLang="es-MX" sz="900" b="0" i="0" u="none" strike="noStrike" kern="1200" cap="none" spc="0" normalizeH="0" baseline="0" noProof="0">
                <a:ln>
                  <a:noFill/>
                </a:ln>
                <a:solidFill>
                  <a:srgbClr val="000000"/>
                </a:solidFill>
                <a:effectLst/>
                <a:uLnTx/>
                <a:uFillTx/>
                <a:latin typeface="Graphik"/>
                <a:ea typeface="+mn-ea"/>
                <a:cs typeface="+mn-cs"/>
              </a:rPr>
              <a:t>Componentes actuales</a:t>
            </a:r>
          </a:p>
        </p:txBody>
      </p:sp>
      <p:sp>
        <p:nvSpPr>
          <p:cNvPr id="41" name="TextBox 40">
            <a:extLst>
              <a:ext uri="{FF2B5EF4-FFF2-40B4-BE49-F238E27FC236}">
                <a16:creationId xmlns:a16="http://schemas.microsoft.com/office/drawing/2014/main" id="{E68879DD-9742-F554-25F2-4BDDE88F9D60}"/>
              </a:ext>
            </a:extLst>
          </p:cNvPr>
          <p:cNvSpPr txBox="1"/>
          <p:nvPr/>
        </p:nvSpPr>
        <p:spPr>
          <a:xfrm>
            <a:off x="8573135" y="2409849"/>
            <a:ext cx="3186430" cy="2063750"/>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900" b="1" i="0" u="none" strike="noStrike" kern="1200" cap="none" spc="0" normalizeH="0" baseline="0" noProof="0" dirty="0">
                <a:ln>
                  <a:noFill/>
                </a:ln>
                <a:solidFill>
                  <a:srgbClr val="000000"/>
                </a:solidFill>
                <a:effectLst/>
                <a:uLnTx/>
                <a:uFillTx/>
                <a:latin typeface="Graphik"/>
                <a:ea typeface="+mn-ea"/>
                <a:cs typeface="+mn-cs"/>
              </a:rPr>
              <a:t>Notas:</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 ingeniería del caos es actualmente un modelo conceptual; No se ha implementado.</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Las tecnologías para esta capacidad aún están en proceso de evaluación, Chaos Monkey representa un riesgo de compatibilidad.</a:t>
            </a:r>
          </a:p>
          <a:p>
            <a:pPr marL="112713" marR="0" lvl="0" indent="-112713"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s" altLang="es-MX" sz="900" b="0" i="0" u="none" strike="noStrike" kern="1200" cap="none" spc="0" normalizeH="0" baseline="0" noProof="0" dirty="0">
                <a:ln>
                  <a:noFill/>
                </a:ln>
                <a:solidFill>
                  <a:srgbClr val="000000"/>
                </a:solidFill>
                <a:effectLst/>
                <a:uLnTx/>
                <a:uFillTx/>
                <a:latin typeface="Graphik"/>
                <a:ea typeface="+mn-ea"/>
                <a:cs typeface="+mn-cs"/>
              </a:rPr>
              <a:t>Es necesario identificar los entornos detrás del backend (QA, UAT, etc.).</a:t>
            </a:r>
          </a:p>
          <a:p>
            <a:pPr marL="285750" marR="0" lvl="0" indent="-2857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es-MX" sz="900" b="0" i="0" u="none" strike="noStrike" kern="1200" cap="none" spc="0" normalizeH="0" baseline="0" noProof="0" dirty="0">
              <a:ln>
                <a:noFill/>
              </a:ln>
              <a:solidFill>
                <a:srgbClr val="000000"/>
              </a:solidFill>
              <a:effectLst/>
              <a:uLnTx/>
              <a:uFillTx/>
              <a:latin typeface="Graphik"/>
              <a:ea typeface="+mn-ea"/>
              <a:cs typeface="+mn-cs"/>
            </a:endParaRPr>
          </a:p>
        </p:txBody>
      </p:sp>
    </p:spTree>
    <p:extLst>
      <p:ext uri="{BB962C8B-B14F-4D97-AF65-F5344CB8AC3E}">
        <p14:creationId xmlns:p14="http://schemas.microsoft.com/office/powerpoint/2010/main" val="34186095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4968C-6731-C559-119B-88300942137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1C6B60E1-484E-251C-9CA5-CCC75C924ECB}"/>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647DB694-A62F-86CC-850D-6FAB8F693FF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Procesamiento de eventos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B954BDD-7472-0920-21A4-310203631F6E}"/>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C49BABE7-83B6-5B1D-F186-D79266C1469C}"/>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F582AB04-53B3-425C-0507-EB0C766B56B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060B1B57-04D0-8BA7-BAB0-AAAD782812B7}"/>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17E827-D9B6-D2FF-143A-CA17B72209EF}"/>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Rectangle 7">
            <a:extLst>
              <a:ext uri="{FF2B5EF4-FFF2-40B4-BE49-F238E27FC236}">
                <a16:creationId xmlns:a16="http://schemas.microsoft.com/office/drawing/2014/main" id="{91817231-3397-F269-8895-BE7A8F48B6BA}"/>
              </a:ext>
            </a:extLst>
          </p:cNvPr>
          <p:cNvSpPr/>
          <p:nvPr/>
        </p:nvSpPr>
        <p:spPr>
          <a:xfrm>
            <a:off x="3819678" y="2597297"/>
            <a:ext cx="1639228" cy="2258141"/>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Bus de eventos Kafka</a:t>
            </a:r>
          </a:p>
        </p:txBody>
      </p:sp>
      <p:sp>
        <p:nvSpPr>
          <p:cNvPr id="9" name="Rectangle 8">
            <a:extLst>
              <a:ext uri="{FF2B5EF4-FFF2-40B4-BE49-F238E27FC236}">
                <a16:creationId xmlns:a16="http://schemas.microsoft.com/office/drawing/2014/main" id="{C58A7D96-69CD-50F9-F607-46916CA04D9D}"/>
              </a:ext>
            </a:extLst>
          </p:cNvPr>
          <p:cNvSpPr/>
          <p:nvPr/>
        </p:nvSpPr>
        <p:spPr>
          <a:xfrm>
            <a:off x="4071120" y="3849976"/>
            <a:ext cx="1171198" cy="7200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CQRS</a:t>
            </a:r>
          </a:p>
        </p:txBody>
      </p:sp>
      <p:sp>
        <p:nvSpPr>
          <p:cNvPr id="10" name="Rectangle 9">
            <a:extLst>
              <a:ext uri="{FF2B5EF4-FFF2-40B4-BE49-F238E27FC236}">
                <a16:creationId xmlns:a16="http://schemas.microsoft.com/office/drawing/2014/main" id="{25AABDF7-D849-3A3A-B2BF-7261EA6D45FE}"/>
              </a:ext>
            </a:extLst>
          </p:cNvPr>
          <p:cNvSpPr/>
          <p:nvPr/>
        </p:nvSpPr>
        <p:spPr>
          <a:xfrm>
            <a:off x="7121846" y="836728"/>
            <a:ext cx="1026261" cy="2023375"/>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Streaming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de eventos</a:t>
            </a:r>
          </a:p>
        </p:txBody>
      </p:sp>
      <p:sp>
        <p:nvSpPr>
          <p:cNvPr id="13" name="Rectangle 12">
            <a:extLst>
              <a:ext uri="{FF2B5EF4-FFF2-40B4-BE49-F238E27FC236}">
                <a16:creationId xmlns:a16="http://schemas.microsoft.com/office/drawing/2014/main" id="{B857AFAD-6B58-9CF2-088E-D52058A49BFE}"/>
              </a:ext>
            </a:extLst>
          </p:cNvPr>
          <p:cNvSpPr/>
          <p:nvPr/>
        </p:nvSpPr>
        <p:spPr>
          <a:xfrm>
            <a:off x="7222760" y="1196357"/>
            <a:ext cx="829223" cy="314152"/>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1</a:t>
            </a:r>
          </a:p>
        </p:txBody>
      </p:sp>
      <p:sp>
        <p:nvSpPr>
          <p:cNvPr id="14" name="Rectangle: Rounded Corners 13">
            <a:extLst>
              <a:ext uri="{FF2B5EF4-FFF2-40B4-BE49-F238E27FC236}">
                <a16:creationId xmlns:a16="http://schemas.microsoft.com/office/drawing/2014/main" id="{1AADCC61-42A4-46FE-71FC-7F55A8317BB6}"/>
              </a:ext>
            </a:extLst>
          </p:cNvPr>
          <p:cNvSpPr/>
          <p:nvPr/>
        </p:nvSpPr>
        <p:spPr>
          <a:xfrm>
            <a:off x="399956" y="3224260"/>
            <a:ext cx="1583036" cy="1791835"/>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(Publicar)</a:t>
            </a:r>
            <a:endParaRPr kumimoji="0" lang="en-ES" sz="900" b="0" i="0" u="none" strike="noStrike" kern="1200" cap="none" spc="0" normalizeH="0" baseline="0" noProof="0">
              <a:ln>
                <a:noFill/>
              </a:ln>
              <a:solidFill>
                <a:srgbClr val="000000"/>
              </a:solidFill>
              <a:effectLst/>
              <a:uLnTx/>
              <a:uFillTx/>
              <a:latin typeface="Graphik"/>
              <a:ea typeface="+mn-ea"/>
              <a:cs typeface="+mn-cs"/>
            </a:endParaRPr>
          </a:p>
        </p:txBody>
      </p:sp>
      <p:sp>
        <p:nvSpPr>
          <p:cNvPr id="15" name="Rectangle 14">
            <a:extLst>
              <a:ext uri="{FF2B5EF4-FFF2-40B4-BE49-F238E27FC236}">
                <a16:creationId xmlns:a16="http://schemas.microsoft.com/office/drawing/2014/main" id="{A088711A-6EF7-21F5-861C-EC59AA6B5F45}"/>
              </a:ext>
            </a:extLst>
          </p:cNvPr>
          <p:cNvSpPr/>
          <p:nvPr/>
        </p:nvSpPr>
        <p:spPr>
          <a:xfrm>
            <a:off x="525439" y="357154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16" name="Rectangle 15">
            <a:extLst>
              <a:ext uri="{FF2B5EF4-FFF2-40B4-BE49-F238E27FC236}">
                <a16:creationId xmlns:a16="http://schemas.microsoft.com/office/drawing/2014/main" id="{C10C9522-BE75-C9D4-B408-A3D62A18ADEB}"/>
              </a:ext>
            </a:extLst>
          </p:cNvPr>
          <p:cNvSpPr/>
          <p:nvPr/>
        </p:nvSpPr>
        <p:spPr>
          <a:xfrm>
            <a:off x="525439" y="377740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17" name="Rectangle 16">
            <a:extLst>
              <a:ext uri="{FF2B5EF4-FFF2-40B4-BE49-F238E27FC236}">
                <a16:creationId xmlns:a16="http://schemas.microsoft.com/office/drawing/2014/main" id="{EFFB1DB1-418F-5CA2-88F8-88F70AFC4F4F}"/>
              </a:ext>
            </a:extLst>
          </p:cNvPr>
          <p:cNvSpPr/>
          <p:nvPr/>
        </p:nvSpPr>
        <p:spPr>
          <a:xfrm>
            <a:off x="525439" y="460085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18" name="Rectangle 17">
            <a:extLst>
              <a:ext uri="{FF2B5EF4-FFF2-40B4-BE49-F238E27FC236}">
                <a16:creationId xmlns:a16="http://schemas.microsoft.com/office/drawing/2014/main" id="{468332C8-870B-4D92-6220-9FD013A8C82E}"/>
              </a:ext>
            </a:extLst>
          </p:cNvPr>
          <p:cNvSpPr/>
          <p:nvPr/>
        </p:nvSpPr>
        <p:spPr>
          <a:xfrm>
            <a:off x="525439" y="3983269"/>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19" name="Rectangle 18">
            <a:extLst>
              <a:ext uri="{FF2B5EF4-FFF2-40B4-BE49-F238E27FC236}">
                <a16:creationId xmlns:a16="http://schemas.microsoft.com/office/drawing/2014/main" id="{CFB193E3-1597-E63E-9495-2FC536EB2A96}"/>
              </a:ext>
            </a:extLst>
          </p:cNvPr>
          <p:cNvSpPr/>
          <p:nvPr/>
        </p:nvSpPr>
        <p:spPr>
          <a:xfrm>
            <a:off x="525439" y="4394991"/>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20" name="Rectangle 19">
            <a:extLst>
              <a:ext uri="{FF2B5EF4-FFF2-40B4-BE49-F238E27FC236}">
                <a16:creationId xmlns:a16="http://schemas.microsoft.com/office/drawing/2014/main" id="{82E80B10-DAF1-FCA4-E099-D0465E8827DD}"/>
              </a:ext>
            </a:extLst>
          </p:cNvPr>
          <p:cNvSpPr/>
          <p:nvPr/>
        </p:nvSpPr>
        <p:spPr>
          <a:xfrm>
            <a:off x="525439" y="480671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21" name="Rectangle 20">
            <a:extLst>
              <a:ext uri="{FF2B5EF4-FFF2-40B4-BE49-F238E27FC236}">
                <a16:creationId xmlns:a16="http://schemas.microsoft.com/office/drawing/2014/main" id="{0A4FA4CE-C40A-44AB-9396-15965FEF1C17}"/>
              </a:ext>
            </a:extLst>
          </p:cNvPr>
          <p:cNvSpPr/>
          <p:nvPr/>
        </p:nvSpPr>
        <p:spPr>
          <a:xfrm>
            <a:off x="7222760" y="1533273"/>
            <a:ext cx="819431" cy="28562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Pipeline de Datos 2</a:t>
            </a:r>
          </a:p>
        </p:txBody>
      </p:sp>
      <p:sp>
        <p:nvSpPr>
          <p:cNvPr id="22" name="Rectangle 21">
            <a:extLst>
              <a:ext uri="{FF2B5EF4-FFF2-40B4-BE49-F238E27FC236}">
                <a16:creationId xmlns:a16="http://schemas.microsoft.com/office/drawing/2014/main" id="{513D8D3E-F117-C133-F3FB-CEEC8418D6D9}"/>
              </a:ext>
            </a:extLst>
          </p:cNvPr>
          <p:cNvSpPr/>
          <p:nvPr/>
        </p:nvSpPr>
        <p:spPr>
          <a:xfrm>
            <a:off x="525439" y="4189130"/>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3" name="Can 172">
            <a:extLst>
              <a:ext uri="{FF2B5EF4-FFF2-40B4-BE49-F238E27FC236}">
                <a16:creationId xmlns:a16="http://schemas.microsoft.com/office/drawing/2014/main" id="{F9114441-6233-0809-75C4-EA4D8E1A653B}"/>
              </a:ext>
            </a:extLst>
          </p:cNvPr>
          <p:cNvSpPr/>
          <p:nvPr/>
        </p:nvSpPr>
        <p:spPr bwMode="auto">
          <a:xfrm rot="5400000">
            <a:off x="4579989" y="3744402"/>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1</a:t>
            </a:r>
          </a:p>
        </p:txBody>
      </p:sp>
      <p:sp>
        <p:nvSpPr>
          <p:cNvPr id="24" name="Can 172">
            <a:extLst>
              <a:ext uri="{FF2B5EF4-FFF2-40B4-BE49-F238E27FC236}">
                <a16:creationId xmlns:a16="http://schemas.microsoft.com/office/drawing/2014/main" id="{7AB678B4-2991-6322-F406-9F0BB2BEE29C}"/>
              </a:ext>
            </a:extLst>
          </p:cNvPr>
          <p:cNvSpPr/>
          <p:nvPr/>
        </p:nvSpPr>
        <p:spPr bwMode="auto">
          <a:xfrm rot="5400000">
            <a:off x="4579989" y="4056678"/>
            <a:ext cx="140968" cy="745691"/>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Tema 2</a:t>
            </a:r>
          </a:p>
        </p:txBody>
      </p:sp>
      <p:grpSp>
        <p:nvGrpSpPr>
          <p:cNvPr id="25" name="Group 24">
            <a:extLst>
              <a:ext uri="{FF2B5EF4-FFF2-40B4-BE49-F238E27FC236}">
                <a16:creationId xmlns:a16="http://schemas.microsoft.com/office/drawing/2014/main" id="{270D4BE5-F8C6-60D3-99C3-C08B87A4737E}"/>
              </a:ext>
            </a:extLst>
          </p:cNvPr>
          <p:cNvGrpSpPr/>
          <p:nvPr/>
        </p:nvGrpSpPr>
        <p:grpSpPr>
          <a:xfrm>
            <a:off x="5359090" y="3008190"/>
            <a:ext cx="612000" cy="180000"/>
            <a:chOff x="2461363" y="4801885"/>
            <a:chExt cx="1080000" cy="360000"/>
          </a:xfrm>
        </p:grpSpPr>
        <p:sp>
          <p:nvSpPr>
            <p:cNvPr id="26" name="Rectangle 25">
              <a:extLst>
                <a:ext uri="{FF2B5EF4-FFF2-40B4-BE49-F238E27FC236}">
                  <a16:creationId xmlns:a16="http://schemas.microsoft.com/office/drawing/2014/main" id="{476E8BA7-3797-8CC5-55FD-34008D8DF72E}"/>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27" name="Picture 26">
              <a:extLst>
                <a:ext uri="{FF2B5EF4-FFF2-40B4-BE49-F238E27FC236}">
                  <a16:creationId xmlns:a16="http://schemas.microsoft.com/office/drawing/2014/main" id="{4B945018-8DA2-CC91-C8D2-F204DB2AD2C8}"/>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28" name="Group 27">
            <a:extLst>
              <a:ext uri="{FF2B5EF4-FFF2-40B4-BE49-F238E27FC236}">
                <a16:creationId xmlns:a16="http://schemas.microsoft.com/office/drawing/2014/main" id="{AC283804-4A84-AC26-2F70-E2979E14BA7C}"/>
              </a:ext>
            </a:extLst>
          </p:cNvPr>
          <p:cNvGrpSpPr/>
          <p:nvPr/>
        </p:nvGrpSpPr>
        <p:grpSpPr>
          <a:xfrm>
            <a:off x="8094463" y="647331"/>
            <a:ext cx="612000" cy="180000"/>
            <a:chOff x="5725733" y="5189404"/>
            <a:chExt cx="1080000" cy="360000"/>
          </a:xfrm>
          <a:solidFill>
            <a:schemeClr val="bg1"/>
          </a:solidFill>
        </p:grpSpPr>
        <p:sp>
          <p:nvSpPr>
            <p:cNvPr id="29" name="Rectangle 28">
              <a:extLst>
                <a:ext uri="{FF2B5EF4-FFF2-40B4-BE49-F238E27FC236}">
                  <a16:creationId xmlns:a16="http://schemas.microsoft.com/office/drawing/2014/main" id="{D108BE11-45D8-C9D1-EED5-30D5FE0D9A48}"/>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0" name="Picture 29">
              <a:extLst>
                <a:ext uri="{FF2B5EF4-FFF2-40B4-BE49-F238E27FC236}">
                  <a16:creationId xmlns:a16="http://schemas.microsoft.com/office/drawing/2014/main" id="{435436BF-EEA7-C51D-A7BB-31CB64E6EAA4}"/>
                </a:ext>
              </a:extLst>
            </p:cNvPr>
            <p:cNvPicPr>
              <a:picLocks noChangeAspect="1"/>
            </p:cNvPicPr>
            <p:nvPr/>
          </p:nvPicPr>
          <p:blipFill>
            <a:blip r:embed="rId3"/>
            <a:stretch>
              <a:fillRect/>
            </a:stretch>
          </p:blipFill>
          <p:spPr>
            <a:xfrm>
              <a:off x="5755535" y="5223098"/>
              <a:ext cx="1020399" cy="292616"/>
            </a:xfrm>
            <a:prstGeom prst="rect">
              <a:avLst/>
            </a:prstGeom>
            <a:grpFill/>
          </p:spPr>
        </p:pic>
      </p:grpSp>
      <p:grpSp>
        <p:nvGrpSpPr>
          <p:cNvPr id="31" name="Group 30">
            <a:extLst>
              <a:ext uri="{FF2B5EF4-FFF2-40B4-BE49-F238E27FC236}">
                <a16:creationId xmlns:a16="http://schemas.microsoft.com/office/drawing/2014/main" id="{85B31440-D3E2-68ED-3603-0ED48F88E5F3}"/>
              </a:ext>
            </a:extLst>
          </p:cNvPr>
          <p:cNvGrpSpPr/>
          <p:nvPr/>
        </p:nvGrpSpPr>
        <p:grpSpPr>
          <a:xfrm>
            <a:off x="5359090" y="2809810"/>
            <a:ext cx="612000" cy="180000"/>
            <a:chOff x="5725733" y="5189404"/>
            <a:chExt cx="1080000" cy="360000"/>
          </a:xfrm>
          <a:solidFill>
            <a:schemeClr val="bg1"/>
          </a:solidFill>
        </p:grpSpPr>
        <p:sp>
          <p:nvSpPr>
            <p:cNvPr id="32" name="Rectangle 31">
              <a:extLst>
                <a:ext uri="{FF2B5EF4-FFF2-40B4-BE49-F238E27FC236}">
                  <a16:creationId xmlns:a16="http://schemas.microsoft.com/office/drawing/2014/main" id="{6C789540-6417-D1C4-89F2-EBC05699015F}"/>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33" name="Picture 32">
              <a:extLst>
                <a:ext uri="{FF2B5EF4-FFF2-40B4-BE49-F238E27FC236}">
                  <a16:creationId xmlns:a16="http://schemas.microsoft.com/office/drawing/2014/main" id="{69A6EDF5-11A2-9E7F-3033-5203FDC7D22B}"/>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34" name="Rectangle: Rounded Corners 33">
            <a:extLst>
              <a:ext uri="{FF2B5EF4-FFF2-40B4-BE49-F238E27FC236}">
                <a16:creationId xmlns:a16="http://schemas.microsoft.com/office/drawing/2014/main" id="{8F312940-1E63-0D66-ADA0-A8768C157538}"/>
              </a:ext>
            </a:extLst>
          </p:cNvPr>
          <p:cNvSpPr/>
          <p:nvPr/>
        </p:nvSpPr>
        <p:spPr>
          <a:xfrm>
            <a:off x="8622890" y="3001906"/>
            <a:ext cx="1583036" cy="2187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Consumidores de datos</a:t>
            </a:r>
            <a:endParaRPr kumimoji="0" lang="es-ES_tradnl" sz="9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(Suscribir)</a:t>
            </a:r>
            <a:endParaRPr kumimoji="0" lang="en-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35" name="Rectangle 34">
            <a:extLst>
              <a:ext uri="{FF2B5EF4-FFF2-40B4-BE49-F238E27FC236}">
                <a16:creationId xmlns:a16="http://schemas.microsoft.com/office/drawing/2014/main" id="{059DEEBF-D420-6D55-A29A-F4F67C51FFAD}"/>
              </a:ext>
            </a:extLst>
          </p:cNvPr>
          <p:cNvSpPr/>
          <p:nvPr/>
        </p:nvSpPr>
        <p:spPr>
          <a:xfrm>
            <a:off x="8748373" y="3349192"/>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Infraestructura</a:t>
            </a:r>
          </a:p>
        </p:txBody>
      </p:sp>
      <p:sp>
        <p:nvSpPr>
          <p:cNvPr id="36" name="Rectangle 35">
            <a:extLst>
              <a:ext uri="{FF2B5EF4-FFF2-40B4-BE49-F238E27FC236}">
                <a16:creationId xmlns:a16="http://schemas.microsoft.com/office/drawing/2014/main" id="{CDEBB742-0E30-3703-9A39-6EB44859871D}"/>
              </a:ext>
            </a:extLst>
          </p:cNvPr>
          <p:cNvSpPr/>
          <p:nvPr/>
        </p:nvSpPr>
        <p:spPr>
          <a:xfrm>
            <a:off x="8748373" y="3555053"/>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Canales</a:t>
            </a:r>
          </a:p>
        </p:txBody>
      </p:sp>
      <p:sp>
        <p:nvSpPr>
          <p:cNvPr id="37" name="Rectangle 36">
            <a:extLst>
              <a:ext uri="{FF2B5EF4-FFF2-40B4-BE49-F238E27FC236}">
                <a16:creationId xmlns:a16="http://schemas.microsoft.com/office/drawing/2014/main" id="{F0182B25-BEF5-7992-2172-B3E05C685A0B}"/>
              </a:ext>
            </a:extLst>
          </p:cNvPr>
          <p:cNvSpPr/>
          <p:nvPr/>
        </p:nvSpPr>
        <p:spPr>
          <a:xfrm>
            <a:off x="8748373" y="4378497"/>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Logs</a:t>
            </a:r>
          </a:p>
        </p:txBody>
      </p:sp>
      <p:sp>
        <p:nvSpPr>
          <p:cNvPr id="38" name="Rectangle 37">
            <a:extLst>
              <a:ext uri="{FF2B5EF4-FFF2-40B4-BE49-F238E27FC236}">
                <a16:creationId xmlns:a16="http://schemas.microsoft.com/office/drawing/2014/main" id="{D0E15718-F0AB-B574-8293-A6A514483176}"/>
              </a:ext>
            </a:extLst>
          </p:cNvPr>
          <p:cNvSpPr/>
          <p:nvPr/>
        </p:nvSpPr>
        <p:spPr>
          <a:xfrm>
            <a:off x="8748373" y="3760914"/>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Servicios Principales</a:t>
            </a:r>
          </a:p>
        </p:txBody>
      </p:sp>
      <p:sp>
        <p:nvSpPr>
          <p:cNvPr id="39" name="Rectangle 38">
            <a:extLst>
              <a:ext uri="{FF2B5EF4-FFF2-40B4-BE49-F238E27FC236}">
                <a16:creationId xmlns:a16="http://schemas.microsoft.com/office/drawing/2014/main" id="{D7B4BF73-3EEB-DEF8-3FAE-8861C54A3406}"/>
              </a:ext>
            </a:extLst>
          </p:cNvPr>
          <p:cNvSpPr/>
          <p:nvPr/>
        </p:nvSpPr>
        <p:spPr>
          <a:xfrm>
            <a:off x="8748373" y="4172636"/>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40" name="Rectangle 39">
            <a:extLst>
              <a:ext uri="{FF2B5EF4-FFF2-40B4-BE49-F238E27FC236}">
                <a16:creationId xmlns:a16="http://schemas.microsoft.com/office/drawing/2014/main" id="{C04FAFC3-14E6-5E32-46BE-BD996616626B}"/>
              </a:ext>
            </a:extLst>
          </p:cNvPr>
          <p:cNvSpPr/>
          <p:nvPr/>
        </p:nvSpPr>
        <p:spPr>
          <a:xfrm>
            <a:off x="8748373" y="4584358"/>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41" name="Rectangle 40">
            <a:extLst>
              <a:ext uri="{FF2B5EF4-FFF2-40B4-BE49-F238E27FC236}">
                <a16:creationId xmlns:a16="http://schemas.microsoft.com/office/drawing/2014/main" id="{B836F4AE-5B12-DB7D-2119-C53051FB8255}"/>
              </a:ext>
            </a:extLst>
          </p:cNvPr>
          <p:cNvSpPr/>
          <p:nvPr/>
        </p:nvSpPr>
        <p:spPr>
          <a:xfrm>
            <a:off x="8748373" y="3966775"/>
            <a:ext cx="1346837" cy="148148"/>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Core SoR</a:t>
            </a:r>
            <a:endParaRPr kumimoji="0" lang="en-U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42" name="Flowchart: Magnetic Disk 41">
            <a:extLst>
              <a:ext uri="{FF2B5EF4-FFF2-40B4-BE49-F238E27FC236}">
                <a16:creationId xmlns:a16="http://schemas.microsoft.com/office/drawing/2014/main" id="{79B62217-7346-F208-0738-37710DE22FE5}"/>
              </a:ext>
            </a:extLst>
          </p:cNvPr>
          <p:cNvSpPr/>
          <p:nvPr/>
        </p:nvSpPr>
        <p:spPr>
          <a:xfrm>
            <a:off x="8743144" y="4788546"/>
            <a:ext cx="1331195" cy="289473"/>
          </a:xfrm>
          <a:prstGeom prst="flowChartMagneticDisk">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Registro de eventos</a:t>
            </a:r>
            <a:endParaRPr kumimoji="0" lang="en-US" sz="900" b="0" i="0" u="none" strike="noStrike" kern="1200" cap="none" spc="0" normalizeH="0" baseline="0" noProof="0">
              <a:ln>
                <a:noFill/>
              </a:ln>
              <a:solidFill>
                <a:srgbClr val="FFFFFF"/>
              </a:solidFill>
              <a:effectLst/>
              <a:uLnTx/>
              <a:uFillTx/>
              <a:latin typeface="Graphik"/>
              <a:ea typeface="+mn-ea"/>
              <a:cs typeface="+mn-cs"/>
            </a:endParaRPr>
          </a:p>
        </p:txBody>
      </p:sp>
      <p:sp>
        <p:nvSpPr>
          <p:cNvPr id="43" name="Rectangle 42">
            <a:extLst>
              <a:ext uri="{FF2B5EF4-FFF2-40B4-BE49-F238E27FC236}">
                <a16:creationId xmlns:a16="http://schemas.microsoft.com/office/drawing/2014/main" id="{20361BC8-2574-C3D3-5F48-4A2347C07A67}"/>
              </a:ext>
            </a:extLst>
          </p:cNvPr>
          <p:cNvSpPr/>
          <p:nvPr/>
        </p:nvSpPr>
        <p:spPr>
          <a:xfrm>
            <a:off x="3958514" y="2789210"/>
            <a:ext cx="1390862" cy="154363"/>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Entrega garantizada</a:t>
            </a:r>
          </a:p>
        </p:txBody>
      </p:sp>
      <p:sp>
        <p:nvSpPr>
          <p:cNvPr id="44" name="Rectangle 43">
            <a:extLst>
              <a:ext uri="{FF2B5EF4-FFF2-40B4-BE49-F238E27FC236}">
                <a16:creationId xmlns:a16="http://schemas.microsoft.com/office/drawing/2014/main" id="{8F317CE7-B463-8746-B8F9-E0C5E8CD9FB5}"/>
              </a:ext>
            </a:extLst>
          </p:cNvPr>
          <p:cNvSpPr/>
          <p:nvPr/>
        </p:nvSpPr>
        <p:spPr>
          <a:xfrm>
            <a:off x="3958514" y="2975835"/>
            <a:ext cx="1390862" cy="276957"/>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Monitorización de Eventos</a:t>
            </a:r>
          </a:p>
        </p:txBody>
      </p:sp>
      <p:sp>
        <p:nvSpPr>
          <p:cNvPr id="45" name="Rectangle 44">
            <a:extLst>
              <a:ext uri="{FF2B5EF4-FFF2-40B4-BE49-F238E27FC236}">
                <a16:creationId xmlns:a16="http://schemas.microsoft.com/office/drawing/2014/main" id="{A413AFFE-14C9-AD5C-C3A1-023DF3BC6F33}"/>
              </a:ext>
            </a:extLst>
          </p:cNvPr>
          <p:cNvSpPr/>
          <p:nvPr/>
        </p:nvSpPr>
        <p:spPr>
          <a:xfrm>
            <a:off x="3817502" y="2284977"/>
            <a:ext cx="1639228" cy="188522"/>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Herramientas Kafka</a:t>
            </a:r>
          </a:p>
        </p:txBody>
      </p:sp>
      <p:cxnSp>
        <p:nvCxnSpPr>
          <p:cNvPr id="46" name="Straight Arrow Connector 45">
            <a:extLst>
              <a:ext uri="{FF2B5EF4-FFF2-40B4-BE49-F238E27FC236}">
                <a16:creationId xmlns:a16="http://schemas.microsoft.com/office/drawing/2014/main" id="{4A688197-E6BA-9DDB-0A71-64ECAF2A34A6}"/>
              </a:ext>
            </a:extLst>
          </p:cNvPr>
          <p:cNvCxnSpPr>
            <a:cxnSpLocks/>
            <a:stCxn id="45" idx="2"/>
            <a:endCxn id="8" idx="0"/>
          </p:cNvCxnSpPr>
          <p:nvPr/>
        </p:nvCxnSpPr>
        <p:spPr>
          <a:xfrm>
            <a:off x="4637116" y="2473499"/>
            <a:ext cx="2176" cy="123798"/>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ABA5CF67-B703-039B-8D12-FF9B33A776B0}"/>
              </a:ext>
            </a:extLst>
          </p:cNvPr>
          <p:cNvCxnSpPr>
            <a:cxnSpLocks/>
            <a:stCxn id="23" idx="1"/>
            <a:endCxn id="34" idx="1"/>
          </p:cNvCxnSpPr>
          <p:nvPr/>
        </p:nvCxnSpPr>
        <p:spPr>
          <a:xfrm flipV="1">
            <a:off x="5023319" y="4095587"/>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EF17F4FB-CAED-F72E-619B-911468B40524}"/>
              </a:ext>
            </a:extLst>
          </p:cNvPr>
          <p:cNvCxnSpPr>
            <a:cxnSpLocks/>
            <a:stCxn id="14" idx="3"/>
            <a:endCxn id="23" idx="3"/>
          </p:cNvCxnSpPr>
          <p:nvPr/>
        </p:nvCxnSpPr>
        <p:spPr>
          <a:xfrm flipV="1">
            <a:off x="1982992" y="4117248"/>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7601B100-D9B7-D6BD-5123-E1099DFFAD25}"/>
              </a:ext>
            </a:extLst>
          </p:cNvPr>
          <p:cNvCxnSpPr>
            <a:cxnSpLocks/>
            <a:stCxn id="10" idx="1"/>
          </p:cNvCxnSpPr>
          <p:nvPr/>
        </p:nvCxnSpPr>
        <p:spPr>
          <a:xfrm flipH="1">
            <a:off x="5438040" y="1848416"/>
            <a:ext cx="1683806" cy="501133"/>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4F7DA6DE-566D-52AA-6D3B-89EB68833450}"/>
              </a:ext>
            </a:extLst>
          </p:cNvPr>
          <p:cNvCxnSpPr>
            <a:cxnSpLocks/>
            <a:stCxn id="10" idx="3"/>
            <a:endCxn id="34" idx="0"/>
          </p:cNvCxnSpPr>
          <p:nvPr/>
        </p:nvCxnSpPr>
        <p:spPr>
          <a:xfrm>
            <a:off x="8148107" y="1848416"/>
            <a:ext cx="1266301" cy="1153490"/>
          </a:xfrm>
          <a:prstGeom prst="straightConnector1">
            <a:avLst/>
          </a:prstGeom>
          <a:ln w="9525">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7EBB2FB6-2F7D-7332-3B28-062055D9259C}"/>
              </a:ext>
            </a:extLst>
          </p:cNvPr>
          <p:cNvSpPr/>
          <p:nvPr/>
        </p:nvSpPr>
        <p:spPr>
          <a:xfrm>
            <a:off x="8103300" y="833575"/>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52" name="Rectangle 51">
            <a:extLst>
              <a:ext uri="{FF2B5EF4-FFF2-40B4-BE49-F238E27FC236}">
                <a16:creationId xmlns:a16="http://schemas.microsoft.com/office/drawing/2014/main" id="{2B9311BE-B50F-F390-06EF-095D56462E9F}"/>
              </a:ext>
            </a:extLst>
          </p:cNvPr>
          <p:cNvSpPr/>
          <p:nvPr/>
        </p:nvSpPr>
        <p:spPr>
          <a:xfrm>
            <a:off x="3958514" y="3276817"/>
            <a:ext cx="1390862" cy="274154"/>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Agrupamineto / Enrutamiento</a:t>
            </a:r>
          </a:p>
        </p:txBody>
      </p:sp>
      <p:sp>
        <p:nvSpPr>
          <p:cNvPr id="53" name="Rectangle 52">
            <a:extLst>
              <a:ext uri="{FF2B5EF4-FFF2-40B4-BE49-F238E27FC236}">
                <a16:creationId xmlns:a16="http://schemas.microsoft.com/office/drawing/2014/main" id="{74313583-BB99-5346-A1C2-A0450A6BD4E0}"/>
              </a:ext>
            </a:extLst>
          </p:cNvPr>
          <p:cNvSpPr/>
          <p:nvPr/>
        </p:nvSpPr>
        <p:spPr>
          <a:xfrm>
            <a:off x="7222760" y="1842495"/>
            <a:ext cx="819431" cy="281200"/>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Búsqueda de eventos</a:t>
            </a:r>
          </a:p>
        </p:txBody>
      </p:sp>
      <p:sp>
        <p:nvSpPr>
          <p:cNvPr id="54" name="Rectangle 53">
            <a:extLst>
              <a:ext uri="{FF2B5EF4-FFF2-40B4-BE49-F238E27FC236}">
                <a16:creationId xmlns:a16="http://schemas.microsoft.com/office/drawing/2014/main" id="{C9025F1D-9E3C-7AA3-664C-99FB9FF40985}"/>
              </a:ext>
            </a:extLst>
          </p:cNvPr>
          <p:cNvSpPr/>
          <p:nvPr/>
        </p:nvSpPr>
        <p:spPr>
          <a:xfrm>
            <a:off x="7227371" y="2164707"/>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Lambda</a:t>
            </a:r>
          </a:p>
        </p:txBody>
      </p:sp>
      <p:sp>
        <p:nvSpPr>
          <p:cNvPr id="55" name="Rectangle 54">
            <a:extLst>
              <a:ext uri="{FF2B5EF4-FFF2-40B4-BE49-F238E27FC236}">
                <a16:creationId xmlns:a16="http://schemas.microsoft.com/office/drawing/2014/main" id="{C68E0F57-5F34-B08C-C307-CE8EBC7A47E9}"/>
              </a:ext>
            </a:extLst>
          </p:cNvPr>
          <p:cNvSpPr/>
          <p:nvPr/>
        </p:nvSpPr>
        <p:spPr>
          <a:xfrm>
            <a:off x="7232552" y="2481516"/>
            <a:ext cx="819431" cy="271508"/>
          </a:xfrm>
          <a:prstGeom prst="rect">
            <a:avLst/>
          </a:prstGeom>
          <a:solidFill>
            <a:srgbClr val="FFEAE7"/>
          </a:solidFill>
          <a:ln>
            <a:solidFill>
              <a:srgbClr val="C5763B"/>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Kappa</a:t>
            </a:r>
          </a:p>
        </p:txBody>
      </p:sp>
      <p:grpSp>
        <p:nvGrpSpPr>
          <p:cNvPr id="56" name="Group 55">
            <a:extLst>
              <a:ext uri="{FF2B5EF4-FFF2-40B4-BE49-F238E27FC236}">
                <a16:creationId xmlns:a16="http://schemas.microsoft.com/office/drawing/2014/main" id="{202EE1ED-4CB1-C99B-C199-8C7226626300}"/>
              </a:ext>
            </a:extLst>
          </p:cNvPr>
          <p:cNvGrpSpPr/>
          <p:nvPr/>
        </p:nvGrpSpPr>
        <p:grpSpPr>
          <a:xfrm>
            <a:off x="5243545" y="2159694"/>
            <a:ext cx="612000" cy="180000"/>
            <a:chOff x="5725733" y="5189404"/>
            <a:chExt cx="1080000" cy="360000"/>
          </a:xfrm>
          <a:solidFill>
            <a:schemeClr val="bg1"/>
          </a:solidFill>
        </p:grpSpPr>
        <p:sp>
          <p:nvSpPr>
            <p:cNvPr id="57" name="Rectangle 56">
              <a:extLst>
                <a:ext uri="{FF2B5EF4-FFF2-40B4-BE49-F238E27FC236}">
                  <a16:creationId xmlns:a16="http://schemas.microsoft.com/office/drawing/2014/main" id="{6AB89A9C-BD7C-8F4F-144B-225A90144E0E}"/>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58" name="Picture 57">
              <a:extLst>
                <a:ext uri="{FF2B5EF4-FFF2-40B4-BE49-F238E27FC236}">
                  <a16:creationId xmlns:a16="http://schemas.microsoft.com/office/drawing/2014/main" id="{346E7EA7-5A97-F091-1EC7-31E82733A596}"/>
                </a:ext>
              </a:extLst>
            </p:cNvPr>
            <p:cNvPicPr>
              <a:picLocks noChangeAspect="1"/>
            </p:cNvPicPr>
            <p:nvPr/>
          </p:nvPicPr>
          <p:blipFill>
            <a:blip r:embed="rId3"/>
            <a:stretch>
              <a:fillRect/>
            </a:stretch>
          </p:blipFill>
          <p:spPr>
            <a:xfrm>
              <a:off x="5755534" y="5223097"/>
              <a:ext cx="1020399" cy="292615"/>
            </a:xfrm>
            <a:prstGeom prst="rect">
              <a:avLst/>
            </a:prstGeom>
            <a:grpFill/>
          </p:spPr>
        </p:pic>
      </p:grpSp>
      <p:sp>
        <p:nvSpPr>
          <p:cNvPr id="59" name="Rectangle 58">
            <a:extLst>
              <a:ext uri="{FF2B5EF4-FFF2-40B4-BE49-F238E27FC236}">
                <a16:creationId xmlns:a16="http://schemas.microsoft.com/office/drawing/2014/main" id="{0A90CAB3-E338-0403-BF20-153D4DBCD5E8}"/>
              </a:ext>
            </a:extLst>
          </p:cNvPr>
          <p:cNvSpPr/>
          <p:nvPr/>
        </p:nvSpPr>
        <p:spPr>
          <a:xfrm>
            <a:off x="5234591" y="2345517"/>
            <a:ext cx="600122" cy="191240"/>
          </a:xfrm>
          <a:prstGeom prst="rect">
            <a:avLst/>
          </a:prstGeom>
          <a:solidFill>
            <a:schemeClr val="tx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FFFFFF"/>
                </a:solidFill>
                <a:effectLst/>
                <a:uLnTx/>
                <a:uFillTx/>
                <a:latin typeface="Graphik"/>
                <a:ea typeface="+mn-ea"/>
                <a:cs typeface="+mn-cs"/>
              </a:rPr>
              <a:t>Customizado</a:t>
            </a:r>
          </a:p>
        </p:txBody>
      </p:sp>
      <p:sp>
        <p:nvSpPr>
          <p:cNvPr id="60" name="Rectangle 59">
            <a:extLst>
              <a:ext uri="{FF2B5EF4-FFF2-40B4-BE49-F238E27FC236}">
                <a16:creationId xmlns:a16="http://schemas.microsoft.com/office/drawing/2014/main" id="{B721975F-6570-87B0-A597-2838071DDB1D}"/>
              </a:ext>
            </a:extLst>
          </p:cNvPr>
          <p:cNvSpPr/>
          <p:nvPr/>
        </p:nvSpPr>
        <p:spPr>
          <a:xfrm>
            <a:off x="4030946" y="3579749"/>
            <a:ext cx="1171198" cy="159611"/>
          </a:xfrm>
          <a:prstGeom prst="rect">
            <a:avLst/>
          </a:prstGeom>
          <a:solidFill>
            <a:schemeClr val="accent3">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Gestor de eventos</a:t>
            </a:r>
          </a:p>
        </p:txBody>
      </p:sp>
      <p:sp>
        <p:nvSpPr>
          <p:cNvPr id="61" name="TextBox 60">
            <a:extLst>
              <a:ext uri="{FF2B5EF4-FFF2-40B4-BE49-F238E27FC236}">
                <a16:creationId xmlns:a16="http://schemas.microsoft.com/office/drawing/2014/main" id="{3A0A212C-FC36-ABF8-2856-216E815894FD}"/>
              </a:ext>
            </a:extLst>
          </p:cNvPr>
          <p:cNvSpPr txBox="1"/>
          <p:nvPr/>
        </p:nvSpPr>
        <p:spPr>
          <a:xfrm>
            <a:off x="6491447" y="4205119"/>
            <a:ext cx="914400" cy="22253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dirty="0">
                <a:ln>
                  <a:noFill/>
                </a:ln>
                <a:solidFill>
                  <a:srgbClr val="000000"/>
                </a:solidFill>
                <a:effectLst/>
                <a:uLnTx/>
                <a:uFillTx/>
                <a:latin typeface="Graphik"/>
                <a:ea typeface="+mn-ea"/>
                <a:cs typeface="+mn-cs"/>
              </a:rPr>
              <a:t>Orden</a:t>
            </a:r>
            <a:endParaRPr kumimoji="0" lang="es-MX" sz="1200" b="0" i="0" u="none" strike="noStrike" kern="1200" cap="none" spc="0" normalizeH="0" baseline="0" noProof="0" dirty="0">
              <a:ln>
                <a:noFill/>
              </a:ln>
              <a:solidFill>
                <a:srgbClr val="000000"/>
              </a:solidFill>
              <a:effectLst/>
              <a:uLnTx/>
              <a:uFillTx/>
              <a:latin typeface="Graphik"/>
              <a:ea typeface="+mn-ea"/>
              <a:cs typeface="+mn-cs"/>
            </a:endParaRPr>
          </a:p>
        </p:txBody>
      </p:sp>
      <p:sp>
        <p:nvSpPr>
          <p:cNvPr id="62" name="TextBox 61">
            <a:extLst>
              <a:ext uri="{FF2B5EF4-FFF2-40B4-BE49-F238E27FC236}">
                <a16:creationId xmlns:a16="http://schemas.microsoft.com/office/drawing/2014/main" id="{64EC0E39-0A6A-DD63-AE38-39E1700459A8}"/>
              </a:ext>
            </a:extLst>
          </p:cNvPr>
          <p:cNvSpPr txBox="1"/>
          <p:nvPr/>
        </p:nvSpPr>
        <p:spPr>
          <a:xfrm>
            <a:off x="2659760" y="3908850"/>
            <a:ext cx="914400" cy="159957"/>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200" b="0" i="0" u="none" strike="noStrike" kern="1200" cap="none" spc="0" normalizeH="0" baseline="0" noProof="0" err="1">
                <a:ln>
                  <a:noFill/>
                </a:ln>
                <a:solidFill>
                  <a:srgbClr val="000000"/>
                </a:solidFill>
                <a:effectLst/>
                <a:uLnTx/>
                <a:uFillTx/>
                <a:latin typeface="Graphik"/>
                <a:ea typeface="+mn-ea"/>
                <a:cs typeface="+mn-cs"/>
              </a:rPr>
              <a:t>Consulta</a:t>
            </a:r>
            <a:endParaRPr kumimoji="0" lang="es-MX" sz="1200" b="0" i="0" u="none" strike="noStrike" kern="1200" cap="none" spc="0" normalizeH="0" baseline="0" noProof="0">
              <a:ln>
                <a:noFill/>
              </a:ln>
              <a:solidFill>
                <a:srgbClr val="000000"/>
              </a:solidFill>
              <a:effectLst/>
              <a:uLnTx/>
              <a:uFillTx/>
              <a:latin typeface="Graphik"/>
              <a:ea typeface="+mn-ea"/>
              <a:cs typeface="+mn-cs"/>
            </a:endParaRPr>
          </a:p>
        </p:txBody>
      </p:sp>
      <p:cxnSp>
        <p:nvCxnSpPr>
          <p:cNvPr id="63" name="Connector: Elbow 62">
            <a:extLst>
              <a:ext uri="{FF2B5EF4-FFF2-40B4-BE49-F238E27FC236}">
                <a16:creationId xmlns:a16="http://schemas.microsoft.com/office/drawing/2014/main" id="{3BB49737-8FFB-96CA-527C-953623137B37}"/>
              </a:ext>
            </a:extLst>
          </p:cNvPr>
          <p:cNvCxnSpPr>
            <a:cxnSpLocks/>
            <a:endCxn id="24" idx="1"/>
          </p:cNvCxnSpPr>
          <p:nvPr/>
        </p:nvCxnSpPr>
        <p:spPr>
          <a:xfrm rot="10800000" flipV="1">
            <a:off x="5023320" y="4429524"/>
            <a:ext cx="3599571"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4" name="Connector: Elbow 63">
            <a:extLst>
              <a:ext uri="{FF2B5EF4-FFF2-40B4-BE49-F238E27FC236}">
                <a16:creationId xmlns:a16="http://schemas.microsoft.com/office/drawing/2014/main" id="{07FF11FA-C720-0D1A-BEEF-584EF2D4236D}"/>
              </a:ext>
            </a:extLst>
          </p:cNvPr>
          <p:cNvCxnSpPr>
            <a:cxnSpLocks/>
            <a:stCxn id="24" idx="3"/>
          </p:cNvCxnSpPr>
          <p:nvPr/>
        </p:nvCxnSpPr>
        <p:spPr>
          <a:xfrm rot="10800000" flipV="1">
            <a:off x="1982992" y="4429523"/>
            <a:ext cx="2294636" cy="0"/>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1" name="Rectangle 70">
            <a:extLst>
              <a:ext uri="{FF2B5EF4-FFF2-40B4-BE49-F238E27FC236}">
                <a16:creationId xmlns:a16="http://schemas.microsoft.com/office/drawing/2014/main" id="{EAC70706-A2B5-13E7-7814-D5A525C0421F}"/>
              </a:ext>
            </a:extLst>
          </p:cNvPr>
          <p:cNvSpPr/>
          <p:nvPr/>
        </p:nvSpPr>
        <p:spPr>
          <a:xfrm>
            <a:off x="7860146" y="558543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73" name="Rectangle 72">
            <a:extLst>
              <a:ext uri="{FF2B5EF4-FFF2-40B4-BE49-F238E27FC236}">
                <a16:creationId xmlns:a16="http://schemas.microsoft.com/office/drawing/2014/main" id="{4F2AB2D7-447D-1E58-4798-3C583099F5C2}"/>
              </a:ext>
            </a:extLst>
          </p:cNvPr>
          <p:cNvSpPr/>
          <p:nvPr/>
        </p:nvSpPr>
        <p:spPr>
          <a:xfrm>
            <a:off x="7860146" y="581958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Tree>
    <p:extLst>
      <p:ext uri="{BB962C8B-B14F-4D97-AF65-F5344CB8AC3E}">
        <p14:creationId xmlns:p14="http://schemas.microsoft.com/office/powerpoint/2010/main" val="14547900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7A2CC-8CB3-43C3-21A2-57ABE1970EC9}"/>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76B17AA1-577C-7A19-CB54-79EAA26BD969}"/>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alpha val="65000"/>
                  </a:srgbClr>
                </a:solidFill>
                <a:effectLst/>
                <a:uLnTx/>
                <a:uFillTx/>
                <a:latin typeface="Graphik"/>
                <a:ea typeface="+mn-ea"/>
                <a:cs typeface="+mn-cs"/>
              </a:rPr>
              <a:t>Copyright © 2025 Accenture. Todos los derechos reservados.</a:t>
            </a:r>
          </a:p>
        </p:txBody>
      </p:sp>
      <p:sp>
        <p:nvSpPr>
          <p:cNvPr id="84" name="Title 1">
            <a:extLst>
              <a:ext uri="{FF2B5EF4-FFF2-40B4-BE49-F238E27FC236}">
                <a16:creationId xmlns:a16="http://schemas.microsoft.com/office/drawing/2014/main" id="{D4DE9E58-931B-96C3-CFBE-AD877FA6A381}"/>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85" name="Content Placeholder 34">
            <a:extLst>
              <a:ext uri="{FF2B5EF4-FFF2-40B4-BE49-F238E27FC236}">
                <a16:creationId xmlns:a16="http://schemas.microsoft.com/office/drawing/2014/main" id="{937FA7DD-9429-64AD-605C-8BF690A22F6F}"/>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Orquestación y procesamiento de eventos</a:t>
            </a:r>
          </a:p>
        </p:txBody>
      </p:sp>
      <p:sp>
        <p:nvSpPr>
          <p:cNvPr id="86" name="Rectangle 85">
            <a:extLst>
              <a:ext uri="{FF2B5EF4-FFF2-40B4-BE49-F238E27FC236}">
                <a16:creationId xmlns:a16="http://schemas.microsoft.com/office/drawing/2014/main" id="{C228187A-3D30-A066-F0FC-0060FD49ECDF}"/>
              </a:ext>
            </a:extLst>
          </p:cNvPr>
          <p:cNvSpPr/>
          <p:nvPr/>
        </p:nvSpPr>
        <p:spPr>
          <a:xfrm>
            <a:off x="591113" y="4730467"/>
            <a:ext cx="3665511" cy="1024304"/>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87" name="Rectangle 86">
            <a:extLst>
              <a:ext uri="{FF2B5EF4-FFF2-40B4-BE49-F238E27FC236}">
                <a16:creationId xmlns:a16="http://schemas.microsoft.com/office/drawing/2014/main" id="{1755474F-14FD-54C2-0123-12C0F90DC3DA}"/>
              </a:ext>
            </a:extLst>
          </p:cNvPr>
          <p:cNvSpPr/>
          <p:nvPr/>
        </p:nvSpPr>
        <p:spPr>
          <a:xfrm>
            <a:off x="2217425"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88" name="Rectangle 87">
            <a:extLst>
              <a:ext uri="{FF2B5EF4-FFF2-40B4-BE49-F238E27FC236}">
                <a16:creationId xmlns:a16="http://schemas.microsoft.com/office/drawing/2014/main" id="{69B18175-EB20-1A50-3149-94144B0418AB}"/>
              </a:ext>
            </a:extLst>
          </p:cNvPr>
          <p:cNvSpPr/>
          <p:nvPr/>
        </p:nvSpPr>
        <p:spPr>
          <a:xfrm>
            <a:off x="2217424"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Banca por Internet</a:t>
            </a:r>
          </a:p>
        </p:txBody>
      </p:sp>
      <p:sp>
        <p:nvSpPr>
          <p:cNvPr id="89" name="Rectangle 88">
            <a:extLst>
              <a:ext uri="{FF2B5EF4-FFF2-40B4-BE49-F238E27FC236}">
                <a16:creationId xmlns:a16="http://schemas.microsoft.com/office/drawing/2014/main" id="{6588EF7C-1B34-E866-1CEE-0A478E410B64}"/>
              </a:ext>
            </a:extLst>
          </p:cNvPr>
          <p:cNvSpPr/>
          <p:nvPr/>
        </p:nvSpPr>
        <p:spPr>
          <a:xfrm>
            <a:off x="285990" y="2106737"/>
            <a:ext cx="7596000" cy="2539512"/>
          </a:xfrm>
          <a:prstGeom prst="rect">
            <a:avLst/>
          </a:prstGeom>
          <a:solidFill>
            <a:schemeClr val="accent5">
              <a:lumMod val="20000"/>
              <a:lumOff val="8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Procesamiento de la </a:t>
            </a:r>
            <a:r>
              <a:rPr lang="es" sz="900" dirty="0">
                <a:solidFill>
                  <a:srgbClr val="000000"/>
                </a:solidFill>
                <a:latin typeface="Graphik"/>
              </a:rPr>
              <a:t>Pipeline</a:t>
            </a:r>
            <a:r>
              <a:rPr kumimoji="0" lang="es" sz="900" b="0" i="0" u="none" strike="noStrike" kern="1200" cap="none" spc="0" normalizeH="0" baseline="0" noProof="0" dirty="0">
                <a:ln>
                  <a:noFill/>
                </a:ln>
                <a:solidFill>
                  <a:srgbClr val="000000"/>
                </a:solidFill>
                <a:effectLst/>
                <a:uLnTx/>
                <a:uFillTx/>
                <a:latin typeface="Graphik"/>
                <a:ea typeface="+mn-ea"/>
                <a:cs typeface="+mn-cs"/>
              </a:rPr>
              <a:t> de Datos</a:t>
            </a:r>
          </a:p>
        </p:txBody>
      </p:sp>
      <p:sp>
        <p:nvSpPr>
          <p:cNvPr id="90" name="Rectangle 89">
            <a:extLst>
              <a:ext uri="{FF2B5EF4-FFF2-40B4-BE49-F238E27FC236}">
                <a16:creationId xmlns:a16="http://schemas.microsoft.com/office/drawing/2014/main" id="{208B2C03-A7A5-DFAA-F6BC-94872CA43A1C}"/>
              </a:ext>
            </a:extLst>
          </p:cNvPr>
          <p:cNvSpPr/>
          <p:nvPr/>
        </p:nvSpPr>
        <p:spPr>
          <a:xfrm>
            <a:off x="911471"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cxnSp>
        <p:nvCxnSpPr>
          <p:cNvPr id="91" name="Connector: Elbow 90">
            <a:extLst>
              <a:ext uri="{FF2B5EF4-FFF2-40B4-BE49-F238E27FC236}">
                <a16:creationId xmlns:a16="http://schemas.microsoft.com/office/drawing/2014/main" id="{D6BB184B-9A2F-00C1-4A44-32AEC0281759}"/>
              </a:ext>
            </a:extLst>
          </p:cNvPr>
          <p:cNvCxnSpPr>
            <a:cxnSpLocks/>
            <a:stCxn id="90" idx="0"/>
            <a:endCxn id="88" idx="1"/>
          </p:cNvCxnSpPr>
          <p:nvPr/>
        </p:nvCxnSpPr>
        <p:spPr>
          <a:xfrm rot="5400000" flipH="1" flipV="1">
            <a:off x="1706513" y="1114392"/>
            <a:ext cx="332473" cy="689350"/>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92" name="Group 91">
            <a:extLst>
              <a:ext uri="{FF2B5EF4-FFF2-40B4-BE49-F238E27FC236}">
                <a16:creationId xmlns:a16="http://schemas.microsoft.com/office/drawing/2014/main" id="{6D965CC5-9BDB-E9AA-AA9A-1B58863CDA5F}"/>
              </a:ext>
            </a:extLst>
          </p:cNvPr>
          <p:cNvGrpSpPr/>
          <p:nvPr/>
        </p:nvGrpSpPr>
        <p:grpSpPr>
          <a:xfrm>
            <a:off x="6984612" y="4254944"/>
            <a:ext cx="612000" cy="180000"/>
            <a:chOff x="2461363" y="4801885"/>
            <a:chExt cx="1080000" cy="360000"/>
          </a:xfrm>
        </p:grpSpPr>
        <p:sp>
          <p:nvSpPr>
            <p:cNvPr id="93" name="Rectangle 92">
              <a:extLst>
                <a:ext uri="{FF2B5EF4-FFF2-40B4-BE49-F238E27FC236}">
                  <a16:creationId xmlns:a16="http://schemas.microsoft.com/office/drawing/2014/main" id="{D95405D8-3EE2-E78F-4069-910F8553B9A7}"/>
                </a:ext>
              </a:extLst>
            </p:cNvPr>
            <p:cNvSpPr/>
            <p:nvPr/>
          </p:nvSpPr>
          <p:spPr>
            <a:xfrm>
              <a:off x="2461363" y="4801885"/>
              <a:ext cx="1080000" cy="36000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000000"/>
                </a:solidFill>
                <a:effectLst/>
                <a:uLnTx/>
                <a:uFillTx/>
                <a:latin typeface="Graphik"/>
                <a:ea typeface="+mn-ea"/>
                <a:cs typeface="+mn-cs"/>
              </a:endParaRPr>
            </a:p>
          </p:txBody>
        </p:sp>
        <p:pic>
          <p:nvPicPr>
            <p:cNvPr id="94" name="Picture 93">
              <a:extLst>
                <a:ext uri="{FF2B5EF4-FFF2-40B4-BE49-F238E27FC236}">
                  <a16:creationId xmlns:a16="http://schemas.microsoft.com/office/drawing/2014/main" id="{3B5E43F1-CBEE-9A48-784F-337E1B51CEFA}"/>
                </a:ext>
              </a:extLst>
            </p:cNvPr>
            <p:cNvPicPr>
              <a:picLocks noChangeAspect="1"/>
            </p:cNvPicPr>
            <p:nvPr/>
          </p:nvPicPr>
          <p:blipFill>
            <a:blip r:embed="rId2"/>
            <a:stretch>
              <a:fillRect/>
            </a:stretch>
          </p:blipFill>
          <p:spPr>
            <a:xfrm>
              <a:off x="2654651" y="4822215"/>
              <a:ext cx="693425" cy="319340"/>
            </a:xfrm>
            <a:prstGeom prst="rect">
              <a:avLst/>
            </a:prstGeom>
            <a:solidFill>
              <a:schemeClr val="bg1"/>
            </a:solidFill>
          </p:spPr>
        </p:pic>
      </p:grpSp>
      <p:grpSp>
        <p:nvGrpSpPr>
          <p:cNvPr id="95" name="Group 94">
            <a:extLst>
              <a:ext uri="{FF2B5EF4-FFF2-40B4-BE49-F238E27FC236}">
                <a16:creationId xmlns:a16="http://schemas.microsoft.com/office/drawing/2014/main" id="{828DFDB7-AAB5-8B33-4763-7F6947F9C3BD}"/>
              </a:ext>
            </a:extLst>
          </p:cNvPr>
          <p:cNvGrpSpPr/>
          <p:nvPr/>
        </p:nvGrpSpPr>
        <p:grpSpPr>
          <a:xfrm>
            <a:off x="6984612" y="4056564"/>
            <a:ext cx="612000" cy="180000"/>
            <a:chOff x="5725733" y="5189404"/>
            <a:chExt cx="1080000" cy="360000"/>
          </a:xfrm>
          <a:solidFill>
            <a:schemeClr val="bg1"/>
          </a:solidFill>
        </p:grpSpPr>
        <p:sp>
          <p:nvSpPr>
            <p:cNvPr id="96" name="Rectangle 95">
              <a:extLst>
                <a:ext uri="{FF2B5EF4-FFF2-40B4-BE49-F238E27FC236}">
                  <a16:creationId xmlns:a16="http://schemas.microsoft.com/office/drawing/2014/main" id="{F93B34CB-AB77-AB5A-B84F-3941419632D3}"/>
                </a:ext>
              </a:extLst>
            </p:cNvPr>
            <p:cNvSpPr/>
            <p:nvPr/>
          </p:nvSpPr>
          <p:spPr>
            <a:xfrm>
              <a:off x="5725733" y="5189404"/>
              <a:ext cx="1080000" cy="360000"/>
            </a:xfrm>
            <a:prstGeom prst="rect">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Confluent</a:t>
              </a:r>
            </a:p>
          </p:txBody>
        </p:sp>
        <p:pic>
          <p:nvPicPr>
            <p:cNvPr id="97" name="Picture 96">
              <a:extLst>
                <a:ext uri="{FF2B5EF4-FFF2-40B4-BE49-F238E27FC236}">
                  <a16:creationId xmlns:a16="http://schemas.microsoft.com/office/drawing/2014/main" id="{5BA0D11F-F10C-3BBA-BC6C-8F7405E2E76A}"/>
                </a:ext>
              </a:extLst>
            </p:cNvPr>
            <p:cNvPicPr>
              <a:picLocks noChangeAspect="1"/>
            </p:cNvPicPr>
            <p:nvPr/>
          </p:nvPicPr>
          <p:blipFill>
            <a:blip r:embed="rId3"/>
            <a:stretch>
              <a:fillRect/>
            </a:stretch>
          </p:blipFill>
          <p:spPr>
            <a:xfrm>
              <a:off x="5755534" y="5223098"/>
              <a:ext cx="1020399" cy="292616"/>
            </a:xfrm>
            <a:prstGeom prst="rect">
              <a:avLst/>
            </a:prstGeom>
            <a:grpFill/>
          </p:spPr>
        </p:pic>
      </p:grpSp>
      <p:sp>
        <p:nvSpPr>
          <p:cNvPr id="98" name="Rectangle 97">
            <a:extLst>
              <a:ext uri="{FF2B5EF4-FFF2-40B4-BE49-F238E27FC236}">
                <a16:creationId xmlns:a16="http://schemas.microsoft.com/office/drawing/2014/main" id="{E06E4E64-4A66-4A28-DB67-8554A68045D0}"/>
              </a:ext>
            </a:extLst>
          </p:cNvPr>
          <p:cNvSpPr/>
          <p:nvPr/>
        </p:nvSpPr>
        <p:spPr>
          <a:xfrm>
            <a:off x="660532" y="2430866"/>
            <a:ext cx="897295" cy="13699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Crédito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Transferencia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Servicio</a:t>
            </a:r>
          </a:p>
        </p:txBody>
      </p:sp>
      <p:cxnSp>
        <p:nvCxnSpPr>
          <p:cNvPr id="99" name="Connector: Elbow 98">
            <a:extLst>
              <a:ext uri="{FF2B5EF4-FFF2-40B4-BE49-F238E27FC236}">
                <a16:creationId xmlns:a16="http://schemas.microsoft.com/office/drawing/2014/main" id="{311BD16B-E9D6-CC7C-2E6E-0DC13AB835F6}"/>
              </a:ext>
            </a:extLst>
          </p:cNvPr>
          <p:cNvCxnSpPr>
            <a:cxnSpLocks/>
            <a:stCxn id="87" idx="2"/>
            <a:endCxn id="98" idx="0"/>
          </p:cNvCxnSpPr>
          <p:nvPr/>
        </p:nvCxnSpPr>
        <p:spPr>
          <a:xfrm rot="5400000">
            <a:off x="1690759" y="1287597"/>
            <a:ext cx="561690" cy="1724848"/>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361A2086-8404-4552-A8BB-17B7AD15B9D6}"/>
              </a:ext>
            </a:extLst>
          </p:cNvPr>
          <p:cNvSpPr/>
          <p:nvPr/>
        </p:nvSpPr>
        <p:spPr>
          <a:xfrm>
            <a:off x="1508371" y="2478136"/>
            <a:ext cx="897295" cy="216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Validación de cuentas</a:t>
            </a:r>
          </a:p>
        </p:txBody>
      </p:sp>
      <p:sp>
        <p:nvSpPr>
          <p:cNvPr id="101" name="Rectangle 100">
            <a:extLst>
              <a:ext uri="{FF2B5EF4-FFF2-40B4-BE49-F238E27FC236}">
                <a16:creationId xmlns:a16="http://schemas.microsoft.com/office/drawing/2014/main" id="{582B74FD-FA9F-DEB9-EF86-593C11A7A96C}"/>
              </a:ext>
            </a:extLst>
          </p:cNvPr>
          <p:cNvSpPr/>
          <p:nvPr/>
        </p:nvSpPr>
        <p:spPr>
          <a:xfrm>
            <a:off x="1508371" y="2744538"/>
            <a:ext cx="897295" cy="215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Comprobación de saldo</a:t>
            </a:r>
          </a:p>
        </p:txBody>
      </p:sp>
      <p:sp>
        <p:nvSpPr>
          <p:cNvPr id="102" name="Rectangle 101">
            <a:extLst>
              <a:ext uri="{FF2B5EF4-FFF2-40B4-BE49-F238E27FC236}">
                <a16:creationId xmlns:a16="http://schemas.microsoft.com/office/drawing/2014/main" id="{36FADDA8-1973-8957-4C09-9FE9AC96B2EB}"/>
              </a:ext>
            </a:extLst>
          </p:cNvPr>
          <p:cNvSpPr/>
          <p:nvPr/>
        </p:nvSpPr>
        <p:spPr>
          <a:xfrm>
            <a:off x="1508371" y="3435749"/>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Débito/Crédito</a:t>
            </a:r>
          </a:p>
        </p:txBody>
      </p:sp>
      <p:sp>
        <p:nvSpPr>
          <p:cNvPr id="103" name="Can 172">
            <a:extLst>
              <a:ext uri="{FF2B5EF4-FFF2-40B4-BE49-F238E27FC236}">
                <a16:creationId xmlns:a16="http://schemas.microsoft.com/office/drawing/2014/main" id="{3CF6574C-5A0F-72C2-3359-5B6BD4975FA0}"/>
              </a:ext>
            </a:extLst>
          </p:cNvPr>
          <p:cNvSpPr/>
          <p:nvPr/>
        </p:nvSpPr>
        <p:spPr bwMode="auto">
          <a:xfrm rot="5400000">
            <a:off x="3245894" y="295083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Destinos</a:t>
            </a:r>
          </a:p>
        </p:txBody>
      </p:sp>
      <p:cxnSp>
        <p:nvCxnSpPr>
          <p:cNvPr id="104" name="Connector: Elbow 103">
            <a:extLst>
              <a:ext uri="{FF2B5EF4-FFF2-40B4-BE49-F238E27FC236}">
                <a16:creationId xmlns:a16="http://schemas.microsoft.com/office/drawing/2014/main" id="{2573E048-90E7-E2EF-BB96-C6FA22CFF21D}"/>
              </a:ext>
            </a:extLst>
          </p:cNvPr>
          <p:cNvCxnSpPr>
            <a:cxnSpLocks/>
            <a:stCxn id="102" idx="3"/>
            <a:endCxn id="103" idx="3"/>
          </p:cNvCxnSpPr>
          <p:nvPr/>
        </p:nvCxnSpPr>
        <p:spPr>
          <a:xfrm>
            <a:off x="2405666" y="3525749"/>
            <a:ext cx="354228" cy="10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a:extLst>
              <a:ext uri="{FF2B5EF4-FFF2-40B4-BE49-F238E27FC236}">
                <a16:creationId xmlns:a16="http://schemas.microsoft.com/office/drawing/2014/main" id="{28FCBCF9-D80F-39FF-67B1-E1B7ADAFEADF}"/>
              </a:ext>
            </a:extLst>
          </p:cNvPr>
          <p:cNvSpPr/>
          <p:nvPr/>
        </p:nvSpPr>
        <p:spPr>
          <a:xfrm>
            <a:off x="4256624" y="3432606"/>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Contabilidad</a:t>
            </a:r>
          </a:p>
        </p:txBody>
      </p:sp>
      <p:cxnSp>
        <p:nvCxnSpPr>
          <p:cNvPr id="106" name="Connector: Elbow 105">
            <a:extLst>
              <a:ext uri="{FF2B5EF4-FFF2-40B4-BE49-F238E27FC236}">
                <a16:creationId xmlns:a16="http://schemas.microsoft.com/office/drawing/2014/main" id="{F671778E-3F93-7BD3-543C-1EACEAF5C6C7}"/>
              </a:ext>
            </a:extLst>
          </p:cNvPr>
          <p:cNvCxnSpPr>
            <a:cxnSpLocks/>
            <a:stCxn id="107" idx="3"/>
            <a:endCxn id="108" idx="3"/>
          </p:cNvCxnSpPr>
          <p:nvPr/>
        </p:nvCxnSpPr>
        <p:spPr>
          <a:xfrm flipV="1">
            <a:off x="2405666" y="3191651"/>
            <a:ext cx="354228" cy="103694"/>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7" name="Rectangle 106">
            <a:extLst>
              <a:ext uri="{FF2B5EF4-FFF2-40B4-BE49-F238E27FC236}">
                <a16:creationId xmlns:a16="http://schemas.microsoft.com/office/drawing/2014/main" id="{6AFE4359-5C79-EDE0-091F-8E058D00C45F}"/>
              </a:ext>
            </a:extLst>
          </p:cNvPr>
          <p:cNvSpPr/>
          <p:nvPr/>
        </p:nvSpPr>
        <p:spPr>
          <a:xfrm>
            <a:off x="1508371" y="3205345"/>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Solicitar Pago</a:t>
            </a:r>
          </a:p>
        </p:txBody>
      </p:sp>
      <p:sp>
        <p:nvSpPr>
          <p:cNvPr id="108" name="Can 172">
            <a:extLst>
              <a:ext uri="{FF2B5EF4-FFF2-40B4-BE49-F238E27FC236}">
                <a16:creationId xmlns:a16="http://schemas.microsoft.com/office/drawing/2014/main" id="{A10EAB24-CC38-D3DB-8FA6-28677ED8838E}"/>
              </a:ext>
            </a:extLst>
          </p:cNvPr>
          <p:cNvSpPr/>
          <p:nvPr/>
        </p:nvSpPr>
        <p:spPr bwMode="auto">
          <a:xfrm rot="5400000">
            <a:off x="3195294" y="2615651"/>
            <a:ext cx="2812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Transferencias de créditos</a:t>
            </a:r>
          </a:p>
        </p:txBody>
      </p:sp>
      <p:sp>
        <p:nvSpPr>
          <p:cNvPr id="109" name="Rectangle 108">
            <a:extLst>
              <a:ext uri="{FF2B5EF4-FFF2-40B4-BE49-F238E27FC236}">
                <a16:creationId xmlns:a16="http://schemas.microsoft.com/office/drawing/2014/main" id="{0503BBC6-A998-01F4-65B5-BCEE21671F79}"/>
              </a:ext>
            </a:extLst>
          </p:cNvPr>
          <p:cNvSpPr/>
          <p:nvPr/>
        </p:nvSpPr>
        <p:spPr>
          <a:xfrm>
            <a:off x="4231556" y="3167639"/>
            <a:ext cx="1080000" cy="211788"/>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Proceso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Pago de Orden</a:t>
            </a:r>
          </a:p>
        </p:txBody>
      </p:sp>
      <p:sp>
        <p:nvSpPr>
          <p:cNvPr id="110" name="Rectangle 109">
            <a:extLst>
              <a:ext uri="{FF2B5EF4-FFF2-40B4-BE49-F238E27FC236}">
                <a16:creationId xmlns:a16="http://schemas.microsoft.com/office/drawing/2014/main" id="{C87CD91D-31E8-B81A-993F-06EB1030E14A}"/>
              </a:ext>
            </a:extLst>
          </p:cNvPr>
          <p:cNvSpPr/>
          <p:nvPr/>
        </p:nvSpPr>
        <p:spPr>
          <a:xfrm>
            <a:off x="1508371" y="2974942"/>
            <a:ext cx="897295" cy="180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Fondos de reserva</a:t>
            </a:r>
          </a:p>
        </p:txBody>
      </p:sp>
      <p:cxnSp>
        <p:nvCxnSpPr>
          <p:cNvPr id="111" name="Connector: Elbow 110">
            <a:extLst>
              <a:ext uri="{FF2B5EF4-FFF2-40B4-BE49-F238E27FC236}">
                <a16:creationId xmlns:a16="http://schemas.microsoft.com/office/drawing/2014/main" id="{95A53E9B-C317-07DD-A18A-08C3AC23B7D7}"/>
              </a:ext>
            </a:extLst>
          </p:cNvPr>
          <p:cNvCxnSpPr>
            <a:cxnSpLocks/>
            <a:stCxn id="110" idx="3"/>
            <a:endCxn id="112" idx="3"/>
          </p:cNvCxnSpPr>
          <p:nvPr/>
        </p:nvCxnSpPr>
        <p:spPr>
          <a:xfrm flipV="1">
            <a:off x="2405666" y="2584053"/>
            <a:ext cx="354228" cy="4808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2" name="Can 172">
            <a:extLst>
              <a:ext uri="{FF2B5EF4-FFF2-40B4-BE49-F238E27FC236}">
                <a16:creationId xmlns:a16="http://schemas.microsoft.com/office/drawing/2014/main" id="{3F2C9DA8-5E94-88B4-5CFF-36404BE9F147}"/>
              </a:ext>
            </a:extLst>
          </p:cNvPr>
          <p:cNvSpPr/>
          <p:nvPr/>
        </p:nvSpPr>
        <p:spPr bwMode="auto">
          <a:xfrm rot="5400000">
            <a:off x="3245894" y="2008053"/>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Riesgo de liquidez</a:t>
            </a:r>
          </a:p>
        </p:txBody>
      </p:sp>
      <p:sp>
        <p:nvSpPr>
          <p:cNvPr id="113" name="Rectangle 112">
            <a:extLst>
              <a:ext uri="{FF2B5EF4-FFF2-40B4-BE49-F238E27FC236}">
                <a16:creationId xmlns:a16="http://schemas.microsoft.com/office/drawing/2014/main" id="{E2D48233-064E-89F4-9D41-D556093E42B9}"/>
              </a:ext>
            </a:extLst>
          </p:cNvPr>
          <p:cNvSpPr/>
          <p:nvPr/>
        </p:nvSpPr>
        <p:spPr>
          <a:xfrm>
            <a:off x="4222573" y="2494052"/>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Comprobar liquidez</a:t>
            </a:r>
          </a:p>
        </p:txBody>
      </p:sp>
      <p:cxnSp>
        <p:nvCxnSpPr>
          <p:cNvPr id="114" name="Straight Arrow Connector 113">
            <a:extLst>
              <a:ext uri="{FF2B5EF4-FFF2-40B4-BE49-F238E27FC236}">
                <a16:creationId xmlns:a16="http://schemas.microsoft.com/office/drawing/2014/main" id="{1532465E-0993-CFE7-41D3-4610A41D419D}"/>
              </a:ext>
            </a:extLst>
          </p:cNvPr>
          <p:cNvCxnSpPr>
            <a:cxnSpLocks/>
            <a:stCxn id="112" idx="1"/>
            <a:endCxn id="113" idx="1"/>
          </p:cNvCxnSpPr>
          <p:nvPr/>
        </p:nvCxnSpPr>
        <p:spPr>
          <a:xfrm>
            <a:off x="3911894" y="2584053"/>
            <a:ext cx="310679"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5" name="Can 172">
            <a:extLst>
              <a:ext uri="{FF2B5EF4-FFF2-40B4-BE49-F238E27FC236}">
                <a16:creationId xmlns:a16="http://schemas.microsoft.com/office/drawing/2014/main" id="{312CBED0-CD63-DDDF-ECDC-9AC52A7A0936}"/>
              </a:ext>
            </a:extLst>
          </p:cNvPr>
          <p:cNvSpPr/>
          <p:nvPr/>
        </p:nvSpPr>
        <p:spPr bwMode="auto">
          <a:xfrm rot="5400000">
            <a:off x="6229956" y="2189459"/>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Alertas de Negocios</a:t>
            </a:r>
          </a:p>
        </p:txBody>
      </p:sp>
      <p:sp>
        <p:nvSpPr>
          <p:cNvPr id="116" name="Flowchart: Magnetic Disk 115">
            <a:extLst>
              <a:ext uri="{FF2B5EF4-FFF2-40B4-BE49-F238E27FC236}">
                <a16:creationId xmlns:a16="http://schemas.microsoft.com/office/drawing/2014/main" id="{193D3D3E-D6F0-4FEB-ED9D-CCAA57B2589D}"/>
              </a:ext>
            </a:extLst>
          </p:cNvPr>
          <p:cNvSpPr/>
          <p:nvPr/>
        </p:nvSpPr>
        <p:spPr>
          <a:xfrm>
            <a:off x="7206506" y="2549104"/>
            <a:ext cx="638746" cy="597152"/>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defRPr/>
            </a:pPr>
            <a:r>
              <a:rPr lang="es" sz="700" dirty="0">
                <a:solidFill>
                  <a:srgbClr val="000000"/>
                </a:solidFill>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Alertas de Negocios</a:t>
            </a:r>
          </a:p>
        </p:txBody>
      </p:sp>
      <p:cxnSp>
        <p:nvCxnSpPr>
          <p:cNvPr id="117" name="Connector: Elbow 116">
            <a:extLst>
              <a:ext uri="{FF2B5EF4-FFF2-40B4-BE49-F238E27FC236}">
                <a16:creationId xmlns:a16="http://schemas.microsoft.com/office/drawing/2014/main" id="{A3D2DA3C-822C-77F8-8879-6DE88FD737A8}"/>
              </a:ext>
            </a:extLst>
          </p:cNvPr>
          <p:cNvCxnSpPr>
            <a:cxnSpLocks/>
            <a:stCxn id="113" idx="3"/>
            <a:endCxn id="115" idx="3"/>
          </p:cNvCxnSpPr>
          <p:nvPr/>
        </p:nvCxnSpPr>
        <p:spPr>
          <a:xfrm>
            <a:off x="5302573" y="2584053"/>
            <a:ext cx="441383" cy="181406"/>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0" name="Rectangle 119">
            <a:extLst>
              <a:ext uri="{FF2B5EF4-FFF2-40B4-BE49-F238E27FC236}">
                <a16:creationId xmlns:a16="http://schemas.microsoft.com/office/drawing/2014/main" id="{F63FD311-9BB2-8198-FA08-2924F4812550}"/>
              </a:ext>
            </a:extLst>
          </p:cNvPr>
          <p:cNvSpPr/>
          <p:nvPr/>
        </p:nvSpPr>
        <p:spPr>
          <a:xfrm>
            <a:off x="4231556" y="2928547"/>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Comprobación AML</a:t>
            </a:r>
          </a:p>
        </p:txBody>
      </p:sp>
      <p:cxnSp>
        <p:nvCxnSpPr>
          <p:cNvPr id="121" name="Connector: Elbow 120">
            <a:extLst>
              <a:ext uri="{FF2B5EF4-FFF2-40B4-BE49-F238E27FC236}">
                <a16:creationId xmlns:a16="http://schemas.microsoft.com/office/drawing/2014/main" id="{20649219-66A8-731E-C748-2FF6CC9B88F7}"/>
              </a:ext>
            </a:extLst>
          </p:cNvPr>
          <p:cNvCxnSpPr>
            <a:cxnSpLocks/>
            <a:stCxn id="108" idx="1"/>
            <a:endCxn id="120" idx="1"/>
          </p:cNvCxnSpPr>
          <p:nvPr/>
        </p:nvCxnSpPr>
        <p:spPr>
          <a:xfrm flipV="1">
            <a:off x="3911894" y="3018548"/>
            <a:ext cx="319662" cy="17310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Connector: Elbow 121">
            <a:extLst>
              <a:ext uri="{FF2B5EF4-FFF2-40B4-BE49-F238E27FC236}">
                <a16:creationId xmlns:a16="http://schemas.microsoft.com/office/drawing/2014/main" id="{5F9C1161-894D-225D-8A26-A93BFBA52EA7}"/>
              </a:ext>
            </a:extLst>
          </p:cNvPr>
          <p:cNvCxnSpPr>
            <a:cxnSpLocks/>
            <a:stCxn id="108" idx="1"/>
            <a:endCxn id="109" idx="1"/>
          </p:cNvCxnSpPr>
          <p:nvPr/>
        </p:nvCxnSpPr>
        <p:spPr>
          <a:xfrm>
            <a:off x="3911894" y="3191651"/>
            <a:ext cx="319662" cy="81882"/>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3" name="Connector: Elbow 122">
            <a:extLst>
              <a:ext uri="{FF2B5EF4-FFF2-40B4-BE49-F238E27FC236}">
                <a16:creationId xmlns:a16="http://schemas.microsoft.com/office/drawing/2014/main" id="{FA2D2629-B452-CCF7-5CF3-5258D5E73420}"/>
              </a:ext>
            </a:extLst>
          </p:cNvPr>
          <p:cNvCxnSpPr>
            <a:cxnSpLocks/>
            <a:stCxn id="103" idx="1"/>
            <a:endCxn id="105" idx="1"/>
          </p:cNvCxnSpPr>
          <p:nvPr/>
        </p:nvCxnSpPr>
        <p:spPr>
          <a:xfrm flipV="1">
            <a:off x="3911894" y="3522607"/>
            <a:ext cx="344730" cy="4223"/>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4" name="Connector: Elbow 123">
            <a:extLst>
              <a:ext uri="{FF2B5EF4-FFF2-40B4-BE49-F238E27FC236}">
                <a16:creationId xmlns:a16="http://schemas.microsoft.com/office/drawing/2014/main" id="{0D4B76CC-012A-1968-B1E5-BB0F5C2DF89B}"/>
              </a:ext>
            </a:extLst>
          </p:cNvPr>
          <p:cNvCxnSpPr>
            <a:cxnSpLocks/>
            <a:stCxn id="120" idx="3"/>
            <a:endCxn id="115" idx="3"/>
          </p:cNvCxnSpPr>
          <p:nvPr/>
        </p:nvCxnSpPr>
        <p:spPr>
          <a:xfrm flipV="1">
            <a:off x="5311556" y="2765459"/>
            <a:ext cx="432400" cy="253089"/>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3C0F8247-CE22-B25E-6069-1EF8DAB74DE4}"/>
              </a:ext>
            </a:extLst>
          </p:cNvPr>
          <p:cNvCxnSpPr>
            <a:cxnSpLocks/>
            <a:stCxn id="115" idx="1"/>
          </p:cNvCxnSpPr>
          <p:nvPr/>
        </p:nvCxnSpPr>
        <p:spPr>
          <a:xfrm>
            <a:off x="6895956" y="2765459"/>
            <a:ext cx="297290" cy="0"/>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6" name="Flowchart: Magnetic Disk 125">
            <a:extLst>
              <a:ext uri="{FF2B5EF4-FFF2-40B4-BE49-F238E27FC236}">
                <a16:creationId xmlns:a16="http://schemas.microsoft.com/office/drawing/2014/main" id="{3767FD09-31FD-C456-09FB-F746A975CB0E}"/>
              </a:ext>
            </a:extLst>
          </p:cNvPr>
          <p:cNvSpPr/>
          <p:nvPr/>
        </p:nvSpPr>
        <p:spPr>
          <a:xfrm>
            <a:off x="7214660" y="3288171"/>
            <a:ext cx="611999" cy="456037"/>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Base de datos</a:t>
            </a:r>
          </a:p>
          <a:p>
            <a:pPr marL="0" marR="0" lvl="0" indent="0" algn="ctr" defTabSz="914400" rtl="0" eaLnBrk="1" fontAlgn="auto" latinLnBrk="0" hangingPunct="1">
              <a:lnSpc>
                <a:spcPct val="100000"/>
              </a:lnSpc>
              <a:spcBef>
                <a:spcPts val="0"/>
              </a:spcBef>
              <a:spcAft>
                <a:spcPts val="0"/>
              </a:spcAft>
              <a:buClrTx/>
              <a:buSzTx/>
              <a:buFontTx/>
              <a:buNone/>
              <a:tabLst/>
              <a:defRPr/>
            </a:pPr>
            <a:r>
              <a:rPr lang="es" sz="700" dirty="0">
                <a:solidFill>
                  <a:srgbClr val="000000"/>
                </a:solidFill>
                <a:latin typeface="Graphik"/>
              </a:rPr>
              <a:t>GL</a:t>
            </a:r>
            <a:endParaRPr kumimoji="0" lang="es" sz="70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127" name="Connector: Elbow 126">
            <a:extLst>
              <a:ext uri="{FF2B5EF4-FFF2-40B4-BE49-F238E27FC236}">
                <a16:creationId xmlns:a16="http://schemas.microsoft.com/office/drawing/2014/main" id="{B42F6F20-84F3-A3F7-CBF7-52242EAA6CF7}"/>
              </a:ext>
            </a:extLst>
          </p:cNvPr>
          <p:cNvCxnSpPr>
            <a:cxnSpLocks/>
            <a:stCxn id="105" idx="3"/>
            <a:endCxn id="128" idx="3"/>
          </p:cNvCxnSpPr>
          <p:nvPr/>
        </p:nvCxnSpPr>
        <p:spPr>
          <a:xfrm flipV="1">
            <a:off x="5336624" y="3518226"/>
            <a:ext cx="407332" cy="4381"/>
          </a:xfrm>
          <a:prstGeom prst="bentConnector3">
            <a:avLst>
              <a:gd name="adj1" fmla="val 50000"/>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8" name="Can 172">
            <a:extLst>
              <a:ext uri="{FF2B5EF4-FFF2-40B4-BE49-F238E27FC236}">
                <a16:creationId xmlns:a16="http://schemas.microsoft.com/office/drawing/2014/main" id="{C55AFFD2-4B39-4FFE-A2C3-F30B63F3C92A}"/>
              </a:ext>
            </a:extLst>
          </p:cNvPr>
          <p:cNvSpPr/>
          <p:nvPr/>
        </p:nvSpPr>
        <p:spPr bwMode="auto">
          <a:xfrm rot="5400000">
            <a:off x="6229956" y="2942226"/>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GL</a:t>
            </a:r>
          </a:p>
        </p:txBody>
      </p:sp>
      <p:sp>
        <p:nvSpPr>
          <p:cNvPr id="129" name="Flowchart: Magnetic Disk 128">
            <a:extLst>
              <a:ext uri="{FF2B5EF4-FFF2-40B4-BE49-F238E27FC236}">
                <a16:creationId xmlns:a16="http://schemas.microsoft.com/office/drawing/2014/main" id="{F2164993-3CAB-9F71-AE0B-FF930CD5AA6C}"/>
              </a:ext>
            </a:extLst>
          </p:cNvPr>
          <p:cNvSpPr/>
          <p:nvPr/>
        </p:nvSpPr>
        <p:spPr>
          <a:xfrm>
            <a:off x="1642691" y="3837139"/>
            <a:ext cx="628654" cy="430013"/>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Relatos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Base de datos</a:t>
            </a:r>
          </a:p>
        </p:txBody>
      </p:sp>
      <p:cxnSp>
        <p:nvCxnSpPr>
          <p:cNvPr id="130" name="Straight Arrow Connector 129">
            <a:extLst>
              <a:ext uri="{FF2B5EF4-FFF2-40B4-BE49-F238E27FC236}">
                <a16:creationId xmlns:a16="http://schemas.microsoft.com/office/drawing/2014/main" id="{38C5A0E7-36F6-32BF-3216-3E1673CAB869}"/>
              </a:ext>
            </a:extLst>
          </p:cNvPr>
          <p:cNvCxnSpPr>
            <a:cxnSpLocks/>
            <a:stCxn id="102" idx="2"/>
            <a:endCxn id="129" idx="1"/>
          </p:cNvCxnSpPr>
          <p:nvPr/>
        </p:nvCxnSpPr>
        <p:spPr>
          <a:xfrm flipH="1">
            <a:off x="1957018" y="3615749"/>
            <a:ext cx="1" cy="22139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Straight Arrow Connector 130">
            <a:extLst>
              <a:ext uri="{FF2B5EF4-FFF2-40B4-BE49-F238E27FC236}">
                <a16:creationId xmlns:a16="http://schemas.microsoft.com/office/drawing/2014/main" id="{C0042A39-BC3D-9E31-CD28-4907E4F0FAA7}"/>
              </a:ext>
            </a:extLst>
          </p:cNvPr>
          <p:cNvCxnSpPr>
            <a:cxnSpLocks/>
            <a:stCxn id="128" idx="1"/>
            <a:endCxn id="126" idx="2"/>
          </p:cNvCxnSpPr>
          <p:nvPr/>
        </p:nvCxnSpPr>
        <p:spPr>
          <a:xfrm flipV="1">
            <a:off x="6895956" y="3516190"/>
            <a:ext cx="318704" cy="2036"/>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32" name="Rectangle 131">
            <a:extLst>
              <a:ext uri="{FF2B5EF4-FFF2-40B4-BE49-F238E27FC236}">
                <a16:creationId xmlns:a16="http://schemas.microsoft.com/office/drawing/2014/main" id="{9409727C-023B-B9E0-C775-3A6777C34C06}"/>
              </a:ext>
            </a:extLst>
          </p:cNvPr>
          <p:cNvSpPr/>
          <p:nvPr/>
        </p:nvSpPr>
        <p:spPr>
          <a:xfrm>
            <a:off x="4442738" y="117089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Backoffice Portal</a:t>
            </a:r>
          </a:p>
        </p:txBody>
      </p:sp>
      <p:sp>
        <p:nvSpPr>
          <p:cNvPr id="133" name="Rectangle 132">
            <a:extLst>
              <a:ext uri="{FF2B5EF4-FFF2-40B4-BE49-F238E27FC236}">
                <a16:creationId xmlns:a16="http://schemas.microsoft.com/office/drawing/2014/main" id="{5CCC8C0F-589F-7487-7373-DAF544A851F2}"/>
              </a:ext>
            </a:extLst>
          </p:cNvPr>
          <p:cNvSpPr/>
          <p:nvPr/>
        </p:nvSpPr>
        <p:spPr>
          <a:xfrm>
            <a:off x="4442739"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API Gateway</a:t>
            </a:r>
          </a:p>
        </p:txBody>
      </p:sp>
      <p:sp>
        <p:nvSpPr>
          <p:cNvPr id="134" name="Rectangle 133">
            <a:extLst>
              <a:ext uri="{FF2B5EF4-FFF2-40B4-BE49-F238E27FC236}">
                <a16:creationId xmlns:a16="http://schemas.microsoft.com/office/drawing/2014/main" id="{30B9CB03-97DF-DD7A-FFBA-BF4F294F8534}"/>
              </a:ext>
            </a:extLst>
          </p:cNvPr>
          <p:cNvSpPr/>
          <p:nvPr/>
        </p:nvSpPr>
        <p:spPr>
          <a:xfrm>
            <a:off x="5887452" y="1625303"/>
            <a:ext cx="1233205" cy="24387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Pasarela de Eventos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dirty="0">
                <a:ln>
                  <a:noFill/>
                </a:ln>
                <a:solidFill>
                  <a:srgbClr val="000000"/>
                </a:solidFill>
                <a:effectLst/>
                <a:uLnTx/>
                <a:uFillTx/>
                <a:latin typeface="Graphik"/>
                <a:ea typeface="+mn-ea"/>
                <a:cs typeface="+mn-cs"/>
              </a:rPr>
              <a:t>(WebSockets)</a:t>
            </a:r>
          </a:p>
        </p:txBody>
      </p:sp>
      <p:sp>
        <p:nvSpPr>
          <p:cNvPr id="135" name="Can 172">
            <a:extLst>
              <a:ext uri="{FF2B5EF4-FFF2-40B4-BE49-F238E27FC236}">
                <a16:creationId xmlns:a16="http://schemas.microsoft.com/office/drawing/2014/main" id="{A4FA963E-84F7-4719-E1DF-361EF0EA4C4D}"/>
              </a:ext>
            </a:extLst>
          </p:cNvPr>
          <p:cNvSpPr/>
          <p:nvPr/>
        </p:nvSpPr>
        <p:spPr bwMode="auto">
          <a:xfrm rot="5400000">
            <a:off x="3245894" y="3758351"/>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Saldo de la cuenta</a:t>
            </a:r>
          </a:p>
        </p:txBody>
      </p:sp>
      <p:sp>
        <p:nvSpPr>
          <p:cNvPr id="136" name="Rectangle 135">
            <a:extLst>
              <a:ext uri="{FF2B5EF4-FFF2-40B4-BE49-F238E27FC236}">
                <a16:creationId xmlns:a16="http://schemas.microsoft.com/office/drawing/2014/main" id="{FF5C0287-795C-B4C1-3C6F-C6E7A1A192F0}"/>
              </a:ext>
            </a:extLst>
          </p:cNvPr>
          <p:cNvSpPr/>
          <p:nvPr/>
        </p:nvSpPr>
        <p:spPr>
          <a:xfrm>
            <a:off x="1779681" y="4267152"/>
            <a:ext cx="301657" cy="14430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CDC</a:t>
            </a:r>
          </a:p>
        </p:txBody>
      </p:sp>
      <p:sp>
        <p:nvSpPr>
          <p:cNvPr id="137" name="Flowchart: Magnetic Disk 136">
            <a:extLst>
              <a:ext uri="{FF2B5EF4-FFF2-40B4-BE49-F238E27FC236}">
                <a16:creationId xmlns:a16="http://schemas.microsoft.com/office/drawing/2014/main" id="{8C496DDA-9EBE-7DE2-9451-B8293FBD929F}"/>
              </a:ext>
            </a:extLst>
          </p:cNvPr>
          <p:cNvSpPr/>
          <p:nvPr/>
        </p:nvSpPr>
        <p:spPr>
          <a:xfrm>
            <a:off x="2879311" y="5057091"/>
            <a:ext cx="890327" cy="503599"/>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900" b="0" i="0" u="none" strike="noStrike" kern="1200" cap="none" spc="0" normalizeH="0" baseline="0" noProof="0" dirty="0">
                <a:ln>
                  <a:noFill/>
                </a:ln>
                <a:solidFill>
                  <a:srgbClr val="000000"/>
                </a:solidFill>
                <a:effectLst/>
                <a:uLnTx/>
                <a:uFillTx/>
                <a:latin typeface="Graphik"/>
                <a:ea typeface="+mn-ea"/>
                <a:cs typeface="+mn-cs"/>
              </a:rPr>
              <a:t>Data </a:t>
            </a:r>
            <a:r>
              <a:rPr kumimoji="0" lang="es-ES" sz="90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38" name="Rectangle 137">
            <a:extLst>
              <a:ext uri="{FF2B5EF4-FFF2-40B4-BE49-F238E27FC236}">
                <a16:creationId xmlns:a16="http://schemas.microsoft.com/office/drawing/2014/main" id="{2B632C78-AEC4-A9AB-897C-7A0D3785713D}"/>
              </a:ext>
            </a:extLst>
          </p:cNvPr>
          <p:cNvSpPr/>
          <p:nvPr/>
        </p:nvSpPr>
        <p:spPr>
          <a:xfrm>
            <a:off x="1557827" y="5208270"/>
            <a:ext cx="1080000"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Procesos BI/ML/IA</a:t>
            </a:r>
          </a:p>
        </p:txBody>
      </p:sp>
      <p:cxnSp>
        <p:nvCxnSpPr>
          <p:cNvPr id="139" name="Straight Arrow Connector 138">
            <a:extLst>
              <a:ext uri="{FF2B5EF4-FFF2-40B4-BE49-F238E27FC236}">
                <a16:creationId xmlns:a16="http://schemas.microsoft.com/office/drawing/2014/main" id="{044309A4-2FAB-3B8D-C4D1-CEA205968F8C}"/>
              </a:ext>
            </a:extLst>
          </p:cNvPr>
          <p:cNvCxnSpPr>
            <a:cxnSpLocks/>
            <a:stCxn id="136" idx="3"/>
            <a:endCxn id="135" idx="3"/>
          </p:cNvCxnSpPr>
          <p:nvPr/>
        </p:nvCxnSpPr>
        <p:spPr>
          <a:xfrm flipV="1">
            <a:off x="2081338" y="4334351"/>
            <a:ext cx="678556" cy="4954"/>
          </a:xfrm>
          <a:prstGeom prst="straightConnector1">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0" name="Straight Arrow Connector 139">
            <a:extLst>
              <a:ext uri="{FF2B5EF4-FFF2-40B4-BE49-F238E27FC236}">
                <a16:creationId xmlns:a16="http://schemas.microsoft.com/office/drawing/2014/main" id="{58A6E818-6251-DC30-D9A0-79E79B5336DF}"/>
              </a:ext>
            </a:extLst>
          </p:cNvPr>
          <p:cNvCxnSpPr>
            <a:cxnSpLocks/>
            <a:stCxn id="135" idx="4"/>
            <a:endCxn id="137" idx="1"/>
          </p:cNvCxnSpPr>
          <p:nvPr/>
        </p:nvCxnSpPr>
        <p:spPr>
          <a:xfrm flipH="1">
            <a:off x="3324475" y="4424351"/>
            <a:ext cx="11419" cy="63274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Straight Arrow Connector 140">
            <a:extLst>
              <a:ext uri="{FF2B5EF4-FFF2-40B4-BE49-F238E27FC236}">
                <a16:creationId xmlns:a16="http://schemas.microsoft.com/office/drawing/2014/main" id="{A61F30B1-FC22-C1C2-C235-760195596A6F}"/>
              </a:ext>
            </a:extLst>
          </p:cNvPr>
          <p:cNvCxnSpPr>
            <a:cxnSpLocks/>
            <a:stCxn id="137" idx="2"/>
            <a:endCxn id="138" idx="3"/>
          </p:cNvCxnSpPr>
          <p:nvPr/>
        </p:nvCxnSpPr>
        <p:spPr>
          <a:xfrm flipH="1" flipV="1">
            <a:off x="2637827" y="5298271"/>
            <a:ext cx="241484" cy="10620"/>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Can 172">
            <a:extLst>
              <a:ext uri="{FF2B5EF4-FFF2-40B4-BE49-F238E27FC236}">
                <a16:creationId xmlns:a16="http://schemas.microsoft.com/office/drawing/2014/main" id="{D16DCA3F-5AAB-8F10-312A-07556A32896B}"/>
              </a:ext>
            </a:extLst>
          </p:cNvPr>
          <p:cNvSpPr/>
          <p:nvPr/>
        </p:nvSpPr>
        <p:spPr bwMode="auto">
          <a:xfrm rot="5400000">
            <a:off x="911959" y="3849320"/>
            <a:ext cx="180000" cy="1152000"/>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Leads comerciales</a:t>
            </a:r>
          </a:p>
        </p:txBody>
      </p:sp>
      <p:cxnSp>
        <p:nvCxnSpPr>
          <p:cNvPr id="143" name="Connector: Elbow 142">
            <a:extLst>
              <a:ext uri="{FF2B5EF4-FFF2-40B4-BE49-F238E27FC236}">
                <a16:creationId xmlns:a16="http://schemas.microsoft.com/office/drawing/2014/main" id="{8382768C-6D9D-F39C-9385-10E4BE6D9746}"/>
              </a:ext>
            </a:extLst>
          </p:cNvPr>
          <p:cNvCxnSpPr>
            <a:cxnSpLocks/>
            <a:stCxn id="142" idx="3"/>
            <a:endCxn id="90" idx="1"/>
          </p:cNvCxnSpPr>
          <p:nvPr/>
        </p:nvCxnSpPr>
        <p:spPr>
          <a:xfrm rot="10800000" flipH="1">
            <a:off x="425959" y="1747240"/>
            <a:ext cx="485512" cy="2678080"/>
          </a:xfrm>
          <a:prstGeom prst="bentConnector3">
            <a:avLst>
              <a:gd name="adj1" fmla="val -6329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4" name="Connector: Elbow 143">
            <a:extLst>
              <a:ext uri="{FF2B5EF4-FFF2-40B4-BE49-F238E27FC236}">
                <a16:creationId xmlns:a16="http://schemas.microsoft.com/office/drawing/2014/main" id="{A64D5B93-BE05-E7EA-ADCA-7508D5807BAF}"/>
              </a:ext>
            </a:extLst>
          </p:cNvPr>
          <p:cNvCxnSpPr>
            <a:cxnSpLocks/>
            <a:stCxn id="116" idx="1"/>
            <a:endCxn id="145" idx="2"/>
          </p:cNvCxnSpPr>
          <p:nvPr/>
        </p:nvCxnSpPr>
        <p:spPr>
          <a:xfrm rot="16200000" flipV="1">
            <a:off x="6917248" y="1940472"/>
            <a:ext cx="127416" cy="1089847"/>
          </a:xfrm>
          <a:prstGeom prst="bentConnector3">
            <a:avLst>
              <a:gd name="adj1" fmla="val 20404"/>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45" name="Rectangle 144">
            <a:extLst>
              <a:ext uri="{FF2B5EF4-FFF2-40B4-BE49-F238E27FC236}">
                <a16:creationId xmlns:a16="http://schemas.microsoft.com/office/drawing/2014/main" id="{01C9BB41-F209-F5BF-2F95-C0476CCA09ED}"/>
              </a:ext>
            </a:extLst>
          </p:cNvPr>
          <p:cNvSpPr/>
          <p:nvPr/>
        </p:nvSpPr>
        <p:spPr>
          <a:xfrm>
            <a:off x="5887452" y="2154328"/>
            <a:ext cx="1097160" cy="26736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Panel de control empresarials</a:t>
            </a:r>
          </a:p>
        </p:txBody>
      </p:sp>
      <p:cxnSp>
        <p:nvCxnSpPr>
          <p:cNvPr id="146" name="Connector: Elbow 145">
            <a:extLst>
              <a:ext uri="{FF2B5EF4-FFF2-40B4-BE49-F238E27FC236}">
                <a16:creationId xmlns:a16="http://schemas.microsoft.com/office/drawing/2014/main" id="{F556EB3D-8422-FFE4-19B1-90A53F909D66}"/>
              </a:ext>
            </a:extLst>
          </p:cNvPr>
          <p:cNvCxnSpPr>
            <a:cxnSpLocks/>
            <a:stCxn id="133" idx="2"/>
            <a:endCxn id="145" idx="0"/>
          </p:cNvCxnSpPr>
          <p:nvPr/>
        </p:nvCxnSpPr>
        <p:spPr>
          <a:xfrm rot="16200000" flipH="1">
            <a:off x="5605111" y="1323407"/>
            <a:ext cx="285152" cy="137669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Connector: Elbow 146">
            <a:extLst>
              <a:ext uri="{FF2B5EF4-FFF2-40B4-BE49-F238E27FC236}">
                <a16:creationId xmlns:a16="http://schemas.microsoft.com/office/drawing/2014/main" id="{0A0E7EA5-0B6C-4D1C-1017-15AF6C2BE42D}"/>
              </a:ext>
            </a:extLst>
          </p:cNvPr>
          <p:cNvCxnSpPr>
            <a:cxnSpLocks/>
            <a:stCxn id="132" idx="2"/>
            <a:endCxn id="133" idx="0"/>
          </p:cNvCxnSpPr>
          <p:nvPr/>
        </p:nvCxnSpPr>
        <p:spPr>
          <a:xfrm rot="16200000" flipH="1">
            <a:off x="4954073"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6D2E0CC4-9BE6-4517-5E78-C6FC51EA8EDE}"/>
              </a:ext>
            </a:extLst>
          </p:cNvPr>
          <p:cNvCxnSpPr>
            <a:cxnSpLocks/>
            <a:stCxn id="145" idx="3"/>
            <a:endCxn id="134" idx="3"/>
          </p:cNvCxnSpPr>
          <p:nvPr/>
        </p:nvCxnSpPr>
        <p:spPr>
          <a:xfrm flipV="1">
            <a:off x="6984612" y="1747240"/>
            <a:ext cx="136045" cy="540768"/>
          </a:xfrm>
          <a:prstGeom prst="bentConnector3">
            <a:avLst>
              <a:gd name="adj1" fmla="val 268033"/>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9" name="Connector: Elbow 148">
            <a:extLst>
              <a:ext uri="{FF2B5EF4-FFF2-40B4-BE49-F238E27FC236}">
                <a16:creationId xmlns:a16="http://schemas.microsoft.com/office/drawing/2014/main" id="{03AD4CBC-0A44-07F4-366F-E28EF3F083B3}"/>
              </a:ext>
            </a:extLst>
          </p:cNvPr>
          <p:cNvCxnSpPr>
            <a:cxnSpLocks/>
            <a:stCxn id="88" idx="2"/>
            <a:endCxn id="87" idx="0"/>
          </p:cNvCxnSpPr>
          <p:nvPr/>
        </p:nvCxnSpPr>
        <p:spPr>
          <a:xfrm rot="16200000" flipH="1">
            <a:off x="2728759" y="1520033"/>
            <a:ext cx="210537" cy="1"/>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Connector: Elbow 149">
            <a:extLst>
              <a:ext uri="{FF2B5EF4-FFF2-40B4-BE49-F238E27FC236}">
                <a16:creationId xmlns:a16="http://schemas.microsoft.com/office/drawing/2014/main" id="{C2C6EB20-D244-4302-79F5-1E31EBEBA5DC}"/>
              </a:ext>
            </a:extLst>
          </p:cNvPr>
          <p:cNvCxnSpPr>
            <a:cxnSpLocks/>
            <a:stCxn id="138" idx="1"/>
            <a:endCxn id="142" idx="4"/>
          </p:cNvCxnSpPr>
          <p:nvPr/>
        </p:nvCxnSpPr>
        <p:spPr>
          <a:xfrm rot="10800000">
            <a:off x="1001959" y="4515321"/>
            <a:ext cx="555868" cy="782951"/>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1" name="Oval 150">
            <a:extLst>
              <a:ext uri="{FF2B5EF4-FFF2-40B4-BE49-F238E27FC236}">
                <a16:creationId xmlns:a16="http://schemas.microsoft.com/office/drawing/2014/main" id="{18A31018-D3A1-F1B9-3EB0-21D5652AF3C7}"/>
              </a:ext>
            </a:extLst>
          </p:cNvPr>
          <p:cNvSpPr/>
          <p:nvPr/>
        </p:nvSpPr>
        <p:spPr>
          <a:xfrm>
            <a:off x="911471" y="1132584"/>
            <a:ext cx="960010"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a:ln>
                  <a:noFill/>
                </a:ln>
                <a:solidFill>
                  <a:srgbClr val="000000"/>
                </a:solidFill>
                <a:effectLst/>
                <a:uLnTx/>
                <a:uFillTx/>
                <a:latin typeface="Graphik"/>
                <a:ea typeface="+mn-ea"/>
                <a:cs typeface="+mn-cs"/>
              </a:rPr>
              <a:t>Oferta de préstamo</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cxnSp>
        <p:nvCxnSpPr>
          <p:cNvPr id="152" name="Connector: Elbow 151">
            <a:extLst>
              <a:ext uri="{FF2B5EF4-FFF2-40B4-BE49-F238E27FC236}">
                <a16:creationId xmlns:a16="http://schemas.microsoft.com/office/drawing/2014/main" id="{013D2BCC-BEEE-89E0-DD21-C4AAC0320CF1}"/>
              </a:ext>
            </a:extLst>
          </p:cNvPr>
          <p:cNvCxnSpPr>
            <a:cxnSpLocks/>
            <a:stCxn id="134" idx="0"/>
            <a:endCxn id="132" idx="3"/>
          </p:cNvCxnSpPr>
          <p:nvPr/>
        </p:nvCxnSpPr>
        <p:spPr>
          <a:xfrm rot="16200000" flipV="1">
            <a:off x="5923763" y="1045011"/>
            <a:ext cx="332473" cy="828112"/>
          </a:xfrm>
          <a:prstGeom prst="bentConnector2">
            <a:avLst/>
          </a:prstGeom>
          <a:ln w="9525">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53" name="Oval 152">
            <a:extLst>
              <a:ext uri="{FF2B5EF4-FFF2-40B4-BE49-F238E27FC236}">
                <a16:creationId xmlns:a16="http://schemas.microsoft.com/office/drawing/2014/main" id="{AED656A7-4A60-4955-BB72-5F18639D80A1}"/>
              </a:ext>
            </a:extLst>
          </p:cNvPr>
          <p:cNvSpPr/>
          <p:nvPr/>
        </p:nvSpPr>
        <p:spPr>
          <a:xfrm>
            <a:off x="6234708" y="1149207"/>
            <a:ext cx="538692" cy="288001"/>
          </a:xfrm>
          <a:prstGeom prst="ellipse">
            <a:avLst/>
          </a:prstGeom>
          <a:solidFill>
            <a:schemeClr val="bg1"/>
          </a:solidFill>
          <a:ln>
            <a:solidFill>
              <a:schemeClr val="tx1"/>
            </a:solidFill>
          </a:ln>
        </p:spPr>
        <p:txBody>
          <a:bodyPr wrap="none" lIns="0" tIns="0" rIns="0" bIns="0" rtlCol="0" anchor="ctr">
            <a:noAutofit/>
          </a:bodyPr>
          <a:lstStyle/>
          <a:p>
            <a:pPr marL="0" marR="0" lvl="0" indent="0" algn="ctr" defTabSz="228600" rtl="0" eaLnBrk="1" fontAlgn="auto" latinLnBrk="0" hangingPunct="1">
              <a:lnSpc>
                <a:spcPct val="100000"/>
              </a:lnSpc>
              <a:spcBef>
                <a:spcPts val="0"/>
              </a:spcBef>
              <a:spcAft>
                <a:spcPts val="0"/>
              </a:spcAft>
              <a:buClrTx/>
              <a:buSzTx/>
              <a:buFontTx/>
              <a:buNone/>
              <a:tabLst/>
              <a:defRPr/>
            </a:pPr>
            <a:r>
              <a:rPr kumimoji="0" lang="es" sz="700" b="0" i="1" u="none" strike="noStrike" kern="1200" cap="none" spc="0" normalizeH="0" baseline="0" noProof="0" err="1">
                <a:ln>
                  <a:noFill/>
                </a:ln>
                <a:solidFill>
                  <a:srgbClr val="000000"/>
                </a:solidFill>
                <a:effectLst/>
                <a:uLnTx/>
                <a:uFillTx/>
                <a:latin typeface="Graphik"/>
                <a:ea typeface="+mn-ea"/>
                <a:cs typeface="+mn-cs"/>
              </a:rPr>
              <a:t>Alertas</a:t>
            </a:r>
            <a:endParaRPr kumimoji="0" lang="es-ES_tradnl" sz="700" b="0" i="1" u="none" strike="noStrike" kern="1200" cap="none" spc="0" normalizeH="0" baseline="0" noProof="0">
              <a:ln>
                <a:noFill/>
              </a:ln>
              <a:solidFill>
                <a:srgbClr val="000000"/>
              </a:solidFill>
              <a:effectLst/>
              <a:uLnTx/>
              <a:uFillTx/>
              <a:latin typeface="Graphik"/>
              <a:ea typeface="+mn-ea"/>
              <a:cs typeface="+mn-cs"/>
            </a:endParaRPr>
          </a:p>
        </p:txBody>
      </p:sp>
      <p:sp>
        <p:nvSpPr>
          <p:cNvPr id="154" name="Rectangle 153">
            <a:extLst>
              <a:ext uri="{FF2B5EF4-FFF2-40B4-BE49-F238E27FC236}">
                <a16:creationId xmlns:a16="http://schemas.microsoft.com/office/drawing/2014/main" id="{4F04262B-0B38-ACCC-AC55-53F4EFD3B7E9}"/>
              </a:ext>
            </a:extLst>
          </p:cNvPr>
          <p:cNvSpPr/>
          <p:nvPr/>
        </p:nvSpPr>
        <p:spPr>
          <a:xfrm>
            <a:off x="6515846" y="4833442"/>
            <a:ext cx="801374" cy="180001"/>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a:ln>
                  <a:noFill/>
                </a:ln>
                <a:solidFill>
                  <a:srgbClr val="000000"/>
                </a:solidFill>
                <a:effectLst/>
                <a:uLnTx/>
                <a:uFillTx/>
                <a:latin typeface="Graphik"/>
                <a:ea typeface="+mn-ea"/>
                <a:cs typeface="+mn-cs"/>
              </a:rPr>
              <a:t>Servicios</a:t>
            </a:r>
          </a:p>
        </p:txBody>
      </p:sp>
      <p:sp>
        <p:nvSpPr>
          <p:cNvPr id="155" name="Can 172">
            <a:extLst>
              <a:ext uri="{FF2B5EF4-FFF2-40B4-BE49-F238E27FC236}">
                <a16:creationId xmlns:a16="http://schemas.microsoft.com/office/drawing/2014/main" id="{A1E51F80-6B79-458E-4EE6-6B4D7FF0FE4D}"/>
              </a:ext>
            </a:extLst>
          </p:cNvPr>
          <p:cNvSpPr/>
          <p:nvPr/>
        </p:nvSpPr>
        <p:spPr bwMode="auto">
          <a:xfrm rot="5400000">
            <a:off x="6783631" y="4854684"/>
            <a:ext cx="265804" cy="801373"/>
          </a:xfrm>
          <a:prstGeom prst="can">
            <a:avLst>
              <a:gd name="adj" fmla="val 59089"/>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Kafka topics</a:t>
            </a:r>
          </a:p>
        </p:txBody>
      </p:sp>
      <p:sp>
        <p:nvSpPr>
          <p:cNvPr id="156" name="TextBox 155">
            <a:extLst>
              <a:ext uri="{FF2B5EF4-FFF2-40B4-BE49-F238E27FC236}">
                <a16:creationId xmlns:a16="http://schemas.microsoft.com/office/drawing/2014/main" id="{1593B945-E994-71D2-42F5-C70DCCC171FE}"/>
              </a:ext>
            </a:extLst>
          </p:cNvPr>
          <p:cNvSpPr txBox="1"/>
          <p:nvPr/>
        </p:nvSpPr>
        <p:spPr>
          <a:xfrm>
            <a:off x="8123474" y="1847779"/>
            <a:ext cx="3777940" cy="4114749"/>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La intención es aprovechar varios </a:t>
            </a:r>
            <a:r>
              <a:rPr kumimoji="0" lang="es" sz="1100" b="1" i="0" u="none" strike="noStrike" kern="1200" cap="none" spc="0" normalizeH="0" baseline="0" noProof="0">
                <a:ln>
                  <a:noFill/>
                </a:ln>
                <a:solidFill>
                  <a:srgbClr val="000000"/>
                </a:solidFill>
                <a:effectLst/>
                <a:uLnTx/>
                <a:uFillTx/>
                <a:latin typeface="Graphik"/>
                <a:ea typeface="+mn-ea"/>
                <a:cs typeface="+mn-cs"/>
              </a:rPr>
              <a:t>componentes y patrones de la Arquitectura de Interoperabilidad </a:t>
            </a:r>
            <a:r>
              <a:rPr kumimoji="0" lang="es" sz="1100" b="0" i="0" u="none" strike="noStrike" kern="1200" cap="none" spc="0" normalizeH="0" baseline="0" noProof="0">
                <a:ln>
                  <a:noFill/>
                </a:ln>
                <a:solidFill>
                  <a:srgbClr val="000000"/>
                </a:solidFill>
                <a:effectLst/>
                <a:uLnTx/>
                <a:uFillTx/>
                <a:latin typeface="Graphik"/>
                <a:ea typeface="+mn-ea"/>
                <a:cs typeface="+mn-cs"/>
              </a:rPr>
              <a:t>en el contexto de un caso de uso de Banca Central: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Inicio de una transferencia de crédito por banca por Internet vía API</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Orquestación de diferentes pasos en la transferencia de crédito utilizando varios componentes (riesgo, cheque AML, orden de pago, contabilidad...)</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Actualización del saldo en el almacén de datos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Monitorización de la actividad empresarial por parte de un agente a través del portal de backoffice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Generación de una propuesta personalizada desde el Dominio de Datos (BI/ML/IA) y notificación al cliente</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Estos procesos requieren diferentes </a:t>
            </a:r>
            <a:r>
              <a:rPr kumimoji="0" lang="es" sz="1100" b="1" i="0" u="none" strike="noStrike" kern="1200" cap="none" spc="0" normalizeH="0" baseline="0" noProof="0">
                <a:ln>
                  <a:noFill/>
                </a:ln>
                <a:solidFill>
                  <a:srgbClr val="000000"/>
                </a:solidFill>
                <a:effectLst/>
                <a:uLnTx/>
                <a:uFillTx/>
                <a:latin typeface="Graphik"/>
                <a:ea typeface="+mn-ea"/>
                <a:cs typeface="+mn-cs"/>
              </a:rPr>
              <a:t>interacciones síncronas y asíncronas entre microservicios.</a:t>
            </a: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Como parte del ejercicio, se discutirían/seleccionarían diferentes componentes de la pila, priorizando los paquetes de código abierto o de proveedores consolidados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a:ln>
                <a:noFill/>
              </a:ln>
              <a:solidFill>
                <a:srgbClr val="000000"/>
              </a:solidFill>
              <a:effectLst/>
              <a:uLnTx/>
              <a:uFillTx/>
              <a:latin typeface="Graphik"/>
              <a:ea typeface="+mn-ea"/>
              <a:cs typeface="+mn-cs"/>
            </a:endParaRPr>
          </a:p>
        </p:txBody>
      </p:sp>
      <p:sp>
        <p:nvSpPr>
          <p:cNvPr id="157" name="Oval 156">
            <a:extLst>
              <a:ext uri="{FF2B5EF4-FFF2-40B4-BE49-F238E27FC236}">
                <a16:creationId xmlns:a16="http://schemas.microsoft.com/office/drawing/2014/main" id="{19968113-474A-BE85-2CF9-0F39E3D9444D}"/>
              </a:ext>
            </a:extLst>
          </p:cNvPr>
          <p:cNvSpPr/>
          <p:nvPr/>
        </p:nvSpPr>
        <p:spPr>
          <a:xfrm>
            <a:off x="2926328" y="134025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8" name="Oval 157">
            <a:extLst>
              <a:ext uri="{FF2B5EF4-FFF2-40B4-BE49-F238E27FC236}">
                <a16:creationId xmlns:a16="http://schemas.microsoft.com/office/drawing/2014/main" id="{5DC709E4-E505-64AA-1F84-E9F2A4180019}"/>
              </a:ext>
            </a:extLst>
          </p:cNvPr>
          <p:cNvSpPr/>
          <p:nvPr/>
        </p:nvSpPr>
        <p:spPr>
          <a:xfrm>
            <a:off x="1211521" y="257779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59" name="Oval 158">
            <a:extLst>
              <a:ext uri="{FF2B5EF4-FFF2-40B4-BE49-F238E27FC236}">
                <a16:creationId xmlns:a16="http://schemas.microsoft.com/office/drawing/2014/main" id="{B8D438D3-13AB-0DEA-2CD3-6E87E844B89E}"/>
              </a:ext>
            </a:extLst>
          </p:cNvPr>
          <p:cNvSpPr/>
          <p:nvPr/>
        </p:nvSpPr>
        <p:spPr>
          <a:xfrm>
            <a:off x="2204616" y="3930564"/>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0" name="Oval 159">
            <a:extLst>
              <a:ext uri="{FF2B5EF4-FFF2-40B4-BE49-F238E27FC236}">
                <a16:creationId xmlns:a16="http://schemas.microsoft.com/office/drawing/2014/main" id="{80397A94-1D65-53C8-7ACB-C0D1119F4FA1}"/>
              </a:ext>
            </a:extLst>
          </p:cNvPr>
          <p:cNvSpPr/>
          <p:nvPr/>
        </p:nvSpPr>
        <p:spPr>
          <a:xfrm>
            <a:off x="7235378" y="191896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4</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161" name="Oval 160">
            <a:extLst>
              <a:ext uri="{FF2B5EF4-FFF2-40B4-BE49-F238E27FC236}">
                <a16:creationId xmlns:a16="http://schemas.microsoft.com/office/drawing/2014/main" id="{C8CD9078-4F1D-644E-7E40-D393753D3772}"/>
              </a:ext>
            </a:extLst>
          </p:cNvPr>
          <p:cNvSpPr/>
          <p:nvPr/>
        </p:nvSpPr>
        <p:spPr>
          <a:xfrm>
            <a:off x="893959" y="48410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5</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Tree>
    <p:extLst>
      <p:ext uri="{BB962C8B-B14F-4D97-AF65-F5344CB8AC3E}">
        <p14:creationId xmlns:p14="http://schemas.microsoft.com/office/powerpoint/2010/main" val="26798866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7471DEF-AA97-EDF5-8A1E-A4195AB586E5}"/>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4" name="Title 1">
            <a:extLst>
              <a:ext uri="{FF2B5EF4-FFF2-40B4-BE49-F238E27FC236}">
                <a16:creationId xmlns:a16="http://schemas.microsoft.com/office/drawing/2014/main" id="{EA2A44FF-0D31-D843-FC4E-2CAAEB298FB5}"/>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Casos de uso candidatos (II)</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5" name="Content Placeholder 34">
            <a:extLst>
              <a:ext uri="{FF2B5EF4-FFF2-40B4-BE49-F238E27FC236}">
                <a16:creationId xmlns:a16="http://schemas.microsoft.com/office/drawing/2014/main" id="{6974F5D9-21B8-CE5E-4BFF-45E9A28BD7F1}"/>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Procesamiento y entrega de datos: combinación de procesamiento por lotes y en tiempo real</a:t>
            </a:r>
          </a:p>
        </p:txBody>
      </p:sp>
      <p:sp>
        <p:nvSpPr>
          <p:cNvPr id="6" name="Rectangle 5">
            <a:extLst>
              <a:ext uri="{FF2B5EF4-FFF2-40B4-BE49-F238E27FC236}">
                <a16:creationId xmlns:a16="http://schemas.microsoft.com/office/drawing/2014/main" id="{0FED3087-EF75-42A5-FCB3-0069A00B1514}"/>
              </a:ext>
            </a:extLst>
          </p:cNvPr>
          <p:cNvSpPr/>
          <p:nvPr/>
        </p:nvSpPr>
        <p:spPr>
          <a:xfrm>
            <a:off x="165892" y="2012436"/>
            <a:ext cx="8224009" cy="3284218"/>
          </a:xfrm>
          <a:prstGeom prst="rect">
            <a:avLst/>
          </a:prstGeom>
          <a:solidFill>
            <a:srgbClr val="FFEAE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b"/>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900" b="1" i="0" u="none" strike="noStrike" kern="1200" cap="none" spc="0" normalizeH="0" baseline="0" noProof="0">
                <a:ln>
                  <a:noFill/>
                </a:ln>
                <a:solidFill>
                  <a:srgbClr val="000000"/>
                </a:solidFill>
                <a:effectLst/>
                <a:uLnTx/>
                <a:uFillTx/>
                <a:latin typeface="Graphik"/>
                <a:ea typeface="+mn-ea"/>
                <a:cs typeface="+mn-cs"/>
              </a:rPr>
              <a:t>Dominio de datos</a:t>
            </a:r>
          </a:p>
        </p:txBody>
      </p:sp>
      <p:sp>
        <p:nvSpPr>
          <p:cNvPr id="7" name="Flowchart: Magnetic Disk 6">
            <a:extLst>
              <a:ext uri="{FF2B5EF4-FFF2-40B4-BE49-F238E27FC236}">
                <a16:creationId xmlns:a16="http://schemas.microsoft.com/office/drawing/2014/main" id="{B1C13EDD-6EEE-01BF-7C04-F7B7426758C3}"/>
              </a:ext>
            </a:extLst>
          </p:cNvPr>
          <p:cNvSpPr/>
          <p:nvPr/>
        </p:nvSpPr>
        <p:spPr>
          <a:xfrm>
            <a:off x="315004" y="3730138"/>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 heredado</a:t>
            </a:r>
          </a:p>
        </p:txBody>
      </p:sp>
      <p:sp>
        <p:nvSpPr>
          <p:cNvPr id="8" name="Rectangle 7">
            <a:extLst>
              <a:ext uri="{FF2B5EF4-FFF2-40B4-BE49-F238E27FC236}">
                <a16:creationId xmlns:a16="http://schemas.microsoft.com/office/drawing/2014/main" id="{B08EB6FC-FCEC-6310-2095-A7DD0C624611}"/>
              </a:ext>
            </a:extLst>
          </p:cNvPr>
          <p:cNvSpPr/>
          <p:nvPr/>
        </p:nvSpPr>
        <p:spPr>
          <a:xfrm>
            <a:off x="1631664" y="3271555"/>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9" name="Straight Arrow Connector 8">
            <a:extLst>
              <a:ext uri="{FF2B5EF4-FFF2-40B4-BE49-F238E27FC236}">
                <a16:creationId xmlns:a16="http://schemas.microsoft.com/office/drawing/2014/main" id="{404270FA-9C44-58A4-3AFA-4F0FBD2F0E25}"/>
              </a:ext>
            </a:extLst>
          </p:cNvPr>
          <p:cNvCxnSpPr>
            <a:cxnSpLocks/>
            <a:stCxn id="7" idx="4"/>
            <a:endCxn id="8" idx="1"/>
          </p:cNvCxnSpPr>
          <p:nvPr/>
        </p:nvCxnSpPr>
        <p:spPr>
          <a:xfrm flipV="1">
            <a:off x="1240367" y="3735815"/>
            <a:ext cx="391297" cy="326661"/>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6AE05187-60B4-FCCE-576A-96515051C790}"/>
              </a:ext>
            </a:extLst>
          </p:cNvPr>
          <p:cNvSpPr/>
          <p:nvPr/>
        </p:nvSpPr>
        <p:spPr>
          <a:xfrm>
            <a:off x="1835825" y="332229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11" name="Rectangle 10">
            <a:extLst>
              <a:ext uri="{FF2B5EF4-FFF2-40B4-BE49-F238E27FC236}">
                <a16:creationId xmlns:a16="http://schemas.microsoft.com/office/drawing/2014/main" id="{2B709F9E-F597-2B97-1E81-88A6D060E831}"/>
              </a:ext>
            </a:extLst>
          </p:cNvPr>
          <p:cNvSpPr/>
          <p:nvPr/>
        </p:nvSpPr>
        <p:spPr>
          <a:xfrm>
            <a:off x="1835825" y="3539342"/>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Event Hub</a:t>
            </a:r>
          </a:p>
        </p:txBody>
      </p:sp>
      <p:sp>
        <p:nvSpPr>
          <p:cNvPr id="12" name="Rectangle 11">
            <a:extLst>
              <a:ext uri="{FF2B5EF4-FFF2-40B4-BE49-F238E27FC236}">
                <a16:creationId xmlns:a16="http://schemas.microsoft.com/office/drawing/2014/main" id="{CD2E5331-828A-0F09-1BE0-351296D55E74}"/>
              </a:ext>
            </a:extLst>
          </p:cNvPr>
          <p:cNvSpPr/>
          <p:nvPr/>
        </p:nvSpPr>
        <p:spPr>
          <a:xfrm>
            <a:off x="1835825" y="375639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13" name="Rectangle 12">
            <a:extLst>
              <a:ext uri="{FF2B5EF4-FFF2-40B4-BE49-F238E27FC236}">
                <a16:creationId xmlns:a16="http://schemas.microsoft.com/office/drawing/2014/main" id="{D52FF81F-7AE7-A9AD-1ED0-52F084C98459}"/>
              </a:ext>
            </a:extLst>
          </p:cNvPr>
          <p:cNvSpPr/>
          <p:nvPr/>
        </p:nvSpPr>
        <p:spPr>
          <a:xfrm>
            <a:off x="2926392" y="3362211"/>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4" name="Rectangle 13">
            <a:extLst>
              <a:ext uri="{FF2B5EF4-FFF2-40B4-BE49-F238E27FC236}">
                <a16:creationId xmlns:a16="http://schemas.microsoft.com/office/drawing/2014/main" id="{06286ED6-8020-DA3D-A973-F32B07482C97}"/>
              </a:ext>
            </a:extLst>
          </p:cNvPr>
          <p:cNvSpPr/>
          <p:nvPr/>
        </p:nvSpPr>
        <p:spPr>
          <a:xfrm>
            <a:off x="1835825" y="39734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cxnSp>
        <p:nvCxnSpPr>
          <p:cNvPr id="15" name="Straight Arrow Connector 14">
            <a:extLst>
              <a:ext uri="{FF2B5EF4-FFF2-40B4-BE49-F238E27FC236}">
                <a16:creationId xmlns:a16="http://schemas.microsoft.com/office/drawing/2014/main" id="{74BBB1CB-0264-143A-76A1-BF3169517122}"/>
              </a:ext>
            </a:extLst>
          </p:cNvPr>
          <p:cNvCxnSpPr>
            <a:cxnSpLocks/>
            <a:stCxn id="8" idx="3"/>
            <a:endCxn id="13" idx="1"/>
          </p:cNvCxnSpPr>
          <p:nvPr/>
        </p:nvCxnSpPr>
        <p:spPr>
          <a:xfrm flipV="1">
            <a:off x="2759987" y="3730138"/>
            <a:ext cx="166405" cy="5677"/>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CABFBEA5-99FF-E532-AE0C-31355CC9E38B}"/>
              </a:ext>
            </a:extLst>
          </p:cNvPr>
          <p:cNvSpPr/>
          <p:nvPr/>
        </p:nvSpPr>
        <p:spPr>
          <a:xfrm>
            <a:off x="213524" y="2602238"/>
            <a:ext cx="1128323" cy="972907"/>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7" name="Rectangle 16">
            <a:extLst>
              <a:ext uri="{FF2B5EF4-FFF2-40B4-BE49-F238E27FC236}">
                <a16:creationId xmlns:a16="http://schemas.microsoft.com/office/drawing/2014/main" id="{B67A5189-09EF-62A1-474E-8C5D75651407}"/>
              </a:ext>
            </a:extLst>
          </p:cNvPr>
          <p:cNvSpPr/>
          <p:nvPr/>
        </p:nvSpPr>
        <p:spPr>
          <a:xfrm>
            <a:off x="417685" y="26920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 REST</a:t>
            </a:r>
          </a:p>
        </p:txBody>
      </p:sp>
      <p:sp>
        <p:nvSpPr>
          <p:cNvPr id="18" name="Rectangle 17">
            <a:extLst>
              <a:ext uri="{FF2B5EF4-FFF2-40B4-BE49-F238E27FC236}">
                <a16:creationId xmlns:a16="http://schemas.microsoft.com/office/drawing/2014/main" id="{C2C52CBB-A646-2123-7948-F1DC94884545}"/>
              </a:ext>
            </a:extLst>
          </p:cNvPr>
          <p:cNvSpPr/>
          <p:nvPr/>
        </p:nvSpPr>
        <p:spPr>
          <a:xfrm>
            <a:off x="417685" y="289423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a:t>
            </a:r>
          </a:p>
        </p:txBody>
      </p:sp>
      <p:sp>
        <p:nvSpPr>
          <p:cNvPr id="19" name="Rectangle 18">
            <a:extLst>
              <a:ext uri="{FF2B5EF4-FFF2-40B4-BE49-F238E27FC236}">
                <a16:creationId xmlns:a16="http://schemas.microsoft.com/office/drawing/2014/main" id="{A96563C8-8A1F-1DF7-E7E0-9A52D6D49A3A}"/>
              </a:ext>
            </a:extLst>
          </p:cNvPr>
          <p:cNvSpPr/>
          <p:nvPr/>
        </p:nvSpPr>
        <p:spPr>
          <a:xfrm>
            <a:off x="417685" y="309642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WebHook</a:t>
            </a:r>
            <a:endParaRPr kumimoji="0" lang="en-US" sz="900" b="0" i="0" u="none" strike="noStrike" kern="1200" cap="none" spc="0" normalizeH="0" baseline="0" noProof="0">
              <a:ln>
                <a:noFill/>
              </a:ln>
              <a:solidFill>
                <a:srgbClr val="000000"/>
              </a:solidFill>
              <a:effectLst/>
              <a:uLnTx/>
              <a:uFillTx/>
              <a:latin typeface="Graphik"/>
              <a:ea typeface="+mn-ea"/>
              <a:cs typeface="+mn-cs"/>
            </a:endParaRPr>
          </a:p>
        </p:txBody>
      </p:sp>
      <p:cxnSp>
        <p:nvCxnSpPr>
          <p:cNvPr id="20" name="Straight Arrow Connector 19">
            <a:extLst>
              <a:ext uri="{FF2B5EF4-FFF2-40B4-BE49-F238E27FC236}">
                <a16:creationId xmlns:a16="http://schemas.microsoft.com/office/drawing/2014/main" id="{5B193548-6F39-43B4-70C6-6BB9E9554538}"/>
              </a:ext>
            </a:extLst>
          </p:cNvPr>
          <p:cNvCxnSpPr>
            <a:cxnSpLocks/>
            <a:stCxn id="16" idx="3"/>
            <a:endCxn id="8" idx="1"/>
          </p:cNvCxnSpPr>
          <p:nvPr/>
        </p:nvCxnSpPr>
        <p:spPr>
          <a:xfrm>
            <a:off x="1341847" y="3088692"/>
            <a:ext cx="289817" cy="64712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B21CDF4-BC3A-BF88-745D-95C55BDFFE1A}"/>
              </a:ext>
            </a:extLst>
          </p:cNvPr>
          <p:cNvSpPr txBox="1"/>
          <p:nvPr/>
        </p:nvSpPr>
        <p:spPr>
          <a:xfrm>
            <a:off x="129416" y="2372216"/>
            <a:ext cx="1296538" cy="151297"/>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Fuente externa</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sp>
        <p:nvSpPr>
          <p:cNvPr id="22" name="Flowchart: Magnetic Disk 21">
            <a:extLst>
              <a:ext uri="{FF2B5EF4-FFF2-40B4-BE49-F238E27FC236}">
                <a16:creationId xmlns:a16="http://schemas.microsoft.com/office/drawing/2014/main" id="{E2A9B34E-32CE-D0C0-5DE1-18B58B21C518}"/>
              </a:ext>
            </a:extLst>
          </p:cNvPr>
          <p:cNvSpPr/>
          <p:nvPr/>
        </p:nvSpPr>
        <p:spPr>
          <a:xfrm>
            <a:off x="481669" y="3298617"/>
            <a:ext cx="592033" cy="219570"/>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DBs</a:t>
            </a:r>
          </a:p>
        </p:txBody>
      </p:sp>
      <p:sp>
        <p:nvSpPr>
          <p:cNvPr id="23" name="Rectangle 22">
            <a:extLst>
              <a:ext uri="{FF2B5EF4-FFF2-40B4-BE49-F238E27FC236}">
                <a16:creationId xmlns:a16="http://schemas.microsoft.com/office/drawing/2014/main" id="{C4E07D64-12B9-0ABC-A874-9EF3EDE1720D}"/>
              </a:ext>
            </a:extLst>
          </p:cNvPr>
          <p:cNvSpPr/>
          <p:nvPr/>
        </p:nvSpPr>
        <p:spPr>
          <a:xfrm>
            <a:off x="3141558" y="343414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 sz="900" dirty="0">
                <a:solidFill>
                  <a:srgbClr val="000000"/>
                </a:solidFill>
                <a:latin typeface="Graphik"/>
              </a:rPr>
              <a:t>Dataset</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4" name="Rectangle 23">
            <a:extLst>
              <a:ext uri="{FF2B5EF4-FFF2-40B4-BE49-F238E27FC236}">
                <a16:creationId xmlns:a16="http://schemas.microsoft.com/office/drawing/2014/main" id="{6F6B3C26-C11A-9783-DB35-5686F502F6CB}"/>
              </a:ext>
            </a:extLst>
          </p:cNvPr>
          <p:cNvSpPr/>
          <p:nvPr/>
        </p:nvSpPr>
        <p:spPr>
          <a:xfrm>
            <a:off x="3141558" y="3654545"/>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CSV</a:t>
            </a:r>
          </a:p>
        </p:txBody>
      </p:sp>
      <p:sp>
        <p:nvSpPr>
          <p:cNvPr id="25" name="Rectangle 24">
            <a:extLst>
              <a:ext uri="{FF2B5EF4-FFF2-40B4-BE49-F238E27FC236}">
                <a16:creationId xmlns:a16="http://schemas.microsoft.com/office/drawing/2014/main" id="{BDB0FDC0-265C-4975-3E4E-C16CD28F5A1C}"/>
              </a:ext>
            </a:extLst>
          </p:cNvPr>
          <p:cNvSpPr/>
          <p:nvPr/>
        </p:nvSpPr>
        <p:spPr>
          <a:xfrm>
            <a:off x="3141558" y="38749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JSON</a:t>
            </a:r>
          </a:p>
        </p:txBody>
      </p:sp>
      <p:sp>
        <p:nvSpPr>
          <p:cNvPr id="26" name="TextBox 25">
            <a:extLst>
              <a:ext uri="{FF2B5EF4-FFF2-40B4-BE49-F238E27FC236}">
                <a16:creationId xmlns:a16="http://schemas.microsoft.com/office/drawing/2014/main" id="{6A8374EF-09CF-D361-247C-5A0C18C6B4BD}"/>
              </a:ext>
            </a:extLst>
          </p:cNvPr>
          <p:cNvSpPr txBox="1"/>
          <p:nvPr/>
        </p:nvSpPr>
        <p:spPr>
          <a:xfrm>
            <a:off x="3008503" y="4123200"/>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1050" b="0" i="0" u="none" strike="noStrike" kern="1200" cap="none" spc="0" normalizeH="0" baseline="0" noProof="0" err="1">
                <a:ln>
                  <a:noFill/>
                </a:ln>
                <a:solidFill>
                  <a:srgbClr val="000000"/>
                </a:solidFill>
                <a:effectLst/>
                <a:uLnTx/>
                <a:uFillTx/>
                <a:latin typeface="Graphik"/>
                <a:ea typeface="+mn-ea"/>
                <a:cs typeface="+mn-cs"/>
              </a:rPr>
              <a:t>Datalake</a:t>
            </a:r>
            <a:endParaRPr kumimoji="0" lang="es-MX" sz="1050" b="0" i="0" u="none" strike="noStrike" kern="1200" cap="none" spc="0" normalizeH="0" baseline="0" noProof="0">
              <a:ln>
                <a:noFill/>
              </a:ln>
              <a:solidFill>
                <a:srgbClr val="000000"/>
              </a:solidFill>
              <a:effectLst/>
              <a:uLnTx/>
              <a:uFillTx/>
              <a:latin typeface="Graphik"/>
              <a:ea typeface="+mn-ea"/>
              <a:cs typeface="+mn-cs"/>
            </a:endParaRPr>
          </a:p>
        </p:txBody>
      </p:sp>
      <p:cxnSp>
        <p:nvCxnSpPr>
          <p:cNvPr id="27" name="Straight Arrow Connector 26">
            <a:extLst>
              <a:ext uri="{FF2B5EF4-FFF2-40B4-BE49-F238E27FC236}">
                <a16:creationId xmlns:a16="http://schemas.microsoft.com/office/drawing/2014/main" id="{1C35EFDF-119F-EFE7-F39A-E1BE2EAD3C37}"/>
              </a:ext>
            </a:extLst>
          </p:cNvPr>
          <p:cNvCxnSpPr>
            <a:cxnSpLocks/>
            <a:stCxn id="13" idx="3"/>
            <a:endCxn id="40" idx="1"/>
          </p:cNvCxnSpPr>
          <p:nvPr/>
        </p:nvCxnSpPr>
        <p:spPr>
          <a:xfrm flipV="1">
            <a:off x="4012401" y="3729322"/>
            <a:ext cx="306244" cy="816"/>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8895CCD4-B02E-1F1C-FB9B-2CD84084E5B1}"/>
              </a:ext>
            </a:extLst>
          </p:cNvPr>
          <p:cNvSpPr/>
          <p:nvPr/>
        </p:nvSpPr>
        <p:spPr>
          <a:xfrm>
            <a:off x="6989376" y="3088692"/>
            <a:ext cx="1239753" cy="884749"/>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29" name="Straight Arrow Connector 28">
            <a:extLst>
              <a:ext uri="{FF2B5EF4-FFF2-40B4-BE49-F238E27FC236}">
                <a16:creationId xmlns:a16="http://schemas.microsoft.com/office/drawing/2014/main" id="{6275B1DB-AC9E-D828-1376-EC9A87166DDE}"/>
              </a:ext>
            </a:extLst>
          </p:cNvPr>
          <p:cNvCxnSpPr>
            <a:cxnSpLocks/>
            <a:stCxn id="45" idx="3"/>
            <a:endCxn id="28" idx="1"/>
          </p:cNvCxnSpPr>
          <p:nvPr/>
        </p:nvCxnSpPr>
        <p:spPr>
          <a:xfrm flipV="1">
            <a:off x="6749468" y="3531067"/>
            <a:ext cx="239908" cy="202173"/>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8742D5D-E093-18FE-8C5E-5EB961F09ED1}"/>
              </a:ext>
            </a:extLst>
          </p:cNvPr>
          <p:cNvSpPr/>
          <p:nvPr/>
        </p:nvSpPr>
        <p:spPr>
          <a:xfrm>
            <a:off x="7054057" y="3155586"/>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err="1">
                <a:ln>
                  <a:noFill/>
                </a:ln>
                <a:solidFill>
                  <a:srgbClr val="000000"/>
                </a:solidFill>
                <a:effectLst/>
                <a:uLnTx/>
                <a:uFillTx/>
                <a:latin typeface="Graphik"/>
                <a:ea typeface="+mn-ea"/>
                <a:cs typeface="+mn-cs"/>
              </a:rPr>
              <a:t>DataVirtualization </a:t>
            </a:r>
          </a:p>
        </p:txBody>
      </p:sp>
      <p:sp>
        <p:nvSpPr>
          <p:cNvPr id="31" name="Rectangle 30">
            <a:extLst>
              <a:ext uri="{FF2B5EF4-FFF2-40B4-BE49-F238E27FC236}">
                <a16:creationId xmlns:a16="http://schemas.microsoft.com/office/drawing/2014/main" id="{4F67422E-D299-F2C9-E05A-C292934D2547}"/>
              </a:ext>
            </a:extLst>
          </p:cNvPr>
          <p:cNvSpPr/>
          <p:nvPr/>
        </p:nvSpPr>
        <p:spPr>
          <a:xfrm>
            <a:off x="7054057" y="3355854"/>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Catálogos</a:t>
            </a:r>
          </a:p>
        </p:txBody>
      </p:sp>
      <p:sp>
        <p:nvSpPr>
          <p:cNvPr id="32" name="Rectangle 31">
            <a:extLst>
              <a:ext uri="{FF2B5EF4-FFF2-40B4-BE49-F238E27FC236}">
                <a16:creationId xmlns:a16="http://schemas.microsoft.com/office/drawing/2014/main" id="{182EBE97-5B3A-AC08-5A01-E9B7BC7F466F}"/>
              </a:ext>
            </a:extLst>
          </p:cNvPr>
          <p:cNvSpPr/>
          <p:nvPr/>
        </p:nvSpPr>
        <p:spPr>
          <a:xfrm>
            <a:off x="7094767" y="451580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a:t>
            </a:r>
          </a:p>
        </p:txBody>
      </p:sp>
      <p:cxnSp>
        <p:nvCxnSpPr>
          <p:cNvPr id="33" name="Straight Arrow Connector 32">
            <a:extLst>
              <a:ext uri="{FF2B5EF4-FFF2-40B4-BE49-F238E27FC236}">
                <a16:creationId xmlns:a16="http://schemas.microsoft.com/office/drawing/2014/main" id="{A3578F67-27E8-3742-3E96-266125EE2831}"/>
              </a:ext>
            </a:extLst>
          </p:cNvPr>
          <p:cNvCxnSpPr>
            <a:cxnSpLocks/>
            <a:stCxn id="45" idx="3"/>
            <a:endCxn id="32" idx="1"/>
          </p:cNvCxnSpPr>
          <p:nvPr/>
        </p:nvCxnSpPr>
        <p:spPr>
          <a:xfrm>
            <a:off x="6749468" y="3733240"/>
            <a:ext cx="345299" cy="854562"/>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FE2D0944-FDCF-1311-9542-9F02353AB002}"/>
              </a:ext>
            </a:extLst>
          </p:cNvPr>
          <p:cNvSpPr/>
          <p:nvPr/>
        </p:nvSpPr>
        <p:spPr>
          <a:xfrm>
            <a:off x="7054057" y="3556122"/>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Calidad</a:t>
            </a:r>
          </a:p>
        </p:txBody>
      </p:sp>
      <p:sp>
        <p:nvSpPr>
          <p:cNvPr id="35" name="Rectangle 34">
            <a:extLst>
              <a:ext uri="{FF2B5EF4-FFF2-40B4-BE49-F238E27FC236}">
                <a16:creationId xmlns:a16="http://schemas.microsoft.com/office/drawing/2014/main" id="{D8AFA4EF-3C5C-D860-9AAE-1773C65EE581}"/>
              </a:ext>
            </a:extLst>
          </p:cNvPr>
          <p:cNvSpPr/>
          <p:nvPr/>
        </p:nvSpPr>
        <p:spPr>
          <a:xfrm>
            <a:off x="7054057" y="3756391"/>
            <a:ext cx="108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a:t>
            </a:r>
          </a:p>
        </p:txBody>
      </p:sp>
      <p:sp>
        <p:nvSpPr>
          <p:cNvPr id="36" name="Rectangle 35">
            <a:extLst>
              <a:ext uri="{FF2B5EF4-FFF2-40B4-BE49-F238E27FC236}">
                <a16:creationId xmlns:a16="http://schemas.microsoft.com/office/drawing/2014/main" id="{1CCD7F36-A579-6872-3768-4D345F3C5A91}"/>
              </a:ext>
            </a:extLst>
          </p:cNvPr>
          <p:cNvSpPr/>
          <p:nvPr/>
        </p:nvSpPr>
        <p:spPr>
          <a:xfrm>
            <a:off x="2816663" y="2490856"/>
            <a:ext cx="1305245" cy="277036"/>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Transmisión de datos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37" name="Straight Arrow Connector 36">
            <a:extLst>
              <a:ext uri="{FF2B5EF4-FFF2-40B4-BE49-F238E27FC236}">
                <a16:creationId xmlns:a16="http://schemas.microsoft.com/office/drawing/2014/main" id="{01C4E352-14BC-EDDE-7350-95052784EAC5}"/>
              </a:ext>
            </a:extLst>
          </p:cNvPr>
          <p:cNvCxnSpPr>
            <a:cxnSpLocks/>
            <a:stCxn id="36" idx="2"/>
            <a:endCxn id="13" idx="0"/>
          </p:cNvCxnSpPr>
          <p:nvPr/>
        </p:nvCxnSpPr>
        <p:spPr>
          <a:xfrm>
            <a:off x="3469286" y="2767892"/>
            <a:ext cx="111" cy="594319"/>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Magnetic Disk 37">
            <a:extLst>
              <a:ext uri="{FF2B5EF4-FFF2-40B4-BE49-F238E27FC236}">
                <a16:creationId xmlns:a16="http://schemas.microsoft.com/office/drawing/2014/main" id="{B6FA50F1-105D-BBA5-068B-425FBEB50FFA}"/>
              </a:ext>
            </a:extLst>
          </p:cNvPr>
          <p:cNvSpPr/>
          <p:nvPr/>
        </p:nvSpPr>
        <p:spPr>
          <a:xfrm>
            <a:off x="315004" y="4491971"/>
            <a:ext cx="925363" cy="664675"/>
          </a:xfrm>
          <a:prstGeom prst="flowChartMagneticDisk">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Base de datos transaccional</a:t>
            </a:r>
          </a:p>
        </p:txBody>
      </p:sp>
      <p:cxnSp>
        <p:nvCxnSpPr>
          <p:cNvPr id="39" name="Straight Arrow Connector 38">
            <a:extLst>
              <a:ext uri="{FF2B5EF4-FFF2-40B4-BE49-F238E27FC236}">
                <a16:creationId xmlns:a16="http://schemas.microsoft.com/office/drawing/2014/main" id="{858C85D0-004F-084F-228A-B9B4CAEFC0E5}"/>
              </a:ext>
            </a:extLst>
          </p:cNvPr>
          <p:cNvCxnSpPr>
            <a:cxnSpLocks/>
            <a:stCxn id="38" idx="4"/>
            <a:endCxn id="8" idx="1"/>
          </p:cNvCxnSpPr>
          <p:nvPr/>
        </p:nvCxnSpPr>
        <p:spPr>
          <a:xfrm flipV="1">
            <a:off x="1240367" y="3735815"/>
            <a:ext cx="391297" cy="1088494"/>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8EDD9F5F-8413-7A9B-6C80-B31F0A7DA82F}"/>
              </a:ext>
            </a:extLst>
          </p:cNvPr>
          <p:cNvSpPr/>
          <p:nvPr/>
        </p:nvSpPr>
        <p:spPr>
          <a:xfrm>
            <a:off x="4318645" y="3265062"/>
            <a:ext cx="1128323" cy="928520"/>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1" name="Rectangle 40">
            <a:extLst>
              <a:ext uri="{FF2B5EF4-FFF2-40B4-BE49-F238E27FC236}">
                <a16:creationId xmlns:a16="http://schemas.microsoft.com/office/drawing/2014/main" id="{89696BDB-20A1-3BB5-BA3C-223F667B455C}"/>
              </a:ext>
            </a:extLst>
          </p:cNvPr>
          <p:cNvSpPr/>
          <p:nvPr/>
        </p:nvSpPr>
        <p:spPr>
          <a:xfrm>
            <a:off x="4522806" y="3315800"/>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Cron Jobs</a:t>
            </a:r>
          </a:p>
        </p:txBody>
      </p:sp>
      <p:sp>
        <p:nvSpPr>
          <p:cNvPr id="42" name="Rectangle 41">
            <a:extLst>
              <a:ext uri="{FF2B5EF4-FFF2-40B4-BE49-F238E27FC236}">
                <a16:creationId xmlns:a16="http://schemas.microsoft.com/office/drawing/2014/main" id="{A519E6F2-49B7-AC6B-0690-F74DDB6FD81C}"/>
              </a:ext>
            </a:extLst>
          </p:cNvPr>
          <p:cNvSpPr/>
          <p:nvPr/>
        </p:nvSpPr>
        <p:spPr>
          <a:xfrm>
            <a:off x="4522806" y="3532849"/>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Hevent Hub</a:t>
            </a:r>
          </a:p>
        </p:txBody>
      </p:sp>
      <p:sp>
        <p:nvSpPr>
          <p:cNvPr id="43" name="Rectangle 42">
            <a:extLst>
              <a:ext uri="{FF2B5EF4-FFF2-40B4-BE49-F238E27FC236}">
                <a16:creationId xmlns:a16="http://schemas.microsoft.com/office/drawing/2014/main" id="{C52FE58B-F48E-138A-C114-C419AD49F556}"/>
              </a:ext>
            </a:extLst>
          </p:cNvPr>
          <p:cNvSpPr/>
          <p:nvPr/>
        </p:nvSpPr>
        <p:spPr>
          <a:xfrm>
            <a:off x="4522806" y="374989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a:t>
            </a:r>
          </a:p>
        </p:txBody>
      </p:sp>
      <p:sp>
        <p:nvSpPr>
          <p:cNvPr id="44" name="Rectangle 43">
            <a:extLst>
              <a:ext uri="{FF2B5EF4-FFF2-40B4-BE49-F238E27FC236}">
                <a16:creationId xmlns:a16="http://schemas.microsoft.com/office/drawing/2014/main" id="{77F05322-6F1A-E10B-9FA0-0330F21B2C5A}"/>
              </a:ext>
            </a:extLst>
          </p:cNvPr>
          <p:cNvSpPr/>
          <p:nvPr/>
        </p:nvSpPr>
        <p:spPr>
          <a:xfrm>
            <a:off x="4522806" y="3966948"/>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IA/ML</a:t>
            </a:r>
          </a:p>
        </p:txBody>
      </p:sp>
      <p:sp>
        <p:nvSpPr>
          <p:cNvPr id="45" name="Rectangle 44">
            <a:extLst>
              <a:ext uri="{FF2B5EF4-FFF2-40B4-BE49-F238E27FC236}">
                <a16:creationId xmlns:a16="http://schemas.microsoft.com/office/drawing/2014/main" id="{34E50DD4-229B-D19E-898C-D727DA187170}"/>
              </a:ext>
            </a:extLst>
          </p:cNvPr>
          <p:cNvSpPr/>
          <p:nvPr/>
        </p:nvSpPr>
        <p:spPr>
          <a:xfrm>
            <a:off x="5663459" y="3365313"/>
            <a:ext cx="1086009" cy="735853"/>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46" name="Rectangle 45">
            <a:extLst>
              <a:ext uri="{FF2B5EF4-FFF2-40B4-BE49-F238E27FC236}">
                <a16:creationId xmlns:a16="http://schemas.microsoft.com/office/drawing/2014/main" id="{B3F0576B-D2CE-AFEE-D07D-3F2B73538471}"/>
              </a:ext>
            </a:extLst>
          </p:cNvPr>
          <p:cNvSpPr/>
          <p:nvPr/>
        </p:nvSpPr>
        <p:spPr>
          <a:xfrm>
            <a:off x="5878625" y="3437243"/>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Dataset</a:t>
            </a:r>
          </a:p>
        </p:txBody>
      </p:sp>
      <p:sp>
        <p:nvSpPr>
          <p:cNvPr id="47" name="Rectangle 46">
            <a:extLst>
              <a:ext uri="{FF2B5EF4-FFF2-40B4-BE49-F238E27FC236}">
                <a16:creationId xmlns:a16="http://schemas.microsoft.com/office/drawing/2014/main" id="{6FDF67BB-D007-498F-EF89-768DF89C9310}"/>
              </a:ext>
            </a:extLst>
          </p:cNvPr>
          <p:cNvSpPr/>
          <p:nvPr/>
        </p:nvSpPr>
        <p:spPr>
          <a:xfrm>
            <a:off x="5878625" y="3657647"/>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8" name="Rectangle 47">
            <a:extLst>
              <a:ext uri="{FF2B5EF4-FFF2-40B4-BE49-F238E27FC236}">
                <a16:creationId xmlns:a16="http://schemas.microsoft.com/office/drawing/2014/main" id="{B5721B29-2A52-A8F7-AF7E-FD33D01C385C}"/>
              </a:ext>
            </a:extLst>
          </p:cNvPr>
          <p:cNvSpPr/>
          <p:nvPr/>
        </p:nvSpPr>
        <p:spPr>
          <a:xfrm>
            <a:off x="5878625" y="3878051"/>
            <a:ext cx="720000" cy="144000"/>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defRPr/>
            </a:pPr>
            <a:r>
              <a:rPr lang="es" sz="900" dirty="0">
                <a:solidFill>
                  <a:srgbClr val="000000"/>
                </a:solidFill>
              </a:rPr>
              <a:t>Dataset</a:t>
            </a:r>
          </a:p>
        </p:txBody>
      </p:sp>
      <p:sp>
        <p:nvSpPr>
          <p:cNvPr id="49" name="TextBox 48">
            <a:extLst>
              <a:ext uri="{FF2B5EF4-FFF2-40B4-BE49-F238E27FC236}">
                <a16:creationId xmlns:a16="http://schemas.microsoft.com/office/drawing/2014/main" id="{3A6223D8-116B-E509-EA8B-F9E619541339}"/>
              </a:ext>
            </a:extLst>
          </p:cNvPr>
          <p:cNvSpPr txBox="1"/>
          <p:nvPr/>
        </p:nvSpPr>
        <p:spPr>
          <a:xfrm>
            <a:off x="5745570" y="4126302"/>
            <a:ext cx="986110" cy="251805"/>
          </a:xfrm>
          <a:prstGeom prst="rect">
            <a:avLst/>
          </a:prstGeom>
          <a:noFill/>
        </p:spPr>
        <p:txBody>
          <a:bodyPr wrap="square" lIns="0" tIns="0" rIns="0" bIns="0" rtlCol="0">
            <a:noAutofit/>
          </a:bodyPr>
          <a:lstStyle>
            <a:defPPr>
              <a:defRPr lang="en-US"/>
            </a:defPPr>
            <a:lvl1pPr algn="ctr" defTabSz="228600">
              <a:spcAft>
                <a:spcPts val="1200"/>
              </a:spcAft>
              <a:defRPr sz="1050"/>
            </a:lvl1p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ES" sz="1050" b="0" i="0" u="none" strike="noStrike" kern="1200" cap="none" spc="0" normalizeH="0" baseline="0" noProof="0" dirty="0">
                <a:ln>
                  <a:noFill/>
                </a:ln>
                <a:solidFill>
                  <a:srgbClr val="000000"/>
                </a:solidFill>
                <a:effectLst/>
                <a:uLnTx/>
                <a:uFillTx/>
                <a:latin typeface="Graphik"/>
                <a:ea typeface="+mn-ea"/>
                <a:cs typeface="+mn-cs"/>
              </a:rPr>
              <a:t>Data </a:t>
            </a:r>
            <a:r>
              <a:rPr kumimoji="0" lang="es-ES" sz="1050" b="0" i="0" u="none" strike="noStrike" kern="1200" cap="none" spc="0" normalizeH="0" baseline="0" noProof="0" dirty="0" err="1">
                <a:ln>
                  <a:noFill/>
                </a:ln>
                <a:solidFill>
                  <a:srgbClr val="000000"/>
                </a:solidFill>
                <a:effectLst/>
                <a:uLnTx/>
                <a:uFillTx/>
                <a:latin typeface="Graphik"/>
                <a:ea typeface="+mn-ea"/>
                <a:cs typeface="+mn-cs"/>
              </a:rPr>
              <a:t>Warehouse</a:t>
            </a:r>
            <a:endParaRPr kumimoji="0" lang="es-ES" sz="1050" b="0" i="0" u="none" strike="noStrike" kern="1200" cap="none" spc="0" normalizeH="0" baseline="0" noProof="0" dirty="0">
              <a:ln>
                <a:noFill/>
              </a:ln>
              <a:solidFill>
                <a:srgbClr val="000000"/>
              </a:solidFill>
              <a:effectLst/>
              <a:uLnTx/>
              <a:uFillTx/>
              <a:latin typeface="Graphik"/>
              <a:ea typeface="+mn-ea"/>
              <a:cs typeface="+mn-cs"/>
            </a:endParaRPr>
          </a:p>
        </p:txBody>
      </p:sp>
      <p:cxnSp>
        <p:nvCxnSpPr>
          <p:cNvPr id="50" name="Straight Arrow Connector 49">
            <a:extLst>
              <a:ext uri="{FF2B5EF4-FFF2-40B4-BE49-F238E27FC236}">
                <a16:creationId xmlns:a16="http://schemas.microsoft.com/office/drawing/2014/main" id="{D5B33141-B3EA-DA6A-F6E6-72D5BD5CD3E2}"/>
              </a:ext>
            </a:extLst>
          </p:cNvPr>
          <p:cNvCxnSpPr>
            <a:cxnSpLocks/>
            <a:stCxn id="40" idx="3"/>
            <a:endCxn id="45" idx="1"/>
          </p:cNvCxnSpPr>
          <p:nvPr/>
        </p:nvCxnSpPr>
        <p:spPr>
          <a:xfrm>
            <a:off x="5446968" y="3729322"/>
            <a:ext cx="216491" cy="391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A212A922-824F-B4CC-1CB6-16C3E788CD2D}"/>
              </a:ext>
            </a:extLst>
          </p:cNvPr>
          <p:cNvSpPr txBox="1"/>
          <p:nvPr/>
        </p:nvSpPr>
        <p:spPr>
          <a:xfrm>
            <a:off x="8621415" y="1745177"/>
            <a:ext cx="3469520" cy="3531673"/>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También se propone ilustrar las pipelines de procesamiento de datos en el Dominio de Datos: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Ingestión de datos de diferentes fuentes internas y externas a distintas velocidades</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Procesamiento de datos para diferentes fines: actualización de datos, agregación de datos, curación, exposición de datos para consumo transaccional...</a:t>
            </a:r>
          </a:p>
          <a:p>
            <a:pPr marL="228600" marR="0" lvl="0" indent="-228600" algn="l" defTabSz="228600" rtl="0" eaLnBrk="1" fontAlgn="auto" latinLnBrk="0" hangingPunct="1">
              <a:lnSpc>
                <a:spcPct val="100000"/>
              </a:lnSpc>
              <a:spcBef>
                <a:spcPts val="0"/>
              </a:spcBef>
              <a:spcAft>
                <a:spcPts val="600"/>
              </a:spcAft>
              <a:buClrTx/>
              <a:buSzTx/>
              <a:buFont typeface="+mj-lt"/>
              <a:buAutoNum type="arabicPeriod"/>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Exposición de los datos a consumir de forma síncrona o asíncrona por los motores transaccionales</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Estas interacciones requieren la aplicación de patrones de </a:t>
            </a:r>
            <a:r>
              <a:rPr kumimoji="0" lang="es" sz="1100" b="1" i="0" u="none" strike="noStrike" kern="1200" cap="none" spc="0" normalizeH="0" baseline="0" noProof="0" dirty="0">
                <a:ln>
                  <a:noFill/>
                </a:ln>
                <a:solidFill>
                  <a:srgbClr val="000000"/>
                </a:solidFill>
                <a:effectLst/>
                <a:uLnTx/>
                <a:uFillTx/>
                <a:latin typeface="Graphik"/>
                <a:ea typeface="+mn-ea"/>
                <a:cs typeface="+mn-cs"/>
              </a:rPr>
              <a:t>integración de datos </a:t>
            </a:r>
            <a:r>
              <a:rPr kumimoji="0" lang="es" sz="1100" b="0" i="0" u="none" strike="noStrike" kern="1200" cap="none" spc="0" normalizeH="0" baseline="0" noProof="0" dirty="0">
                <a:ln>
                  <a:noFill/>
                </a:ln>
                <a:solidFill>
                  <a:srgbClr val="000000"/>
                </a:solidFill>
                <a:effectLst/>
                <a:uLnTx/>
                <a:uFillTx/>
                <a:latin typeface="Graphik"/>
                <a:ea typeface="+mn-ea"/>
                <a:cs typeface="+mn-cs"/>
              </a:rPr>
              <a:t>como CDC, CQRS, Event Sourcing o Lambda/Kappa.</a:t>
            </a:r>
          </a:p>
          <a:p>
            <a:pPr marL="0" marR="0" lvl="0" indent="0" algn="l" defTabSz="228600" rtl="0" eaLnBrk="1" fontAlgn="auto" latinLnBrk="0" hangingPunct="1">
              <a:lnSpc>
                <a:spcPct val="100000"/>
              </a:lnSpc>
              <a:spcBef>
                <a:spcPts val="0"/>
              </a:spcBef>
              <a:spcAft>
                <a:spcPts val="60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Tx/>
              <a:buNone/>
              <a:tabLst/>
              <a:defRPr/>
            </a:pPr>
            <a:r>
              <a:rPr kumimoji="0" lang="es" sz="1100" b="0" i="0" u="none" strike="noStrike" kern="1200" cap="none" spc="0" normalizeH="0" baseline="0" noProof="0" dirty="0">
                <a:ln>
                  <a:noFill/>
                </a:ln>
                <a:solidFill>
                  <a:srgbClr val="000000"/>
                </a:solidFill>
                <a:effectLst/>
                <a:uLnTx/>
                <a:uFillTx/>
                <a:latin typeface="Graphik"/>
                <a:ea typeface="+mn-ea"/>
                <a:cs typeface="+mn-cs"/>
              </a:rPr>
              <a:t>Durante el ejercicio, se prototiparán pipelines seleccionados en el contexto de casos de uso bancarios</a:t>
            </a:r>
          </a:p>
          <a:p>
            <a:pPr marL="171450" marR="0" lvl="0" indent="-171450" algn="l" defTabSz="2286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a:p>
            <a:pPr marL="171450" marR="0" lvl="0" indent="-171450" algn="l" defTabSz="228600" rtl="0" eaLnBrk="1" fontAlgn="auto" latinLnBrk="0" hangingPunct="1">
              <a:lnSpc>
                <a:spcPct val="100000"/>
              </a:lnSpc>
              <a:spcBef>
                <a:spcPts val="0"/>
              </a:spcBef>
              <a:spcAft>
                <a:spcPts val="120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000000"/>
              </a:solidFill>
              <a:effectLst/>
              <a:uLnTx/>
              <a:uFillTx/>
              <a:latin typeface="Graphik"/>
              <a:ea typeface="+mn-ea"/>
              <a:cs typeface="+mn-cs"/>
            </a:endParaRPr>
          </a:p>
        </p:txBody>
      </p:sp>
      <p:sp>
        <p:nvSpPr>
          <p:cNvPr id="52" name="Oval 51">
            <a:extLst>
              <a:ext uri="{FF2B5EF4-FFF2-40B4-BE49-F238E27FC236}">
                <a16:creationId xmlns:a16="http://schemas.microsoft.com/office/drawing/2014/main" id="{7E830CCE-739E-C53F-74FB-B72E70A2F81A}"/>
              </a:ext>
            </a:extLst>
          </p:cNvPr>
          <p:cNvSpPr/>
          <p:nvPr/>
        </p:nvSpPr>
        <p:spPr>
          <a:xfrm>
            <a:off x="1537223" y="3311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3" name="Oval 52">
            <a:extLst>
              <a:ext uri="{FF2B5EF4-FFF2-40B4-BE49-F238E27FC236}">
                <a16:creationId xmlns:a16="http://schemas.microsoft.com/office/drawing/2014/main" id="{06CA6558-D5F6-AA18-E24E-5C6EA81CFF7C}"/>
              </a:ext>
            </a:extLst>
          </p:cNvPr>
          <p:cNvSpPr/>
          <p:nvPr/>
        </p:nvSpPr>
        <p:spPr>
          <a:xfrm>
            <a:off x="5470876" y="3419598"/>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2</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4" name="Oval 53">
            <a:extLst>
              <a:ext uri="{FF2B5EF4-FFF2-40B4-BE49-F238E27FC236}">
                <a16:creationId xmlns:a16="http://schemas.microsoft.com/office/drawing/2014/main" id="{6E93147E-3399-A967-2DA9-E66BD815F401}"/>
              </a:ext>
            </a:extLst>
          </p:cNvPr>
          <p:cNvSpPr/>
          <p:nvPr/>
        </p:nvSpPr>
        <p:spPr>
          <a:xfrm>
            <a:off x="3225333" y="3025891"/>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1</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5" name="Oval 54">
            <a:extLst>
              <a:ext uri="{FF2B5EF4-FFF2-40B4-BE49-F238E27FC236}">
                <a16:creationId xmlns:a16="http://schemas.microsoft.com/office/drawing/2014/main" id="{65397FC0-F26D-3360-E072-1CEDD2DEEE8D}"/>
              </a:ext>
            </a:extLst>
          </p:cNvPr>
          <p:cNvSpPr/>
          <p:nvPr/>
        </p:nvSpPr>
        <p:spPr>
          <a:xfrm>
            <a:off x="6869346" y="3348786"/>
            <a:ext cx="216000" cy="216000"/>
          </a:xfrm>
          <a:prstGeom prst="ellipse">
            <a:avLst/>
          </a:prstGeom>
          <a:solidFill>
            <a:srgbClr val="C0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1" i="0" u="none" strike="noStrike" kern="1200" cap="none" spc="0" normalizeH="0" baseline="0" noProof="0">
                <a:ln>
                  <a:noFill/>
                </a:ln>
                <a:solidFill>
                  <a:srgbClr val="FFFFFF"/>
                </a:solidFill>
                <a:effectLst/>
                <a:uLnTx/>
                <a:uFillTx/>
                <a:latin typeface="Graphik"/>
                <a:ea typeface="+mn-ea"/>
                <a:cs typeface="+mn-cs"/>
              </a:rPr>
              <a:t>3</a:t>
            </a:r>
            <a:endParaRPr kumimoji="0" lang="en-ES" sz="1100" b="1" i="0" u="none" strike="noStrike" kern="1200" cap="none" spc="0" normalizeH="0" baseline="0" noProof="0">
              <a:ln>
                <a:noFill/>
              </a:ln>
              <a:solidFill>
                <a:srgbClr val="FFFFFF"/>
              </a:solidFill>
              <a:effectLst/>
              <a:uLnTx/>
              <a:uFillTx/>
              <a:latin typeface="Graphik"/>
              <a:ea typeface="+mn-ea"/>
              <a:cs typeface="+mn-cs"/>
            </a:endParaRPr>
          </a:p>
        </p:txBody>
      </p:sp>
      <p:sp>
        <p:nvSpPr>
          <p:cNvPr id="56" name="Rectangle 55">
            <a:extLst>
              <a:ext uri="{FF2B5EF4-FFF2-40B4-BE49-F238E27FC236}">
                <a16:creationId xmlns:a16="http://schemas.microsoft.com/office/drawing/2014/main" id="{DF21A6B3-B169-323E-E0D4-08EDE2BCD727}"/>
              </a:ext>
            </a:extLst>
          </p:cNvPr>
          <p:cNvSpPr/>
          <p:nvPr/>
        </p:nvSpPr>
        <p:spPr>
          <a:xfrm>
            <a:off x="7039252" y="2626726"/>
            <a:ext cx="1128660" cy="186368"/>
          </a:xfrm>
          <a:prstGeom prst="rect">
            <a:avLst/>
          </a:prstGeom>
          <a:ln/>
        </p:spPr>
        <p:style>
          <a:lnRef idx="2">
            <a:schemeClr val="accent1"/>
          </a:lnRef>
          <a:fillRef idx="1">
            <a:schemeClr val="lt1"/>
          </a:fillRef>
          <a:effectRef idx="0">
            <a:schemeClr val="accent1"/>
          </a:effectRef>
          <a:fontRef idx="minor">
            <a:schemeClr val="dk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100" b="0" i="0" u="none" strike="noStrike" kern="1200" cap="none" spc="0" normalizeH="0" baseline="0" noProof="0" err="1">
                <a:ln>
                  <a:noFill/>
                </a:ln>
                <a:solidFill>
                  <a:srgbClr val="000000"/>
                </a:solidFill>
                <a:effectLst/>
                <a:uLnTx/>
                <a:uFillTx/>
                <a:latin typeface="Graphik"/>
                <a:ea typeface="+mn-ea"/>
                <a:cs typeface="+mn-cs"/>
              </a:rPr>
              <a:t>Notificaciones</a:t>
            </a:r>
            <a:endParaRPr kumimoji="0" lang="es-MX" sz="1100" b="0" i="0" u="none" strike="noStrike" kern="1200" cap="none" spc="0" normalizeH="0" baseline="0" noProof="0">
              <a:ln>
                <a:noFill/>
              </a:ln>
              <a:solidFill>
                <a:srgbClr val="000000"/>
              </a:solidFill>
              <a:effectLst/>
              <a:uLnTx/>
              <a:uFillTx/>
              <a:latin typeface="Graphik"/>
              <a:ea typeface="+mn-ea"/>
              <a:cs typeface="+mn-cs"/>
            </a:endParaRPr>
          </a:p>
        </p:txBody>
      </p:sp>
      <p:cxnSp>
        <p:nvCxnSpPr>
          <p:cNvPr id="57" name="Straight Arrow Connector 56">
            <a:extLst>
              <a:ext uri="{FF2B5EF4-FFF2-40B4-BE49-F238E27FC236}">
                <a16:creationId xmlns:a16="http://schemas.microsoft.com/office/drawing/2014/main" id="{D43A8FC2-5D50-D22A-59D0-29AFD3C65796}"/>
              </a:ext>
            </a:extLst>
          </p:cNvPr>
          <p:cNvCxnSpPr>
            <a:cxnSpLocks/>
            <a:stCxn id="28" idx="0"/>
            <a:endCxn id="56" idx="2"/>
          </p:cNvCxnSpPr>
          <p:nvPr/>
        </p:nvCxnSpPr>
        <p:spPr>
          <a:xfrm flipH="1" flipV="1">
            <a:off x="7603582" y="2813094"/>
            <a:ext cx="5671" cy="275598"/>
          </a:xfrm>
          <a:prstGeom prst="straightConnector1">
            <a:avLst/>
          </a:prstGeom>
          <a:ln w="63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0231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9A3F-77D7-A3D2-CB20-540E0AB2C387}"/>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4660C6B4-DAA1-217F-C7E9-C8ECA2B01ACD}"/>
              </a:ext>
            </a:extLst>
          </p:cNvPr>
          <p:cNvSpPr>
            <a:spLocks noGrp="1"/>
          </p:cNvSpPr>
          <p:nvPr>
            <p:ph type="ftr" sz="quarter" idx="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s" sz="800" b="0" i="0" u="none" strike="noStrike" kern="1200" cap="none" spc="0" normalizeH="0" baseline="0" noProof="0">
                <a:ln>
                  <a:noFill/>
                </a:ln>
                <a:solidFill>
                  <a:srgbClr val="000000">
                    <a:alpha val="65000"/>
                  </a:srgbClr>
                </a:solidFill>
                <a:effectLst/>
                <a:uLnTx/>
                <a:uFillTx/>
                <a:latin typeface="Graphik"/>
                <a:ea typeface="+mn-ea"/>
                <a:cs typeface="+mn-cs"/>
              </a:rPr>
              <a:t>Copyright © 2025 Accenture. Todos los derechos reservados.</a:t>
            </a:r>
          </a:p>
        </p:txBody>
      </p:sp>
      <p:sp>
        <p:nvSpPr>
          <p:cNvPr id="118" name="Title 1">
            <a:extLst>
              <a:ext uri="{FF2B5EF4-FFF2-40B4-BE49-F238E27FC236}">
                <a16:creationId xmlns:a16="http://schemas.microsoft.com/office/drawing/2014/main" id="{0809E1BF-81CB-C98E-7EE2-9040E176B982}"/>
              </a:ext>
            </a:extLst>
          </p:cNvPr>
          <p:cNvSpPr txBox="1">
            <a:spLocks/>
          </p:cNvSpPr>
          <p:nvPr/>
        </p:nvSpPr>
        <p:spPr>
          <a:xfrm>
            <a:off x="381000" y="381000"/>
            <a:ext cx="11430000" cy="357272"/>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200" b="1" kern="1200">
                <a:solidFill>
                  <a:schemeClr val="tx1"/>
                </a:solidFill>
                <a:latin typeface="+mj-lt"/>
                <a:ea typeface="+mj-ea"/>
                <a:cs typeface="+mj-cs"/>
              </a:defRPr>
            </a:lvl1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s" sz="2400" b="1" i="0" u="none" strike="noStrike" kern="1200" cap="none" spc="0" normalizeH="0" baseline="0" noProof="0">
                <a:ln>
                  <a:noFill/>
                </a:ln>
                <a:solidFill>
                  <a:srgbClr val="7500C0"/>
                </a:solidFill>
                <a:effectLst/>
                <a:uLnTx/>
                <a:uFillTx/>
                <a:latin typeface="Graphik"/>
                <a:ea typeface="+mj-ea"/>
                <a:cs typeface="+mj-cs"/>
              </a:rPr>
              <a:t>Activo de Interoperabilidad </a:t>
            </a:r>
            <a:r>
              <a:rPr kumimoji="0" lang="es" sz="2400" b="1" i="0" u="none" strike="noStrike" kern="1200" cap="none" spc="0" normalizeH="0" baseline="0" noProof="0">
                <a:ln>
                  <a:noFill/>
                </a:ln>
                <a:solidFill>
                  <a:srgbClr val="000000"/>
                </a:solidFill>
                <a:effectLst/>
                <a:uLnTx/>
                <a:uFillTx/>
                <a:latin typeface="Graphik"/>
                <a:ea typeface="+mj-ea"/>
                <a:cs typeface="+mj-cs"/>
              </a:rPr>
              <a:t>| </a:t>
            </a:r>
            <a:r>
              <a:rPr kumimoji="0" lang="es" sz="2000" b="1" i="0" u="none" strike="noStrike" kern="1200" cap="none" spc="0" normalizeH="0" baseline="0" noProof="0">
                <a:ln>
                  <a:noFill/>
                </a:ln>
                <a:solidFill>
                  <a:srgbClr val="000000"/>
                </a:solidFill>
                <a:effectLst/>
                <a:uLnTx/>
                <a:uFillTx/>
                <a:latin typeface="Graphik"/>
                <a:ea typeface="+mj-ea"/>
                <a:cs typeface="+mj-cs"/>
              </a:rPr>
              <a:t>Entrega de datos</a:t>
            </a:r>
            <a:endParaRPr kumimoji="0" lang="es" sz="2400" b="1" i="0" u="none" strike="noStrike" kern="1200" cap="none" spc="0" normalizeH="0" baseline="0" noProof="0">
              <a:ln>
                <a:noFill/>
              </a:ln>
              <a:solidFill>
                <a:srgbClr val="000000"/>
              </a:solidFill>
              <a:effectLst/>
              <a:uLnTx/>
              <a:uFillTx/>
              <a:latin typeface="Graphik"/>
              <a:ea typeface="+mj-ea"/>
              <a:cs typeface="+mj-cs"/>
            </a:endParaRPr>
          </a:p>
        </p:txBody>
      </p:sp>
      <p:sp>
        <p:nvSpPr>
          <p:cNvPr id="119" name="Content Placeholder 34">
            <a:extLst>
              <a:ext uri="{FF2B5EF4-FFF2-40B4-BE49-F238E27FC236}">
                <a16:creationId xmlns:a16="http://schemas.microsoft.com/office/drawing/2014/main" id="{417F537E-F03E-010F-5D43-E6F78B5F1D7A}"/>
              </a:ext>
            </a:extLst>
          </p:cNvPr>
          <p:cNvSpPr txBox="1">
            <a:spLocks/>
          </p:cNvSpPr>
          <p:nvPr/>
        </p:nvSpPr>
        <p:spPr>
          <a:xfrm>
            <a:off x="285990" y="641993"/>
            <a:ext cx="11430000" cy="246221"/>
          </a:xfrm>
          <a:prstGeom prst="rect">
            <a:avLst/>
          </a:prstGeom>
        </p:spPr>
        <p:txBody>
          <a:bodyPr/>
          <a:lstStyle>
            <a:lvl1pPr marL="228600" indent="-228600" algn="l" defTabSz="228600" rtl="0" eaLnBrk="1" latinLnBrk="0" hangingPunct="1">
              <a:lnSpc>
                <a:spcPct val="100000"/>
              </a:lnSpc>
              <a:spcBef>
                <a:spcPts val="0"/>
              </a:spcBef>
              <a:spcAft>
                <a:spcPts val="600"/>
              </a:spcAft>
              <a:buFont typeface="Arial" panose="020B0604020202020204" pitchFamily="34" charset="0"/>
              <a:buChar char="•"/>
              <a:defRPr sz="2000" b="0" kern="1200">
                <a:solidFill>
                  <a:schemeClr val="tx1"/>
                </a:solidFill>
                <a:latin typeface="+mn-lt"/>
                <a:ea typeface="+mn-ea"/>
                <a:cs typeface="+mn-cs"/>
              </a:defRPr>
            </a:lvl1pPr>
            <a:lvl2pPr marL="457200" indent="-228600" algn="l" defTabSz="228600" rtl="0" eaLnBrk="1" latinLnBrk="0" hangingPunct="1">
              <a:lnSpc>
                <a:spcPct val="100000"/>
              </a:lnSpc>
              <a:spcBef>
                <a:spcPts val="0"/>
              </a:spcBef>
              <a:spcAft>
                <a:spcPts val="600"/>
              </a:spcAft>
              <a:buClrTx/>
              <a:buFont typeface="Arial" panose="020B0503030202060203" pitchFamily="34" charset="0"/>
              <a:buChar char="–"/>
              <a:defRPr sz="2000" kern="1200">
                <a:solidFill>
                  <a:schemeClr val="tx1"/>
                </a:solidFill>
                <a:latin typeface="+mn-lt"/>
                <a:ea typeface="+mn-ea"/>
                <a:cs typeface="+mn-cs"/>
              </a:defRPr>
            </a:lvl2pPr>
            <a:lvl3pPr marL="685800" indent="-228600" algn="l" defTabSz="228600" rtl="0" eaLnBrk="1" latinLnBrk="0" hangingPunct="1">
              <a:lnSpc>
                <a:spcPct val="100000"/>
              </a:lnSpc>
              <a:spcBef>
                <a:spcPts val="0"/>
              </a:spcBef>
              <a:spcAft>
                <a:spcPts val="600"/>
              </a:spcAft>
              <a:buFont typeface="Arial" panose="020B0604020202020204" pitchFamily="34" charset="0"/>
              <a:buChar char="•"/>
              <a:defRPr sz="2000" kern="1200">
                <a:solidFill>
                  <a:schemeClr val="tx1"/>
                </a:solidFill>
                <a:latin typeface="+mn-lt"/>
                <a:ea typeface="+mn-ea"/>
                <a:cs typeface="+mn-cs"/>
              </a:defRPr>
            </a:lvl3pPr>
            <a:lvl4pPr marL="914400" indent="-228600" algn="l" defTabSz="228600" rtl="0" eaLnBrk="1" latinLnBrk="0" hangingPunct="1">
              <a:lnSpc>
                <a:spcPct val="100000"/>
              </a:lnSpc>
              <a:spcBef>
                <a:spcPts val="0"/>
              </a:spcBef>
              <a:spcAft>
                <a:spcPts val="600"/>
              </a:spcAft>
              <a:buFont typeface="Arial" panose="020B0503030202060203" pitchFamily="34" charset="0"/>
              <a:buChar char="–"/>
              <a:defRPr sz="1800" kern="1200">
                <a:solidFill>
                  <a:schemeClr val="tx1"/>
                </a:solidFill>
                <a:latin typeface="+mn-lt"/>
                <a:ea typeface="+mn-ea"/>
                <a:cs typeface="+mn-cs"/>
              </a:defRPr>
            </a:lvl4pPr>
            <a:lvl5pPr marL="1143000" indent="-228600" algn="l" defTabSz="228600" rtl="0" eaLnBrk="1" latinLnBrk="0" hangingPunct="1">
              <a:lnSpc>
                <a:spcPct val="10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600"/>
              </a:spcAft>
              <a:buFont typeface="Arial"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6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6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s" sz="1600" b="1" i="0" u="none" strike="noStrike" kern="1200" cap="none" spc="0" normalizeH="0" baseline="0" noProof="0">
                <a:ln>
                  <a:noFill/>
                </a:ln>
                <a:solidFill>
                  <a:srgbClr val="7500C0"/>
                </a:solidFill>
                <a:effectLst/>
                <a:uLnTx/>
                <a:uFillTx/>
                <a:latin typeface="Graphik" panose="020B0503030202060203" pitchFamily="34" charset="0"/>
                <a:ea typeface="+mn-ea"/>
                <a:cs typeface="+mn-cs"/>
              </a:rPr>
              <a:t>Arquitectura de procesamiento de eventos</a:t>
            </a:r>
          </a:p>
        </p:txBody>
      </p:sp>
      <p:grpSp>
        <p:nvGrpSpPr>
          <p:cNvPr id="4" name="Group 3">
            <a:extLst>
              <a:ext uri="{FF2B5EF4-FFF2-40B4-BE49-F238E27FC236}">
                <a16:creationId xmlns:a16="http://schemas.microsoft.com/office/drawing/2014/main" id="{819372CE-CE02-E176-4CF6-FF1D99574AB3}"/>
              </a:ext>
            </a:extLst>
          </p:cNvPr>
          <p:cNvGrpSpPr/>
          <p:nvPr/>
        </p:nvGrpSpPr>
        <p:grpSpPr>
          <a:xfrm>
            <a:off x="9914018" y="286451"/>
            <a:ext cx="1862854" cy="253275"/>
            <a:chOff x="9929190" y="421028"/>
            <a:chExt cx="1862854" cy="253275"/>
          </a:xfrm>
        </p:grpSpPr>
        <p:sp>
          <p:nvSpPr>
            <p:cNvPr id="5" name="TextBox 4">
              <a:extLst>
                <a:ext uri="{FF2B5EF4-FFF2-40B4-BE49-F238E27FC236}">
                  <a16:creationId xmlns:a16="http://schemas.microsoft.com/office/drawing/2014/main" id="{31319662-AC8B-E505-E951-86299CF31B0F}"/>
                </a:ext>
              </a:extLst>
            </p:cNvPr>
            <p:cNvSpPr txBox="1"/>
            <p:nvPr/>
          </p:nvSpPr>
          <p:spPr>
            <a:xfrm>
              <a:off x="9936972" y="460821"/>
              <a:ext cx="1847290" cy="17369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s" sz="1100" b="0" i="0" u="none" strike="noStrike" kern="1200" cap="none" spc="0" normalizeH="0" baseline="0" noProof="0">
                  <a:ln>
                    <a:noFill/>
                  </a:ln>
                  <a:solidFill>
                    <a:srgbClr val="000000"/>
                  </a:solidFill>
                  <a:effectLst/>
                  <a:uLnTx/>
                  <a:uFillTx/>
                  <a:latin typeface="Graphik"/>
                  <a:ea typeface="+mn-ea"/>
                  <a:cs typeface="+mn-cs"/>
                </a:rPr>
                <a:t>Ilustrativo no exhaustivo</a:t>
              </a:r>
            </a:p>
          </p:txBody>
        </p:sp>
        <p:cxnSp>
          <p:nvCxnSpPr>
            <p:cNvPr id="6" name="Straight Connector 5">
              <a:extLst>
                <a:ext uri="{FF2B5EF4-FFF2-40B4-BE49-F238E27FC236}">
                  <a16:creationId xmlns:a16="http://schemas.microsoft.com/office/drawing/2014/main" id="{424B589A-A790-3454-E995-312C08A6AB0E}"/>
                </a:ext>
              </a:extLst>
            </p:cNvPr>
            <p:cNvCxnSpPr>
              <a:cxnSpLocks/>
            </p:cNvCxnSpPr>
            <p:nvPr/>
          </p:nvCxnSpPr>
          <p:spPr>
            <a:xfrm>
              <a:off x="9929190" y="421028"/>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1624379-A50C-5373-7EC6-9FF5F24A25CC}"/>
                </a:ext>
              </a:extLst>
            </p:cNvPr>
            <p:cNvCxnSpPr>
              <a:cxnSpLocks/>
            </p:cNvCxnSpPr>
            <p:nvPr/>
          </p:nvCxnSpPr>
          <p:spPr>
            <a:xfrm>
              <a:off x="9929190" y="674303"/>
              <a:ext cx="1862854"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5" name="Connector: Elbow 64">
            <a:extLst>
              <a:ext uri="{FF2B5EF4-FFF2-40B4-BE49-F238E27FC236}">
                <a16:creationId xmlns:a16="http://schemas.microsoft.com/office/drawing/2014/main" id="{CC56321D-52B9-174B-4416-0A520C6EDB22}"/>
              </a:ext>
            </a:extLst>
          </p:cNvPr>
          <p:cNvCxnSpPr>
            <a:cxnSpLocks/>
          </p:cNvCxnSpPr>
          <p:nvPr/>
        </p:nvCxnSpPr>
        <p:spPr>
          <a:xfrm flipV="1">
            <a:off x="1769727" y="1487349"/>
            <a:ext cx="535083" cy="211882"/>
          </a:xfrm>
          <a:prstGeom prst="bentConnector3">
            <a:avLst>
              <a:gd name="adj1" fmla="val 41006"/>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26CFB799-AB07-7D62-4B6B-970000429FD1}"/>
              </a:ext>
            </a:extLst>
          </p:cNvPr>
          <p:cNvGrpSpPr/>
          <p:nvPr/>
        </p:nvGrpSpPr>
        <p:grpSpPr>
          <a:xfrm>
            <a:off x="186691" y="1523878"/>
            <a:ext cx="1583036" cy="3368362"/>
            <a:chOff x="123353" y="2136006"/>
            <a:chExt cx="1583036" cy="3368362"/>
          </a:xfrm>
        </p:grpSpPr>
        <p:sp>
          <p:nvSpPr>
            <p:cNvPr id="67" name="Rectangle: Rounded Corners 66">
              <a:extLst>
                <a:ext uri="{FF2B5EF4-FFF2-40B4-BE49-F238E27FC236}">
                  <a16:creationId xmlns:a16="http://schemas.microsoft.com/office/drawing/2014/main" id="{3ECF0AD4-AA87-D43B-74A4-68B9B3BBDFED}"/>
                </a:ext>
              </a:extLst>
            </p:cNvPr>
            <p:cNvSpPr/>
            <p:nvPr/>
          </p:nvSpPr>
          <p:spPr>
            <a:xfrm>
              <a:off x="123353" y="2136006"/>
              <a:ext cx="1583036" cy="3368362"/>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Fuentes de datos y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Almacenes de datos</a:t>
              </a:r>
              <a:endParaRPr kumimoji="0" lang="es-ES_tradnl" sz="900" b="0" i="0" u="none" strike="noStrike" kern="1200" cap="none" spc="0" normalizeH="0" baseline="0" noProof="0">
                <a:ln>
                  <a:noFill/>
                </a:ln>
                <a:solidFill>
                  <a:srgbClr val="000000"/>
                </a:solidFill>
                <a:effectLst/>
                <a:uLnTx/>
                <a:uFillTx/>
                <a:latin typeface="Graphik"/>
                <a:ea typeface="+mn-ea"/>
                <a:cs typeface="+mn-cs"/>
              </a:endParaRPr>
            </a:p>
          </p:txBody>
        </p:sp>
        <p:sp>
          <p:nvSpPr>
            <p:cNvPr id="68" name="Rectangle 67">
              <a:extLst>
                <a:ext uri="{FF2B5EF4-FFF2-40B4-BE49-F238E27FC236}">
                  <a16:creationId xmlns:a16="http://schemas.microsoft.com/office/drawing/2014/main" id="{22AB2C99-24C9-6967-B7DE-840D15A98EEE}"/>
                </a:ext>
              </a:extLst>
            </p:cNvPr>
            <p:cNvSpPr/>
            <p:nvPr/>
          </p:nvSpPr>
          <p:spPr>
            <a:xfrm>
              <a:off x="223950" y="259302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Sistemas heredados</a:t>
              </a:r>
            </a:p>
          </p:txBody>
        </p:sp>
        <p:sp>
          <p:nvSpPr>
            <p:cNvPr id="69" name="Rectangle 68">
              <a:extLst>
                <a:ext uri="{FF2B5EF4-FFF2-40B4-BE49-F238E27FC236}">
                  <a16:creationId xmlns:a16="http://schemas.microsoft.com/office/drawing/2014/main" id="{CB90EB01-206A-D39B-529B-75BABB931CEE}"/>
                </a:ext>
              </a:extLst>
            </p:cNvPr>
            <p:cNvSpPr/>
            <p:nvPr/>
          </p:nvSpPr>
          <p:spPr>
            <a:xfrm>
              <a:off x="223950" y="29394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Archivos planos</a:t>
              </a:r>
            </a:p>
          </p:txBody>
        </p:sp>
        <p:sp>
          <p:nvSpPr>
            <p:cNvPr id="70" name="Rectangle 69">
              <a:extLst>
                <a:ext uri="{FF2B5EF4-FFF2-40B4-BE49-F238E27FC236}">
                  <a16:creationId xmlns:a16="http://schemas.microsoft.com/office/drawing/2014/main" id="{3812070B-2D2A-13AE-7C81-97EDD6B3748B}"/>
                </a:ext>
              </a:extLst>
            </p:cNvPr>
            <p:cNvSpPr/>
            <p:nvPr/>
          </p:nvSpPr>
          <p:spPr>
            <a:xfrm>
              <a:off x="223949" y="4714317"/>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
              </a:r>
              <a:r>
                <a:rPr kumimoji="0" lang="es-ES" sz="900" b="0" i="0" u="none" strike="noStrike" kern="1200" cap="none" spc="0" normalizeH="0" baseline="0" noProof="0" dirty="0">
                  <a:ln>
                    <a:noFill/>
                  </a:ln>
                  <a:solidFill>
                    <a:srgbClr val="000000"/>
                  </a:solidFill>
                  <a:effectLst/>
                  <a:uLnTx/>
                  <a:uFillTx/>
                  <a:latin typeface="Graphik"/>
                  <a:ea typeface="+mn-ea"/>
                  <a:cs typeface="+mn-cs"/>
                </a:rPr>
                <a:t>a</a:t>
              </a:r>
              <a:r>
                <a:rPr kumimoji="0" lang="es" sz="900" b="0" i="0" u="none" strike="noStrike" kern="1200" cap="none" spc="0" normalizeH="0" baseline="0" noProof="0">
                  <a:ln>
                    <a:noFill/>
                  </a:ln>
                  <a:solidFill>
                    <a:srgbClr val="000000"/>
                  </a:solidFill>
                  <a:effectLst/>
                  <a:uLnTx/>
                  <a:uFillTx/>
                  <a:latin typeface="Graphik"/>
                  <a:ea typeface="+mn-ea"/>
                  <a:cs typeface="+mn-cs"/>
                </a:rPr>
                <a:t>ta Lakes</a:t>
              </a:r>
              <a:endParaRPr kumimoji="0" lang="es"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71" name="Rectangle 70">
              <a:extLst>
                <a:ext uri="{FF2B5EF4-FFF2-40B4-BE49-F238E27FC236}">
                  <a16:creationId xmlns:a16="http://schemas.microsoft.com/office/drawing/2014/main" id="{3BB4317B-A9F9-D15A-C3B7-B50E6D0314B9}"/>
                </a:ext>
              </a:extLst>
            </p:cNvPr>
            <p:cNvSpPr/>
            <p:nvPr/>
          </p:nvSpPr>
          <p:spPr>
            <a:xfrm>
              <a:off x="223950" y="328590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Datos externos</a:t>
              </a:r>
            </a:p>
          </p:txBody>
        </p:sp>
        <p:sp>
          <p:nvSpPr>
            <p:cNvPr id="72" name="Rectangle 71">
              <a:extLst>
                <a:ext uri="{FF2B5EF4-FFF2-40B4-BE49-F238E27FC236}">
                  <a16:creationId xmlns:a16="http://schemas.microsoft.com/office/drawing/2014/main" id="{56053CA9-1B3D-795F-DC38-44D5BC2B70B1}"/>
                </a:ext>
              </a:extLst>
            </p:cNvPr>
            <p:cNvSpPr/>
            <p:nvPr/>
          </p:nvSpPr>
          <p:spPr>
            <a:xfrm>
              <a:off x="223950" y="397878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Almacenes de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Datos en la Nube</a:t>
              </a:r>
            </a:p>
          </p:txBody>
        </p:sp>
        <p:sp>
          <p:nvSpPr>
            <p:cNvPr id="73" name="Rectangle 72">
              <a:extLst>
                <a:ext uri="{FF2B5EF4-FFF2-40B4-BE49-F238E27FC236}">
                  <a16:creationId xmlns:a16="http://schemas.microsoft.com/office/drawing/2014/main" id="{95314672-1F76-EEC7-2472-8DB90DCC22A5}"/>
                </a:ext>
              </a:extLst>
            </p:cNvPr>
            <p:cNvSpPr/>
            <p:nvPr/>
          </p:nvSpPr>
          <p:spPr>
            <a:xfrm>
              <a:off x="223949" y="4342285"/>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DWH / BI</a:t>
              </a:r>
            </a:p>
          </p:txBody>
        </p:sp>
        <p:sp>
          <p:nvSpPr>
            <p:cNvPr id="74" name="Rectangle 73">
              <a:extLst>
                <a:ext uri="{FF2B5EF4-FFF2-40B4-BE49-F238E27FC236}">
                  <a16:creationId xmlns:a16="http://schemas.microsoft.com/office/drawing/2014/main" id="{B6B0BDC2-10E5-1F55-3E45-EC0D90A560A4}"/>
                </a:ext>
              </a:extLst>
            </p:cNvPr>
            <p:cNvSpPr/>
            <p:nvPr/>
          </p:nvSpPr>
          <p:spPr>
            <a:xfrm>
              <a:off x="223950" y="3632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Repositorios de Apps &amp; Docs</a:t>
              </a:r>
            </a:p>
          </p:txBody>
        </p:sp>
      </p:grpSp>
      <p:sp>
        <p:nvSpPr>
          <p:cNvPr id="75" name="Rectangle 74">
            <a:extLst>
              <a:ext uri="{FF2B5EF4-FFF2-40B4-BE49-F238E27FC236}">
                <a16:creationId xmlns:a16="http://schemas.microsoft.com/office/drawing/2014/main" id="{C21BDE3C-7D28-77BA-A3BA-55F030DF8C92}"/>
              </a:ext>
            </a:extLst>
          </p:cNvPr>
          <p:cNvSpPr/>
          <p:nvPr/>
        </p:nvSpPr>
        <p:spPr>
          <a:xfrm>
            <a:off x="2314208" y="1940282"/>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datos por Lotes</a:t>
            </a:r>
          </a:p>
        </p:txBody>
      </p:sp>
      <p:sp>
        <p:nvSpPr>
          <p:cNvPr id="76" name="Rectangle 75">
            <a:extLst>
              <a:ext uri="{FF2B5EF4-FFF2-40B4-BE49-F238E27FC236}">
                <a16:creationId xmlns:a16="http://schemas.microsoft.com/office/drawing/2014/main" id="{9254AB9A-B762-081C-6EE8-E5B0760EB47A}"/>
              </a:ext>
            </a:extLst>
          </p:cNvPr>
          <p:cNvSpPr/>
          <p:nvPr/>
        </p:nvSpPr>
        <p:spPr>
          <a:xfrm>
            <a:off x="2309837" y="1231663"/>
            <a:ext cx="1035960"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Integración de flujos de datos</a:t>
            </a:r>
          </a:p>
        </p:txBody>
      </p:sp>
      <p:sp>
        <p:nvSpPr>
          <p:cNvPr id="77" name="Rectangle 76">
            <a:extLst>
              <a:ext uri="{FF2B5EF4-FFF2-40B4-BE49-F238E27FC236}">
                <a16:creationId xmlns:a16="http://schemas.microsoft.com/office/drawing/2014/main" id="{6DB2ADF1-908E-11EF-0813-CEDE928A2961}"/>
              </a:ext>
            </a:extLst>
          </p:cNvPr>
          <p:cNvSpPr/>
          <p:nvPr/>
        </p:nvSpPr>
        <p:spPr>
          <a:xfrm>
            <a:off x="7704551" y="4525206"/>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Replicación de datos</a:t>
            </a:r>
          </a:p>
        </p:txBody>
      </p:sp>
      <p:sp>
        <p:nvSpPr>
          <p:cNvPr id="78" name="Rectangle 77">
            <a:extLst>
              <a:ext uri="{FF2B5EF4-FFF2-40B4-BE49-F238E27FC236}">
                <a16:creationId xmlns:a16="http://schemas.microsoft.com/office/drawing/2014/main" id="{1A3825E3-C12C-36B5-C8C9-B8F50A140575}"/>
              </a:ext>
            </a:extLst>
          </p:cNvPr>
          <p:cNvSpPr/>
          <p:nvPr/>
        </p:nvSpPr>
        <p:spPr>
          <a:xfrm>
            <a:off x="7704551" y="4892240"/>
            <a:ext cx="112244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ODS (Modelo de Datos Unificado)</a:t>
            </a:r>
          </a:p>
        </p:txBody>
      </p:sp>
      <p:sp>
        <p:nvSpPr>
          <p:cNvPr id="79" name="Rectangle 78">
            <a:extLst>
              <a:ext uri="{FF2B5EF4-FFF2-40B4-BE49-F238E27FC236}">
                <a16:creationId xmlns:a16="http://schemas.microsoft.com/office/drawing/2014/main" id="{FB4053CF-AF01-6F03-A23A-9F45E1CEF6C8}"/>
              </a:ext>
            </a:extLst>
          </p:cNvPr>
          <p:cNvSpPr/>
          <p:nvPr/>
        </p:nvSpPr>
        <p:spPr>
          <a:xfrm>
            <a:off x="8924559" y="4892240"/>
            <a:ext cx="1245461" cy="287999"/>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Lake House</a:t>
            </a:r>
          </a:p>
        </p:txBody>
      </p:sp>
      <p:sp>
        <p:nvSpPr>
          <p:cNvPr id="80" name="Rectangle 79">
            <a:extLst>
              <a:ext uri="{FF2B5EF4-FFF2-40B4-BE49-F238E27FC236}">
                <a16:creationId xmlns:a16="http://schemas.microsoft.com/office/drawing/2014/main" id="{11E01D4E-48F7-7E4A-EC6E-35DAD52213D7}"/>
              </a:ext>
            </a:extLst>
          </p:cNvPr>
          <p:cNvSpPr/>
          <p:nvPr/>
        </p:nvSpPr>
        <p:spPr>
          <a:xfrm>
            <a:off x="7687235" y="2756839"/>
            <a:ext cx="246546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Virtualización de datos</a:t>
            </a:r>
          </a:p>
        </p:txBody>
      </p:sp>
      <p:sp>
        <p:nvSpPr>
          <p:cNvPr id="81" name="Rectangle 80">
            <a:extLst>
              <a:ext uri="{FF2B5EF4-FFF2-40B4-BE49-F238E27FC236}">
                <a16:creationId xmlns:a16="http://schemas.microsoft.com/office/drawing/2014/main" id="{55531A71-25B3-36BF-2B47-62624935D1A3}"/>
              </a:ext>
            </a:extLst>
          </p:cNvPr>
          <p:cNvSpPr/>
          <p:nvPr/>
        </p:nvSpPr>
        <p:spPr>
          <a:xfrm>
            <a:off x="8524207" y="3108714"/>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Gobernanza de Datos</a:t>
            </a:r>
          </a:p>
        </p:txBody>
      </p:sp>
      <p:sp>
        <p:nvSpPr>
          <p:cNvPr id="82" name="Rectangle 81">
            <a:extLst>
              <a:ext uri="{FF2B5EF4-FFF2-40B4-BE49-F238E27FC236}">
                <a16:creationId xmlns:a16="http://schemas.microsoft.com/office/drawing/2014/main" id="{84805C25-24AC-8C22-7587-07ADC8EA1789}"/>
              </a:ext>
            </a:extLst>
          </p:cNvPr>
          <p:cNvSpPr/>
          <p:nvPr/>
        </p:nvSpPr>
        <p:spPr>
          <a:xfrm>
            <a:off x="9374638" y="3106053"/>
            <a:ext cx="75147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Dominios de datos</a:t>
            </a:r>
          </a:p>
        </p:txBody>
      </p:sp>
      <p:sp>
        <p:nvSpPr>
          <p:cNvPr id="83" name="Rectangle: Rounded Corners 82">
            <a:extLst>
              <a:ext uri="{FF2B5EF4-FFF2-40B4-BE49-F238E27FC236}">
                <a16:creationId xmlns:a16="http://schemas.microsoft.com/office/drawing/2014/main" id="{BE2E567E-FC69-C836-C417-86A359D11EA2}"/>
              </a:ext>
            </a:extLst>
          </p:cNvPr>
          <p:cNvSpPr/>
          <p:nvPr/>
        </p:nvSpPr>
        <p:spPr>
          <a:xfrm>
            <a:off x="10489890" y="2145133"/>
            <a:ext cx="1583036" cy="2950344"/>
          </a:xfrm>
          <a:prstGeom prst="roundRect">
            <a:avLst>
              <a:gd name="adj" fmla="val 7682"/>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Consumo de datos</a:t>
            </a:r>
          </a:p>
        </p:txBody>
      </p:sp>
      <p:sp>
        <p:nvSpPr>
          <p:cNvPr id="84" name="Rectangle 83">
            <a:extLst>
              <a:ext uri="{FF2B5EF4-FFF2-40B4-BE49-F238E27FC236}">
                <a16:creationId xmlns:a16="http://schemas.microsoft.com/office/drawing/2014/main" id="{C2A36C50-0F65-DBBA-93DC-0060B3B79440}"/>
              </a:ext>
            </a:extLst>
          </p:cNvPr>
          <p:cNvSpPr/>
          <p:nvPr/>
        </p:nvSpPr>
        <p:spPr>
          <a:xfrm>
            <a:off x="10629303" y="305834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85" name="Rectangle 84">
            <a:extLst>
              <a:ext uri="{FF2B5EF4-FFF2-40B4-BE49-F238E27FC236}">
                <a16:creationId xmlns:a16="http://schemas.microsoft.com/office/drawing/2014/main" id="{64312FE4-BE2E-EEA8-F38A-FBA11879933A}"/>
              </a:ext>
            </a:extLst>
          </p:cNvPr>
          <p:cNvSpPr/>
          <p:nvPr/>
        </p:nvSpPr>
        <p:spPr>
          <a:xfrm>
            <a:off x="10629303" y="379557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Analítica</a:t>
            </a:r>
          </a:p>
        </p:txBody>
      </p:sp>
      <p:sp>
        <p:nvSpPr>
          <p:cNvPr id="86" name="Rectangle 85">
            <a:extLst>
              <a:ext uri="{FF2B5EF4-FFF2-40B4-BE49-F238E27FC236}">
                <a16:creationId xmlns:a16="http://schemas.microsoft.com/office/drawing/2014/main" id="{024D33D8-8F4D-CA61-098A-9E0758D58627}"/>
              </a:ext>
            </a:extLst>
          </p:cNvPr>
          <p:cNvSpPr/>
          <p:nvPr/>
        </p:nvSpPr>
        <p:spPr>
          <a:xfrm>
            <a:off x="531578" y="1126163"/>
            <a:ext cx="1122444"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Streaming de eventos</a:t>
            </a:r>
          </a:p>
        </p:txBody>
      </p:sp>
      <p:sp>
        <p:nvSpPr>
          <p:cNvPr id="87" name="Rectangle 86">
            <a:extLst>
              <a:ext uri="{FF2B5EF4-FFF2-40B4-BE49-F238E27FC236}">
                <a16:creationId xmlns:a16="http://schemas.microsoft.com/office/drawing/2014/main" id="{BD8BBFD4-9D25-5034-CC77-8BBFDEB36BAD}"/>
              </a:ext>
            </a:extLst>
          </p:cNvPr>
          <p:cNvSpPr/>
          <p:nvPr/>
        </p:nvSpPr>
        <p:spPr>
          <a:xfrm>
            <a:off x="2362791" y="1555231"/>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CDC</a:t>
            </a:r>
          </a:p>
        </p:txBody>
      </p:sp>
      <p:sp>
        <p:nvSpPr>
          <p:cNvPr id="88" name="Rectangle 87">
            <a:extLst>
              <a:ext uri="{FF2B5EF4-FFF2-40B4-BE49-F238E27FC236}">
                <a16:creationId xmlns:a16="http://schemas.microsoft.com/office/drawing/2014/main" id="{B01836CC-B6C6-CB5E-3A11-E0B36C142041}"/>
              </a:ext>
            </a:extLst>
          </p:cNvPr>
          <p:cNvSpPr/>
          <p:nvPr/>
        </p:nvSpPr>
        <p:spPr>
          <a:xfrm>
            <a:off x="2346390" y="2283099"/>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ETLs / ELTs</a:t>
            </a:r>
          </a:p>
        </p:txBody>
      </p:sp>
      <p:grpSp>
        <p:nvGrpSpPr>
          <p:cNvPr id="89" name="Group 88">
            <a:extLst>
              <a:ext uri="{FF2B5EF4-FFF2-40B4-BE49-F238E27FC236}">
                <a16:creationId xmlns:a16="http://schemas.microsoft.com/office/drawing/2014/main" id="{985C1D4B-7B20-07B4-D9D1-D29974CD88E3}"/>
              </a:ext>
            </a:extLst>
          </p:cNvPr>
          <p:cNvGrpSpPr/>
          <p:nvPr/>
        </p:nvGrpSpPr>
        <p:grpSpPr>
          <a:xfrm>
            <a:off x="3539644" y="2756839"/>
            <a:ext cx="3591854" cy="1833376"/>
            <a:chOff x="3115306" y="2432376"/>
            <a:chExt cx="3591854" cy="1833376"/>
          </a:xfrm>
        </p:grpSpPr>
        <p:sp>
          <p:nvSpPr>
            <p:cNvPr id="90" name="Rectangle 89">
              <a:extLst>
                <a:ext uri="{FF2B5EF4-FFF2-40B4-BE49-F238E27FC236}">
                  <a16:creationId xmlns:a16="http://schemas.microsoft.com/office/drawing/2014/main" id="{AF82C012-7BC9-98CF-DBCF-A4D232752729}"/>
                </a:ext>
              </a:extLst>
            </p:cNvPr>
            <p:cNvSpPr/>
            <p:nvPr/>
          </p:nvSpPr>
          <p:spPr>
            <a:xfrm>
              <a:off x="3279107" y="2432376"/>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Catálogo de datos</a:t>
              </a:r>
            </a:p>
          </p:txBody>
        </p:sp>
        <p:sp>
          <p:nvSpPr>
            <p:cNvPr id="91" name="Cylinder 90">
              <a:extLst>
                <a:ext uri="{FF2B5EF4-FFF2-40B4-BE49-F238E27FC236}">
                  <a16:creationId xmlns:a16="http://schemas.microsoft.com/office/drawing/2014/main" id="{A765AADB-1156-C209-38F8-DF2D33A81BEC}"/>
                </a:ext>
              </a:extLst>
            </p:cNvPr>
            <p:cNvSpPr/>
            <p:nvPr/>
          </p:nvSpPr>
          <p:spPr>
            <a:xfrm>
              <a:off x="3867416" y="3852427"/>
              <a:ext cx="751476" cy="409529"/>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Inventario de datos</a:t>
              </a:r>
              <a:endParaRPr kumimoji="0" lang="es-MX" sz="900" b="0" i="0" u="none" strike="noStrike" kern="1200" cap="none" spc="0" normalizeH="0" baseline="0" noProof="0">
                <a:ln>
                  <a:noFill/>
                </a:ln>
                <a:solidFill>
                  <a:srgbClr val="000000"/>
                </a:solidFill>
                <a:effectLst/>
                <a:uLnTx/>
                <a:uFillTx/>
                <a:latin typeface="Graphik"/>
                <a:ea typeface="+mn-ea"/>
                <a:cs typeface="+mn-cs"/>
              </a:endParaRPr>
            </a:p>
          </p:txBody>
        </p:sp>
        <p:sp>
          <p:nvSpPr>
            <p:cNvPr id="92" name="Cylinder 91">
              <a:extLst>
                <a:ext uri="{FF2B5EF4-FFF2-40B4-BE49-F238E27FC236}">
                  <a16:creationId xmlns:a16="http://schemas.microsoft.com/office/drawing/2014/main" id="{7A0C7A75-F058-B8C6-A571-829442E95421}"/>
                </a:ext>
              </a:extLst>
            </p:cNvPr>
            <p:cNvSpPr/>
            <p:nvPr/>
          </p:nvSpPr>
          <p:spPr>
            <a:xfrm>
              <a:off x="5143137" y="3852428"/>
              <a:ext cx="751476" cy="413324"/>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Repositorio de metadatos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93" name="Group 92">
              <a:extLst>
                <a:ext uri="{FF2B5EF4-FFF2-40B4-BE49-F238E27FC236}">
                  <a16:creationId xmlns:a16="http://schemas.microsoft.com/office/drawing/2014/main" id="{903E456C-F9FE-E559-98A7-FE72CE589F8D}"/>
                </a:ext>
              </a:extLst>
            </p:cNvPr>
            <p:cNvGrpSpPr/>
            <p:nvPr/>
          </p:nvGrpSpPr>
          <p:grpSpPr>
            <a:xfrm>
              <a:off x="3115306" y="2823659"/>
              <a:ext cx="3591854" cy="801792"/>
              <a:chOff x="3354252" y="1889360"/>
              <a:chExt cx="3591854" cy="801792"/>
            </a:xfrm>
          </p:grpSpPr>
          <p:sp>
            <p:nvSpPr>
              <p:cNvPr id="96" name="Rectangle: Rounded Corners 95">
                <a:extLst>
                  <a:ext uri="{FF2B5EF4-FFF2-40B4-BE49-F238E27FC236}">
                    <a16:creationId xmlns:a16="http://schemas.microsoft.com/office/drawing/2014/main" id="{F7822664-8C43-D9CF-F5FA-0DCD9067C418}"/>
                  </a:ext>
                </a:extLst>
              </p:cNvPr>
              <p:cNvSpPr/>
              <p:nvPr/>
            </p:nvSpPr>
            <p:spPr>
              <a:xfrm>
                <a:off x="3361610" y="1958432"/>
                <a:ext cx="3532721" cy="653842"/>
              </a:xfrm>
              <a:prstGeom prst="roundRect">
                <a:avLst>
                  <a:gd name="adj" fmla="val 50000"/>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7" name="Rectangle 96">
                <a:extLst>
                  <a:ext uri="{FF2B5EF4-FFF2-40B4-BE49-F238E27FC236}">
                    <a16:creationId xmlns:a16="http://schemas.microsoft.com/office/drawing/2014/main" id="{A024316B-5BB3-0CAB-E49E-C5C4E4FFE65C}"/>
                  </a:ext>
                </a:extLst>
              </p:cNvPr>
              <p:cNvSpPr/>
              <p:nvPr/>
            </p:nvSpPr>
            <p:spPr>
              <a:xfrm>
                <a:off x="3540033" y="2151666"/>
                <a:ext cx="101592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Descubrimiento de datos</a:t>
                </a:r>
              </a:p>
            </p:txBody>
          </p:sp>
          <p:sp>
            <p:nvSpPr>
              <p:cNvPr id="98" name="Rectangle 97">
                <a:extLst>
                  <a:ext uri="{FF2B5EF4-FFF2-40B4-BE49-F238E27FC236}">
                    <a16:creationId xmlns:a16="http://schemas.microsoft.com/office/drawing/2014/main" id="{C008C1EE-CE45-BD35-6DDE-0523824FE160}"/>
                  </a:ext>
                </a:extLst>
              </p:cNvPr>
              <p:cNvSpPr/>
              <p:nvPr/>
            </p:nvSpPr>
            <p:spPr>
              <a:xfrm>
                <a:off x="4637482" y="2150382"/>
                <a:ext cx="1087039"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Responsabilidad y Gobernanza</a:t>
                </a:r>
              </a:p>
            </p:txBody>
          </p:sp>
          <p:sp>
            <p:nvSpPr>
              <p:cNvPr id="99" name="Rectangle 98">
                <a:extLst>
                  <a:ext uri="{FF2B5EF4-FFF2-40B4-BE49-F238E27FC236}">
                    <a16:creationId xmlns:a16="http://schemas.microsoft.com/office/drawing/2014/main" id="{52F98366-AD45-F033-40F0-52F911E2BEF2}"/>
                  </a:ext>
                </a:extLst>
              </p:cNvPr>
              <p:cNvSpPr/>
              <p:nvPr/>
            </p:nvSpPr>
            <p:spPr>
              <a:xfrm>
                <a:off x="5789410" y="2150382"/>
                <a:ext cx="959804"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Perfilado  de datos y calidad</a:t>
                </a:r>
              </a:p>
            </p:txBody>
          </p:sp>
          <p:sp>
            <p:nvSpPr>
              <p:cNvPr id="100" name="TextBox 99">
                <a:extLst>
                  <a:ext uri="{FF2B5EF4-FFF2-40B4-BE49-F238E27FC236}">
                    <a16:creationId xmlns:a16="http://schemas.microsoft.com/office/drawing/2014/main" id="{E4489438-2522-70D5-C2E4-B47B6A5CE58A}"/>
                  </a:ext>
                </a:extLst>
              </p:cNvPr>
              <p:cNvSpPr txBox="1"/>
              <p:nvPr/>
            </p:nvSpPr>
            <p:spPr>
              <a:xfrm>
                <a:off x="3990683" y="1889360"/>
                <a:ext cx="2233556" cy="167473"/>
              </a:xfrm>
              <a:prstGeom prst="rect">
                <a:avLst/>
              </a:prstGeom>
              <a:solidFill>
                <a:schemeClr val="bg1"/>
              </a:solid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Utiliza el </a:t>
                </a:r>
                <a:r>
                  <a:rPr lang="es" sz="900" dirty="0">
                    <a:solidFill>
                      <a:srgbClr val="000000"/>
                    </a:solidFill>
                    <a:latin typeface="Graphik"/>
                  </a:rPr>
                  <a:t>ML pa</a:t>
                </a:r>
                <a:r>
                  <a:rPr kumimoji="0" lang="es" sz="900" b="0" i="0" u="none" strike="noStrike" kern="1200" cap="none" spc="0" normalizeH="0" baseline="0" noProof="0" dirty="0">
                    <a:ln>
                      <a:noFill/>
                    </a:ln>
                    <a:solidFill>
                      <a:srgbClr val="000000"/>
                    </a:solidFill>
                    <a:effectLst/>
                    <a:uLnTx/>
                    <a:uFillTx/>
                    <a:latin typeface="Graphik"/>
                    <a:ea typeface="+mn-ea"/>
                    <a:cs typeface="+mn-cs"/>
                  </a:rPr>
                  <a:t>ra automatizar procesos</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sp>
            <p:nvSpPr>
              <p:cNvPr id="101" name="Isosceles Triangle 100">
                <a:extLst>
                  <a:ext uri="{FF2B5EF4-FFF2-40B4-BE49-F238E27FC236}">
                    <a16:creationId xmlns:a16="http://schemas.microsoft.com/office/drawing/2014/main" id="{B95BEEBC-5D8D-A4FA-B2EB-E64CE8FDFDA7}"/>
                  </a:ext>
                </a:extLst>
              </p:cNvPr>
              <p:cNvSpPr/>
              <p:nvPr/>
            </p:nvSpPr>
            <p:spPr>
              <a:xfrm rot="5400000">
                <a:off x="6324256" y="193213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2" name="Isosceles Triangle 101">
                <a:extLst>
                  <a:ext uri="{FF2B5EF4-FFF2-40B4-BE49-F238E27FC236}">
                    <a16:creationId xmlns:a16="http://schemas.microsoft.com/office/drawing/2014/main" id="{4A209ECE-B7D4-32FF-9389-23C27AEA481F}"/>
                  </a:ext>
                </a:extLst>
              </p:cNvPr>
              <p:cNvSpPr/>
              <p:nvPr/>
            </p:nvSpPr>
            <p:spPr>
              <a:xfrm rot="12399715">
                <a:off x="6802106" y="23494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3" name="Isosceles Triangle 102">
                <a:extLst>
                  <a:ext uri="{FF2B5EF4-FFF2-40B4-BE49-F238E27FC236}">
                    <a16:creationId xmlns:a16="http://schemas.microsoft.com/office/drawing/2014/main" id="{73497C1F-8EEB-ADD3-ED3C-AA6E33A3FABE}"/>
                  </a:ext>
                </a:extLst>
              </p:cNvPr>
              <p:cNvSpPr/>
              <p:nvPr/>
            </p:nvSpPr>
            <p:spPr>
              <a:xfrm rot="16200000" flipH="1">
                <a:off x="6026995" y="2581827"/>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4" name="Isosceles Triangle 103">
                <a:extLst>
                  <a:ext uri="{FF2B5EF4-FFF2-40B4-BE49-F238E27FC236}">
                    <a16:creationId xmlns:a16="http://schemas.microsoft.com/office/drawing/2014/main" id="{C2365132-44DA-6312-CF0B-781AC4FF77B5}"/>
                  </a:ext>
                </a:extLst>
              </p:cNvPr>
              <p:cNvSpPr/>
              <p:nvPr/>
            </p:nvSpPr>
            <p:spPr>
              <a:xfrm rot="16200000" flipH="1">
                <a:off x="4302887" y="2583152"/>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5" name="Isosceles Triangle 104">
                <a:extLst>
                  <a:ext uri="{FF2B5EF4-FFF2-40B4-BE49-F238E27FC236}">
                    <a16:creationId xmlns:a16="http://schemas.microsoft.com/office/drawing/2014/main" id="{3B63E7C9-BE3D-A5EC-ECB3-F6FCA7B0B8DF}"/>
                  </a:ext>
                </a:extLst>
              </p:cNvPr>
              <p:cNvSpPr/>
              <p:nvPr/>
            </p:nvSpPr>
            <p:spPr>
              <a:xfrm rot="18647906" flipH="1">
                <a:off x="3318252" y="2377744"/>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106" name="Isosceles Triangle 105">
                <a:extLst>
                  <a:ext uri="{FF2B5EF4-FFF2-40B4-BE49-F238E27FC236}">
                    <a16:creationId xmlns:a16="http://schemas.microsoft.com/office/drawing/2014/main" id="{5BCBD579-607A-B357-8342-910CC539DCEE}"/>
                  </a:ext>
                </a:extLst>
              </p:cNvPr>
              <p:cNvSpPr/>
              <p:nvPr/>
            </p:nvSpPr>
            <p:spPr>
              <a:xfrm rot="5400000">
                <a:off x="3765805" y="1930739"/>
                <a:ext cx="144000" cy="72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grpSp>
        <p:sp>
          <p:nvSpPr>
            <p:cNvPr id="94" name="Arrow: Down 93">
              <a:extLst>
                <a:ext uri="{FF2B5EF4-FFF2-40B4-BE49-F238E27FC236}">
                  <a16:creationId xmlns:a16="http://schemas.microsoft.com/office/drawing/2014/main" id="{CE32DD6B-EC20-22CA-0097-DA4D4B7078E4}"/>
                </a:ext>
              </a:extLst>
            </p:cNvPr>
            <p:cNvSpPr/>
            <p:nvPr/>
          </p:nvSpPr>
          <p:spPr>
            <a:xfrm>
              <a:off x="4169300"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sp>
          <p:nvSpPr>
            <p:cNvPr id="95" name="Arrow: Down 94">
              <a:extLst>
                <a:ext uri="{FF2B5EF4-FFF2-40B4-BE49-F238E27FC236}">
                  <a16:creationId xmlns:a16="http://schemas.microsoft.com/office/drawing/2014/main" id="{588CD9FA-674A-89F5-93BA-F4BD3E14B1B9}"/>
                </a:ext>
              </a:extLst>
            </p:cNvPr>
            <p:cNvSpPr/>
            <p:nvPr/>
          </p:nvSpPr>
          <p:spPr>
            <a:xfrm>
              <a:off x="5465468" y="3631385"/>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sp>
        <p:nvSpPr>
          <p:cNvPr id="107" name="Rectangle 106">
            <a:extLst>
              <a:ext uri="{FF2B5EF4-FFF2-40B4-BE49-F238E27FC236}">
                <a16:creationId xmlns:a16="http://schemas.microsoft.com/office/drawing/2014/main" id="{0EBA33FD-E8E3-0ED9-24F9-A3B9B528A2D5}"/>
              </a:ext>
            </a:extLst>
          </p:cNvPr>
          <p:cNvSpPr/>
          <p:nvPr/>
        </p:nvSpPr>
        <p:spPr>
          <a:xfrm>
            <a:off x="10629303" y="4140168"/>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BI / Reportes</a:t>
            </a:r>
          </a:p>
        </p:txBody>
      </p:sp>
      <p:sp>
        <p:nvSpPr>
          <p:cNvPr id="108" name="Rectangle 107">
            <a:extLst>
              <a:ext uri="{FF2B5EF4-FFF2-40B4-BE49-F238E27FC236}">
                <a16:creationId xmlns:a16="http://schemas.microsoft.com/office/drawing/2014/main" id="{EF96BE6B-2F0C-9EA7-A293-A85D295453DC}"/>
              </a:ext>
            </a:extLst>
          </p:cNvPr>
          <p:cNvSpPr/>
          <p:nvPr/>
        </p:nvSpPr>
        <p:spPr>
          <a:xfrm>
            <a:off x="10629303" y="3434312"/>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Sandbox</a:t>
            </a:r>
          </a:p>
        </p:txBody>
      </p:sp>
      <p:cxnSp>
        <p:nvCxnSpPr>
          <p:cNvPr id="109" name="Connector: Elbow 108">
            <a:extLst>
              <a:ext uri="{FF2B5EF4-FFF2-40B4-BE49-F238E27FC236}">
                <a16:creationId xmlns:a16="http://schemas.microsoft.com/office/drawing/2014/main" id="{3EE928BA-904A-DAEC-9979-C5D4DAB2C346}"/>
              </a:ext>
            </a:extLst>
          </p:cNvPr>
          <p:cNvCxnSpPr>
            <a:cxnSpLocks/>
            <a:stCxn id="86" idx="3"/>
            <a:endCxn id="76" idx="1"/>
          </p:cNvCxnSpPr>
          <p:nvPr/>
        </p:nvCxnSpPr>
        <p:spPr>
          <a:xfrm>
            <a:off x="1654022" y="1270163"/>
            <a:ext cx="655815" cy="105500"/>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10" name="Group 109">
            <a:extLst>
              <a:ext uri="{FF2B5EF4-FFF2-40B4-BE49-F238E27FC236}">
                <a16:creationId xmlns:a16="http://schemas.microsoft.com/office/drawing/2014/main" id="{073AECD3-B836-05F5-459F-705BADCE8979}"/>
              </a:ext>
            </a:extLst>
          </p:cNvPr>
          <p:cNvGrpSpPr/>
          <p:nvPr/>
        </p:nvGrpSpPr>
        <p:grpSpPr>
          <a:xfrm>
            <a:off x="3699067" y="5599174"/>
            <a:ext cx="3273009" cy="901933"/>
            <a:chOff x="3458499" y="1543507"/>
            <a:chExt cx="3273009" cy="901933"/>
          </a:xfrm>
        </p:grpSpPr>
        <p:sp>
          <p:nvSpPr>
            <p:cNvPr id="111" name="Rectangle 110">
              <a:extLst>
                <a:ext uri="{FF2B5EF4-FFF2-40B4-BE49-F238E27FC236}">
                  <a16:creationId xmlns:a16="http://schemas.microsoft.com/office/drawing/2014/main" id="{DD9A07FF-7F30-FBEF-12EE-D03C50C55D94}"/>
                </a:ext>
              </a:extLst>
            </p:cNvPr>
            <p:cNvSpPr/>
            <p:nvPr/>
          </p:nvSpPr>
          <p:spPr>
            <a:xfrm>
              <a:off x="3458499" y="1543507"/>
              <a:ext cx="3273009"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Gestión de metadatos</a:t>
              </a:r>
            </a:p>
          </p:txBody>
        </p:sp>
        <p:sp>
          <p:nvSpPr>
            <p:cNvPr id="112" name="Rectangle 111">
              <a:extLst>
                <a:ext uri="{FF2B5EF4-FFF2-40B4-BE49-F238E27FC236}">
                  <a16:creationId xmlns:a16="http://schemas.microsoft.com/office/drawing/2014/main" id="{10799EAE-9C2E-3817-8AC9-2CDECFC69087}"/>
                </a:ext>
              </a:extLst>
            </p:cNvPr>
            <p:cNvSpPr/>
            <p:nvPr/>
          </p:nvSpPr>
          <p:spPr>
            <a:xfrm>
              <a:off x="3507226" y="1912214"/>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pasivos</a:t>
              </a:r>
            </a:p>
          </p:txBody>
        </p:sp>
        <p:sp>
          <p:nvSpPr>
            <p:cNvPr id="113" name="Rectangle 112">
              <a:extLst>
                <a:ext uri="{FF2B5EF4-FFF2-40B4-BE49-F238E27FC236}">
                  <a16:creationId xmlns:a16="http://schemas.microsoft.com/office/drawing/2014/main" id="{9C3A7FF3-0FEE-A56A-4F02-FD6DC46DAB97}"/>
                </a:ext>
              </a:extLst>
            </p:cNvPr>
            <p:cNvSpPr/>
            <p:nvPr/>
          </p:nvSpPr>
          <p:spPr>
            <a:xfrm>
              <a:off x="4327221" y="1904499"/>
              <a:ext cx="77968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en tiempo de ejecución</a:t>
              </a:r>
            </a:p>
          </p:txBody>
        </p:sp>
        <p:cxnSp>
          <p:nvCxnSpPr>
            <p:cNvPr id="114" name="Connector: Curved 113">
              <a:extLst>
                <a:ext uri="{FF2B5EF4-FFF2-40B4-BE49-F238E27FC236}">
                  <a16:creationId xmlns:a16="http://schemas.microsoft.com/office/drawing/2014/main" id="{39D41E18-29BC-B907-CD3B-D9CE58DE0E5A}"/>
                </a:ext>
              </a:extLst>
            </p:cNvPr>
            <p:cNvCxnSpPr>
              <a:cxnSpLocks/>
            </p:cNvCxnSpPr>
            <p:nvPr/>
          </p:nvCxnSpPr>
          <p:spPr>
            <a:xfrm rot="5400000" flipH="1" flipV="1">
              <a:off x="4144629" y="1762536"/>
              <a:ext cx="7715" cy="867640"/>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15" name="TextBox 114">
              <a:extLst>
                <a:ext uri="{FF2B5EF4-FFF2-40B4-BE49-F238E27FC236}">
                  <a16:creationId xmlns:a16="http://schemas.microsoft.com/office/drawing/2014/main" id="{433E250A-EFF9-41F2-6BF5-254ED3929908}"/>
                </a:ext>
              </a:extLst>
            </p:cNvPr>
            <p:cNvSpPr txBox="1"/>
            <p:nvPr/>
          </p:nvSpPr>
          <p:spPr>
            <a:xfrm>
              <a:off x="3722825" y="2261988"/>
              <a:ext cx="810071" cy="143092"/>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Comparar</a:t>
              </a:r>
            </a:p>
          </p:txBody>
        </p:sp>
        <p:sp>
          <p:nvSpPr>
            <p:cNvPr id="116" name="Rectangle 115">
              <a:extLst>
                <a:ext uri="{FF2B5EF4-FFF2-40B4-BE49-F238E27FC236}">
                  <a16:creationId xmlns:a16="http://schemas.microsoft.com/office/drawing/2014/main" id="{6CDF7152-FCFD-F41E-E8F0-C85F33A0359D}"/>
                </a:ext>
              </a:extLst>
            </p:cNvPr>
            <p:cNvSpPr/>
            <p:nvPr/>
          </p:nvSpPr>
          <p:spPr>
            <a:xfrm>
              <a:off x="5232657" y="1904498"/>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Recomendaciones de IA / ML</a:t>
              </a:r>
            </a:p>
          </p:txBody>
        </p:sp>
        <p:cxnSp>
          <p:nvCxnSpPr>
            <p:cNvPr id="117" name="Connector: Curved 116">
              <a:extLst>
                <a:ext uri="{FF2B5EF4-FFF2-40B4-BE49-F238E27FC236}">
                  <a16:creationId xmlns:a16="http://schemas.microsoft.com/office/drawing/2014/main" id="{64AFAC6C-B743-EBDF-801C-1C5DA673E070}"/>
                </a:ext>
              </a:extLst>
            </p:cNvPr>
            <p:cNvCxnSpPr/>
            <p:nvPr/>
          </p:nvCxnSpPr>
          <p:spPr>
            <a:xfrm rot="5400000" flipH="1" flipV="1">
              <a:off x="5252204" y="1786409"/>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0" name="TextBox 119">
              <a:extLst>
                <a:ext uri="{FF2B5EF4-FFF2-40B4-BE49-F238E27FC236}">
                  <a16:creationId xmlns:a16="http://schemas.microsoft.com/office/drawing/2014/main" id="{DB5F3EF0-F831-E6D1-C1EE-3B72D639169C}"/>
                </a:ext>
              </a:extLst>
            </p:cNvPr>
            <p:cNvSpPr txBox="1"/>
            <p:nvPr/>
          </p:nvSpPr>
          <p:spPr>
            <a:xfrm>
              <a:off x="4727888" y="2277000"/>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Alertas</a:t>
              </a:r>
            </a:p>
          </p:txBody>
        </p:sp>
        <p:sp>
          <p:nvSpPr>
            <p:cNvPr id="121" name="Rectangle 120">
              <a:extLst>
                <a:ext uri="{FF2B5EF4-FFF2-40B4-BE49-F238E27FC236}">
                  <a16:creationId xmlns:a16="http://schemas.microsoft.com/office/drawing/2014/main" id="{E65CF5C1-46DA-D46F-E083-F35850E93E3A}"/>
                </a:ext>
              </a:extLst>
            </p:cNvPr>
            <p:cNvSpPr/>
            <p:nvPr/>
          </p:nvSpPr>
          <p:spPr>
            <a:xfrm>
              <a:off x="6013505" y="1904497"/>
              <a:ext cx="684393"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700" b="0" i="0" u="none" strike="noStrike" kern="1200" cap="none" spc="0" normalizeH="0" baseline="0" noProof="0" dirty="0">
                  <a:ln>
                    <a:noFill/>
                  </a:ln>
                  <a:solidFill>
                    <a:srgbClr val="000000"/>
                  </a:solidFill>
                  <a:effectLst/>
                  <a:uLnTx/>
                  <a:uFillTx/>
                  <a:latin typeface="Graphik"/>
                  <a:ea typeface="+mn-ea"/>
                  <a:cs typeface="+mn-cs"/>
                </a:rPr>
                <a:t>Metadatos activos</a:t>
              </a:r>
            </a:p>
          </p:txBody>
        </p:sp>
        <p:cxnSp>
          <p:nvCxnSpPr>
            <p:cNvPr id="122" name="Connector: Curved 121">
              <a:extLst>
                <a:ext uri="{FF2B5EF4-FFF2-40B4-BE49-F238E27FC236}">
                  <a16:creationId xmlns:a16="http://schemas.microsoft.com/office/drawing/2014/main" id="{FF472A56-7686-9D65-051D-8656BB1ED716}"/>
                </a:ext>
              </a:extLst>
            </p:cNvPr>
            <p:cNvCxnSpPr/>
            <p:nvPr/>
          </p:nvCxnSpPr>
          <p:spPr>
            <a:xfrm rot="5400000" flipH="1" flipV="1">
              <a:off x="6198039" y="1796823"/>
              <a:ext cx="7715" cy="835322"/>
            </a:xfrm>
            <a:prstGeom prst="curvedConnector3">
              <a:avLst>
                <a:gd name="adj1" fmla="val -2963059"/>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23" name="TextBox 122">
              <a:extLst>
                <a:ext uri="{FF2B5EF4-FFF2-40B4-BE49-F238E27FC236}">
                  <a16:creationId xmlns:a16="http://schemas.microsoft.com/office/drawing/2014/main" id="{D5F2F1C1-8A32-1F94-38BF-9C4B7FD6A303}"/>
                </a:ext>
              </a:extLst>
            </p:cNvPr>
            <p:cNvSpPr txBox="1"/>
            <p:nvPr/>
          </p:nvSpPr>
          <p:spPr>
            <a:xfrm>
              <a:off x="5673723" y="2249314"/>
              <a:ext cx="1057373" cy="168440"/>
            </a:xfrm>
            <a:prstGeom prst="rect">
              <a:avLst/>
            </a:prstGeom>
            <a:noFill/>
          </p:spPr>
          <p:txBody>
            <a:bodyPr wrap="square" lIns="0" tIns="0" rIns="0" bIns="0" rtlCol="0">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Inferencias</a:t>
              </a:r>
            </a:p>
          </p:txBody>
        </p:sp>
      </p:grpSp>
      <p:cxnSp>
        <p:nvCxnSpPr>
          <p:cNvPr id="124" name="Connector: Elbow 123">
            <a:extLst>
              <a:ext uri="{FF2B5EF4-FFF2-40B4-BE49-F238E27FC236}">
                <a16:creationId xmlns:a16="http://schemas.microsoft.com/office/drawing/2014/main" id="{8658F008-37B8-71BE-AF25-AB42DA3A2492}"/>
              </a:ext>
            </a:extLst>
          </p:cNvPr>
          <p:cNvCxnSpPr>
            <a:cxnSpLocks/>
            <a:endCxn id="75" idx="1"/>
          </p:cNvCxnSpPr>
          <p:nvPr/>
        </p:nvCxnSpPr>
        <p:spPr>
          <a:xfrm flipV="1">
            <a:off x="1769727" y="2084282"/>
            <a:ext cx="544481" cy="1123777"/>
          </a:xfrm>
          <a:prstGeom prst="bentConnector3">
            <a:avLst>
              <a:gd name="adj1" fmla="val 50000"/>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4A29A9F2-3C92-33FC-401F-5557A8769FE0}"/>
              </a:ext>
            </a:extLst>
          </p:cNvPr>
          <p:cNvSpPr/>
          <p:nvPr/>
        </p:nvSpPr>
        <p:spPr>
          <a:xfrm>
            <a:off x="8263345"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Linaje de datos</a:t>
            </a:r>
          </a:p>
        </p:txBody>
      </p:sp>
      <p:sp>
        <p:nvSpPr>
          <p:cNvPr id="126" name="Rectangle 125">
            <a:extLst>
              <a:ext uri="{FF2B5EF4-FFF2-40B4-BE49-F238E27FC236}">
                <a16:creationId xmlns:a16="http://schemas.microsoft.com/office/drawing/2014/main" id="{E70A337A-D3D7-3921-816F-096B02A26D66}"/>
              </a:ext>
            </a:extLst>
          </p:cNvPr>
          <p:cNvSpPr/>
          <p:nvPr/>
        </p:nvSpPr>
        <p:spPr>
          <a:xfrm>
            <a:off x="7687235" y="3097996"/>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Acceso y privacidad</a:t>
            </a:r>
          </a:p>
        </p:txBody>
      </p:sp>
      <p:sp>
        <p:nvSpPr>
          <p:cNvPr id="127" name="Arrow: Up-Down 126">
            <a:extLst>
              <a:ext uri="{FF2B5EF4-FFF2-40B4-BE49-F238E27FC236}">
                <a16:creationId xmlns:a16="http://schemas.microsoft.com/office/drawing/2014/main" id="{CCBB3834-977A-45CA-6E5C-956AB36E4544}"/>
              </a:ext>
            </a:extLst>
          </p:cNvPr>
          <p:cNvSpPr/>
          <p:nvPr/>
        </p:nvSpPr>
        <p:spPr>
          <a:xfrm>
            <a:off x="8809011" y="3979585"/>
            <a:ext cx="186300" cy="419707"/>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0" i="0" u="none" strike="noStrike" kern="1200" cap="none" spc="0" normalizeH="0" baseline="0" noProof="0">
              <a:ln>
                <a:noFill/>
              </a:ln>
              <a:solidFill>
                <a:srgbClr val="000000"/>
              </a:solidFill>
              <a:effectLst/>
              <a:uLnTx/>
              <a:uFillTx/>
              <a:latin typeface="Graphik"/>
              <a:ea typeface="+mn-ea"/>
              <a:cs typeface="+mn-cs"/>
            </a:endParaRPr>
          </a:p>
        </p:txBody>
      </p:sp>
      <p:cxnSp>
        <p:nvCxnSpPr>
          <p:cNvPr id="128" name="Connector: Elbow 127">
            <a:extLst>
              <a:ext uri="{FF2B5EF4-FFF2-40B4-BE49-F238E27FC236}">
                <a16:creationId xmlns:a16="http://schemas.microsoft.com/office/drawing/2014/main" id="{96A855EF-40FC-74C2-6C88-61D28C03FBCE}"/>
              </a:ext>
            </a:extLst>
          </p:cNvPr>
          <p:cNvCxnSpPr>
            <a:cxnSpLocks/>
            <a:stCxn id="87" idx="3"/>
            <a:endCxn id="80" idx="0"/>
          </p:cNvCxnSpPr>
          <p:nvPr/>
        </p:nvCxnSpPr>
        <p:spPr>
          <a:xfrm>
            <a:off x="3292843" y="1699231"/>
            <a:ext cx="5627127" cy="1057608"/>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9" name="Arrow: Down 128">
            <a:extLst>
              <a:ext uri="{FF2B5EF4-FFF2-40B4-BE49-F238E27FC236}">
                <a16:creationId xmlns:a16="http://schemas.microsoft.com/office/drawing/2014/main" id="{449DACDD-D216-44C6-4C0A-E00016E45DDF}"/>
              </a:ext>
            </a:extLst>
          </p:cNvPr>
          <p:cNvSpPr/>
          <p:nvPr/>
        </p:nvSpPr>
        <p:spPr>
          <a:xfrm rot="16200000">
            <a:off x="10237514" y="2967989"/>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30" name="Rectangle 129">
            <a:extLst>
              <a:ext uri="{FF2B5EF4-FFF2-40B4-BE49-F238E27FC236}">
                <a16:creationId xmlns:a16="http://schemas.microsoft.com/office/drawing/2014/main" id="{F35B9076-D60B-2BD6-20B2-6740493F9D21}"/>
              </a:ext>
            </a:extLst>
          </p:cNvPr>
          <p:cNvSpPr/>
          <p:nvPr/>
        </p:nvSpPr>
        <p:spPr>
          <a:xfrm>
            <a:off x="9105131" y="3458969"/>
            <a:ext cx="764356"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Caché de datos</a:t>
            </a:r>
          </a:p>
        </p:txBody>
      </p:sp>
      <p:sp>
        <p:nvSpPr>
          <p:cNvPr id="131" name="Arrow: Down 130">
            <a:extLst>
              <a:ext uri="{FF2B5EF4-FFF2-40B4-BE49-F238E27FC236}">
                <a16:creationId xmlns:a16="http://schemas.microsoft.com/office/drawing/2014/main" id="{EC5D584F-F381-B6C2-4877-4C40883A1844}"/>
              </a:ext>
            </a:extLst>
          </p:cNvPr>
          <p:cNvSpPr/>
          <p:nvPr/>
        </p:nvSpPr>
        <p:spPr>
          <a:xfrm rot="16200000">
            <a:off x="10261260" y="4702713"/>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grpSp>
        <p:nvGrpSpPr>
          <p:cNvPr id="132" name="Group 131">
            <a:extLst>
              <a:ext uri="{FF2B5EF4-FFF2-40B4-BE49-F238E27FC236}">
                <a16:creationId xmlns:a16="http://schemas.microsoft.com/office/drawing/2014/main" id="{9FA22452-90A8-AE0D-3BC7-3192E85894C1}"/>
              </a:ext>
            </a:extLst>
          </p:cNvPr>
          <p:cNvGrpSpPr/>
          <p:nvPr/>
        </p:nvGrpSpPr>
        <p:grpSpPr>
          <a:xfrm>
            <a:off x="3699273" y="4670922"/>
            <a:ext cx="3272597" cy="726152"/>
            <a:chOff x="3284052" y="4346459"/>
            <a:chExt cx="3272597" cy="726152"/>
          </a:xfrm>
        </p:grpSpPr>
        <p:sp>
          <p:nvSpPr>
            <p:cNvPr id="133" name="Rectangle 132">
              <a:extLst>
                <a:ext uri="{FF2B5EF4-FFF2-40B4-BE49-F238E27FC236}">
                  <a16:creationId xmlns:a16="http://schemas.microsoft.com/office/drawing/2014/main" id="{A859B2D9-1710-9151-BD21-EC4EE8DC02FC}"/>
                </a:ext>
              </a:extLst>
            </p:cNvPr>
            <p:cNvSpPr/>
            <p:nvPr/>
          </p:nvSpPr>
          <p:spPr>
            <a:xfrm>
              <a:off x="3284052" y="4346459"/>
              <a:ext cx="3272597" cy="288000"/>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FFFFFF"/>
                  </a:solidFill>
                  <a:effectLst/>
                  <a:uLnTx/>
                  <a:uFillTx/>
                  <a:latin typeface="Graphik"/>
                  <a:ea typeface="+mn-ea"/>
                  <a:cs typeface="+mn-cs"/>
                </a:rPr>
                <a:t>Grafo de conocimiento y enriquecimiento</a:t>
              </a:r>
            </a:p>
          </p:txBody>
        </p:sp>
        <p:sp>
          <p:nvSpPr>
            <p:cNvPr id="134" name="Rectangle 133">
              <a:extLst>
                <a:ext uri="{FF2B5EF4-FFF2-40B4-BE49-F238E27FC236}">
                  <a16:creationId xmlns:a16="http://schemas.microsoft.com/office/drawing/2014/main" id="{5310DF8A-BFE7-7020-00FD-F23DF6B6D0A3}"/>
                </a:ext>
              </a:extLst>
            </p:cNvPr>
            <p:cNvSpPr/>
            <p:nvPr/>
          </p:nvSpPr>
          <p:spPr>
            <a:xfrm>
              <a:off x="3304509" y="4717968"/>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Cartografía</a:t>
              </a:r>
            </a:p>
          </p:txBody>
        </p:sp>
        <p:sp>
          <p:nvSpPr>
            <p:cNvPr id="135" name="Rectangle 134">
              <a:extLst>
                <a:ext uri="{FF2B5EF4-FFF2-40B4-BE49-F238E27FC236}">
                  <a16:creationId xmlns:a16="http://schemas.microsoft.com/office/drawing/2014/main" id="{5968BED7-BA50-4BFB-5D3A-EA3F546B7096}"/>
                </a:ext>
              </a:extLst>
            </p:cNvPr>
            <p:cNvSpPr/>
            <p:nvPr/>
          </p:nvSpPr>
          <p:spPr>
            <a:xfrm>
              <a:off x="4433294" y="4715165"/>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Notación ontológica </a:t>
              </a:r>
            </a:p>
          </p:txBody>
        </p:sp>
        <p:sp>
          <p:nvSpPr>
            <p:cNvPr id="136" name="Cylinder 135">
              <a:extLst>
                <a:ext uri="{FF2B5EF4-FFF2-40B4-BE49-F238E27FC236}">
                  <a16:creationId xmlns:a16="http://schemas.microsoft.com/office/drawing/2014/main" id="{9A82C37D-D5AA-1406-6A34-56D2556C182D}"/>
                </a:ext>
              </a:extLst>
            </p:cNvPr>
            <p:cNvSpPr/>
            <p:nvPr/>
          </p:nvSpPr>
          <p:spPr>
            <a:xfrm>
              <a:off x="5613177" y="4699095"/>
              <a:ext cx="930052" cy="373516"/>
            </a:xfrm>
            <a:prstGeom prst="can">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Grafo de conocimiento</a:t>
              </a:r>
              <a:endParaRPr kumimoji="0" lang="es-MX" sz="900" b="0" i="0" u="none" strike="noStrike" kern="1200" cap="none" spc="0" normalizeH="0" baseline="0" noProof="0" dirty="0">
                <a:ln>
                  <a:noFill/>
                </a:ln>
                <a:solidFill>
                  <a:srgbClr val="000000"/>
                </a:solidFill>
                <a:effectLst/>
                <a:uLnTx/>
                <a:uFillTx/>
                <a:latin typeface="Graphik"/>
                <a:ea typeface="+mn-ea"/>
                <a:cs typeface="+mn-cs"/>
              </a:endParaRPr>
            </a:p>
          </p:txBody>
        </p:sp>
      </p:grpSp>
      <p:sp>
        <p:nvSpPr>
          <p:cNvPr id="137" name="Rectangle: Rounded Corners 136">
            <a:extLst>
              <a:ext uri="{FF2B5EF4-FFF2-40B4-BE49-F238E27FC236}">
                <a16:creationId xmlns:a16="http://schemas.microsoft.com/office/drawing/2014/main" id="{FCEF95AE-3010-B72C-B26D-C9599F0D3251}"/>
              </a:ext>
            </a:extLst>
          </p:cNvPr>
          <p:cNvSpPr/>
          <p:nvPr/>
        </p:nvSpPr>
        <p:spPr>
          <a:xfrm>
            <a:off x="3483571" y="2523349"/>
            <a:ext cx="3727802" cy="4037207"/>
          </a:xfrm>
          <a:prstGeom prst="roundRect">
            <a:avLst>
              <a:gd name="adj" fmla="val 3757"/>
            </a:avLst>
          </a:prstGeom>
          <a:noFill/>
          <a:ln>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a:ln>
                  <a:noFill/>
                </a:ln>
                <a:solidFill>
                  <a:srgbClr val="000000"/>
                </a:solidFill>
                <a:effectLst/>
                <a:uLnTx/>
                <a:uFillTx/>
                <a:latin typeface="Graphik"/>
                <a:ea typeface="+mn-ea"/>
                <a:cs typeface="+mn-cs"/>
              </a:rPr>
              <a:t>Catálogo de datos y modelado</a:t>
            </a:r>
            <a:endParaRPr kumimoji="0" lang="es-MX" sz="1000" b="1" i="0" u="none" strike="noStrike" kern="1200" cap="none" spc="0" normalizeH="0" baseline="0" noProof="0">
              <a:ln>
                <a:noFill/>
              </a:ln>
              <a:solidFill>
                <a:srgbClr val="000000"/>
              </a:solidFill>
              <a:effectLst/>
              <a:uLnTx/>
              <a:uFillTx/>
              <a:latin typeface="Graphik"/>
              <a:ea typeface="+mn-ea"/>
              <a:cs typeface="+mn-cs"/>
            </a:endParaRPr>
          </a:p>
        </p:txBody>
      </p:sp>
      <p:cxnSp>
        <p:nvCxnSpPr>
          <p:cNvPr id="138" name="Connector: Elbow 137">
            <a:extLst>
              <a:ext uri="{FF2B5EF4-FFF2-40B4-BE49-F238E27FC236}">
                <a16:creationId xmlns:a16="http://schemas.microsoft.com/office/drawing/2014/main" id="{582F12F0-9E37-6E69-7E4F-15FB8EE39EEA}"/>
              </a:ext>
            </a:extLst>
          </p:cNvPr>
          <p:cNvCxnSpPr>
            <a:cxnSpLocks/>
            <a:stCxn id="88" idx="3"/>
            <a:endCxn id="80" idx="0"/>
          </p:cNvCxnSpPr>
          <p:nvPr/>
        </p:nvCxnSpPr>
        <p:spPr>
          <a:xfrm>
            <a:off x="3276442" y="2427099"/>
            <a:ext cx="5643528" cy="329740"/>
          </a:xfrm>
          <a:prstGeom prst="bentConnector2">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9" name="Rectangle 138">
            <a:extLst>
              <a:ext uri="{FF2B5EF4-FFF2-40B4-BE49-F238E27FC236}">
                <a16:creationId xmlns:a16="http://schemas.microsoft.com/office/drawing/2014/main" id="{45D9D988-A0A8-8C85-CC7F-EECE4B0B7692}"/>
              </a:ext>
            </a:extLst>
          </p:cNvPr>
          <p:cNvSpPr/>
          <p:nvPr/>
        </p:nvSpPr>
        <p:spPr>
          <a:xfrm>
            <a:off x="2194523" y="3463034"/>
            <a:ext cx="930052" cy="287999"/>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Conectores</a:t>
            </a:r>
          </a:p>
        </p:txBody>
      </p:sp>
      <p:sp>
        <p:nvSpPr>
          <p:cNvPr id="140" name="Rectangle 139">
            <a:extLst>
              <a:ext uri="{FF2B5EF4-FFF2-40B4-BE49-F238E27FC236}">
                <a16:creationId xmlns:a16="http://schemas.microsoft.com/office/drawing/2014/main" id="{AD8DC327-AA9E-0C5E-34B4-E1117A049D9D}"/>
              </a:ext>
            </a:extLst>
          </p:cNvPr>
          <p:cNvSpPr/>
          <p:nvPr/>
        </p:nvSpPr>
        <p:spPr>
          <a:xfrm>
            <a:off x="2194524" y="3874157"/>
            <a:ext cx="930052"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APIs</a:t>
            </a:r>
          </a:p>
        </p:txBody>
      </p:sp>
      <p:sp>
        <p:nvSpPr>
          <p:cNvPr id="141" name="Arrow: Down 140">
            <a:extLst>
              <a:ext uri="{FF2B5EF4-FFF2-40B4-BE49-F238E27FC236}">
                <a16:creationId xmlns:a16="http://schemas.microsoft.com/office/drawing/2014/main" id="{2BD2674B-A440-6536-456A-380E056D19CE}"/>
              </a:ext>
            </a:extLst>
          </p:cNvPr>
          <p:cNvSpPr/>
          <p:nvPr/>
        </p:nvSpPr>
        <p:spPr>
          <a:xfrm rot="16200000">
            <a:off x="1908086" y="3663104"/>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2" name="Arrow: Down 141">
            <a:extLst>
              <a:ext uri="{FF2B5EF4-FFF2-40B4-BE49-F238E27FC236}">
                <a16:creationId xmlns:a16="http://schemas.microsoft.com/office/drawing/2014/main" id="{BDDA44C0-E245-660F-E527-6A1D28451834}"/>
              </a:ext>
            </a:extLst>
          </p:cNvPr>
          <p:cNvSpPr/>
          <p:nvPr/>
        </p:nvSpPr>
        <p:spPr>
          <a:xfrm rot="16200000">
            <a:off x="3258166" y="3705808"/>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43" name="Rectangle 142">
            <a:extLst>
              <a:ext uri="{FF2B5EF4-FFF2-40B4-BE49-F238E27FC236}">
                <a16:creationId xmlns:a16="http://schemas.microsoft.com/office/drawing/2014/main" id="{F31938FF-08BD-007A-0822-096C288EDDF7}"/>
              </a:ext>
            </a:extLst>
          </p:cNvPr>
          <p:cNvSpPr/>
          <p:nvPr/>
        </p:nvSpPr>
        <p:spPr>
          <a:xfrm>
            <a:off x="10629302" y="4488306"/>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4" name="Rectangle 143">
            <a:extLst>
              <a:ext uri="{FF2B5EF4-FFF2-40B4-BE49-F238E27FC236}">
                <a16:creationId xmlns:a16="http://schemas.microsoft.com/office/drawing/2014/main" id="{CF96E24E-BF62-DBEB-253A-869F286D85A9}"/>
              </a:ext>
            </a:extLst>
          </p:cNvPr>
          <p:cNvSpPr/>
          <p:nvPr/>
        </p:nvSpPr>
        <p:spPr>
          <a:xfrm>
            <a:off x="275458" y="4468850"/>
            <a:ext cx="1346837" cy="28800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a:t>
            </a:r>
          </a:p>
        </p:txBody>
      </p:sp>
      <p:sp>
        <p:nvSpPr>
          <p:cNvPr id="145" name="TextBox 144">
            <a:extLst>
              <a:ext uri="{FF2B5EF4-FFF2-40B4-BE49-F238E27FC236}">
                <a16:creationId xmlns:a16="http://schemas.microsoft.com/office/drawing/2014/main" id="{64D977A7-898E-B795-1C7A-2B588947CACF}"/>
              </a:ext>
            </a:extLst>
          </p:cNvPr>
          <p:cNvSpPr txBox="1"/>
          <p:nvPr/>
        </p:nvSpPr>
        <p:spPr>
          <a:xfrm>
            <a:off x="3422378" y="1188484"/>
            <a:ext cx="2552423" cy="246221"/>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 sz="1000" b="1" i="0" u="none" strike="noStrike" kern="1200" cap="none" spc="0" normalizeH="0" baseline="0" noProof="0" dirty="0">
                <a:ln>
                  <a:noFill/>
                </a:ln>
                <a:solidFill>
                  <a:srgbClr val="000000"/>
                </a:solidFill>
                <a:effectLst/>
                <a:uLnTx/>
                <a:uFillTx/>
                <a:latin typeface="Graphik"/>
                <a:ea typeface="+mn-ea"/>
                <a:cs typeface="+mn-cs"/>
              </a:rPr>
              <a:t>Flujos de datos y distribución</a:t>
            </a:r>
            <a:endParaRPr kumimoji="0" lang="es-MX" sz="1000" b="1" i="0" u="none" strike="noStrike" kern="1200" cap="none" spc="0" normalizeH="0" baseline="0" noProof="0" dirty="0">
              <a:ln>
                <a:noFill/>
              </a:ln>
              <a:solidFill>
                <a:srgbClr val="000000"/>
              </a:solidFill>
              <a:effectLst/>
              <a:uLnTx/>
              <a:uFillTx/>
              <a:latin typeface="Graphik"/>
              <a:ea typeface="+mn-ea"/>
              <a:cs typeface="+mn-cs"/>
            </a:endParaRPr>
          </a:p>
        </p:txBody>
      </p:sp>
      <p:sp>
        <p:nvSpPr>
          <p:cNvPr id="146" name="TextBox 145">
            <a:extLst>
              <a:ext uri="{FF2B5EF4-FFF2-40B4-BE49-F238E27FC236}">
                <a16:creationId xmlns:a16="http://schemas.microsoft.com/office/drawing/2014/main" id="{A62830A0-C134-BD77-9C75-297D0753B1A0}"/>
              </a:ext>
            </a:extLst>
          </p:cNvPr>
          <p:cNvSpPr txBox="1"/>
          <p:nvPr/>
        </p:nvSpPr>
        <p:spPr>
          <a:xfrm>
            <a:off x="3422378" y="1962733"/>
            <a:ext cx="2199532" cy="246221"/>
          </a:xfrm>
          <a:prstGeom prst="rect">
            <a:avLst/>
          </a:prstGeom>
          <a:noFill/>
        </p:spPr>
        <p:txBody>
          <a:bodyPr wrap="square">
            <a:spAutoFit/>
          </a:bodyPr>
          <a:lstStyle/>
          <a:p>
            <a:pPr lvl="0">
              <a:defRPr/>
            </a:pPr>
            <a:r>
              <a:rPr lang="es" sz="1000" b="1" dirty="0">
                <a:solidFill>
                  <a:srgbClr val="000000"/>
                </a:solidFill>
              </a:rPr>
              <a:t>Flujos de datos y distribución</a:t>
            </a:r>
            <a:endParaRPr lang="es-MX" sz="1000" b="1" dirty="0">
              <a:solidFill>
                <a:srgbClr val="000000"/>
              </a:solidFill>
            </a:endParaRPr>
          </a:p>
        </p:txBody>
      </p:sp>
      <p:cxnSp>
        <p:nvCxnSpPr>
          <p:cNvPr id="147" name="Connector: Elbow 146">
            <a:extLst>
              <a:ext uri="{FF2B5EF4-FFF2-40B4-BE49-F238E27FC236}">
                <a16:creationId xmlns:a16="http://schemas.microsoft.com/office/drawing/2014/main" id="{B286E070-9F79-8C83-3696-E1A0B666F2EF}"/>
              </a:ext>
            </a:extLst>
          </p:cNvPr>
          <p:cNvCxnSpPr>
            <a:stCxn id="87" idx="3"/>
            <a:endCxn id="77" idx="1"/>
          </p:cNvCxnSpPr>
          <p:nvPr/>
        </p:nvCxnSpPr>
        <p:spPr>
          <a:xfrm>
            <a:off x="3292843" y="1699231"/>
            <a:ext cx="4411708" cy="2969975"/>
          </a:xfrm>
          <a:prstGeom prst="bentConnector3">
            <a:avLst>
              <a:gd name="adj1" fmla="val 9365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Connector: Elbow 147">
            <a:extLst>
              <a:ext uri="{FF2B5EF4-FFF2-40B4-BE49-F238E27FC236}">
                <a16:creationId xmlns:a16="http://schemas.microsoft.com/office/drawing/2014/main" id="{B947090F-B5EC-46B2-F431-56BFAFF7AC38}"/>
              </a:ext>
            </a:extLst>
          </p:cNvPr>
          <p:cNvCxnSpPr>
            <a:cxnSpLocks/>
            <a:stCxn id="88" idx="3"/>
            <a:endCxn id="80" idx="1"/>
          </p:cNvCxnSpPr>
          <p:nvPr/>
        </p:nvCxnSpPr>
        <p:spPr>
          <a:xfrm>
            <a:off x="3276442" y="2427099"/>
            <a:ext cx="4410793" cy="473740"/>
          </a:xfrm>
          <a:prstGeom prst="bentConnector3">
            <a:avLst>
              <a:gd name="adj1" fmla="val 93888"/>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9" name="Arrow: Down 148">
            <a:extLst>
              <a:ext uri="{FF2B5EF4-FFF2-40B4-BE49-F238E27FC236}">
                <a16:creationId xmlns:a16="http://schemas.microsoft.com/office/drawing/2014/main" id="{BB8ECB69-282B-0521-F1FB-2CF47E9763D3}"/>
              </a:ext>
            </a:extLst>
          </p:cNvPr>
          <p:cNvSpPr/>
          <p:nvPr/>
        </p:nvSpPr>
        <p:spPr>
          <a:xfrm rot="16200000">
            <a:off x="7349182" y="3061301"/>
            <a:ext cx="147709" cy="180717"/>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MX" sz="1400" b="1" i="0" u="none" strike="noStrike" kern="1200" cap="none" spc="0" normalizeH="0" baseline="0" noProof="0">
              <a:ln>
                <a:noFill/>
              </a:ln>
              <a:solidFill>
                <a:srgbClr val="000000"/>
              </a:solidFill>
              <a:effectLst/>
              <a:uLnTx/>
              <a:uFillTx/>
              <a:latin typeface="Graphik"/>
              <a:ea typeface="+mn-ea"/>
              <a:cs typeface="+mn-cs"/>
            </a:endParaRPr>
          </a:p>
        </p:txBody>
      </p:sp>
      <p:sp>
        <p:nvSpPr>
          <p:cNvPr id="153" name="Rectangle 152">
            <a:extLst>
              <a:ext uri="{FF2B5EF4-FFF2-40B4-BE49-F238E27FC236}">
                <a16:creationId xmlns:a16="http://schemas.microsoft.com/office/drawing/2014/main" id="{2E528A92-60E0-7BAA-8D33-0F4C1B683384}"/>
              </a:ext>
            </a:extLst>
          </p:cNvPr>
          <p:cNvSpPr/>
          <p:nvPr/>
        </p:nvSpPr>
        <p:spPr>
          <a:xfrm>
            <a:off x="1788777" y="980466"/>
            <a:ext cx="7972474" cy="141451"/>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a:ln>
                  <a:noFill/>
                </a:ln>
                <a:solidFill>
                  <a:srgbClr val="000000"/>
                </a:solidFill>
                <a:effectLst/>
                <a:uLnTx/>
                <a:uFillTx/>
                <a:latin typeface="Graphik"/>
                <a:ea typeface="+mn-ea"/>
                <a:cs typeface="+mn-cs"/>
              </a:rPr>
              <a:t>Observabilidad</a:t>
            </a:r>
          </a:p>
        </p:txBody>
      </p:sp>
      <p:sp>
        <p:nvSpPr>
          <p:cNvPr id="8" name="Rectangle 7">
            <a:extLst>
              <a:ext uri="{FF2B5EF4-FFF2-40B4-BE49-F238E27FC236}">
                <a16:creationId xmlns:a16="http://schemas.microsoft.com/office/drawing/2014/main" id="{2FBB74E9-A277-05A7-BC5B-C356DD618F3F}"/>
              </a:ext>
            </a:extLst>
          </p:cNvPr>
          <p:cNvSpPr/>
          <p:nvPr/>
        </p:nvSpPr>
        <p:spPr>
          <a:xfrm>
            <a:off x="8405867" y="5896820"/>
            <a:ext cx="3439086" cy="205327"/>
          </a:xfrm>
          <a:prstGeom prst="rect">
            <a:avLst/>
          </a:prstGeom>
          <a:solidFill>
            <a:schemeClr val="accent3">
              <a:lumMod val="40000"/>
              <a:lumOff val="6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FFFFFF"/>
                </a:solidFill>
                <a:effectLst/>
                <a:uLnTx/>
                <a:uFillTx/>
                <a:latin typeface="Graphik"/>
                <a:ea typeface="+mn-ea"/>
                <a:cs typeface="+mn-cs"/>
              </a:rPr>
              <a:t>Componentes principales de esta capacidad</a:t>
            </a:r>
          </a:p>
        </p:txBody>
      </p:sp>
      <p:sp>
        <p:nvSpPr>
          <p:cNvPr id="10" name="Rectangle 9">
            <a:extLst>
              <a:ext uri="{FF2B5EF4-FFF2-40B4-BE49-F238E27FC236}">
                <a16:creationId xmlns:a16="http://schemas.microsoft.com/office/drawing/2014/main" id="{3BA2A13E-8E81-424C-9600-EB19F7CE01D9}"/>
              </a:ext>
            </a:extLst>
          </p:cNvPr>
          <p:cNvSpPr/>
          <p:nvPr/>
        </p:nvSpPr>
        <p:spPr>
          <a:xfrm>
            <a:off x="8405867" y="6130972"/>
            <a:ext cx="3439086" cy="18760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de otras capacidades relacionadas</a:t>
            </a:r>
          </a:p>
        </p:txBody>
      </p:sp>
      <p:sp>
        <p:nvSpPr>
          <p:cNvPr id="12" name="Rectangle 11">
            <a:extLst>
              <a:ext uri="{FF2B5EF4-FFF2-40B4-BE49-F238E27FC236}">
                <a16:creationId xmlns:a16="http://schemas.microsoft.com/office/drawing/2014/main" id="{360FB1C9-5371-1060-C5AA-589917EC59A5}"/>
              </a:ext>
            </a:extLst>
          </p:cNvPr>
          <p:cNvSpPr/>
          <p:nvPr/>
        </p:nvSpPr>
        <p:spPr>
          <a:xfrm>
            <a:off x="8405866" y="6347397"/>
            <a:ext cx="3439086" cy="165055"/>
          </a:xfrm>
          <a:prstGeom prst="rect">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 sz="900" b="0" i="0" u="none" strike="noStrike" kern="1200" cap="none" spc="0" normalizeH="0" baseline="0" noProof="0" dirty="0">
                <a:ln>
                  <a:noFill/>
                </a:ln>
                <a:solidFill>
                  <a:srgbClr val="000000"/>
                </a:solidFill>
                <a:effectLst/>
                <a:uLnTx/>
                <a:uFillTx/>
                <a:latin typeface="Graphik"/>
                <a:ea typeface="+mn-ea"/>
                <a:cs typeface="+mn-cs"/>
              </a:rPr>
              <a:t>Componentes funcionales relacionados con esta capacidad</a:t>
            </a:r>
          </a:p>
        </p:txBody>
      </p:sp>
    </p:spTree>
    <p:extLst>
      <p:ext uri="{BB962C8B-B14F-4D97-AF65-F5344CB8AC3E}">
        <p14:creationId xmlns:p14="http://schemas.microsoft.com/office/powerpoint/2010/main" val="32182403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QPT_STAMP" val="00"/>
</p:tagLst>
</file>

<file path=ppt/theme/theme1.xml><?xml version="1.0" encoding="utf-8"?>
<a:theme xmlns:a="http://schemas.openxmlformats.org/drawingml/2006/main" name="Accenture 2020">
  <a:themeElements>
    <a:clrScheme name="accenture new">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custClrLst>
    <a:custClr name="Accent Purple 1">
      <a:srgbClr val="B455AA"/>
    </a:custClr>
    <a:custClr name="Accent Purple 2">
      <a:srgbClr val="A055F5"/>
    </a:custClr>
    <a:custClr name="Accent Purple 3">
      <a:srgbClr val="BE82FF"/>
    </a:custClr>
    <a:custClr name="Accent Purple 4">
      <a:srgbClr val="DCAFFF"/>
    </a:custClr>
    <a:custClr name="Accent Purple 5">
      <a:srgbClr val="E6DCFF"/>
    </a:custClr>
    <a:custClr name="BLANK">
      <a:srgbClr val="FFFFFF"/>
    </a:custClr>
    <a:custClr name="BLANK">
      <a:srgbClr val="FFFFFF"/>
    </a:custClr>
    <a:custClr name="BLANK">
      <a:srgbClr val="FFFFFF"/>
    </a:custClr>
    <a:custClr name="BLANK">
      <a:srgbClr val="FFFFFF"/>
    </a:custClr>
    <a:custClr name="BLANK">
      <a:srgbClr val="FFFFFF"/>
    </a:custClr>
    <a:custClr name="Blue">
      <a:srgbClr val="0041F0"/>
    </a:custClr>
    <a:custClr name="Light Blue">
      <a:srgbClr val="00FFFF"/>
    </a:custClr>
    <a:custClr name="Green">
      <a:srgbClr val="64FF50"/>
    </a:custClr>
    <a:custClr name="Blue Green">
      <a:srgbClr val="05F0A5"/>
    </a:custClr>
    <a:custClr name="Red">
      <a:srgbClr val="FF3246"/>
    </a:custClr>
    <a:custClr name="Pink">
      <a:srgbClr val="FF50A0"/>
    </a:custClr>
    <a:custClr name="Orange">
      <a:srgbClr val="FF7800"/>
    </a:custClr>
    <a:custClr name="Yellow">
      <a:srgbClr val="FFEB32"/>
    </a:custClr>
    <a:custClr name="BLANK">
      <a:srgbClr val="FFFFFF"/>
    </a:custClr>
    <a:custClr name="BLANK">
      <a:srgbClr val="FFFFFF"/>
    </a:custClr>
  </a:custClrLst>
  <a:extLst>
    <a:ext uri="{05A4C25C-085E-4340-85A3-A5531E510DB2}">
      <thm15:themeFamily xmlns:thm15="http://schemas.microsoft.com/office/thememl/2012/main" name="IMP_Acc_PPT_Tmplt_Graphik_210225_Fixed_Accessible.potx" id="{80BF15C9-A5DA-472C-9F1E-82F4EBB43D59}" vid="{02DD174B-CE7A-418B-90DA-AC9D16AAE5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C2648767ADDAC4198CE9FAE936A0E2E" ma:contentTypeVersion="10" ma:contentTypeDescription="Create a new document." ma:contentTypeScope="" ma:versionID="bfce7f8d432cf4f2b54d649024185cc8">
  <xsd:schema xmlns:xsd="http://www.w3.org/2001/XMLSchema" xmlns:xs="http://www.w3.org/2001/XMLSchema" xmlns:p="http://schemas.microsoft.com/office/2006/metadata/properties" xmlns:ns2="bcf21e1d-e7b2-4ba8-bb72-ca5e3ff425f9" targetNamespace="http://schemas.microsoft.com/office/2006/metadata/properties" ma:root="true" ma:fieldsID="db0e3ff7a073da1765cf4c642dfd2d3e" ns2:_="">
    <xsd:import namespace="bcf21e1d-e7b2-4ba8-bb72-ca5e3ff425f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f21e1d-e7b2-4ba8-bb72-ca5e3ff42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displayName="Image Tags_0" ma:hidden="true" ma:internalName="lcf76f155ced4ddcb4097134ff3c332f">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cf21e1d-e7b2-4ba8-bb72-ca5e3ff425f9" xsi:nil="true"/>
  </documentManagement>
</p:properties>
</file>

<file path=customXml/itemProps1.xml><?xml version="1.0" encoding="utf-8"?>
<ds:datastoreItem xmlns:ds="http://schemas.openxmlformats.org/officeDocument/2006/customXml" ds:itemID="{548AD657-25AC-4F50-95F1-0B029CF60CB1}">
  <ds:schemaRefs>
    <ds:schemaRef ds:uri="http://schemas.microsoft.com/sharepoint/v3/contenttype/forms"/>
  </ds:schemaRefs>
</ds:datastoreItem>
</file>

<file path=customXml/itemProps2.xml><?xml version="1.0" encoding="utf-8"?>
<ds:datastoreItem xmlns:ds="http://schemas.openxmlformats.org/officeDocument/2006/customXml" ds:itemID="{A7E6439D-DCA4-4980-9C0F-BCC30A215455}">
  <ds:schemaRefs>
    <ds:schemaRef ds:uri="bcf21e1d-e7b2-4ba8-bb72-ca5e3ff425f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1CD996F-457C-414C-8BBE-D8D5442B4851}">
  <ds:schemaRefs>
    <ds:schemaRef ds:uri="bcf21e1d-e7b2-4ba8-bb72-ca5e3ff425f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582</TotalTime>
  <Words>18537</Words>
  <Application>Microsoft Office PowerPoint</Application>
  <PresentationFormat>Widescreen</PresentationFormat>
  <Paragraphs>3100</Paragraphs>
  <Slides>55</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55</vt:i4>
      </vt:variant>
    </vt:vector>
  </HeadingPairs>
  <TitlesOfParts>
    <vt:vector size="64" baseType="lpstr">
      <vt:lpstr>Arial</vt:lpstr>
      <vt:lpstr>Calibri</vt:lpstr>
      <vt:lpstr>Graphik</vt:lpstr>
      <vt:lpstr>Graphik (Body)</vt:lpstr>
      <vt:lpstr>Graphik Light</vt:lpstr>
      <vt:lpstr>Graphik Medium</vt:lpstr>
      <vt:lpstr>Graphik Regular</vt:lpstr>
      <vt:lpstr>Graphik Semibold</vt:lpstr>
      <vt:lpstr>Accenture 2020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Pietrzyk, Lukasz</dc:creator>
  <cp:lastModifiedBy>Villena, Jose</cp:lastModifiedBy>
  <cp:revision>2</cp:revision>
  <dcterms:created xsi:type="dcterms:W3CDTF">2026-08-04T17:07:05Z</dcterms:created>
  <dcterms:modified xsi:type="dcterms:W3CDTF">2026-08-13T00:37:00Z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0x010100CC2648767ADDAC4198CE9FAE936A0E2E</vt:lpwstr>
  </property>
</Properties>
</file>