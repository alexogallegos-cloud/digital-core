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13716000"/>
  <p:notesSz cx="13716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Contratacion_Deposito_Plazo_Trazabilidad.pptx: referencia visual y estructura de trazabilidad.
- Consolidacion y priorizacion_HUs_R4_v2.xlsx: historias de usuario R4 usadas para el caso. HUs: SMART-4219, SMART-3964, SMART-4226, SMART-3963, SMART-3966, PTCF-6144, SMART-3962, HDU-CAT-R4-01 a 12.
- Inventario de Integraciones_HUs_ R4_v1.0.xlsx: interfaces R4 documentadas y patrones de integración relacionados.
- Interoperability_Capability_Hierarchy_BanCoppel_Solutions.xlsx: jerarquía de capacidades de interoperabilidad.
- R4_Interoperability_Capabilities_Required.xlsx: baseline de capacidades de interoperabilidad requeridas para R4.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4752" y="128016"/>
            <a:ext cx="365760" cy="365760"/>
          </a:xfrm>
          <a:prstGeom prst="ellipse">
            <a:avLst/>
          </a:prstGeom>
          <a:solidFill>
            <a:srgbClr val="123A63"/>
          </a:solidFill>
          <a:ln w="10160">
            <a:solidFill>
              <a:srgbClr val="123A63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R4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1874520" y="109728"/>
            <a:ext cx="5577840" cy="438912"/>
          </a:xfrm>
          <a:prstGeom prst="roundRect">
            <a:avLst/>
          </a:prstGeom>
          <a:solidFill>
            <a:srgbClr val="123A63"/>
          </a:solidFill>
          <a:ln w="10160">
            <a:solidFill>
              <a:srgbClr val="123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OMNICANAL TDC FÍSICA Y DIGITAL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1261872" y="658368"/>
            <a:ext cx="6629400" cy="384048"/>
          </a:xfrm>
          <a:prstGeom prst="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habilitado por interoperabilidad para consultar, activar, bloquear, desbloquear y cancelar tarjetas físicas/digitales con visión consistente entre canales.</a:t>
            </a:r>
            <a:endParaRPr lang="en-US" sz="690" dirty="0"/>
          </a:p>
        </p:txBody>
      </p:sp>
      <p:sp>
        <p:nvSpPr>
          <p:cNvPr id="5" name="Text 3"/>
          <p:cNvSpPr/>
          <p:nvPr/>
        </p:nvSpPr>
        <p:spPr>
          <a:xfrm>
            <a:off x="201168" y="1417320"/>
            <a:ext cx="1170432" cy="8869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DD0E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endParaRPr lang="en-US" sz="640" dirty="0"/>
          </a:p>
        </p:txBody>
      </p:sp>
      <p:sp>
        <p:nvSpPr>
          <p:cNvPr id="6" name="Text 4"/>
          <p:cNvSpPr/>
          <p:nvPr/>
        </p:nvSpPr>
        <p:spPr>
          <a:xfrm>
            <a:off x="265176" y="1554480"/>
            <a:ext cx="1042416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 ORIGEN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621792" cy="621792"/>
          </a:xfrm>
          <a:prstGeom prst="rect">
            <a:avLst/>
          </a:prstGeom>
          <a:solidFill>
            <a:srgbClr val="F1F6FD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999232"/>
            <a:ext cx="896112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BanCoppel</a:t>
            </a:r>
            <a:endParaRPr lang="en-US" sz="560" dirty="0"/>
          </a:p>
        </p:txBody>
      </p:sp>
      <p:sp>
        <p:nvSpPr>
          <p:cNvPr id="9" name="Text 7"/>
          <p:cNvSpPr/>
          <p:nvPr/>
        </p:nvSpPr>
        <p:spPr>
          <a:xfrm>
            <a:off x="502920" y="3913632"/>
            <a:ext cx="621792" cy="621792"/>
          </a:xfrm>
          <a:prstGeom prst="rect">
            <a:avLst/>
          </a:prstGeom>
          <a:solidFill>
            <a:srgbClr val="F1F6FD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4626864"/>
            <a:ext cx="896112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 IVR</a:t>
            </a:r>
            <a:endParaRPr lang="en-US" sz="560" dirty="0"/>
          </a:p>
        </p:txBody>
      </p:sp>
      <p:sp>
        <p:nvSpPr>
          <p:cNvPr id="11" name="Text 9"/>
          <p:cNvSpPr/>
          <p:nvPr/>
        </p:nvSpPr>
        <p:spPr>
          <a:xfrm>
            <a:off x="502920" y="5541264"/>
            <a:ext cx="621792" cy="621792"/>
          </a:xfrm>
          <a:prstGeom prst="rect">
            <a:avLst/>
          </a:prstGeom>
          <a:solidFill>
            <a:srgbClr val="F1F6FD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6254496"/>
            <a:ext cx="896112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 / ICCAT</a:t>
            </a:r>
            <a:endParaRPr lang="en-US" sz="560" dirty="0"/>
          </a:p>
        </p:txBody>
      </p:sp>
      <p:sp>
        <p:nvSpPr>
          <p:cNvPr id="13" name="Text 11"/>
          <p:cNvSpPr/>
          <p:nvPr/>
        </p:nvSpPr>
        <p:spPr>
          <a:xfrm>
            <a:off x="502920" y="7168896"/>
            <a:ext cx="621792" cy="621792"/>
          </a:xfrm>
          <a:prstGeom prst="rect">
            <a:avLst/>
          </a:prstGeom>
          <a:solidFill>
            <a:srgbClr val="F1F6FD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7882128"/>
            <a:ext cx="896112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Sucursal / SIWEB</a:t>
            </a:r>
            <a:endParaRPr lang="en-US" sz="560" dirty="0"/>
          </a:p>
        </p:txBody>
      </p:sp>
      <p:sp>
        <p:nvSpPr>
          <p:cNvPr id="15" name="Text 13"/>
          <p:cNvSpPr/>
          <p:nvPr/>
        </p:nvSpPr>
        <p:spPr>
          <a:xfrm>
            <a:off x="502920" y="8796528"/>
            <a:ext cx="621792" cy="621792"/>
          </a:xfrm>
          <a:prstGeom prst="rect">
            <a:avLst/>
          </a:prstGeom>
          <a:solidFill>
            <a:srgbClr val="F1F6FD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9509760"/>
            <a:ext cx="896112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 / Kiosco</a:t>
            </a:r>
            <a:endParaRPr lang="en-US" sz="560" dirty="0"/>
          </a:p>
        </p:txBody>
      </p:sp>
      <p:sp>
        <p:nvSpPr>
          <p:cNvPr id="17" name="Text 15"/>
          <p:cNvSpPr/>
          <p:nvPr/>
        </p:nvSpPr>
        <p:spPr>
          <a:xfrm>
            <a:off x="1764792" y="1325880"/>
            <a:ext cx="5257800" cy="310896"/>
          </a:xfrm>
          <a:prstGeom prst="roundRect">
            <a:avLst/>
          </a:prstGeom>
          <a:solidFill>
            <a:srgbClr val="123A63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INTEROPERABILIDAD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7251192" y="1325880"/>
            <a:ext cx="1554480" cy="384048"/>
          </a:xfrm>
          <a:prstGeom prst="roundRect">
            <a:avLst/>
          </a:prstGeom>
          <a:solidFill>
            <a:srgbClr val="123A63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PLATAFORMAS /</a:t>
            </a:r>
            <a:endParaRPr lang="en-US" sz="640" dirty="0"/>
          </a:p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1371600" y="2258568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764792" y="1810512"/>
            <a:ext cx="5257800" cy="896112"/>
          </a:xfrm>
          <a:prstGeom prst="roundRect">
            <a:avLst/>
          </a:prstGeom>
          <a:solidFill>
            <a:srgbClr val="EFF4FF"/>
          </a:solidFill>
          <a:ln w="11430">
            <a:solidFill>
              <a:srgbClr val="2D5A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D5A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APIs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Expone “Consultar tarjeta”, “Activar”, “Bloquear” y “Cancelar”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único para APP, CAT, IVR, SIWEB y ATM</a:t>
            </a:r>
            <a:endParaRPr lang="en-US" sz="640" dirty="0"/>
          </a:p>
        </p:txBody>
      </p:sp>
      <p:sp>
        <p:nvSpPr>
          <p:cNvPr id="21" name="Shape 19"/>
          <p:cNvSpPr/>
          <p:nvPr/>
        </p:nvSpPr>
        <p:spPr>
          <a:xfrm>
            <a:off x="1371600" y="3300984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764792" y="2852928"/>
            <a:ext cx="5257800" cy="896112"/>
          </a:xfrm>
          <a:prstGeom prst="roundRect">
            <a:avLst/>
          </a:prstGeom>
          <a:solidFill>
            <a:srgbClr val="EEF8F3"/>
          </a:solidFill>
          <a:ln w="11430">
            <a:solidFill>
              <a:srgbClr val="17905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90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CTX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contexto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Mantiene cliente, sesión, canal y autenticación en la misma llamada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repetir validaciones y conserva trazabilidad de atención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1371600" y="4343400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64792" y="3895344"/>
            <a:ext cx="5257800" cy="896112"/>
          </a:xfrm>
          <a:prstGeom prst="roundRect">
            <a:avLst/>
          </a:prstGeom>
          <a:solidFill>
            <a:srgbClr val="F0F5FF"/>
          </a:solidFill>
          <a:ln w="11430">
            <a:solidFill>
              <a:srgbClr val="4C7D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4C7D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RTE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Enrutamiento de producto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Resuelve SmartVista vs legado, físico vs digital y cuenta 4900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Canales simples; lógica de convivencia centralizada</a:t>
            </a:r>
            <a:endParaRPr lang="en-US" sz="640" dirty="0"/>
          </a:p>
        </p:txBody>
      </p:sp>
      <p:sp>
        <p:nvSpPr>
          <p:cNvPr id="25" name="Shape 23"/>
          <p:cNvSpPr/>
          <p:nvPr/>
        </p:nvSpPr>
        <p:spPr>
          <a:xfrm>
            <a:off x="1371600" y="5385816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764792" y="4937760"/>
            <a:ext cx="5257800" cy="896112"/>
          </a:xfrm>
          <a:prstGeom prst="roundRect">
            <a:avLst/>
          </a:prstGeom>
          <a:solidFill>
            <a:srgbClr val="FFF4E3"/>
          </a:solidFill>
          <a:ln w="11430">
            <a:solidFill>
              <a:srgbClr val="E28A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E2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SVC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Orquestación de servicios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 consultas, saldos, movimientos, on/off y estatus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operaciones de tarjeta y línea de crédito en un servicio común</a:t>
            </a:r>
            <a:endParaRPr lang="en-US" sz="640" dirty="0"/>
          </a:p>
        </p:txBody>
      </p:sp>
      <p:sp>
        <p:nvSpPr>
          <p:cNvPr id="27" name="Shape 25"/>
          <p:cNvSpPr/>
          <p:nvPr/>
        </p:nvSpPr>
        <p:spPr>
          <a:xfrm>
            <a:off x="1371600" y="6428232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764792" y="5980176"/>
            <a:ext cx="5257800" cy="896112"/>
          </a:xfrm>
          <a:prstGeom prst="roundRect">
            <a:avLst/>
          </a:prstGeom>
          <a:solidFill>
            <a:srgbClr val="ECFAFD"/>
          </a:solidFill>
          <a:ln w="11430">
            <a:solidFill>
              <a:srgbClr val="00A6C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A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omnicanal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común de tarjeta, estatus, movimientos y línea de crédito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APP, CAT y SIWEB muestran la misma realidad operativa</a:t>
            </a:r>
            <a:endParaRPr lang="en-US" sz="640" dirty="0"/>
          </a:p>
        </p:txBody>
      </p:sp>
      <p:sp>
        <p:nvSpPr>
          <p:cNvPr id="29" name="Shape 27"/>
          <p:cNvSpPr/>
          <p:nvPr/>
        </p:nvSpPr>
        <p:spPr>
          <a:xfrm>
            <a:off x="1371600" y="7470648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764792" y="7022592"/>
            <a:ext cx="5257800" cy="896112"/>
          </a:xfrm>
          <a:prstGeom prst="roundRect">
            <a:avLst/>
          </a:prstGeom>
          <a:solidFill>
            <a:srgbClr val="FFF0F6"/>
          </a:solidFill>
          <a:ln w="11430">
            <a:solidFill>
              <a:srgbClr val="E6307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E630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Mapeo y mediación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Traduce códigos SmartVista, legado, IVR e ICCAT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Estandariza errores, estados y etiquetas visibles al cliente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1371600" y="8513064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764792" y="8065008"/>
            <a:ext cx="5257800" cy="896112"/>
          </a:xfrm>
          <a:prstGeom prst="roundRect">
            <a:avLst/>
          </a:prstGeom>
          <a:solidFill>
            <a:srgbClr val="F0F4FF"/>
          </a:solidFill>
          <a:ln w="11430">
            <a:solidFill>
              <a:srgbClr val="2864E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864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transaccional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 activación, bloqueo, desbloqueo y cancelación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dobles acciones y permite reversas controladas</a:t>
            </a:r>
            <a:endParaRPr lang="en-US" sz="640" dirty="0"/>
          </a:p>
        </p:txBody>
      </p:sp>
      <p:sp>
        <p:nvSpPr>
          <p:cNvPr id="33" name="Shape 31"/>
          <p:cNvSpPr/>
          <p:nvPr/>
        </p:nvSpPr>
        <p:spPr>
          <a:xfrm>
            <a:off x="1371600" y="9555480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64792" y="9107424"/>
            <a:ext cx="5257800" cy="896112"/>
          </a:xfrm>
          <a:prstGeom prst="roundRect">
            <a:avLst/>
          </a:prstGeom>
          <a:solidFill>
            <a:srgbClr val="EFF8F2"/>
          </a:solidFill>
          <a:ln w="11430">
            <a:solidFill>
              <a:srgbClr val="168A5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68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EVT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de eventos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 cambios de estado para APP, CAT, SIWEB y soporte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Propagación fiable, invalidación de caché y auditoría de cambios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7022592" y="2249424"/>
            <a:ext cx="182880" cy="0"/>
          </a:xfrm>
          <a:prstGeom prst="line">
            <a:avLst/>
          </a:prstGeom>
          <a:noFill/>
          <a:ln w="8890">
            <a:solidFill>
              <a:srgbClr val="2D5AE8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251192" y="1865376"/>
            <a:ext cx="1554480" cy="768096"/>
          </a:xfrm>
          <a:prstGeom prst="roundRect">
            <a:avLst/>
          </a:prstGeom>
          <a:solidFill>
            <a:srgbClr val="EFF4FF"/>
          </a:solidFill>
          <a:ln w="10160">
            <a:solidFill>
              <a:srgbClr val="2D5A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TDC, cards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física/digital</a:t>
            </a:r>
            <a:endParaRPr lang="en-US" sz="555" dirty="0"/>
          </a:p>
        </p:txBody>
      </p:sp>
      <p:sp>
        <p:nvSpPr>
          <p:cNvPr id="37" name="Shape 35"/>
          <p:cNvSpPr/>
          <p:nvPr/>
        </p:nvSpPr>
        <p:spPr>
          <a:xfrm>
            <a:off x="7022592" y="3255264"/>
            <a:ext cx="182880" cy="0"/>
          </a:xfrm>
          <a:prstGeom prst="line">
            <a:avLst/>
          </a:prstGeom>
          <a:noFill/>
          <a:ln w="8890">
            <a:solidFill>
              <a:srgbClr val="17905D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7251192" y="2871216"/>
            <a:ext cx="1554480" cy="768096"/>
          </a:xfrm>
          <a:prstGeom prst="roundRect">
            <a:avLst/>
          </a:prstGeom>
          <a:solidFill>
            <a:srgbClr val="EEF8F3"/>
          </a:solidFill>
          <a:ln w="10160">
            <a:solidFill>
              <a:srgbClr val="17905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IVR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Menú 4900,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saldos y movimientos</a:t>
            </a:r>
            <a:endParaRPr lang="en-US" sz="555" dirty="0"/>
          </a:p>
        </p:txBody>
      </p:sp>
      <p:sp>
        <p:nvSpPr>
          <p:cNvPr id="39" name="Shape 37"/>
          <p:cNvSpPr/>
          <p:nvPr/>
        </p:nvSpPr>
        <p:spPr>
          <a:xfrm>
            <a:off x="7022592" y="4261104"/>
            <a:ext cx="182880" cy="0"/>
          </a:xfrm>
          <a:prstGeom prst="line">
            <a:avLst/>
          </a:prstGeom>
          <a:noFill/>
          <a:ln w="8890">
            <a:solidFill>
              <a:srgbClr val="7B4BD6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7251192" y="3877056"/>
            <a:ext cx="1554480" cy="768096"/>
          </a:xfrm>
          <a:prstGeom prst="roundRect">
            <a:avLst/>
          </a:prstGeom>
          <a:solidFill>
            <a:srgbClr val="F5F0FF"/>
          </a:solidFill>
          <a:ln w="10160">
            <a:solidFill>
              <a:srgbClr val="7B4BD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 / ICCAT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Autenticación,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bloqueo y cancelación</a:t>
            </a:r>
            <a:endParaRPr lang="en-US" sz="555" dirty="0"/>
          </a:p>
        </p:txBody>
      </p:sp>
      <p:sp>
        <p:nvSpPr>
          <p:cNvPr id="41" name="Shape 39"/>
          <p:cNvSpPr/>
          <p:nvPr/>
        </p:nvSpPr>
        <p:spPr>
          <a:xfrm>
            <a:off x="7022592" y="5266944"/>
            <a:ext cx="182880" cy="0"/>
          </a:xfrm>
          <a:prstGeom prst="line">
            <a:avLst/>
          </a:prstGeom>
          <a:noFill/>
          <a:ln w="8890">
            <a:solidFill>
              <a:srgbClr val="E28A00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7251192" y="4882896"/>
            <a:ext cx="1554480" cy="768096"/>
          </a:xfrm>
          <a:prstGeom prst="roundRect">
            <a:avLst/>
          </a:prstGeom>
          <a:solidFill>
            <a:srgbClr val="FFF4E3"/>
          </a:solidFill>
          <a:ln w="10160">
            <a:solidFill>
              <a:srgbClr val="E28A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SMARTVISTA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 de vida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tarjetas</a:t>
            </a:r>
            <a:endParaRPr lang="en-US" sz="555" dirty="0"/>
          </a:p>
        </p:txBody>
      </p:sp>
      <p:sp>
        <p:nvSpPr>
          <p:cNvPr id="43" name="Shape 41"/>
          <p:cNvSpPr/>
          <p:nvPr/>
        </p:nvSpPr>
        <p:spPr>
          <a:xfrm>
            <a:off x="7022592" y="6272784"/>
            <a:ext cx="182880" cy="0"/>
          </a:xfrm>
          <a:prstGeom prst="line">
            <a:avLst/>
          </a:prstGeom>
          <a:noFill/>
          <a:ln w="8890">
            <a:solidFill>
              <a:srgbClr val="4C7DDF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7251192" y="5888736"/>
            <a:ext cx="1554480" cy="768096"/>
          </a:xfrm>
          <a:prstGeom prst="roundRect">
            <a:avLst/>
          </a:prstGeom>
          <a:solidFill>
            <a:srgbClr val="F0F5FF"/>
          </a:solidFill>
          <a:ln w="10160">
            <a:solidFill>
              <a:srgbClr val="4C7DD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LEGADO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 migrados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por migrar</a:t>
            </a:r>
            <a:endParaRPr lang="en-US" sz="555" dirty="0"/>
          </a:p>
        </p:txBody>
      </p:sp>
      <p:sp>
        <p:nvSpPr>
          <p:cNvPr id="45" name="Shape 43"/>
          <p:cNvSpPr/>
          <p:nvPr/>
        </p:nvSpPr>
        <p:spPr>
          <a:xfrm>
            <a:off x="7022592" y="7278624"/>
            <a:ext cx="182880" cy="0"/>
          </a:xfrm>
          <a:prstGeom prst="line">
            <a:avLst/>
          </a:prstGeom>
          <a:noFill/>
          <a:ln w="8890">
            <a:solidFill>
              <a:srgbClr val="00A6C8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7251192" y="6894576"/>
            <a:ext cx="1554480" cy="768096"/>
          </a:xfrm>
          <a:prstGeom prst="roundRect">
            <a:avLst/>
          </a:prstGeom>
          <a:solidFill>
            <a:srgbClr val="ECFAFD"/>
          </a:solidFill>
          <a:ln w="10160">
            <a:solidFill>
              <a:srgbClr val="00A6C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SIWEB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y soporte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sucursal</a:t>
            </a:r>
            <a:endParaRPr lang="en-US" sz="555" dirty="0"/>
          </a:p>
        </p:txBody>
      </p:sp>
      <p:sp>
        <p:nvSpPr>
          <p:cNvPr id="47" name="Shape 45"/>
          <p:cNvSpPr/>
          <p:nvPr/>
        </p:nvSpPr>
        <p:spPr>
          <a:xfrm>
            <a:off x="7022592" y="8284464"/>
            <a:ext cx="182880" cy="0"/>
          </a:xfrm>
          <a:prstGeom prst="line">
            <a:avLst/>
          </a:prstGeom>
          <a:noFill/>
          <a:ln w="8890">
            <a:solidFill>
              <a:srgbClr val="2864E4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7251192" y="7900416"/>
            <a:ext cx="1554480" cy="768096"/>
          </a:xfrm>
          <a:prstGeom prst="roundRect">
            <a:avLst/>
          </a:prstGeom>
          <a:solidFill>
            <a:srgbClr val="F0F4FF"/>
          </a:solidFill>
          <a:ln w="10160">
            <a:solidFill>
              <a:srgbClr val="2864E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Roles, OTP,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 masking</a:t>
            </a:r>
            <a:endParaRPr lang="en-US" sz="555" dirty="0"/>
          </a:p>
        </p:txBody>
      </p:sp>
      <p:sp>
        <p:nvSpPr>
          <p:cNvPr id="49" name="Shape 47"/>
          <p:cNvSpPr/>
          <p:nvPr/>
        </p:nvSpPr>
        <p:spPr>
          <a:xfrm>
            <a:off x="7022592" y="9290304"/>
            <a:ext cx="182880" cy="0"/>
          </a:xfrm>
          <a:prstGeom prst="line">
            <a:avLst/>
          </a:prstGeom>
          <a:noFill/>
          <a:ln w="8890">
            <a:solidFill>
              <a:srgbClr val="168A5C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7251192" y="8906256"/>
            <a:ext cx="1554480" cy="768096"/>
          </a:xfrm>
          <a:prstGeom prst="roundRect">
            <a:avLst/>
          </a:prstGeom>
          <a:solidFill>
            <a:srgbClr val="EFF8F2"/>
          </a:solidFill>
          <a:ln w="10160">
            <a:solidFill>
              <a:srgbClr val="168A5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OBSERVABILIDAD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Trazas, KPIs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incidentes</a:t>
            </a:r>
            <a:endParaRPr lang="en-US" sz="555" dirty="0"/>
          </a:p>
        </p:txBody>
      </p:sp>
      <p:sp>
        <p:nvSpPr>
          <p:cNvPr id="51" name="Shape 49"/>
          <p:cNvSpPr/>
          <p:nvPr/>
        </p:nvSpPr>
        <p:spPr>
          <a:xfrm>
            <a:off x="4526280" y="10040112"/>
            <a:ext cx="0" cy="438912"/>
          </a:xfrm>
          <a:prstGeom prst="line">
            <a:avLst/>
          </a:prstGeom>
          <a:noFill/>
          <a:ln w="10160">
            <a:solidFill>
              <a:srgbClr val="4C7DDF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566928" y="10497312"/>
            <a:ext cx="8001000" cy="274320"/>
          </a:xfrm>
          <a:prstGeom prst="rect">
            <a:avLst/>
          </a:prstGeom>
          <a:solidFill>
            <a:srgbClr val="123A63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CONSUMIDORES DE EVENTOS / DATOS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66928" y="10771632"/>
            <a:ext cx="13335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/ Web</a:t>
            </a:r>
            <a:endParaRPr lang="en-US" sz="535" dirty="0"/>
          </a:p>
          <a:p>
            <a:pPr algn="ctr" indent="0" marL="0">
              <a:buNone/>
            </a:pP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y acciones</a:t>
            </a: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actualizadas</a:t>
            </a:r>
            <a:endParaRPr lang="en-US" sz="535" dirty="0"/>
          </a:p>
        </p:txBody>
      </p:sp>
      <p:sp>
        <p:nvSpPr>
          <p:cNvPr id="54" name="Text 52"/>
          <p:cNvSpPr/>
          <p:nvPr/>
        </p:nvSpPr>
        <p:spPr>
          <a:xfrm>
            <a:off x="1900428" y="10771632"/>
            <a:ext cx="13335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 / IVR</a:t>
            </a:r>
            <a:endParaRPr lang="en-US" sz="535" dirty="0"/>
          </a:p>
          <a:p>
            <a:pPr algn="ctr" indent="0" marL="0">
              <a:buNone/>
            </a:pP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Atención asistida y</a:t>
            </a: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</a:t>
            </a:r>
            <a:endParaRPr lang="en-US" sz="535" dirty="0"/>
          </a:p>
        </p:txBody>
      </p:sp>
      <p:sp>
        <p:nvSpPr>
          <p:cNvPr id="55" name="Text 53"/>
          <p:cNvSpPr/>
          <p:nvPr/>
        </p:nvSpPr>
        <p:spPr>
          <a:xfrm>
            <a:off x="3233928" y="10771632"/>
            <a:ext cx="13335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Sucursal</a:t>
            </a:r>
            <a:endParaRPr lang="en-US" sz="535" dirty="0"/>
          </a:p>
          <a:p>
            <a:pPr algn="ctr" indent="0" marL="0">
              <a:buNone/>
            </a:pP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y gestión</a:t>
            </a: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operativa</a:t>
            </a:r>
            <a:endParaRPr lang="en-US" sz="535" dirty="0"/>
          </a:p>
        </p:txBody>
      </p:sp>
      <p:sp>
        <p:nvSpPr>
          <p:cNvPr id="56" name="Text 54"/>
          <p:cNvSpPr/>
          <p:nvPr/>
        </p:nvSpPr>
        <p:spPr>
          <a:xfrm>
            <a:off x="4567428" y="10771632"/>
            <a:ext cx="13335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Riesgos</a:t>
            </a:r>
            <a:endParaRPr lang="en-US" sz="535" dirty="0"/>
          </a:p>
          <a:p>
            <a:pPr algn="ctr" indent="0" marL="0">
              <a:buNone/>
            </a:pP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Bloqueos y fraude</a:t>
            </a: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operacional</a:t>
            </a:r>
            <a:endParaRPr lang="en-US" sz="535" dirty="0"/>
          </a:p>
        </p:txBody>
      </p:sp>
      <p:sp>
        <p:nvSpPr>
          <p:cNvPr id="57" name="Text 55"/>
          <p:cNvSpPr/>
          <p:nvPr/>
        </p:nvSpPr>
        <p:spPr>
          <a:xfrm>
            <a:off x="5900928" y="10771632"/>
            <a:ext cx="13335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/ BI</a:t>
            </a:r>
            <a:endParaRPr lang="en-US" sz="535" dirty="0"/>
          </a:p>
          <a:p>
            <a:pPr algn="ctr" indent="0" marL="0">
              <a:buNone/>
            </a:pP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y adopción</a:t>
            </a: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canales</a:t>
            </a:r>
            <a:endParaRPr lang="en-US" sz="535" dirty="0"/>
          </a:p>
        </p:txBody>
      </p:sp>
      <p:sp>
        <p:nvSpPr>
          <p:cNvPr id="58" name="Text 56"/>
          <p:cNvSpPr/>
          <p:nvPr/>
        </p:nvSpPr>
        <p:spPr>
          <a:xfrm>
            <a:off x="7234428" y="10771632"/>
            <a:ext cx="13335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</a:t>
            </a:r>
            <a:endParaRPr lang="en-US" sz="535" dirty="0"/>
          </a:p>
          <a:p>
            <a:pPr algn="ctr" indent="0" marL="0">
              <a:buNone/>
            </a:pP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Trazas de acción</a:t>
            </a: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usuario</a:t>
            </a:r>
            <a:endParaRPr lang="en-US" sz="535" dirty="0"/>
          </a:p>
        </p:txBody>
      </p:sp>
      <p:sp>
        <p:nvSpPr>
          <p:cNvPr id="59" name="Text 57"/>
          <p:cNvSpPr/>
          <p:nvPr/>
        </p:nvSpPr>
        <p:spPr>
          <a:xfrm>
            <a:off x="256032" y="11932920"/>
            <a:ext cx="309067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DD0E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LEYENDA</a:t>
            </a:r>
            <a:endParaRPr lang="en-US" sz="570" dirty="0"/>
          </a:p>
          <a:p>
            <a:pPr algn="l" indent="0" marL="0">
              <a:buNone/>
            </a:pPr>
            <a:r>
              <a:rPr lang="en-US" sz="570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Exposición de servicios        → Datos</a:t>
            </a:r>
            <a:endParaRPr lang="en-US" sz="570" dirty="0"/>
          </a:p>
          <a:p>
            <a:pPr algn="l" indent="0" marL="0">
              <a:buNone/>
            </a:pPr>
            <a:r>
              <a:rPr lang="en-US" sz="570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Gestión de contexto             → Integración</a:t>
            </a:r>
            <a:endParaRPr lang="en-US" sz="570" dirty="0"/>
          </a:p>
          <a:p>
            <a:pPr algn="l" indent="0" marL="0">
              <a:buNone/>
            </a:pPr>
            <a:r>
              <a:rPr lang="en-US" sz="570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Procesos y workflow             → Consistencia</a:t>
            </a:r>
            <a:endParaRPr lang="en-US" sz="570" dirty="0"/>
          </a:p>
          <a:p>
            <a:pPr algn="l" indent="0" marL="0">
              <a:buNone/>
            </a:pPr>
            <a:r>
              <a:rPr lang="en-US" sz="570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Orquestación de servicios       → Eventos</a:t>
            </a:r>
            <a:endParaRPr lang="en-US" sz="570" dirty="0"/>
          </a:p>
        </p:txBody>
      </p:sp>
      <p:sp>
        <p:nvSpPr>
          <p:cNvPr id="60" name="Text 58"/>
          <p:cNvSpPr/>
          <p:nvPr/>
        </p:nvSpPr>
        <p:spPr>
          <a:xfrm>
            <a:off x="3529584" y="11932920"/>
            <a:ext cx="53492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DD0E3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endParaRPr lang="en-US" sz="100" dirty="0"/>
          </a:p>
        </p:txBody>
      </p:sp>
      <p:sp>
        <p:nvSpPr>
          <p:cNvPr id="61" name="Text 59"/>
          <p:cNvSpPr/>
          <p:nvPr/>
        </p:nvSpPr>
        <p:spPr>
          <a:xfrm>
            <a:off x="3566160" y="11960352"/>
            <a:ext cx="5230368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BENEFICIOS PARA EL NEGOCIO</a:t>
            </a:r>
            <a:endParaRPr lang="en-US" sz="670" dirty="0"/>
          </a:p>
        </p:txBody>
      </p:sp>
      <p:sp>
        <p:nvSpPr>
          <p:cNvPr id="62" name="Text 60"/>
          <p:cNvSpPr/>
          <p:nvPr/>
        </p:nvSpPr>
        <p:spPr>
          <a:xfrm>
            <a:off x="3602736" y="12225528"/>
            <a:ext cx="24688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15" dirty="0">
                <a:solidFill>
                  <a:srgbClr val="4C7D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Experiencia consistente en todos los canales</a:t>
            </a:r>
            <a:endParaRPr lang="en-US" sz="615" dirty="0"/>
          </a:p>
          <a:p>
            <a:pPr algn="l" indent="0" marL="0">
              <a:buNone/>
            </a:pPr>
            <a:r>
              <a:rPr lang="en-US" sz="615" dirty="0">
                <a:solidFill>
                  <a:srgbClr val="4C7D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Menos acoplamiento APP/CAT con el core</a:t>
            </a:r>
            <a:endParaRPr lang="en-US" sz="615" dirty="0"/>
          </a:p>
          <a:p>
            <a:pPr algn="l" indent="0" marL="0">
              <a:buNone/>
            </a:pPr>
            <a:r>
              <a:rPr lang="en-US" sz="615" dirty="0">
                <a:solidFill>
                  <a:srgbClr val="4C7D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Convivencia controlada entre legado y SmartVista</a:t>
            </a:r>
            <a:endParaRPr lang="en-US" sz="615" dirty="0"/>
          </a:p>
        </p:txBody>
      </p:sp>
      <p:sp>
        <p:nvSpPr>
          <p:cNvPr id="63" name="Text 61"/>
          <p:cNvSpPr/>
          <p:nvPr/>
        </p:nvSpPr>
        <p:spPr>
          <a:xfrm>
            <a:off x="6126480" y="12225528"/>
            <a:ext cx="24688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15" dirty="0">
                <a:solidFill>
                  <a:srgbClr val="4C7D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Trazabilidad de acciones sensibles</a:t>
            </a:r>
            <a:endParaRPr lang="en-US" sz="615" dirty="0"/>
          </a:p>
          <a:p>
            <a:pPr algn="l" indent="0" marL="0">
              <a:buNone/>
            </a:pPr>
            <a:r>
              <a:rPr lang="en-US" sz="615" dirty="0">
                <a:solidFill>
                  <a:srgbClr val="4C7D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Reducción de incidencias por estados divergentes</a:t>
            </a:r>
            <a:endParaRPr lang="en-US" sz="615" dirty="0"/>
          </a:p>
          <a:p>
            <a:pPr algn="l" indent="0" marL="0">
              <a:buNone/>
            </a:pPr>
            <a:r>
              <a:rPr lang="en-US" sz="615" dirty="0">
                <a:solidFill>
                  <a:srgbClr val="4C7D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Base reusable para portafolio migrado</a:t>
            </a:r>
            <a:endParaRPr lang="en-US" sz="615" dirty="0"/>
          </a:p>
        </p:txBody>
      </p:sp>
      <p:sp>
        <p:nvSpPr>
          <p:cNvPr id="64" name="Shape 62"/>
          <p:cNvSpPr/>
          <p:nvPr/>
        </p:nvSpPr>
        <p:spPr>
          <a:xfrm>
            <a:off x="228600" y="13423392"/>
            <a:ext cx="8686800" cy="0"/>
          </a:xfrm>
          <a:prstGeom prst="line">
            <a:avLst/>
          </a:prstGeom>
          <a:noFill/>
          <a:ln w="7620">
            <a:solidFill>
              <a:srgbClr val="D7E2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13469112"/>
            <a:ext cx="8321040" cy="164592"/>
          </a:xfrm>
          <a:prstGeom prst="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UNITY | Ejemplo editable de trazabilidad R4: historia de usuario → capacidades de interoperabilidad → plataformas/sistemas → consumidores | Caso 2 — Gestión omnicanal de tarjetas</a:t>
            </a:r>
            <a:endParaRPr lang="en-US" sz="4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Props1.xml><?xml version="1.0" encoding="utf-8"?>
<ds:datastoreItem xmlns:ds="http://schemas.openxmlformats.org/officeDocument/2006/customXml" ds:itemID="{02EF2624-0FF8-406D-A3A6-3E2A225DD290}"/>
</file>

<file path=customXml/itemProps2.xml><?xml version="1.0" encoding="utf-8"?>
<ds:datastoreItem xmlns:ds="http://schemas.openxmlformats.org/officeDocument/2006/customXml" ds:itemID="{9989B416-2F53-4353-B629-F3D8DBD52758}"/>
</file>

<file path=customXml/itemProps3.xml><?xml version="1.0" encoding="utf-8"?>
<ds:datastoreItem xmlns:ds="http://schemas.openxmlformats.org/officeDocument/2006/customXml" ds:itemID="{5A0F829E-31EE-41EE-A449-700445ECB24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BanCoppel / Servicios Financieros Coppel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UNITY R4 - Trazabilidad de capacidades de interoperabilidad</dc:subject>
  <dc:creator>OpenAI</dc:creator>
  <cp:lastModifiedBy>OpenAI</cp:lastModifiedBy>
  <cp:revision>1</cp:revision>
  <dcterms:created xsi:type="dcterms:W3CDTF">2026-08-06T12:05:43Z</dcterms:created>
  <dcterms:modified xsi:type="dcterms:W3CDTF">2026-08-06T12:05:43Z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</Properties>
</file>